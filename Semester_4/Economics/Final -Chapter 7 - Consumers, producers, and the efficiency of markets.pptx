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55" r:id="rId3"/>
    <p:sldMasterId id="2147483674" r:id="rId4"/>
    <p:sldMasterId id="2147483676" r:id="rId5"/>
    <p:sldMasterId id="2147483705" r:id="rId6"/>
  </p:sldMasterIdLst>
  <p:notesMasterIdLst>
    <p:notesMasterId r:id="rId40"/>
  </p:notesMasterIdLst>
  <p:sldIdLst>
    <p:sldId id="259" r:id="rId7"/>
    <p:sldId id="260" r:id="rId8"/>
    <p:sldId id="261" r:id="rId9"/>
    <p:sldId id="262" r:id="rId10"/>
    <p:sldId id="294" r:id="rId11"/>
    <p:sldId id="263" r:id="rId12"/>
    <p:sldId id="265" r:id="rId13"/>
    <p:sldId id="264" r:id="rId14"/>
    <p:sldId id="266" r:id="rId15"/>
    <p:sldId id="267" r:id="rId16"/>
    <p:sldId id="268" r:id="rId17"/>
    <p:sldId id="269" r:id="rId18"/>
    <p:sldId id="270" r:id="rId19"/>
    <p:sldId id="271" r:id="rId20"/>
    <p:sldId id="272" r:id="rId21"/>
    <p:sldId id="295" r:id="rId22"/>
    <p:sldId id="273" r:id="rId23"/>
    <p:sldId id="274" r:id="rId24"/>
    <p:sldId id="275" r:id="rId25"/>
    <p:sldId id="276" r:id="rId26"/>
    <p:sldId id="277" r:id="rId27"/>
    <p:sldId id="278" r:id="rId28"/>
    <p:sldId id="279" r:id="rId29"/>
    <p:sldId id="280" r:id="rId30"/>
    <p:sldId id="281" r:id="rId31"/>
    <p:sldId id="283" r:id="rId32"/>
    <p:sldId id="282" r:id="rId33"/>
    <p:sldId id="284" r:id="rId34"/>
    <p:sldId id="285" r:id="rId35"/>
    <p:sldId id="290" r:id="rId36"/>
    <p:sldId id="291" r:id="rId37"/>
    <p:sldId id="292" r:id="rId38"/>
    <p:sldId id="293" r:id="rId3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DEC"/>
    <a:srgbClr val="800080"/>
    <a:srgbClr val="0000B8"/>
    <a:srgbClr val="000070"/>
    <a:srgbClr val="9E0000"/>
    <a:srgbClr val="000099"/>
    <a:srgbClr val="006400"/>
    <a:srgbClr val="004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9" autoAdjust="0"/>
    <p:restoredTop sz="94667" autoAdjust="0"/>
  </p:normalViewPr>
  <p:slideViewPr>
    <p:cSldViewPr snapToGrid="0">
      <p:cViewPr varScale="1">
        <p:scale>
          <a:sx n="63" d="100"/>
          <a:sy n="63" d="100"/>
        </p:scale>
        <p:origin x="1212"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1FF732-5CA1-4073-ABB2-08B2670E3F9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F3BB9A6-62DA-4B40-9BF8-A4DC2FBE8DB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4B3DC6E2-ED0E-4073-8F28-9D263E56747E}" type="datetimeFigureOut">
              <a:rPr lang="en-US"/>
              <a:pPr>
                <a:defRPr/>
              </a:pPr>
              <a:t>3/24/2026</a:t>
            </a:fld>
            <a:endParaRPr lang="en-US"/>
          </a:p>
        </p:txBody>
      </p:sp>
      <p:sp>
        <p:nvSpPr>
          <p:cNvPr id="4" name="Slide Image Placeholder 3">
            <a:extLst>
              <a:ext uri="{FF2B5EF4-FFF2-40B4-BE49-F238E27FC236}">
                <a16:creationId xmlns:a16="http://schemas.microsoft.com/office/drawing/2014/main" id="{38CD23A9-45B2-42BE-A529-89BDC992652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B91C0C2-67C1-4A72-9965-86F92E9BF56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20633A7-5360-43FE-8C96-91387A1978E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0B0BEE30-D718-4A71-BFB2-21915C74F71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AFC13A74-BEEE-4950-8375-D006DF0C2B0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514600"/>
            <a:ext cx="9144000" cy="2514600"/>
          </a:xfrm>
          <a:prstGeom prst="rect">
            <a:avLst/>
          </a:prstGeom>
        </p:spPr>
        <p:txBody>
          <a:bodyPr/>
          <a:lstStyle>
            <a:lvl1pPr algn="ctr">
              <a:defRPr sz="4000" b="0" baseline="0">
                <a:solidFill>
                  <a:srgbClr val="A61902"/>
                </a:solidFill>
                <a:latin typeface="Times New Roman" pitchFamily="18" charset="0"/>
                <a:ea typeface="Arial Unicode MS" pitchFamily="34" charset="-128"/>
                <a:cs typeface="Times New Roman" pitchFamily="18" charset="0"/>
              </a:defRPr>
            </a:lvl1pPr>
          </a:lstStyle>
          <a:p>
            <a:endParaRPr lang="en-US" dirty="0"/>
          </a:p>
        </p:txBody>
      </p:sp>
      <p:sp>
        <p:nvSpPr>
          <p:cNvPr id="3" name="Subtitle 2"/>
          <p:cNvSpPr>
            <a:spLocks noGrp="1"/>
          </p:cNvSpPr>
          <p:nvPr>
            <p:ph type="subTitle" idx="1"/>
          </p:nvPr>
        </p:nvSpPr>
        <p:spPr>
          <a:xfrm>
            <a:off x="7772400" y="685800"/>
            <a:ext cx="1371600" cy="1066800"/>
          </a:xfrm>
          <a:prstGeom prst="rect">
            <a:avLst/>
          </a:prstGeom>
          <a:noFill/>
          <a:ln w="3175">
            <a:solidFill>
              <a:srgbClr val="006400"/>
            </a:solidFill>
            <a:prstDash val="sysDot"/>
          </a:ln>
        </p:spPr>
        <p:txBody>
          <a:bodyPr/>
          <a:lstStyle>
            <a:lvl1pPr marL="0" indent="0" algn="ctr">
              <a:buNone/>
              <a:defRPr sz="6000" i="0">
                <a:solidFill>
                  <a:srgbClr val="006400"/>
                </a:solidFill>
                <a:latin typeface="Arial Unicode MS" pitchFamily="34" charset="-128"/>
                <a:ea typeface="Arial Unicode MS" pitchFamily="34" charset="-128"/>
                <a:cs typeface="Arial Unicode MS" pitchFamily="34"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339463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763000" cy="762000"/>
          </a:xfrm>
          <a:prstGeom prst="rect">
            <a:avLst/>
          </a:prstGeom>
        </p:spPr>
        <p:txBody>
          <a:bodyPr/>
          <a:lstStyle>
            <a:lvl1pPr>
              <a:defRPr sz="4000">
                <a:solidFill>
                  <a:srgbClr val="000070"/>
                </a:solidFill>
              </a:defRPr>
            </a:lvl1pPr>
          </a:lstStyle>
          <a:p>
            <a:r>
              <a:rPr lang="en-US" dirty="0"/>
              <a:t>Click to edit Master title style</a:t>
            </a:r>
          </a:p>
        </p:txBody>
      </p:sp>
      <p:sp>
        <p:nvSpPr>
          <p:cNvPr id="3" name="Content Placeholder 2"/>
          <p:cNvSpPr>
            <a:spLocks noGrp="1"/>
          </p:cNvSpPr>
          <p:nvPr>
            <p:ph idx="1"/>
          </p:nvPr>
        </p:nvSpPr>
        <p:spPr>
          <a:xfrm>
            <a:off x="381000" y="990600"/>
            <a:ext cx="8534400" cy="5410200"/>
          </a:xfrm>
          <a:prstGeom prst="rect">
            <a:avLst/>
          </a:prstGeom>
        </p:spPr>
        <p:txBody>
          <a:bodyPr/>
          <a:lstStyle>
            <a:lvl1pPr>
              <a:defRPr sz="3400"/>
            </a:lvl1pPr>
            <a:lvl2pPr>
              <a:defRPr sz="3200"/>
            </a:lvl2pPr>
            <a:lvl3pPr>
              <a:defRPr sz="2800"/>
            </a:lvl3pPr>
            <a:lvl4pPr>
              <a:defRPr sz="2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D0AAF1BF-4AC0-419F-8B87-8A20B65E1804}"/>
              </a:ext>
            </a:extLst>
          </p:cNvPr>
          <p:cNvSpPr>
            <a:spLocks noGrp="1"/>
          </p:cNvSpPr>
          <p:nvPr>
            <p:ph type="sldNum" sz="quarter" idx="10"/>
          </p:nvPr>
        </p:nvSpPr>
        <p:spPr>
          <a:xfrm>
            <a:off x="8534400" y="6416675"/>
            <a:ext cx="609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atin typeface="Calibri" panose="020F0502020204030204" pitchFamily="34" charset="0"/>
              </a:defRPr>
            </a:lvl1pPr>
          </a:lstStyle>
          <a:p>
            <a:pPr>
              <a:defRPr/>
            </a:pPr>
            <a:fld id="{88A0A29D-E128-4F8F-915A-9D5A22E99B94}" type="slidenum">
              <a:rPr lang="en-US" altLang="en-US"/>
              <a:pPr>
                <a:defRPr/>
              </a:pPr>
              <a:t>‹#›</a:t>
            </a:fld>
            <a:endParaRPr lang="en-US" altLang="en-US"/>
          </a:p>
        </p:txBody>
      </p:sp>
    </p:spTree>
    <p:extLst>
      <p:ext uri="{BB962C8B-B14F-4D97-AF65-F5344CB8AC3E}">
        <p14:creationId xmlns:p14="http://schemas.microsoft.com/office/powerpoint/2010/main" val="1311575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839200" cy="533400"/>
          </a:xfrm>
          <a:prstGeom prst="rect">
            <a:avLst/>
          </a:prstGeom>
        </p:spPr>
        <p:txBody>
          <a:bodyPr/>
          <a:lstStyle>
            <a:lvl1pPr algn="l">
              <a:defRPr sz="2800">
                <a:solidFill>
                  <a:srgbClr val="7E0000"/>
                </a:solidFill>
                <a:latin typeface="Arial Unicode MS" pitchFamily="34" charset="-128"/>
                <a:ea typeface="Arial Unicode MS" pitchFamily="34" charset="-128"/>
                <a:cs typeface="Arial Unicode MS" pitchFamily="34" charset="-128"/>
              </a:defRPr>
            </a:lvl1pPr>
          </a:lstStyle>
          <a:p>
            <a:r>
              <a:rPr lang="en-US" dirty="0"/>
              <a:t>Click to edit Master title style</a:t>
            </a:r>
          </a:p>
        </p:txBody>
      </p:sp>
      <p:sp>
        <p:nvSpPr>
          <p:cNvPr id="9" name="Content Placeholder 8"/>
          <p:cNvSpPr>
            <a:spLocks noGrp="1"/>
          </p:cNvSpPr>
          <p:nvPr>
            <p:ph sz="quarter" idx="13"/>
          </p:nvPr>
        </p:nvSpPr>
        <p:spPr>
          <a:xfrm>
            <a:off x="1371600" y="0"/>
            <a:ext cx="762000" cy="533400"/>
          </a:xfrm>
          <a:prstGeom prst="rect">
            <a:avLst/>
          </a:prstGeom>
          <a:ln w="3175">
            <a:solidFill>
              <a:srgbClr val="0000B8"/>
            </a:solidFill>
            <a:prstDash val="sysDot"/>
          </a:ln>
        </p:spPr>
        <p:txBody>
          <a:bodyPr/>
          <a:lstStyle>
            <a:lvl1pPr algn="ctr">
              <a:buNone/>
              <a:defRPr sz="2800">
                <a:solidFill>
                  <a:srgbClr val="0000B8"/>
                </a:solidFill>
                <a:latin typeface="Arial Unicode MS" pitchFamily="34" charset="-128"/>
                <a:ea typeface="Arial Unicode MS" pitchFamily="34" charset="-128"/>
                <a:cs typeface="Arial Unicode MS" pitchFamily="34" charset="-128"/>
              </a:defRPr>
            </a:lvl1pPr>
            <a:lvl2pPr algn="l">
              <a:buNone/>
              <a:defRPr sz="2800">
                <a:solidFill>
                  <a:srgbClr val="004800"/>
                </a:solidFill>
                <a:latin typeface="Arial Unicode MS" pitchFamily="34" charset="-128"/>
                <a:ea typeface="Arial Unicode MS" pitchFamily="34" charset="-128"/>
                <a:cs typeface="Arial Unicode MS" pitchFamily="34" charset="-128"/>
              </a:defRPr>
            </a:lvl2pPr>
            <a:lvl3pPr algn="l">
              <a:buNone/>
              <a:defRPr sz="2800">
                <a:solidFill>
                  <a:srgbClr val="004800"/>
                </a:solidFill>
                <a:latin typeface="Arial Unicode MS" pitchFamily="34" charset="-128"/>
                <a:ea typeface="Arial Unicode MS" pitchFamily="34" charset="-128"/>
                <a:cs typeface="Arial Unicode MS" pitchFamily="34" charset="-128"/>
              </a:defRPr>
            </a:lvl3pPr>
            <a:lvl4pPr algn="l">
              <a:buNone/>
              <a:defRPr sz="2800">
                <a:solidFill>
                  <a:srgbClr val="004800"/>
                </a:solidFill>
                <a:latin typeface="Arial Unicode MS" pitchFamily="34" charset="-128"/>
                <a:ea typeface="Arial Unicode MS" pitchFamily="34" charset="-128"/>
                <a:cs typeface="Arial Unicode MS" pitchFamily="34" charset="-128"/>
              </a:defRPr>
            </a:lvl4pPr>
            <a:lvl5pPr algn="l">
              <a:buNone/>
              <a:defRPr sz="2800">
                <a:solidFill>
                  <a:srgbClr val="004800"/>
                </a:solidFill>
                <a:latin typeface="Arial Unicode MS" pitchFamily="34" charset="-128"/>
                <a:ea typeface="Arial Unicode MS" pitchFamily="34" charset="-128"/>
                <a:cs typeface="Arial Unicode MS" pitchFamily="34" charset="-128"/>
              </a:defRPr>
            </a:lvl5pPr>
          </a:lstStyle>
          <a:p>
            <a:pPr lvl="0"/>
            <a:endParaRPr lang="en-US" dirty="0"/>
          </a:p>
        </p:txBody>
      </p:sp>
      <p:sp>
        <p:nvSpPr>
          <p:cNvPr id="4" name="Slide Number Placeholder 5">
            <a:extLst>
              <a:ext uri="{FF2B5EF4-FFF2-40B4-BE49-F238E27FC236}">
                <a16:creationId xmlns:a16="http://schemas.microsoft.com/office/drawing/2014/main" id="{CD9CF5BD-A59C-41F1-9550-17773B8B74CE}"/>
              </a:ext>
            </a:extLst>
          </p:cNvPr>
          <p:cNvSpPr>
            <a:spLocks noGrp="1"/>
          </p:cNvSpPr>
          <p:nvPr>
            <p:ph type="sldNum" sz="quarter" idx="14"/>
          </p:nvPr>
        </p:nvSpPr>
        <p:spPr>
          <a:xfrm>
            <a:off x="8534400" y="6416675"/>
            <a:ext cx="609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atin typeface="Calibri" panose="020F0502020204030204" pitchFamily="34" charset="0"/>
              </a:defRPr>
            </a:lvl1pPr>
          </a:lstStyle>
          <a:p>
            <a:pPr>
              <a:defRPr/>
            </a:pPr>
            <a:fld id="{1A58674F-A1DB-4F04-A70D-F7B9D33D1539}" type="slidenum">
              <a:rPr lang="en-US" altLang="en-US"/>
              <a:pPr>
                <a:defRPr/>
              </a:pPr>
              <a:t>‹#›</a:t>
            </a:fld>
            <a:endParaRPr lang="en-US" altLang="en-US"/>
          </a:p>
        </p:txBody>
      </p:sp>
    </p:spTree>
    <p:extLst>
      <p:ext uri="{BB962C8B-B14F-4D97-AF65-F5344CB8AC3E}">
        <p14:creationId xmlns:p14="http://schemas.microsoft.com/office/powerpoint/2010/main" val="2022319045"/>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839200" cy="533400"/>
          </a:xfrm>
          <a:prstGeom prst="rect">
            <a:avLst/>
          </a:prstGeom>
        </p:spPr>
        <p:txBody>
          <a:bodyPr/>
          <a:lstStyle>
            <a:lvl1pPr algn="l">
              <a:defRPr sz="2800">
                <a:solidFill>
                  <a:srgbClr val="7E0000"/>
                </a:solidFill>
                <a:latin typeface="Arial Unicode MS" pitchFamily="34" charset="-128"/>
                <a:ea typeface="Arial Unicode MS" pitchFamily="34" charset="-128"/>
                <a:cs typeface="Arial Unicode MS" pitchFamily="34" charset="-128"/>
              </a:defRPr>
            </a:lvl1pPr>
          </a:lstStyle>
          <a:p>
            <a:r>
              <a:rPr lang="en-US" dirty="0"/>
              <a:t>Click to edit Master title style</a:t>
            </a:r>
          </a:p>
        </p:txBody>
      </p:sp>
      <p:sp>
        <p:nvSpPr>
          <p:cNvPr id="9" name="Content Placeholder 8"/>
          <p:cNvSpPr>
            <a:spLocks noGrp="1"/>
          </p:cNvSpPr>
          <p:nvPr>
            <p:ph sz="quarter" idx="13"/>
          </p:nvPr>
        </p:nvSpPr>
        <p:spPr>
          <a:xfrm>
            <a:off x="1371600" y="0"/>
            <a:ext cx="762000" cy="533400"/>
          </a:xfrm>
          <a:prstGeom prst="rect">
            <a:avLst/>
          </a:prstGeom>
          <a:ln w="3175">
            <a:solidFill>
              <a:srgbClr val="800080"/>
            </a:solidFill>
            <a:prstDash val="sysDot"/>
          </a:ln>
        </p:spPr>
        <p:txBody>
          <a:bodyPr/>
          <a:lstStyle>
            <a:lvl1pPr algn="ctr">
              <a:buNone/>
              <a:defRPr sz="2800">
                <a:solidFill>
                  <a:srgbClr val="800080"/>
                </a:solidFill>
                <a:latin typeface="Arial Unicode MS" pitchFamily="34" charset="-128"/>
                <a:ea typeface="Arial Unicode MS" pitchFamily="34" charset="-128"/>
                <a:cs typeface="Arial Unicode MS" pitchFamily="34" charset="-128"/>
              </a:defRPr>
            </a:lvl1pPr>
            <a:lvl2pPr algn="l">
              <a:buNone/>
              <a:defRPr sz="2800">
                <a:solidFill>
                  <a:srgbClr val="004800"/>
                </a:solidFill>
                <a:latin typeface="Arial Unicode MS" pitchFamily="34" charset="-128"/>
                <a:ea typeface="Arial Unicode MS" pitchFamily="34" charset="-128"/>
                <a:cs typeface="Arial Unicode MS" pitchFamily="34" charset="-128"/>
              </a:defRPr>
            </a:lvl2pPr>
            <a:lvl3pPr algn="l">
              <a:buNone/>
              <a:defRPr sz="2800">
                <a:solidFill>
                  <a:srgbClr val="004800"/>
                </a:solidFill>
                <a:latin typeface="Arial Unicode MS" pitchFamily="34" charset="-128"/>
                <a:ea typeface="Arial Unicode MS" pitchFamily="34" charset="-128"/>
                <a:cs typeface="Arial Unicode MS" pitchFamily="34" charset="-128"/>
              </a:defRPr>
            </a:lvl3pPr>
            <a:lvl4pPr algn="l">
              <a:buNone/>
              <a:defRPr sz="2800">
                <a:solidFill>
                  <a:srgbClr val="004800"/>
                </a:solidFill>
                <a:latin typeface="Arial Unicode MS" pitchFamily="34" charset="-128"/>
                <a:ea typeface="Arial Unicode MS" pitchFamily="34" charset="-128"/>
                <a:cs typeface="Arial Unicode MS" pitchFamily="34" charset="-128"/>
              </a:defRPr>
            </a:lvl4pPr>
            <a:lvl5pPr algn="l">
              <a:buNone/>
              <a:defRPr sz="2800">
                <a:solidFill>
                  <a:srgbClr val="004800"/>
                </a:solidFill>
                <a:latin typeface="Arial Unicode MS" pitchFamily="34" charset="-128"/>
                <a:ea typeface="Arial Unicode MS" pitchFamily="34" charset="-128"/>
                <a:cs typeface="Arial Unicode MS" pitchFamily="34" charset="-128"/>
              </a:defRPr>
            </a:lvl5pPr>
          </a:lstStyle>
          <a:p>
            <a:pPr lvl="0"/>
            <a:endParaRPr lang="en-US" dirty="0"/>
          </a:p>
        </p:txBody>
      </p:sp>
      <p:sp>
        <p:nvSpPr>
          <p:cNvPr id="4" name="Slide Number Placeholder 5">
            <a:extLst>
              <a:ext uri="{FF2B5EF4-FFF2-40B4-BE49-F238E27FC236}">
                <a16:creationId xmlns:a16="http://schemas.microsoft.com/office/drawing/2014/main" id="{938AA13D-04A2-4A0F-9AC1-805AB8B0FB09}"/>
              </a:ext>
            </a:extLst>
          </p:cNvPr>
          <p:cNvSpPr>
            <a:spLocks noGrp="1"/>
          </p:cNvSpPr>
          <p:nvPr>
            <p:ph type="sldNum" sz="quarter" idx="14"/>
          </p:nvPr>
        </p:nvSpPr>
        <p:spPr>
          <a:xfrm>
            <a:off x="8534400" y="6416675"/>
            <a:ext cx="609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atin typeface="Calibri" panose="020F0502020204030204" pitchFamily="34" charset="0"/>
              </a:defRPr>
            </a:lvl1pPr>
          </a:lstStyle>
          <a:p>
            <a:pPr>
              <a:defRPr/>
            </a:pPr>
            <a:fld id="{76DE54FB-4625-4052-AC1B-5116E2C8FCB5}" type="slidenum">
              <a:rPr lang="en-US" altLang="en-US"/>
              <a:pPr>
                <a:defRPr/>
              </a:pPr>
              <a:t>‹#›</a:t>
            </a:fld>
            <a:endParaRPr lang="en-US" altLang="en-US"/>
          </a:p>
        </p:txBody>
      </p:sp>
    </p:spTree>
    <p:extLst>
      <p:ext uri="{BB962C8B-B14F-4D97-AF65-F5344CB8AC3E}">
        <p14:creationId xmlns:p14="http://schemas.microsoft.com/office/powerpoint/2010/main" val="233188033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04800" y="914400"/>
            <a:ext cx="8534400" cy="55626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304800" y="381000"/>
            <a:ext cx="8610600" cy="533400"/>
          </a:xfrm>
          <a:prstGeom prst="rect">
            <a:avLst/>
          </a:prstGeom>
        </p:spPr>
        <p:txBody>
          <a:bodyPr/>
          <a:lstStyle>
            <a:lvl1pPr>
              <a:defRPr sz="3200">
                <a:solidFill>
                  <a:srgbClr val="000099"/>
                </a:solidFill>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88914E29-1F57-43CD-9B24-6BFF8ADB7CF5}"/>
              </a:ext>
            </a:extLst>
          </p:cNvPr>
          <p:cNvSpPr>
            <a:spLocks noGrp="1"/>
          </p:cNvSpPr>
          <p:nvPr>
            <p:ph type="sldNum" sz="quarter" idx="11"/>
          </p:nvPr>
        </p:nvSpPr>
        <p:spPr>
          <a:xfrm>
            <a:off x="8534400" y="6416675"/>
            <a:ext cx="609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atin typeface="Calibri" panose="020F0502020204030204" pitchFamily="34" charset="0"/>
              </a:defRPr>
            </a:lvl1pPr>
          </a:lstStyle>
          <a:p>
            <a:pPr>
              <a:defRPr/>
            </a:pPr>
            <a:fld id="{22563A14-BF02-4927-9436-B07C01669684}" type="slidenum">
              <a:rPr lang="en-US" altLang="en-US"/>
              <a:pPr>
                <a:defRPr/>
              </a:pPr>
              <a:t>‹#›</a:t>
            </a:fld>
            <a:endParaRPr lang="en-US" altLang="en-US"/>
          </a:p>
        </p:txBody>
      </p:sp>
    </p:spTree>
    <p:extLst>
      <p:ext uri="{BB962C8B-B14F-4D97-AF65-F5344CB8AC3E}">
        <p14:creationId xmlns:p14="http://schemas.microsoft.com/office/powerpoint/2010/main" val="2857233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04800" y="1066800"/>
            <a:ext cx="8534400" cy="54102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1295400" y="0"/>
            <a:ext cx="6477000" cy="1066800"/>
          </a:xfrm>
          <a:prstGeom prst="rect">
            <a:avLst/>
          </a:prstGeom>
        </p:spPr>
        <p:txBody>
          <a:bodyPr/>
          <a:lstStyle>
            <a:lvl1pPr>
              <a:defRPr sz="3200">
                <a:solidFill>
                  <a:srgbClr val="9E0000"/>
                </a:solidFill>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5B75F2D2-C6A6-4393-8C49-A3540B268B9D}"/>
              </a:ext>
            </a:extLst>
          </p:cNvPr>
          <p:cNvSpPr>
            <a:spLocks noGrp="1"/>
          </p:cNvSpPr>
          <p:nvPr>
            <p:ph type="sldNum" sz="quarter" idx="11"/>
          </p:nvPr>
        </p:nvSpPr>
        <p:spPr>
          <a:xfrm>
            <a:off x="8534400" y="6400800"/>
            <a:ext cx="609600" cy="365125"/>
          </a:xfrm>
          <a:prstGeom prst="rect">
            <a:avLst/>
          </a:prstGeom>
        </p:spPr>
        <p:txBody>
          <a:bodyPr vert="horz" wrap="square" lIns="91440" tIns="45720" rIns="91440" bIns="45720" numCol="1" anchor="t" anchorCtr="0" compatLnSpc="1">
            <a:prstTxWarp prst="textNoShape">
              <a:avLst/>
            </a:prstTxWarp>
          </a:bodyPr>
          <a:lstStyle>
            <a:lvl1pPr algn="ctr" eaLnBrk="1" hangingPunct="1">
              <a:defRPr smtClean="0">
                <a:latin typeface="Calibri" panose="020F0502020204030204" pitchFamily="34" charset="0"/>
              </a:defRPr>
            </a:lvl1pPr>
          </a:lstStyle>
          <a:p>
            <a:pPr>
              <a:defRPr/>
            </a:pPr>
            <a:fld id="{7259470B-9A50-408C-AAA4-D5EBE66290EB}" type="slidenum">
              <a:rPr lang="en-US" altLang="en-US"/>
              <a:pPr>
                <a:defRPr/>
              </a:pPr>
              <a:t>‹#›</a:t>
            </a:fld>
            <a:endParaRPr lang="en-US" altLang="en-US"/>
          </a:p>
        </p:txBody>
      </p:sp>
    </p:spTree>
    <p:extLst>
      <p:ext uri="{BB962C8B-B14F-4D97-AF65-F5344CB8AC3E}">
        <p14:creationId xmlns:p14="http://schemas.microsoft.com/office/powerpoint/2010/main" val="16680306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11.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13.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image" Target="../media/image1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0CE5CA-3230-41AC-A570-3934A520B9F3}"/>
              </a:ext>
            </a:extLst>
          </p:cNvPr>
          <p:cNvPicPr preferRelativeResize="0">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2">
            <a:extLst>
              <a:ext uri="{FF2B5EF4-FFF2-40B4-BE49-F238E27FC236}">
                <a16:creationId xmlns:a16="http://schemas.microsoft.com/office/drawing/2014/main" id="{F877A0A8-016E-43EA-AD77-95BB366381CC}"/>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828800"/>
            <a:ext cx="79248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3">
            <a:extLst>
              <a:ext uri="{FF2B5EF4-FFF2-40B4-BE49-F238E27FC236}">
                <a16:creationId xmlns:a16="http://schemas.microsoft.com/office/drawing/2014/main" id="{656115D9-598A-43CC-9FFE-09D97AABCAB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346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4">
            <a:extLst>
              <a:ext uri="{FF2B5EF4-FFF2-40B4-BE49-F238E27FC236}">
                <a16:creationId xmlns:a16="http://schemas.microsoft.com/office/drawing/2014/main" id="{5AB10FFE-5255-48E6-882B-E417AE26E5E8}"/>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872413" y="1981200"/>
            <a:ext cx="12715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11">
            <a:extLst>
              <a:ext uri="{FF2B5EF4-FFF2-40B4-BE49-F238E27FC236}">
                <a16:creationId xmlns:a16="http://schemas.microsoft.com/office/drawing/2014/main" id="{106B6EFA-86DD-4189-8B46-E86EFA30616C}"/>
              </a:ext>
            </a:extLst>
          </p:cNvPr>
          <p:cNvSpPr>
            <a:spLocks noChangeArrowheads="1"/>
          </p:cNvSpPr>
          <p:nvPr userDrawn="1"/>
        </p:nvSpPr>
        <p:spPr bwMode="auto">
          <a:xfrm>
            <a:off x="7696200" y="161925"/>
            <a:ext cx="1465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solidFill>
                  <a:srgbClr val="006400"/>
                </a:solidFill>
                <a:latin typeface="Arial Unicode MS" pitchFamily="34" charset="-128"/>
                <a:ea typeface="Arial Unicode MS" pitchFamily="34" charset="-128"/>
              </a:rPr>
              <a:t>Chapter</a:t>
            </a:r>
          </a:p>
        </p:txBody>
      </p:sp>
    </p:spTree>
  </p:cSld>
  <p:clrMap bg1="lt1" tx1="dk1" bg2="lt2" tx2="dk2" accent1="accent1" accent2="accent2" accent3="accent3" accent4="accent4" accent5="accent5" accent6="accent6" hlink="hlink" folHlink="folHlink"/>
  <p:sldLayoutIdLst>
    <p:sldLayoutId id="2147483734" r:id="rId1"/>
  </p:sldLayoutIdLst>
  <p:hf hdr="0" ftr="0" dt="0"/>
  <p:txStyles>
    <p:titleStyle>
      <a:lvl1pPr algn="ctr" rtl="0" eaLnBrk="0" fontAlgn="base" hangingPunct="0">
        <a:spcBef>
          <a:spcPct val="0"/>
        </a:spcBef>
        <a:spcAft>
          <a:spcPct val="0"/>
        </a:spcAft>
        <a:defRPr sz="4400" kern="1200">
          <a:solidFill>
            <a:srgbClr val="C00000"/>
          </a:solidFill>
          <a:latin typeface="+mj-lt"/>
          <a:ea typeface="+mj-ea"/>
          <a:cs typeface="+mj-cs"/>
        </a:defRPr>
      </a:lvl1pPr>
      <a:lvl2pPr algn="ctr" rtl="0" eaLnBrk="0" fontAlgn="base" hangingPunct="0">
        <a:spcBef>
          <a:spcPct val="0"/>
        </a:spcBef>
        <a:spcAft>
          <a:spcPct val="0"/>
        </a:spcAft>
        <a:defRPr sz="4400">
          <a:solidFill>
            <a:srgbClr val="C00000"/>
          </a:solidFill>
          <a:latin typeface="Calibri" pitchFamily="34" charset="0"/>
        </a:defRPr>
      </a:lvl2pPr>
      <a:lvl3pPr algn="ctr" rtl="0" eaLnBrk="0" fontAlgn="base" hangingPunct="0">
        <a:spcBef>
          <a:spcPct val="0"/>
        </a:spcBef>
        <a:spcAft>
          <a:spcPct val="0"/>
        </a:spcAft>
        <a:defRPr sz="4400">
          <a:solidFill>
            <a:srgbClr val="C00000"/>
          </a:solidFill>
          <a:latin typeface="Calibri" pitchFamily="34" charset="0"/>
        </a:defRPr>
      </a:lvl3pPr>
      <a:lvl4pPr algn="ctr" rtl="0" eaLnBrk="0" fontAlgn="base" hangingPunct="0">
        <a:spcBef>
          <a:spcPct val="0"/>
        </a:spcBef>
        <a:spcAft>
          <a:spcPct val="0"/>
        </a:spcAft>
        <a:defRPr sz="4400">
          <a:solidFill>
            <a:srgbClr val="C00000"/>
          </a:solidFill>
          <a:latin typeface="Calibri" pitchFamily="34" charset="0"/>
        </a:defRPr>
      </a:lvl4pPr>
      <a:lvl5pPr algn="ctr" rtl="0" eaLnBrk="0" fontAlgn="base" hangingPunct="0">
        <a:spcBef>
          <a:spcPct val="0"/>
        </a:spcBef>
        <a:spcAft>
          <a:spcPct val="0"/>
        </a:spcAft>
        <a:defRPr sz="4400">
          <a:solidFill>
            <a:srgbClr val="C00000"/>
          </a:solidFill>
          <a:latin typeface="Calibri" pitchFamily="34" charset="0"/>
        </a:defRPr>
      </a:lvl5pPr>
      <a:lvl6pPr marL="457200" algn="ctr" rtl="0" fontAlgn="base">
        <a:spcBef>
          <a:spcPct val="0"/>
        </a:spcBef>
        <a:spcAft>
          <a:spcPct val="0"/>
        </a:spcAft>
        <a:defRPr sz="4400">
          <a:solidFill>
            <a:srgbClr val="C00000"/>
          </a:solidFill>
          <a:latin typeface="Calibri" pitchFamily="34" charset="0"/>
        </a:defRPr>
      </a:lvl6pPr>
      <a:lvl7pPr marL="914400" algn="ctr" rtl="0" fontAlgn="base">
        <a:spcBef>
          <a:spcPct val="0"/>
        </a:spcBef>
        <a:spcAft>
          <a:spcPct val="0"/>
        </a:spcAft>
        <a:defRPr sz="4400">
          <a:solidFill>
            <a:srgbClr val="C00000"/>
          </a:solidFill>
          <a:latin typeface="Calibri" pitchFamily="34" charset="0"/>
        </a:defRPr>
      </a:lvl7pPr>
      <a:lvl8pPr marL="1371600" algn="ctr" rtl="0" fontAlgn="base">
        <a:spcBef>
          <a:spcPct val="0"/>
        </a:spcBef>
        <a:spcAft>
          <a:spcPct val="0"/>
        </a:spcAft>
        <a:defRPr sz="4400">
          <a:solidFill>
            <a:srgbClr val="C00000"/>
          </a:solidFill>
          <a:latin typeface="Calibri" pitchFamily="34" charset="0"/>
        </a:defRPr>
      </a:lvl8pPr>
      <a:lvl9pPr marL="1828800" algn="ctr" rtl="0" fontAlgn="base">
        <a:spcBef>
          <a:spcPct val="0"/>
        </a:spcBef>
        <a:spcAft>
          <a:spcPct val="0"/>
        </a:spcAft>
        <a:defRPr sz="4400">
          <a:solidFill>
            <a:srgbClr val="C00000"/>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7" descr="eggs.bmp">
            <a:extLst>
              <a:ext uri="{FF2B5EF4-FFF2-40B4-BE49-F238E27FC236}">
                <a16:creationId xmlns:a16="http://schemas.microsoft.com/office/drawing/2014/main" id="{2700980B-7E65-43A7-B2F1-28D38C8B32D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59800" y="6324600"/>
            <a:ext cx="58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B3253C14-4EBA-4729-9FD5-A3C4084C2EC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28600" y="838200"/>
            <a:ext cx="1524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a:extLst>
              <a:ext uri="{FF2B5EF4-FFF2-40B4-BE49-F238E27FC236}">
                <a16:creationId xmlns:a16="http://schemas.microsoft.com/office/drawing/2014/main" id="{83D21733-434E-4AF5-AED1-8056C641BA74}"/>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28600" y="838200"/>
            <a:ext cx="8763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6C688C1C-1285-4122-8E32-12F8CDF1A6D0}"/>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9067800" y="5791200"/>
            <a:ext cx="76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5">
            <a:extLst>
              <a:ext uri="{FF2B5EF4-FFF2-40B4-BE49-F238E27FC236}">
                <a16:creationId xmlns:a16="http://schemas.microsoft.com/office/drawing/2014/main" id="{8AB76AFF-3C89-402C-9C9B-542D656483A7}"/>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077200" y="6781800"/>
            <a:ext cx="1066800"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5" r:id="rId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11">
            <a:extLst>
              <a:ext uri="{FF2B5EF4-FFF2-40B4-BE49-F238E27FC236}">
                <a16:creationId xmlns:a16="http://schemas.microsoft.com/office/drawing/2014/main" id="{05BC1C12-BF37-45CD-8669-DE1DCC48D6F2}"/>
              </a:ext>
            </a:extLst>
          </p:cNvPr>
          <p:cNvGrpSpPr>
            <a:grpSpLocks/>
          </p:cNvGrpSpPr>
          <p:nvPr userDrawn="1"/>
        </p:nvGrpSpPr>
        <p:grpSpPr bwMode="auto">
          <a:xfrm>
            <a:off x="0" y="0"/>
            <a:ext cx="9144000" cy="6858000"/>
            <a:chOff x="0" y="0"/>
            <a:chExt cx="9144001" cy="6858000"/>
          </a:xfrm>
        </p:grpSpPr>
        <p:pic>
          <p:nvPicPr>
            <p:cNvPr id="3076" name="Picture 2">
              <a:extLst>
                <a:ext uri="{FF2B5EF4-FFF2-40B4-BE49-F238E27FC236}">
                  <a16:creationId xmlns:a16="http://schemas.microsoft.com/office/drawing/2014/main" id="{469EB718-31B0-4211-BC0F-C3282A7F9CE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3">
              <a:extLst>
                <a:ext uri="{FF2B5EF4-FFF2-40B4-BE49-F238E27FC236}">
                  <a16:creationId xmlns:a16="http://schemas.microsoft.com/office/drawing/2014/main" id="{39919304-16BB-4BC2-9A51-E76B59C6731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33400"/>
              <a:ext cx="9144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5" name="Rectangle 9">
            <a:extLst>
              <a:ext uri="{FF2B5EF4-FFF2-40B4-BE49-F238E27FC236}">
                <a16:creationId xmlns:a16="http://schemas.microsoft.com/office/drawing/2014/main" id="{EBB606FF-3C68-441B-8F6B-8DAD5B30C700}"/>
              </a:ext>
            </a:extLst>
          </p:cNvPr>
          <p:cNvSpPr>
            <a:spLocks noChangeArrowheads="1"/>
          </p:cNvSpPr>
          <p:nvPr userDrawn="1"/>
        </p:nvSpPr>
        <p:spPr bwMode="auto">
          <a:xfrm>
            <a:off x="209550" y="0"/>
            <a:ext cx="1085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solidFill>
                  <a:srgbClr val="0000B8"/>
                </a:solidFill>
                <a:latin typeface="Arial Unicode MS" pitchFamily="34" charset="-128"/>
                <a:ea typeface="Arial Unicode MS" pitchFamily="34" charset="-128"/>
              </a:rPr>
              <a:t>Table</a:t>
            </a:r>
          </a:p>
        </p:txBody>
      </p:sp>
    </p:spTree>
  </p:cSld>
  <p:clrMap bg1="lt1" tx1="dk1" bg2="lt2" tx2="dk2" accent1="accent1" accent2="accent2" accent3="accent3" accent4="accent4" accent5="accent5" accent6="accent6" hlink="hlink" folHlink="folHlink"/>
  <p:sldLayoutIdLst>
    <p:sldLayoutId id="2147483736"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098" name="Group 7">
            <a:extLst>
              <a:ext uri="{FF2B5EF4-FFF2-40B4-BE49-F238E27FC236}">
                <a16:creationId xmlns:a16="http://schemas.microsoft.com/office/drawing/2014/main" id="{ED9B58F7-373E-45F3-A155-9CC9E786B30D}"/>
              </a:ext>
            </a:extLst>
          </p:cNvPr>
          <p:cNvGrpSpPr>
            <a:grpSpLocks/>
          </p:cNvGrpSpPr>
          <p:nvPr userDrawn="1"/>
        </p:nvGrpSpPr>
        <p:grpSpPr bwMode="auto">
          <a:xfrm>
            <a:off x="0" y="0"/>
            <a:ext cx="9144000" cy="6858000"/>
            <a:chOff x="0" y="0"/>
            <a:chExt cx="9144000" cy="6858000"/>
          </a:xfrm>
        </p:grpSpPr>
        <p:pic>
          <p:nvPicPr>
            <p:cNvPr id="4100" name="Picture 2">
              <a:extLst>
                <a:ext uri="{FF2B5EF4-FFF2-40B4-BE49-F238E27FC236}">
                  <a16:creationId xmlns:a16="http://schemas.microsoft.com/office/drawing/2014/main" id="{D08F9E84-BBA3-4011-B7C4-2E73B84147F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3">
              <a:extLst>
                <a:ext uri="{FF2B5EF4-FFF2-40B4-BE49-F238E27FC236}">
                  <a16:creationId xmlns:a16="http://schemas.microsoft.com/office/drawing/2014/main" id="{8A35536F-6D2F-44C1-A194-3D2DC8451F8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33400"/>
              <a:ext cx="9144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99" name="Rectangle 9">
            <a:extLst>
              <a:ext uri="{FF2B5EF4-FFF2-40B4-BE49-F238E27FC236}">
                <a16:creationId xmlns:a16="http://schemas.microsoft.com/office/drawing/2014/main" id="{8EDF37CE-DB3C-4DB9-80EF-107F410AE259}"/>
              </a:ext>
            </a:extLst>
          </p:cNvPr>
          <p:cNvSpPr>
            <a:spLocks noChangeArrowheads="1"/>
          </p:cNvSpPr>
          <p:nvPr userDrawn="1"/>
        </p:nvSpPr>
        <p:spPr bwMode="auto">
          <a:xfrm>
            <a:off x="209550" y="0"/>
            <a:ext cx="1206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solidFill>
                  <a:srgbClr val="800080"/>
                </a:solidFill>
                <a:latin typeface="Arial Unicode MS" pitchFamily="34" charset="-128"/>
                <a:ea typeface="Arial Unicode MS" pitchFamily="34" charset="-128"/>
              </a:rPr>
              <a:t>Figure</a:t>
            </a:r>
          </a:p>
        </p:txBody>
      </p:sp>
    </p:spTree>
  </p:cSld>
  <p:clrMap bg1="lt1" tx1="dk1" bg2="lt2" tx2="dk2" accent1="accent1" accent2="accent2" accent3="accent3" accent4="accent4" accent5="accent5" accent6="accent6" hlink="hlink" folHlink="folHlink"/>
  <p:sldLayoutIdLst>
    <p:sldLayoutId id="2147483737"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61A49BE9-2459-4ED6-9E26-D29CF3613062}"/>
              </a:ext>
            </a:extLst>
          </p:cNvPr>
          <p:cNvPicPr preferRelativeResize="0">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2">
            <a:extLst>
              <a:ext uri="{FF2B5EF4-FFF2-40B4-BE49-F238E27FC236}">
                <a16:creationId xmlns:a16="http://schemas.microsoft.com/office/drawing/2014/main" id="{95A252DA-18BC-430A-A9CA-3F6F0E7289D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11">
            <a:extLst>
              <a:ext uri="{FF2B5EF4-FFF2-40B4-BE49-F238E27FC236}">
                <a16:creationId xmlns:a16="http://schemas.microsoft.com/office/drawing/2014/main" id="{ED8ABA54-9870-4BAB-9C40-435E3ED8321B}"/>
              </a:ext>
            </a:extLst>
          </p:cNvPr>
          <p:cNvSpPr>
            <a:spLocks noChangeArrowheads="1"/>
          </p:cNvSpPr>
          <p:nvPr userDrawn="1"/>
        </p:nvSpPr>
        <p:spPr bwMode="auto">
          <a:xfrm>
            <a:off x="3429000" y="0"/>
            <a:ext cx="2005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a:solidFill>
                  <a:schemeClr val="bg1"/>
                </a:solidFill>
                <a:latin typeface="Arial Unicode MS" pitchFamily="34" charset="-128"/>
                <a:ea typeface="Arial Unicode MS" pitchFamily="34" charset="-128"/>
              </a:rPr>
              <a:t>APPENDIX</a:t>
            </a:r>
          </a:p>
        </p:txBody>
      </p:sp>
    </p:spTree>
  </p:cSld>
  <p:clrMap bg1="lt1" tx1="dk1" bg2="lt2" tx2="dk2" accent1="accent1" accent2="accent2" accent3="accent3" accent4="accent4" accent5="accent5" accent6="accent6" hlink="hlink" folHlink="folHlink"/>
  <p:sldLayoutIdLst>
    <p:sldLayoutId id="2147483738" r:id="rId1"/>
  </p:sldLayoutIdLst>
  <p:hf hdr="0" ftr="0" dt="0"/>
  <p:txStyles>
    <p:titleStyle>
      <a:lvl1pPr algn="ctr" rtl="0" eaLnBrk="0" fontAlgn="base" hangingPunct="0">
        <a:spcBef>
          <a:spcPct val="0"/>
        </a:spcBef>
        <a:spcAft>
          <a:spcPct val="0"/>
        </a:spcAft>
        <a:defRPr sz="4400" kern="1200">
          <a:solidFill>
            <a:srgbClr val="C00000"/>
          </a:solidFill>
          <a:latin typeface="+mj-lt"/>
          <a:ea typeface="+mj-ea"/>
          <a:cs typeface="+mj-cs"/>
        </a:defRPr>
      </a:lvl1pPr>
      <a:lvl2pPr algn="ctr" rtl="0" eaLnBrk="0" fontAlgn="base" hangingPunct="0">
        <a:spcBef>
          <a:spcPct val="0"/>
        </a:spcBef>
        <a:spcAft>
          <a:spcPct val="0"/>
        </a:spcAft>
        <a:defRPr sz="4400">
          <a:solidFill>
            <a:srgbClr val="C00000"/>
          </a:solidFill>
          <a:latin typeface="Calibri" pitchFamily="34" charset="0"/>
        </a:defRPr>
      </a:lvl2pPr>
      <a:lvl3pPr algn="ctr" rtl="0" eaLnBrk="0" fontAlgn="base" hangingPunct="0">
        <a:spcBef>
          <a:spcPct val="0"/>
        </a:spcBef>
        <a:spcAft>
          <a:spcPct val="0"/>
        </a:spcAft>
        <a:defRPr sz="4400">
          <a:solidFill>
            <a:srgbClr val="C00000"/>
          </a:solidFill>
          <a:latin typeface="Calibri" pitchFamily="34" charset="0"/>
        </a:defRPr>
      </a:lvl3pPr>
      <a:lvl4pPr algn="ctr" rtl="0" eaLnBrk="0" fontAlgn="base" hangingPunct="0">
        <a:spcBef>
          <a:spcPct val="0"/>
        </a:spcBef>
        <a:spcAft>
          <a:spcPct val="0"/>
        </a:spcAft>
        <a:defRPr sz="4400">
          <a:solidFill>
            <a:srgbClr val="C00000"/>
          </a:solidFill>
          <a:latin typeface="Calibri" pitchFamily="34" charset="0"/>
        </a:defRPr>
      </a:lvl4pPr>
      <a:lvl5pPr algn="ctr" rtl="0" eaLnBrk="0" fontAlgn="base" hangingPunct="0">
        <a:spcBef>
          <a:spcPct val="0"/>
        </a:spcBef>
        <a:spcAft>
          <a:spcPct val="0"/>
        </a:spcAft>
        <a:defRPr sz="4400">
          <a:solidFill>
            <a:srgbClr val="C00000"/>
          </a:solidFill>
          <a:latin typeface="Calibri" pitchFamily="34" charset="0"/>
        </a:defRPr>
      </a:lvl5pPr>
      <a:lvl6pPr marL="457200" algn="ctr" rtl="0" fontAlgn="base">
        <a:spcBef>
          <a:spcPct val="0"/>
        </a:spcBef>
        <a:spcAft>
          <a:spcPct val="0"/>
        </a:spcAft>
        <a:defRPr sz="4400">
          <a:solidFill>
            <a:srgbClr val="C00000"/>
          </a:solidFill>
          <a:latin typeface="Calibri" pitchFamily="34" charset="0"/>
        </a:defRPr>
      </a:lvl6pPr>
      <a:lvl7pPr marL="914400" algn="ctr" rtl="0" fontAlgn="base">
        <a:spcBef>
          <a:spcPct val="0"/>
        </a:spcBef>
        <a:spcAft>
          <a:spcPct val="0"/>
        </a:spcAft>
        <a:defRPr sz="4400">
          <a:solidFill>
            <a:srgbClr val="C00000"/>
          </a:solidFill>
          <a:latin typeface="Calibri" pitchFamily="34" charset="0"/>
        </a:defRPr>
      </a:lvl7pPr>
      <a:lvl8pPr marL="1371600" algn="ctr" rtl="0" fontAlgn="base">
        <a:spcBef>
          <a:spcPct val="0"/>
        </a:spcBef>
        <a:spcAft>
          <a:spcPct val="0"/>
        </a:spcAft>
        <a:defRPr sz="4400">
          <a:solidFill>
            <a:srgbClr val="C00000"/>
          </a:solidFill>
          <a:latin typeface="Calibri" pitchFamily="34" charset="0"/>
        </a:defRPr>
      </a:lvl8pPr>
      <a:lvl9pPr marL="1828800" algn="ctr" rtl="0" fontAlgn="base">
        <a:spcBef>
          <a:spcPct val="0"/>
        </a:spcBef>
        <a:spcAft>
          <a:spcPct val="0"/>
        </a:spcAft>
        <a:defRPr sz="4400">
          <a:solidFill>
            <a:srgbClr val="C00000"/>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FA9CE56D-6341-4D5D-89ED-304D7CF1B9A4}"/>
              </a:ext>
            </a:extLst>
          </p:cNvPr>
          <p:cNvPicPr preferRelativeResize="0">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7" name="Group 9">
            <a:extLst>
              <a:ext uri="{FF2B5EF4-FFF2-40B4-BE49-F238E27FC236}">
                <a16:creationId xmlns:a16="http://schemas.microsoft.com/office/drawing/2014/main" id="{E7FB205C-4B21-474E-8EBC-58A4EF3FC3F6}"/>
              </a:ext>
            </a:extLst>
          </p:cNvPr>
          <p:cNvGrpSpPr>
            <a:grpSpLocks/>
          </p:cNvGrpSpPr>
          <p:nvPr userDrawn="1"/>
        </p:nvGrpSpPr>
        <p:grpSpPr bwMode="auto">
          <a:xfrm>
            <a:off x="0" y="0"/>
            <a:ext cx="9144000" cy="6858000"/>
            <a:chOff x="0" y="0"/>
            <a:chExt cx="9144000" cy="6858000"/>
          </a:xfrm>
        </p:grpSpPr>
        <p:pic>
          <p:nvPicPr>
            <p:cNvPr id="6148" name="Picture 2">
              <a:extLst>
                <a:ext uri="{FF2B5EF4-FFF2-40B4-BE49-F238E27FC236}">
                  <a16:creationId xmlns:a16="http://schemas.microsoft.com/office/drawing/2014/main" id="{77FBB345-A9CE-46B2-96D7-FE77058E960F}"/>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1"/>
              <a:ext cx="1447800" cy="105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2">
              <a:extLst>
                <a:ext uri="{FF2B5EF4-FFF2-40B4-BE49-F238E27FC236}">
                  <a16:creationId xmlns:a16="http://schemas.microsoft.com/office/drawing/2014/main" id="{E0E7A366-C088-4A67-A28C-7106E584946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696200" y="0"/>
              <a:ext cx="1447800" cy="105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4">
              <a:extLst>
                <a:ext uri="{FF2B5EF4-FFF2-40B4-BE49-F238E27FC236}">
                  <a16:creationId xmlns:a16="http://schemas.microsoft.com/office/drawing/2014/main" id="{ACAF59A2-F743-4B5F-866E-2A26992BCD3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6067425" y="3781425"/>
              <a:ext cx="5791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4">
              <a:extLst>
                <a:ext uri="{FF2B5EF4-FFF2-40B4-BE49-F238E27FC236}">
                  <a16:creationId xmlns:a16="http://schemas.microsoft.com/office/drawing/2014/main" id="{87CB6642-7462-4E3C-9AE3-BEF050541AD5}"/>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2714625" y="3781425"/>
              <a:ext cx="5791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2" name="Picture 3">
              <a:extLst>
                <a:ext uri="{FF2B5EF4-FFF2-40B4-BE49-F238E27FC236}">
                  <a16:creationId xmlns:a16="http://schemas.microsoft.com/office/drawing/2014/main" id="{2FCE95E1-6574-44CC-B1F2-E8B2D1A0F0AE}"/>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587318" y="6324600"/>
              <a:ext cx="556682" cy="53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739" r:id="rId1"/>
  </p:sldLayoutIdLst>
  <p:hf hdr="0" ftr="0" dt="0"/>
  <p:txStyles>
    <p:titleStyle>
      <a:lvl1pPr algn="ctr" rtl="0" eaLnBrk="0" fontAlgn="base" hangingPunct="0">
        <a:spcBef>
          <a:spcPct val="0"/>
        </a:spcBef>
        <a:spcAft>
          <a:spcPct val="0"/>
        </a:spcAft>
        <a:defRPr sz="4400" kern="1200">
          <a:solidFill>
            <a:srgbClr val="C00000"/>
          </a:solidFill>
          <a:latin typeface="+mj-lt"/>
          <a:ea typeface="+mj-ea"/>
          <a:cs typeface="+mj-cs"/>
        </a:defRPr>
      </a:lvl1pPr>
      <a:lvl2pPr algn="ctr" rtl="0" eaLnBrk="0" fontAlgn="base" hangingPunct="0">
        <a:spcBef>
          <a:spcPct val="0"/>
        </a:spcBef>
        <a:spcAft>
          <a:spcPct val="0"/>
        </a:spcAft>
        <a:defRPr sz="4400">
          <a:solidFill>
            <a:srgbClr val="C00000"/>
          </a:solidFill>
          <a:latin typeface="Calibri" pitchFamily="34" charset="0"/>
        </a:defRPr>
      </a:lvl2pPr>
      <a:lvl3pPr algn="ctr" rtl="0" eaLnBrk="0" fontAlgn="base" hangingPunct="0">
        <a:spcBef>
          <a:spcPct val="0"/>
        </a:spcBef>
        <a:spcAft>
          <a:spcPct val="0"/>
        </a:spcAft>
        <a:defRPr sz="4400">
          <a:solidFill>
            <a:srgbClr val="C00000"/>
          </a:solidFill>
          <a:latin typeface="Calibri" pitchFamily="34" charset="0"/>
        </a:defRPr>
      </a:lvl3pPr>
      <a:lvl4pPr algn="ctr" rtl="0" eaLnBrk="0" fontAlgn="base" hangingPunct="0">
        <a:spcBef>
          <a:spcPct val="0"/>
        </a:spcBef>
        <a:spcAft>
          <a:spcPct val="0"/>
        </a:spcAft>
        <a:defRPr sz="4400">
          <a:solidFill>
            <a:srgbClr val="C00000"/>
          </a:solidFill>
          <a:latin typeface="Calibri" pitchFamily="34" charset="0"/>
        </a:defRPr>
      </a:lvl4pPr>
      <a:lvl5pPr algn="ctr" rtl="0" eaLnBrk="0" fontAlgn="base" hangingPunct="0">
        <a:spcBef>
          <a:spcPct val="0"/>
        </a:spcBef>
        <a:spcAft>
          <a:spcPct val="0"/>
        </a:spcAft>
        <a:defRPr sz="4400">
          <a:solidFill>
            <a:srgbClr val="C00000"/>
          </a:solidFill>
          <a:latin typeface="Calibri" pitchFamily="34" charset="0"/>
        </a:defRPr>
      </a:lvl5pPr>
      <a:lvl6pPr marL="457200" algn="ctr" rtl="0" fontAlgn="base">
        <a:spcBef>
          <a:spcPct val="0"/>
        </a:spcBef>
        <a:spcAft>
          <a:spcPct val="0"/>
        </a:spcAft>
        <a:defRPr sz="4400">
          <a:solidFill>
            <a:srgbClr val="C00000"/>
          </a:solidFill>
          <a:latin typeface="Calibri" pitchFamily="34" charset="0"/>
        </a:defRPr>
      </a:lvl6pPr>
      <a:lvl7pPr marL="914400" algn="ctr" rtl="0" fontAlgn="base">
        <a:spcBef>
          <a:spcPct val="0"/>
        </a:spcBef>
        <a:spcAft>
          <a:spcPct val="0"/>
        </a:spcAft>
        <a:defRPr sz="4400">
          <a:solidFill>
            <a:srgbClr val="C00000"/>
          </a:solidFill>
          <a:latin typeface="Calibri" pitchFamily="34" charset="0"/>
        </a:defRPr>
      </a:lvl7pPr>
      <a:lvl8pPr marL="1371600" algn="ctr" rtl="0" fontAlgn="base">
        <a:spcBef>
          <a:spcPct val="0"/>
        </a:spcBef>
        <a:spcAft>
          <a:spcPct val="0"/>
        </a:spcAft>
        <a:defRPr sz="4400">
          <a:solidFill>
            <a:srgbClr val="C00000"/>
          </a:solidFill>
          <a:latin typeface="Calibri" pitchFamily="34" charset="0"/>
        </a:defRPr>
      </a:lvl8pPr>
      <a:lvl9pPr marL="1828800" algn="ctr" rtl="0" fontAlgn="base">
        <a:spcBef>
          <a:spcPct val="0"/>
        </a:spcBef>
        <a:spcAft>
          <a:spcPct val="0"/>
        </a:spcAft>
        <a:defRPr sz="4400">
          <a:solidFill>
            <a:srgbClr val="C00000"/>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299EB-51C3-4235-B9E3-6DBD1E3C0A50}"/>
              </a:ext>
            </a:extLst>
          </p:cNvPr>
          <p:cNvSpPr>
            <a:spLocks noGrp="1"/>
          </p:cNvSpPr>
          <p:nvPr>
            <p:ph type="ctrTitle"/>
          </p:nvPr>
        </p:nvSpPr>
        <p:spPr bwMode="auto">
          <a:xfrm>
            <a:off x="0" y="2590800"/>
            <a:ext cx="9144000" cy="2438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Consumers, Producers, and</a:t>
            </a:r>
            <a:br>
              <a:rPr lang="en-US" altLang="en-US"/>
            </a:br>
            <a:r>
              <a:rPr lang="en-US" altLang="en-US"/>
              <a:t>the Efficiency of Markets</a:t>
            </a:r>
          </a:p>
        </p:txBody>
      </p:sp>
      <p:sp>
        <p:nvSpPr>
          <p:cNvPr id="3" name="Subtitle 2">
            <a:extLst>
              <a:ext uri="{FF2B5EF4-FFF2-40B4-BE49-F238E27FC236}">
                <a16:creationId xmlns:a16="http://schemas.microsoft.com/office/drawing/2014/main" id="{3B0CF3C1-E471-47F5-990D-98B61D2B8290}"/>
              </a:ext>
            </a:extLst>
          </p:cNvPr>
          <p:cNvSpPr>
            <a:spLocks noGrp="1"/>
          </p:cNvSpPr>
          <p:nvPr>
            <p:ph type="subTitle" idx="1"/>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eaLnBrk="1" hangingPunct="1"/>
            <a:r>
              <a:rPr lang="en-US" altLang="en-US"/>
              <a:t>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FD984C10-A87C-4B3C-9047-FE36977FF5DB}"/>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Consumer Surplus</a:t>
            </a:r>
          </a:p>
        </p:txBody>
      </p:sp>
      <p:sp>
        <p:nvSpPr>
          <p:cNvPr id="13315" name="Content Placeholder 2">
            <a:extLst>
              <a:ext uri="{FF2B5EF4-FFF2-40B4-BE49-F238E27FC236}">
                <a16:creationId xmlns:a16="http://schemas.microsoft.com/office/drawing/2014/main" id="{6C46609B-8004-48FF-8987-DF5B8CF2B7C4}"/>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Welfare economics</a:t>
            </a:r>
          </a:p>
          <a:p>
            <a:pPr lvl="1"/>
            <a:r>
              <a:rPr lang="en-US" altLang="en-US"/>
              <a:t>How the allocation of resources affects economic well-being</a:t>
            </a:r>
          </a:p>
          <a:p>
            <a:r>
              <a:rPr lang="en-US" altLang="en-US">
                <a:solidFill>
                  <a:srgbClr val="C00000"/>
                </a:solidFill>
              </a:rPr>
              <a:t>Willingness to pay</a:t>
            </a:r>
          </a:p>
          <a:p>
            <a:pPr lvl="1"/>
            <a:r>
              <a:rPr lang="en-US" altLang="en-US"/>
              <a:t>Maximum amount that a buyer will pay for a good</a:t>
            </a:r>
          </a:p>
          <a:p>
            <a:r>
              <a:rPr lang="en-US" altLang="en-US"/>
              <a:t>Consumer surplus</a:t>
            </a:r>
          </a:p>
          <a:p>
            <a:pPr lvl="1"/>
            <a:r>
              <a:rPr lang="en-US" altLang="en-US"/>
              <a:t>Amount a buyer is willing to pay for a good</a:t>
            </a:r>
          </a:p>
          <a:p>
            <a:pPr lvl="1"/>
            <a:r>
              <a:rPr lang="en-US" altLang="en-US"/>
              <a:t>Minus amount the buyer actually pays for it</a:t>
            </a:r>
          </a:p>
          <a:p>
            <a:pPr lvl="1"/>
            <a:endParaRPr lang="en-US" altLang="en-US"/>
          </a:p>
        </p:txBody>
      </p:sp>
      <p:sp>
        <p:nvSpPr>
          <p:cNvPr id="14340" name="Slide Number Placeholder 3">
            <a:extLst>
              <a:ext uri="{FF2B5EF4-FFF2-40B4-BE49-F238E27FC236}">
                <a16:creationId xmlns:a16="http://schemas.microsoft.com/office/drawing/2014/main" id="{563D56C8-C23C-4EBC-B027-40277FE241A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EE3C12E-5466-48C6-955F-5275EFD71B73}" type="slidenum">
              <a:rPr lang="en-US" altLang="en-US">
                <a:latin typeface="Calibri" panose="020F0502020204030204" pitchFamily="34" charset="0"/>
              </a:rPr>
              <a:pPr/>
              <a:t>2</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5">
                                            <p:bg/>
                                          </p:spTgt>
                                        </p:tgtEl>
                                        <p:attrNameLst>
                                          <p:attrName>style.visibility</p:attrName>
                                        </p:attrNameLst>
                                      </p:cBhvr>
                                      <p:to>
                                        <p:strVal val="visible"/>
                                      </p:to>
                                    </p:set>
                                    <p:animEffect transition="in" filter="wipe(left)">
                                      <p:cBhvr>
                                        <p:cTn id="7" dur="500"/>
                                        <p:tgtEl>
                                          <p:spTgt spid="13315">
                                            <p:bg/>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animEffect transition="in" filter="wipe(left)">
                                      <p:cBhvr>
                                        <p:cTn id="11" dur="500"/>
                                        <p:tgtEl>
                                          <p:spTgt spid="13315">
                                            <p:txEl>
                                              <p:pRg st="0" end="0"/>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5">
                                            <p:txEl>
                                              <p:pRg st="1" end="1"/>
                                            </p:txEl>
                                          </p:spTgt>
                                        </p:tgtEl>
                                        <p:attrNameLst>
                                          <p:attrName>style.visibility</p:attrName>
                                        </p:attrNameLst>
                                      </p:cBhvr>
                                      <p:to>
                                        <p:strVal val="visible"/>
                                      </p:to>
                                    </p:set>
                                    <p:animEffect transition="in" filter="wipe(left)">
                                      <p:cBhvr>
                                        <p:cTn id="15" dur="500"/>
                                        <p:tgtEl>
                                          <p:spTgt spid="13315">
                                            <p:txEl>
                                              <p:pRg st="1" end="1"/>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Effect transition="in" filter="wipe(left)">
                                      <p:cBhvr>
                                        <p:cTn id="19" dur="500"/>
                                        <p:tgtEl>
                                          <p:spTgt spid="13315">
                                            <p:txEl>
                                              <p:pRg st="2" end="2"/>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Effect transition="in" filter="wipe(left)">
                                      <p:cBhvr>
                                        <p:cTn id="23" dur="500"/>
                                        <p:tgtEl>
                                          <p:spTgt spid="13315">
                                            <p:txEl>
                                              <p:pRg st="3" end="3"/>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wipe(left)">
                                      <p:cBhvr>
                                        <p:cTn id="27" dur="500"/>
                                        <p:tgtEl>
                                          <p:spTgt spid="13315">
                                            <p:txEl>
                                              <p:pRg st="4" end="4"/>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animEffect transition="in" filter="wipe(left)">
                                      <p:cBhvr>
                                        <p:cTn id="31" dur="500"/>
                                        <p:tgtEl>
                                          <p:spTgt spid="13315">
                                            <p:txEl>
                                              <p:pRg st="5" end="5"/>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animEffect transition="in" filter="wipe(left)">
                                      <p:cBhvr>
                                        <p:cTn id="35" dur="500"/>
                                        <p:tgtEl>
                                          <p:spTgt spid="13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B41B334-3C1E-4719-80E7-0D23DFAE6177}"/>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Four possible buyers’ willingness to pay</a:t>
            </a:r>
          </a:p>
        </p:txBody>
      </p:sp>
      <p:sp>
        <p:nvSpPr>
          <p:cNvPr id="15363" name="Content Placeholder 2">
            <a:extLst>
              <a:ext uri="{FF2B5EF4-FFF2-40B4-BE49-F238E27FC236}">
                <a16:creationId xmlns:a16="http://schemas.microsoft.com/office/drawing/2014/main" id="{66F2233C-2BF1-485B-9C2C-832D902050DD}"/>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1</a:t>
            </a:r>
          </a:p>
        </p:txBody>
      </p:sp>
      <p:sp>
        <p:nvSpPr>
          <p:cNvPr id="15364" name="Slide Number Placeholder 3">
            <a:extLst>
              <a:ext uri="{FF2B5EF4-FFF2-40B4-BE49-F238E27FC236}">
                <a16:creationId xmlns:a16="http://schemas.microsoft.com/office/drawing/2014/main" id="{F64E0E04-8148-49D8-BF9B-EAB6F66ADD68}"/>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503B80-4954-4948-A82E-430D2F6EDDF0}" type="slidenum">
              <a:rPr lang="en-US" altLang="en-US">
                <a:latin typeface="Calibri" panose="020F0502020204030204" pitchFamily="34" charset="0"/>
              </a:rPr>
              <a:pPr/>
              <a:t>3</a:t>
            </a:fld>
            <a:endParaRPr lang="en-US" altLang="en-US">
              <a:latin typeface="Calibri" panose="020F0502020204030204" pitchFamily="34" charset="0"/>
            </a:endParaRPr>
          </a:p>
        </p:txBody>
      </p:sp>
      <p:graphicFrame>
        <p:nvGraphicFramePr>
          <p:cNvPr id="5" name="Table 4">
            <a:extLst>
              <a:ext uri="{FF2B5EF4-FFF2-40B4-BE49-F238E27FC236}">
                <a16:creationId xmlns:a16="http://schemas.microsoft.com/office/drawing/2014/main" id="{C6EEA2C0-1F3B-4B2F-88A6-516E94020FE0}"/>
              </a:ext>
            </a:extLst>
          </p:cNvPr>
          <p:cNvGraphicFramePr>
            <a:graphicFrameLocks noGrp="1"/>
          </p:cNvGraphicFramePr>
          <p:nvPr/>
        </p:nvGraphicFramePr>
        <p:xfrm>
          <a:off x="1309688" y="1847850"/>
          <a:ext cx="4960937" cy="1560513"/>
        </p:xfrm>
        <a:graphic>
          <a:graphicData uri="http://schemas.openxmlformats.org/drawingml/2006/table">
            <a:tbl>
              <a:tblPr>
                <a:tableStyleId>{5C22544A-7EE6-4342-B048-85BDC9FD1C3A}</a:tableStyleId>
              </a:tblPr>
              <a:tblGrid>
                <a:gridCol w="1597936">
                  <a:extLst>
                    <a:ext uri="{9D8B030D-6E8A-4147-A177-3AD203B41FA5}">
                      <a16:colId xmlns:a16="http://schemas.microsoft.com/office/drawing/2014/main" val="20000"/>
                    </a:ext>
                  </a:extLst>
                </a:gridCol>
                <a:gridCol w="3363001">
                  <a:extLst>
                    <a:ext uri="{9D8B030D-6E8A-4147-A177-3AD203B41FA5}">
                      <a16:colId xmlns:a16="http://schemas.microsoft.com/office/drawing/2014/main" val="20001"/>
                    </a:ext>
                  </a:extLst>
                </a:gridCol>
              </a:tblGrid>
              <a:tr h="371067">
                <a:tc>
                  <a:txBody>
                    <a:bodyPr/>
                    <a:lstStyle/>
                    <a:p>
                      <a:r>
                        <a:rPr lang="en-US" sz="1800" dirty="0">
                          <a:solidFill>
                            <a:srgbClr val="0000B8"/>
                          </a:solidFill>
                        </a:rPr>
                        <a:t> Buyer </a:t>
                      </a:r>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00B8"/>
                          </a:solidFill>
                        </a:rPr>
                        <a:t>Willingness to pay</a:t>
                      </a:r>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89446">
                <a:tc>
                  <a:txBody>
                    <a:bodyPr/>
                    <a:lstStyle/>
                    <a:p>
                      <a:r>
                        <a:rPr lang="en-US" sz="1800" dirty="0"/>
                        <a:t>John</a:t>
                      </a:r>
                    </a:p>
                    <a:p>
                      <a:r>
                        <a:rPr lang="en-US" sz="1800" dirty="0"/>
                        <a:t>Paul</a:t>
                      </a:r>
                    </a:p>
                    <a:p>
                      <a:r>
                        <a:rPr lang="en-US" sz="1800" dirty="0"/>
                        <a:t>George</a:t>
                      </a:r>
                    </a:p>
                    <a:p>
                      <a:r>
                        <a:rPr lang="en-US" sz="1800" dirty="0"/>
                        <a:t>Ringo </a:t>
                      </a:r>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$100</a:t>
                      </a:r>
                    </a:p>
                    <a:p>
                      <a:pPr algn="ctr"/>
                      <a:r>
                        <a:rPr lang="en-US" sz="1800" dirty="0"/>
                        <a:t>80</a:t>
                      </a:r>
                    </a:p>
                    <a:p>
                      <a:pPr algn="ctr"/>
                      <a:r>
                        <a:rPr lang="en-US" sz="1800" dirty="0"/>
                        <a:t>70</a:t>
                      </a:r>
                    </a:p>
                    <a:p>
                      <a:pPr algn="ctr"/>
                      <a:r>
                        <a:rPr lang="en-US" sz="1800" dirty="0"/>
                        <a:t>50</a:t>
                      </a:r>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658A189-D4DF-490F-A0A8-DEBF9CF4CC29}"/>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Consumer Surplus</a:t>
            </a:r>
          </a:p>
        </p:txBody>
      </p:sp>
      <p:sp>
        <p:nvSpPr>
          <p:cNvPr id="13315" name="Content Placeholder 2">
            <a:extLst>
              <a:ext uri="{FF2B5EF4-FFF2-40B4-BE49-F238E27FC236}">
                <a16:creationId xmlns:a16="http://schemas.microsoft.com/office/drawing/2014/main" id="{D6DDF581-30B0-4774-AA12-A51AF31EF8BD}"/>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Using the demand curve to measure consumer surplus</a:t>
            </a:r>
          </a:p>
          <a:p>
            <a:pPr lvl="1"/>
            <a:r>
              <a:rPr lang="en-US" altLang="en-US"/>
              <a:t>Consumer surplus</a:t>
            </a:r>
          </a:p>
          <a:p>
            <a:pPr lvl="2"/>
            <a:r>
              <a:rPr lang="en-US" altLang="en-US"/>
              <a:t>Closely related to the demand curve</a:t>
            </a:r>
          </a:p>
          <a:p>
            <a:pPr lvl="1"/>
            <a:r>
              <a:rPr lang="en-US" altLang="en-US"/>
              <a:t>Demand schedule</a:t>
            </a:r>
          </a:p>
          <a:p>
            <a:pPr lvl="2"/>
            <a:r>
              <a:rPr lang="en-US" altLang="en-US"/>
              <a:t>Derived from the willingness to pay of the possible buyers</a:t>
            </a:r>
          </a:p>
          <a:p>
            <a:pPr lvl="1"/>
            <a:r>
              <a:rPr lang="en-US" altLang="en-US"/>
              <a:t>At any quantity</a:t>
            </a:r>
          </a:p>
          <a:p>
            <a:pPr lvl="2"/>
            <a:r>
              <a:rPr lang="en-US" altLang="en-US"/>
              <a:t>Price given by the demand curve</a:t>
            </a:r>
          </a:p>
          <a:p>
            <a:pPr lvl="3"/>
            <a:r>
              <a:rPr lang="en-US" altLang="en-US"/>
              <a:t>Willingness to pay of the marginal buyer</a:t>
            </a:r>
          </a:p>
        </p:txBody>
      </p:sp>
      <p:sp>
        <p:nvSpPr>
          <p:cNvPr id="16388" name="Slide Number Placeholder 3">
            <a:extLst>
              <a:ext uri="{FF2B5EF4-FFF2-40B4-BE49-F238E27FC236}">
                <a16:creationId xmlns:a16="http://schemas.microsoft.com/office/drawing/2014/main" id="{CB4E79D7-E51A-4B32-A78F-831266EC464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0FA0D50-7917-480C-B208-99253FF532FF}" type="slidenum">
              <a:rPr lang="en-US" altLang="en-US">
                <a:latin typeface="Calibri" panose="020F0502020204030204" pitchFamily="34" charset="0"/>
              </a:rPr>
              <a:pPr/>
              <a:t>4</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5">
                                            <p:bg/>
                                          </p:spTgt>
                                        </p:tgtEl>
                                        <p:attrNameLst>
                                          <p:attrName>style.visibility</p:attrName>
                                        </p:attrNameLst>
                                      </p:cBhvr>
                                      <p:to>
                                        <p:strVal val="visible"/>
                                      </p:to>
                                    </p:set>
                                    <p:animEffect transition="in" filter="wipe(left)">
                                      <p:cBhvr>
                                        <p:cTn id="7" dur="500"/>
                                        <p:tgtEl>
                                          <p:spTgt spid="13315">
                                            <p:bg/>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animEffect transition="in" filter="wipe(left)">
                                      <p:cBhvr>
                                        <p:cTn id="11" dur="500"/>
                                        <p:tgtEl>
                                          <p:spTgt spid="13315">
                                            <p:txEl>
                                              <p:pRg st="0" end="0"/>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5">
                                            <p:txEl>
                                              <p:pRg st="1" end="1"/>
                                            </p:txEl>
                                          </p:spTgt>
                                        </p:tgtEl>
                                        <p:attrNameLst>
                                          <p:attrName>style.visibility</p:attrName>
                                        </p:attrNameLst>
                                      </p:cBhvr>
                                      <p:to>
                                        <p:strVal val="visible"/>
                                      </p:to>
                                    </p:set>
                                    <p:animEffect transition="in" filter="wipe(left)">
                                      <p:cBhvr>
                                        <p:cTn id="15" dur="500"/>
                                        <p:tgtEl>
                                          <p:spTgt spid="13315">
                                            <p:txEl>
                                              <p:pRg st="1" end="1"/>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Effect transition="in" filter="wipe(left)">
                                      <p:cBhvr>
                                        <p:cTn id="19" dur="500"/>
                                        <p:tgtEl>
                                          <p:spTgt spid="13315">
                                            <p:txEl>
                                              <p:pRg st="2" end="2"/>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Effect transition="in" filter="wipe(left)">
                                      <p:cBhvr>
                                        <p:cTn id="23" dur="500"/>
                                        <p:tgtEl>
                                          <p:spTgt spid="13315">
                                            <p:txEl>
                                              <p:pRg st="3" end="3"/>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wipe(left)">
                                      <p:cBhvr>
                                        <p:cTn id="27" dur="500"/>
                                        <p:tgtEl>
                                          <p:spTgt spid="13315">
                                            <p:txEl>
                                              <p:pRg st="4" end="4"/>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animEffect transition="in" filter="wipe(left)">
                                      <p:cBhvr>
                                        <p:cTn id="31" dur="500"/>
                                        <p:tgtEl>
                                          <p:spTgt spid="13315">
                                            <p:txEl>
                                              <p:pRg st="5" end="5"/>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animEffect transition="in" filter="wipe(left)">
                                      <p:cBhvr>
                                        <p:cTn id="35" dur="500"/>
                                        <p:tgtEl>
                                          <p:spTgt spid="13315">
                                            <p:txEl>
                                              <p:pRg st="6" end="6"/>
                                            </p:txEl>
                                          </p:spTgt>
                                        </p:tgtEl>
                                      </p:cBhvr>
                                    </p:animEffect>
                                  </p:childTnLst>
                                </p:cTn>
                              </p:par>
                            </p:childTnLst>
                          </p:cTn>
                        </p:par>
                        <p:par>
                          <p:cTn id="36" fill="hold" nodeType="afterGroup">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3315">
                                            <p:txEl>
                                              <p:pRg st="7" end="7"/>
                                            </p:txEl>
                                          </p:spTgt>
                                        </p:tgtEl>
                                        <p:attrNameLst>
                                          <p:attrName>style.visibility</p:attrName>
                                        </p:attrNameLst>
                                      </p:cBhvr>
                                      <p:to>
                                        <p:strVal val="visible"/>
                                      </p:to>
                                    </p:set>
                                    <p:animEffect transition="in" filter="wipe(left)">
                                      <p:cBhvr>
                                        <p:cTn id="39" dur="500"/>
                                        <p:tgtEl>
                                          <p:spTgt spid="13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871B1AB1-8D90-45F2-890F-7A254F5AEF1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The demand schedule</a:t>
            </a:r>
          </a:p>
        </p:txBody>
      </p:sp>
      <p:sp>
        <p:nvSpPr>
          <p:cNvPr id="17411" name="Content Placeholder 2">
            <a:extLst>
              <a:ext uri="{FF2B5EF4-FFF2-40B4-BE49-F238E27FC236}">
                <a16:creationId xmlns:a16="http://schemas.microsoft.com/office/drawing/2014/main" id="{A40CC499-8320-43E4-B46F-A518445B5C18}"/>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1</a:t>
            </a:r>
          </a:p>
        </p:txBody>
      </p:sp>
      <p:sp>
        <p:nvSpPr>
          <p:cNvPr id="17412" name="Slide Number Placeholder 3">
            <a:extLst>
              <a:ext uri="{FF2B5EF4-FFF2-40B4-BE49-F238E27FC236}">
                <a16:creationId xmlns:a16="http://schemas.microsoft.com/office/drawing/2014/main" id="{E15BC2B9-B3C9-4731-883C-CFB2453BCA4A}"/>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28FB191-3CBA-44BD-820B-21C57A9304F7}" type="slidenum">
              <a:rPr lang="en-US" altLang="en-US">
                <a:latin typeface="Calibri" panose="020F0502020204030204" pitchFamily="34" charset="0"/>
              </a:rPr>
              <a:pPr/>
              <a:t>5</a:t>
            </a:fld>
            <a:endParaRPr lang="en-US" altLang="en-US">
              <a:latin typeface="Calibri" panose="020F0502020204030204" pitchFamily="34" charset="0"/>
            </a:endParaRPr>
          </a:p>
        </p:txBody>
      </p:sp>
      <p:sp>
        <p:nvSpPr>
          <p:cNvPr id="9" name="TextBox 8">
            <a:extLst>
              <a:ext uri="{FF2B5EF4-FFF2-40B4-BE49-F238E27FC236}">
                <a16:creationId xmlns:a16="http://schemas.microsoft.com/office/drawing/2014/main" id="{99071844-5B28-4D10-8081-4026567EDD52}"/>
              </a:ext>
            </a:extLst>
          </p:cNvPr>
          <p:cNvSpPr txBox="1">
            <a:spLocks noChangeArrowheads="1"/>
          </p:cNvSpPr>
          <p:nvPr/>
        </p:nvSpPr>
        <p:spPr bwMode="auto">
          <a:xfrm>
            <a:off x="985838" y="5610225"/>
            <a:ext cx="6911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The table shows the demand schedule for the buyers in Table 1.</a:t>
            </a:r>
          </a:p>
        </p:txBody>
      </p:sp>
      <p:graphicFrame>
        <p:nvGraphicFramePr>
          <p:cNvPr id="7" name="Table 6">
            <a:extLst>
              <a:ext uri="{FF2B5EF4-FFF2-40B4-BE49-F238E27FC236}">
                <a16:creationId xmlns:a16="http://schemas.microsoft.com/office/drawing/2014/main" id="{979450E0-DFE9-486A-855E-0AA210DB1A3E}"/>
              </a:ext>
            </a:extLst>
          </p:cNvPr>
          <p:cNvGraphicFramePr>
            <a:graphicFrameLocks noGrp="1"/>
          </p:cNvGraphicFramePr>
          <p:nvPr/>
        </p:nvGraphicFramePr>
        <p:xfrm>
          <a:off x="954088" y="2062163"/>
          <a:ext cx="6710362" cy="2103437"/>
        </p:xfrm>
        <a:graphic>
          <a:graphicData uri="http://schemas.openxmlformats.org/drawingml/2006/table">
            <a:tbl>
              <a:tblPr>
                <a:tableStyleId>{5C22544A-7EE6-4342-B048-85BDC9FD1C3A}</a:tableStyleId>
              </a:tblPr>
              <a:tblGrid>
                <a:gridCol w="2032019">
                  <a:extLst>
                    <a:ext uri="{9D8B030D-6E8A-4147-A177-3AD203B41FA5}">
                      <a16:colId xmlns:a16="http://schemas.microsoft.com/office/drawing/2014/main" val="20000"/>
                    </a:ext>
                  </a:extLst>
                </a:gridCol>
                <a:gridCol w="2646324">
                  <a:extLst>
                    <a:ext uri="{9D8B030D-6E8A-4147-A177-3AD203B41FA5}">
                      <a16:colId xmlns:a16="http://schemas.microsoft.com/office/drawing/2014/main" val="20001"/>
                    </a:ext>
                  </a:extLst>
                </a:gridCol>
                <a:gridCol w="2032019">
                  <a:extLst>
                    <a:ext uri="{9D8B030D-6E8A-4147-A177-3AD203B41FA5}">
                      <a16:colId xmlns:a16="http://schemas.microsoft.com/office/drawing/2014/main" val="20002"/>
                    </a:ext>
                  </a:extLst>
                </a:gridCol>
              </a:tblGrid>
              <a:tr h="640176">
                <a:tc>
                  <a:txBody>
                    <a:bodyPr/>
                    <a:lstStyle/>
                    <a:p>
                      <a:pPr algn="ctr"/>
                      <a:endParaRPr lang="en-US" sz="1800" dirty="0">
                        <a:solidFill>
                          <a:srgbClr val="000070"/>
                        </a:solidFill>
                      </a:endParaRPr>
                    </a:p>
                    <a:p>
                      <a:pPr algn="ctr"/>
                      <a:r>
                        <a:rPr lang="en-US" sz="1800" dirty="0">
                          <a:solidFill>
                            <a:srgbClr val="000070"/>
                          </a:solidFill>
                        </a:rPr>
                        <a:t>Price</a:t>
                      </a:r>
                    </a:p>
                  </a:txBody>
                  <a:tcPr marL="91441" marR="91441"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rgbClr val="000070"/>
                        </a:solidFill>
                      </a:endParaRPr>
                    </a:p>
                    <a:p>
                      <a:pPr algn="ctr"/>
                      <a:r>
                        <a:rPr lang="en-US" sz="1800" dirty="0">
                          <a:solidFill>
                            <a:srgbClr val="000070"/>
                          </a:solidFill>
                        </a:rPr>
                        <a:t>Buyers</a:t>
                      </a:r>
                    </a:p>
                  </a:txBody>
                  <a:tcPr marL="91441" marR="91441"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0070"/>
                          </a:solidFill>
                        </a:rPr>
                        <a:t>Quantity</a:t>
                      </a:r>
                    </a:p>
                    <a:p>
                      <a:pPr algn="ctr"/>
                      <a:r>
                        <a:rPr lang="en-US" sz="1800" dirty="0">
                          <a:solidFill>
                            <a:srgbClr val="000070"/>
                          </a:solidFill>
                        </a:rPr>
                        <a:t>Demanded</a:t>
                      </a:r>
                    </a:p>
                  </a:txBody>
                  <a:tcPr marL="91441" marR="91441"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63261">
                <a:tc>
                  <a:txBody>
                    <a:bodyPr/>
                    <a:lstStyle/>
                    <a:p>
                      <a:pPr algn="ctr"/>
                      <a:r>
                        <a:rPr lang="en-US" sz="1800" kern="1200" baseline="0" dirty="0">
                          <a:solidFill>
                            <a:schemeClr val="dk1"/>
                          </a:solidFill>
                          <a:latin typeface="+mn-lt"/>
                          <a:ea typeface="+mn-ea"/>
                          <a:cs typeface="+mn-cs"/>
                        </a:rPr>
                        <a:t>More than $100</a:t>
                      </a:r>
                    </a:p>
                    <a:p>
                      <a:pPr algn="ctr"/>
                      <a:r>
                        <a:rPr lang="en-US" sz="1800" kern="1200" baseline="0" dirty="0">
                          <a:solidFill>
                            <a:schemeClr val="dk1"/>
                          </a:solidFill>
                          <a:latin typeface="+mn-lt"/>
                          <a:ea typeface="+mn-ea"/>
                          <a:cs typeface="+mn-cs"/>
                        </a:rPr>
                        <a:t>$80 to $100</a:t>
                      </a:r>
                    </a:p>
                    <a:p>
                      <a:pPr algn="ctr"/>
                      <a:r>
                        <a:rPr lang="en-US" sz="1800" kern="1200" baseline="0" dirty="0">
                          <a:solidFill>
                            <a:schemeClr val="dk1"/>
                          </a:solidFill>
                          <a:latin typeface="+mn-lt"/>
                          <a:ea typeface="+mn-ea"/>
                          <a:cs typeface="+mn-cs"/>
                        </a:rPr>
                        <a:t>$70 to $80</a:t>
                      </a:r>
                    </a:p>
                    <a:p>
                      <a:pPr algn="ctr"/>
                      <a:r>
                        <a:rPr lang="en-US" sz="1800" kern="1200" baseline="0" dirty="0">
                          <a:solidFill>
                            <a:schemeClr val="dk1"/>
                          </a:solidFill>
                          <a:latin typeface="+mn-lt"/>
                          <a:ea typeface="+mn-ea"/>
                          <a:cs typeface="+mn-cs"/>
                        </a:rPr>
                        <a:t>$50 to $70 </a:t>
                      </a:r>
                    </a:p>
                    <a:p>
                      <a:pPr algn="ctr"/>
                      <a:r>
                        <a:rPr lang="en-US" sz="1800" kern="1200" baseline="0" dirty="0">
                          <a:solidFill>
                            <a:schemeClr val="dk1"/>
                          </a:solidFill>
                          <a:latin typeface="+mn-lt"/>
                          <a:ea typeface="+mn-ea"/>
                          <a:cs typeface="+mn-cs"/>
                        </a:rPr>
                        <a:t>$50 or less</a:t>
                      </a:r>
                      <a:endParaRPr lang="en-US" sz="1800" dirty="0"/>
                    </a:p>
                  </a:txBody>
                  <a:tcPr marL="91441" marR="91441"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kern="1200" baseline="0" dirty="0">
                          <a:solidFill>
                            <a:schemeClr val="dk1"/>
                          </a:solidFill>
                          <a:latin typeface="+mn-lt"/>
                          <a:ea typeface="+mn-ea"/>
                          <a:cs typeface="+mn-cs"/>
                        </a:rPr>
                        <a:t>None </a:t>
                      </a:r>
                    </a:p>
                    <a:p>
                      <a:r>
                        <a:rPr lang="en-US" sz="1800" kern="1200" baseline="0" dirty="0">
                          <a:solidFill>
                            <a:schemeClr val="dk1"/>
                          </a:solidFill>
                          <a:latin typeface="+mn-lt"/>
                          <a:ea typeface="+mn-ea"/>
                          <a:cs typeface="+mn-cs"/>
                        </a:rPr>
                        <a:t>John </a:t>
                      </a:r>
                    </a:p>
                    <a:p>
                      <a:r>
                        <a:rPr lang="en-US" sz="1800" kern="1200" baseline="0" dirty="0">
                          <a:solidFill>
                            <a:schemeClr val="dk1"/>
                          </a:solidFill>
                          <a:latin typeface="+mn-lt"/>
                          <a:ea typeface="+mn-ea"/>
                          <a:cs typeface="+mn-cs"/>
                        </a:rPr>
                        <a:t>John, Paul</a:t>
                      </a:r>
                    </a:p>
                    <a:p>
                      <a:r>
                        <a:rPr lang="en-US" sz="1800" kern="1200" baseline="0" dirty="0">
                          <a:solidFill>
                            <a:schemeClr val="dk1"/>
                          </a:solidFill>
                          <a:latin typeface="+mn-lt"/>
                          <a:ea typeface="+mn-ea"/>
                          <a:cs typeface="+mn-cs"/>
                        </a:rPr>
                        <a:t>John, Paul, George</a:t>
                      </a:r>
                    </a:p>
                    <a:p>
                      <a:r>
                        <a:rPr lang="en-US" sz="1800" kern="1200" baseline="0" dirty="0">
                          <a:solidFill>
                            <a:schemeClr val="dk1"/>
                          </a:solidFill>
                          <a:latin typeface="+mn-lt"/>
                          <a:ea typeface="+mn-ea"/>
                          <a:cs typeface="+mn-cs"/>
                        </a:rPr>
                        <a:t> John, Paul, George, Ringo</a:t>
                      </a:r>
                      <a:endParaRPr lang="en-US" sz="1800" dirty="0"/>
                    </a:p>
                  </a:txBody>
                  <a:tcPr marL="91441" marR="91441"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0</a:t>
                      </a:r>
                    </a:p>
                    <a:p>
                      <a:pPr algn="ctr"/>
                      <a:r>
                        <a:rPr lang="en-US" sz="1800" dirty="0"/>
                        <a:t>1</a:t>
                      </a:r>
                    </a:p>
                    <a:p>
                      <a:pPr algn="ctr"/>
                      <a:r>
                        <a:rPr lang="en-US" sz="1800" dirty="0"/>
                        <a:t>2</a:t>
                      </a:r>
                    </a:p>
                    <a:p>
                      <a:pPr algn="ctr"/>
                      <a:r>
                        <a:rPr lang="en-US" sz="1800" dirty="0"/>
                        <a:t>3</a:t>
                      </a:r>
                    </a:p>
                    <a:p>
                      <a:pPr algn="ctr"/>
                      <a:r>
                        <a:rPr lang="en-US" sz="1800" dirty="0"/>
                        <a:t>4</a:t>
                      </a:r>
                    </a:p>
                  </a:txBody>
                  <a:tcPr marL="91441" marR="91441"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08">
            <a:extLst>
              <a:ext uri="{FF2B5EF4-FFF2-40B4-BE49-F238E27FC236}">
                <a16:creationId xmlns:a16="http://schemas.microsoft.com/office/drawing/2014/main" id="{912EF057-FF7B-430E-9A84-991123D91B29}"/>
              </a:ext>
            </a:extLst>
          </p:cNvPr>
          <p:cNvGrpSpPr>
            <a:grpSpLocks/>
          </p:cNvGrpSpPr>
          <p:nvPr/>
        </p:nvGrpSpPr>
        <p:grpSpPr bwMode="auto">
          <a:xfrm>
            <a:off x="925513" y="1435100"/>
            <a:ext cx="5780087" cy="3833813"/>
            <a:chOff x="925815" y="1434925"/>
            <a:chExt cx="5779785" cy="3833813"/>
          </a:xfrm>
        </p:grpSpPr>
        <p:sp>
          <p:nvSpPr>
            <p:cNvPr id="97" name="Rectangle 96">
              <a:extLst>
                <a:ext uri="{FF2B5EF4-FFF2-40B4-BE49-F238E27FC236}">
                  <a16:creationId xmlns:a16="http://schemas.microsoft.com/office/drawing/2014/main" id="{D862A893-F8D7-4B90-BB81-57F93CC98B7F}"/>
                </a:ext>
              </a:extLst>
            </p:cNvPr>
            <p:cNvSpPr/>
            <p:nvPr/>
          </p:nvSpPr>
          <p:spPr>
            <a:xfrm>
              <a:off x="1829055" y="1839738"/>
              <a:ext cx="4876545" cy="3429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18480" name="Group 48">
              <a:extLst>
                <a:ext uri="{FF2B5EF4-FFF2-40B4-BE49-F238E27FC236}">
                  <a16:creationId xmlns:a16="http://schemas.microsoft.com/office/drawing/2014/main" id="{A67A1764-BFD0-41F2-A39D-3ACF2EF134FA}"/>
                </a:ext>
              </a:extLst>
            </p:cNvPr>
            <p:cNvGrpSpPr>
              <a:grpSpLocks/>
            </p:cNvGrpSpPr>
            <p:nvPr/>
          </p:nvGrpSpPr>
          <p:grpSpPr bwMode="auto">
            <a:xfrm>
              <a:off x="925815" y="1434925"/>
              <a:ext cx="1055385" cy="3822699"/>
              <a:chOff x="3668765" y="978932"/>
              <a:chExt cx="1055382" cy="3822461"/>
            </a:xfrm>
          </p:grpSpPr>
          <p:cxnSp>
            <p:nvCxnSpPr>
              <p:cNvPr id="142" name="Straight Connector 7">
                <a:extLst>
                  <a:ext uri="{FF2B5EF4-FFF2-40B4-BE49-F238E27FC236}">
                    <a16:creationId xmlns:a16="http://schemas.microsoft.com/office/drawing/2014/main" id="{2358ACBB-D388-4706-990B-08E046AA232B}"/>
                  </a:ext>
                </a:extLst>
              </p:cNvPr>
              <p:cNvCxnSpPr/>
              <p:nvPr/>
            </p:nvCxnSpPr>
            <p:spPr>
              <a:xfrm rot="5400000">
                <a:off x="2896501" y="3124304"/>
                <a:ext cx="3352591"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482" name="Group 56">
                <a:extLst>
                  <a:ext uri="{FF2B5EF4-FFF2-40B4-BE49-F238E27FC236}">
                    <a16:creationId xmlns:a16="http://schemas.microsoft.com/office/drawing/2014/main" id="{9F9C6019-C988-4E34-BF43-5FD318A4EAA6}"/>
                  </a:ext>
                </a:extLst>
              </p:cNvPr>
              <p:cNvGrpSpPr>
                <a:grpSpLocks/>
              </p:cNvGrpSpPr>
              <p:nvPr/>
            </p:nvGrpSpPr>
            <p:grpSpPr bwMode="auto">
              <a:xfrm>
                <a:off x="3857499" y="1828800"/>
                <a:ext cx="866648" cy="369309"/>
                <a:chOff x="5991352" y="2286000"/>
                <a:chExt cx="866648" cy="369309"/>
              </a:xfrm>
            </p:grpSpPr>
            <p:sp>
              <p:nvSpPr>
                <p:cNvPr id="18493" name="TextBox 53">
                  <a:extLst>
                    <a:ext uri="{FF2B5EF4-FFF2-40B4-BE49-F238E27FC236}">
                      <a16:creationId xmlns:a16="http://schemas.microsoft.com/office/drawing/2014/main" id="{1FD9953D-F420-4227-AB98-8B5627897C8E}"/>
                    </a:ext>
                  </a:extLst>
                </p:cNvPr>
                <p:cNvSpPr txBox="1">
                  <a:spLocks noChangeArrowheads="1"/>
                </p:cNvSpPr>
                <p:nvPr/>
              </p:nvSpPr>
              <p:spPr bwMode="auto">
                <a:xfrm>
                  <a:off x="5991352" y="2286000"/>
                  <a:ext cx="69762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$100</a:t>
                  </a:r>
                </a:p>
              </p:txBody>
            </p:sp>
            <p:cxnSp>
              <p:nvCxnSpPr>
                <p:cNvPr id="161" name="Straight Connector 55">
                  <a:extLst>
                    <a:ext uri="{FF2B5EF4-FFF2-40B4-BE49-F238E27FC236}">
                      <a16:creationId xmlns:a16="http://schemas.microsoft.com/office/drawing/2014/main" id="{E26D2FBE-E5AC-446E-8562-1E6B148A6CC8}"/>
                    </a:ext>
                  </a:extLst>
                </p:cNvPr>
                <p:cNvCxnSpPr/>
                <p:nvPr/>
              </p:nvCxnSpPr>
              <p:spPr>
                <a:xfrm>
                  <a:off x="6705855" y="2513978"/>
                  <a:ext cx="15239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483" name="Group 57">
                <a:extLst>
                  <a:ext uri="{FF2B5EF4-FFF2-40B4-BE49-F238E27FC236}">
                    <a16:creationId xmlns:a16="http://schemas.microsoft.com/office/drawing/2014/main" id="{A99A7C33-A30E-43E9-8BF0-7A6113B8F831}"/>
                  </a:ext>
                </a:extLst>
              </p:cNvPr>
              <p:cNvGrpSpPr>
                <a:grpSpLocks/>
              </p:cNvGrpSpPr>
              <p:nvPr/>
            </p:nvGrpSpPr>
            <p:grpSpPr bwMode="auto">
              <a:xfrm>
                <a:off x="4113980" y="2297668"/>
                <a:ext cx="610167" cy="369309"/>
                <a:chOff x="6247833" y="2286000"/>
                <a:chExt cx="610167" cy="369309"/>
              </a:xfrm>
            </p:grpSpPr>
            <p:sp>
              <p:nvSpPr>
                <p:cNvPr id="18491" name="TextBox 58">
                  <a:extLst>
                    <a:ext uri="{FF2B5EF4-FFF2-40B4-BE49-F238E27FC236}">
                      <a16:creationId xmlns:a16="http://schemas.microsoft.com/office/drawing/2014/main" id="{5803656F-F02F-4512-984F-6B1D720AAF95}"/>
                    </a:ext>
                  </a:extLst>
                </p:cNvPr>
                <p:cNvSpPr txBox="1">
                  <a:spLocks noChangeArrowheads="1"/>
                </p:cNvSpPr>
                <p:nvPr/>
              </p:nvSpPr>
              <p:spPr bwMode="auto">
                <a:xfrm>
                  <a:off x="6247833" y="2286000"/>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80</a:t>
                  </a:r>
                </a:p>
              </p:txBody>
            </p:sp>
            <p:cxnSp>
              <p:nvCxnSpPr>
                <p:cNvPr id="159" name="Straight Connector 158">
                  <a:extLst>
                    <a:ext uri="{FF2B5EF4-FFF2-40B4-BE49-F238E27FC236}">
                      <a16:creationId xmlns:a16="http://schemas.microsoft.com/office/drawing/2014/main" id="{96596AB9-78E2-428E-AA29-561867C48AB7}"/>
                    </a:ext>
                  </a:extLst>
                </p:cNvPr>
                <p:cNvCxnSpPr/>
                <p:nvPr/>
              </p:nvCxnSpPr>
              <p:spPr>
                <a:xfrm>
                  <a:off x="6705855" y="2502282"/>
                  <a:ext cx="15239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484" name="Group 60">
                <a:extLst>
                  <a:ext uri="{FF2B5EF4-FFF2-40B4-BE49-F238E27FC236}">
                    <a16:creationId xmlns:a16="http://schemas.microsoft.com/office/drawing/2014/main" id="{5C5C7A2D-1AF7-48DE-B331-4D877BA0A8C6}"/>
                  </a:ext>
                </a:extLst>
              </p:cNvPr>
              <p:cNvGrpSpPr>
                <a:grpSpLocks/>
              </p:cNvGrpSpPr>
              <p:nvPr/>
            </p:nvGrpSpPr>
            <p:grpSpPr bwMode="auto">
              <a:xfrm>
                <a:off x="4113980" y="2564881"/>
                <a:ext cx="610167" cy="369309"/>
                <a:chOff x="6247833" y="2096013"/>
                <a:chExt cx="610167" cy="369309"/>
              </a:xfrm>
            </p:grpSpPr>
            <p:sp>
              <p:nvSpPr>
                <p:cNvPr id="18489" name="TextBox 63">
                  <a:extLst>
                    <a:ext uri="{FF2B5EF4-FFF2-40B4-BE49-F238E27FC236}">
                      <a16:creationId xmlns:a16="http://schemas.microsoft.com/office/drawing/2014/main" id="{F210F0F2-3EAF-48DB-BDE4-0B282DEEE3C1}"/>
                    </a:ext>
                  </a:extLst>
                </p:cNvPr>
                <p:cNvSpPr txBox="1">
                  <a:spLocks noChangeArrowheads="1"/>
                </p:cNvSpPr>
                <p:nvPr/>
              </p:nvSpPr>
              <p:spPr bwMode="auto">
                <a:xfrm>
                  <a:off x="6247833" y="2096013"/>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70</a:t>
                  </a:r>
                </a:p>
              </p:txBody>
            </p:sp>
            <p:cxnSp>
              <p:nvCxnSpPr>
                <p:cNvPr id="157" name="Straight Connector 156">
                  <a:extLst>
                    <a:ext uri="{FF2B5EF4-FFF2-40B4-BE49-F238E27FC236}">
                      <a16:creationId xmlns:a16="http://schemas.microsoft.com/office/drawing/2014/main" id="{33A5B6B8-857E-4723-B8B8-509260884D8B}"/>
                    </a:ext>
                  </a:extLst>
                </p:cNvPr>
                <p:cNvCxnSpPr/>
                <p:nvPr/>
              </p:nvCxnSpPr>
              <p:spPr>
                <a:xfrm>
                  <a:off x="6705855" y="2276842"/>
                  <a:ext cx="15239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485" name="Group 63">
                <a:extLst>
                  <a:ext uri="{FF2B5EF4-FFF2-40B4-BE49-F238E27FC236}">
                    <a16:creationId xmlns:a16="http://schemas.microsoft.com/office/drawing/2014/main" id="{A30BA058-FC34-480A-AB44-1A68C2B74A4D}"/>
                  </a:ext>
                </a:extLst>
              </p:cNvPr>
              <p:cNvGrpSpPr>
                <a:grpSpLocks/>
              </p:cNvGrpSpPr>
              <p:nvPr/>
            </p:nvGrpSpPr>
            <p:grpSpPr bwMode="auto">
              <a:xfrm>
                <a:off x="4113980" y="3212068"/>
                <a:ext cx="610167" cy="369309"/>
                <a:chOff x="6247833" y="2286000"/>
                <a:chExt cx="610167" cy="369309"/>
              </a:xfrm>
            </p:grpSpPr>
            <p:sp>
              <p:nvSpPr>
                <p:cNvPr id="18487" name="TextBox 61">
                  <a:extLst>
                    <a:ext uri="{FF2B5EF4-FFF2-40B4-BE49-F238E27FC236}">
                      <a16:creationId xmlns:a16="http://schemas.microsoft.com/office/drawing/2014/main" id="{64FAB40B-E7D3-4795-8B28-CF7141F0B771}"/>
                    </a:ext>
                  </a:extLst>
                </p:cNvPr>
                <p:cNvSpPr txBox="1">
                  <a:spLocks noChangeArrowheads="1"/>
                </p:cNvSpPr>
                <p:nvPr/>
              </p:nvSpPr>
              <p:spPr bwMode="auto">
                <a:xfrm>
                  <a:off x="6247833" y="2286000"/>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50</a:t>
                  </a:r>
                </a:p>
              </p:txBody>
            </p:sp>
            <p:cxnSp>
              <p:nvCxnSpPr>
                <p:cNvPr id="155" name="Straight Connector 154">
                  <a:extLst>
                    <a:ext uri="{FF2B5EF4-FFF2-40B4-BE49-F238E27FC236}">
                      <a16:creationId xmlns:a16="http://schemas.microsoft.com/office/drawing/2014/main" id="{E94FA552-1A69-469B-83E9-9CACFD374748}"/>
                    </a:ext>
                  </a:extLst>
                </p:cNvPr>
                <p:cNvCxnSpPr/>
                <p:nvPr/>
              </p:nvCxnSpPr>
              <p:spPr>
                <a:xfrm>
                  <a:off x="6705855" y="2514924"/>
                  <a:ext cx="15239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486" name="TextBox 56">
                <a:extLst>
                  <a:ext uri="{FF2B5EF4-FFF2-40B4-BE49-F238E27FC236}">
                    <a16:creationId xmlns:a16="http://schemas.microsoft.com/office/drawing/2014/main" id="{DEBA20AE-41A3-448A-B9E8-4299D0816254}"/>
                  </a:ext>
                </a:extLst>
              </p:cNvPr>
              <p:cNvSpPr txBox="1">
                <a:spLocks noChangeArrowheads="1"/>
              </p:cNvSpPr>
              <p:nvPr/>
            </p:nvSpPr>
            <p:spPr bwMode="auto">
              <a:xfrm>
                <a:off x="3668765" y="978932"/>
                <a:ext cx="966928" cy="646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Price of</a:t>
                </a:r>
              </a:p>
              <a:p>
                <a:pPr algn="r" eaLnBrk="1" hangingPunct="1"/>
                <a:r>
                  <a:rPr lang="en-US" altLang="en-US"/>
                  <a:t>Albums</a:t>
                </a:r>
              </a:p>
            </p:txBody>
          </p:sp>
        </p:grpSp>
      </p:grpSp>
      <p:sp>
        <p:nvSpPr>
          <p:cNvPr id="18435" name="Title 1">
            <a:extLst>
              <a:ext uri="{FF2B5EF4-FFF2-40B4-BE49-F238E27FC236}">
                <a16:creationId xmlns:a16="http://schemas.microsoft.com/office/drawing/2014/main" id="{F91F134B-B0FA-4D6E-96C6-FB0A242F5B62}"/>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The demand curve</a:t>
            </a:r>
          </a:p>
        </p:txBody>
      </p:sp>
      <p:sp>
        <p:nvSpPr>
          <p:cNvPr id="18436" name="Content Placeholder 2">
            <a:extLst>
              <a:ext uri="{FF2B5EF4-FFF2-40B4-BE49-F238E27FC236}">
                <a16:creationId xmlns:a16="http://schemas.microsoft.com/office/drawing/2014/main" id="{34F16714-16C3-45AF-9550-ED64D99F50AE}"/>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1</a:t>
            </a:r>
          </a:p>
        </p:txBody>
      </p:sp>
      <p:sp>
        <p:nvSpPr>
          <p:cNvPr id="18437" name="Slide Number Placeholder 3">
            <a:extLst>
              <a:ext uri="{FF2B5EF4-FFF2-40B4-BE49-F238E27FC236}">
                <a16:creationId xmlns:a16="http://schemas.microsoft.com/office/drawing/2014/main" id="{D7395CE3-1E31-4E20-813C-3EB8038221C3}"/>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16DA95-310C-4468-83A7-1E18E3A33D1E}" type="slidenum">
              <a:rPr lang="en-US" altLang="en-US">
                <a:latin typeface="Calibri" panose="020F0502020204030204" pitchFamily="34" charset="0"/>
              </a:rPr>
              <a:pPr/>
              <a:t>6</a:t>
            </a:fld>
            <a:endParaRPr lang="en-US" altLang="en-US">
              <a:latin typeface="Calibri" panose="020F0502020204030204" pitchFamily="34" charset="0"/>
            </a:endParaRPr>
          </a:p>
        </p:txBody>
      </p:sp>
      <p:sp>
        <p:nvSpPr>
          <p:cNvPr id="9" name="TextBox 8">
            <a:extLst>
              <a:ext uri="{FF2B5EF4-FFF2-40B4-BE49-F238E27FC236}">
                <a16:creationId xmlns:a16="http://schemas.microsoft.com/office/drawing/2014/main" id="{173C589A-8711-49E5-A6DC-C87F14D51186}"/>
              </a:ext>
            </a:extLst>
          </p:cNvPr>
          <p:cNvSpPr txBox="1">
            <a:spLocks noChangeArrowheads="1"/>
          </p:cNvSpPr>
          <p:nvPr/>
        </p:nvSpPr>
        <p:spPr bwMode="auto">
          <a:xfrm>
            <a:off x="985838" y="6049963"/>
            <a:ext cx="69119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The graph shows the corresponding demand curve. Note that the height of the demand curve reflects buyers’ willingness to pay</a:t>
            </a:r>
          </a:p>
        </p:txBody>
      </p:sp>
      <p:grpSp>
        <p:nvGrpSpPr>
          <p:cNvPr id="12" name="Group 8">
            <a:extLst>
              <a:ext uri="{FF2B5EF4-FFF2-40B4-BE49-F238E27FC236}">
                <a16:creationId xmlns:a16="http://schemas.microsoft.com/office/drawing/2014/main" id="{E45051DB-2182-412E-BD01-0883CFDEEAAF}"/>
              </a:ext>
            </a:extLst>
          </p:cNvPr>
          <p:cNvGrpSpPr>
            <a:grpSpLocks/>
          </p:cNvGrpSpPr>
          <p:nvPr/>
        </p:nvGrpSpPr>
        <p:grpSpPr bwMode="auto">
          <a:xfrm>
            <a:off x="1600200" y="5116513"/>
            <a:ext cx="5105400" cy="827087"/>
            <a:chOff x="4343400" y="4648200"/>
            <a:chExt cx="5105400" cy="826283"/>
          </a:xfrm>
        </p:grpSpPr>
        <p:cxnSp>
          <p:nvCxnSpPr>
            <p:cNvPr id="102" name="Straight Connector 101">
              <a:extLst>
                <a:ext uri="{FF2B5EF4-FFF2-40B4-BE49-F238E27FC236}">
                  <a16:creationId xmlns:a16="http://schemas.microsoft.com/office/drawing/2014/main" id="{F423C651-203F-43F3-9BC8-093F23624703}"/>
                </a:ext>
              </a:extLst>
            </p:cNvPr>
            <p:cNvCxnSpPr/>
            <p:nvPr/>
          </p:nvCxnSpPr>
          <p:spPr>
            <a:xfrm>
              <a:off x="4572000" y="4800452"/>
              <a:ext cx="4876800" cy="15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465" name="TextBox 10">
              <a:extLst>
                <a:ext uri="{FF2B5EF4-FFF2-40B4-BE49-F238E27FC236}">
                  <a16:creationId xmlns:a16="http://schemas.microsoft.com/office/drawing/2014/main" id="{F530A85E-E1A6-41C0-BA96-6154EB5EA9C4}"/>
                </a:ext>
              </a:extLst>
            </p:cNvPr>
            <p:cNvSpPr txBox="1">
              <a:spLocks noChangeArrowheads="1"/>
            </p:cNvSpPr>
            <p:nvPr/>
          </p:nvSpPr>
          <p:spPr bwMode="auto">
            <a:xfrm>
              <a:off x="4343400" y="4800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nvGrpSpPr>
            <p:cNvPr id="18466" name="Group 14">
              <a:extLst>
                <a:ext uri="{FF2B5EF4-FFF2-40B4-BE49-F238E27FC236}">
                  <a16:creationId xmlns:a16="http://schemas.microsoft.com/office/drawing/2014/main" id="{37B6A9C1-0812-4CB5-AFCD-BA86D3089C04}"/>
                </a:ext>
              </a:extLst>
            </p:cNvPr>
            <p:cNvGrpSpPr>
              <a:grpSpLocks/>
            </p:cNvGrpSpPr>
            <p:nvPr/>
          </p:nvGrpSpPr>
          <p:grpSpPr bwMode="auto">
            <a:xfrm>
              <a:off x="8060375" y="4648200"/>
              <a:ext cx="312906" cy="521483"/>
              <a:chOff x="8060375" y="4648200"/>
              <a:chExt cx="312906" cy="521483"/>
            </a:xfrm>
          </p:grpSpPr>
          <p:cxnSp>
            <p:nvCxnSpPr>
              <p:cNvPr id="139" name="Straight Connector 12">
                <a:extLst>
                  <a:ext uri="{FF2B5EF4-FFF2-40B4-BE49-F238E27FC236}">
                    <a16:creationId xmlns:a16="http://schemas.microsoft.com/office/drawing/2014/main" id="{236E485E-6CEA-494F-A3FA-DC0364B1E9BA}"/>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478" name="TextBox 13">
                <a:extLst>
                  <a:ext uri="{FF2B5EF4-FFF2-40B4-BE49-F238E27FC236}">
                    <a16:creationId xmlns:a16="http://schemas.microsoft.com/office/drawing/2014/main" id="{2A75CC24-386D-40DC-AA6A-D5EDF4BEA67E}"/>
                  </a:ext>
                </a:extLst>
              </p:cNvPr>
              <p:cNvSpPr txBox="1">
                <a:spLocks noChangeArrowheads="1"/>
              </p:cNvSpPr>
              <p:nvPr/>
            </p:nvSpPr>
            <p:spPr bwMode="auto">
              <a:xfrm>
                <a:off x="8060375"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4</a:t>
                </a:r>
              </a:p>
            </p:txBody>
          </p:sp>
        </p:grpSp>
        <p:grpSp>
          <p:nvGrpSpPr>
            <p:cNvPr id="18467" name="Group 21">
              <a:extLst>
                <a:ext uri="{FF2B5EF4-FFF2-40B4-BE49-F238E27FC236}">
                  <a16:creationId xmlns:a16="http://schemas.microsoft.com/office/drawing/2014/main" id="{BCD1AB63-27CA-4133-A63E-F6497306E03E}"/>
                </a:ext>
              </a:extLst>
            </p:cNvPr>
            <p:cNvGrpSpPr>
              <a:grpSpLocks/>
            </p:cNvGrpSpPr>
            <p:nvPr/>
          </p:nvGrpSpPr>
          <p:grpSpPr bwMode="auto">
            <a:xfrm>
              <a:off x="7154694" y="4648200"/>
              <a:ext cx="312906" cy="521483"/>
              <a:chOff x="8069094" y="4648200"/>
              <a:chExt cx="312906" cy="521483"/>
            </a:xfrm>
          </p:grpSpPr>
          <p:cxnSp>
            <p:nvCxnSpPr>
              <p:cNvPr id="133" name="Straight Connector 22">
                <a:extLst>
                  <a:ext uri="{FF2B5EF4-FFF2-40B4-BE49-F238E27FC236}">
                    <a16:creationId xmlns:a16="http://schemas.microsoft.com/office/drawing/2014/main" id="{755488EA-A648-4B1F-8CE0-325C399801F2}"/>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476" name="TextBox 41">
                <a:extLst>
                  <a:ext uri="{FF2B5EF4-FFF2-40B4-BE49-F238E27FC236}">
                    <a16:creationId xmlns:a16="http://schemas.microsoft.com/office/drawing/2014/main" id="{7CF36961-D7BF-46EF-948C-66BAB89B9FEF}"/>
                  </a:ext>
                </a:extLst>
              </p:cNvPr>
              <p:cNvSpPr txBox="1">
                <a:spLocks noChangeArrowheads="1"/>
              </p:cNvSpPr>
              <p:nvPr/>
            </p:nvSpPr>
            <p:spPr bwMode="auto">
              <a:xfrm>
                <a:off x="806909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3</a:t>
                </a:r>
              </a:p>
            </p:txBody>
          </p:sp>
        </p:grpSp>
        <p:grpSp>
          <p:nvGrpSpPr>
            <p:cNvPr id="18468" name="Group 33">
              <a:extLst>
                <a:ext uri="{FF2B5EF4-FFF2-40B4-BE49-F238E27FC236}">
                  <a16:creationId xmlns:a16="http://schemas.microsoft.com/office/drawing/2014/main" id="{ADD5CA21-9647-4990-8A62-51AAABCC7952}"/>
                </a:ext>
              </a:extLst>
            </p:cNvPr>
            <p:cNvGrpSpPr>
              <a:grpSpLocks/>
            </p:cNvGrpSpPr>
            <p:nvPr/>
          </p:nvGrpSpPr>
          <p:grpSpPr bwMode="auto">
            <a:xfrm>
              <a:off x="5325894" y="4648200"/>
              <a:ext cx="312906" cy="521483"/>
              <a:chOff x="8069094" y="4648200"/>
              <a:chExt cx="312906" cy="521483"/>
            </a:xfrm>
          </p:grpSpPr>
          <p:cxnSp>
            <p:nvCxnSpPr>
              <p:cNvPr id="127" name="Straight Connector 126">
                <a:extLst>
                  <a:ext uri="{FF2B5EF4-FFF2-40B4-BE49-F238E27FC236}">
                    <a16:creationId xmlns:a16="http://schemas.microsoft.com/office/drawing/2014/main" id="{9F17DDD8-A657-49E1-A035-4286E066C070}"/>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474" name="TextBox 35">
                <a:extLst>
                  <a:ext uri="{FF2B5EF4-FFF2-40B4-BE49-F238E27FC236}">
                    <a16:creationId xmlns:a16="http://schemas.microsoft.com/office/drawing/2014/main" id="{2CB2CC9D-3949-46CB-810D-A05A7B7EA227}"/>
                  </a:ext>
                </a:extLst>
              </p:cNvPr>
              <p:cNvSpPr txBox="1">
                <a:spLocks noChangeArrowheads="1"/>
              </p:cNvSpPr>
              <p:nvPr/>
            </p:nvSpPr>
            <p:spPr bwMode="auto">
              <a:xfrm>
                <a:off x="806909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grpSp>
        <p:grpSp>
          <p:nvGrpSpPr>
            <p:cNvPr id="18469" name="Group 42">
              <a:extLst>
                <a:ext uri="{FF2B5EF4-FFF2-40B4-BE49-F238E27FC236}">
                  <a16:creationId xmlns:a16="http://schemas.microsoft.com/office/drawing/2014/main" id="{332AC030-8761-453F-9F8C-D4E235D18E0A}"/>
                </a:ext>
              </a:extLst>
            </p:cNvPr>
            <p:cNvGrpSpPr>
              <a:grpSpLocks/>
            </p:cNvGrpSpPr>
            <p:nvPr/>
          </p:nvGrpSpPr>
          <p:grpSpPr bwMode="auto">
            <a:xfrm>
              <a:off x="6240294" y="4648200"/>
              <a:ext cx="312906" cy="521483"/>
              <a:chOff x="8069094" y="4648200"/>
              <a:chExt cx="312906" cy="521483"/>
            </a:xfrm>
          </p:grpSpPr>
          <p:cxnSp>
            <p:nvCxnSpPr>
              <p:cNvPr id="121" name="Straight Connector 120">
                <a:extLst>
                  <a:ext uri="{FF2B5EF4-FFF2-40B4-BE49-F238E27FC236}">
                    <a16:creationId xmlns:a16="http://schemas.microsoft.com/office/drawing/2014/main" id="{45F4CA6B-1B08-48B8-A95B-8CFA8342AEFD}"/>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472" name="TextBox 29">
                <a:extLst>
                  <a:ext uri="{FF2B5EF4-FFF2-40B4-BE49-F238E27FC236}">
                    <a16:creationId xmlns:a16="http://schemas.microsoft.com/office/drawing/2014/main" id="{502696A0-2233-40D7-8D7F-59AC0C17EF01}"/>
                  </a:ext>
                </a:extLst>
              </p:cNvPr>
              <p:cNvSpPr txBox="1">
                <a:spLocks noChangeArrowheads="1"/>
              </p:cNvSpPr>
              <p:nvPr/>
            </p:nvSpPr>
            <p:spPr bwMode="auto">
              <a:xfrm>
                <a:off x="806909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p>
            </p:txBody>
          </p:sp>
        </p:grpSp>
        <p:sp>
          <p:nvSpPr>
            <p:cNvPr id="18470" name="TextBox 23">
              <a:extLst>
                <a:ext uri="{FF2B5EF4-FFF2-40B4-BE49-F238E27FC236}">
                  <a16:creationId xmlns:a16="http://schemas.microsoft.com/office/drawing/2014/main" id="{A89DEEA4-3BD4-4FFB-999F-F10E0FBE8C1E}"/>
                </a:ext>
              </a:extLst>
            </p:cNvPr>
            <p:cNvSpPr txBox="1">
              <a:spLocks noChangeArrowheads="1"/>
            </p:cNvSpPr>
            <p:nvPr/>
          </p:nvSpPr>
          <p:spPr bwMode="auto">
            <a:xfrm>
              <a:off x="5521036" y="5105399"/>
              <a:ext cx="2121158"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Quantity of Albums</a:t>
              </a:r>
            </a:p>
          </p:txBody>
        </p:sp>
      </p:grpSp>
      <p:grpSp>
        <p:nvGrpSpPr>
          <p:cNvPr id="17" name="Group 103">
            <a:extLst>
              <a:ext uri="{FF2B5EF4-FFF2-40B4-BE49-F238E27FC236}">
                <a16:creationId xmlns:a16="http://schemas.microsoft.com/office/drawing/2014/main" id="{B3038056-880C-4999-9637-56DE2DED2748}"/>
              </a:ext>
            </a:extLst>
          </p:cNvPr>
          <p:cNvGrpSpPr>
            <a:grpSpLocks/>
          </p:cNvGrpSpPr>
          <p:nvPr/>
        </p:nvGrpSpPr>
        <p:grpSpPr bwMode="auto">
          <a:xfrm>
            <a:off x="2778125" y="2035175"/>
            <a:ext cx="2662238" cy="506413"/>
            <a:chOff x="5529239" y="1268474"/>
            <a:chExt cx="2660857" cy="506621"/>
          </a:xfrm>
        </p:grpSpPr>
        <p:sp>
          <p:nvSpPr>
            <p:cNvPr id="18462" name="TextBox 104">
              <a:extLst>
                <a:ext uri="{FF2B5EF4-FFF2-40B4-BE49-F238E27FC236}">
                  <a16:creationId xmlns:a16="http://schemas.microsoft.com/office/drawing/2014/main" id="{BD7D1AB3-3B55-4AF7-A0ED-400362189DAF}"/>
                </a:ext>
              </a:extLst>
            </p:cNvPr>
            <p:cNvSpPr txBox="1">
              <a:spLocks noChangeArrowheads="1"/>
            </p:cNvSpPr>
            <p:nvPr/>
          </p:nvSpPr>
          <p:spPr bwMode="auto">
            <a:xfrm>
              <a:off x="6037772" y="1268474"/>
              <a:ext cx="2152324"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John’s willingness to pay</a:t>
              </a:r>
            </a:p>
          </p:txBody>
        </p:sp>
        <p:cxnSp>
          <p:nvCxnSpPr>
            <p:cNvPr id="173" name="Straight Connector 172">
              <a:extLst>
                <a:ext uri="{FF2B5EF4-FFF2-40B4-BE49-F238E27FC236}">
                  <a16:creationId xmlns:a16="http://schemas.microsoft.com/office/drawing/2014/main" id="{1F77ADA9-A3FB-4E86-945F-7982B67E11B3}"/>
                </a:ext>
              </a:extLst>
            </p:cNvPr>
            <p:cNvCxnSpPr/>
            <p:nvPr/>
          </p:nvCxnSpPr>
          <p:spPr>
            <a:xfrm flipV="1">
              <a:off x="5529239" y="1525755"/>
              <a:ext cx="558510" cy="249340"/>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18" name="Group 103">
            <a:extLst>
              <a:ext uri="{FF2B5EF4-FFF2-40B4-BE49-F238E27FC236}">
                <a16:creationId xmlns:a16="http://schemas.microsoft.com/office/drawing/2014/main" id="{440053A8-42C4-42F5-AF8B-8001A5CB45CF}"/>
              </a:ext>
            </a:extLst>
          </p:cNvPr>
          <p:cNvGrpSpPr>
            <a:grpSpLocks/>
          </p:cNvGrpSpPr>
          <p:nvPr/>
        </p:nvGrpSpPr>
        <p:grpSpPr bwMode="auto">
          <a:xfrm>
            <a:off x="3690938" y="2436813"/>
            <a:ext cx="2635250" cy="506412"/>
            <a:chOff x="5529240" y="1268474"/>
            <a:chExt cx="2634204" cy="506621"/>
          </a:xfrm>
        </p:grpSpPr>
        <p:sp>
          <p:nvSpPr>
            <p:cNvPr id="18460" name="TextBox 104">
              <a:extLst>
                <a:ext uri="{FF2B5EF4-FFF2-40B4-BE49-F238E27FC236}">
                  <a16:creationId xmlns:a16="http://schemas.microsoft.com/office/drawing/2014/main" id="{03CF28FD-7DB6-4ADB-B56B-0F8F51985D4D}"/>
                </a:ext>
              </a:extLst>
            </p:cNvPr>
            <p:cNvSpPr txBox="1">
              <a:spLocks noChangeArrowheads="1"/>
            </p:cNvSpPr>
            <p:nvPr/>
          </p:nvSpPr>
          <p:spPr bwMode="auto">
            <a:xfrm>
              <a:off x="5990289" y="1268474"/>
              <a:ext cx="2173155"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Paul’s willingness to pay</a:t>
              </a:r>
            </a:p>
          </p:txBody>
        </p:sp>
        <p:cxnSp>
          <p:nvCxnSpPr>
            <p:cNvPr id="199" name="Straight Connector 198">
              <a:extLst>
                <a:ext uri="{FF2B5EF4-FFF2-40B4-BE49-F238E27FC236}">
                  <a16:creationId xmlns:a16="http://schemas.microsoft.com/office/drawing/2014/main" id="{B05CD577-B682-45EA-9BE5-215953D874A1}"/>
                </a:ext>
              </a:extLst>
            </p:cNvPr>
            <p:cNvCxnSpPr/>
            <p:nvPr/>
          </p:nvCxnSpPr>
          <p:spPr>
            <a:xfrm flipV="1">
              <a:off x="5529240" y="1479698"/>
              <a:ext cx="536362" cy="295397"/>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19" name="Group 103">
            <a:extLst>
              <a:ext uri="{FF2B5EF4-FFF2-40B4-BE49-F238E27FC236}">
                <a16:creationId xmlns:a16="http://schemas.microsoft.com/office/drawing/2014/main" id="{B7A40FE1-2833-4372-9558-A625CAFBDC53}"/>
              </a:ext>
            </a:extLst>
          </p:cNvPr>
          <p:cNvGrpSpPr>
            <a:grpSpLocks/>
          </p:cNvGrpSpPr>
          <p:nvPr/>
        </p:nvGrpSpPr>
        <p:grpSpPr bwMode="auto">
          <a:xfrm>
            <a:off x="4568825" y="2873375"/>
            <a:ext cx="2897188" cy="307975"/>
            <a:chOff x="5529239" y="1482230"/>
            <a:chExt cx="2897368" cy="307777"/>
          </a:xfrm>
        </p:grpSpPr>
        <p:sp>
          <p:nvSpPr>
            <p:cNvPr id="18458" name="TextBox 104">
              <a:extLst>
                <a:ext uri="{FF2B5EF4-FFF2-40B4-BE49-F238E27FC236}">
                  <a16:creationId xmlns:a16="http://schemas.microsoft.com/office/drawing/2014/main" id="{063F99A5-FB19-4548-8553-C0BF2C132126}"/>
                </a:ext>
              </a:extLst>
            </p:cNvPr>
            <p:cNvSpPr txBox="1">
              <a:spLocks noChangeArrowheads="1"/>
            </p:cNvSpPr>
            <p:nvPr/>
          </p:nvSpPr>
          <p:spPr bwMode="auto">
            <a:xfrm>
              <a:off x="6025905" y="1482230"/>
              <a:ext cx="2400702"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George’s willingness to pay</a:t>
              </a:r>
            </a:p>
          </p:txBody>
        </p:sp>
        <p:cxnSp>
          <p:nvCxnSpPr>
            <p:cNvPr id="202" name="Straight Connector 201">
              <a:extLst>
                <a:ext uri="{FF2B5EF4-FFF2-40B4-BE49-F238E27FC236}">
                  <a16:creationId xmlns:a16="http://schemas.microsoft.com/office/drawing/2014/main" id="{D062F4A5-7FCA-498E-90EA-300BDCAE0D9C}"/>
                </a:ext>
              </a:extLst>
            </p:cNvPr>
            <p:cNvCxnSpPr/>
            <p:nvPr/>
          </p:nvCxnSpPr>
          <p:spPr>
            <a:xfrm flipV="1">
              <a:off x="5529239" y="1625013"/>
              <a:ext cx="525496" cy="150716"/>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20" name="Group 103">
            <a:extLst>
              <a:ext uri="{FF2B5EF4-FFF2-40B4-BE49-F238E27FC236}">
                <a16:creationId xmlns:a16="http://schemas.microsoft.com/office/drawing/2014/main" id="{611A4AD9-2992-4307-AFE5-524BB93F3F5D}"/>
              </a:ext>
            </a:extLst>
          </p:cNvPr>
          <p:cNvGrpSpPr>
            <a:grpSpLocks/>
          </p:cNvGrpSpPr>
          <p:nvPr/>
        </p:nvGrpSpPr>
        <p:grpSpPr bwMode="auto">
          <a:xfrm>
            <a:off x="5480050" y="3584575"/>
            <a:ext cx="2730500" cy="307975"/>
            <a:chOff x="5529239" y="1482230"/>
            <a:chExt cx="2729118" cy="307777"/>
          </a:xfrm>
        </p:grpSpPr>
        <p:sp>
          <p:nvSpPr>
            <p:cNvPr id="18456" name="TextBox 104">
              <a:extLst>
                <a:ext uri="{FF2B5EF4-FFF2-40B4-BE49-F238E27FC236}">
                  <a16:creationId xmlns:a16="http://schemas.microsoft.com/office/drawing/2014/main" id="{FD906966-B3DC-4D19-B3E3-F470DCDF9BEB}"/>
                </a:ext>
              </a:extLst>
            </p:cNvPr>
            <p:cNvSpPr txBox="1">
              <a:spLocks noChangeArrowheads="1"/>
            </p:cNvSpPr>
            <p:nvPr/>
          </p:nvSpPr>
          <p:spPr bwMode="auto">
            <a:xfrm>
              <a:off x="6025909" y="1482230"/>
              <a:ext cx="2232448"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Ringo’s willingness to pay</a:t>
              </a:r>
            </a:p>
          </p:txBody>
        </p:sp>
        <p:cxnSp>
          <p:nvCxnSpPr>
            <p:cNvPr id="208" name="Straight Connector 207">
              <a:extLst>
                <a:ext uri="{FF2B5EF4-FFF2-40B4-BE49-F238E27FC236}">
                  <a16:creationId xmlns:a16="http://schemas.microsoft.com/office/drawing/2014/main" id="{AAF60105-F71F-4201-B4A7-0F59B954098F}"/>
                </a:ext>
              </a:extLst>
            </p:cNvPr>
            <p:cNvCxnSpPr/>
            <p:nvPr/>
          </p:nvCxnSpPr>
          <p:spPr>
            <a:xfrm flipV="1">
              <a:off x="5529239" y="1625013"/>
              <a:ext cx="526783" cy="150716"/>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21" name="Group 210">
            <a:extLst>
              <a:ext uri="{FF2B5EF4-FFF2-40B4-BE49-F238E27FC236}">
                <a16:creationId xmlns:a16="http://schemas.microsoft.com/office/drawing/2014/main" id="{C2D30279-A550-414A-8A66-F074B11E2867}"/>
              </a:ext>
            </a:extLst>
          </p:cNvPr>
          <p:cNvGrpSpPr>
            <a:grpSpLocks/>
          </p:cNvGrpSpPr>
          <p:nvPr/>
        </p:nvGrpSpPr>
        <p:grpSpPr bwMode="auto">
          <a:xfrm>
            <a:off x="1828800" y="1912938"/>
            <a:ext cx="4775200" cy="3360737"/>
            <a:chOff x="1828800" y="1912721"/>
            <a:chExt cx="4775451" cy="3360716"/>
          </a:xfrm>
        </p:grpSpPr>
        <p:grpSp>
          <p:nvGrpSpPr>
            <p:cNvPr id="18445" name="Group 194">
              <a:extLst>
                <a:ext uri="{FF2B5EF4-FFF2-40B4-BE49-F238E27FC236}">
                  <a16:creationId xmlns:a16="http://schemas.microsoft.com/office/drawing/2014/main" id="{9F83FA8F-211E-4395-AC89-568739614A41}"/>
                </a:ext>
              </a:extLst>
            </p:cNvPr>
            <p:cNvGrpSpPr>
              <a:grpSpLocks/>
            </p:cNvGrpSpPr>
            <p:nvPr/>
          </p:nvGrpSpPr>
          <p:grpSpPr bwMode="auto">
            <a:xfrm>
              <a:off x="1828800" y="1912721"/>
              <a:ext cx="3646515" cy="3360716"/>
              <a:chOff x="1828800" y="1912721"/>
              <a:chExt cx="3646515" cy="3360716"/>
            </a:xfrm>
          </p:grpSpPr>
          <p:cxnSp>
            <p:nvCxnSpPr>
              <p:cNvPr id="178" name="Straight Connector 177">
                <a:extLst>
                  <a:ext uri="{FF2B5EF4-FFF2-40B4-BE49-F238E27FC236}">
                    <a16:creationId xmlns:a16="http://schemas.microsoft.com/office/drawing/2014/main" id="{94988AC7-BE04-49C7-BB13-3E1753477316}"/>
                  </a:ext>
                </a:extLst>
              </p:cNvPr>
              <p:cNvCxnSpPr/>
              <p:nvPr/>
            </p:nvCxnSpPr>
            <p:spPr>
              <a:xfrm>
                <a:off x="1828800" y="2517554"/>
                <a:ext cx="903336"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5201EA7B-0493-483B-89F3-5A3FB26676B5}"/>
                  </a:ext>
                </a:extLst>
              </p:cNvPr>
              <p:cNvCxnSpPr/>
              <p:nvPr/>
            </p:nvCxnSpPr>
            <p:spPr>
              <a:xfrm>
                <a:off x="2743248" y="2968401"/>
                <a:ext cx="903336"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148BDB27-9F9F-482E-B8D7-16DF2A705857}"/>
                  </a:ext>
                </a:extLst>
              </p:cNvPr>
              <p:cNvCxnSpPr/>
              <p:nvPr/>
            </p:nvCxnSpPr>
            <p:spPr>
              <a:xfrm>
                <a:off x="3646584" y="3193825"/>
                <a:ext cx="925561"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E735ACE9-AFA4-4C14-88D5-B5ED37BEE127}"/>
                  </a:ext>
                </a:extLst>
              </p:cNvPr>
              <p:cNvCxnSpPr/>
              <p:nvPr/>
            </p:nvCxnSpPr>
            <p:spPr>
              <a:xfrm>
                <a:off x="4561032" y="3919308"/>
                <a:ext cx="914448" cy="158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B9081DB-418E-4046-9D2B-BC8B00087380}"/>
                  </a:ext>
                </a:extLst>
              </p:cNvPr>
              <p:cNvCxnSpPr/>
              <p:nvPr/>
            </p:nvCxnSpPr>
            <p:spPr>
              <a:xfrm rot="5400000">
                <a:off x="4797621" y="4595579"/>
                <a:ext cx="1354129"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84CA4C1A-36A3-4AC5-8DD4-0B20B7F736DD}"/>
                  </a:ext>
                </a:extLst>
              </p:cNvPr>
              <p:cNvCxnSpPr/>
              <p:nvPr/>
            </p:nvCxnSpPr>
            <p:spPr>
              <a:xfrm rot="5400000" flipH="1" flipV="1">
                <a:off x="4191940" y="3539104"/>
                <a:ext cx="736595"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D21AAEAB-3B1C-4D8B-82FB-38DAB8CB71EC}"/>
                  </a:ext>
                </a:extLst>
              </p:cNvPr>
              <p:cNvCxnSpPr/>
              <p:nvPr/>
            </p:nvCxnSpPr>
            <p:spPr>
              <a:xfrm rot="5400000" flipH="1" flipV="1">
                <a:off x="3550541" y="3075558"/>
                <a:ext cx="212724" cy="158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6D5A9D70-E07B-4ABA-8611-FCF2E3BF3909}"/>
                  </a:ext>
                </a:extLst>
              </p:cNvPr>
              <p:cNvCxnSpPr/>
              <p:nvPr/>
            </p:nvCxnSpPr>
            <p:spPr>
              <a:xfrm rot="5400000" flipH="1" flipV="1">
                <a:off x="2518619" y="2731072"/>
                <a:ext cx="450847"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ACF3EA1C-84C9-4138-BD50-5D338E8CD623}"/>
                  </a:ext>
                </a:extLst>
              </p:cNvPr>
              <p:cNvCxnSpPr/>
              <p:nvPr/>
            </p:nvCxnSpPr>
            <p:spPr>
              <a:xfrm rot="5400000" flipH="1" flipV="1">
                <a:off x="1554959" y="2208788"/>
                <a:ext cx="593721"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grpSp>
        <p:sp>
          <p:nvSpPr>
            <p:cNvPr id="18446" name="TextBox 23">
              <a:extLst>
                <a:ext uri="{FF2B5EF4-FFF2-40B4-BE49-F238E27FC236}">
                  <a16:creationId xmlns:a16="http://schemas.microsoft.com/office/drawing/2014/main" id="{7A6E1470-7C95-4AC4-A39A-CD5EA2FE63D7}"/>
                </a:ext>
              </a:extLst>
            </p:cNvPr>
            <p:cNvSpPr txBox="1">
              <a:spLocks noChangeArrowheads="1"/>
            </p:cNvSpPr>
            <p:nvPr/>
          </p:nvSpPr>
          <p:spPr bwMode="auto">
            <a:xfrm>
              <a:off x="5483431" y="4788094"/>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Demand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wipe(left)">
                                      <p:cBhvr>
                                        <p:cTn id="14" dur="1000"/>
                                        <p:tgtEl>
                                          <p:spTgt spid="21"/>
                                        </p:tgtEl>
                                      </p:cBhvr>
                                    </p:animEffect>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par>
                          <p:cTn id="23" fill="hold" nodeType="afterGroup">
                            <p:stCondLst>
                              <p:cond delay="2500"/>
                            </p:stCondLst>
                            <p:childTnLst>
                              <p:par>
                                <p:cTn id="24" presetID="22" presetClass="entr" presetSubtype="8" fill="hold"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left)">
                                      <p:cBhvr>
                                        <p:cTn id="26" dur="500"/>
                                        <p:tgtEl>
                                          <p:spTgt spid="19"/>
                                        </p:tgtEl>
                                      </p:cBhvr>
                                    </p:animEffect>
                                  </p:childTnLst>
                                </p:cTn>
                              </p:par>
                            </p:childTnLst>
                          </p:cTn>
                        </p:par>
                        <p:par>
                          <p:cTn id="27" fill="hold" nodeType="afterGroup">
                            <p:stCondLst>
                              <p:cond delay="3000"/>
                            </p:stCondLst>
                            <p:childTnLst>
                              <p:par>
                                <p:cTn id="28" presetID="22" presetClass="entr" presetSubtype="8"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par>
                          <p:cTn id="31" fill="hold" nodeType="afterGroup">
                            <p:stCondLst>
                              <p:cond delay="3500"/>
                            </p:stCondLst>
                            <p:childTnLst>
                              <p:par>
                                <p:cTn id="32" presetID="22" presetClass="entr" presetSubtype="8"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DCB1847-1106-4079-BEA1-1564672914E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Consumer Surplus</a:t>
            </a:r>
          </a:p>
        </p:txBody>
      </p:sp>
      <p:sp>
        <p:nvSpPr>
          <p:cNvPr id="13315" name="Content Placeholder 2">
            <a:extLst>
              <a:ext uri="{FF2B5EF4-FFF2-40B4-BE49-F238E27FC236}">
                <a16:creationId xmlns:a16="http://schemas.microsoft.com/office/drawing/2014/main" id="{D4E2E452-1378-42B3-BEAE-D8D4751AAC86}"/>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Using the demand curve to measure consumer surplus</a:t>
            </a:r>
          </a:p>
          <a:p>
            <a:r>
              <a:rPr lang="en-US" altLang="en-US"/>
              <a:t>Demand curve</a:t>
            </a:r>
          </a:p>
          <a:p>
            <a:pPr lvl="1"/>
            <a:r>
              <a:rPr lang="en-US" altLang="en-US"/>
              <a:t>Reflects buyers’ willingness to pay</a:t>
            </a:r>
          </a:p>
          <a:p>
            <a:pPr lvl="1"/>
            <a:r>
              <a:rPr lang="en-US" altLang="en-US"/>
              <a:t>Measure consumer surplus</a:t>
            </a:r>
          </a:p>
          <a:p>
            <a:r>
              <a:rPr lang="en-US" altLang="en-US" sz="3600"/>
              <a:t>Consumer surplus in a market</a:t>
            </a:r>
          </a:p>
          <a:p>
            <a:pPr lvl="1"/>
            <a:r>
              <a:rPr lang="en-US" altLang="en-US"/>
              <a:t>Area below the demand curve and above the price</a:t>
            </a:r>
          </a:p>
        </p:txBody>
      </p:sp>
      <p:sp>
        <p:nvSpPr>
          <p:cNvPr id="19460" name="Slide Number Placeholder 3">
            <a:extLst>
              <a:ext uri="{FF2B5EF4-FFF2-40B4-BE49-F238E27FC236}">
                <a16:creationId xmlns:a16="http://schemas.microsoft.com/office/drawing/2014/main" id="{5CC9500A-A1FE-4393-B749-79CD4AF0297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021B8E-7579-4F5D-98C3-F4B787B486B2}" type="slidenum">
              <a:rPr lang="en-US" altLang="en-US">
                <a:latin typeface="Calibri" panose="020F0502020204030204" pitchFamily="34" charset="0"/>
              </a:rPr>
              <a:pPr/>
              <a:t>7</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5">
                                            <p:bg/>
                                          </p:spTgt>
                                        </p:tgtEl>
                                        <p:attrNameLst>
                                          <p:attrName>style.visibility</p:attrName>
                                        </p:attrNameLst>
                                      </p:cBhvr>
                                      <p:to>
                                        <p:strVal val="visible"/>
                                      </p:to>
                                    </p:set>
                                    <p:animEffect transition="in" filter="wipe(left)">
                                      <p:cBhvr>
                                        <p:cTn id="7" dur="500"/>
                                        <p:tgtEl>
                                          <p:spTgt spid="13315">
                                            <p:bg/>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animEffect transition="in" filter="wipe(left)">
                                      <p:cBhvr>
                                        <p:cTn id="11" dur="500"/>
                                        <p:tgtEl>
                                          <p:spTgt spid="13315">
                                            <p:txEl>
                                              <p:pRg st="0" end="0"/>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5">
                                            <p:txEl>
                                              <p:pRg st="1" end="1"/>
                                            </p:txEl>
                                          </p:spTgt>
                                        </p:tgtEl>
                                        <p:attrNameLst>
                                          <p:attrName>style.visibility</p:attrName>
                                        </p:attrNameLst>
                                      </p:cBhvr>
                                      <p:to>
                                        <p:strVal val="visible"/>
                                      </p:to>
                                    </p:set>
                                    <p:animEffect transition="in" filter="wipe(left)">
                                      <p:cBhvr>
                                        <p:cTn id="15" dur="500"/>
                                        <p:tgtEl>
                                          <p:spTgt spid="13315">
                                            <p:txEl>
                                              <p:pRg st="1" end="1"/>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Effect transition="in" filter="wipe(left)">
                                      <p:cBhvr>
                                        <p:cTn id="19" dur="500"/>
                                        <p:tgtEl>
                                          <p:spTgt spid="13315">
                                            <p:txEl>
                                              <p:pRg st="2" end="2"/>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Effect transition="in" filter="wipe(left)">
                                      <p:cBhvr>
                                        <p:cTn id="23" dur="500"/>
                                        <p:tgtEl>
                                          <p:spTgt spid="13315">
                                            <p:txEl>
                                              <p:pRg st="3" end="3"/>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wipe(left)">
                                      <p:cBhvr>
                                        <p:cTn id="27" dur="500"/>
                                        <p:tgtEl>
                                          <p:spTgt spid="13315">
                                            <p:txEl>
                                              <p:pRg st="4" end="4"/>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animEffect transition="in" filter="wipe(left)">
                                      <p:cBhvr>
                                        <p:cTn id="31" dur="500"/>
                                        <p:tgtEl>
                                          <p:spTgt spid="133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56BBFBB-F4A9-4715-87EA-D2877FD1A63B}"/>
              </a:ext>
            </a:extLst>
          </p:cNvPr>
          <p:cNvGrpSpPr>
            <a:grpSpLocks/>
          </p:cNvGrpSpPr>
          <p:nvPr/>
        </p:nvGrpSpPr>
        <p:grpSpPr bwMode="auto">
          <a:xfrm>
            <a:off x="23813" y="1435100"/>
            <a:ext cx="4251325" cy="3833813"/>
            <a:chOff x="925805" y="1434925"/>
            <a:chExt cx="4251838" cy="3833813"/>
          </a:xfrm>
        </p:grpSpPr>
        <p:sp>
          <p:nvSpPr>
            <p:cNvPr id="6" name="Rectangle 5">
              <a:extLst>
                <a:ext uri="{FF2B5EF4-FFF2-40B4-BE49-F238E27FC236}">
                  <a16:creationId xmlns:a16="http://schemas.microsoft.com/office/drawing/2014/main" id="{A1E68466-1105-42DF-BFC7-7C01324811A4}"/>
                </a:ext>
              </a:extLst>
            </p:cNvPr>
            <p:cNvSpPr/>
            <p:nvPr/>
          </p:nvSpPr>
          <p:spPr>
            <a:xfrm>
              <a:off x="1829201" y="1839738"/>
              <a:ext cx="3348442" cy="3429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20584" name="Group 48">
              <a:extLst>
                <a:ext uri="{FF2B5EF4-FFF2-40B4-BE49-F238E27FC236}">
                  <a16:creationId xmlns:a16="http://schemas.microsoft.com/office/drawing/2014/main" id="{B38A1F80-10A6-4540-A094-4E61E09A84B2}"/>
                </a:ext>
              </a:extLst>
            </p:cNvPr>
            <p:cNvGrpSpPr>
              <a:grpSpLocks/>
            </p:cNvGrpSpPr>
            <p:nvPr/>
          </p:nvGrpSpPr>
          <p:grpSpPr bwMode="auto">
            <a:xfrm>
              <a:off x="925805" y="1434925"/>
              <a:ext cx="1055382" cy="3822699"/>
              <a:chOff x="3668765" y="978932"/>
              <a:chExt cx="1055382" cy="3822461"/>
            </a:xfrm>
          </p:grpSpPr>
          <p:cxnSp>
            <p:nvCxnSpPr>
              <p:cNvPr id="8" name="Straight Connector 7">
                <a:extLst>
                  <a:ext uri="{FF2B5EF4-FFF2-40B4-BE49-F238E27FC236}">
                    <a16:creationId xmlns:a16="http://schemas.microsoft.com/office/drawing/2014/main" id="{63ACA558-F371-42F0-AAE4-398F82F5128D}"/>
                  </a:ext>
                </a:extLst>
              </p:cNvPr>
              <p:cNvCxnSpPr/>
              <p:nvPr/>
            </p:nvCxnSpPr>
            <p:spPr>
              <a:xfrm rot="5400000">
                <a:off x="2896659" y="3124304"/>
                <a:ext cx="3352591"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586" name="Group 56">
                <a:extLst>
                  <a:ext uri="{FF2B5EF4-FFF2-40B4-BE49-F238E27FC236}">
                    <a16:creationId xmlns:a16="http://schemas.microsoft.com/office/drawing/2014/main" id="{0CE60A6B-6290-45EC-AAFB-ED7B730C6332}"/>
                  </a:ext>
                </a:extLst>
              </p:cNvPr>
              <p:cNvGrpSpPr>
                <a:grpSpLocks/>
              </p:cNvGrpSpPr>
              <p:nvPr/>
            </p:nvGrpSpPr>
            <p:grpSpPr bwMode="auto">
              <a:xfrm>
                <a:off x="3857499" y="1828800"/>
                <a:ext cx="866648" cy="369309"/>
                <a:chOff x="5991352" y="2286000"/>
                <a:chExt cx="866648" cy="369309"/>
              </a:xfrm>
            </p:grpSpPr>
            <p:sp>
              <p:nvSpPr>
                <p:cNvPr id="20597" name="TextBox 53">
                  <a:extLst>
                    <a:ext uri="{FF2B5EF4-FFF2-40B4-BE49-F238E27FC236}">
                      <a16:creationId xmlns:a16="http://schemas.microsoft.com/office/drawing/2014/main" id="{599D2891-60F5-4701-9CBD-EC7F48E4084C}"/>
                    </a:ext>
                  </a:extLst>
                </p:cNvPr>
                <p:cNvSpPr txBox="1">
                  <a:spLocks noChangeArrowheads="1"/>
                </p:cNvSpPr>
                <p:nvPr/>
              </p:nvSpPr>
              <p:spPr bwMode="auto">
                <a:xfrm>
                  <a:off x="5991352" y="2286000"/>
                  <a:ext cx="69762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$100</a:t>
                  </a:r>
                </a:p>
              </p:txBody>
            </p:sp>
            <p:cxnSp>
              <p:nvCxnSpPr>
                <p:cNvPr id="21" name="Straight Connector 55">
                  <a:extLst>
                    <a:ext uri="{FF2B5EF4-FFF2-40B4-BE49-F238E27FC236}">
                      <a16:creationId xmlns:a16="http://schemas.microsoft.com/office/drawing/2014/main" id="{CD963C6E-A8E2-40BD-A469-E2FA975569D6}"/>
                    </a:ext>
                  </a:extLst>
                </p:cNvPr>
                <p:cNvCxnSpPr/>
                <p:nvPr/>
              </p:nvCxnSpPr>
              <p:spPr>
                <a:xfrm>
                  <a:off x="6706014" y="2513978"/>
                  <a:ext cx="15241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87" name="Group 57">
                <a:extLst>
                  <a:ext uri="{FF2B5EF4-FFF2-40B4-BE49-F238E27FC236}">
                    <a16:creationId xmlns:a16="http://schemas.microsoft.com/office/drawing/2014/main" id="{970995FB-7BF5-43DC-83B6-AACB9E2BA9BC}"/>
                  </a:ext>
                </a:extLst>
              </p:cNvPr>
              <p:cNvGrpSpPr>
                <a:grpSpLocks/>
              </p:cNvGrpSpPr>
              <p:nvPr/>
            </p:nvGrpSpPr>
            <p:grpSpPr bwMode="auto">
              <a:xfrm>
                <a:off x="4113980" y="2297668"/>
                <a:ext cx="610167" cy="369309"/>
                <a:chOff x="6247833" y="2286000"/>
                <a:chExt cx="610167" cy="369309"/>
              </a:xfrm>
            </p:grpSpPr>
            <p:sp>
              <p:nvSpPr>
                <p:cNvPr id="20595" name="TextBox 58">
                  <a:extLst>
                    <a:ext uri="{FF2B5EF4-FFF2-40B4-BE49-F238E27FC236}">
                      <a16:creationId xmlns:a16="http://schemas.microsoft.com/office/drawing/2014/main" id="{4E879B25-B55E-4201-A25B-CA802A52207A}"/>
                    </a:ext>
                  </a:extLst>
                </p:cNvPr>
                <p:cNvSpPr txBox="1">
                  <a:spLocks noChangeArrowheads="1"/>
                </p:cNvSpPr>
                <p:nvPr/>
              </p:nvSpPr>
              <p:spPr bwMode="auto">
                <a:xfrm>
                  <a:off x="6247833" y="2286000"/>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80</a:t>
                  </a:r>
                </a:p>
              </p:txBody>
            </p:sp>
            <p:cxnSp>
              <p:nvCxnSpPr>
                <p:cNvPr id="19" name="Straight Connector 18">
                  <a:extLst>
                    <a:ext uri="{FF2B5EF4-FFF2-40B4-BE49-F238E27FC236}">
                      <a16:creationId xmlns:a16="http://schemas.microsoft.com/office/drawing/2014/main" id="{F7DA5707-5A55-4F0F-B479-945915714FF0}"/>
                    </a:ext>
                  </a:extLst>
                </p:cNvPr>
                <p:cNvCxnSpPr/>
                <p:nvPr/>
              </p:nvCxnSpPr>
              <p:spPr>
                <a:xfrm>
                  <a:off x="6706014" y="2502282"/>
                  <a:ext cx="15241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88" name="Group 60">
                <a:extLst>
                  <a:ext uri="{FF2B5EF4-FFF2-40B4-BE49-F238E27FC236}">
                    <a16:creationId xmlns:a16="http://schemas.microsoft.com/office/drawing/2014/main" id="{AC836256-26F9-4E66-90BC-5E29EC4AE938}"/>
                  </a:ext>
                </a:extLst>
              </p:cNvPr>
              <p:cNvGrpSpPr>
                <a:grpSpLocks/>
              </p:cNvGrpSpPr>
              <p:nvPr/>
            </p:nvGrpSpPr>
            <p:grpSpPr bwMode="auto">
              <a:xfrm>
                <a:off x="4113980" y="2564881"/>
                <a:ext cx="610167" cy="369309"/>
                <a:chOff x="6247833" y="2096013"/>
                <a:chExt cx="610167" cy="369309"/>
              </a:xfrm>
            </p:grpSpPr>
            <p:sp>
              <p:nvSpPr>
                <p:cNvPr id="20593" name="TextBox 63">
                  <a:extLst>
                    <a:ext uri="{FF2B5EF4-FFF2-40B4-BE49-F238E27FC236}">
                      <a16:creationId xmlns:a16="http://schemas.microsoft.com/office/drawing/2014/main" id="{AA9B5B39-3750-4CA0-B9CA-4BFE4C392461}"/>
                    </a:ext>
                  </a:extLst>
                </p:cNvPr>
                <p:cNvSpPr txBox="1">
                  <a:spLocks noChangeArrowheads="1"/>
                </p:cNvSpPr>
                <p:nvPr/>
              </p:nvSpPr>
              <p:spPr bwMode="auto">
                <a:xfrm>
                  <a:off x="6247833" y="2096013"/>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70</a:t>
                  </a:r>
                </a:p>
              </p:txBody>
            </p:sp>
            <p:cxnSp>
              <p:nvCxnSpPr>
                <p:cNvPr id="17" name="Straight Connector 16">
                  <a:extLst>
                    <a:ext uri="{FF2B5EF4-FFF2-40B4-BE49-F238E27FC236}">
                      <a16:creationId xmlns:a16="http://schemas.microsoft.com/office/drawing/2014/main" id="{4EC15AD6-A6D7-460D-8B4E-969A0E122E22}"/>
                    </a:ext>
                  </a:extLst>
                </p:cNvPr>
                <p:cNvCxnSpPr/>
                <p:nvPr/>
              </p:nvCxnSpPr>
              <p:spPr>
                <a:xfrm>
                  <a:off x="6706014" y="2276842"/>
                  <a:ext cx="15241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89" name="Group 63">
                <a:extLst>
                  <a:ext uri="{FF2B5EF4-FFF2-40B4-BE49-F238E27FC236}">
                    <a16:creationId xmlns:a16="http://schemas.microsoft.com/office/drawing/2014/main" id="{87BF6D87-931D-4B92-B3A1-D0DEAD3ADA10}"/>
                  </a:ext>
                </a:extLst>
              </p:cNvPr>
              <p:cNvGrpSpPr>
                <a:grpSpLocks/>
              </p:cNvGrpSpPr>
              <p:nvPr/>
            </p:nvGrpSpPr>
            <p:grpSpPr bwMode="auto">
              <a:xfrm>
                <a:off x="4113980" y="3212068"/>
                <a:ext cx="610167" cy="369309"/>
                <a:chOff x="6247833" y="2286000"/>
                <a:chExt cx="610167" cy="369309"/>
              </a:xfrm>
            </p:grpSpPr>
            <p:sp>
              <p:nvSpPr>
                <p:cNvPr id="20591" name="TextBox 61">
                  <a:extLst>
                    <a:ext uri="{FF2B5EF4-FFF2-40B4-BE49-F238E27FC236}">
                      <a16:creationId xmlns:a16="http://schemas.microsoft.com/office/drawing/2014/main" id="{E01279FD-98AE-4686-84CB-F4D43CE18E73}"/>
                    </a:ext>
                  </a:extLst>
                </p:cNvPr>
                <p:cNvSpPr txBox="1">
                  <a:spLocks noChangeArrowheads="1"/>
                </p:cNvSpPr>
                <p:nvPr/>
              </p:nvSpPr>
              <p:spPr bwMode="auto">
                <a:xfrm>
                  <a:off x="6247833" y="2286000"/>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50</a:t>
                  </a:r>
                </a:p>
              </p:txBody>
            </p:sp>
            <p:cxnSp>
              <p:nvCxnSpPr>
                <p:cNvPr id="15" name="Straight Connector 14">
                  <a:extLst>
                    <a:ext uri="{FF2B5EF4-FFF2-40B4-BE49-F238E27FC236}">
                      <a16:creationId xmlns:a16="http://schemas.microsoft.com/office/drawing/2014/main" id="{527E69FD-3166-4FB5-AD86-94F11E29066A}"/>
                    </a:ext>
                  </a:extLst>
                </p:cNvPr>
                <p:cNvCxnSpPr/>
                <p:nvPr/>
              </p:nvCxnSpPr>
              <p:spPr>
                <a:xfrm>
                  <a:off x="6706014" y="2514924"/>
                  <a:ext cx="152418"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590" name="TextBox 56">
                <a:extLst>
                  <a:ext uri="{FF2B5EF4-FFF2-40B4-BE49-F238E27FC236}">
                    <a16:creationId xmlns:a16="http://schemas.microsoft.com/office/drawing/2014/main" id="{83480900-5106-4894-A45A-E4BCBC4901DA}"/>
                  </a:ext>
                </a:extLst>
              </p:cNvPr>
              <p:cNvSpPr txBox="1">
                <a:spLocks noChangeArrowheads="1"/>
              </p:cNvSpPr>
              <p:nvPr/>
            </p:nvSpPr>
            <p:spPr bwMode="auto">
              <a:xfrm>
                <a:off x="3668765" y="978932"/>
                <a:ext cx="966928" cy="646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Price of</a:t>
                </a:r>
              </a:p>
              <a:p>
                <a:pPr algn="r" eaLnBrk="1" hangingPunct="1"/>
                <a:r>
                  <a:rPr lang="en-US" altLang="en-US"/>
                  <a:t>Albums</a:t>
                </a:r>
              </a:p>
            </p:txBody>
          </p:sp>
        </p:grpSp>
      </p:grpSp>
      <p:sp>
        <p:nvSpPr>
          <p:cNvPr id="75" name="Rectangle 74">
            <a:extLst>
              <a:ext uri="{FF2B5EF4-FFF2-40B4-BE49-F238E27FC236}">
                <a16:creationId xmlns:a16="http://schemas.microsoft.com/office/drawing/2014/main" id="{72284F34-5599-4CBF-BBF1-390277454F08}"/>
              </a:ext>
            </a:extLst>
          </p:cNvPr>
          <p:cNvSpPr/>
          <p:nvPr/>
        </p:nvSpPr>
        <p:spPr>
          <a:xfrm>
            <a:off x="946150" y="2505075"/>
            <a:ext cx="657225" cy="46355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484" name="Title 1">
            <a:extLst>
              <a:ext uri="{FF2B5EF4-FFF2-40B4-BE49-F238E27FC236}">
                <a16:creationId xmlns:a16="http://schemas.microsoft.com/office/drawing/2014/main" id="{3E4ADB30-C3BD-483F-BEF4-CE6AB2D81543}"/>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Measuring consumer surplus with the demand curve</a:t>
            </a:r>
          </a:p>
        </p:txBody>
      </p:sp>
      <p:sp>
        <p:nvSpPr>
          <p:cNvPr id="20485" name="Content Placeholder 2">
            <a:extLst>
              <a:ext uri="{FF2B5EF4-FFF2-40B4-BE49-F238E27FC236}">
                <a16:creationId xmlns:a16="http://schemas.microsoft.com/office/drawing/2014/main" id="{C8081E67-87C4-43BA-BCF4-8CAABD569D15}"/>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2</a:t>
            </a:r>
          </a:p>
        </p:txBody>
      </p:sp>
      <p:sp>
        <p:nvSpPr>
          <p:cNvPr id="20486" name="Slide Number Placeholder 3">
            <a:extLst>
              <a:ext uri="{FF2B5EF4-FFF2-40B4-BE49-F238E27FC236}">
                <a16:creationId xmlns:a16="http://schemas.microsoft.com/office/drawing/2014/main" id="{01B0FC2C-11FA-408E-8949-D37FDC2F3F02}"/>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9E8D983-4197-4FA1-A214-5E93120875F4}" type="slidenum">
              <a:rPr lang="en-US" altLang="en-US">
                <a:latin typeface="Calibri" panose="020F0502020204030204" pitchFamily="34" charset="0"/>
              </a:rPr>
              <a:pPr/>
              <a:t>8</a:t>
            </a:fld>
            <a:endParaRPr lang="en-US" altLang="en-US">
              <a:latin typeface="Calibri" panose="020F0502020204030204" pitchFamily="34" charset="0"/>
            </a:endParaRPr>
          </a:p>
        </p:txBody>
      </p:sp>
      <p:sp>
        <p:nvSpPr>
          <p:cNvPr id="22" name="TextBox 8">
            <a:extLst>
              <a:ext uri="{FF2B5EF4-FFF2-40B4-BE49-F238E27FC236}">
                <a16:creationId xmlns:a16="http://schemas.microsoft.com/office/drawing/2014/main" id="{752F6537-CB56-4C52-9733-F30132AE0183}"/>
              </a:ext>
            </a:extLst>
          </p:cNvPr>
          <p:cNvSpPr txBox="1">
            <a:spLocks noChangeArrowheads="1"/>
          </p:cNvSpPr>
          <p:nvPr/>
        </p:nvSpPr>
        <p:spPr bwMode="auto">
          <a:xfrm>
            <a:off x="392113" y="6049963"/>
            <a:ext cx="81105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In panel (a), the price of the good is $80, and the consumer  surplus is $20. In panel (b), the price of the good is $70, and the consumer surplus is $40.</a:t>
            </a:r>
          </a:p>
        </p:txBody>
      </p:sp>
      <p:grpSp>
        <p:nvGrpSpPr>
          <p:cNvPr id="23" name="Group 8">
            <a:extLst>
              <a:ext uri="{FF2B5EF4-FFF2-40B4-BE49-F238E27FC236}">
                <a16:creationId xmlns:a16="http://schemas.microsoft.com/office/drawing/2014/main" id="{8B96BF0A-4798-4E35-90E0-DA3C697B6056}"/>
              </a:ext>
            </a:extLst>
          </p:cNvPr>
          <p:cNvGrpSpPr>
            <a:grpSpLocks/>
          </p:cNvGrpSpPr>
          <p:nvPr/>
        </p:nvGrpSpPr>
        <p:grpSpPr bwMode="auto">
          <a:xfrm>
            <a:off x="696913" y="5116513"/>
            <a:ext cx="3519487" cy="827087"/>
            <a:chOff x="4343400" y="4648200"/>
            <a:chExt cx="3518065" cy="826283"/>
          </a:xfrm>
        </p:grpSpPr>
        <p:cxnSp>
          <p:nvCxnSpPr>
            <p:cNvPr id="24" name="Straight Connector 23">
              <a:extLst>
                <a:ext uri="{FF2B5EF4-FFF2-40B4-BE49-F238E27FC236}">
                  <a16:creationId xmlns:a16="http://schemas.microsoft.com/office/drawing/2014/main" id="{8C29DDF0-1A3D-4021-8722-23522E5DAB31}"/>
                </a:ext>
              </a:extLst>
            </p:cNvPr>
            <p:cNvCxnSpPr/>
            <p:nvPr/>
          </p:nvCxnSpPr>
          <p:spPr>
            <a:xfrm>
              <a:off x="4571908" y="4789350"/>
              <a:ext cx="3289557" cy="31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569" name="TextBox 10">
              <a:extLst>
                <a:ext uri="{FF2B5EF4-FFF2-40B4-BE49-F238E27FC236}">
                  <a16:creationId xmlns:a16="http://schemas.microsoft.com/office/drawing/2014/main" id="{455E453D-E069-4264-B45C-06E90E1A447E}"/>
                </a:ext>
              </a:extLst>
            </p:cNvPr>
            <p:cNvSpPr txBox="1">
              <a:spLocks noChangeArrowheads="1"/>
            </p:cNvSpPr>
            <p:nvPr/>
          </p:nvSpPr>
          <p:spPr bwMode="auto">
            <a:xfrm>
              <a:off x="4343400" y="4800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nvGrpSpPr>
            <p:cNvPr id="20570" name="Group 14">
              <a:extLst>
                <a:ext uri="{FF2B5EF4-FFF2-40B4-BE49-F238E27FC236}">
                  <a16:creationId xmlns:a16="http://schemas.microsoft.com/office/drawing/2014/main" id="{5397965B-6250-4C8D-97B9-98FCE48B4C9E}"/>
                </a:ext>
              </a:extLst>
            </p:cNvPr>
            <p:cNvGrpSpPr>
              <a:grpSpLocks/>
            </p:cNvGrpSpPr>
            <p:nvPr/>
          </p:nvGrpSpPr>
          <p:grpSpPr bwMode="auto">
            <a:xfrm>
              <a:off x="7146000" y="4648200"/>
              <a:ext cx="312906" cy="521483"/>
              <a:chOff x="7146000" y="4648200"/>
              <a:chExt cx="312906" cy="521483"/>
            </a:xfrm>
          </p:grpSpPr>
          <p:cxnSp>
            <p:nvCxnSpPr>
              <p:cNvPr id="37" name="Straight Connector 12">
                <a:extLst>
                  <a:ext uri="{FF2B5EF4-FFF2-40B4-BE49-F238E27FC236}">
                    <a16:creationId xmlns:a16="http://schemas.microsoft.com/office/drawing/2014/main" id="{8CCCF072-1A26-4E57-815C-432D3C59148C}"/>
                  </a:ext>
                </a:extLst>
              </p:cNvPr>
              <p:cNvCxnSpPr/>
              <p:nvPr/>
            </p:nvCxnSpPr>
            <p:spPr>
              <a:xfrm rot="5400000">
                <a:off x="7225972"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82" name="TextBox 13">
                <a:extLst>
                  <a:ext uri="{FF2B5EF4-FFF2-40B4-BE49-F238E27FC236}">
                    <a16:creationId xmlns:a16="http://schemas.microsoft.com/office/drawing/2014/main" id="{9E40EA72-9E00-44B8-8715-69BD10EB06FD}"/>
                  </a:ext>
                </a:extLst>
              </p:cNvPr>
              <p:cNvSpPr txBox="1">
                <a:spLocks noChangeArrowheads="1"/>
              </p:cNvSpPr>
              <p:nvPr/>
            </p:nvSpPr>
            <p:spPr bwMode="auto">
              <a:xfrm>
                <a:off x="7146000"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4</a:t>
                </a:r>
              </a:p>
            </p:txBody>
          </p:sp>
        </p:grpSp>
        <p:grpSp>
          <p:nvGrpSpPr>
            <p:cNvPr id="20571" name="Group 21">
              <a:extLst>
                <a:ext uri="{FF2B5EF4-FFF2-40B4-BE49-F238E27FC236}">
                  <a16:creationId xmlns:a16="http://schemas.microsoft.com/office/drawing/2014/main" id="{19D175B0-5ADA-4AD9-BD71-06982AE04D12}"/>
                </a:ext>
              </a:extLst>
            </p:cNvPr>
            <p:cNvGrpSpPr>
              <a:grpSpLocks/>
            </p:cNvGrpSpPr>
            <p:nvPr/>
          </p:nvGrpSpPr>
          <p:grpSpPr bwMode="auto">
            <a:xfrm>
              <a:off x="6477819" y="4648200"/>
              <a:ext cx="312906" cy="521483"/>
              <a:chOff x="7392219" y="4648200"/>
              <a:chExt cx="312906" cy="521483"/>
            </a:xfrm>
          </p:grpSpPr>
          <p:cxnSp>
            <p:nvCxnSpPr>
              <p:cNvPr id="35" name="Straight Connector 22">
                <a:extLst>
                  <a:ext uri="{FF2B5EF4-FFF2-40B4-BE49-F238E27FC236}">
                    <a16:creationId xmlns:a16="http://schemas.microsoft.com/office/drawing/2014/main" id="{77210520-ABF4-48DA-A679-7DFDDC0505DF}"/>
                  </a:ext>
                </a:extLst>
              </p:cNvPr>
              <p:cNvCxnSpPr/>
              <p:nvPr/>
            </p:nvCxnSpPr>
            <p:spPr>
              <a:xfrm rot="5400000">
                <a:off x="7464370"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80" name="TextBox 41">
                <a:extLst>
                  <a:ext uri="{FF2B5EF4-FFF2-40B4-BE49-F238E27FC236}">
                    <a16:creationId xmlns:a16="http://schemas.microsoft.com/office/drawing/2014/main" id="{9231315C-80B5-479D-B72C-78AAE5B9DA2B}"/>
                  </a:ext>
                </a:extLst>
              </p:cNvPr>
              <p:cNvSpPr txBox="1">
                <a:spLocks noChangeArrowheads="1"/>
              </p:cNvSpPr>
              <p:nvPr/>
            </p:nvSpPr>
            <p:spPr bwMode="auto">
              <a:xfrm>
                <a:off x="739221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3</a:t>
                </a:r>
              </a:p>
            </p:txBody>
          </p:sp>
        </p:grpSp>
        <p:grpSp>
          <p:nvGrpSpPr>
            <p:cNvPr id="20572" name="Group 33">
              <a:extLst>
                <a:ext uri="{FF2B5EF4-FFF2-40B4-BE49-F238E27FC236}">
                  <a16:creationId xmlns:a16="http://schemas.microsoft.com/office/drawing/2014/main" id="{7BD4AA97-9948-42F0-A2FC-AFD0622B0408}"/>
                </a:ext>
              </a:extLst>
            </p:cNvPr>
            <p:cNvGrpSpPr>
              <a:grpSpLocks/>
            </p:cNvGrpSpPr>
            <p:nvPr/>
          </p:nvGrpSpPr>
          <p:grpSpPr bwMode="auto">
            <a:xfrm>
              <a:off x="5100269" y="4648200"/>
              <a:ext cx="312906" cy="521483"/>
              <a:chOff x="7843469" y="4648200"/>
              <a:chExt cx="312906" cy="521483"/>
            </a:xfrm>
          </p:grpSpPr>
          <p:cxnSp>
            <p:nvCxnSpPr>
              <p:cNvPr id="33" name="Straight Connector 32">
                <a:extLst>
                  <a:ext uri="{FF2B5EF4-FFF2-40B4-BE49-F238E27FC236}">
                    <a16:creationId xmlns:a16="http://schemas.microsoft.com/office/drawing/2014/main" id="{90719307-EF17-499A-B78F-C120884CD90A}"/>
                  </a:ext>
                </a:extLst>
              </p:cNvPr>
              <p:cNvCxnSpPr/>
              <p:nvPr/>
            </p:nvCxnSpPr>
            <p:spPr>
              <a:xfrm rot="5400000">
                <a:off x="7915777"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78" name="TextBox 35">
                <a:extLst>
                  <a:ext uri="{FF2B5EF4-FFF2-40B4-BE49-F238E27FC236}">
                    <a16:creationId xmlns:a16="http://schemas.microsoft.com/office/drawing/2014/main" id="{B49C4AF4-D0FB-49BC-8675-2FDF00BED953}"/>
                  </a:ext>
                </a:extLst>
              </p:cNvPr>
              <p:cNvSpPr txBox="1">
                <a:spLocks noChangeArrowheads="1"/>
              </p:cNvSpPr>
              <p:nvPr/>
            </p:nvSpPr>
            <p:spPr bwMode="auto">
              <a:xfrm>
                <a:off x="784346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grpSp>
        <p:grpSp>
          <p:nvGrpSpPr>
            <p:cNvPr id="20573" name="Group 42">
              <a:extLst>
                <a:ext uri="{FF2B5EF4-FFF2-40B4-BE49-F238E27FC236}">
                  <a16:creationId xmlns:a16="http://schemas.microsoft.com/office/drawing/2014/main" id="{390A88F6-A364-418C-9C72-E300A3758D4F}"/>
                </a:ext>
              </a:extLst>
            </p:cNvPr>
            <p:cNvGrpSpPr>
              <a:grpSpLocks/>
            </p:cNvGrpSpPr>
            <p:nvPr/>
          </p:nvGrpSpPr>
          <p:grpSpPr bwMode="auto">
            <a:xfrm>
              <a:off x="5789044" y="4648200"/>
              <a:ext cx="312906" cy="521483"/>
              <a:chOff x="7617844" y="4648200"/>
              <a:chExt cx="312906" cy="521483"/>
            </a:xfrm>
          </p:grpSpPr>
          <p:cxnSp>
            <p:nvCxnSpPr>
              <p:cNvPr id="31" name="Straight Connector 30">
                <a:extLst>
                  <a:ext uri="{FF2B5EF4-FFF2-40B4-BE49-F238E27FC236}">
                    <a16:creationId xmlns:a16="http://schemas.microsoft.com/office/drawing/2014/main" id="{AD7E26D2-D366-4493-94B9-4743FA337AE1}"/>
                  </a:ext>
                </a:extLst>
              </p:cNvPr>
              <p:cNvCxnSpPr/>
              <p:nvPr/>
            </p:nvCxnSpPr>
            <p:spPr>
              <a:xfrm rot="5400000">
                <a:off x="7690074"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76" name="TextBox 29">
                <a:extLst>
                  <a:ext uri="{FF2B5EF4-FFF2-40B4-BE49-F238E27FC236}">
                    <a16:creationId xmlns:a16="http://schemas.microsoft.com/office/drawing/2014/main" id="{9BF41654-9799-4125-8BBB-F3DC9091E7DA}"/>
                  </a:ext>
                </a:extLst>
              </p:cNvPr>
              <p:cNvSpPr txBox="1">
                <a:spLocks noChangeArrowheads="1"/>
              </p:cNvSpPr>
              <p:nvPr/>
            </p:nvSpPr>
            <p:spPr bwMode="auto">
              <a:xfrm>
                <a:off x="761784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p>
            </p:txBody>
          </p:sp>
        </p:grpSp>
        <p:sp>
          <p:nvSpPr>
            <p:cNvPr id="20574" name="TextBox 23">
              <a:extLst>
                <a:ext uri="{FF2B5EF4-FFF2-40B4-BE49-F238E27FC236}">
                  <a16:creationId xmlns:a16="http://schemas.microsoft.com/office/drawing/2014/main" id="{AD8B5C44-6A3E-4A92-B12F-CC53D9CDE654}"/>
                </a:ext>
              </a:extLst>
            </p:cNvPr>
            <p:cNvSpPr txBox="1">
              <a:spLocks noChangeArrowheads="1"/>
            </p:cNvSpPr>
            <p:nvPr/>
          </p:nvSpPr>
          <p:spPr bwMode="auto">
            <a:xfrm>
              <a:off x="5521036" y="5105399"/>
              <a:ext cx="2121158"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Quantity of Albums</a:t>
              </a:r>
            </a:p>
          </p:txBody>
        </p:sp>
      </p:grpSp>
      <p:grpSp>
        <p:nvGrpSpPr>
          <p:cNvPr id="39" name="Group 103">
            <a:extLst>
              <a:ext uri="{FF2B5EF4-FFF2-40B4-BE49-F238E27FC236}">
                <a16:creationId xmlns:a16="http://schemas.microsoft.com/office/drawing/2014/main" id="{8760AC4B-74A9-4FA3-9251-5D6D7A25F847}"/>
              </a:ext>
            </a:extLst>
          </p:cNvPr>
          <p:cNvGrpSpPr>
            <a:grpSpLocks/>
          </p:cNvGrpSpPr>
          <p:nvPr/>
        </p:nvGrpSpPr>
        <p:grpSpPr bwMode="auto">
          <a:xfrm>
            <a:off x="1498600" y="2219325"/>
            <a:ext cx="2043113" cy="523875"/>
            <a:chOff x="5529239" y="1268474"/>
            <a:chExt cx="2042328" cy="523220"/>
          </a:xfrm>
        </p:grpSpPr>
        <p:sp>
          <p:nvSpPr>
            <p:cNvPr id="20566" name="TextBox 104">
              <a:extLst>
                <a:ext uri="{FF2B5EF4-FFF2-40B4-BE49-F238E27FC236}">
                  <a16:creationId xmlns:a16="http://schemas.microsoft.com/office/drawing/2014/main" id="{68005611-8BBE-4100-9E6D-49247DD23612}"/>
                </a:ext>
              </a:extLst>
            </p:cNvPr>
            <p:cNvSpPr txBox="1">
              <a:spLocks noChangeArrowheads="1"/>
            </p:cNvSpPr>
            <p:nvPr/>
          </p:nvSpPr>
          <p:spPr bwMode="auto">
            <a:xfrm>
              <a:off x="6037780" y="1268474"/>
              <a:ext cx="1533787"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John’s consumer</a:t>
              </a:r>
            </a:p>
            <a:p>
              <a:pPr algn="ctr" eaLnBrk="1" hangingPunct="1"/>
              <a:r>
                <a:rPr lang="en-US" altLang="en-US" sz="1400">
                  <a:solidFill>
                    <a:srgbClr val="800080"/>
                  </a:solidFill>
                </a:rPr>
                <a:t>surplus ($20)</a:t>
              </a:r>
            </a:p>
          </p:txBody>
        </p:sp>
        <p:cxnSp>
          <p:nvCxnSpPr>
            <p:cNvPr id="41" name="Straight Connector 40">
              <a:extLst>
                <a:ext uri="{FF2B5EF4-FFF2-40B4-BE49-F238E27FC236}">
                  <a16:creationId xmlns:a16="http://schemas.microsoft.com/office/drawing/2014/main" id="{9035A1CA-6DFA-484C-8AB6-31B9FF96B55C}"/>
                </a:ext>
              </a:extLst>
            </p:cNvPr>
            <p:cNvCxnSpPr/>
            <p:nvPr/>
          </p:nvCxnSpPr>
          <p:spPr>
            <a:xfrm flipV="1">
              <a:off x="5529239" y="1525327"/>
              <a:ext cx="558585" cy="250511"/>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42" name="Group 67">
            <a:extLst>
              <a:ext uri="{FF2B5EF4-FFF2-40B4-BE49-F238E27FC236}">
                <a16:creationId xmlns:a16="http://schemas.microsoft.com/office/drawing/2014/main" id="{B4741E2D-D8B5-408A-A9B4-7F659250FCE5}"/>
              </a:ext>
            </a:extLst>
          </p:cNvPr>
          <p:cNvGrpSpPr>
            <a:grpSpLocks/>
          </p:cNvGrpSpPr>
          <p:nvPr/>
        </p:nvGrpSpPr>
        <p:grpSpPr bwMode="auto">
          <a:xfrm>
            <a:off x="903288" y="1889125"/>
            <a:ext cx="2774950" cy="3360738"/>
            <a:chOff x="1805049" y="1888970"/>
            <a:chExt cx="2775176" cy="3360716"/>
          </a:xfrm>
        </p:grpSpPr>
        <p:grpSp>
          <p:nvGrpSpPr>
            <p:cNvPr id="20555" name="Group 41">
              <a:extLst>
                <a:ext uri="{FF2B5EF4-FFF2-40B4-BE49-F238E27FC236}">
                  <a16:creationId xmlns:a16="http://schemas.microsoft.com/office/drawing/2014/main" id="{B852D4EF-A7CF-456D-8CC7-5A77C87F2783}"/>
                </a:ext>
              </a:extLst>
            </p:cNvPr>
            <p:cNvGrpSpPr>
              <a:grpSpLocks/>
            </p:cNvGrpSpPr>
            <p:nvPr/>
          </p:nvGrpSpPr>
          <p:grpSpPr bwMode="auto">
            <a:xfrm>
              <a:off x="1805049" y="1888970"/>
              <a:ext cx="2775176" cy="3360716"/>
              <a:chOff x="1828800" y="1912721"/>
              <a:chExt cx="2775176" cy="3360716"/>
            </a:xfrm>
          </p:grpSpPr>
          <p:cxnSp>
            <p:nvCxnSpPr>
              <p:cNvPr id="43" name="Straight Connector 42">
                <a:extLst>
                  <a:ext uri="{FF2B5EF4-FFF2-40B4-BE49-F238E27FC236}">
                    <a16:creationId xmlns:a16="http://schemas.microsoft.com/office/drawing/2014/main" id="{2C727E46-30A8-4DB0-BED1-14C2A739625E}"/>
                  </a:ext>
                </a:extLst>
              </p:cNvPr>
              <p:cNvCxnSpPr/>
              <p:nvPr/>
            </p:nvCxnSpPr>
            <p:spPr>
              <a:xfrm>
                <a:off x="1828800" y="2517555"/>
                <a:ext cx="720784" cy="3175"/>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CD73C55-BFCD-48AA-8A3D-7420DE68AA38}"/>
                  </a:ext>
                </a:extLst>
              </p:cNvPr>
              <p:cNvCxnSpPr/>
              <p:nvPr/>
            </p:nvCxnSpPr>
            <p:spPr>
              <a:xfrm flipV="1">
                <a:off x="2521006" y="2981102"/>
                <a:ext cx="708083" cy="158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2D7ECCE-FD26-4FE9-826A-EA5BFE09A309}"/>
                  </a:ext>
                </a:extLst>
              </p:cNvPr>
              <p:cNvCxnSpPr/>
              <p:nvPr/>
            </p:nvCxnSpPr>
            <p:spPr>
              <a:xfrm>
                <a:off x="3214800" y="3195413"/>
                <a:ext cx="668392"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B3835F6-6C72-48BF-89FF-B2F600531C21}"/>
                  </a:ext>
                </a:extLst>
              </p:cNvPr>
              <p:cNvCxnSpPr/>
              <p:nvPr/>
            </p:nvCxnSpPr>
            <p:spPr>
              <a:xfrm flipV="1">
                <a:off x="3867316" y="3920896"/>
                <a:ext cx="736660" cy="0"/>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5646936-57E6-427F-BA5B-557F09C72FC7}"/>
                  </a:ext>
                </a:extLst>
              </p:cNvPr>
              <p:cNvCxnSpPr/>
              <p:nvPr/>
            </p:nvCxnSpPr>
            <p:spPr>
              <a:xfrm rot="5400000">
                <a:off x="3918180" y="4595578"/>
                <a:ext cx="1354129" cy="158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10D32F1-9B99-4DA0-B073-A6735CBA05FE}"/>
                  </a:ext>
                </a:extLst>
              </p:cNvPr>
              <p:cNvCxnSpPr/>
              <p:nvPr/>
            </p:nvCxnSpPr>
            <p:spPr>
              <a:xfrm rot="5400000" flipH="1" flipV="1">
                <a:off x="3533151" y="3550217"/>
                <a:ext cx="711195" cy="4762"/>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528A905-CE45-4326-A44C-7EAF7ADA1CE5}"/>
                  </a:ext>
                </a:extLst>
              </p:cNvPr>
              <p:cNvCxnSpPr/>
              <p:nvPr/>
            </p:nvCxnSpPr>
            <p:spPr>
              <a:xfrm rot="5400000" flipH="1" flipV="1">
                <a:off x="3123521" y="3075557"/>
                <a:ext cx="212724" cy="158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2A8F257-26D7-41B9-9AD4-2FD61E7A89CF}"/>
                  </a:ext>
                </a:extLst>
              </p:cNvPr>
              <p:cNvCxnSpPr/>
              <p:nvPr/>
            </p:nvCxnSpPr>
            <p:spPr>
              <a:xfrm rot="5400000" flipH="1" flipV="1">
                <a:off x="2304315" y="2740597"/>
                <a:ext cx="450847"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79BD569-8D39-4051-8263-E18B1B0DF06A}"/>
                  </a:ext>
                </a:extLst>
              </p:cNvPr>
              <p:cNvCxnSpPr/>
              <p:nvPr/>
            </p:nvCxnSpPr>
            <p:spPr>
              <a:xfrm rot="5400000" flipH="1" flipV="1">
                <a:off x="1554960" y="2208788"/>
                <a:ext cx="593721" cy="158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grpSp>
        <p:sp>
          <p:nvSpPr>
            <p:cNvPr id="20556" name="TextBox 23">
              <a:extLst>
                <a:ext uri="{FF2B5EF4-FFF2-40B4-BE49-F238E27FC236}">
                  <a16:creationId xmlns:a16="http://schemas.microsoft.com/office/drawing/2014/main" id="{555E5818-B6D4-40D6-AF04-A47E9DF67C6E}"/>
                </a:ext>
              </a:extLst>
            </p:cNvPr>
            <p:cNvSpPr txBox="1">
              <a:spLocks noChangeArrowheads="1"/>
            </p:cNvSpPr>
            <p:nvPr/>
          </p:nvSpPr>
          <p:spPr bwMode="auto">
            <a:xfrm>
              <a:off x="3488376" y="4704968"/>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Demand</a:t>
              </a:r>
            </a:p>
          </p:txBody>
        </p:sp>
      </p:grpSp>
      <p:sp>
        <p:nvSpPr>
          <p:cNvPr id="69" name="TextBox 8">
            <a:extLst>
              <a:ext uri="{FF2B5EF4-FFF2-40B4-BE49-F238E27FC236}">
                <a16:creationId xmlns:a16="http://schemas.microsoft.com/office/drawing/2014/main" id="{26ADB124-E982-4AFA-A393-104896A29037}"/>
              </a:ext>
            </a:extLst>
          </p:cNvPr>
          <p:cNvSpPr txBox="1">
            <a:spLocks noChangeArrowheads="1"/>
          </p:cNvSpPr>
          <p:nvPr/>
        </p:nvSpPr>
        <p:spPr bwMode="auto">
          <a:xfrm>
            <a:off x="1673225" y="1227138"/>
            <a:ext cx="1746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(a) Price = $80</a:t>
            </a:r>
          </a:p>
        </p:txBody>
      </p:sp>
      <p:cxnSp>
        <p:nvCxnSpPr>
          <p:cNvPr id="71" name="Straight Connector 70">
            <a:extLst>
              <a:ext uri="{FF2B5EF4-FFF2-40B4-BE49-F238E27FC236}">
                <a16:creationId xmlns:a16="http://schemas.microsoft.com/office/drawing/2014/main" id="{B6E2AD75-531D-4726-9D02-660A768F6F36}"/>
              </a:ext>
            </a:extLst>
          </p:cNvPr>
          <p:cNvCxnSpPr/>
          <p:nvPr/>
        </p:nvCxnSpPr>
        <p:spPr>
          <a:xfrm rot="10800000">
            <a:off x="925513" y="2968625"/>
            <a:ext cx="677862"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53" name="Group 75">
            <a:extLst>
              <a:ext uri="{FF2B5EF4-FFF2-40B4-BE49-F238E27FC236}">
                <a16:creationId xmlns:a16="http://schemas.microsoft.com/office/drawing/2014/main" id="{A5105245-6E14-4F1A-A793-1962AF27AFE8}"/>
              </a:ext>
            </a:extLst>
          </p:cNvPr>
          <p:cNvGrpSpPr>
            <a:grpSpLocks/>
          </p:cNvGrpSpPr>
          <p:nvPr/>
        </p:nvGrpSpPr>
        <p:grpSpPr bwMode="auto">
          <a:xfrm>
            <a:off x="4664075" y="1433513"/>
            <a:ext cx="4252913" cy="3833812"/>
            <a:chOff x="925805" y="1434925"/>
            <a:chExt cx="4251838" cy="3833813"/>
          </a:xfrm>
        </p:grpSpPr>
        <p:sp>
          <p:nvSpPr>
            <p:cNvPr id="77" name="Rectangle 76">
              <a:extLst>
                <a:ext uri="{FF2B5EF4-FFF2-40B4-BE49-F238E27FC236}">
                  <a16:creationId xmlns:a16="http://schemas.microsoft.com/office/drawing/2014/main" id="{D0138417-58C1-4330-A0BF-D59D5F0B4D77}"/>
                </a:ext>
              </a:extLst>
            </p:cNvPr>
            <p:cNvSpPr/>
            <p:nvPr/>
          </p:nvSpPr>
          <p:spPr>
            <a:xfrm>
              <a:off x="1828865" y="1839737"/>
              <a:ext cx="3348778" cy="3429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20540" name="Group 48">
              <a:extLst>
                <a:ext uri="{FF2B5EF4-FFF2-40B4-BE49-F238E27FC236}">
                  <a16:creationId xmlns:a16="http://schemas.microsoft.com/office/drawing/2014/main" id="{FF8A3BFC-E528-4CDD-9F73-9E3A9B2C2D15}"/>
                </a:ext>
              </a:extLst>
            </p:cNvPr>
            <p:cNvGrpSpPr>
              <a:grpSpLocks/>
            </p:cNvGrpSpPr>
            <p:nvPr/>
          </p:nvGrpSpPr>
          <p:grpSpPr bwMode="auto">
            <a:xfrm>
              <a:off x="925805" y="1434925"/>
              <a:ext cx="1055382" cy="3822699"/>
              <a:chOff x="3668765" y="978932"/>
              <a:chExt cx="1055382" cy="3822461"/>
            </a:xfrm>
          </p:grpSpPr>
          <p:cxnSp>
            <p:nvCxnSpPr>
              <p:cNvPr id="79" name="Straight Connector 78">
                <a:extLst>
                  <a:ext uri="{FF2B5EF4-FFF2-40B4-BE49-F238E27FC236}">
                    <a16:creationId xmlns:a16="http://schemas.microsoft.com/office/drawing/2014/main" id="{C63028C1-561F-4ECF-A341-FBF9832F2B29}"/>
                  </a:ext>
                </a:extLst>
              </p:cNvPr>
              <p:cNvCxnSpPr/>
              <p:nvPr/>
            </p:nvCxnSpPr>
            <p:spPr>
              <a:xfrm rot="5400000">
                <a:off x="2896322" y="3124305"/>
                <a:ext cx="3352592"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542" name="Group 56">
                <a:extLst>
                  <a:ext uri="{FF2B5EF4-FFF2-40B4-BE49-F238E27FC236}">
                    <a16:creationId xmlns:a16="http://schemas.microsoft.com/office/drawing/2014/main" id="{2A6E5307-D03B-41BD-8C1A-8F1D0E2F9588}"/>
                  </a:ext>
                </a:extLst>
              </p:cNvPr>
              <p:cNvGrpSpPr>
                <a:grpSpLocks/>
              </p:cNvGrpSpPr>
              <p:nvPr/>
            </p:nvGrpSpPr>
            <p:grpSpPr bwMode="auto">
              <a:xfrm>
                <a:off x="3857499" y="1828800"/>
                <a:ext cx="866648" cy="369309"/>
                <a:chOff x="5991352" y="2286000"/>
                <a:chExt cx="866648" cy="369309"/>
              </a:xfrm>
            </p:grpSpPr>
            <p:sp>
              <p:nvSpPr>
                <p:cNvPr id="20553" name="TextBox 53">
                  <a:extLst>
                    <a:ext uri="{FF2B5EF4-FFF2-40B4-BE49-F238E27FC236}">
                      <a16:creationId xmlns:a16="http://schemas.microsoft.com/office/drawing/2014/main" id="{55D24AC8-5B17-4650-8AF7-7780C3D49A85}"/>
                    </a:ext>
                  </a:extLst>
                </p:cNvPr>
                <p:cNvSpPr txBox="1">
                  <a:spLocks noChangeArrowheads="1"/>
                </p:cNvSpPr>
                <p:nvPr/>
              </p:nvSpPr>
              <p:spPr bwMode="auto">
                <a:xfrm>
                  <a:off x="5991352" y="2286000"/>
                  <a:ext cx="69762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$100</a:t>
                  </a:r>
                </a:p>
              </p:txBody>
            </p:sp>
            <p:cxnSp>
              <p:nvCxnSpPr>
                <p:cNvPr id="92" name="Straight Connector 55">
                  <a:extLst>
                    <a:ext uri="{FF2B5EF4-FFF2-40B4-BE49-F238E27FC236}">
                      <a16:creationId xmlns:a16="http://schemas.microsoft.com/office/drawing/2014/main" id="{BD4A3B0B-B0B2-4BE6-948F-94969B30B0A2}"/>
                    </a:ext>
                  </a:extLst>
                </p:cNvPr>
                <p:cNvCxnSpPr/>
                <p:nvPr/>
              </p:nvCxnSpPr>
              <p:spPr>
                <a:xfrm>
                  <a:off x="6705677" y="2513977"/>
                  <a:ext cx="152361"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43" name="Group 57">
                <a:extLst>
                  <a:ext uri="{FF2B5EF4-FFF2-40B4-BE49-F238E27FC236}">
                    <a16:creationId xmlns:a16="http://schemas.microsoft.com/office/drawing/2014/main" id="{520EE1BA-F0A1-4236-965D-F4D9E160CA15}"/>
                  </a:ext>
                </a:extLst>
              </p:cNvPr>
              <p:cNvGrpSpPr>
                <a:grpSpLocks/>
              </p:cNvGrpSpPr>
              <p:nvPr/>
            </p:nvGrpSpPr>
            <p:grpSpPr bwMode="auto">
              <a:xfrm>
                <a:off x="4113980" y="2297668"/>
                <a:ext cx="610167" cy="369309"/>
                <a:chOff x="6247833" y="2286000"/>
                <a:chExt cx="610167" cy="369309"/>
              </a:xfrm>
            </p:grpSpPr>
            <p:sp>
              <p:nvSpPr>
                <p:cNvPr id="20551" name="TextBox 58">
                  <a:extLst>
                    <a:ext uri="{FF2B5EF4-FFF2-40B4-BE49-F238E27FC236}">
                      <a16:creationId xmlns:a16="http://schemas.microsoft.com/office/drawing/2014/main" id="{7F9D6D4A-8F26-487B-B87E-FBBB647E33E9}"/>
                    </a:ext>
                  </a:extLst>
                </p:cNvPr>
                <p:cNvSpPr txBox="1">
                  <a:spLocks noChangeArrowheads="1"/>
                </p:cNvSpPr>
                <p:nvPr/>
              </p:nvSpPr>
              <p:spPr bwMode="auto">
                <a:xfrm>
                  <a:off x="6247833" y="2286000"/>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80</a:t>
                  </a:r>
                </a:p>
              </p:txBody>
            </p:sp>
            <p:cxnSp>
              <p:nvCxnSpPr>
                <p:cNvPr id="90" name="Straight Connector 89">
                  <a:extLst>
                    <a:ext uri="{FF2B5EF4-FFF2-40B4-BE49-F238E27FC236}">
                      <a16:creationId xmlns:a16="http://schemas.microsoft.com/office/drawing/2014/main" id="{ECD1C261-031B-48C6-8369-37802E4449AA}"/>
                    </a:ext>
                  </a:extLst>
                </p:cNvPr>
                <p:cNvCxnSpPr/>
                <p:nvPr/>
              </p:nvCxnSpPr>
              <p:spPr>
                <a:xfrm>
                  <a:off x="6705677" y="2502281"/>
                  <a:ext cx="152362"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44" name="Group 60">
                <a:extLst>
                  <a:ext uri="{FF2B5EF4-FFF2-40B4-BE49-F238E27FC236}">
                    <a16:creationId xmlns:a16="http://schemas.microsoft.com/office/drawing/2014/main" id="{0B1B946B-A803-4178-B0F0-31A6AD2993C6}"/>
                  </a:ext>
                </a:extLst>
              </p:cNvPr>
              <p:cNvGrpSpPr>
                <a:grpSpLocks/>
              </p:cNvGrpSpPr>
              <p:nvPr/>
            </p:nvGrpSpPr>
            <p:grpSpPr bwMode="auto">
              <a:xfrm>
                <a:off x="4113980" y="2564881"/>
                <a:ext cx="610167" cy="369309"/>
                <a:chOff x="6247833" y="2096013"/>
                <a:chExt cx="610167" cy="369309"/>
              </a:xfrm>
            </p:grpSpPr>
            <p:sp>
              <p:nvSpPr>
                <p:cNvPr id="20549" name="TextBox 63">
                  <a:extLst>
                    <a:ext uri="{FF2B5EF4-FFF2-40B4-BE49-F238E27FC236}">
                      <a16:creationId xmlns:a16="http://schemas.microsoft.com/office/drawing/2014/main" id="{1C31E32A-D215-4217-9CC6-8CC04D81E90D}"/>
                    </a:ext>
                  </a:extLst>
                </p:cNvPr>
                <p:cNvSpPr txBox="1">
                  <a:spLocks noChangeArrowheads="1"/>
                </p:cNvSpPr>
                <p:nvPr/>
              </p:nvSpPr>
              <p:spPr bwMode="auto">
                <a:xfrm>
                  <a:off x="6247833" y="2096013"/>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70</a:t>
                  </a:r>
                </a:p>
              </p:txBody>
            </p:sp>
            <p:cxnSp>
              <p:nvCxnSpPr>
                <p:cNvPr id="88" name="Straight Connector 87">
                  <a:extLst>
                    <a:ext uri="{FF2B5EF4-FFF2-40B4-BE49-F238E27FC236}">
                      <a16:creationId xmlns:a16="http://schemas.microsoft.com/office/drawing/2014/main" id="{160963FD-DAB2-438F-A6A9-300850A6127C}"/>
                    </a:ext>
                  </a:extLst>
                </p:cNvPr>
                <p:cNvCxnSpPr/>
                <p:nvPr/>
              </p:nvCxnSpPr>
              <p:spPr>
                <a:xfrm>
                  <a:off x="6705677" y="2276842"/>
                  <a:ext cx="152362"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45" name="Group 63">
                <a:extLst>
                  <a:ext uri="{FF2B5EF4-FFF2-40B4-BE49-F238E27FC236}">
                    <a16:creationId xmlns:a16="http://schemas.microsoft.com/office/drawing/2014/main" id="{C13C2F3D-930B-4892-B799-ACB615828C1C}"/>
                  </a:ext>
                </a:extLst>
              </p:cNvPr>
              <p:cNvGrpSpPr>
                <a:grpSpLocks/>
              </p:cNvGrpSpPr>
              <p:nvPr/>
            </p:nvGrpSpPr>
            <p:grpSpPr bwMode="auto">
              <a:xfrm>
                <a:off x="4113980" y="3212068"/>
                <a:ext cx="610167" cy="369309"/>
                <a:chOff x="6247833" y="2286000"/>
                <a:chExt cx="610167" cy="369309"/>
              </a:xfrm>
            </p:grpSpPr>
            <p:sp>
              <p:nvSpPr>
                <p:cNvPr id="20547" name="TextBox 61">
                  <a:extLst>
                    <a:ext uri="{FF2B5EF4-FFF2-40B4-BE49-F238E27FC236}">
                      <a16:creationId xmlns:a16="http://schemas.microsoft.com/office/drawing/2014/main" id="{0CE1F03A-4CEA-4D12-B863-FF4276AB3B38}"/>
                    </a:ext>
                  </a:extLst>
                </p:cNvPr>
                <p:cNvSpPr txBox="1">
                  <a:spLocks noChangeArrowheads="1"/>
                </p:cNvSpPr>
                <p:nvPr/>
              </p:nvSpPr>
              <p:spPr bwMode="auto">
                <a:xfrm>
                  <a:off x="6247833" y="2286000"/>
                  <a:ext cx="441145"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50</a:t>
                  </a:r>
                </a:p>
              </p:txBody>
            </p:sp>
            <p:cxnSp>
              <p:nvCxnSpPr>
                <p:cNvPr id="86" name="Straight Connector 85">
                  <a:extLst>
                    <a:ext uri="{FF2B5EF4-FFF2-40B4-BE49-F238E27FC236}">
                      <a16:creationId xmlns:a16="http://schemas.microsoft.com/office/drawing/2014/main" id="{4DD1583E-94C2-4F3D-89A6-405F8EC1BD81}"/>
                    </a:ext>
                  </a:extLst>
                </p:cNvPr>
                <p:cNvCxnSpPr/>
                <p:nvPr/>
              </p:nvCxnSpPr>
              <p:spPr>
                <a:xfrm>
                  <a:off x="6705677" y="2514924"/>
                  <a:ext cx="152362"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546" name="TextBox 56">
                <a:extLst>
                  <a:ext uri="{FF2B5EF4-FFF2-40B4-BE49-F238E27FC236}">
                    <a16:creationId xmlns:a16="http://schemas.microsoft.com/office/drawing/2014/main" id="{D1D03A55-6746-4BC1-955C-2CCFB2DCFDF3}"/>
                  </a:ext>
                </a:extLst>
              </p:cNvPr>
              <p:cNvSpPr txBox="1">
                <a:spLocks noChangeArrowheads="1"/>
              </p:cNvSpPr>
              <p:nvPr/>
            </p:nvSpPr>
            <p:spPr bwMode="auto">
              <a:xfrm>
                <a:off x="3668765" y="978932"/>
                <a:ext cx="966928" cy="646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Price of</a:t>
                </a:r>
              </a:p>
              <a:p>
                <a:pPr algn="r" eaLnBrk="1" hangingPunct="1"/>
                <a:r>
                  <a:rPr lang="en-US" altLang="en-US"/>
                  <a:t>Albums</a:t>
                </a:r>
              </a:p>
            </p:txBody>
          </p:sp>
        </p:grpSp>
      </p:grpSp>
      <p:sp>
        <p:nvSpPr>
          <p:cNvPr id="93" name="Rectangle 92">
            <a:extLst>
              <a:ext uri="{FF2B5EF4-FFF2-40B4-BE49-F238E27FC236}">
                <a16:creationId xmlns:a16="http://schemas.microsoft.com/office/drawing/2014/main" id="{1385A118-807C-4582-9FC2-7BBC2C3A5BB4}"/>
              </a:ext>
            </a:extLst>
          </p:cNvPr>
          <p:cNvSpPr/>
          <p:nvPr/>
        </p:nvSpPr>
        <p:spPr>
          <a:xfrm>
            <a:off x="5588000" y="2503488"/>
            <a:ext cx="657225" cy="690562"/>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9" name="Group 8">
            <a:extLst>
              <a:ext uri="{FF2B5EF4-FFF2-40B4-BE49-F238E27FC236}">
                <a16:creationId xmlns:a16="http://schemas.microsoft.com/office/drawing/2014/main" id="{260CB474-4824-457A-AC6A-698A1BE5C808}"/>
              </a:ext>
            </a:extLst>
          </p:cNvPr>
          <p:cNvGrpSpPr>
            <a:grpSpLocks/>
          </p:cNvGrpSpPr>
          <p:nvPr/>
        </p:nvGrpSpPr>
        <p:grpSpPr bwMode="auto">
          <a:xfrm>
            <a:off x="5338763" y="5114925"/>
            <a:ext cx="3517900" cy="825500"/>
            <a:chOff x="4343400" y="4648200"/>
            <a:chExt cx="3518065" cy="826283"/>
          </a:xfrm>
        </p:grpSpPr>
        <p:cxnSp>
          <p:nvCxnSpPr>
            <p:cNvPr id="95" name="Straight Connector 94">
              <a:extLst>
                <a:ext uri="{FF2B5EF4-FFF2-40B4-BE49-F238E27FC236}">
                  <a16:creationId xmlns:a16="http://schemas.microsoft.com/office/drawing/2014/main" id="{E767F12C-9997-43B4-BD5E-9609FF03FC40}"/>
                </a:ext>
              </a:extLst>
            </p:cNvPr>
            <p:cNvCxnSpPr/>
            <p:nvPr/>
          </p:nvCxnSpPr>
          <p:spPr>
            <a:xfrm>
              <a:off x="4572011" y="4788033"/>
              <a:ext cx="3289454" cy="47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525" name="TextBox 10">
              <a:extLst>
                <a:ext uri="{FF2B5EF4-FFF2-40B4-BE49-F238E27FC236}">
                  <a16:creationId xmlns:a16="http://schemas.microsoft.com/office/drawing/2014/main" id="{AD024339-5388-41A7-91A5-020512CA9A21}"/>
                </a:ext>
              </a:extLst>
            </p:cNvPr>
            <p:cNvSpPr txBox="1">
              <a:spLocks noChangeArrowheads="1"/>
            </p:cNvSpPr>
            <p:nvPr/>
          </p:nvSpPr>
          <p:spPr bwMode="auto">
            <a:xfrm>
              <a:off x="4343400" y="4800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nvGrpSpPr>
            <p:cNvPr id="20526" name="Group 14">
              <a:extLst>
                <a:ext uri="{FF2B5EF4-FFF2-40B4-BE49-F238E27FC236}">
                  <a16:creationId xmlns:a16="http://schemas.microsoft.com/office/drawing/2014/main" id="{54F1B06F-0874-47BA-9EAF-6C3E8B065C42}"/>
                </a:ext>
              </a:extLst>
            </p:cNvPr>
            <p:cNvGrpSpPr>
              <a:grpSpLocks/>
            </p:cNvGrpSpPr>
            <p:nvPr/>
          </p:nvGrpSpPr>
          <p:grpSpPr bwMode="auto">
            <a:xfrm>
              <a:off x="7146000" y="4648200"/>
              <a:ext cx="312906" cy="521483"/>
              <a:chOff x="7146000" y="4648200"/>
              <a:chExt cx="312906" cy="521483"/>
            </a:xfrm>
          </p:grpSpPr>
          <p:cxnSp>
            <p:nvCxnSpPr>
              <p:cNvPr id="108" name="Straight Connector 12">
                <a:extLst>
                  <a:ext uri="{FF2B5EF4-FFF2-40B4-BE49-F238E27FC236}">
                    <a16:creationId xmlns:a16="http://schemas.microsoft.com/office/drawing/2014/main" id="{B2D9FEEC-AE01-420F-AC8D-594578CA89DA}"/>
                  </a:ext>
                </a:extLst>
              </p:cNvPr>
              <p:cNvCxnSpPr/>
              <p:nvPr/>
            </p:nvCxnSpPr>
            <p:spPr>
              <a:xfrm rot="5400000">
                <a:off x="7225572" y="4723678"/>
                <a:ext cx="15254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38" name="TextBox 13">
                <a:extLst>
                  <a:ext uri="{FF2B5EF4-FFF2-40B4-BE49-F238E27FC236}">
                    <a16:creationId xmlns:a16="http://schemas.microsoft.com/office/drawing/2014/main" id="{F4EF0345-D294-4C4B-88E4-423B9A686206}"/>
                  </a:ext>
                </a:extLst>
              </p:cNvPr>
              <p:cNvSpPr txBox="1">
                <a:spLocks noChangeArrowheads="1"/>
              </p:cNvSpPr>
              <p:nvPr/>
            </p:nvSpPr>
            <p:spPr bwMode="auto">
              <a:xfrm>
                <a:off x="7146000"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4</a:t>
                </a:r>
              </a:p>
            </p:txBody>
          </p:sp>
        </p:grpSp>
        <p:grpSp>
          <p:nvGrpSpPr>
            <p:cNvPr id="20527" name="Group 21">
              <a:extLst>
                <a:ext uri="{FF2B5EF4-FFF2-40B4-BE49-F238E27FC236}">
                  <a16:creationId xmlns:a16="http://schemas.microsoft.com/office/drawing/2014/main" id="{75EDC656-7282-4C73-BBA3-B749515F2DFA}"/>
                </a:ext>
              </a:extLst>
            </p:cNvPr>
            <p:cNvGrpSpPr>
              <a:grpSpLocks/>
            </p:cNvGrpSpPr>
            <p:nvPr/>
          </p:nvGrpSpPr>
          <p:grpSpPr bwMode="auto">
            <a:xfrm>
              <a:off x="6477819" y="4648200"/>
              <a:ext cx="312906" cy="521483"/>
              <a:chOff x="7392219" y="4648200"/>
              <a:chExt cx="312906" cy="521483"/>
            </a:xfrm>
          </p:grpSpPr>
          <p:cxnSp>
            <p:nvCxnSpPr>
              <p:cNvPr id="106" name="Straight Connector 22">
                <a:extLst>
                  <a:ext uri="{FF2B5EF4-FFF2-40B4-BE49-F238E27FC236}">
                    <a16:creationId xmlns:a16="http://schemas.microsoft.com/office/drawing/2014/main" id="{50A6C97F-150A-46FB-8164-CA154ED1C756}"/>
                  </a:ext>
                </a:extLst>
              </p:cNvPr>
              <p:cNvCxnSpPr/>
              <p:nvPr/>
            </p:nvCxnSpPr>
            <p:spPr>
              <a:xfrm rot="5400000">
                <a:off x="7463666" y="4723678"/>
                <a:ext cx="15254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36" name="TextBox 41">
                <a:extLst>
                  <a:ext uri="{FF2B5EF4-FFF2-40B4-BE49-F238E27FC236}">
                    <a16:creationId xmlns:a16="http://schemas.microsoft.com/office/drawing/2014/main" id="{4D0E9A69-C05C-4242-82FE-84023921BE7D}"/>
                  </a:ext>
                </a:extLst>
              </p:cNvPr>
              <p:cNvSpPr txBox="1">
                <a:spLocks noChangeArrowheads="1"/>
              </p:cNvSpPr>
              <p:nvPr/>
            </p:nvSpPr>
            <p:spPr bwMode="auto">
              <a:xfrm>
                <a:off x="739221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3</a:t>
                </a:r>
              </a:p>
            </p:txBody>
          </p:sp>
        </p:grpSp>
        <p:grpSp>
          <p:nvGrpSpPr>
            <p:cNvPr id="20528" name="Group 33">
              <a:extLst>
                <a:ext uri="{FF2B5EF4-FFF2-40B4-BE49-F238E27FC236}">
                  <a16:creationId xmlns:a16="http://schemas.microsoft.com/office/drawing/2014/main" id="{7596C535-6AD1-4C21-A07C-0ACD455F6B72}"/>
                </a:ext>
              </a:extLst>
            </p:cNvPr>
            <p:cNvGrpSpPr>
              <a:grpSpLocks/>
            </p:cNvGrpSpPr>
            <p:nvPr/>
          </p:nvGrpSpPr>
          <p:grpSpPr bwMode="auto">
            <a:xfrm>
              <a:off x="5100269" y="4648200"/>
              <a:ext cx="312906" cy="521483"/>
              <a:chOff x="7843469" y="4648200"/>
              <a:chExt cx="312906" cy="521483"/>
            </a:xfrm>
          </p:grpSpPr>
          <p:cxnSp>
            <p:nvCxnSpPr>
              <p:cNvPr id="104" name="Straight Connector 103">
                <a:extLst>
                  <a:ext uri="{FF2B5EF4-FFF2-40B4-BE49-F238E27FC236}">
                    <a16:creationId xmlns:a16="http://schemas.microsoft.com/office/drawing/2014/main" id="{762A308C-5B8E-47D0-A6C3-46E9C4558503}"/>
                  </a:ext>
                </a:extLst>
              </p:cNvPr>
              <p:cNvCxnSpPr/>
              <p:nvPr/>
            </p:nvCxnSpPr>
            <p:spPr>
              <a:xfrm rot="5400000">
                <a:off x="7916039" y="4723678"/>
                <a:ext cx="1525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34" name="TextBox 35">
                <a:extLst>
                  <a:ext uri="{FF2B5EF4-FFF2-40B4-BE49-F238E27FC236}">
                    <a16:creationId xmlns:a16="http://schemas.microsoft.com/office/drawing/2014/main" id="{D235A273-CAD8-4546-BD27-B49517CFB2D0}"/>
                  </a:ext>
                </a:extLst>
              </p:cNvPr>
              <p:cNvSpPr txBox="1">
                <a:spLocks noChangeArrowheads="1"/>
              </p:cNvSpPr>
              <p:nvPr/>
            </p:nvSpPr>
            <p:spPr bwMode="auto">
              <a:xfrm>
                <a:off x="784346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grpSp>
        <p:grpSp>
          <p:nvGrpSpPr>
            <p:cNvPr id="20529" name="Group 42">
              <a:extLst>
                <a:ext uri="{FF2B5EF4-FFF2-40B4-BE49-F238E27FC236}">
                  <a16:creationId xmlns:a16="http://schemas.microsoft.com/office/drawing/2014/main" id="{5BD45C4E-0538-4395-A255-68BF4F5DADFC}"/>
                </a:ext>
              </a:extLst>
            </p:cNvPr>
            <p:cNvGrpSpPr>
              <a:grpSpLocks/>
            </p:cNvGrpSpPr>
            <p:nvPr/>
          </p:nvGrpSpPr>
          <p:grpSpPr bwMode="auto">
            <a:xfrm>
              <a:off x="5789044" y="4648200"/>
              <a:ext cx="312906" cy="521483"/>
              <a:chOff x="7617844" y="4648200"/>
              <a:chExt cx="312906" cy="521483"/>
            </a:xfrm>
          </p:grpSpPr>
          <p:cxnSp>
            <p:nvCxnSpPr>
              <p:cNvPr id="102" name="Straight Connector 101">
                <a:extLst>
                  <a:ext uri="{FF2B5EF4-FFF2-40B4-BE49-F238E27FC236}">
                    <a16:creationId xmlns:a16="http://schemas.microsoft.com/office/drawing/2014/main" id="{5121EC94-5903-40EE-8540-E1942513F146}"/>
                  </a:ext>
                </a:extLst>
              </p:cNvPr>
              <p:cNvCxnSpPr/>
              <p:nvPr/>
            </p:nvCxnSpPr>
            <p:spPr>
              <a:xfrm rot="5400000">
                <a:off x="7690647" y="4723678"/>
                <a:ext cx="1525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532" name="TextBox 29">
                <a:extLst>
                  <a:ext uri="{FF2B5EF4-FFF2-40B4-BE49-F238E27FC236}">
                    <a16:creationId xmlns:a16="http://schemas.microsoft.com/office/drawing/2014/main" id="{38258FBB-4DAF-4248-AC1A-E8F4138A1AA3}"/>
                  </a:ext>
                </a:extLst>
              </p:cNvPr>
              <p:cNvSpPr txBox="1">
                <a:spLocks noChangeArrowheads="1"/>
              </p:cNvSpPr>
              <p:nvPr/>
            </p:nvSpPr>
            <p:spPr bwMode="auto">
              <a:xfrm>
                <a:off x="761784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p>
            </p:txBody>
          </p:sp>
        </p:grpSp>
        <p:sp>
          <p:nvSpPr>
            <p:cNvPr id="20530" name="TextBox 23">
              <a:extLst>
                <a:ext uri="{FF2B5EF4-FFF2-40B4-BE49-F238E27FC236}">
                  <a16:creationId xmlns:a16="http://schemas.microsoft.com/office/drawing/2014/main" id="{225164F4-82E7-4A25-B58B-9A327D860708}"/>
                </a:ext>
              </a:extLst>
            </p:cNvPr>
            <p:cNvSpPr txBox="1">
              <a:spLocks noChangeArrowheads="1"/>
            </p:cNvSpPr>
            <p:nvPr/>
          </p:nvSpPr>
          <p:spPr bwMode="auto">
            <a:xfrm>
              <a:off x="5521036" y="5105399"/>
              <a:ext cx="2121158"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Quantity of Albums</a:t>
              </a:r>
            </a:p>
          </p:txBody>
        </p:sp>
      </p:grpSp>
      <p:grpSp>
        <p:nvGrpSpPr>
          <p:cNvPr id="64" name="Group 103">
            <a:extLst>
              <a:ext uri="{FF2B5EF4-FFF2-40B4-BE49-F238E27FC236}">
                <a16:creationId xmlns:a16="http://schemas.microsoft.com/office/drawing/2014/main" id="{B76FF0A2-B446-41DE-97B3-329C1FD54BF4}"/>
              </a:ext>
            </a:extLst>
          </p:cNvPr>
          <p:cNvGrpSpPr>
            <a:grpSpLocks/>
          </p:cNvGrpSpPr>
          <p:nvPr/>
        </p:nvGrpSpPr>
        <p:grpSpPr bwMode="auto">
          <a:xfrm>
            <a:off x="6140450" y="1984375"/>
            <a:ext cx="1905000" cy="739775"/>
            <a:chOff x="5529239" y="1035302"/>
            <a:chExt cx="1905216" cy="739793"/>
          </a:xfrm>
        </p:grpSpPr>
        <p:sp>
          <p:nvSpPr>
            <p:cNvPr id="20522" name="TextBox 104">
              <a:extLst>
                <a:ext uri="{FF2B5EF4-FFF2-40B4-BE49-F238E27FC236}">
                  <a16:creationId xmlns:a16="http://schemas.microsoft.com/office/drawing/2014/main" id="{D76900AC-92AD-4F40-9B4A-A72A3850682A}"/>
                </a:ext>
              </a:extLst>
            </p:cNvPr>
            <p:cNvSpPr txBox="1">
              <a:spLocks noChangeArrowheads="1"/>
            </p:cNvSpPr>
            <p:nvPr/>
          </p:nvSpPr>
          <p:spPr bwMode="auto">
            <a:xfrm>
              <a:off x="5900668" y="1035302"/>
              <a:ext cx="1533787"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John’s consumer</a:t>
              </a:r>
            </a:p>
            <a:p>
              <a:pPr algn="ctr" eaLnBrk="1" hangingPunct="1"/>
              <a:r>
                <a:rPr lang="en-US" altLang="en-US" sz="1400">
                  <a:solidFill>
                    <a:srgbClr val="800080"/>
                  </a:solidFill>
                </a:rPr>
                <a:t>surplus ($30)</a:t>
              </a:r>
            </a:p>
          </p:txBody>
        </p:sp>
        <p:cxnSp>
          <p:nvCxnSpPr>
            <p:cNvPr id="112" name="Straight Connector 111">
              <a:extLst>
                <a:ext uri="{FF2B5EF4-FFF2-40B4-BE49-F238E27FC236}">
                  <a16:creationId xmlns:a16="http://schemas.microsoft.com/office/drawing/2014/main" id="{D6E8FCF8-8367-493E-A33D-CDFAB7EDA031}"/>
                </a:ext>
              </a:extLst>
            </p:cNvPr>
            <p:cNvCxnSpPr/>
            <p:nvPr/>
          </p:nvCxnSpPr>
          <p:spPr>
            <a:xfrm flipV="1">
              <a:off x="5529239" y="1525852"/>
              <a:ext cx="557276" cy="249243"/>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sp>
        <p:nvSpPr>
          <p:cNvPr id="125" name="TextBox 8">
            <a:extLst>
              <a:ext uri="{FF2B5EF4-FFF2-40B4-BE49-F238E27FC236}">
                <a16:creationId xmlns:a16="http://schemas.microsoft.com/office/drawing/2014/main" id="{A91C447E-AC55-4112-8E9E-79AD7D93BBAA}"/>
              </a:ext>
            </a:extLst>
          </p:cNvPr>
          <p:cNvSpPr txBox="1">
            <a:spLocks noChangeArrowheads="1"/>
          </p:cNvSpPr>
          <p:nvPr/>
        </p:nvSpPr>
        <p:spPr bwMode="auto">
          <a:xfrm>
            <a:off x="6313488" y="1223963"/>
            <a:ext cx="1747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(b) Price = $70</a:t>
            </a:r>
          </a:p>
        </p:txBody>
      </p:sp>
      <p:cxnSp>
        <p:nvCxnSpPr>
          <p:cNvPr id="126" name="Straight Connector 125">
            <a:extLst>
              <a:ext uri="{FF2B5EF4-FFF2-40B4-BE49-F238E27FC236}">
                <a16:creationId xmlns:a16="http://schemas.microsoft.com/office/drawing/2014/main" id="{C2C665D3-2A58-4606-817C-DC3BE2F10382}"/>
              </a:ext>
            </a:extLst>
          </p:cNvPr>
          <p:cNvCxnSpPr/>
          <p:nvPr/>
        </p:nvCxnSpPr>
        <p:spPr>
          <a:xfrm rot="10800000">
            <a:off x="5567363" y="2967038"/>
            <a:ext cx="677862" cy="1587"/>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46DA8E5-2157-474C-A04B-C682E947519A}"/>
              </a:ext>
            </a:extLst>
          </p:cNvPr>
          <p:cNvCxnSpPr/>
          <p:nvPr/>
        </p:nvCxnSpPr>
        <p:spPr>
          <a:xfrm>
            <a:off x="5568950" y="3194050"/>
            <a:ext cx="1377950"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7112A40-76A2-4E0A-A0A0-29BB4252CA86}"/>
              </a:ext>
            </a:extLst>
          </p:cNvPr>
          <p:cNvCxnSpPr/>
          <p:nvPr/>
        </p:nvCxnSpPr>
        <p:spPr>
          <a:xfrm rot="5400000">
            <a:off x="6134101" y="3079750"/>
            <a:ext cx="227012" cy="1587"/>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507115D8-0FD5-43CA-BDB6-DF284547A2ED}"/>
              </a:ext>
            </a:extLst>
          </p:cNvPr>
          <p:cNvSpPr/>
          <p:nvPr/>
        </p:nvSpPr>
        <p:spPr>
          <a:xfrm>
            <a:off x="6275388" y="2990850"/>
            <a:ext cx="676275" cy="19526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65" name="Group 103">
            <a:extLst>
              <a:ext uri="{FF2B5EF4-FFF2-40B4-BE49-F238E27FC236}">
                <a16:creationId xmlns:a16="http://schemas.microsoft.com/office/drawing/2014/main" id="{A8115C8F-9819-4523-BE67-F69A33A3EBB0}"/>
              </a:ext>
            </a:extLst>
          </p:cNvPr>
          <p:cNvGrpSpPr>
            <a:grpSpLocks/>
          </p:cNvGrpSpPr>
          <p:nvPr/>
        </p:nvGrpSpPr>
        <p:grpSpPr bwMode="auto">
          <a:xfrm>
            <a:off x="6604000" y="2557463"/>
            <a:ext cx="2022475" cy="542925"/>
            <a:chOff x="5529239" y="1231898"/>
            <a:chExt cx="2022624" cy="543197"/>
          </a:xfrm>
        </p:grpSpPr>
        <p:sp>
          <p:nvSpPr>
            <p:cNvPr id="20520" name="TextBox 104">
              <a:extLst>
                <a:ext uri="{FF2B5EF4-FFF2-40B4-BE49-F238E27FC236}">
                  <a16:creationId xmlns:a16="http://schemas.microsoft.com/office/drawing/2014/main" id="{54D02253-78E7-4F1A-BD96-A38383910827}"/>
                </a:ext>
              </a:extLst>
            </p:cNvPr>
            <p:cNvSpPr txBox="1">
              <a:spLocks noChangeArrowheads="1"/>
            </p:cNvSpPr>
            <p:nvPr/>
          </p:nvSpPr>
          <p:spPr bwMode="auto">
            <a:xfrm>
              <a:off x="6046919" y="1231898"/>
              <a:ext cx="1504944"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Paul’s consumer</a:t>
              </a:r>
            </a:p>
            <a:p>
              <a:pPr algn="ctr" eaLnBrk="1" hangingPunct="1"/>
              <a:r>
                <a:rPr lang="en-US" altLang="en-US" sz="1400">
                  <a:solidFill>
                    <a:srgbClr val="800080"/>
                  </a:solidFill>
                </a:rPr>
                <a:t>surplus ($10)</a:t>
              </a:r>
            </a:p>
          </p:txBody>
        </p:sp>
        <p:cxnSp>
          <p:nvCxnSpPr>
            <p:cNvPr id="134" name="Straight Connector 133">
              <a:extLst>
                <a:ext uri="{FF2B5EF4-FFF2-40B4-BE49-F238E27FC236}">
                  <a16:creationId xmlns:a16="http://schemas.microsoft.com/office/drawing/2014/main" id="{5743CB41-81B3-412C-A8A7-1805C3B14F26}"/>
                </a:ext>
              </a:extLst>
            </p:cNvPr>
            <p:cNvCxnSpPr/>
            <p:nvPr/>
          </p:nvCxnSpPr>
          <p:spPr>
            <a:xfrm flipV="1">
              <a:off x="5529239" y="1525732"/>
              <a:ext cx="557254" cy="249363"/>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66" name="Group 138">
            <a:extLst>
              <a:ext uri="{FF2B5EF4-FFF2-40B4-BE49-F238E27FC236}">
                <a16:creationId xmlns:a16="http://schemas.microsoft.com/office/drawing/2014/main" id="{EB988CA7-405F-437D-A5E1-554A1A4ACA16}"/>
              </a:ext>
            </a:extLst>
          </p:cNvPr>
          <p:cNvGrpSpPr>
            <a:grpSpLocks/>
          </p:cNvGrpSpPr>
          <p:nvPr/>
        </p:nvGrpSpPr>
        <p:grpSpPr bwMode="auto">
          <a:xfrm>
            <a:off x="5710238" y="3105150"/>
            <a:ext cx="1397000" cy="1357313"/>
            <a:chOff x="5609705" y="2674621"/>
            <a:chExt cx="1397498" cy="1358192"/>
          </a:xfrm>
        </p:grpSpPr>
        <p:grpSp>
          <p:nvGrpSpPr>
            <p:cNvPr id="20516" name="Group 103">
              <a:extLst>
                <a:ext uri="{FF2B5EF4-FFF2-40B4-BE49-F238E27FC236}">
                  <a16:creationId xmlns:a16="http://schemas.microsoft.com/office/drawing/2014/main" id="{2924E9BA-EC76-4EAA-A8E3-084959D3E066}"/>
                </a:ext>
              </a:extLst>
            </p:cNvPr>
            <p:cNvGrpSpPr>
              <a:grpSpLocks/>
            </p:cNvGrpSpPr>
            <p:nvPr/>
          </p:nvGrpSpPr>
          <p:grpSpPr bwMode="auto">
            <a:xfrm>
              <a:off x="5609705" y="2674621"/>
              <a:ext cx="1397498" cy="1358192"/>
              <a:chOff x="5763553" y="529514"/>
              <a:chExt cx="1397002" cy="1358192"/>
            </a:xfrm>
          </p:grpSpPr>
          <p:sp>
            <p:nvSpPr>
              <p:cNvPr id="20518" name="TextBox 104">
                <a:extLst>
                  <a:ext uri="{FF2B5EF4-FFF2-40B4-BE49-F238E27FC236}">
                    <a16:creationId xmlns:a16="http://schemas.microsoft.com/office/drawing/2014/main" id="{20C9BC83-44A4-4B2D-BDBF-8EB5920BC7D7}"/>
                  </a:ext>
                </a:extLst>
              </p:cNvPr>
              <p:cNvSpPr txBox="1">
                <a:spLocks noChangeArrowheads="1"/>
              </p:cNvSpPr>
              <p:nvPr/>
            </p:nvSpPr>
            <p:spPr bwMode="auto">
              <a:xfrm>
                <a:off x="5763553" y="1364486"/>
                <a:ext cx="1397002"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Total consumer</a:t>
                </a:r>
              </a:p>
              <a:p>
                <a:pPr algn="ctr" eaLnBrk="1" hangingPunct="1"/>
                <a:r>
                  <a:rPr lang="en-US" altLang="en-US" sz="1400">
                    <a:solidFill>
                      <a:srgbClr val="800080"/>
                    </a:solidFill>
                  </a:rPr>
                  <a:t>surplus ($40)</a:t>
                </a:r>
              </a:p>
            </p:txBody>
          </p:sp>
          <p:cxnSp>
            <p:nvCxnSpPr>
              <p:cNvPr id="137" name="Straight Connector 136">
                <a:extLst>
                  <a:ext uri="{FF2B5EF4-FFF2-40B4-BE49-F238E27FC236}">
                    <a16:creationId xmlns:a16="http://schemas.microsoft.com/office/drawing/2014/main" id="{79A7848C-56D6-4A78-A5D2-58D5FD3B2EF1}"/>
                  </a:ext>
                </a:extLst>
              </p:cNvPr>
              <p:cNvCxnSpPr/>
              <p:nvPr/>
            </p:nvCxnSpPr>
            <p:spPr>
              <a:xfrm rot="16200000" flipH="1">
                <a:off x="5718036" y="862368"/>
                <a:ext cx="845097" cy="179388"/>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cxnSp>
          <p:nvCxnSpPr>
            <p:cNvPr id="138" name="Straight Connector 137">
              <a:extLst>
                <a:ext uri="{FF2B5EF4-FFF2-40B4-BE49-F238E27FC236}">
                  <a16:creationId xmlns:a16="http://schemas.microsoft.com/office/drawing/2014/main" id="{98909A50-AAFA-4919-BAD8-475A59C2A051}"/>
                </a:ext>
              </a:extLst>
            </p:cNvPr>
            <p:cNvCxnSpPr/>
            <p:nvPr/>
          </p:nvCxnSpPr>
          <p:spPr bwMode="auto">
            <a:xfrm rot="5400000" flipH="1" flipV="1">
              <a:off x="5828740" y="2962188"/>
              <a:ext cx="814914" cy="293792"/>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70" name="Group 112">
            <a:extLst>
              <a:ext uri="{FF2B5EF4-FFF2-40B4-BE49-F238E27FC236}">
                <a16:creationId xmlns:a16="http://schemas.microsoft.com/office/drawing/2014/main" id="{AAE50885-7ABC-4AD7-AF78-B7ADB0F8544E}"/>
              </a:ext>
            </a:extLst>
          </p:cNvPr>
          <p:cNvGrpSpPr>
            <a:grpSpLocks/>
          </p:cNvGrpSpPr>
          <p:nvPr/>
        </p:nvGrpSpPr>
        <p:grpSpPr bwMode="auto">
          <a:xfrm>
            <a:off x="5543550" y="1887538"/>
            <a:ext cx="2774950" cy="3360737"/>
            <a:chOff x="1805049" y="1888970"/>
            <a:chExt cx="2775176" cy="3360716"/>
          </a:xfrm>
        </p:grpSpPr>
        <p:grpSp>
          <p:nvGrpSpPr>
            <p:cNvPr id="20505" name="Group 113">
              <a:extLst>
                <a:ext uri="{FF2B5EF4-FFF2-40B4-BE49-F238E27FC236}">
                  <a16:creationId xmlns:a16="http://schemas.microsoft.com/office/drawing/2014/main" id="{9AB8FDA7-F5E3-44CF-A6D3-9834DA9321D6}"/>
                </a:ext>
              </a:extLst>
            </p:cNvPr>
            <p:cNvGrpSpPr>
              <a:grpSpLocks/>
            </p:cNvGrpSpPr>
            <p:nvPr/>
          </p:nvGrpSpPr>
          <p:grpSpPr bwMode="auto">
            <a:xfrm>
              <a:off x="1805049" y="1888970"/>
              <a:ext cx="2775176" cy="3360716"/>
              <a:chOff x="1828800" y="1912721"/>
              <a:chExt cx="2775176" cy="3360716"/>
            </a:xfrm>
          </p:grpSpPr>
          <p:cxnSp>
            <p:nvCxnSpPr>
              <p:cNvPr id="116" name="Straight Connector 115">
                <a:extLst>
                  <a:ext uri="{FF2B5EF4-FFF2-40B4-BE49-F238E27FC236}">
                    <a16:creationId xmlns:a16="http://schemas.microsoft.com/office/drawing/2014/main" id="{95F897AE-F46D-48CD-8C11-5E6ED142FFFF}"/>
                  </a:ext>
                </a:extLst>
              </p:cNvPr>
              <p:cNvCxnSpPr/>
              <p:nvPr/>
            </p:nvCxnSpPr>
            <p:spPr>
              <a:xfrm>
                <a:off x="1828800" y="2517554"/>
                <a:ext cx="720784" cy="3175"/>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7A756D0-E2A5-42F1-A57C-4A2A0568C990}"/>
                  </a:ext>
                </a:extLst>
              </p:cNvPr>
              <p:cNvCxnSpPr/>
              <p:nvPr/>
            </p:nvCxnSpPr>
            <p:spPr>
              <a:xfrm flipV="1">
                <a:off x="2521006" y="2981101"/>
                <a:ext cx="708083"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E4D9584D-D592-4819-97DD-BAD95ED60E9E}"/>
                  </a:ext>
                </a:extLst>
              </p:cNvPr>
              <p:cNvCxnSpPr/>
              <p:nvPr/>
            </p:nvCxnSpPr>
            <p:spPr>
              <a:xfrm>
                <a:off x="3214801" y="3206525"/>
                <a:ext cx="668391"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639E50A-CD52-4D32-9262-F02460287801}"/>
                  </a:ext>
                </a:extLst>
              </p:cNvPr>
              <p:cNvCxnSpPr/>
              <p:nvPr/>
            </p:nvCxnSpPr>
            <p:spPr>
              <a:xfrm flipV="1">
                <a:off x="3867316" y="3920895"/>
                <a:ext cx="736660" cy="0"/>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BA6C80B-575E-4993-8964-FD40D58C07DA}"/>
                  </a:ext>
                </a:extLst>
              </p:cNvPr>
              <p:cNvCxnSpPr/>
              <p:nvPr/>
            </p:nvCxnSpPr>
            <p:spPr>
              <a:xfrm rot="5400000">
                <a:off x="3918180" y="4595579"/>
                <a:ext cx="1354129"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44ECDFB-5147-4583-9290-5BACAB78C918}"/>
                  </a:ext>
                </a:extLst>
              </p:cNvPr>
              <p:cNvCxnSpPr/>
              <p:nvPr/>
            </p:nvCxnSpPr>
            <p:spPr>
              <a:xfrm rot="5400000" flipH="1" flipV="1">
                <a:off x="3533152" y="3550216"/>
                <a:ext cx="711196" cy="4763"/>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653A008D-1A93-4ED0-AA62-E78FD036B547}"/>
                  </a:ext>
                </a:extLst>
              </p:cNvPr>
              <p:cNvCxnSpPr/>
              <p:nvPr/>
            </p:nvCxnSpPr>
            <p:spPr>
              <a:xfrm rot="5400000" flipH="1" flipV="1">
                <a:off x="3123521" y="3075558"/>
                <a:ext cx="212724"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C7B6184B-E784-4583-80D2-B215CB5A366A}"/>
                  </a:ext>
                </a:extLst>
              </p:cNvPr>
              <p:cNvCxnSpPr/>
              <p:nvPr/>
            </p:nvCxnSpPr>
            <p:spPr>
              <a:xfrm rot="5400000" flipH="1" flipV="1">
                <a:off x="2304315" y="2740597"/>
                <a:ext cx="450847" cy="1587"/>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42C405B-15B6-4EA4-AF98-AE94586CABA7}"/>
                  </a:ext>
                </a:extLst>
              </p:cNvPr>
              <p:cNvCxnSpPr/>
              <p:nvPr/>
            </p:nvCxnSpPr>
            <p:spPr>
              <a:xfrm rot="5400000" flipH="1" flipV="1">
                <a:off x="1554960" y="2208788"/>
                <a:ext cx="593721" cy="158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grpSp>
        <p:sp>
          <p:nvSpPr>
            <p:cNvPr id="20506" name="TextBox 23">
              <a:extLst>
                <a:ext uri="{FF2B5EF4-FFF2-40B4-BE49-F238E27FC236}">
                  <a16:creationId xmlns:a16="http://schemas.microsoft.com/office/drawing/2014/main" id="{61A007BB-4542-4014-9794-FBF49B533866}"/>
                </a:ext>
              </a:extLst>
            </p:cNvPr>
            <p:cNvSpPr txBox="1">
              <a:spLocks noChangeArrowheads="1"/>
            </p:cNvSpPr>
            <p:nvPr/>
          </p:nvSpPr>
          <p:spPr bwMode="auto">
            <a:xfrm>
              <a:off x="3488376" y="4704968"/>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Demand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500"/>
                                        <p:tgtEl>
                                          <p:spTgt spid="6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par>
                                <p:cTn id="12" presetID="22" presetClass="entr" presetSubtype="4"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wipe(left)">
                                      <p:cBhvr>
                                        <p:cTn id="18" dur="1000"/>
                                        <p:tgtEl>
                                          <p:spTgt spid="42"/>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500"/>
                                        <p:tgtEl>
                                          <p:spTgt spid="71"/>
                                        </p:tgtEl>
                                      </p:cBhvr>
                                    </p:animEffect>
                                  </p:childTnLst>
                                </p:cTn>
                              </p:par>
                            </p:childTnLst>
                          </p:cTn>
                        </p:par>
                        <p:par>
                          <p:cTn id="23" fill="hold" nodeType="afterGroup">
                            <p:stCondLst>
                              <p:cond delay="2500"/>
                            </p:stCondLst>
                            <p:childTnLst>
                              <p:par>
                                <p:cTn id="24" presetID="22" presetClass="entr" presetSubtype="8" fill="hold" grpId="0" nodeType="after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wipe(left)">
                                      <p:cBhvr>
                                        <p:cTn id="26" dur="1000"/>
                                        <p:tgtEl>
                                          <p:spTgt spid="75"/>
                                        </p:tgtEl>
                                      </p:cBhvr>
                                    </p:animEffect>
                                  </p:childTnLst>
                                </p:cTn>
                              </p:par>
                            </p:childTnLst>
                          </p:cTn>
                        </p:par>
                        <p:par>
                          <p:cTn id="27" fill="hold" nodeType="afterGroup">
                            <p:stCondLst>
                              <p:cond delay="3500"/>
                            </p:stCondLst>
                            <p:childTnLst>
                              <p:par>
                                <p:cTn id="28" presetID="22" presetClass="entr" presetSubtype="8"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left)">
                                      <p:cBhvr>
                                        <p:cTn id="30" dur="500"/>
                                        <p:tgtEl>
                                          <p:spTgt spid="3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5"/>
                                        </p:tgtEl>
                                        <p:attrNameLst>
                                          <p:attrName>style.visibility</p:attrName>
                                        </p:attrNameLst>
                                      </p:cBhvr>
                                      <p:to>
                                        <p:strVal val="visible"/>
                                      </p:to>
                                    </p:set>
                                    <p:animEffect transition="in" filter="wipe(left)">
                                      <p:cBhvr>
                                        <p:cTn id="35" dur="500"/>
                                        <p:tgtEl>
                                          <p:spTgt spid="125"/>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59"/>
                                        </p:tgtEl>
                                        <p:attrNameLst>
                                          <p:attrName>style.visibility</p:attrName>
                                        </p:attrNameLst>
                                      </p:cBhvr>
                                      <p:to>
                                        <p:strVal val="visible"/>
                                      </p:to>
                                    </p:set>
                                    <p:animEffect transition="in" filter="wipe(left)">
                                      <p:cBhvr>
                                        <p:cTn id="39" dur="500"/>
                                        <p:tgtEl>
                                          <p:spTgt spid="59"/>
                                        </p:tgtEl>
                                      </p:cBhvr>
                                    </p:animEffect>
                                  </p:childTnLst>
                                </p:cTn>
                              </p:par>
                              <p:par>
                                <p:cTn id="40" presetID="22" presetClass="entr" presetSubtype="4"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wipe(down)">
                                      <p:cBhvr>
                                        <p:cTn id="42" dur="500"/>
                                        <p:tgtEl>
                                          <p:spTgt spid="53"/>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wipe(left)">
                                      <p:cBhvr>
                                        <p:cTn id="46" dur="1000"/>
                                        <p:tgtEl>
                                          <p:spTgt spid="70"/>
                                        </p:tgtEl>
                                      </p:cBhvr>
                                    </p:animEffect>
                                  </p:childTnLst>
                                </p:cTn>
                              </p:par>
                            </p:childTnLst>
                          </p:cTn>
                        </p:par>
                        <p:par>
                          <p:cTn id="47" fill="hold" nodeType="afterGroup">
                            <p:stCondLst>
                              <p:cond delay="2000"/>
                            </p:stCondLst>
                            <p:childTnLst>
                              <p:par>
                                <p:cTn id="48" presetID="22" presetClass="entr" presetSubtype="8" fill="hold" nodeType="afterEffect">
                                  <p:stCondLst>
                                    <p:cond delay="0"/>
                                  </p:stCondLst>
                                  <p:childTnLst>
                                    <p:set>
                                      <p:cBhvr>
                                        <p:cTn id="49" dur="1" fill="hold">
                                          <p:stCondLst>
                                            <p:cond delay="0"/>
                                          </p:stCondLst>
                                        </p:cTn>
                                        <p:tgtEl>
                                          <p:spTgt spid="128"/>
                                        </p:tgtEl>
                                        <p:attrNameLst>
                                          <p:attrName>style.visibility</p:attrName>
                                        </p:attrNameLst>
                                      </p:cBhvr>
                                      <p:to>
                                        <p:strVal val="visible"/>
                                      </p:to>
                                    </p:set>
                                    <p:animEffect transition="in" filter="wipe(left)">
                                      <p:cBhvr>
                                        <p:cTn id="50" dur="500"/>
                                        <p:tgtEl>
                                          <p:spTgt spid="128"/>
                                        </p:tgtEl>
                                      </p:cBhvr>
                                    </p:animEffect>
                                  </p:childTnLst>
                                </p:cTn>
                              </p:par>
                            </p:childTnLst>
                          </p:cTn>
                        </p:par>
                        <p:par>
                          <p:cTn id="51" fill="hold" nodeType="afterGroup">
                            <p:stCondLst>
                              <p:cond delay="2500"/>
                            </p:stCondLst>
                            <p:childTnLst>
                              <p:par>
                                <p:cTn id="52" presetID="22" presetClass="entr" presetSubtype="8" fill="hold" nodeType="afterEffect">
                                  <p:stCondLst>
                                    <p:cond delay="0"/>
                                  </p:stCondLst>
                                  <p:childTnLst>
                                    <p:set>
                                      <p:cBhvr>
                                        <p:cTn id="53" dur="1" fill="hold">
                                          <p:stCondLst>
                                            <p:cond delay="0"/>
                                          </p:stCondLst>
                                        </p:cTn>
                                        <p:tgtEl>
                                          <p:spTgt spid="126"/>
                                        </p:tgtEl>
                                        <p:attrNameLst>
                                          <p:attrName>style.visibility</p:attrName>
                                        </p:attrNameLst>
                                      </p:cBhvr>
                                      <p:to>
                                        <p:strVal val="visible"/>
                                      </p:to>
                                    </p:set>
                                    <p:animEffect transition="in" filter="wipe(left)">
                                      <p:cBhvr>
                                        <p:cTn id="54" dur="500"/>
                                        <p:tgtEl>
                                          <p:spTgt spid="126"/>
                                        </p:tgtEl>
                                      </p:cBhvr>
                                    </p:animEffect>
                                  </p:childTnLst>
                                </p:cTn>
                              </p:par>
                            </p:childTnLst>
                          </p:cTn>
                        </p:par>
                        <p:par>
                          <p:cTn id="55" fill="hold" nodeType="afterGroup">
                            <p:stCondLst>
                              <p:cond delay="3000"/>
                            </p:stCondLst>
                            <p:childTnLst>
                              <p:par>
                                <p:cTn id="56" presetID="22" presetClass="entr" presetSubtype="1" fill="hold" nodeType="afterEffect">
                                  <p:stCondLst>
                                    <p:cond delay="0"/>
                                  </p:stCondLst>
                                  <p:childTnLst>
                                    <p:set>
                                      <p:cBhvr>
                                        <p:cTn id="57" dur="1" fill="hold">
                                          <p:stCondLst>
                                            <p:cond delay="0"/>
                                          </p:stCondLst>
                                        </p:cTn>
                                        <p:tgtEl>
                                          <p:spTgt spid="130"/>
                                        </p:tgtEl>
                                        <p:attrNameLst>
                                          <p:attrName>style.visibility</p:attrName>
                                        </p:attrNameLst>
                                      </p:cBhvr>
                                      <p:to>
                                        <p:strVal val="visible"/>
                                      </p:to>
                                    </p:set>
                                    <p:animEffect transition="in" filter="wipe(up)">
                                      <p:cBhvr>
                                        <p:cTn id="58" dur="500"/>
                                        <p:tgtEl>
                                          <p:spTgt spid="130"/>
                                        </p:tgtEl>
                                      </p:cBhvr>
                                    </p:animEffect>
                                  </p:childTnLst>
                                </p:cTn>
                              </p:par>
                            </p:childTnLst>
                          </p:cTn>
                        </p:par>
                        <p:par>
                          <p:cTn id="59" fill="hold" nodeType="afterGroup">
                            <p:stCondLst>
                              <p:cond delay="3500"/>
                            </p:stCondLst>
                            <p:childTnLst>
                              <p:par>
                                <p:cTn id="60" presetID="22" presetClass="entr" presetSubtype="8" fill="hold" grpId="0" nodeType="after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wipe(left)">
                                      <p:cBhvr>
                                        <p:cTn id="62" dur="1000"/>
                                        <p:tgtEl>
                                          <p:spTgt spid="93"/>
                                        </p:tgtEl>
                                      </p:cBhvr>
                                    </p:animEffect>
                                  </p:childTnLst>
                                </p:cTn>
                              </p:par>
                            </p:childTnLst>
                          </p:cTn>
                        </p:par>
                        <p:par>
                          <p:cTn id="63" fill="hold" nodeType="afterGroup">
                            <p:stCondLst>
                              <p:cond delay="4500"/>
                            </p:stCondLst>
                            <p:childTnLst>
                              <p:par>
                                <p:cTn id="64" presetID="22" presetClass="entr" presetSubtype="8" fill="hold" nodeType="afterEffect">
                                  <p:stCondLst>
                                    <p:cond delay="0"/>
                                  </p:stCondLst>
                                  <p:childTnLst>
                                    <p:set>
                                      <p:cBhvr>
                                        <p:cTn id="65" dur="1" fill="hold">
                                          <p:stCondLst>
                                            <p:cond delay="0"/>
                                          </p:stCondLst>
                                        </p:cTn>
                                        <p:tgtEl>
                                          <p:spTgt spid="64"/>
                                        </p:tgtEl>
                                        <p:attrNameLst>
                                          <p:attrName>style.visibility</p:attrName>
                                        </p:attrNameLst>
                                      </p:cBhvr>
                                      <p:to>
                                        <p:strVal val="visible"/>
                                      </p:to>
                                    </p:set>
                                    <p:animEffect transition="in" filter="wipe(left)">
                                      <p:cBhvr>
                                        <p:cTn id="66" dur="500"/>
                                        <p:tgtEl>
                                          <p:spTgt spid="64"/>
                                        </p:tgtEl>
                                      </p:cBhvr>
                                    </p:animEffect>
                                  </p:childTnLst>
                                </p:cTn>
                              </p:par>
                            </p:childTnLst>
                          </p:cTn>
                        </p:par>
                        <p:par>
                          <p:cTn id="67" fill="hold" nodeType="afterGroup">
                            <p:stCondLst>
                              <p:cond delay="5000"/>
                            </p:stCondLst>
                            <p:childTnLst>
                              <p:par>
                                <p:cTn id="68" presetID="22" presetClass="entr" presetSubtype="8" fill="hold" grpId="0" nodeType="afterEffect">
                                  <p:stCondLst>
                                    <p:cond delay="0"/>
                                  </p:stCondLst>
                                  <p:childTnLst>
                                    <p:set>
                                      <p:cBhvr>
                                        <p:cTn id="69" dur="1" fill="hold">
                                          <p:stCondLst>
                                            <p:cond delay="0"/>
                                          </p:stCondLst>
                                        </p:cTn>
                                        <p:tgtEl>
                                          <p:spTgt spid="131"/>
                                        </p:tgtEl>
                                        <p:attrNameLst>
                                          <p:attrName>style.visibility</p:attrName>
                                        </p:attrNameLst>
                                      </p:cBhvr>
                                      <p:to>
                                        <p:strVal val="visible"/>
                                      </p:to>
                                    </p:set>
                                    <p:animEffect transition="in" filter="wipe(left)">
                                      <p:cBhvr>
                                        <p:cTn id="70" dur="1000"/>
                                        <p:tgtEl>
                                          <p:spTgt spid="131"/>
                                        </p:tgtEl>
                                      </p:cBhvr>
                                    </p:animEffect>
                                  </p:childTnLst>
                                </p:cTn>
                              </p:par>
                            </p:childTnLst>
                          </p:cTn>
                        </p:par>
                        <p:par>
                          <p:cTn id="71" fill="hold" nodeType="afterGroup">
                            <p:stCondLst>
                              <p:cond delay="6000"/>
                            </p:stCondLst>
                            <p:childTnLst>
                              <p:par>
                                <p:cTn id="72" presetID="22" presetClass="entr" presetSubtype="8" fill="hold" nodeType="after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wipe(left)">
                                      <p:cBhvr>
                                        <p:cTn id="74" dur="500"/>
                                        <p:tgtEl>
                                          <p:spTgt spid="65"/>
                                        </p:tgtEl>
                                      </p:cBhvr>
                                    </p:animEffect>
                                  </p:childTnLst>
                                </p:cTn>
                              </p:par>
                            </p:childTnLst>
                          </p:cTn>
                        </p:par>
                        <p:par>
                          <p:cTn id="75" fill="hold" nodeType="afterGroup">
                            <p:stCondLst>
                              <p:cond delay="6500"/>
                            </p:stCondLst>
                            <p:childTnLst>
                              <p:par>
                                <p:cTn id="76" presetID="22" presetClass="entr" presetSubtype="8" fill="hold" nodeType="afterEffect">
                                  <p:stCondLst>
                                    <p:cond delay="0"/>
                                  </p:stCondLst>
                                  <p:childTnLst>
                                    <p:set>
                                      <p:cBhvr>
                                        <p:cTn id="77" dur="1" fill="hold">
                                          <p:stCondLst>
                                            <p:cond delay="0"/>
                                          </p:stCondLst>
                                        </p:cTn>
                                        <p:tgtEl>
                                          <p:spTgt spid="66"/>
                                        </p:tgtEl>
                                        <p:attrNameLst>
                                          <p:attrName>style.visibility</p:attrName>
                                        </p:attrNameLst>
                                      </p:cBhvr>
                                      <p:to>
                                        <p:strVal val="visible"/>
                                      </p:to>
                                    </p:set>
                                    <p:animEffect transition="in" filter="wipe(left)">
                                      <p:cBhvr>
                                        <p:cTn id="78" dur="500"/>
                                        <p:tgtEl>
                                          <p:spTgt spid="66"/>
                                        </p:tgtEl>
                                      </p:cBhvr>
                                    </p:animEffect>
                                  </p:childTnLst>
                                </p:cTn>
                              </p:par>
                            </p:childTnLst>
                          </p:cTn>
                        </p:par>
                        <p:par>
                          <p:cTn id="79" fill="hold" nodeType="afterGroup">
                            <p:stCondLst>
                              <p:cond delay="7000"/>
                            </p:stCondLst>
                            <p:childTnLst>
                              <p:par>
                                <p:cTn id="80" presetID="22" presetClass="entr" presetSubtype="8"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wipe(left)">
                                      <p:cBhvr>
                                        <p:cTn id="8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22" grpId="0"/>
      <p:bldP spid="69" grpId="0"/>
      <p:bldP spid="93" grpId="0" animBg="1"/>
      <p:bldP spid="125" grpId="0"/>
      <p:bldP spid="1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C942B6EA-15EB-4709-BD3F-A5641B558802}"/>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Consumer Surplus</a:t>
            </a:r>
          </a:p>
        </p:txBody>
      </p:sp>
      <p:sp>
        <p:nvSpPr>
          <p:cNvPr id="13315" name="Content Placeholder 2">
            <a:extLst>
              <a:ext uri="{FF2B5EF4-FFF2-40B4-BE49-F238E27FC236}">
                <a16:creationId xmlns:a16="http://schemas.microsoft.com/office/drawing/2014/main" id="{2D7E65F2-004D-44B3-89E7-3FE87F664D13}"/>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How a lower price raises consumer surplus </a:t>
            </a:r>
          </a:p>
          <a:p>
            <a:r>
              <a:rPr lang="en-US" altLang="en-US"/>
              <a:t>Buyers - always want to pay less</a:t>
            </a:r>
          </a:p>
          <a:p>
            <a:pPr lvl="1"/>
            <a:r>
              <a:rPr lang="en-US" altLang="en-US"/>
              <a:t>Initial price, P</a:t>
            </a:r>
            <a:r>
              <a:rPr lang="en-US" altLang="en-US" baseline="-25000"/>
              <a:t>1</a:t>
            </a:r>
          </a:p>
          <a:p>
            <a:pPr lvl="2"/>
            <a:r>
              <a:rPr lang="en-US" altLang="en-US"/>
              <a:t>Quantity demanded Q</a:t>
            </a:r>
            <a:r>
              <a:rPr lang="en-US" altLang="en-US" baseline="-25000"/>
              <a:t>1</a:t>
            </a:r>
          </a:p>
          <a:p>
            <a:pPr lvl="2"/>
            <a:r>
              <a:rPr lang="en-US" altLang="en-US"/>
              <a:t>Given consumer surplus</a:t>
            </a:r>
          </a:p>
          <a:p>
            <a:pPr lvl="1"/>
            <a:r>
              <a:rPr lang="en-US" altLang="en-US"/>
              <a:t>New, lower price, P</a:t>
            </a:r>
            <a:r>
              <a:rPr lang="en-US" altLang="en-US" baseline="-25000"/>
              <a:t>2</a:t>
            </a:r>
          </a:p>
          <a:p>
            <a:pPr lvl="2"/>
            <a:r>
              <a:rPr lang="en-US" altLang="en-US"/>
              <a:t>Greater quantity demanded, Q</a:t>
            </a:r>
            <a:r>
              <a:rPr lang="en-US" altLang="en-US" baseline="-25000"/>
              <a:t>2</a:t>
            </a:r>
          </a:p>
          <a:p>
            <a:pPr lvl="3"/>
            <a:r>
              <a:rPr lang="en-US" altLang="en-US"/>
              <a:t>New buyers</a:t>
            </a:r>
          </a:p>
          <a:p>
            <a:pPr lvl="2"/>
            <a:r>
              <a:rPr lang="en-US" altLang="en-US"/>
              <a:t>Increase in consumer surplus</a:t>
            </a:r>
          </a:p>
          <a:p>
            <a:pPr lvl="3"/>
            <a:r>
              <a:rPr lang="en-US" altLang="en-US"/>
              <a:t>From initial buyers</a:t>
            </a:r>
          </a:p>
          <a:p>
            <a:pPr lvl="3"/>
            <a:r>
              <a:rPr lang="en-US" altLang="en-US"/>
              <a:t>From new buyers</a:t>
            </a:r>
          </a:p>
        </p:txBody>
      </p:sp>
      <p:sp>
        <p:nvSpPr>
          <p:cNvPr id="21508" name="Slide Number Placeholder 3">
            <a:extLst>
              <a:ext uri="{FF2B5EF4-FFF2-40B4-BE49-F238E27FC236}">
                <a16:creationId xmlns:a16="http://schemas.microsoft.com/office/drawing/2014/main" id="{AA81D613-D65A-45CB-9176-FA10B0CD9E1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E201D2-04A6-49DE-B51E-7604A615115B}" type="slidenum">
              <a:rPr lang="en-US" altLang="en-US">
                <a:latin typeface="Calibri" panose="020F0502020204030204" pitchFamily="34" charset="0"/>
              </a:rPr>
              <a:pPr/>
              <a:t>9</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5">
                                            <p:bg/>
                                          </p:spTgt>
                                        </p:tgtEl>
                                        <p:attrNameLst>
                                          <p:attrName>style.visibility</p:attrName>
                                        </p:attrNameLst>
                                      </p:cBhvr>
                                      <p:to>
                                        <p:strVal val="visible"/>
                                      </p:to>
                                    </p:set>
                                    <p:animEffect transition="in" filter="wipe(left)">
                                      <p:cBhvr>
                                        <p:cTn id="7" dur="500"/>
                                        <p:tgtEl>
                                          <p:spTgt spid="13315">
                                            <p:bg/>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animEffect transition="in" filter="wipe(left)">
                                      <p:cBhvr>
                                        <p:cTn id="11" dur="500"/>
                                        <p:tgtEl>
                                          <p:spTgt spid="13315">
                                            <p:txEl>
                                              <p:pRg st="0" end="0"/>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5">
                                            <p:txEl>
                                              <p:pRg st="1" end="1"/>
                                            </p:txEl>
                                          </p:spTgt>
                                        </p:tgtEl>
                                        <p:attrNameLst>
                                          <p:attrName>style.visibility</p:attrName>
                                        </p:attrNameLst>
                                      </p:cBhvr>
                                      <p:to>
                                        <p:strVal val="visible"/>
                                      </p:to>
                                    </p:set>
                                    <p:animEffect transition="in" filter="wipe(left)">
                                      <p:cBhvr>
                                        <p:cTn id="15" dur="500"/>
                                        <p:tgtEl>
                                          <p:spTgt spid="13315">
                                            <p:txEl>
                                              <p:pRg st="1" end="1"/>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Effect transition="in" filter="wipe(left)">
                                      <p:cBhvr>
                                        <p:cTn id="19" dur="500"/>
                                        <p:tgtEl>
                                          <p:spTgt spid="13315">
                                            <p:txEl>
                                              <p:pRg st="2" end="2"/>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Effect transition="in" filter="wipe(left)">
                                      <p:cBhvr>
                                        <p:cTn id="23" dur="500"/>
                                        <p:tgtEl>
                                          <p:spTgt spid="13315">
                                            <p:txEl>
                                              <p:pRg st="3" end="3"/>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wipe(left)">
                                      <p:cBhvr>
                                        <p:cTn id="27" dur="500"/>
                                        <p:tgtEl>
                                          <p:spTgt spid="13315">
                                            <p:txEl>
                                              <p:pRg st="4" end="4"/>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animEffect transition="in" filter="wipe(left)">
                                      <p:cBhvr>
                                        <p:cTn id="31" dur="500"/>
                                        <p:tgtEl>
                                          <p:spTgt spid="13315">
                                            <p:txEl>
                                              <p:pRg st="5" end="5"/>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animEffect transition="in" filter="wipe(left)">
                                      <p:cBhvr>
                                        <p:cTn id="35" dur="500"/>
                                        <p:tgtEl>
                                          <p:spTgt spid="13315">
                                            <p:txEl>
                                              <p:pRg st="6" end="6"/>
                                            </p:txEl>
                                          </p:spTgt>
                                        </p:tgtEl>
                                      </p:cBhvr>
                                    </p:animEffect>
                                  </p:childTnLst>
                                </p:cTn>
                              </p:par>
                            </p:childTnLst>
                          </p:cTn>
                        </p:par>
                        <p:par>
                          <p:cTn id="36" fill="hold" nodeType="afterGroup">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3315">
                                            <p:txEl>
                                              <p:pRg st="7" end="7"/>
                                            </p:txEl>
                                          </p:spTgt>
                                        </p:tgtEl>
                                        <p:attrNameLst>
                                          <p:attrName>style.visibility</p:attrName>
                                        </p:attrNameLst>
                                      </p:cBhvr>
                                      <p:to>
                                        <p:strVal val="visible"/>
                                      </p:to>
                                    </p:set>
                                    <p:animEffect transition="in" filter="wipe(left)">
                                      <p:cBhvr>
                                        <p:cTn id="39" dur="500"/>
                                        <p:tgtEl>
                                          <p:spTgt spid="13315">
                                            <p:txEl>
                                              <p:pRg st="7" end="7"/>
                                            </p:txEl>
                                          </p:spTgt>
                                        </p:tgtEl>
                                      </p:cBhvr>
                                    </p:animEffect>
                                  </p:childTnLst>
                                </p:cTn>
                              </p:par>
                            </p:childTnLst>
                          </p:cTn>
                        </p:par>
                        <p:par>
                          <p:cTn id="40" fill="hold" nodeType="afterGroup">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3315">
                                            <p:txEl>
                                              <p:pRg st="8" end="8"/>
                                            </p:txEl>
                                          </p:spTgt>
                                        </p:tgtEl>
                                        <p:attrNameLst>
                                          <p:attrName>style.visibility</p:attrName>
                                        </p:attrNameLst>
                                      </p:cBhvr>
                                      <p:to>
                                        <p:strVal val="visible"/>
                                      </p:to>
                                    </p:set>
                                    <p:animEffect transition="in" filter="wipe(left)">
                                      <p:cBhvr>
                                        <p:cTn id="43" dur="500"/>
                                        <p:tgtEl>
                                          <p:spTgt spid="13315">
                                            <p:txEl>
                                              <p:pRg st="8" end="8"/>
                                            </p:txEl>
                                          </p:spTgt>
                                        </p:tgtEl>
                                      </p:cBhvr>
                                    </p:animEffect>
                                  </p:childTnLst>
                                </p:cTn>
                              </p:par>
                            </p:childTnLst>
                          </p:cTn>
                        </p:par>
                        <p:par>
                          <p:cTn id="44" fill="hold" nodeType="afterGroup">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13315">
                                            <p:txEl>
                                              <p:pRg st="9" end="9"/>
                                            </p:txEl>
                                          </p:spTgt>
                                        </p:tgtEl>
                                        <p:attrNameLst>
                                          <p:attrName>style.visibility</p:attrName>
                                        </p:attrNameLst>
                                      </p:cBhvr>
                                      <p:to>
                                        <p:strVal val="visible"/>
                                      </p:to>
                                    </p:set>
                                    <p:animEffect transition="in" filter="wipe(left)">
                                      <p:cBhvr>
                                        <p:cTn id="47" dur="500"/>
                                        <p:tgtEl>
                                          <p:spTgt spid="13315">
                                            <p:txEl>
                                              <p:pRg st="9" end="9"/>
                                            </p:txEl>
                                          </p:spTgt>
                                        </p:tgtEl>
                                      </p:cBhvr>
                                    </p:animEffect>
                                  </p:childTnLst>
                                </p:cTn>
                              </p:par>
                            </p:childTnLst>
                          </p:cTn>
                        </p:par>
                        <p:par>
                          <p:cTn id="48" fill="hold" nodeType="afterGroup">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13315">
                                            <p:txEl>
                                              <p:pRg st="10" end="10"/>
                                            </p:txEl>
                                          </p:spTgt>
                                        </p:tgtEl>
                                        <p:attrNameLst>
                                          <p:attrName>style.visibility</p:attrName>
                                        </p:attrNameLst>
                                      </p:cBhvr>
                                      <p:to>
                                        <p:strVal val="visible"/>
                                      </p:to>
                                    </p:set>
                                    <p:animEffect transition="in" filter="wipe(left)">
                                      <p:cBhvr>
                                        <p:cTn id="51" dur="500"/>
                                        <p:tgtEl>
                                          <p:spTgt spid="133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8A0D3F0-4376-444E-8399-10071D4BBBFD}"/>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How the price affects consumer surplus</a:t>
            </a:r>
          </a:p>
        </p:txBody>
      </p:sp>
      <p:sp>
        <p:nvSpPr>
          <p:cNvPr id="22531" name="Content Placeholder 2">
            <a:extLst>
              <a:ext uri="{FF2B5EF4-FFF2-40B4-BE49-F238E27FC236}">
                <a16:creationId xmlns:a16="http://schemas.microsoft.com/office/drawing/2014/main" id="{13BEC330-23B4-461D-B25F-7F43FA0B8DE0}"/>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3</a:t>
            </a:r>
          </a:p>
        </p:txBody>
      </p:sp>
      <p:sp>
        <p:nvSpPr>
          <p:cNvPr id="22532" name="Slide Number Placeholder 3">
            <a:extLst>
              <a:ext uri="{FF2B5EF4-FFF2-40B4-BE49-F238E27FC236}">
                <a16:creationId xmlns:a16="http://schemas.microsoft.com/office/drawing/2014/main" id="{4ACCA3F2-2C77-4ECD-BF6A-B4E7D21C1F9C}"/>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01921D-076B-4AC8-8FEE-0D66663DBB61}" type="slidenum">
              <a:rPr lang="en-US" altLang="en-US">
                <a:latin typeface="Calibri" panose="020F0502020204030204" pitchFamily="34" charset="0"/>
              </a:rPr>
              <a:pPr/>
              <a:t>10</a:t>
            </a:fld>
            <a:endParaRPr lang="en-US" altLang="en-US">
              <a:latin typeface="Calibri" panose="020F0502020204030204" pitchFamily="34" charset="0"/>
            </a:endParaRPr>
          </a:p>
        </p:txBody>
      </p:sp>
      <p:grpSp>
        <p:nvGrpSpPr>
          <p:cNvPr id="5" name="Group 4">
            <a:extLst>
              <a:ext uri="{FF2B5EF4-FFF2-40B4-BE49-F238E27FC236}">
                <a16:creationId xmlns:a16="http://schemas.microsoft.com/office/drawing/2014/main" id="{55FAFB6A-8923-4FC9-9EA4-6B165CE7E4B3}"/>
              </a:ext>
            </a:extLst>
          </p:cNvPr>
          <p:cNvGrpSpPr>
            <a:grpSpLocks/>
          </p:cNvGrpSpPr>
          <p:nvPr/>
        </p:nvGrpSpPr>
        <p:grpSpPr bwMode="auto">
          <a:xfrm>
            <a:off x="292100" y="1482725"/>
            <a:ext cx="3900488" cy="3679825"/>
            <a:chOff x="1194096" y="1589303"/>
            <a:chExt cx="3900394" cy="3679435"/>
          </a:xfrm>
        </p:grpSpPr>
        <p:sp>
          <p:nvSpPr>
            <p:cNvPr id="6" name="Rectangle 5">
              <a:extLst>
                <a:ext uri="{FF2B5EF4-FFF2-40B4-BE49-F238E27FC236}">
                  <a16:creationId xmlns:a16="http://schemas.microsoft.com/office/drawing/2014/main" id="{F4F43125-0075-4DF9-8232-F80F6E4E317A}"/>
                </a:ext>
              </a:extLst>
            </p:cNvPr>
            <p:cNvSpPr/>
            <p:nvPr/>
          </p:nvSpPr>
          <p:spPr>
            <a:xfrm>
              <a:off x="1829081" y="1840101"/>
              <a:ext cx="3265409" cy="34286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dirty="0"/>
            </a:p>
          </p:txBody>
        </p:sp>
        <p:grpSp>
          <p:nvGrpSpPr>
            <p:cNvPr id="22614" name="Group 48">
              <a:extLst>
                <a:ext uri="{FF2B5EF4-FFF2-40B4-BE49-F238E27FC236}">
                  <a16:creationId xmlns:a16="http://schemas.microsoft.com/office/drawing/2014/main" id="{48575387-32A3-4B9C-B752-0820CC1A4F89}"/>
                </a:ext>
              </a:extLst>
            </p:cNvPr>
            <p:cNvGrpSpPr>
              <a:grpSpLocks/>
            </p:cNvGrpSpPr>
            <p:nvPr/>
          </p:nvGrpSpPr>
          <p:grpSpPr bwMode="auto">
            <a:xfrm>
              <a:off x="1194096" y="1589303"/>
              <a:ext cx="651139" cy="3668320"/>
              <a:chOff x="3937056" y="1133301"/>
              <a:chExt cx="651139" cy="3668092"/>
            </a:xfrm>
          </p:grpSpPr>
          <p:cxnSp>
            <p:nvCxnSpPr>
              <p:cNvPr id="8" name="Straight Connector 7">
                <a:extLst>
                  <a:ext uri="{FF2B5EF4-FFF2-40B4-BE49-F238E27FC236}">
                    <a16:creationId xmlns:a16="http://schemas.microsoft.com/office/drawing/2014/main" id="{892B3BE5-EE8E-403A-8CA5-097AA740DCD9}"/>
                  </a:ext>
                </a:extLst>
              </p:cNvPr>
              <p:cNvCxnSpPr/>
              <p:nvPr/>
            </p:nvCxnSpPr>
            <p:spPr>
              <a:xfrm rot="5400000">
                <a:off x="2896716" y="3124485"/>
                <a:ext cx="3352236"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616" name="TextBox 56">
                <a:extLst>
                  <a:ext uri="{FF2B5EF4-FFF2-40B4-BE49-F238E27FC236}">
                    <a16:creationId xmlns:a16="http://schemas.microsoft.com/office/drawing/2014/main" id="{D678419B-732F-4398-AB89-E72F8B3AFD3A}"/>
                  </a:ext>
                </a:extLst>
              </p:cNvPr>
              <p:cNvSpPr txBox="1">
                <a:spLocks noChangeArrowheads="1"/>
              </p:cNvSpPr>
              <p:nvPr/>
            </p:nvSpPr>
            <p:spPr bwMode="auto">
              <a:xfrm>
                <a:off x="3937056" y="1133301"/>
                <a:ext cx="651139" cy="3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600"/>
                  <a:t>Price</a:t>
                </a:r>
              </a:p>
            </p:txBody>
          </p:sp>
        </p:grpSp>
      </p:grpSp>
      <p:sp>
        <p:nvSpPr>
          <p:cNvPr id="23" name="TextBox 8">
            <a:extLst>
              <a:ext uri="{FF2B5EF4-FFF2-40B4-BE49-F238E27FC236}">
                <a16:creationId xmlns:a16="http://schemas.microsoft.com/office/drawing/2014/main" id="{FFA73774-052E-4BBC-9602-DD82F200C66D}"/>
              </a:ext>
            </a:extLst>
          </p:cNvPr>
          <p:cNvSpPr txBox="1">
            <a:spLocks noChangeArrowheads="1"/>
          </p:cNvSpPr>
          <p:nvPr/>
        </p:nvSpPr>
        <p:spPr bwMode="auto">
          <a:xfrm>
            <a:off x="0" y="5503863"/>
            <a:ext cx="914400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800080"/>
                </a:solidFill>
              </a:rPr>
              <a:t>In panel (a), the price is P</a:t>
            </a:r>
            <a:r>
              <a:rPr lang="en-US" altLang="en-US" sz="1600" baseline="-25000">
                <a:solidFill>
                  <a:srgbClr val="800080"/>
                </a:solidFill>
              </a:rPr>
              <a:t>1</a:t>
            </a:r>
            <a:r>
              <a:rPr lang="en-US" altLang="en-US" sz="1600">
                <a:solidFill>
                  <a:srgbClr val="800080"/>
                </a:solidFill>
              </a:rPr>
              <a:t>, the quantity demanded is Q</a:t>
            </a:r>
            <a:r>
              <a:rPr lang="en-US" altLang="en-US" sz="1600" baseline="-25000">
                <a:solidFill>
                  <a:srgbClr val="800080"/>
                </a:solidFill>
              </a:rPr>
              <a:t>1</a:t>
            </a:r>
            <a:r>
              <a:rPr lang="en-US" altLang="en-US" sz="1600">
                <a:solidFill>
                  <a:srgbClr val="800080"/>
                </a:solidFill>
              </a:rPr>
              <a:t>, and consumer surplus equals the area of the triangle ABC. When the price falls from P</a:t>
            </a:r>
            <a:r>
              <a:rPr lang="en-US" altLang="en-US" sz="1600" baseline="-25000">
                <a:solidFill>
                  <a:srgbClr val="800080"/>
                </a:solidFill>
              </a:rPr>
              <a:t>1</a:t>
            </a:r>
            <a:r>
              <a:rPr lang="en-US" altLang="en-US" sz="1600">
                <a:solidFill>
                  <a:srgbClr val="800080"/>
                </a:solidFill>
              </a:rPr>
              <a:t> to P</a:t>
            </a:r>
            <a:r>
              <a:rPr lang="en-US" altLang="en-US" sz="1600" baseline="-25000">
                <a:solidFill>
                  <a:srgbClr val="800080"/>
                </a:solidFill>
              </a:rPr>
              <a:t>2</a:t>
            </a:r>
            <a:r>
              <a:rPr lang="en-US" altLang="en-US" sz="1600">
                <a:solidFill>
                  <a:srgbClr val="800080"/>
                </a:solidFill>
              </a:rPr>
              <a:t>, as in panel (b), the quantity demanded rises from Q</a:t>
            </a:r>
            <a:r>
              <a:rPr lang="en-US" altLang="en-US" sz="1600" baseline="-25000">
                <a:solidFill>
                  <a:srgbClr val="800080"/>
                </a:solidFill>
              </a:rPr>
              <a:t>1</a:t>
            </a:r>
            <a:r>
              <a:rPr lang="en-US" altLang="en-US" sz="1600">
                <a:solidFill>
                  <a:srgbClr val="800080"/>
                </a:solidFill>
              </a:rPr>
              <a:t> to Q</a:t>
            </a:r>
            <a:r>
              <a:rPr lang="en-US" altLang="en-US" sz="1600" baseline="-25000">
                <a:solidFill>
                  <a:srgbClr val="800080"/>
                </a:solidFill>
              </a:rPr>
              <a:t>2</a:t>
            </a:r>
            <a:r>
              <a:rPr lang="en-US" altLang="en-US" sz="1600">
                <a:solidFill>
                  <a:srgbClr val="800080"/>
                </a:solidFill>
              </a:rPr>
              <a:t>, and the consumer surplus rises to the area of the triangle ADF. The increase in consumer surplus (area BCFD) occurs in part because existing consumers now pay less (area BCED) and in part because new consumers enter the market at the lower price (area CEF).</a:t>
            </a:r>
          </a:p>
        </p:txBody>
      </p:sp>
      <p:grpSp>
        <p:nvGrpSpPr>
          <p:cNvPr id="9" name="Group 8">
            <a:extLst>
              <a:ext uri="{FF2B5EF4-FFF2-40B4-BE49-F238E27FC236}">
                <a16:creationId xmlns:a16="http://schemas.microsoft.com/office/drawing/2014/main" id="{65559751-7970-44C0-96E4-85CD678149A5}"/>
              </a:ext>
            </a:extLst>
          </p:cNvPr>
          <p:cNvGrpSpPr>
            <a:grpSpLocks/>
          </p:cNvGrpSpPr>
          <p:nvPr/>
        </p:nvGrpSpPr>
        <p:grpSpPr bwMode="auto">
          <a:xfrm>
            <a:off x="696913" y="5149850"/>
            <a:ext cx="3624262" cy="382588"/>
            <a:chOff x="4343400" y="4788631"/>
            <a:chExt cx="3623226" cy="382147"/>
          </a:xfrm>
        </p:grpSpPr>
        <p:cxnSp>
          <p:nvCxnSpPr>
            <p:cNvPr id="25" name="Straight Connector 24">
              <a:extLst>
                <a:ext uri="{FF2B5EF4-FFF2-40B4-BE49-F238E27FC236}">
                  <a16:creationId xmlns:a16="http://schemas.microsoft.com/office/drawing/2014/main" id="{A69CF015-F687-4F20-8137-4E2BC87CEE04}"/>
                </a:ext>
              </a:extLst>
            </p:cNvPr>
            <p:cNvCxnSpPr/>
            <p:nvPr/>
          </p:nvCxnSpPr>
          <p:spPr>
            <a:xfrm>
              <a:off x="4571935" y="4788631"/>
              <a:ext cx="3289946" cy="31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611" name="TextBox 10">
              <a:extLst>
                <a:ext uri="{FF2B5EF4-FFF2-40B4-BE49-F238E27FC236}">
                  <a16:creationId xmlns:a16="http://schemas.microsoft.com/office/drawing/2014/main" id="{01EDEC4F-A63F-4818-AAAE-125BE85E0C43}"/>
                </a:ext>
              </a:extLst>
            </p:cNvPr>
            <p:cNvSpPr txBox="1">
              <a:spLocks noChangeArrowheads="1"/>
            </p:cNvSpPr>
            <p:nvPr/>
          </p:nvSpPr>
          <p:spPr bwMode="auto">
            <a:xfrm>
              <a:off x="4343400" y="4800600"/>
              <a:ext cx="298480"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p>
          </p:txBody>
        </p:sp>
        <p:sp>
          <p:nvSpPr>
            <p:cNvPr id="22612" name="TextBox 23">
              <a:extLst>
                <a:ext uri="{FF2B5EF4-FFF2-40B4-BE49-F238E27FC236}">
                  <a16:creationId xmlns:a16="http://schemas.microsoft.com/office/drawing/2014/main" id="{BCD914A8-9895-498D-A93A-474D5EC552D0}"/>
                </a:ext>
              </a:extLst>
            </p:cNvPr>
            <p:cNvSpPr txBox="1">
              <a:spLocks noChangeArrowheads="1"/>
            </p:cNvSpPr>
            <p:nvPr/>
          </p:nvSpPr>
          <p:spPr bwMode="auto">
            <a:xfrm>
              <a:off x="7017327" y="4832451"/>
              <a:ext cx="949299"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Quantity</a:t>
              </a:r>
            </a:p>
          </p:txBody>
        </p:sp>
      </p:grpSp>
      <p:sp>
        <p:nvSpPr>
          <p:cNvPr id="55" name="TextBox 8">
            <a:extLst>
              <a:ext uri="{FF2B5EF4-FFF2-40B4-BE49-F238E27FC236}">
                <a16:creationId xmlns:a16="http://schemas.microsoft.com/office/drawing/2014/main" id="{D184C4B9-25E2-45A3-812B-64C2AC022D10}"/>
              </a:ext>
            </a:extLst>
          </p:cNvPr>
          <p:cNvSpPr txBox="1">
            <a:spLocks noChangeArrowheads="1"/>
          </p:cNvSpPr>
          <p:nvPr/>
        </p:nvSpPr>
        <p:spPr bwMode="auto">
          <a:xfrm>
            <a:off x="1033463" y="1227138"/>
            <a:ext cx="3276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800080"/>
                </a:solidFill>
              </a:rPr>
              <a:t>(a) Consumer surplus at price P</a:t>
            </a:r>
            <a:r>
              <a:rPr lang="en-US" altLang="en-US" sz="1600" baseline="-25000">
                <a:solidFill>
                  <a:srgbClr val="800080"/>
                </a:solidFill>
              </a:rPr>
              <a:t>1</a:t>
            </a:r>
          </a:p>
        </p:txBody>
      </p:sp>
      <p:sp>
        <p:nvSpPr>
          <p:cNvPr id="94" name="TextBox 8">
            <a:extLst>
              <a:ext uri="{FF2B5EF4-FFF2-40B4-BE49-F238E27FC236}">
                <a16:creationId xmlns:a16="http://schemas.microsoft.com/office/drawing/2014/main" id="{7815F719-6B86-4278-A113-38EA18243A9F}"/>
              </a:ext>
            </a:extLst>
          </p:cNvPr>
          <p:cNvSpPr txBox="1">
            <a:spLocks noChangeArrowheads="1"/>
          </p:cNvSpPr>
          <p:nvPr/>
        </p:nvSpPr>
        <p:spPr bwMode="auto">
          <a:xfrm>
            <a:off x="5640388" y="1223963"/>
            <a:ext cx="330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800080"/>
                </a:solidFill>
              </a:rPr>
              <a:t>(b) Consumer surplus at price P</a:t>
            </a:r>
            <a:r>
              <a:rPr lang="en-US" altLang="en-US" sz="1600" baseline="-25000">
                <a:solidFill>
                  <a:srgbClr val="800080"/>
                </a:solidFill>
              </a:rPr>
              <a:t>2</a:t>
            </a:r>
            <a:endParaRPr lang="en-US" altLang="en-US" sz="1600">
              <a:solidFill>
                <a:srgbClr val="800080"/>
              </a:solidFill>
            </a:endParaRPr>
          </a:p>
        </p:txBody>
      </p:sp>
      <p:grpSp>
        <p:nvGrpSpPr>
          <p:cNvPr id="10" name="Group 121">
            <a:extLst>
              <a:ext uri="{FF2B5EF4-FFF2-40B4-BE49-F238E27FC236}">
                <a16:creationId xmlns:a16="http://schemas.microsoft.com/office/drawing/2014/main" id="{1B560D34-0826-4860-8699-1E570089041F}"/>
              </a:ext>
            </a:extLst>
          </p:cNvPr>
          <p:cNvGrpSpPr>
            <a:grpSpLocks/>
          </p:cNvGrpSpPr>
          <p:nvPr/>
        </p:nvGrpSpPr>
        <p:grpSpPr bwMode="auto">
          <a:xfrm>
            <a:off x="925513" y="2232025"/>
            <a:ext cx="3224212" cy="2922588"/>
            <a:chOff x="926275" y="2339439"/>
            <a:chExt cx="3224159" cy="2921330"/>
          </a:xfrm>
        </p:grpSpPr>
        <p:sp>
          <p:nvSpPr>
            <p:cNvPr id="22608" name="TextBox 23">
              <a:extLst>
                <a:ext uri="{FF2B5EF4-FFF2-40B4-BE49-F238E27FC236}">
                  <a16:creationId xmlns:a16="http://schemas.microsoft.com/office/drawing/2014/main" id="{4FE795AA-BF8B-4F42-BBEE-6C338197E49D}"/>
                </a:ext>
              </a:extLst>
            </p:cNvPr>
            <p:cNvSpPr txBox="1">
              <a:spLocks noChangeArrowheads="1"/>
            </p:cNvSpPr>
            <p:nvPr/>
          </p:nvSpPr>
          <p:spPr bwMode="auto">
            <a:xfrm>
              <a:off x="3191517" y="4372459"/>
              <a:ext cx="9589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Demand</a:t>
              </a:r>
            </a:p>
          </p:txBody>
        </p:sp>
        <p:cxnSp>
          <p:nvCxnSpPr>
            <p:cNvPr id="121" name="Straight Connector 120">
              <a:extLst>
                <a:ext uri="{FF2B5EF4-FFF2-40B4-BE49-F238E27FC236}">
                  <a16:creationId xmlns:a16="http://schemas.microsoft.com/office/drawing/2014/main" id="{E351D391-6BC9-431B-936D-5238C38AF0B5}"/>
                </a:ext>
              </a:extLst>
            </p:cNvPr>
            <p:cNvCxnSpPr/>
            <p:nvPr/>
          </p:nvCxnSpPr>
          <p:spPr>
            <a:xfrm rot="16200000" flipH="1">
              <a:off x="825282" y="2440432"/>
              <a:ext cx="2921330" cy="2719342"/>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grpSp>
      <p:grpSp>
        <p:nvGrpSpPr>
          <p:cNvPr id="11" name="Group 139">
            <a:extLst>
              <a:ext uri="{FF2B5EF4-FFF2-40B4-BE49-F238E27FC236}">
                <a16:creationId xmlns:a16="http://schemas.microsoft.com/office/drawing/2014/main" id="{FFDF68BA-A188-41DE-9478-4BC2B11F0476}"/>
              </a:ext>
            </a:extLst>
          </p:cNvPr>
          <p:cNvGrpSpPr>
            <a:grpSpLocks/>
          </p:cNvGrpSpPr>
          <p:nvPr/>
        </p:nvGrpSpPr>
        <p:grpSpPr bwMode="auto">
          <a:xfrm>
            <a:off x="531813" y="3370263"/>
            <a:ext cx="1617662" cy="338137"/>
            <a:chOff x="532410" y="3477490"/>
            <a:chExt cx="1617024" cy="338554"/>
          </a:xfrm>
        </p:grpSpPr>
        <p:cxnSp>
          <p:nvCxnSpPr>
            <p:cNvPr id="127" name="Straight Connector 126">
              <a:extLst>
                <a:ext uri="{FF2B5EF4-FFF2-40B4-BE49-F238E27FC236}">
                  <a16:creationId xmlns:a16="http://schemas.microsoft.com/office/drawing/2014/main" id="{D2859B3C-F79A-4B68-8F3A-23CC6F5DCBB8}"/>
                </a:ext>
              </a:extLst>
            </p:cNvPr>
            <p:cNvCxnSpPr/>
            <p:nvPr/>
          </p:nvCxnSpPr>
          <p:spPr>
            <a:xfrm>
              <a:off x="925955" y="3669814"/>
              <a:ext cx="1223479" cy="159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607" name="TextBox 129">
              <a:extLst>
                <a:ext uri="{FF2B5EF4-FFF2-40B4-BE49-F238E27FC236}">
                  <a16:creationId xmlns:a16="http://schemas.microsoft.com/office/drawing/2014/main" id="{FD4A4850-61D1-4FFC-B9CA-0C0789A9DE38}"/>
                </a:ext>
              </a:extLst>
            </p:cNvPr>
            <p:cNvSpPr txBox="1">
              <a:spLocks noChangeArrowheads="1"/>
            </p:cNvSpPr>
            <p:nvPr/>
          </p:nvSpPr>
          <p:spPr bwMode="auto">
            <a:xfrm>
              <a:off x="532410" y="3477490"/>
              <a:ext cx="39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P</a:t>
              </a:r>
              <a:r>
                <a:rPr lang="en-US" altLang="en-US" sz="1600" baseline="-25000"/>
                <a:t>1</a:t>
              </a:r>
            </a:p>
          </p:txBody>
        </p:sp>
      </p:grpSp>
      <p:grpSp>
        <p:nvGrpSpPr>
          <p:cNvPr id="12" name="Group 176">
            <a:extLst>
              <a:ext uri="{FF2B5EF4-FFF2-40B4-BE49-F238E27FC236}">
                <a16:creationId xmlns:a16="http://schemas.microsoft.com/office/drawing/2014/main" id="{06D90726-7F09-4CE8-9189-6F58FC470328}"/>
              </a:ext>
            </a:extLst>
          </p:cNvPr>
          <p:cNvGrpSpPr>
            <a:grpSpLocks/>
          </p:cNvGrpSpPr>
          <p:nvPr/>
        </p:nvGrpSpPr>
        <p:grpSpPr bwMode="auto">
          <a:xfrm>
            <a:off x="1955800" y="3575050"/>
            <a:ext cx="420688" cy="1912938"/>
            <a:chOff x="1955470" y="3682144"/>
            <a:chExt cx="420308" cy="1913220"/>
          </a:xfrm>
        </p:grpSpPr>
        <p:cxnSp>
          <p:nvCxnSpPr>
            <p:cNvPr id="129" name="Straight Connector 128">
              <a:extLst>
                <a:ext uri="{FF2B5EF4-FFF2-40B4-BE49-F238E27FC236}">
                  <a16:creationId xmlns:a16="http://schemas.microsoft.com/office/drawing/2014/main" id="{180425DB-D8F8-400D-86C8-6336D4D9223C}"/>
                </a:ext>
              </a:extLst>
            </p:cNvPr>
            <p:cNvCxnSpPr/>
            <p:nvPr/>
          </p:nvCxnSpPr>
          <p:spPr>
            <a:xfrm rot="5400000">
              <a:off x="1353527" y="4464898"/>
              <a:ext cx="1567094" cy="1587"/>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605" name="TextBox 130">
              <a:extLst>
                <a:ext uri="{FF2B5EF4-FFF2-40B4-BE49-F238E27FC236}">
                  <a16:creationId xmlns:a16="http://schemas.microsoft.com/office/drawing/2014/main" id="{4520DFAC-52D9-4868-B857-42234AF81BD1}"/>
                </a:ext>
              </a:extLst>
            </p:cNvPr>
            <p:cNvSpPr txBox="1">
              <a:spLocks noChangeArrowheads="1"/>
            </p:cNvSpPr>
            <p:nvPr/>
          </p:nvSpPr>
          <p:spPr bwMode="auto">
            <a:xfrm>
              <a:off x="1955470" y="5256810"/>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1</a:t>
              </a:r>
            </a:p>
          </p:txBody>
        </p:sp>
      </p:grpSp>
      <p:sp>
        <p:nvSpPr>
          <p:cNvPr id="138" name="Isosceles Triangle 137">
            <a:extLst>
              <a:ext uri="{FF2B5EF4-FFF2-40B4-BE49-F238E27FC236}">
                <a16:creationId xmlns:a16="http://schemas.microsoft.com/office/drawing/2014/main" id="{C6FE1792-32D1-4B90-8EF1-84F27C7D5D0F}"/>
              </a:ext>
            </a:extLst>
          </p:cNvPr>
          <p:cNvSpPr/>
          <p:nvPr/>
        </p:nvSpPr>
        <p:spPr>
          <a:xfrm>
            <a:off x="942975" y="2297113"/>
            <a:ext cx="1163638" cy="1254125"/>
          </a:xfrm>
          <a:prstGeom prst="triangle">
            <a:avLst>
              <a:gd name="adj" fmla="val 485"/>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dirty="0">
              <a:solidFill>
                <a:srgbClr val="800080"/>
              </a:solidFill>
            </a:endParaRPr>
          </a:p>
        </p:txBody>
      </p:sp>
      <p:sp>
        <p:nvSpPr>
          <p:cNvPr id="139" name="TextBox 104">
            <a:extLst>
              <a:ext uri="{FF2B5EF4-FFF2-40B4-BE49-F238E27FC236}">
                <a16:creationId xmlns:a16="http://schemas.microsoft.com/office/drawing/2014/main" id="{34ECB899-2FB7-4623-9727-590AA603D709}"/>
              </a:ext>
            </a:extLst>
          </p:cNvPr>
          <p:cNvSpPr txBox="1">
            <a:spLocks noChangeArrowheads="1"/>
          </p:cNvSpPr>
          <p:nvPr/>
        </p:nvSpPr>
        <p:spPr bwMode="auto">
          <a:xfrm>
            <a:off x="915988" y="3043238"/>
            <a:ext cx="892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solidFill>
                  <a:srgbClr val="800080"/>
                </a:solidFill>
              </a:rPr>
              <a:t>Consumer</a:t>
            </a:r>
          </a:p>
          <a:p>
            <a:pPr algn="ctr" eaLnBrk="1" hangingPunct="1"/>
            <a:r>
              <a:rPr lang="en-US" altLang="en-US" sz="1200">
                <a:solidFill>
                  <a:srgbClr val="800080"/>
                </a:solidFill>
              </a:rPr>
              <a:t>surplus</a:t>
            </a:r>
          </a:p>
        </p:txBody>
      </p:sp>
      <p:grpSp>
        <p:nvGrpSpPr>
          <p:cNvPr id="14" name="Group 134">
            <a:extLst>
              <a:ext uri="{FF2B5EF4-FFF2-40B4-BE49-F238E27FC236}">
                <a16:creationId xmlns:a16="http://schemas.microsoft.com/office/drawing/2014/main" id="{E8238515-1E7D-49BB-BFA5-4CA4F1135A5F}"/>
              </a:ext>
            </a:extLst>
          </p:cNvPr>
          <p:cNvGrpSpPr>
            <a:grpSpLocks/>
          </p:cNvGrpSpPr>
          <p:nvPr/>
        </p:nvGrpSpPr>
        <p:grpSpPr bwMode="auto">
          <a:xfrm>
            <a:off x="855663" y="3502025"/>
            <a:ext cx="434975" cy="442913"/>
            <a:chOff x="2392240" y="3102882"/>
            <a:chExt cx="434374" cy="442011"/>
          </a:xfrm>
        </p:grpSpPr>
        <p:sp>
          <p:nvSpPr>
            <p:cNvPr id="22602" name="Freeform 183">
              <a:extLst>
                <a:ext uri="{FF2B5EF4-FFF2-40B4-BE49-F238E27FC236}">
                  <a16:creationId xmlns:a16="http://schemas.microsoft.com/office/drawing/2014/main" id="{AF9D3914-7A99-4704-95D9-A00D8048B186}"/>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03" name="TextBox 136">
              <a:extLst>
                <a:ext uri="{FF2B5EF4-FFF2-40B4-BE49-F238E27FC236}">
                  <a16:creationId xmlns:a16="http://schemas.microsoft.com/office/drawing/2014/main" id="{CEF7A807-7F81-4B3B-BA2A-8293B1771A82}"/>
                </a:ext>
              </a:extLst>
            </p:cNvPr>
            <p:cNvSpPr txBox="1">
              <a:spLocks noChangeArrowheads="1"/>
            </p:cNvSpPr>
            <p:nvPr/>
          </p:nvSpPr>
          <p:spPr bwMode="auto">
            <a:xfrm>
              <a:off x="2505692" y="3206339"/>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a:t>
              </a:r>
            </a:p>
          </p:txBody>
        </p:sp>
      </p:grpSp>
      <p:grpSp>
        <p:nvGrpSpPr>
          <p:cNvPr id="15" name="Group 131">
            <a:extLst>
              <a:ext uri="{FF2B5EF4-FFF2-40B4-BE49-F238E27FC236}">
                <a16:creationId xmlns:a16="http://schemas.microsoft.com/office/drawing/2014/main" id="{DFB4D3D4-9240-467C-AC45-271A4DD4A19A}"/>
              </a:ext>
            </a:extLst>
          </p:cNvPr>
          <p:cNvGrpSpPr>
            <a:grpSpLocks/>
          </p:cNvGrpSpPr>
          <p:nvPr/>
        </p:nvGrpSpPr>
        <p:grpSpPr bwMode="auto">
          <a:xfrm>
            <a:off x="2070100" y="3203575"/>
            <a:ext cx="433388" cy="438150"/>
            <a:chOff x="2392240" y="2802577"/>
            <a:chExt cx="433719" cy="436830"/>
          </a:xfrm>
        </p:grpSpPr>
        <p:sp>
          <p:nvSpPr>
            <p:cNvPr id="22600" name="Freeform 183">
              <a:extLst>
                <a:ext uri="{FF2B5EF4-FFF2-40B4-BE49-F238E27FC236}">
                  <a16:creationId xmlns:a16="http://schemas.microsoft.com/office/drawing/2014/main" id="{E5BD7946-4169-4633-8DD5-7B2A1EA52727}"/>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01" name="TextBox 133">
              <a:extLst>
                <a:ext uri="{FF2B5EF4-FFF2-40B4-BE49-F238E27FC236}">
                  <a16:creationId xmlns:a16="http://schemas.microsoft.com/office/drawing/2014/main" id="{D80E6E18-F78B-4636-9660-EA38AB88A1AE}"/>
                </a:ext>
              </a:extLst>
            </p:cNvPr>
            <p:cNvSpPr txBox="1">
              <a:spLocks noChangeArrowheads="1"/>
            </p:cNvSpPr>
            <p:nvPr/>
          </p:nvSpPr>
          <p:spPr bwMode="auto">
            <a:xfrm>
              <a:off x="2493817" y="2802577"/>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a:t>
              </a:r>
            </a:p>
          </p:txBody>
        </p:sp>
      </p:grpSp>
      <p:grpSp>
        <p:nvGrpSpPr>
          <p:cNvPr id="16" name="Group 124">
            <a:extLst>
              <a:ext uri="{FF2B5EF4-FFF2-40B4-BE49-F238E27FC236}">
                <a16:creationId xmlns:a16="http://schemas.microsoft.com/office/drawing/2014/main" id="{E3EC1315-6521-4BCB-9342-40D68D2B1C4B}"/>
              </a:ext>
            </a:extLst>
          </p:cNvPr>
          <p:cNvGrpSpPr>
            <a:grpSpLocks/>
          </p:cNvGrpSpPr>
          <p:nvPr/>
        </p:nvGrpSpPr>
        <p:grpSpPr bwMode="auto">
          <a:xfrm>
            <a:off x="847725" y="1876425"/>
            <a:ext cx="423863" cy="436563"/>
            <a:chOff x="2392240" y="2802577"/>
            <a:chExt cx="422499" cy="436830"/>
          </a:xfrm>
        </p:grpSpPr>
        <p:sp>
          <p:nvSpPr>
            <p:cNvPr id="22598" name="Freeform 183">
              <a:extLst>
                <a:ext uri="{FF2B5EF4-FFF2-40B4-BE49-F238E27FC236}">
                  <a16:creationId xmlns:a16="http://schemas.microsoft.com/office/drawing/2014/main" id="{EE68A8CB-CB11-4F18-86B0-4D7F56BA0D6B}"/>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99" name="TextBox 123">
              <a:extLst>
                <a:ext uri="{FF2B5EF4-FFF2-40B4-BE49-F238E27FC236}">
                  <a16:creationId xmlns:a16="http://schemas.microsoft.com/office/drawing/2014/main" id="{3B5E89C5-EFC5-488A-8277-B909BF750232}"/>
                </a:ext>
              </a:extLst>
            </p:cNvPr>
            <p:cNvSpPr txBox="1">
              <a:spLocks noChangeArrowheads="1"/>
            </p:cNvSpPr>
            <p:nvPr/>
          </p:nvSpPr>
          <p:spPr bwMode="auto">
            <a:xfrm>
              <a:off x="2493817" y="2802577"/>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a:t>
              </a:r>
            </a:p>
          </p:txBody>
        </p:sp>
      </p:grpSp>
      <p:grpSp>
        <p:nvGrpSpPr>
          <p:cNvPr id="17" name="Group 140">
            <a:extLst>
              <a:ext uri="{FF2B5EF4-FFF2-40B4-BE49-F238E27FC236}">
                <a16:creationId xmlns:a16="http://schemas.microsoft.com/office/drawing/2014/main" id="{E4AF28EA-022E-4EF0-8E58-3F35F96880C7}"/>
              </a:ext>
            </a:extLst>
          </p:cNvPr>
          <p:cNvGrpSpPr>
            <a:grpSpLocks/>
          </p:cNvGrpSpPr>
          <p:nvPr/>
        </p:nvGrpSpPr>
        <p:grpSpPr bwMode="auto">
          <a:xfrm>
            <a:off x="4672013" y="1468438"/>
            <a:ext cx="3900487" cy="3679825"/>
            <a:chOff x="1194096" y="1589303"/>
            <a:chExt cx="3900394" cy="3679435"/>
          </a:xfrm>
        </p:grpSpPr>
        <p:sp>
          <p:nvSpPr>
            <p:cNvPr id="142" name="Rectangle 141">
              <a:extLst>
                <a:ext uri="{FF2B5EF4-FFF2-40B4-BE49-F238E27FC236}">
                  <a16:creationId xmlns:a16="http://schemas.microsoft.com/office/drawing/2014/main" id="{7A21E6D5-AA4C-4EA2-8F51-CE623E4C3606}"/>
                </a:ext>
              </a:extLst>
            </p:cNvPr>
            <p:cNvSpPr/>
            <p:nvPr/>
          </p:nvSpPr>
          <p:spPr>
            <a:xfrm>
              <a:off x="1829081" y="1840101"/>
              <a:ext cx="3265409" cy="34286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dirty="0"/>
            </a:p>
          </p:txBody>
        </p:sp>
        <p:grpSp>
          <p:nvGrpSpPr>
            <p:cNvPr id="22595" name="Group 48">
              <a:extLst>
                <a:ext uri="{FF2B5EF4-FFF2-40B4-BE49-F238E27FC236}">
                  <a16:creationId xmlns:a16="http://schemas.microsoft.com/office/drawing/2014/main" id="{91D747FD-56AD-472E-A8CF-2C6D5AB4DC24}"/>
                </a:ext>
              </a:extLst>
            </p:cNvPr>
            <p:cNvGrpSpPr>
              <a:grpSpLocks/>
            </p:cNvGrpSpPr>
            <p:nvPr/>
          </p:nvGrpSpPr>
          <p:grpSpPr bwMode="auto">
            <a:xfrm>
              <a:off x="1194096" y="1589303"/>
              <a:ext cx="651139" cy="3668320"/>
              <a:chOff x="3937056" y="1133301"/>
              <a:chExt cx="651139" cy="3668092"/>
            </a:xfrm>
          </p:grpSpPr>
          <p:cxnSp>
            <p:nvCxnSpPr>
              <p:cNvPr id="144" name="Straight Connector 143">
                <a:extLst>
                  <a:ext uri="{FF2B5EF4-FFF2-40B4-BE49-F238E27FC236}">
                    <a16:creationId xmlns:a16="http://schemas.microsoft.com/office/drawing/2014/main" id="{D256EAC9-517D-4410-929C-4013B7565868}"/>
                  </a:ext>
                </a:extLst>
              </p:cNvPr>
              <p:cNvCxnSpPr/>
              <p:nvPr/>
            </p:nvCxnSpPr>
            <p:spPr>
              <a:xfrm rot="5400000">
                <a:off x="2896716" y="3124484"/>
                <a:ext cx="3352236"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597" name="TextBox 56">
                <a:extLst>
                  <a:ext uri="{FF2B5EF4-FFF2-40B4-BE49-F238E27FC236}">
                    <a16:creationId xmlns:a16="http://schemas.microsoft.com/office/drawing/2014/main" id="{C40B9787-989E-41B7-99B9-90D2BDAE5682}"/>
                  </a:ext>
                </a:extLst>
              </p:cNvPr>
              <p:cNvSpPr txBox="1">
                <a:spLocks noChangeArrowheads="1"/>
              </p:cNvSpPr>
              <p:nvPr/>
            </p:nvSpPr>
            <p:spPr bwMode="auto">
              <a:xfrm>
                <a:off x="3937056" y="1133301"/>
                <a:ext cx="651139" cy="3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600"/>
                  <a:t>Price</a:t>
                </a:r>
              </a:p>
            </p:txBody>
          </p:sp>
        </p:grpSp>
      </p:grpSp>
      <p:grpSp>
        <p:nvGrpSpPr>
          <p:cNvPr id="19" name="Group 8">
            <a:extLst>
              <a:ext uri="{FF2B5EF4-FFF2-40B4-BE49-F238E27FC236}">
                <a16:creationId xmlns:a16="http://schemas.microsoft.com/office/drawing/2014/main" id="{BF5B65CB-FEDE-47E0-80EA-562B7A1EFC6D}"/>
              </a:ext>
            </a:extLst>
          </p:cNvPr>
          <p:cNvGrpSpPr>
            <a:grpSpLocks/>
          </p:cNvGrpSpPr>
          <p:nvPr/>
        </p:nvGrpSpPr>
        <p:grpSpPr bwMode="auto">
          <a:xfrm>
            <a:off x="5078413" y="5135563"/>
            <a:ext cx="3622675" cy="382587"/>
            <a:chOff x="4343400" y="4788631"/>
            <a:chExt cx="3623226" cy="382147"/>
          </a:xfrm>
        </p:grpSpPr>
        <p:cxnSp>
          <p:nvCxnSpPr>
            <p:cNvPr id="147" name="Straight Connector 146">
              <a:extLst>
                <a:ext uri="{FF2B5EF4-FFF2-40B4-BE49-F238E27FC236}">
                  <a16:creationId xmlns:a16="http://schemas.microsoft.com/office/drawing/2014/main" id="{8198CC08-B7EA-42D8-BAAC-19A03E051B9D}"/>
                </a:ext>
              </a:extLst>
            </p:cNvPr>
            <p:cNvCxnSpPr/>
            <p:nvPr/>
          </p:nvCxnSpPr>
          <p:spPr>
            <a:xfrm>
              <a:off x="4572035" y="4788631"/>
              <a:ext cx="3289800" cy="31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592" name="TextBox 10">
              <a:extLst>
                <a:ext uri="{FF2B5EF4-FFF2-40B4-BE49-F238E27FC236}">
                  <a16:creationId xmlns:a16="http://schemas.microsoft.com/office/drawing/2014/main" id="{5C79948B-1652-4F5E-8AFE-7FD8E6FC005F}"/>
                </a:ext>
              </a:extLst>
            </p:cNvPr>
            <p:cNvSpPr txBox="1">
              <a:spLocks noChangeArrowheads="1"/>
            </p:cNvSpPr>
            <p:nvPr/>
          </p:nvSpPr>
          <p:spPr bwMode="auto">
            <a:xfrm>
              <a:off x="4343400" y="4800600"/>
              <a:ext cx="298480"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p>
          </p:txBody>
        </p:sp>
        <p:sp>
          <p:nvSpPr>
            <p:cNvPr id="22593" name="TextBox 23">
              <a:extLst>
                <a:ext uri="{FF2B5EF4-FFF2-40B4-BE49-F238E27FC236}">
                  <a16:creationId xmlns:a16="http://schemas.microsoft.com/office/drawing/2014/main" id="{2F08BBD1-8AD3-43F5-BF0B-F3CDAA86C1DB}"/>
                </a:ext>
              </a:extLst>
            </p:cNvPr>
            <p:cNvSpPr txBox="1">
              <a:spLocks noChangeArrowheads="1"/>
            </p:cNvSpPr>
            <p:nvPr/>
          </p:nvSpPr>
          <p:spPr bwMode="auto">
            <a:xfrm>
              <a:off x="7017327" y="4832451"/>
              <a:ext cx="949299"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Quantity</a:t>
              </a:r>
            </a:p>
          </p:txBody>
        </p:sp>
      </p:grpSp>
      <p:grpSp>
        <p:nvGrpSpPr>
          <p:cNvPr id="20" name="Group 149">
            <a:extLst>
              <a:ext uri="{FF2B5EF4-FFF2-40B4-BE49-F238E27FC236}">
                <a16:creationId xmlns:a16="http://schemas.microsoft.com/office/drawing/2014/main" id="{E6612785-1CE1-449F-944C-0F3D25C51EE5}"/>
              </a:ext>
            </a:extLst>
          </p:cNvPr>
          <p:cNvGrpSpPr>
            <a:grpSpLocks/>
          </p:cNvGrpSpPr>
          <p:nvPr/>
        </p:nvGrpSpPr>
        <p:grpSpPr bwMode="auto">
          <a:xfrm>
            <a:off x="5307013" y="2219325"/>
            <a:ext cx="3224212" cy="2921000"/>
            <a:chOff x="926275" y="2339439"/>
            <a:chExt cx="3224159" cy="2921330"/>
          </a:xfrm>
        </p:grpSpPr>
        <p:sp>
          <p:nvSpPr>
            <p:cNvPr id="22589" name="TextBox 23">
              <a:extLst>
                <a:ext uri="{FF2B5EF4-FFF2-40B4-BE49-F238E27FC236}">
                  <a16:creationId xmlns:a16="http://schemas.microsoft.com/office/drawing/2014/main" id="{A795FD23-8C6B-4D9B-9E08-8D0A6EBEE885}"/>
                </a:ext>
              </a:extLst>
            </p:cNvPr>
            <p:cNvSpPr txBox="1">
              <a:spLocks noChangeArrowheads="1"/>
            </p:cNvSpPr>
            <p:nvPr/>
          </p:nvSpPr>
          <p:spPr bwMode="auto">
            <a:xfrm>
              <a:off x="3191517" y="4372459"/>
              <a:ext cx="9589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Demand</a:t>
              </a:r>
            </a:p>
          </p:txBody>
        </p:sp>
        <p:cxnSp>
          <p:nvCxnSpPr>
            <p:cNvPr id="152" name="Straight Connector 151">
              <a:extLst>
                <a:ext uri="{FF2B5EF4-FFF2-40B4-BE49-F238E27FC236}">
                  <a16:creationId xmlns:a16="http://schemas.microsoft.com/office/drawing/2014/main" id="{70C1BF13-7F9E-48B1-AAE7-E42FBEEE5901}"/>
                </a:ext>
              </a:extLst>
            </p:cNvPr>
            <p:cNvCxnSpPr/>
            <p:nvPr/>
          </p:nvCxnSpPr>
          <p:spPr>
            <a:xfrm rot="16200000" flipH="1">
              <a:off x="825282" y="2440432"/>
              <a:ext cx="2921330" cy="2719342"/>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grpSp>
      <p:grpSp>
        <p:nvGrpSpPr>
          <p:cNvPr id="21" name="Group 153">
            <a:extLst>
              <a:ext uri="{FF2B5EF4-FFF2-40B4-BE49-F238E27FC236}">
                <a16:creationId xmlns:a16="http://schemas.microsoft.com/office/drawing/2014/main" id="{50965E55-BF26-435A-B095-FBF0DB3EDF84}"/>
              </a:ext>
            </a:extLst>
          </p:cNvPr>
          <p:cNvGrpSpPr>
            <a:grpSpLocks/>
          </p:cNvGrpSpPr>
          <p:nvPr/>
        </p:nvGrpSpPr>
        <p:grpSpPr bwMode="auto">
          <a:xfrm>
            <a:off x="4911725" y="3355975"/>
            <a:ext cx="1617663" cy="339725"/>
            <a:chOff x="532410" y="3477490"/>
            <a:chExt cx="1617024" cy="338554"/>
          </a:xfrm>
        </p:grpSpPr>
        <p:cxnSp>
          <p:nvCxnSpPr>
            <p:cNvPr id="155" name="Straight Connector 154">
              <a:extLst>
                <a:ext uri="{FF2B5EF4-FFF2-40B4-BE49-F238E27FC236}">
                  <a16:creationId xmlns:a16="http://schemas.microsoft.com/office/drawing/2014/main" id="{2B6F4500-4302-40E0-83E1-64FE734BFB56}"/>
                </a:ext>
              </a:extLst>
            </p:cNvPr>
            <p:cNvCxnSpPr/>
            <p:nvPr/>
          </p:nvCxnSpPr>
          <p:spPr>
            <a:xfrm>
              <a:off x="925954" y="3668916"/>
              <a:ext cx="1223480" cy="1582"/>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588" name="TextBox 155">
              <a:extLst>
                <a:ext uri="{FF2B5EF4-FFF2-40B4-BE49-F238E27FC236}">
                  <a16:creationId xmlns:a16="http://schemas.microsoft.com/office/drawing/2014/main" id="{5B02EEC0-16B7-4B83-9DA7-0972A84B5A9D}"/>
                </a:ext>
              </a:extLst>
            </p:cNvPr>
            <p:cNvSpPr txBox="1">
              <a:spLocks noChangeArrowheads="1"/>
            </p:cNvSpPr>
            <p:nvPr/>
          </p:nvSpPr>
          <p:spPr bwMode="auto">
            <a:xfrm>
              <a:off x="532410" y="3477490"/>
              <a:ext cx="39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P</a:t>
              </a:r>
              <a:r>
                <a:rPr lang="en-US" altLang="en-US" sz="1600" baseline="-25000"/>
                <a:t>1</a:t>
              </a:r>
            </a:p>
          </p:txBody>
        </p:sp>
      </p:grpSp>
      <p:grpSp>
        <p:nvGrpSpPr>
          <p:cNvPr id="22" name="Group 177">
            <a:extLst>
              <a:ext uri="{FF2B5EF4-FFF2-40B4-BE49-F238E27FC236}">
                <a16:creationId xmlns:a16="http://schemas.microsoft.com/office/drawing/2014/main" id="{D704441D-E5E2-4EB8-B32D-D5875D8E6CD3}"/>
              </a:ext>
            </a:extLst>
          </p:cNvPr>
          <p:cNvGrpSpPr>
            <a:grpSpLocks/>
          </p:cNvGrpSpPr>
          <p:nvPr/>
        </p:nvGrpSpPr>
        <p:grpSpPr bwMode="auto">
          <a:xfrm>
            <a:off x="6335713" y="3560763"/>
            <a:ext cx="420687" cy="1914525"/>
            <a:chOff x="6335486" y="3668289"/>
            <a:chExt cx="420308" cy="1913220"/>
          </a:xfrm>
        </p:grpSpPr>
        <p:cxnSp>
          <p:nvCxnSpPr>
            <p:cNvPr id="153" name="Straight Connector 152">
              <a:extLst>
                <a:ext uri="{FF2B5EF4-FFF2-40B4-BE49-F238E27FC236}">
                  <a16:creationId xmlns:a16="http://schemas.microsoft.com/office/drawing/2014/main" id="{34A4859D-7BAF-4106-A289-28D46B9AD64B}"/>
                </a:ext>
              </a:extLst>
            </p:cNvPr>
            <p:cNvCxnSpPr/>
            <p:nvPr/>
          </p:nvCxnSpPr>
          <p:spPr>
            <a:xfrm rot="5400000">
              <a:off x="5733401" y="4451186"/>
              <a:ext cx="1567381"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586" name="TextBox 156">
              <a:extLst>
                <a:ext uri="{FF2B5EF4-FFF2-40B4-BE49-F238E27FC236}">
                  <a16:creationId xmlns:a16="http://schemas.microsoft.com/office/drawing/2014/main" id="{8EE5AE01-61E1-49B8-A565-482DF12E9951}"/>
                </a:ext>
              </a:extLst>
            </p:cNvPr>
            <p:cNvSpPr txBox="1">
              <a:spLocks noChangeArrowheads="1"/>
            </p:cNvSpPr>
            <p:nvPr/>
          </p:nvSpPr>
          <p:spPr bwMode="auto">
            <a:xfrm>
              <a:off x="6335486" y="5242955"/>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1</a:t>
              </a:r>
            </a:p>
          </p:txBody>
        </p:sp>
      </p:grpSp>
      <p:sp>
        <p:nvSpPr>
          <p:cNvPr id="158" name="Isosceles Triangle 157">
            <a:extLst>
              <a:ext uri="{FF2B5EF4-FFF2-40B4-BE49-F238E27FC236}">
                <a16:creationId xmlns:a16="http://schemas.microsoft.com/office/drawing/2014/main" id="{7BECAA65-177E-442A-A399-FD4B7B325687}"/>
              </a:ext>
            </a:extLst>
          </p:cNvPr>
          <p:cNvSpPr/>
          <p:nvPr/>
        </p:nvSpPr>
        <p:spPr>
          <a:xfrm>
            <a:off x="5322888" y="2282825"/>
            <a:ext cx="1163637" cy="1254125"/>
          </a:xfrm>
          <a:prstGeom prst="triangle">
            <a:avLst>
              <a:gd name="adj" fmla="val 485"/>
            </a:avLst>
          </a:prstGeom>
          <a:solidFill>
            <a:srgbClr val="F8EDEC"/>
          </a:solidFill>
          <a:ln>
            <a:solidFill>
              <a:srgbClr val="F8EDE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dirty="0">
              <a:solidFill>
                <a:srgbClr val="800080"/>
              </a:solidFill>
            </a:endParaRPr>
          </a:p>
        </p:txBody>
      </p:sp>
      <p:sp>
        <p:nvSpPr>
          <p:cNvPr id="159" name="TextBox 104">
            <a:extLst>
              <a:ext uri="{FF2B5EF4-FFF2-40B4-BE49-F238E27FC236}">
                <a16:creationId xmlns:a16="http://schemas.microsoft.com/office/drawing/2014/main" id="{2802B220-2F89-4B6A-A95E-3697A60F6C8F}"/>
              </a:ext>
            </a:extLst>
          </p:cNvPr>
          <p:cNvSpPr txBox="1">
            <a:spLocks noChangeArrowheads="1"/>
          </p:cNvSpPr>
          <p:nvPr/>
        </p:nvSpPr>
        <p:spPr bwMode="auto">
          <a:xfrm>
            <a:off x="5295900" y="2933700"/>
            <a:ext cx="857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solidFill>
                  <a:srgbClr val="800080"/>
                </a:solidFill>
              </a:rPr>
              <a:t>Initial</a:t>
            </a:r>
          </a:p>
          <a:p>
            <a:pPr algn="ctr" eaLnBrk="1" hangingPunct="1"/>
            <a:r>
              <a:rPr lang="en-US" altLang="en-US" sz="1200">
                <a:solidFill>
                  <a:srgbClr val="800080"/>
                </a:solidFill>
              </a:rPr>
              <a:t>consumer</a:t>
            </a:r>
          </a:p>
          <a:p>
            <a:pPr algn="ctr" eaLnBrk="1" hangingPunct="1"/>
            <a:r>
              <a:rPr lang="en-US" altLang="en-US" sz="1200">
                <a:solidFill>
                  <a:srgbClr val="800080"/>
                </a:solidFill>
              </a:rPr>
              <a:t>surplus</a:t>
            </a:r>
          </a:p>
        </p:txBody>
      </p:sp>
      <p:grpSp>
        <p:nvGrpSpPr>
          <p:cNvPr id="24" name="Group 165">
            <a:extLst>
              <a:ext uri="{FF2B5EF4-FFF2-40B4-BE49-F238E27FC236}">
                <a16:creationId xmlns:a16="http://schemas.microsoft.com/office/drawing/2014/main" id="{D302F4E7-98DA-48CC-BFEF-C5A94E5AF3C6}"/>
              </a:ext>
            </a:extLst>
          </p:cNvPr>
          <p:cNvGrpSpPr>
            <a:grpSpLocks/>
          </p:cNvGrpSpPr>
          <p:nvPr/>
        </p:nvGrpSpPr>
        <p:grpSpPr bwMode="auto">
          <a:xfrm>
            <a:off x="5229225" y="1862138"/>
            <a:ext cx="422275" cy="436562"/>
            <a:chOff x="2392240" y="2802577"/>
            <a:chExt cx="422499" cy="436830"/>
          </a:xfrm>
        </p:grpSpPr>
        <p:sp>
          <p:nvSpPr>
            <p:cNvPr id="22583" name="Freeform 183">
              <a:extLst>
                <a:ext uri="{FF2B5EF4-FFF2-40B4-BE49-F238E27FC236}">
                  <a16:creationId xmlns:a16="http://schemas.microsoft.com/office/drawing/2014/main" id="{9E31AFF0-E87D-4DDE-A65A-C7AA75076A6D}"/>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84" name="TextBox 167">
              <a:extLst>
                <a:ext uri="{FF2B5EF4-FFF2-40B4-BE49-F238E27FC236}">
                  <a16:creationId xmlns:a16="http://schemas.microsoft.com/office/drawing/2014/main" id="{7857CD40-87DF-4AFB-B666-5FC62101B0E8}"/>
                </a:ext>
              </a:extLst>
            </p:cNvPr>
            <p:cNvSpPr txBox="1">
              <a:spLocks noChangeArrowheads="1"/>
            </p:cNvSpPr>
            <p:nvPr/>
          </p:nvSpPr>
          <p:spPr bwMode="auto">
            <a:xfrm>
              <a:off x="2493817" y="2802577"/>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a:t>
              </a:r>
            </a:p>
          </p:txBody>
        </p:sp>
      </p:grpSp>
      <p:grpSp>
        <p:nvGrpSpPr>
          <p:cNvPr id="27" name="Group 168">
            <a:extLst>
              <a:ext uri="{FF2B5EF4-FFF2-40B4-BE49-F238E27FC236}">
                <a16:creationId xmlns:a16="http://schemas.microsoft.com/office/drawing/2014/main" id="{B06294C1-655B-4B77-BDAC-FBDF1E21C817}"/>
              </a:ext>
            </a:extLst>
          </p:cNvPr>
          <p:cNvGrpSpPr>
            <a:grpSpLocks/>
          </p:cNvGrpSpPr>
          <p:nvPr/>
        </p:nvGrpSpPr>
        <p:grpSpPr bwMode="auto">
          <a:xfrm>
            <a:off x="4911725" y="4032250"/>
            <a:ext cx="2297113" cy="338138"/>
            <a:chOff x="532410" y="3477490"/>
            <a:chExt cx="2295896" cy="338554"/>
          </a:xfrm>
        </p:grpSpPr>
        <p:cxnSp>
          <p:nvCxnSpPr>
            <p:cNvPr id="170" name="Straight Connector 169">
              <a:extLst>
                <a:ext uri="{FF2B5EF4-FFF2-40B4-BE49-F238E27FC236}">
                  <a16:creationId xmlns:a16="http://schemas.microsoft.com/office/drawing/2014/main" id="{E9DFDE8D-C2C3-4B2B-9234-17258963E667}"/>
                </a:ext>
              </a:extLst>
            </p:cNvPr>
            <p:cNvCxnSpPr/>
            <p:nvPr/>
          </p:nvCxnSpPr>
          <p:spPr>
            <a:xfrm>
              <a:off x="925901" y="3669814"/>
              <a:ext cx="1902405" cy="3179"/>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582" name="TextBox 170">
              <a:extLst>
                <a:ext uri="{FF2B5EF4-FFF2-40B4-BE49-F238E27FC236}">
                  <a16:creationId xmlns:a16="http://schemas.microsoft.com/office/drawing/2014/main" id="{A84FCE3E-1ED6-4492-A192-9677742A9AC1}"/>
                </a:ext>
              </a:extLst>
            </p:cNvPr>
            <p:cNvSpPr txBox="1">
              <a:spLocks noChangeArrowheads="1"/>
            </p:cNvSpPr>
            <p:nvPr/>
          </p:nvSpPr>
          <p:spPr bwMode="auto">
            <a:xfrm>
              <a:off x="532410" y="3477490"/>
              <a:ext cx="39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P</a:t>
              </a:r>
              <a:r>
                <a:rPr lang="en-US" altLang="en-US" sz="1600" baseline="-25000"/>
                <a:t>2</a:t>
              </a:r>
            </a:p>
          </p:txBody>
        </p:sp>
      </p:grpSp>
      <p:grpSp>
        <p:nvGrpSpPr>
          <p:cNvPr id="28" name="Group 178">
            <a:extLst>
              <a:ext uri="{FF2B5EF4-FFF2-40B4-BE49-F238E27FC236}">
                <a16:creationId xmlns:a16="http://schemas.microsoft.com/office/drawing/2014/main" id="{1659CE52-81E7-4618-A959-02DCE17FA83D}"/>
              </a:ext>
            </a:extLst>
          </p:cNvPr>
          <p:cNvGrpSpPr>
            <a:grpSpLocks/>
          </p:cNvGrpSpPr>
          <p:nvPr/>
        </p:nvGrpSpPr>
        <p:grpSpPr bwMode="auto">
          <a:xfrm>
            <a:off x="6986588" y="4227513"/>
            <a:ext cx="420687" cy="1247775"/>
            <a:chOff x="6335486" y="4334497"/>
            <a:chExt cx="420308" cy="1247012"/>
          </a:xfrm>
        </p:grpSpPr>
        <p:cxnSp>
          <p:nvCxnSpPr>
            <p:cNvPr id="180" name="Straight Connector 179">
              <a:extLst>
                <a:ext uri="{FF2B5EF4-FFF2-40B4-BE49-F238E27FC236}">
                  <a16:creationId xmlns:a16="http://schemas.microsoft.com/office/drawing/2014/main" id="{3E554B59-C371-4967-B54A-6D69A268DC64}"/>
                </a:ext>
              </a:extLst>
            </p:cNvPr>
            <p:cNvCxnSpPr/>
            <p:nvPr/>
          </p:nvCxnSpPr>
          <p:spPr>
            <a:xfrm rot="5400000">
              <a:off x="6068103" y="4782692"/>
              <a:ext cx="901149" cy="475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2580" name="TextBox 180">
              <a:extLst>
                <a:ext uri="{FF2B5EF4-FFF2-40B4-BE49-F238E27FC236}">
                  <a16:creationId xmlns:a16="http://schemas.microsoft.com/office/drawing/2014/main" id="{4C3E8124-7BFA-401A-863B-C0571592CAAF}"/>
                </a:ext>
              </a:extLst>
            </p:cNvPr>
            <p:cNvSpPr txBox="1">
              <a:spLocks noChangeArrowheads="1"/>
            </p:cNvSpPr>
            <p:nvPr/>
          </p:nvSpPr>
          <p:spPr bwMode="auto">
            <a:xfrm>
              <a:off x="6335486" y="5242955"/>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2</a:t>
              </a:r>
            </a:p>
          </p:txBody>
        </p:sp>
      </p:grpSp>
      <p:sp>
        <p:nvSpPr>
          <p:cNvPr id="183" name="Rectangle 182">
            <a:extLst>
              <a:ext uri="{FF2B5EF4-FFF2-40B4-BE49-F238E27FC236}">
                <a16:creationId xmlns:a16="http://schemas.microsoft.com/office/drawing/2014/main" id="{4E18512A-3298-4736-A296-E8CDB6FF041E}"/>
              </a:ext>
            </a:extLst>
          </p:cNvPr>
          <p:cNvSpPr/>
          <p:nvPr/>
        </p:nvSpPr>
        <p:spPr>
          <a:xfrm>
            <a:off x="5330825" y="3562350"/>
            <a:ext cx="1168400" cy="647700"/>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29" name="Group 159">
            <a:extLst>
              <a:ext uri="{FF2B5EF4-FFF2-40B4-BE49-F238E27FC236}">
                <a16:creationId xmlns:a16="http://schemas.microsoft.com/office/drawing/2014/main" id="{1F61CDD3-43A7-421A-A5EE-FC27B433DBA2}"/>
              </a:ext>
            </a:extLst>
          </p:cNvPr>
          <p:cNvGrpSpPr>
            <a:grpSpLocks/>
          </p:cNvGrpSpPr>
          <p:nvPr/>
        </p:nvGrpSpPr>
        <p:grpSpPr bwMode="auto">
          <a:xfrm>
            <a:off x="5237163" y="3489325"/>
            <a:ext cx="433387" cy="441325"/>
            <a:chOff x="2392240" y="3102882"/>
            <a:chExt cx="434374" cy="442011"/>
          </a:xfrm>
        </p:grpSpPr>
        <p:sp>
          <p:nvSpPr>
            <p:cNvPr id="22577" name="Freeform 183">
              <a:extLst>
                <a:ext uri="{FF2B5EF4-FFF2-40B4-BE49-F238E27FC236}">
                  <a16:creationId xmlns:a16="http://schemas.microsoft.com/office/drawing/2014/main" id="{05945234-8A48-47E4-8944-B6C893F5D73E}"/>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78" name="TextBox 161">
              <a:extLst>
                <a:ext uri="{FF2B5EF4-FFF2-40B4-BE49-F238E27FC236}">
                  <a16:creationId xmlns:a16="http://schemas.microsoft.com/office/drawing/2014/main" id="{44A9AAE8-4240-477D-9B25-CB9F21CC8E38}"/>
                </a:ext>
              </a:extLst>
            </p:cNvPr>
            <p:cNvSpPr txBox="1">
              <a:spLocks noChangeArrowheads="1"/>
            </p:cNvSpPr>
            <p:nvPr/>
          </p:nvSpPr>
          <p:spPr bwMode="auto">
            <a:xfrm>
              <a:off x="2505692" y="3206339"/>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a:t>
              </a:r>
            </a:p>
          </p:txBody>
        </p:sp>
      </p:grpSp>
      <p:grpSp>
        <p:nvGrpSpPr>
          <p:cNvPr id="30" name="Group 183">
            <a:extLst>
              <a:ext uri="{FF2B5EF4-FFF2-40B4-BE49-F238E27FC236}">
                <a16:creationId xmlns:a16="http://schemas.microsoft.com/office/drawing/2014/main" id="{38B604B8-657A-4085-A19E-6B89BD070292}"/>
              </a:ext>
            </a:extLst>
          </p:cNvPr>
          <p:cNvGrpSpPr>
            <a:grpSpLocks/>
          </p:cNvGrpSpPr>
          <p:nvPr/>
        </p:nvGrpSpPr>
        <p:grpSpPr bwMode="auto">
          <a:xfrm>
            <a:off x="5237163" y="4168775"/>
            <a:ext cx="446087" cy="442913"/>
            <a:chOff x="2392240" y="3102882"/>
            <a:chExt cx="445594" cy="442011"/>
          </a:xfrm>
        </p:grpSpPr>
        <p:sp>
          <p:nvSpPr>
            <p:cNvPr id="22575" name="Freeform 183">
              <a:extLst>
                <a:ext uri="{FF2B5EF4-FFF2-40B4-BE49-F238E27FC236}">
                  <a16:creationId xmlns:a16="http://schemas.microsoft.com/office/drawing/2014/main" id="{CD7EFD66-347A-46DA-BE0D-2EA4D80D7D8F}"/>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76" name="TextBox 185">
              <a:extLst>
                <a:ext uri="{FF2B5EF4-FFF2-40B4-BE49-F238E27FC236}">
                  <a16:creationId xmlns:a16="http://schemas.microsoft.com/office/drawing/2014/main" id="{5972A3B9-9BF5-4603-AEB8-C01DE5F384BE}"/>
                </a:ext>
              </a:extLst>
            </p:cNvPr>
            <p:cNvSpPr txBox="1">
              <a:spLocks noChangeArrowheads="1"/>
            </p:cNvSpPr>
            <p:nvPr/>
          </p:nvSpPr>
          <p:spPr bwMode="auto">
            <a:xfrm>
              <a:off x="2505692" y="3206339"/>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
              </a:r>
            </a:p>
          </p:txBody>
        </p:sp>
      </p:grpSp>
      <p:sp>
        <p:nvSpPr>
          <p:cNvPr id="190" name="Isosceles Triangle 189">
            <a:extLst>
              <a:ext uri="{FF2B5EF4-FFF2-40B4-BE49-F238E27FC236}">
                <a16:creationId xmlns:a16="http://schemas.microsoft.com/office/drawing/2014/main" id="{3E135680-595D-4353-847A-17566630AD9D}"/>
              </a:ext>
            </a:extLst>
          </p:cNvPr>
          <p:cNvSpPr/>
          <p:nvPr/>
        </p:nvSpPr>
        <p:spPr>
          <a:xfrm>
            <a:off x="6527800" y="3575050"/>
            <a:ext cx="622300" cy="635000"/>
          </a:xfrm>
          <a:prstGeom prst="triangle">
            <a:avLst>
              <a:gd name="adj" fmla="val 0"/>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32" name="Group 162">
            <a:extLst>
              <a:ext uri="{FF2B5EF4-FFF2-40B4-BE49-F238E27FC236}">
                <a16:creationId xmlns:a16="http://schemas.microsoft.com/office/drawing/2014/main" id="{A05EC394-3100-40C1-A9A9-332AFB4D8A6D}"/>
              </a:ext>
            </a:extLst>
          </p:cNvPr>
          <p:cNvGrpSpPr>
            <a:grpSpLocks/>
          </p:cNvGrpSpPr>
          <p:nvPr/>
        </p:nvGrpSpPr>
        <p:grpSpPr bwMode="auto">
          <a:xfrm>
            <a:off x="6454775" y="3186113"/>
            <a:ext cx="433388" cy="436562"/>
            <a:chOff x="2392240" y="2802577"/>
            <a:chExt cx="433719" cy="436830"/>
          </a:xfrm>
        </p:grpSpPr>
        <p:sp>
          <p:nvSpPr>
            <p:cNvPr id="22573" name="Freeform 183">
              <a:extLst>
                <a:ext uri="{FF2B5EF4-FFF2-40B4-BE49-F238E27FC236}">
                  <a16:creationId xmlns:a16="http://schemas.microsoft.com/office/drawing/2014/main" id="{25EB1C16-9D3E-4506-814F-4659DD5A0A42}"/>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74" name="TextBox 164">
              <a:extLst>
                <a:ext uri="{FF2B5EF4-FFF2-40B4-BE49-F238E27FC236}">
                  <a16:creationId xmlns:a16="http://schemas.microsoft.com/office/drawing/2014/main" id="{DCEBF031-5EE2-4DB5-9A9B-6F88BD72A9D7}"/>
                </a:ext>
              </a:extLst>
            </p:cNvPr>
            <p:cNvSpPr txBox="1">
              <a:spLocks noChangeArrowheads="1"/>
            </p:cNvSpPr>
            <p:nvPr/>
          </p:nvSpPr>
          <p:spPr bwMode="auto">
            <a:xfrm>
              <a:off x="2493817" y="2802577"/>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a:t>
              </a:r>
            </a:p>
          </p:txBody>
        </p:sp>
      </p:grpSp>
      <p:grpSp>
        <p:nvGrpSpPr>
          <p:cNvPr id="33" name="Group 190">
            <a:extLst>
              <a:ext uri="{FF2B5EF4-FFF2-40B4-BE49-F238E27FC236}">
                <a16:creationId xmlns:a16="http://schemas.microsoft.com/office/drawing/2014/main" id="{A35FFF98-7E9E-45B9-8DF9-AFAFAE829562}"/>
              </a:ext>
            </a:extLst>
          </p:cNvPr>
          <p:cNvGrpSpPr>
            <a:grpSpLocks/>
          </p:cNvGrpSpPr>
          <p:nvPr/>
        </p:nvGrpSpPr>
        <p:grpSpPr bwMode="auto">
          <a:xfrm>
            <a:off x="6446838" y="4165600"/>
            <a:ext cx="433387" cy="442913"/>
            <a:chOff x="2392240" y="3102882"/>
            <a:chExt cx="434374" cy="442011"/>
          </a:xfrm>
        </p:grpSpPr>
        <p:sp>
          <p:nvSpPr>
            <p:cNvPr id="22571" name="Freeform 183">
              <a:extLst>
                <a:ext uri="{FF2B5EF4-FFF2-40B4-BE49-F238E27FC236}">
                  <a16:creationId xmlns:a16="http://schemas.microsoft.com/office/drawing/2014/main" id="{319A3AC2-5154-4E45-890A-E5B7BBCA528F}"/>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72" name="TextBox 192">
              <a:extLst>
                <a:ext uri="{FF2B5EF4-FFF2-40B4-BE49-F238E27FC236}">
                  <a16:creationId xmlns:a16="http://schemas.microsoft.com/office/drawing/2014/main" id="{810747A1-EBA3-460B-AED6-BB9500D7A81E}"/>
                </a:ext>
              </a:extLst>
            </p:cNvPr>
            <p:cNvSpPr txBox="1">
              <a:spLocks noChangeArrowheads="1"/>
            </p:cNvSpPr>
            <p:nvPr/>
          </p:nvSpPr>
          <p:spPr bwMode="auto">
            <a:xfrm>
              <a:off x="2505692" y="3206339"/>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E</a:t>
              </a:r>
            </a:p>
          </p:txBody>
        </p:sp>
      </p:grpSp>
      <p:grpSp>
        <p:nvGrpSpPr>
          <p:cNvPr id="34" name="Group 193">
            <a:extLst>
              <a:ext uri="{FF2B5EF4-FFF2-40B4-BE49-F238E27FC236}">
                <a16:creationId xmlns:a16="http://schemas.microsoft.com/office/drawing/2014/main" id="{456F0FC4-6416-47C3-8460-21C69AF58697}"/>
              </a:ext>
            </a:extLst>
          </p:cNvPr>
          <p:cNvGrpSpPr>
            <a:grpSpLocks/>
          </p:cNvGrpSpPr>
          <p:nvPr/>
        </p:nvGrpSpPr>
        <p:grpSpPr bwMode="auto">
          <a:xfrm>
            <a:off x="7097713" y="3860800"/>
            <a:ext cx="411162" cy="438150"/>
            <a:chOff x="2392240" y="2802577"/>
            <a:chExt cx="411277" cy="436830"/>
          </a:xfrm>
        </p:grpSpPr>
        <p:sp>
          <p:nvSpPr>
            <p:cNvPr id="22569" name="Freeform 183">
              <a:extLst>
                <a:ext uri="{FF2B5EF4-FFF2-40B4-BE49-F238E27FC236}">
                  <a16:creationId xmlns:a16="http://schemas.microsoft.com/office/drawing/2014/main" id="{F2666E2E-B6C7-48D8-BF1C-182280C0F1AE}"/>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70" name="TextBox 195">
              <a:extLst>
                <a:ext uri="{FF2B5EF4-FFF2-40B4-BE49-F238E27FC236}">
                  <a16:creationId xmlns:a16="http://schemas.microsoft.com/office/drawing/2014/main" id="{DEC17406-9FD0-4912-B0D2-738D77BB3120}"/>
                </a:ext>
              </a:extLst>
            </p:cNvPr>
            <p:cNvSpPr txBox="1">
              <a:spLocks noChangeArrowheads="1"/>
            </p:cNvSpPr>
            <p:nvPr/>
          </p:nvSpPr>
          <p:spPr bwMode="auto">
            <a:xfrm>
              <a:off x="2493817" y="2802577"/>
              <a:ext cx="309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F</a:t>
              </a:r>
            </a:p>
          </p:txBody>
        </p:sp>
      </p:grpSp>
      <p:grpSp>
        <p:nvGrpSpPr>
          <p:cNvPr id="35" name="Group 199">
            <a:extLst>
              <a:ext uri="{FF2B5EF4-FFF2-40B4-BE49-F238E27FC236}">
                <a16:creationId xmlns:a16="http://schemas.microsoft.com/office/drawing/2014/main" id="{BD611AE8-D41A-4FBB-83C3-C7EA8FD8F66A}"/>
              </a:ext>
            </a:extLst>
          </p:cNvPr>
          <p:cNvGrpSpPr>
            <a:grpSpLocks/>
          </p:cNvGrpSpPr>
          <p:nvPr/>
        </p:nvGrpSpPr>
        <p:grpSpPr bwMode="auto">
          <a:xfrm>
            <a:off x="6210300" y="2600325"/>
            <a:ext cx="1943100" cy="1271588"/>
            <a:chOff x="6210794" y="2707024"/>
            <a:chExt cx="1942360" cy="1271211"/>
          </a:xfrm>
        </p:grpSpPr>
        <p:sp>
          <p:nvSpPr>
            <p:cNvPr id="22567" name="TextBox 104">
              <a:extLst>
                <a:ext uri="{FF2B5EF4-FFF2-40B4-BE49-F238E27FC236}">
                  <a16:creationId xmlns:a16="http://schemas.microsoft.com/office/drawing/2014/main" id="{F63FC5F1-BBAC-493B-808C-DED6EF772AAB}"/>
                </a:ext>
              </a:extLst>
            </p:cNvPr>
            <p:cNvSpPr txBox="1">
              <a:spLocks noChangeArrowheads="1"/>
            </p:cNvSpPr>
            <p:nvPr/>
          </p:nvSpPr>
          <p:spPr bwMode="auto">
            <a:xfrm>
              <a:off x="6583176" y="2707024"/>
              <a:ext cx="1569978" cy="646331"/>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solidFill>
                    <a:srgbClr val="800080"/>
                  </a:solidFill>
                </a:rPr>
                <a:t>Additional consumer surplus to initial consumers</a:t>
              </a:r>
            </a:p>
          </p:txBody>
        </p:sp>
        <p:cxnSp>
          <p:nvCxnSpPr>
            <p:cNvPr id="199" name="Straight Connector 198">
              <a:extLst>
                <a:ext uri="{FF2B5EF4-FFF2-40B4-BE49-F238E27FC236}">
                  <a16:creationId xmlns:a16="http://schemas.microsoft.com/office/drawing/2014/main" id="{9682595E-0FD6-4440-A4F5-563FF9943BFC}"/>
                </a:ext>
              </a:extLst>
            </p:cNvPr>
            <p:cNvCxnSpPr/>
            <p:nvPr/>
          </p:nvCxnSpPr>
          <p:spPr>
            <a:xfrm rot="5400000" flipH="1" flipV="1">
              <a:off x="6067943" y="3408509"/>
              <a:ext cx="712577" cy="426875"/>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36" name="Group 200">
            <a:extLst>
              <a:ext uri="{FF2B5EF4-FFF2-40B4-BE49-F238E27FC236}">
                <a16:creationId xmlns:a16="http://schemas.microsoft.com/office/drawing/2014/main" id="{D209BF82-DC0D-49DE-AFE4-B21CA2AC0D77}"/>
              </a:ext>
            </a:extLst>
          </p:cNvPr>
          <p:cNvGrpSpPr>
            <a:grpSpLocks/>
          </p:cNvGrpSpPr>
          <p:nvPr/>
        </p:nvGrpSpPr>
        <p:grpSpPr bwMode="auto">
          <a:xfrm>
            <a:off x="6702425" y="3341688"/>
            <a:ext cx="2206625" cy="487362"/>
            <a:chOff x="5711615" y="2612756"/>
            <a:chExt cx="2205868" cy="487092"/>
          </a:xfrm>
        </p:grpSpPr>
        <p:sp>
          <p:nvSpPr>
            <p:cNvPr id="22565" name="TextBox 104">
              <a:extLst>
                <a:ext uri="{FF2B5EF4-FFF2-40B4-BE49-F238E27FC236}">
                  <a16:creationId xmlns:a16="http://schemas.microsoft.com/office/drawing/2014/main" id="{F143916B-8791-4E3A-8EC4-7558D06E5378}"/>
                </a:ext>
              </a:extLst>
            </p:cNvPr>
            <p:cNvSpPr txBox="1">
              <a:spLocks noChangeArrowheads="1"/>
            </p:cNvSpPr>
            <p:nvPr/>
          </p:nvSpPr>
          <p:spPr bwMode="auto">
            <a:xfrm>
              <a:off x="6347505" y="2612756"/>
              <a:ext cx="1569978" cy="461665"/>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800080"/>
                  </a:solidFill>
                </a:rPr>
                <a:t>Consumer surplus</a:t>
              </a:r>
            </a:p>
            <a:p>
              <a:pPr eaLnBrk="1" hangingPunct="1"/>
              <a:r>
                <a:rPr lang="en-US" altLang="en-US" sz="1200">
                  <a:solidFill>
                    <a:srgbClr val="800080"/>
                  </a:solidFill>
                </a:rPr>
                <a:t>to new consumers</a:t>
              </a:r>
            </a:p>
          </p:txBody>
        </p:sp>
        <p:cxnSp>
          <p:nvCxnSpPr>
            <p:cNvPr id="203" name="Straight Connector 202">
              <a:extLst>
                <a:ext uri="{FF2B5EF4-FFF2-40B4-BE49-F238E27FC236}">
                  <a16:creationId xmlns:a16="http://schemas.microsoft.com/office/drawing/2014/main" id="{9F0B5E3C-60BA-4C44-BBED-CFC8C4DADB68}"/>
                </a:ext>
              </a:extLst>
            </p:cNvPr>
            <p:cNvCxnSpPr/>
            <p:nvPr/>
          </p:nvCxnSpPr>
          <p:spPr>
            <a:xfrm flipV="1">
              <a:off x="5711615" y="2949120"/>
              <a:ext cx="631608" cy="150728"/>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500"/>
                                        <p:tgtEl>
                                          <p:spTgt spid="5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4"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1000"/>
                                        <p:tgtEl>
                                          <p:spTgt spid="10"/>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par>
                          <p:cTn id="23" fill="hold" nodeType="afterGroup">
                            <p:stCondLst>
                              <p:cond delay="2500"/>
                            </p:stCondLst>
                            <p:childTnLst>
                              <p:par>
                                <p:cTn id="24" presetID="22" presetClass="entr" presetSubtype="1"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up)">
                                      <p:cBhvr>
                                        <p:cTn id="26" dur="500"/>
                                        <p:tgtEl>
                                          <p:spTgt spid="12"/>
                                        </p:tgtEl>
                                      </p:cBhvr>
                                    </p:animEffect>
                                  </p:childTnLst>
                                </p:cTn>
                              </p:par>
                            </p:childTnLst>
                          </p:cTn>
                        </p:par>
                        <p:par>
                          <p:cTn id="27" fill="hold" nodeType="afterGroup">
                            <p:stCondLst>
                              <p:cond delay="3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nodeType="afterGroup">
                            <p:stCondLst>
                              <p:cond delay="3500"/>
                            </p:stCondLst>
                            <p:childTnLst>
                              <p:par>
                                <p:cTn id="32" presetID="22" presetClass="entr" presetSubtype="8"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par>
                          <p:cTn id="35" fill="hold" nodeType="afterGroup">
                            <p:stCondLst>
                              <p:cond delay="4000"/>
                            </p:stCondLst>
                            <p:childTnLst>
                              <p:par>
                                <p:cTn id="36" presetID="22" presetClass="entr" presetSubtype="8" fill="hold"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500"/>
                                        <p:tgtEl>
                                          <p:spTgt spid="15"/>
                                        </p:tgtEl>
                                      </p:cBhvr>
                                    </p:animEffect>
                                  </p:childTnLst>
                                </p:cTn>
                              </p:par>
                            </p:childTnLst>
                          </p:cTn>
                        </p:par>
                        <p:par>
                          <p:cTn id="39" fill="hold" nodeType="afterGroup">
                            <p:stCondLst>
                              <p:cond delay="4500"/>
                            </p:stCondLst>
                            <p:childTnLst>
                              <p:par>
                                <p:cTn id="40" presetID="22" presetClass="entr" presetSubtype="8" fill="hold" grpId="0" nodeType="afterEffect">
                                  <p:stCondLst>
                                    <p:cond delay="0"/>
                                  </p:stCondLst>
                                  <p:childTnLst>
                                    <p:set>
                                      <p:cBhvr>
                                        <p:cTn id="41" dur="1" fill="hold">
                                          <p:stCondLst>
                                            <p:cond delay="0"/>
                                          </p:stCondLst>
                                        </p:cTn>
                                        <p:tgtEl>
                                          <p:spTgt spid="138"/>
                                        </p:tgtEl>
                                        <p:attrNameLst>
                                          <p:attrName>style.visibility</p:attrName>
                                        </p:attrNameLst>
                                      </p:cBhvr>
                                      <p:to>
                                        <p:strVal val="visible"/>
                                      </p:to>
                                    </p:set>
                                    <p:animEffect transition="in" filter="wipe(left)">
                                      <p:cBhvr>
                                        <p:cTn id="42" dur="1000"/>
                                        <p:tgtEl>
                                          <p:spTgt spid="138"/>
                                        </p:tgtEl>
                                      </p:cBhvr>
                                    </p:animEffect>
                                  </p:childTnLst>
                                </p:cTn>
                              </p:par>
                            </p:childTnLst>
                          </p:cTn>
                        </p:par>
                        <p:par>
                          <p:cTn id="43" fill="hold" nodeType="afterGroup">
                            <p:stCondLst>
                              <p:cond delay="5500"/>
                            </p:stCondLst>
                            <p:childTnLst>
                              <p:par>
                                <p:cTn id="44" presetID="22" presetClass="entr" presetSubtype="8" fill="hold" grpId="0" nodeType="afterEffect">
                                  <p:stCondLst>
                                    <p:cond delay="0"/>
                                  </p:stCondLst>
                                  <p:childTnLst>
                                    <p:set>
                                      <p:cBhvr>
                                        <p:cTn id="45" dur="1" fill="hold">
                                          <p:stCondLst>
                                            <p:cond delay="0"/>
                                          </p:stCondLst>
                                        </p:cTn>
                                        <p:tgtEl>
                                          <p:spTgt spid="139"/>
                                        </p:tgtEl>
                                        <p:attrNameLst>
                                          <p:attrName>style.visibility</p:attrName>
                                        </p:attrNameLst>
                                      </p:cBhvr>
                                      <p:to>
                                        <p:strVal val="visible"/>
                                      </p:to>
                                    </p:set>
                                    <p:animEffect transition="in" filter="wipe(left)">
                                      <p:cBhvr>
                                        <p:cTn id="46" dur="1000"/>
                                        <p:tgtEl>
                                          <p:spTgt spid="139"/>
                                        </p:tgtEl>
                                      </p:cBhvr>
                                    </p:animEffect>
                                  </p:childTnLst>
                                </p:cTn>
                              </p:par>
                            </p:childTnLst>
                          </p:cTn>
                        </p:par>
                        <p:par>
                          <p:cTn id="47" fill="hold" nodeType="afterGroup">
                            <p:stCondLst>
                              <p:cond delay="6500"/>
                            </p:stCondLst>
                            <p:childTnLst>
                              <p:par>
                                <p:cTn id="48" presetID="22" presetClass="entr" presetSubtype="8" fill="hold" grpId="0" nodeType="afterEffect">
                                  <p:stCondLst>
                                    <p:cond delay="0"/>
                                  </p:stCondLst>
                                  <p:childTnLst>
                                    <p:set>
                                      <p:cBhvr>
                                        <p:cTn id="49" dur="1" fill="hold">
                                          <p:stCondLst>
                                            <p:cond delay="0"/>
                                          </p:stCondLst>
                                        </p:cTn>
                                        <p:tgtEl>
                                          <p:spTgt spid="94"/>
                                        </p:tgtEl>
                                        <p:attrNameLst>
                                          <p:attrName>style.visibility</p:attrName>
                                        </p:attrNameLst>
                                      </p:cBhvr>
                                      <p:to>
                                        <p:strVal val="visible"/>
                                      </p:to>
                                    </p:set>
                                    <p:animEffect transition="in" filter="wipe(left)">
                                      <p:cBhvr>
                                        <p:cTn id="50" dur="500"/>
                                        <p:tgtEl>
                                          <p:spTgt spid="94"/>
                                        </p:tgtEl>
                                      </p:cBhvr>
                                    </p:animEffect>
                                  </p:childTnLst>
                                </p:cTn>
                              </p:par>
                            </p:childTnLst>
                          </p:cTn>
                        </p:par>
                        <p:par>
                          <p:cTn id="51" fill="hold" nodeType="afterGroup">
                            <p:stCondLst>
                              <p:cond delay="7000"/>
                            </p:stCondLst>
                            <p:childTnLst>
                              <p:par>
                                <p:cTn id="52" presetID="22" presetClass="entr" presetSubtype="8" fill="hold"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par>
                                <p:cTn id="55" presetID="22" presetClass="entr" presetSubtype="4"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down)">
                                      <p:cBhvr>
                                        <p:cTn id="57" dur="500"/>
                                        <p:tgtEl>
                                          <p:spTgt spid="17"/>
                                        </p:tgtEl>
                                      </p:cBhvr>
                                    </p:animEffect>
                                  </p:childTnLst>
                                </p:cTn>
                              </p:par>
                            </p:childTnLst>
                          </p:cTn>
                        </p:par>
                        <p:par>
                          <p:cTn id="58" fill="hold" nodeType="afterGroup">
                            <p:stCondLst>
                              <p:cond delay="7500"/>
                            </p:stCondLst>
                            <p:childTnLst>
                              <p:par>
                                <p:cTn id="59" presetID="22" presetClass="entr" presetSubtype="8"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1000"/>
                                        <p:tgtEl>
                                          <p:spTgt spid="20"/>
                                        </p:tgtEl>
                                      </p:cBhvr>
                                    </p:animEffect>
                                  </p:childTnLst>
                                </p:cTn>
                              </p:par>
                            </p:childTnLst>
                          </p:cTn>
                        </p:par>
                        <p:par>
                          <p:cTn id="62" fill="hold" nodeType="afterGroup">
                            <p:stCondLst>
                              <p:cond delay="8500"/>
                            </p:stCondLst>
                            <p:childTnLst>
                              <p:par>
                                <p:cTn id="63" presetID="22" presetClass="entr" presetSubtype="8" fill="hold"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wipe(left)">
                                      <p:cBhvr>
                                        <p:cTn id="65" dur="500"/>
                                        <p:tgtEl>
                                          <p:spTgt spid="21"/>
                                        </p:tgtEl>
                                      </p:cBhvr>
                                    </p:animEffect>
                                  </p:childTnLst>
                                </p:cTn>
                              </p:par>
                            </p:childTnLst>
                          </p:cTn>
                        </p:par>
                        <p:par>
                          <p:cTn id="66" fill="hold" nodeType="afterGroup">
                            <p:stCondLst>
                              <p:cond delay="9000"/>
                            </p:stCondLst>
                            <p:childTnLst>
                              <p:par>
                                <p:cTn id="67" presetID="22" presetClass="entr" presetSubtype="1" fill="hold"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up)">
                                      <p:cBhvr>
                                        <p:cTn id="69" dur="500"/>
                                        <p:tgtEl>
                                          <p:spTgt spid="22"/>
                                        </p:tgtEl>
                                      </p:cBhvr>
                                    </p:animEffect>
                                  </p:childTnLst>
                                </p:cTn>
                              </p:par>
                            </p:childTnLst>
                          </p:cTn>
                        </p:par>
                        <p:par>
                          <p:cTn id="70" fill="hold" nodeType="afterGroup">
                            <p:stCondLst>
                              <p:cond delay="9500"/>
                            </p:stCondLst>
                            <p:childTnLst>
                              <p:par>
                                <p:cTn id="71" presetID="22" presetClass="entr" presetSubtype="8" fill="hold" grpId="0" nodeType="afterEffect">
                                  <p:stCondLst>
                                    <p:cond delay="0"/>
                                  </p:stCondLst>
                                  <p:childTnLst>
                                    <p:set>
                                      <p:cBhvr>
                                        <p:cTn id="72" dur="1" fill="hold">
                                          <p:stCondLst>
                                            <p:cond delay="0"/>
                                          </p:stCondLst>
                                        </p:cTn>
                                        <p:tgtEl>
                                          <p:spTgt spid="158"/>
                                        </p:tgtEl>
                                        <p:attrNameLst>
                                          <p:attrName>style.visibility</p:attrName>
                                        </p:attrNameLst>
                                      </p:cBhvr>
                                      <p:to>
                                        <p:strVal val="visible"/>
                                      </p:to>
                                    </p:set>
                                    <p:animEffect transition="in" filter="wipe(left)">
                                      <p:cBhvr>
                                        <p:cTn id="73" dur="1000"/>
                                        <p:tgtEl>
                                          <p:spTgt spid="158"/>
                                        </p:tgtEl>
                                      </p:cBhvr>
                                    </p:animEffect>
                                  </p:childTnLst>
                                </p:cTn>
                              </p:par>
                            </p:childTnLst>
                          </p:cTn>
                        </p:par>
                        <p:par>
                          <p:cTn id="74" fill="hold" nodeType="afterGroup">
                            <p:stCondLst>
                              <p:cond delay="10500"/>
                            </p:stCondLst>
                            <p:childTnLst>
                              <p:par>
                                <p:cTn id="75" presetID="22" presetClass="entr" presetSubtype="8" fill="hold" grpId="0" nodeType="afterEffect">
                                  <p:stCondLst>
                                    <p:cond delay="0"/>
                                  </p:stCondLst>
                                  <p:childTnLst>
                                    <p:set>
                                      <p:cBhvr>
                                        <p:cTn id="76" dur="1" fill="hold">
                                          <p:stCondLst>
                                            <p:cond delay="0"/>
                                          </p:stCondLst>
                                        </p:cTn>
                                        <p:tgtEl>
                                          <p:spTgt spid="159"/>
                                        </p:tgtEl>
                                        <p:attrNameLst>
                                          <p:attrName>style.visibility</p:attrName>
                                        </p:attrNameLst>
                                      </p:cBhvr>
                                      <p:to>
                                        <p:strVal val="visible"/>
                                      </p:to>
                                    </p:set>
                                    <p:animEffect transition="in" filter="wipe(left)">
                                      <p:cBhvr>
                                        <p:cTn id="77" dur="1000"/>
                                        <p:tgtEl>
                                          <p:spTgt spid="159"/>
                                        </p:tgtEl>
                                      </p:cBhvr>
                                    </p:animEffect>
                                  </p:childTnLst>
                                </p:cTn>
                              </p:par>
                            </p:childTnLst>
                          </p:cTn>
                        </p:par>
                        <p:par>
                          <p:cTn id="78" fill="hold" nodeType="afterGroup">
                            <p:stCondLst>
                              <p:cond delay="11500"/>
                            </p:stCondLst>
                            <p:childTnLst>
                              <p:par>
                                <p:cTn id="79" presetID="22" presetClass="entr" presetSubtype="8" fill="hold" nodeType="after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wipe(left)">
                                      <p:cBhvr>
                                        <p:cTn id="81" dur="500"/>
                                        <p:tgtEl>
                                          <p:spTgt spid="24"/>
                                        </p:tgtEl>
                                      </p:cBhvr>
                                    </p:animEffect>
                                  </p:childTnLst>
                                </p:cTn>
                              </p:par>
                            </p:childTnLst>
                          </p:cTn>
                        </p:par>
                        <p:par>
                          <p:cTn id="82" fill="hold" nodeType="afterGroup">
                            <p:stCondLst>
                              <p:cond delay="12000"/>
                            </p:stCondLst>
                            <p:childTnLst>
                              <p:par>
                                <p:cTn id="83" presetID="22" presetClass="entr" presetSubtype="8" fill="hold" nodeType="after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wipe(left)">
                                      <p:cBhvr>
                                        <p:cTn id="85" dur="500"/>
                                        <p:tgtEl>
                                          <p:spTgt spid="29"/>
                                        </p:tgtEl>
                                      </p:cBhvr>
                                    </p:animEffect>
                                  </p:childTnLst>
                                </p:cTn>
                              </p:par>
                            </p:childTnLst>
                          </p:cTn>
                        </p:par>
                        <p:par>
                          <p:cTn id="86" fill="hold" nodeType="afterGroup">
                            <p:stCondLst>
                              <p:cond delay="12500"/>
                            </p:stCondLst>
                            <p:childTnLst>
                              <p:par>
                                <p:cTn id="87" presetID="22" presetClass="entr" presetSubtype="8" fill="hold" nodeType="after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wipe(left)">
                                      <p:cBhvr>
                                        <p:cTn id="89" dur="500"/>
                                        <p:tgtEl>
                                          <p:spTgt spid="32"/>
                                        </p:tgtEl>
                                      </p:cBhvr>
                                    </p:animEffect>
                                  </p:childTnLst>
                                </p:cTn>
                              </p:par>
                            </p:childTnLst>
                          </p:cTn>
                        </p:par>
                        <p:par>
                          <p:cTn id="90" fill="hold" nodeType="afterGroup">
                            <p:stCondLst>
                              <p:cond delay="13000"/>
                            </p:stCondLst>
                            <p:childTnLst>
                              <p:par>
                                <p:cTn id="91" presetID="22" presetClass="entr" presetSubtype="8" fill="hold" nodeType="after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wipe(left)">
                                      <p:cBhvr>
                                        <p:cTn id="93" dur="500"/>
                                        <p:tgtEl>
                                          <p:spTgt spid="27"/>
                                        </p:tgtEl>
                                      </p:cBhvr>
                                    </p:animEffect>
                                  </p:childTnLst>
                                </p:cTn>
                              </p:par>
                            </p:childTnLst>
                          </p:cTn>
                        </p:par>
                        <p:par>
                          <p:cTn id="94" fill="hold" nodeType="afterGroup">
                            <p:stCondLst>
                              <p:cond delay="13500"/>
                            </p:stCondLst>
                            <p:childTnLst>
                              <p:par>
                                <p:cTn id="95" presetID="22" presetClass="entr" presetSubtype="1" fill="hold" nodeType="after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wipe(up)">
                                      <p:cBhvr>
                                        <p:cTn id="97" dur="500"/>
                                        <p:tgtEl>
                                          <p:spTgt spid="28"/>
                                        </p:tgtEl>
                                      </p:cBhvr>
                                    </p:animEffect>
                                  </p:childTnLst>
                                </p:cTn>
                              </p:par>
                            </p:childTnLst>
                          </p:cTn>
                        </p:par>
                        <p:par>
                          <p:cTn id="98" fill="hold" nodeType="afterGroup">
                            <p:stCondLst>
                              <p:cond delay="14000"/>
                            </p:stCondLst>
                            <p:childTnLst>
                              <p:par>
                                <p:cTn id="99" presetID="22" presetClass="entr" presetSubtype="8" fill="hold" nodeType="after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wipe(left)">
                                      <p:cBhvr>
                                        <p:cTn id="101" dur="500"/>
                                        <p:tgtEl>
                                          <p:spTgt spid="30"/>
                                        </p:tgtEl>
                                      </p:cBhvr>
                                    </p:animEffect>
                                  </p:childTnLst>
                                </p:cTn>
                              </p:par>
                            </p:childTnLst>
                          </p:cTn>
                        </p:par>
                        <p:par>
                          <p:cTn id="102" fill="hold" nodeType="afterGroup">
                            <p:stCondLst>
                              <p:cond delay="14500"/>
                            </p:stCondLst>
                            <p:childTnLst>
                              <p:par>
                                <p:cTn id="103" presetID="22" presetClass="entr" presetSubtype="8" fill="hold" nodeType="after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wipe(left)">
                                      <p:cBhvr>
                                        <p:cTn id="105" dur="500"/>
                                        <p:tgtEl>
                                          <p:spTgt spid="33"/>
                                        </p:tgtEl>
                                      </p:cBhvr>
                                    </p:animEffect>
                                  </p:childTnLst>
                                </p:cTn>
                              </p:par>
                            </p:childTnLst>
                          </p:cTn>
                        </p:par>
                        <p:par>
                          <p:cTn id="106" fill="hold" nodeType="afterGroup">
                            <p:stCondLst>
                              <p:cond delay="15000"/>
                            </p:stCondLst>
                            <p:childTnLst>
                              <p:par>
                                <p:cTn id="107" presetID="22" presetClass="entr" presetSubtype="8" fill="hold" grpId="0" nodeType="afterEffect">
                                  <p:stCondLst>
                                    <p:cond delay="0"/>
                                  </p:stCondLst>
                                  <p:childTnLst>
                                    <p:set>
                                      <p:cBhvr>
                                        <p:cTn id="108" dur="1" fill="hold">
                                          <p:stCondLst>
                                            <p:cond delay="0"/>
                                          </p:stCondLst>
                                        </p:cTn>
                                        <p:tgtEl>
                                          <p:spTgt spid="183"/>
                                        </p:tgtEl>
                                        <p:attrNameLst>
                                          <p:attrName>style.visibility</p:attrName>
                                        </p:attrNameLst>
                                      </p:cBhvr>
                                      <p:to>
                                        <p:strVal val="visible"/>
                                      </p:to>
                                    </p:set>
                                    <p:animEffect transition="in" filter="wipe(left)">
                                      <p:cBhvr>
                                        <p:cTn id="109" dur="1000"/>
                                        <p:tgtEl>
                                          <p:spTgt spid="183"/>
                                        </p:tgtEl>
                                      </p:cBhvr>
                                    </p:animEffect>
                                  </p:childTnLst>
                                </p:cTn>
                              </p:par>
                            </p:childTnLst>
                          </p:cTn>
                        </p:par>
                        <p:par>
                          <p:cTn id="110" fill="hold" nodeType="afterGroup">
                            <p:stCondLst>
                              <p:cond delay="16000"/>
                            </p:stCondLst>
                            <p:childTnLst>
                              <p:par>
                                <p:cTn id="111" presetID="22" presetClass="entr" presetSubtype="8" fill="hold" nodeType="after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wipe(left)">
                                      <p:cBhvr>
                                        <p:cTn id="113" dur="1000"/>
                                        <p:tgtEl>
                                          <p:spTgt spid="35"/>
                                        </p:tgtEl>
                                      </p:cBhvr>
                                    </p:animEffect>
                                  </p:childTnLst>
                                </p:cTn>
                              </p:par>
                            </p:childTnLst>
                          </p:cTn>
                        </p:par>
                        <p:par>
                          <p:cTn id="114" fill="hold" nodeType="afterGroup">
                            <p:stCondLst>
                              <p:cond delay="17000"/>
                            </p:stCondLst>
                            <p:childTnLst>
                              <p:par>
                                <p:cTn id="115" presetID="22" presetClass="entr" presetSubtype="8" fill="hold" nodeType="afterEffect">
                                  <p:stCondLst>
                                    <p:cond delay="0"/>
                                  </p:stCondLst>
                                  <p:childTnLst>
                                    <p:set>
                                      <p:cBhvr>
                                        <p:cTn id="116" dur="1" fill="hold">
                                          <p:stCondLst>
                                            <p:cond delay="0"/>
                                          </p:stCondLst>
                                        </p:cTn>
                                        <p:tgtEl>
                                          <p:spTgt spid="34"/>
                                        </p:tgtEl>
                                        <p:attrNameLst>
                                          <p:attrName>style.visibility</p:attrName>
                                        </p:attrNameLst>
                                      </p:cBhvr>
                                      <p:to>
                                        <p:strVal val="visible"/>
                                      </p:to>
                                    </p:set>
                                    <p:animEffect transition="in" filter="wipe(left)">
                                      <p:cBhvr>
                                        <p:cTn id="117" dur="500"/>
                                        <p:tgtEl>
                                          <p:spTgt spid="34"/>
                                        </p:tgtEl>
                                      </p:cBhvr>
                                    </p:animEffect>
                                  </p:childTnLst>
                                </p:cTn>
                              </p:par>
                            </p:childTnLst>
                          </p:cTn>
                        </p:par>
                        <p:par>
                          <p:cTn id="118" fill="hold" nodeType="afterGroup">
                            <p:stCondLst>
                              <p:cond delay="17500"/>
                            </p:stCondLst>
                            <p:childTnLst>
                              <p:par>
                                <p:cTn id="119" presetID="22" presetClass="entr" presetSubtype="8" fill="hold" grpId="0" nodeType="afterEffect">
                                  <p:stCondLst>
                                    <p:cond delay="0"/>
                                  </p:stCondLst>
                                  <p:childTnLst>
                                    <p:set>
                                      <p:cBhvr>
                                        <p:cTn id="120" dur="1" fill="hold">
                                          <p:stCondLst>
                                            <p:cond delay="0"/>
                                          </p:stCondLst>
                                        </p:cTn>
                                        <p:tgtEl>
                                          <p:spTgt spid="190"/>
                                        </p:tgtEl>
                                        <p:attrNameLst>
                                          <p:attrName>style.visibility</p:attrName>
                                        </p:attrNameLst>
                                      </p:cBhvr>
                                      <p:to>
                                        <p:strVal val="visible"/>
                                      </p:to>
                                    </p:set>
                                    <p:animEffect transition="in" filter="wipe(left)">
                                      <p:cBhvr>
                                        <p:cTn id="121" dur="1000"/>
                                        <p:tgtEl>
                                          <p:spTgt spid="190"/>
                                        </p:tgtEl>
                                      </p:cBhvr>
                                    </p:animEffect>
                                  </p:childTnLst>
                                </p:cTn>
                              </p:par>
                            </p:childTnLst>
                          </p:cTn>
                        </p:par>
                        <p:par>
                          <p:cTn id="122" fill="hold" nodeType="afterGroup">
                            <p:stCondLst>
                              <p:cond delay="18500"/>
                            </p:stCondLst>
                            <p:childTnLst>
                              <p:par>
                                <p:cTn id="123" presetID="22" presetClass="entr" presetSubtype="8" fill="hold" nodeType="afterEffect">
                                  <p:stCondLst>
                                    <p:cond delay="0"/>
                                  </p:stCondLst>
                                  <p:childTnLst>
                                    <p:set>
                                      <p:cBhvr>
                                        <p:cTn id="124" dur="1" fill="hold">
                                          <p:stCondLst>
                                            <p:cond delay="0"/>
                                          </p:stCondLst>
                                        </p:cTn>
                                        <p:tgtEl>
                                          <p:spTgt spid="36"/>
                                        </p:tgtEl>
                                        <p:attrNameLst>
                                          <p:attrName>style.visibility</p:attrName>
                                        </p:attrNameLst>
                                      </p:cBhvr>
                                      <p:to>
                                        <p:strVal val="visible"/>
                                      </p:to>
                                    </p:set>
                                    <p:animEffect transition="in" filter="wipe(left)">
                                      <p:cBhvr>
                                        <p:cTn id="125" dur="1000"/>
                                        <p:tgtEl>
                                          <p:spTgt spid="36"/>
                                        </p:tgtEl>
                                      </p:cBhvr>
                                    </p:animEffect>
                                  </p:childTnLst>
                                </p:cTn>
                              </p:par>
                            </p:childTnLst>
                          </p:cTn>
                        </p:par>
                        <p:par>
                          <p:cTn id="126" fill="hold" nodeType="afterGroup">
                            <p:stCondLst>
                              <p:cond delay="19500"/>
                            </p:stCondLst>
                            <p:childTnLst>
                              <p:par>
                                <p:cTn id="127" presetID="22" presetClass="entr" presetSubtype="8" fill="hold" grpId="0" nodeType="afterEffect">
                                  <p:stCondLst>
                                    <p:cond delay="0"/>
                                  </p:stCondLst>
                                  <p:childTnLst>
                                    <p:set>
                                      <p:cBhvr>
                                        <p:cTn id="128" dur="1" fill="hold">
                                          <p:stCondLst>
                                            <p:cond delay="0"/>
                                          </p:stCondLst>
                                        </p:cTn>
                                        <p:tgtEl>
                                          <p:spTgt spid="23"/>
                                        </p:tgtEl>
                                        <p:attrNameLst>
                                          <p:attrName>style.visibility</p:attrName>
                                        </p:attrNameLst>
                                      </p:cBhvr>
                                      <p:to>
                                        <p:strVal val="visible"/>
                                      </p:to>
                                    </p:set>
                                    <p:animEffect transition="in" filter="wipe(left)">
                                      <p:cBhvr>
                                        <p:cTn id="12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5" grpId="0"/>
      <p:bldP spid="94" grpId="0"/>
      <p:bldP spid="138" grpId="0" animBg="1"/>
      <p:bldP spid="139" grpId="0"/>
      <p:bldP spid="158" grpId="0" animBg="1"/>
      <p:bldP spid="159" grpId="0"/>
      <p:bldP spid="183" grpId="0" animBg="1"/>
      <p:bldP spid="19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A67D109D-593F-4590-9C57-3B673C6CA3C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Consumer Surplus</a:t>
            </a:r>
          </a:p>
        </p:txBody>
      </p:sp>
      <p:sp>
        <p:nvSpPr>
          <p:cNvPr id="13315" name="Content Placeholder 2">
            <a:extLst>
              <a:ext uri="{FF2B5EF4-FFF2-40B4-BE49-F238E27FC236}">
                <a16:creationId xmlns:a16="http://schemas.microsoft.com/office/drawing/2014/main" id="{84D7B290-EFBB-4C4B-8931-965ED19E1252}"/>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What does consumer surplus measure?</a:t>
            </a:r>
          </a:p>
          <a:p>
            <a:r>
              <a:rPr lang="en-US" altLang="en-US"/>
              <a:t>Consumer surplus</a:t>
            </a:r>
          </a:p>
          <a:p>
            <a:pPr lvl="1"/>
            <a:r>
              <a:rPr lang="en-US" altLang="en-US"/>
              <a:t>Benefit that buyers receive from a good</a:t>
            </a:r>
          </a:p>
          <a:p>
            <a:pPr lvl="2"/>
            <a:r>
              <a:rPr lang="en-US" altLang="en-US"/>
              <a:t>As the buyers themselves perceive it</a:t>
            </a:r>
          </a:p>
          <a:p>
            <a:pPr lvl="1"/>
            <a:r>
              <a:rPr lang="en-US" altLang="en-US"/>
              <a:t>Good measure of economic well-being</a:t>
            </a:r>
          </a:p>
          <a:p>
            <a:pPr lvl="1"/>
            <a:r>
              <a:rPr lang="en-US" altLang="en-US"/>
              <a:t>Exception: Illegal drugs</a:t>
            </a:r>
          </a:p>
          <a:p>
            <a:pPr lvl="2"/>
            <a:r>
              <a:rPr lang="en-US" altLang="en-US"/>
              <a:t>Drug addicts</a:t>
            </a:r>
          </a:p>
          <a:p>
            <a:pPr lvl="3"/>
            <a:r>
              <a:rPr lang="en-US" altLang="en-US"/>
              <a:t>Willing to pay a high price for heroin</a:t>
            </a:r>
          </a:p>
          <a:p>
            <a:pPr lvl="2"/>
            <a:r>
              <a:rPr lang="en-US" altLang="en-US"/>
              <a:t>Society’s standpoint</a:t>
            </a:r>
          </a:p>
          <a:p>
            <a:pPr lvl="3"/>
            <a:r>
              <a:rPr lang="en-US" altLang="en-US"/>
              <a:t>Drug addicts don’t get a large benefit from being able to buy heroin at a low price</a:t>
            </a:r>
          </a:p>
        </p:txBody>
      </p:sp>
      <p:sp>
        <p:nvSpPr>
          <p:cNvPr id="23556" name="Slide Number Placeholder 3">
            <a:extLst>
              <a:ext uri="{FF2B5EF4-FFF2-40B4-BE49-F238E27FC236}">
                <a16:creationId xmlns:a16="http://schemas.microsoft.com/office/drawing/2014/main" id="{19E02ADE-C894-485B-879C-B7A43272C2E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592495-2FF3-4CDC-A892-545652A0AE46}" type="slidenum">
              <a:rPr lang="en-US" altLang="en-US">
                <a:latin typeface="Calibri" panose="020F0502020204030204" pitchFamily="34" charset="0"/>
              </a:rPr>
              <a:pPr/>
              <a:t>11</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5">
                                            <p:bg/>
                                          </p:spTgt>
                                        </p:tgtEl>
                                        <p:attrNameLst>
                                          <p:attrName>style.visibility</p:attrName>
                                        </p:attrNameLst>
                                      </p:cBhvr>
                                      <p:to>
                                        <p:strVal val="visible"/>
                                      </p:to>
                                    </p:set>
                                    <p:animEffect transition="in" filter="wipe(left)">
                                      <p:cBhvr>
                                        <p:cTn id="7" dur="500"/>
                                        <p:tgtEl>
                                          <p:spTgt spid="13315">
                                            <p:bg/>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animEffect transition="in" filter="wipe(left)">
                                      <p:cBhvr>
                                        <p:cTn id="11" dur="500"/>
                                        <p:tgtEl>
                                          <p:spTgt spid="13315">
                                            <p:txEl>
                                              <p:pRg st="0" end="0"/>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5">
                                            <p:txEl>
                                              <p:pRg st="1" end="1"/>
                                            </p:txEl>
                                          </p:spTgt>
                                        </p:tgtEl>
                                        <p:attrNameLst>
                                          <p:attrName>style.visibility</p:attrName>
                                        </p:attrNameLst>
                                      </p:cBhvr>
                                      <p:to>
                                        <p:strVal val="visible"/>
                                      </p:to>
                                    </p:set>
                                    <p:animEffect transition="in" filter="wipe(left)">
                                      <p:cBhvr>
                                        <p:cTn id="15" dur="500"/>
                                        <p:tgtEl>
                                          <p:spTgt spid="13315">
                                            <p:txEl>
                                              <p:pRg st="1" end="1"/>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Effect transition="in" filter="wipe(left)">
                                      <p:cBhvr>
                                        <p:cTn id="19" dur="500"/>
                                        <p:tgtEl>
                                          <p:spTgt spid="13315">
                                            <p:txEl>
                                              <p:pRg st="2" end="2"/>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315">
                                            <p:txEl>
                                              <p:pRg st="3" end="3"/>
                                            </p:txEl>
                                          </p:spTgt>
                                        </p:tgtEl>
                                        <p:attrNameLst>
                                          <p:attrName>style.visibility</p:attrName>
                                        </p:attrNameLst>
                                      </p:cBhvr>
                                      <p:to>
                                        <p:strVal val="visible"/>
                                      </p:to>
                                    </p:set>
                                    <p:animEffect transition="in" filter="wipe(left)">
                                      <p:cBhvr>
                                        <p:cTn id="23" dur="500"/>
                                        <p:tgtEl>
                                          <p:spTgt spid="13315">
                                            <p:txEl>
                                              <p:pRg st="3" end="3"/>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wipe(left)">
                                      <p:cBhvr>
                                        <p:cTn id="27" dur="500"/>
                                        <p:tgtEl>
                                          <p:spTgt spid="13315">
                                            <p:txEl>
                                              <p:pRg st="4" end="4"/>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animEffect transition="in" filter="wipe(left)">
                                      <p:cBhvr>
                                        <p:cTn id="31" dur="500"/>
                                        <p:tgtEl>
                                          <p:spTgt spid="13315">
                                            <p:txEl>
                                              <p:pRg st="5" end="5"/>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animEffect transition="in" filter="wipe(left)">
                                      <p:cBhvr>
                                        <p:cTn id="35" dur="500"/>
                                        <p:tgtEl>
                                          <p:spTgt spid="13315">
                                            <p:txEl>
                                              <p:pRg st="6" end="6"/>
                                            </p:txEl>
                                          </p:spTgt>
                                        </p:tgtEl>
                                      </p:cBhvr>
                                    </p:animEffect>
                                  </p:childTnLst>
                                </p:cTn>
                              </p:par>
                            </p:childTnLst>
                          </p:cTn>
                        </p:par>
                        <p:par>
                          <p:cTn id="36" fill="hold" nodeType="afterGroup">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3315">
                                            <p:txEl>
                                              <p:pRg st="7" end="7"/>
                                            </p:txEl>
                                          </p:spTgt>
                                        </p:tgtEl>
                                        <p:attrNameLst>
                                          <p:attrName>style.visibility</p:attrName>
                                        </p:attrNameLst>
                                      </p:cBhvr>
                                      <p:to>
                                        <p:strVal val="visible"/>
                                      </p:to>
                                    </p:set>
                                    <p:animEffect transition="in" filter="wipe(left)">
                                      <p:cBhvr>
                                        <p:cTn id="39" dur="500"/>
                                        <p:tgtEl>
                                          <p:spTgt spid="13315">
                                            <p:txEl>
                                              <p:pRg st="7" end="7"/>
                                            </p:txEl>
                                          </p:spTgt>
                                        </p:tgtEl>
                                      </p:cBhvr>
                                    </p:animEffect>
                                  </p:childTnLst>
                                </p:cTn>
                              </p:par>
                            </p:childTnLst>
                          </p:cTn>
                        </p:par>
                        <p:par>
                          <p:cTn id="40" fill="hold" nodeType="afterGroup">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3315">
                                            <p:txEl>
                                              <p:pRg st="8" end="8"/>
                                            </p:txEl>
                                          </p:spTgt>
                                        </p:tgtEl>
                                        <p:attrNameLst>
                                          <p:attrName>style.visibility</p:attrName>
                                        </p:attrNameLst>
                                      </p:cBhvr>
                                      <p:to>
                                        <p:strVal val="visible"/>
                                      </p:to>
                                    </p:set>
                                    <p:animEffect transition="in" filter="wipe(left)">
                                      <p:cBhvr>
                                        <p:cTn id="43" dur="500"/>
                                        <p:tgtEl>
                                          <p:spTgt spid="13315">
                                            <p:txEl>
                                              <p:pRg st="8" end="8"/>
                                            </p:txEl>
                                          </p:spTgt>
                                        </p:tgtEl>
                                      </p:cBhvr>
                                    </p:animEffect>
                                  </p:childTnLst>
                                </p:cTn>
                              </p:par>
                            </p:childTnLst>
                          </p:cTn>
                        </p:par>
                        <p:par>
                          <p:cTn id="44" fill="hold" nodeType="afterGroup">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13315">
                                            <p:txEl>
                                              <p:pRg st="9" end="9"/>
                                            </p:txEl>
                                          </p:spTgt>
                                        </p:tgtEl>
                                        <p:attrNameLst>
                                          <p:attrName>style.visibility</p:attrName>
                                        </p:attrNameLst>
                                      </p:cBhvr>
                                      <p:to>
                                        <p:strVal val="visible"/>
                                      </p:to>
                                    </p:set>
                                    <p:animEffect transition="in" filter="wipe(left)">
                                      <p:cBhvr>
                                        <p:cTn id="47" dur="500"/>
                                        <p:tgtEl>
                                          <p:spTgt spid="133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EC64AE76-20C3-4967-8D47-34748C320CB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Producer Surplus</a:t>
            </a:r>
          </a:p>
        </p:txBody>
      </p:sp>
      <p:sp>
        <p:nvSpPr>
          <p:cNvPr id="3" name="Content Placeholder 2">
            <a:extLst>
              <a:ext uri="{FF2B5EF4-FFF2-40B4-BE49-F238E27FC236}">
                <a16:creationId xmlns:a16="http://schemas.microsoft.com/office/drawing/2014/main" id="{D3FF1EE0-89BC-48B8-903A-D52491AD8956}"/>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Cost and the willingness to sell</a:t>
            </a:r>
          </a:p>
          <a:p>
            <a:r>
              <a:rPr lang="en-US" altLang="en-US"/>
              <a:t>Cost</a:t>
            </a:r>
          </a:p>
          <a:p>
            <a:pPr lvl="1"/>
            <a:r>
              <a:rPr lang="en-US" altLang="en-US"/>
              <a:t>Value of everything a seller must give up to produce a good</a:t>
            </a:r>
          </a:p>
          <a:p>
            <a:r>
              <a:rPr lang="en-US" altLang="en-US"/>
              <a:t>Producer surplus</a:t>
            </a:r>
          </a:p>
          <a:p>
            <a:pPr lvl="1"/>
            <a:r>
              <a:rPr lang="en-US" altLang="en-US"/>
              <a:t>Amount a seller is paid for a good</a:t>
            </a:r>
          </a:p>
          <a:p>
            <a:pPr lvl="1"/>
            <a:r>
              <a:rPr lang="en-US" altLang="en-US"/>
              <a:t>Minus the seller’s cost of providing it</a:t>
            </a:r>
          </a:p>
        </p:txBody>
      </p:sp>
      <p:sp>
        <p:nvSpPr>
          <p:cNvPr id="24580" name="Slide Number Placeholder 3">
            <a:extLst>
              <a:ext uri="{FF2B5EF4-FFF2-40B4-BE49-F238E27FC236}">
                <a16:creationId xmlns:a16="http://schemas.microsoft.com/office/drawing/2014/main" id="{5CCD8F0C-F00A-43E0-9EB4-2250677F60E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FDE05AA-D88F-41CA-87B4-F6A820F2EB9B}" type="slidenum">
              <a:rPr lang="en-US" altLang="en-US">
                <a:latin typeface="Calibri" panose="020F0502020204030204" pitchFamily="34" charset="0"/>
              </a:rPr>
              <a:pPr/>
              <a:t>12</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58ACDA37-84C8-48C9-8173-2C389705EACB}"/>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The costs of four possible sellers</a:t>
            </a:r>
          </a:p>
        </p:txBody>
      </p:sp>
      <p:sp>
        <p:nvSpPr>
          <p:cNvPr id="25603" name="Content Placeholder 2">
            <a:extLst>
              <a:ext uri="{FF2B5EF4-FFF2-40B4-BE49-F238E27FC236}">
                <a16:creationId xmlns:a16="http://schemas.microsoft.com/office/drawing/2014/main" id="{523AB802-412D-4B55-828A-96C0C6BD8C60}"/>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2</a:t>
            </a:r>
          </a:p>
        </p:txBody>
      </p:sp>
      <p:sp>
        <p:nvSpPr>
          <p:cNvPr id="25604" name="Slide Number Placeholder 3">
            <a:extLst>
              <a:ext uri="{FF2B5EF4-FFF2-40B4-BE49-F238E27FC236}">
                <a16:creationId xmlns:a16="http://schemas.microsoft.com/office/drawing/2014/main" id="{F70A5F30-4573-45AC-A778-507526478E71}"/>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0D4402A-C4D0-4895-AEE0-26461CAB6DD9}" type="slidenum">
              <a:rPr lang="en-US" altLang="en-US">
                <a:latin typeface="Calibri" panose="020F0502020204030204" pitchFamily="34" charset="0"/>
              </a:rPr>
              <a:pPr/>
              <a:t>13</a:t>
            </a:fld>
            <a:endParaRPr lang="en-US" altLang="en-US">
              <a:latin typeface="Calibri" panose="020F0502020204030204" pitchFamily="34" charset="0"/>
            </a:endParaRPr>
          </a:p>
        </p:txBody>
      </p:sp>
      <p:graphicFrame>
        <p:nvGraphicFramePr>
          <p:cNvPr id="5" name="Table 4">
            <a:extLst>
              <a:ext uri="{FF2B5EF4-FFF2-40B4-BE49-F238E27FC236}">
                <a16:creationId xmlns:a16="http://schemas.microsoft.com/office/drawing/2014/main" id="{B24863A3-95C3-4213-BDE3-23B11E9CA856}"/>
              </a:ext>
            </a:extLst>
          </p:cNvPr>
          <p:cNvGraphicFramePr>
            <a:graphicFrameLocks noGrp="1"/>
          </p:cNvGraphicFramePr>
          <p:nvPr/>
        </p:nvGraphicFramePr>
        <p:xfrm>
          <a:off x="1309688" y="1847850"/>
          <a:ext cx="4960937" cy="1560513"/>
        </p:xfrm>
        <a:graphic>
          <a:graphicData uri="http://schemas.openxmlformats.org/drawingml/2006/table">
            <a:tbl>
              <a:tblPr>
                <a:tableStyleId>{5C22544A-7EE6-4342-B048-85BDC9FD1C3A}</a:tableStyleId>
              </a:tblPr>
              <a:tblGrid>
                <a:gridCol w="1597936">
                  <a:extLst>
                    <a:ext uri="{9D8B030D-6E8A-4147-A177-3AD203B41FA5}">
                      <a16:colId xmlns:a16="http://schemas.microsoft.com/office/drawing/2014/main" val="20000"/>
                    </a:ext>
                  </a:extLst>
                </a:gridCol>
                <a:gridCol w="3363001">
                  <a:extLst>
                    <a:ext uri="{9D8B030D-6E8A-4147-A177-3AD203B41FA5}">
                      <a16:colId xmlns:a16="http://schemas.microsoft.com/office/drawing/2014/main" val="20001"/>
                    </a:ext>
                  </a:extLst>
                </a:gridCol>
              </a:tblGrid>
              <a:tr h="371067">
                <a:tc>
                  <a:txBody>
                    <a:bodyPr/>
                    <a:lstStyle/>
                    <a:p>
                      <a:r>
                        <a:rPr lang="en-US" sz="1800" dirty="0">
                          <a:solidFill>
                            <a:srgbClr val="0000B8"/>
                          </a:solidFill>
                        </a:rPr>
                        <a:t>Seller </a:t>
                      </a:r>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00B8"/>
                          </a:solidFill>
                        </a:rPr>
                        <a:t>Willingness to pay</a:t>
                      </a:r>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189446">
                <a:tc>
                  <a:txBody>
                    <a:bodyPr/>
                    <a:lstStyle/>
                    <a:p>
                      <a:r>
                        <a:rPr lang="en-US" sz="1800" kern="1200" baseline="0" dirty="0">
                          <a:solidFill>
                            <a:schemeClr val="dk1"/>
                          </a:solidFill>
                          <a:latin typeface="+mn-lt"/>
                          <a:ea typeface="+mn-ea"/>
                          <a:cs typeface="+mn-cs"/>
                        </a:rPr>
                        <a:t>Mary </a:t>
                      </a:r>
                    </a:p>
                    <a:p>
                      <a:r>
                        <a:rPr lang="en-US" sz="1800" kern="1200" baseline="0" dirty="0">
                          <a:solidFill>
                            <a:schemeClr val="dk1"/>
                          </a:solidFill>
                          <a:latin typeface="+mn-lt"/>
                          <a:ea typeface="+mn-ea"/>
                          <a:cs typeface="+mn-cs"/>
                        </a:rPr>
                        <a:t>Frida </a:t>
                      </a:r>
                    </a:p>
                    <a:p>
                      <a:r>
                        <a:rPr lang="en-US" sz="1800" kern="1200" baseline="0" dirty="0">
                          <a:solidFill>
                            <a:schemeClr val="dk1"/>
                          </a:solidFill>
                          <a:latin typeface="+mn-lt"/>
                          <a:ea typeface="+mn-ea"/>
                          <a:cs typeface="+mn-cs"/>
                        </a:rPr>
                        <a:t>Georgia </a:t>
                      </a:r>
                    </a:p>
                    <a:p>
                      <a:r>
                        <a:rPr lang="en-US" sz="1800" kern="1200" baseline="0" dirty="0">
                          <a:solidFill>
                            <a:schemeClr val="dk1"/>
                          </a:solidFill>
                          <a:latin typeface="+mn-lt"/>
                          <a:ea typeface="+mn-ea"/>
                          <a:cs typeface="+mn-cs"/>
                        </a:rPr>
                        <a:t>Grandma </a:t>
                      </a:r>
                      <a:endParaRPr lang="en-US" sz="1800" dirty="0"/>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$900</a:t>
                      </a:r>
                    </a:p>
                    <a:p>
                      <a:pPr algn="ctr"/>
                      <a:r>
                        <a:rPr lang="en-US" sz="1800" dirty="0"/>
                        <a:t>800</a:t>
                      </a:r>
                    </a:p>
                    <a:p>
                      <a:pPr algn="ctr"/>
                      <a:r>
                        <a:rPr lang="en-US" sz="1800" dirty="0"/>
                        <a:t>600</a:t>
                      </a:r>
                    </a:p>
                    <a:p>
                      <a:pPr algn="ctr"/>
                      <a:r>
                        <a:rPr lang="en-US" sz="1800" dirty="0"/>
                        <a:t>500</a:t>
                      </a:r>
                    </a:p>
                  </a:txBody>
                  <a:tcPr marL="91459" marR="91459" marT="45748" marB="4574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2C806D3C-6BCF-4313-B088-EB33A4D66322}"/>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Producer Surplus</a:t>
            </a:r>
          </a:p>
        </p:txBody>
      </p:sp>
      <p:sp>
        <p:nvSpPr>
          <p:cNvPr id="3" name="Content Placeholder 2">
            <a:extLst>
              <a:ext uri="{FF2B5EF4-FFF2-40B4-BE49-F238E27FC236}">
                <a16:creationId xmlns:a16="http://schemas.microsoft.com/office/drawing/2014/main" id="{F462C408-308A-4C5E-B716-3BA6EED3279E}"/>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Using the supply curve to measure producer surplus </a:t>
            </a:r>
          </a:p>
          <a:p>
            <a:pPr lvl="1"/>
            <a:r>
              <a:rPr lang="en-US" altLang="en-US"/>
              <a:t>Producer surplus</a:t>
            </a:r>
          </a:p>
          <a:p>
            <a:pPr lvl="2"/>
            <a:r>
              <a:rPr lang="en-US" altLang="en-US"/>
              <a:t>Closely related to the supply curve</a:t>
            </a:r>
          </a:p>
          <a:p>
            <a:pPr lvl="1"/>
            <a:r>
              <a:rPr lang="en-US" altLang="en-US"/>
              <a:t>Supply schedule</a:t>
            </a:r>
          </a:p>
          <a:p>
            <a:pPr lvl="2"/>
            <a:r>
              <a:rPr lang="en-US" altLang="en-US"/>
              <a:t>Derived from the costs of the suppliers</a:t>
            </a:r>
          </a:p>
          <a:p>
            <a:pPr lvl="1"/>
            <a:r>
              <a:rPr lang="en-US" altLang="en-US"/>
              <a:t>At any quantity</a:t>
            </a:r>
          </a:p>
          <a:p>
            <a:pPr lvl="2"/>
            <a:r>
              <a:rPr lang="en-US" altLang="en-US"/>
              <a:t>Price given by the supply curve</a:t>
            </a:r>
          </a:p>
          <a:p>
            <a:pPr lvl="3"/>
            <a:r>
              <a:rPr lang="en-US" altLang="en-US"/>
              <a:t>Cost of the marginal seller</a:t>
            </a:r>
          </a:p>
        </p:txBody>
      </p:sp>
      <p:sp>
        <p:nvSpPr>
          <p:cNvPr id="26628" name="Slide Number Placeholder 3">
            <a:extLst>
              <a:ext uri="{FF2B5EF4-FFF2-40B4-BE49-F238E27FC236}">
                <a16:creationId xmlns:a16="http://schemas.microsoft.com/office/drawing/2014/main" id="{13466EDD-9B18-4E3E-916D-76992BE6F69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6137DAE-83BD-4E87-B57A-8821A92B74D9}" type="slidenum">
              <a:rPr lang="en-US" altLang="en-US">
                <a:latin typeface="Calibri" panose="020F0502020204030204" pitchFamily="34" charset="0"/>
              </a:rPr>
              <a:pPr/>
              <a:t>14</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left)">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234487D0-39F2-47A3-8AD0-B0016C91A45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The supply schedule</a:t>
            </a:r>
          </a:p>
        </p:txBody>
      </p:sp>
      <p:sp>
        <p:nvSpPr>
          <p:cNvPr id="27651" name="Content Placeholder 2">
            <a:extLst>
              <a:ext uri="{FF2B5EF4-FFF2-40B4-BE49-F238E27FC236}">
                <a16:creationId xmlns:a16="http://schemas.microsoft.com/office/drawing/2014/main" id="{8AB3449C-E9F9-4E67-9DC0-8C2EE8021965}"/>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4</a:t>
            </a:r>
          </a:p>
        </p:txBody>
      </p:sp>
      <p:sp>
        <p:nvSpPr>
          <p:cNvPr id="27652" name="Slide Number Placeholder 3">
            <a:extLst>
              <a:ext uri="{FF2B5EF4-FFF2-40B4-BE49-F238E27FC236}">
                <a16:creationId xmlns:a16="http://schemas.microsoft.com/office/drawing/2014/main" id="{AB0E933B-CAF8-4990-ADCF-2087E443E135}"/>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A4C12ED-36B5-42A4-A6AE-26C50310895C}" type="slidenum">
              <a:rPr lang="en-US" altLang="en-US">
                <a:latin typeface="Calibri" panose="020F0502020204030204" pitchFamily="34" charset="0"/>
              </a:rPr>
              <a:pPr/>
              <a:t>15</a:t>
            </a:fld>
            <a:endParaRPr lang="en-US" altLang="en-US">
              <a:latin typeface="Calibri" panose="020F0502020204030204" pitchFamily="34" charset="0"/>
            </a:endParaRPr>
          </a:p>
        </p:txBody>
      </p:sp>
      <p:sp>
        <p:nvSpPr>
          <p:cNvPr id="5" name="TextBox 4">
            <a:extLst>
              <a:ext uri="{FF2B5EF4-FFF2-40B4-BE49-F238E27FC236}">
                <a16:creationId xmlns:a16="http://schemas.microsoft.com/office/drawing/2014/main" id="{A5EC618C-EB21-454E-B9E0-BB805989FC76}"/>
              </a:ext>
            </a:extLst>
          </p:cNvPr>
          <p:cNvSpPr txBox="1">
            <a:spLocks noChangeArrowheads="1"/>
          </p:cNvSpPr>
          <p:nvPr/>
        </p:nvSpPr>
        <p:spPr bwMode="auto">
          <a:xfrm>
            <a:off x="985838" y="5610225"/>
            <a:ext cx="6911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The table shows the supply schedule for the sellers in Table 2.</a:t>
            </a:r>
          </a:p>
        </p:txBody>
      </p:sp>
      <p:graphicFrame>
        <p:nvGraphicFramePr>
          <p:cNvPr id="6" name="Table 5">
            <a:extLst>
              <a:ext uri="{FF2B5EF4-FFF2-40B4-BE49-F238E27FC236}">
                <a16:creationId xmlns:a16="http://schemas.microsoft.com/office/drawing/2014/main" id="{B6897820-F95A-4E75-86A1-3A93F58337AE}"/>
              </a:ext>
            </a:extLst>
          </p:cNvPr>
          <p:cNvGraphicFramePr>
            <a:graphicFrameLocks noGrp="1"/>
          </p:cNvGraphicFramePr>
          <p:nvPr/>
        </p:nvGraphicFramePr>
        <p:xfrm>
          <a:off x="954088" y="2062163"/>
          <a:ext cx="7154862" cy="2103437"/>
        </p:xfrm>
        <a:graphic>
          <a:graphicData uri="http://schemas.openxmlformats.org/drawingml/2006/table">
            <a:tbl>
              <a:tblPr>
                <a:tableStyleId>{5C22544A-7EE6-4342-B048-85BDC9FD1C3A}</a:tableStyleId>
              </a:tblPr>
              <a:tblGrid>
                <a:gridCol w="2032126">
                  <a:extLst>
                    <a:ext uri="{9D8B030D-6E8A-4147-A177-3AD203B41FA5}">
                      <a16:colId xmlns:a16="http://schemas.microsoft.com/office/drawing/2014/main" val="20000"/>
                    </a:ext>
                  </a:extLst>
                </a:gridCol>
                <a:gridCol w="3090610">
                  <a:extLst>
                    <a:ext uri="{9D8B030D-6E8A-4147-A177-3AD203B41FA5}">
                      <a16:colId xmlns:a16="http://schemas.microsoft.com/office/drawing/2014/main" val="20001"/>
                    </a:ext>
                  </a:extLst>
                </a:gridCol>
                <a:gridCol w="2032126">
                  <a:extLst>
                    <a:ext uri="{9D8B030D-6E8A-4147-A177-3AD203B41FA5}">
                      <a16:colId xmlns:a16="http://schemas.microsoft.com/office/drawing/2014/main" val="20002"/>
                    </a:ext>
                  </a:extLst>
                </a:gridCol>
              </a:tblGrid>
              <a:tr h="640176">
                <a:tc>
                  <a:txBody>
                    <a:bodyPr/>
                    <a:lstStyle/>
                    <a:p>
                      <a:pPr algn="ctr"/>
                      <a:endParaRPr lang="en-US" sz="1800" dirty="0">
                        <a:solidFill>
                          <a:srgbClr val="000070"/>
                        </a:solidFill>
                      </a:endParaRPr>
                    </a:p>
                    <a:p>
                      <a:pPr algn="ctr"/>
                      <a:r>
                        <a:rPr lang="en-US" sz="1800" dirty="0">
                          <a:solidFill>
                            <a:srgbClr val="000070"/>
                          </a:solidFill>
                        </a:rPr>
                        <a:t>Price</a:t>
                      </a:r>
                    </a:p>
                  </a:txBody>
                  <a:tcPr marL="91446" marR="91446"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dirty="0">
                        <a:solidFill>
                          <a:srgbClr val="000070"/>
                        </a:solidFill>
                      </a:endParaRPr>
                    </a:p>
                    <a:p>
                      <a:pPr algn="ctr"/>
                      <a:r>
                        <a:rPr lang="en-US" sz="1800" dirty="0">
                          <a:solidFill>
                            <a:srgbClr val="000070"/>
                          </a:solidFill>
                        </a:rPr>
                        <a:t>Sellers</a:t>
                      </a:r>
                      <a:r>
                        <a:rPr lang="en-US" sz="1800" baseline="0" dirty="0">
                          <a:solidFill>
                            <a:srgbClr val="000070"/>
                          </a:solidFill>
                        </a:rPr>
                        <a:t> </a:t>
                      </a:r>
                      <a:endParaRPr lang="en-US" sz="1800" dirty="0">
                        <a:solidFill>
                          <a:srgbClr val="000070"/>
                        </a:solidFill>
                      </a:endParaRPr>
                    </a:p>
                  </a:txBody>
                  <a:tcPr marL="91446" marR="91446"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0070"/>
                          </a:solidFill>
                        </a:rPr>
                        <a:t>Quantity</a:t>
                      </a:r>
                    </a:p>
                    <a:p>
                      <a:pPr algn="ctr"/>
                      <a:r>
                        <a:rPr lang="en-US" sz="1800" dirty="0">
                          <a:solidFill>
                            <a:srgbClr val="000070"/>
                          </a:solidFill>
                        </a:rPr>
                        <a:t>Supplied </a:t>
                      </a:r>
                    </a:p>
                  </a:txBody>
                  <a:tcPr marL="91446" marR="91446"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463261">
                <a:tc>
                  <a:txBody>
                    <a:bodyPr/>
                    <a:lstStyle/>
                    <a:p>
                      <a:pPr algn="ctr"/>
                      <a:r>
                        <a:rPr lang="en-US" sz="1800" kern="1200" baseline="0" dirty="0">
                          <a:solidFill>
                            <a:schemeClr val="dk1"/>
                          </a:solidFill>
                          <a:latin typeface="+mn-lt"/>
                          <a:ea typeface="+mn-ea"/>
                          <a:cs typeface="+mn-cs"/>
                        </a:rPr>
                        <a:t>$900 or more </a:t>
                      </a:r>
                    </a:p>
                    <a:p>
                      <a:pPr algn="ctr"/>
                      <a:r>
                        <a:rPr lang="en-US" sz="1800" kern="1200" baseline="0" dirty="0">
                          <a:solidFill>
                            <a:schemeClr val="dk1"/>
                          </a:solidFill>
                          <a:latin typeface="+mn-lt"/>
                          <a:ea typeface="+mn-ea"/>
                          <a:cs typeface="+mn-cs"/>
                        </a:rPr>
                        <a:t>$800 to $900 </a:t>
                      </a:r>
                    </a:p>
                    <a:p>
                      <a:pPr algn="ctr"/>
                      <a:r>
                        <a:rPr lang="en-US" sz="1800" kern="1200" baseline="0" dirty="0">
                          <a:solidFill>
                            <a:schemeClr val="dk1"/>
                          </a:solidFill>
                          <a:latin typeface="+mn-lt"/>
                          <a:ea typeface="+mn-ea"/>
                          <a:cs typeface="+mn-cs"/>
                        </a:rPr>
                        <a:t>$600 to $800</a:t>
                      </a:r>
                    </a:p>
                    <a:p>
                      <a:pPr algn="ctr"/>
                      <a:r>
                        <a:rPr lang="en-US" sz="1800" kern="1200" baseline="0" dirty="0">
                          <a:solidFill>
                            <a:schemeClr val="dk1"/>
                          </a:solidFill>
                          <a:latin typeface="+mn-lt"/>
                          <a:ea typeface="+mn-ea"/>
                          <a:cs typeface="+mn-cs"/>
                        </a:rPr>
                        <a:t>$500 to $600 </a:t>
                      </a:r>
                    </a:p>
                    <a:p>
                      <a:pPr algn="ctr"/>
                      <a:r>
                        <a:rPr lang="en-US" sz="1800" kern="1200" baseline="0" dirty="0">
                          <a:solidFill>
                            <a:schemeClr val="dk1"/>
                          </a:solidFill>
                          <a:latin typeface="+mn-lt"/>
                          <a:ea typeface="+mn-ea"/>
                          <a:cs typeface="+mn-cs"/>
                        </a:rPr>
                        <a:t>Less than $500 </a:t>
                      </a:r>
                      <a:endParaRPr lang="en-US" sz="1800" dirty="0"/>
                    </a:p>
                  </a:txBody>
                  <a:tcPr marL="91446" marR="91446"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kern="1200" baseline="0" dirty="0">
                          <a:solidFill>
                            <a:schemeClr val="dk1"/>
                          </a:solidFill>
                          <a:latin typeface="+mn-lt"/>
                          <a:ea typeface="+mn-ea"/>
                          <a:cs typeface="+mn-cs"/>
                        </a:rPr>
                        <a:t>Mary, Frida, Georgia, Grandma</a:t>
                      </a:r>
                    </a:p>
                    <a:p>
                      <a:r>
                        <a:rPr lang="en-US" sz="1800" kern="1200" baseline="0" dirty="0">
                          <a:solidFill>
                            <a:schemeClr val="dk1"/>
                          </a:solidFill>
                          <a:latin typeface="+mn-lt"/>
                          <a:ea typeface="+mn-ea"/>
                          <a:cs typeface="+mn-cs"/>
                        </a:rPr>
                        <a:t>Frida, Georgia, Grandma</a:t>
                      </a:r>
                    </a:p>
                    <a:p>
                      <a:r>
                        <a:rPr lang="en-US" sz="1800" kern="1200" baseline="0" dirty="0">
                          <a:solidFill>
                            <a:schemeClr val="dk1"/>
                          </a:solidFill>
                          <a:latin typeface="+mn-lt"/>
                          <a:ea typeface="+mn-ea"/>
                          <a:cs typeface="+mn-cs"/>
                        </a:rPr>
                        <a:t>Georgia, Grandma</a:t>
                      </a:r>
                    </a:p>
                    <a:p>
                      <a:r>
                        <a:rPr lang="en-US" sz="1800" kern="1200" baseline="0" dirty="0">
                          <a:solidFill>
                            <a:schemeClr val="dk1"/>
                          </a:solidFill>
                          <a:latin typeface="+mn-lt"/>
                          <a:ea typeface="+mn-ea"/>
                          <a:cs typeface="+mn-cs"/>
                        </a:rPr>
                        <a:t>Grandma</a:t>
                      </a:r>
                    </a:p>
                    <a:p>
                      <a:r>
                        <a:rPr lang="en-US" sz="1800" kern="1200" baseline="0" dirty="0">
                          <a:solidFill>
                            <a:schemeClr val="dk1"/>
                          </a:solidFill>
                          <a:latin typeface="+mn-lt"/>
                          <a:ea typeface="+mn-ea"/>
                          <a:cs typeface="+mn-cs"/>
                        </a:rPr>
                        <a:t>None </a:t>
                      </a:r>
                      <a:endParaRPr lang="en-US" sz="1800" dirty="0"/>
                    </a:p>
                  </a:txBody>
                  <a:tcPr marL="91446" marR="91446"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4</a:t>
                      </a:r>
                    </a:p>
                    <a:p>
                      <a:pPr algn="ctr"/>
                      <a:r>
                        <a:rPr lang="en-US" sz="1800" dirty="0"/>
                        <a:t>3</a:t>
                      </a:r>
                    </a:p>
                    <a:p>
                      <a:pPr algn="ctr"/>
                      <a:r>
                        <a:rPr lang="en-US" sz="1800" dirty="0"/>
                        <a:t>2</a:t>
                      </a:r>
                    </a:p>
                    <a:p>
                      <a:pPr algn="ctr"/>
                      <a:r>
                        <a:rPr lang="en-US" sz="1800" dirty="0"/>
                        <a:t>1</a:t>
                      </a:r>
                    </a:p>
                    <a:p>
                      <a:pPr algn="ctr"/>
                      <a:r>
                        <a:rPr lang="en-US" sz="1800" dirty="0"/>
                        <a:t>0</a:t>
                      </a:r>
                    </a:p>
                  </a:txBody>
                  <a:tcPr marL="91446" marR="91446"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2886DD4B-2C40-4D0B-A083-00FA4ABE218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The supply curve</a:t>
            </a:r>
          </a:p>
        </p:txBody>
      </p:sp>
      <p:sp>
        <p:nvSpPr>
          <p:cNvPr id="28675" name="Content Placeholder 2">
            <a:extLst>
              <a:ext uri="{FF2B5EF4-FFF2-40B4-BE49-F238E27FC236}">
                <a16:creationId xmlns:a16="http://schemas.microsoft.com/office/drawing/2014/main" id="{1D3F7C7C-AF76-40FB-88B3-7E49A4D44BB6}"/>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4</a:t>
            </a:r>
          </a:p>
        </p:txBody>
      </p:sp>
      <p:sp>
        <p:nvSpPr>
          <p:cNvPr id="28676" name="Slide Number Placeholder 3">
            <a:extLst>
              <a:ext uri="{FF2B5EF4-FFF2-40B4-BE49-F238E27FC236}">
                <a16:creationId xmlns:a16="http://schemas.microsoft.com/office/drawing/2014/main" id="{C01A0DD2-7AC5-4FFA-9DA7-E621F06CE4D6}"/>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4DD0799-2DED-40FE-89E7-D4552E814C22}" type="slidenum">
              <a:rPr lang="en-US" altLang="en-US">
                <a:latin typeface="Calibri" panose="020F0502020204030204" pitchFamily="34" charset="0"/>
              </a:rPr>
              <a:pPr/>
              <a:t>16</a:t>
            </a:fld>
            <a:endParaRPr lang="en-US" altLang="en-US">
              <a:latin typeface="Calibri" panose="020F0502020204030204" pitchFamily="34" charset="0"/>
            </a:endParaRPr>
          </a:p>
        </p:txBody>
      </p:sp>
      <p:grpSp>
        <p:nvGrpSpPr>
          <p:cNvPr id="5" name="Group 6">
            <a:extLst>
              <a:ext uri="{FF2B5EF4-FFF2-40B4-BE49-F238E27FC236}">
                <a16:creationId xmlns:a16="http://schemas.microsoft.com/office/drawing/2014/main" id="{A0BDBECA-ED16-43D9-9F51-80A238F23834}"/>
              </a:ext>
            </a:extLst>
          </p:cNvPr>
          <p:cNvGrpSpPr>
            <a:grpSpLocks/>
          </p:cNvGrpSpPr>
          <p:nvPr/>
        </p:nvGrpSpPr>
        <p:grpSpPr bwMode="auto">
          <a:xfrm>
            <a:off x="874713" y="1435100"/>
            <a:ext cx="5830887" cy="3833813"/>
            <a:chOff x="874509" y="1434925"/>
            <a:chExt cx="5831091" cy="3833813"/>
          </a:xfrm>
        </p:grpSpPr>
        <p:sp>
          <p:nvSpPr>
            <p:cNvPr id="8" name="Rectangle 7">
              <a:extLst>
                <a:ext uri="{FF2B5EF4-FFF2-40B4-BE49-F238E27FC236}">
                  <a16:creationId xmlns:a16="http://schemas.microsoft.com/office/drawing/2014/main" id="{085A4321-1F85-48B2-8B55-26B3BE60C203}"/>
                </a:ext>
              </a:extLst>
            </p:cNvPr>
            <p:cNvSpPr/>
            <p:nvPr/>
          </p:nvSpPr>
          <p:spPr>
            <a:xfrm>
              <a:off x="1828629" y="1839738"/>
              <a:ext cx="4876971" cy="3429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28720" name="Group 48">
              <a:extLst>
                <a:ext uri="{FF2B5EF4-FFF2-40B4-BE49-F238E27FC236}">
                  <a16:creationId xmlns:a16="http://schemas.microsoft.com/office/drawing/2014/main" id="{BA90D0A8-D61D-4ECE-BCA5-E026639E2B2D}"/>
                </a:ext>
              </a:extLst>
            </p:cNvPr>
            <p:cNvGrpSpPr>
              <a:grpSpLocks/>
            </p:cNvGrpSpPr>
            <p:nvPr/>
          </p:nvGrpSpPr>
          <p:grpSpPr bwMode="auto">
            <a:xfrm>
              <a:off x="874509" y="1434925"/>
              <a:ext cx="1106678" cy="3822699"/>
              <a:chOff x="3617469" y="978932"/>
              <a:chExt cx="1106678" cy="3822461"/>
            </a:xfrm>
          </p:grpSpPr>
          <p:cxnSp>
            <p:nvCxnSpPr>
              <p:cNvPr id="10" name="Straight Connector 7">
                <a:extLst>
                  <a:ext uri="{FF2B5EF4-FFF2-40B4-BE49-F238E27FC236}">
                    <a16:creationId xmlns:a16="http://schemas.microsoft.com/office/drawing/2014/main" id="{CFF78A7D-7495-4F7C-B64A-9903DEE205DE}"/>
                  </a:ext>
                </a:extLst>
              </p:cNvPr>
              <p:cNvCxnSpPr/>
              <p:nvPr/>
            </p:nvCxnSpPr>
            <p:spPr>
              <a:xfrm rot="5400000">
                <a:off x="2896088" y="3124304"/>
                <a:ext cx="3352591"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722" name="Group 56">
                <a:extLst>
                  <a:ext uri="{FF2B5EF4-FFF2-40B4-BE49-F238E27FC236}">
                    <a16:creationId xmlns:a16="http://schemas.microsoft.com/office/drawing/2014/main" id="{670167EB-5CE1-4CE5-8035-B5B38312B102}"/>
                  </a:ext>
                </a:extLst>
              </p:cNvPr>
              <p:cNvGrpSpPr>
                <a:grpSpLocks/>
              </p:cNvGrpSpPr>
              <p:nvPr/>
            </p:nvGrpSpPr>
            <p:grpSpPr bwMode="auto">
              <a:xfrm>
                <a:off x="3902616" y="2042537"/>
                <a:ext cx="821531" cy="369309"/>
                <a:chOff x="6036469" y="2499737"/>
                <a:chExt cx="821531" cy="369309"/>
              </a:xfrm>
            </p:grpSpPr>
            <p:sp>
              <p:nvSpPr>
                <p:cNvPr id="28733" name="TextBox 53">
                  <a:extLst>
                    <a:ext uri="{FF2B5EF4-FFF2-40B4-BE49-F238E27FC236}">
                      <a16:creationId xmlns:a16="http://schemas.microsoft.com/office/drawing/2014/main" id="{4FC81A11-7CAF-41D1-BCC2-16A5B5C269C5}"/>
                    </a:ext>
                  </a:extLst>
                </p:cNvPr>
                <p:cNvSpPr txBox="1">
                  <a:spLocks noChangeArrowheads="1"/>
                </p:cNvSpPr>
                <p:nvPr/>
              </p:nvSpPr>
              <p:spPr bwMode="auto">
                <a:xfrm>
                  <a:off x="6036469" y="2499737"/>
                  <a:ext cx="69762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$900</a:t>
                  </a:r>
                </a:p>
              </p:txBody>
            </p:sp>
            <p:cxnSp>
              <p:nvCxnSpPr>
                <p:cNvPr id="23" name="Straight Connector 55">
                  <a:extLst>
                    <a:ext uri="{FF2B5EF4-FFF2-40B4-BE49-F238E27FC236}">
                      <a16:creationId xmlns:a16="http://schemas.microsoft.com/office/drawing/2014/main" id="{50C55B2F-C8BC-4B09-8478-8DF3F2B0DB82}"/>
                    </a:ext>
                  </a:extLst>
                </p:cNvPr>
                <p:cNvCxnSpPr/>
                <p:nvPr/>
              </p:nvCxnSpPr>
              <p:spPr>
                <a:xfrm>
                  <a:off x="6705443" y="2728277"/>
                  <a:ext cx="15240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723" name="Group 57">
                <a:extLst>
                  <a:ext uri="{FF2B5EF4-FFF2-40B4-BE49-F238E27FC236}">
                    <a16:creationId xmlns:a16="http://schemas.microsoft.com/office/drawing/2014/main" id="{2570B28F-322E-4123-8567-C75A129DF7F2}"/>
                  </a:ext>
                </a:extLst>
              </p:cNvPr>
              <p:cNvGrpSpPr>
                <a:grpSpLocks/>
              </p:cNvGrpSpPr>
              <p:nvPr/>
            </p:nvGrpSpPr>
            <p:grpSpPr bwMode="auto">
              <a:xfrm>
                <a:off x="4030856" y="2368913"/>
                <a:ext cx="693291" cy="369309"/>
                <a:chOff x="6164709" y="2357245"/>
                <a:chExt cx="693291" cy="369309"/>
              </a:xfrm>
            </p:grpSpPr>
            <p:sp>
              <p:nvSpPr>
                <p:cNvPr id="28731" name="TextBox 58">
                  <a:extLst>
                    <a:ext uri="{FF2B5EF4-FFF2-40B4-BE49-F238E27FC236}">
                      <a16:creationId xmlns:a16="http://schemas.microsoft.com/office/drawing/2014/main" id="{A04869BB-1B5A-4DD8-A1F5-2FE4C569FBF8}"/>
                    </a:ext>
                  </a:extLst>
                </p:cNvPr>
                <p:cNvSpPr txBox="1">
                  <a:spLocks noChangeArrowheads="1"/>
                </p:cNvSpPr>
                <p:nvPr/>
              </p:nvSpPr>
              <p:spPr bwMode="auto">
                <a:xfrm>
                  <a:off x="6164709" y="2357245"/>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800</a:t>
                  </a:r>
                </a:p>
              </p:txBody>
            </p:sp>
            <p:cxnSp>
              <p:nvCxnSpPr>
                <p:cNvPr id="21" name="Straight Connector 20">
                  <a:extLst>
                    <a:ext uri="{FF2B5EF4-FFF2-40B4-BE49-F238E27FC236}">
                      <a16:creationId xmlns:a16="http://schemas.microsoft.com/office/drawing/2014/main" id="{9A190D48-463B-4318-87D3-B23C5D0D3AD6}"/>
                    </a:ext>
                  </a:extLst>
                </p:cNvPr>
                <p:cNvCxnSpPr/>
                <p:nvPr/>
              </p:nvCxnSpPr>
              <p:spPr>
                <a:xfrm>
                  <a:off x="6705443" y="2573714"/>
                  <a:ext cx="15240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724" name="Group 60">
                <a:extLst>
                  <a:ext uri="{FF2B5EF4-FFF2-40B4-BE49-F238E27FC236}">
                    <a16:creationId xmlns:a16="http://schemas.microsoft.com/office/drawing/2014/main" id="{EAEE0243-17BE-42DA-BB2C-8AA1F61EEDB0}"/>
                  </a:ext>
                </a:extLst>
              </p:cNvPr>
              <p:cNvGrpSpPr>
                <a:grpSpLocks/>
              </p:cNvGrpSpPr>
              <p:nvPr/>
            </p:nvGrpSpPr>
            <p:grpSpPr bwMode="auto">
              <a:xfrm>
                <a:off x="4030856" y="2944857"/>
                <a:ext cx="693291" cy="369309"/>
                <a:chOff x="6164709" y="2475989"/>
                <a:chExt cx="693291" cy="369309"/>
              </a:xfrm>
            </p:grpSpPr>
            <p:sp>
              <p:nvSpPr>
                <p:cNvPr id="28729" name="TextBox 63">
                  <a:extLst>
                    <a:ext uri="{FF2B5EF4-FFF2-40B4-BE49-F238E27FC236}">
                      <a16:creationId xmlns:a16="http://schemas.microsoft.com/office/drawing/2014/main" id="{2512196C-CF3D-4B50-A8D8-C2B47A0D07F0}"/>
                    </a:ext>
                  </a:extLst>
                </p:cNvPr>
                <p:cNvSpPr txBox="1">
                  <a:spLocks noChangeArrowheads="1"/>
                </p:cNvSpPr>
                <p:nvPr/>
              </p:nvSpPr>
              <p:spPr bwMode="auto">
                <a:xfrm>
                  <a:off x="6164709" y="2475989"/>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600</a:t>
                  </a:r>
                </a:p>
              </p:txBody>
            </p:sp>
            <p:cxnSp>
              <p:nvCxnSpPr>
                <p:cNvPr id="19" name="Straight Connector 18">
                  <a:extLst>
                    <a:ext uri="{FF2B5EF4-FFF2-40B4-BE49-F238E27FC236}">
                      <a16:creationId xmlns:a16="http://schemas.microsoft.com/office/drawing/2014/main" id="{BB011EAF-8E5E-416E-9A4D-DFBBE3935C0A}"/>
                    </a:ext>
                  </a:extLst>
                </p:cNvPr>
                <p:cNvCxnSpPr/>
                <p:nvPr/>
              </p:nvCxnSpPr>
              <p:spPr>
                <a:xfrm>
                  <a:off x="6705443" y="2656231"/>
                  <a:ext cx="15240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725" name="Group 63">
                <a:extLst>
                  <a:ext uri="{FF2B5EF4-FFF2-40B4-BE49-F238E27FC236}">
                    <a16:creationId xmlns:a16="http://schemas.microsoft.com/office/drawing/2014/main" id="{0CEFA50A-47E5-41A7-B629-D8E4D14A4790}"/>
                  </a:ext>
                </a:extLst>
              </p:cNvPr>
              <p:cNvGrpSpPr>
                <a:grpSpLocks/>
              </p:cNvGrpSpPr>
              <p:nvPr/>
            </p:nvGrpSpPr>
            <p:grpSpPr bwMode="auto">
              <a:xfrm>
                <a:off x="4030856" y="3212068"/>
                <a:ext cx="693291" cy="369309"/>
                <a:chOff x="6164709" y="2286000"/>
                <a:chExt cx="693291" cy="369309"/>
              </a:xfrm>
            </p:grpSpPr>
            <p:sp>
              <p:nvSpPr>
                <p:cNvPr id="28727" name="TextBox 61">
                  <a:extLst>
                    <a:ext uri="{FF2B5EF4-FFF2-40B4-BE49-F238E27FC236}">
                      <a16:creationId xmlns:a16="http://schemas.microsoft.com/office/drawing/2014/main" id="{7CD67291-DA02-4966-962B-8B420DD97EE7}"/>
                    </a:ext>
                  </a:extLst>
                </p:cNvPr>
                <p:cNvSpPr txBox="1">
                  <a:spLocks noChangeArrowheads="1"/>
                </p:cNvSpPr>
                <p:nvPr/>
              </p:nvSpPr>
              <p:spPr bwMode="auto">
                <a:xfrm>
                  <a:off x="6164709" y="2286000"/>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500</a:t>
                  </a:r>
                </a:p>
              </p:txBody>
            </p:sp>
            <p:cxnSp>
              <p:nvCxnSpPr>
                <p:cNvPr id="17" name="Straight Connector 16">
                  <a:extLst>
                    <a:ext uri="{FF2B5EF4-FFF2-40B4-BE49-F238E27FC236}">
                      <a16:creationId xmlns:a16="http://schemas.microsoft.com/office/drawing/2014/main" id="{FF82983E-BC09-402E-9538-E0390E6C89DF}"/>
                    </a:ext>
                  </a:extLst>
                </p:cNvPr>
                <p:cNvCxnSpPr/>
                <p:nvPr/>
              </p:nvCxnSpPr>
              <p:spPr>
                <a:xfrm>
                  <a:off x="6705443" y="2514924"/>
                  <a:ext cx="15240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726" name="TextBox 56">
                <a:extLst>
                  <a:ext uri="{FF2B5EF4-FFF2-40B4-BE49-F238E27FC236}">
                    <a16:creationId xmlns:a16="http://schemas.microsoft.com/office/drawing/2014/main" id="{E4E5FFDA-1E49-439B-B2E5-4B9AA76AA58E}"/>
                  </a:ext>
                </a:extLst>
              </p:cNvPr>
              <p:cNvSpPr txBox="1">
                <a:spLocks noChangeArrowheads="1"/>
              </p:cNvSpPr>
              <p:nvPr/>
            </p:nvSpPr>
            <p:spPr bwMode="auto">
              <a:xfrm>
                <a:off x="3617469" y="978932"/>
                <a:ext cx="1018227" cy="923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Price of</a:t>
                </a:r>
              </a:p>
              <a:p>
                <a:pPr algn="r" eaLnBrk="1" hangingPunct="1"/>
                <a:r>
                  <a:rPr lang="en-US" altLang="en-US"/>
                  <a:t>House</a:t>
                </a:r>
              </a:p>
              <a:p>
                <a:pPr algn="r" eaLnBrk="1" hangingPunct="1"/>
                <a:r>
                  <a:rPr lang="en-US" altLang="en-US"/>
                  <a:t>Painting</a:t>
                </a:r>
              </a:p>
            </p:txBody>
          </p:sp>
        </p:grpSp>
      </p:grpSp>
      <p:sp>
        <p:nvSpPr>
          <p:cNvPr id="24" name="TextBox 8">
            <a:extLst>
              <a:ext uri="{FF2B5EF4-FFF2-40B4-BE49-F238E27FC236}">
                <a16:creationId xmlns:a16="http://schemas.microsoft.com/office/drawing/2014/main" id="{3EAEA764-78CE-4A42-93E6-35266F5EA316}"/>
              </a:ext>
            </a:extLst>
          </p:cNvPr>
          <p:cNvSpPr txBox="1">
            <a:spLocks noChangeArrowheads="1"/>
          </p:cNvSpPr>
          <p:nvPr/>
        </p:nvSpPr>
        <p:spPr bwMode="auto">
          <a:xfrm>
            <a:off x="985838" y="6049963"/>
            <a:ext cx="69119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The graph shows the corresponding supply curve. Note that the height of the supply curve reflects sellers’ costs.</a:t>
            </a:r>
          </a:p>
        </p:txBody>
      </p:sp>
      <p:grpSp>
        <p:nvGrpSpPr>
          <p:cNvPr id="13" name="Group 8">
            <a:extLst>
              <a:ext uri="{FF2B5EF4-FFF2-40B4-BE49-F238E27FC236}">
                <a16:creationId xmlns:a16="http://schemas.microsoft.com/office/drawing/2014/main" id="{7354C749-60E2-46AA-A485-CF683846D53E}"/>
              </a:ext>
            </a:extLst>
          </p:cNvPr>
          <p:cNvGrpSpPr>
            <a:grpSpLocks/>
          </p:cNvGrpSpPr>
          <p:nvPr/>
        </p:nvGrpSpPr>
        <p:grpSpPr bwMode="auto">
          <a:xfrm>
            <a:off x="1600200" y="5116513"/>
            <a:ext cx="5105400" cy="827087"/>
            <a:chOff x="4343400" y="4648200"/>
            <a:chExt cx="5105400" cy="826283"/>
          </a:xfrm>
        </p:grpSpPr>
        <p:cxnSp>
          <p:nvCxnSpPr>
            <p:cNvPr id="26" name="Straight Connector 25">
              <a:extLst>
                <a:ext uri="{FF2B5EF4-FFF2-40B4-BE49-F238E27FC236}">
                  <a16:creationId xmlns:a16="http://schemas.microsoft.com/office/drawing/2014/main" id="{A8B5C26E-18C4-489F-84BC-20D36541C30F}"/>
                </a:ext>
              </a:extLst>
            </p:cNvPr>
            <p:cNvCxnSpPr/>
            <p:nvPr/>
          </p:nvCxnSpPr>
          <p:spPr>
            <a:xfrm>
              <a:off x="4572000" y="4800452"/>
              <a:ext cx="4876800" cy="15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705" name="TextBox 10">
              <a:extLst>
                <a:ext uri="{FF2B5EF4-FFF2-40B4-BE49-F238E27FC236}">
                  <a16:creationId xmlns:a16="http://schemas.microsoft.com/office/drawing/2014/main" id="{E620AB4B-D74A-46E3-A17F-A4971EF9090D}"/>
                </a:ext>
              </a:extLst>
            </p:cNvPr>
            <p:cNvSpPr txBox="1">
              <a:spLocks noChangeArrowheads="1"/>
            </p:cNvSpPr>
            <p:nvPr/>
          </p:nvSpPr>
          <p:spPr bwMode="auto">
            <a:xfrm>
              <a:off x="4343400" y="4800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nvGrpSpPr>
            <p:cNvPr id="28706" name="Group 14">
              <a:extLst>
                <a:ext uri="{FF2B5EF4-FFF2-40B4-BE49-F238E27FC236}">
                  <a16:creationId xmlns:a16="http://schemas.microsoft.com/office/drawing/2014/main" id="{CF519C6D-55DE-4587-A1F4-946465264168}"/>
                </a:ext>
              </a:extLst>
            </p:cNvPr>
            <p:cNvGrpSpPr>
              <a:grpSpLocks/>
            </p:cNvGrpSpPr>
            <p:nvPr/>
          </p:nvGrpSpPr>
          <p:grpSpPr bwMode="auto">
            <a:xfrm>
              <a:off x="8060375" y="4648200"/>
              <a:ext cx="312906" cy="521483"/>
              <a:chOff x="8060375" y="4648200"/>
              <a:chExt cx="312906" cy="521483"/>
            </a:xfrm>
          </p:grpSpPr>
          <p:cxnSp>
            <p:nvCxnSpPr>
              <p:cNvPr id="39" name="Straight Connector 12">
                <a:extLst>
                  <a:ext uri="{FF2B5EF4-FFF2-40B4-BE49-F238E27FC236}">
                    <a16:creationId xmlns:a16="http://schemas.microsoft.com/office/drawing/2014/main" id="{AB1243AC-11B3-456D-AD17-D66E10D774FA}"/>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718" name="TextBox 13">
                <a:extLst>
                  <a:ext uri="{FF2B5EF4-FFF2-40B4-BE49-F238E27FC236}">
                    <a16:creationId xmlns:a16="http://schemas.microsoft.com/office/drawing/2014/main" id="{C7876C98-B968-463C-ACD0-35B76C0135E1}"/>
                  </a:ext>
                </a:extLst>
              </p:cNvPr>
              <p:cNvSpPr txBox="1">
                <a:spLocks noChangeArrowheads="1"/>
              </p:cNvSpPr>
              <p:nvPr/>
            </p:nvSpPr>
            <p:spPr bwMode="auto">
              <a:xfrm>
                <a:off x="8060375"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4</a:t>
                </a:r>
              </a:p>
            </p:txBody>
          </p:sp>
        </p:grpSp>
        <p:grpSp>
          <p:nvGrpSpPr>
            <p:cNvPr id="28707" name="Group 21">
              <a:extLst>
                <a:ext uri="{FF2B5EF4-FFF2-40B4-BE49-F238E27FC236}">
                  <a16:creationId xmlns:a16="http://schemas.microsoft.com/office/drawing/2014/main" id="{4C569B20-572F-4D70-AAC1-9E347E4F4609}"/>
                </a:ext>
              </a:extLst>
            </p:cNvPr>
            <p:cNvGrpSpPr>
              <a:grpSpLocks/>
            </p:cNvGrpSpPr>
            <p:nvPr/>
          </p:nvGrpSpPr>
          <p:grpSpPr bwMode="auto">
            <a:xfrm>
              <a:off x="7154694" y="4648200"/>
              <a:ext cx="312906" cy="521483"/>
              <a:chOff x="8069094" y="4648200"/>
              <a:chExt cx="312906" cy="521483"/>
            </a:xfrm>
          </p:grpSpPr>
          <p:cxnSp>
            <p:nvCxnSpPr>
              <p:cNvPr id="37" name="Straight Connector 22">
                <a:extLst>
                  <a:ext uri="{FF2B5EF4-FFF2-40B4-BE49-F238E27FC236}">
                    <a16:creationId xmlns:a16="http://schemas.microsoft.com/office/drawing/2014/main" id="{260CE732-76EE-4C3E-B0D3-FE0D636E7CBA}"/>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716" name="TextBox 41">
                <a:extLst>
                  <a:ext uri="{FF2B5EF4-FFF2-40B4-BE49-F238E27FC236}">
                    <a16:creationId xmlns:a16="http://schemas.microsoft.com/office/drawing/2014/main" id="{C9DA36B2-CEEB-43C6-AAEE-33192EC37BF0}"/>
                  </a:ext>
                </a:extLst>
              </p:cNvPr>
              <p:cNvSpPr txBox="1">
                <a:spLocks noChangeArrowheads="1"/>
              </p:cNvSpPr>
              <p:nvPr/>
            </p:nvSpPr>
            <p:spPr bwMode="auto">
              <a:xfrm>
                <a:off x="806909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3</a:t>
                </a:r>
              </a:p>
            </p:txBody>
          </p:sp>
        </p:grpSp>
        <p:grpSp>
          <p:nvGrpSpPr>
            <p:cNvPr id="28708" name="Group 33">
              <a:extLst>
                <a:ext uri="{FF2B5EF4-FFF2-40B4-BE49-F238E27FC236}">
                  <a16:creationId xmlns:a16="http://schemas.microsoft.com/office/drawing/2014/main" id="{A2A8C877-0767-4B01-A531-6EA4BE8B4FE2}"/>
                </a:ext>
              </a:extLst>
            </p:cNvPr>
            <p:cNvGrpSpPr>
              <a:grpSpLocks/>
            </p:cNvGrpSpPr>
            <p:nvPr/>
          </p:nvGrpSpPr>
          <p:grpSpPr bwMode="auto">
            <a:xfrm>
              <a:off x="5325894" y="4648200"/>
              <a:ext cx="312906" cy="521483"/>
              <a:chOff x="8069094" y="4648200"/>
              <a:chExt cx="312906" cy="521483"/>
            </a:xfrm>
          </p:grpSpPr>
          <p:cxnSp>
            <p:nvCxnSpPr>
              <p:cNvPr id="35" name="Straight Connector 34">
                <a:extLst>
                  <a:ext uri="{FF2B5EF4-FFF2-40B4-BE49-F238E27FC236}">
                    <a16:creationId xmlns:a16="http://schemas.microsoft.com/office/drawing/2014/main" id="{2DDDE8AF-B0D1-4F4C-9261-E1BABE7E5A39}"/>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714" name="TextBox 35">
                <a:extLst>
                  <a:ext uri="{FF2B5EF4-FFF2-40B4-BE49-F238E27FC236}">
                    <a16:creationId xmlns:a16="http://schemas.microsoft.com/office/drawing/2014/main" id="{2B494369-D5C4-44B7-99FA-37DAD4C25E8F}"/>
                  </a:ext>
                </a:extLst>
              </p:cNvPr>
              <p:cNvSpPr txBox="1">
                <a:spLocks noChangeArrowheads="1"/>
              </p:cNvSpPr>
              <p:nvPr/>
            </p:nvSpPr>
            <p:spPr bwMode="auto">
              <a:xfrm>
                <a:off x="806909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grpSp>
        <p:grpSp>
          <p:nvGrpSpPr>
            <p:cNvPr id="28709" name="Group 42">
              <a:extLst>
                <a:ext uri="{FF2B5EF4-FFF2-40B4-BE49-F238E27FC236}">
                  <a16:creationId xmlns:a16="http://schemas.microsoft.com/office/drawing/2014/main" id="{53799078-AF5D-44DB-A117-74A1116D00B9}"/>
                </a:ext>
              </a:extLst>
            </p:cNvPr>
            <p:cNvGrpSpPr>
              <a:grpSpLocks/>
            </p:cNvGrpSpPr>
            <p:nvPr/>
          </p:nvGrpSpPr>
          <p:grpSpPr bwMode="auto">
            <a:xfrm>
              <a:off x="6240294" y="4648200"/>
              <a:ext cx="312906" cy="521483"/>
              <a:chOff x="8069094" y="4648200"/>
              <a:chExt cx="312906" cy="521483"/>
            </a:xfrm>
          </p:grpSpPr>
          <p:cxnSp>
            <p:nvCxnSpPr>
              <p:cNvPr id="33" name="Straight Connector 32">
                <a:extLst>
                  <a:ext uri="{FF2B5EF4-FFF2-40B4-BE49-F238E27FC236}">
                    <a16:creationId xmlns:a16="http://schemas.microsoft.com/office/drawing/2014/main" id="{7DC18E04-BEA3-4943-ADD1-15731F5C70B0}"/>
                  </a:ext>
                </a:extLst>
              </p:cNvPr>
              <p:cNvCxnSpPr/>
              <p:nvPr/>
            </p:nvCxnSpPr>
            <p:spPr>
              <a:xfrm rot="5400000">
                <a:off x="8152681" y="4723532"/>
                <a:ext cx="15225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712" name="TextBox 29">
                <a:extLst>
                  <a:ext uri="{FF2B5EF4-FFF2-40B4-BE49-F238E27FC236}">
                    <a16:creationId xmlns:a16="http://schemas.microsoft.com/office/drawing/2014/main" id="{31216A69-1032-4EE4-A4D9-3E3F2B86AC2A}"/>
                  </a:ext>
                </a:extLst>
              </p:cNvPr>
              <p:cNvSpPr txBox="1">
                <a:spLocks noChangeArrowheads="1"/>
              </p:cNvSpPr>
              <p:nvPr/>
            </p:nvSpPr>
            <p:spPr bwMode="auto">
              <a:xfrm>
                <a:off x="806909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p>
            </p:txBody>
          </p:sp>
        </p:grpSp>
        <p:sp>
          <p:nvSpPr>
            <p:cNvPr id="28710" name="TextBox 23">
              <a:extLst>
                <a:ext uri="{FF2B5EF4-FFF2-40B4-BE49-F238E27FC236}">
                  <a16:creationId xmlns:a16="http://schemas.microsoft.com/office/drawing/2014/main" id="{95C589B5-8A5F-419D-8601-1034C19C6878}"/>
                </a:ext>
              </a:extLst>
            </p:cNvPr>
            <p:cNvSpPr txBox="1">
              <a:spLocks noChangeArrowheads="1"/>
            </p:cNvSpPr>
            <p:nvPr/>
          </p:nvSpPr>
          <p:spPr bwMode="auto">
            <a:xfrm>
              <a:off x="5521036" y="5105399"/>
              <a:ext cx="2993127"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Quantity of Houses Painted</a:t>
              </a:r>
            </a:p>
          </p:txBody>
        </p:sp>
      </p:grpSp>
      <p:grpSp>
        <p:nvGrpSpPr>
          <p:cNvPr id="30" name="Group 103">
            <a:extLst>
              <a:ext uri="{FF2B5EF4-FFF2-40B4-BE49-F238E27FC236}">
                <a16:creationId xmlns:a16="http://schemas.microsoft.com/office/drawing/2014/main" id="{4588FAEF-65D6-4A02-99E8-76AB3AC477BE}"/>
              </a:ext>
            </a:extLst>
          </p:cNvPr>
          <p:cNvGrpSpPr>
            <a:grpSpLocks/>
          </p:cNvGrpSpPr>
          <p:nvPr/>
        </p:nvGrpSpPr>
        <p:grpSpPr bwMode="auto">
          <a:xfrm>
            <a:off x="5451475" y="2557463"/>
            <a:ext cx="1319213" cy="307975"/>
            <a:chOff x="5804760" y="1268474"/>
            <a:chExt cx="1319718" cy="307777"/>
          </a:xfrm>
        </p:grpSpPr>
        <p:sp>
          <p:nvSpPr>
            <p:cNvPr id="28702" name="TextBox 104">
              <a:extLst>
                <a:ext uri="{FF2B5EF4-FFF2-40B4-BE49-F238E27FC236}">
                  <a16:creationId xmlns:a16="http://schemas.microsoft.com/office/drawing/2014/main" id="{07AAB6E0-85DF-4878-AC78-4D91F1A1F773}"/>
                </a:ext>
              </a:extLst>
            </p:cNvPr>
            <p:cNvSpPr txBox="1">
              <a:spLocks noChangeArrowheads="1"/>
            </p:cNvSpPr>
            <p:nvPr/>
          </p:nvSpPr>
          <p:spPr bwMode="auto">
            <a:xfrm>
              <a:off x="6037773" y="1268474"/>
              <a:ext cx="1086705"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Mary’s cost</a:t>
              </a:r>
            </a:p>
          </p:txBody>
        </p:sp>
        <p:cxnSp>
          <p:nvCxnSpPr>
            <p:cNvPr id="43" name="Straight Connector 42">
              <a:extLst>
                <a:ext uri="{FF2B5EF4-FFF2-40B4-BE49-F238E27FC236}">
                  <a16:creationId xmlns:a16="http://schemas.microsoft.com/office/drawing/2014/main" id="{4FBEB7AD-A5F4-47A1-B127-1905556B8F6F}"/>
                </a:ext>
              </a:extLst>
            </p:cNvPr>
            <p:cNvCxnSpPr/>
            <p:nvPr/>
          </p:nvCxnSpPr>
          <p:spPr>
            <a:xfrm>
              <a:off x="5804760" y="1419189"/>
              <a:ext cx="233452" cy="3173"/>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31" name="Group 103">
            <a:extLst>
              <a:ext uri="{FF2B5EF4-FFF2-40B4-BE49-F238E27FC236}">
                <a16:creationId xmlns:a16="http://schemas.microsoft.com/office/drawing/2014/main" id="{A0D39191-104E-44AC-8569-EB922F31C744}"/>
              </a:ext>
            </a:extLst>
          </p:cNvPr>
          <p:cNvGrpSpPr>
            <a:grpSpLocks/>
          </p:cNvGrpSpPr>
          <p:nvPr/>
        </p:nvGrpSpPr>
        <p:grpSpPr bwMode="auto">
          <a:xfrm>
            <a:off x="4537075" y="3051175"/>
            <a:ext cx="1758950" cy="322263"/>
            <a:chOff x="5327659" y="1254558"/>
            <a:chExt cx="1758955" cy="321693"/>
          </a:xfrm>
        </p:grpSpPr>
        <p:sp>
          <p:nvSpPr>
            <p:cNvPr id="28700" name="TextBox 104">
              <a:extLst>
                <a:ext uri="{FF2B5EF4-FFF2-40B4-BE49-F238E27FC236}">
                  <a16:creationId xmlns:a16="http://schemas.microsoft.com/office/drawing/2014/main" id="{641631E4-5A15-4BF3-8CF2-04387D3330B5}"/>
                </a:ext>
              </a:extLst>
            </p:cNvPr>
            <p:cNvSpPr txBox="1">
              <a:spLocks noChangeArrowheads="1"/>
            </p:cNvSpPr>
            <p:nvPr/>
          </p:nvSpPr>
          <p:spPr bwMode="auto">
            <a:xfrm>
              <a:off x="5990293" y="1268474"/>
              <a:ext cx="1096321"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Frida’s cost</a:t>
              </a:r>
            </a:p>
          </p:txBody>
        </p:sp>
        <p:cxnSp>
          <p:nvCxnSpPr>
            <p:cNvPr id="46" name="Straight Connector 45">
              <a:extLst>
                <a:ext uri="{FF2B5EF4-FFF2-40B4-BE49-F238E27FC236}">
                  <a16:creationId xmlns:a16="http://schemas.microsoft.com/office/drawing/2014/main" id="{159FBAE2-E3BA-48A5-8153-E22486C90223}"/>
                </a:ext>
              </a:extLst>
            </p:cNvPr>
            <p:cNvCxnSpPr/>
            <p:nvPr/>
          </p:nvCxnSpPr>
          <p:spPr>
            <a:xfrm>
              <a:off x="5327659" y="1254558"/>
              <a:ext cx="738190" cy="225026"/>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41" name="Group 103">
            <a:extLst>
              <a:ext uri="{FF2B5EF4-FFF2-40B4-BE49-F238E27FC236}">
                <a16:creationId xmlns:a16="http://schemas.microsoft.com/office/drawing/2014/main" id="{1E273C31-ED32-47AC-80A6-19259D635377}"/>
              </a:ext>
            </a:extLst>
          </p:cNvPr>
          <p:cNvGrpSpPr>
            <a:grpSpLocks/>
          </p:cNvGrpSpPr>
          <p:nvPr/>
        </p:nvGrpSpPr>
        <p:grpSpPr bwMode="auto">
          <a:xfrm>
            <a:off x="3646488" y="3538538"/>
            <a:ext cx="1865312" cy="307975"/>
            <a:chOff x="5485576" y="1482230"/>
            <a:chExt cx="1865792" cy="307777"/>
          </a:xfrm>
        </p:grpSpPr>
        <p:sp>
          <p:nvSpPr>
            <p:cNvPr id="28698" name="TextBox 104">
              <a:extLst>
                <a:ext uri="{FF2B5EF4-FFF2-40B4-BE49-F238E27FC236}">
                  <a16:creationId xmlns:a16="http://schemas.microsoft.com/office/drawing/2014/main" id="{E2693701-28C0-4740-B0F4-0C181AC099FE}"/>
                </a:ext>
              </a:extLst>
            </p:cNvPr>
            <p:cNvSpPr txBox="1">
              <a:spLocks noChangeArrowheads="1"/>
            </p:cNvSpPr>
            <p:nvPr/>
          </p:nvSpPr>
          <p:spPr bwMode="auto">
            <a:xfrm>
              <a:off x="6025900" y="1482230"/>
              <a:ext cx="1325468"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Georgia’s cost</a:t>
              </a:r>
            </a:p>
          </p:txBody>
        </p:sp>
        <p:cxnSp>
          <p:nvCxnSpPr>
            <p:cNvPr id="49" name="Straight Connector 48">
              <a:extLst>
                <a:ext uri="{FF2B5EF4-FFF2-40B4-BE49-F238E27FC236}">
                  <a16:creationId xmlns:a16="http://schemas.microsoft.com/office/drawing/2014/main" id="{FF72B080-A91B-4324-BD68-42BD34D95EDF}"/>
                </a:ext>
              </a:extLst>
            </p:cNvPr>
            <p:cNvCxnSpPr/>
            <p:nvPr/>
          </p:nvCxnSpPr>
          <p:spPr>
            <a:xfrm>
              <a:off x="5485576" y="1517133"/>
              <a:ext cx="570059" cy="107881"/>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44" name="Group 103">
            <a:extLst>
              <a:ext uri="{FF2B5EF4-FFF2-40B4-BE49-F238E27FC236}">
                <a16:creationId xmlns:a16="http://schemas.microsoft.com/office/drawing/2014/main" id="{70FBCEE9-CA79-4760-ADF4-900BAB46F5B3}"/>
              </a:ext>
            </a:extLst>
          </p:cNvPr>
          <p:cNvGrpSpPr>
            <a:grpSpLocks/>
          </p:cNvGrpSpPr>
          <p:nvPr/>
        </p:nvGrpSpPr>
        <p:grpSpPr bwMode="auto">
          <a:xfrm>
            <a:off x="2684463" y="3906838"/>
            <a:ext cx="1960562" cy="377825"/>
            <a:chOff x="5499583" y="1412897"/>
            <a:chExt cx="1960765" cy="377110"/>
          </a:xfrm>
        </p:grpSpPr>
        <p:sp>
          <p:nvSpPr>
            <p:cNvPr id="28696" name="TextBox 104">
              <a:extLst>
                <a:ext uri="{FF2B5EF4-FFF2-40B4-BE49-F238E27FC236}">
                  <a16:creationId xmlns:a16="http://schemas.microsoft.com/office/drawing/2014/main" id="{458606B7-837B-4654-8447-D8BAF58E780A}"/>
                </a:ext>
              </a:extLst>
            </p:cNvPr>
            <p:cNvSpPr txBox="1">
              <a:spLocks noChangeArrowheads="1"/>
            </p:cNvSpPr>
            <p:nvPr/>
          </p:nvSpPr>
          <p:spPr bwMode="auto">
            <a:xfrm>
              <a:off x="6025912" y="1482230"/>
              <a:ext cx="1434436" cy="307777"/>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Grandma’s cost</a:t>
              </a:r>
            </a:p>
          </p:txBody>
        </p:sp>
        <p:cxnSp>
          <p:nvCxnSpPr>
            <p:cNvPr id="52" name="Straight Connector 51">
              <a:extLst>
                <a:ext uri="{FF2B5EF4-FFF2-40B4-BE49-F238E27FC236}">
                  <a16:creationId xmlns:a16="http://schemas.microsoft.com/office/drawing/2014/main" id="{8C356D06-BED4-431B-8756-08420B870128}"/>
                </a:ext>
              </a:extLst>
            </p:cNvPr>
            <p:cNvCxnSpPr/>
            <p:nvPr/>
          </p:nvCxnSpPr>
          <p:spPr>
            <a:xfrm>
              <a:off x="5499583" y="1412897"/>
              <a:ext cx="555683" cy="212322"/>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47" name="Group 52">
            <a:extLst>
              <a:ext uri="{FF2B5EF4-FFF2-40B4-BE49-F238E27FC236}">
                <a16:creationId xmlns:a16="http://schemas.microsoft.com/office/drawing/2014/main" id="{1E4FBCE2-3A5B-42D9-A08E-90A0D29D223B}"/>
              </a:ext>
            </a:extLst>
          </p:cNvPr>
          <p:cNvGrpSpPr>
            <a:grpSpLocks/>
          </p:cNvGrpSpPr>
          <p:nvPr/>
        </p:nvGrpSpPr>
        <p:grpSpPr bwMode="auto">
          <a:xfrm>
            <a:off x="1839913" y="1795463"/>
            <a:ext cx="4573587" cy="3478212"/>
            <a:chOff x="831273" y="1878639"/>
            <a:chExt cx="4573112" cy="3477927"/>
          </a:xfrm>
        </p:grpSpPr>
        <p:grpSp>
          <p:nvGrpSpPr>
            <p:cNvPr id="28685" name="Group 194">
              <a:extLst>
                <a:ext uri="{FF2B5EF4-FFF2-40B4-BE49-F238E27FC236}">
                  <a16:creationId xmlns:a16="http://schemas.microsoft.com/office/drawing/2014/main" id="{16065B88-1F14-4A9F-BACD-EAA09F40AA80}"/>
                </a:ext>
              </a:extLst>
            </p:cNvPr>
            <p:cNvGrpSpPr>
              <a:grpSpLocks/>
            </p:cNvGrpSpPr>
            <p:nvPr/>
          </p:nvGrpSpPr>
          <p:grpSpPr bwMode="auto">
            <a:xfrm>
              <a:off x="831273" y="2236443"/>
              <a:ext cx="3622777" cy="3120123"/>
              <a:chOff x="831273" y="2236443"/>
              <a:chExt cx="3622777" cy="3120123"/>
            </a:xfrm>
          </p:grpSpPr>
          <p:cxnSp>
            <p:nvCxnSpPr>
              <p:cNvPr id="56" name="Straight Connector 55">
                <a:extLst>
                  <a:ext uri="{FF2B5EF4-FFF2-40B4-BE49-F238E27FC236}">
                    <a16:creationId xmlns:a16="http://schemas.microsoft.com/office/drawing/2014/main" id="{5663E837-D729-4957-A6DE-BAAFEA90BAE1}"/>
                  </a:ext>
                </a:extLst>
              </p:cNvPr>
              <p:cNvCxnSpPr/>
              <p:nvPr/>
            </p:nvCxnSpPr>
            <p:spPr>
              <a:xfrm>
                <a:off x="3550378" y="2813600"/>
                <a:ext cx="901606"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F7D415A-FCB2-44C4-B59A-B979BEAFAEB8}"/>
                  </a:ext>
                </a:extLst>
              </p:cNvPr>
              <p:cNvCxnSpPr/>
              <p:nvPr/>
            </p:nvCxnSpPr>
            <p:spPr>
              <a:xfrm>
                <a:off x="2647185" y="3123137"/>
                <a:ext cx="903193"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7651E49-7ABB-424B-8493-E7997D7C7782}"/>
                  </a:ext>
                </a:extLst>
              </p:cNvPr>
              <p:cNvCxnSpPr/>
              <p:nvPr/>
            </p:nvCxnSpPr>
            <p:spPr>
              <a:xfrm>
                <a:off x="1732879" y="3669192"/>
                <a:ext cx="927004"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30F2B1-0E25-4B15-818F-F019C2E24DE2}"/>
                  </a:ext>
                </a:extLst>
              </p:cNvPr>
              <p:cNvCxnSpPr/>
              <p:nvPr/>
            </p:nvCxnSpPr>
            <p:spPr>
              <a:xfrm>
                <a:off x="831273" y="3989841"/>
                <a:ext cx="914305"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032CD54-9E7A-43F0-9875-20AA57C0B3EC}"/>
                  </a:ext>
                </a:extLst>
              </p:cNvPr>
              <p:cNvCxnSpPr/>
              <p:nvPr/>
            </p:nvCxnSpPr>
            <p:spPr>
              <a:xfrm rot="5400000">
                <a:off x="166164" y="4678760"/>
                <a:ext cx="1354026"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32F4B6D-A80F-4166-BEB3-A0D80C8ED7C7}"/>
                  </a:ext>
                </a:extLst>
              </p:cNvPr>
              <p:cNvCxnSpPr/>
              <p:nvPr/>
            </p:nvCxnSpPr>
            <p:spPr>
              <a:xfrm rot="5400000" flipH="1" flipV="1">
                <a:off x="3415451" y="2961226"/>
                <a:ext cx="306362"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87E374E-193F-494B-B8BA-48B8581A7EEA}"/>
                  </a:ext>
                </a:extLst>
              </p:cNvPr>
              <p:cNvCxnSpPr/>
              <p:nvPr/>
            </p:nvCxnSpPr>
            <p:spPr>
              <a:xfrm rot="5400000" flipH="1" flipV="1">
                <a:off x="1578904" y="3812056"/>
                <a:ext cx="309538"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7229E78-8220-457D-9857-228B0E80F14B}"/>
                  </a:ext>
                </a:extLst>
              </p:cNvPr>
              <p:cNvCxnSpPr/>
              <p:nvPr/>
            </p:nvCxnSpPr>
            <p:spPr>
              <a:xfrm rot="5400000" flipH="1" flipV="1">
                <a:off x="2363839" y="3395371"/>
                <a:ext cx="574628" cy="476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AE0FD8E-881A-4DA2-BA34-FB0A08C2224B}"/>
                  </a:ext>
                </a:extLst>
              </p:cNvPr>
              <p:cNvCxnSpPr/>
              <p:nvPr/>
            </p:nvCxnSpPr>
            <p:spPr>
              <a:xfrm rot="5400000" flipH="1" flipV="1">
                <a:off x="4155939" y="2531842"/>
                <a:ext cx="593676"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8686" name="TextBox 23">
              <a:extLst>
                <a:ext uri="{FF2B5EF4-FFF2-40B4-BE49-F238E27FC236}">
                  <a16:creationId xmlns:a16="http://schemas.microsoft.com/office/drawing/2014/main" id="{71C95003-3DAC-4F08-B631-7CB118D34273}"/>
                </a:ext>
              </a:extLst>
            </p:cNvPr>
            <p:cNvSpPr txBox="1">
              <a:spLocks noChangeArrowheads="1"/>
            </p:cNvSpPr>
            <p:nvPr/>
          </p:nvSpPr>
          <p:spPr bwMode="auto">
            <a:xfrm>
              <a:off x="4450278" y="1878639"/>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Supply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1" fill="hold" nodeType="afterGroup">
                            <p:stCondLst>
                              <p:cond delay="500"/>
                            </p:stCondLst>
                            <p:childTnLst>
                              <p:par>
                                <p:cTn id="12" presetID="22" presetClass="entr" presetSubtype="4"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wipe(down)">
                                      <p:cBhvr>
                                        <p:cTn id="14" dur="1000"/>
                                        <p:tgtEl>
                                          <p:spTgt spid="47"/>
                                        </p:tgtEl>
                                      </p:cBhvr>
                                    </p:animEffect>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left)">
                                      <p:cBhvr>
                                        <p:cTn id="18" dur="500"/>
                                        <p:tgtEl>
                                          <p:spTgt spid="44"/>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left)">
                                      <p:cBhvr>
                                        <p:cTn id="22" dur="500"/>
                                        <p:tgtEl>
                                          <p:spTgt spid="41"/>
                                        </p:tgtEl>
                                      </p:cBhvr>
                                    </p:animEffect>
                                  </p:childTnLst>
                                </p:cTn>
                              </p:par>
                            </p:childTnLst>
                          </p:cTn>
                        </p:par>
                        <p:par>
                          <p:cTn id="23" fill="hold" nodeType="afterGroup">
                            <p:stCondLst>
                              <p:cond delay="2500"/>
                            </p:stCondLst>
                            <p:childTnLst>
                              <p:par>
                                <p:cTn id="24" presetID="22" presetClass="entr" presetSubtype="8"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left)">
                                      <p:cBhvr>
                                        <p:cTn id="26" dur="500"/>
                                        <p:tgtEl>
                                          <p:spTgt spid="31"/>
                                        </p:tgtEl>
                                      </p:cBhvr>
                                    </p:animEffect>
                                  </p:childTnLst>
                                </p:cTn>
                              </p:par>
                            </p:childTnLst>
                          </p:cTn>
                        </p:par>
                        <p:par>
                          <p:cTn id="27" fill="hold" nodeType="afterGroup">
                            <p:stCondLst>
                              <p:cond delay="3000"/>
                            </p:stCondLst>
                            <p:childTnLst>
                              <p:par>
                                <p:cTn id="28" presetID="22" presetClass="entr" presetSubtype="8"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wipe(left)">
                                      <p:cBhvr>
                                        <p:cTn id="30" dur="500"/>
                                        <p:tgtEl>
                                          <p:spTgt spid="30"/>
                                        </p:tgtEl>
                                      </p:cBhvr>
                                    </p:animEffect>
                                  </p:childTnLst>
                                </p:cTn>
                              </p:par>
                            </p:childTnLst>
                          </p:cTn>
                        </p:par>
                        <p:par>
                          <p:cTn id="31" fill="hold" nodeType="afterGroup">
                            <p:stCondLst>
                              <p:cond delay="3500"/>
                            </p:stCondLst>
                            <p:childTnLst>
                              <p:par>
                                <p:cTn id="32" presetID="22" presetClass="entr" presetSubtype="8"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39E6C272-EA12-4A76-B91C-2936433E7A26}"/>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Producer Surplus</a:t>
            </a:r>
          </a:p>
        </p:txBody>
      </p:sp>
      <p:sp>
        <p:nvSpPr>
          <p:cNvPr id="3" name="Content Placeholder 2">
            <a:extLst>
              <a:ext uri="{FF2B5EF4-FFF2-40B4-BE49-F238E27FC236}">
                <a16:creationId xmlns:a16="http://schemas.microsoft.com/office/drawing/2014/main" id="{17261AAD-10CB-4561-942D-D526CD7078A6}"/>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Using the supply curve to measure producer surplus </a:t>
            </a:r>
          </a:p>
          <a:p>
            <a:r>
              <a:rPr lang="en-US" altLang="en-US"/>
              <a:t>Supply curve</a:t>
            </a:r>
          </a:p>
          <a:p>
            <a:pPr lvl="1"/>
            <a:r>
              <a:rPr lang="en-US" altLang="en-US"/>
              <a:t>Reflects sellers’ costs</a:t>
            </a:r>
          </a:p>
          <a:p>
            <a:pPr lvl="1"/>
            <a:r>
              <a:rPr lang="en-US" altLang="en-US"/>
              <a:t>Measure producer surplus</a:t>
            </a:r>
          </a:p>
          <a:p>
            <a:r>
              <a:rPr lang="en-US" altLang="en-US"/>
              <a:t>Producer surplus in a market</a:t>
            </a:r>
          </a:p>
          <a:p>
            <a:pPr lvl="1"/>
            <a:r>
              <a:rPr lang="en-US" altLang="en-US"/>
              <a:t>Area below the price and above the supply curve </a:t>
            </a:r>
          </a:p>
        </p:txBody>
      </p:sp>
      <p:sp>
        <p:nvSpPr>
          <p:cNvPr id="29700" name="Slide Number Placeholder 3">
            <a:extLst>
              <a:ext uri="{FF2B5EF4-FFF2-40B4-BE49-F238E27FC236}">
                <a16:creationId xmlns:a16="http://schemas.microsoft.com/office/drawing/2014/main" id="{1326D15E-C5B6-434C-9D82-2E7A1BD6AB2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2D0A78-B005-42B3-A0B3-B4B7555907BD}" type="slidenum">
              <a:rPr lang="en-US" altLang="en-US">
                <a:latin typeface="Calibri" panose="020F0502020204030204" pitchFamily="34" charset="0"/>
              </a:rPr>
              <a:pPr/>
              <a:t>17</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24">
            <a:extLst>
              <a:ext uri="{FF2B5EF4-FFF2-40B4-BE49-F238E27FC236}">
                <a16:creationId xmlns:a16="http://schemas.microsoft.com/office/drawing/2014/main" id="{56F5C208-1632-4842-A385-4C281D78D6E7}"/>
              </a:ext>
            </a:extLst>
          </p:cNvPr>
          <p:cNvGrpSpPr>
            <a:grpSpLocks/>
          </p:cNvGrpSpPr>
          <p:nvPr/>
        </p:nvGrpSpPr>
        <p:grpSpPr bwMode="auto">
          <a:xfrm>
            <a:off x="4618038" y="1433513"/>
            <a:ext cx="4302125" cy="3822700"/>
            <a:chOff x="874509" y="1434925"/>
            <a:chExt cx="4303134" cy="3822699"/>
          </a:xfrm>
        </p:grpSpPr>
        <p:sp>
          <p:nvSpPr>
            <p:cNvPr id="126" name="Rectangle 125">
              <a:extLst>
                <a:ext uri="{FF2B5EF4-FFF2-40B4-BE49-F238E27FC236}">
                  <a16:creationId xmlns:a16="http://schemas.microsoft.com/office/drawing/2014/main" id="{50514C91-53A0-4555-A9C5-76A1E8FC8B4D}"/>
                </a:ext>
              </a:extLst>
            </p:cNvPr>
            <p:cNvSpPr/>
            <p:nvPr/>
          </p:nvSpPr>
          <p:spPr>
            <a:xfrm>
              <a:off x="1828820" y="1828625"/>
              <a:ext cx="3348823" cy="3428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30824" name="Group 48">
              <a:extLst>
                <a:ext uri="{FF2B5EF4-FFF2-40B4-BE49-F238E27FC236}">
                  <a16:creationId xmlns:a16="http://schemas.microsoft.com/office/drawing/2014/main" id="{5D31716B-4032-4F49-B9A4-09FA06FE517B}"/>
                </a:ext>
              </a:extLst>
            </p:cNvPr>
            <p:cNvGrpSpPr>
              <a:grpSpLocks/>
            </p:cNvGrpSpPr>
            <p:nvPr/>
          </p:nvGrpSpPr>
          <p:grpSpPr bwMode="auto">
            <a:xfrm>
              <a:off x="874509" y="1434925"/>
              <a:ext cx="1106678" cy="3822699"/>
              <a:chOff x="3617469" y="978932"/>
              <a:chExt cx="1106678" cy="3822461"/>
            </a:xfrm>
          </p:grpSpPr>
          <p:cxnSp>
            <p:nvCxnSpPr>
              <p:cNvPr id="128" name="Straight Connector 127">
                <a:extLst>
                  <a:ext uri="{FF2B5EF4-FFF2-40B4-BE49-F238E27FC236}">
                    <a16:creationId xmlns:a16="http://schemas.microsoft.com/office/drawing/2014/main" id="{C45104D7-8F4D-4D2A-AC29-74D18CC11F06}"/>
                  </a:ext>
                </a:extLst>
              </p:cNvPr>
              <p:cNvCxnSpPr/>
              <p:nvPr/>
            </p:nvCxnSpPr>
            <p:spPr>
              <a:xfrm rot="5400000">
                <a:off x="2896278" y="3124304"/>
                <a:ext cx="335259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826" name="Group 56">
                <a:extLst>
                  <a:ext uri="{FF2B5EF4-FFF2-40B4-BE49-F238E27FC236}">
                    <a16:creationId xmlns:a16="http://schemas.microsoft.com/office/drawing/2014/main" id="{034A8454-8C3C-4CAC-9F2D-0408858D8C58}"/>
                  </a:ext>
                </a:extLst>
              </p:cNvPr>
              <p:cNvGrpSpPr>
                <a:grpSpLocks/>
              </p:cNvGrpSpPr>
              <p:nvPr/>
            </p:nvGrpSpPr>
            <p:grpSpPr bwMode="auto">
              <a:xfrm>
                <a:off x="3878865" y="1971291"/>
                <a:ext cx="845282" cy="369309"/>
                <a:chOff x="6012718" y="2428491"/>
                <a:chExt cx="845282" cy="369309"/>
              </a:xfrm>
            </p:grpSpPr>
            <p:sp>
              <p:nvSpPr>
                <p:cNvPr id="30837" name="TextBox 53">
                  <a:extLst>
                    <a:ext uri="{FF2B5EF4-FFF2-40B4-BE49-F238E27FC236}">
                      <a16:creationId xmlns:a16="http://schemas.microsoft.com/office/drawing/2014/main" id="{12BF278D-4CBF-4BC2-9203-116E2DA826C0}"/>
                    </a:ext>
                  </a:extLst>
                </p:cNvPr>
                <p:cNvSpPr txBox="1">
                  <a:spLocks noChangeArrowheads="1"/>
                </p:cNvSpPr>
                <p:nvPr/>
              </p:nvSpPr>
              <p:spPr bwMode="auto">
                <a:xfrm>
                  <a:off x="6012718" y="2428491"/>
                  <a:ext cx="69762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$900</a:t>
                  </a:r>
                </a:p>
              </p:txBody>
            </p:sp>
            <p:cxnSp>
              <p:nvCxnSpPr>
                <p:cNvPr id="141" name="Straight Connector 55">
                  <a:extLst>
                    <a:ext uri="{FF2B5EF4-FFF2-40B4-BE49-F238E27FC236}">
                      <a16:creationId xmlns:a16="http://schemas.microsoft.com/office/drawing/2014/main" id="{2C771DFE-753B-4A8B-AD6F-B18BC9078B62}"/>
                    </a:ext>
                  </a:extLst>
                </p:cNvPr>
                <p:cNvCxnSpPr/>
                <p:nvPr/>
              </p:nvCxnSpPr>
              <p:spPr>
                <a:xfrm>
                  <a:off x="6705632" y="2656843"/>
                  <a:ext cx="15243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827" name="Group 57">
                <a:extLst>
                  <a:ext uri="{FF2B5EF4-FFF2-40B4-BE49-F238E27FC236}">
                    <a16:creationId xmlns:a16="http://schemas.microsoft.com/office/drawing/2014/main" id="{E80F7EB9-BCA1-473E-A337-3CEF62988761}"/>
                  </a:ext>
                </a:extLst>
              </p:cNvPr>
              <p:cNvGrpSpPr>
                <a:grpSpLocks/>
              </p:cNvGrpSpPr>
              <p:nvPr/>
            </p:nvGrpSpPr>
            <p:grpSpPr bwMode="auto">
              <a:xfrm>
                <a:off x="4007105" y="2297668"/>
                <a:ext cx="717042" cy="369309"/>
                <a:chOff x="6140958" y="2286000"/>
                <a:chExt cx="717042" cy="369309"/>
              </a:xfrm>
            </p:grpSpPr>
            <p:sp>
              <p:nvSpPr>
                <p:cNvPr id="30835" name="TextBox 58">
                  <a:extLst>
                    <a:ext uri="{FF2B5EF4-FFF2-40B4-BE49-F238E27FC236}">
                      <a16:creationId xmlns:a16="http://schemas.microsoft.com/office/drawing/2014/main" id="{D226FA4A-A633-44EE-8DE5-8847809FB9D1}"/>
                    </a:ext>
                  </a:extLst>
                </p:cNvPr>
                <p:cNvSpPr txBox="1">
                  <a:spLocks noChangeArrowheads="1"/>
                </p:cNvSpPr>
                <p:nvPr/>
              </p:nvSpPr>
              <p:spPr bwMode="auto">
                <a:xfrm>
                  <a:off x="6140958" y="2286000"/>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800</a:t>
                  </a:r>
                </a:p>
              </p:txBody>
            </p:sp>
            <p:cxnSp>
              <p:nvCxnSpPr>
                <p:cNvPr id="139" name="Straight Connector 138">
                  <a:extLst>
                    <a:ext uri="{FF2B5EF4-FFF2-40B4-BE49-F238E27FC236}">
                      <a16:creationId xmlns:a16="http://schemas.microsoft.com/office/drawing/2014/main" id="{39A7F320-1315-414B-AECB-1FFA46AF47E9}"/>
                    </a:ext>
                  </a:extLst>
                </p:cNvPr>
                <p:cNvCxnSpPr/>
                <p:nvPr/>
              </p:nvCxnSpPr>
              <p:spPr>
                <a:xfrm>
                  <a:off x="6705632" y="2502281"/>
                  <a:ext cx="15243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828" name="Group 60">
                <a:extLst>
                  <a:ext uri="{FF2B5EF4-FFF2-40B4-BE49-F238E27FC236}">
                    <a16:creationId xmlns:a16="http://schemas.microsoft.com/office/drawing/2014/main" id="{86BB501B-DD7F-4FE2-973A-804329B898D2}"/>
                  </a:ext>
                </a:extLst>
              </p:cNvPr>
              <p:cNvGrpSpPr>
                <a:grpSpLocks/>
              </p:cNvGrpSpPr>
              <p:nvPr/>
            </p:nvGrpSpPr>
            <p:grpSpPr bwMode="auto">
              <a:xfrm>
                <a:off x="4007105" y="2921109"/>
                <a:ext cx="717042" cy="369309"/>
                <a:chOff x="6140958" y="2452241"/>
                <a:chExt cx="717042" cy="369309"/>
              </a:xfrm>
            </p:grpSpPr>
            <p:sp>
              <p:nvSpPr>
                <p:cNvPr id="30833" name="TextBox 63">
                  <a:extLst>
                    <a:ext uri="{FF2B5EF4-FFF2-40B4-BE49-F238E27FC236}">
                      <a16:creationId xmlns:a16="http://schemas.microsoft.com/office/drawing/2014/main" id="{ACA73DBB-6294-4EEB-B098-838B46CC4C4C}"/>
                    </a:ext>
                  </a:extLst>
                </p:cNvPr>
                <p:cNvSpPr txBox="1">
                  <a:spLocks noChangeArrowheads="1"/>
                </p:cNvSpPr>
                <p:nvPr/>
              </p:nvSpPr>
              <p:spPr bwMode="auto">
                <a:xfrm>
                  <a:off x="6140958" y="2452241"/>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600</a:t>
                  </a:r>
                </a:p>
              </p:txBody>
            </p:sp>
            <p:cxnSp>
              <p:nvCxnSpPr>
                <p:cNvPr id="137" name="Straight Connector 136">
                  <a:extLst>
                    <a:ext uri="{FF2B5EF4-FFF2-40B4-BE49-F238E27FC236}">
                      <a16:creationId xmlns:a16="http://schemas.microsoft.com/office/drawing/2014/main" id="{5E1CF17D-0971-4F5A-8415-1C68BD096AA7}"/>
                    </a:ext>
                  </a:extLst>
                </p:cNvPr>
                <p:cNvCxnSpPr/>
                <p:nvPr/>
              </p:nvCxnSpPr>
              <p:spPr>
                <a:xfrm>
                  <a:off x="6705632" y="2632419"/>
                  <a:ext cx="15243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829" name="Group 63">
                <a:extLst>
                  <a:ext uri="{FF2B5EF4-FFF2-40B4-BE49-F238E27FC236}">
                    <a16:creationId xmlns:a16="http://schemas.microsoft.com/office/drawing/2014/main" id="{3861FAFB-0BCB-4A3C-A69F-1B415E791F2E}"/>
                  </a:ext>
                </a:extLst>
              </p:cNvPr>
              <p:cNvGrpSpPr>
                <a:grpSpLocks/>
              </p:cNvGrpSpPr>
              <p:nvPr/>
            </p:nvGrpSpPr>
            <p:grpSpPr bwMode="auto">
              <a:xfrm>
                <a:off x="4007105" y="3212068"/>
                <a:ext cx="717042" cy="369309"/>
                <a:chOff x="6140958" y="2286000"/>
                <a:chExt cx="717042" cy="369309"/>
              </a:xfrm>
            </p:grpSpPr>
            <p:sp>
              <p:nvSpPr>
                <p:cNvPr id="30831" name="TextBox 61">
                  <a:extLst>
                    <a:ext uri="{FF2B5EF4-FFF2-40B4-BE49-F238E27FC236}">
                      <a16:creationId xmlns:a16="http://schemas.microsoft.com/office/drawing/2014/main" id="{9229D599-1C7E-49C1-82D2-AAB8930A70CA}"/>
                    </a:ext>
                  </a:extLst>
                </p:cNvPr>
                <p:cNvSpPr txBox="1">
                  <a:spLocks noChangeArrowheads="1"/>
                </p:cNvSpPr>
                <p:nvPr/>
              </p:nvSpPr>
              <p:spPr bwMode="auto">
                <a:xfrm>
                  <a:off x="6140958" y="2286000"/>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500</a:t>
                  </a:r>
                </a:p>
              </p:txBody>
            </p:sp>
            <p:cxnSp>
              <p:nvCxnSpPr>
                <p:cNvPr id="135" name="Straight Connector 134">
                  <a:extLst>
                    <a:ext uri="{FF2B5EF4-FFF2-40B4-BE49-F238E27FC236}">
                      <a16:creationId xmlns:a16="http://schemas.microsoft.com/office/drawing/2014/main" id="{770CEACB-DE8B-40D6-8042-9A2346503390}"/>
                    </a:ext>
                  </a:extLst>
                </p:cNvPr>
                <p:cNvCxnSpPr/>
                <p:nvPr/>
              </p:nvCxnSpPr>
              <p:spPr>
                <a:xfrm>
                  <a:off x="6705632" y="2514922"/>
                  <a:ext cx="152436"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830" name="TextBox 56">
                <a:extLst>
                  <a:ext uri="{FF2B5EF4-FFF2-40B4-BE49-F238E27FC236}">
                    <a16:creationId xmlns:a16="http://schemas.microsoft.com/office/drawing/2014/main" id="{A1CF4916-F5BB-4DE4-8EE0-CA1F97868D5B}"/>
                  </a:ext>
                </a:extLst>
              </p:cNvPr>
              <p:cNvSpPr txBox="1">
                <a:spLocks noChangeArrowheads="1"/>
              </p:cNvSpPr>
              <p:nvPr/>
            </p:nvSpPr>
            <p:spPr bwMode="auto">
              <a:xfrm>
                <a:off x="3617469" y="978932"/>
                <a:ext cx="1018227" cy="923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Price of</a:t>
                </a:r>
              </a:p>
              <a:p>
                <a:pPr algn="r" eaLnBrk="1" hangingPunct="1"/>
                <a:r>
                  <a:rPr lang="en-US" altLang="en-US"/>
                  <a:t>House</a:t>
                </a:r>
              </a:p>
              <a:p>
                <a:pPr algn="r" eaLnBrk="1" hangingPunct="1"/>
                <a:r>
                  <a:rPr lang="en-US" altLang="en-US"/>
                  <a:t>Painting</a:t>
                </a:r>
              </a:p>
            </p:txBody>
          </p:sp>
        </p:grpSp>
      </p:grpSp>
      <p:sp>
        <p:nvSpPr>
          <p:cNvPr id="30723" name="Title 1">
            <a:extLst>
              <a:ext uri="{FF2B5EF4-FFF2-40B4-BE49-F238E27FC236}">
                <a16:creationId xmlns:a16="http://schemas.microsoft.com/office/drawing/2014/main" id="{8DF5D484-C043-486C-920B-3D631BB987F9}"/>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Measuring producer surplus with the supply curve</a:t>
            </a:r>
          </a:p>
        </p:txBody>
      </p:sp>
      <p:sp>
        <p:nvSpPr>
          <p:cNvPr id="30724" name="Content Placeholder 2">
            <a:extLst>
              <a:ext uri="{FF2B5EF4-FFF2-40B4-BE49-F238E27FC236}">
                <a16:creationId xmlns:a16="http://schemas.microsoft.com/office/drawing/2014/main" id="{371567AC-C0C3-48D9-A0F8-EAA6A5B36FAB}"/>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5</a:t>
            </a:r>
          </a:p>
        </p:txBody>
      </p:sp>
      <p:sp>
        <p:nvSpPr>
          <p:cNvPr id="30725" name="Slide Number Placeholder 3">
            <a:extLst>
              <a:ext uri="{FF2B5EF4-FFF2-40B4-BE49-F238E27FC236}">
                <a16:creationId xmlns:a16="http://schemas.microsoft.com/office/drawing/2014/main" id="{BB7BDE34-0339-4B9D-9807-E76483DA872A}"/>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4D86856-9A7C-425D-83B5-2F33A7FC25C7}" type="slidenum">
              <a:rPr lang="en-US" altLang="en-US">
                <a:latin typeface="Calibri" panose="020F0502020204030204" pitchFamily="34" charset="0"/>
              </a:rPr>
              <a:pPr/>
              <a:t>18</a:t>
            </a:fld>
            <a:endParaRPr lang="en-US" altLang="en-US">
              <a:latin typeface="Calibri" panose="020F0502020204030204" pitchFamily="34" charset="0"/>
            </a:endParaRPr>
          </a:p>
        </p:txBody>
      </p:sp>
      <p:grpSp>
        <p:nvGrpSpPr>
          <p:cNvPr id="24" name="Group 4">
            <a:extLst>
              <a:ext uri="{FF2B5EF4-FFF2-40B4-BE49-F238E27FC236}">
                <a16:creationId xmlns:a16="http://schemas.microsoft.com/office/drawing/2014/main" id="{CFBCD207-6627-4CAD-98CA-A240AD128BDC}"/>
              </a:ext>
            </a:extLst>
          </p:cNvPr>
          <p:cNvGrpSpPr>
            <a:grpSpLocks/>
          </p:cNvGrpSpPr>
          <p:nvPr/>
        </p:nvGrpSpPr>
        <p:grpSpPr bwMode="auto">
          <a:xfrm>
            <a:off x="0" y="1436688"/>
            <a:ext cx="4303713" cy="3822700"/>
            <a:chOff x="874509" y="1434925"/>
            <a:chExt cx="4303134" cy="3822699"/>
          </a:xfrm>
        </p:grpSpPr>
        <p:sp>
          <p:nvSpPr>
            <p:cNvPr id="6" name="Rectangle 5">
              <a:extLst>
                <a:ext uri="{FF2B5EF4-FFF2-40B4-BE49-F238E27FC236}">
                  <a16:creationId xmlns:a16="http://schemas.microsoft.com/office/drawing/2014/main" id="{D805742F-7CCC-4C78-9A04-C9D6E455DBA0}"/>
                </a:ext>
              </a:extLst>
            </p:cNvPr>
            <p:cNvSpPr/>
            <p:nvPr/>
          </p:nvSpPr>
          <p:spPr>
            <a:xfrm>
              <a:off x="1828469" y="1828625"/>
              <a:ext cx="3349174" cy="3428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30808" name="Group 48">
              <a:extLst>
                <a:ext uri="{FF2B5EF4-FFF2-40B4-BE49-F238E27FC236}">
                  <a16:creationId xmlns:a16="http://schemas.microsoft.com/office/drawing/2014/main" id="{F4B8E1E1-A69F-4F72-A789-3019C4F5B38A}"/>
                </a:ext>
              </a:extLst>
            </p:cNvPr>
            <p:cNvGrpSpPr>
              <a:grpSpLocks/>
            </p:cNvGrpSpPr>
            <p:nvPr/>
          </p:nvGrpSpPr>
          <p:grpSpPr bwMode="auto">
            <a:xfrm>
              <a:off x="874509" y="1434925"/>
              <a:ext cx="1106678" cy="3822699"/>
              <a:chOff x="3617469" y="978932"/>
              <a:chExt cx="1106678" cy="3822461"/>
            </a:xfrm>
          </p:grpSpPr>
          <p:cxnSp>
            <p:nvCxnSpPr>
              <p:cNvPr id="8" name="Straight Connector 7">
                <a:extLst>
                  <a:ext uri="{FF2B5EF4-FFF2-40B4-BE49-F238E27FC236}">
                    <a16:creationId xmlns:a16="http://schemas.microsoft.com/office/drawing/2014/main" id="{5C1CA965-C8ED-4525-9F09-882BB75DC5EC}"/>
                  </a:ext>
                </a:extLst>
              </p:cNvPr>
              <p:cNvCxnSpPr/>
              <p:nvPr/>
            </p:nvCxnSpPr>
            <p:spPr>
              <a:xfrm rot="5400000">
                <a:off x="2895927" y="3124304"/>
                <a:ext cx="3352590"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810" name="Group 56">
                <a:extLst>
                  <a:ext uri="{FF2B5EF4-FFF2-40B4-BE49-F238E27FC236}">
                    <a16:creationId xmlns:a16="http://schemas.microsoft.com/office/drawing/2014/main" id="{4DBD39D6-B206-4B45-BE72-73A9F155C7F7}"/>
                  </a:ext>
                </a:extLst>
              </p:cNvPr>
              <p:cNvGrpSpPr>
                <a:grpSpLocks/>
              </p:cNvGrpSpPr>
              <p:nvPr/>
            </p:nvGrpSpPr>
            <p:grpSpPr bwMode="auto">
              <a:xfrm>
                <a:off x="3878865" y="1971291"/>
                <a:ext cx="845282" cy="369309"/>
                <a:chOff x="6012718" y="2428491"/>
                <a:chExt cx="845282" cy="369309"/>
              </a:xfrm>
            </p:grpSpPr>
            <p:sp>
              <p:nvSpPr>
                <p:cNvPr id="30821" name="TextBox 53">
                  <a:extLst>
                    <a:ext uri="{FF2B5EF4-FFF2-40B4-BE49-F238E27FC236}">
                      <a16:creationId xmlns:a16="http://schemas.microsoft.com/office/drawing/2014/main" id="{9345DE46-3D85-44F0-B264-2D1EEC9FA22C}"/>
                    </a:ext>
                  </a:extLst>
                </p:cNvPr>
                <p:cNvSpPr txBox="1">
                  <a:spLocks noChangeArrowheads="1"/>
                </p:cNvSpPr>
                <p:nvPr/>
              </p:nvSpPr>
              <p:spPr bwMode="auto">
                <a:xfrm>
                  <a:off x="6012718" y="2428491"/>
                  <a:ext cx="69762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$900</a:t>
                  </a:r>
                </a:p>
              </p:txBody>
            </p:sp>
            <p:cxnSp>
              <p:nvCxnSpPr>
                <p:cNvPr id="21" name="Straight Connector 55">
                  <a:extLst>
                    <a:ext uri="{FF2B5EF4-FFF2-40B4-BE49-F238E27FC236}">
                      <a16:creationId xmlns:a16="http://schemas.microsoft.com/office/drawing/2014/main" id="{A4F9EA83-1F6A-4611-9EC5-81D65D4CDD10}"/>
                    </a:ext>
                  </a:extLst>
                </p:cNvPr>
                <p:cNvCxnSpPr/>
                <p:nvPr/>
              </p:nvCxnSpPr>
              <p:spPr>
                <a:xfrm>
                  <a:off x="6705282" y="2656843"/>
                  <a:ext cx="152379"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811" name="Group 57">
                <a:extLst>
                  <a:ext uri="{FF2B5EF4-FFF2-40B4-BE49-F238E27FC236}">
                    <a16:creationId xmlns:a16="http://schemas.microsoft.com/office/drawing/2014/main" id="{A2B62579-EF17-4AB5-AB7E-6339393B1E38}"/>
                  </a:ext>
                </a:extLst>
              </p:cNvPr>
              <p:cNvGrpSpPr>
                <a:grpSpLocks/>
              </p:cNvGrpSpPr>
              <p:nvPr/>
            </p:nvGrpSpPr>
            <p:grpSpPr bwMode="auto">
              <a:xfrm>
                <a:off x="4007105" y="2297668"/>
                <a:ext cx="717042" cy="369309"/>
                <a:chOff x="6140958" y="2286000"/>
                <a:chExt cx="717042" cy="369309"/>
              </a:xfrm>
            </p:grpSpPr>
            <p:sp>
              <p:nvSpPr>
                <p:cNvPr id="30819" name="TextBox 58">
                  <a:extLst>
                    <a:ext uri="{FF2B5EF4-FFF2-40B4-BE49-F238E27FC236}">
                      <a16:creationId xmlns:a16="http://schemas.microsoft.com/office/drawing/2014/main" id="{9532F43A-5FEA-41F8-A39D-459ABDF82614}"/>
                    </a:ext>
                  </a:extLst>
                </p:cNvPr>
                <p:cNvSpPr txBox="1">
                  <a:spLocks noChangeArrowheads="1"/>
                </p:cNvSpPr>
                <p:nvPr/>
              </p:nvSpPr>
              <p:spPr bwMode="auto">
                <a:xfrm>
                  <a:off x="6140958" y="2286000"/>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800</a:t>
                  </a:r>
                </a:p>
              </p:txBody>
            </p:sp>
            <p:cxnSp>
              <p:nvCxnSpPr>
                <p:cNvPr id="19" name="Straight Connector 18">
                  <a:extLst>
                    <a:ext uri="{FF2B5EF4-FFF2-40B4-BE49-F238E27FC236}">
                      <a16:creationId xmlns:a16="http://schemas.microsoft.com/office/drawing/2014/main" id="{28DEF7DE-D209-4315-ABF9-665FF4ADF365}"/>
                    </a:ext>
                  </a:extLst>
                </p:cNvPr>
                <p:cNvCxnSpPr/>
                <p:nvPr/>
              </p:nvCxnSpPr>
              <p:spPr>
                <a:xfrm>
                  <a:off x="6705282" y="2502281"/>
                  <a:ext cx="152379"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812" name="Group 60">
                <a:extLst>
                  <a:ext uri="{FF2B5EF4-FFF2-40B4-BE49-F238E27FC236}">
                    <a16:creationId xmlns:a16="http://schemas.microsoft.com/office/drawing/2014/main" id="{E52E57C2-736C-485B-96B6-3CCACB8876F0}"/>
                  </a:ext>
                </a:extLst>
              </p:cNvPr>
              <p:cNvGrpSpPr>
                <a:grpSpLocks/>
              </p:cNvGrpSpPr>
              <p:nvPr/>
            </p:nvGrpSpPr>
            <p:grpSpPr bwMode="auto">
              <a:xfrm>
                <a:off x="4007105" y="2921109"/>
                <a:ext cx="717042" cy="369309"/>
                <a:chOff x="6140958" y="2452241"/>
                <a:chExt cx="717042" cy="369309"/>
              </a:xfrm>
            </p:grpSpPr>
            <p:sp>
              <p:nvSpPr>
                <p:cNvPr id="30817" name="TextBox 63">
                  <a:extLst>
                    <a:ext uri="{FF2B5EF4-FFF2-40B4-BE49-F238E27FC236}">
                      <a16:creationId xmlns:a16="http://schemas.microsoft.com/office/drawing/2014/main" id="{2B74220F-6CAA-4111-B27E-6C022CB08C1C}"/>
                    </a:ext>
                  </a:extLst>
                </p:cNvPr>
                <p:cNvSpPr txBox="1">
                  <a:spLocks noChangeArrowheads="1"/>
                </p:cNvSpPr>
                <p:nvPr/>
              </p:nvSpPr>
              <p:spPr bwMode="auto">
                <a:xfrm>
                  <a:off x="6140958" y="2452241"/>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600</a:t>
                  </a:r>
                </a:p>
              </p:txBody>
            </p:sp>
            <p:cxnSp>
              <p:nvCxnSpPr>
                <p:cNvPr id="17" name="Straight Connector 16">
                  <a:extLst>
                    <a:ext uri="{FF2B5EF4-FFF2-40B4-BE49-F238E27FC236}">
                      <a16:creationId xmlns:a16="http://schemas.microsoft.com/office/drawing/2014/main" id="{F26CD4B4-BAC1-4F25-93FF-E7047DA719DB}"/>
                    </a:ext>
                  </a:extLst>
                </p:cNvPr>
                <p:cNvCxnSpPr/>
                <p:nvPr/>
              </p:nvCxnSpPr>
              <p:spPr>
                <a:xfrm>
                  <a:off x="6705282" y="2632419"/>
                  <a:ext cx="152379"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813" name="Group 63">
                <a:extLst>
                  <a:ext uri="{FF2B5EF4-FFF2-40B4-BE49-F238E27FC236}">
                    <a16:creationId xmlns:a16="http://schemas.microsoft.com/office/drawing/2014/main" id="{1178BEC9-F284-4C04-ADB3-6E980DA0A411}"/>
                  </a:ext>
                </a:extLst>
              </p:cNvPr>
              <p:cNvGrpSpPr>
                <a:grpSpLocks/>
              </p:cNvGrpSpPr>
              <p:nvPr/>
            </p:nvGrpSpPr>
            <p:grpSpPr bwMode="auto">
              <a:xfrm>
                <a:off x="4007105" y="3212068"/>
                <a:ext cx="717042" cy="369309"/>
                <a:chOff x="6140958" y="2286000"/>
                <a:chExt cx="717042" cy="369309"/>
              </a:xfrm>
            </p:grpSpPr>
            <p:sp>
              <p:nvSpPr>
                <p:cNvPr id="30815" name="TextBox 61">
                  <a:extLst>
                    <a:ext uri="{FF2B5EF4-FFF2-40B4-BE49-F238E27FC236}">
                      <a16:creationId xmlns:a16="http://schemas.microsoft.com/office/drawing/2014/main" id="{D7A28CFB-5FC5-44FA-A78A-95787C684670}"/>
                    </a:ext>
                  </a:extLst>
                </p:cNvPr>
                <p:cNvSpPr txBox="1">
                  <a:spLocks noChangeArrowheads="1"/>
                </p:cNvSpPr>
                <p:nvPr/>
              </p:nvSpPr>
              <p:spPr bwMode="auto">
                <a:xfrm>
                  <a:off x="6140958" y="2286000"/>
                  <a:ext cx="569387"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500</a:t>
                  </a:r>
                </a:p>
              </p:txBody>
            </p:sp>
            <p:cxnSp>
              <p:nvCxnSpPr>
                <p:cNvPr id="15" name="Straight Connector 14">
                  <a:extLst>
                    <a:ext uri="{FF2B5EF4-FFF2-40B4-BE49-F238E27FC236}">
                      <a16:creationId xmlns:a16="http://schemas.microsoft.com/office/drawing/2014/main" id="{3C7DF0C0-3C9B-4A1F-9748-727A8D95D404}"/>
                    </a:ext>
                  </a:extLst>
                </p:cNvPr>
                <p:cNvCxnSpPr/>
                <p:nvPr/>
              </p:nvCxnSpPr>
              <p:spPr>
                <a:xfrm>
                  <a:off x="6705282" y="2514922"/>
                  <a:ext cx="152379"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814" name="TextBox 56">
                <a:extLst>
                  <a:ext uri="{FF2B5EF4-FFF2-40B4-BE49-F238E27FC236}">
                    <a16:creationId xmlns:a16="http://schemas.microsoft.com/office/drawing/2014/main" id="{BCE3199B-C0DE-4412-9249-3EF2EB65401C}"/>
                  </a:ext>
                </a:extLst>
              </p:cNvPr>
              <p:cNvSpPr txBox="1">
                <a:spLocks noChangeArrowheads="1"/>
              </p:cNvSpPr>
              <p:nvPr/>
            </p:nvSpPr>
            <p:spPr bwMode="auto">
              <a:xfrm>
                <a:off x="3617469" y="978932"/>
                <a:ext cx="1018227" cy="923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Price of</a:t>
                </a:r>
              </a:p>
              <a:p>
                <a:pPr algn="r" eaLnBrk="1" hangingPunct="1"/>
                <a:r>
                  <a:rPr lang="en-US" altLang="en-US"/>
                  <a:t>House</a:t>
                </a:r>
              </a:p>
              <a:p>
                <a:pPr algn="r" eaLnBrk="1" hangingPunct="1"/>
                <a:r>
                  <a:rPr lang="en-US" altLang="en-US"/>
                  <a:t>Painting</a:t>
                </a:r>
              </a:p>
            </p:txBody>
          </p:sp>
        </p:grpSp>
      </p:grpSp>
      <p:sp>
        <p:nvSpPr>
          <p:cNvPr id="22" name="Rectangle 21">
            <a:extLst>
              <a:ext uri="{FF2B5EF4-FFF2-40B4-BE49-F238E27FC236}">
                <a16:creationId xmlns:a16="http://schemas.microsoft.com/office/drawing/2014/main" id="{2BB0739E-110E-4FFF-8006-F7C14ECCA899}"/>
              </a:ext>
            </a:extLst>
          </p:cNvPr>
          <p:cNvSpPr/>
          <p:nvPr/>
        </p:nvSpPr>
        <p:spPr>
          <a:xfrm>
            <a:off x="973138" y="3581400"/>
            <a:ext cx="604837" cy="303213"/>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3" name="TextBox 8">
            <a:extLst>
              <a:ext uri="{FF2B5EF4-FFF2-40B4-BE49-F238E27FC236}">
                <a16:creationId xmlns:a16="http://schemas.microsoft.com/office/drawing/2014/main" id="{17193047-DE5B-4444-90C8-ECB98CD1A65F}"/>
              </a:ext>
            </a:extLst>
          </p:cNvPr>
          <p:cNvSpPr txBox="1">
            <a:spLocks noChangeArrowheads="1"/>
          </p:cNvSpPr>
          <p:nvPr/>
        </p:nvSpPr>
        <p:spPr bwMode="auto">
          <a:xfrm>
            <a:off x="392113" y="6049963"/>
            <a:ext cx="81105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In panel (a), the price of the good is $600, and the producer surplus is $100. In panel (b), the price of the good is $800, and the producer surplus is $500.</a:t>
            </a:r>
          </a:p>
        </p:txBody>
      </p:sp>
      <p:grpSp>
        <p:nvGrpSpPr>
          <p:cNvPr id="43" name="Group 8">
            <a:extLst>
              <a:ext uri="{FF2B5EF4-FFF2-40B4-BE49-F238E27FC236}">
                <a16:creationId xmlns:a16="http://schemas.microsoft.com/office/drawing/2014/main" id="{85D1450A-1B2B-422C-8E6C-28187068C852}"/>
              </a:ext>
            </a:extLst>
          </p:cNvPr>
          <p:cNvGrpSpPr>
            <a:grpSpLocks/>
          </p:cNvGrpSpPr>
          <p:nvPr/>
        </p:nvGrpSpPr>
        <p:grpSpPr bwMode="auto">
          <a:xfrm>
            <a:off x="696913" y="5116513"/>
            <a:ext cx="3519487" cy="827087"/>
            <a:chOff x="4343400" y="4648200"/>
            <a:chExt cx="3518065" cy="826283"/>
          </a:xfrm>
        </p:grpSpPr>
        <p:cxnSp>
          <p:nvCxnSpPr>
            <p:cNvPr id="25" name="Straight Connector 24">
              <a:extLst>
                <a:ext uri="{FF2B5EF4-FFF2-40B4-BE49-F238E27FC236}">
                  <a16:creationId xmlns:a16="http://schemas.microsoft.com/office/drawing/2014/main" id="{D643FBAD-5691-4FB0-A5BA-6FC0C1285FB0}"/>
                </a:ext>
              </a:extLst>
            </p:cNvPr>
            <p:cNvCxnSpPr/>
            <p:nvPr/>
          </p:nvCxnSpPr>
          <p:spPr>
            <a:xfrm>
              <a:off x="4571908" y="4789350"/>
              <a:ext cx="3289557" cy="31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793" name="TextBox 10">
              <a:extLst>
                <a:ext uri="{FF2B5EF4-FFF2-40B4-BE49-F238E27FC236}">
                  <a16:creationId xmlns:a16="http://schemas.microsoft.com/office/drawing/2014/main" id="{E67F3A34-E6E2-4B8F-B9E0-C3611FF29F54}"/>
                </a:ext>
              </a:extLst>
            </p:cNvPr>
            <p:cNvSpPr txBox="1">
              <a:spLocks noChangeArrowheads="1"/>
            </p:cNvSpPr>
            <p:nvPr/>
          </p:nvSpPr>
          <p:spPr bwMode="auto">
            <a:xfrm>
              <a:off x="4343400" y="4800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nvGrpSpPr>
            <p:cNvPr id="30794" name="Group 14">
              <a:extLst>
                <a:ext uri="{FF2B5EF4-FFF2-40B4-BE49-F238E27FC236}">
                  <a16:creationId xmlns:a16="http://schemas.microsoft.com/office/drawing/2014/main" id="{F008D38F-EA43-4FFE-B3EE-429D89EA5E98}"/>
                </a:ext>
              </a:extLst>
            </p:cNvPr>
            <p:cNvGrpSpPr>
              <a:grpSpLocks/>
            </p:cNvGrpSpPr>
            <p:nvPr/>
          </p:nvGrpSpPr>
          <p:grpSpPr bwMode="auto">
            <a:xfrm>
              <a:off x="7146000" y="4648200"/>
              <a:ext cx="312906" cy="521483"/>
              <a:chOff x="7146000" y="4648200"/>
              <a:chExt cx="312906" cy="521483"/>
            </a:xfrm>
          </p:grpSpPr>
          <p:cxnSp>
            <p:nvCxnSpPr>
              <p:cNvPr id="38" name="Straight Connector 12">
                <a:extLst>
                  <a:ext uri="{FF2B5EF4-FFF2-40B4-BE49-F238E27FC236}">
                    <a16:creationId xmlns:a16="http://schemas.microsoft.com/office/drawing/2014/main" id="{603F8246-EE24-44A0-8AE2-178CD55BC03C}"/>
                  </a:ext>
                </a:extLst>
              </p:cNvPr>
              <p:cNvCxnSpPr/>
              <p:nvPr/>
            </p:nvCxnSpPr>
            <p:spPr>
              <a:xfrm rot="5400000">
                <a:off x="7225972"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806" name="TextBox 13">
                <a:extLst>
                  <a:ext uri="{FF2B5EF4-FFF2-40B4-BE49-F238E27FC236}">
                    <a16:creationId xmlns:a16="http://schemas.microsoft.com/office/drawing/2014/main" id="{F5905D15-3277-45D6-8143-EE65884E8F65}"/>
                  </a:ext>
                </a:extLst>
              </p:cNvPr>
              <p:cNvSpPr txBox="1">
                <a:spLocks noChangeArrowheads="1"/>
              </p:cNvSpPr>
              <p:nvPr/>
            </p:nvSpPr>
            <p:spPr bwMode="auto">
              <a:xfrm>
                <a:off x="7146000"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4</a:t>
                </a:r>
              </a:p>
            </p:txBody>
          </p:sp>
        </p:grpSp>
        <p:grpSp>
          <p:nvGrpSpPr>
            <p:cNvPr id="30795" name="Group 21">
              <a:extLst>
                <a:ext uri="{FF2B5EF4-FFF2-40B4-BE49-F238E27FC236}">
                  <a16:creationId xmlns:a16="http://schemas.microsoft.com/office/drawing/2014/main" id="{618A9D2F-FEA2-48A9-9349-5C614DB67BA6}"/>
                </a:ext>
              </a:extLst>
            </p:cNvPr>
            <p:cNvGrpSpPr>
              <a:grpSpLocks/>
            </p:cNvGrpSpPr>
            <p:nvPr/>
          </p:nvGrpSpPr>
          <p:grpSpPr bwMode="auto">
            <a:xfrm>
              <a:off x="6477819" y="4648200"/>
              <a:ext cx="312906" cy="521483"/>
              <a:chOff x="7392219" y="4648200"/>
              <a:chExt cx="312906" cy="521483"/>
            </a:xfrm>
          </p:grpSpPr>
          <p:cxnSp>
            <p:nvCxnSpPr>
              <p:cNvPr id="36" name="Straight Connector 22">
                <a:extLst>
                  <a:ext uri="{FF2B5EF4-FFF2-40B4-BE49-F238E27FC236}">
                    <a16:creationId xmlns:a16="http://schemas.microsoft.com/office/drawing/2014/main" id="{220628F7-2B0E-4869-A53A-1FB5F198203B}"/>
                  </a:ext>
                </a:extLst>
              </p:cNvPr>
              <p:cNvCxnSpPr/>
              <p:nvPr/>
            </p:nvCxnSpPr>
            <p:spPr>
              <a:xfrm rot="5400000">
                <a:off x="7464370"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804" name="TextBox 41">
                <a:extLst>
                  <a:ext uri="{FF2B5EF4-FFF2-40B4-BE49-F238E27FC236}">
                    <a16:creationId xmlns:a16="http://schemas.microsoft.com/office/drawing/2014/main" id="{CC0F54D5-F89A-4AD1-A95C-EF36856C7ECC}"/>
                  </a:ext>
                </a:extLst>
              </p:cNvPr>
              <p:cNvSpPr txBox="1">
                <a:spLocks noChangeArrowheads="1"/>
              </p:cNvSpPr>
              <p:nvPr/>
            </p:nvSpPr>
            <p:spPr bwMode="auto">
              <a:xfrm>
                <a:off x="739221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3</a:t>
                </a:r>
              </a:p>
            </p:txBody>
          </p:sp>
        </p:grpSp>
        <p:grpSp>
          <p:nvGrpSpPr>
            <p:cNvPr id="30796" name="Group 33">
              <a:extLst>
                <a:ext uri="{FF2B5EF4-FFF2-40B4-BE49-F238E27FC236}">
                  <a16:creationId xmlns:a16="http://schemas.microsoft.com/office/drawing/2014/main" id="{3F2957DB-6886-443C-8346-C213D9C96E88}"/>
                </a:ext>
              </a:extLst>
            </p:cNvPr>
            <p:cNvGrpSpPr>
              <a:grpSpLocks/>
            </p:cNvGrpSpPr>
            <p:nvPr/>
          </p:nvGrpSpPr>
          <p:grpSpPr bwMode="auto">
            <a:xfrm>
              <a:off x="5100269" y="4648200"/>
              <a:ext cx="312906" cy="521483"/>
              <a:chOff x="7843469" y="4648200"/>
              <a:chExt cx="312906" cy="521483"/>
            </a:xfrm>
          </p:grpSpPr>
          <p:cxnSp>
            <p:nvCxnSpPr>
              <p:cNvPr id="34" name="Straight Connector 33">
                <a:extLst>
                  <a:ext uri="{FF2B5EF4-FFF2-40B4-BE49-F238E27FC236}">
                    <a16:creationId xmlns:a16="http://schemas.microsoft.com/office/drawing/2014/main" id="{562DCB2B-01B4-4025-91F9-BAC83F9D61E4}"/>
                  </a:ext>
                </a:extLst>
              </p:cNvPr>
              <p:cNvCxnSpPr/>
              <p:nvPr/>
            </p:nvCxnSpPr>
            <p:spPr>
              <a:xfrm rot="5400000">
                <a:off x="7915777"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802" name="TextBox 35">
                <a:extLst>
                  <a:ext uri="{FF2B5EF4-FFF2-40B4-BE49-F238E27FC236}">
                    <a16:creationId xmlns:a16="http://schemas.microsoft.com/office/drawing/2014/main" id="{4E4BB8D3-F6B1-41E5-AD6B-35809F7BB538}"/>
                  </a:ext>
                </a:extLst>
              </p:cNvPr>
              <p:cNvSpPr txBox="1">
                <a:spLocks noChangeArrowheads="1"/>
              </p:cNvSpPr>
              <p:nvPr/>
            </p:nvSpPr>
            <p:spPr bwMode="auto">
              <a:xfrm>
                <a:off x="784346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grpSp>
        <p:grpSp>
          <p:nvGrpSpPr>
            <p:cNvPr id="30797" name="Group 42">
              <a:extLst>
                <a:ext uri="{FF2B5EF4-FFF2-40B4-BE49-F238E27FC236}">
                  <a16:creationId xmlns:a16="http://schemas.microsoft.com/office/drawing/2014/main" id="{E2E0D828-C6BD-432E-82F6-7D7979EA299D}"/>
                </a:ext>
              </a:extLst>
            </p:cNvPr>
            <p:cNvGrpSpPr>
              <a:grpSpLocks/>
            </p:cNvGrpSpPr>
            <p:nvPr/>
          </p:nvGrpSpPr>
          <p:grpSpPr bwMode="auto">
            <a:xfrm>
              <a:off x="5789044" y="4648200"/>
              <a:ext cx="312906" cy="521483"/>
              <a:chOff x="7617844" y="4648200"/>
              <a:chExt cx="312906" cy="521483"/>
            </a:xfrm>
          </p:grpSpPr>
          <p:cxnSp>
            <p:nvCxnSpPr>
              <p:cNvPr id="32" name="Straight Connector 31">
                <a:extLst>
                  <a:ext uri="{FF2B5EF4-FFF2-40B4-BE49-F238E27FC236}">
                    <a16:creationId xmlns:a16="http://schemas.microsoft.com/office/drawing/2014/main" id="{C0E781DA-69B9-4516-A44D-0EC180027834}"/>
                  </a:ext>
                </a:extLst>
              </p:cNvPr>
              <p:cNvCxnSpPr/>
              <p:nvPr/>
            </p:nvCxnSpPr>
            <p:spPr>
              <a:xfrm rot="5400000">
                <a:off x="7690074" y="4723532"/>
                <a:ext cx="152252" cy="1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800" name="TextBox 29">
                <a:extLst>
                  <a:ext uri="{FF2B5EF4-FFF2-40B4-BE49-F238E27FC236}">
                    <a16:creationId xmlns:a16="http://schemas.microsoft.com/office/drawing/2014/main" id="{F66DD038-947B-4C18-AC27-4D6F7D2F599D}"/>
                  </a:ext>
                </a:extLst>
              </p:cNvPr>
              <p:cNvSpPr txBox="1">
                <a:spLocks noChangeArrowheads="1"/>
              </p:cNvSpPr>
              <p:nvPr/>
            </p:nvSpPr>
            <p:spPr bwMode="auto">
              <a:xfrm>
                <a:off x="761784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p>
            </p:txBody>
          </p:sp>
        </p:grpSp>
        <p:sp>
          <p:nvSpPr>
            <p:cNvPr id="30798" name="TextBox 23">
              <a:extLst>
                <a:ext uri="{FF2B5EF4-FFF2-40B4-BE49-F238E27FC236}">
                  <a16:creationId xmlns:a16="http://schemas.microsoft.com/office/drawing/2014/main" id="{0CB87279-7DDE-412A-8D80-6B2F34D6197A}"/>
                </a:ext>
              </a:extLst>
            </p:cNvPr>
            <p:cNvSpPr txBox="1">
              <a:spLocks noChangeArrowheads="1"/>
            </p:cNvSpPr>
            <p:nvPr/>
          </p:nvSpPr>
          <p:spPr bwMode="auto">
            <a:xfrm>
              <a:off x="4832286" y="5105399"/>
              <a:ext cx="2993127"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Quantity of Houses Painted</a:t>
              </a:r>
            </a:p>
          </p:txBody>
        </p:sp>
      </p:grpSp>
      <p:grpSp>
        <p:nvGrpSpPr>
          <p:cNvPr id="60" name="Group 103">
            <a:extLst>
              <a:ext uri="{FF2B5EF4-FFF2-40B4-BE49-F238E27FC236}">
                <a16:creationId xmlns:a16="http://schemas.microsoft.com/office/drawing/2014/main" id="{6161E74F-FBC9-41FD-9F67-0F96C6F6978C}"/>
              </a:ext>
            </a:extLst>
          </p:cNvPr>
          <p:cNvGrpSpPr>
            <a:grpSpLocks/>
          </p:cNvGrpSpPr>
          <p:nvPr/>
        </p:nvGrpSpPr>
        <p:grpSpPr bwMode="auto">
          <a:xfrm>
            <a:off x="1365250" y="3738563"/>
            <a:ext cx="2544763" cy="522287"/>
            <a:chOff x="5304997" y="1268474"/>
            <a:chExt cx="2543793" cy="523220"/>
          </a:xfrm>
        </p:grpSpPr>
        <p:sp>
          <p:nvSpPr>
            <p:cNvPr id="30790" name="TextBox 104">
              <a:extLst>
                <a:ext uri="{FF2B5EF4-FFF2-40B4-BE49-F238E27FC236}">
                  <a16:creationId xmlns:a16="http://schemas.microsoft.com/office/drawing/2014/main" id="{B39927BD-ED0F-4FF4-8235-B162410E6C74}"/>
                </a:ext>
              </a:extLst>
            </p:cNvPr>
            <p:cNvSpPr txBox="1">
              <a:spLocks noChangeArrowheads="1"/>
            </p:cNvSpPr>
            <p:nvPr/>
          </p:nvSpPr>
          <p:spPr bwMode="auto">
            <a:xfrm>
              <a:off x="6037781" y="1268474"/>
              <a:ext cx="1811009"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Grandma’s producer</a:t>
              </a:r>
            </a:p>
            <a:p>
              <a:pPr algn="ctr" eaLnBrk="1" hangingPunct="1"/>
              <a:r>
                <a:rPr lang="en-US" altLang="en-US" sz="1400">
                  <a:solidFill>
                    <a:srgbClr val="800080"/>
                  </a:solidFill>
                </a:rPr>
                <a:t>surplus ($100)</a:t>
              </a:r>
            </a:p>
          </p:txBody>
        </p:sp>
        <p:cxnSp>
          <p:nvCxnSpPr>
            <p:cNvPr id="42" name="Straight Connector 41">
              <a:extLst>
                <a:ext uri="{FF2B5EF4-FFF2-40B4-BE49-F238E27FC236}">
                  <a16:creationId xmlns:a16="http://schemas.microsoft.com/office/drawing/2014/main" id="{EF140802-32AB-41C2-B4ED-8B50F9364F95}"/>
                </a:ext>
              </a:extLst>
            </p:cNvPr>
            <p:cNvCxnSpPr/>
            <p:nvPr/>
          </p:nvCxnSpPr>
          <p:spPr>
            <a:xfrm>
              <a:off x="5304997" y="1330497"/>
              <a:ext cx="782340" cy="195612"/>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61" name="Group 42">
            <a:extLst>
              <a:ext uri="{FF2B5EF4-FFF2-40B4-BE49-F238E27FC236}">
                <a16:creationId xmlns:a16="http://schemas.microsoft.com/office/drawing/2014/main" id="{9678CE26-02BC-4313-9775-FCDF7926FDC2}"/>
              </a:ext>
            </a:extLst>
          </p:cNvPr>
          <p:cNvGrpSpPr>
            <a:grpSpLocks/>
          </p:cNvGrpSpPr>
          <p:nvPr/>
        </p:nvGrpSpPr>
        <p:grpSpPr bwMode="auto">
          <a:xfrm>
            <a:off x="936625" y="1766888"/>
            <a:ext cx="3421063" cy="3482975"/>
            <a:chOff x="1838338" y="1766971"/>
            <a:chExt cx="3421368" cy="3482716"/>
          </a:xfrm>
        </p:grpSpPr>
        <p:grpSp>
          <p:nvGrpSpPr>
            <p:cNvPr id="30779" name="Group 43">
              <a:extLst>
                <a:ext uri="{FF2B5EF4-FFF2-40B4-BE49-F238E27FC236}">
                  <a16:creationId xmlns:a16="http://schemas.microsoft.com/office/drawing/2014/main" id="{2FF52089-7698-43E9-B5BE-23E6EE5BE293}"/>
                </a:ext>
              </a:extLst>
            </p:cNvPr>
            <p:cNvGrpSpPr>
              <a:grpSpLocks/>
            </p:cNvGrpSpPr>
            <p:nvPr/>
          </p:nvGrpSpPr>
          <p:grpSpPr bwMode="auto">
            <a:xfrm>
              <a:off x="1838338" y="2118907"/>
              <a:ext cx="2756581" cy="3130780"/>
              <a:chOff x="1862089" y="2142658"/>
              <a:chExt cx="2756581" cy="3130780"/>
            </a:xfrm>
          </p:grpSpPr>
          <p:cxnSp>
            <p:nvCxnSpPr>
              <p:cNvPr id="46" name="Straight Connector 45">
                <a:extLst>
                  <a:ext uri="{FF2B5EF4-FFF2-40B4-BE49-F238E27FC236}">
                    <a16:creationId xmlns:a16="http://schemas.microsoft.com/office/drawing/2014/main" id="{12FE9BC3-5F9F-4229-8586-5BF5FE906739}"/>
                  </a:ext>
                </a:extLst>
              </p:cNvPr>
              <p:cNvCxnSpPr/>
              <p:nvPr/>
            </p:nvCxnSpPr>
            <p:spPr>
              <a:xfrm>
                <a:off x="3897446" y="2720928"/>
                <a:ext cx="720789" cy="317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A5A569B-622A-41DE-B4EA-3F05A4F87937}"/>
                  </a:ext>
                </a:extLst>
              </p:cNvPr>
              <p:cNvCxnSpPr/>
              <p:nvPr/>
            </p:nvCxnSpPr>
            <p:spPr>
              <a:xfrm flipV="1">
                <a:off x="3227461" y="2982845"/>
                <a:ext cx="70650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7A28902-79EE-45E5-B5C3-DA863281BB9A}"/>
                  </a:ext>
                </a:extLst>
              </p:cNvPr>
              <p:cNvCxnSpPr/>
              <p:nvPr/>
            </p:nvCxnSpPr>
            <p:spPr>
              <a:xfrm>
                <a:off x="2524136" y="3601924"/>
                <a:ext cx="668397"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46178C0-ED49-4926-A5C8-58F0D65124ED}"/>
                  </a:ext>
                </a:extLst>
              </p:cNvPr>
              <p:cNvCxnSpPr/>
              <p:nvPr/>
            </p:nvCxnSpPr>
            <p:spPr>
              <a:xfrm>
                <a:off x="1862089" y="3932100"/>
                <a:ext cx="68903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B911217-EFEC-4ED1-BB88-CA9C150FBBC8}"/>
                  </a:ext>
                </a:extLst>
              </p:cNvPr>
              <p:cNvCxnSpPr/>
              <p:nvPr/>
            </p:nvCxnSpPr>
            <p:spPr>
              <a:xfrm rot="5400000">
                <a:off x="1201741" y="4595625"/>
                <a:ext cx="1354037"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E4E012C-1A8B-4683-BD92-EAD8B544B8FC}"/>
                  </a:ext>
                </a:extLst>
              </p:cNvPr>
              <p:cNvCxnSpPr/>
              <p:nvPr/>
            </p:nvCxnSpPr>
            <p:spPr>
              <a:xfrm rot="5400000" flipH="1" flipV="1">
                <a:off x="2349525" y="3770187"/>
                <a:ext cx="360335"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FC4915B-C5B0-4852-9465-3A9CCDC5209F}"/>
                  </a:ext>
                </a:extLst>
              </p:cNvPr>
              <p:cNvCxnSpPr/>
              <p:nvPr/>
            </p:nvCxnSpPr>
            <p:spPr>
              <a:xfrm rot="5400000" flipH="1" flipV="1">
                <a:off x="2889346" y="3297148"/>
                <a:ext cx="646065" cy="476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3D7190C-F23F-4E64-9705-678A117320A9}"/>
                  </a:ext>
                </a:extLst>
              </p:cNvPr>
              <p:cNvCxnSpPr/>
              <p:nvPr/>
            </p:nvCxnSpPr>
            <p:spPr>
              <a:xfrm rot="5400000" flipH="1" flipV="1">
                <a:off x="3774427" y="2853474"/>
                <a:ext cx="284141" cy="635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8886912-500F-4A16-A163-1CF0F0339604}"/>
                  </a:ext>
                </a:extLst>
              </p:cNvPr>
              <p:cNvCxnSpPr/>
              <p:nvPr/>
            </p:nvCxnSpPr>
            <p:spPr>
              <a:xfrm rot="5400000" flipH="1" flipV="1">
                <a:off x="4303136" y="2439168"/>
                <a:ext cx="593681"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0780" name="TextBox 23">
              <a:extLst>
                <a:ext uri="{FF2B5EF4-FFF2-40B4-BE49-F238E27FC236}">
                  <a16:creationId xmlns:a16="http://schemas.microsoft.com/office/drawing/2014/main" id="{66768839-9E8E-48D5-A6C1-4CB8DEBF334E}"/>
                </a:ext>
              </a:extLst>
            </p:cNvPr>
            <p:cNvSpPr txBox="1">
              <a:spLocks noChangeArrowheads="1"/>
            </p:cNvSpPr>
            <p:nvPr/>
          </p:nvSpPr>
          <p:spPr bwMode="auto">
            <a:xfrm>
              <a:off x="4369719" y="1766971"/>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Supply</a:t>
              </a:r>
            </a:p>
          </p:txBody>
        </p:sp>
      </p:grpSp>
      <p:sp>
        <p:nvSpPr>
          <p:cNvPr id="55" name="TextBox 8">
            <a:extLst>
              <a:ext uri="{FF2B5EF4-FFF2-40B4-BE49-F238E27FC236}">
                <a16:creationId xmlns:a16="http://schemas.microsoft.com/office/drawing/2014/main" id="{6CBBC87A-6A7E-4E4A-85E8-E586BB7E7204}"/>
              </a:ext>
            </a:extLst>
          </p:cNvPr>
          <p:cNvSpPr txBox="1">
            <a:spLocks noChangeArrowheads="1"/>
          </p:cNvSpPr>
          <p:nvPr/>
        </p:nvSpPr>
        <p:spPr bwMode="auto">
          <a:xfrm>
            <a:off x="1673225" y="1227138"/>
            <a:ext cx="1889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(a) Price = $600</a:t>
            </a:r>
          </a:p>
        </p:txBody>
      </p:sp>
      <p:cxnSp>
        <p:nvCxnSpPr>
          <p:cNvPr id="56" name="Straight Connector 55">
            <a:extLst>
              <a:ext uri="{FF2B5EF4-FFF2-40B4-BE49-F238E27FC236}">
                <a16:creationId xmlns:a16="http://schemas.microsoft.com/office/drawing/2014/main" id="{08902DC3-30DC-4F32-94E9-4C993B2C97F4}"/>
              </a:ext>
            </a:extLst>
          </p:cNvPr>
          <p:cNvCxnSpPr/>
          <p:nvPr/>
        </p:nvCxnSpPr>
        <p:spPr>
          <a:xfrm rot="10800000">
            <a:off x="938213" y="3562350"/>
            <a:ext cx="676275"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94" name="TextBox 8">
            <a:extLst>
              <a:ext uri="{FF2B5EF4-FFF2-40B4-BE49-F238E27FC236}">
                <a16:creationId xmlns:a16="http://schemas.microsoft.com/office/drawing/2014/main" id="{EA04EAC3-72EF-44A4-9F98-D56B31C23E74}"/>
              </a:ext>
            </a:extLst>
          </p:cNvPr>
          <p:cNvSpPr txBox="1">
            <a:spLocks noChangeArrowheads="1"/>
          </p:cNvSpPr>
          <p:nvPr/>
        </p:nvSpPr>
        <p:spPr bwMode="auto">
          <a:xfrm>
            <a:off x="6313488" y="1223963"/>
            <a:ext cx="20113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(b) Price = $800</a:t>
            </a:r>
          </a:p>
        </p:txBody>
      </p:sp>
      <p:grpSp>
        <p:nvGrpSpPr>
          <p:cNvPr id="63" name="Group 141">
            <a:extLst>
              <a:ext uri="{FF2B5EF4-FFF2-40B4-BE49-F238E27FC236}">
                <a16:creationId xmlns:a16="http://schemas.microsoft.com/office/drawing/2014/main" id="{F6A22995-B3B8-4EBE-B08A-D9B3DCC41A6E}"/>
              </a:ext>
            </a:extLst>
          </p:cNvPr>
          <p:cNvGrpSpPr>
            <a:grpSpLocks/>
          </p:cNvGrpSpPr>
          <p:nvPr/>
        </p:nvGrpSpPr>
        <p:grpSpPr bwMode="auto">
          <a:xfrm>
            <a:off x="5553075" y="1765300"/>
            <a:ext cx="3421063" cy="3482975"/>
            <a:chOff x="1838338" y="1766971"/>
            <a:chExt cx="3421368" cy="3482716"/>
          </a:xfrm>
        </p:grpSpPr>
        <p:grpSp>
          <p:nvGrpSpPr>
            <p:cNvPr id="30768" name="Group 43">
              <a:extLst>
                <a:ext uri="{FF2B5EF4-FFF2-40B4-BE49-F238E27FC236}">
                  <a16:creationId xmlns:a16="http://schemas.microsoft.com/office/drawing/2014/main" id="{08D48B16-FA80-4B47-87CC-A47669BEF087}"/>
                </a:ext>
              </a:extLst>
            </p:cNvPr>
            <p:cNvGrpSpPr>
              <a:grpSpLocks/>
            </p:cNvGrpSpPr>
            <p:nvPr/>
          </p:nvGrpSpPr>
          <p:grpSpPr bwMode="auto">
            <a:xfrm>
              <a:off x="1838338" y="2118907"/>
              <a:ext cx="2756581" cy="3130780"/>
              <a:chOff x="1862089" y="2142658"/>
              <a:chExt cx="2756581" cy="3130780"/>
            </a:xfrm>
          </p:grpSpPr>
          <p:cxnSp>
            <p:nvCxnSpPr>
              <p:cNvPr id="145" name="Straight Connector 144">
                <a:extLst>
                  <a:ext uri="{FF2B5EF4-FFF2-40B4-BE49-F238E27FC236}">
                    <a16:creationId xmlns:a16="http://schemas.microsoft.com/office/drawing/2014/main" id="{5D73BA26-334F-4AAC-A06F-F1FABF909624}"/>
                  </a:ext>
                </a:extLst>
              </p:cNvPr>
              <p:cNvCxnSpPr/>
              <p:nvPr/>
            </p:nvCxnSpPr>
            <p:spPr>
              <a:xfrm>
                <a:off x="3897446" y="2720928"/>
                <a:ext cx="720789" cy="317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5616C921-8CBE-4CF1-AFE2-7E5A92D79E39}"/>
                  </a:ext>
                </a:extLst>
              </p:cNvPr>
              <p:cNvCxnSpPr/>
              <p:nvPr/>
            </p:nvCxnSpPr>
            <p:spPr>
              <a:xfrm flipV="1">
                <a:off x="3227461" y="2982846"/>
                <a:ext cx="70650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3948B81-0CD5-4A6A-A571-CE22F1278D0B}"/>
                  </a:ext>
                </a:extLst>
              </p:cNvPr>
              <p:cNvCxnSpPr/>
              <p:nvPr/>
            </p:nvCxnSpPr>
            <p:spPr>
              <a:xfrm>
                <a:off x="2524136" y="3601925"/>
                <a:ext cx="668397" cy="158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988C67FF-D5C9-48FD-846F-2DBE4BF0E202}"/>
                  </a:ext>
                </a:extLst>
              </p:cNvPr>
              <p:cNvCxnSpPr/>
              <p:nvPr/>
            </p:nvCxnSpPr>
            <p:spPr>
              <a:xfrm>
                <a:off x="1862089" y="3932101"/>
                <a:ext cx="68903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E142D86D-A1E3-4A13-89E6-154FE1C48F5A}"/>
                  </a:ext>
                </a:extLst>
              </p:cNvPr>
              <p:cNvCxnSpPr/>
              <p:nvPr/>
            </p:nvCxnSpPr>
            <p:spPr>
              <a:xfrm rot="5400000">
                <a:off x="1201741" y="4595626"/>
                <a:ext cx="1354036"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64C9A9C8-EE35-4E97-AAB0-8046F9367535}"/>
                  </a:ext>
                </a:extLst>
              </p:cNvPr>
              <p:cNvCxnSpPr/>
              <p:nvPr/>
            </p:nvCxnSpPr>
            <p:spPr>
              <a:xfrm rot="5400000" flipH="1" flipV="1">
                <a:off x="2349524" y="3770188"/>
                <a:ext cx="360336"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432DD77C-2E18-4B48-B943-385077C89E95}"/>
                  </a:ext>
                </a:extLst>
              </p:cNvPr>
              <p:cNvCxnSpPr/>
              <p:nvPr/>
            </p:nvCxnSpPr>
            <p:spPr>
              <a:xfrm rot="5400000" flipH="1" flipV="1">
                <a:off x="2889347" y="3297148"/>
                <a:ext cx="646064" cy="476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9C97155F-685F-4C21-8620-00CBF7E97F81}"/>
                  </a:ext>
                </a:extLst>
              </p:cNvPr>
              <p:cNvCxnSpPr/>
              <p:nvPr/>
            </p:nvCxnSpPr>
            <p:spPr>
              <a:xfrm rot="5400000" flipH="1" flipV="1">
                <a:off x="3774426" y="2853475"/>
                <a:ext cx="284142" cy="635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966075CF-0520-4953-BBF2-551F2CD7EE05}"/>
                  </a:ext>
                </a:extLst>
              </p:cNvPr>
              <p:cNvCxnSpPr/>
              <p:nvPr/>
            </p:nvCxnSpPr>
            <p:spPr>
              <a:xfrm rot="5400000" flipH="1" flipV="1">
                <a:off x="4303136" y="2439168"/>
                <a:ext cx="593681" cy="158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0769" name="TextBox 23">
              <a:extLst>
                <a:ext uri="{FF2B5EF4-FFF2-40B4-BE49-F238E27FC236}">
                  <a16:creationId xmlns:a16="http://schemas.microsoft.com/office/drawing/2014/main" id="{B6D98EEC-0409-4B7B-BE1D-BDDC8B71B2EB}"/>
                </a:ext>
              </a:extLst>
            </p:cNvPr>
            <p:cNvSpPr txBox="1">
              <a:spLocks noChangeArrowheads="1"/>
            </p:cNvSpPr>
            <p:nvPr/>
          </p:nvSpPr>
          <p:spPr bwMode="auto">
            <a:xfrm>
              <a:off x="4369719" y="1766971"/>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Supply</a:t>
              </a:r>
            </a:p>
          </p:txBody>
        </p:sp>
      </p:grpSp>
      <p:cxnSp>
        <p:nvCxnSpPr>
          <p:cNvPr id="158" name="Straight Connector 157">
            <a:extLst>
              <a:ext uri="{FF2B5EF4-FFF2-40B4-BE49-F238E27FC236}">
                <a16:creationId xmlns:a16="http://schemas.microsoft.com/office/drawing/2014/main" id="{5CC1B4C8-9F10-4E27-B395-7092750188F9}"/>
              </a:ext>
            </a:extLst>
          </p:cNvPr>
          <p:cNvCxnSpPr/>
          <p:nvPr/>
        </p:nvCxnSpPr>
        <p:spPr>
          <a:xfrm rot="5400000" flipH="1" flipV="1">
            <a:off x="5921375" y="3265488"/>
            <a:ext cx="617537"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9FD1EFAD-D45B-42D0-BD7A-B16CF55BF708}"/>
              </a:ext>
            </a:extLst>
          </p:cNvPr>
          <p:cNvSpPr/>
          <p:nvPr/>
        </p:nvSpPr>
        <p:spPr>
          <a:xfrm>
            <a:off x="5589588" y="2984500"/>
            <a:ext cx="620712" cy="9017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160" name="Straight Connector 159">
            <a:extLst>
              <a:ext uri="{FF2B5EF4-FFF2-40B4-BE49-F238E27FC236}">
                <a16:creationId xmlns:a16="http://schemas.microsoft.com/office/drawing/2014/main" id="{26382400-2E61-4830-8D81-B476D06D9253}"/>
              </a:ext>
            </a:extLst>
          </p:cNvPr>
          <p:cNvCxnSpPr/>
          <p:nvPr/>
        </p:nvCxnSpPr>
        <p:spPr>
          <a:xfrm rot="10800000">
            <a:off x="5553075" y="3559175"/>
            <a:ext cx="677863"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65" name="Group 103">
            <a:extLst>
              <a:ext uri="{FF2B5EF4-FFF2-40B4-BE49-F238E27FC236}">
                <a16:creationId xmlns:a16="http://schemas.microsoft.com/office/drawing/2014/main" id="{1B13ED82-9681-4C43-A50A-02CF4C993A79}"/>
              </a:ext>
            </a:extLst>
          </p:cNvPr>
          <p:cNvGrpSpPr>
            <a:grpSpLocks/>
          </p:cNvGrpSpPr>
          <p:nvPr/>
        </p:nvGrpSpPr>
        <p:grpSpPr bwMode="auto">
          <a:xfrm>
            <a:off x="5683250" y="3443288"/>
            <a:ext cx="1811338" cy="1504950"/>
            <a:chOff x="5764745" y="228279"/>
            <a:chExt cx="1811008" cy="1504038"/>
          </a:xfrm>
        </p:grpSpPr>
        <p:sp>
          <p:nvSpPr>
            <p:cNvPr id="30766" name="TextBox 104">
              <a:extLst>
                <a:ext uri="{FF2B5EF4-FFF2-40B4-BE49-F238E27FC236}">
                  <a16:creationId xmlns:a16="http://schemas.microsoft.com/office/drawing/2014/main" id="{822602F0-866E-4335-A027-0A9DB364BF27}"/>
                </a:ext>
              </a:extLst>
            </p:cNvPr>
            <p:cNvSpPr txBox="1">
              <a:spLocks noChangeArrowheads="1"/>
            </p:cNvSpPr>
            <p:nvPr/>
          </p:nvSpPr>
          <p:spPr bwMode="auto">
            <a:xfrm>
              <a:off x="5764745" y="1209097"/>
              <a:ext cx="1811008"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Grandma’s producer</a:t>
              </a:r>
            </a:p>
            <a:p>
              <a:pPr algn="ctr" eaLnBrk="1" hangingPunct="1"/>
              <a:r>
                <a:rPr lang="en-US" altLang="en-US" sz="1400">
                  <a:solidFill>
                    <a:srgbClr val="800080"/>
                  </a:solidFill>
                </a:rPr>
                <a:t>surplus ($300)</a:t>
              </a:r>
            </a:p>
          </p:txBody>
        </p:sp>
        <p:cxnSp>
          <p:nvCxnSpPr>
            <p:cNvPr id="163" name="Straight Connector 162">
              <a:extLst>
                <a:ext uri="{FF2B5EF4-FFF2-40B4-BE49-F238E27FC236}">
                  <a16:creationId xmlns:a16="http://schemas.microsoft.com/office/drawing/2014/main" id="{709461A5-EFD1-43C0-A1DD-703B0658BEFC}"/>
                </a:ext>
              </a:extLst>
            </p:cNvPr>
            <p:cNvCxnSpPr/>
            <p:nvPr/>
          </p:nvCxnSpPr>
          <p:spPr>
            <a:xfrm rot="16200000" flipH="1">
              <a:off x="5547517" y="605815"/>
              <a:ext cx="1036009" cy="280936"/>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sp>
        <p:nvSpPr>
          <p:cNvPr id="165" name="Rectangle 164">
            <a:extLst>
              <a:ext uri="{FF2B5EF4-FFF2-40B4-BE49-F238E27FC236}">
                <a16:creationId xmlns:a16="http://schemas.microsoft.com/office/drawing/2014/main" id="{FD586101-8AD8-4C2F-876A-48F896B67D91}"/>
              </a:ext>
            </a:extLst>
          </p:cNvPr>
          <p:cNvSpPr/>
          <p:nvPr/>
        </p:nvSpPr>
        <p:spPr>
          <a:xfrm>
            <a:off x="6248400" y="2982913"/>
            <a:ext cx="646113" cy="565150"/>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166" name="Straight Connector 165">
            <a:extLst>
              <a:ext uri="{FF2B5EF4-FFF2-40B4-BE49-F238E27FC236}">
                <a16:creationId xmlns:a16="http://schemas.microsoft.com/office/drawing/2014/main" id="{1509512E-421A-4F5E-B556-45BE6835FC8D}"/>
              </a:ext>
            </a:extLst>
          </p:cNvPr>
          <p:cNvCxnSpPr/>
          <p:nvPr/>
        </p:nvCxnSpPr>
        <p:spPr>
          <a:xfrm rot="10800000">
            <a:off x="5589588" y="2965450"/>
            <a:ext cx="1284287"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66" name="Group 103">
            <a:extLst>
              <a:ext uri="{FF2B5EF4-FFF2-40B4-BE49-F238E27FC236}">
                <a16:creationId xmlns:a16="http://schemas.microsoft.com/office/drawing/2014/main" id="{9FF614D4-A8A6-40F7-906E-5B4A3BF05A8B}"/>
              </a:ext>
            </a:extLst>
          </p:cNvPr>
          <p:cNvGrpSpPr>
            <a:grpSpLocks/>
          </p:cNvGrpSpPr>
          <p:nvPr/>
        </p:nvGrpSpPr>
        <p:grpSpPr bwMode="auto">
          <a:xfrm>
            <a:off x="6297613" y="3322638"/>
            <a:ext cx="1701800" cy="877887"/>
            <a:chOff x="5698782" y="228278"/>
            <a:chExt cx="1702043" cy="877157"/>
          </a:xfrm>
        </p:grpSpPr>
        <p:sp>
          <p:nvSpPr>
            <p:cNvPr id="30764" name="TextBox 104">
              <a:extLst>
                <a:ext uri="{FF2B5EF4-FFF2-40B4-BE49-F238E27FC236}">
                  <a16:creationId xmlns:a16="http://schemas.microsoft.com/office/drawing/2014/main" id="{0A0E06AF-BDD7-470A-B25D-1347D14106A4}"/>
                </a:ext>
              </a:extLst>
            </p:cNvPr>
            <p:cNvSpPr txBox="1">
              <a:spLocks noChangeArrowheads="1"/>
            </p:cNvSpPr>
            <p:nvPr/>
          </p:nvSpPr>
          <p:spPr bwMode="auto">
            <a:xfrm>
              <a:off x="5698782" y="582215"/>
              <a:ext cx="1702043"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Georgia’s producer</a:t>
              </a:r>
            </a:p>
            <a:p>
              <a:pPr algn="ctr" eaLnBrk="1" hangingPunct="1"/>
              <a:r>
                <a:rPr lang="en-US" altLang="en-US" sz="1400">
                  <a:solidFill>
                    <a:srgbClr val="800080"/>
                  </a:solidFill>
                </a:rPr>
                <a:t>surplus ($200)</a:t>
              </a:r>
            </a:p>
          </p:txBody>
        </p:sp>
        <p:cxnSp>
          <p:nvCxnSpPr>
            <p:cNvPr id="169" name="Straight Connector 168">
              <a:extLst>
                <a:ext uri="{FF2B5EF4-FFF2-40B4-BE49-F238E27FC236}">
                  <a16:creationId xmlns:a16="http://schemas.microsoft.com/office/drawing/2014/main" id="{C3857605-EC9B-4172-B1BB-78CC8E724BB3}"/>
                </a:ext>
              </a:extLst>
            </p:cNvPr>
            <p:cNvCxnSpPr/>
            <p:nvPr/>
          </p:nvCxnSpPr>
          <p:spPr>
            <a:xfrm rot="16200000" flipH="1">
              <a:off x="5778364" y="374153"/>
              <a:ext cx="401303" cy="109553"/>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67" name="Group 176">
            <a:extLst>
              <a:ext uri="{FF2B5EF4-FFF2-40B4-BE49-F238E27FC236}">
                <a16:creationId xmlns:a16="http://schemas.microsoft.com/office/drawing/2014/main" id="{D1AC9C7C-98BA-48ED-9FA8-BA8C671C6756}"/>
              </a:ext>
            </a:extLst>
          </p:cNvPr>
          <p:cNvGrpSpPr>
            <a:grpSpLocks/>
          </p:cNvGrpSpPr>
          <p:nvPr/>
        </p:nvGrpSpPr>
        <p:grpSpPr bwMode="auto">
          <a:xfrm>
            <a:off x="5907088" y="2108200"/>
            <a:ext cx="1328737" cy="917575"/>
            <a:chOff x="5907745" y="2108811"/>
            <a:chExt cx="1327608" cy="917196"/>
          </a:xfrm>
        </p:grpSpPr>
        <p:grpSp>
          <p:nvGrpSpPr>
            <p:cNvPr id="30760" name="Group 103">
              <a:extLst>
                <a:ext uri="{FF2B5EF4-FFF2-40B4-BE49-F238E27FC236}">
                  <a16:creationId xmlns:a16="http://schemas.microsoft.com/office/drawing/2014/main" id="{1295495B-6819-4E1E-8294-9C8BAF7DF410}"/>
                </a:ext>
              </a:extLst>
            </p:cNvPr>
            <p:cNvGrpSpPr>
              <a:grpSpLocks/>
            </p:cNvGrpSpPr>
            <p:nvPr/>
          </p:nvGrpSpPr>
          <p:grpSpPr bwMode="auto">
            <a:xfrm>
              <a:off x="5907745" y="2108811"/>
              <a:ext cx="1327608" cy="885774"/>
              <a:chOff x="5698782" y="582215"/>
              <a:chExt cx="1327138" cy="885774"/>
            </a:xfrm>
          </p:grpSpPr>
          <p:sp>
            <p:nvSpPr>
              <p:cNvPr id="30762" name="TextBox 104">
                <a:extLst>
                  <a:ext uri="{FF2B5EF4-FFF2-40B4-BE49-F238E27FC236}">
                    <a16:creationId xmlns:a16="http://schemas.microsoft.com/office/drawing/2014/main" id="{1D152523-D333-424E-9A82-7D64ACD2FD29}"/>
                  </a:ext>
                </a:extLst>
              </p:cNvPr>
              <p:cNvSpPr txBox="1">
                <a:spLocks noChangeArrowheads="1"/>
              </p:cNvSpPr>
              <p:nvPr/>
            </p:nvSpPr>
            <p:spPr bwMode="auto">
              <a:xfrm>
                <a:off x="5698782" y="582215"/>
                <a:ext cx="1327138"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solidFill>
                      <a:srgbClr val="800080"/>
                    </a:solidFill>
                  </a:rPr>
                  <a:t>Total producer</a:t>
                </a:r>
              </a:p>
              <a:p>
                <a:pPr algn="ctr" eaLnBrk="1" hangingPunct="1"/>
                <a:r>
                  <a:rPr lang="en-US" altLang="en-US" sz="1400">
                    <a:solidFill>
                      <a:srgbClr val="800080"/>
                    </a:solidFill>
                  </a:rPr>
                  <a:t>surplus ($500)</a:t>
                </a:r>
              </a:p>
            </p:txBody>
          </p:sp>
          <p:cxnSp>
            <p:nvCxnSpPr>
              <p:cNvPr id="173" name="Straight Connector 172">
                <a:extLst>
                  <a:ext uri="{FF2B5EF4-FFF2-40B4-BE49-F238E27FC236}">
                    <a16:creationId xmlns:a16="http://schemas.microsoft.com/office/drawing/2014/main" id="{0DEDD54C-BE31-4BD8-A603-4A29E716E2C7}"/>
                  </a:ext>
                </a:extLst>
              </p:cNvPr>
              <p:cNvCxnSpPr/>
              <p:nvPr/>
            </p:nvCxnSpPr>
            <p:spPr>
              <a:xfrm rot="16200000" flipH="1">
                <a:off x="6113255" y="1213029"/>
                <a:ext cx="399885" cy="109406"/>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cxnSp>
          <p:nvCxnSpPr>
            <p:cNvPr id="174" name="Straight Connector 173">
              <a:extLst>
                <a:ext uri="{FF2B5EF4-FFF2-40B4-BE49-F238E27FC236}">
                  <a16:creationId xmlns:a16="http://schemas.microsoft.com/office/drawing/2014/main" id="{C4DA4B27-7B1F-410F-AE7F-6E183C1D21D7}"/>
                </a:ext>
              </a:extLst>
            </p:cNvPr>
            <p:cNvCxnSpPr/>
            <p:nvPr/>
          </p:nvCxnSpPr>
          <p:spPr bwMode="auto">
            <a:xfrm rot="5400000">
              <a:off x="6031372" y="2608757"/>
              <a:ext cx="423687" cy="410813"/>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69" name="Group 8">
            <a:extLst>
              <a:ext uri="{FF2B5EF4-FFF2-40B4-BE49-F238E27FC236}">
                <a16:creationId xmlns:a16="http://schemas.microsoft.com/office/drawing/2014/main" id="{45E4BF8C-3E0F-4169-BF64-90DC3001D413}"/>
              </a:ext>
            </a:extLst>
          </p:cNvPr>
          <p:cNvGrpSpPr>
            <a:grpSpLocks/>
          </p:cNvGrpSpPr>
          <p:nvPr/>
        </p:nvGrpSpPr>
        <p:grpSpPr bwMode="auto">
          <a:xfrm>
            <a:off x="5338763" y="5114925"/>
            <a:ext cx="3719512" cy="825500"/>
            <a:chOff x="4343400" y="4648200"/>
            <a:chExt cx="3719513" cy="826283"/>
          </a:xfrm>
        </p:grpSpPr>
        <p:cxnSp>
          <p:nvCxnSpPr>
            <p:cNvPr id="76" name="Straight Connector 75">
              <a:extLst>
                <a:ext uri="{FF2B5EF4-FFF2-40B4-BE49-F238E27FC236}">
                  <a16:creationId xmlns:a16="http://schemas.microsoft.com/office/drawing/2014/main" id="{49F3D893-9391-4F99-A29E-073A566694B7}"/>
                </a:ext>
              </a:extLst>
            </p:cNvPr>
            <p:cNvCxnSpPr/>
            <p:nvPr/>
          </p:nvCxnSpPr>
          <p:spPr>
            <a:xfrm>
              <a:off x="4572000" y="4788033"/>
              <a:ext cx="3289301" cy="47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746" name="TextBox 10">
              <a:extLst>
                <a:ext uri="{FF2B5EF4-FFF2-40B4-BE49-F238E27FC236}">
                  <a16:creationId xmlns:a16="http://schemas.microsoft.com/office/drawing/2014/main" id="{79D715A4-6DBD-4D86-96A9-6FDEE322274B}"/>
                </a:ext>
              </a:extLst>
            </p:cNvPr>
            <p:cNvSpPr txBox="1">
              <a:spLocks noChangeArrowheads="1"/>
            </p:cNvSpPr>
            <p:nvPr/>
          </p:nvSpPr>
          <p:spPr bwMode="auto">
            <a:xfrm>
              <a:off x="4343400" y="4800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nvGrpSpPr>
            <p:cNvPr id="30747" name="Group 14">
              <a:extLst>
                <a:ext uri="{FF2B5EF4-FFF2-40B4-BE49-F238E27FC236}">
                  <a16:creationId xmlns:a16="http://schemas.microsoft.com/office/drawing/2014/main" id="{EFAAC224-F689-46A2-A63A-0284296D8A5E}"/>
                </a:ext>
              </a:extLst>
            </p:cNvPr>
            <p:cNvGrpSpPr>
              <a:grpSpLocks/>
            </p:cNvGrpSpPr>
            <p:nvPr/>
          </p:nvGrpSpPr>
          <p:grpSpPr bwMode="auto">
            <a:xfrm>
              <a:off x="7146000" y="4648200"/>
              <a:ext cx="312906" cy="521483"/>
              <a:chOff x="7146000" y="4648200"/>
              <a:chExt cx="312906" cy="521483"/>
            </a:xfrm>
          </p:grpSpPr>
          <p:cxnSp>
            <p:nvCxnSpPr>
              <p:cNvPr id="89" name="Straight Connector 12">
                <a:extLst>
                  <a:ext uri="{FF2B5EF4-FFF2-40B4-BE49-F238E27FC236}">
                    <a16:creationId xmlns:a16="http://schemas.microsoft.com/office/drawing/2014/main" id="{CF37F334-2080-496B-A434-39AB3D9A4ED6}"/>
                  </a:ext>
                </a:extLst>
              </p:cNvPr>
              <p:cNvCxnSpPr/>
              <p:nvPr/>
            </p:nvCxnSpPr>
            <p:spPr>
              <a:xfrm rot="5400000">
                <a:off x="7227023" y="4723678"/>
                <a:ext cx="1525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759" name="TextBox 13">
                <a:extLst>
                  <a:ext uri="{FF2B5EF4-FFF2-40B4-BE49-F238E27FC236}">
                    <a16:creationId xmlns:a16="http://schemas.microsoft.com/office/drawing/2014/main" id="{E6E5656C-7DFA-487F-975F-7DC1E30D222E}"/>
                  </a:ext>
                </a:extLst>
              </p:cNvPr>
              <p:cNvSpPr txBox="1">
                <a:spLocks noChangeArrowheads="1"/>
              </p:cNvSpPr>
              <p:nvPr/>
            </p:nvSpPr>
            <p:spPr bwMode="auto">
              <a:xfrm>
                <a:off x="7146000"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4</a:t>
                </a:r>
              </a:p>
            </p:txBody>
          </p:sp>
        </p:grpSp>
        <p:grpSp>
          <p:nvGrpSpPr>
            <p:cNvPr id="30748" name="Group 21">
              <a:extLst>
                <a:ext uri="{FF2B5EF4-FFF2-40B4-BE49-F238E27FC236}">
                  <a16:creationId xmlns:a16="http://schemas.microsoft.com/office/drawing/2014/main" id="{29140882-0F83-46A7-8568-5B3706746258}"/>
                </a:ext>
              </a:extLst>
            </p:cNvPr>
            <p:cNvGrpSpPr>
              <a:grpSpLocks/>
            </p:cNvGrpSpPr>
            <p:nvPr/>
          </p:nvGrpSpPr>
          <p:grpSpPr bwMode="auto">
            <a:xfrm>
              <a:off x="6477819" y="4648200"/>
              <a:ext cx="312906" cy="521483"/>
              <a:chOff x="7392219" y="4648200"/>
              <a:chExt cx="312906" cy="521483"/>
            </a:xfrm>
          </p:grpSpPr>
          <p:cxnSp>
            <p:nvCxnSpPr>
              <p:cNvPr id="87" name="Straight Connector 22">
                <a:extLst>
                  <a:ext uri="{FF2B5EF4-FFF2-40B4-BE49-F238E27FC236}">
                    <a16:creationId xmlns:a16="http://schemas.microsoft.com/office/drawing/2014/main" id="{AA8FC448-47CF-488C-8E6D-AB593359B035}"/>
                  </a:ext>
                </a:extLst>
              </p:cNvPr>
              <p:cNvCxnSpPr/>
              <p:nvPr/>
            </p:nvCxnSpPr>
            <p:spPr>
              <a:xfrm rot="5400000">
                <a:off x="7465148" y="4723678"/>
                <a:ext cx="1525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757" name="TextBox 41">
                <a:extLst>
                  <a:ext uri="{FF2B5EF4-FFF2-40B4-BE49-F238E27FC236}">
                    <a16:creationId xmlns:a16="http://schemas.microsoft.com/office/drawing/2014/main" id="{48F4EBF4-F2B0-4DFB-A945-AA686638AB4E}"/>
                  </a:ext>
                </a:extLst>
              </p:cNvPr>
              <p:cNvSpPr txBox="1">
                <a:spLocks noChangeArrowheads="1"/>
              </p:cNvSpPr>
              <p:nvPr/>
            </p:nvSpPr>
            <p:spPr bwMode="auto">
              <a:xfrm>
                <a:off x="739221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3</a:t>
                </a:r>
              </a:p>
            </p:txBody>
          </p:sp>
        </p:grpSp>
        <p:grpSp>
          <p:nvGrpSpPr>
            <p:cNvPr id="30749" name="Group 33">
              <a:extLst>
                <a:ext uri="{FF2B5EF4-FFF2-40B4-BE49-F238E27FC236}">
                  <a16:creationId xmlns:a16="http://schemas.microsoft.com/office/drawing/2014/main" id="{46AA7D13-89F0-4AC7-B107-9078A7FC61E9}"/>
                </a:ext>
              </a:extLst>
            </p:cNvPr>
            <p:cNvGrpSpPr>
              <a:grpSpLocks/>
            </p:cNvGrpSpPr>
            <p:nvPr/>
          </p:nvGrpSpPr>
          <p:grpSpPr bwMode="auto">
            <a:xfrm>
              <a:off x="5100269" y="4648200"/>
              <a:ext cx="312906" cy="521483"/>
              <a:chOff x="7843469" y="4648200"/>
              <a:chExt cx="312906" cy="521483"/>
            </a:xfrm>
          </p:grpSpPr>
          <p:cxnSp>
            <p:nvCxnSpPr>
              <p:cNvPr id="85" name="Straight Connector 84">
                <a:extLst>
                  <a:ext uri="{FF2B5EF4-FFF2-40B4-BE49-F238E27FC236}">
                    <a16:creationId xmlns:a16="http://schemas.microsoft.com/office/drawing/2014/main" id="{A579FB47-95E4-4D80-A116-62942ABEA4DE}"/>
                  </a:ext>
                </a:extLst>
              </p:cNvPr>
              <p:cNvCxnSpPr/>
              <p:nvPr/>
            </p:nvCxnSpPr>
            <p:spPr>
              <a:xfrm rot="5400000">
                <a:off x="7915997" y="4723678"/>
                <a:ext cx="1525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755" name="TextBox 35">
                <a:extLst>
                  <a:ext uri="{FF2B5EF4-FFF2-40B4-BE49-F238E27FC236}">
                    <a16:creationId xmlns:a16="http://schemas.microsoft.com/office/drawing/2014/main" id="{17C266E3-5354-4F90-B36E-7F757E826C88}"/>
                  </a:ext>
                </a:extLst>
              </p:cNvPr>
              <p:cNvSpPr txBox="1">
                <a:spLocks noChangeArrowheads="1"/>
              </p:cNvSpPr>
              <p:nvPr/>
            </p:nvSpPr>
            <p:spPr bwMode="auto">
              <a:xfrm>
                <a:off x="7843469"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grpSp>
        <p:grpSp>
          <p:nvGrpSpPr>
            <p:cNvPr id="30750" name="Group 42">
              <a:extLst>
                <a:ext uri="{FF2B5EF4-FFF2-40B4-BE49-F238E27FC236}">
                  <a16:creationId xmlns:a16="http://schemas.microsoft.com/office/drawing/2014/main" id="{799A6278-5707-4D8E-B2D4-00C9374B0478}"/>
                </a:ext>
              </a:extLst>
            </p:cNvPr>
            <p:cNvGrpSpPr>
              <a:grpSpLocks/>
            </p:cNvGrpSpPr>
            <p:nvPr/>
          </p:nvGrpSpPr>
          <p:grpSpPr bwMode="auto">
            <a:xfrm>
              <a:off x="5789044" y="4648200"/>
              <a:ext cx="312906" cy="521483"/>
              <a:chOff x="7617844" y="4648200"/>
              <a:chExt cx="312906" cy="521483"/>
            </a:xfrm>
          </p:grpSpPr>
          <p:cxnSp>
            <p:nvCxnSpPr>
              <p:cNvPr id="83" name="Straight Connector 82">
                <a:extLst>
                  <a:ext uri="{FF2B5EF4-FFF2-40B4-BE49-F238E27FC236}">
                    <a16:creationId xmlns:a16="http://schemas.microsoft.com/office/drawing/2014/main" id="{D4272BA0-C5CE-4857-BEC5-5037FC8612F0}"/>
                  </a:ext>
                </a:extLst>
              </p:cNvPr>
              <p:cNvCxnSpPr/>
              <p:nvPr/>
            </p:nvCxnSpPr>
            <p:spPr>
              <a:xfrm rot="5400000">
                <a:off x="7690572" y="4723678"/>
                <a:ext cx="152545"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753" name="TextBox 29">
                <a:extLst>
                  <a:ext uri="{FF2B5EF4-FFF2-40B4-BE49-F238E27FC236}">
                    <a16:creationId xmlns:a16="http://schemas.microsoft.com/office/drawing/2014/main" id="{A845010D-5182-4BEF-8633-B72CB775CDBC}"/>
                  </a:ext>
                </a:extLst>
              </p:cNvPr>
              <p:cNvSpPr txBox="1">
                <a:spLocks noChangeArrowheads="1"/>
              </p:cNvSpPr>
              <p:nvPr/>
            </p:nvSpPr>
            <p:spPr bwMode="auto">
              <a:xfrm>
                <a:off x="7617844" y="4800599"/>
                <a:ext cx="31290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2</a:t>
                </a:r>
              </a:p>
            </p:txBody>
          </p:sp>
        </p:grpSp>
        <p:sp>
          <p:nvSpPr>
            <p:cNvPr id="30751" name="TextBox 23">
              <a:extLst>
                <a:ext uri="{FF2B5EF4-FFF2-40B4-BE49-F238E27FC236}">
                  <a16:creationId xmlns:a16="http://schemas.microsoft.com/office/drawing/2014/main" id="{7BB82752-7E17-4711-A9E3-70279E621EFE}"/>
                </a:ext>
              </a:extLst>
            </p:cNvPr>
            <p:cNvSpPr txBox="1">
              <a:spLocks noChangeArrowheads="1"/>
            </p:cNvSpPr>
            <p:nvPr/>
          </p:nvSpPr>
          <p:spPr bwMode="auto">
            <a:xfrm>
              <a:off x="5069786" y="5105399"/>
              <a:ext cx="2993127"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Quantity of Houses Painted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500"/>
                                        <p:tgtEl>
                                          <p:spTgt spid="5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par>
                                <p:cTn id="12" presetID="22" presetClass="entr" presetSubtype="4" fill="hold"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down)">
                                      <p:cBhvr>
                                        <p:cTn id="14" dur="500"/>
                                        <p:tgtEl>
                                          <p:spTgt spid="24"/>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left)">
                                      <p:cBhvr>
                                        <p:cTn id="18" dur="1000"/>
                                        <p:tgtEl>
                                          <p:spTgt spid="61"/>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left)">
                                      <p:cBhvr>
                                        <p:cTn id="22" dur="500"/>
                                        <p:tgtEl>
                                          <p:spTgt spid="56"/>
                                        </p:tgtEl>
                                      </p:cBhvr>
                                    </p:animEffect>
                                  </p:childTnLst>
                                </p:cTn>
                              </p:par>
                            </p:childTnLst>
                          </p:cTn>
                        </p:par>
                        <p:par>
                          <p:cTn id="23" fill="hold" nodeType="afterGroup">
                            <p:stCondLst>
                              <p:cond delay="2500"/>
                            </p:stCondLst>
                            <p:childTnLst>
                              <p:par>
                                <p:cTn id="24" presetID="22" presetClass="entr" presetSubtype="8"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1000"/>
                                        <p:tgtEl>
                                          <p:spTgt spid="22"/>
                                        </p:tgtEl>
                                      </p:cBhvr>
                                    </p:animEffect>
                                  </p:childTnLst>
                                </p:cTn>
                              </p:par>
                            </p:childTnLst>
                          </p:cTn>
                        </p:par>
                        <p:par>
                          <p:cTn id="27" fill="hold" nodeType="afterGroup">
                            <p:stCondLst>
                              <p:cond delay="3500"/>
                            </p:stCondLst>
                            <p:childTnLst>
                              <p:par>
                                <p:cTn id="28" presetID="22" presetClass="entr" presetSubtype="8" fill="hold" nodeType="after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wipe(left)">
                                      <p:cBhvr>
                                        <p:cTn id="30" dur="1000"/>
                                        <p:tgtEl>
                                          <p:spTgt spid="6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4"/>
                                        </p:tgtEl>
                                        <p:attrNameLst>
                                          <p:attrName>style.visibility</p:attrName>
                                        </p:attrNameLst>
                                      </p:cBhvr>
                                      <p:to>
                                        <p:strVal val="visible"/>
                                      </p:to>
                                    </p:set>
                                    <p:animEffect transition="in" filter="wipe(left)">
                                      <p:cBhvr>
                                        <p:cTn id="35" dur="500"/>
                                        <p:tgtEl>
                                          <p:spTgt spid="94"/>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wipe(left)">
                                      <p:cBhvr>
                                        <p:cTn id="39" dur="500"/>
                                        <p:tgtEl>
                                          <p:spTgt spid="69"/>
                                        </p:tgtEl>
                                      </p:cBhvr>
                                    </p:animEffect>
                                  </p:childTnLst>
                                </p:cTn>
                              </p:par>
                              <p:par>
                                <p:cTn id="40" presetID="22" presetClass="entr" presetSubtype="4" fill="hold"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wipe(left)">
                                      <p:cBhvr>
                                        <p:cTn id="46" dur="1000"/>
                                        <p:tgtEl>
                                          <p:spTgt spid="63"/>
                                        </p:tgtEl>
                                      </p:cBhvr>
                                    </p:animEffect>
                                  </p:childTnLst>
                                </p:cTn>
                              </p:par>
                            </p:childTnLst>
                          </p:cTn>
                        </p:par>
                        <p:par>
                          <p:cTn id="47" fill="hold" nodeType="afterGroup">
                            <p:stCondLst>
                              <p:cond delay="2000"/>
                            </p:stCondLst>
                            <p:childTnLst>
                              <p:par>
                                <p:cTn id="48" presetID="22" presetClass="entr" presetSubtype="8" fill="hold" nodeType="afterEffect">
                                  <p:stCondLst>
                                    <p:cond delay="0"/>
                                  </p:stCondLst>
                                  <p:childTnLst>
                                    <p:set>
                                      <p:cBhvr>
                                        <p:cTn id="49" dur="1" fill="hold">
                                          <p:stCondLst>
                                            <p:cond delay="0"/>
                                          </p:stCondLst>
                                        </p:cTn>
                                        <p:tgtEl>
                                          <p:spTgt spid="166"/>
                                        </p:tgtEl>
                                        <p:attrNameLst>
                                          <p:attrName>style.visibility</p:attrName>
                                        </p:attrNameLst>
                                      </p:cBhvr>
                                      <p:to>
                                        <p:strVal val="visible"/>
                                      </p:to>
                                    </p:set>
                                    <p:animEffect transition="in" filter="wipe(left)">
                                      <p:cBhvr>
                                        <p:cTn id="50" dur="500"/>
                                        <p:tgtEl>
                                          <p:spTgt spid="166"/>
                                        </p:tgtEl>
                                      </p:cBhvr>
                                    </p:animEffect>
                                  </p:childTnLst>
                                </p:cTn>
                              </p:par>
                            </p:childTnLst>
                          </p:cTn>
                        </p:par>
                        <p:par>
                          <p:cTn id="51" fill="hold" nodeType="afterGroup">
                            <p:stCondLst>
                              <p:cond delay="2500"/>
                            </p:stCondLst>
                            <p:childTnLst>
                              <p:par>
                                <p:cTn id="52" presetID="22" presetClass="entr" presetSubtype="8" fill="hold" nodeType="afterEffect">
                                  <p:stCondLst>
                                    <p:cond delay="0"/>
                                  </p:stCondLst>
                                  <p:childTnLst>
                                    <p:set>
                                      <p:cBhvr>
                                        <p:cTn id="53" dur="1" fill="hold">
                                          <p:stCondLst>
                                            <p:cond delay="0"/>
                                          </p:stCondLst>
                                        </p:cTn>
                                        <p:tgtEl>
                                          <p:spTgt spid="160"/>
                                        </p:tgtEl>
                                        <p:attrNameLst>
                                          <p:attrName>style.visibility</p:attrName>
                                        </p:attrNameLst>
                                      </p:cBhvr>
                                      <p:to>
                                        <p:strVal val="visible"/>
                                      </p:to>
                                    </p:set>
                                    <p:animEffect transition="in" filter="wipe(left)">
                                      <p:cBhvr>
                                        <p:cTn id="54" dur="500"/>
                                        <p:tgtEl>
                                          <p:spTgt spid="160"/>
                                        </p:tgtEl>
                                      </p:cBhvr>
                                    </p:animEffect>
                                  </p:childTnLst>
                                </p:cTn>
                              </p:par>
                            </p:childTnLst>
                          </p:cTn>
                        </p:par>
                        <p:par>
                          <p:cTn id="55" fill="hold" nodeType="afterGroup">
                            <p:stCondLst>
                              <p:cond delay="3000"/>
                            </p:stCondLst>
                            <p:childTnLst>
                              <p:par>
                                <p:cTn id="56" presetID="22" presetClass="entr" presetSubtype="4" fill="hold" nodeType="afterEffect">
                                  <p:stCondLst>
                                    <p:cond delay="0"/>
                                  </p:stCondLst>
                                  <p:childTnLst>
                                    <p:set>
                                      <p:cBhvr>
                                        <p:cTn id="57" dur="1" fill="hold">
                                          <p:stCondLst>
                                            <p:cond delay="0"/>
                                          </p:stCondLst>
                                        </p:cTn>
                                        <p:tgtEl>
                                          <p:spTgt spid="158"/>
                                        </p:tgtEl>
                                        <p:attrNameLst>
                                          <p:attrName>style.visibility</p:attrName>
                                        </p:attrNameLst>
                                      </p:cBhvr>
                                      <p:to>
                                        <p:strVal val="visible"/>
                                      </p:to>
                                    </p:set>
                                    <p:animEffect transition="in" filter="wipe(down)">
                                      <p:cBhvr>
                                        <p:cTn id="58" dur="500"/>
                                        <p:tgtEl>
                                          <p:spTgt spid="158"/>
                                        </p:tgtEl>
                                      </p:cBhvr>
                                    </p:animEffect>
                                  </p:childTnLst>
                                </p:cTn>
                              </p:par>
                            </p:childTnLst>
                          </p:cTn>
                        </p:par>
                        <p:par>
                          <p:cTn id="59" fill="hold" nodeType="afterGroup">
                            <p:stCondLst>
                              <p:cond delay="3500"/>
                            </p:stCondLst>
                            <p:childTnLst>
                              <p:par>
                                <p:cTn id="60" presetID="22" presetClass="entr" presetSubtype="8" fill="hold" grpId="0" nodeType="afterEffect">
                                  <p:stCondLst>
                                    <p:cond delay="0"/>
                                  </p:stCondLst>
                                  <p:childTnLst>
                                    <p:set>
                                      <p:cBhvr>
                                        <p:cTn id="61" dur="1" fill="hold">
                                          <p:stCondLst>
                                            <p:cond delay="0"/>
                                          </p:stCondLst>
                                        </p:cTn>
                                        <p:tgtEl>
                                          <p:spTgt spid="159"/>
                                        </p:tgtEl>
                                        <p:attrNameLst>
                                          <p:attrName>style.visibility</p:attrName>
                                        </p:attrNameLst>
                                      </p:cBhvr>
                                      <p:to>
                                        <p:strVal val="visible"/>
                                      </p:to>
                                    </p:set>
                                    <p:animEffect transition="in" filter="wipe(left)">
                                      <p:cBhvr>
                                        <p:cTn id="62" dur="1000"/>
                                        <p:tgtEl>
                                          <p:spTgt spid="159"/>
                                        </p:tgtEl>
                                      </p:cBhvr>
                                    </p:animEffect>
                                  </p:childTnLst>
                                </p:cTn>
                              </p:par>
                            </p:childTnLst>
                          </p:cTn>
                        </p:par>
                        <p:par>
                          <p:cTn id="63" fill="hold" nodeType="afterGroup">
                            <p:stCondLst>
                              <p:cond delay="4500"/>
                            </p:stCondLst>
                            <p:childTnLst>
                              <p:par>
                                <p:cTn id="64" presetID="22" presetClass="entr" presetSubtype="8" fill="hold" nodeType="afterEffect">
                                  <p:stCondLst>
                                    <p:cond delay="0"/>
                                  </p:stCondLst>
                                  <p:childTnLst>
                                    <p:set>
                                      <p:cBhvr>
                                        <p:cTn id="65" dur="1" fill="hold">
                                          <p:stCondLst>
                                            <p:cond delay="0"/>
                                          </p:stCondLst>
                                        </p:cTn>
                                        <p:tgtEl>
                                          <p:spTgt spid="65"/>
                                        </p:tgtEl>
                                        <p:attrNameLst>
                                          <p:attrName>style.visibility</p:attrName>
                                        </p:attrNameLst>
                                      </p:cBhvr>
                                      <p:to>
                                        <p:strVal val="visible"/>
                                      </p:to>
                                    </p:set>
                                    <p:animEffect transition="in" filter="wipe(left)">
                                      <p:cBhvr>
                                        <p:cTn id="66" dur="1000"/>
                                        <p:tgtEl>
                                          <p:spTgt spid="65"/>
                                        </p:tgtEl>
                                      </p:cBhvr>
                                    </p:animEffect>
                                  </p:childTnLst>
                                </p:cTn>
                              </p:par>
                            </p:childTnLst>
                          </p:cTn>
                        </p:par>
                        <p:par>
                          <p:cTn id="67" fill="hold" nodeType="afterGroup">
                            <p:stCondLst>
                              <p:cond delay="5500"/>
                            </p:stCondLst>
                            <p:childTnLst>
                              <p:par>
                                <p:cTn id="68" presetID="22" presetClass="entr" presetSubtype="8" fill="hold" grpId="0" nodeType="afterEffect">
                                  <p:stCondLst>
                                    <p:cond delay="0"/>
                                  </p:stCondLst>
                                  <p:childTnLst>
                                    <p:set>
                                      <p:cBhvr>
                                        <p:cTn id="69" dur="1" fill="hold">
                                          <p:stCondLst>
                                            <p:cond delay="0"/>
                                          </p:stCondLst>
                                        </p:cTn>
                                        <p:tgtEl>
                                          <p:spTgt spid="165"/>
                                        </p:tgtEl>
                                        <p:attrNameLst>
                                          <p:attrName>style.visibility</p:attrName>
                                        </p:attrNameLst>
                                      </p:cBhvr>
                                      <p:to>
                                        <p:strVal val="visible"/>
                                      </p:to>
                                    </p:set>
                                    <p:animEffect transition="in" filter="wipe(left)">
                                      <p:cBhvr>
                                        <p:cTn id="70" dur="1000"/>
                                        <p:tgtEl>
                                          <p:spTgt spid="165"/>
                                        </p:tgtEl>
                                      </p:cBhvr>
                                    </p:animEffect>
                                  </p:childTnLst>
                                </p:cTn>
                              </p:par>
                            </p:childTnLst>
                          </p:cTn>
                        </p:par>
                        <p:par>
                          <p:cTn id="71" fill="hold" nodeType="afterGroup">
                            <p:stCondLst>
                              <p:cond delay="6500"/>
                            </p:stCondLst>
                            <p:childTnLst>
                              <p:par>
                                <p:cTn id="72" presetID="22" presetClass="entr" presetSubtype="8" fill="hold" nodeType="after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wipe(left)">
                                      <p:cBhvr>
                                        <p:cTn id="74" dur="1000"/>
                                        <p:tgtEl>
                                          <p:spTgt spid="66"/>
                                        </p:tgtEl>
                                      </p:cBhvr>
                                    </p:animEffect>
                                  </p:childTnLst>
                                </p:cTn>
                              </p:par>
                            </p:childTnLst>
                          </p:cTn>
                        </p:par>
                        <p:par>
                          <p:cTn id="75" fill="hold" nodeType="afterGroup">
                            <p:stCondLst>
                              <p:cond delay="7500"/>
                            </p:stCondLst>
                            <p:childTnLst>
                              <p:par>
                                <p:cTn id="76" presetID="22" presetClass="entr" presetSubtype="8" fill="hold" nodeType="afterEffect">
                                  <p:stCondLst>
                                    <p:cond delay="0"/>
                                  </p:stCondLst>
                                  <p:childTnLst>
                                    <p:set>
                                      <p:cBhvr>
                                        <p:cTn id="77" dur="1" fill="hold">
                                          <p:stCondLst>
                                            <p:cond delay="0"/>
                                          </p:stCondLst>
                                        </p:cTn>
                                        <p:tgtEl>
                                          <p:spTgt spid="67"/>
                                        </p:tgtEl>
                                        <p:attrNameLst>
                                          <p:attrName>style.visibility</p:attrName>
                                        </p:attrNameLst>
                                      </p:cBhvr>
                                      <p:to>
                                        <p:strVal val="visible"/>
                                      </p:to>
                                    </p:set>
                                    <p:animEffect transition="in" filter="wipe(left)">
                                      <p:cBhvr>
                                        <p:cTn id="78" dur="1000"/>
                                        <p:tgtEl>
                                          <p:spTgt spid="67"/>
                                        </p:tgtEl>
                                      </p:cBhvr>
                                    </p:animEffect>
                                  </p:childTnLst>
                                </p:cTn>
                              </p:par>
                            </p:childTnLst>
                          </p:cTn>
                        </p:par>
                        <p:par>
                          <p:cTn id="79" fill="hold" nodeType="afterGroup">
                            <p:stCondLst>
                              <p:cond delay="8500"/>
                            </p:stCondLst>
                            <p:childTnLst>
                              <p:par>
                                <p:cTn id="80" presetID="22" presetClass="entr" presetSubtype="8" fill="hold" grpId="0" nodeType="after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ipe(left)">
                                      <p:cBhvr>
                                        <p:cTn id="8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55" grpId="0"/>
      <p:bldP spid="94" grpId="0"/>
      <p:bldP spid="159" grpId="0" animBg="1"/>
      <p:bldP spid="16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B6DB0CE0-0396-470D-8976-A2C30EC7236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Producer Surplus</a:t>
            </a:r>
          </a:p>
        </p:txBody>
      </p:sp>
      <p:sp>
        <p:nvSpPr>
          <p:cNvPr id="3" name="Content Placeholder 2">
            <a:extLst>
              <a:ext uri="{FF2B5EF4-FFF2-40B4-BE49-F238E27FC236}">
                <a16:creationId xmlns:a16="http://schemas.microsoft.com/office/drawing/2014/main" id="{FF9BAE2E-5B09-4D9A-AA3A-E3DD5D191FF0}"/>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How a higher price raises producer surplus </a:t>
            </a:r>
          </a:p>
          <a:p>
            <a:r>
              <a:rPr lang="en-US" altLang="en-US"/>
              <a:t>Sellers - want to receive a higher price</a:t>
            </a:r>
          </a:p>
          <a:p>
            <a:pPr lvl="1"/>
            <a:r>
              <a:rPr lang="en-US" altLang="en-US"/>
              <a:t>Initial price, P1</a:t>
            </a:r>
          </a:p>
          <a:p>
            <a:pPr lvl="2"/>
            <a:r>
              <a:rPr lang="en-US" altLang="en-US"/>
              <a:t>Quantity supplied, Q1</a:t>
            </a:r>
          </a:p>
          <a:p>
            <a:pPr lvl="2"/>
            <a:r>
              <a:rPr lang="en-US" altLang="en-US"/>
              <a:t>Given producer surplus</a:t>
            </a:r>
          </a:p>
          <a:p>
            <a:pPr lvl="1"/>
            <a:r>
              <a:rPr lang="en-US" altLang="en-US"/>
              <a:t>New, higher price, P2</a:t>
            </a:r>
          </a:p>
          <a:p>
            <a:pPr lvl="2"/>
            <a:r>
              <a:rPr lang="en-US" altLang="en-US"/>
              <a:t>Greater quantity supplied, Q2</a:t>
            </a:r>
          </a:p>
          <a:p>
            <a:pPr lvl="3"/>
            <a:r>
              <a:rPr lang="en-US" altLang="en-US"/>
              <a:t>New producers</a:t>
            </a:r>
          </a:p>
          <a:p>
            <a:pPr lvl="2"/>
            <a:r>
              <a:rPr lang="en-US" altLang="en-US"/>
              <a:t>Increase in producer surplus</a:t>
            </a:r>
          </a:p>
          <a:p>
            <a:pPr lvl="3"/>
            <a:r>
              <a:rPr lang="en-US" altLang="en-US"/>
              <a:t>From initial suppliers</a:t>
            </a:r>
          </a:p>
          <a:p>
            <a:pPr lvl="3"/>
            <a:r>
              <a:rPr lang="en-US" altLang="en-US"/>
              <a:t>From new suppliers</a:t>
            </a:r>
          </a:p>
        </p:txBody>
      </p:sp>
      <p:sp>
        <p:nvSpPr>
          <p:cNvPr id="31748" name="Slide Number Placeholder 3">
            <a:extLst>
              <a:ext uri="{FF2B5EF4-FFF2-40B4-BE49-F238E27FC236}">
                <a16:creationId xmlns:a16="http://schemas.microsoft.com/office/drawing/2014/main" id="{DFA5499F-1E18-4202-AC8B-ECB7C810DB1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E91CEE-D804-4074-8B9F-F25BF68EB670}" type="slidenum">
              <a:rPr lang="en-US" altLang="en-US">
                <a:latin typeface="Calibri" panose="020F0502020204030204" pitchFamily="34" charset="0"/>
              </a:rPr>
              <a:pPr/>
              <a:t>19</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left)">
                                      <p:cBhvr>
                                        <p:cTn id="35" dur="500"/>
                                        <p:tgtEl>
                                          <p:spTgt spid="3">
                                            <p:txEl>
                                              <p:pRg st="7" end="7"/>
                                            </p:txEl>
                                          </p:spTgt>
                                        </p:tgtEl>
                                      </p:cBhvr>
                                    </p:animEffect>
                                  </p:childTnLst>
                                </p:cTn>
                              </p:par>
                            </p:childTnLst>
                          </p:cTn>
                        </p:par>
                        <p:par>
                          <p:cTn id="36" fill="hold" nodeType="afterGroup">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left)">
                                      <p:cBhvr>
                                        <p:cTn id="39" dur="500"/>
                                        <p:tgtEl>
                                          <p:spTgt spid="3">
                                            <p:txEl>
                                              <p:pRg st="8" end="8"/>
                                            </p:txEl>
                                          </p:spTgt>
                                        </p:tgtEl>
                                      </p:cBhvr>
                                    </p:animEffect>
                                  </p:childTnLst>
                                </p:cTn>
                              </p:par>
                            </p:childTnLst>
                          </p:cTn>
                        </p:par>
                        <p:par>
                          <p:cTn id="40" fill="hold" nodeType="afterGroup">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wipe(left)">
                                      <p:cBhvr>
                                        <p:cTn id="43" dur="500"/>
                                        <p:tgtEl>
                                          <p:spTgt spid="3">
                                            <p:txEl>
                                              <p:pRg st="9" end="9"/>
                                            </p:txEl>
                                          </p:spTgt>
                                        </p:tgtEl>
                                      </p:cBhvr>
                                    </p:animEffect>
                                  </p:childTnLst>
                                </p:cTn>
                              </p:par>
                            </p:childTnLst>
                          </p:cTn>
                        </p:par>
                        <p:par>
                          <p:cTn id="44" fill="hold" nodeType="afterGroup">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left)">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FDC91F4E-C028-47B9-A717-356A64D7511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How the price affects producer surplus</a:t>
            </a:r>
          </a:p>
        </p:txBody>
      </p:sp>
      <p:sp>
        <p:nvSpPr>
          <p:cNvPr id="32771" name="Content Placeholder 2">
            <a:extLst>
              <a:ext uri="{FF2B5EF4-FFF2-40B4-BE49-F238E27FC236}">
                <a16:creationId xmlns:a16="http://schemas.microsoft.com/office/drawing/2014/main" id="{7A1D64A0-2264-4298-9C3B-499EB27496F7}"/>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6</a:t>
            </a:r>
          </a:p>
        </p:txBody>
      </p:sp>
      <p:sp>
        <p:nvSpPr>
          <p:cNvPr id="32772" name="Slide Number Placeholder 3">
            <a:extLst>
              <a:ext uri="{FF2B5EF4-FFF2-40B4-BE49-F238E27FC236}">
                <a16:creationId xmlns:a16="http://schemas.microsoft.com/office/drawing/2014/main" id="{F303780D-B99A-4578-BFDF-A620FA727564}"/>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F48AD72-0110-46A6-94A2-D3B1E1694958}" type="slidenum">
              <a:rPr lang="en-US" altLang="en-US">
                <a:latin typeface="Calibri" panose="020F0502020204030204" pitchFamily="34" charset="0"/>
              </a:rPr>
              <a:pPr/>
              <a:t>20</a:t>
            </a:fld>
            <a:endParaRPr lang="en-US" altLang="en-US">
              <a:latin typeface="Calibri" panose="020F0502020204030204" pitchFamily="34" charset="0"/>
            </a:endParaRPr>
          </a:p>
        </p:txBody>
      </p:sp>
      <p:grpSp>
        <p:nvGrpSpPr>
          <p:cNvPr id="5" name="Group 4">
            <a:extLst>
              <a:ext uri="{FF2B5EF4-FFF2-40B4-BE49-F238E27FC236}">
                <a16:creationId xmlns:a16="http://schemas.microsoft.com/office/drawing/2014/main" id="{CA3E64B9-90F3-4457-B5B0-850AFA7876E6}"/>
              </a:ext>
            </a:extLst>
          </p:cNvPr>
          <p:cNvGrpSpPr>
            <a:grpSpLocks/>
          </p:cNvGrpSpPr>
          <p:nvPr/>
        </p:nvGrpSpPr>
        <p:grpSpPr bwMode="auto">
          <a:xfrm>
            <a:off x="292100" y="1482725"/>
            <a:ext cx="3900488" cy="3679825"/>
            <a:chOff x="1194096" y="1589303"/>
            <a:chExt cx="3900394" cy="3679435"/>
          </a:xfrm>
        </p:grpSpPr>
        <p:sp>
          <p:nvSpPr>
            <p:cNvPr id="6" name="Rectangle 5">
              <a:extLst>
                <a:ext uri="{FF2B5EF4-FFF2-40B4-BE49-F238E27FC236}">
                  <a16:creationId xmlns:a16="http://schemas.microsoft.com/office/drawing/2014/main" id="{0254A438-ED0D-4BB4-91F3-2D29BD28F895}"/>
                </a:ext>
              </a:extLst>
            </p:cNvPr>
            <p:cNvSpPr/>
            <p:nvPr/>
          </p:nvSpPr>
          <p:spPr>
            <a:xfrm>
              <a:off x="1829081" y="1840101"/>
              <a:ext cx="3265409" cy="34286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dirty="0"/>
            </a:p>
          </p:txBody>
        </p:sp>
        <p:grpSp>
          <p:nvGrpSpPr>
            <p:cNvPr id="32855" name="Group 48">
              <a:extLst>
                <a:ext uri="{FF2B5EF4-FFF2-40B4-BE49-F238E27FC236}">
                  <a16:creationId xmlns:a16="http://schemas.microsoft.com/office/drawing/2014/main" id="{A9777089-DB8A-42AC-91A8-70469B955903}"/>
                </a:ext>
              </a:extLst>
            </p:cNvPr>
            <p:cNvGrpSpPr>
              <a:grpSpLocks/>
            </p:cNvGrpSpPr>
            <p:nvPr/>
          </p:nvGrpSpPr>
          <p:grpSpPr bwMode="auto">
            <a:xfrm>
              <a:off x="1194096" y="1589303"/>
              <a:ext cx="651139" cy="3668320"/>
              <a:chOff x="3937056" y="1133301"/>
              <a:chExt cx="651139" cy="3668092"/>
            </a:xfrm>
          </p:grpSpPr>
          <p:cxnSp>
            <p:nvCxnSpPr>
              <p:cNvPr id="8" name="Straight Connector 7">
                <a:extLst>
                  <a:ext uri="{FF2B5EF4-FFF2-40B4-BE49-F238E27FC236}">
                    <a16:creationId xmlns:a16="http://schemas.microsoft.com/office/drawing/2014/main" id="{F857646E-D6BF-48F8-9D4C-71BD6A20EBAC}"/>
                  </a:ext>
                </a:extLst>
              </p:cNvPr>
              <p:cNvCxnSpPr/>
              <p:nvPr/>
            </p:nvCxnSpPr>
            <p:spPr>
              <a:xfrm rot="5400000">
                <a:off x="2896716" y="3124485"/>
                <a:ext cx="3352236"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857" name="TextBox 56">
                <a:extLst>
                  <a:ext uri="{FF2B5EF4-FFF2-40B4-BE49-F238E27FC236}">
                    <a16:creationId xmlns:a16="http://schemas.microsoft.com/office/drawing/2014/main" id="{DC65EE0A-198C-410C-936B-1D6DC40B48A8}"/>
                  </a:ext>
                </a:extLst>
              </p:cNvPr>
              <p:cNvSpPr txBox="1">
                <a:spLocks noChangeArrowheads="1"/>
              </p:cNvSpPr>
              <p:nvPr/>
            </p:nvSpPr>
            <p:spPr bwMode="auto">
              <a:xfrm>
                <a:off x="3937056" y="1133301"/>
                <a:ext cx="651139" cy="3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600"/>
                  <a:t>Price</a:t>
                </a:r>
              </a:p>
            </p:txBody>
          </p:sp>
        </p:grpSp>
      </p:grpSp>
      <p:sp>
        <p:nvSpPr>
          <p:cNvPr id="10" name="TextBox 8">
            <a:extLst>
              <a:ext uri="{FF2B5EF4-FFF2-40B4-BE49-F238E27FC236}">
                <a16:creationId xmlns:a16="http://schemas.microsoft.com/office/drawing/2014/main" id="{8C36695C-018F-4ACF-B5F5-CD9C3BA11145}"/>
              </a:ext>
            </a:extLst>
          </p:cNvPr>
          <p:cNvSpPr txBox="1">
            <a:spLocks noChangeArrowheads="1"/>
          </p:cNvSpPr>
          <p:nvPr/>
        </p:nvSpPr>
        <p:spPr bwMode="auto">
          <a:xfrm>
            <a:off x="0" y="5503863"/>
            <a:ext cx="914400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800080"/>
                </a:solidFill>
              </a:rPr>
              <a:t>In panel (a), the price is P</a:t>
            </a:r>
            <a:r>
              <a:rPr lang="en-US" altLang="en-US" sz="1600" baseline="-25000">
                <a:solidFill>
                  <a:srgbClr val="800080"/>
                </a:solidFill>
              </a:rPr>
              <a:t>1</a:t>
            </a:r>
            <a:r>
              <a:rPr lang="en-US" altLang="en-US" sz="1600">
                <a:solidFill>
                  <a:srgbClr val="800080"/>
                </a:solidFill>
              </a:rPr>
              <a:t>, the quantity supplied is Q1, and producer surplus equals the area of the triangle ABC. When the price rises from P</a:t>
            </a:r>
            <a:r>
              <a:rPr lang="en-US" altLang="en-US" sz="1600" baseline="-25000">
                <a:solidFill>
                  <a:srgbClr val="800080"/>
                </a:solidFill>
              </a:rPr>
              <a:t>1</a:t>
            </a:r>
            <a:r>
              <a:rPr lang="en-US" altLang="en-US" sz="1600">
                <a:solidFill>
                  <a:srgbClr val="800080"/>
                </a:solidFill>
              </a:rPr>
              <a:t> to P</a:t>
            </a:r>
            <a:r>
              <a:rPr lang="en-US" altLang="en-US" sz="1600" baseline="-25000">
                <a:solidFill>
                  <a:srgbClr val="800080"/>
                </a:solidFill>
              </a:rPr>
              <a:t>2</a:t>
            </a:r>
            <a:r>
              <a:rPr lang="en-US" altLang="en-US" sz="1600">
                <a:solidFill>
                  <a:srgbClr val="800080"/>
                </a:solidFill>
              </a:rPr>
              <a:t>, as in panel (b), the quantity supplied rises from Q</a:t>
            </a:r>
            <a:r>
              <a:rPr lang="en-US" altLang="en-US" sz="1600" baseline="-25000">
                <a:solidFill>
                  <a:srgbClr val="800080"/>
                </a:solidFill>
              </a:rPr>
              <a:t>1</a:t>
            </a:r>
            <a:r>
              <a:rPr lang="en-US" altLang="en-US" sz="1600">
                <a:solidFill>
                  <a:srgbClr val="800080"/>
                </a:solidFill>
              </a:rPr>
              <a:t> to Q</a:t>
            </a:r>
            <a:r>
              <a:rPr lang="en-US" altLang="en-US" sz="1600" baseline="-25000">
                <a:solidFill>
                  <a:srgbClr val="800080"/>
                </a:solidFill>
              </a:rPr>
              <a:t>2</a:t>
            </a:r>
            <a:r>
              <a:rPr lang="en-US" altLang="en-US" sz="1600">
                <a:solidFill>
                  <a:srgbClr val="800080"/>
                </a:solidFill>
              </a:rPr>
              <a:t>, and the producer surplus rises to the area of the triangle ADF. The increase in producer surplus (area BCFD) occurs in part because existing producers now receive more(area BCED) and in part because new producers enter the market at the higher price (area CEF).</a:t>
            </a:r>
          </a:p>
        </p:txBody>
      </p:sp>
      <p:grpSp>
        <p:nvGrpSpPr>
          <p:cNvPr id="11" name="Group 8">
            <a:extLst>
              <a:ext uri="{FF2B5EF4-FFF2-40B4-BE49-F238E27FC236}">
                <a16:creationId xmlns:a16="http://schemas.microsoft.com/office/drawing/2014/main" id="{BD4F389D-5D47-4A9B-A12B-AD9101FE809A}"/>
              </a:ext>
            </a:extLst>
          </p:cNvPr>
          <p:cNvGrpSpPr>
            <a:grpSpLocks/>
          </p:cNvGrpSpPr>
          <p:nvPr/>
        </p:nvGrpSpPr>
        <p:grpSpPr bwMode="auto">
          <a:xfrm>
            <a:off x="696913" y="5149850"/>
            <a:ext cx="3624262" cy="382588"/>
            <a:chOff x="4343400" y="4788631"/>
            <a:chExt cx="3623226" cy="382147"/>
          </a:xfrm>
        </p:grpSpPr>
        <p:cxnSp>
          <p:nvCxnSpPr>
            <p:cNvPr id="12" name="Straight Connector 11">
              <a:extLst>
                <a:ext uri="{FF2B5EF4-FFF2-40B4-BE49-F238E27FC236}">
                  <a16:creationId xmlns:a16="http://schemas.microsoft.com/office/drawing/2014/main" id="{E8F22E50-71FE-4BD5-885A-B83AD679C3A2}"/>
                </a:ext>
              </a:extLst>
            </p:cNvPr>
            <p:cNvCxnSpPr/>
            <p:nvPr/>
          </p:nvCxnSpPr>
          <p:spPr>
            <a:xfrm>
              <a:off x="4571935" y="4788631"/>
              <a:ext cx="3289946" cy="31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852" name="TextBox 10">
              <a:extLst>
                <a:ext uri="{FF2B5EF4-FFF2-40B4-BE49-F238E27FC236}">
                  <a16:creationId xmlns:a16="http://schemas.microsoft.com/office/drawing/2014/main" id="{C414E193-93F7-4F16-A004-0DACE7B41C80}"/>
                </a:ext>
              </a:extLst>
            </p:cNvPr>
            <p:cNvSpPr txBox="1">
              <a:spLocks noChangeArrowheads="1"/>
            </p:cNvSpPr>
            <p:nvPr/>
          </p:nvSpPr>
          <p:spPr bwMode="auto">
            <a:xfrm>
              <a:off x="4343400" y="4800600"/>
              <a:ext cx="298480"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p>
          </p:txBody>
        </p:sp>
        <p:sp>
          <p:nvSpPr>
            <p:cNvPr id="32853" name="TextBox 23">
              <a:extLst>
                <a:ext uri="{FF2B5EF4-FFF2-40B4-BE49-F238E27FC236}">
                  <a16:creationId xmlns:a16="http://schemas.microsoft.com/office/drawing/2014/main" id="{570340C6-8629-4F96-8E53-4F2355B3C630}"/>
                </a:ext>
              </a:extLst>
            </p:cNvPr>
            <p:cNvSpPr txBox="1">
              <a:spLocks noChangeArrowheads="1"/>
            </p:cNvSpPr>
            <p:nvPr/>
          </p:nvSpPr>
          <p:spPr bwMode="auto">
            <a:xfrm>
              <a:off x="7017327" y="4832451"/>
              <a:ext cx="949299"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Quantity</a:t>
              </a:r>
            </a:p>
          </p:txBody>
        </p:sp>
      </p:grpSp>
      <p:sp>
        <p:nvSpPr>
          <p:cNvPr id="15" name="TextBox 8">
            <a:extLst>
              <a:ext uri="{FF2B5EF4-FFF2-40B4-BE49-F238E27FC236}">
                <a16:creationId xmlns:a16="http://schemas.microsoft.com/office/drawing/2014/main" id="{89C22599-498D-4296-A025-35E373C01191}"/>
              </a:ext>
            </a:extLst>
          </p:cNvPr>
          <p:cNvSpPr txBox="1">
            <a:spLocks noChangeArrowheads="1"/>
          </p:cNvSpPr>
          <p:nvPr/>
        </p:nvSpPr>
        <p:spPr bwMode="auto">
          <a:xfrm>
            <a:off x="1033463" y="1227138"/>
            <a:ext cx="3276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800080"/>
                </a:solidFill>
              </a:rPr>
              <a:t>(a) Producer surplus at price P</a:t>
            </a:r>
            <a:r>
              <a:rPr lang="en-US" altLang="en-US" sz="1600" baseline="-25000">
                <a:solidFill>
                  <a:srgbClr val="800080"/>
                </a:solidFill>
              </a:rPr>
              <a:t>1</a:t>
            </a:r>
          </a:p>
        </p:txBody>
      </p:sp>
      <p:sp>
        <p:nvSpPr>
          <p:cNvPr id="16" name="TextBox 8">
            <a:extLst>
              <a:ext uri="{FF2B5EF4-FFF2-40B4-BE49-F238E27FC236}">
                <a16:creationId xmlns:a16="http://schemas.microsoft.com/office/drawing/2014/main" id="{608EDFBD-E8D8-4B32-AA2B-D630D109453D}"/>
              </a:ext>
            </a:extLst>
          </p:cNvPr>
          <p:cNvSpPr txBox="1">
            <a:spLocks noChangeArrowheads="1"/>
          </p:cNvSpPr>
          <p:nvPr/>
        </p:nvSpPr>
        <p:spPr bwMode="auto">
          <a:xfrm>
            <a:off x="5640388" y="1223963"/>
            <a:ext cx="3302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800080"/>
                </a:solidFill>
              </a:rPr>
              <a:t>(b) Producer surplus at price P</a:t>
            </a:r>
            <a:r>
              <a:rPr lang="en-US" altLang="en-US" sz="1600" baseline="-25000">
                <a:solidFill>
                  <a:srgbClr val="800080"/>
                </a:solidFill>
              </a:rPr>
              <a:t>2</a:t>
            </a:r>
            <a:endParaRPr lang="en-US" altLang="en-US" sz="1600">
              <a:solidFill>
                <a:srgbClr val="800080"/>
              </a:solidFill>
            </a:endParaRPr>
          </a:p>
        </p:txBody>
      </p:sp>
      <p:grpSp>
        <p:nvGrpSpPr>
          <p:cNvPr id="17" name="Group 16">
            <a:extLst>
              <a:ext uri="{FF2B5EF4-FFF2-40B4-BE49-F238E27FC236}">
                <a16:creationId xmlns:a16="http://schemas.microsoft.com/office/drawing/2014/main" id="{23B125A6-A2DF-4D25-8D50-7076733F22B7}"/>
              </a:ext>
            </a:extLst>
          </p:cNvPr>
          <p:cNvGrpSpPr>
            <a:grpSpLocks/>
          </p:cNvGrpSpPr>
          <p:nvPr/>
        </p:nvGrpSpPr>
        <p:grpSpPr bwMode="auto">
          <a:xfrm>
            <a:off x="925513" y="1819275"/>
            <a:ext cx="2944812" cy="3014663"/>
            <a:chOff x="926278" y="1926142"/>
            <a:chExt cx="2944448" cy="3013991"/>
          </a:xfrm>
        </p:grpSpPr>
        <p:sp>
          <p:nvSpPr>
            <p:cNvPr id="32849" name="TextBox 23">
              <a:extLst>
                <a:ext uri="{FF2B5EF4-FFF2-40B4-BE49-F238E27FC236}">
                  <a16:creationId xmlns:a16="http://schemas.microsoft.com/office/drawing/2014/main" id="{AAF1534A-FF63-4C6E-AE94-8955E6DCF642}"/>
                </a:ext>
              </a:extLst>
            </p:cNvPr>
            <p:cNvSpPr txBox="1">
              <a:spLocks noChangeArrowheads="1"/>
            </p:cNvSpPr>
            <p:nvPr/>
          </p:nvSpPr>
          <p:spPr bwMode="auto">
            <a:xfrm>
              <a:off x="3060889" y="1926142"/>
              <a:ext cx="8098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Supply</a:t>
              </a:r>
            </a:p>
          </p:txBody>
        </p:sp>
        <p:cxnSp>
          <p:nvCxnSpPr>
            <p:cNvPr id="19" name="Straight Connector 18">
              <a:extLst>
                <a:ext uri="{FF2B5EF4-FFF2-40B4-BE49-F238E27FC236}">
                  <a16:creationId xmlns:a16="http://schemas.microsoft.com/office/drawing/2014/main" id="{84DB4520-BF5A-4120-AFF1-2C15C0C903E8}"/>
                </a:ext>
              </a:extLst>
            </p:cNvPr>
            <p:cNvCxnSpPr/>
            <p:nvPr/>
          </p:nvCxnSpPr>
          <p:spPr>
            <a:xfrm flipV="1">
              <a:off x="926278" y="2589569"/>
              <a:ext cx="2719051" cy="235056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ACD85083-DBE4-45FA-9E81-EFBE36B093EA}"/>
              </a:ext>
            </a:extLst>
          </p:cNvPr>
          <p:cNvGrpSpPr>
            <a:grpSpLocks/>
          </p:cNvGrpSpPr>
          <p:nvPr/>
        </p:nvGrpSpPr>
        <p:grpSpPr bwMode="auto">
          <a:xfrm>
            <a:off x="531813" y="3370263"/>
            <a:ext cx="1855787" cy="338137"/>
            <a:chOff x="532410" y="3477490"/>
            <a:chExt cx="1854849" cy="338554"/>
          </a:xfrm>
        </p:grpSpPr>
        <p:cxnSp>
          <p:nvCxnSpPr>
            <p:cNvPr id="21" name="Straight Connector 20">
              <a:extLst>
                <a:ext uri="{FF2B5EF4-FFF2-40B4-BE49-F238E27FC236}">
                  <a16:creationId xmlns:a16="http://schemas.microsoft.com/office/drawing/2014/main" id="{8668BCB3-C1D1-4FFC-BD52-1066507E2EB3}"/>
                </a:ext>
              </a:extLst>
            </p:cNvPr>
            <p:cNvCxnSpPr/>
            <p:nvPr/>
          </p:nvCxnSpPr>
          <p:spPr>
            <a:xfrm flipV="1">
              <a:off x="925911" y="3669814"/>
              <a:ext cx="1461348"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2848" name="TextBox 21">
              <a:extLst>
                <a:ext uri="{FF2B5EF4-FFF2-40B4-BE49-F238E27FC236}">
                  <a16:creationId xmlns:a16="http://schemas.microsoft.com/office/drawing/2014/main" id="{A173514D-4C64-4C8C-9174-93C9CDB9D57C}"/>
                </a:ext>
              </a:extLst>
            </p:cNvPr>
            <p:cNvSpPr txBox="1">
              <a:spLocks noChangeArrowheads="1"/>
            </p:cNvSpPr>
            <p:nvPr/>
          </p:nvSpPr>
          <p:spPr bwMode="auto">
            <a:xfrm>
              <a:off x="532410" y="3477490"/>
              <a:ext cx="39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P</a:t>
              </a:r>
              <a:r>
                <a:rPr lang="en-US" altLang="en-US" sz="1600" baseline="-25000"/>
                <a:t>1</a:t>
              </a:r>
            </a:p>
          </p:txBody>
        </p:sp>
      </p:grpSp>
      <p:grpSp>
        <p:nvGrpSpPr>
          <p:cNvPr id="23" name="Group 22">
            <a:extLst>
              <a:ext uri="{FF2B5EF4-FFF2-40B4-BE49-F238E27FC236}">
                <a16:creationId xmlns:a16="http://schemas.microsoft.com/office/drawing/2014/main" id="{982197CC-3FAE-4D1E-9C86-50B46D90B72D}"/>
              </a:ext>
            </a:extLst>
          </p:cNvPr>
          <p:cNvGrpSpPr>
            <a:grpSpLocks/>
          </p:cNvGrpSpPr>
          <p:nvPr/>
        </p:nvGrpSpPr>
        <p:grpSpPr bwMode="auto">
          <a:xfrm>
            <a:off x="2220913" y="3575050"/>
            <a:ext cx="420687" cy="1912938"/>
            <a:chOff x="1955470" y="3682144"/>
            <a:chExt cx="420308" cy="1913220"/>
          </a:xfrm>
        </p:grpSpPr>
        <p:cxnSp>
          <p:nvCxnSpPr>
            <p:cNvPr id="24" name="Straight Connector 23">
              <a:extLst>
                <a:ext uri="{FF2B5EF4-FFF2-40B4-BE49-F238E27FC236}">
                  <a16:creationId xmlns:a16="http://schemas.microsoft.com/office/drawing/2014/main" id="{1FB53CED-35BD-4304-A734-3147AEB5A845}"/>
                </a:ext>
              </a:extLst>
            </p:cNvPr>
            <p:cNvCxnSpPr/>
            <p:nvPr/>
          </p:nvCxnSpPr>
          <p:spPr>
            <a:xfrm rot="5400000">
              <a:off x="1353528" y="4464898"/>
              <a:ext cx="1567094"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2846" name="TextBox 24">
              <a:extLst>
                <a:ext uri="{FF2B5EF4-FFF2-40B4-BE49-F238E27FC236}">
                  <a16:creationId xmlns:a16="http://schemas.microsoft.com/office/drawing/2014/main" id="{381730F7-36D2-4C70-8CE2-F646A990C623}"/>
                </a:ext>
              </a:extLst>
            </p:cNvPr>
            <p:cNvSpPr txBox="1">
              <a:spLocks noChangeArrowheads="1"/>
            </p:cNvSpPr>
            <p:nvPr/>
          </p:nvSpPr>
          <p:spPr bwMode="auto">
            <a:xfrm>
              <a:off x="1955470" y="5256810"/>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1</a:t>
              </a:r>
            </a:p>
          </p:txBody>
        </p:sp>
      </p:grpSp>
      <p:sp>
        <p:nvSpPr>
          <p:cNvPr id="26" name="Isosceles Triangle 25">
            <a:extLst>
              <a:ext uri="{FF2B5EF4-FFF2-40B4-BE49-F238E27FC236}">
                <a16:creationId xmlns:a16="http://schemas.microsoft.com/office/drawing/2014/main" id="{11F4D2B9-5768-47E7-BFC9-A54246405DE7}"/>
              </a:ext>
            </a:extLst>
          </p:cNvPr>
          <p:cNvSpPr/>
          <p:nvPr/>
        </p:nvSpPr>
        <p:spPr>
          <a:xfrm rot="10800000">
            <a:off x="949325" y="3582988"/>
            <a:ext cx="1403350" cy="1189037"/>
          </a:xfrm>
          <a:prstGeom prst="triangle">
            <a:avLst>
              <a:gd name="adj" fmla="val 100000"/>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dirty="0">
              <a:solidFill>
                <a:srgbClr val="800080"/>
              </a:solidFill>
            </a:endParaRPr>
          </a:p>
        </p:txBody>
      </p:sp>
      <p:sp>
        <p:nvSpPr>
          <p:cNvPr id="27" name="TextBox 104">
            <a:extLst>
              <a:ext uri="{FF2B5EF4-FFF2-40B4-BE49-F238E27FC236}">
                <a16:creationId xmlns:a16="http://schemas.microsoft.com/office/drawing/2014/main" id="{85ED9BDC-AE90-4104-902F-95B274483F4A}"/>
              </a:ext>
            </a:extLst>
          </p:cNvPr>
          <p:cNvSpPr txBox="1">
            <a:spLocks noChangeArrowheads="1"/>
          </p:cNvSpPr>
          <p:nvPr/>
        </p:nvSpPr>
        <p:spPr bwMode="auto">
          <a:xfrm>
            <a:off x="1069975" y="3683000"/>
            <a:ext cx="806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solidFill>
                  <a:srgbClr val="800080"/>
                </a:solidFill>
              </a:rPr>
              <a:t>Producer</a:t>
            </a:r>
          </a:p>
          <a:p>
            <a:pPr algn="ctr" eaLnBrk="1" hangingPunct="1"/>
            <a:r>
              <a:rPr lang="en-US" altLang="en-US" sz="1200">
                <a:solidFill>
                  <a:srgbClr val="800080"/>
                </a:solidFill>
              </a:rPr>
              <a:t>surplus</a:t>
            </a:r>
          </a:p>
        </p:txBody>
      </p:sp>
      <p:grpSp>
        <p:nvGrpSpPr>
          <p:cNvPr id="28" name="Group 27">
            <a:extLst>
              <a:ext uri="{FF2B5EF4-FFF2-40B4-BE49-F238E27FC236}">
                <a16:creationId xmlns:a16="http://schemas.microsoft.com/office/drawing/2014/main" id="{11C4DC30-F4EB-4786-857A-10715DD42EEA}"/>
              </a:ext>
            </a:extLst>
          </p:cNvPr>
          <p:cNvGrpSpPr>
            <a:grpSpLocks/>
          </p:cNvGrpSpPr>
          <p:nvPr/>
        </p:nvGrpSpPr>
        <p:grpSpPr bwMode="auto">
          <a:xfrm>
            <a:off x="855663" y="3201988"/>
            <a:ext cx="423862" cy="436562"/>
            <a:chOff x="2392240" y="2802589"/>
            <a:chExt cx="422499" cy="436818"/>
          </a:xfrm>
        </p:grpSpPr>
        <p:sp>
          <p:nvSpPr>
            <p:cNvPr id="32843" name="Freeform 183">
              <a:extLst>
                <a:ext uri="{FF2B5EF4-FFF2-40B4-BE49-F238E27FC236}">
                  <a16:creationId xmlns:a16="http://schemas.microsoft.com/office/drawing/2014/main" id="{7102E0D6-7F51-494C-98F7-D7520FA4E8D9}"/>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44" name="TextBox 29">
              <a:extLst>
                <a:ext uri="{FF2B5EF4-FFF2-40B4-BE49-F238E27FC236}">
                  <a16:creationId xmlns:a16="http://schemas.microsoft.com/office/drawing/2014/main" id="{1D5F6794-60D8-4AAE-B790-9670BD49B54F}"/>
                </a:ext>
              </a:extLst>
            </p:cNvPr>
            <p:cNvSpPr txBox="1">
              <a:spLocks noChangeArrowheads="1"/>
            </p:cNvSpPr>
            <p:nvPr/>
          </p:nvSpPr>
          <p:spPr bwMode="auto">
            <a:xfrm>
              <a:off x="2493817" y="2802589"/>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a:t>
              </a:r>
            </a:p>
          </p:txBody>
        </p:sp>
      </p:grpSp>
      <p:grpSp>
        <p:nvGrpSpPr>
          <p:cNvPr id="31" name="Group 30">
            <a:extLst>
              <a:ext uri="{FF2B5EF4-FFF2-40B4-BE49-F238E27FC236}">
                <a16:creationId xmlns:a16="http://schemas.microsoft.com/office/drawing/2014/main" id="{B090016B-CA33-42A0-8C21-293FBD56CA03}"/>
              </a:ext>
            </a:extLst>
          </p:cNvPr>
          <p:cNvGrpSpPr>
            <a:grpSpLocks/>
          </p:cNvGrpSpPr>
          <p:nvPr/>
        </p:nvGrpSpPr>
        <p:grpSpPr bwMode="auto">
          <a:xfrm>
            <a:off x="2330450" y="3505200"/>
            <a:ext cx="422275" cy="382588"/>
            <a:chOff x="2392240" y="3102882"/>
            <a:chExt cx="421844" cy="382624"/>
          </a:xfrm>
        </p:grpSpPr>
        <p:sp>
          <p:nvSpPr>
            <p:cNvPr id="32841" name="Freeform 183">
              <a:extLst>
                <a:ext uri="{FF2B5EF4-FFF2-40B4-BE49-F238E27FC236}">
                  <a16:creationId xmlns:a16="http://schemas.microsoft.com/office/drawing/2014/main" id="{7C310D05-B01E-48B7-8562-2B083C9E0C9B}"/>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42" name="TextBox 32">
              <a:extLst>
                <a:ext uri="{FF2B5EF4-FFF2-40B4-BE49-F238E27FC236}">
                  <a16:creationId xmlns:a16="http://schemas.microsoft.com/office/drawing/2014/main" id="{FF1088D0-53E2-47BE-B03C-894ECC21531B}"/>
                </a:ext>
              </a:extLst>
            </p:cNvPr>
            <p:cNvSpPr txBox="1">
              <a:spLocks noChangeArrowheads="1"/>
            </p:cNvSpPr>
            <p:nvPr/>
          </p:nvSpPr>
          <p:spPr bwMode="auto">
            <a:xfrm>
              <a:off x="2481942" y="3146952"/>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a:t>
              </a:r>
            </a:p>
          </p:txBody>
        </p:sp>
      </p:grpSp>
      <p:grpSp>
        <p:nvGrpSpPr>
          <p:cNvPr id="34" name="Group 33">
            <a:extLst>
              <a:ext uri="{FF2B5EF4-FFF2-40B4-BE49-F238E27FC236}">
                <a16:creationId xmlns:a16="http://schemas.microsoft.com/office/drawing/2014/main" id="{85F47CA2-7C00-40F4-87C2-05A0C2AC388F}"/>
              </a:ext>
            </a:extLst>
          </p:cNvPr>
          <p:cNvGrpSpPr>
            <a:grpSpLocks/>
          </p:cNvGrpSpPr>
          <p:nvPr/>
        </p:nvGrpSpPr>
        <p:grpSpPr bwMode="auto">
          <a:xfrm>
            <a:off x="871538" y="4786313"/>
            <a:ext cx="434975" cy="338137"/>
            <a:chOff x="2392240" y="3099465"/>
            <a:chExt cx="434375" cy="338554"/>
          </a:xfrm>
        </p:grpSpPr>
        <p:sp>
          <p:nvSpPr>
            <p:cNvPr id="32839" name="Freeform 183">
              <a:extLst>
                <a:ext uri="{FF2B5EF4-FFF2-40B4-BE49-F238E27FC236}">
                  <a16:creationId xmlns:a16="http://schemas.microsoft.com/office/drawing/2014/main" id="{B310DBFE-98F3-4D13-A268-2813113F10DB}"/>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40" name="TextBox 35">
              <a:extLst>
                <a:ext uri="{FF2B5EF4-FFF2-40B4-BE49-F238E27FC236}">
                  <a16:creationId xmlns:a16="http://schemas.microsoft.com/office/drawing/2014/main" id="{EAF10466-386F-4CA0-B5F2-E551C201A9DA}"/>
                </a:ext>
              </a:extLst>
            </p:cNvPr>
            <p:cNvSpPr txBox="1">
              <a:spLocks noChangeArrowheads="1"/>
            </p:cNvSpPr>
            <p:nvPr/>
          </p:nvSpPr>
          <p:spPr bwMode="auto">
            <a:xfrm>
              <a:off x="2505693" y="3099465"/>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a:t>
              </a:r>
            </a:p>
          </p:txBody>
        </p:sp>
      </p:grpSp>
      <p:grpSp>
        <p:nvGrpSpPr>
          <p:cNvPr id="37" name="Group 36">
            <a:extLst>
              <a:ext uri="{FF2B5EF4-FFF2-40B4-BE49-F238E27FC236}">
                <a16:creationId xmlns:a16="http://schemas.microsoft.com/office/drawing/2014/main" id="{0138F760-70EE-4515-A0C5-1A8F5B493C0C}"/>
              </a:ext>
            </a:extLst>
          </p:cNvPr>
          <p:cNvGrpSpPr>
            <a:grpSpLocks/>
          </p:cNvGrpSpPr>
          <p:nvPr/>
        </p:nvGrpSpPr>
        <p:grpSpPr bwMode="auto">
          <a:xfrm>
            <a:off x="4672013" y="1468438"/>
            <a:ext cx="3900487" cy="3679825"/>
            <a:chOff x="1194096" y="1589303"/>
            <a:chExt cx="3900394" cy="3679435"/>
          </a:xfrm>
        </p:grpSpPr>
        <p:sp>
          <p:nvSpPr>
            <p:cNvPr id="38" name="Rectangle 37">
              <a:extLst>
                <a:ext uri="{FF2B5EF4-FFF2-40B4-BE49-F238E27FC236}">
                  <a16:creationId xmlns:a16="http://schemas.microsoft.com/office/drawing/2014/main" id="{B2A98B80-E84A-4E44-8ECE-EC996BC99C80}"/>
                </a:ext>
              </a:extLst>
            </p:cNvPr>
            <p:cNvSpPr/>
            <p:nvPr/>
          </p:nvSpPr>
          <p:spPr>
            <a:xfrm>
              <a:off x="1829081" y="1840101"/>
              <a:ext cx="3265409" cy="34286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dirty="0"/>
            </a:p>
          </p:txBody>
        </p:sp>
        <p:grpSp>
          <p:nvGrpSpPr>
            <p:cNvPr id="32836" name="Group 48">
              <a:extLst>
                <a:ext uri="{FF2B5EF4-FFF2-40B4-BE49-F238E27FC236}">
                  <a16:creationId xmlns:a16="http://schemas.microsoft.com/office/drawing/2014/main" id="{67C8DEDE-56B6-4E7C-B0D6-5826C643C226}"/>
                </a:ext>
              </a:extLst>
            </p:cNvPr>
            <p:cNvGrpSpPr>
              <a:grpSpLocks/>
            </p:cNvGrpSpPr>
            <p:nvPr/>
          </p:nvGrpSpPr>
          <p:grpSpPr bwMode="auto">
            <a:xfrm>
              <a:off x="1194096" y="1589303"/>
              <a:ext cx="651139" cy="3668320"/>
              <a:chOff x="3937056" y="1133301"/>
              <a:chExt cx="651139" cy="3668092"/>
            </a:xfrm>
          </p:grpSpPr>
          <p:cxnSp>
            <p:nvCxnSpPr>
              <p:cNvPr id="40" name="Straight Connector 39">
                <a:extLst>
                  <a:ext uri="{FF2B5EF4-FFF2-40B4-BE49-F238E27FC236}">
                    <a16:creationId xmlns:a16="http://schemas.microsoft.com/office/drawing/2014/main" id="{0B56D56D-5605-40A5-9F51-BAE80BFC815D}"/>
                  </a:ext>
                </a:extLst>
              </p:cNvPr>
              <p:cNvCxnSpPr/>
              <p:nvPr/>
            </p:nvCxnSpPr>
            <p:spPr>
              <a:xfrm rot="5400000">
                <a:off x="2896716" y="3124484"/>
                <a:ext cx="3352236"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838" name="TextBox 56">
                <a:extLst>
                  <a:ext uri="{FF2B5EF4-FFF2-40B4-BE49-F238E27FC236}">
                    <a16:creationId xmlns:a16="http://schemas.microsoft.com/office/drawing/2014/main" id="{6F51E8C1-E8E6-431D-A942-C9121D7D96DA}"/>
                  </a:ext>
                </a:extLst>
              </p:cNvPr>
              <p:cNvSpPr txBox="1">
                <a:spLocks noChangeArrowheads="1"/>
              </p:cNvSpPr>
              <p:nvPr/>
            </p:nvSpPr>
            <p:spPr bwMode="auto">
              <a:xfrm>
                <a:off x="3937056" y="1133301"/>
                <a:ext cx="651139" cy="3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600"/>
                  <a:t>Price</a:t>
                </a:r>
              </a:p>
            </p:txBody>
          </p:sp>
        </p:grpSp>
      </p:grpSp>
      <p:grpSp>
        <p:nvGrpSpPr>
          <p:cNvPr id="42" name="Group 8">
            <a:extLst>
              <a:ext uri="{FF2B5EF4-FFF2-40B4-BE49-F238E27FC236}">
                <a16:creationId xmlns:a16="http://schemas.microsoft.com/office/drawing/2014/main" id="{A6737251-F080-45F6-9621-738EFBF112AD}"/>
              </a:ext>
            </a:extLst>
          </p:cNvPr>
          <p:cNvGrpSpPr>
            <a:grpSpLocks/>
          </p:cNvGrpSpPr>
          <p:nvPr/>
        </p:nvGrpSpPr>
        <p:grpSpPr bwMode="auto">
          <a:xfrm>
            <a:off x="5078413" y="5135563"/>
            <a:ext cx="3622675" cy="382587"/>
            <a:chOff x="4343400" y="4788631"/>
            <a:chExt cx="3623226" cy="382147"/>
          </a:xfrm>
        </p:grpSpPr>
        <p:cxnSp>
          <p:nvCxnSpPr>
            <p:cNvPr id="43" name="Straight Connector 42">
              <a:extLst>
                <a:ext uri="{FF2B5EF4-FFF2-40B4-BE49-F238E27FC236}">
                  <a16:creationId xmlns:a16="http://schemas.microsoft.com/office/drawing/2014/main" id="{496FD0ED-7772-4527-A220-0D647F25E2F4}"/>
                </a:ext>
              </a:extLst>
            </p:cNvPr>
            <p:cNvCxnSpPr/>
            <p:nvPr/>
          </p:nvCxnSpPr>
          <p:spPr>
            <a:xfrm>
              <a:off x="4572035" y="4788631"/>
              <a:ext cx="3289800" cy="31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833" name="TextBox 10">
              <a:extLst>
                <a:ext uri="{FF2B5EF4-FFF2-40B4-BE49-F238E27FC236}">
                  <a16:creationId xmlns:a16="http://schemas.microsoft.com/office/drawing/2014/main" id="{27FC517B-F8B6-40C4-A72A-2159F417B513}"/>
                </a:ext>
              </a:extLst>
            </p:cNvPr>
            <p:cNvSpPr txBox="1">
              <a:spLocks noChangeArrowheads="1"/>
            </p:cNvSpPr>
            <p:nvPr/>
          </p:nvSpPr>
          <p:spPr bwMode="auto">
            <a:xfrm>
              <a:off x="4343400" y="4800600"/>
              <a:ext cx="298480"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p>
          </p:txBody>
        </p:sp>
        <p:sp>
          <p:nvSpPr>
            <p:cNvPr id="32834" name="TextBox 23">
              <a:extLst>
                <a:ext uri="{FF2B5EF4-FFF2-40B4-BE49-F238E27FC236}">
                  <a16:creationId xmlns:a16="http://schemas.microsoft.com/office/drawing/2014/main" id="{DB05AAC4-ED83-4C9E-B01A-1A478E2417EC}"/>
                </a:ext>
              </a:extLst>
            </p:cNvPr>
            <p:cNvSpPr txBox="1">
              <a:spLocks noChangeArrowheads="1"/>
            </p:cNvSpPr>
            <p:nvPr/>
          </p:nvSpPr>
          <p:spPr bwMode="auto">
            <a:xfrm>
              <a:off x="7017327" y="4832451"/>
              <a:ext cx="949299" cy="33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Quantity</a:t>
              </a:r>
            </a:p>
          </p:txBody>
        </p:sp>
      </p:grpSp>
      <p:grpSp>
        <p:nvGrpSpPr>
          <p:cNvPr id="46" name="Group 45">
            <a:extLst>
              <a:ext uri="{FF2B5EF4-FFF2-40B4-BE49-F238E27FC236}">
                <a16:creationId xmlns:a16="http://schemas.microsoft.com/office/drawing/2014/main" id="{51BB5121-DDAF-45B6-A248-2B53D4D988DD}"/>
              </a:ext>
            </a:extLst>
          </p:cNvPr>
          <p:cNvGrpSpPr>
            <a:grpSpLocks/>
          </p:cNvGrpSpPr>
          <p:nvPr/>
        </p:nvGrpSpPr>
        <p:grpSpPr bwMode="auto">
          <a:xfrm>
            <a:off x="5295900" y="1804988"/>
            <a:ext cx="2990850" cy="3005137"/>
            <a:chOff x="916379" y="1926142"/>
            <a:chExt cx="2989972" cy="3004094"/>
          </a:xfrm>
        </p:grpSpPr>
        <p:sp>
          <p:nvSpPr>
            <p:cNvPr id="32830" name="TextBox 23">
              <a:extLst>
                <a:ext uri="{FF2B5EF4-FFF2-40B4-BE49-F238E27FC236}">
                  <a16:creationId xmlns:a16="http://schemas.microsoft.com/office/drawing/2014/main" id="{F9938A98-3376-479A-AE80-A6A579464D14}"/>
                </a:ext>
              </a:extLst>
            </p:cNvPr>
            <p:cNvSpPr txBox="1">
              <a:spLocks noChangeArrowheads="1"/>
            </p:cNvSpPr>
            <p:nvPr/>
          </p:nvSpPr>
          <p:spPr bwMode="auto">
            <a:xfrm>
              <a:off x="3096514" y="1926142"/>
              <a:ext cx="8098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Supply</a:t>
              </a:r>
            </a:p>
          </p:txBody>
        </p:sp>
        <p:cxnSp>
          <p:nvCxnSpPr>
            <p:cNvPr id="48" name="Straight Connector 47">
              <a:extLst>
                <a:ext uri="{FF2B5EF4-FFF2-40B4-BE49-F238E27FC236}">
                  <a16:creationId xmlns:a16="http://schemas.microsoft.com/office/drawing/2014/main" id="{B0F62016-A61E-4E0F-AEB4-A130CF6CDDD4}"/>
                </a:ext>
              </a:extLst>
            </p:cNvPr>
            <p:cNvCxnSpPr/>
            <p:nvPr/>
          </p:nvCxnSpPr>
          <p:spPr>
            <a:xfrm flipV="1">
              <a:off x="916379" y="2602182"/>
              <a:ext cx="2778897" cy="232805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69656974-A24F-4308-8519-0B56B17FC619}"/>
              </a:ext>
            </a:extLst>
          </p:cNvPr>
          <p:cNvGrpSpPr>
            <a:grpSpLocks/>
          </p:cNvGrpSpPr>
          <p:nvPr/>
        </p:nvGrpSpPr>
        <p:grpSpPr bwMode="auto">
          <a:xfrm>
            <a:off x="4911725" y="3355975"/>
            <a:ext cx="1847850" cy="339725"/>
            <a:chOff x="532410" y="3477490"/>
            <a:chExt cx="1846648" cy="338554"/>
          </a:xfrm>
        </p:grpSpPr>
        <p:cxnSp>
          <p:nvCxnSpPr>
            <p:cNvPr id="50" name="Straight Connector 49">
              <a:extLst>
                <a:ext uri="{FF2B5EF4-FFF2-40B4-BE49-F238E27FC236}">
                  <a16:creationId xmlns:a16="http://schemas.microsoft.com/office/drawing/2014/main" id="{40AD9431-DADD-4DE3-8C1E-93FCD88CFAF3}"/>
                </a:ext>
              </a:extLst>
            </p:cNvPr>
            <p:cNvCxnSpPr/>
            <p:nvPr/>
          </p:nvCxnSpPr>
          <p:spPr>
            <a:xfrm>
              <a:off x="925854" y="3668916"/>
              <a:ext cx="1453204" cy="3164"/>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2829" name="TextBox 50">
              <a:extLst>
                <a:ext uri="{FF2B5EF4-FFF2-40B4-BE49-F238E27FC236}">
                  <a16:creationId xmlns:a16="http://schemas.microsoft.com/office/drawing/2014/main" id="{24813740-9AB0-415A-9BB0-CC632D33F42A}"/>
                </a:ext>
              </a:extLst>
            </p:cNvPr>
            <p:cNvSpPr txBox="1">
              <a:spLocks noChangeArrowheads="1"/>
            </p:cNvSpPr>
            <p:nvPr/>
          </p:nvSpPr>
          <p:spPr bwMode="auto">
            <a:xfrm>
              <a:off x="532410" y="3477490"/>
              <a:ext cx="39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P</a:t>
              </a:r>
              <a:r>
                <a:rPr lang="en-US" altLang="en-US" sz="1600" baseline="-25000"/>
                <a:t>1</a:t>
              </a:r>
            </a:p>
          </p:txBody>
        </p:sp>
      </p:grpSp>
      <p:grpSp>
        <p:nvGrpSpPr>
          <p:cNvPr id="52" name="Group 51">
            <a:extLst>
              <a:ext uri="{FF2B5EF4-FFF2-40B4-BE49-F238E27FC236}">
                <a16:creationId xmlns:a16="http://schemas.microsoft.com/office/drawing/2014/main" id="{D693DEEA-5A57-4BDB-9FEF-64B9476BAFE0}"/>
              </a:ext>
            </a:extLst>
          </p:cNvPr>
          <p:cNvGrpSpPr>
            <a:grpSpLocks/>
          </p:cNvGrpSpPr>
          <p:nvPr/>
        </p:nvGrpSpPr>
        <p:grpSpPr bwMode="auto">
          <a:xfrm>
            <a:off x="6584950" y="3560763"/>
            <a:ext cx="420688" cy="1914525"/>
            <a:chOff x="6335486" y="3668289"/>
            <a:chExt cx="420308" cy="1913220"/>
          </a:xfrm>
        </p:grpSpPr>
        <p:cxnSp>
          <p:nvCxnSpPr>
            <p:cNvPr id="53" name="Straight Connector 52">
              <a:extLst>
                <a:ext uri="{FF2B5EF4-FFF2-40B4-BE49-F238E27FC236}">
                  <a16:creationId xmlns:a16="http://schemas.microsoft.com/office/drawing/2014/main" id="{14520540-F870-44F9-BEEE-C22CCB9D849C}"/>
                </a:ext>
              </a:extLst>
            </p:cNvPr>
            <p:cNvCxnSpPr/>
            <p:nvPr/>
          </p:nvCxnSpPr>
          <p:spPr>
            <a:xfrm rot="5400000">
              <a:off x="5733400" y="4451186"/>
              <a:ext cx="1567381" cy="1587"/>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2827" name="TextBox 53">
              <a:extLst>
                <a:ext uri="{FF2B5EF4-FFF2-40B4-BE49-F238E27FC236}">
                  <a16:creationId xmlns:a16="http://schemas.microsoft.com/office/drawing/2014/main" id="{711C8CA4-C727-4D78-9F30-6446836AB959}"/>
                </a:ext>
              </a:extLst>
            </p:cNvPr>
            <p:cNvSpPr txBox="1">
              <a:spLocks noChangeArrowheads="1"/>
            </p:cNvSpPr>
            <p:nvPr/>
          </p:nvSpPr>
          <p:spPr bwMode="auto">
            <a:xfrm>
              <a:off x="6335486" y="5242955"/>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1</a:t>
              </a:r>
            </a:p>
          </p:txBody>
        </p:sp>
      </p:grpSp>
      <p:sp>
        <p:nvSpPr>
          <p:cNvPr id="55" name="Isosceles Triangle 54">
            <a:extLst>
              <a:ext uri="{FF2B5EF4-FFF2-40B4-BE49-F238E27FC236}">
                <a16:creationId xmlns:a16="http://schemas.microsoft.com/office/drawing/2014/main" id="{D3D32554-6B68-4E87-B2D6-F41C795571BA}"/>
              </a:ext>
            </a:extLst>
          </p:cNvPr>
          <p:cNvSpPr/>
          <p:nvPr/>
        </p:nvSpPr>
        <p:spPr>
          <a:xfrm rot="10800000">
            <a:off x="5335588" y="3578225"/>
            <a:ext cx="1381125" cy="1176338"/>
          </a:xfrm>
          <a:prstGeom prst="triangle">
            <a:avLst>
              <a:gd name="adj" fmla="val 100000"/>
            </a:avLst>
          </a:prstGeom>
          <a:solidFill>
            <a:srgbClr val="F8EDEC"/>
          </a:solidFill>
          <a:ln>
            <a:solidFill>
              <a:srgbClr val="F8EDE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dirty="0">
              <a:solidFill>
                <a:srgbClr val="800080"/>
              </a:solidFill>
            </a:endParaRPr>
          </a:p>
        </p:txBody>
      </p:sp>
      <p:sp>
        <p:nvSpPr>
          <p:cNvPr id="56" name="TextBox 104">
            <a:extLst>
              <a:ext uri="{FF2B5EF4-FFF2-40B4-BE49-F238E27FC236}">
                <a16:creationId xmlns:a16="http://schemas.microsoft.com/office/drawing/2014/main" id="{6938C4B8-212C-40A2-961F-35870E7EF5A9}"/>
              </a:ext>
            </a:extLst>
          </p:cNvPr>
          <p:cNvSpPr txBox="1">
            <a:spLocks noChangeArrowheads="1"/>
          </p:cNvSpPr>
          <p:nvPr/>
        </p:nvSpPr>
        <p:spPr bwMode="auto">
          <a:xfrm>
            <a:off x="5334000" y="3611563"/>
            <a:ext cx="8588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solidFill>
                  <a:srgbClr val="800080"/>
                </a:solidFill>
              </a:rPr>
              <a:t>Initial</a:t>
            </a:r>
          </a:p>
          <a:p>
            <a:pPr algn="ctr" eaLnBrk="1" hangingPunct="1"/>
            <a:r>
              <a:rPr lang="en-US" altLang="en-US" sz="1200">
                <a:solidFill>
                  <a:srgbClr val="800080"/>
                </a:solidFill>
              </a:rPr>
              <a:t>consumer</a:t>
            </a:r>
          </a:p>
          <a:p>
            <a:pPr algn="ctr" eaLnBrk="1" hangingPunct="1"/>
            <a:r>
              <a:rPr lang="en-US" altLang="en-US" sz="1200">
                <a:solidFill>
                  <a:srgbClr val="800080"/>
                </a:solidFill>
              </a:rPr>
              <a:t>surplus</a:t>
            </a:r>
          </a:p>
        </p:txBody>
      </p:sp>
      <p:grpSp>
        <p:nvGrpSpPr>
          <p:cNvPr id="57" name="Group 56">
            <a:extLst>
              <a:ext uri="{FF2B5EF4-FFF2-40B4-BE49-F238E27FC236}">
                <a16:creationId xmlns:a16="http://schemas.microsoft.com/office/drawing/2014/main" id="{E6BEC6DE-2976-457D-BF01-ABF560B99638}"/>
              </a:ext>
            </a:extLst>
          </p:cNvPr>
          <p:cNvGrpSpPr>
            <a:grpSpLocks/>
          </p:cNvGrpSpPr>
          <p:nvPr/>
        </p:nvGrpSpPr>
        <p:grpSpPr bwMode="auto">
          <a:xfrm>
            <a:off x="5229225" y="4740275"/>
            <a:ext cx="446088" cy="393700"/>
            <a:chOff x="2392240" y="3102882"/>
            <a:chExt cx="446250" cy="394509"/>
          </a:xfrm>
        </p:grpSpPr>
        <p:sp>
          <p:nvSpPr>
            <p:cNvPr id="32824" name="Freeform 183">
              <a:extLst>
                <a:ext uri="{FF2B5EF4-FFF2-40B4-BE49-F238E27FC236}">
                  <a16:creationId xmlns:a16="http://schemas.microsoft.com/office/drawing/2014/main" id="{688FAD6C-F479-4E67-AE38-EA08B8C75B52}"/>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25" name="TextBox 58">
              <a:extLst>
                <a:ext uri="{FF2B5EF4-FFF2-40B4-BE49-F238E27FC236}">
                  <a16:creationId xmlns:a16="http://schemas.microsoft.com/office/drawing/2014/main" id="{6C25ED8E-860A-4DAA-B0F6-73D21814A175}"/>
                </a:ext>
              </a:extLst>
            </p:cNvPr>
            <p:cNvSpPr txBox="1">
              <a:spLocks noChangeArrowheads="1"/>
            </p:cNvSpPr>
            <p:nvPr/>
          </p:nvSpPr>
          <p:spPr bwMode="auto">
            <a:xfrm>
              <a:off x="2517568" y="3158837"/>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a:t>
              </a:r>
            </a:p>
          </p:txBody>
        </p:sp>
      </p:grpSp>
      <p:grpSp>
        <p:nvGrpSpPr>
          <p:cNvPr id="60" name="Group 59">
            <a:extLst>
              <a:ext uri="{FF2B5EF4-FFF2-40B4-BE49-F238E27FC236}">
                <a16:creationId xmlns:a16="http://schemas.microsoft.com/office/drawing/2014/main" id="{04D23C82-8F9B-4AD8-8AC6-F413D62CFE94}"/>
              </a:ext>
            </a:extLst>
          </p:cNvPr>
          <p:cNvGrpSpPr>
            <a:grpSpLocks/>
          </p:cNvGrpSpPr>
          <p:nvPr/>
        </p:nvGrpSpPr>
        <p:grpSpPr bwMode="auto">
          <a:xfrm>
            <a:off x="4911725" y="2686050"/>
            <a:ext cx="2692400" cy="339725"/>
            <a:chOff x="532410" y="3477490"/>
            <a:chExt cx="2691532" cy="338554"/>
          </a:xfrm>
        </p:grpSpPr>
        <p:cxnSp>
          <p:nvCxnSpPr>
            <p:cNvPr id="61" name="Straight Connector 60">
              <a:extLst>
                <a:ext uri="{FF2B5EF4-FFF2-40B4-BE49-F238E27FC236}">
                  <a16:creationId xmlns:a16="http://schemas.microsoft.com/office/drawing/2014/main" id="{7D2F36FD-8D40-4402-A103-90702D57DC8C}"/>
                </a:ext>
              </a:extLst>
            </p:cNvPr>
            <p:cNvCxnSpPr/>
            <p:nvPr/>
          </p:nvCxnSpPr>
          <p:spPr>
            <a:xfrm>
              <a:off x="925983" y="3668916"/>
              <a:ext cx="2297959" cy="474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2823" name="TextBox 61">
              <a:extLst>
                <a:ext uri="{FF2B5EF4-FFF2-40B4-BE49-F238E27FC236}">
                  <a16:creationId xmlns:a16="http://schemas.microsoft.com/office/drawing/2014/main" id="{8D1D3C50-7BD1-4D99-BBB0-5AFC7F33E186}"/>
                </a:ext>
              </a:extLst>
            </p:cNvPr>
            <p:cNvSpPr txBox="1">
              <a:spLocks noChangeArrowheads="1"/>
            </p:cNvSpPr>
            <p:nvPr/>
          </p:nvSpPr>
          <p:spPr bwMode="auto">
            <a:xfrm>
              <a:off x="532410" y="3477490"/>
              <a:ext cx="39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P</a:t>
              </a:r>
              <a:r>
                <a:rPr lang="en-US" altLang="en-US" sz="1600" baseline="-25000"/>
                <a:t>2</a:t>
              </a:r>
            </a:p>
          </p:txBody>
        </p:sp>
      </p:grpSp>
      <p:grpSp>
        <p:nvGrpSpPr>
          <p:cNvPr id="63" name="Group 62">
            <a:extLst>
              <a:ext uri="{FF2B5EF4-FFF2-40B4-BE49-F238E27FC236}">
                <a16:creationId xmlns:a16="http://schemas.microsoft.com/office/drawing/2014/main" id="{F08E6FE1-F720-4E03-B049-1BEB0613B4C4}"/>
              </a:ext>
            </a:extLst>
          </p:cNvPr>
          <p:cNvGrpSpPr>
            <a:grpSpLocks/>
          </p:cNvGrpSpPr>
          <p:nvPr/>
        </p:nvGrpSpPr>
        <p:grpSpPr bwMode="auto">
          <a:xfrm>
            <a:off x="7427913" y="2890838"/>
            <a:ext cx="420687" cy="2584450"/>
            <a:chOff x="6335486" y="2998431"/>
            <a:chExt cx="420308" cy="2583078"/>
          </a:xfrm>
        </p:grpSpPr>
        <p:cxnSp>
          <p:nvCxnSpPr>
            <p:cNvPr id="64" name="Straight Connector 63">
              <a:extLst>
                <a:ext uri="{FF2B5EF4-FFF2-40B4-BE49-F238E27FC236}">
                  <a16:creationId xmlns:a16="http://schemas.microsoft.com/office/drawing/2014/main" id="{39273A09-AA8E-4ABA-AF9E-F3D5E4B3F245}"/>
                </a:ext>
              </a:extLst>
            </p:cNvPr>
            <p:cNvCxnSpPr/>
            <p:nvPr/>
          </p:nvCxnSpPr>
          <p:spPr>
            <a:xfrm rot="16200000" flipH="1">
              <a:off x="5397704" y="4117025"/>
              <a:ext cx="2237187"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2821" name="TextBox 64">
              <a:extLst>
                <a:ext uri="{FF2B5EF4-FFF2-40B4-BE49-F238E27FC236}">
                  <a16:creationId xmlns:a16="http://schemas.microsoft.com/office/drawing/2014/main" id="{CADEC36E-C867-4E9A-927D-38A7117303B0}"/>
                </a:ext>
              </a:extLst>
            </p:cNvPr>
            <p:cNvSpPr txBox="1">
              <a:spLocks noChangeArrowheads="1"/>
            </p:cNvSpPr>
            <p:nvPr/>
          </p:nvSpPr>
          <p:spPr bwMode="auto">
            <a:xfrm>
              <a:off x="6335486" y="5242955"/>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2</a:t>
              </a:r>
            </a:p>
          </p:txBody>
        </p:sp>
      </p:grpSp>
      <p:sp>
        <p:nvSpPr>
          <p:cNvPr id="66" name="Rectangle 65">
            <a:extLst>
              <a:ext uri="{FF2B5EF4-FFF2-40B4-BE49-F238E27FC236}">
                <a16:creationId xmlns:a16="http://schemas.microsoft.com/office/drawing/2014/main" id="{06C62535-C966-4D2E-A8A6-B80096E5D1B6}"/>
              </a:ext>
            </a:extLst>
          </p:cNvPr>
          <p:cNvSpPr/>
          <p:nvPr/>
        </p:nvSpPr>
        <p:spPr>
          <a:xfrm>
            <a:off x="5334000" y="2889250"/>
            <a:ext cx="1419225" cy="647700"/>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67" name="Group 66">
            <a:extLst>
              <a:ext uri="{FF2B5EF4-FFF2-40B4-BE49-F238E27FC236}">
                <a16:creationId xmlns:a16="http://schemas.microsoft.com/office/drawing/2014/main" id="{B009FC46-DCE0-40F6-9DDB-923E05647218}"/>
              </a:ext>
            </a:extLst>
          </p:cNvPr>
          <p:cNvGrpSpPr>
            <a:grpSpLocks/>
          </p:cNvGrpSpPr>
          <p:nvPr/>
        </p:nvGrpSpPr>
        <p:grpSpPr bwMode="auto">
          <a:xfrm>
            <a:off x="5237163" y="3200400"/>
            <a:ext cx="422275" cy="425450"/>
            <a:chOff x="2392240" y="2814453"/>
            <a:chExt cx="422499" cy="424954"/>
          </a:xfrm>
        </p:grpSpPr>
        <p:sp>
          <p:nvSpPr>
            <p:cNvPr id="32818" name="Freeform 183">
              <a:extLst>
                <a:ext uri="{FF2B5EF4-FFF2-40B4-BE49-F238E27FC236}">
                  <a16:creationId xmlns:a16="http://schemas.microsoft.com/office/drawing/2014/main" id="{3E1DA9AD-D703-4021-ADDE-B1C53851F585}"/>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19" name="TextBox 68">
              <a:extLst>
                <a:ext uri="{FF2B5EF4-FFF2-40B4-BE49-F238E27FC236}">
                  <a16:creationId xmlns:a16="http://schemas.microsoft.com/office/drawing/2014/main" id="{4F8D150B-7ACA-49EE-BE16-856F7D514280}"/>
                </a:ext>
              </a:extLst>
            </p:cNvPr>
            <p:cNvSpPr txBox="1">
              <a:spLocks noChangeArrowheads="1"/>
            </p:cNvSpPr>
            <p:nvPr/>
          </p:nvSpPr>
          <p:spPr bwMode="auto">
            <a:xfrm>
              <a:off x="2493817" y="2814453"/>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a:t>
              </a:r>
            </a:p>
          </p:txBody>
        </p:sp>
      </p:grpSp>
      <p:grpSp>
        <p:nvGrpSpPr>
          <p:cNvPr id="70" name="Group 69">
            <a:extLst>
              <a:ext uri="{FF2B5EF4-FFF2-40B4-BE49-F238E27FC236}">
                <a16:creationId xmlns:a16="http://schemas.microsoft.com/office/drawing/2014/main" id="{B0733F8F-3D61-4F0C-BA78-66A3D6290A92}"/>
              </a:ext>
            </a:extLst>
          </p:cNvPr>
          <p:cNvGrpSpPr>
            <a:grpSpLocks/>
          </p:cNvGrpSpPr>
          <p:nvPr/>
        </p:nvGrpSpPr>
        <p:grpSpPr bwMode="auto">
          <a:xfrm>
            <a:off x="5249863" y="2514600"/>
            <a:ext cx="457200" cy="460375"/>
            <a:chOff x="2392240" y="2778828"/>
            <a:chExt cx="457469" cy="460579"/>
          </a:xfrm>
        </p:grpSpPr>
        <p:sp>
          <p:nvSpPr>
            <p:cNvPr id="32816" name="Freeform 183">
              <a:extLst>
                <a:ext uri="{FF2B5EF4-FFF2-40B4-BE49-F238E27FC236}">
                  <a16:creationId xmlns:a16="http://schemas.microsoft.com/office/drawing/2014/main" id="{001C3C1C-84EF-4E9F-B7DD-2F4C7B46A76B}"/>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17" name="TextBox 71">
              <a:extLst>
                <a:ext uri="{FF2B5EF4-FFF2-40B4-BE49-F238E27FC236}">
                  <a16:creationId xmlns:a16="http://schemas.microsoft.com/office/drawing/2014/main" id="{3F003961-6124-42CC-A462-55BDF467F040}"/>
                </a:ext>
              </a:extLst>
            </p:cNvPr>
            <p:cNvSpPr txBox="1">
              <a:spLocks noChangeArrowheads="1"/>
            </p:cNvSpPr>
            <p:nvPr/>
          </p:nvSpPr>
          <p:spPr bwMode="auto">
            <a:xfrm>
              <a:off x="2517567" y="2778828"/>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
              </a:r>
            </a:p>
          </p:txBody>
        </p:sp>
      </p:grpSp>
      <p:sp>
        <p:nvSpPr>
          <p:cNvPr id="73" name="Isosceles Triangle 72">
            <a:extLst>
              <a:ext uri="{FF2B5EF4-FFF2-40B4-BE49-F238E27FC236}">
                <a16:creationId xmlns:a16="http://schemas.microsoft.com/office/drawing/2014/main" id="{43BE2003-1ECF-470A-BC89-FC3E61DBC005}"/>
              </a:ext>
            </a:extLst>
          </p:cNvPr>
          <p:cNvSpPr/>
          <p:nvPr/>
        </p:nvSpPr>
        <p:spPr>
          <a:xfrm rot="5400000">
            <a:off x="6855619" y="2829719"/>
            <a:ext cx="622300" cy="744538"/>
          </a:xfrm>
          <a:prstGeom prst="triangle">
            <a:avLst>
              <a:gd name="adj" fmla="val 0"/>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74" name="Group 73">
            <a:extLst>
              <a:ext uri="{FF2B5EF4-FFF2-40B4-BE49-F238E27FC236}">
                <a16:creationId xmlns:a16="http://schemas.microsoft.com/office/drawing/2014/main" id="{B66ACDC9-CF7D-4E4E-A473-01CD6773044F}"/>
              </a:ext>
            </a:extLst>
          </p:cNvPr>
          <p:cNvGrpSpPr>
            <a:grpSpLocks/>
          </p:cNvGrpSpPr>
          <p:nvPr/>
        </p:nvGrpSpPr>
        <p:grpSpPr bwMode="auto">
          <a:xfrm>
            <a:off x="6715125" y="3470275"/>
            <a:ext cx="434975" cy="339725"/>
            <a:chOff x="2392240" y="3087577"/>
            <a:chExt cx="433719" cy="338554"/>
          </a:xfrm>
        </p:grpSpPr>
        <p:sp>
          <p:nvSpPr>
            <p:cNvPr id="32814" name="Freeform 183">
              <a:extLst>
                <a:ext uri="{FF2B5EF4-FFF2-40B4-BE49-F238E27FC236}">
                  <a16:creationId xmlns:a16="http://schemas.microsoft.com/office/drawing/2014/main" id="{DACB7696-B4A8-4EA2-A3B3-E75AEAF112D9}"/>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15" name="TextBox 75">
              <a:extLst>
                <a:ext uri="{FF2B5EF4-FFF2-40B4-BE49-F238E27FC236}">
                  <a16:creationId xmlns:a16="http://schemas.microsoft.com/office/drawing/2014/main" id="{711D3573-9E5C-44A0-B760-A7485C4B408E}"/>
                </a:ext>
              </a:extLst>
            </p:cNvPr>
            <p:cNvSpPr txBox="1">
              <a:spLocks noChangeArrowheads="1"/>
            </p:cNvSpPr>
            <p:nvPr/>
          </p:nvSpPr>
          <p:spPr bwMode="auto">
            <a:xfrm>
              <a:off x="2493817" y="3087577"/>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a:t>
              </a:r>
            </a:p>
          </p:txBody>
        </p:sp>
      </p:grpSp>
      <p:grpSp>
        <p:nvGrpSpPr>
          <p:cNvPr id="77" name="Group 76">
            <a:extLst>
              <a:ext uri="{FF2B5EF4-FFF2-40B4-BE49-F238E27FC236}">
                <a16:creationId xmlns:a16="http://schemas.microsoft.com/office/drawing/2014/main" id="{6EDAB2D5-F36A-4B69-B17D-1FE34579FAB5}"/>
              </a:ext>
            </a:extLst>
          </p:cNvPr>
          <p:cNvGrpSpPr>
            <a:grpSpLocks/>
          </p:cNvGrpSpPr>
          <p:nvPr/>
        </p:nvGrpSpPr>
        <p:grpSpPr bwMode="auto">
          <a:xfrm>
            <a:off x="6692900" y="2460625"/>
            <a:ext cx="428625" cy="492125"/>
            <a:chOff x="2392240" y="2746466"/>
            <a:chExt cx="429027" cy="492941"/>
          </a:xfrm>
        </p:grpSpPr>
        <p:sp>
          <p:nvSpPr>
            <p:cNvPr id="32812" name="Freeform 183">
              <a:extLst>
                <a:ext uri="{FF2B5EF4-FFF2-40B4-BE49-F238E27FC236}">
                  <a16:creationId xmlns:a16="http://schemas.microsoft.com/office/drawing/2014/main" id="{C11CAD4A-D668-4096-8A98-95FA9C6F851B}"/>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13" name="TextBox 78">
              <a:extLst>
                <a:ext uri="{FF2B5EF4-FFF2-40B4-BE49-F238E27FC236}">
                  <a16:creationId xmlns:a16="http://schemas.microsoft.com/office/drawing/2014/main" id="{04A7743B-12C5-4135-BF2A-D5749079E8AF}"/>
                </a:ext>
              </a:extLst>
            </p:cNvPr>
            <p:cNvSpPr txBox="1">
              <a:spLocks noChangeArrowheads="1"/>
            </p:cNvSpPr>
            <p:nvPr/>
          </p:nvSpPr>
          <p:spPr bwMode="auto">
            <a:xfrm>
              <a:off x="2500345" y="2746466"/>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E</a:t>
              </a:r>
            </a:p>
          </p:txBody>
        </p:sp>
      </p:grpSp>
      <p:grpSp>
        <p:nvGrpSpPr>
          <p:cNvPr id="80" name="Group 79">
            <a:extLst>
              <a:ext uri="{FF2B5EF4-FFF2-40B4-BE49-F238E27FC236}">
                <a16:creationId xmlns:a16="http://schemas.microsoft.com/office/drawing/2014/main" id="{312BCA6D-031A-4B13-A017-635288FC9CCE}"/>
              </a:ext>
            </a:extLst>
          </p:cNvPr>
          <p:cNvGrpSpPr>
            <a:grpSpLocks/>
          </p:cNvGrpSpPr>
          <p:nvPr/>
        </p:nvGrpSpPr>
        <p:grpSpPr bwMode="auto">
          <a:xfrm>
            <a:off x="7472363" y="2416175"/>
            <a:ext cx="309562" cy="515938"/>
            <a:chOff x="2328049" y="2722367"/>
            <a:chExt cx="309700" cy="517040"/>
          </a:xfrm>
        </p:grpSpPr>
        <p:sp>
          <p:nvSpPr>
            <p:cNvPr id="32810" name="Freeform 183">
              <a:extLst>
                <a:ext uri="{FF2B5EF4-FFF2-40B4-BE49-F238E27FC236}">
                  <a16:creationId xmlns:a16="http://schemas.microsoft.com/office/drawing/2014/main" id="{BF8D18DF-979F-4DD0-9D93-A88241B1F971}"/>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811" name="TextBox 81">
              <a:extLst>
                <a:ext uri="{FF2B5EF4-FFF2-40B4-BE49-F238E27FC236}">
                  <a16:creationId xmlns:a16="http://schemas.microsoft.com/office/drawing/2014/main" id="{52697653-CB53-46B6-8D30-91932AD78145}"/>
                </a:ext>
              </a:extLst>
            </p:cNvPr>
            <p:cNvSpPr txBox="1">
              <a:spLocks noChangeArrowheads="1"/>
            </p:cNvSpPr>
            <p:nvPr/>
          </p:nvSpPr>
          <p:spPr bwMode="auto">
            <a:xfrm>
              <a:off x="2328049" y="2722367"/>
              <a:ext cx="309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F</a:t>
              </a:r>
            </a:p>
          </p:txBody>
        </p:sp>
      </p:grpSp>
      <p:grpSp>
        <p:nvGrpSpPr>
          <p:cNvPr id="83" name="Group 82">
            <a:extLst>
              <a:ext uri="{FF2B5EF4-FFF2-40B4-BE49-F238E27FC236}">
                <a16:creationId xmlns:a16="http://schemas.microsoft.com/office/drawing/2014/main" id="{F2A1B267-03FA-4A10-9A35-F5317A90B565}"/>
              </a:ext>
            </a:extLst>
          </p:cNvPr>
          <p:cNvGrpSpPr>
            <a:grpSpLocks/>
          </p:cNvGrpSpPr>
          <p:nvPr/>
        </p:nvGrpSpPr>
        <p:grpSpPr bwMode="auto">
          <a:xfrm>
            <a:off x="5370513" y="1820863"/>
            <a:ext cx="1570037" cy="1281112"/>
            <a:chOff x="6128649" y="2669592"/>
            <a:chExt cx="1569978" cy="1280027"/>
          </a:xfrm>
        </p:grpSpPr>
        <p:sp>
          <p:nvSpPr>
            <p:cNvPr id="32808" name="TextBox 104">
              <a:extLst>
                <a:ext uri="{FF2B5EF4-FFF2-40B4-BE49-F238E27FC236}">
                  <a16:creationId xmlns:a16="http://schemas.microsoft.com/office/drawing/2014/main" id="{9042F6AF-BF65-4AFB-99D9-D06029FDA1E7}"/>
                </a:ext>
              </a:extLst>
            </p:cNvPr>
            <p:cNvSpPr txBox="1">
              <a:spLocks noChangeArrowheads="1"/>
            </p:cNvSpPr>
            <p:nvPr/>
          </p:nvSpPr>
          <p:spPr bwMode="auto">
            <a:xfrm>
              <a:off x="6128649" y="2669592"/>
              <a:ext cx="1569978" cy="646331"/>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solidFill>
                    <a:srgbClr val="800080"/>
                  </a:solidFill>
                </a:rPr>
                <a:t>Additional producer surplus to initial producers</a:t>
              </a:r>
            </a:p>
          </p:txBody>
        </p:sp>
        <p:cxnSp>
          <p:nvCxnSpPr>
            <p:cNvPr id="85" name="Straight Connector 84">
              <a:extLst>
                <a:ext uri="{FF2B5EF4-FFF2-40B4-BE49-F238E27FC236}">
                  <a16:creationId xmlns:a16="http://schemas.microsoft.com/office/drawing/2014/main" id="{BF0CD9E3-DCB8-4EAA-8E06-A550550179CD}"/>
                </a:ext>
              </a:extLst>
            </p:cNvPr>
            <p:cNvCxnSpPr/>
            <p:nvPr/>
          </p:nvCxnSpPr>
          <p:spPr>
            <a:xfrm rot="16200000" flipV="1">
              <a:off x="6353548" y="3550655"/>
              <a:ext cx="683633" cy="114296"/>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0E1FBD64-94D8-4AB3-9527-3804EBAB8512}"/>
              </a:ext>
            </a:extLst>
          </p:cNvPr>
          <p:cNvGrpSpPr>
            <a:grpSpLocks/>
          </p:cNvGrpSpPr>
          <p:nvPr/>
        </p:nvGrpSpPr>
        <p:grpSpPr bwMode="auto">
          <a:xfrm>
            <a:off x="6978650" y="3133725"/>
            <a:ext cx="2165350" cy="471488"/>
            <a:chOff x="5751799" y="2602304"/>
            <a:chExt cx="2165684" cy="472117"/>
          </a:xfrm>
        </p:grpSpPr>
        <p:sp>
          <p:nvSpPr>
            <p:cNvPr id="32806" name="TextBox 104">
              <a:extLst>
                <a:ext uri="{FF2B5EF4-FFF2-40B4-BE49-F238E27FC236}">
                  <a16:creationId xmlns:a16="http://schemas.microsoft.com/office/drawing/2014/main" id="{8F1080BA-09DF-47EB-ACB0-54C7FE746B30}"/>
                </a:ext>
              </a:extLst>
            </p:cNvPr>
            <p:cNvSpPr txBox="1">
              <a:spLocks noChangeArrowheads="1"/>
            </p:cNvSpPr>
            <p:nvPr/>
          </p:nvSpPr>
          <p:spPr bwMode="auto">
            <a:xfrm>
              <a:off x="6347505" y="2612756"/>
              <a:ext cx="1569978" cy="461665"/>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800080"/>
                  </a:solidFill>
                </a:rPr>
                <a:t>Producer surplus</a:t>
              </a:r>
            </a:p>
            <a:p>
              <a:pPr eaLnBrk="1" hangingPunct="1"/>
              <a:r>
                <a:rPr lang="en-US" altLang="en-US" sz="1200">
                  <a:solidFill>
                    <a:srgbClr val="800080"/>
                  </a:solidFill>
                </a:rPr>
                <a:t>to new producers</a:t>
              </a:r>
            </a:p>
          </p:txBody>
        </p:sp>
        <p:cxnSp>
          <p:nvCxnSpPr>
            <p:cNvPr id="88" name="Straight Connector 87">
              <a:extLst>
                <a:ext uri="{FF2B5EF4-FFF2-40B4-BE49-F238E27FC236}">
                  <a16:creationId xmlns:a16="http://schemas.microsoft.com/office/drawing/2014/main" id="{25585297-4ECE-4DB3-B54B-9BE3CB0BE94F}"/>
                </a:ext>
              </a:extLst>
            </p:cNvPr>
            <p:cNvCxnSpPr/>
            <p:nvPr/>
          </p:nvCxnSpPr>
          <p:spPr>
            <a:xfrm>
              <a:off x="5751799" y="2602304"/>
              <a:ext cx="590641" cy="346537"/>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cxnSp>
        <p:nvCxnSpPr>
          <p:cNvPr id="100" name="Straight Connector 99">
            <a:extLst>
              <a:ext uri="{FF2B5EF4-FFF2-40B4-BE49-F238E27FC236}">
                <a16:creationId xmlns:a16="http://schemas.microsoft.com/office/drawing/2014/main" id="{AAD3B927-BD86-4C5E-AEE5-F79DCBBC43BC}"/>
              </a:ext>
            </a:extLst>
          </p:cNvPr>
          <p:cNvCxnSpPr/>
          <p:nvPr/>
        </p:nvCxnSpPr>
        <p:spPr>
          <a:xfrm rot="5400000">
            <a:off x="6421437" y="3211513"/>
            <a:ext cx="696913"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par>
                                <p:cTn id="12" presetID="22" presetClass="entr" presetSubtype="4"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par>
                          <p:cTn id="15" fill="hold" nodeType="afterGroup">
                            <p:stCondLst>
                              <p:cond delay="1000"/>
                            </p:stCondLst>
                            <p:childTnLst>
                              <p:par>
                                <p:cTn id="16" presetID="22" presetClass="entr" presetSubtype="8"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1000"/>
                                        <p:tgtEl>
                                          <p:spTgt spid="17"/>
                                        </p:tgtEl>
                                      </p:cBhvr>
                                    </p:animEffect>
                                  </p:childTnLst>
                                </p:cTn>
                              </p:par>
                            </p:childTnLst>
                          </p:cTn>
                        </p:par>
                        <p:par>
                          <p:cTn id="19" fill="hold" nodeType="afterGroup">
                            <p:stCondLst>
                              <p:cond delay="2000"/>
                            </p:stCondLst>
                            <p:childTnLst>
                              <p:par>
                                <p:cTn id="20" presetID="22" presetClass="entr" presetSubtype="8"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par>
                          <p:cTn id="23" fill="hold" nodeType="afterGroup">
                            <p:stCondLst>
                              <p:cond delay="2500"/>
                            </p:stCondLst>
                            <p:childTnLst>
                              <p:par>
                                <p:cTn id="24" presetID="22" presetClass="entr" presetSubtype="1" fill="hold"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wipe(up)">
                                      <p:cBhvr>
                                        <p:cTn id="26" dur="500"/>
                                        <p:tgtEl>
                                          <p:spTgt spid="23"/>
                                        </p:tgtEl>
                                      </p:cBhvr>
                                    </p:animEffect>
                                  </p:childTnLst>
                                </p:cTn>
                              </p:par>
                            </p:childTnLst>
                          </p:cTn>
                        </p:par>
                        <p:par>
                          <p:cTn id="27" fill="hold" nodeType="afterGroup">
                            <p:stCondLst>
                              <p:cond delay="3000"/>
                            </p:stCondLst>
                            <p:childTnLst>
                              <p:par>
                                <p:cTn id="28" presetID="22" presetClass="entr" presetSubtype="8" fill="hold" nodeType="after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wipe(left)">
                                      <p:cBhvr>
                                        <p:cTn id="30" dur="500"/>
                                        <p:tgtEl>
                                          <p:spTgt spid="34"/>
                                        </p:tgtEl>
                                      </p:cBhvr>
                                    </p:animEffect>
                                  </p:childTnLst>
                                </p:cTn>
                              </p:par>
                            </p:childTnLst>
                          </p:cTn>
                        </p:par>
                        <p:par>
                          <p:cTn id="31" fill="hold" nodeType="afterGroup">
                            <p:stCondLst>
                              <p:cond delay="3500"/>
                            </p:stCondLst>
                            <p:childTnLst>
                              <p:par>
                                <p:cTn id="32" presetID="22" presetClass="entr" presetSubtype="8" fill="hold"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left)">
                                      <p:cBhvr>
                                        <p:cTn id="34" dur="500"/>
                                        <p:tgtEl>
                                          <p:spTgt spid="28"/>
                                        </p:tgtEl>
                                      </p:cBhvr>
                                    </p:animEffect>
                                  </p:childTnLst>
                                </p:cTn>
                              </p:par>
                            </p:childTnLst>
                          </p:cTn>
                        </p:par>
                        <p:par>
                          <p:cTn id="35" fill="hold" nodeType="afterGroup">
                            <p:stCondLst>
                              <p:cond delay="4000"/>
                            </p:stCondLst>
                            <p:childTnLst>
                              <p:par>
                                <p:cTn id="36" presetID="22" presetClass="entr" presetSubtype="8" fill="hold"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500"/>
                                        <p:tgtEl>
                                          <p:spTgt spid="31"/>
                                        </p:tgtEl>
                                      </p:cBhvr>
                                    </p:animEffect>
                                  </p:childTnLst>
                                </p:cTn>
                              </p:par>
                            </p:childTnLst>
                          </p:cTn>
                        </p:par>
                        <p:par>
                          <p:cTn id="39" fill="hold" nodeType="afterGroup">
                            <p:stCondLst>
                              <p:cond delay="4500"/>
                            </p:stCondLst>
                            <p:childTnLst>
                              <p:par>
                                <p:cTn id="40" presetID="22" presetClass="entr" presetSubtype="8"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1000"/>
                                        <p:tgtEl>
                                          <p:spTgt spid="26"/>
                                        </p:tgtEl>
                                      </p:cBhvr>
                                    </p:animEffect>
                                  </p:childTnLst>
                                </p:cTn>
                              </p:par>
                            </p:childTnLst>
                          </p:cTn>
                        </p:par>
                        <p:par>
                          <p:cTn id="43" fill="hold" nodeType="afterGroup">
                            <p:stCondLst>
                              <p:cond delay="5500"/>
                            </p:stCondLst>
                            <p:childTnLst>
                              <p:par>
                                <p:cTn id="44" presetID="22" presetClass="entr" presetSubtype="8" fill="hold" grpId="0" nodeType="after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left)">
                                      <p:cBhvr>
                                        <p:cTn id="46" dur="1000"/>
                                        <p:tgtEl>
                                          <p:spTgt spid="27"/>
                                        </p:tgtEl>
                                      </p:cBhvr>
                                    </p:animEffect>
                                  </p:childTnLst>
                                </p:cTn>
                              </p:par>
                            </p:childTnLst>
                          </p:cTn>
                        </p:par>
                        <p:par>
                          <p:cTn id="47" fill="hold" nodeType="afterGroup">
                            <p:stCondLst>
                              <p:cond delay="6500"/>
                            </p:stCondLst>
                            <p:childTnLst>
                              <p:par>
                                <p:cTn id="48" presetID="22" presetClass="entr" presetSubtype="8"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par>
                          <p:cTn id="51" fill="hold" nodeType="afterGroup">
                            <p:stCondLst>
                              <p:cond delay="7000"/>
                            </p:stCondLst>
                            <p:childTnLst>
                              <p:par>
                                <p:cTn id="52" presetID="22" presetClass="entr" presetSubtype="8" fill="hold" nodeType="after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wipe(left)">
                                      <p:cBhvr>
                                        <p:cTn id="54" dur="500"/>
                                        <p:tgtEl>
                                          <p:spTgt spid="42"/>
                                        </p:tgtEl>
                                      </p:cBhvr>
                                    </p:animEffect>
                                  </p:childTnLst>
                                </p:cTn>
                              </p:par>
                              <p:par>
                                <p:cTn id="55" presetID="22" presetClass="entr" presetSubtype="4"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down)">
                                      <p:cBhvr>
                                        <p:cTn id="57" dur="500"/>
                                        <p:tgtEl>
                                          <p:spTgt spid="37"/>
                                        </p:tgtEl>
                                      </p:cBhvr>
                                    </p:animEffect>
                                  </p:childTnLst>
                                </p:cTn>
                              </p:par>
                            </p:childTnLst>
                          </p:cTn>
                        </p:par>
                        <p:par>
                          <p:cTn id="58" fill="hold" nodeType="afterGroup">
                            <p:stCondLst>
                              <p:cond delay="7500"/>
                            </p:stCondLst>
                            <p:childTnLst>
                              <p:par>
                                <p:cTn id="59" presetID="22" presetClass="entr" presetSubtype="8" fill="hold" nodeType="after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wipe(left)">
                                      <p:cBhvr>
                                        <p:cTn id="61" dur="1000"/>
                                        <p:tgtEl>
                                          <p:spTgt spid="46"/>
                                        </p:tgtEl>
                                      </p:cBhvr>
                                    </p:animEffect>
                                  </p:childTnLst>
                                </p:cTn>
                              </p:par>
                            </p:childTnLst>
                          </p:cTn>
                        </p:par>
                        <p:par>
                          <p:cTn id="62" fill="hold" nodeType="afterGroup">
                            <p:stCondLst>
                              <p:cond delay="8500"/>
                            </p:stCondLst>
                            <p:childTnLst>
                              <p:par>
                                <p:cTn id="63" presetID="22" presetClass="entr" presetSubtype="8" fill="hold" nodeType="after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wipe(left)">
                                      <p:cBhvr>
                                        <p:cTn id="65" dur="500"/>
                                        <p:tgtEl>
                                          <p:spTgt spid="49"/>
                                        </p:tgtEl>
                                      </p:cBhvr>
                                    </p:animEffect>
                                  </p:childTnLst>
                                </p:cTn>
                              </p:par>
                            </p:childTnLst>
                          </p:cTn>
                        </p:par>
                        <p:par>
                          <p:cTn id="66" fill="hold" nodeType="afterGroup">
                            <p:stCondLst>
                              <p:cond delay="9000"/>
                            </p:stCondLst>
                            <p:childTnLst>
                              <p:par>
                                <p:cTn id="67" presetID="22" presetClass="entr" presetSubtype="1" fill="hold" nodeType="after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wipe(up)">
                                      <p:cBhvr>
                                        <p:cTn id="69" dur="500"/>
                                        <p:tgtEl>
                                          <p:spTgt spid="52"/>
                                        </p:tgtEl>
                                      </p:cBhvr>
                                    </p:animEffect>
                                  </p:childTnLst>
                                </p:cTn>
                              </p:par>
                            </p:childTnLst>
                          </p:cTn>
                        </p:par>
                        <p:par>
                          <p:cTn id="70" fill="hold" nodeType="afterGroup">
                            <p:stCondLst>
                              <p:cond delay="9500"/>
                            </p:stCondLst>
                            <p:childTnLst>
                              <p:par>
                                <p:cTn id="71" presetID="22" presetClass="entr" presetSubtype="8"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wipe(left)">
                                      <p:cBhvr>
                                        <p:cTn id="73" dur="1000"/>
                                        <p:tgtEl>
                                          <p:spTgt spid="55"/>
                                        </p:tgtEl>
                                      </p:cBhvr>
                                    </p:animEffect>
                                  </p:childTnLst>
                                </p:cTn>
                              </p:par>
                            </p:childTnLst>
                          </p:cTn>
                        </p:par>
                        <p:par>
                          <p:cTn id="74" fill="hold" nodeType="afterGroup">
                            <p:stCondLst>
                              <p:cond delay="10500"/>
                            </p:stCondLst>
                            <p:childTnLst>
                              <p:par>
                                <p:cTn id="75" presetID="22" presetClass="entr" presetSubtype="8" fill="hold" grpId="0" nodeType="after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wipe(left)">
                                      <p:cBhvr>
                                        <p:cTn id="77" dur="1000"/>
                                        <p:tgtEl>
                                          <p:spTgt spid="56"/>
                                        </p:tgtEl>
                                      </p:cBhvr>
                                    </p:animEffect>
                                  </p:childTnLst>
                                </p:cTn>
                              </p:par>
                            </p:childTnLst>
                          </p:cTn>
                        </p:par>
                        <p:par>
                          <p:cTn id="78" fill="hold" nodeType="afterGroup">
                            <p:stCondLst>
                              <p:cond delay="11500"/>
                            </p:stCondLst>
                            <p:childTnLst>
                              <p:par>
                                <p:cTn id="79" presetID="22" presetClass="entr" presetSubtype="8" fill="hold" nodeType="afterEffect">
                                  <p:stCondLst>
                                    <p:cond delay="0"/>
                                  </p:stCondLst>
                                  <p:childTnLst>
                                    <p:set>
                                      <p:cBhvr>
                                        <p:cTn id="80" dur="1" fill="hold">
                                          <p:stCondLst>
                                            <p:cond delay="0"/>
                                          </p:stCondLst>
                                        </p:cTn>
                                        <p:tgtEl>
                                          <p:spTgt spid="57"/>
                                        </p:tgtEl>
                                        <p:attrNameLst>
                                          <p:attrName>style.visibility</p:attrName>
                                        </p:attrNameLst>
                                      </p:cBhvr>
                                      <p:to>
                                        <p:strVal val="visible"/>
                                      </p:to>
                                    </p:set>
                                    <p:animEffect transition="in" filter="wipe(left)">
                                      <p:cBhvr>
                                        <p:cTn id="81" dur="500"/>
                                        <p:tgtEl>
                                          <p:spTgt spid="57"/>
                                        </p:tgtEl>
                                      </p:cBhvr>
                                    </p:animEffect>
                                  </p:childTnLst>
                                </p:cTn>
                              </p:par>
                            </p:childTnLst>
                          </p:cTn>
                        </p:par>
                        <p:par>
                          <p:cTn id="82" fill="hold" nodeType="afterGroup">
                            <p:stCondLst>
                              <p:cond delay="12000"/>
                            </p:stCondLst>
                            <p:childTnLst>
                              <p:par>
                                <p:cTn id="83" presetID="22" presetClass="entr" presetSubtype="8" fill="hold" nodeType="afterEffect">
                                  <p:stCondLst>
                                    <p:cond delay="0"/>
                                  </p:stCondLst>
                                  <p:childTnLst>
                                    <p:set>
                                      <p:cBhvr>
                                        <p:cTn id="84" dur="1" fill="hold">
                                          <p:stCondLst>
                                            <p:cond delay="0"/>
                                          </p:stCondLst>
                                        </p:cTn>
                                        <p:tgtEl>
                                          <p:spTgt spid="67"/>
                                        </p:tgtEl>
                                        <p:attrNameLst>
                                          <p:attrName>style.visibility</p:attrName>
                                        </p:attrNameLst>
                                      </p:cBhvr>
                                      <p:to>
                                        <p:strVal val="visible"/>
                                      </p:to>
                                    </p:set>
                                    <p:animEffect transition="in" filter="wipe(left)">
                                      <p:cBhvr>
                                        <p:cTn id="85" dur="500"/>
                                        <p:tgtEl>
                                          <p:spTgt spid="67"/>
                                        </p:tgtEl>
                                      </p:cBhvr>
                                    </p:animEffect>
                                  </p:childTnLst>
                                </p:cTn>
                              </p:par>
                            </p:childTnLst>
                          </p:cTn>
                        </p:par>
                        <p:par>
                          <p:cTn id="86" fill="hold" nodeType="afterGroup">
                            <p:stCondLst>
                              <p:cond delay="12500"/>
                            </p:stCondLst>
                            <p:childTnLst>
                              <p:par>
                                <p:cTn id="87" presetID="22" presetClass="entr" presetSubtype="8" fill="hold" nodeType="afterEffect">
                                  <p:stCondLst>
                                    <p:cond delay="0"/>
                                  </p:stCondLst>
                                  <p:childTnLst>
                                    <p:set>
                                      <p:cBhvr>
                                        <p:cTn id="88" dur="1" fill="hold">
                                          <p:stCondLst>
                                            <p:cond delay="0"/>
                                          </p:stCondLst>
                                        </p:cTn>
                                        <p:tgtEl>
                                          <p:spTgt spid="74"/>
                                        </p:tgtEl>
                                        <p:attrNameLst>
                                          <p:attrName>style.visibility</p:attrName>
                                        </p:attrNameLst>
                                      </p:cBhvr>
                                      <p:to>
                                        <p:strVal val="visible"/>
                                      </p:to>
                                    </p:set>
                                    <p:animEffect transition="in" filter="wipe(left)">
                                      <p:cBhvr>
                                        <p:cTn id="89" dur="500"/>
                                        <p:tgtEl>
                                          <p:spTgt spid="74"/>
                                        </p:tgtEl>
                                      </p:cBhvr>
                                    </p:animEffect>
                                  </p:childTnLst>
                                </p:cTn>
                              </p:par>
                            </p:childTnLst>
                          </p:cTn>
                        </p:par>
                        <p:par>
                          <p:cTn id="90" fill="hold" nodeType="afterGroup">
                            <p:stCondLst>
                              <p:cond delay="13000"/>
                            </p:stCondLst>
                            <p:childTnLst>
                              <p:par>
                                <p:cTn id="91" presetID="22" presetClass="entr" presetSubtype="8" fill="hold" nodeType="after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wipe(left)">
                                      <p:cBhvr>
                                        <p:cTn id="93" dur="500"/>
                                        <p:tgtEl>
                                          <p:spTgt spid="60"/>
                                        </p:tgtEl>
                                      </p:cBhvr>
                                    </p:animEffect>
                                  </p:childTnLst>
                                </p:cTn>
                              </p:par>
                            </p:childTnLst>
                          </p:cTn>
                        </p:par>
                        <p:par>
                          <p:cTn id="94" fill="hold" nodeType="afterGroup">
                            <p:stCondLst>
                              <p:cond delay="13500"/>
                            </p:stCondLst>
                            <p:childTnLst>
                              <p:par>
                                <p:cTn id="95" presetID="22" presetClass="entr" presetSubtype="4" fill="hold" nodeType="afterEffect">
                                  <p:stCondLst>
                                    <p:cond delay="0"/>
                                  </p:stCondLst>
                                  <p:childTnLst>
                                    <p:set>
                                      <p:cBhvr>
                                        <p:cTn id="96" dur="1" fill="hold">
                                          <p:stCondLst>
                                            <p:cond delay="0"/>
                                          </p:stCondLst>
                                        </p:cTn>
                                        <p:tgtEl>
                                          <p:spTgt spid="100"/>
                                        </p:tgtEl>
                                        <p:attrNameLst>
                                          <p:attrName>style.visibility</p:attrName>
                                        </p:attrNameLst>
                                      </p:cBhvr>
                                      <p:to>
                                        <p:strVal val="visible"/>
                                      </p:to>
                                    </p:set>
                                    <p:animEffect transition="in" filter="wipe(down)">
                                      <p:cBhvr>
                                        <p:cTn id="97" dur="500"/>
                                        <p:tgtEl>
                                          <p:spTgt spid="100"/>
                                        </p:tgtEl>
                                      </p:cBhvr>
                                    </p:animEffect>
                                  </p:childTnLst>
                                </p:cTn>
                              </p:par>
                            </p:childTnLst>
                          </p:cTn>
                        </p:par>
                        <p:par>
                          <p:cTn id="98" fill="hold" nodeType="afterGroup">
                            <p:stCondLst>
                              <p:cond delay="14000"/>
                            </p:stCondLst>
                            <p:childTnLst>
                              <p:par>
                                <p:cTn id="99" presetID="22" presetClass="entr" presetSubtype="1" fill="hold" nodeType="afterEffect">
                                  <p:stCondLst>
                                    <p:cond delay="0"/>
                                  </p:stCondLst>
                                  <p:childTnLst>
                                    <p:set>
                                      <p:cBhvr>
                                        <p:cTn id="100" dur="1" fill="hold">
                                          <p:stCondLst>
                                            <p:cond delay="0"/>
                                          </p:stCondLst>
                                        </p:cTn>
                                        <p:tgtEl>
                                          <p:spTgt spid="63"/>
                                        </p:tgtEl>
                                        <p:attrNameLst>
                                          <p:attrName>style.visibility</p:attrName>
                                        </p:attrNameLst>
                                      </p:cBhvr>
                                      <p:to>
                                        <p:strVal val="visible"/>
                                      </p:to>
                                    </p:set>
                                    <p:animEffect transition="in" filter="wipe(up)">
                                      <p:cBhvr>
                                        <p:cTn id="101" dur="500"/>
                                        <p:tgtEl>
                                          <p:spTgt spid="63"/>
                                        </p:tgtEl>
                                      </p:cBhvr>
                                    </p:animEffect>
                                  </p:childTnLst>
                                </p:cTn>
                              </p:par>
                            </p:childTnLst>
                          </p:cTn>
                        </p:par>
                        <p:par>
                          <p:cTn id="102" fill="hold" nodeType="afterGroup">
                            <p:stCondLst>
                              <p:cond delay="14500"/>
                            </p:stCondLst>
                            <p:childTnLst>
                              <p:par>
                                <p:cTn id="103" presetID="22" presetClass="entr" presetSubtype="8" fill="hold" nodeType="afterEffect">
                                  <p:stCondLst>
                                    <p:cond delay="0"/>
                                  </p:stCondLst>
                                  <p:childTnLst>
                                    <p:set>
                                      <p:cBhvr>
                                        <p:cTn id="104" dur="1" fill="hold">
                                          <p:stCondLst>
                                            <p:cond delay="0"/>
                                          </p:stCondLst>
                                        </p:cTn>
                                        <p:tgtEl>
                                          <p:spTgt spid="70"/>
                                        </p:tgtEl>
                                        <p:attrNameLst>
                                          <p:attrName>style.visibility</p:attrName>
                                        </p:attrNameLst>
                                      </p:cBhvr>
                                      <p:to>
                                        <p:strVal val="visible"/>
                                      </p:to>
                                    </p:set>
                                    <p:animEffect transition="in" filter="wipe(left)">
                                      <p:cBhvr>
                                        <p:cTn id="105" dur="500"/>
                                        <p:tgtEl>
                                          <p:spTgt spid="70"/>
                                        </p:tgtEl>
                                      </p:cBhvr>
                                    </p:animEffect>
                                  </p:childTnLst>
                                </p:cTn>
                              </p:par>
                            </p:childTnLst>
                          </p:cTn>
                        </p:par>
                        <p:par>
                          <p:cTn id="106" fill="hold" nodeType="afterGroup">
                            <p:stCondLst>
                              <p:cond delay="15000"/>
                            </p:stCondLst>
                            <p:childTnLst>
                              <p:par>
                                <p:cTn id="107" presetID="22" presetClass="entr" presetSubtype="8" fill="hold" nodeType="afterEffect">
                                  <p:stCondLst>
                                    <p:cond delay="0"/>
                                  </p:stCondLst>
                                  <p:childTnLst>
                                    <p:set>
                                      <p:cBhvr>
                                        <p:cTn id="108" dur="1" fill="hold">
                                          <p:stCondLst>
                                            <p:cond delay="0"/>
                                          </p:stCondLst>
                                        </p:cTn>
                                        <p:tgtEl>
                                          <p:spTgt spid="77"/>
                                        </p:tgtEl>
                                        <p:attrNameLst>
                                          <p:attrName>style.visibility</p:attrName>
                                        </p:attrNameLst>
                                      </p:cBhvr>
                                      <p:to>
                                        <p:strVal val="visible"/>
                                      </p:to>
                                    </p:set>
                                    <p:animEffect transition="in" filter="wipe(left)">
                                      <p:cBhvr>
                                        <p:cTn id="109" dur="500"/>
                                        <p:tgtEl>
                                          <p:spTgt spid="77"/>
                                        </p:tgtEl>
                                      </p:cBhvr>
                                    </p:animEffect>
                                  </p:childTnLst>
                                </p:cTn>
                              </p:par>
                            </p:childTnLst>
                          </p:cTn>
                        </p:par>
                        <p:par>
                          <p:cTn id="110" fill="hold" nodeType="afterGroup">
                            <p:stCondLst>
                              <p:cond delay="15500"/>
                            </p:stCondLst>
                            <p:childTnLst>
                              <p:par>
                                <p:cTn id="111" presetID="22" presetClass="entr" presetSubtype="8" fill="hold" grpId="0" nodeType="afterEffect">
                                  <p:stCondLst>
                                    <p:cond delay="0"/>
                                  </p:stCondLst>
                                  <p:childTnLst>
                                    <p:set>
                                      <p:cBhvr>
                                        <p:cTn id="112" dur="1" fill="hold">
                                          <p:stCondLst>
                                            <p:cond delay="0"/>
                                          </p:stCondLst>
                                        </p:cTn>
                                        <p:tgtEl>
                                          <p:spTgt spid="66"/>
                                        </p:tgtEl>
                                        <p:attrNameLst>
                                          <p:attrName>style.visibility</p:attrName>
                                        </p:attrNameLst>
                                      </p:cBhvr>
                                      <p:to>
                                        <p:strVal val="visible"/>
                                      </p:to>
                                    </p:set>
                                    <p:animEffect transition="in" filter="wipe(left)">
                                      <p:cBhvr>
                                        <p:cTn id="113" dur="1000"/>
                                        <p:tgtEl>
                                          <p:spTgt spid="66"/>
                                        </p:tgtEl>
                                      </p:cBhvr>
                                    </p:animEffect>
                                  </p:childTnLst>
                                </p:cTn>
                              </p:par>
                            </p:childTnLst>
                          </p:cTn>
                        </p:par>
                        <p:par>
                          <p:cTn id="114" fill="hold" nodeType="afterGroup">
                            <p:stCondLst>
                              <p:cond delay="16500"/>
                            </p:stCondLst>
                            <p:childTnLst>
                              <p:par>
                                <p:cTn id="115" presetID="22" presetClass="entr" presetSubtype="8" fill="hold" nodeType="afterEffect">
                                  <p:stCondLst>
                                    <p:cond delay="0"/>
                                  </p:stCondLst>
                                  <p:childTnLst>
                                    <p:set>
                                      <p:cBhvr>
                                        <p:cTn id="116" dur="1" fill="hold">
                                          <p:stCondLst>
                                            <p:cond delay="0"/>
                                          </p:stCondLst>
                                        </p:cTn>
                                        <p:tgtEl>
                                          <p:spTgt spid="83"/>
                                        </p:tgtEl>
                                        <p:attrNameLst>
                                          <p:attrName>style.visibility</p:attrName>
                                        </p:attrNameLst>
                                      </p:cBhvr>
                                      <p:to>
                                        <p:strVal val="visible"/>
                                      </p:to>
                                    </p:set>
                                    <p:animEffect transition="in" filter="wipe(left)">
                                      <p:cBhvr>
                                        <p:cTn id="117" dur="1000"/>
                                        <p:tgtEl>
                                          <p:spTgt spid="83"/>
                                        </p:tgtEl>
                                      </p:cBhvr>
                                    </p:animEffect>
                                  </p:childTnLst>
                                </p:cTn>
                              </p:par>
                            </p:childTnLst>
                          </p:cTn>
                        </p:par>
                        <p:par>
                          <p:cTn id="118" fill="hold" nodeType="afterGroup">
                            <p:stCondLst>
                              <p:cond delay="17500"/>
                            </p:stCondLst>
                            <p:childTnLst>
                              <p:par>
                                <p:cTn id="119" presetID="22" presetClass="entr" presetSubtype="8" fill="hold" nodeType="afterEffect">
                                  <p:stCondLst>
                                    <p:cond delay="0"/>
                                  </p:stCondLst>
                                  <p:childTnLst>
                                    <p:set>
                                      <p:cBhvr>
                                        <p:cTn id="120" dur="1" fill="hold">
                                          <p:stCondLst>
                                            <p:cond delay="0"/>
                                          </p:stCondLst>
                                        </p:cTn>
                                        <p:tgtEl>
                                          <p:spTgt spid="80"/>
                                        </p:tgtEl>
                                        <p:attrNameLst>
                                          <p:attrName>style.visibility</p:attrName>
                                        </p:attrNameLst>
                                      </p:cBhvr>
                                      <p:to>
                                        <p:strVal val="visible"/>
                                      </p:to>
                                    </p:set>
                                    <p:animEffect transition="in" filter="wipe(left)">
                                      <p:cBhvr>
                                        <p:cTn id="121" dur="500"/>
                                        <p:tgtEl>
                                          <p:spTgt spid="80"/>
                                        </p:tgtEl>
                                      </p:cBhvr>
                                    </p:animEffect>
                                  </p:childTnLst>
                                </p:cTn>
                              </p:par>
                            </p:childTnLst>
                          </p:cTn>
                        </p:par>
                        <p:par>
                          <p:cTn id="122" fill="hold" nodeType="afterGroup">
                            <p:stCondLst>
                              <p:cond delay="18000"/>
                            </p:stCondLst>
                            <p:childTnLst>
                              <p:par>
                                <p:cTn id="123" presetID="22" presetClass="entr" presetSubtype="8" fill="hold" grpId="0" nodeType="afterEffect">
                                  <p:stCondLst>
                                    <p:cond delay="0"/>
                                  </p:stCondLst>
                                  <p:childTnLst>
                                    <p:set>
                                      <p:cBhvr>
                                        <p:cTn id="124" dur="1" fill="hold">
                                          <p:stCondLst>
                                            <p:cond delay="0"/>
                                          </p:stCondLst>
                                        </p:cTn>
                                        <p:tgtEl>
                                          <p:spTgt spid="73"/>
                                        </p:tgtEl>
                                        <p:attrNameLst>
                                          <p:attrName>style.visibility</p:attrName>
                                        </p:attrNameLst>
                                      </p:cBhvr>
                                      <p:to>
                                        <p:strVal val="visible"/>
                                      </p:to>
                                    </p:set>
                                    <p:animEffect transition="in" filter="wipe(left)">
                                      <p:cBhvr>
                                        <p:cTn id="125" dur="1000"/>
                                        <p:tgtEl>
                                          <p:spTgt spid="73"/>
                                        </p:tgtEl>
                                      </p:cBhvr>
                                    </p:animEffect>
                                  </p:childTnLst>
                                </p:cTn>
                              </p:par>
                            </p:childTnLst>
                          </p:cTn>
                        </p:par>
                        <p:par>
                          <p:cTn id="126" fill="hold" nodeType="afterGroup">
                            <p:stCondLst>
                              <p:cond delay="19000"/>
                            </p:stCondLst>
                            <p:childTnLst>
                              <p:par>
                                <p:cTn id="127" presetID="22" presetClass="entr" presetSubtype="8" fill="hold" nodeType="afterEffect">
                                  <p:stCondLst>
                                    <p:cond delay="0"/>
                                  </p:stCondLst>
                                  <p:childTnLst>
                                    <p:set>
                                      <p:cBhvr>
                                        <p:cTn id="128" dur="1" fill="hold">
                                          <p:stCondLst>
                                            <p:cond delay="0"/>
                                          </p:stCondLst>
                                        </p:cTn>
                                        <p:tgtEl>
                                          <p:spTgt spid="86"/>
                                        </p:tgtEl>
                                        <p:attrNameLst>
                                          <p:attrName>style.visibility</p:attrName>
                                        </p:attrNameLst>
                                      </p:cBhvr>
                                      <p:to>
                                        <p:strVal val="visible"/>
                                      </p:to>
                                    </p:set>
                                    <p:animEffect transition="in" filter="wipe(left)">
                                      <p:cBhvr>
                                        <p:cTn id="129" dur="1000"/>
                                        <p:tgtEl>
                                          <p:spTgt spid="86"/>
                                        </p:tgtEl>
                                      </p:cBhvr>
                                    </p:animEffect>
                                  </p:childTnLst>
                                </p:cTn>
                              </p:par>
                            </p:childTnLst>
                          </p:cTn>
                        </p:par>
                        <p:par>
                          <p:cTn id="130" fill="hold" nodeType="afterGroup">
                            <p:stCondLst>
                              <p:cond delay="20000"/>
                            </p:stCondLst>
                            <p:childTnLst>
                              <p:par>
                                <p:cTn id="131" presetID="22" presetClass="entr" presetSubtype="8" fill="hold" grpId="0" nodeType="afterEffect">
                                  <p:stCondLst>
                                    <p:cond delay="0"/>
                                  </p:stCondLst>
                                  <p:childTnLst>
                                    <p:set>
                                      <p:cBhvr>
                                        <p:cTn id="132" dur="1" fill="hold">
                                          <p:stCondLst>
                                            <p:cond delay="0"/>
                                          </p:stCondLst>
                                        </p:cTn>
                                        <p:tgtEl>
                                          <p:spTgt spid="10"/>
                                        </p:tgtEl>
                                        <p:attrNameLst>
                                          <p:attrName>style.visibility</p:attrName>
                                        </p:attrNameLst>
                                      </p:cBhvr>
                                      <p:to>
                                        <p:strVal val="visible"/>
                                      </p:to>
                                    </p:set>
                                    <p:animEffect transition="in" filter="wipe(left)">
                                      <p:cBhvr>
                                        <p:cTn id="1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P spid="26" grpId="0" animBg="1"/>
      <p:bldP spid="27" grpId="0"/>
      <p:bldP spid="55" grpId="0" animBg="1"/>
      <p:bldP spid="56" grpId="0"/>
      <p:bldP spid="66" grpId="0" animBg="1"/>
      <p:bldP spid="7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D32A024-2163-46DE-B663-904B2CFD0C6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a:t>
            </a:r>
          </a:p>
        </p:txBody>
      </p:sp>
      <p:sp>
        <p:nvSpPr>
          <p:cNvPr id="3" name="Content Placeholder 2">
            <a:extLst>
              <a:ext uri="{FF2B5EF4-FFF2-40B4-BE49-F238E27FC236}">
                <a16:creationId xmlns:a16="http://schemas.microsoft.com/office/drawing/2014/main" id="{E7B34A3C-F7DB-4AFA-BC6D-B076B21C88E4}"/>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The benevolent social planner</a:t>
            </a:r>
          </a:p>
          <a:p>
            <a:pPr lvl="1"/>
            <a:r>
              <a:rPr lang="en-US" altLang="en-US"/>
              <a:t>All-knowing, all-powerful, well-intentioned dictator</a:t>
            </a:r>
          </a:p>
          <a:p>
            <a:pPr lvl="1"/>
            <a:r>
              <a:rPr lang="en-US" altLang="en-US"/>
              <a:t>Wants to maximize the economic well-being of everyone in society</a:t>
            </a:r>
          </a:p>
          <a:p>
            <a:r>
              <a:rPr lang="en-US" altLang="en-US"/>
              <a:t>Economic well-being of a society</a:t>
            </a:r>
          </a:p>
          <a:p>
            <a:pPr lvl="1"/>
            <a:r>
              <a:rPr lang="en-US" altLang="en-US"/>
              <a:t>Total surplus = Sum of consumer and producer surplus</a:t>
            </a:r>
          </a:p>
        </p:txBody>
      </p:sp>
      <p:sp>
        <p:nvSpPr>
          <p:cNvPr id="33796" name="Slide Number Placeholder 3">
            <a:extLst>
              <a:ext uri="{FF2B5EF4-FFF2-40B4-BE49-F238E27FC236}">
                <a16:creationId xmlns:a16="http://schemas.microsoft.com/office/drawing/2014/main" id="{FCE843AA-F5AA-4AD7-8AAB-7DDFC16175C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ABEBA60-2DB4-4ED8-886B-4B9AAB7CE873}" type="slidenum">
              <a:rPr lang="en-US" altLang="en-US">
                <a:latin typeface="Calibri" panose="020F0502020204030204" pitchFamily="34" charset="0"/>
              </a:rPr>
              <a:pPr/>
              <a:t>21</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2731B1B-7C5E-4AF1-9099-78BB5EABE458}"/>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a:t>
            </a:r>
          </a:p>
        </p:txBody>
      </p:sp>
      <p:sp>
        <p:nvSpPr>
          <p:cNvPr id="3" name="Content Placeholder 2">
            <a:extLst>
              <a:ext uri="{FF2B5EF4-FFF2-40B4-BE49-F238E27FC236}">
                <a16:creationId xmlns:a16="http://schemas.microsoft.com/office/drawing/2014/main" id="{055C57C4-D709-4F37-A691-8764123E8FB5}"/>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The benevolent social planner</a:t>
            </a:r>
          </a:p>
          <a:p>
            <a:pPr lvl="1"/>
            <a:r>
              <a:rPr lang="en-US" altLang="en-US"/>
              <a:t>Total surplus = Consumer surplus + Producer surplus</a:t>
            </a:r>
          </a:p>
          <a:p>
            <a:pPr lvl="2"/>
            <a:r>
              <a:rPr lang="en-US" altLang="en-US"/>
              <a:t>Consumer surplus = Value to buyers – Amount paid by buyers</a:t>
            </a:r>
          </a:p>
          <a:p>
            <a:pPr lvl="2"/>
            <a:r>
              <a:rPr lang="en-US" altLang="en-US"/>
              <a:t>Producer surplus = Amount received by sellers – Cost to sellers</a:t>
            </a:r>
          </a:p>
          <a:p>
            <a:pPr lvl="2"/>
            <a:r>
              <a:rPr lang="en-US" altLang="en-US"/>
              <a:t>Amount paid by buyers = Amount received by sellers</a:t>
            </a:r>
          </a:p>
          <a:p>
            <a:pPr lvl="1"/>
            <a:r>
              <a:rPr lang="en-US" altLang="en-US"/>
              <a:t>Total surplus = Value to buyers – Cost to sellers</a:t>
            </a:r>
          </a:p>
        </p:txBody>
      </p:sp>
      <p:sp>
        <p:nvSpPr>
          <p:cNvPr id="34820" name="Slide Number Placeholder 3">
            <a:extLst>
              <a:ext uri="{FF2B5EF4-FFF2-40B4-BE49-F238E27FC236}">
                <a16:creationId xmlns:a16="http://schemas.microsoft.com/office/drawing/2014/main" id="{907A6EFA-7B01-4FA4-B8A5-29388D6A5D4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A40DF11-D968-49FD-AE84-CC05A293897D}" type="slidenum">
              <a:rPr lang="en-US" altLang="en-US">
                <a:latin typeface="Calibri" panose="020F0502020204030204" pitchFamily="34" charset="0"/>
              </a:rPr>
              <a:pPr/>
              <a:t>22</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4B6C7706-00A2-470A-A739-0DA3D6300D59}"/>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a:t>
            </a:r>
          </a:p>
        </p:txBody>
      </p:sp>
      <p:sp>
        <p:nvSpPr>
          <p:cNvPr id="3" name="Content Placeholder 2">
            <a:extLst>
              <a:ext uri="{FF2B5EF4-FFF2-40B4-BE49-F238E27FC236}">
                <a16:creationId xmlns:a16="http://schemas.microsoft.com/office/drawing/2014/main" id="{DD8C3DC9-BFAC-4017-948E-4DF228535307}"/>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Efficiency</a:t>
            </a:r>
          </a:p>
          <a:p>
            <a:pPr lvl="1"/>
            <a:r>
              <a:rPr lang="en-US" altLang="en-US"/>
              <a:t>Property of a resource allocation</a:t>
            </a:r>
          </a:p>
          <a:p>
            <a:pPr lvl="1"/>
            <a:r>
              <a:rPr lang="en-US" altLang="en-US"/>
              <a:t>Maximizing the total surplus</a:t>
            </a:r>
          </a:p>
          <a:p>
            <a:pPr lvl="2"/>
            <a:r>
              <a:rPr lang="en-US" altLang="en-US"/>
              <a:t>Received by all members of society</a:t>
            </a:r>
          </a:p>
          <a:p>
            <a:r>
              <a:rPr lang="en-US" altLang="en-US"/>
              <a:t>Equality</a:t>
            </a:r>
          </a:p>
          <a:p>
            <a:pPr lvl="1"/>
            <a:r>
              <a:rPr lang="en-US" altLang="en-US"/>
              <a:t>Property of distributing economic prosperity </a:t>
            </a:r>
          </a:p>
          <a:p>
            <a:pPr lvl="1"/>
            <a:r>
              <a:rPr lang="en-US" altLang="en-US"/>
              <a:t>Uniformly among the members of society</a:t>
            </a:r>
          </a:p>
        </p:txBody>
      </p:sp>
      <p:sp>
        <p:nvSpPr>
          <p:cNvPr id="35844" name="Slide Number Placeholder 3">
            <a:extLst>
              <a:ext uri="{FF2B5EF4-FFF2-40B4-BE49-F238E27FC236}">
                <a16:creationId xmlns:a16="http://schemas.microsoft.com/office/drawing/2014/main" id="{21B60A4C-3AAE-477A-85A1-6A43B1FE669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22C0BA4-F037-4D6A-87EF-7FF4AFEC6D7C}" type="slidenum">
              <a:rPr lang="en-US" altLang="en-US">
                <a:latin typeface="Calibri" panose="020F0502020204030204" pitchFamily="34" charset="0"/>
              </a:rPr>
              <a:pPr/>
              <a:t>23</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24F8FD7D-FBE5-41FF-A0E1-7D814C8FE154}"/>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a:t>
            </a:r>
          </a:p>
        </p:txBody>
      </p:sp>
      <p:sp>
        <p:nvSpPr>
          <p:cNvPr id="3" name="Content Placeholder 2">
            <a:extLst>
              <a:ext uri="{FF2B5EF4-FFF2-40B4-BE49-F238E27FC236}">
                <a16:creationId xmlns:a16="http://schemas.microsoft.com/office/drawing/2014/main" id="{2D3A1614-DC2B-461D-AE3F-6F2041516B89}"/>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Evaluating the market equilibrium</a:t>
            </a:r>
          </a:p>
          <a:p>
            <a:r>
              <a:rPr lang="en-US" altLang="en-US"/>
              <a:t>Market outcomes</a:t>
            </a:r>
          </a:p>
          <a:p>
            <a:pPr marL="971550" lvl="1" indent="-514350">
              <a:buFont typeface="Calibri" panose="020F0502020204030204" pitchFamily="34" charset="0"/>
              <a:buAutoNum type="arabicPeriod"/>
            </a:pPr>
            <a:r>
              <a:rPr lang="en-US" altLang="en-US"/>
              <a:t>Free markets allocate the supply of goods to the buyers who value them most highly</a:t>
            </a:r>
          </a:p>
          <a:p>
            <a:pPr marL="1371600" lvl="2" indent="-514350"/>
            <a:r>
              <a:rPr lang="en-US" altLang="en-US"/>
              <a:t>Measured by their willingness to pay</a:t>
            </a:r>
          </a:p>
          <a:p>
            <a:pPr marL="971550" lvl="1" indent="-514350">
              <a:buFont typeface="Calibri" panose="020F0502020204030204" pitchFamily="34" charset="0"/>
              <a:buAutoNum type="arabicPeriod"/>
            </a:pPr>
            <a:r>
              <a:rPr lang="en-US" altLang="en-US"/>
              <a:t>Free markets allocate the demand for goods to the sellers who can produce them at the least cost</a:t>
            </a:r>
          </a:p>
        </p:txBody>
      </p:sp>
      <p:sp>
        <p:nvSpPr>
          <p:cNvPr id="36868" name="Slide Number Placeholder 3">
            <a:extLst>
              <a:ext uri="{FF2B5EF4-FFF2-40B4-BE49-F238E27FC236}">
                <a16:creationId xmlns:a16="http://schemas.microsoft.com/office/drawing/2014/main" id="{2AB324BF-40DB-4A40-90FA-30D2AE17A18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2E741CA-CC92-43F8-9DC8-EB40BF069136}" type="slidenum">
              <a:rPr lang="en-US" altLang="en-US">
                <a:latin typeface="Calibri" panose="020F0502020204030204" pitchFamily="34" charset="0"/>
              </a:rPr>
              <a:pPr/>
              <a:t>24</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8D84D715-24FC-4494-879F-30B46D8918E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Consumer and producer surplus in the market equilibrium</a:t>
            </a:r>
          </a:p>
        </p:txBody>
      </p:sp>
      <p:sp>
        <p:nvSpPr>
          <p:cNvPr id="37891" name="Content Placeholder 2">
            <a:extLst>
              <a:ext uri="{FF2B5EF4-FFF2-40B4-BE49-F238E27FC236}">
                <a16:creationId xmlns:a16="http://schemas.microsoft.com/office/drawing/2014/main" id="{EF4B58CB-857C-4E86-82B2-149CEB4943F8}"/>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7</a:t>
            </a:r>
          </a:p>
        </p:txBody>
      </p:sp>
      <p:sp>
        <p:nvSpPr>
          <p:cNvPr id="37892" name="Slide Number Placeholder 3">
            <a:extLst>
              <a:ext uri="{FF2B5EF4-FFF2-40B4-BE49-F238E27FC236}">
                <a16:creationId xmlns:a16="http://schemas.microsoft.com/office/drawing/2014/main" id="{0F10AF2A-264B-453B-93F4-452D5C33F486}"/>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5F8758F-0AC8-457B-BC26-8DBAC9FE6B63}" type="slidenum">
              <a:rPr lang="en-US" altLang="en-US">
                <a:latin typeface="Calibri" panose="020F0502020204030204" pitchFamily="34" charset="0"/>
              </a:rPr>
              <a:pPr/>
              <a:t>25</a:t>
            </a:fld>
            <a:endParaRPr lang="en-US" altLang="en-US">
              <a:latin typeface="Calibri" panose="020F0502020204030204" pitchFamily="34" charset="0"/>
            </a:endParaRPr>
          </a:p>
        </p:txBody>
      </p:sp>
      <p:grpSp>
        <p:nvGrpSpPr>
          <p:cNvPr id="5" name="Group 4">
            <a:extLst>
              <a:ext uri="{FF2B5EF4-FFF2-40B4-BE49-F238E27FC236}">
                <a16:creationId xmlns:a16="http://schemas.microsoft.com/office/drawing/2014/main" id="{D2EE454A-40DB-407F-82B8-371644465BA6}"/>
              </a:ext>
            </a:extLst>
          </p:cNvPr>
          <p:cNvGrpSpPr>
            <a:grpSpLocks/>
          </p:cNvGrpSpPr>
          <p:nvPr/>
        </p:nvGrpSpPr>
        <p:grpSpPr bwMode="auto">
          <a:xfrm>
            <a:off x="1158875" y="1731963"/>
            <a:ext cx="5546725" cy="3536950"/>
            <a:chOff x="1158541" y="1731809"/>
            <a:chExt cx="5547059" cy="3536929"/>
          </a:xfrm>
        </p:grpSpPr>
        <p:sp>
          <p:nvSpPr>
            <p:cNvPr id="6" name="Rectangle 5">
              <a:extLst>
                <a:ext uri="{FF2B5EF4-FFF2-40B4-BE49-F238E27FC236}">
                  <a16:creationId xmlns:a16="http://schemas.microsoft.com/office/drawing/2014/main" id="{B2565E0F-277C-4FD9-87E4-6EB6BFEB53F7}"/>
                </a:ext>
              </a:extLst>
            </p:cNvPr>
            <p:cNvSpPr/>
            <p:nvPr/>
          </p:nvSpPr>
          <p:spPr>
            <a:xfrm>
              <a:off x="1828506" y="1839758"/>
              <a:ext cx="4877094" cy="34289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37931" name="Group 48">
              <a:extLst>
                <a:ext uri="{FF2B5EF4-FFF2-40B4-BE49-F238E27FC236}">
                  <a16:creationId xmlns:a16="http://schemas.microsoft.com/office/drawing/2014/main" id="{F00D90E5-1DF8-46FC-B476-DD1DFAE4E456}"/>
                </a:ext>
              </a:extLst>
            </p:cNvPr>
            <p:cNvGrpSpPr>
              <a:grpSpLocks/>
            </p:cNvGrpSpPr>
            <p:nvPr/>
          </p:nvGrpSpPr>
          <p:grpSpPr bwMode="auto">
            <a:xfrm>
              <a:off x="1158541" y="1731809"/>
              <a:ext cx="710451" cy="3525816"/>
              <a:chOff x="3901501" y="1275797"/>
              <a:chExt cx="710451" cy="3525596"/>
            </a:xfrm>
          </p:grpSpPr>
          <p:cxnSp>
            <p:nvCxnSpPr>
              <p:cNvPr id="8" name="Straight Connector 7">
                <a:extLst>
                  <a:ext uri="{FF2B5EF4-FFF2-40B4-BE49-F238E27FC236}">
                    <a16:creationId xmlns:a16="http://schemas.microsoft.com/office/drawing/2014/main" id="{02FDAD05-9877-4D85-9439-AC8289CB0CC9}"/>
                  </a:ext>
                </a:extLst>
              </p:cNvPr>
              <p:cNvCxnSpPr/>
              <p:nvPr/>
            </p:nvCxnSpPr>
            <p:spPr>
              <a:xfrm rot="5400000">
                <a:off x="2897563" y="3124314"/>
                <a:ext cx="3352571"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933" name="TextBox 56">
                <a:extLst>
                  <a:ext uri="{FF2B5EF4-FFF2-40B4-BE49-F238E27FC236}">
                    <a16:creationId xmlns:a16="http://schemas.microsoft.com/office/drawing/2014/main" id="{653C6F37-82CE-4838-A81D-07D9BA84BB7F}"/>
                  </a:ext>
                </a:extLst>
              </p:cNvPr>
              <p:cNvSpPr txBox="1">
                <a:spLocks noChangeArrowheads="1"/>
              </p:cNvSpPr>
              <p:nvPr/>
            </p:nvSpPr>
            <p:spPr bwMode="auto">
              <a:xfrm>
                <a:off x="3901501" y="1275797"/>
                <a:ext cx="710451" cy="369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Price</a:t>
                </a:r>
              </a:p>
            </p:txBody>
          </p:sp>
        </p:grpSp>
      </p:grpSp>
      <p:sp>
        <p:nvSpPr>
          <p:cNvPr id="22" name="TextBox 8">
            <a:extLst>
              <a:ext uri="{FF2B5EF4-FFF2-40B4-BE49-F238E27FC236}">
                <a16:creationId xmlns:a16="http://schemas.microsoft.com/office/drawing/2014/main" id="{56606533-BA78-4595-93CB-C56B413DC970}"/>
              </a:ext>
            </a:extLst>
          </p:cNvPr>
          <p:cNvSpPr txBox="1">
            <a:spLocks noChangeArrowheads="1"/>
          </p:cNvSpPr>
          <p:nvPr/>
        </p:nvSpPr>
        <p:spPr bwMode="auto">
          <a:xfrm>
            <a:off x="511175" y="5875338"/>
            <a:ext cx="77898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rgbClr val="800080"/>
                </a:solidFill>
              </a:rPr>
              <a:t>Total surplus—the sum of consumer and producer surplus—is the area between the supply and demand curves up to the equilibrium quantity</a:t>
            </a:r>
          </a:p>
        </p:txBody>
      </p:sp>
      <p:grpSp>
        <p:nvGrpSpPr>
          <p:cNvPr id="9" name="Group 8">
            <a:extLst>
              <a:ext uri="{FF2B5EF4-FFF2-40B4-BE49-F238E27FC236}">
                <a16:creationId xmlns:a16="http://schemas.microsoft.com/office/drawing/2014/main" id="{522D2E26-0075-4CD9-8BD9-CC4E315CCE86}"/>
              </a:ext>
            </a:extLst>
          </p:cNvPr>
          <p:cNvGrpSpPr>
            <a:grpSpLocks/>
          </p:cNvGrpSpPr>
          <p:nvPr/>
        </p:nvGrpSpPr>
        <p:grpSpPr bwMode="auto">
          <a:xfrm>
            <a:off x="1600200" y="5268913"/>
            <a:ext cx="5178425" cy="449262"/>
            <a:chOff x="4343400" y="4800498"/>
            <a:chExt cx="5178468" cy="448505"/>
          </a:xfrm>
        </p:grpSpPr>
        <p:cxnSp>
          <p:nvCxnSpPr>
            <p:cNvPr id="24" name="Straight Connector 23">
              <a:extLst>
                <a:ext uri="{FF2B5EF4-FFF2-40B4-BE49-F238E27FC236}">
                  <a16:creationId xmlns:a16="http://schemas.microsoft.com/office/drawing/2014/main" id="{CE2B19ED-7E33-4930-BB25-8AD131D793C9}"/>
                </a:ext>
              </a:extLst>
            </p:cNvPr>
            <p:cNvCxnSpPr/>
            <p:nvPr/>
          </p:nvCxnSpPr>
          <p:spPr>
            <a:xfrm>
              <a:off x="4572002" y="4800498"/>
              <a:ext cx="4876840" cy="15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928" name="TextBox 10">
              <a:extLst>
                <a:ext uri="{FF2B5EF4-FFF2-40B4-BE49-F238E27FC236}">
                  <a16:creationId xmlns:a16="http://schemas.microsoft.com/office/drawing/2014/main" id="{8BF185EA-51CC-4D42-9F37-1B6E1A135952}"/>
                </a:ext>
              </a:extLst>
            </p:cNvPr>
            <p:cNvSpPr txBox="1">
              <a:spLocks noChangeArrowheads="1"/>
            </p:cNvSpPr>
            <p:nvPr/>
          </p:nvSpPr>
          <p:spPr bwMode="auto">
            <a:xfrm>
              <a:off x="4343400" y="48006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sp>
          <p:nvSpPr>
            <p:cNvPr id="37929" name="TextBox 23">
              <a:extLst>
                <a:ext uri="{FF2B5EF4-FFF2-40B4-BE49-F238E27FC236}">
                  <a16:creationId xmlns:a16="http://schemas.microsoft.com/office/drawing/2014/main" id="{4C35BD91-8850-46E9-BCA7-63FDCD58DDF7}"/>
                </a:ext>
              </a:extLst>
            </p:cNvPr>
            <p:cNvSpPr txBox="1">
              <a:spLocks noChangeArrowheads="1"/>
            </p:cNvSpPr>
            <p:nvPr/>
          </p:nvSpPr>
          <p:spPr bwMode="auto">
            <a:xfrm>
              <a:off x="8477992" y="4879919"/>
              <a:ext cx="1043876" cy="36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Quantity</a:t>
              </a:r>
            </a:p>
          </p:txBody>
        </p:sp>
      </p:grpSp>
      <p:grpSp>
        <p:nvGrpSpPr>
          <p:cNvPr id="10" name="Group 77">
            <a:extLst>
              <a:ext uri="{FF2B5EF4-FFF2-40B4-BE49-F238E27FC236}">
                <a16:creationId xmlns:a16="http://schemas.microsoft.com/office/drawing/2014/main" id="{FF2DA5DE-1BB8-4984-AF09-B0EC705BED1E}"/>
              </a:ext>
            </a:extLst>
          </p:cNvPr>
          <p:cNvGrpSpPr>
            <a:grpSpLocks/>
          </p:cNvGrpSpPr>
          <p:nvPr/>
        </p:nvGrpSpPr>
        <p:grpSpPr bwMode="auto">
          <a:xfrm>
            <a:off x="3262313" y="3479800"/>
            <a:ext cx="1327150" cy="2441575"/>
            <a:chOff x="3262745" y="3480263"/>
            <a:chExt cx="1326004" cy="2441052"/>
          </a:xfrm>
        </p:grpSpPr>
        <p:cxnSp>
          <p:nvCxnSpPr>
            <p:cNvPr id="72" name="Straight Connector 71">
              <a:extLst>
                <a:ext uri="{FF2B5EF4-FFF2-40B4-BE49-F238E27FC236}">
                  <a16:creationId xmlns:a16="http://schemas.microsoft.com/office/drawing/2014/main" id="{0EC52D5B-E37F-49FC-B74F-D13C2ACA49EF}"/>
                </a:ext>
              </a:extLst>
            </p:cNvPr>
            <p:cNvCxnSpPr/>
            <p:nvPr/>
          </p:nvCxnSpPr>
          <p:spPr>
            <a:xfrm rot="5400000">
              <a:off x="3016308" y="4381770"/>
              <a:ext cx="1804601" cy="1587"/>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7926" name="TextBox 23">
              <a:extLst>
                <a:ext uri="{FF2B5EF4-FFF2-40B4-BE49-F238E27FC236}">
                  <a16:creationId xmlns:a16="http://schemas.microsoft.com/office/drawing/2014/main" id="{60046C26-1CA6-4BFF-AA96-6EC70AFD6734}"/>
                </a:ext>
              </a:extLst>
            </p:cNvPr>
            <p:cNvSpPr txBox="1">
              <a:spLocks noChangeArrowheads="1"/>
            </p:cNvSpPr>
            <p:nvPr/>
          </p:nvSpPr>
          <p:spPr bwMode="auto">
            <a:xfrm>
              <a:off x="3262745" y="5274984"/>
              <a:ext cx="132600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a:t>Equilibrium</a:t>
              </a:r>
            </a:p>
            <a:p>
              <a:pPr algn="ctr" eaLnBrk="1" hangingPunct="1"/>
              <a:r>
                <a:rPr lang="en-US" altLang="en-US"/>
                <a:t>quantity</a:t>
              </a:r>
            </a:p>
          </p:txBody>
        </p:sp>
      </p:grpSp>
      <p:sp>
        <p:nvSpPr>
          <p:cNvPr id="79" name="Isosceles Triangle 78">
            <a:extLst>
              <a:ext uri="{FF2B5EF4-FFF2-40B4-BE49-F238E27FC236}">
                <a16:creationId xmlns:a16="http://schemas.microsoft.com/office/drawing/2014/main" id="{DF398932-7141-4E5B-8BA4-0B6DA0624A72}"/>
              </a:ext>
            </a:extLst>
          </p:cNvPr>
          <p:cNvSpPr/>
          <p:nvPr/>
        </p:nvSpPr>
        <p:spPr>
          <a:xfrm>
            <a:off x="1860550" y="2374900"/>
            <a:ext cx="2011363" cy="1060450"/>
          </a:xfrm>
          <a:prstGeom prst="triangle">
            <a:avLst>
              <a:gd name="adj" fmla="val 0"/>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0" name="Isosceles Triangle 79">
            <a:extLst>
              <a:ext uri="{FF2B5EF4-FFF2-40B4-BE49-F238E27FC236}">
                <a16:creationId xmlns:a16="http://schemas.microsoft.com/office/drawing/2014/main" id="{71DFFE6D-CB6A-4EF3-95EF-1051EF00F46F}"/>
              </a:ext>
            </a:extLst>
          </p:cNvPr>
          <p:cNvSpPr/>
          <p:nvPr/>
        </p:nvSpPr>
        <p:spPr>
          <a:xfrm rot="10800000">
            <a:off x="1862138" y="3478213"/>
            <a:ext cx="2001837" cy="1387475"/>
          </a:xfrm>
          <a:prstGeom prst="triangle">
            <a:avLst>
              <a:gd name="adj" fmla="val 100000"/>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11" name="Group 75">
            <a:extLst>
              <a:ext uri="{FF2B5EF4-FFF2-40B4-BE49-F238E27FC236}">
                <a16:creationId xmlns:a16="http://schemas.microsoft.com/office/drawing/2014/main" id="{8A25864D-8384-4BD0-8A8B-3852F4373326}"/>
              </a:ext>
            </a:extLst>
          </p:cNvPr>
          <p:cNvGrpSpPr>
            <a:grpSpLocks/>
          </p:cNvGrpSpPr>
          <p:nvPr/>
        </p:nvGrpSpPr>
        <p:grpSpPr bwMode="auto">
          <a:xfrm>
            <a:off x="508000" y="3160713"/>
            <a:ext cx="3422650" cy="646112"/>
            <a:chOff x="507670" y="3161175"/>
            <a:chExt cx="3423062" cy="646331"/>
          </a:xfrm>
        </p:grpSpPr>
        <p:cxnSp>
          <p:nvCxnSpPr>
            <p:cNvPr id="74" name="Straight Connector 73">
              <a:extLst>
                <a:ext uri="{FF2B5EF4-FFF2-40B4-BE49-F238E27FC236}">
                  <a16:creationId xmlns:a16="http://schemas.microsoft.com/office/drawing/2014/main" id="{60103E86-2CE4-4390-BB9D-1F67D96D29BE}"/>
                </a:ext>
              </a:extLst>
            </p:cNvPr>
            <p:cNvCxnSpPr/>
            <p:nvPr/>
          </p:nvCxnSpPr>
          <p:spPr>
            <a:xfrm rot="10800000">
              <a:off x="1828629" y="3454962"/>
              <a:ext cx="2102103" cy="1589"/>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7924" name="TextBox 23">
              <a:extLst>
                <a:ext uri="{FF2B5EF4-FFF2-40B4-BE49-F238E27FC236}">
                  <a16:creationId xmlns:a16="http://schemas.microsoft.com/office/drawing/2014/main" id="{6A9AC43D-4C9A-40B7-A82B-99CCB5C3176A}"/>
                </a:ext>
              </a:extLst>
            </p:cNvPr>
            <p:cNvSpPr txBox="1">
              <a:spLocks noChangeArrowheads="1"/>
            </p:cNvSpPr>
            <p:nvPr/>
          </p:nvSpPr>
          <p:spPr bwMode="auto">
            <a:xfrm>
              <a:off x="507670" y="3161175"/>
              <a:ext cx="132600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a:t>Equilibrium</a:t>
              </a:r>
            </a:p>
            <a:p>
              <a:pPr algn="r" eaLnBrk="1" hangingPunct="1"/>
              <a:r>
                <a:rPr lang="en-US" altLang="en-US"/>
                <a:t>price</a:t>
              </a:r>
            </a:p>
          </p:txBody>
        </p:sp>
      </p:grpSp>
      <p:grpSp>
        <p:nvGrpSpPr>
          <p:cNvPr id="12" name="Group 69">
            <a:extLst>
              <a:ext uri="{FF2B5EF4-FFF2-40B4-BE49-F238E27FC236}">
                <a16:creationId xmlns:a16="http://schemas.microsoft.com/office/drawing/2014/main" id="{077FC289-6942-4279-B0CE-9A373E1B9E18}"/>
              </a:ext>
            </a:extLst>
          </p:cNvPr>
          <p:cNvGrpSpPr>
            <a:grpSpLocks/>
          </p:cNvGrpSpPr>
          <p:nvPr/>
        </p:nvGrpSpPr>
        <p:grpSpPr bwMode="auto">
          <a:xfrm>
            <a:off x="1839913" y="2363788"/>
            <a:ext cx="4692650" cy="2733675"/>
            <a:chOff x="1840675" y="2363190"/>
            <a:chExt cx="4692324" cy="2734860"/>
          </a:xfrm>
        </p:grpSpPr>
        <p:cxnSp>
          <p:nvCxnSpPr>
            <p:cNvPr id="66" name="Straight Connector 65">
              <a:extLst>
                <a:ext uri="{FF2B5EF4-FFF2-40B4-BE49-F238E27FC236}">
                  <a16:creationId xmlns:a16="http://schemas.microsoft.com/office/drawing/2014/main" id="{4D3A0ECF-37B9-4FBA-8644-ECE7F8EDD537}"/>
                </a:ext>
              </a:extLst>
            </p:cNvPr>
            <p:cNvCxnSpPr/>
            <p:nvPr/>
          </p:nvCxnSpPr>
          <p:spPr>
            <a:xfrm>
              <a:off x="1840675" y="2363190"/>
              <a:ext cx="4311350" cy="2280638"/>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37922" name="TextBox 23">
              <a:extLst>
                <a:ext uri="{FF2B5EF4-FFF2-40B4-BE49-F238E27FC236}">
                  <a16:creationId xmlns:a16="http://schemas.microsoft.com/office/drawing/2014/main" id="{2D455068-795E-43C5-8A5B-2E5757D6D216}"/>
                </a:ext>
              </a:extLst>
            </p:cNvPr>
            <p:cNvSpPr txBox="1">
              <a:spLocks noChangeArrowheads="1"/>
            </p:cNvSpPr>
            <p:nvPr/>
          </p:nvSpPr>
          <p:spPr bwMode="auto">
            <a:xfrm>
              <a:off x="5412179" y="4728718"/>
              <a:ext cx="11208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Demand </a:t>
              </a:r>
            </a:p>
          </p:txBody>
        </p:sp>
      </p:grpSp>
      <p:grpSp>
        <p:nvGrpSpPr>
          <p:cNvPr id="14" name="Group 67">
            <a:extLst>
              <a:ext uri="{FF2B5EF4-FFF2-40B4-BE49-F238E27FC236}">
                <a16:creationId xmlns:a16="http://schemas.microsoft.com/office/drawing/2014/main" id="{396B6B34-D01D-403D-B048-4A0B0D43228C}"/>
              </a:ext>
            </a:extLst>
          </p:cNvPr>
          <p:cNvGrpSpPr>
            <a:grpSpLocks/>
          </p:cNvGrpSpPr>
          <p:nvPr/>
        </p:nvGrpSpPr>
        <p:grpSpPr bwMode="auto">
          <a:xfrm>
            <a:off x="1828800" y="2044700"/>
            <a:ext cx="4465638" cy="2871788"/>
            <a:chOff x="1828800" y="2044895"/>
            <a:chExt cx="4466234" cy="2871489"/>
          </a:xfrm>
        </p:grpSpPr>
        <p:cxnSp>
          <p:nvCxnSpPr>
            <p:cNvPr id="64" name="Straight Connector 63">
              <a:extLst>
                <a:ext uri="{FF2B5EF4-FFF2-40B4-BE49-F238E27FC236}">
                  <a16:creationId xmlns:a16="http://schemas.microsoft.com/office/drawing/2014/main" id="{5F7AA731-7822-4347-A1B0-BBAC54F97FAC}"/>
                </a:ext>
              </a:extLst>
            </p:cNvPr>
            <p:cNvCxnSpPr/>
            <p:nvPr/>
          </p:nvCxnSpPr>
          <p:spPr>
            <a:xfrm flipV="1">
              <a:off x="1828800" y="2470301"/>
              <a:ext cx="3526309" cy="244608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7920" name="TextBox 23">
              <a:extLst>
                <a:ext uri="{FF2B5EF4-FFF2-40B4-BE49-F238E27FC236}">
                  <a16:creationId xmlns:a16="http://schemas.microsoft.com/office/drawing/2014/main" id="{882B74FF-8FEF-46B3-8835-257684FA43FC}"/>
                </a:ext>
              </a:extLst>
            </p:cNvPr>
            <p:cNvSpPr txBox="1">
              <a:spLocks noChangeArrowheads="1"/>
            </p:cNvSpPr>
            <p:nvPr/>
          </p:nvSpPr>
          <p:spPr bwMode="auto">
            <a:xfrm>
              <a:off x="5340927" y="2044895"/>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Supply </a:t>
              </a:r>
            </a:p>
          </p:txBody>
        </p:sp>
      </p:grpSp>
      <p:sp>
        <p:nvSpPr>
          <p:cNvPr id="82" name="TextBox 23">
            <a:extLst>
              <a:ext uri="{FF2B5EF4-FFF2-40B4-BE49-F238E27FC236}">
                <a16:creationId xmlns:a16="http://schemas.microsoft.com/office/drawing/2014/main" id="{5830B733-B9FD-4852-A3E8-77FBA0FCA99D}"/>
              </a:ext>
            </a:extLst>
          </p:cNvPr>
          <p:cNvSpPr txBox="1">
            <a:spLocks noChangeArrowheads="1"/>
          </p:cNvSpPr>
          <p:nvPr/>
        </p:nvSpPr>
        <p:spPr bwMode="auto">
          <a:xfrm>
            <a:off x="1781175" y="2803525"/>
            <a:ext cx="1131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solidFill>
                  <a:srgbClr val="800080"/>
                </a:solidFill>
              </a:rPr>
              <a:t>Consumer</a:t>
            </a:r>
          </a:p>
          <a:p>
            <a:pPr algn="ctr" eaLnBrk="1" hangingPunct="1"/>
            <a:r>
              <a:rPr lang="en-US" altLang="en-US" sz="1600">
                <a:solidFill>
                  <a:srgbClr val="800080"/>
                </a:solidFill>
              </a:rPr>
              <a:t>surplus</a:t>
            </a:r>
          </a:p>
        </p:txBody>
      </p:sp>
      <p:sp>
        <p:nvSpPr>
          <p:cNvPr id="83" name="TextBox 23">
            <a:extLst>
              <a:ext uri="{FF2B5EF4-FFF2-40B4-BE49-F238E27FC236}">
                <a16:creationId xmlns:a16="http://schemas.microsoft.com/office/drawing/2014/main" id="{44879B6E-AF6B-4019-B454-60068335648D}"/>
              </a:ext>
            </a:extLst>
          </p:cNvPr>
          <p:cNvSpPr txBox="1">
            <a:spLocks noChangeArrowheads="1"/>
          </p:cNvSpPr>
          <p:nvPr/>
        </p:nvSpPr>
        <p:spPr bwMode="auto">
          <a:xfrm>
            <a:off x="1846263" y="3584575"/>
            <a:ext cx="101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solidFill>
                  <a:srgbClr val="800080"/>
                </a:solidFill>
              </a:rPr>
              <a:t>Producer</a:t>
            </a:r>
          </a:p>
          <a:p>
            <a:pPr algn="ctr" eaLnBrk="1" hangingPunct="1"/>
            <a:r>
              <a:rPr lang="en-US" altLang="en-US" sz="1600">
                <a:solidFill>
                  <a:srgbClr val="800080"/>
                </a:solidFill>
              </a:rPr>
              <a:t>surplus</a:t>
            </a:r>
          </a:p>
        </p:txBody>
      </p:sp>
      <p:grpSp>
        <p:nvGrpSpPr>
          <p:cNvPr id="15" name="Group 83">
            <a:extLst>
              <a:ext uri="{FF2B5EF4-FFF2-40B4-BE49-F238E27FC236}">
                <a16:creationId xmlns:a16="http://schemas.microsoft.com/office/drawing/2014/main" id="{DC0561B6-718A-43EB-8A83-A1867BDD25DE}"/>
              </a:ext>
            </a:extLst>
          </p:cNvPr>
          <p:cNvGrpSpPr>
            <a:grpSpLocks/>
          </p:cNvGrpSpPr>
          <p:nvPr/>
        </p:nvGrpSpPr>
        <p:grpSpPr bwMode="auto">
          <a:xfrm>
            <a:off x="6069013" y="4294188"/>
            <a:ext cx="400050" cy="425450"/>
            <a:chOff x="2392240" y="2814463"/>
            <a:chExt cx="398748" cy="424944"/>
          </a:xfrm>
        </p:grpSpPr>
        <p:sp>
          <p:nvSpPr>
            <p:cNvPr id="37917" name="Freeform 183">
              <a:extLst>
                <a:ext uri="{FF2B5EF4-FFF2-40B4-BE49-F238E27FC236}">
                  <a16:creationId xmlns:a16="http://schemas.microsoft.com/office/drawing/2014/main" id="{6850FB31-5364-4598-8864-7A980DED5767}"/>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18" name="TextBox 85">
              <a:extLst>
                <a:ext uri="{FF2B5EF4-FFF2-40B4-BE49-F238E27FC236}">
                  <a16:creationId xmlns:a16="http://schemas.microsoft.com/office/drawing/2014/main" id="{52B3EF05-7617-4915-A904-74B9DF498181}"/>
                </a:ext>
              </a:extLst>
            </p:cNvPr>
            <p:cNvSpPr txBox="1">
              <a:spLocks noChangeArrowheads="1"/>
            </p:cNvSpPr>
            <p:nvPr/>
          </p:nvSpPr>
          <p:spPr bwMode="auto">
            <a:xfrm>
              <a:off x="2470066" y="2814463"/>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B</a:t>
              </a:r>
            </a:p>
          </p:txBody>
        </p:sp>
      </p:grpSp>
      <p:grpSp>
        <p:nvGrpSpPr>
          <p:cNvPr id="16" name="Group 86">
            <a:extLst>
              <a:ext uri="{FF2B5EF4-FFF2-40B4-BE49-F238E27FC236}">
                <a16:creationId xmlns:a16="http://schemas.microsoft.com/office/drawing/2014/main" id="{5D8486C2-081B-4047-B7BA-3013F543A0C7}"/>
              </a:ext>
            </a:extLst>
          </p:cNvPr>
          <p:cNvGrpSpPr>
            <a:grpSpLocks/>
          </p:cNvGrpSpPr>
          <p:nvPr/>
        </p:nvGrpSpPr>
        <p:grpSpPr bwMode="auto">
          <a:xfrm>
            <a:off x="1773238" y="4857750"/>
            <a:ext cx="420687" cy="382588"/>
            <a:chOff x="2392240" y="3102882"/>
            <a:chExt cx="421844" cy="382624"/>
          </a:xfrm>
        </p:grpSpPr>
        <p:sp>
          <p:nvSpPr>
            <p:cNvPr id="37915" name="Freeform 183">
              <a:extLst>
                <a:ext uri="{FF2B5EF4-FFF2-40B4-BE49-F238E27FC236}">
                  <a16:creationId xmlns:a16="http://schemas.microsoft.com/office/drawing/2014/main" id="{E4243D56-6148-4C39-93E6-D27D4AC8FEEC}"/>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16" name="TextBox 88">
              <a:extLst>
                <a:ext uri="{FF2B5EF4-FFF2-40B4-BE49-F238E27FC236}">
                  <a16:creationId xmlns:a16="http://schemas.microsoft.com/office/drawing/2014/main" id="{9199B983-2866-4469-B096-D9B24CF783C3}"/>
                </a:ext>
              </a:extLst>
            </p:cNvPr>
            <p:cNvSpPr txBox="1">
              <a:spLocks noChangeArrowheads="1"/>
            </p:cNvSpPr>
            <p:nvPr/>
          </p:nvSpPr>
          <p:spPr bwMode="auto">
            <a:xfrm>
              <a:off x="2481942" y="3146952"/>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C</a:t>
              </a:r>
            </a:p>
          </p:txBody>
        </p:sp>
      </p:grpSp>
      <p:grpSp>
        <p:nvGrpSpPr>
          <p:cNvPr id="17" name="Group 89">
            <a:extLst>
              <a:ext uri="{FF2B5EF4-FFF2-40B4-BE49-F238E27FC236}">
                <a16:creationId xmlns:a16="http://schemas.microsoft.com/office/drawing/2014/main" id="{5606B6BC-9F83-4D3E-BD54-21312CFF7664}"/>
              </a:ext>
            </a:extLst>
          </p:cNvPr>
          <p:cNvGrpSpPr>
            <a:grpSpLocks/>
          </p:cNvGrpSpPr>
          <p:nvPr/>
        </p:nvGrpSpPr>
        <p:grpSpPr bwMode="auto">
          <a:xfrm>
            <a:off x="1774825" y="2066925"/>
            <a:ext cx="434975" cy="365125"/>
            <a:chOff x="2392240" y="2873840"/>
            <a:chExt cx="434375" cy="365567"/>
          </a:xfrm>
        </p:grpSpPr>
        <p:sp>
          <p:nvSpPr>
            <p:cNvPr id="37913" name="Freeform 183">
              <a:extLst>
                <a:ext uri="{FF2B5EF4-FFF2-40B4-BE49-F238E27FC236}">
                  <a16:creationId xmlns:a16="http://schemas.microsoft.com/office/drawing/2014/main" id="{7EE35851-76E7-4E5D-AE1C-D72FD8040F3E}"/>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14" name="TextBox 91">
              <a:extLst>
                <a:ext uri="{FF2B5EF4-FFF2-40B4-BE49-F238E27FC236}">
                  <a16:creationId xmlns:a16="http://schemas.microsoft.com/office/drawing/2014/main" id="{BAEFE098-DE1D-419D-9F3F-34CE89525B46}"/>
                </a:ext>
              </a:extLst>
            </p:cNvPr>
            <p:cNvSpPr txBox="1">
              <a:spLocks noChangeArrowheads="1"/>
            </p:cNvSpPr>
            <p:nvPr/>
          </p:nvSpPr>
          <p:spPr bwMode="auto">
            <a:xfrm>
              <a:off x="2505693" y="2873840"/>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A</a:t>
              </a:r>
            </a:p>
          </p:txBody>
        </p:sp>
      </p:grpSp>
      <p:grpSp>
        <p:nvGrpSpPr>
          <p:cNvPr id="18" name="Group 92">
            <a:extLst>
              <a:ext uri="{FF2B5EF4-FFF2-40B4-BE49-F238E27FC236}">
                <a16:creationId xmlns:a16="http://schemas.microsoft.com/office/drawing/2014/main" id="{FD052FEA-D451-4A41-96A0-ADB08E328ADE}"/>
              </a:ext>
            </a:extLst>
          </p:cNvPr>
          <p:cNvGrpSpPr>
            <a:grpSpLocks/>
          </p:cNvGrpSpPr>
          <p:nvPr/>
        </p:nvGrpSpPr>
        <p:grpSpPr bwMode="auto">
          <a:xfrm>
            <a:off x="5273675" y="2424113"/>
            <a:ext cx="457200" cy="476250"/>
            <a:chOff x="2392240" y="3102882"/>
            <a:chExt cx="457469" cy="477638"/>
          </a:xfrm>
        </p:grpSpPr>
        <p:sp>
          <p:nvSpPr>
            <p:cNvPr id="37911" name="Freeform 183">
              <a:extLst>
                <a:ext uri="{FF2B5EF4-FFF2-40B4-BE49-F238E27FC236}">
                  <a16:creationId xmlns:a16="http://schemas.microsoft.com/office/drawing/2014/main" id="{AAC4F70E-E86C-4B5F-A067-59D8EEBBCF10}"/>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12" name="TextBox 94">
              <a:extLst>
                <a:ext uri="{FF2B5EF4-FFF2-40B4-BE49-F238E27FC236}">
                  <a16:creationId xmlns:a16="http://schemas.microsoft.com/office/drawing/2014/main" id="{958BDD8F-BB00-41A0-B605-98B3F6A10278}"/>
                </a:ext>
              </a:extLst>
            </p:cNvPr>
            <p:cNvSpPr txBox="1">
              <a:spLocks noChangeArrowheads="1"/>
            </p:cNvSpPr>
            <p:nvPr/>
          </p:nvSpPr>
          <p:spPr bwMode="auto">
            <a:xfrm>
              <a:off x="2517567" y="3241966"/>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a:t>
              </a:r>
            </a:p>
          </p:txBody>
        </p:sp>
      </p:grpSp>
      <p:grpSp>
        <p:nvGrpSpPr>
          <p:cNvPr id="19" name="Group 95">
            <a:extLst>
              <a:ext uri="{FF2B5EF4-FFF2-40B4-BE49-F238E27FC236}">
                <a16:creationId xmlns:a16="http://schemas.microsoft.com/office/drawing/2014/main" id="{516B5B1F-DC1F-4E36-8E50-632DFA293D16}"/>
              </a:ext>
            </a:extLst>
          </p:cNvPr>
          <p:cNvGrpSpPr>
            <a:grpSpLocks/>
          </p:cNvGrpSpPr>
          <p:nvPr/>
        </p:nvGrpSpPr>
        <p:grpSpPr bwMode="auto">
          <a:xfrm>
            <a:off x="3841750" y="3292475"/>
            <a:ext cx="571500" cy="338138"/>
            <a:chOff x="2392240" y="2995848"/>
            <a:chExt cx="571531" cy="338554"/>
          </a:xfrm>
        </p:grpSpPr>
        <p:sp>
          <p:nvSpPr>
            <p:cNvPr id="37909" name="Freeform 183">
              <a:extLst>
                <a:ext uri="{FF2B5EF4-FFF2-40B4-BE49-F238E27FC236}">
                  <a16:creationId xmlns:a16="http://schemas.microsoft.com/office/drawing/2014/main" id="{F4374E91-0B8B-414A-A873-464213FA990A}"/>
                </a:ext>
              </a:extLst>
            </p:cNvPr>
            <p:cNvSpPr>
              <a:spLocks/>
            </p:cNvSpPr>
            <p:nvPr/>
          </p:nvSpPr>
          <p:spPr bwMode="auto">
            <a:xfrm>
              <a:off x="2392240" y="3102882"/>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910" name="TextBox 97">
              <a:extLst>
                <a:ext uri="{FF2B5EF4-FFF2-40B4-BE49-F238E27FC236}">
                  <a16:creationId xmlns:a16="http://schemas.microsoft.com/office/drawing/2014/main" id="{AFAC34CB-246E-4C4A-8AA8-589B891E1A45}"/>
                </a:ext>
              </a:extLst>
            </p:cNvPr>
            <p:cNvSpPr txBox="1">
              <a:spLocks noChangeArrowheads="1"/>
            </p:cNvSpPr>
            <p:nvPr/>
          </p:nvSpPr>
          <p:spPr bwMode="auto">
            <a:xfrm>
              <a:off x="2642849" y="2995848"/>
              <a:ext cx="3209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1000"/>
                                        <p:tgtEl>
                                          <p:spTgt spid="12"/>
                                        </p:tgtEl>
                                      </p:cBhvr>
                                    </p:animEffect>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1000"/>
                                        <p:tgtEl>
                                          <p:spTgt spid="14"/>
                                        </p:tgtEl>
                                      </p:cBhvr>
                                    </p:animEffect>
                                  </p:childTnLst>
                                </p:cTn>
                              </p:par>
                            </p:childTnLst>
                          </p:cTn>
                        </p:par>
                        <p:par>
                          <p:cTn id="19" fill="hold" nodeType="afterGroup">
                            <p:stCondLst>
                              <p:cond delay="2500"/>
                            </p:stCondLst>
                            <p:childTnLst>
                              <p:par>
                                <p:cTn id="20" presetID="22" presetClass="entr" presetSubtype="8"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par>
                          <p:cTn id="23" fill="hold" nodeType="afterGroup">
                            <p:stCondLst>
                              <p:cond delay="3000"/>
                            </p:stCondLst>
                            <p:childTnLst>
                              <p:par>
                                <p:cTn id="24" presetID="22" presetClass="entr" presetSubtype="1"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00"/>
                                        <p:tgtEl>
                                          <p:spTgt spid="10"/>
                                        </p:tgtEl>
                                      </p:cBhvr>
                                    </p:animEffect>
                                  </p:childTnLst>
                                </p:cTn>
                              </p:par>
                            </p:childTnLst>
                          </p:cTn>
                        </p:par>
                        <p:par>
                          <p:cTn id="27" fill="hold" nodeType="afterGroup">
                            <p:stCondLst>
                              <p:cond delay="3500"/>
                            </p:stCondLst>
                            <p:childTnLst>
                              <p:par>
                                <p:cTn id="28" presetID="22" presetClass="entr" presetSubtype="8"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par>
                          <p:cTn id="31" fill="hold" nodeType="afterGroup">
                            <p:stCondLst>
                              <p:cond delay="4000"/>
                            </p:stCondLst>
                            <p:childTnLst>
                              <p:par>
                                <p:cTn id="32" presetID="22" presetClass="entr" presetSubtype="8"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childTnLst>
                          </p:cTn>
                        </p:par>
                        <p:par>
                          <p:cTn id="35" fill="hold" nodeType="afterGroup">
                            <p:stCondLst>
                              <p:cond delay="4500"/>
                            </p:stCondLst>
                            <p:childTnLst>
                              <p:par>
                                <p:cTn id="36" presetID="22" presetClass="entr" presetSubtype="8" fill="hold"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par>
                          <p:cTn id="39" fill="hold" nodeType="afterGroup">
                            <p:stCondLst>
                              <p:cond delay="5000"/>
                            </p:stCondLst>
                            <p:childTnLst>
                              <p:par>
                                <p:cTn id="40" presetID="22" presetClass="entr" presetSubtype="8"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nodeType="afterGroup">
                            <p:stCondLst>
                              <p:cond delay="5500"/>
                            </p:stCondLst>
                            <p:childTnLst>
                              <p:par>
                                <p:cTn id="44" presetID="22" presetClass="entr" presetSubtype="8"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500"/>
                                        <p:tgtEl>
                                          <p:spTgt spid="19"/>
                                        </p:tgtEl>
                                      </p:cBhvr>
                                    </p:animEffect>
                                  </p:childTnLst>
                                </p:cTn>
                              </p:par>
                            </p:childTnLst>
                          </p:cTn>
                        </p:par>
                        <p:par>
                          <p:cTn id="47" fill="hold" nodeType="afterGroup">
                            <p:stCondLst>
                              <p:cond delay="6000"/>
                            </p:stCondLst>
                            <p:childTnLst>
                              <p:par>
                                <p:cTn id="48" presetID="22" presetClass="entr" presetSubtype="8" fill="hold" grpId="0" nodeType="afterEffect">
                                  <p:stCondLst>
                                    <p:cond delay="0"/>
                                  </p:stCondLst>
                                  <p:childTnLst>
                                    <p:set>
                                      <p:cBhvr>
                                        <p:cTn id="49" dur="1" fill="hold">
                                          <p:stCondLst>
                                            <p:cond delay="0"/>
                                          </p:stCondLst>
                                        </p:cTn>
                                        <p:tgtEl>
                                          <p:spTgt spid="79"/>
                                        </p:tgtEl>
                                        <p:attrNameLst>
                                          <p:attrName>style.visibility</p:attrName>
                                        </p:attrNameLst>
                                      </p:cBhvr>
                                      <p:to>
                                        <p:strVal val="visible"/>
                                      </p:to>
                                    </p:set>
                                    <p:animEffect transition="in" filter="wipe(left)">
                                      <p:cBhvr>
                                        <p:cTn id="50" dur="1000"/>
                                        <p:tgtEl>
                                          <p:spTgt spid="79"/>
                                        </p:tgtEl>
                                      </p:cBhvr>
                                    </p:animEffect>
                                  </p:childTnLst>
                                </p:cTn>
                              </p:par>
                            </p:childTnLst>
                          </p:cTn>
                        </p:par>
                        <p:par>
                          <p:cTn id="51" fill="hold" nodeType="afterGroup">
                            <p:stCondLst>
                              <p:cond delay="7000"/>
                            </p:stCondLst>
                            <p:childTnLst>
                              <p:par>
                                <p:cTn id="52" presetID="22" presetClass="entr" presetSubtype="8" fill="hold" grpId="0" nodeType="afterEffect">
                                  <p:stCondLst>
                                    <p:cond delay="0"/>
                                  </p:stCondLst>
                                  <p:childTnLst>
                                    <p:set>
                                      <p:cBhvr>
                                        <p:cTn id="53" dur="1" fill="hold">
                                          <p:stCondLst>
                                            <p:cond delay="0"/>
                                          </p:stCondLst>
                                        </p:cTn>
                                        <p:tgtEl>
                                          <p:spTgt spid="82"/>
                                        </p:tgtEl>
                                        <p:attrNameLst>
                                          <p:attrName>style.visibility</p:attrName>
                                        </p:attrNameLst>
                                      </p:cBhvr>
                                      <p:to>
                                        <p:strVal val="visible"/>
                                      </p:to>
                                    </p:set>
                                    <p:animEffect transition="in" filter="wipe(left)">
                                      <p:cBhvr>
                                        <p:cTn id="54" dur="500"/>
                                        <p:tgtEl>
                                          <p:spTgt spid="82"/>
                                        </p:tgtEl>
                                      </p:cBhvr>
                                    </p:animEffect>
                                  </p:childTnLst>
                                </p:cTn>
                              </p:par>
                            </p:childTnLst>
                          </p:cTn>
                        </p:par>
                        <p:par>
                          <p:cTn id="55" fill="hold" nodeType="afterGroup">
                            <p:stCondLst>
                              <p:cond delay="7500"/>
                            </p:stCondLst>
                            <p:childTnLst>
                              <p:par>
                                <p:cTn id="56" presetID="22" presetClass="entr" presetSubtype="8" fill="hold" grpId="0" nodeType="afterEffect">
                                  <p:stCondLst>
                                    <p:cond delay="0"/>
                                  </p:stCondLst>
                                  <p:childTnLst>
                                    <p:set>
                                      <p:cBhvr>
                                        <p:cTn id="57" dur="1" fill="hold">
                                          <p:stCondLst>
                                            <p:cond delay="0"/>
                                          </p:stCondLst>
                                        </p:cTn>
                                        <p:tgtEl>
                                          <p:spTgt spid="80"/>
                                        </p:tgtEl>
                                        <p:attrNameLst>
                                          <p:attrName>style.visibility</p:attrName>
                                        </p:attrNameLst>
                                      </p:cBhvr>
                                      <p:to>
                                        <p:strVal val="visible"/>
                                      </p:to>
                                    </p:set>
                                    <p:animEffect transition="in" filter="wipe(left)">
                                      <p:cBhvr>
                                        <p:cTn id="58" dur="1000"/>
                                        <p:tgtEl>
                                          <p:spTgt spid="80"/>
                                        </p:tgtEl>
                                      </p:cBhvr>
                                    </p:animEffect>
                                  </p:childTnLst>
                                </p:cTn>
                              </p:par>
                            </p:childTnLst>
                          </p:cTn>
                        </p:par>
                        <p:par>
                          <p:cTn id="59" fill="hold" nodeType="afterGroup">
                            <p:stCondLst>
                              <p:cond delay="8500"/>
                            </p:stCondLst>
                            <p:childTnLst>
                              <p:par>
                                <p:cTn id="60" presetID="22" presetClass="entr" presetSubtype="8" fill="hold" grpId="0" nodeType="after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wipe(left)">
                                      <p:cBhvr>
                                        <p:cTn id="62" dur="500"/>
                                        <p:tgtEl>
                                          <p:spTgt spid="83"/>
                                        </p:tgtEl>
                                      </p:cBhvr>
                                    </p:animEffect>
                                  </p:childTnLst>
                                </p:cTn>
                              </p:par>
                            </p:childTnLst>
                          </p:cTn>
                        </p:par>
                        <p:par>
                          <p:cTn id="63" fill="hold" nodeType="afterGroup">
                            <p:stCondLst>
                              <p:cond delay="9000"/>
                            </p:stCondLst>
                            <p:childTnLst>
                              <p:par>
                                <p:cTn id="64" presetID="22" presetClass="entr" presetSubtype="8"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79" grpId="0" animBg="1"/>
      <p:bldP spid="80" grpId="0" animBg="1"/>
      <p:bldP spid="82" grpId="0"/>
      <p:bldP spid="8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521CC634-3FB3-4AF6-82FC-49079D95336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a:t>
            </a:r>
          </a:p>
        </p:txBody>
      </p:sp>
      <p:sp>
        <p:nvSpPr>
          <p:cNvPr id="3" name="Content Placeholder 2">
            <a:extLst>
              <a:ext uri="{FF2B5EF4-FFF2-40B4-BE49-F238E27FC236}">
                <a16:creationId xmlns:a16="http://schemas.microsoft.com/office/drawing/2014/main" id="{902D287E-15B2-4BBE-AB1B-0C8F13EC5B62}"/>
              </a:ext>
            </a:extLst>
          </p:cNvPr>
          <p:cNvSpPr>
            <a:spLocks noGrp="1"/>
          </p:cNvSpPr>
          <p:nvPr>
            <p:ph idx="1"/>
          </p:nvPr>
        </p:nvSpPr>
        <p:spPr/>
        <p:txBody>
          <a:bodyPr/>
          <a:lstStyle/>
          <a:p>
            <a:pPr>
              <a:buFont typeface="Arial" charset="0"/>
              <a:buChar char="•"/>
              <a:defRPr/>
            </a:pPr>
            <a:r>
              <a:rPr lang="en-US" dirty="0">
                <a:solidFill>
                  <a:srgbClr val="C00000"/>
                </a:solidFill>
              </a:rPr>
              <a:t>Evaluating the market equilibrium</a:t>
            </a:r>
          </a:p>
          <a:p>
            <a:pPr lvl="1">
              <a:buFont typeface="Arial" charset="0"/>
              <a:buChar char="–"/>
              <a:defRPr/>
            </a:pPr>
            <a:r>
              <a:rPr lang="en-US" dirty="0"/>
              <a:t>Social planner</a:t>
            </a:r>
          </a:p>
          <a:p>
            <a:pPr lvl="2">
              <a:buFont typeface="Arial" charset="0"/>
              <a:buChar char="•"/>
              <a:defRPr/>
            </a:pPr>
            <a:r>
              <a:rPr lang="en-US" dirty="0"/>
              <a:t>Cannot increase economic well-being by </a:t>
            </a:r>
          </a:p>
          <a:p>
            <a:pPr lvl="3">
              <a:buFont typeface="Arial" charset="0"/>
              <a:buChar char="–"/>
              <a:defRPr/>
            </a:pPr>
            <a:r>
              <a:rPr lang="en-US" dirty="0"/>
              <a:t>Changing the allocation of consumption among buyers</a:t>
            </a:r>
          </a:p>
          <a:p>
            <a:pPr lvl="3">
              <a:buFont typeface="Arial" charset="0"/>
              <a:buChar char="–"/>
              <a:defRPr/>
            </a:pPr>
            <a:r>
              <a:rPr lang="en-US" dirty="0"/>
              <a:t>Changing the allocation of production among sellers</a:t>
            </a:r>
          </a:p>
          <a:p>
            <a:pPr lvl="2">
              <a:buFont typeface="Arial" charset="0"/>
              <a:buChar char="•"/>
              <a:defRPr/>
            </a:pPr>
            <a:r>
              <a:rPr lang="en-US" dirty="0"/>
              <a:t>Cannot rise total economic well-being by</a:t>
            </a:r>
          </a:p>
          <a:p>
            <a:pPr lvl="3">
              <a:buFont typeface="Arial" charset="0"/>
              <a:buChar char="–"/>
              <a:defRPr/>
            </a:pPr>
            <a:r>
              <a:rPr lang="en-US" dirty="0"/>
              <a:t>Increasing or decreasing the quantity of the good</a:t>
            </a:r>
          </a:p>
          <a:p>
            <a:pPr marL="971550" lvl="1" indent="-514350">
              <a:buFont typeface="+mj-lt"/>
              <a:buAutoNum type="arabicPeriod" startAt="3"/>
              <a:defRPr/>
            </a:pPr>
            <a:r>
              <a:rPr lang="en-US" dirty="0"/>
              <a:t>Free markets produce the quantity of goods that maximizes the sum of consumer and producer surplus</a:t>
            </a:r>
          </a:p>
          <a:p>
            <a:pPr>
              <a:buFont typeface="Arial" charset="0"/>
              <a:buChar char="•"/>
              <a:defRPr/>
            </a:pPr>
            <a:endParaRPr lang="en-US" dirty="0"/>
          </a:p>
        </p:txBody>
      </p:sp>
      <p:sp>
        <p:nvSpPr>
          <p:cNvPr id="38916" name="Slide Number Placeholder 3">
            <a:extLst>
              <a:ext uri="{FF2B5EF4-FFF2-40B4-BE49-F238E27FC236}">
                <a16:creationId xmlns:a16="http://schemas.microsoft.com/office/drawing/2014/main" id="{F8932D99-6582-4E03-B719-3EC868C8777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C805BBF-3EAC-4E1E-8480-42A72B68EECD}" type="slidenum">
              <a:rPr lang="en-US" altLang="en-US">
                <a:latin typeface="Calibri" panose="020F0502020204030204" pitchFamily="34" charset="0"/>
              </a:rPr>
              <a:pPr/>
              <a:t>26</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left)">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2A9CA6D6-467F-415E-9317-BD6FFEC2F48C}"/>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The efficiency of the equilibrium quantity</a:t>
            </a:r>
          </a:p>
        </p:txBody>
      </p:sp>
      <p:sp>
        <p:nvSpPr>
          <p:cNvPr id="39939" name="Content Placeholder 2">
            <a:extLst>
              <a:ext uri="{FF2B5EF4-FFF2-40B4-BE49-F238E27FC236}">
                <a16:creationId xmlns:a16="http://schemas.microsoft.com/office/drawing/2014/main" id="{0DAB6A33-FC91-4FFE-8972-165ADBF710F6}"/>
              </a:ext>
            </a:extLst>
          </p:cNvPr>
          <p:cNvSpPr>
            <a:spLocks noGrp="1"/>
          </p:cNvSpPr>
          <p:nvPr>
            <p:ph sz="quarter" idx="13"/>
          </p:nvPr>
        </p:nvSpPr>
        <p:spPr bwMode="auto">
          <a:noFill/>
          <a:ln>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altLang="en-US"/>
              <a:t>8</a:t>
            </a:r>
          </a:p>
        </p:txBody>
      </p:sp>
      <p:sp>
        <p:nvSpPr>
          <p:cNvPr id="39940" name="Slide Number Placeholder 3">
            <a:extLst>
              <a:ext uri="{FF2B5EF4-FFF2-40B4-BE49-F238E27FC236}">
                <a16:creationId xmlns:a16="http://schemas.microsoft.com/office/drawing/2014/main" id="{AFE3804D-0991-4F7B-8BC2-5EE22F41D44A}"/>
              </a:ext>
            </a:extLst>
          </p:cNvPr>
          <p:cNvSpPr>
            <a:spLocks noGrp="1" noChangeArrowheads="1"/>
          </p:cNvSpPr>
          <p:nvPr>
            <p:ph type="sldNum"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4901458-0A97-4914-9F26-42E133470631}" type="slidenum">
              <a:rPr lang="en-US" altLang="en-US">
                <a:latin typeface="Calibri" panose="020F0502020204030204" pitchFamily="34" charset="0"/>
              </a:rPr>
              <a:pPr/>
              <a:t>27</a:t>
            </a:fld>
            <a:endParaRPr lang="en-US" altLang="en-US">
              <a:latin typeface="Calibri" panose="020F0502020204030204" pitchFamily="34" charset="0"/>
            </a:endParaRPr>
          </a:p>
        </p:txBody>
      </p:sp>
      <p:grpSp>
        <p:nvGrpSpPr>
          <p:cNvPr id="5" name="Group 4">
            <a:extLst>
              <a:ext uri="{FF2B5EF4-FFF2-40B4-BE49-F238E27FC236}">
                <a16:creationId xmlns:a16="http://schemas.microsoft.com/office/drawing/2014/main" id="{1E46FD99-FA0D-4DA2-804A-40174220499A}"/>
              </a:ext>
            </a:extLst>
          </p:cNvPr>
          <p:cNvGrpSpPr>
            <a:grpSpLocks/>
          </p:cNvGrpSpPr>
          <p:nvPr/>
        </p:nvGrpSpPr>
        <p:grpSpPr bwMode="auto">
          <a:xfrm>
            <a:off x="1098550" y="1138238"/>
            <a:ext cx="5607050" cy="3346450"/>
            <a:chOff x="1099099" y="1921814"/>
            <a:chExt cx="5606501" cy="3346924"/>
          </a:xfrm>
        </p:grpSpPr>
        <p:sp>
          <p:nvSpPr>
            <p:cNvPr id="6" name="Rectangle 5">
              <a:extLst>
                <a:ext uri="{FF2B5EF4-FFF2-40B4-BE49-F238E27FC236}">
                  <a16:creationId xmlns:a16="http://schemas.microsoft.com/office/drawing/2014/main" id="{38098111-DF3C-477D-89A4-CE5313421512}"/>
                </a:ext>
              </a:extLst>
            </p:cNvPr>
            <p:cNvSpPr/>
            <p:nvPr/>
          </p:nvSpPr>
          <p:spPr>
            <a:xfrm>
              <a:off x="1829277" y="2113928"/>
              <a:ext cx="4876323" cy="3154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grpSp>
          <p:nvGrpSpPr>
            <p:cNvPr id="39982" name="Group 48">
              <a:extLst>
                <a:ext uri="{FF2B5EF4-FFF2-40B4-BE49-F238E27FC236}">
                  <a16:creationId xmlns:a16="http://schemas.microsoft.com/office/drawing/2014/main" id="{0CD29577-9461-4210-BEA7-A2CF32E3F43F}"/>
                </a:ext>
              </a:extLst>
            </p:cNvPr>
            <p:cNvGrpSpPr>
              <a:grpSpLocks/>
            </p:cNvGrpSpPr>
            <p:nvPr/>
          </p:nvGrpSpPr>
          <p:grpSpPr bwMode="auto">
            <a:xfrm>
              <a:off x="1099099" y="1921814"/>
              <a:ext cx="729702" cy="3335812"/>
              <a:chOff x="3842059" y="1465790"/>
              <a:chExt cx="729702" cy="3335604"/>
            </a:xfrm>
          </p:grpSpPr>
          <p:cxnSp>
            <p:nvCxnSpPr>
              <p:cNvPr id="8" name="Straight Connector 7">
                <a:extLst>
                  <a:ext uri="{FF2B5EF4-FFF2-40B4-BE49-F238E27FC236}">
                    <a16:creationId xmlns:a16="http://schemas.microsoft.com/office/drawing/2014/main" id="{43254E33-BAE7-4857-AF9A-8FBDC0033A8E}"/>
                  </a:ext>
                </a:extLst>
              </p:cNvPr>
              <p:cNvCxnSpPr/>
              <p:nvPr/>
            </p:nvCxnSpPr>
            <p:spPr>
              <a:xfrm rot="5400000">
                <a:off x="2988582" y="3217735"/>
                <a:ext cx="316731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984" name="TextBox 56">
                <a:extLst>
                  <a:ext uri="{FF2B5EF4-FFF2-40B4-BE49-F238E27FC236}">
                    <a16:creationId xmlns:a16="http://schemas.microsoft.com/office/drawing/2014/main" id="{89E03169-F746-49D9-820D-758990A9F323}"/>
                  </a:ext>
                </a:extLst>
              </p:cNvPr>
              <p:cNvSpPr txBox="1">
                <a:spLocks noChangeArrowheads="1"/>
              </p:cNvSpPr>
              <p:nvPr/>
            </p:nvSpPr>
            <p:spPr bwMode="auto">
              <a:xfrm>
                <a:off x="3842059" y="1465790"/>
                <a:ext cx="651139" cy="33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600"/>
                  <a:t>Price</a:t>
                </a:r>
              </a:p>
            </p:txBody>
          </p:sp>
        </p:grpSp>
      </p:grpSp>
      <p:sp>
        <p:nvSpPr>
          <p:cNvPr id="10" name="TextBox 8">
            <a:extLst>
              <a:ext uri="{FF2B5EF4-FFF2-40B4-BE49-F238E27FC236}">
                <a16:creationId xmlns:a16="http://schemas.microsoft.com/office/drawing/2014/main" id="{0B414E53-9238-4C37-8A67-0F17295B168B}"/>
              </a:ext>
            </a:extLst>
          </p:cNvPr>
          <p:cNvSpPr txBox="1">
            <a:spLocks noChangeArrowheads="1"/>
          </p:cNvSpPr>
          <p:nvPr/>
        </p:nvSpPr>
        <p:spPr bwMode="auto">
          <a:xfrm>
            <a:off x="0" y="5792788"/>
            <a:ext cx="9144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rgbClr val="800080"/>
                </a:solidFill>
              </a:rPr>
              <a:t>At quantities less than the equilibrium quantity, such as Q</a:t>
            </a:r>
            <a:r>
              <a:rPr lang="en-US" altLang="en-US" sz="1600" baseline="-25000">
                <a:solidFill>
                  <a:srgbClr val="800080"/>
                </a:solidFill>
              </a:rPr>
              <a:t>1</a:t>
            </a:r>
            <a:r>
              <a:rPr lang="en-US" altLang="en-US" sz="1600">
                <a:solidFill>
                  <a:srgbClr val="800080"/>
                </a:solidFill>
              </a:rPr>
              <a:t>, the value to buyers exceeds the cost to sellers. At quantities greater than the equilibrium quantity, such as Q</a:t>
            </a:r>
            <a:r>
              <a:rPr lang="en-US" altLang="en-US" sz="1600" baseline="-25000">
                <a:solidFill>
                  <a:srgbClr val="800080"/>
                </a:solidFill>
              </a:rPr>
              <a:t>2</a:t>
            </a:r>
            <a:r>
              <a:rPr lang="en-US" altLang="en-US" sz="1600">
                <a:solidFill>
                  <a:srgbClr val="800080"/>
                </a:solidFill>
              </a:rPr>
              <a:t>, the cost to sellers exceeds the value to buyers. Therefore, the market equilibrium maximizes the sum of producer and consumer surplus.</a:t>
            </a:r>
          </a:p>
        </p:txBody>
      </p:sp>
      <p:grpSp>
        <p:nvGrpSpPr>
          <p:cNvPr id="11" name="Group 8">
            <a:extLst>
              <a:ext uri="{FF2B5EF4-FFF2-40B4-BE49-F238E27FC236}">
                <a16:creationId xmlns:a16="http://schemas.microsoft.com/office/drawing/2014/main" id="{07712ED6-6BDA-45F8-9F06-3093092BE769}"/>
              </a:ext>
            </a:extLst>
          </p:cNvPr>
          <p:cNvGrpSpPr>
            <a:grpSpLocks/>
          </p:cNvGrpSpPr>
          <p:nvPr/>
        </p:nvGrpSpPr>
        <p:grpSpPr bwMode="auto">
          <a:xfrm>
            <a:off x="1600200" y="4484688"/>
            <a:ext cx="5105400" cy="419100"/>
            <a:chOff x="4343400" y="4800498"/>
            <a:chExt cx="5105400" cy="417747"/>
          </a:xfrm>
        </p:grpSpPr>
        <p:cxnSp>
          <p:nvCxnSpPr>
            <p:cNvPr id="12" name="Straight Connector 11">
              <a:extLst>
                <a:ext uri="{FF2B5EF4-FFF2-40B4-BE49-F238E27FC236}">
                  <a16:creationId xmlns:a16="http://schemas.microsoft.com/office/drawing/2014/main" id="{72F08CE2-9BFF-4DD3-83A2-1169527E8915}"/>
                </a:ext>
              </a:extLst>
            </p:cNvPr>
            <p:cNvCxnSpPr/>
            <p:nvPr/>
          </p:nvCxnSpPr>
          <p:spPr>
            <a:xfrm>
              <a:off x="4572000" y="4800498"/>
              <a:ext cx="4876800" cy="15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979" name="TextBox 10">
              <a:extLst>
                <a:ext uri="{FF2B5EF4-FFF2-40B4-BE49-F238E27FC236}">
                  <a16:creationId xmlns:a16="http://schemas.microsoft.com/office/drawing/2014/main" id="{C997DDDB-AE28-42BC-9F74-213C393B23BC}"/>
                </a:ext>
              </a:extLst>
            </p:cNvPr>
            <p:cNvSpPr txBox="1">
              <a:spLocks noChangeArrowheads="1"/>
            </p:cNvSpPr>
            <p:nvPr/>
          </p:nvSpPr>
          <p:spPr bwMode="auto">
            <a:xfrm>
              <a:off x="4343400" y="4800600"/>
              <a:ext cx="298480" cy="33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p>
          </p:txBody>
        </p:sp>
        <p:sp>
          <p:nvSpPr>
            <p:cNvPr id="39980" name="TextBox 23">
              <a:extLst>
                <a:ext uri="{FF2B5EF4-FFF2-40B4-BE49-F238E27FC236}">
                  <a16:creationId xmlns:a16="http://schemas.microsoft.com/office/drawing/2014/main" id="{2FA081B1-6D0C-4242-9BDD-B6601CB0D8FE}"/>
                </a:ext>
              </a:extLst>
            </p:cNvPr>
            <p:cNvSpPr txBox="1">
              <a:spLocks noChangeArrowheads="1"/>
            </p:cNvSpPr>
            <p:nvPr/>
          </p:nvSpPr>
          <p:spPr bwMode="auto">
            <a:xfrm>
              <a:off x="8477992" y="4879919"/>
              <a:ext cx="949299" cy="33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Quantity</a:t>
              </a:r>
            </a:p>
          </p:txBody>
        </p:sp>
      </p:grpSp>
      <p:grpSp>
        <p:nvGrpSpPr>
          <p:cNvPr id="15" name="Group 14">
            <a:extLst>
              <a:ext uri="{FF2B5EF4-FFF2-40B4-BE49-F238E27FC236}">
                <a16:creationId xmlns:a16="http://schemas.microsoft.com/office/drawing/2014/main" id="{2F641552-0D4B-4B3E-B2E4-46AF66AC26BF}"/>
              </a:ext>
            </a:extLst>
          </p:cNvPr>
          <p:cNvGrpSpPr>
            <a:grpSpLocks/>
          </p:cNvGrpSpPr>
          <p:nvPr/>
        </p:nvGrpSpPr>
        <p:grpSpPr bwMode="auto">
          <a:xfrm>
            <a:off x="3370263" y="2697163"/>
            <a:ext cx="1069975" cy="2270125"/>
            <a:chOff x="3369620" y="3480263"/>
            <a:chExt cx="1071127" cy="2270441"/>
          </a:xfrm>
        </p:grpSpPr>
        <p:cxnSp>
          <p:nvCxnSpPr>
            <p:cNvPr id="16" name="Straight Connector 15">
              <a:extLst>
                <a:ext uri="{FF2B5EF4-FFF2-40B4-BE49-F238E27FC236}">
                  <a16:creationId xmlns:a16="http://schemas.microsoft.com/office/drawing/2014/main" id="{A02CFFE8-33F1-4641-B584-C177E7D3C3E0}"/>
                </a:ext>
              </a:extLst>
            </p:cNvPr>
            <p:cNvCxnSpPr/>
            <p:nvPr/>
          </p:nvCxnSpPr>
          <p:spPr>
            <a:xfrm rot="5400000">
              <a:off x="3016072" y="4382088"/>
              <a:ext cx="1805238" cy="159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77" name="TextBox 23">
              <a:extLst>
                <a:ext uri="{FF2B5EF4-FFF2-40B4-BE49-F238E27FC236}">
                  <a16:creationId xmlns:a16="http://schemas.microsoft.com/office/drawing/2014/main" id="{35A4A10B-959A-49DD-AEC9-2765E7A3FA2B}"/>
                </a:ext>
              </a:extLst>
            </p:cNvPr>
            <p:cNvSpPr txBox="1">
              <a:spLocks noChangeArrowheads="1"/>
            </p:cNvSpPr>
            <p:nvPr/>
          </p:nvSpPr>
          <p:spPr bwMode="auto">
            <a:xfrm>
              <a:off x="3369620" y="5227484"/>
              <a:ext cx="10711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Equilibrium</a:t>
              </a:r>
            </a:p>
            <a:p>
              <a:pPr algn="ctr" eaLnBrk="1" hangingPunct="1"/>
              <a:r>
                <a:rPr lang="en-US" altLang="en-US" sz="1400"/>
                <a:t>quantity</a:t>
              </a:r>
            </a:p>
          </p:txBody>
        </p:sp>
      </p:grpSp>
      <p:grpSp>
        <p:nvGrpSpPr>
          <p:cNvPr id="18" name="Group 22">
            <a:extLst>
              <a:ext uri="{FF2B5EF4-FFF2-40B4-BE49-F238E27FC236}">
                <a16:creationId xmlns:a16="http://schemas.microsoft.com/office/drawing/2014/main" id="{CFA4F1BF-EDF4-4598-B62A-0CBB9886C773}"/>
              </a:ext>
            </a:extLst>
          </p:cNvPr>
          <p:cNvGrpSpPr>
            <a:grpSpLocks/>
          </p:cNvGrpSpPr>
          <p:nvPr/>
        </p:nvGrpSpPr>
        <p:grpSpPr bwMode="auto">
          <a:xfrm>
            <a:off x="1839913" y="1579563"/>
            <a:ext cx="4743450" cy="2279650"/>
            <a:chOff x="1840675" y="2363190"/>
            <a:chExt cx="4742508" cy="2280062"/>
          </a:xfrm>
        </p:grpSpPr>
        <p:cxnSp>
          <p:nvCxnSpPr>
            <p:cNvPr id="24" name="Straight Connector 23">
              <a:extLst>
                <a:ext uri="{FF2B5EF4-FFF2-40B4-BE49-F238E27FC236}">
                  <a16:creationId xmlns:a16="http://schemas.microsoft.com/office/drawing/2014/main" id="{2E42E310-ECF2-492D-AA7F-4844D8D2D15C}"/>
                </a:ext>
              </a:extLst>
            </p:cNvPr>
            <p:cNvCxnSpPr/>
            <p:nvPr/>
          </p:nvCxnSpPr>
          <p:spPr>
            <a:xfrm>
              <a:off x="1840675" y="2363190"/>
              <a:ext cx="4310794" cy="2280062"/>
            </a:xfrm>
            <a:prstGeom prst="line">
              <a:avLst/>
            </a:prstGeom>
            <a:ln w="38100">
              <a:solidFill>
                <a:srgbClr val="0000B8"/>
              </a:solidFill>
            </a:ln>
          </p:spPr>
          <p:style>
            <a:lnRef idx="1">
              <a:schemeClr val="accent1"/>
            </a:lnRef>
            <a:fillRef idx="0">
              <a:schemeClr val="accent1"/>
            </a:fillRef>
            <a:effectRef idx="0">
              <a:schemeClr val="accent1"/>
            </a:effectRef>
            <a:fontRef idx="minor">
              <a:schemeClr val="tx1"/>
            </a:fontRef>
          </p:style>
        </p:cxnSp>
        <p:sp>
          <p:nvSpPr>
            <p:cNvPr id="39975" name="TextBox 23">
              <a:extLst>
                <a:ext uri="{FF2B5EF4-FFF2-40B4-BE49-F238E27FC236}">
                  <a16:creationId xmlns:a16="http://schemas.microsoft.com/office/drawing/2014/main" id="{FD14A91D-FB88-4EC8-86F3-F93BA95B7F27}"/>
                </a:ext>
              </a:extLst>
            </p:cNvPr>
            <p:cNvSpPr txBox="1">
              <a:spLocks noChangeArrowheads="1"/>
            </p:cNvSpPr>
            <p:nvPr/>
          </p:nvSpPr>
          <p:spPr bwMode="auto">
            <a:xfrm>
              <a:off x="5566558" y="4063700"/>
              <a:ext cx="10166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Demand </a:t>
              </a:r>
            </a:p>
          </p:txBody>
        </p:sp>
      </p:grpSp>
      <p:grpSp>
        <p:nvGrpSpPr>
          <p:cNvPr id="19" name="Group 25">
            <a:extLst>
              <a:ext uri="{FF2B5EF4-FFF2-40B4-BE49-F238E27FC236}">
                <a16:creationId xmlns:a16="http://schemas.microsoft.com/office/drawing/2014/main" id="{F579E4E0-70CF-44E7-9E08-0EF1BFD0CB3A}"/>
              </a:ext>
            </a:extLst>
          </p:cNvPr>
          <p:cNvGrpSpPr>
            <a:grpSpLocks/>
          </p:cNvGrpSpPr>
          <p:nvPr/>
        </p:nvGrpSpPr>
        <p:grpSpPr bwMode="auto">
          <a:xfrm>
            <a:off x="1828800" y="1260475"/>
            <a:ext cx="4379913" cy="2871788"/>
            <a:chOff x="1828800" y="2044895"/>
            <a:chExt cx="4379672" cy="2871489"/>
          </a:xfrm>
        </p:grpSpPr>
        <p:cxnSp>
          <p:nvCxnSpPr>
            <p:cNvPr id="27" name="Straight Connector 26">
              <a:extLst>
                <a:ext uri="{FF2B5EF4-FFF2-40B4-BE49-F238E27FC236}">
                  <a16:creationId xmlns:a16="http://schemas.microsoft.com/office/drawing/2014/main" id="{DF2883EC-1C16-4BF0-9353-9741BC6C546D}"/>
                </a:ext>
              </a:extLst>
            </p:cNvPr>
            <p:cNvCxnSpPr/>
            <p:nvPr/>
          </p:nvCxnSpPr>
          <p:spPr>
            <a:xfrm flipV="1">
              <a:off x="1828800" y="2470301"/>
              <a:ext cx="3527231" cy="244608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9973" name="TextBox 23">
              <a:extLst>
                <a:ext uri="{FF2B5EF4-FFF2-40B4-BE49-F238E27FC236}">
                  <a16:creationId xmlns:a16="http://schemas.microsoft.com/office/drawing/2014/main" id="{5B6661EB-FFA2-46D7-BBAA-43CF67DD33D6}"/>
                </a:ext>
              </a:extLst>
            </p:cNvPr>
            <p:cNvSpPr txBox="1">
              <a:spLocks noChangeArrowheads="1"/>
            </p:cNvSpPr>
            <p:nvPr/>
          </p:nvSpPr>
          <p:spPr bwMode="auto">
            <a:xfrm>
              <a:off x="5340927" y="2044895"/>
              <a:ext cx="8675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Supply </a:t>
              </a:r>
            </a:p>
          </p:txBody>
        </p:sp>
      </p:grpSp>
      <p:sp>
        <p:nvSpPr>
          <p:cNvPr id="44" name="Freeform 183">
            <a:extLst>
              <a:ext uri="{FF2B5EF4-FFF2-40B4-BE49-F238E27FC236}">
                <a16:creationId xmlns:a16="http://schemas.microsoft.com/office/drawing/2014/main" id="{DA3763BE-9965-44CE-A12C-88DDB389CCF2}"/>
              </a:ext>
            </a:extLst>
          </p:cNvPr>
          <p:cNvSpPr>
            <a:spLocks/>
          </p:cNvSpPr>
          <p:nvPr/>
        </p:nvSpPr>
        <p:spPr bwMode="auto">
          <a:xfrm>
            <a:off x="3841750" y="2614613"/>
            <a:ext cx="146050" cy="136525"/>
          </a:xfrm>
          <a:custGeom>
            <a:avLst/>
            <a:gdLst>
              <a:gd name="T0" fmla="*/ 2147483646 w 106"/>
              <a:gd name="T1" fmla="*/ 2147483646 h 68"/>
              <a:gd name="T2" fmla="*/ 2147483646 w 106"/>
              <a:gd name="T3" fmla="*/ 2147483646 h 68"/>
              <a:gd name="T4" fmla="*/ 2147483646 w 106"/>
              <a:gd name="T5" fmla="*/ 2147483646 h 68"/>
              <a:gd name="T6" fmla="*/ 2147483646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0 h 68"/>
              <a:gd name="T22" fmla="*/ 2147483646 w 106"/>
              <a:gd name="T23" fmla="*/ 0 h 68"/>
              <a:gd name="T24" fmla="*/ 2147483646 w 106"/>
              <a:gd name="T25" fmla="*/ 2147483646 h 68"/>
              <a:gd name="T26" fmla="*/ 2147483646 w 106"/>
              <a:gd name="T27" fmla="*/ 2147483646 h 68"/>
              <a:gd name="T28" fmla="*/ 2147483646 w 106"/>
              <a:gd name="T29" fmla="*/ 2147483646 h 68"/>
              <a:gd name="T30" fmla="*/ 0 w 106"/>
              <a:gd name="T31" fmla="*/ 2147483646 h 68"/>
              <a:gd name="T32" fmla="*/ 0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0" name="Group 50">
            <a:extLst>
              <a:ext uri="{FF2B5EF4-FFF2-40B4-BE49-F238E27FC236}">
                <a16:creationId xmlns:a16="http://schemas.microsoft.com/office/drawing/2014/main" id="{A7187CDF-D86E-4987-80CD-44F20DFA0D09}"/>
              </a:ext>
            </a:extLst>
          </p:cNvPr>
          <p:cNvGrpSpPr>
            <a:grpSpLocks/>
          </p:cNvGrpSpPr>
          <p:nvPr/>
        </p:nvGrpSpPr>
        <p:grpSpPr bwMode="auto">
          <a:xfrm>
            <a:off x="2714625" y="4287838"/>
            <a:ext cx="420688" cy="515937"/>
            <a:chOff x="2548243" y="5071558"/>
            <a:chExt cx="420308" cy="516251"/>
          </a:xfrm>
        </p:grpSpPr>
        <p:cxnSp>
          <p:nvCxnSpPr>
            <p:cNvPr id="47" name="Straight Connector 46">
              <a:extLst>
                <a:ext uri="{FF2B5EF4-FFF2-40B4-BE49-F238E27FC236}">
                  <a16:creationId xmlns:a16="http://schemas.microsoft.com/office/drawing/2014/main" id="{CC7D2816-7D56-42EC-B3B1-742B48BA0E3D}"/>
                </a:ext>
              </a:extLst>
            </p:cNvPr>
            <p:cNvCxnSpPr/>
            <p:nvPr/>
          </p:nvCxnSpPr>
          <p:spPr>
            <a:xfrm rot="5400000" flipH="1" flipV="1">
              <a:off x="2635315" y="5177986"/>
              <a:ext cx="214442"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971" name="TextBox 23">
              <a:extLst>
                <a:ext uri="{FF2B5EF4-FFF2-40B4-BE49-F238E27FC236}">
                  <a16:creationId xmlns:a16="http://schemas.microsoft.com/office/drawing/2014/main" id="{791C8760-F520-4556-B4F9-1A8C975176FC}"/>
                </a:ext>
              </a:extLst>
            </p:cNvPr>
            <p:cNvSpPr txBox="1">
              <a:spLocks noChangeArrowheads="1"/>
            </p:cNvSpPr>
            <p:nvPr/>
          </p:nvSpPr>
          <p:spPr bwMode="auto">
            <a:xfrm>
              <a:off x="2548243" y="5249255"/>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1</a:t>
              </a:r>
            </a:p>
          </p:txBody>
        </p:sp>
      </p:grpSp>
      <p:grpSp>
        <p:nvGrpSpPr>
          <p:cNvPr id="21" name="Group 51">
            <a:extLst>
              <a:ext uri="{FF2B5EF4-FFF2-40B4-BE49-F238E27FC236}">
                <a16:creationId xmlns:a16="http://schemas.microsoft.com/office/drawing/2014/main" id="{DB770B84-C2C2-4EB3-9E13-3E80C99F4ADD}"/>
              </a:ext>
            </a:extLst>
          </p:cNvPr>
          <p:cNvGrpSpPr>
            <a:grpSpLocks/>
          </p:cNvGrpSpPr>
          <p:nvPr/>
        </p:nvGrpSpPr>
        <p:grpSpPr bwMode="auto">
          <a:xfrm>
            <a:off x="4730750" y="4276725"/>
            <a:ext cx="420688" cy="527050"/>
            <a:chOff x="4731324" y="5059682"/>
            <a:chExt cx="420308" cy="528127"/>
          </a:xfrm>
        </p:grpSpPr>
        <p:cxnSp>
          <p:nvCxnSpPr>
            <p:cNvPr id="48" name="Straight Connector 47">
              <a:extLst>
                <a:ext uri="{FF2B5EF4-FFF2-40B4-BE49-F238E27FC236}">
                  <a16:creationId xmlns:a16="http://schemas.microsoft.com/office/drawing/2014/main" id="{F185D39E-4A2C-460D-BD50-232B25FAEFA6}"/>
                </a:ext>
              </a:extLst>
            </p:cNvPr>
            <p:cNvCxnSpPr/>
            <p:nvPr/>
          </p:nvCxnSpPr>
          <p:spPr>
            <a:xfrm rot="5400000" flipH="1" flipV="1">
              <a:off x="4819037" y="5165469"/>
              <a:ext cx="213160"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969" name="TextBox 23">
              <a:extLst>
                <a:ext uri="{FF2B5EF4-FFF2-40B4-BE49-F238E27FC236}">
                  <a16:creationId xmlns:a16="http://schemas.microsoft.com/office/drawing/2014/main" id="{A1556C6F-BBD8-4866-B3FB-90E32F443164}"/>
                </a:ext>
              </a:extLst>
            </p:cNvPr>
            <p:cNvSpPr txBox="1">
              <a:spLocks noChangeArrowheads="1"/>
            </p:cNvSpPr>
            <p:nvPr/>
          </p:nvSpPr>
          <p:spPr bwMode="auto">
            <a:xfrm>
              <a:off x="4731324" y="5249255"/>
              <a:ext cx="420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600"/>
                <a:t>Q</a:t>
              </a:r>
              <a:r>
                <a:rPr lang="en-US" altLang="en-US" sz="1600" baseline="-25000"/>
                <a:t>2</a:t>
              </a:r>
            </a:p>
          </p:txBody>
        </p:sp>
      </p:grpSp>
      <p:grpSp>
        <p:nvGrpSpPr>
          <p:cNvPr id="22" name="Group 65">
            <a:extLst>
              <a:ext uri="{FF2B5EF4-FFF2-40B4-BE49-F238E27FC236}">
                <a16:creationId xmlns:a16="http://schemas.microsoft.com/office/drawing/2014/main" id="{785F85BA-E139-466D-916C-BC7588E15D1F}"/>
              </a:ext>
            </a:extLst>
          </p:cNvPr>
          <p:cNvGrpSpPr>
            <a:grpSpLocks/>
          </p:cNvGrpSpPr>
          <p:nvPr/>
        </p:nvGrpSpPr>
        <p:grpSpPr bwMode="auto">
          <a:xfrm>
            <a:off x="2120900" y="2182813"/>
            <a:ext cx="839788" cy="2282825"/>
            <a:chOff x="1954480" y="2480031"/>
            <a:chExt cx="839544" cy="2282350"/>
          </a:xfrm>
        </p:grpSpPr>
        <p:cxnSp>
          <p:nvCxnSpPr>
            <p:cNvPr id="54" name="Straight Arrow Connector 53">
              <a:extLst>
                <a:ext uri="{FF2B5EF4-FFF2-40B4-BE49-F238E27FC236}">
                  <a16:creationId xmlns:a16="http://schemas.microsoft.com/office/drawing/2014/main" id="{CE3AC9A0-BA6C-4501-A8E4-82A529ED3D54}"/>
                </a:ext>
              </a:extLst>
            </p:cNvPr>
            <p:cNvCxnSpPr/>
            <p:nvPr/>
          </p:nvCxnSpPr>
          <p:spPr>
            <a:xfrm rot="16200000" flipV="1">
              <a:off x="1648881" y="3617239"/>
              <a:ext cx="2282350" cy="7936"/>
            </a:xfrm>
            <a:prstGeom prst="straightConnector1">
              <a:avLst/>
            </a:prstGeom>
            <a:ln w="57150">
              <a:solidFill>
                <a:srgbClr val="0000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967" name="TextBox 23">
              <a:extLst>
                <a:ext uri="{FF2B5EF4-FFF2-40B4-BE49-F238E27FC236}">
                  <a16:creationId xmlns:a16="http://schemas.microsoft.com/office/drawing/2014/main" id="{625FEEFD-D8F5-4D8D-A5CD-F659DA6F5041}"/>
                </a:ext>
              </a:extLst>
            </p:cNvPr>
            <p:cNvSpPr txBox="1">
              <a:spLocks noChangeArrowheads="1"/>
            </p:cNvSpPr>
            <p:nvPr/>
          </p:nvSpPr>
          <p:spPr bwMode="auto">
            <a:xfrm>
              <a:off x="1954480" y="2589194"/>
              <a:ext cx="8002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Value</a:t>
              </a:r>
            </a:p>
            <a:p>
              <a:pPr algn="ctr" eaLnBrk="1" hangingPunct="1"/>
              <a:r>
                <a:rPr lang="en-US" altLang="en-US" sz="1600"/>
                <a:t>to</a:t>
              </a:r>
            </a:p>
            <a:p>
              <a:pPr algn="ctr" eaLnBrk="1" hangingPunct="1"/>
              <a:r>
                <a:rPr lang="en-US" altLang="en-US" sz="1600"/>
                <a:t>buyers</a:t>
              </a:r>
            </a:p>
          </p:txBody>
        </p:sp>
      </p:grpSp>
      <p:grpSp>
        <p:nvGrpSpPr>
          <p:cNvPr id="23" name="Group 64">
            <a:extLst>
              <a:ext uri="{FF2B5EF4-FFF2-40B4-BE49-F238E27FC236}">
                <a16:creationId xmlns:a16="http://schemas.microsoft.com/office/drawing/2014/main" id="{ADC920E9-8D39-4341-B7F4-E29BBF5E1148}"/>
              </a:ext>
            </a:extLst>
          </p:cNvPr>
          <p:cNvGrpSpPr>
            <a:grpSpLocks/>
          </p:cNvGrpSpPr>
          <p:nvPr/>
        </p:nvGrpSpPr>
        <p:grpSpPr bwMode="auto">
          <a:xfrm>
            <a:off x="4975225" y="3230563"/>
            <a:ext cx="876300" cy="1233487"/>
            <a:chOff x="4975762" y="3526971"/>
            <a:chExt cx="876418" cy="1233431"/>
          </a:xfrm>
        </p:grpSpPr>
        <p:cxnSp>
          <p:nvCxnSpPr>
            <p:cNvPr id="57" name="Straight Arrow Connector 56">
              <a:extLst>
                <a:ext uri="{FF2B5EF4-FFF2-40B4-BE49-F238E27FC236}">
                  <a16:creationId xmlns:a16="http://schemas.microsoft.com/office/drawing/2014/main" id="{0FC52E72-2063-40F5-9CE2-1EB835AF2BC0}"/>
                </a:ext>
              </a:extLst>
            </p:cNvPr>
            <p:cNvCxnSpPr/>
            <p:nvPr/>
          </p:nvCxnSpPr>
          <p:spPr>
            <a:xfrm rot="16200000" flipV="1">
              <a:off x="4359840" y="4142893"/>
              <a:ext cx="1233431" cy="1588"/>
            </a:xfrm>
            <a:prstGeom prst="straightConnector1">
              <a:avLst/>
            </a:prstGeom>
            <a:ln w="57150">
              <a:solidFill>
                <a:srgbClr val="0000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965" name="TextBox 23">
              <a:extLst>
                <a:ext uri="{FF2B5EF4-FFF2-40B4-BE49-F238E27FC236}">
                  <a16:creationId xmlns:a16="http://schemas.microsoft.com/office/drawing/2014/main" id="{8389EDD4-3748-4727-9318-15D9D800FA06}"/>
                </a:ext>
              </a:extLst>
            </p:cNvPr>
            <p:cNvSpPr txBox="1">
              <a:spLocks noChangeArrowheads="1"/>
            </p:cNvSpPr>
            <p:nvPr/>
          </p:nvSpPr>
          <p:spPr bwMode="auto">
            <a:xfrm>
              <a:off x="5051961" y="3917251"/>
              <a:ext cx="8002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Value</a:t>
              </a:r>
            </a:p>
            <a:p>
              <a:pPr algn="ctr" eaLnBrk="1" hangingPunct="1"/>
              <a:r>
                <a:rPr lang="en-US" altLang="en-US" sz="1600"/>
                <a:t>to</a:t>
              </a:r>
            </a:p>
            <a:p>
              <a:pPr algn="ctr" eaLnBrk="1" hangingPunct="1"/>
              <a:r>
                <a:rPr lang="en-US" altLang="en-US" sz="1600"/>
                <a:t>buyers</a:t>
              </a:r>
            </a:p>
          </p:txBody>
        </p:sp>
      </p:grpSp>
      <p:grpSp>
        <p:nvGrpSpPr>
          <p:cNvPr id="26" name="Group 68">
            <a:extLst>
              <a:ext uri="{FF2B5EF4-FFF2-40B4-BE49-F238E27FC236}">
                <a16:creationId xmlns:a16="http://schemas.microsoft.com/office/drawing/2014/main" id="{C28D6E16-7089-4B89-A00F-F0C2EFAF6D81}"/>
              </a:ext>
            </a:extLst>
          </p:cNvPr>
          <p:cNvGrpSpPr>
            <a:grpSpLocks/>
          </p:cNvGrpSpPr>
          <p:nvPr/>
        </p:nvGrpSpPr>
        <p:grpSpPr bwMode="auto">
          <a:xfrm>
            <a:off x="4868863" y="2019300"/>
            <a:ext cx="790575" cy="2455863"/>
            <a:chOff x="4868884" y="2315688"/>
            <a:chExt cx="791019" cy="2456593"/>
          </a:xfrm>
        </p:grpSpPr>
        <p:cxnSp>
          <p:nvCxnSpPr>
            <p:cNvPr id="59" name="Straight Arrow Connector 58">
              <a:extLst>
                <a:ext uri="{FF2B5EF4-FFF2-40B4-BE49-F238E27FC236}">
                  <a16:creationId xmlns:a16="http://schemas.microsoft.com/office/drawing/2014/main" id="{0D57A092-0321-44FB-A130-0DBBAA084CF4}"/>
                </a:ext>
              </a:extLst>
            </p:cNvPr>
            <p:cNvCxnSpPr/>
            <p:nvPr/>
          </p:nvCxnSpPr>
          <p:spPr>
            <a:xfrm rot="16200000" flipV="1">
              <a:off x="3646941" y="3537631"/>
              <a:ext cx="2456593" cy="12707"/>
            </a:xfrm>
            <a:prstGeom prst="straightConnector1">
              <a:avLst/>
            </a:prstGeom>
            <a:ln w="571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963" name="TextBox 23">
              <a:extLst>
                <a:ext uri="{FF2B5EF4-FFF2-40B4-BE49-F238E27FC236}">
                  <a16:creationId xmlns:a16="http://schemas.microsoft.com/office/drawing/2014/main" id="{A7F9355B-1C88-498E-BC75-BDFB7AB739AC}"/>
                </a:ext>
              </a:extLst>
            </p:cNvPr>
            <p:cNvSpPr txBox="1">
              <a:spLocks noChangeArrowheads="1"/>
            </p:cNvSpPr>
            <p:nvPr/>
          </p:nvSpPr>
          <p:spPr bwMode="auto">
            <a:xfrm>
              <a:off x="4883728" y="2561485"/>
              <a:ext cx="7761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Cost</a:t>
              </a:r>
            </a:p>
            <a:p>
              <a:pPr algn="ctr" eaLnBrk="1" hangingPunct="1"/>
              <a:r>
                <a:rPr lang="en-US" altLang="en-US" sz="1600"/>
                <a:t>to</a:t>
              </a:r>
            </a:p>
            <a:p>
              <a:pPr algn="ctr" eaLnBrk="1" hangingPunct="1"/>
              <a:r>
                <a:rPr lang="en-US" altLang="en-US" sz="1600"/>
                <a:t>sellers</a:t>
              </a:r>
            </a:p>
          </p:txBody>
        </p:sp>
      </p:grpSp>
      <p:grpSp>
        <p:nvGrpSpPr>
          <p:cNvPr id="29" name="Group 69">
            <a:extLst>
              <a:ext uri="{FF2B5EF4-FFF2-40B4-BE49-F238E27FC236}">
                <a16:creationId xmlns:a16="http://schemas.microsoft.com/office/drawing/2014/main" id="{2C0EECF5-848A-4D24-AC6C-5DDACC5C54C4}"/>
              </a:ext>
            </a:extLst>
          </p:cNvPr>
          <p:cNvGrpSpPr>
            <a:grpSpLocks/>
          </p:cNvGrpSpPr>
          <p:nvPr/>
        </p:nvGrpSpPr>
        <p:grpSpPr bwMode="auto">
          <a:xfrm>
            <a:off x="2103438" y="3449638"/>
            <a:ext cx="776287" cy="1092200"/>
            <a:chOff x="1936667" y="3746810"/>
            <a:chExt cx="776175" cy="1092482"/>
          </a:xfrm>
        </p:grpSpPr>
        <p:cxnSp>
          <p:nvCxnSpPr>
            <p:cNvPr id="61" name="Straight Arrow Connector 60">
              <a:extLst>
                <a:ext uri="{FF2B5EF4-FFF2-40B4-BE49-F238E27FC236}">
                  <a16:creationId xmlns:a16="http://schemas.microsoft.com/office/drawing/2014/main" id="{DBAA5648-F3EB-42AB-A0B2-FEB9D76250D8}"/>
                </a:ext>
              </a:extLst>
            </p:cNvPr>
            <p:cNvCxnSpPr/>
            <p:nvPr/>
          </p:nvCxnSpPr>
          <p:spPr>
            <a:xfrm rot="16200000" flipV="1">
              <a:off x="2172169" y="4258912"/>
              <a:ext cx="1035317" cy="11111"/>
            </a:xfrm>
            <a:prstGeom prst="straightConnector1">
              <a:avLst/>
            </a:prstGeom>
            <a:ln w="571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961" name="TextBox 23">
              <a:extLst>
                <a:ext uri="{FF2B5EF4-FFF2-40B4-BE49-F238E27FC236}">
                  <a16:creationId xmlns:a16="http://schemas.microsoft.com/office/drawing/2014/main" id="{867A3E18-BA78-42B8-A2CA-BDB1DAC6A859}"/>
                </a:ext>
              </a:extLst>
            </p:cNvPr>
            <p:cNvSpPr txBox="1">
              <a:spLocks noChangeArrowheads="1"/>
            </p:cNvSpPr>
            <p:nvPr/>
          </p:nvSpPr>
          <p:spPr bwMode="auto">
            <a:xfrm>
              <a:off x="1936667" y="4008295"/>
              <a:ext cx="7761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Cost</a:t>
              </a:r>
            </a:p>
            <a:p>
              <a:pPr algn="ctr" eaLnBrk="1" hangingPunct="1"/>
              <a:r>
                <a:rPr lang="en-US" altLang="en-US" sz="1600"/>
                <a:t>to</a:t>
              </a:r>
            </a:p>
            <a:p>
              <a:pPr algn="ctr" eaLnBrk="1" hangingPunct="1"/>
              <a:r>
                <a:rPr lang="en-US" altLang="en-US" sz="1600"/>
                <a:t>sellers</a:t>
              </a:r>
            </a:p>
          </p:txBody>
        </p:sp>
      </p:grpSp>
      <p:grpSp>
        <p:nvGrpSpPr>
          <p:cNvPr id="30" name="Group 75">
            <a:extLst>
              <a:ext uri="{FF2B5EF4-FFF2-40B4-BE49-F238E27FC236}">
                <a16:creationId xmlns:a16="http://schemas.microsoft.com/office/drawing/2014/main" id="{D72097F0-2019-4983-965B-07CD632D8B6C}"/>
              </a:ext>
            </a:extLst>
          </p:cNvPr>
          <p:cNvGrpSpPr>
            <a:grpSpLocks/>
          </p:cNvGrpSpPr>
          <p:nvPr/>
        </p:nvGrpSpPr>
        <p:grpSpPr bwMode="auto">
          <a:xfrm>
            <a:off x="1497013" y="4892675"/>
            <a:ext cx="2392362" cy="831850"/>
            <a:chOff x="1496292" y="4892651"/>
            <a:chExt cx="2392878" cy="832343"/>
          </a:xfrm>
        </p:grpSpPr>
        <p:sp>
          <p:nvSpPr>
            <p:cNvPr id="73" name="Left Brace 72">
              <a:extLst>
                <a:ext uri="{FF2B5EF4-FFF2-40B4-BE49-F238E27FC236}">
                  <a16:creationId xmlns:a16="http://schemas.microsoft.com/office/drawing/2014/main" id="{87FB73B8-9883-4628-B097-DA937102B3CE}"/>
                </a:ext>
              </a:extLst>
            </p:cNvPr>
            <p:cNvSpPr/>
            <p:nvPr/>
          </p:nvSpPr>
          <p:spPr>
            <a:xfrm rot="16200000">
              <a:off x="2701409" y="3995575"/>
              <a:ext cx="290685" cy="2084837"/>
            </a:xfrm>
            <a:prstGeom prst="leftBrace">
              <a:avLst>
                <a:gd name="adj1" fmla="val 48333"/>
                <a:gd name="adj2" fmla="val 50000"/>
              </a:avLst>
            </a:prstGeom>
            <a:ln w="19050">
              <a:solidFill>
                <a:srgbClr val="80008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9959" name="TextBox 23">
              <a:extLst>
                <a:ext uri="{FF2B5EF4-FFF2-40B4-BE49-F238E27FC236}">
                  <a16:creationId xmlns:a16="http://schemas.microsoft.com/office/drawing/2014/main" id="{D3127DDA-BBA8-4DC6-B53D-C7D695D9B710}"/>
                </a:ext>
              </a:extLst>
            </p:cNvPr>
            <p:cNvSpPr txBox="1">
              <a:spLocks noChangeArrowheads="1"/>
            </p:cNvSpPr>
            <p:nvPr/>
          </p:nvSpPr>
          <p:spPr bwMode="auto">
            <a:xfrm>
              <a:off x="1496292" y="5201774"/>
              <a:ext cx="2216172"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Value to buyers is greater than cost to sellers</a:t>
              </a:r>
            </a:p>
          </p:txBody>
        </p:sp>
      </p:grpSp>
      <p:grpSp>
        <p:nvGrpSpPr>
          <p:cNvPr id="31" name="Group 76">
            <a:extLst>
              <a:ext uri="{FF2B5EF4-FFF2-40B4-BE49-F238E27FC236}">
                <a16:creationId xmlns:a16="http://schemas.microsoft.com/office/drawing/2014/main" id="{46A790F2-7D9D-4D0D-81F4-F78152495A81}"/>
              </a:ext>
            </a:extLst>
          </p:cNvPr>
          <p:cNvGrpSpPr>
            <a:grpSpLocks/>
          </p:cNvGrpSpPr>
          <p:nvPr/>
        </p:nvGrpSpPr>
        <p:grpSpPr bwMode="auto">
          <a:xfrm>
            <a:off x="3963988" y="4892675"/>
            <a:ext cx="2143125" cy="831850"/>
            <a:chOff x="1805052" y="4892651"/>
            <a:chExt cx="2142437" cy="832343"/>
          </a:xfrm>
        </p:grpSpPr>
        <p:sp>
          <p:nvSpPr>
            <p:cNvPr id="78" name="Left Brace 77">
              <a:extLst>
                <a:ext uri="{FF2B5EF4-FFF2-40B4-BE49-F238E27FC236}">
                  <a16:creationId xmlns:a16="http://schemas.microsoft.com/office/drawing/2014/main" id="{7FAFD687-9006-485C-8DF1-952AEA4A4C7E}"/>
                </a:ext>
              </a:extLst>
            </p:cNvPr>
            <p:cNvSpPr/>
            <p:nvPr/>
          </p:nvSpPr>
          <p:spPr>
            <a:xfrm rot="16200000">
              <a:off x="2639675" y="4058028"/>
              <a:ext cx="290685" cy="1959933"/>
            </a:xfrm>
            <a:prstGeom prst="leftBrace">
              <a:avLst>
                <a:gd name="adj1" fmla="val 48333"/>
                <a:gd name="adj2" fmla="val 50000"/>
              </a:avLst>
            </a:prstGeom>
            <a:ln w="19050">
              <a:solidFill>
                <a:srgbClr val="80008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9957" name="TextBox 23">
              <a:extLst>
                <a:ext uri="{FF2B5EF4-FFF2-40B4-BE49-F238E27FC236}">
                  <a16:creationId xmlns:a16="http://schemas.microsoft.com/office/drawing/2014/main" id="{594E671B-16AE-4243-A221-60847AF5F04F}"/>
                </a:ext>
              </a:extLst>
            </p:cNvPr>
            <p:cNvSpPr txBox="1">
              <a:spLocks noChangeArrowheads="1"/>
            </p:cNvSpPr>
            <p:nvPr/>
          </p:nvSpPr>
          <p:spPr bwMode="auto">
            <a:xfrm>
              <a:off x="1961263" y="5201774"/>
              <a:ext cx="1986226" cy="523220"/>
            </a:xfrm>
            <a:prstGeom prst="rect">
              <a:avLst/>
            </a:prstGeom>
            <a:solidFill>
              <a:srgbClr val="F8EDE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400">
                  <a:solidFill>
                    <a:srgbClr val="800080"/>
                  </a:solidFill>
                </a:rPr>
                <a:t>Value to buyers is less than cost to sellers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left)">
                                      <p:cBhvr>
                                        <p:cTn id="14" dur="1000"/>
                                        <p:tgtEl>
                                          <p:spTgt spid="18"/>
                                        </p:tgtEl>
                                      </p:cBhvr>
                                    </p:animEffect>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left)">
                                      <p:cBhvr>
                                        <p:cTn id="18" dur="1000"/>
                                        <p:tgtEl>
                                          <p:spTgt spid="19"/>
                                        </p:tgtEl>
                                      </p:cBhvr>
                                    </p:animEffect>
                                  </p:childTnLst>
                                </p:cTn>
                              </p:par>
                            </p:childTnLst>
                          </p:cTn>
                        </p:par>
                        <p:par>
                          <p:cTn id="19" fill="hold" nodeType="afterGroup">
                            <p:stCondLst>
                              <p:cond delay="2500"/>
                            </p:stCondLst>
                            <p:childTnLst>
                              <p:par>
                                <p:cTn id="20" presetID="22" presetClass="entr" presetSubtype="8" fill="hold" nodeType="after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500"/>
                                        <p:tgtEl>
                                          <p:spTgt spid="44"/>
                                        </p:tgtEl>
                                      </p:cBhvr>
                                    </p:animEffect>
                                  </p:childTnLst>
                                </p:cTn>
                              </p:par>
                            </p:childTnLst>
                          </p:cTn>
                        </p:par>
                        <p:par>
                          <p:cTn id="23" fill="hold" nodeType="afterGroup">
                            <p:stCondLst>
                              <p:cond delay="3000"/>
                            </p:stCondLst>
                            <p:childTnLst>
                              <p:par>
                                <p:cTn id="24" presetID="22" presetClass="entr" presetSubtype="1"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up)">
                                      <p:cBhvr>
                                        <p:cTn id="26" dur="500"/>
                                        <p:tgtEl>
                                          <p:spTgt spid="15"/>
                                        </p:tgtEl>
                                      </p:cBhvr>
                                    </p:animEffect>
                                  </p:childTnLst>
                                </p:cTn>
                              </p:par>
                            </p:childTnLst>
                          </p:cTn>
                        </p:par>
                        <p:par>
                          <p:cTn id="27" fill="hold" nodeType="afterGroup">
                            <p:stCondLst>
                              <p:cond delay="3500"/>
                            </p:stCondLst>
                            <p:childTnLst>
                              <p:par>
                                <p:cTn id="28" presetID="22" presetClass="entr" presetSubtype="8"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par>
                          <p:cTn id="31" fill="hold" nodeType="afterGroup">
                            <p:stCondLst>
                              <p:cond delay="4000"/>
                            </p:stCondLst>
                            <p:childTnLst>
                              <p:par>
                                <p:cTn id="32" presetID="22" presetClass="entr" presetSubtype="4" fill="hold"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down)">
                                      <p:cBhvr>
                                        <p:cTn id="34" dur="1000"/>
                                        <p:tgtEl>
                                          <p:spTgt spid="22"/>
                                        </p:tgtEl>
                                      </p:cBhvr>
                                    </p:animEffect>
                                  </p:childTnLst>
                                </p:cTn>
                              </p:par>
                            </p:childTnLst>
                          </p:cTn>
                        </p:par>
                        <p:par>
                          <p:cTn id="35" fill="hold" nodeType="afterGroup">
                            <p:stCondLst>
                              <p:cond delay="5000"/>
                            </p:stCondLst>
                            <p:childTnLst>
                              <p:par>
                                <p:cTn id="36" presetID="22" presetClass="entr" presetSubtype="4" fill="hold"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down)">
                                      <p:cBhvr>
                                        <p:cTn id="38" dur="1000"/>
                                        <p:tgtEl>
                                          <p:spTgt spid="29"/>
                                        </p:tgtEl>
                                      </p:cBhvr>
                                    </p:animEffect>
                                  </p:childTnLst>
                                </p:cTn>
                              </p:par>
                            </p:childTnLst>
                          </p:cTn>
                        </p:par>
                        <p:par>
                          <p:cTn id="39" fill="hold" nodeType="afterGroup">
                            <p:stCondLst>
                              <p:cond delay="6000"/>
                            </p:stCondLst>
                            <p:childTnLst>
                              <p:par>
                                <p:cTn id="40" presetID="22" presetClass="entr" presetSubtype="8" fill="hold" nodeType="after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left)">
                                      <p:cBhvr>
                                        <p:cTn id="42" dur="500"/>
                                        <p:tgtEl>
                                          <p:spTgt spid="30"/>
                                        </p:tgtEl>
                                      </p:cBhvr>
                                    </p:animEffect>
                                  </p:childTnLst>
                                </p:cTn>
                              </p:par>
                            </p:childTnLst>
                          </p:cTn>
                        </p:par>
                        <p:par>
                          <p:cTn id="43" fill="hold" nodeType="afterGroup">
                            <p:stCondLst>
                              <p:cond delay="6500"/>
                            </p:stCondLst>
                            <p:childTnLst>
                              <p:par>
                                <p:cTn id="44" presetID="22" presetClass="entr" presetSubtype="8"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childTnLst>
                          </p:cTn>
                        </p:par>
                        <p:par>
                          <p:cTn id="47" fill="hold" nodeType="afterGroup">
                            <p:stCondLst>
                              <p:cond delay="7000"/>
                            </p:stCondLst>
                            <p:childTnLst>
                              <p:par>
                                <p:cTn id="48" presetID="22" presetClass="entr" presetSubtype="4" fill="hold" nodeType="after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down)">
                                      <p:cBhvr>
                                        <p:cTn id="50" dur="1000"/>
                                        <p:tgtEl>
                                          <p:spTgt spid="23"/>
                                        </p:tgtEl>
                                      </p:cBhvr>
                                    </p:animEffect>
                                  </p:childTnLst>
                                </p:cTn>
                              </p:par>
                            </p:childTnLst>
                          </p:cTn>
                        </p:par>
                        <p:par>
                          <p:cTn id="51" fill="hold" nodeType="afterGroup">
                            <p:stCondLst>
                              <p:cond delay="8000"/>
                            </p:stCondLst>
                            <p:childTnLst>
                              <p:par>
                                <p:cTn id="52" presetID="22" presetClass="entr" presetSubtype="4" fill="hold" nodeType="after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wipe(down)">
                                      <p:cBhvr>
                                        <p:cTn id="54" dur="1000"/>
                                        <p:tgtEl>
                                          <p:spTgt spid="26"/>
                                        </p:tgtEl>
                                      </p:cBhvr>
                                    </p:animEffect>
                                  </p:childTnLst>
                                </p:cTn>
                              </p:par>
                            </p:childTnLst>
                          </p:cTn>
                        </p:par>
                        <p:par>
                          <p:cTn id="55" fill="hold" nodeType="afterGroup">
                            <p:stCondLst>
                              <p:cond delay="9000"/>
                            </p:stCondLst>
                            <p:childTnLst>
                              <p:par>
                                <p:cTn id="56" presetID="22" presetClass="entr" presetSubtype="8" fill="hold"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left)">
                                      <p:cBhvr>
                                        <p:cTn id="58" dur="500"/>
                                        <p:tgtEl>
                                          <p:spTgt spid="31"/>
                                        </p:tgtEl>
                                      </p:cBhvr>
                                    </p:animEffect>
                                  </p:childTnLst>
                                </p:cTn>
                              </p:par>
                            </p:childTnLst>
                          </p:cTn>
                        </p:par>
                        <p:par>
                          <p:cTn id="59" fill="hold" nodeType="afterGroup">
                            <p:stCondLst>
                              <p:cond delay="9500"/>
                            </p:stCondLst>
                            <p:childTnLst>
                              <p:par>
                                <p:cTn id="60" presetID="22" presetClass="entr" presetSubtype="8" fill="hold" grpId="0"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5D907707-2177-451E-BC5B-C713833C120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a:t>
            </a:r>
          </a:p>
        </p:txBody>
      </p:sp>
      <p:sp>
        <p:nvSpPr>
          <p:cNvPr id="3" name="Content Placeholder 2">
            <a:extLst>
              <a:ext uri="{FF2B5EF4-FFF2-40B4-BE49-F238E27FC236}">
                <a16:creationId xmlns:a16="http://schemas.microsoft.com/office/drawing/2014/main" id="{3178A17F-FA01-4871-B2B6-66D7CB5DC7E9}"/>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Evaluating the market equilibrium</a:t>
            </a:r>
          </a:p>
          <a:p>
            <a:r>
              <a:rPr lang="en-US" altLang="en-US"/>
              <a:t>Equilibrium outcome</a:t>
            </a:r>
          </a:p>
          <a:p>
            <a:pPr lvl="1"/>
            <a:r>
              <a:rPr lang="en-US" altLang="en-US"/>
              <a:t>Efficient allocation of resources</a:t>
            </a:r>
          </a:p>
          <a:p>
            <a:r>
              <a:rPr lang="en-US" altLang="en-US"/>
              <a:t>The benevolent social planner</a:t>
            </a:r>
          </a:p>
          <a:p>
            <a:pPr lvl="1"/>
            <a:r>
              <a:rPr lang="en-US" altLang="en-US"/>
              <a:t>Can leave the market outcome just as he finds it</a:t>
            </a:r>
          </a:p>
          <a:p>
            <a:pPr lvl="1"/>
            <a:r>
              <a:rPr lang="en-US" altLang="en-US"/>
              <a:t>“Laissez faire” = “allow them to do”</a:t>
            </a:r>
          </a:p>
        </p:txBody>
      </p:sp>
      <p:sp>
        <p:nvSpPr>
          <p:cNvPr id="40964" name="Slide Number Placeholder 3">
            <a:extLst>
              <a:ext uri="{FF2B5EF4-FFF2-40B4-BE49-F238E27FC236}">
                <a16:creationId xmlns:a16="http://schemas.microsoft.com/office/drawing/2014/main" id="{CFF91DDD-208B-4AFD-833B-3509AC1750F0}"/>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566D2A8-06F2-4029-8947-F562BD638140}" type="slidenum">
              <a:rPr lang="en-US" altLang="en-US">
                <a:latin typeface="Calibri" panose="020F0502020204030204" pitchFamily="34" charset="0"/>
              </a:rPr>
              <a:pPr/>
              <a:t>28</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E5F0A358-C521-4319-852A-6A574D1B72E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a:t>
            </a:r>
          </a:p>
        </p:txBody>
      </p:sp>
      <p:sp>
        <p:nvSpPr>
          <p:cNvPr id="3" name="Content Placeholder 2">
            <a:extLst>
              <a:ext uri="{FF2B5EF4-FFF2-40B4-BE49-F238E27FC236}">
                <a16:creationId xmlns:a16="http://schemas.microsoft.com/office/drawing/2014/main" id="{A0DECFDC-86DA-4006-AB00-76C87F02AB33}"/>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solidFill>
                  <a:srgbClr val="C00000"/>
                </a:solidFill>
              </a:rPr>
              <a:t>Evaluating the market equilibrium</a:t>
            </a:r>
          </a:p>
          <a:p>
            <a:r>
              <a:rPr lang="en-US" altLang="en-US"/>
              <a:t>Adam Smith’s invisible hand</a:t>
            </a:r>
          </a:p>
          <a:p>
            <a:pPr lvl="1"/>
            <a:r>
              <a:rPr lang="en-US" altLang="en-US"/>
              <a:t>Takes all the information about buyers and sellers into account</a:t>
            </a:r>
          </a:p>
          <a:p>
            <a:pPr lvl="1"/>
            <a:r>
              <a:rPr lang="en-US" altLang="en-US"/>
              <a:t>Guides everyone in the market to the best outcome</a:t>
            </a:r>
          </a:p>
          <a:p>
            <a:pPr lvl="2"/>
            <a:r>
              <a:rPr lang="en-US" altLang="en-US"/>
              <a:t>Economic efficiency</a:t>
            </a:r>
          </a:p>
          <a:p>
            <a:r>
              <a:rPr lang="en-US" altLang="en-US"/>
              <a:t>Free markets = best way to organize economic activity</a:t>
            </a:r>
          </a:p>
        </p:txBody>
      </p:sp>
      <p:sp>
        <p:nvSpPr>
          <p:cNvPr id="41988" name="Slide Number Placeholder 3">
            <a:extLst>
              <a:ext uri="{FF2B5EF4-FFF2-40B4-BE49-F238E27FC236}">
                <a16:creationId xmlns:a16="http://schemas.microsoft.com/office/drawing/2014/main" id="{B6E934D2-8AC0-48B3-A190-1B2371583C0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BBCBD0-05B7-4EA9-B51E-E9EFF6618771}" type="slidenum">
              <a:rPr lang="en-US" altLang="en-US">
                <a:latin typeface="Calibri" panose="020F0502020204030204" pitchFamily="34" charset="0"/>
              </a:rPr>
              <a:pPr/>
              <a:t>29</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27AD8460-BCD1-49C3-BADD-D76942F4FEE5}"/>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 &amp; Market Failure</a:t>
            </a:r>
          </a:p>
        </p:txBody>
      </p:sp>
      <p:sp>
        <p:nvSpPr>
          <p:cNvPr id="3" name="Content Placeholder 2">
            <a:extLst>
              <a:ext uri="{FF2B5EF4-FFF2-40B4-BE49-F238E27FC236}">
                <a16:creationId xmlns:a16="http://schemas.microsoft.com/office/drawing/2014/main" id="{094B2EB1-F594-4B5F-9D2D-54D2F665FCBE}"/>
              </a:ext>
            </a:extLst>
          </p:cNvPr>
          <p:cNvSpPr>
            <a:spLocks noGrp="1"/>
          </p:cNvSpPr>
          <p:nvPr>
            <p:ph idx="1"/>
          </p:nvPr>
        </p:nvSpPr>
        <p:spPr/>
        <p:txBody>
          <a:bodyPr/>
          <a:lstStyle/>
          <a:p>
            <a:pPr>
              <a:buFont typeface="Arial" charset="0"/>
              <a:buChar char="•"/>
              <a:defRPr/>
            </a:pPr>
            <a:r>
              <a:rPr lang="en-US" dirty="0"/>
              <a:t>Forces of supply and demand allocate resources efficiently </a:t>
            </a:r>
          </a:p>
          <a:p>
            <a:pPr lvl="1">
              <a:buFont typeface="Arial" charset="0"/>
              <a:buChar char="–"/>
              <a:defRPr/>
            </a:pPr>
            <a:r>
              <a:rPr lang="en-US" dirty="0"/>
              <a:t>Several assumptions about how markets work</a:t>
            </a:r>
          </a:p>
          <a:p>
            <a:pPr marL="1428750" lvl="2" indent="-514350">
              <a:buFont typeface="+mj-lt"/>
              <a:buAutoNum type="arabicPeriod"/>
              <a:defRPr/>
            </a:pPr>
            <a:r>
              <a:rPr lang="en-US" dirty="0"/>
              <a:t>Markets are perfectly competitive</a:t>
            </a:r>
          </a:p>
          <a:p>
            <a:pPr marL="1428750" lvl="2" indent="-514350">
              <a:buFont typeface="+mj-lt"/>
              <a:buAutoNum type="arabicPeriod"/>
              <a:defRPr/>
            </a:pPr>
            <a:r>
              <a:rPr lang="en-US" dirty="0"/>
              <a:t>Outcome in a market matters only to the buyers and sellers in that market</a:t>
            </a:r>
          </a:p>
          <a:p>
            <a:pPr lvl="1">
              <a:buFont typeface="Arial" charset="0"/>
              <a:buChar char="–"/>
              <a:defRPr/>
            </a:pPr>
            <a:r>
              <a:rPr lang="en-US" dirty="0"/>
              <a:t>When these assumptions do not hold</a:t>
            </a:r>
          </a:p>
          <a:p>
            <a:pPr lvl="2">
              <a:buFont typeface="Arial" charset="0"/>
              <a:buChar char="•"/>
              <a:defRPr/>
            </a:pPr>
            <a:r>
              <a:rPr lang="en-US" dirty="0"/>
              <a:t>Our conclusion that the market equilibrium is efficient may no longer be true </a:t>
            </a:r>
          </a:p>
        </p:txBody>
      </p:sp>
      <p:sp>
        <p:nvSpPr>
          <p:cNvPr id="43012" name="Slide Number Placeholder 3">
            <a:extLst>
              <a:ext uri="{FF2B5EF4-FFF2-40B4-BE49-F238E27FC236}">
                <a16:creationId xmlns:a16="http://schemas.microsoft.com/office/drawing/2014/main" id="{003F06BA-9F7B-4612-8321-959F2D5827F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B835EB4-1049-4D09-AC20-B1524E773691}" type="slidenum">
              <a:rPr lang="en-US" altLang="en-US">
                <a:latin typeface="Calibri" panose="020F0502020204030204" pitchFamily="34" charset="0"/>
              </a:rPr>
              <a:pPr/>
              <a:t>30</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9BEA1233-F13A-46BE-B584-E1664519024C}"/>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 &amp; Market Failure</a:t>
            </a:r>
          </a:p>
        </p:txBody>
      </p:sp>
      <p:sp>
        <p:nvSpPr>
          <p:cNvPr id="3" name="Content Placeholder 2">
            <a:extLst>
              <a:ext uri="{FF2B5EF4-FFF2-40B4-BE49-F238E27FC236}">
                <a16:creationId xmlns:a16="http://schemas.microsoft.com/office/drawing/2014/main" id="{2FC2C968-099E-4376-888A-D971DEADB602}"/>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In the world</a:t>
            </a:r>
          </a:p>
          <a:p>
            <a:pPr lvl="1"/>
            <a:r>
              <a:rPr lang="en-US" altLang="en-US"/>
              <a:t>Competition - far from perfect</a:t>
            </a:r>
          </a:p>
          <a:p>
            <a:pPr lvl="2"/>
            <a:r>
              <a:rPr lang="en-US" altLang="en-US"/>
              <a:t>Market power</a:t>
            </a:r>
          </a:p>
          <a:p>
            <a:pPr lvl="3"/>
            <a:r>
              <a:rPr lang="en-US" altLang="en-US"/>
              <a:t>A single buyer or seller (small group)</a:t>
            </a:r>
          </a:p>
          <a:p>
            <a:pPr lvl="3"/>
            <a:r>
              <a:rPr lang="en-US" altLang="en-US"/>
              <a:t>Control market prices</a:t>
            </a:r>
          </a:p>
          <a:p>
            <a:pPr lvl="3"/>
            <a:r>
              <a:rPr lang="en-US" altLang="en-US"/>
              <a:t>Markets are inefficient</a:t>
            </a:r>
          </a:p>
          <a:p>
            <a:pPr lvl="4"/>
            <a:r>
              <a:rPr lang="en-US" altLang="en-US"/>
              <a:t>Keeps the price and quantity away from the equilibrium of supply and demand</a:t>
            </a:r>
          </a:p>
        </p:txBody>
      </p:sp>
      <p:sp>
        <p:nvSpPr>
          <p:cNvPr id="44036" name="Slide Number Placeholder 3">
            <a:extLst>
              <a:ext uri="{FF2B5EF4-FFF2-40B4-BE49-F238E27FC236}">
                <a16:creationId xmlns:a16="http://schemas.microsoft.com/office/drawing/2014/main" id="{0ACA2825-4A0A-43E3-8311-85440798FDF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0530CAA-6B70-4748-B83D-AD1E09D18AFB}" type="slidenum">
              <a:rPr lang="en-US" altLang="en-US">
                <a:latin typeface="Calibri" panose="020F0502020204030204" pitchFamily="34" charset="0"/>
              </a:rPr>
              <a:pPr/>
              <a:t>31</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5ECC5CC2-F84E-4AF6-961A-FA3D424D798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 &amp; Market Failure</a:t>
            </a:r>
          </a:p>
        </p:txBody>
      </p:sp>
      <p:sp>
        <p:nvSpPr>
          <p:cNvPr id="3" name="Content Placeholder 2">
            <a:extLst>
              <a:ext uri="{FF2B5EF4-FFF2-40B4-BE49-F238E27FC236}">
                <a16:creationId xmlns:a16="http://schemas.microsoft.com/office/drawing/2014/main" id="{23AE9874-B6A2-4204-B43F-3EB3682B1FD1}"/>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In the world</a:t>
            </a:r>
          </a:p>
          <a:p>
            <a:pPr lvl="1"/>
            <a:r>
              <a:rPr lang="en-US" altLang="en-US"/>
              <a:t>Decisions of buyers and sellers</a:t>
            </a:r>
          </a:p>
          <a:p>
            <a:pPr lvl="2"/>
            <a:r>
              <a:rPr lang="en-US" altLang="en-US"/>
              <a:t>Affect people who are not participants in the market at all</a:t>
            </a:r>
          </a:p>
          <a:p>
            <a:pPr lvl="2"/>
            <a:r>
              <a:rPr lang="en-US" altLang="en-US"/>
              <a:t>Externalities</a:t>
            </a:r>
          </a:p>
          <a:p>
            <a:pPr lvl="3"/>
            <a:r>
              <a:rPr lang="en-US" altLang="en-US"/>
              <a:t>Cause welfare in a market to depend on more than just the value to the buyers and the cost to the sellers</a:t>
            </a:r>
          </a:p>
          <a:p>
            <a:pPr lvl="2"/>
            <a:r>
              <a:rPr lang="en-US" altLang="en-US"/>
              <a:t>Inefficient equilibrium</a:t>
            </a:r>
          </a:p>
          <a:p>
            <a:pPr lvl="3"/>
            <a:r>
              <a:rPr lang="en-US" altLang="en-US"/>
              <a:t>From the standpoint of society as a whole</a:t>
            </a:r>
          </a:p>
        </p:txBody>
      </p:sp>
      <p:sp>
        <p:nvSpPr>
          <p:cNvPr id="45060" name="Slide Number Placeholder 3">
            <a:extLst>
              <a:ext uri="{FF2B5EF4-FFF2-40B4-BE49-F238E27FC236}">
                <a16:creationId xmlns:a16="http://schemas.microsoft.com/office/drawing/2014/main" id="{77F35AC8-E8D1-4266-ACE8-CB82B4253E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71EC169-BAB1-4077-8B22-3F038DB27D83}" type="slidenum">
              <a:rPr lang="en-US" altLang="en-US">
                <a:latin typeface="Calibri" panose="020F0502020204030204" pitchFamily="34" charset="0"/>
              </a:rPr>
              <a:pPr/>
              <a:t>32</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7ADC961D-E233-49DB-B7F8-F9206DD16736}"/>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Efficiency &amp; Market Failure</a:t>
            </a:r>
          </a:p>
        </p:txBody>
      </p:sp>
      <p:sp>
        <p:nvSpPr>
          <p:cNvPr id="3" name="Content Placeholder 2">
            <a:extLst>
              <a:ext uri="{FF2B5EF4-FFF2-40B4-BE49-F238E27FC236}">
                <a16:creationId xmlns:a16="http://schemas.microsoft.com/office/drawing/2014/main" id="{94F36205-BA2E-4F4A-8348-8CFAD8D0E6B9}"/>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Market failure</a:t>
            </a:r>
          </a:p>
          <a:p>
            <a:pPr lvl="1"/>
            <a:r>
              <a:rPr lang="en-US" altLang="en-US"/>
              <a:t>E.g.: market power and externalities</a:t>
            </a:r>
          </a:p>
          <a:p>
            <a:pPr lvl="1"/>
            <a:r>
              <a:rPr lang="en-US" altLang="en-US"/>
              <a:t>The inability of some unregulated markets to allocate resources efficiently</a:t>
            </a:r>
          </a:p>
          <a:p>
            <a:pPr lvl="1"/>
            <a:r>
              <a:rPr lang="en-US" altLang="en-US"/>
              <a:t>Public policy</a:t>
            </a:r>
          </a:p>
          <a:p>
            <a:pPr lvl="2"/>
            <a:r>
              <a:rPr lang="en-US" altLang="en-US"/>
              <a:t>Can potentially remedy the problem</a:t>
            </a:r>
          </a:p>
          <a:p>
            <a:pPr lvl="2"/>
            <a:r>
              <a:rPr lang="en-US" altLang="en-US"/>
              <a:t>Increase economic efficiency</a:t>
            </a:r>
          </a:p>
        </p:txBody>
      </p:sp>
      <p:sp>
        <p:nvSpPr>
          <p:cNvPr id="46084" name="Slide Number Placeholder 3">
            <a:extLst>
              <a:ext uri="{FF2B5EF4-FFF2-40B4-BE49-F238E27FC236}">
                <a16:creationId xmlns:a16="http://schemas.microsoft.com/office/drawing/2014/main" id="{35C104D0-EBF3-403D-A248-EB74B85D03D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B29EEFE-B07B-47CE-837A-9741B7DDF17E}" type="slidenum">
              <a:rPr lang="en-US" altLang="en-US">
                <a:latin typeface="Calibri" panose="020F0502020204030204" pitchFamily="34" charset="0"/>
              </a:rPr>
              <a:pPr/>
              <a:t>33</a:t>
            </a:fld>
            <a:endParaRPr lang="en-US" altLang="en-US">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Chapter tit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pter 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Appendix">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ase stud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2175</TotalTime>
  <Words>1959</Words>
  <Application>Microsoft Office PowerPoint</Application>
  <PresentationFormat>On-screen Show (4:3)</PresentationFormat>
  <Paragraphs>508</Paragraphs>
  <Slides>33</Slides>
  <Notes>0</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33</vt:i4>
      </vt:variant>
    </vt:vector>
  </HeadingPairs>
  <TitlesOfParts>
    <vt:vector size="43" baseType="lpstr">
      <vt:lpstr>Arial</vt:lpstr>
      <vt:lpstr>Calibri</vt:lpstr>
      <vt:lpstr>Arial Unicode MS</vt:lpstr>
      <vt:lpstr>Times New Roman</vt:lpstr>
      <vt:lpstr>Chapter title</vt:lpstr>
      <vt:lpstr>Chapter content</vt:lpstr>
      <vt:lpstr>Table</vt:lpstr>
      <vt:lpstr>Figure</vt:lpstr>
      <vt:lpstr>Appendix</vt:lpstr>
      <vt:lpstr>Case study</vt:lpstr>
      <vt:lpstr>Consumers, Producers, and the Efficiency of Markets</vt:lpstr>
      <vt:lpstr>Consumer Surplus</vt:lpstr>
      <vt:lpstr>Four possible buyers’ willingness to pay</vt:lpstr>
      <vt:lpstr>Consumer Surplus</vt:lpstr>
      <vt:lpstr>The demand schedule</vt:lpstr>
      <vt:lpstr>The demand curve</vt:lpstr>
      <vt:lpstr>Consumer Surplus</vt:lpstr>
      <vt:lpstr>Measuring consumer surplus with the demand curve</vt:lpstr>
      <vt:lpstr>Consumer Surplus</vt:lpstr>
      <vt:lpstr>How the price affects consumer surplus</vt:lpstr>
      <vt:lpstr>Consumer Surplus</vt:lpstr>
      <vt:lpstr>Producer Surplus</vt:lpstr>
      <vt:lpstr>The costs of four possible sellers</vt:lpstr>
      <vt:lpstr>Producer Surplus</vt:lpstr>
      <vt:lpstr>The supply schedule</vt:lpstr>
      <vt:lpstr>The supply curve</vt:lpstr>
      <vt:lpstr>Producer Surplus</vt:lpstr>
      <vt:lpstr>Measuring producer surplus with the supply curve</vt:lpstr>
      <vt:lpstr>Producer Surplus</vt:lpstr>
      <vt:lpstr>How the price affects producer surplus</vt:lpstr>
      <vt:lpstr>Market Efficiency</vt:lpstr>
      <vt:lpstr>Market Efficiency</vt:lpstr>
      <vt:lpstr>Market Efficiency</vt:lpstr>
      <vt:lpstr>Market Efficiency</vt:lpstr>
      <vt:lpstr>Consumer and producer surplus in the market equilibrium</vt:lpstr>
      <vt:lpstr>Market Efficiency</vt:lpstr>
      <vt:lpstr>The efficiency of the equilibrium quantity</vt:lpstr>
      <vt:lpstr>Market Efficiency</vt:lpstr>
      <vt:lpstr>Market Efficiency</vt:lpstr>
      <vt:lpstr>Market Efficiency &amp; Market Failure</vt:lpstr>
      <vt:lpstr>Market Efficiency &amp; Market Failure</vt:lpstr>
      <vt:lpstr>Market Efficiency &amp; Market Failure</vt:lpstr>
      <vt:lpstr>Market Efficiency &amp; Market Failure</vt:lpstr>
    </vt:vector>
  </TitlesOfParts>
  <Company>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Network Administrator</dc:creator>
  <cp:lastModifiedBy>cloudconvert_14</cp:lastModifiedBy>
  <cp:revision>195</cp:revision>
  <dcterms:created xsi:type="dcterms:W3CDTF">2008-07-04T09:17:33Z</dcterms:created>
  <dcterms:modified xsi:type="dcterms:W3CDTF">2026-03-24T05:18:00Z</dcterms:modified>
</cp:coreProperties>
</file>