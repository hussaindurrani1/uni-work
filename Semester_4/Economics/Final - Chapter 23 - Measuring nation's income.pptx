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2" r:id="rId6"/>
    <p:sldId id="263" r:id="rId7"/>
    <p:sldId id="264" r:id="rId8"/>
    <p:sldId id="265" r:id="rId9"/>
    <p:sldId id="266" r:id="rId10"/>
    <p:sldId id="267" r:id="rId11"/>
    <p:sldId id="268" r:id="rId12"/>
    <p:sldId id="269" r:id="rId13"/>
    <p:sldId id="270" r:id="rId14"/>
    <p:sldId id="271" r:id="rId15"/>
    <p:sldId id="279" r:id="rId16"/>
    <p:sldId id="273" r:id="rId17"/>
    <p:sldId id="274" r:id="rId18"/>
    <p:sldId id="275" r:id="rId19"/>
    <p:sldId id="272" r:id="rId20"/>
    <p:sldId id="276" r:id="rId21"/>
    <p:sldId id="280" r:id="rId22"/>
    <p:sldId id="278" r:id="rId23"/>
    <p:sldId id="277" r:id="rId24"/>
    <p:sldId id="281" r:id="rId25"/>
    <p:sldId id="282"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0" d="100"/>
          <a:sy n="70" d="100"/>
        </p:scale>
        <p:origin x="71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851B11F-F0DC-4BD3-BEED-F93231C7ADC6}"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EF162E-19A1-4825-A211-4B01A44DBAE4}" type="slidenum">
              <a:rPr lang="en-US" smtClean="0"/>
              <a:t>‹#›</a:t>
            </a:fld>
            <a:endParaRPr lang="en-US"/>
          </a:p>
        </p:txBody>
      </p:sp>
    </p:spTree>
    <p:extLst>
      <p:ext uri="{BB962C8B-B14F-4D97-AF65-F5344CB8AC3E}">
        <p14:creationId xmlns:p14="http://schemas.microsoft.com/office/powerpoint/2010/main" val="865999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851B11F-F0DC-4BD3-BEED-F93231C7ADC6}"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EF162E-19A1-4825-A211-4B01A44DBAE4}" type="slidenum">
              <a:rPr lang="en-US" smtClean="0"/>
              <a:t>‹#›</a:t>
            </a:fld>
            <a:endParaRPr lang="en-US"/>
          </a:p>
        </p:txBody>
      </p:sp>
    </p:spTree>
    <p:extLst>
      <p:ext uri="{BB962C8B-B14F-4D97-AF65-F5344CB8AC3E}">
        <p14:creationId xmlns:p14="http://schemas.microsoft.com/office/powerpoint/2010/main" val="34211061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851B11F-F0DC-4BD3-BEED-F93231C7ADC6}"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EF162E-19A1-4825-A211-4B01A44DBAE4}" type="slidenum">
              <a:rPr lang="en-US" smtClean="0"/>
              <a:t>‹#›</a:t>
            </a:fld>
            <a:endParaRPr lang="en-US"/>
          </a:p>
        </p:txBody>
      </p:sp>
    </p:spTree>
    <p:extLst>
      <p:ext uri="{BB962C8B-B14F-4D97-AF65-F5344CB8AC3E}">
        <p14:creationId xmlns:p14="http://schemas.microsoft.com/office/powerpoint/2010/main" val="27859545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851B11F-F0DC-4BD3-BEED-F93231C7ADC6}"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EF162E-19A1-4825-A211-4B01A44DBAE4}" type="slidenum">
              <a:rPr lang="en-US" smtClean="0"/>
              <a:t>‹#›</a:t>
            </a:fld>
            <a:endParaRPr lang="en-US"/>
          </a:p>
        </p:txBody>
      </p:sp>
    </p:spTree>
    <p:extLst>
      <p:ext uri="{BB962C8B-B14F-4D97-AF65-F5344CB8AC3E}">
        <p14:creationId xmlns:p14="http://schemas.microsoft.com/office/powerpoint/2010/main" val="2578221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851B11F-F0DC-4BD3-BEED-F93231C7ADC6}" type="datetimeFigureOut">
              <a:rPr lang="en-US" smtClean="0"/>
              <a:t>12/15/2025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EF162E-19A1-4825-A211-4B01A44DBAE4}" type="slidenum">
              <a:rPr lang="en-US" smtClean="0"/>
              <a:t>‹#›</a:t>
            </a:fld>
            <a:endParaRPr lang="en-US"/>
          </a:p>
        </p:txBody>
      </p:sp>
    </p:spTree>
    <p:extLst>
      <p:ext uri="{BB962C8B-B14F-4D97-AF65-F5344CB8AC3E}">
        <p14:creationId xmlns:p14="http://schemas.microsoft.com/office/powerpoint/2010/main" val="3861681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851B11F-F0DC-4BD3-BEED-F93231C7ADC6}" type="datetimeFigureOut">
              <a:rPr lang="en-US" smtClean="0"/>
              <a:t>12/15/2025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EF162E-19A1-4825-A211-4B01A44DBAE4}" type="slidenum">
              <a:rPr lang="en-US" smtClean="0"/>
              <a:t>‹#›</a:t>
            </a:fld>
            <a:endParaRPr lang="en-US"/>
          </a:p>
        </p:txBody>
      </p:sp>
    </p:spTree>
    <p:extLst>
      <p:ext uri="{BB962C8B-B14F-4D97-AF65-F5344CB8AC3E}">
        <p14:creationId xmlns:p14="http://schemas.microsoft.com/office/powerpoint/2010/main" val="2031307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51B11F-F0DC-4BD3-BEED-F93231C7ADC6}" type="datetimeFigureOut">
              <a:rPr lang="en-US" smtClean="0"/>
              <a:t>12/15/2025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EF162E-19A1-4825-A211-4B01A44DBAE4}" type="slidenum">
              <a:rPr lang="en-US" smtClean="0"/>
              <a:t>‹#›</a:t>
            </a:fld>
            <a:endParaRPr lang="en-US"/>
          </a:p>
        </p:txBody>
      </p:sp>
    </p:spTree>
    <p:extLst>
      <p:ext uri="{BB962C8B-B14F-4D97-AF65-F5344CB8AC3E}">
        <p14:creationId xmlns:p14="http://schemas.microsoft.com/office/powerpoint/2010/main" val="20179275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51B11F-F0DC-4BD3-BEED-F93231C7ADC6}"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EF162E-19A1-4825-A211-4B01A44DBAE4}" type="slidenum">
              <a:rPr lang="en-US" smtClean="0"/>
              <a:t>‹#›</a:t>
            </a:fld>
            <a:endParaRPr lang="en-US"/>
          </a:p>
        </p:txBody>
      </p:sp>
    </p:spTree>
    <p:extLst>
      <p:ext uri="{BB962C8B-B14F-4D97-AF65-F5344CB8AC3E}">
        <p14:creationId xmlns:p14="http://schemas.microsoft.com/office/powerpoint/2010/main" val="32260709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851B11F-F0DC-4BD3-BEED-F93231C7ADC6}" type="datetimeFigureOut">
              <a:rPr lang="en-US" smtClean="0"/>
              <a:t>12/15/2025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EF162E-19A1-4825-A211-4B01A44DBAE4}" type="slidenum">
              <a:rPr lang="en-US" smtClean="0"/>
              <a:t>‹#›</a:t>
            </a:fld>
            <a:endParaRPr lang="en-US"/>
          </a:p>
        </p:txBody>
      </p:sp>
    </p:spTree>
    <p:extLst>
      <p:ext uri="{BB962C8B-B14F-4D97-AF65-F5344CB8AC3E}">
        <p14:creationId xmlns:p14="http://schemas.microsoft.com/office/powerpoint/2010/main" val="601507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851B11F-F0DC-4BD3-BEED-F93231C7ADC6}"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EF162E-19A1-4825-A211-4B01A44DBAE4}" type="slidenum">
              <a:rPr lang="en-US" smtClean="0"/>
              <a:t>‹#›</a:t>
            </a:fld>
            <a:endParaRPr lang="en-US"/>
          </a:p>
        </p:txBody>
      </p:sp>
    </p:spTree>
    <p:extLst>
      <p:ext uri="{BB962C8B-B14F-4D97-AF65-F5344CB8AC3E}">
        <p14:creationId xmlns:p14="http://schemas.microsoft.com/office/powerpoint/2010/main" val="3523688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851B11F-F0DC-4BD3-BEED-F93231C7ADC6}" type="datetimeFigureOut">
              <a:rPr lang="en-US" smtClean="0"/>
              <a:t>12/15/2025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EF162E-19A1-4825-A211-4B01A44DBAE4}" type="slidenum">
              <a:rPr lang="en-US" smtClean="0"/>
              <a:t>‹#›</a:t>
            </a:fld>
            <a:endParaRPr lang="en-US"/>
          </a:p>
        </p:txBody>
      </p:sp>
    </p:spTree>
    <p:extLst>
      <p:ext uri="{BB962C8B-B14F-4D97-AF65-F5344CB8AC3E}">
        <p14:creationId xmlns:p14="http://schemas.microsoft.com/office/powerpoint/2010/main" val="33677330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851B11F-F0DC-4BD3-BEED-F93231C7ADC6}" type="datetimeFigureOut">
              <a:rPr lang="en-US" smtClean="0"/>
              <a:t>12/15/2025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EF162E-19A1-4825-A211-4B01A44DBAE4}" type="slidenum">
              <a:rPr lang="en-US" smtClean="0"/>
              <a:t>‹#›</a:t>
            </a:fld>
            <a:endParaRPr lang="en-US"/>
          </a:p>
        </p:txBody>
      </p:sp>
    </p:spTree>
    <p:extLst>
      <p:ext uri="{BB962C8B-B14F-4D97-AF65-F5344CB8AC3E}">
        <p14:creationId xmlns:p14="http://schemas.microsoft.com/office/powerpoint/2010/main" val="3426070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5400" b="1" dirty="0" smtClean="0"/>
              <a:t>The Data of Macro economics</a:t>
            </a:r>
            <a:endParaRPr lang="en-US" sz="5400" b="1" dirty="0"/>
          </a:p>
        </p:txBody>
      </p:sp>
      <p:sp>
        <p:nvSpPr>
          <p:cNvPr id="3" name="Subtitle 2"/>
          <p:cNvSpPr>
            <a:spLocks noGrp="1"/>
          </p:cNvSpPr>
          <p:nvPr>
            <p:ph type="subTitle" idx="1"/>
          </p:nvPr>
        </p:nvSpPr>
        <p:spPr/>
        <p:txBody>
          <a:bodyPr>
            <a:normAutofit/>
          </a:bodyPr>
          <a:lstStyle/>
          <a:p>
            <a:r>
              <a:rPr lang="en-US" sz="4800" b="1" dirty="0" smtClean="0"/>
              <a:t>Measuring a Nation’s </a:t>
            </a:r>
            <a:r>
              <a:rPr lang="en-US" sz="4800" b="1" dirty="0"/>
              <a:t>I</a:t>
            </a:r>
            <a:r>
              <a:rPr lang="en-US" sz="4800" b="1" dirty="0" smtClean="0"/>
              <a:t>ncome</a:t>
            </a:r>
            <a:endParaRPr lang="en-US" sz="4800" b="1" dirty="0"/>
          </a:p>
        </p:txBody>
      </p:sp>
    </p:spTree>
    <p:extLst>
      <p:ext uri="{BB962C8B-B14F-4D97-AF65-F5344CB8AC3E}">
        <p14:creationId xmlns:p14="http://schemas.microsoft.com/office/powerpoint/2010/main" val="28658000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Macroeconomics</a:t>
            </a:r>
            <a:endParaRPr lang="en-US" b="1" dirty="0"/>
          </a:p>
        </p:txBody>
      </p:sp>
      <p:sp>
        <p:nvSpPr>
          <p:cNvPr id="3" name="Content Placeholder 2"/>
          <p:cNvSpPr>
            <a:spLocks noGrp="1"/>
          </p:cNvSpPr>
          <p:nvPr>
            <p:ph idx="1"/>
          </p:nvPr>
        </p:nvSpPr>
        <p:spPr/>
        <p:txBody>
          <a:bodyPr>
            <a:normAutofit/>
          </a:bodyPr>
          <a:lstStyle/>
          <a:p>
            <a:pPr algn="just"/>
            <a:r>
              <a:rPr lang="en-US" dirty="0" smtClean="0"/>
              <a:t>Macroeconomics is the study of the economy as a whole. </a:t>
            </a:r>
          </a:p>
          <a:p>
            <a:pPr algn="just"/>
            <a:r>
              <a:rPr lang="en-US" dirty="0" smtClean="0"/>
              <a:t>The goal of macroeconomics is to explain the economic changes that affect many households, firms, and markets simultaneously. </a:t>
            </a:r>
          </a:p>
          <a:p>
            <a:pPr algn="just"/>
            <a:r>
              <a:rPr lang="en-US" dirty="0" smtClean="0"/>
              <a:t>Why is average income high in some countries while it is low in others? Why do prices sometimes rise rapidly while at other times they are more stable? These questions are all macroeconomic in nature because they concern the workings of the entire economy.</a:t>
            </a:r>
          </a:p>
          <a:p>
            <a:pPr algn="just"/>
            <a:r>
              <a:rPr lang="en-US" dirty="0" smtClean="0"/>
              <a:t>Because the economy as a whole is a collection of many households and many firms interacting in many markets, microeconomics and macroeconomics are closely linked.</a:t>
            </a:r>
            <a:endParaRPr lang="en-US" dirty="0"/>
          </a:p>
        </p:txBody>
      </p:sp>
    </p:spTree>
    <p:extLst>
      <p:ext uri="{BB962C8B-B14F-4D97-AF65-F5344CB8AC3E}">
        <p14:creationId xmlns:p14="http://schemas.microsoft.com/office/powerpoint/2010/main" val="18690201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Economy’s Income and Expenditure</a:t>
            </a:r>
            <a:endParaRPr lang="en-US" b="1" dirty="0"/>
          </a:p>
        </p:txBody>
      </p:sp>
      <p:sp>
        <p:nvSpPr>
          <p:cNvPr id="3" name="Content Placeholder 2"/>
          <p:cNvSpPr>
            <a:spLocks noGrp="1"/>
          </p:cNvSpPr>
          <p:nvPr>
            <p:ph idx="1"/>
          </p:nvPr>
        </p:nvSpPr>
        <p:spPr/>
        <p:txBody>
          <a:bodyPr/>
          <a:lstStyle/>
          <a:p>
            <a:pPr algn="just"/>
            <a:r>
              <a:rPr lang="en-US" dirty="0" smtClean="0"/>
              <a:t>When judging whether the economy is doing well or poorly, it is natural to look at the total income that everyone in the economy is earning. That is the task of GDP. </a:t>
            </a:r>
          </a:p>
          <a:p>
            <a:pPr algn="just"/>
            <a:r>
              <a:rPr lang="en-US" dirty="0" smtClean="0"/>
              <a:t>GDP measures two things at once: </a:t>
            </a:r>
            <a:r>
              <a:rPr lang="en-US" i="1" dirty="0" smtClean="0"/>
              <a:t>the total income of everyone in the economy and the total expenditure on the economy’s output of goods and services. </a:t>
            </a:r>
          </a:p>
          <a:p>
            <a:pPr algn="just"/>
            <a:r>
              <a:rPr lang="en-US" dirty="0" smtClean="0"/>
              <a:t>For an economy as a whole, income must equal expenditure.</a:t>
            </a:r>
            <a:endParaRPr lang="en-US" dirty="0"/>
          </a:p>
        </p:txBody>
      </p:sp>
    </p:spTree>
    <p:extLst>
      <p:ext uri="{BB962C8B-B14F-4D97-AF65-F5344CB8AC3E}">
        <p14:creationId xmlns:p14="http://schemas.microsoft.com/office/powerpoint/2010/main" val="32884858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dirty="0" smtClean="0"/>
              <a:t>An economy’s income is the same as its expenditure because every transaction has two parties: </a:t>
            </a:r>
            <a:r>
              <a:rPr lang="en-US" i="1" dirty="0" smtClean="0"/>
              <a:t>a buyer and a seller.</a:t>
            </a:r>
          </a:p>
          <a:p>
            <a:pPr algn="just"/>
            <a:r>
              <a:rPr lang="en-US" dirty="0" smtClean="0"/>
              <a:t>Every dollar of spending by some buyer is a dollar of income for some seller. Suppose, for instance, that Karen pays Doug $100 to mow her lawn. In this case, Doug is a seller of a service and Karen is a buyer. Doug earns $100 and Karen spends $100. </a:t>
            </a:r>
          </a:p>
          <a:p>
            <a:pPr algn="just"/>
            <a:r>
              <a:rPr lang="en-US" dirty="0" smtClean="0"/>
              <a:t>Thus, the transaction contributes equally to the economy’s income and to its expenditure. GDP, whether measured as total income or total expenditure, rises by $100.</a:t>
            </a:r>
          </a:p>
          <a:p>
            <a:pPr algn="just"/>
            <a:r>
              <a:rPr lang="en-US" dirty="0"/>
              <a:t>Another way to see the equality of income and expenditure is with the circular flow </a:t>
            </a:r>
            <a:r>
              <a:rPr lang="en-US" dirty="0" smtClean="0"/>
              <a:t>diagram.</a:t>
            </a:r>
            <a:endParaRPr lang="en-US" dirty="0"/>
          </a:p>
        </p:txBody>
      </p:sp>
    </p:spTree>
    <p:extLst>
      <p:ext uri="{BB962C8B-B14F-4D97-AF65-F5344CB8AC3E}">
        <p14:creationId xmlns:p14="http://schemas.microsoft.com/office/powerpoint/2010/main" val="9441793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smtClean="0"/>
              <a:t>The actual economy is</a:t>
            </a:r>
            <a:r>
              <a:rPr lang="en-US" dirty="0"/>
              <a:t> </a:t>
            </a:r>
            <a:r>
              <a:rPr lang="en-US" dirty="0" smtClean="0"/>
              <a:t>complicated. Households do not spend all of their income; they pay some of it to the government in taxes, and they save some for use in the future. </a:t>
            </a:r>
          </a:p>
          <a:p>
            <a:pPr algn="just"/>
            <a:r>
              <a:rPr lang="en-US"/>
              <a:t>H</a:t>
            </a:r>
            <a:r>
              <a:rPr lang="en-US" smtClean="0"/>
              <a:t>ouseholds </a:t>
            </a:r>
            <a:r>
              <a:rPr lang="en-US" dirty="0" smtClean="0"/>
              <a:t>do not buy all goods and services produced in the economy; some goods and services are bought by governments</a:t>
            </a:r>
            <a:r>
              <a:rPr lang="en-US" dirty="0"/>
              <a:t> </a:t>
            </a:r>
            <a:r>
              <a:rPr lang="en-US" dirty="0" smtClean="0"/>
              <a:t>or firms that plan to use them in the future to produce their own output. </a:t>
            </a:r>
          </a:p>
          <a:p>
            <a:pPr algn="just"/>
            <a:r>
              <a:rPr lang="en-US" dirty="0" smtClean="0"/>
              <a:t>Regardless of whether a household, government, or firm buys a good or service, the transaction has a buyer and a seller. Thus, for the economy as a whole, expenditure and income are always the same.</a:t>
            </a:r>
            <a:endParaRPr lang="en-US" dirty="0"/>
          </a:p>
        </p:txBody>
      </p:sp>
    </p:spTree>
    <p:extLst>
      <p:ext uri="{BB962C8B-B14F-4D97-AF65-F5344CB8AC3E}">
        <p14:creationId xmlns:p14="http://schemas.microsoft.com/office/powerpoint/2010/main" val="2258705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Measurement of GDP</a:t>
            </a:r>
            <a:endParaRPr lang="en-US" b="1" dirty="0"/>
          </a:p>
        </p:txBody>
      </p:sp>
      <p:sp>
        <p:nvSpPr>
          <p:cNvPr id="3" name="Content Placeholder 2"/>
          <p:cNvSpPr>
            <a:spLocks noGrp="1"/>
          </p:cNvSpPr>
          <p:nvPr>
            <p:ph idx="1"/>
          </p:nvPr>
        </p:nvSpPr>
        <p:spPr/>
        <p:txBody>
          <a:bodyPr>
            <a:normAutofit fontScale="92500" lnSpcReduction="20000"/>
          </a:bodyPr>
          <a:lstStyle/>
          <a:p>
            <a:pPr marL="0" indent="0" algn="just">
              <a:buNone/>
            </a:pPr>
            <a:r>
              <a:rPr lang="en-US" i="1" dirty="0" smtClean="0"/>
              <a:t>Gross domestic product (GDP) is the market value of all final goods and services produced within a country in a given period of time.</a:t>
            </a:r>
          </a:p>
          <a:p>
            <a:pPr marL="0" indent="0" algn="just">
              <a:buNone/>
            </a:pPr>
            <a:r>
              <a:rPr lang="en-US" dirty="0" smtClean="0"/>
              <a:t>Let’s therefore consider each phrase in this definition.</a:t>
            </a:r>
          </a:p>
          <a:p>
            <a:pPr marL="0" indent="0" algn="just">
              <a:buNone/>
            </a:pPr>
            <a:r>
              <a:rPr lang="en-US" dirty="0" smtClean="0"/>
              <a:t>“</a:t>
            </a:r>
            <a:r>
              <a:rPr lang="en-US" b="1" dirty="0" smtClean="0"/>
              <a:t>GDP Is the Market Value . . .” </a:t>
            </a:r>
          </a:p>
          <a:p>
            <a:pPr algn="just"/>
            <a:r>
              <a:rPr lang="en-US" dirty="0" smtClean="0"/>
              <a:t>You have probably heard the adage “You can’t compare apples and oranges.” Yet GDP does exactly that. GDP adds together many different kinds of products into a single measure of the value of economic activity. </a:t>
            </a:r>
          </a:p>
          <a:p>
            <a:pPr algn="just"/>
            <a:r>
              <a:rPr lang="en-US" dirty="0" smtClean="0"/>
              <a:t>Market prices are used for this. Because market prices measure the amount people are willing to pay for different goods, they reflect the value of those goods.</a:t>
            </a:r>
          </a:p>
          <a:p>
            <a:pPr algn="just"/>
            <a:r>
              <a:rPr lang="en-US" dirty="0" smtClean="0"/>
              <a:t>If the price of an apple is twice the price of an orange, then an apple contributes twice as much to GDP as does an orange.</a:t>
            </a:r>
            <a:endParaRPr lang="en-US" dirty="0"/>
          </a:p>
        </p:txBody>
      </p:sp>
    </p:spTree>
    <p:extLst>
      <p:ext uri="{BB962C8B-B14F-4D97-AF65-F5344CB8AC3E}">
        <p14:creationId xmlns:p14="http://schemas.microsoft.com/office/powerpoint/2010/main" val="1035187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dirty="0" smtClean="0"/>
              <a:t>It includes all items produced in the economy and sold legally in markets.</a:t>
            </a:r>
          </a:p>
          <a:p>
            <a:pPr algn="just"/>
            <a:r>
              <a:rPr lang="en-US" dirty="0" smtClean="0"/>
              <a:t>GDP measures the market value of not just apples and oranges but also pears and grapefruit, books and movies, haircuts and healthcare, etc. GDP also includes the market value of the housing services provided by the economy’s stock of housing.</a:t>
            </a:r>
          </a:p>
          <a:p>
            <a:pPr algn="just"/>
            <a:r>
              <a:rPr lang="en-US" dirty="0" smtClean="0"/>
              <a:t>GDP </a:t>
            </a:r>
            <a:r>
              <a:rPr lang="en-US" b="1" dirty="0" smtClean="0"/>
              <a:t>excludes</a:t>
            </a:r>
            <a:r>
              <a:rPr lang="en-US" dirty="0" smtClean="0"/>
              <a:t> most items produced and sold illicitly, such as illegal drugs. It also excludes most items that are produced and consumed at home and never enter the marketplace. Vegetables you buy at the grocery store are part of GDP; vegetables you grow in your garden are not.</a:t>
            </a:r>
            <a:endParaRPr lang="en-US" dirty="0"/>
          </a:p>
        </p:txBody>
      </p:sp>
    </p:spTree>
    <p:extLst>
      <p:ext uri="{BB962C8B-B14F-4D97-AF65-F5344CB8AC3E}">
        <p14:creationId xmlns:p14="http://schemas.microsoft.com/office/powerpoint/2010/main" val="469721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buNone/>
            </a:pPr>
            <a:r>
              <a:rPr lang="en-US" dirty="0" smtClean="0"/>
              <a:t> </a:t>
            </a:r>
            <a:r>
              <a:rPr lang="en-US" b="1" dirty="0" smtClean="0"/>
              <a:t>“. . . Final . . .” </a:t>
            </a:r>
          </a:p>
          <a:p>
            <a:pPr algn="just"/>
            <a:r>
              <a:rPr lang="en-US" dirty="0" smtClean="0"/>
              <a:t>When International Paper makes paper, which Hallmark then uses to make a greeting card, the paper is called an </a:t>
            </a:r>
            <a:r>
              <a:rPr lang="en-US" b="1" i="1" dirty="0" smtClean="0"/>
              <a:t>intermediate good </a:t>
            </a:r>
            <a:r>
              <a:rPr lang="en-US" dirty="0" smtClean="0"/>
              <a:t>and the card is called a</a:t>
            </a:r>
            <a:r>
              <a:rPr lang="en-US" i="1" dirty="0" smtClean="0"/>
              <a:t> </a:t>
            </a:r>
            <a:r>
              <a:rPr lang="en-US" b="1" i="1" dirty="0" smtClean="0"/>
              <a:t>final good</a:t>
            </a:r>
            <a:r>
              <a:rPr lang="en-US" i="1" dirty="0" smtClean="0"/>
              <a:t>.</a:t>
            </a:r>
          </a:p>
          <a:p>
            <a:pPr algn="just"/>
            <a:r>
              <a:rPr lang="en-US" dirty="0" smtClean="0"/>
              <a:t>GDP includes only the value of final goods because the value of intermediate goods is already included in the prices of the final goods. </a:t>
            </a:r>
          </a:p>
          <a:p>
            <a:pPr algn="just"/>
            <a:r>
              <a:rPr lang="en-US" dirty="0" smtClean="0"/>
              <a:t>Adding the market value of the paper to the market value of the card would be double counting. That is, it would (incorrectly) count the paper twice.</a:t>
            </a:r>
            <a:endParaRPr lang="en-US" dirty="0"/>
          </a:p>
        </p:txBody>
      </p:sp>
    </p:spTree>
    <p:extLst>
      <p:ext uri="{BB962C8B-B14F-4D97-AF65-F5344CB8AC3E}">
        <p14:creationId xmlns:p14="http://schemas.microsoft.com/office/powerpoint/2010/main" val="19968633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pPr marL="0" indent="0">
              <a:buNone/>
            </a:pPr>
            <a:r>
              <a:rPr lang="en-US" b="1" dirty="0" smtClean="0"/>
              <a:t> “. . . Goods and Services . . .”</a:t>
            </a:r>
          </a:p>
          <a:p>
            <a:pPr algn="just"/>
            <a:r>
              <a:rPr lang="en-US" dirty="0" smtClean="0"/>
              <a:t>GDP includes both tangible goods (food, clothing, cars) and intangible services (haircuts, housecleaning, doctor visits). </a:t>
            </a:r>
          </a:p>
          <a:p>
            <a:pPr algn="just"/>
            <a:r>
              <a:rPr lang="en-US" dirty="0" smtClean="0"/>
              <a:t>When you buy a CD by your favorite band, you are buying a good, and the purchase price is part of GDP. When you pay to hear a concert by the same band, you are buying a service, and the ticket price is also part of GDP. </a:t>
            </a:r>
          </a:p>
          <a:p>
            <a:pPr marL="0" indent="0" algn="just">
              <a:buNone/>
            </a:pPr>
            <a:endParaRPr lang="en-US" b="1" dirty="0" smtClean="0"/>
          </a:p>
          <a:p>
            <a:pPr marL="0" indent="0">
              <a:buNone/>
            </a:pPr>
            <a:r>
              <a:rPr lang="en-US" b="1" dirty="0" smtClean="0"/>
              <a:t>“. . . Produced . . .”</a:t>
            </a:r>
            <a:r>
              <a:rPr lang="en-US" dirty="0" smtClean="0"/>
              <a:t/>
            </a:r>
            <a:br>
              <a:rPr lang="en-US" dirty="0" smtClean="0"/>
            </a:br>
            <a:r>
              <a:rPr lang="en-US" dirty="0" smtClean="0"/>
              <a:t>GDP includes goods and services currently produced. It does not include transactions involving items produced in the past. When Ford produces and sells a new car, the value of the car is included in GDP. When one person sells a used car to another person, the value of the used car is not included in GDP.</a:t>
            </a:r>
            <a:endParaRPr lang="en-US" dirty="0"/>
          </a:p>
        </p:txBody>
      </p:sp>
    </p:spTree>
    <p:extLst>
      <p:ext uri="{BB962C8B-B14F-4D97-AF65-F5344CB8AC3E}">
        <p14:creationId xmlns:p14="http://schemas.microsoft.com/office/powerpoint/2010/main" val="21699809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pPr marL="0" indent="0">
              <a:buNone/>
            </a:pPr>
            <a:r>
              <a:rPr lang="en-US" b="1" dirty="0" smtClean="0"/>
              <a:t> “. . . Within a Country . . .” </a:t>
            </a:r>
          </a:p>
          <a:p>
            <a:pPr marL="0" indent="0" algn="just">
              <a:buNone/>
            </a:pPr>
            <a:r>
              <a:rPr lang="en-US" dirty="0" smtClean="0"/>
              <a:t>GDP measures the value of production within the geographic confines of a country. When a Canadian citizen works temporarily in the United States, her production is part of U.S. GDP. When an American citizen owns a factory in Haiti, the production at her factory is not part of U.S. GDP. (It is part of Haiti’s GDP.) Thus, items are included in a nation’s GDP if they are produced domestically, regardless of the nationality of the producer.</a:t>
            </a:r>
          </a:p>
          <a:p>
            <a:pPr marL="0" indent="0">
              <a:buNone/>
            </a:pPr>
            <a:r>
              <a:rPr lang="en-US" dirty="0" smtClean="0"/>
              <a:t>“</a:t>
            </a:r>
            <a:r>
              <a:rPr lang="en-US" b="1" dirty="0" smtClean="0"/>
              <a:t>In a Given Period of Time.” </a:t>
            </a:r>
          </a:p>
          <a:p>
            <a:pPr marL="0" indent="0" algn="just">
              <a:buNone/>
            </a:pPr>
            <a:r>
              <a:rPr lang="en-US" dirty="0" smtClean="0"/>
              <a:t>GDP measures the value of production that takes place within a specific interval of time. Usually, that interval is a year or a quarter (three months). GDP measures the economy’s flow of income, as well as its flow of expenditure, during that interval.</a:t>
            </a:r>
            <a:endParaRPr lang="en-US" dirty="0"/>
          </a:p>
        </p:txBody>
      </p:sp>
    </p:spTree>
    <p:extLst>
      <p:ext uri="{BB962C8B-B14F-4D97-AF65-F5344CB8AC3E}">
        <p14:creationId xmlns:p14="http://schemas.microsoft.com/office/powerpoint/2010/main" val="20225467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In addition, when the government reports quarterly GDP, it presents the data after they have been modified by a statistical procedure called </a:t>
            </a:r>
            <a:r>
              <a:rPr lang="en-US" b="1" dirty="0" smtClean="0"/>
              <a:t>seasonal adjustment</a:t>
            </a:r>
            <a:r>
              <a:rPr lang="en-US" dirty="0" smtClean="0"/>
              <a:t>. </a:t>
            </a:r>
          </a:p>
          <a:p>
            <a:pPr algn="just"/>
            <a:r>
              <a:rPr lang="en-US" dirty="0" smtClean="0"/>
              <a:t>The unadjusted data show clearly that the economy produces more goods and services during some times of the year than during others. (As you might guess, December’s holiday shopping season is a high point.)</a:t>
            </a:r>
            <a:endParaRPr lang="en-US" dirty="0"/>
          </a:p>
        </p:txBody>
      </p:sp>
    </p:spTree>
    <p:extLst>
      <p:ext uri="{BB962C8B-B14F-4D97-AF65-F5344CB8AC3E}">
        <p14:creationId xmlns:p14="http://schemas.microsoft.com/office/powerpoint/2010/main" val="2503854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Components of GDP</a:t>
            </a:r>
            <a:endParaRPr lang="en-US" b="1" dirty="0"/>
          </a:p>
        </p:txBody>
      </p:sp>
      <p:sp>
        <p:nvSpPr>
          <p:cNvPr id="3" name="Content Placeholder 2"/>
          <p:cNvSpPr>
            <a:spLocks noGrp="1"/>
          </p:cNvSpPr>
          <p:nvPr>
            <p:ph idx="1"/>
          </p:nvPr>
        </p:nvSpPr>
        <p:spPr/>
        <p:txBody>
          <a:bodyPr/>
          <a:lstStyle/>
          <a:p>
            <a:pPr algn="just"/>
            <a:r>
              <a:rPr lang="en-US" dirty="0" smtClean="0"/>
              <a:t>GDP (which we denote as Y) is divided into four components: </a:t>
            </a:r>
            <a:r>
              <a:rPr lang="en-US" i="1" dirty="0" smtClean="0"/>
              <a:t>consumption (C), investment (I), government purchases (G), and net exports (NX): </a:t>
            </a:r>
          </a:p>
          <a:p>
            <a:pPr marL="0" indent="0" algn="ctr">
              <a:buNone/>
            </a:pPr>
            <a:r>
              <a:rPr lang="en-US" b="1" dirty="0" smtClean="0"/>
              <a:t>Y = C + I + G + NX.</a:t>
            </a:r>
          </a:p>
          <a:p>
            <a:pPr algn="just"/>
            <a:r>
              <a:rPr lang="en-US" dirty="0" smtClean="0"/>
              <a:t>This equation is an identity—an equation that must be true because of how the variables in the equation are defined. In this case, because each dollar of expenditure included in GDP is placed into one of the four components of GDP, the total of the four components must be equal to GDP.</a:t>
            </a:r>
            <a:endParaRPr lang="en-US" dirty="0"/>
          </a:p>
        </p:txBody>
      </p:sp>
    </p:spTree>
    <p:extLst>
      <p:ext uri="{BB962C8B-B14F-4D97-AF65-F5344CB8AC3E}">
        <p14:creationId xmlns:p14="http://schemas.microsoft.com/office/powerpoint/2010/main" val="4775680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Consumption</a:t>
            </a:r>
            <a:endParaRPr lang="en-US" b="1" dirty="0"/>
          </a:p>
        </p:txBody>
      </p:sp>
      <p:sp>
        <p:nvSpPr>
          <p:cNvPr id="3" name="Content Placeholder 2"/>
          <p:cNvSpPr>
            <a:spLocks noGrp="1"/>
          </p:cNvSpPr>
          <p:nvPr>
            <p:ph idx="1"/>
          </p:nvPr>
        </p:nvSpPr>
        <p:spPr/>
        <p:txBody>
          <a:bodyPr/>
          <a:lstStyle/>
          <a:p>
            <a:pPr algn="just"/>
            <a:r>
              <a:rPr lang="en-US" dirty="0" smtClean="0"/>
              <a:t>Consumption is spending by households on goods and services, with the exception of purchases of new housing. </a:t>
            </a:r>
          </a:p>
          <a:p>
            <a:pPr algn="just"/>
            <a:r>
              <a:rPr lang="en-US" dirty="0" smtClean="0"/>
              <a:t>Goods include durable goods, such as automobiles and appliances, and nondurable goods, such as food and clothing.</a:t>
            </a:r>
          </a:p>
          <a:p>
            <a:pPr algn="just"/>
            <a:r>
              <a:rPr lang="en-US" dirty="0" smtClean="0"/>
              <a:t> Services include such intangible items as haircuts and medical care.</a:t>
            </a:r>
          </a:p>
          <a:p>
            <a:pPr algn="just"/>
            <a:r>
              <a:rPr lang="en-US" dirty="0" smtClean="0"/>
              <a:t>Household spending on education is also included in consumption of services (although one might argue that it would fit better in the next component).</a:t>
            </a:r>
            <a:endParaRPr lang="en-US" dirty="0"/>
          </a:p>
        </p:txBody>
      </p:sp>
    </p:spTree>
    <p:extLst>
      <p:ext uri="{BB962C8B-B14F-4D97-AF65-F5344CB8AC3E}">
        <p14:creationId xmlns:p14="http://schemas.microsoft.com/office/powerpoint/2010/main" val="8722865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Investment</a:t>
            </a:r>
            <a:endParaRPr lang="en-US" b="1" dirty="0"/>
          </a:p>
        </p:txBody>
      </p:sp>
      <p:sp>
        <p:nvSpPr>
          <p:cNvPr id="3" name="Content Placeholder 2"/>
          <p:cNvSpPr>
            <a:spLocks noGrp="1"/>
          </p:cNvSpPr>
          <p:nvPr>
            <p:ph idx="1"/>
          </p:nvPr>
        </p:nvSpPr>
        <p:spPr/>
        <p:txBody>
          <a:bodyPr>
            <a:normAutofit fontScale="92500" lnSpcReduction="10000"/>
          </a:bodyPr>
          <a:lstStyle/>
          <a:p>
            <a:pPr algn="just"/>
            <a:r>
              <a:rPr lang="en-US" dirty="0" smtClean="0"/>
              <a:t>Investment is the purchase of goods that will be used in the future to produce more goods and services.</a:t>
            </a:r>
          </a:p>
          <a:p>
            <a:pPr algn="just"/>
            <a:r>
              <a:rPr lang="en-US" dirty="0" smtClean="0"/>
              <a:t>It is the sum of purchases of capital equipment, inventories, and structures.</a:t>
            </a:r>
          </a:p>
          <a:p>
            <a:pPr algn="just"/>
            <a:r>
              <a:rPr lang="en-US" dirty="0" smtClean="0"/>
              <a:t>Investment in structures includes expenditure on new housing. By convention, the purchase of a new house is the one form of household spending categorized as investment rather than consumption.</a:t>
            </a:r>
          </a:p>
          <a:p>
            <a:pPr algn="just"/>
            <a:r>
              <a:rPr lang="en-US" dirty="0" smtClean="0"/>
              <a:t>the treatment of inventory accumulation is noteworthy. When Apple produces a computer and adds it to its inventory instead of selling it, Apple is assumed to have “purchased” the computer for itself. That is, the national income accountants treat the computer as part of Apple’s investment spending.</a:t>
            </a:r>
          </a:p>
          <a:p>
            <a:pPr marL="0" indent="0">
              <a:buNone/>
            </a:pPr>
            <a:endParaRPr lang="en-US" dirty="0"/>
          </a:p>
        </p:txBody>
      </p:sp>
    </p:spTree>
    <p:extLst>
      <p:ext uri="{BB962C8B-B14F-4D97-AF65-F5344CB8AC3E}">
        <p14:creationId xmlns:p14="http://schemas.microsoft.com/office/powerpoint/2010/main" val="21666502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just">
              <a:buNone/>
            </a:pPr>
            <a:r>
              <a:rPr lang="en-US" dirty="0"/>
              <a:t>Notice that GDP accounting uses the word investment differently from how you might hear the term in everyday conversation. When you hear the word investment, you might think of financial investments, such as stocks, bonds, and </a:t>
            </a:r>
            <a:r>
              <a:rPr lang="en-US" smtClean="0"/>
              <a:t>mutual funds. </a:t>
            </a:r>
            <a:r>
              <a:rPr lang="en-US" dirty="0"/>
              <a:t>By contrast, because GDP measures expenditure on goods and services, </a:t>
            </a:r>
            <a:r>
              <a:rPr lang="en-US" dirty="0" smtClean="0"/>
              <a:t>here </a:t>
            </a:r>
            <a:r>
              <a:rPr lang="en-US" dirty="0"/>
              <a:t>the word investment means purchases of goods (such as capital equipment, structures, and inventories) used to produce other goods and services in the future</a:t>
            </a:r>
          </a:p>
        </p:txBody>
      </p:sp>
    </p:spTree>
    <p:extLst>
      <p:ext uri="{BB962C8B-B14F-4D97-AF65-F5344CB8AC3E}">
        <p14:creationId xmlns:p14="http://schemas.microsoft.com/office/powerpoint/2010/main" val="1199133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Government Purchases</a:t>
            </a:r>
            <a:endParaRPr lang="en-US" b="1" dirty="0"/>
          </a:p>
        </p:txBody>
      </p:sp>
      <p:sp>
        <p:nvSpPr>
          <p:cNvPr id="3" name="Content Placeholder 2"/>
          <p:cNvSpPr>
            <a:spLocks noGrp="1"/>
          </p:cNvSpPr>
          <p:nvPr>
            <p:ph idx="1"/>
          </p:nvPr>
        </p:nvSpPr>
        <p:spPr/>
        <p:txBody>
          <a:bodyPr>
            <a:normAutofit fontScale="85000" lnSpcReduction="20000"/>
          </a:bodyPr>
          <a:lstStyle/>
          <a:p>
            <a:pPr algn="just"/>
            <a:r>
              <a:rPr lang="en-US" dirty="0" smtClean="0"/>
              <a:t>Government purchases include spending on goods and services by local, state, and federal governments. It includes the salaries of government workers as well as expenditures on public works.</a:t>
            </a:r>
          </a:p>
          <a:p>
            <a:pPr algn="just"/>
            <a:r>
              <a:rPr lang="en-US" dirty="0" smtClean="0"/>
              <a:t>When the government pays the salary of an Army general or a schoolteacher, that salary is part of government purchases. </a:t>
            </a:r>
          </a:p>
          <a:p>
            <a:pPr algn="just"/>
            <a:r>
              <a:rPr lang="en-US" dirty="0" smtClean="0"/>
              <a:t>But when the government pays a Social Security benefit to a person who is elderly or an unemployment insurance benefit to a worker, they are called </a:t>
            </a:r>
            <a:r>
              <a:rPr lang="en-US" b="1" dirty="0" smtClean="0"/>
              <a:t>transfer payments </a:t>
            </a:r>
            <a:r>
              <a:rPr lang="en-US" dirty="0" smtClean="0"/>
              <a:t>because they are not made in exchange for a currently produced good or service. </a:t>
            </a:r>
          </a:p>
          <a:p>
            <a:pPr algn="just"/>
            <a:r>
              <a:rPr lang="en-US" dirty="0" smtClean="0"/>
              <a:t>Transfer payments alter household income, but they do not reflect the economy’s production. (</a:t>
            </a:r>
            <a:r>
              <a:rPr lang="en-US" i="1" dirty="0" smtClean="0"/>
              <a:t>transfer payments are like </a:t>
            </a:r>
            <a:r>
              <a:rPr lang="en-US" b="1" i="1" dirty="0" smtClean="0"/>
              <a:t>negative taxes</a:t>
            </a:r>
            <a:r>
              <a:rPr lang="en-US" i="1" dirty="0" smtClean="0"/>
              <a:t>.) </a:t>
            </a:r>
          </a:p>
          <a:p>
            <a:pPr algn="just"/>
            <a:r>
              <a:rPr lang="en-US" dirty="0" smtClean="0"/>
              <a:t>Because GDP is intended to measure income from, and expenditure on, the production of goods and services, transfer payments are not counted as part of government purchases.</a:t>
            </a:r>
            <a:endParaRPr lang="en-US" dirty="0"/>
          </a:p>
        </p:txBody>
      </p:sp>
    </p:spTree>
    <p:extLst>
      <p:ext uri="{BB962C8B-B14F-4D97-AF65-F5344CB8AC3E}">
        <p14:creationId xmlns:p14="http://schemas.microsoft.com/office/powerpoint/2010/main" val="23427378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Net Exports</a:t>
            </a:r>
            <a:endParaRPr lang="en-US" b="1" dirty="0"/>
          </a:p>
        </p:txBody>
      </p:sp>
      <p:sp>
        <p:nvSpPr>
          <p:cNvPr id="3" name="Content Placeholder 2"/>
          <p:cNvSpPr>
            <a:spLocks noGrp="1"/>
          </p:cNvSpPr>
          <p:nvPr>
            <p:ph idx="1"/>
          </p:nvPr>
        </p:nvSpPr>
        <p:spPr/>
        <p:txBody>
          <a:bodyPr>
            <a:normAutofit fontScale="70000" lnSpcReduction="20000"/>
          </a:bodyPr>
          <a:lstStyle/>
          <a:p>
            <a:pPr algn="just"/>
            <a:r>
              <a:rPr lang="en-US" dirty="0" smtClean="0"/>
              <a:t>Net exports equal the foreign purchases of domestically produced goods (exports) minus the domestic purchases of foreign goods (imports). </a:t>
            </a:r>
          </a:p>
          <a:p>
            <a:pPr algn="just"/>
            <a:r>
              <a:rPr lang="en-US" dirty="0" smtClean="0"/>
              <a:t>A domestic firm’s sale to a buyer in another country, such as Boeing’s sale of an airplane to British Airways, increases net exports. </a:t>
            </a:r>
          </a:p>
          <a:p>
            <a:pPr algn="just"/>
            <a:r>
              <a:rPr lang="en-US" dirty="0" smtClean="0"/>
              <a:t>The net in net exports refers to the fact that imports are subtracted from exports. This subtraction is made because other components of GDP include imports of goods and services. </a:t>
            </a:r>
          </a:p>
          <a:p>
            <a:pPr algn="just"/>
            <a:r>
              <a:rPr lang="en-US" dirty="0" smtClean="0"/>
              <a:t>For example, suppose that a household buys a $40,000 car from Volvo, the Swedish carmaker. This transaction increases consumption by $40,000 because car purchases are part of consumer spending. It also reduces net exports by $40,000 because the car is an import. </a:t>
            </a:r>
          </a:p>
          <a:p>
            <a:pPr algn="just"/>
            <a:r>
              <a:rPr lang="en-US" dirty="0" smtClean="0"/>
              <a:t>In other words, net exports include goods and services produced abroad (with a minus sign) because these goods and services are included in consumption, investment, and government purchases (with a plus sign). </a:t>
            </a:r>
          </a:p>
          <a:p>
            <a:pPr algn="just"/>
            <a:r>
              <a:rPr lang="en-US" dirty="0" smtClean="0"/>
              <a:t>Thus, when a domestic household, firm, or government buys a good or service from abroad, the purchase reduces net exports, but because it also raises consumption, investment, or government purchases, it does not affect GDP.</a:t>
            </a:r>
            <a:endParaRPr lang="en-US" dirty="0"/>
          </a:p>
        </p:txBody>
      </p:sp>
    </p:spTree>
    <p:extLst>
      <p:ext uri="{BB962C8B-B14F-4D97-AF65-F5344CB8AC3E}">
        <p14:creationId xmlns:p14="http://schemas.microsoft.com/office/powerpoint/2010/main" val="37093278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Real versus Nominal GDP</a:t>
            </a:r>
            <a:endParaRPr lang="en-US" b="1" dirty="0"/>
          </a:p>
        </p:txBody>
      </p:sp>
      <p:sp>
        <p:nvSpPr>
          <p:cNvPr id="3" name="Content Placeholder 2"/>
          <p:cNvSpPr>
            <a:spLocks noGrp="1"/>
          </p:cNvSpPr>
          <p:nvPr>
            <p:ph idx="1"/>
          </p:nvPr>
        </p:nvSpPr>
        <p:spPr/>
        <p:txBody>
          <a:bodyPr>
            <a:normAutofit/>
          </a:bodyPr>
          <a:lstStyle/>
          <a:p>
            <a:pPr marL="0" indent="0" algn="just">
              <a:buNone/>
            </a:pPr>
            <a:r>
              <a:rPr lang="en-US" i="1" dirty="0" smtClean="0"/>
              <a:t>GDP measures the total spending on goods and services in all markets in the economy. </a:t>
            </a:r>
          </a:p>
          <a:p>
            <a:pPr marL="0" indent="0" algn="just">
              <a:buNone/>
            </a:pPr>
            <a:r>
              <a:rPr lang="en-US" dirty="0" smtClean="0"/>
              <a:t>If total spending rises from one year to the next, at least one of two things must be true:</a:t>
            </a:r>
          </a:p>
          <a:p>
            <a:pPr marL="514350" indent="-514350" algn="just">
              <a:buFont typeface="+mj-lt"/>
              <a:buAutoNum type="arabicPeriod"/>
            </a:pPr>
            <a:r>
              <a:rPr lang="en-US" dirty="0" smtClean="0"/>
              <a:t>the economy is producing a larger output of goods and services, </a:t>
            </a:r>
            <a:endParaRPr lang="en-US" dirty="0"/>
          </a:p>
          <a:p>
            <a:pPr marL="514350" indent="-514350" algn="just">
              <a:buFont typeface="+mj-lt"/>
              <a:buAutoNum type="arabicPeriod"/>
            </a:pPr>
            <a:r>
              <a:rPr lang="en-US" dirty="0" smtClean="0"/>
              <a:t>goods and services are being sold at higher prices. </a:t>
            </a:r>
          </a:p>
          <a:p>
            <a:pPr marL="0" indent="0" algn="just">
              <a:buNone/>
            </a:pPr>
            <a:r>
              <a:rPr lang="en-US" dirty="0" smtClean="0"/>
              <a:t>In particular, economists want a measure of the total quantity of goods and services the economy is producing that is not affected by changes in the prices of those goods and services.</a:t>
            </a:r>
            <a:endParaRPr lang="en-US" dirty="0"/>
          </a:p>
        </p:txBody>
      </p:sp>
    </p:spTree>
    <p:extLst>
      <p:ext uri="{BB962C8B-B14F-4D97-AF65-F5344CB8AC3E}">
        <p14:creationId xmlns:p14="http://schemas.microsoft.com/office/powerpoint/2010/main" val="31358484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just">
              <a:buNone/>
            </a:pPr>
            <a:r>
              <a:rPr lang="en-US" dirty="0" smtClean="0"/>
              <a:t>Real GDP answers a hypothetical question: </a:t>
            </a:r>
          </a:p>
          <a:p>
            <a:pPr algn="just"/>
            <a:r>
              <a:rPr lang="en-US" dirty="0" smtClean="0"/>
              <a:t>What would be the value of the goods and services produced this year if we valued these goods and services at the prices that prevailed in some specific year in the past? </a:t>
            </a:r>
          </a:p>
          <a:p>
            <a:pPr algn="just"/>
            <a:r>
              <a:rPr lang="en-US" dirty="0" smtClean="0"/>
              <a:t>By evaluating current production using prices that are fixed at past levels, real GDP shows how the economy’s overall production of goods and services changes over time.</a:t>
            </a:r>
            <a:endParaRPr lang="en-US" dirty="0"/>
          </a:p>
        </p:txBody>
      </p:sp>
    </p:spTree>
    <p:extLst>
      <p:ext uri="{BB962C8B-B14F-4D97-AF65-F5344CB8AC3E}">
        <p14:creationId xmlns:p14="http://schemas.microsoft.com/office/powerpoint/2010/main" val="470933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b="1" dirty="0"/>
              <a:t>R</a:t>
            </a:r>
            <a:r>
              <a:rPr lang="en-US" b="1" dirty="0" smtClean="0"/>
              <a:t>eal GDP </a:t>
            </a:r>
            <a:r>
              <a:rPr lang="en-US" dirty="0" smtClean="0"/>
              <a:t>measures the production of goods and services valued at constant </a:t>
            </a:r>
            <a:r>
              <a:rPr lang="en-US" dirty="0"/>
              <a:t>prices. Real GDP uses constant base-year prices to place a value on the economy’s production of goods and services. </a:t>
            </a:r>
            <a:endParaRPr lang="en-US" dirty="0" smtClean="0"/>
          </a:p>
          <a:p>
            <a:pPr algn="just"/>
            <a:r>
              <a:rPr lang="en-US" b="1" dirty="0"/>
              <a:t>N</a:t>
            </a:r>
            <a:r>
              <a:rPr lang="en-US" b="1" dirty="0" smtClean="0"/>
              <a:t>ominal GDP </a:t>
            </a:r>
            <a:r>
              <a:rPr lang="en-US" dirty="0" smtClean="0"/>
              <a:t>measures the production of goods and services valued at current </a:t>
            </a:r>
            <a:r>
              <a:rPr lang="en-US" dirty="0"/>
              <a:t>prices. Nominal GDP uses current prices to place a value on the economy’s production of goods and services. </a:t>
            </a:r>
            <a:endParaRPr lang="en-US" i="1" dirty="0" smtClean="0"/>
          </a:p>
          <a:p>
            <a:pPr algn="just"/>
            <a:r>
              <a:rPr lang="en-US" dirty="0" smtClean="0"/>
              <a:t>Because real GDP is not affected by changes in prices, changes in real GDP reflect only changes in the amounts being produced. Thus, real GDP is a measure of the economy’s production of goods and services.</a:t>
            </a:r>
            <a:endParaRPr lang="en-US" dirty="0"/>
          </a:p>
        </p:txBody>
      </p:sp>
    </p:spTree>
    <p:extLst>
      <p:ext uri="{BB962C8B-B14F-4D97-AF65-F5344CB8AC3E}">
        <p14:creationId xmlns:p14="http://schemas.microsoft.com/office/powerpoint/2010/main" val="275801446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a:t>
            </a:r>
            <a:r>
              <a:rPr lang="en-US" b="1" dirty="0" smtClean="0"/>
              <a:t>xample</a:t>
            </a:r>
            <a:endParaRPr lang="en-US"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59882395"/>
              </p:ext>
            </p:extLst>
          </p:nvPr>
        </p:nvGraphicFramePr>
        <p:xfrm>
          <a:off x="838200" y="1603959"/>
          <a:ext cx="10284724" cy="2043532"/>
        </p:xfrm>
        <a:graphic>
          <a:graphicData uri="http://schemas.openxmlformats.org/drawingml/2006/table">
            <a:tbl>
              <a:tblPr firstRow="1" bandRow="1">
                <a:tableStyleId>{5C22544A-7EE6-4342-B048-85BDC9FD1C3A}</a:tableStyleId>
              </a:tblPr>
              <a:tblGrid>
                <a:gridCol w="862066"/>
                <a:gridCol w="2055610"/>
                <a:gridCol w="2109002"/>
                <a:gridCol w="2482750"/>
                <a:gridCol w="2775296"/>
              </a:tblGrid>
              <a:tr h="518846">
                <a:tc>
                  <a:txBody>
                    <a:bodyPr/>
                    <a:lstStyle/>
                    <a:p>
                      <a:r>
                        <a:rPr lang="en-US" dirty="0" smtClean="0"/>
                        <a:t>Year</a:t>
                      </a:r>
                      <a:endParaRPr lang="en-US" dirty="0"/>
                    </a:p>
                  </a:txBody>
                  <a:tcPr/>
                </a:tc>
                <a:tc>
                  <a:txBody>
                    <a:bodyPr/>
                    <a:lstStyle/>
                    <a:p>
                      <a:r>
                        <a:rPr lang="en-US" dirty="0" smtClean="0"/>
                        <a:t>Price of hot dogs ($)</a:t>
                      </a:r>
                      <a:endParaRPr lang="en-US" dirty="0"/>
                    </a:p>
                  </a:txBody>
                  <a:tcPr/>
                </a:tc>
                <a:tc>
                  <a:txBody>
                    <a:bodyPr/>
                    <a:lstStyle/>
                    <a:p>
                      <a:r>
                        <a:rPr lang="en-US" dirty="0" smtClean="0"/>
                        <a:t>Quantity of hot dogs</a:t>
                      </a:r>
                      <a:endParaRPr lang="en-US" dirty="0"/>
                    </a:p>
                  </a:txBody>
                  <a:tcPr/>
                </a:tc>
                <a:tc>
                  <a:txBody>
                    <a:bodyPr/>
                    <a:lstStyle/>
                    <a:p>
                      <a:r>
                        <a:rPr lang="en-US" dirty="0" smtClean="0"/>
                        <a:t>Price of hamburgers ($)</a:t>
                      </a:r>
                      <a:endParaRPr lang="en-US" dirty="0"/>
                    </a:p>
                  </a:txBody>
                  <a:tcPr/>
                </a:tc>
                <a:tc>
                  <a:txBody>
                    <a:bodyPr/>
                    <a:lstStyle/>
                    <a:p>
                      <a:r>
                        <a:rPr lang="en-US" dirty="0" smtClean="0"/>
                        <a:t>Quantity</a:t>
                      </a:r>
                      <a:r>
                        <a:rPr lang="en-US" baseline="0" dirty="0" smtClean="0"/>
                        <a:t> of hamburgers</a:t>
                      </a:r>
                      <a:endParaRPr lang="en-US" dirty="0"/>
                    </a:p>
                  </a:txBody>
                  <a:tcPr/>
                </a:tc>
              </a:tr>
              <a:tr h="518846">
                <a:tc>
                  <a:txBody>
                    <a:bodyPr/>
                    <a:lstStyle/>
                    <a:p>
                      <a:r>
                        <a:rPr lang="en-US" dirty="0" smtClean="0"/>
                        <a:t>2019</a:t>
                      </a:r>
                      <a:endParaRPr lang="en-US" dirty="0"/>
                    </a:p>
                  </a:txBody>
                  <a:tcPr/>
                </a:tc>
                <a:tc>
                  <a:txBody>
                    <a:bodyPr/>
                    <a:lstStyle/>
                    <a:p>
                      <a:r>
                        <a:rPr lang="en-US" dirty="0" smtClean="0"/>
                        <a:t>1</a:t>
                      </a:r>
                      <a:endParaRPr lang="en-US" dirty="0"/>
                    </a:p>
                  </a:txBody>
                  <a:tcPr/>
                </a:tc>
                <a:tc>
                  <a:txBody>
                    <a:bodyPr/>
                    <a:lstStyle/>
                    <a:p>
                      <a:r>
                        <a:rPr lang="en-US" dirty="0" smtClean="0"/>
                        <a:t>100</a:t>
                      </a:r>
                      <a:endParaRPr lang="en-US" dirty="0"/>
                    </a:p>
                  </a:txBody>
                  <a:tcPr/>
                </a:tc>
                <a:tc>
                  <a:txBody>
                    <a:bodyPr/>
                    <a:lstStyle/>
                    <a:p>
                      <a:r>
                        <a:rPr lang="en-US" dirty="0" smtClean="0"/>
                        <a:t>2</a:t>
                      </a:r>
                      <a:endParaRPr lang="en-US" dirty="0"/>
                    </a:p>
                  </a:txBody>
                  <a:tcPr/>
                </a:tc>
                <a:tc>
                  <a:txBody>
                    <a:bodyPr/>
                    <a:lstStyle/>
                    <a:p>
                      <a:r>
                        <a:rPr lang="en-US" dirty="0" smtClean="0"/>
                        <a:t>50</a:t>
                      </a:r>
                      <a:endParaRPr lang="en-US" dirty="0"/>
                    </a:p>
                  </a:txBody>
                  <a:tcPr/>
                </a:tc>
              </a:tr>
              <a:tr h="518846">
                <a:tc>
                  <a:txBody>
                    <a:bodyPr/>
                    <a:lstStyle/>
                    <a:p>
                      <a:r>
                        <a:rPr lang="en-US" dirty="0" smtClean="0"/>
                        <a:t>2020</a:t>
                      </a:r>
                      <a:endParaRPr lang="en-US" dirty="0"/>
                    </a:p>
                  </a:txBody>
                  <a:tcPr/>
                </a:tc>
                <a:tc>
                  <a:txBody>
                    <a:bodyPr/>
                    <a:lstStyle/>
                    <a:p>
                      <a:r>
                        <a:rPr lang="en-US" dirty="0" smtClean="0"/>
                        <a:t>2</a:t>
                      </a:r>
                      <a:endParaRPr lang="en-US" dirty="0"/>
                    </a:p>
                  </a:txBody>
                  <a:tcPr/>
                </a:tc>
                <a:tc>
                  <a:txBody>
                    <a:bodyPr/>
                    <a:lstStyle/>
                    <a:p>
                      <a:r>
                        <a:rPr lang="en-US" dirty="0" smtClean="0"/>
                        <a:t>150</a:t>
                      </a:r>
                      <a:endParaRPr lang="en-US" dirty="0"/>
                    </a:p>
                  </a:txBody>
                  <a:tcPr/>
                </a:tc>
                <a:tc>
                  <a:txBody>
                    <a:bodyPr/>
                    <a:lstStyle/>
                    <a:p>
                      <a:r>
                        <a:rPr lang="en-US" dirty="0" smtClean="0"/>
                        <a:t>3</a:t>
                      </a:r>
                      <a:endParaRPr lang="en-US" dirty="0"/>
                    </a:p>
                  </a:txBody>
                  <a:tcPr/>
                </a:tc>
                <a:tc>
                  <a:txBody>
                    <a:bodyPr/>
                    <a:lstStyle/>
                    <a:p>
                      <a:r>
                        <a:rPr lang="en-US" dirty="0" smtClean="0"/>
                        <a:t>100</a:t>
                      </a:r>
                      <a:endParaRPr lang="en-US" dirty="0"/>
                    </a:p>
                  </a:txBody>
                  <a:tcPr/>
                </a:tc>
              </a:tr>
              <a:tr h="360626">
                <a:tc>
                  <a:txBody>
                    <a:bodyPr/>
                    <a:lstStyle/>
                    <a:p>
                      <a:r>
                        <a:rPr lang="en-US" dirty="0" smtClean="0"/>
                        <a:t>2021</a:t>
                      </a:r>
                      <a:endParaRPr lang="en-US" dirty="0"/>
                    </a:p>
                  </a:txBody>
                  <a:tcPr/>
                </a:tc>
                <a:tc>
                  <a:txBody>
                    <a:bodyPr/>
                    <a:lstStyle/>
                    <a:p>
                      <a:r>
                        <a:rPr lang="en-US" dirty="0" smtClean="0"/>
                        <a:t>3</a:t>
                      </a:r>
                      <a:endParaRPr lang="en-US" dirty="0"/>
                    </a:p>
                  </a:txBody>
                  <a:tcPr/>
                </a:tc>
                <a:tc>
                  <a:txBody>
                    <a:bodyPr/>
                    <a:lstStyle/>
                    <a:p>
                      <a:r>
                        <a:rPr lang="en-US" dirty="0" smtClean="0"/>
                        <a:t>200</a:t>
                      </a:r>
                      <a:endParaRPr lang="en-US" dirty="0"/>
                    </a:p>
                  </a:txBody>
                  <a:tcPr/>
                </a:tc>
                <a:tc>
                  <a:txBody>
                    <a:bodyPr/>
                    <a:lstStyle/>
                    <a:p>
                      <a:r>
                        <a:rPr lang="en-US" dirty="0" smtClean="0"/>
                        <a:t>4</a:t>
                      </a:r>
                      <a:endParaRPr lang="en-US" dirty="0"/>
                    </a:p>
                  </a:txBody>
                  <a:tcPr/>
                </a:tc>
                <a:tc>
                  <a:txBody>
                    <a:bodyPr/>
                    <a:lstStyle/>
                    <a:p>
                      <a:r>
                        <a:rPr lang="en-US" dirty="0" smtClean="0"/>
                        <a:t>150</a:t>
                      </a:r>
                      <a:endParaRPr lang="en-US" dirty="0"/>
                    </a:p>
                  </a:txBody>
                  <a:tcPr/>
                </a:tc>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032235273"/>
              </p:ext>
            </p:extLst>
          </p:nvPr>
        </p:nvGraphicFramePr>
        <p:xfrm>
          <a:off x="838200" y="3899595"/>
          <a:ext cx="10298373" cy="1914353"/>
        </p:xfrm>
        <a:graphic>
          <a:graphicData uri="http://schemas.openxmlformats.org/drawingml/2006/table">
            <a:tbl>
              <a:tblPr firstRow="1" bandRow="1">
                <a:tableStyleId>{5C22544A-7EE6-4342-B048-85BDC9FD1C3A}</a:tableStyleId>
              </a:tblPr>
              <a:tblGrid>
                <a:gridCol w="783015"/>
                <a:gridCol w="3206958"/>
                <a:gridCol w="2981423"/>
                <a:gridCol w="3326977"/>
              </a:tblGrid>
              <a:tr h="480233">
                <a:tc>
                  <a:txBody>
                    <a:bodyPr/>
                    <a:lstStyle/>
                    <a:p>
                      <a:r>
                        <a:rPr lang="en-US" dirty="0" smtClean="0"/>
                        <a:t>Year</a:t>
                      </a:r>
                      <a:endParaRPr lang="en-US" dirty="0"/>
                    </a:p>
                  </a:txBody>
                  <a:tcPr/>
                </a:tc>
                <a:tc>
                  <a:txBody>
                    <a:bodyPr/>
                    <a:lstStyle/>
                    <a:p>
                      <a:r>
                        <a:rPr lang="en-US" dirty="0" smtClean="0"/>
                        <a:t>Nominal GDP ($)</a:t>
                      </a:r>
                      <a:endParaRPr lang="en-US" dirty="0"/>
                    </a:p>
                  </a:txBody>
                  <a:tcPr/>
                </a:tc>
                <a:tc>
                  <a:txBody>
                    <a:bodyPr/>
                    <a:lstStyle/>
                    <a:p>
                      <a:r>
                        <a:rPr lang="en-US" dirty="0" smtClean="0"/>
                        <a:t>Real GDP</a:t>
                      </a:r>
                      <a:endParaRPr lang="en-US" dirty="0"/>
                    </a:p>
                  </a:txBody>
                  <a:tcPr/>
                </a:tc>
                <a:tc>
                  <a:txBody>
                    <a:bodyPr/>
                    <a:lstStyle/>
                    <a:p>
                      <a:r>
                        <a:rPr lang="en-US" dirty="0" smtClean="0"/>
                        <a:t>GDP Deflator</a:t>
                      </a:r>
                      <a:endParaRPr lang="en-US" dirty="0"/>
                    </a:p>
                  </a:txBody>
                  <a:tcPr/>
                </a:tc>
              </a:tr>
              <a:tr h="480233">
                <a:tc>
                  <a:txBody>
                    <a:bodyPr/>
                    <a:lstStyle/>
                    <a:p>
                      <a:r>
                        <a:rPr lang="en-US" dirty="0" smtClean="0"/>
                        <a:t>2019</a:t>
                      </a:r>
                      <a:endParaRPr lang="en-US" dirty="0"/>
                    </a:p>
                  </a:txBody>
                  <a:tcPr/>
                </a:tc>
                <a:tc>
                  <a:txBody>
                    <a:bodyPr/>
                    <a:lstStyle/>
                    <a:p>
                      <a:r>
                        <a:rPr lang="en-US" dirty="0" smtClean="0"/>
                        <a:t>(1x100)+(2x50)=200</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(1x100)+(2x50)=200</a:t>
                      </a:r>
                    </a:p>
                  </a:txBody>
                  <a:tcPr/>
                </a:tc>
                <a:tc>
                  <a:txBody>
                    <a:bodyPr/>
                    <a:lstStyle/>
                    <a:p>
                      <a:r>
                        <a:rPr lang="en-US" dirty="0" smtClean="0"/>
                        <a:t>(200/200)x100=100</a:t>
                      </a:r>
                      <a:endParaRPr lang="en-US" dirty="0"/>
                    </a:p>
                  </a:txBody>
                  <a:tcPr/>
                </a:tc>
              </a:tr>
              <a:tr h="473654">
                <a:tc>
                  <a:txBody>
                    <a:bodyPr/>
                    <a:lstStyle/>
                    <a:p>
                      <a:r>
                        <a:rPr lang="en-US" dirty="0" smtClean="0"/>
                        <a:t>2020</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(2x150)+(3x100)=600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(1x150)+(2x100)=350</a:t>
                      </a:r>
                    </a:p>
                  </a:txBody>
                  <a:tcPr/>
                </a:tc>
                <a:tc>
                  <a:txBody>
                    <a:bodyPr/>
                    <a:lstStyle/>
                    <a:p>
                      <a:r>
                        <a:rPr lang="en-US" dirty="0" smtClean="0"/>
                        <a:t>(600/350)x100=171</a:t>
                      </a:r>
                      <a:endParaRPr lang="en-US" dirty="0"/>
                    </a:p>
                  </a:txBody>
                  <a:tcPr/>
                </a:tc>
              </a:tr>
              <a:tr h="480233">
                <a:tc>
                  <a:txBody>
                    <a:bodyPr/>
                    <a:lstStyle/>
                    <a:p>
                      <a:r>
                        <a:rPr lang="en-US" dirty="0" smtClean="0"/>
                        <a:t>2021</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(3x200)+(4x150)=1200</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(1x200)+(2x150)=500</a:t>
                      </a:r>
                    </a:p>
                  </a:txBody>
                  <a:tcPr/>
                </a:tc>
                <a:tc>
                  <a:txBody>
                    <a:bodyPr/>
                    <a:lstStyle/>
                    <a:p>
                      <a:r>
                        <a:rPr lang="en-US" dirty="0" smtClean="0"/>
                        <a:t>(1200/500)x100=240</a:t>
                      </a:r>
                      <a:endParaRPr lang="en-US" dirty="0"/>
                    </a:p>
                  </a:txBody>
                  <a:tcPr>
                    <a:lnB w="12700" cmpd="sng">
                      <a:noFill/>
                    </a:lnB>
                  </a:tcPr>
                </a:tc>
              </a:tr>
            </a:tbl>
          </a:graphicData>
        </a:graphic>
      </p:graphicFrame>
    </p:spTree>
    <p:extLst>
      <p:ext uri="{BB962C8B-B14F-4D97-AF65-F5344CB8AC3E}">
        <p14:creationId xmlns:p14="http://schemas.microsoft.com/office/powerpoint/2010/main" val="42001865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The GDP Deflator</a:t>
            </a:r>
            <a:endParaRPr lang="en-US" b="1" dirty="0"/>
          </a:p>
        </p:txBody>
      </p:sp>
      <p:sp>
        <p:nvSpPr>
          <p:cNvPr id="3" name="Content Placeholder 2"/>
          <p:cNvSpPr>
            <a:spLocks noGrp="1"/>
          </p:cNvSpPr>
          <p:nvPr>
            <p:ph idx="1"/>
          </p:nvPr>
        </p:nvSpPr>
        <p:spPr/>
        <p:txBody>
          <a:bodyPr>
            <a:normAutofit fontScale="70000" lnSpcReduction="20000"/>
          </a:bodyPr>
          <a:lstStyle/>
          <a:p>
            <a:pPr marL="0" indent="0">
              <a:buNone/>
            </a:pPr>
            <a:r>
              <a:rPr lang="en-US" dirty="0"/>
              <a:t>A</a:t>
            </a:r>
            <a:r>
              <a:rPr lang="en-US" dirty="0" smtClean="0"/>
              <a:t> measure of the price level calculated as the ratio of nominal GDP to real GDP times 100</a:t>
            </a:r>
          </a:p>
          <a:p>
            <a:pPr marL="0" indent="0" algn="ctr">
              <a:buNone/>
            </a:pPr>
            <a:r>
              <a:rPr lang="en-US" dirty="0" smtClean="0"/>
              <a:t>GDP deflator = (Nominal GDP/ Real GDP) x 100.</a:t>
            </a:r>
          </a:p>
          <a:p>
            <a:pPr algn="just"/>
            <a:r>
              <a:rPr lang="en-US" dirty="0" smtClean="0"/>
              <a:t>Because nominal GDP and real GDP must be the same in the base year, the GDP deflator for the base year always equals 100. </a:t>
            </a:r>
          </a:p>
          <a:p>
            <a:pPr algn="just"/>
            <a:r>
              <a:rPr lang="en-US" dirty="0" smtClean="0"/>
              <a:t>The GDP deflator for subsequent years measures the change in nominal GDP from the base year that cannot be attributable to a change in real GDP. </a:t>
            </a:r>
          </a:p>
          <a:p>
            <a:pPr algn="just"/>
            <a:r>
              <a:rPr lang="en-US" dirty="0" smtClean="0"/>
              <a:t>The GDP deflator measures the current level of prices relative to the level of prices in the base year. </a:t>
            </a:r>
          </a:p>
          <a:p>
            <a:pPr algn="just"/>
            <a:r>
              <a:rPr lang="en-US" dirty="0" smtClean="0"/>
              <a:t>First, imagine that the quantities produced in the economy rise over time but prices remain the same. In this case, both nominal and real GDP rise at the same rate, so the GDP deflator is constant. </a:t>
            </a:r>
          </a:p>
          <a:p>
            <a:pPr algn="just"/>
            <a:r>
              <a:rPr lang="en-US" dirty="0" smtClean="0"/>
              <a:t>Now suppose, instead, that prices rise over time but the quantities produced stay the same. In this second case, nominal GDP rises but real GDP remains the same, so the GDP deflator rises</a:t>
            </a:r>
            <a:r>
              <a:rPr lang="en-US" dirty="0" smtClean="0"/>
              <a:t>.</a:t>
            </a:r>
          </a:p>
          <a:p>
            <a:pPr algn="just"/>
            <a:r>
              <a:rPr lang="en-US" dirty="0" smtClean="0"/>
              <a:t>the </a:t>
            </a:r>
            <a:r>
              <a:rPr lang="en-US" dirty="0" smtClean="0"/>
              <a:t>GDP deflator reflects what’s happening to prices, not quantities</a:t>
            </a:r>
            <a:r>
              <a:rPr lang="en-US" dirty="0"/>
              <a:t>.</a:t>
            </a:r>
          </a:p>
        </p:txBody>
      </p:sp>
    </p:spTree>
    <p:extLst>
      <p:ext uri="{BB962C8B-B14F-4D97-AF65-F5344CB8AC3E}">
        <p14:creationId xmlns:p14="http://schemas.microsoft.com/office/powerpoint/2010/main" val="30342759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algn="just"/>
            <a:r>
              <a:rPr lang="en-US" dirty="0" smtClean="0"/>
              <a:t>The GDP deflator is one measure that economists use to monitor the average level of prices in the economy and thus the rate of inflation. The GDP deflator gets its name because it can be used to take inflation out of nominal GDP—that is, to “deflate” nominal GDP for the rise that is due to increases in prices. </a:t>
            </a:r>
            <a:endParaRPr lang="en-US" dirty="0" smtClean="0"/>
          </a:p>
          <a:p>
            <a:pPr algn="just"/>
            <a:r>
              <a:rPr lang="en-US" dirty="0" smtClean="0"/>
              <a:t>Using GDP deflator inflation rate between two consecutive years can be computed as</a:t>
            </a:r>
          </a:p>
          <a:p>
            <a:pPr marL="0" indent="0" algn="just">
              <a:buNone/>
            </a:pPr>
            <a:r>
              <a:rPr lang="en-US" sz="2000" b="1" i="1" dirty="0" smtClean="0"/>
              <a:t>Inflation rate in year2= (GDP deflator in year2-GDP deflator in year1)/GDP deflator in year1x100</a:t>
            </a:r>
          </a:p>
          <a:p>
            <a:pPr algn="just"/>
            <a:r>
              <a:rPr lang="en-US" dirty="0" smtClean="0"/>
              <a:t>So Inflation rate in 2020 is 71 percent and in year 2021 is 40 percent</a:t>
            </a:r>
            <a:endParaRPr lang="en-US" dirty="0"/>
          </a:p>
        </p:txBody>
      </p:sp>
    </p:spTree>
    <p:extLst>
      <p:ext uri="{BB962C8B-B14F-4D97-AF65-F5344CB8AC3E}">
        <p14:creationId xmlns:p14="http://schemas.microsoft.com/office/powerpoint/2010/main" val="15781219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Other Measures of Income</a:t>
            </a:r>
            <a:endParaRPr lang="en-US" b="1" dirty="0"/>
          </a:p>
        </p:txBody>
      </p:sp>
      <p:sp>
        <p:nvSpPr>
          <p:cNvPr id="3" name="Content Placeholder 2"/>
          <p:cNvSpPr>
            <a:spLocks noGrp="1"/>
          </p:cNvSpPr>
          <p:nvPr>
            <p:ph idx="1"/>
          </p:nvPr>
        </p:nvSpPr>
        <p:spPr/>
        <p:txBody>
          <a:bodyPr/>
          <a:lstStyle/>
          <a:p>
            <a:pPr algn="just"/>
            <a:r>
              <a:rPr lang="en-US" b="1" dirty="0" smtClean="0"/>
              <a:t>GNP(Gross National Product)- </a:t>
            </a:r>
            <a:r>
              <a:rPr lang="en-US" dirty="0" smtClean="0"/>
              <a:t>total income earned by a nation’s permanent residents (called  nationals). It differs from GDP because it includes income that our citizens earn abroad and excludes the income that foreigners earn here.</a:t>
            </a:r>
          </a:p>
          <a:p>
            <a:pPr algn="just"/>
            <a:r>
              <a:rPr lang="en-US" b="1" dirty="0" smtClean="0"/>
              <a:t>NNP(Net National Product)-</a:t>
            </a:r>
            <a:r>
              <a:rPr lang="en-US" dirty="0" smtClean="0"/>
              <a:t>total income of a nation’s resident minus depreciation. Depreciation means wear and tear of economy’s stock of equipment and structures like trucks rusting and old computer models becoming obsolete.</a:t>
            </a:r>
            <a:endParaRPr lang="en-US" dirty="0"/>
          </a:p>
        </p:txBody>
      </p:sp>
    </p:spTree>
    <p:extLst>
      <p:ext uri="{BB962C8B-B14F-4D97-AF65-F5344CB8AC3E}">
        <p14:creationId xmlns:p14="http://schemas.microsoft.com/office/powerpoint/2010/main" val="17296093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pPr algn="just"/>
            <a:r>
              <a:rPr lang="en-US" b="1" dirty="0" smtClean="0"/>
              <a:t>National Income- </a:t>
            </a:r>
            <a:r>
              <a:rPr lang="en-US" dirty="0" smtClean="0"/>
              <a:t>total income earned by nation’s residents in the production of goods and services. It is almost identical to NNP.</a:t>
            </a:r>
          </a:p>
          <a:p>
            <a:pPr algn="just"/>
            <a:r>
              <a:rPr lang="en-US" b="1" dirty="0" smtClean="0"/>
              <a:t>Personal Income- </a:t>
            </a:r>
            <a:r>
              <a:rPr lang="en-US" dirty="0" smtClean="0"/>
              <a:t>income that households and non-corporate businesses receive. It excludes retained earnings and indirect business taxes, corporate income taxes and social security taxes. It includes income that households receive from holdings of government debt and transfer programs.</a:t>
            </a:r>
          </a:p>
          <a:p>
            <a:pPr algn="just"/>
            <a:r>
              <a:rPr lang="en-US" b="1" dirty="0" smtClean="0"/>
              <a:t>Disposable Income- </a:t>
            </a:r>
            <a:r>
              <a:rPr lang="en-US" dirty="0" smtClean="0"/>
              <a:t>income that households and non-corporate businesses have left after satisfying all their obligations to the government. It equals personal income minus personal taxes and non tax payments like traffic tickets.</a:t>
            </a:r>
            <a:endParaRPr lang="en-US" dirty="0"/>
          </a:p>
        </p:txBody>
      </p:sp>
    </p:spTree>
    <p:extLst>
      <p:ext uri="{BB962C8B-B14F-4D97-AF65-F5344CB8AC3E}">
        <p14:creationId xmlns:p14="http://schemas.microsoft.com/office/powerpoint/2010/main" val="10077727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114</TotalTime>
  <Words>2709</Words>
  <Application>Microsoft Office PowerPoint</Application>
  <PresentationFormat>Widescreen</PresentationFormat>
  <Paragraphs>139</Paragraphs>
  <Slides>25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Calibri</vt:lpstr>
      <vt:lpstr>Calibri Light</vt:lpstr>
      <vt:lpstr>Office Theme</vt:lpstr>
      <vt:lpstr>The Data of Macro economics</vt:lpstr>
      <vt:lpstr>Macroeconomics</vt:lpstr>
      <vt:lpstr>The Economy’s Income and Expenditure</vt:lpstr>
      <vt:lpstr>PowerPoint Presentation</vt:lpstr>
      <vt:lpstr>PowerPoint Presentation</vt:lpstr>
      <vt:lpstr>The Measurement of GDP</vt:lpstr>
      <vt:lpstr>PowerPoint Presentation</vt:lpstr>
      <vt:lpstr>PowerPoint Presentation</vt:lpstr>
      <vt:lpstr>PowerPoint Presentation</vt:lpstr>
      <vt:lpstr>PowerPoint Presentation</vt:lpstr>
      <vt:lpstr>PowerPoint Presentation</vt:lpstr>
      <vt:lpstr>The Components of GDP</vt:lpstr>
      <vt:lpstr>Consumption</vt:lpstr>
      <vt:lpstr>Investment</vt:lpstr>
      <vt:lpstr>PowerPoint Presentation</vt:lpstr>
      <vt:lpstr>Government Purchases</vt:lpstr>
      <vt:lpstr>Net Exports</vt:lpstr>
      <vt:lpstr>Real versus Nominal GDP</vt:lpstr>
      <vt:lpstr>PowerPoint Presentation</vt:lpstr>
      <vt:lpstr>PowerPoint Presentation</vt:lpstr>
      <vt:lpstr>Example</vt:lpstr>
      <vt:lpstr>The GDP Deflator</vt:lpstr>
      <vt:lpstr>PowerPoint Presentation</vt:lpstr>
      <vt:lpstr>Other Measures of Income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Data of Macro economics</dc:title>
  <dc:creator>HP</dc:creator>
  <cp:lastModifiedBy>HP</cp:lastModifiedBy>
  <cp:revision>35</cp:revision>
  <dcterms:created xsi:type="dcterms:W3CDTF">2025-11-22T10:21:07Z</dcterms:created>
  <dcterms:modified xsi:type="dcterms:W3CDTF">2025-12-15T11:29:09Z</dcterms:modified>
</cp:coreProperties>
</file>