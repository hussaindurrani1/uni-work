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90" r:id="rId32"/>
    <p:sldId id="291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11" y="487680"/>
            <a:ext cx="8590788" cy="565404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1100" y="448631"/>
            <a:ext cx="342900" cy="60390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141720"/>
            <a:ext cx="9144000" cy="40081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67" y="0"/>
            <a:ext cx="248411" cy="654253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0677" y="78485"/>
            <a:ext cx="8930005" cy="6297930"/>
          </a:xfrm>
          <a:custGeom>
            <a:avLst/>
            <a:gdLst/>
            <a:ahLst/>
            <a:cxnLst/>
            <a:rect l="l" t="t" r="r" b="b"/>
            <a:pathLst>
              <a:path w="8930005" h="6297930">
                <a:moveTo>
                  <a:pt x="0" y="458724"/>
                </a:moveTo>
                <a:lnTo>
                  <a:pt x="2075688" y="458724"/>
                </a:lnTo>
              </a:path>
              <a:path w="8930005" h="6297930">
                <a:moveTo>
                  <a:pt x="112775" y="583311"/>
                </a:moveTo>
                <a:lnTo>
                  <a:pt x="112775" y="0"/>
                </a:lnTo>
              </a:path>
              <a:path w="8930005" h="6297930">
                <a:moveTo>
                  <a:pt x="8097012" y="6214872"/>
                </a:moveTo>
                <a:lnTo>
                  <a:pt x="8930005" y="6214872"/>
                </a:lnTo>
              </a:path>
              <a:path w="8930005" h="6297930">
                <a:moveTo>
                  <a:pt x="8851392" y="5934456"/>
                </a:moveTo>
                <a:lnTo>
                  <a:pt x="8851392" y="6297752"/>
                </a:lnTo>
              </a:path>
            </a:pathLst>
          </a:custGeom>
          <a:ln w="28956">
            <a:solidFill>
              <a:srgbClr val="0747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75232" cy="113233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971" y="941832"/>
            <a:ext cx="8830056" cy="190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3633" y="121157"/>
            <a:ext cx="741997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6F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8536" y="1510283"/>
            <a:ext cx="8148955" cy="4527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1415" y="6514427"/>
            <a:ext cx="196215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4.png"/><Relationship Id="rId10" Type="http://schemas.openxmlformats.org/officeDocument/2006/relationships/image" Target="../media/image39.png"/><Relationship Id="rId4" Type="http://schemas.openxmlformats.org/officeDocument/2006/relationships/image" Target="../media/image3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.png"/><Relationship Id="rId10" Type="http://schemas.openxmlformats.org/officeDocument/2006/relationships/image" Target="../media/image47.png"/><Relationship Id="rId4" Type="http://schemas.openxmlformats.org/officeDocument/2006/relationships/image" Target="../media/image3.png"/><Relationship Id="rId9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400800"/>
            <a:chOff x="0" y="0"/>
            <a:chExt cx="9144000" cy="640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4607"/>
              <a:ext cx="9144000" cy="53461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6512" cy="6400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9011" y="0"/>
              <a:ext cx="284988" cy="64008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74902" y="961224"/>
            <a:ext cx="6423660" cy="1270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1964" marR="17780" indent="-1727200">
              <a:lnSpc>
                <a:spcPct val="120000"/>
              </a:lnSpc>
              <a:spcBef>
                <a:spcPts val="105"/>
              </a:spcBef>
            </a:pPr>
            <a:r>
              <a:rPr sz="3400" b="1" dirty="0">
                <a:latin typeface="Comic Sans MS"/>
                <a:cs typeface="Comic Sans MS"/>
              </a:rPr>
              <a:t>PRINCIPLES</a:t>
            </a:r>
            <a:r>
              <a:rPr sz="3400" b="1" spc="-114" dirty="0">
                <a:latin typeface="Comic Sans MS"/>
                <a:cs typeface="Comic Sans MS"/>
              </a:rPr>
              <a:t> </a:t>
            </a:r>
            <a:r>
              <a:rPr sz="3400" b="1" dirty="0">
                <a:latin typeface="Comic Sans MS"/>
                <a:cs typeface="Comic Sans MS"/>
              </a:rPr>
              <a:t>OF</a:t>
            </a:r>
            <a:r>
              <a:rPr sz="3400" b="1" spc="-125" dirty="0">
                <a:latin typeface="Comic Sans MS"/>
                <a:cs typeface="Comic Sans MS"/>
              </a:rPr>
              <a:t> </a:t>
            </a:r>
            <a:r>
              <a:rPr sz="3400" b="1" spc="-10" dirty="0">
                <a:latin typeface="Comic Sans MS"/>
                <a:cs typeface="Comic Sans MS"/>
              </a:rPr>
              <a:t>ECONOMICS </a:t>
            </a:r>
            <a:r>
              <a:rPr sz="3400" b="1" dirty="0">
                <a:latin typeface="Comic Sans MS"/>
                <a:cs typeface="Comic Sans MS"/>
              </a:rPr>
              <a:t>7</a:t>
            </a:r>
            <a:r>
              <a:rPr sz="3375" b="1" baseline="24691" dirty="0">
                <a:latin typeface="Comic Sans MS"/>
                <a:cs typeface="Comic Sans MS"/>
              </a:rPr>
              <a:t>TH</a:t>
            </a:r>
            <a:r>
              <a:rPr sz="3375" b="1" spc="690" baseline="24691" dirty="0">
                <a:latin typeface="Comic Sans MS"/>
                <a:cs typeface="Comic Sans MS"/>
              </a:rPr>
              <a:t> </a:t>
            </a:r>
            <a:r>
              <a:rPr sz="3400" b="1" spc="-10" dirty="0">
                <a:latin typeface="Comic Sans MS"/>
                <a:cs typeface="Comic Sans MS"/>
              </a:rPr>
              <a:t>EDITION</a:t>
            </a:r>
            <a:endParaRPr sz="34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33806" y="2205380"/>
            <a:ext cx="8115300" cy="2522101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585595">
              <a:lnSpc>
                <a:spcPct val="100000"/>
              </a:lnSpc>
              <a:spcBef>
                <a:spcPts val="915"/>
              </a:spcBef>
            </a:pPr>
            <a:r>
              <a:rPr sz="3400" b="1" dirty="0">
                <a:solidFill>
                  <a:srgbClr val="006FC0"/>
                </a:solidFill>
                <a:latin typeface="Comic Sans MS"/>
                <a:cs typeface="Comic Sans MS"/>
              </a:rPr>
              <a:t>N.</a:t>
            </a:r>
            <a:r>
              <a:rPr sz="3400" b="1" spc="-120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3400" b="1" dirty="0">
                <a:solidFill>
                  <a:srgbClr val="006FC0"/>
                </a:solidFill>
                <a:latin typeface="Comic Sans MS"/>
                <a:cs typeface="Comic Sans MS"/>
              </a:rPr>
              <a:t>GREGORY</a:t>
            </a:r>
            <a:r>
              <a:rPr sz="3400" b="1" spc="-100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3400" b="1" spc="-10" dirty="0">
                <a:solidFill>
                  <a:srgbClr val="006FC0"/>
                </a:solidFill>
                <a:latin typeface="Comic Sans MS"/>
                <a:cs typeface="Comic Sans MS"/>
              </a:rPr>
              <a:t>MANKIW</a:t>
            </a:r>
            <a:endParaRPr sz="3400" dirty="0">
              <a:latin typeface="Comic Sans MS"/>
              <a:cs typeface="Comic Sans MS"/>
            </a:endParaRPr>
          </a:p>
          <a:p>
            <a:pPr marL="1251585" marR="1252855" indent="1383665">
              <a:lnSpc>
                <a:spcPct val="120000"/>
              </a:lnSpc>
              <a:spcBef>
                <a:spcPts val="5"/>
              </a:spcBef>
            </a:pPr>
            <a:r>
              <a:rPr sz="3400" b="1" dirty="0">
                <a:solidFill>
                  <a:srgbClr val="006FC0"/>
                </a:solidFill>
                <a:latin typeface="Comic Sans MS"/>
                <a:cs typeface="Comic Sans MS"/>
              </a:rPr>
              <a:t>Chapter</a:t>
            </a:r>
            <a:r>
              <a:rPr sz="3400" b="1" spc="-100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3400" b="1" spc="-20" dirty="0">
                <a:solidFill>
                  <a:srgbClr val="006FC0"/>
                </a:solidFill>
                <a:latin typeface="Comic Sans MS"/>
                <a:cs typeface="Comic Sans MS"/>
              </a:rPr>
              <a:t>Two: </a:t>
            </a:r>
            <a:r>
              <a:rPr sz="3400" b="1" dirty="0">
                <a:solidFill>
                  <a:srgbClr val="006FC0"/>
                </a:solidFill>
                <a:latin typeface="Comic Sans MS"/>
                <a:cs typeface="Comic Sans MS"/>
              </a:rPr>
              <a:t>Thinking</a:t>
            </a:r>
            <a:r>
              <a:rPr sz="3400" b="1" spc="-40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3400" b="1" dirty="0">
                <a:solidFill>
                  <a:srgbClr val="006FC0"/>
                </a:solidFill>
                <a:latin typeface="Comic Sans MS"/>
                <a:cs typeface="Comic Sans MS"/>
              </a:rPr>
              <a:t>Like</a:t>
            </a:r>
            <a:r>
              <a:rPr sz="3400" b="1" spc="-45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3400" b="1" dirty="0">
                <a:solidFill>
                  <a:srgbClr val="006FC0"/>
                </a:solidFill>
                <a:latin typeface="Comic Sans MS"/>
                <a:cs typeface="Comic Sans MS"/>
              </a:rPr>
              <a:t>an</a:t>
            </a:r>
            <a:r>
              <a:rPr sz="3400" b="1" spc="-50" dirty="0">
                <a:solidFill>
                  <a:srgbClr val="006FC0"/>
                </a:solidFill>
                <a:latin typeface="Comic Sans MS"/>
                <a:cs typeface="Comic Sans MS"/>
              </a:rPr>
              <a:t> </a:t>
            </a:r>
            <a:r>
              <a:rPr sz="3400" b="1" spc="-10" dirty="0">
                <a:solidFill>
                  <a:srgbClr val="006FC0"/>
                </a:solidFill>
                <a:latin typeface="Comic Sans MS"/>
                <a:cs typeface="Comic Sans MS"/>
              </a:rPr>
              <a:t>Economist</a:t>
            </a:r>
            <a:endParaRPr sz="3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34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400800"/>
            <a:chOff x="0" y="0"/>
            <a:chExt cx="9144000" cy="640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4607"/>
              <a:ext cx="9144000" cy="53461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6512" cy="6400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9011" y="0"/>
              <a:ext cx="284988" cy="64008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5777" y="232409"/>
            <a:ext cx="8232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5EA3"/>
                </a:solidFill>
              </a:rPr>
              <a:t>Look</a:t>
            </a:r>
            <a:r>
              <a:rPr sz="3600" spc="-10" dirty="0">
                <a:solidFill>
                  <a:srgbClr val="005EA3"/>
                </a:solidFill>
              </a:rPr>
              <a:t> </a:t>
            </a:r>
            <a:r>
              <a:rPr sz="3600" dirty="0">
                <a:solidFill>
                  <a:srgbClr val="005EA3"/>
                </a:solidFill>
              </a:rPr>
              <a:t>for</a:t>
            </a:r>
            <a:r>
              <a:rPr sz="3600" spc="-10" dirty="0">
                <a:solidFill>
                  <a:srgbClr val="005EA3"/>
                </a:solidFill>
              </a:rPr>
              <a:t> </a:t>
            </a:r>
            <a:r>
              <a:rPr sz="3600" dirty="0">
                <a:solidFill>
                  <a:srgbClr val="005EA3"/>
                </a:solidFill>
              </a:rPr>
              <a:t>the</a:t>
            </a:r>
            <a:r>
              <a:rPr sz="3600" spc="-5" dirty="0">
                <a:solidFill>
                  <a:srgbClr val="005EA3"/>
                </a:solidFill>
              </a:rPr>
              <a:t> </a:t>
            </a:r>
            <a:r>
              <a:rPr sz="3600" dirty="0">
                <a:solidFill>
                  <a:srgbClr val="005EA3"/>
                </a:solidFill>
              </a:rPr>
              <a:t>answers</a:t>
            </a:r>
            <a:r>
              <a:rPr sz="3600" spc="-10" dirty="0">
                <a:solidFill>
                  <a:srgbClr val="005EA3"/>
                </a:solidFill>
              </a:rPr>
              <a:t> </a:t>
            </a:r>
            <a:r>
              <a:rPr sz="3600" dirty="0">
                <a:solidFill>
                  <a:srgbClr val="005EA3"/>
                </a:solidFill>
              </a:rPr>
              <a:t>to</a:t>
            </a:r>
            <a:r>
              <a:rPr sz="3600" spc="-10" dirty="0">
                <a:solidFill>
                  <a:srgbClr val="005EA3"/>
                </a:solidFill>
              </a:rPr>
              <a:t> </a:t>
            </a:r>
            <a:r>
              <a:rPr sz="3600" dirty="0">
                <a:solidFill>
                  <a:srgbClr val="005EA3"/>
                </a:solidFill>
              </a:rPr>
              <a:t>these</a:t>
            </a:r>
            <a:r>
              <a:rPr sz="3600" spc="-10" dirty="0">
                <a:solidFill>
                  <a:srgbClr val="005EA3"/>
                </a:solidFill>
              </a:rPr>
              <a:t> questions:</a:t>
            </a:r>
            <a:endParaRPr sz="36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71652" y="1078230"/>
            <a:ext cx="8450580" cy="4971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11555" indent="-342900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355600" algn="l"/>
              </a:tabLst>
            </a:pPr>
            <a:r>
              <a:rPr sz="2750" dirty="0">
                <a:latin typeface="Arial MT"/>
                <a:cs typeface="Arial MT"/>
              </a:rPr>
              <a:t>What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are</a:t>
            </a:r>
            <a:r>
              <a:rPr sz="2750" spc="-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economists’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two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roles?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How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do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they </a:t>
            </a:r>
            <a:r>
              <a:rPr sz="2750" spc="-10" dirty="0">
                <a:latin typeface="Arial MT"/>
                <a:cs typeface="Arial MT"/>
              </a:rPr>
              <a:t>differ?</a:t>
            </a:r>
            <a:endParaRPr sz="27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Courier New"/>
              <a:buChar char="o"/>
              <a:tabLst>
                <a:tab pos="354965" algn="l"/>
              </a:tabLst>
            </a:pPr>
            <a:r>
              <a:rPr sz="2750" dirty="0">
                <a:latin typeface="Arial MT"/>
                <a:cs typeface="Arial MT"/>
              </a:rPr>
              <a:t>What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are</a:t>
            </a:r>
            <a:r>
              <a:rPr sz="2750" spc="-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models?</a:t>
            </a:r>
            <a:r>
              <a:rPr sz="2750" spc="-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How</a:t>
            </a:r>
            <a:r>
              <a:rPr sz="2750" spc="-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do</a:t>
            </a:r>
            <a:r>
              <a:rPr sz="2750" spc="-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economists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use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them?</a:t>
            </a:r>
            <a:endParaRPr sz="2750">
              <a:latin typeface="Arial MT"/>
              <a:cs typeface="Arial MT"/>
            </a:endParaRPr>
          </a:p>
          <a:p>
            <a:pPr marL="355600" marR="1381760" indent="-342900" algn="just">
              <a:lnSpc>
                <a:spcPct val="100000"/>
              </a:lnSpc>
              <a:spcBef>
                <a:spcPts val="660"/>
              </a:spcBef>
              <a:buFont typeface="Courier New"/>
              <a:buChar char="o"/>
              <a:tabLst>
                <a:tab pos="355600" algn="l"/>
              </a:tabLst>
            </a:pPr>
            <a:r>
              <a:rPr sz="2750" dirty="0">
                <a:latin typeface="Arial MT"/>
                <a:cs typeface="Arial MT"/>
              </a:rPr>
              <a:t>What</a:t>
            </a:r>
            <a:r>
              <a:rPr sz="2750" spc="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are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 elements of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-10" dirty="0">
                <a:latin typeface="Arial MT"/>
                <a:cs typeface="Arial MT"/>
              </a:rPr>
              <a:t> Circular-</a:t>
            </a:r>
            <a:r>
              <a:rPr sz="2750" spc="-20" dirty="0">
                <a:latin typeface="Arial MT"/>
                <a:cs typeface="Arial MT"/>
              </a:rPr>
              <a:t>Flow </a:t>
            </a:r>
            <a:r>
              <a:rPr sz="2750" dirty="0">
                <a:latin typeface="Arial MT"/>
                <a:cs typeface="Arial MT"/>
              </a:rPr>
              <a:t>Diagram?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What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concepts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does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diagram illustrate?</a:t>
            </a:r>
            <a:endParaRPr sz="2750">
              <a:latin typeface="Arial MT"/>
              <a:cs typeface="Arial MT"/>
            </a:endParaRPr>
          </a:p>
          <a:p>
            <a:pPr marL="355600" marR="314960" indent="-342900">
              <a:lnSpc>
                <a:spcPct val="100000"/>
              </a:lnSpc>
              <a:spcBef>
                <a:spcPts val="660"/>
              </a:spcBef>
              <a:buFont typeface="Courier New"/>
              <a:buChar char="o"/>
              <a:tabLst>
                <a:tab pos="355600" algn="l"/>
              </a:tabLst>
            </a:pPr>
            <a:r>
              <a:rPr sz="2750" dirty="0">
                <a:latin typeface="Arial MT"/>
                <a:cs typeface="Arial MT"/>
              </a:rPr>
              <a:t>How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is</a:t>
            </a:r>
            <a:r>
              <a:rPr sz="2750" spc="-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-7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Production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Possibilities</a:t>
            </a:r>
            <a:r>
              <a:rPr sz="2750" spc="-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Frontier</a:t>
            </a:r>
            <a:r>
              <a:rPr sz="2750" spc="-6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related </a:t>
            </a:r>
            <a:r>
              <a:rPr sz="2750" dirty="0">
                <a:latin typeface="Arial MT"/>
                <a:cs typeface="Arial MT"/>
              </a:rPr>
              <a:t>to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opportunity</a:t>
            </a:r>
            <a:r>
              <a:rPr sz="2750" spc="-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cost?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What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other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concepts</a:t>
            </a:r>
            <a:r>
              <a:rPr sz="2750" spc="-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does</a:t>
            </a:r>
            <a:r>
              <a:rPr sz="2750" spc="-3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it </a:t>
            </a:r>
            <a:r>
              <a:rPr sz="2750" spc="-10" dirty="0">
                <a:latin typeface="Arial MT"/>
                <a:cs typeface="Arial MT"/>
              </a:rPr>
              <a:t>illustrate?</a:t>
            </a:r>
            <a:endParaRPr sz="275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65"/>
              </a:spcBef>
              <a:buFont typeface="Courier New"/>
              <a:buChar char="o"/>
              <a:tabLst>
                <a:tab pos="355600" algn="l"/>
              </a:tabLst>
            </a:pPr>
            <a:r>
              <a:rPr sz="2750" dirty="0">
                <a:latin typeface="Arial MT"/>
                <a:cs typeface="Arial MT"/>
              </a:rPr>
              <a:t>What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is</a:t>
            </a:r>
            <a:r>
              <a:rPr sz="2750" spc="-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-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difference</a:t>
            </a:r>
            <a:r>
              <a:rPr sz="2750" spc="-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between</a:t>
            </a:r>
            <a:r>
              <a:rPr sz="2750" spc="-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microeconomics</a:t>
            </a:r>
            <a:r>
              <a:rPr sz="2750" spc="-4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and </a:t>
            </a:r>
            <a:r>
              <a:rPr sz="2750" dirty="0">
                <a:latin typeface="Arial MT"/>
                <a:cs typeface="Arial MT"/>
              </a:rPr>
              <a:t>macroeconomics?</a:t>
            </a:r>
            <a:r>
              <a:rPr sz="2750" spc="-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Between</a:t>
            </a:r>
            <a:r>
              <a:rPr sz="2750" spc="-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positive</a:t>
            </a:r>
            <a:r>
              <a:rPr sz="2750" spc="-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and</a:t>
            </a:r>
            <a:r>
              <a:rPr sz="2750" spc="-5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normative?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Economist</a:t>
            </a:r>
            <a:r>
              <a:rPr spc="-5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Scientist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371205" cy="51022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Economists</a:t>
            </a:r>
            <a:r>
              <a:rPr sz="3400" spc="-7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play</a:t>
            </a:r>
            <a:r>
              <a:rPr sz="3400" spc="-8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two</a:t>
            </a:r>
            <a:r>
              <a:rPr sz="3400" spc="-6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roles:</a:t>
            </a:r>
            <a:endParaRPr sz="3400">
              <a:latin typeface="Arial MT"/>
              <a:cs typeface="Arial MT"/>
            </a:endParaRPr>
          </a:p>
          <a:p>
            <a:pPr marL="984885" lvl="1" indent="-515620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984885" algn="l"/>
                <a:tab pos="3062605" algn="l"/>
              </a:tabLst>
            </a:pPr>
            <a:r>
              <a:rPr sz="3200" spc="-10" dirty="0">
                <a:latin typeface="Arial MT"/>
                <a:cs typeface="Arial MT"/>
              </a:rPr>
              <a:t>Scientists:</a:t>
            </a:r>
            <a:r>
              <a:rPr sz="3200" dirty="0">
                <a:latin typeface="Arial MT"/>
                <a:cs typeface="Arial MT"/>
              </a:rPr>
              <a:t>	try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explain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world</a:t>
            </a:r>
            <a:endParaRPr sz="3200">
              <a:latin typeface="Arial MT"/>
              <a:cs typeface="Arial MT"/>
            </a:endParaRPr>
          </a:p>
          <a:p>
            <a:pPr marL="984885" lvl="1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984885" algn="l"/>
                <a:tab pos="4032250" algn="l"/>
              </a:tabLst>
            </a:pPr>
            <a:r>
              <a:rPr sz="3200" dirty="0">
                <a:latin typeface="Arial MT"/>
                <a:cs typeface="Arial MT"/>
              </a:rPr>
              <a:t>Policy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advisors:</a:t>
            </a:r>
            <a:r>
              <a:rPr sz="3200" dirty="0">
                <a:latin typeface="Arial MT"/>
                <a:cs typeface="Arial MT"/>
              </a:rPr>
              <a:t>	try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improve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it</a:t>
            </a:r>
            <a:endParaRPr sz="3200">
              <a:latin typeface="Arial MT"/>
              <a:cs typeface="Arial MT"/>
            </a:endParaRPr>
          </a:p>
          <a:p>
            <a:pPr marL="355600" marR="790575" indent="-342900">
              <a:lnSpc>
                <a:spcPct val="100000"/>
              </a:lnSpc>
              <a:spcBef>
                <a:spcPts val="819"/>
              </a:spcBef>
              <a:buFont typeface="Wingdings"/>
              <a:buChar char=""/>
              <a:tabLst>
                <a:tab pos="355600" algn="l"/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	As</a:t>
            </a:r>
            <a:r>
              <a:rPr sz="3400" spc="-8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scientists,</a:t>
            </a:r>
            <a:r>
              <a:rPr sz="3400" spc="-10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economists</a:t>
            </a:r>
            <a:r>
              <a:rPr sz="3400" spc="-5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employ</a:t>
            </a:r>
            <a:r>
              <a:rPr sz="3400" spc="-8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the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scientific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method</a:t>
            </a:r>
            <a:endParaRPr sz="3400">
              <a:latin typeface="Arial MT"/>
              <a:cs typeface="Arial MT"/>
            </a:endParaRPr>
          </a:p>
          <a:p>
            <a:pPr marL="755015" marR="5080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scientific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method: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Observation,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theory 	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more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observation</a:t>
            </a:r>
            <a:endParaRPr sz="3200">
              <a:latin typeface="Arial MT"/>
              <a:cs typeface="Arial MT"/>
            </a:endParaRPr>
          </a:p>
          <a:p>
            <a:pPr marL="755015" marR="71120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Dispassionate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development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testing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	</a:t>
            </a:r>
            <a:r>
              <a:rPr sz="3200" dirty="0">
                <a:latin typeface="Arial MT"/>
                <a:cs typeface="Arial MT"/>
              </a:rPr>
              <a:t>theories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world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works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Economist</a:t>
            </a:r>
            <a:r>
              <a:rPr spc="-5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Scientist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7785100" cy="50044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Role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of</a:t>
            </a:r>
            <a:r>
              <a:rPr sz="3400" spc="-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Assumptions</a:t>
            </a:r>
            <a:endParaRPr sz="34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Simplify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complex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world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it 	</a:t>
            </a:r>
            <a:r>
              <a:rPr sz="3200" dirty="0">
                <a:latin typeface="Arial MT"/>
                <a:cs typeface="Arial MT"/>
              </a:rPr>
              <a:t>easier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understand</a:t>
            </a:r>
            <a:endParaRPr sz="3200">
              <a:latin typeface="Arial MT"/>
              <a:cs typeface="Arial MT"/>
            </a:endParaRPr>
          </a:p>
          <a:p>
            <a:pPr marL="755015" marR="320040" lvl="1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Example: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study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international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trade, 	</a:t>
            </a:r>
            <a:r>
              <a:rPr sz="3200" dirty="0">
                <a:latin typeface="Arial MT"/>
                <a:cs typeface="Arial MT"/>
              </a:rPr>
              <a:t>assume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two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countries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two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goods</a:t>
            </a:r>
            <a:endParaRPr sz="3200">
              <a:latin typeface="Arial MT"/>
              <a:cs typeface="Arial MT"/>
            </a:endParaRPr>
          </a:p>
          <a:p>
            <a:pPr marL="355600" marR="564515" indent="-342900">
              <a:lnSpc>
                <a:spcPct val="100000"/>
              </a:lnSpc>
              <a:spcBef>
                <a:spcPts val="819"/>
              </a:spcBef>
              <a:buFont typeface="Wingdings"/>
              <a:buChar char=""/>
              <a:tabLst>
                <a:tab pos="355600" algn="l"/>
                <a:tab pos="51625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	Economic</a:t>
            </a:r>
            <a:r>
              <a:rPr sz="3400" spc="-8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Models:</a:t>
            </a:r>
            <a:r>
              <a:rPr sz="3400" spc="-7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Economists</a:t>
            </a:r>
            <a:r>
              <a:rPr sz="3400" spc="-6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use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models</a:t>
            </a:r>
            <a:r>
              <a:rPr sz="3400" spc="-6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to</a:t>
            </a:r>
            <a:r>
              <a:rPr sz="3400" spc="-6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study</a:t>
            </a:r>
            <a:r>
              <a:rPr sz="3400" spc="-5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economic</a:t>
            </a:r>
            <a:r>
              <a:rPr sz="3400" spc="-4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issues</a:t>
            </a:r>
            <a:endParaRPr sz="3400">
              <a:latin typeface="Arial MT"/>
              <a:cs typeface="Arial MT"/>
            </a:endParaRPr>
          </a:p>
          <a:p>
            <a:pPr marL="755015" marR="93027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Highly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simplified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representation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	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more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complicated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reality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Economist</a:t>
            </a:r>
            <a:r>
              <a:rPr spc="-5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Scientist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1568037"/>
            <a:ext cx="7534275" cy="288861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Examples</a:t>
            </a:r>
            <a:r>
              <a:rPr sz="3400" spc="-8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of</a:t>
            </a:r>
            <a:r>
              <a:rPr sz="3400" spc="-8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models:</a:t>
            </a:r>
            <a:endParaRPr sz="3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0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model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teeth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dentist’s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office</a:t>
            </a:r>
            <a:endParaRPr sz="32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7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model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human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anatomy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high 	</a:t>
            </a:r>
            <a:r>
              <a:rPr sz="3200" dirty="0">
                <a:latin typeface="Arial MT"/>
                <a:cs typeface="Arial MT"/>
              </a:rPr>
              <a:t>school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biology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class</a:t>
            </a:r>
            <a:endParaRPr sz="32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road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map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Economist</a:t>
            </a:r>
            <a:r>
              <a:rPr spc="-5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Scientist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035925" cy="53035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595"/>
                </a:solidFill>
                <a:latin typeface="Arial MT"/>
                <a:cs typeface="Arial MT"/>
              </a:rPr>
              <a:t>The</a:t>
            </a:r>
            <a:r>
              <a:rPr sz="3400" spc="-30" dirty="0">
                <a:solidFill>
                  <a:srgbClr val="005595"/>
                </a:solidFill>
                <a:latin typeface="Arial MT"/>
                <a:cs typeface="Arial MT"/>
              </a:rPr>
              <a:t> </a:t>
            </a:r>
            <a:r>
              <a:rPr sz="3400" spc="-20" dirty="0">
                <a:solidFill>
                  <a:srgbClr val="005595"/>
                </a:solidFill>
                <a:latin typeface="Arial MT"/>
                <a:cs typeface="Arial MT"/>
              </a:rPr>
              <a:t>Circular-</a:t>
            </a:r>
            <a:r>
              <a:rPr sz="3400" dirty="0">
                <a:solidFill>
                  <a:srgbClr val="005595"/>
                </a:solidFill>
                <a:latin typeface="Arial MT"/>
                <a:cs typeface="Arial MT"/>
              </a:rPr>
              <a:t>flow diagram</a:t>
            </a:r>
            <a:r>
              <a:rPr sz="3400" spc="-10" dirty="0">
                <a:solidFill>
                  <a:srgbClr val="005595"/>
                </a:solidFill>
                <a:latin typeface="Arial MT"/>
                <a:cs typeface="Arial MT"/>
              </a:rPr>
              <a:t> model</a:t>
            </a:r>
            <a:endParaRPr sz="3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Visual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model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economy</a:t>
            </a:r>
            <a:endParaRPr sz="32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Shows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dollars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flow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markets 	</a:t>
            </a:r>
            <a:r>
              <a:rPr sz="3200" dirty="0">
                <a:latin typeface="Arial MT"/>
                <a:cs typeface="Arial MT"/>
              </a:rPr>
              <a:t>among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households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firms</a:t>
            </a:r>
            <a:endParaRPr sz="3200">
              <a:latin typeface="Arial MT"/>
              <a:cs typeface="Arial MT"/>
            </a:endParaRPr>
          </a:p>
          <a:p>
            <a:pPr marL="516890" indent="-504190">
              <a:lnSpc>
                <a:spcPct val="100000"/>
              </a:lnSpc>
              <a:spcBef>
                <a:spcPts val="819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Two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decision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makers</a:t>
            </a:r>
            <a:endParaRPr sz="3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Firms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Households</a:t>
            </a:r>
            <a:endParaRPr sz="3200">
              <a:latin typeface="Arial MT"/>
              <a:cs typeface="Arial MT"/>
            </a:endParaRPr>
          </a:p>
          <a:p>
            <a:pPr marL="516890" indent="-504190">
              <a:lnSpc>
                <a:spcPct val="100000"/>
              </a:lnSpc>
              <a:spcBef>
                <a:spcPts val="819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Interacting</a:t>
            </a:r>
            <a:r>
              <a:rPr sz="3400" spc="-8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in</a:t>
            </a:r>
            <a:r>
              <a:rPr sz="3400" spc="-9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two</a:t>
            </a:r>
            <a:r>
              <a:rPr sz="3400" spc="-9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markets</a:t>
            </a:r>
            <a:endParaRPr sz="3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Market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goods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services</a:t>
            </a:r>
            <a:endParaRPr sz="32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Market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factors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production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(inputs)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543040"/>
            <a:chOff x="0" y="0"/>
            <a:chExt cx="9144000" cy="654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" y="487680"/>
              <a:ext cx="8590788" cy="56540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100" y="448631"/>
              <a:ext cx="342900" cy="6039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41720"/>
              <a:ext cx="9144000" cy="400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" y="0"/>
              <a:ext cx="248411" cy="6542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7" y="78485"/>
              <a:ext cx="8930005" cy="6297930"/>
            </a:xfrm>
            <a:custGeom>
              <a:avLst/>
              <a:gdLst/>
              <a:ahLst/>
              <a:cxnLst/>
              <a:rect l="l" t="t" r="r" b="b"/>
              <a:pathLst>
                <a:path w="8930005" h="6297930">
                  <a:moveTo>
                    <a:pt x="0" y="458724"/>
                  </a:moveTo>
                  <a:lnTo>
                    <a:pt x="2075688" y="458724"/>
                  </a:lnTo>
                </a:path>
                <a:path w="8930005" h="6297930">
                  <a:moveTo>
                    <a:pt x="112775" y="583311"/>
                  </a:moveTo>
                  <a:lnTo>
                    <a:pt x="112775" y="0"/>
                  </a:lnTo>
                </a:path>
                <a:path w="8930005" h="6297930">
                  <a:moveTo>
                    <a:pt x="8097012" y="6214872"/>
                  </a:moveTo>
                  <a:lnTo>
                    <a:pt x="8930005" y="6214872"/>
                  </a:lnTo>
                </a:path>
                <a:path w="8930005" h="6297930">
                  <a:moveTo>
                    <a:pt x="8851392" y="5934456"/>
                  </a:moveTo>
                  <a:lnTo>
                    <a:pt x="8851392" y="6297752"/>
                  </a:lnTo>
                </a:path>
              </a:pathLst>
            </a:custGeom>
            <a:ln w="28956">
              <a:solidFill>
                <a:srgbClr val="0747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15633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Figure</a:t>
            </a:r>
            <a:r>
              <a:rPr sz="3300" spc="-125" dirty="0">
                <a:solidFill>
                  <a:srgbClr val="000000"/>
                </a:solidFill>
              </a:rPr>
              <a:t> </a:t>
            </a:r>
            <a:r>
              <a:rPr sz="3300" spc="-50" dirty="0">
                <a:solidFill>
                  <a:srgbClr val="000000"/>
                </a:solidFill>
              </a:rPr>
              <a:t>1</a:t>
            </a:r>
            <a:endParaRPr sz="3300"/>
          </a:p>
        </p:txBody>
      </p:sp>
      <p:sp>
        <p:nvSpPr>
          <p:cNvPr id="9" name="object 9"/>
          <p:cNvSpPr txBox="1"/>
          <p:nvPr/>
        </p:nvSpPr>
        <p:spPr>
          <a:xfrm>
            <a:off x="2117598" y="9601"/>
            <a:ext cx="2616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circular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flow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8120" y="537972"/>
            <a:ext cx="8702040" cy="3373120"/>
            <a:chOff x="198120" y="537972"/>
            <a:chExt cx="8702040" cy="337312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93492" y="583692"/>
              <a:ext cx="6060948" cy="17876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1487" y="537972"/>
              <a:ext cx="5550408" cy="19537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1487" y="2650236"/>
              <a:ext cx="2328672" cy="10210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120" y="2891027"/>
              <a:ext cx="2068068" cy="10195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819400" y="609600"/>
            <a:ext cx="5954395" cy="1681480"/>
          </a:xfrm>
          <a:prstGeom prst="rect">
            <a:avLst/>
          </a:prstGeom>
          <a:solidFill>
            <a:srgbClr val="89C5CD"/>
          </a:solidFill>
        </p:spPr>
        <p:txBody>
          <a:bodyPr vert="horz" wrap="square" lIns="0" tIns="38100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300"/>
              </a:spcBef>
            </a:pPr>
            <a:r>
              <a:rPr sz="2400" b="1" spc="-10" dirty="0">
                <a:latin typeface="Arial"/>
                <a:cs typeface="Arial"/>
              </a:rPr>
              <a:t>Households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381635" marR="1145540" indent="-231140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"/>
              <a:tabLst>
                <a:tab pos="382905" algn="l"/>
              </a:tabLst>
            </a:pPr>
            <a:r>
              <a:rPr sz="2400" dirty="0">
                <a:latin typeface="Arial MT"/>
                <a:cs typeface="Arial MT"/>
              </a:rPr>
              <a:t>Own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production, 	</a:t>
            </a:r>
            <a:r>
              <a:rPr sz="2400" dirty="0">
                <a:latin typeface="Arial MT"/>
                <a:cs typeface="Arial MT"/>
              </a:rPr>
              <a:t>sell/rent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firms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income</a:t>
            </a:r>
            <a:endParaRPr sz="2400">
              <a:latin typeface="Arial MT"/>
              <a:cs typeface="Arial MT"/>
            </a:endParaRPr>
          </a:p>
          <a:p>
            <a:pPr marL="382270" indent="-231140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"/>
              <a:tabLst>
                <a:tab pos="382270" algn="l"/>
              </a:tabLst>
            </a:pPr>
            <a:r>
              <a:rPr sz="2400" dirty="0">
                <a:latin typeface="Arial MT"/>
                <a:cs typeface="Arial MT"/>
              </a:rPr>
              <a:t>Buy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consume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24828" y="2697479"/>
            <a:ext cx="2162810" cy="893444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240029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889"/>
              </a:spcBef>
            </a:pPr>
            <a:r>
              <a:rPr sz="2700" spc="-10" dirty="0">
                <a:latin typeface="Arial MT"/>
                <a:cs typeface="Arial MT"/>
              </a:rPr>
              <a:t>Households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791" y="2935223"/>
            <a:ext cx="1945005" cy="894715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216535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705"/>
              </a:spcBef>
            </a:pPr>
            <a:r>
              <a:rPr sz="2700" spc="-10" dirty="0">
                <a:latin typeface="Arial MT"/>
                <a:cs typeface="Arial MT"/>
              </a:rPr>
              <a:t>Firms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4592" y="3953255"/>
            <a:ext cx="5213985" cy="2319655"/>
            <a:chOff x="164592" y="3953255"/>
            <a:chExt cx="5213985" cy="231965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6596" y="4000499"/>
              <a:ext cx="5181600" cy="21564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4592" y="3953255"/>
              <a:ext cx="5077968" cy="231952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22504" y="4026408"/>
            <a:ext cx="5074920" cy="2049780"/>
          </a:xfrm>
          <a:prstGeom prst="rect">
            <a:avLst/>
          </a:prstGeom>
          <a:solidFill>
            <a:srgbClr val="89C5CD"/>
          </a:solidFill>
        </p:spPr>
        <p:txBody>
          <a:bodyPr vert="horz" wrap="square" lIns="0" tIns="381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300"/>
              </a:spcBef>
            </a:pPr>
            <a:r>
              <a:rPr sz="2400" b="1" spc="-10" dirty="0">
                <a:latin typeface="Arial"/>
                <a:cs typeface="Arial"/>
              </a:rPr>
              <a:t>Firms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380365" marR="392430" indent="-230504">
              <a:lnSpc>
                <a:spcPct val="10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"/>
              <a:tabLst>
                <a:tab pos="381635" algn="l"/>
              </a:tabLst>
            </a:pPr>
            <a:r>
              <a:rPr sz="2400" dirty="0">
                <a:latin typeface="Arial MT"/>
                <a:cs typeface="Arial MT"/>
              </a:rPr>
              <a:t>Buy/hire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production, 	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spc="-10" dirty="0">
                <a:latin typeface="Arial MT"/>
                <a:cs typeface="Arial MT"/>
              </a:rPr>
              <a:t>services</a:t>
            </a:r>
            <a:endParaRPr sz="2400">
              <a:latin typeface="Arial MT"/>
              <a:cs typeface="Arial MT"/>
            </a:endParaRPr>
          </a:p>
          <a:p>
            <a:pPr marL="381635" indent="-231140">
              <a:lnSpc>
                <a:spcPct val="100000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"/>
              <a:tabLst>
                <a:tab pos="381635" algn="l"/>
              </a:tabLst>
            </a:pPr>
            <a:r>
              <a:rPr sz="2400" dirty="0">
                <a:latin typeface="Arial MT"/>
                <a:cs typeface="Arial MT"/>
              </a:rPr>
              <a:t>Sell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15633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Figure</a:t>
            </a:r>
            <a:r>
              <a:rPr sz="3300" spc="-125" dirty="0">
                <a:solidFill>
                  <a:srgbClr val="000000"/>
                </a:solidFill>
              </a:rPr>
              <a:t> </a:t>
            </a:r>
            <a:r>
              <a:rPr sz="3300" spc="-50" dirty="0">
                <a:solidFill>
                  <a:srgbClr val="000000"/>
                </a:solidFill>
              </a:rPr>
              <a:t>1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2117598" y="9601"/>
            <a:ext cx="2616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circular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flow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68040" y="4408932"/>
            <a:ext cx="2428240" cy="1797050"/>
            <a:chOff x="3368040" y="4408932"/>
            <a:chExt cx="2428240" cy="17970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8040" y="4408932"/>
              <a:ext cx="2427732" cy="1796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93948" y="4434840"/>
              <a:ext cx="2321560" cy="1690370"/>
            </a:xfrm>
            <a:custGeom>
              <a:avLst/>
              <a:gdLst/>
              <a:ahLst/>
              <a:cxnLst/>
              <a:rect l="l" t="t" r="r" b="b"/>
              <a:pathLst>
                <a:path w="2321560" h="1690370">
                  <a:moveTo>
                    <a:pt x="1160526" y="0"/>
                  </a:moveTo>
                  <a:lnTo>
                    <a:pt x="1104295" y="974"/>
                  </a:lnTo>
                  <a:lnTo>
                    <a:pt x="1048755" y="3868"/>
                  </a:lnTo>
                  <a:lnTo>
                    <a:pt x="993966" y="8637"/>
                  </a:lnTo>
                  <a:lnTo>
                    <a:pt x="939991" y="15237"/>
                  </a:lnTo>
                  <a:lnTo>
                    <a:pt x="886888" y="23623"/>
                  </a:lnTo>
                  <a:lnTo>
                    <a:pt x="834720" y="33752"/>
                  </a:lnTo>
                  <a:lnTo>
                    <a:pt x="783547" y="45579"/>
                  </a:lnTo>
                  <a:lnTo>
                    <a:pt x="733429" y="59060"/>
                  </a:lnTo>
                  <a:lnTo>
                    <a:pt x="684427" y="74150"/>
                  </a:lnTo>
                  <a:lnTo>
                    <a:pt x="636603" y="90806"/>
                  </a:lnTo>
                  <a:lnTo>
                    <a:pt x="590016" y="108983"/>
                  </a:lnTo>
                  <a:lnTo>
                    <a:pt x="544729" y="128636"/>
                  </a:lnTo>
                  <a:lnTo>
                    <a:pt x="500801" y="149722"/>
                  </a:lnTo>
                  <a:lnTo>
                    <a:pt x="458293" y="172197"/>
                  </a:lnTo>
                  <a:lnTo>
                    <a:pt x="417266" y="196015"/>
                  </a:lnTo>
                  <a:lnTo>
                    <a:pt x="377781" y="221133"/>
                  </a:lnTo>
                  <a:lnTo>
                    <a:pt x="339899" y="247507"/>
                  </a:lnTo>
                  <a:lnTo>
                    <a:pt x="303680" y="275091"/>
                  </a:lnTo>
                  <a:lnTo>
                    <a:pt x="269186" y="303843"/>
                  </a:lnTo>
                  <a:lnTo>
                    <a:pt x="236476" y="333718"/>
                  </a:lnTo>
                  <a:lnTo>
                    <a:pt x="205612" y="364671"/>
                  </a:lnTo>
                  <a:lnTo>
                    <a:pt x="176655" y="396658"/>
                  </a:lnTo>
                  <a:lnTo>
                    <a:pt x="149665" y="429635"/>
                  </a:lnTo>
                  <a:lnTo>
                    <a:pt x="124703" y="463557"/>
                  </a:lnTo>
                  <a:lnTo>
                    <a:pt x="101830" y="498381"/>
                  </a:lnTo>
                  <a:lnTo>
                    <a:pt x="81106" y="534063"/>
                  </a:lnTo>
                  <a:lnTo>
                    <a:pt x="62593" y="570557"/>
                  </a:lnTo>
                  <a:lnTo>
                    <a:pt x="46351" y="607819"/>
                  </a:lnTo>
                  <a:lnTo>
                    <a:pt x="32442" y="645806"/>
                  </a:lnTo>
                  <a:lnTo>
                    <a:pt x="20924" y="684473"/>
                  </a:lnTo>
                  <a:lnTo>
                    <a:pt x="11861" y="723776"/>
                  </a:lnTo>
                  <a:lnTo>
                    <a:pt x="5312" y="763671"/>
                  </a:lnTo>
                  <a:lnTo>
                    <a:pt x="1338" y="804113"/>
                  </a:lnTo>
                  <a:lnTo>
                    <a:pt x="0" y="845058"/>
                  </a:lnTo>
                  <a:lnTo>
                    <a:pt x="1338" y="886001"/>
                  </a:lnTo>
                  <a:lnTo>
                    <a:pt x="5312" y="926442"/>
                  </a:lnTo>
                  <a:lnTo>
                    <a:pt x="11861" y="966336"/>
                  </a:lnTo>
                  <a:lnTo>
                    <a:pt x="20924" y="1005638"/>
                  </a:lnTo>
                  <a:lnTo>
                    <a:pt x="32442" y="1044305"/>
                  </a:lnTo>
                  <a:lnTo>
                    <a:pt x="46351" y="1082291"/>
                  </a:lnTo>
                  <a:lnTo>
                    <a:pt x="62593" y="1119553"/>
                  </a:lnTo>
                  <a:lnTo>
                    <a:pt x="81106" y="1156047"/>
                  </a:lnTo>
                  <a:lnTo>
                    <a:pt x="101830" y="1191728"/>
                  </a:lnTo>
                  <a:lnTo>
                    <a:pt x="124703" y="1226552"/>
                  </a:lnTo>
                  <a:lnTo>
                    <a:pt x="149665" y="1260475"/>
                  </a:lnTo>
                  <a:lnTo>
                    <a:pt x="176655" y="1293452"/>
                  </a:lnTo>
                  <a:lnTo>
                    <a:pt x="205612" y="1325439"/>
                  </a:lnTo>
                  <a:lnTo>
                    <a:pt x="236476" y="1356392"/>
                  </a:lnTo>
                  <a:lnTo>
                    <a:pt x="269186" y="1386267"/>
                  </a:lnTo>
                  <a:lnTo>
                    <a:pt x="303680" y="1415019"/>
                  </a:lnTo>
                  <a:lnTo>
                    <a:pt x="339899" y="1442604"/>
                  </a:lnTo>
                  <a:lnTo>
                    <a:pt x="377781" y="1468977"/>
                  </a:lnTo>
                  <a:lnTo>
                    <a:pt x="417266" y="1494096"/>
                  </a:lnTo>
                  <a:lnTo>
                    <a:pt x="458293" y="1517915"/>
                  </a:lnTo>
                  <a:lnTo>
                    <a:pt x="500801" y="1540389"/>
                  </a:lnTo>
                  <a:lnTo>
                    <a:pt x="544729" y="1561476"/>
                  </a:lnTo>
                  <a:lnTo>
                    <a:pt x="590016" y="1581130"/>
                  </a:lnTo>
                  <a:lnTo>
                    <a:pt x="636603" y="1599307"/>
                  </a:lnTo>
                  <a:lnTo>
                    <a:pt x="684427" y="1615963"/>
                  </a:lnTo>
                  <a:lnTo>
                    <a:pt x="733429" y="1631054"/>
                  </a:lnTo>
                  <a:lnTo>
                    <a:pt x="783547" y="1644535"/>
                  </a:lnTo>
                  <a:lnTo>
                    <a:pt x="834720" y="1656362"/>
                  </a:lnTo>
                  <a:lnTo>
                    <a:pt x="886888" y="1666491"/>
                  </a:lnTo>
                  <a:lnTo>
                    <a:pt x="939991" y="1674878"/>
                  </a:lnTo>
                  <a:lnTo>
                    <a:pt x="993966" y="1681478"/>
                  </a:lnTo>
                  <a:lnTo>
                    <a:pt x="1048755" y="1686247"/>
                  </a:lnTo>
                  <a:lnTo>
                    <a:pt x="1104295" y="1689141"/>
                  </a:lnTo>
                  <a:lnTo>
                    <a:pt x="1160526" y="1690116"/>
                  </a:lnTo>
                  <a:lnTo>
                    <a:pt x="1216756" y="1689141"/>
                  </a:lnTo>
                  <a:lnTo>
                    <a:pt x="1272296" y="1686247"/>
                  </a:lnTo>
                  <a:lnTo>
                    <a:pt x="1327085" y="1681478"/>
                  </a:lnTo>
                  <a:lnTo>
                    <a:pt x="1381060" y="1674878"/>
                  </a:lnTo>
                  <a:lnTo>
                    <a:pt x="1434163" y="1666491"/>
                  </a:lnTo>
                  <a:lnTo>
                    <a:pt x="1486331" y="1656362"/>
                  </a:lnTo>
                  <a:lnTo>
                    <a:pt x="1537504" y="1644535"/>
                  </a:lnTo>
                  <a:lnTo>
                    <a:pt x="1587622" y="1631054"/>
                  </a:lnTo>
                  <a:lnTo>
                    <a:pt x="1636624" y="1615963"/>
                  </a:lnTo>
                  <a:lnTo>
                    <a:pt x="1684448" y="1599307"/>
                  </a:lnTo>
                  <a:lnTo>
                    <a:pt x="1731035" y="1581130"/>
                  </a:lnTo>
                  <a:lnTo>
                    <a:pt x="1776322" y="1561476"/>
                  </a:lnTo>
                  <a:lnTo>
                    <a:pt x="1820250" y="1540389"/>
                  </a:lnTo>
                  <a:lnTo>
                    <a:pt x="1862758" y="1517915"/>
                  </a:lnTo>
                  <a:lnTo>
                    <a:pt x="1903785" y="1494096"/>
                  </a:lnTo>
                  <a:lnTo>
                    <a:pt x="1943270" y="1468977"/>
                  </a:lnTo>
                  <a:lnTo>
                    <a:pt x="1981152" y="1442604"/>
                  </a:lnTo>
                  <a:lnTo>
                    <a:pt x="2017371" y="1415019"/>
                  </a:lnTo>
                  <a:lnTo>
                    <a:pt x="2051865" y="1386267"/>
                  </a:lnTo>
                  <a:lnTo>
                    <a:pt x="2084575" y="1356392"/>
                  </a:lnTo>
                  <a:lnTo>
                    <a:pt x="2115439" y="1325439"/>
                  </a:lnTo>
                  <a:lnTo>
                    <a:pt x="2144396" y="1293452"/>
                  </a:lnTo>
                  <a:lnTo>
                    <a:pt x="2171386" y="1260475"/>
                  </a:lnTo>
                  <a:lnTo>
                    <a:pt x="2196348" y="1226552"/>
                  </a:lnTo>
                  <a:lnTo>
                    <a:pt x="2219221" y="1191728"/>
                  </a:lnTo>
                  <a:lnTo>
                    <a:pt x="2239945" y="1156047"/>
                  </a:lnTo>
                  <a:lnTo>
                    <a:pt x="2258458" y="1119553"/>
                  </a:lnTo>
                  <a:lnTo>
                    <a:pt x="2274700" y="1082291"/>
                  </a:lnTo>
                  <a:lnTo>
                    <a:pt x="2288609" y="1044305"/>
                  </a:lnTo>
                  <a:lnTo>
                    <a:pt x="2300127" y="1005638"/>
                  </a:lnTo>
                  <a:lnTo>
                    <a:pt x="2309190" y="966336"/>
                  </a:lnTo>
                  <a:lnTo>
                    <a:pt x="2315739" y="926442"/>
                  </a:lnTo>
                  <a:lnTo>
                    <a:pt x="2319713" y="886001"/>
                  </a:lnTo>
                  <a:lnTo>
                    <a:pt x="2321052" y="845058"/>
                  </a:lnTo>
                  <a:lnTo>
                    <a:pt x="2319713" y="804113"/>
                  </a:lnTo>
                  <a:lnTo>
                    <a:pt x="2315739" y="763671"/>
                  </a:lnTo>
                  <a:lnTo>
                    <a:pt x="2309190" y="723776"/>
                  </a:lnTo>
                  <a:lnTo>
                    <a:pt x="2300127" y="684473"/>
                  </a:lnTo>
                  <a:lnTo>
                    <a:pt x="2288609" y="645806"/>
                  </a:lnTo>
                  <a:lnTo>
                    <a:pt x="2274700" y="607819"/>
                  </a:lnTo>
                  <a:lnTo>
                    <a:pt x="2258458" y="570557"/>
                  </a:lnTo>
                  <a:lnTo>
                    <a:pt x="2239945" y="534063"/>
                  </a:lnTo>
                  <a:lnTo>
                    <a:pt x="2219221" y="498381"/>
                  </a:lnTo>
                  <a:lnTo>
                    <a:pt x="2196348" y="463557"/>
                  </a:lnTo>
                  <a:lnTo>
                    <a:pt x="2171386" y="429635"/>
                  </a:lnTo>
                  <a:lnTo>
                    <a:pt x="2144396" y="396658"/>
                  </a:lnTo>
                  <a:lnTo>
                    <a:pt x="2115439" y="364671"/>
                  </a:lnTo>
                  <a:lnTo>
                    <a:pt x="2084575" y="333718"/>
                  </a:lnTo>
                  <a:lnTo>
                    <a:pt x="2051865" y="303843"/>
                  </a:lnTo>
                  <a:lnTo>
                    <a:pt x="2017371" y="275091"/>
                  </a:lnTo>
                  <a:lnTo>
                    <a:pt x="1981152" y="247507"/>
                  </a:lnTo>
                  <a:lnTo>
                    <a:pt x="1943270" y="221133"/>
                  </a:lnTo>
                  <a:lnTo>
                    <a:pt x="1903785" y="196015"/>
                  </a:lnTo>
                  <a:lnTo>
                    <a:pt x="1862758" y="172197"/>
                  </a:lnTo>
                  <a:lnTo>
                    <a:pt x="1820250" y="149722"/>
                  </a:lnTo>
                  <a:lnTo>
                    <a:pt x="1776322" y="128636"/>
                  </a:lnTo>
                  <a:lnTo>
                    <a:pt x="1731035" y="108983"/>
                  </a:lnTo>
                  <a:lnTo>
                    <a:pt x="1684448" y="90806"/>
                  </a:lnTo>
                  <a:lnTo>
                    <a:pt x="1636624" y="74150"/>
                  </a:lnTo>
                  <a:lnTo>
                    <a:pt x="1587622" y="59060"/>
                  </a:lnTo>
                  <a:lnTo>
                    <a:pt x="1537504" y="45579"/>
                  </a:lnTo>
                  <a:lnTo>
                    <a:pt x="1486331" y="33752"/>
                  </a:lnTo>
                  <a:lnTo>
                    <a:pt x="1434163" y="23623"/>
                  </a:lnTo>
                  <a:lnTo>
                    <a:pt x="1381060" y="15237"/>
                  </a:lnTo>
                  <a:lnTo>
                    <a:pt x="1327085" y="8637"/>
                  </a:lnTo>
                  <a:lnTo>
                    <a:pt x="1272296" y="3868"/>
                  </a:lnTo>
                  <a:lnTo>
                    <a:pt x="1216756" y="974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30244" y="4676394"/>
            <a:ext cx="167767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5080" indent="-35560" algn="just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Markets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for </a:t>
            </a:r>
            <a:r>
              <a:rPr sz="2600" dirty="0">
                <a:latin typeface="Arial MT"/>
                <a:cs typeface="Arial MT"/>
              </a:rPr>
              <a:t>Factors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of </a:t>
            </a:r>
            <a:r>
              <a:rPr sz="2600" spc="-10" dirty="0">
                <a:latin typeface="Arial MT"/>
                <a:cs typeface="Arial MT"/>
              </a:rPr>
              <a:t>Production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1488" y="2942844"/>
            <a:ext cx="2328672" cy="99974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624828" y="2968751"/>
            <a:ext cx="2162810" cy="893444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24066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895"/>
              </a:spcBef>
            </a:pPr>
            <a:r>
              <a:rPr sz="2700" spc="-10" dirty="0">
                <a:latin typeface="Arial MT"/>
                <a:cs typeface="Arial MT"/>
              </a:rPr>
              <a:t>Households</a:t>
            </a:r>
            <a:endParaRPr sz="27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884" y="2951988"/>
            <a:ext cx="2051303" cy="100126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0791" y="2977895"/>
            <a:ext cx="1945005" cy="894715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217170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710"/>
              </a:spcBef>
            </a:pPr>
            <a:r>
              <a:rPr sz="2700" spc="-10" dirty="0">
                <a:latin typeface="Arial MT"/>
                <a:cs typeface="Arial MT"/>
              </a:rPr>
              <a:t>Firms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91885" y="3860291"/>
            <a:ext cx="2670810" cy="1663064"/>
            <a:chOff x="5691885" y="3860291"/>
            <a:chExt cx="2670810" cy="1663064"/>
          </a:xfrm>
        </p:grpSpPr>
        <p:sp>
          <p:nvSpPr>
            <p:cNvPr id="13" name="object 13"/>
            <p:cNvSpPr/>
            <p:nvPr/>
          </p:nvSpPr>
          <p:spPr>
            <a:xfrm>
              <a:off x="8072627" y="3860291"/>
              <a:ext cx="289560" cy="1663064"/>
            </a:xfrm>
            <a:custGeom>
              <a:avLst/>
              <a:gdLst/>
              <a:ahLst/>
              <a:cxnLst/>
              <a:rect l="l" t="t" r="r" b="b"/>
              <a:pathLst>
                <a:path w="289559" h="1663064">
                  <a:moveTo>
                    <a:pt x="144779" y="173735"/>
                  </a:moveTo>
                  <a:lnTo>
                    <a:pt x="115824" y="196900"/>
                  </a:lnTo>
                  <a:lnTo>
                    <a:pt x="115824" y="1662683"/>
                  </a:lnTo>
                  <a:lnTo>
                    <a:pt x="173736" y="1662683"/>
                  </a:lnTo>
                  <a:lnTo>
                    <a:pt x="173736" y="196900"/>
                  </a:lnTo>
                  <a:lnTo>
                    <a:pt x="144779" y="173735"/>
                  </a:lnTo>
                  <a:close/>
                </a:path>
                <a:path w="289559" h="1663064">
                  <a:moveTo>
                    <a:pt x="144779" y="0"/>
                  </a:moveTo>
                  <a:lnTo>
                    <a:pt x="0" y="289559"/>
                  </a:lnTo>
                  <a:lnTo>
                    <a:pt x="115823" y="196900"/>
                  </a:lnTo>
                  <a:lnTo>
                    <a:pt x="115824" y="173735"/>
                  </a:lnTo>
                  <a:lnTo>
                    <a:pt x="231648" y="173735"/>
                  </a:lnTo>
                  <a:lnTo>
                    <a:pt x="144779" y="0"/>
                  </a:lnTo>
                  <a:close/>
                </a:path>
                <a:path w="289559" h="1663064">
                  <a:moveTo>
                    <a:pt x="231648" y="173735"/>
                  </a:moveTo>
                  <a:lnTo>
                    <a:pt x="173736" y="173735"/>
                  </a:lnTo>
                  <a:lnTo>
                    <a:pt x="173736" y="196900"/>
                  </a:lnTo>
                  <a:lnTo>
                    <a:pt x="289560" y="289559"/>
                  </a:lnTo>
                  <a:lnTo>
                    <a:pt x="231648" y="173735"/>
                  </a:lnTo>
                  <a:close/>
                </a:path>
                <a:path w="289559" h="1663064">
                  <a:moveTo>
                    <a:pt x="144779" y="173735"/>
                  </a:moveTo>
                  <a:lnTo>
                    <a:pt x="115824" y="173735"/>
                  </a:lnTo>
                  <a:lnTo>
                    <a:pt x="115824" y="196900"/>
                  </a:lnTo>
                  <a:lnTo>
                    <a:pt x="144779" y="173735"/>
                  </a:lnTo>
                  <a:close/>
                </a:path>
                <a:path w="289559" h="1663064">
                  <a:moveTo>
                    <a:pt x="173736" y="173735"/>
                  </a:moveTo>
                  <a:lnTo>
                    <a:pt x="144779" y="173735"/>
                  </a:lnTo>
                  <a:lnTo>
                    <a:pt x="173736" y="196900"/>
                  </a:lnTo>
                  <a:lnTo>
                    <a:pt x="173736" y="173735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21095" y="5494019"/>
              <a:ext cx="2493645" cy="0"/>
            </a:xfrm>
            <a:custGeom>
              <a:avLst/>
              <a:gdLst/>
              <a:ahLst/>
              <a:cxnLst/>
              <a:rect l="l" t="t" r="r" b="b"/>
              <a:pathLst>
                <a:path w="2493645">
                  <a:moveTo>
                    <a:pt x="2493263" y="0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12583" y="5513019"/>
            <a:ext cx="10661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Arial MT"/>
                <a:cs typeface="Arial MT"/>
              </a:rPr>
              <a:t>Income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20598" y="3861561"/>
            <a:ext cx="2711450" cy="1807845"/>
            <a:chOff x="720598" y="3861561"/>
            <a:chExt cx="2711450" cy="1807845"/>
          </a:xfrm>
        </p:grpSpPr>
        <p:sp>
          <p:nvSpPr>
            <p:cNvPr id="17" name="object 17"/>
            <p:cNvSpPr/>
            <p:nvPr/>
          </p:nvSpPr>
          <p:spPr>
            <a:xfrm>
              <a:off x="720852" y="5379719"/>
              <a:ext cx="2711450" cy="289560"/>
            </a:xfrm>
            <a:custGeom>
              <a:avLst/>
              <a:gdLst/>
              <a:ahLst/>
              <a:cxnLst/>
              <a:rect l="l" t="t" r="r" b="b"/>
              <a:pathLst>
                <a:path w="2711450" h="289560">
                  <a:moveTo>
                    <a:pt x="2537460" y="144779"/>
                  </a:moveTo>
                  <a:lnTo>
                    <a:pt x="2421636" y="289559"/>
                  </a:lnTo>
                  <a:lnTo>
                    <a:pt x="2653284" y="173735"/>
                  </a:lnTo>
                  <a:lnTo>
                    <a:pt x="2537460" y="173735"/>
                  </a:lnTo>
                  <a:lnTo>
                    <a:pt x="2537460" y="144779"/>
                  </a:lnTo>
                  <a:close/>
                </a:path>
                <a:path w="2711450" h="289560">
                  <a:moveTo>
                    <a:pt x="2514295" y="115823"/>
                  </a:moveTo>
                  <a:lnTo>
                    <a:pt x="0" y="115823"/>
                  </a:lnTo>
                  <a:lnTo>
                    <a:pt x="0" y="173735"/>
                  </a:lnTo>
                  <a:lnTo>
                    <a:pt x="2514295" y="173735"/>
                  </a:lnTo>
                  <a:lnTo>
                    <a:pt x="2537460" y="144779"/>
                  </a:lnTo>
                  <a:lnTo>
                    <a:pt x="2514295" y="115823"/>
                  </a:lnTo>
                  <a:close/>
                </a:path>
                <a:path w="2711450" h="289560">
                  <a:moveTo>
                    <a:pt x="2653284" y="115823"/>
                  </a:moveTo>
                  <a:lnTo>
                    <a:pt x="2537460" y="115823"/>
                  </a:lnTo>
                  <a:lnTo>
                    <a:pt x="2537460" y="173735"/>
                  </a:lnTo>
                  <a:lnTo>
                    <a:pt x="2653284" y="173735"/>
                  </a:lnTo>
                  <a:lnTo>
                    <a:pt x="2711196" y="144779"/>
                  </a:lnTo>
                  <a:lnTo>
                    <a:pt x="2653284" y="115823"/>
                  </a:lnTo>
                  <a:close/>
                </a:path>
                <a:path w="2711450" h="289560">
                  <a:moveTo>
                    <a:pt x="2421636" y="0"/>
                  </a:moveTo>
                  <a:lnTo>
                    <a:pt x="2537460" y="144779"/>
                  </a:lnTo>
                  <a:lnTo>
                    <a:pt x="2537460" y="115823"/>
                  </a:lnTo>
                  <a:lnTo>
                    <a:pt x="2653284" y="115823"/>
                  </a:lnTo>
                  <a:lnTo>
                    <a:pt x="2421636" y="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9808" y="3890771"/>
              <a:ext cx="0" cy="1633855"/>
            </a:xfrm>
            <a:custGeom>
              <a:avLst/>
              <a:gdLst/>
              <a:ahLst/>
              <a:cxnLst/>
              <a:rect l="l" t="t" r="r" b="b"/>
              <a:pathLst>
                <a:path h="1633854">
                  <a:moveTo>
                    <a:pt x="0" y="1633727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3067" y="5515457"/>
            <a:ext cx="1812925" cy="7689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305"/>
              </a:spcBef>
            </a:pPr>
            <a:r>
              <a:rPr sz="2500" dirty="0">
                <a:latin typeface="Arial MT"/>
                <a:cs typeface="Arial MT"/>
              </a:rPr>
              <a:t>Wages,</a:t>
            </a:r>
            <a:r>
              <a:rPr sz="2500" spc="-15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rent, profit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16508" y="3877055"/>
            <a:ext cx="2396490" cy="1286510"/>
            <a:chOff x="1016508" y="3877055"/>
            <a:chExt cx="2396490" cy="1286510"/>
          </a:xfrm>
        </p:grpSpPr>
        <p:sp>
          <p:nvSpPr>
            <p:cNvPr id="21" name="object 21"/>
            <p:cNvSpPr/>
            <p:nvPr/>
          </p:nvSpPr>
          <p:spPr>
            <a:xfrm>
              <a:off x="1016508" y="3877055"/>
              <a:ext cx="289560" cy="1286510"/>
            </a:xfrm>
            <a:custGeom>
              <a:avLst/>
              <a:gdLst/>
              <a:ahLst/>
              <a:cxnLst/>
              <a:rect l="l" t="t" r="r" b="b"/>
              <a:pathLst>
                <a:path w="289559" h="1286510">
                  <a:moveTo>
                    <a:pt x="144779" y="173736"/>
                  </a:moveTo>
                  <a:lnTo>
                    <a:pt x="115823" y="196900"/>
                  </a:lnTo>
                  <a:lnTo>
                    <a:pt x="115823" y="1286256"/>
                  </a:lnTo>
                  <a:lnTo>
                    <a:pt x="173735" y="1286256"/>
                  </a:lnTo>
                  <a:lnTo>
                    <a:pt x="173735" y="196900"/>
                  </a:lnTo>
                  <a:lnTo>
                    <a:pt x="144779" y="173736"/>
                  </a:lnTo>
                  <a:close/>
                </a:path>
                <a:path w="289559" h="1286510">
                  <a:moveTo>
                    <a:pt x="144779" y="0"/>
                  </a:moveTo>
                  <a:lnTo>
                    <a:pt x="0" y="289560"/>
                  </a:lnTo>
                  <a:lnTo>
                    <a:pt x="115823" y="196900"/>
                  </a:lnTo>
                  <a:lnTo>
                    <a:pt x="115823" y="173736"/>
                  </a:lnTo>
                  <a:lnTo>
                    <a:pt x="231647" y="173736"/>
                  </a:lnTo>
                  <a:lnTo>
                    <a:pt x="144779" y="0"/>
                  </a:lnTo>
                  <a:close/>
                </a:path>
                <a:path w="289559" h="1286510">
                  <a:moveTo>
                    <a:pt x="231647" y="173736"/>
                  </a:moveTo>
                  <a:lnTo>
                    <a:pt x="173735" y="173736"/>
                  </a:lnTo>
                  <a:lnTo>
                    <a:pt x="173735" y="196900"/>
                  </a:lnTo>
                  <a:lnTo>
                    <a:pt x="289559" y="289560"/>
                  </a:lnTo>
                  <a:lnTo>
                    <a:pt x="231647" y="173736"/>
                  </a:lnTo>
                  <a:close/>
                </a:path>
                <a:path w="289559" h="1286510">
                  <a:moveTo>
                    <a:pt x="144779" y="173736"/>
                  </a:moveTo>
                  <a:lnTo>
                    <a:pt x="115823" y="173736"/>
                  </a:lnTo>
                  <a:lnTo>
                    <a:pt x="115823" y="196900"/>
                  </a:lnTo>
                  <a:lnTo>
                    <a:pt x="144779" y="173736"/>
                  </a:lnTo>
                  <a:close/>
                </a:path>
                <a:path w="289559" h="1286510">
                  <a:moveTo>
                    <a:pt x="173735" y="173736"/>
                  </a:moveTo>
                  <a:lnTo>
                    <a:pt x="144779" y="173736"/>
                  </a:lnTo>
                  <a:lnTo>
                    <a:pt x="173735" y="196900"/>
                  </a:lnTo>
                  <a:lnTo>
                    <a:pt x="173735" y="173736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59764" y="5131308"/>
              <a:ext cx="2223770" cy="0"/>
            </a:xfrm>
            <a:custGeom>
              <a:avLst/>
              <a:gdLst/>
              <a:ahLst/>
              <a:cxnLst/>
              <a:rect l="l" t="t" r="r" b="b"/>
              <a:pathLst>
                <a:path w="2223770">
                  <a:moveTo>
                    <a:pt x="0" y="0"/>
                  </a:moveTo>
                  <a:lnTo>
                    <a:pt x="2223516" y="0"/>
                  </a:lnTo>
                </a:path>
              </a:pathLst>
            </a:custGeom>
            <a:ln w="5791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82446" y="4331589"/>
            <a:ext cx="1507490" cy="7493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4"/>
              </a:spcBef>
            </a:pPr>
            <a:r>
              <a:rPr sz="2500" dirty="0">
                <a:latin typeface="Arial MT"/>
                <a:cs typeface="Arial MT"/>
              </a:rPr>
              <a:t>Factors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of </a:t>
            </a:r>
            <a:r>
              <a:rPr sz="2500" spc="-10" dirty="0">
                <a:latin typeface="Arial MT"/>
                <a:cs typeface="Arial MT"/>
              </a:rPr>
              <a:t>production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31764" y="3831082"/>
            <a:ext cx="2125980" cy="1469390"/>
            <a:chOff x="5731764" y="3831082"/>
            <a:chExt cx="2125980" cy="1469390"/>
          </a:xfrm>
        </p:grpSpPr>
        <p:sp>
          <p:nvSpPr>
            <p:cNvPr id="25" name="object 25"/>
            <p:cNvSpPr/>
            <p:nvPr/>
          </p:nvSpPr>
          <p:spPr>
            <a:xfrm>
              <a:off x="5731764" y="5010912"/>
              <a:ext cx="2125980" cy="289560"/>
            </a:xfrm>
            <a:custGeom>
              <a:avLst/>
              <a:gdLst/>
              <a:ahLst/>
              <a:cxnLst/>
              <a:rect l="l" t="t" r="r" b="b"/>
              <a:pathLst>
                <a:path w="2125979" h="289560">
                  <a:moveTo>
                    <a:pt x="289560" y="0"/>
                  </a:moveTo>
                  <a:lnTo>
                    <a:pt x="0" y="144780"/>
                  </a:lnTo>
                  <a:lnTo>
                    <a:pt x="289560" y="289559"/>
                  </a:lnTo>
                  <a:lnTo>
                    <a:pt x="196900" y="173736"/>
                  </a:lnTo>
                  <a:lnTo>
                    <a:pt x="173736" y="173736"/>
                  </a:lnTo>
                  <a:lnTo>
                    <a:pt x="173736" y="115824"/>
                  </a:lnTo>
                  <a:lnTo>
                    <a:pt x="196900" y="115824"/>
                  </a:lnTo>
                  <a:lnTo>
                    <a:pt x="289560" y="0"/>
                  </a:lnTo>
                  <a:close/>
                </a:path>
                <a:path w="2125979" h="289560">
                  <a:moveTo>
                    <a:pt x="173736" y="144780"/>
                  </a:moveTo>
                  <a:lnTo>
                    <a:pt x="173736" y="173736"/>
                  </a:lnTo>
                  <a:lnTo>
                    <a:pt x="196900" y="173736"/>
                  </a:lnTo>
                  <a:lnTo>
                    <a:pt x="173736" y="144780"/>
                  </a:lnTo>
                  <a:close/>
                </a:path>
                <a:path w="2125979" h="289560">
                  <a:moveTo>
                    <a:pt x="2125980" y="115824"/>
                  </a:moveTo>
                  <a:lnTo>
                    <a:pt x="196900" y="115824"/>
                  </a:lnTo>
                  <a:lnTo>
                    <a:pt x="173736" y="144780"/>
                  </a:lnTo>
                  <a:lnTo>
                    <a:pt x="196900" y="173736"/>
                  </a:lnTo>
                  <a:lnTo>
                    <a:pt x="2125980" y="173736"/>
                  </a:lnTo>
                  <a:lnTo>
                    <a:pt x="2125980" y="115824"/>
                  </a:lnTo>
                  <a:close/>
                </a:path>
                <a:path w="2125979" h="289560">
                  <a:moveTo>
                    <a:pt x="196900" y="115824"/>
                  </a:moveTo>
                  <a:lnTo>
                    <a:pt x="173736" y="115824"/>
                  </a:lnTo>
                  <a:lnTo>
                    <a:pt x="173736" y="144780"/>
                  </a:lnTo>
                  <a:lnTo>
                    <a:pt x="196900" y="11582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27264" y="3860292"/>
              <a:ext cx="0" cy="1303020"/>
            </a:xfrm>
            <a:custGeom>
              <a:avLst/>
              <a:gdLst/>
              <a:ahLst/>
              <a:cxnLst/>
              <a:rect l="l" t="t" r="r" b="b"/>
              <a:pathLst>
                <a:path h="1303020">
                  <a:moveTo>
                    <a:pt x="0" y="1303019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84823" y="4352290"/>
            <a:ext cx="16840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Arial MT"/>
                <a:cs typeface="Arial MT"/>
              </a:rPr>
              <a:t>Labor,</a:t>
            </a:r>
            <a:r>
              <a:rPr sz="2500" spc="-17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land,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27011" y="4695190"/>
            <a:ext cx="94424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Arial MT"/>
                <a:cs typeface="Arial MT"/>
              </a:rPr>
              <a:t>capital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63184" y="1222247"/>
            <a:ext cx="2573020" cy="1769745"/>
            <a:chOff x="5663184" y="1222247"/>
            <a:chExt cx="2573020" cy="1769745"/>
          </a:xfrm>
        </p:grpSpPr>
        <p:sp>
          <p:nvSpPr>
            <p:cNvPr id="30" name="object 30"/>
            <p:cNvSpPr/>
            <p:nvPr/>
          </p:nvSpPr>
          <p:spPr>
            <a:xfrm>
              <a:off x="5663184" y="1222247"/>
              <a:ext cx="2573020" cy="289560"/>
            </a:xfrm>
            <a:custGeom>
              <a:avLst/>
              <a:gdLst/>
              <a:ahLst/>
              <a:cxnLst/>
              <a:rect l="l" t="t" r="r" b="b"/>
              <a:pathLst>
                <a:path w="2573020" h="289559">
                  <a:moveTo>
                    <a:pt x="289560" y="0"/>
                  </a:moveTo>
                  <a:lnTo>
                    <a:pt x="0" y="144779"/>
                  </a:lnTo>
                  <a:lnTo>
                    <a:pt x="289560" y="289560"/>
                  </a:lnTo>
                  <a:lnTo>
                    <a:pt x="196900" y="173736"/>
                  </a:lnTo>
                  <a:lnTo>
                    <a:pt x="173736" y="173736"/>
                  </a:lnTo>
                  <a:lnTo>
                    <a:pt x="173736" y="115824"/>
                  </a:lnTo>
                  <a:lnTo>
                    <a:pt x="196900" y="115824"/>
                  </a:lnTo>
                  <a:lnTo>
                    <a:pt x="289560" y="0"/>
                  </a:lnTo>
                  <a:close/>
                </a:path>
                <a:path w="2573020" h="289559">
                  <a:moveTo>
                    <a:pt x="173736" y="144779"/>
                  </a:moveTo>
                  <a:lnTo>
                    <a:pt x="173736" y="173736"/>
                  </a:lnTo>
                  <a:lnTo>
                    <a:pt x="196900" y="173736"/>
                  </a:lnTo>
                  <a:lnTo>
                    <a:pt x="173736" y="144779"/>
                  </a:lnTo>
                  <a:close/>
                </a:path>
                <a:path w="2573020" h="289559">
                  <a:moveTo>
                    <a:pt x="2572512" y="115824"/>
                  </a:moveTo>
                  <a:lnTo>
                    <a:pt x="196900" y="115824"/>
                  </a:lnTo>
                  <a:lnTo>
                    <a:pt x="173736" y="144779"/>
                  </a:lnTo>
                  <a:lnTo>
                    <a:pt x="196900" y="173736"/>
                  </a:lnTo>
                  <a:lnTo>
                    <a:pt x="2572512" y="173736"/>
                  </a:lnTo>
                  <a:lnTo>
                    <a:pt x="2572512" y="115824"/>
                  </a:lnTo>
                  <a:close/>
                </a:path>
                <a:path w="2573020" h="289559">
                  <a:moveTo>
                    <a:pt x="196900" y="115824"/>
                  </a:moveTo>
                  <a:lnTo>
                    <a:pt x="173736" y="115824"/>
                  </a:lnTo>
                  <a:lnTo>
                    <a:pt x="173736" y="144779"/>
                  </a:lnTo>
                  <a:lnTo>
                    <a:pt x="196900" y="115824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05216" y="1353311"/>
              <a:ext cx="0" cy="1609725"/>
            </a:xfrm>
            <a:custGeom>
              <a:avLst/>
              <a:gdLst/>
              <a:ahLst/>
              <a:cxnLst/>
              <a:rect l="l" t="t" r="r" b="b"/>
              <a:pathLst>
                <a:path h="1609725">
                  <a:moveTo>
                    <a:pt x="0" y="0"/>
                  </a:moveTo>
                  <a:lnTo>
                    <a:pt x="0" y="1609343"/>
                  </a:lnTo>
                </a:path>
              </a:pathLst>
            </a:custGeom>
            <a:ln w="57912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910196" y="919353"/>
            <a:ext cx="13671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Arial MT"/>
                <a:cs typeface="Arial MT"/>
              </a:rPr>
              <a:t>Spending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679694" y="1651761"/>
            <a:ext cx="2272665" cy="1306830"/>
            <a:chOff x="5679694" y="1651761"/>
            <a:chExt cx="2272665" cy="1306830"/>
          </a:xfrm>
        </p:grpSpPr>
        <p:sp>
          <p:nvSpPr>
            <p:cNvPr id="34" name="object 34"/>
            <p:cNvSpPr/>
            <p:nvPr/>
          </p:nvSpPr>
          <p:spPr>
            <a:xfrm>
              <a:off x="7662672" y="1662683"/>
              <a:ext cx="289560" cy="1295400"/>
            </a:xfrm>
            <a:custGeom>
              <a:avLst/>
              <a:gdLst/>
              <a:ahLst/>
              <a:cxnLst/>
              <a:rect l="l" t="t" r="r" b="b"/>
              <a:pathLst>
                <a:path w="289559" h="1295400">
                  <a:moveTo>
                    <a:pt x="0" y="1005839"/>
                  </a:moveTo>
                  <a:lnTo>
                    <a:pt x="144779" y="1295400"/>
                  </a:lnTo>
                  <a:lnTo>
                    <a:pt x="231648" y="1121664"/>
                  </a:lnTo>
                  <a:lnTo>
                    <a:pt x="115824" y="1121664"/>
                  </a:lnTo>
                  <a:lnTo>
                    <a:pt x="115824" y="1098499"/>
                  </a:lnTo>
                  <a:lnTo>
                    <a:pt x="0" y="1005839"/>
                  </a:lnTo>
                  <a:close/>
                </a:path>
                <a:path w="289559" h="1295400">
                  <a:moveTo>
                    <a:pt x="115824" y="1098499"/>
                  </a:moveTo>
                  <a:lnTo>
                    <a:pt x="115824" y="1121664"/>
                  </a:lnTo>
                  <a:lnTo>
                    <a:pt x="144779" y="1121664"/>
                  </a:lnTo>
                  <a:lnTo>
                    <a:pt x="115824" y="1098499"/>
                  </a:lnTo>
                  <a:close/>
                </a:path>
                <a:path w="289559" h="1295400">
                  <a:moveTo>
                    <a:pt x="173735" y="0"/>
                  </a:moveTo>
                  <a:lnTo>
                    <a:pt x="115824" y="0"/>
                  </a:lnTo>
                  <a:lnTo>
                    <a:pt x="115824" y="1098499"/>
                  </a:lnTo>
                  <a:lnTo>
                    <a:pt x="144779" y="1121664"/>
                  </a:lnTo>
                  <a:lnTo>
                    <a:pt x="173735" y="1098499"/>
                  </a:lnTo>
                  <a:lnTo>
                    <a:pt x="173735" y="0"/>
                  </a:lnTo>
                  <a:close/>
                </a:path>
                <a:path w="289559" h="1295400">
                  <a:moveTo>
                    <a:pt x="173735" y="1098499"/>
                  </a:moveTo>
                  <a:lnTo>
                    <a:pt x="144779" y="1121664"/>
                  </a:lnTo>
                  <a:lnTo>
                    <a:pt x="173735" y="1121664"/>
                  </a:lnTo>
                  <a:lnTo>
                    <a:pt x="173735" y="1098499"/>
                  </a:lnTo>
                  <a:close/>
                </a:path>
                <a:path w="289559" h="1295400">
                  <a:moveTo>
                    <a:pt x="289559" y="1005839"/>
                  </a:moveTo>
                  <a:lnTo>
                    <a:pt x="173735" y="1098499"/>
                  </a:lnTo>
                  <a:lnTo>
                    <a:pt x="173735" y="1121664"/>
                  </a:lnTo>
                  <a:lnTo>
                    <a:pt x="231648" y="1121664"/>
                  </a:lnTo>
                  <a:lnTo>
                    <a:pt x="289559" y="100583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08904" y="1680971"/>
              <a:ext cx="2129155" cy="0"/>
            </a:xfrm>
            <a:custGeom>
              <a:avLst/>
              <a:gdLst/>
              <a:ahLst/>
              <a:cxnLst/>
              <a:rect l="l" t="t" r="r" b="b"/>
              <a:pathLst>
                <a:path w="2129154">
                  <a:moveTo>
                    <a:pt x="2129028" y="0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734302" y="1676780"/>
            <a:ext cx="1000760" cy="7493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123189">
              <a:lnSpc>
                <a:spcPts val="2700"/>
              </a:lnSpc>
              <a:spcBef>
                <a:spcPts val="434"/>
              </a:spcBef>
            </a:pPr>
            <a:r>
              <a:rPr sz="2500" dirty="0">
                <a:latin typeface="Arial MT"/>
                <a:cs typeface="Arial MT"/>
              </a:rPr>
              <a:t>G &amp;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S </a:t>
            </a:r>
            <a:r>
              <a:rPr sz="2500" spc="-10" dirty="0">
                <a:latin typeface="Arial MT"/>
                <a:cs typeface="Arial MT"/>
              </a:rPr>
              <a:t>bought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115313" y="1479803"/>
            <a:ext cx="2261870" cy="1522730"/>
            <a:chOff x="1115313" y="1479803"/>
            <a:chExt cx="2261870" cy="1522730"/>
          </a:xfrm>
        </p:grpSpPr>
        <p:sp>
          <p:nvSpPr>
            <p:cNvPr id="38" name="object 38"/>
            <p:cNvSpPr/>
            <p:nvPr/>
          </p:nvSpPr>
          <p:spPr>
            <a:xfrm>
              <a:off x="1117091" y="1479803"/>
              <a:ext cx="2260600" cy="289560"/>
            </a:xfrm>
            <a:custGeom>
              <a:avLst/>
              <a:gdLst/>
              <a:ahLst/>
              <a:cxnLst/>
              <a:rect l="l" t="t" r="r" b="b"/>
              <a:pathLst>
                <a:path w="2260600" h="289560">
                  <a:moveTo>
                    <a:pt x="2086356" y="144780"/>
                  </a:moveTo>
                  <a:lnTo>
                    <a:pt x="1970532" y="289560"/>
                  </a:lnTo>
                  <a:lnTo>
                    <a:pt x="2202180" y="173736"/>
                  </a:lnTo>
                  <a:lnTo>
                    <a:pt x="2086356" y="173736"/>
                  </a:lnTo>
                  <a:lnTo>
                    <a:pt x="2086356" y="144780"/>
                  </a:lnTo>
                  <a:close/>
                </a:path>
                <a:path w="2260600" h="289560">
                  <a:moveTo>
                    <a:pt x="2063191" y="115824"/>
                  </a:moveTo>
                  <a:lnTo>
                    <a:pt x="0" y="115824"/>
                  </a:lnTo>
                  <a:lnTo>
                    <a:pt x="0" y="173736"/>
                  </a:lnTo>
                  <a:lnTo>
                    <a:pt x="2063191" y="173736"/>
                  </a:lnTo>
                  <a:lnTo>
                    <a:pt x="2086356" y="144780"/>
                  </a:lnTo>
                  <a:lnTo>
                    <a:pt x="2063191" y="115824"/>
                  </a:lnTo>
                  <a:close/>
                </a:path>
                <a:path w="2260600" h="289560">
                  <a:moveTo>
                    <a:pt x="2202179" y="115824"/>
                  </a:moveTo>
                  <a:lnTo>
                    <a:pt x="2086356" y="115824"/>
                  </a:lnTo>
                  <a:lnTo>
                    <a:pt x="2086356" y="173736"/>
                  </a:lnTo>
                  <a:lnTo>
                    <a:pt x="2202180" y="173736"/>
                  </a:lnTo>
                  <a:lnTo>
                    <a:pt x="2260092" y="144780"/>
                  </a:lnTo>
                  <a:lnTo>
                    <a:pt x="2202179" y="115824"/>
                  </a:lnTo>
                  <a:close/>
                </a:path>
                <a:path w="2260600" h="289560">
                  <a:moveTo>
                    <a:pt x="1970532" y="0"/>
                  </a:moveTo>
                  <a:lnTo>
                    <a:pt x="2086356" y="144780"/>
                  </a:lnTo>
                  <a:lnTo>
                    <a:pt x="2086356" y="115824"/>
                  </a:lnTo>
                  <a:lnTo>
                    <a:pt x="2202179" y="115824"/>
                  </a:lnTo>
                  <a:lnTo>
                    <a:pt x="1970532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44523" y="1606295"/>
              <a:ext cx="0" cy="1367155"/>
            </a:xfrm>
            <a:custGeom>
              <a:avLst/>
              <a:gdLst/>
              <a:ahLst/>
              <a:cxnLst/>
              <a:rect l="l" t="t" r="r" b="b"/>
              <a:pathLst>
                <a:path h="1367155">
                  <a:moveTo>
                    <a:pt x="0" y="0"/>
                  </a:moveTo>
                  <a:lnTo>
                    <a:pt x="0" y="1367027"/>
                  </a:lnTo>
                </a:path>
              </a:pathLst>
            </a:custGeom>
            <a:ln w="5791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61617" y="1611324"/>
            <a:ext cx="873760" cy="7493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4"/>
              </a:spcBef>
            </a:pPr>
            <a:r>
              <a:rPr sz="2500" dirty="0">
                <a:latin typeface="Arial MT"/>
                <a:cs typeface="Arial MT"/>
              </a:rPr>
              <a:t>G &amp;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S </a:t>
            </a:r>
            <a:r>
              <a:rPr sz="2500" spc="-20" dirty="0">
                <a:latin typeface="Arial MT"/>
                <a:cs typeface="Arial MT"/>
              </a:rPr>
              <a:t>sold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20268" y="1292352"/>
            <a:ext cx="2846070" cy="1675130"/>
            <a:chOff x="620268" y="1292352"/>
            <a:chExt cx="2846070" cy="1675130"/>
          </a:xfrm>
        </p:grpSpPr>
        <p:sp>
          <p:nvSpPr>
            <p:cNvPr id="42" name="object 42"/>
            <p:cNvSpPr/>
            <p:nvPr/>
          </p:nvSpPr>
          <p:spPr>
            <a:xfrm>
              <a:off x="620268" y="1292352"/>
              <a:ext cx="289560" cy="1675130"/>
            </a:xfrm>
            <a:custGeom>
              <a:avLst/>
              <a:gdLst/>
              <a:ahLst/>
              <a:cxnLst/>
              <a:rect l="l" t="t" r="r" b="b"/>
              <a:pathLst>
                <a:path w="289559" h="1675130">
                  <a:moveTo>
                    <a:pt x="0" y="1385315"/>
                  </a:moveTo>
                  <a:lnTo>
                    <a:pt x="144779" y="1674876"/>
                  </a:lnTo>
                  <a:lnTo>
                    <a:pt x="231647" y="1501139"/>
                  </a:lnTo>
                  <a:lnTo>
                    <a:pt x="115823" y="1501139"/>
                  </a:lnTo>
                  <a:lnTo>
                    <a:pt x="115823" y="1477975"/>
                  </a:lnTo>
                  <a:lnTo>
                    <a:pt x="0" y="1385315"/>
                  </a:lnTo>
                  <a:close/>
                </a:path>
                <a:path w="289559" h="1675130">
                  <a:moveTo>
                    <a:pt x="115823" y="1477975"/>
                  </a:moveTo>
                  <a:lnTo>
                    <a:pt x="115823" y="1501139"/>
                  </a:lnTo>
                  <a:lnTo>
                    <a:pt x="144779" y="1501139"/>
                  </a:lnTo>
                  <a:lnTo>
                    <a:pt x="115823" y="1477975"/>
                  </a:lnTo>
                  <a:close/>
                </a:path>
                <a:path w="289559" h="1675130">
                  <a:moveTo>
                    <a:pt x="173736" y="0"/>
                  </a:moveTo>
                  <a:lnTo>
                    <a:pt x="115823" y="0"/>
                  </a:lnTo>
                  <a:lnTo>
                    <a:pt x="115823" y="1477975"/>
                  </a:lnTo>
                  <a:lnTo>
                    <a:pt x="144779" y="1501139"/>
                  </a:lnTo>
                  <a:lnTo>
                    <a:pt x="173736" y="1477975"/>
                  </a:lnTo>
                  <a:lnTo>
                    <a:pt x="173736" y="0"/>
                  </a:lnTo>
                  <a:close/>
                </a:path>
                <a:path w="289559" h="1675130">
                  <a:moveTo>
                    <a:pt x="173736" y="1477975"/>
                  </a:moveTo>
                  <a:lnTo>
                    <a:pt x="144779" y="1501139"/>
                  </a:lnTo>
                  <a:lnTo>
                    <a:pt x="173736" y="1501139"/>
                  </a:lnTo>
                  <a:lnTo>
                    <a:pt x="173736" y="1477975"/>
                  </a:lnTo>
                  <a:close/>
                </a:path>
                <a:path w="289559" h="1675130">
                  <a:moveTo>
                    <a:pt x="289559" y="1385315"/>
                  </a:moveTo>
                  <a:lnTo>
                    <a:pt x="173736" y="1477975"/>
                  </a:lnTo>
                  <a:lnTo>
                    <a:pt x="173736" y="1501139"/>
                  </a:lnTo>
                  <a:lnTo>
                    <a:pt x="231647" y="1501139"/>
                  </a:lnTo>
                  <a:lnTo>
                    <a:pt x="289559" y="1385315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8096" y="1322832"/>
              <a:ext cx="2668905" cy="0"/>
            </a:xfrm>
            <a:custGeom>
              <a:avLst/>
              <a:gdLst/>
              <a:ahLst/>
              <a:cxnLst/>
              <a:rect l="l" t="t" r="r" b="b"/>
              <a:pathLst>
                <a:path w="2668904">
                  <a:moveTo>
                    <a:pt x="0" y="0"/>
                  </a:moveTo>
                  <a:lnTo>
                    <a:pt x="2668524" y="0"/>
                  </a:lnTo>
                </a:path>
              </a:pathLst>
            </a:custGeom>
            <a:ln w="57912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72490" y="895604"/>
            <a:ext cx="12954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Arial MT"/>
                <a:cs typeface="Arial MT"/>
              </a:rPr>
              <a:t>Revenue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60420" y="789431"/>
            <a:ext cx="2428240" cy="1797050"/>
            <a:chOff x="3360420" y="789431"/>
            <a:chExt cx="2428240" cy="179705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0420" y="789431"/>
              <a:ext cx="2427731" cy="17967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86328" y="815339"/>
              <a:ext cx="2321560" cy="1690370"/>
            </a:xfrm>
            <a:custGeom>
              <a:avLst/>
              <a:gdLst/>
              <a:ahLst/>
              <a:cxnLst/>
              <a:rect l="l" t="t" r="r" b="b"/>
              <a:pathLst>
                <a:path w="2321560" h="1690370">
                  <a:moveTo>
                    <a:pt x="1160526" y="0"/>
                  </a:moveTo>
                  <a:lnTo>
                    <a:pt x="1104295" y="974"/>
                  </a:lnTo>
                  <a:lnTo>
                    <a:pt x="1048755" y="3868"/>
                  </a:lnTo>
                  <a:lnTo>
                    <a:pt x="993966" y="8637"/>
                  </a:lnTo>
                  <a:lnTo>
                    <a:pt x="939991" y="15237"/>
                  </a:lnTo>
                  <a:lnTo>
                    <a:pt x="886888" y="23623"/>
                  </a:lnTo>
                  <a:lnTo>
                    <a:pt x="834720" y="33752"/>
                  </a:lnTo>
                  <a:lnTo>
                    <a:pt x="783547" y="45579"/>
                  </a:lnTo>
                  <a:lnTo>
                    <a:pt x="733429" y="59060"/>
                  </a:lnTo>
                  <a:lnTo>
                    <a:pt x="684427" y="74150"/>
                  </a:lnTo>
                  <a:lnTo>
                    <a:pt x="636603" y="90806"/>
                  </a:lnTo>
                  <a:lnTo>
                    <a:pt x="590016" y="108983"/>
                  </a:lnTo>
                  <a:lnTo>
                    <a:pt x="544729" y="128636"/>
                  </a:lnTo>
                  <a:lnTo>
                    <a:pt x="500801" y="149722"/>
                  </a:lnTo>
                  <a:lnTo>
                    <a:pt x="458293" y="172197"/>
                  </a:lnTo>
                  <a:lnTo>
                    <a:pt x="417266" y="196015"/>
                  </a:lnTo>
                  <a:lnTo>
                    <a:pt x="377781" y="221133"/>
                  </a:lnTo>
                  <a:lnTo>
                    <a:pt x="339899" y="247507"/>
                  </a:lnTo>
                  <a:lnTo>
                    <a:pt x="303680" y="275091"/>
                  </a:lnTo>
                  <a:lnTo>
                    <a:pt x="269186" y="303843"/>
                  </a:lnTo>
                  <a:lnTo>
                    <a:pt x="236476" y="333718"/>
                  </a:lnTo>
                  <a:lnTo>
                    <a:pt x="205612" y="364671"/>
                  </a:lnTo>
                  <a:lnTo>
                    <a:pt x="176655" y="396658"/>
                  </a:lnTo>
                  <a:lnTo>
                    <a:pt x="149665" y="429635"/>
                  </a:lnTo>
                  <a:lnTo>
                    <a:pt x="124703" y="463557"/>
                  </a:lnTo>
                  <a:lnTo>
                    <a:pt x="101830" y="498381"/>
                  </a:lnTo>
                  <a:lnTo>
                    <a:pt x="81106" y="534063"/>
                  </a:lnTo>
                  <a:lnTo>
                    <a:pt x="62593" y="570557"/>
                  </a:lnTo>
                  <a:lnTo>
                    <a:pt x="46351" y="607819"/>
                  </a:lnTo>
                  <a:lnTo>
                    <a:pt x="32442" y="645806"/>
                  </a:lnTo>
                  <a:lnTo>
                    <a:pt x="20924" y="684473"/>
                  </a:lnTo>
                  <a:lnTo>
                    <a:pt x="11861" y="723776"/>
                  </a:lnTo>
                  <a:lnTo>
                    <a:pt x="5312" y="763671"/>
                  </a:lnTo>
                  <a:lnTo>
                    <a:pt x="1338" y="804113"/>
                  </a:lnTo>
                  <a:lnTo>
                    <a:pt x="0" y="845058"/>
                  </a:lnTo>
                  <a:lnTo>
                    <a:pt x="1338" y="886002"/>
                  </a:lnTo>
                  <a:lnTo>
                    <a:pt x="5312" y="926444"/>
                  </a:lnTo>
                  <a:lnTo>
                    <a:pt x="11861" y="966339"/>
                  </a:lnTo>
                  <a:lnTo>
                    <a:pt x="20924" y="1005642"/>
                  </a:lnTo>
                  <a:lnTo>
                    <a:pt x="32442" y="1044309"/>
                  </a:lnTo>
                  <a:lnTo>
                    <a:pt x="46351" y="1082296"/>
                  </a:lnTo>
                  <a:lnTo>
                    <a:pt x="62593" y="1119558"/>
                  </a:lnTo>
                  <a:lnTo>
                    <a:pt x="81106" y="1156052"/>
                  </a:lnTo>
                  <a:lnTo>
                    <a:pt x="101830" y="1191734"/>
                  </a:lnTo>
                  <a:lnTo>
                    <a:pt x="124703" y="1226558"/>
                  </a:lnTo>
                  <a:lnTo>
                    <a:pt x="149665" y="1260480"/>
                  </a:lnTo>
                  <a:lnTo>
                    <a:pt x="176655" y="1293457"/>
                  </a:lnTo>
                  <a:lnTo>
                    <a:pt x="205612" y="1325444"/>
                  </a:lnTo>
                  <a:lnTo>
                    <a:pt x="236476" y="1356397"/>
                  </a:lnTo>
                  <a:lnTo>
                    <a:pt x="269186" y="1386272"/>
                  </a:lnTo>
                  <a:lnTo>
                    <a:pt x="303680" y="1415024"/>
                  </a:lnTo>
                  <a:lnTo>
                    <a:pt x="339899" y="1442608"/>
                  </a:lnTo>
                  <a:lnTo>
                    <a:pt x="377781" y="1468982"/>
                  </a:lnTo>
                  <a:lnTo>
                    <a:pt x="417266" y="1494100"/>
                  </a:lnTo>
                  <a:lnTo>
                    <a:pt x="458293" y="1517918"/>
                  </a:lnTo>
                  <a:lnTo>
                    <a:pt x="500801" y="1540393"/>
                  </a:lnTo>
                  <a:lnTo>
                    <a:pt x="544729" y="1561479"/>
                  </a:lnTo>
                  <a:lnTo>
                    <a:pt x="590016" y="1581132"/>
                  </a:lnTo>
                  <a:lnTo>
                    <a:pt x="636603" y="1599309"/>
                  </a:lnTo>
                  <a:lnTo>
                    <a:pt x="684427" y="1615965"/>
                  </a:lnTo>
                  <a:lnTo>
                    <a:pt x="733429" y="1631055"/>
                  </a:lnTo>
                  <a:lnTo>
                    <a:pt x="783547" y="1644536"/>
                  </a:lnTo>
                  <a:lnTo>
                    <a:pt x="834720" y="1656363"/>
                  </a:lnTo>
                  <a:lnTo>
                    <a:pt x="886888" y="1666492"/>
                  </a:lnTo>
                  <a:lnTo>
                    <a:pt x="939991" y="1674878"/>
                  </a:lnTo>
                  <a:lnTo>
                    <a:pt x="993966" y="1681478"/>
                  </a:lnTo>
                  <a:lnTo>
                    <a:pt x="1048755" y="1686247"/>
                  </a:lnTo>
                  <a:lnTo>
                    <a:pt x="1104295" y="1689141"/>
                  </a:lnTo>
                  <a:lnTo>
                    <a:pt x="1160526" y="1690115"/>
                  </a:lnTo>
                  <a:lnTo>
                    <a:pt x="1216756" y="1689141"/>
                  </a:lnTo>
                  <a:lnTo>
                    <a:pt x="1272296" y="1686247"/>
                  </a:lnTo>
                  <a:lnTo>
                    <a:pt x="1327085" y="1681478"/>
                  </a:lnTo>
                  <a:lnTo>
                    <a:pt x="1381060" y="1674878"/>
                  </a:lnTo>
                  <a:lnTo>
                    <a:pt x="1434163" y="1666492"/>
                  </a:lnTo>
                  <a:lnTo>
                    <a:pt x="1486331" y="1656363"/>
                  </a:lnTo>
                  <a:lnTo>
                    <a:pt x="1537504" y="1644536"/>
                  </a:lnTo>
                  <a:lnTo>
                    <a:pt x="1587622" y="1631055"/>
                  </a:lnTo>
                  <a:lnTo>
                    <a:pt x="1636624" y="1615965"/>
                  </a:lnTo>
                  <a:lnTo>
                    <a:pt x="1684448" y="1599309"/>
                  </a:lnTo>
                  <a:lnTo>
                    <a:pt x="1731035" y="1581132"/>
                  </a:lnTo>
                  <a:lnTo>
                    <a:pt x="1776322" y="1561479"/>
                  </a:lnTo>
                  <a:lnTo>
                    <a:pt x="1820250" y="1540393"/>
                  </a:lnTo>
                  <a:lnTo>
                    <a:pt x="1862758" y="1517918"/>
                  </a:lnTo>
                  <a:lnTo>
                    <a:pt x="1903785" y="1494100"/>
                  </a:lnTo>
                  <a:lnTo>
                    <a:pt x="1943270" y="1468982"/>
                  </a:lnTo>
                  <a:lnTo>
                    <a:pt x="1981152" y="1442608"/>
                  </a:lnTo>
                  <a:lnTo>
                    <a:pt x="2017371" y="1415024"/>
                  </a:lnTo>
                  <a:lnTo>
                    <a:pt x="2051865" y="1386272"/>
                  </a:lnTo>
                  <a:lnTo>
                    <a:pt x="2084575" y="1356397"/>
                  </a:lnTo>
                  <a:lnTo>
                    <a:pt x="2115439" y="1325444"/>
                  </a:lnTo>
                  <a:lnTo>
                    <a:pt x="2144396" y="1293457"/>
                  </a:lnTo>
                  <a:lnTo>
                    <a:pt x="2171386" y="1260480"/>
                  </a:lnTo>
                  <a:lnTo>
                    <a:pt x="2196348" y="1226558"/>
                  </a:lnTo>
                  <a:lnTo>
                    <a:pt x="2219221" y="1191734"/>
                  </a:lnTo>
                  <a:lnTo>
                    <a:pt x="2239945" y="1156052"/>
                  </a:lnTo>
                  <a:lnTo>
                    <a:pt x="2258458" y="1119558"/>
                  </a:lnTo>
                  <a:lnTo>
                    <a:pt x="2274700" y="1082296"/>
                  </a:lnTo>
                  <a:lnTo>
                    <a:pt x="2288609" y="1044309"/>
                  </a:lnTo>
                  <a:lnTo>
                    <a:pt x="2300127" y="1005642"/>
                  </a:lnTo>
                  <a:lnTo>
                    <a:pt x="2309190" y="966339"/>
                  </a:lnTo>
                  <a:lnTo>
                    <a:pt x="2315739" y="926444"/>
                  </a:lnTo>
                  <a:lnTo>
                    <a:pt x="2319713" y="886002"/>
                  </a:lnTo>
                  <a:lnTo>
                    <a:pt x="2321052" y="845058"/>
                  </a:lnTo>
                  <a:lnTo>
                    <a:pt x="2319713" y="804113"/>
                  </a:lnTo>
                  <a:lnTo>
                    <a:pt x="2315739" y="763671"/>
                  </a:lnTo>
                  <a:lnTo>
                    <a:pt x="2309190" y="723776"/>
                  </a:lnTo>
                  <a:lnTo>
                    <a:pt x="2300127" y="684473"/>
                  </a:lnTo>
                  <a:lnTo>
                    <a:pt x="2288609" y="645806"/>
                  </a:lnTo>
                  <a:lnTo>
                    <a:pt x="2274700" y="607819"/>
                  </a:lnTo>
                  <a:lnTo>
                    <a:pt x="2258458" y="570557"/>
                  </a:lnTo>
                  <a:lnTo>
                    <a:pt x="2239945" y="534063"/>
                  </a:lnTo>
                  <a:lnTo>
                    <a:pt x="2219221" y="498381"/>
                  </a:lnTo>
                  <a:lnTo>
                    <a:pt x="2196348" y="463557"/>
                  </a:lnTo>
                  <a:lnTo>
                    <a:pt x="2171386" y="429635"/>
                  </a:lnTo>
                  <a:lnTo>
                    <a:pt x="2144396" y="396658"/>
                  </a:lnTo>
                  <a:lnTo>
                    <a:pt x="2115439" y="364671"/>
                  </a:lnTo>
                  <a:lnTo>
                    <a:pt x="2084575" y="333718"/>
                  </a:lnTo>
                  <a:lnTo>
                    <a:pt x="2051865" y="303843"/>
                  </a:lnTo>
                  <a:lnTo>
                    <a:pt x="2017371" y="275091"/>
                  </a:lnTo>
                  <a:lnTo>
                    <a:pt x="1981152" y="247507"/>
                  </a:lnTo>
                  <a:lnTo>
                    <a:pt x="1943270" y="221133"/>
                  </a:lnTo>
                  <a:lnTo>
                    <a:pt x="1903785" y="196015"/>
                  </a:lnTo>
                  <a:lnTo>
                    <a:pt x="1862758" y="172197"/>
                  </a:lnTo>
                  <a:lnTo>
                    <a:pt x="1820250" y="149722"/>
                  </a:lnTo>
                  <a:lnTo>
                    <a:pt x="1776322" y="128636"/>
                  </a:lnTo>
                  <a:lnTo>
                    <a:pt x="1731035" y="108983"/>
                  </a:lnTo>
                  <a:lnTo>
                    <a:pt x="1684448" y="90806"/>
                  </a:lnTo>
                  <a:lnTo>
                    <a:pt x="1636624" y="74150"/>
                  </a:lnTo>
                  <a:lnTo>
                    <a:pt x="1587622" y="59060"/>
                  </a:lnTo>
                  <a:lnTo>
                    <a:pt x="1537504" y="45579"/>
                  </a:lnTo>
                  <a:lnTo>
                    <a:pt x="1486331" y="33752"/>
                  </a:lnTo>
                  <a:lnTo>
                    <a:pt x="1434163" y="23623"/>
                  </a:lnTo>
                  <a:lnTo>
                    <a:pt x="1381060" y="15237"/>
                  </a:lnTo>
                  <a:lnTo>
                    <a:pt x="1327085" y="8637"/>
                  </a:lnTo>
                  <a:lnTo>
                    <a:pt x="1272296" y="3868"/>
                  </a:lnTo>
                  <a:lnTo>
                    <a:pt x="1216756" y="974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25671" y="1089406"/>
            <a:ext cx="1677670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 MT"/>
                <a:cs typeface="Arial MT"/>
              </a:rPr>
              <a:t>Markets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for </a:t>
            </a:r>
            <a:r>
              <a:rPr sz="2600" dirty="0">
                <a:latin typeface="Arial MT"/>
                <a:cs typeface="Arial MT"/>
              </a:rPr>
              <a:t>Goods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&amp; </a:t>
            </a:r>
            <a:r>
              <a:rPr sz="2600" spc="-10" dirty="0">
                <a:latin typeface="Arial MT"/>
                <a:cs typeface="Arial MT"/>
              </a:rPr>
              <a:t>Services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705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PPF</a:t>
            </a:r>
            <a:r>
              <a:rPr spc="-45" dirty="0"/>
              <a:t> </a:t>
            </a:r>
            <a:r>
              <a:rPr spc="-20" dirty="0"/>
              <a:t>Model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094345" cy="536638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595"/>
                </a:solidFill>
                <a:latin typeface="Arial MT"/>
                <a:cs typeface="Arial MT"/>
              </a:rPr>
              <a:t>Production</a:t>
            </a:r>
            <a:r>
              <a:rPr sz="3400" spc="-80" dirty="0">
                <a:solidFill>
                  <a:srgbClr val="005595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595"/>
                </a:solidFill>
                <a:latin typeface="Arial MT"/>
                <a:cs typeface="Arial MT"/>
              </a:rPr>
              <a:t>possibilities</a:t>
            </a:r>
            <a:r>
              <a:rPr sz="3400" spc="-90" dirty="0">
                <a:solidFill>
                  <a:srgbClr val="005595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595"/>
                </a:solidFill>
                <a:latin typeface="Arial MT"/>
                <a:cs typeface="Arial MT"/>
              </a:rPr>
              <a:t>frontier</a:t>
            </a:r>
            <a:endParaRPr sz="3400">
              <a:latin typeface="Arial MT"/>
              <a:cs typeface="Arial MT"/>
            </a:endParaRPr>
          </a:p>
          <a:p>
            <a:pPr marL="755015" marR="13525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graph: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combinations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output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	</a:t>
            </a:r>
            <a:r>
              <a:rPr sz="3200" dirty="0">
                <a:latin typeface="Arial MT"/>
                <a:cs typeface="Arial MT"/>
              </a:rPr>
              <a:t>economy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possibly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produce</a:t>
            </a:r>
            <a:endParaRPr sz="32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Given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available</a:t>
            </a:r>
            <a:endParaRPr sz="320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690"/>
              </a:spcBef>
              <a:buSzPct val="89285"/>
              <a:buChar char="•"/>
              <a:tabLst>
                <a:tab pos="1155700" algn="l"/>
              </a:tabLst>
            </a:pPr>
            <a:r>
              <a:rPr sz="2800" dirty="0">
                <a:latin typeface="Arial MT"/>
                <a:cs typeface="Arial MT"/>
              </a:rPr>
              <a:t>Factors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technology</a:t>
            </a:r>
            <a:endParaRPr sz="28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50"/>
              </a:spcBef>
              <a:buChar char="–"/>
              <a:tabLst>
                <a:tab pos="755015" algn="l"/>
              </a:tabLst>
            </a:pPr>
            <a:r>
              <a:rPr sz="3200" spc="-10" dirty="0">
                <a:latin typeface="Arial MT"/>
                <a:cs typeface="Arial MT"/>
              </a:rPr>
              <a:t>Example:</a:t>
            </a:r>
            <a:endParaRPr sz="320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690"/>
              </a:spcBef>
              <a:buSzPct val="89285"/>
              <a:buChar char="•"/>
              <a:tabLst>
                <a:tab pos="1155700" algn="l"/>
                <a:tab pos="3192780" algn="l"/>
              </a:tabLst>
            </a:pPr>
            <a:r>
              <a:rPr sz="2800" dirty="0">
                <a:latin typeface="Arial MT"/>
                <a:cs typeface="Arial MT"/>
              </a:rPr>
              <a:t>Two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goods:</a:t>
            </a:r>
            <a:r>
              <a:rPr sz="2800" dirty="0">
                <a:latin typeface="Arial MT"/>
                <a:cs typeface="Arial MT"/>
              </a:rPr>
              <a:t>	computers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wheat</a:t>
            </a:r>
            <a:endParaRPr sz="280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675"/>
              </a:spcBef>
              <a:buSzPct val="89285"/>
              <a:buChar char="•"/>
              <a:tabLst>
                <a:tab pos="1155700" algn="l"/>
                <a:tab pos="3608070" algn="l"/>
              </a:tabLst>
            </a:pP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resource:</a:t>
            </a:r>
            <a:r>
              <a:rPr sz="2800" dirty="0">
                <a:latin typeface="Arial MT"/>
                <a:cs typeface="Arial MT"/>
              </a:rPr>
              <a:t>	labor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(measured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hours)</a:t>
            </a:r>
            <a:endParaRPr sz="2800">
              <a:latin typeface="Arial MT"/>
              <a:cs typeface="Arial MT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670"/>
              </a:spcBef>
              <a:buSzPct val="89285"/>
              <a:buChar char="•"/>
              <a:tabLst>
                <a:tab pos="1155700" algn="l"/>
              </a:tabLst>
            </a:pPr>
            <a:r>
              <a:rPr sz="2800" dirty="0">
                <a:latin typeface="Arial MT"/>
                <a:cs typeface="Arial MT"/>
              </a:rPr>
              <a:t>Economy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50,000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labor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hours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month </a:t>
            </a:r>
            <a:r>
              <a:rPr sz="2800" dirty="0">
                <a:latin typeface="Arial MT"/>
                <a:cs typeface="Arial MT"/>
              </a:rPr>
              <a:t>available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production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568440"/>
            <a:chOff x="0" y="0"/>
            <a:chExt cx="9144000" cy="6568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" y="458723"/>
              <a:ext cx="8705088" cy="58597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417576"/>
              <a:ext cx="304800" cy="60700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10896" cy="65684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88" y="6146291"/>
              <a:ext cx="9014460" cy="3459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5729" y="48005"/>
              <a:ext cx="8861425" cy="6259830"/>
            </a:xfrm>
            <a:custGeom>
              <a:avLst/>
              <a:gdLst/>
              <a:ahLst/>
              <a:cxnLst/>
              <a:rect l="l" t="t" r="r" b="b"/>
              <a:pathLst>
                <a:path w="8861425" h="6259830">
                  <a:moveTo>
                    <a:pt x="0" y="458724"/>
                  </a:moveTo>
                  <a:lnTo>
                    <a:pt x="1704213" y="458724"/>
                  </a:lnTo>
                </a:path>
                <a:path w="8861425" h="6259830">
                  <a:moveTo>
                    <a:pt x="111252" y="583311"/>
                  </a:moveTo>
                  <a:lnTo>
                    <a:pt x="111252" y="0"/>
                  </a:lnTo>
                </a:path>
                <a:path w="8861425" h="6259830">
                  <a:moveTo>
                    <a:pt x="8028432" y="6178296"/>
                  </a:moveTo>
                  <a:lnTo>
                    <a:pt x="8861425" y="6178296"/>
                  </a:lnTo>
                </a:path>
                <a:path w="8861425" h="6259830">
                  <a:moveTo>
                    <a:pt x="8782812" y="5896356"/>
                  </a:moveTo>
                  <a:lnTo>
                    <a:pt x="8782812" y="6259652"/>
                  </a:lnTo>
                </a:path>
              </a:pathLst>
            </a:custGeom>
            <a:ln w="28956">
              <a:solidFill>
                <a:srgbClr val="E712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258635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PPF</a:t>
            </a:r>
            <a:r>
              <a:rPr sz="3300" spc="-15" dirty="0">
                <a:solidFill>
                  <a:srgbClr val="000000"/>
                </a:solidFill>
              </a:rPr>
              <a:t> </a:t>
            </a:r>
            <a:r>
              <a:rPr sz="3300" spc="-10" dirty="0">
                <a:solidFill>
                  <a:srgbClr val="000000"/>
                </a:solidFill>
              </a:rPr>
              <a:t>Example</a:t>
            </a:r>
            <a:endParaRPr sz="33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383540" y="562101"/>
            <a:ext cx="704088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Producing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hours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labor. </a:t>
            </a:r>
            <a:r>
              <a:rPr sz="2400" dirty="0">
                <a:latin typeface="Arial MT"/>
                <a:cs typeface="Arial MT"/>
              </a:rPr>
              <a:t>Producing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hours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labor.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16636" y="1510283"/>
          <a:ext cx="8148955" cy="4527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126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9517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3957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436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47115" marR="787400" indent="-254635">
                        <a:lnSpc>
                          <a:spcPct val="105000"/>
                        </a:lnSpc>
                        <a:spcBef>
                          <a:spcPts val="41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Employment</a:t>
                      </a:r>
                      <a:r>
                        <a:rPr sz="2400" spc="-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labor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hours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Production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62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8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Computers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Wheat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Computers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Wheat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50,000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500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8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B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14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40,000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400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1,000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C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25,000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25,000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250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2,500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40,000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4,000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50,000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5,000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543040"/>
            <a:chOff x="0" y="0"/>
            <a:chExt cx="9144000" cy="654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" y="487680"/>
              <a:ext cx="8590788" cy="56540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100" y="448631"/>
              <a:ext cx="342900" cy="6039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41720"/>
              <a:ext cx="9144000" cy="400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" y="0"/>
              <a:ext cx="248411" cy="6542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7" y="78485"/>
              <a:ext cx="8930005" cy="6297930"/>
            </a:xfrm>
            <a:custGeom>
              <a:avLst/>
              <a:gdLst/>
              <a:ahLst/>
              <a:cxnLst/>
              <a:rect l="l" t="t" r="r" b="b"/>
              <a:pathLst>
                <a:path w="8930005" h="6297930">
                  <a:moveTo>
                    <a:pt x="0" y="458724"/>
                  </a:moveTo>
                  <a:lnTo>
                    <a:pt x="2075688" y="458724"/>
                  </a:lnTo>
                </a:path>
                <a:path w="8930005" h="6297930">
                  <a:moveTo>
                    <a:pt x="112775" y="583311"/>
                  </a:moveTo>
                  <a:lnTo>
                    <a:pt x="112775" y="0"/>
                  </a:lnTo>
                </a:path>
                <a:path w="8930005" h="6297930">
                  <a:moveTo>
                    <a:pt x="8097012" y="6214872"/>
                  </a:moveTo>
                  <a:lnTo>
                    <a:pt x="8930005" y="6214872"/>
                  </a:lnTo>
                </a:path>
                <a:path w="8930005" h="6297930">
                  <a:moveTo>
                    <a:pt x="8851392" y="5934456"/>
                  </a:moveTo>
                  <a:lnTo>
                    <a:pt x="8851392" y="6297752"/>
                  </a:lnTo>
                </a:path>
              </a:pathLst>
            </a:custGeom>
            <a:ln w="28956">
              <a:solidFill>
                <a:srgbClr val="0747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258635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PPF</a:t>
            </a:r>
            <a:r>
              <a:rPr sz="3300" spc="-15" dirty="0">
                <a:solidFill>
                  <a:srgbClr val="000000"/>
                </a:solidFill>
              </a:rPr>
              <a:t> </a:t>
            </a:r>
            <a:r>
              <a:rPr sz="3300" spc="-10" dirty="0">
                <a:solidFill>
                  <a:srgbClr val="000000"/>
                </a:solidFill>
              </a:rPr>
              <a:t>Example</a:t>
            </a:r>
            <a:endParaRPr sz="3300"/>
          </a:p>
        </p:txBody>
      </p:sp>
      <p:grpSp>
        <p:nvGrpSpPr>
          <p:cNvPr id="9" name="object 9"/>
          <p:cNvGrpSpPr/>
          <p:nvPr/>
        </p:nvGrpSpPr>
        <p:grpSpPr>
          <a:xfrm>
            <a:off x="522731" y="2970276"/>
            <a:ext cx="411480" cy="382905"/>
            <a:chOff x="522731" y="2970276"/>
            <a:chExt cx="411480" cy="382905"/>
          </a:xfrm>
        </p:grpSpPr>
        <p:sp>
          <p:nvSpPr>
            <p:cNvPr id="10" name="object 10"/>
            <p:cNvSpPr/>
            <p:nvPr/>
          </p:nvSpPr>
          <p:spPr>
            <a:xfrm>
              <a:off x="527303" y="2974848"/>
              <a:ext cx="402590" cy="373380"/>
            </a:xfrm>
            <a:custGeom>
              <a:avLst/>
              <a:gdLst/>
              <a:ahLst/>
              <a:cxnLst/>
              <a:rect l="l" t="t" r="r" b="b"/>
              <a:pathLst>
                <a:path w="402590" h="373379">
                  <a:moveTo>
                    <a:pt x="402336" y="0"/>
                  </a:moveTo>
                  <a:lnTo>
                    <a:pt x="0" y="0"/>
                  </a:lnTo>
                  <a:lnTo>
                    <a:pt x="0" y="373379"/>
                  </a:lnTo>
                  <a:lnTo>
                    <a:pt x="402336" y="373379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7303" y="2974848"/>
              <a:ext cx="402590" cy="373380"/>
            </a:xfrm>
            <a:custGeom>
              <a:avLst/>
              <a:gdLst/>
              <a:ahLst/>
              <a:cxnLst/>
              <a:rect l="l" t="t" r="r" b="b"/>
              <a:pathLst>
                <a:path w="402590" h="373379">
                  <a:moveTo>
                    <a:pt x="0" y="373379"/>
                  </a:moveTo>
                  <a:lnTo>
                    <a:pt x="402336" y="373379"/>
                  </a:lnTo>
                  <a:lnTo>
                    <a:pt x="402336" y="0"/>
                  </a:lnTo>
                  <a:lnTo>
                    <a:pt x="0" y="0"/>
                  </a:lnTo>
                  <a:lnTo>
                    <a:pt x="0" y="373379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24255" y="3486911"/>
            <a:ext cx="411480" cy="381000"/>
            <a:chOff x="524255" y="3486911"/>
            <a:chExt cx="411480" cy="381000"/>
          </a:xfrm>
        </p:grpSpPr>
        <p:sp>
          <p:nvSpPr>
            <p:cNvPr id="13" name="object 13"/>
            <p:cNvSpPr/>
            <p:nvPr/>
          </p:nvSpPr>
          <p:spPr>
            <a:xfrm>
              <a:off x="528827" y="3491483"/>
              <a:ext cx="402590" cy="372110"/>
            </a:xfrm>
            <a:custGeom>
              <a:avLst/>
              <a:gdLst/>
              <a:ahLst/>
              <a:cxnLst/>
              <a:rect l="l" t="t" r="r" b="b"/>
              <a:pathLst>
                <a:path w="402590" h="372110">
                  <a:moveTo>
                    <a:pt x="402335" y="0"/>
                  </a:moveTo>
                  <a:lnTo>
                    <a:pt x="0" y="0"/>
                  </a:lnTo>
                  <a:lnTo>
                    <a:pt x="0" y="371856"/>
                  </a:lnTo>
                  <a:lnTo>
                    <a:pt x="402335" y="371856"/>
                  </a:lnTo>
                  <a:lnTo>
                    <a:pt x="40233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8827" y="3491483"/>
              <a:ext cx="402590" cy="372110"/>
            </a:xfrm>
            <a:custGeom>
              <a:avLst/>
              <a:gdLst/>
              <a:ahLst/>
              <a:cxnLst/>
              <a:rect l="l" t="t" r="r" b="b"/>
              <a:pathLst>
                <a:path w="402590" h="372110">
                  <a:moveTo>
                    <a:pt x="0" y="371856"/>
                  </a:moveTo>
                  <a:lnTo>
                    <a:pt x="402335" y="371856"/>
                  </a:lnTo>
                  <a:lnTo>
                    <a:pt x="402335" y="0"/>
                  </a:lnTo>
                  <a:lnTo>
                    <a:pt x="0" y="0"/>
                  </a:lnTo>
                  <a:lnTo>
                    <a:pt x="0" y="371856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21208" y="4015740"/>
            <a:ext cx="411480" cy="381000"/>
            <a:chOff x="521208" y="4015740"/>
            <a:chExt cx="411480" cy="381000"/>
          </a:xfrm>
        </p:grpSpPr>
        <p:sp>
          <p:nvSpPr>
            <p:cNvPr id="16" name="object 16"/>
            <p:cNvSpPr/>
            <p:nvPr/>
          </p:nvSpPr>
          <p:spPr>
            <a:xfrm>
              <a:off x="525780" y="4020312"/>
              <a:ext cx="402590" cy="372110"/>
            </a:xfrm>
            <a:custGeom>
              <a:avLst/>
              <a:gdLst/>
              <a:ahLst/>
              <a:cxnLst/>
              <a:rect l="l" t="t" r="r" b="b"/>
              <a:pathLst>
                <a:path w="402590" h="372110">
                  <a:moveTo>
                    <a:pt x="402336" y="0"/>
                  </a:moveTo>
                  <a:lnTo>
                    <a:pt x="0" y="0"/>
                  </a:lnTo>
                  <a:lnTo>
                    <a:pt x="0" y="371856"/>
                  </a:lnTo>
                  <a:lnTo>
                    <a:pt x="402336" y="371856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5780" y="4020312"/>
              <a:ext cx="402590" cy="372110"/>
            </a:xfrm>
            <a:custGeom>
              <a:avLst/>
              <a:gdLst/>
              <a:ahLst/>
              <a:cxnLst/>
              <a:rect l="l" t="t" r="r" b="b"/>
              <a:pathLst>
                <a:path w="402590" h="372110">
                  <a:moveTo>
                    <a:pt x="0" y="371856"/>
                  </a:moveTo>
                  <a:lnTo>
                    <a:pt x="402336" y="371856"/>
                  </a:lnTo>
                  <a:lnTo>
                    <a:pt x="402336" y="0"/>
                  </a:lnTo>
                  <a:lnTo>
                    <a:pt x="0" y="0"/>
                  </a:lnTo>
                  <a:lnTo>
                    <a:pt x="0" y="371856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24255" y="4530852"/>
            <a:ext cx="411480" cy="382905"/>
            <a:chOff x="524255" y="4530852"/>
            <a:chExt cx="411480" cy="382905"/>
          </a:xfrm>
        </p:grpSpPr>
        <p:sp>
          <p:nvSpPr>
            <p:cNvPr id="19" name="object 19"/>
            <p:cNvSpPr/>
            <p:nvPr/>
          </p:nvSpPr>
          <p:spPr>
            <a:xfrm>
              <a:off x="528827" y="4535424"/>
              <a:ext cx="402590" cy="373380"/>
            </a:xfrm>
            <a:custGeom>
              <a:avLst/>
              <a:gdLst/>
              <a:ahLst/>
              <a:cxnLst/>
              <a:rect l="l" t="t" r="r" b="b"/>
              <a:pathLst>
                <a:path w="402590" h="373379">
                  <a:moveTo>
                    <a:pt x="402335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402335" y="373380"/>
                  </a:lnTo>
                  <a:lnTo>
                    <a:pt x="40233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8827" y="4535424"/>
              <a:ext cx="402590" cy="373380"/>
            </a:xfrm>
            <a:custGeom>
              <a:avLst/>
              <a:gdLst/>
              <a:ahLst/>
              <a:cxnLst/>
              <a:rect l="l" t="t" r="r" b="b"/>
              <a:pathLst>
                <a:path w="402590" h="373379">
                  <a:moveTo>
                    <a:pt x="0" y="373380"/>
                  </a:moveTo>
                  <a:lnTo>
                    <a:pt x="402335" y="373380"/>
                  </a:lnTo>
                  <a:lnTo>
                    <a:pt x="402335" y="0"/>
                  </a:lnTo>
                  <a:lnTo>
                    <a:pt x="0" y="0"/>
                  </a:lnTo>
                  <a:lnTo>
                    <a:pt x="0" y="373380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25780" y="2462783"/>
            <a:ext cx="413384" cy="382905"/>
            <a:chOff x="525780" y="2462783"/>
            <a:chExt cx="413384" cy="382905"/>
          </a:xfrm>
        </p:grpSpPr>
        <p:sp>
          <p:nvSpPr>
            <p:cNvPr id="22" name="object 22"/>
            <p:cNvSpPr/>
            <p:nvPr/>
          </p:nvSpPr>
          <p:spPr>
            <a:xfrm>
              <a:off x="530352" y="2467355"/>
              <a:ext cx="403860" cy="373380"/>
            </a:xfrm>
            <a:custGeom>
              <a:avLst/>
              <a:gdLst/>
              <a:ahLst/>
              <a:cxnLst/>
              <a:rect l="l" t="t" r="r" b="b"/>
              <a:pathLst>
                <a:path w="403859" h="373380">
                  <a:moveTo>
                    <a:pt x="403860" y="0"/>
                  </a:moveTo>
                  <a:lnTo>
                    <a:pt x="0" y="0"/>
                  </a:lnTo>
                  <a:lnTo>
                    <a:pt x="0" y="373379"/>
                  </a:lnTo>
                  <a:lnTo>
                    <a:pt x="403860" y="373379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0352" y="2467355"/>
              <a:ext cx="403860" cy="373380"/>
            </a:xfrm>
            <a:custGeom>
              <a:avLst/>
              <a:gdLst/>
              <a:ahLst/>
              <a:cxnLst/>
              <a:rect l="l" t="t" r="r" b="b"/>
              <a:pathLst>
                <a:path w="403859" h="373380">
                  <a:moveTo>
                    <a:pt x="0" y="373379"/>
                  </a:moveTo>
                  <a:lnTo>
                    <a:pt x="403860" y="373379"/>
                  </a:lnTo>
                  <a:lnTo>
                    <a:pt x="403860" y="0"/>
                  </a:lnTo>
                  <a:lnTo>
                    <a:pt x="0" y="0"/>
                  </a:lnTo>
                  <a:lnTo>
                    <a:pt x="0" y="373379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46062" y="1035050"/>
          <a:ext cx="3118485" cy="3926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74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1495">
                <a:tc rowSpan="2">
                  <a:txBody>
                    <a:bodyPr/>
                    <a:lstStyle/>
                    <a:p>
                      <a:pPr marL="118110" marR="112395" indent="635" algn="ctr">
                        <a:lnSpc>
                          <a:spcPct val="105000"/>
                        </a:lnSpc>
                        <a:spcBef>
                          <a:spcPts val="740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Point </a:t>
                      </a:r>
                      <a:r>
                        <a:rPr sz="2300" spc="-25" dirty="0">
                          <a:latin typeface="Arial MT"/>
                          <a:cs typeface="Arial MT"/>
                        </a:rPr>
                        <a:t>on </a:t>
                      </a:r>
                      <a:r>
                        <a:rPr sz="2300" spc="-10" dirty="0">
                          <a:latin typeface="Arial MT"/>
                          <a:cs typeface="Arial MT"/>
                        </a:rPr>
                        <a:t>graph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Production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74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398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91440" indent="48260">
                        <a:lnSpc>
                          <a:spcPct val="105200"/>
                        </a:lnSpc>
                        <a:spcBef>
                          <a:spcPts val="90"/>
                        </a:spcBef>
                      </a:pPr>
                      <a:r>
                        <a:rPr sz="2300" spc="-20" dirty="0">
                          <a:latin typeface="Arial MT"/>
                          <a:cs typeface="Arial MT"/>
                        </a:rPr>
                        <a:t>Com- </a:t>
                      </a:r>
                      <a:r>
                        <a:rPr sz="2300" spc="-10" dirty="0">
                          <a:latin typeface="Arial MT"/>
                          <a:cs typeface="Arial MT"/>
                        </a:rPr>
                        <a:t>puters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Wheat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139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300" spc="-50" dirty="0">
                          <a:latin typeface="Arial MT"/>
                          <a:cs typeface="Arial MT"/>
                        </a:rPr>
                        <a:t>A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300" spc="-25" dirty="0">
                          <a:latin typeface="Arial MT"/>
                          <a:cs typeface="Arial MT"/>
                        </a:rPr>
                        <a:t>500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300" spc="-50" dirty="0">
                          <a:latin typeface="Arial MT"/>
                          <a:cs typeface="Arial MT"/>
                        </a:rPr>
                        <a:t>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300" spc="-50" dirty="0">
                          <a:latin typeface="Arial MT"/>
                          <a:cs typeface="Arial MT"/>
                        </a:rPr>
                        <a:t>B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300" spc="-25" dirty="0">
                          <a:latin typeface="Arial MT"/>
                          <a:cs typeface="Arial MT"/>
                        </a:rPr>
                        <a:t>400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1,000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300" spc="-50" dirty="0">
                          <a:latin typeface="Arial MT"/>
                          <a:cs typeface="Arial MT"/>
                        </a:rPr>
                        <a:t>C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300" spc="-25" dirty="0">
                          <a:latin typeface="Arial MT"/>
                          <a:cs typeface="Arial MT"/>
                        </a:rPr>
                        <a:t>250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2,500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300" spc="-50" dirty="0">
                          <a:latin typeface="Arial MT"/>
                          <a:cs typeface="Arial MT"/>
                        </a:rPr>
                        <a:t>D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300" spc="-25" dirty="0">
                          <a:latin typeface="Arial MT"/>
                          <a:cs typeface="Arial MT"/>
                        </a:rPr>
                        <a:t>100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4,000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300" spc="-50" dirty="0">
                          <a:latin typeface="Arial MT"/>
                          <a:cs typeface="Arial MT"/>
                        </a:rPr>
                        <a:t>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300" spc="-50" dirty="0">
                          <a:latin typeface="Arial MT"/>
                          <a:cs typeface="Arial MT"/>
                        </a:rPr>
                        <a:t>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5,000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4601756" y="1475931"/>
            <a:ext cx="3975735" cy="3508375"/>
            <a:chOff x="4601756" y="1475931"/>
            <a:chExt cx="3975735" cy="3508375"/>
          </a:xfrm>
        </p:grpSpPr>
        <p:sp>
          <p:nvSpPr>
            <p:cNvPr id="26" name="object 26"/>
            <p:cNvSpPr/>
            <p:nvPr/>
          </p:nvSpPr>
          <p:spPr>
            <a:xfrm>
              <a:off x="4688920" y="1476216"/>
              <a:ext cx="3877310" cy="3420745"/>
            </a:xfrm>
            <a:custGeom>
              <a:avLst/>
              <a:gdLst/>
              <a:ahLst/>
              <a:cxnLst/>
              <a:rect l="l" t="t" r="r" b="b"/>
              <a:pathLst>
                <a:path w="3877309" h="3420745">
                  <a:moveTo>
                    <a:pt x="3876957" y="0"/>
                  </a:moveTo>
                  <a:lnTo>
                    <a:pt x="0" y="0"/>
                  </a:lnTo>
                  <a:lnTo>
                    <a:pt x="0" y="3420614"/>
                  </a:lnTo>
                  <a:lnTo>
                    <a:pt x="3876957" y="3420614"/>
                  </a:lnTo>
                  <a:lnTo>
                    <a:pt x="3876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83490" y="1481646"/>
              <a:ext cx="3888104" cy="3420745"/>
            </a:xfrm>
            <a:custGeom>
              <a:avLst/>
              <a:gdLst/>
              <a:ahLst/>
              <a:cxnLst/>
              <a:rect l="l" t="t" r="r" b="b"/>
              <a:pathLst>
                <a:path w="3888104" h="3420745">
                  <a:moveTo>
                    <a:pt x="0" y="3420614"/>
                  </a:moveTo>
                  <a:lnTo>
                    <a:pt x="3887817" y="3420614"/>
                  </a:lnTo>
                  <a:lnTo>
                    <a:pt x="3887816" y="0"/>
                  </a:lnTo>
                  <a:lnTo>
                    <a:pt x="0" y="0"/>
                  </a:lnTo>
                  <a:lnTo>
                    <a:pt x="0" y="3420614"/>
                  </a:lnTo>
                  <a:close/>
                </a:path>
              </a:pathLst>
            </a:custGeom>
            <a:ln w="1085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07471" y="1481675"/>
              <a:ext cx="3964304" cy="3496945"/>
            </a:xfrm>
            <a:custGeom>
              <a:avLst/>
              <a:gdLst/>
              <a:ahLst/>
              <a:cxnLst/>
              <a:rect l="l" t="t" r="r" b="b"/>
              <a:pathLst>
                <a:path w="3964304" h="3496945">
                  <a:moveTo>
                    <a:pt x="76018" y="3420585"/>
                  </a:moveTo>
                  <a:lnTo>
                    <a:pt x="76018" y="0"/>
                  </a:lnTo>
                </a:path>
                <a:path w="3964304" h="3496945">
                  <a:moveTo>
                    <a:pt x="0" y="3420585"/>
                  </a:moveTo>
                  <a:lnTo>
                    <a:pt x="76018" y="3420585"/>
                  </a:lnTo>
                </a:path>
                <a:path w="3964304" h="3496945">
                  <a:moveTo>
                    <a:pt x="0" y="2921095"/>
                  </a:moveTo>
                  <a:lnTo>
                    <a:pt x="76018" y="2921095"/>
                  </a:lnTo>
                </a:path>
                <a:path w="3964304" h="3496945">
                  <a:moveTo>
                    <a:pt x="0" y="2421577"/>
                  </a:moveTo>
                  <a:lnTo>
                    <a:pt x="76018" y="2421577"/>
                  </a:lnTo>
                </a:path>
                <a:path w="3964304" h="3496945">
                  <a:moveTo>
                    <a:pt x="0" y="1932918"/>
                  </a:moveTo>
                  <a:lnTo>
                    <a:pt x="76018" y="1932918"/>
                  </a:lnTo>
                </a:path>
                <a:path w="3964304" h="3496945">
                  <a:moveTo>
                    <a:pt x="0" y="1433400"/>
                  </a:moveTo>
                  <a:lnTo>
                    <a:pt x="76018" y="1433400"/>
                  </a:lnTo>
                </a:path>
                <a:path w="3964304" h="3496945">
                  <a:moveTo>
                    <a:pt x="0" y="933881"/>
                  </a:moveTo>
                  <a:lnTo>
                    <a:pt x="76018" y="933881"/>
                  </a:lnTo>
                </a:path>
                <a:path w="3964304" h="3496945">
                  <a:moveTo>
                    <a:pt x="0" y="445222"/>
                  </a:moveTo>
                  <a:lnTo>
                    <a:pt x="76018" y="445222"/>
                  </a:lnTo>
                </a:path>
                <a:path w="3964304" h="3496945">
                  <a:moveTo>
                    <a:pt x="76018" y="3420585"/>
                  </a:moveTo>
                  <a:lnTo>
                    <a:pt x="3963908" y="3420584"/>
                  </a:lnTo>
                </a:path>
                <a:path w="3964304" h="3496945">
                  <a:moveTo>
                    <a:pt x="76018" y="3420585"/>
                  </a:moveTo>
                  <a:lnTo>
                    <a:pt x="76018" y="3496598"/>
                  </a:lnTo>
                </a:path>
                <a:path w="3964304" h="3496945">
                  <a:moveTo>
                    <a:pt x="651517" y="3420585"/>
                  </a:moveTo>
                  <a:lnTo>
                    <a:pt x="651517" y="3496598"/>
                  </a:lnTo>
                </a:path>
                <a:path w="3964304" h="3496945">
                  <a:moveTo>
                    <a:pt x="1216372" y="3420585"/>
                  </a:moveTo>
                  <a:lnTo>
                    <a:pt x="1216372" y="3496598"/>
                  </a:lnTo>
                </a:path>
                <a:path w="3964304" h="3496945">
                  <a:moveTo>
                    <a:pt x="1791943" y="3420585"/>
                  </a:moveTo>
                  <a:lnTo>
                    <a:pt x="1791943" y="3496598"/>
                  </a:lnTo>
                </a:path>
                <a:path w="3964304" h="3496945">
                  <a:moveTo>
                    <a:pt x="2367514" y="3420585"/>
                  </a:moveTo>
                  <a:lnTo>
                    <a:pt x="2367514" y="3496598"/>
                  </a:lnTo>
                </a:path>
                <a:path w="3964304" h="3496945">
                  <a:moveTo>
                    <a:pt x="2932225" y="3420585"/>
                  </a:moveTo>
                  <a:lnTo>
                    <a:pt x="2932225" y="3496598"/>
                  </a:lnTo>
                </a:path>
                <a:path w="3964304" h="3496945">
                  <a:moveTo>
                    <a:pt x="3507795" y="3420584"/>
                  </a:moveTo>
                  <a:lnTo>
                    <a:pt x="3507795" y="3496598"/>
                  </a:lnTo>
                </a:path>
              </a:pathLst>
            </a:custGeom>
            <a:ln w="10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710450" y="996170"/>
            <a:ext cx="798195" cy="40697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590" marR="5080" indent="-22225">
              <a:lnSpc>
                <a:spcPts val="2320"/>
              </a:lnSpc>
              <a:spcBef>
                <a:spcPts val="305"/>
              </a:spcBef>
            </a:pPr>
            <a:r>
              <a:rPr sz="2050" b="1" spc="-10" dirty="0">
                <a:latin typeface="Arial"/>
                <a:cs typeface="Arial"/>
              </a:rPr>
              <a:t>Wheat (tons)</a:t>
            </a:r>
            <a:endParaRPr sz="2050">
              <a:latin typeface="Arial"/>
              <a:cs typeface="Arial"/>
            </a:endParaRPr>
          </a:p>
          <a:p>
            <a:pPr marR="45085" algn="r">
              <a:lnSpc>
                <a:spcPct val="100000"/>
              </a:lnSpc>
              <a:spcBef>
                <a:spcPts val="1000"/>
              </a:spcBef>
            </a:pPr>
            <a:r>
              <a:rPr sz="2050" spc="-10" dirty="0">
                <a:latin typeface="Arial MT"/>
                <a:cs typeface="Arial MT"/>
              </a:rPr>
              <a:t>6,000</a:t>
            </a:r>
            <a:endParaRPr sz="2050">
              <a:latin typeface="Arial MT"/>
              <a:cs typeface="Arial MT"/>
            </a:endParaRPr>
          </a:p>
          <a:p>
            <a:pPr marR="45085" algn="r">
              <a:lnSpc>
                <a:spcPct val="100000"/>
              </a:lnSpc>
              <a:spcBef>
                <a:spcPts val="1465"/>
              </a:spcBef>
            </a:pPr>
            <a:r>
              <a:rPr sz="2050" spc="-10" dirty="0">
                <a:latin typeface="Arial MT"/>
                <a:cs typeface="Arial MT"/>
              </a:rPr>
              <a:t>5,000</a:t>
            </a:r>
            <a:endParaRPr sz="2050">
              <a:latin typeface="Arial MT"/>
              <a:cs typeface="Arial MT"/>
            </a:endParaRPr>
          </a:p>
          <a:p>
            <a:pPr marR="45085" algn="r">
              <a:lnSpc>
                <a:spcPct val="100000"/>
              </a:lnSpc>
              <a:spcBef>
                <a:spcPts val="1460"/>
              </a:spcBef>
            </a:pPr>
            <a:r>
              <a:rPr sz="2050" spc="-10" dirty="0">
                <a:latin typeface="Arial MT"/>
                <a:cs typeface="Arial MT"/>
              </a:rPr>
              <a:t>4,000</a:t>
            </a:r>
            <a:endParaRPr sz="2050">
              <a:latin typeface="Arial MT"/>
              <a:cs typeface="Arial MT"/>
            </a:endParaRPr>
          </a:p>
          <a:p>
            <a:pPr marR="45085" algn="r">
              <a:lnSpc>
                <a:spcPct val="100000"/>
              </a:lnSpc>
              <a:spcBef>
                <a:spcPts val="1460"/>
              </a:spcBef>
            </a:pPr>
            <a:r>
              <a:rPr sz="2050" spc="-10" dirty="0">
                <a:latin typeface="Arial MT"/>
                <a:cs typeface="Arial MT"/>
              </a:rPr>
              <a:t>3,000</a:t>
            </a:r>
            <a:endParaRPr sz="2050">
              <a:latin typeface="Arial MT"/>
              <a:cs typeface="Arial MT"/>
            </a:endParaRPr>
          </a:p>
          <a:p>
            <a:pPr marR="45085" algn="r">
              <a:lnSpc>
                <a:spcPct val="100000"/>
              </a:lnSpc>
              <a:spcBef>
                <a:spcPts val="1465"/>
              </a:spcBef>
            </a:pPr>
            <a:r>
              <a:rPr sz="2050" spc="-10" dirty="0">
                <a:latin typeface="Arial MT"/>
                <a:cs typeface="Arial MT"/>
              </a:rPr>
              <a:t>2,000</a:t>
            </a:r>
            <a:endParaRPr sz="2050">
              <a:latin typeface="Arial MT"/>
              <a:cs typeface="Arial MT"/>
            </a:endParaRPr>
          </a:p>
          <a:p>
            <a:pPr marR="45085" algn="r">
              <a:lnSpc>
                <a:spcPct val="100000"/>
              </a:lnSpc>
              <a:spcBef>
                <a:spcPts val="1460"/>
              </a:spcBef>
            </a:pPr>
            <a:r>
              <a:rPr sz="2050" spc="-10" dirty="0">
                <a:latin typeface="Arial MT"/>
                <a:cs typeface="Arial MT"/>
              </a:rPr>
              <a:t>1,000</a:t>
            </a:r>
            <a:endParaRPr sz="2050">
              <a:latin typeface="Arial MT"/>
              <a:cs typeface="Arial MT"/>
            </a:endParaRPr>
          </a:p>
          <a:p>
            <a:pPr marR="40640" algn="r">
              <a:lnSpc>
                <a:spcPct val="100000"/>
              </a:lnSpc>
              <a:spcBef>
                <a:spcPts val="1465"/>
              </a:spcBef>
            </a:pPr>
            <a:r>
              <a:rPr sz="2050" spc="-50" dirty="0">
                <a:latin typeface="Arial MT"/>
                <a:cs typeface="Arial MT"/>
              </a:rPr>
              <a:t>0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64928" y="960406"/>
            <a:ext cx="5321935" cy="4973955"/>
          </a:xfrm>
          <a:custGeom>
            <a:avLst/>
            <a:gdLst/>
            <a:ahLst/>
            <a:cxnLst/>
            <a:rect l="l" t="t" r="r" b="b"/>
            <a:pathLst>
              <a:path w="5321934" h="4973955">
                <a:moveTo>
                  <a:pt x="0" y="4973464"/>
                </a:moveTo>
                <a:lnTo>
                  <a:pt x="5321314" y="4973464"/>
                </a:lnTo>
                <a:lnTo>
                  <a:pt x="5321313" y="0"/>
                </a:lnTo>
                <a:lnTo>
                  <a:pt x="0" y="0"/>
                </a:lnTo>
                <a:lnTo>
                  <a:pt x="0" y="4973464"/>
                </a:lnTo>
                <a:close/>
              </a:path>
            </a:pathLst>
          </a:custGeom>
          <a:ln w="10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615798" y="4322267"/>
            <a:ext cx="4251325" cy="149923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R="977900" algn="r">
              <a:lnSpc>
                <a:spcPct val="100000"/>
              </a:lnSpc>
              <a:spcBef>
                <a:spcPts val="1600"/>
              </a:spcBef>
            </a:pPr>
            <a:r>
              <a:rPr sz="2400" b="1" spc="-5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tabLst>
                <a:tab pos="425450" algn="l"/>
                <a:tab pos="998855" algn="l"/>
                <a:tab pos="1572895" algn="l"/>
                <a:tab pos="2146300" algn="l"/>
                <a:tab pos="2719705" algn="l"/>
                <a:tab pos="3293110" algn="l"/>
              </a:tabLst>
            </a:pPr>
            <a:r>
              <a:rPr sz="2050" spc="-50" dirty="0">
                <a:latin typeface="Arial MT"/>
                <a:cs typeface="Arial MT"/>
              </a:rPr>
              <a:t>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100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200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300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400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500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600</a:t>
            </a:r>
            <a:endParaRPr sz="2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005"/>
              </a:spcBef>
            </a:pPr>
            <a:r>
              <a:rPr sz="2050" b="1" spc="-10" dirty="0">
                <a:latin typeface="Arial"/>
                <a:cs typeface="Arial"/>
              </a:rPr>
              <a:t>Computers</a:t>
            </a:r>
            <a:endParaRPr sz="2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60692" y="4020439"/>
            <a:ext cx="23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74613" y="3264230"/>
            <a:ext cx="2330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37936" y="2527808"/>
            <a:ext cx="23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24400" y="1989582"/>
            <a:ext cx="216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75047" y="2311907"/>
            <a:ext cx="3057525" cy="2651760"/>
            <a:chOff x="4575047" y="2311907"/>
            <a:chExt cx="3057525" cy="2651760"/>
          </a:xfrm>
        </p:grpSpPr>
        <p:sp>
          <p:nvSpPr>
            <p:cNvPr id="37" name="object 37"/>
            <p:cNvSpPr/>
            <p:nvPr/>
          </p:nvSpPr>
          <p:spPr>
            <a:xfrm>
              <a:off x="4645913" y="2367533"/>
              <a:ext cx="2932430" cy="2540635"/>
            </a:xfrm>
            <a:custGeom>
              <a:avLst/>
              <a:gdLst/>
              <a:ahLst/>
              <a:cxnLst/>
              <a:rect l="l" t="t" r="r" b="b"/>
              <a:pathLst>
                <a:path w="2932429" h="2540635">
                  <a:moveTo>
                    <a:pt x="0" y="0"/>
                  </a:moveTo>
                  <a:lnTo>
                    <a:pt x="2932176" y="2540508"/>
                  </a:lnTo>
                </a:path>
              </a:pathLst>
            </a:custGeom>
            <a:ln w="50292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52771" y="2887979"/>
              <a:ext cx="581025" cy="2005964"/>
            </a:xfrm>
            <a:custGeom>
              <a:avLst/>
              <a:gdLst/>
              <a:ahLst/>
              <a:cxnLst/>
              <a:rect l="l" t="t" r="r" b="b"/>
              <a:pathLst>
                <a:path w="581025" h="2005964">
                  <a:moveTo>
                    <a:pt x="0" y="0"/>
                  </a:moveTo>
                  <a:lnTo>
                    <a:pt x="580643" y="0"/>
                  </a:lnTo>
                </a:path>
                <a:path w="581025" h="2005964">
                  <a:moveTo>
                    <a:pt x="580643" y="3048"/>
                  </a:moveTo>
                  <a:lnTo>
                    <a:pt x="580643" y="2005584"/>
                  </a:lnTo>
                </a:path>
              </a:pathLst>
            </a:custGeom>
            <a:ln w="9144">
              <a:solidFill>
                <a:srgbClr val="95959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4835" y="2817875"/>
              <a:ext cx="140208" cy="13868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657343" y="3622547"/>
              <a:ext cx="1442085" cy="1277620"/>
            </a:xfrm>
            <a:custGeom>
              <a:avLst/>
              <a:gdLst/>
              <a:ahLst/>
              <a:cxnLst/>
              <a:rect l="l" t="t" r="r" b="b"/>
              <a:pathLst>
                <a:path w="1442085" h="1277620">
                  <a:moveTo>
                    <a:pt x="0" y="0"/>
                  </a:moveTo>
                  <a:lnTo>
                    <a:pt x="1441703" y="0"/>
                  </a:lnTo>
                </a:path>
                <a:path w="1442085" h="1277620">
                  <a:moveTo>
                    <a:pt x="1441703" y="1524"/>
                  </a:moveTo>
                  <a:lnTo>
                    <a:pt x="1441703" y="1277112"/>
                  </a:lnTo>
                </a:path>
              </a:pathLst>
            </a:custGeom>
            <a:ln w="9144">
              <a:solidFill>
                <a:srgbClr val="95959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27419" y="3555491"/>
              <a:ext cx="141731" cy="13868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54295" y="4390643"/>
              <a:ext cx="2329180" cy="513715"/>
            </a:xfrm>
            <a:custGeom>
              <a:avLst/>
              <a:gdLst/>
              <a:ahLst/>
              <a:cxnLst/>
              <a:rect l="l" t="t" r="r" b="b"/>
              <a:pathLst>
                <a:path w="2329179" h="513714">
                  <a:moveTo>
                    <a:pt x="0" y="0"/>
                  </a:moveTo>
                  <a:lnTo>
                    <a:pt x="2328672" y="0"/>
                  </a:lnTo>
                </a:path>
                <a:path w="2329179" h="513714">
                  <a:moveTo>
                    <a:pt x="2328672" y="1523"/>
                  </a:moveTo>
                  <a:lnTo>
                    <a:pt x="2328672" y="513587"/>
                  </a:lnTo>
                </a:path>
              </a:pathLst>
            </a:custGeom>
            <a:ln w="9144">
              <a:solidFill>
                <a:srgbClr val="95959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3719" y="4322063"/>
              <a:ext cx="141731" cy="13868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1983" y="4826507"/>
              <a:ext cx="140208" cy="137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75047" y="2311907"/>
              <a:ext cx="141731" cy="137159"/>
            </a:xfrm>
            <a:prstGeom prst="rect">
              <a:avLst/>
            </a:prstGeom>
          </p:spPr>
        </p:pic>
      </p:grp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704048"/>
            <a:ext cx="104775" cy="55962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500" y="710131"/>
            <a:ext cx="104775" cy="55962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749" y="162813"/>
            <a:ext cx="87585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72430" algn="l"/>
              </a:tabLst>
            </a:pPr>
            <a:r>
              <a:rPr sz="3200" dirty="0"/>
              <a:t>Active</a:t>
            </a:r>
            <a:r>
              <a:rPr sz="3200" spc="-60" dirty="0"/>
              <a:t> </a:t>
            </a:r>
            <a:r>
              <a:rPr sz="3200" dirty="0"/>
              <a:t>Learning</a:t>
            </a:r>
            <a:r>
              <a:rPr sz="3200" spc="-65" dirty="0"/>
              <a:t> </a:t>
            </a:r>
            <a:r>
              <a:rPr sz="3200" spc="-50" dirty="0"/>
              <a:t>1</a:t>
            </a:r>
            <a:r>
              <a:rPr sz="3200" dirty="0"/>
              <a:t>	Points</a:t>
            </a:r>
            <a:r>
              <a:rPr sz="3200" spc="-20" dirty="0"/>
              <a:t> </a:t>
            </a:r>
            <a:r>
              <a:rPr sz="3200" dirty="0"/>
              <a:t>off</a:t>
            </a:r>
            <a:r>
              <a:rPr sz="3200" spc="-35" dirty="0"/>
              <a:t> </a:t>
            </a:r>
            <a:r>
              <a:rPr sz="3200" dirty="0"/>
              <a:t>the</a:t>
            </a:r>
            <a:r>
              <a:rPr sz="3200" spc="-30" dirty="0"/>
              <a:t> </a:t>
            </a:r>
            <a:r>
              <a:rPr sz="3200" spc="-25" dirty="0"/>
              <a:t>PPF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07340" y="937005"/>
            <a:ext cx="8365490" cy="503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47775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On</a:t>
            </a:r>
            <a:r>
              <a:rPr sz="3100" spc="-7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the</a:t>
            </a:r>
            <a:r>
              <a:rPr sz="3100" spc="-6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graph</a:t>
            </a:r>
            <a:r>
              <a:rPr sz="3100" spc="-5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above,</a:t>
            </a:r>
            <a:r>
              <a:rPr sz="3100" spc="-4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find</a:t>
            </a:r>
            <a:r>
              <a:rPr sz="3100" spc="-7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the</a:t>
            </a:r>
            <a:r>
              <a:rPr sz="3100" spc="-8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point</a:t>
            </a:r>
            <a:r>
              <a:rPr sz="3100" spc="-5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spc="-20" dirty="0">
                <a:solidFill>
                  <a:srgbClr val="161645"/>
                </a:solidFill>
                <a:latin typeface="Arial MT"/>
                <a:cs typeface="Arial MT"/>
              </a:rPr>
              <a:t>that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represents</a:t>
            </a:r>
            <a:r>
              <a:rPr sz="3100" spc="-6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(100</a:t>
            </a:r>
            <a:r>
              <a:rPr sz="3100" spc="-10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computers,</a:t>
            </a:r>
            <a:r>
              <a:rPr sz="3100" spc="-7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3000</a:t>
            </a:r>
            <a:r>
              <a:rPr sz="3100" spc="-9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tons</a:t>
            </a:r>
            <a:r>
              <a:rPr sz="3100" spc="-10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spc="-25" dirty="0">
                <a:solidFill>
                  <a:srgbClr val="161645"/>
                </a:solidFill>
                <a:latin typeface="Arial MT"/>
                <a:cs typeface="Arial MT"/>
              </a:rPr>
              <a:t>of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wheat),</a:t>
            </a:r>
            <a:r>
              <a:rPr sz="3100" spc="-5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label</a:t>
            </a:r>
            <a:r>
              <a:rPr sz="3100" spc="-6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it</a:t>
            </a:r>
            <a:r>
              <a:rPr sz="3100" spc="-7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b="1" spc="-25" dirty="0">
                <a:solidFill>
                  <a:srgbClr val="161645"/>
                </a:solidFill>
                <a:latin typeface="Arial"/>
                <a:cs typeface="Arial"/>
              </a:rPr>
              <a:t>F</a:t>
            </a:r>
            <a:r>
              <a:rPr sz="3100" spc="-25" dirty="0">
                <a:solidFill>
                  <a:srgbClr val="161645"/>
                </a:solidFill>
                <a:latin typeface="Arial MT"/>
                <a:cs typeface="Arial MT"/>
              </a:rPr>
              <a:t>.</a:t>
            </a:r>
            <a:endParaRPr sz="3100">
              <a:latin typeface="Arial MT"/>
              <a:cs typeface="Arial MT"/>
            </a:endParaRPr>
          </a:p>
          <a:p>
            <a:pPr marL="756285" marR="7620" indent="-287020">
              <a:lnSpc>
                <a:spcPct val="100000"/>
              </a:lnSpc>
              <a:spcBef>
                <a:spcPts val="745"/>
              </a:spcBef>
              <a:buChar char="–"/>
              <a:tabLst>
                <a:tab pos="756285" algn="l"/>
              </a:tabLst>
            </a:pPr>
            <a:r>
              <a:rPr sz="3100" dirty="0">
                <a:latin typeface="Arial MT"/>
                <a:cs typeface="Arial MT"/>
              </a:rPr>
              <a:t>Would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it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be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possible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economy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to </a:t>
            </a:r>
            <a:r>
              <a:rPr sz="3100" dirty="0">
                <a:latin typeface="Arial MT"/>
                <a:cs typeface="Arial MT"/>
              </a:rPr>
              <a:t>produce</a:t>
            </a:r>
            <a:r>
              <a:rPr sz="3100" spc="-6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this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combination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two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goods? </a:t>
            </a:r>
            <a:r>
              <a:rPr sz="3100" dirty="0">
                <a:latin typeface="Arial MT"/>
                <a:cs typeface="Arial MT"/>
              </a:rPr>
              <a:t>Why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or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why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not?</a:t>
            </a:r>
            <a:endParaRPr sz="3100">
              <a:latin typeface="Arial MT"/>
              <a:cs typeface="Arial MT"/>
            </a:endParaRPr>
          </a:p>
          <a:p>
            <a:pPr marL="12700" marR="941705">
              <a:lnSpc>
                <a:spcPct val="100000"/>
              </a:lnSpc>
              <a:spcBef>
                <a:spcPts val="750"/>
              </a:spcBef>
            </a:pP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Next,</a:t>
            </a:r>
            <a:r>
              <a:rPr sz="3100" spc="-8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find</a:t>
            </a:r>
            <a:r>
              <a:rPr sz="3100" spc="-7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the</a:t>
            </a:r>
            <a:r>
              <a:rPr sz="3100" spc="-9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point</a:t>
            </a:r>
            <a:r>
              <a:rPr sz="3100" spc="-6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that</a:t>
            </a:r>
            <a:r>
              <a:rPr sz="3100" spc="-8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represents</a:t>
            </a:r>
            <a:r>
              <a:rPr sz="3100" spc="-20" dirty="0">
                <a:solidFill>
                  <a:srgbClr val="161645"/>
                </a:solidFill>
                <a:latin typeface="Arial MT"/>
                <a:cs typeface="Arial MT"/>
              </a:rPr>
              <a:t> (300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computers,</a:t>
            </a:r>
            <a:r>
              <a:rPr sz="3100" spc="-4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3500</a:t>
            </a:r>
            <a:r>
              <a:rPr sz="3100" spc="-6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tons</a:t>
            </a:r>
            <a:r>
              <a:rPr sz="3100" spc="-8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of</a:t>
            </a:r>
            <a:r>
              <a:rPr sz="3100" spc="-7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wheat),</a:t>
            </a:r>
            <a:r>
              <a:rPr sz="3100" spc="-5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label</a:t>
            </a:r>
            <a:r>
              <a:rPr sz="3100" spc="-7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it</a:t>
            </a:r>
            <a:r>
              <a:rPr sz="3100" spc="-6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b="1" spc="-25" dirty="0">
                <a:solidFill>
                  <a:srgbClr val="161645"/>
                </a:solidFill>
                <a:latin typeface="Arial"/>
                <a:cs typeface="Arial"/>
              </a:rPr>
              <a:t>G</a:t>
            </a:r>
            <a:r>
              <a:rPr sz="3100" spc="-25" dirty="0">
                <a:solidFill>
                  <a:srgbClr val="161645"/>
                </a:solidFill>
                <a:latin typeface="Arial MT"/>
                <a:cs typeface="Arial MT"/>
              </a:rPr>
              <a:t>.</a:t>
            </a:r>
            <a:endParaRPr sz="3100">
              <a:latin typeface="Arial MT"/>
              <a:cs typeface="Arial MT"/>
            </a:endParaRPr>
          </a:p>
          <a:p>
            <a:pPr marL="756285" marR="5080" indent="-287020">
              <a:lnSpc>
                <a:spcPct val="100000"/>
              </a:lnSpc>
              <a:spcBef>
                <a:spcPts val="745"/>
              </a:spcBef>
              <a:buChar char="–"/>
              <a:tabLst>
                <a:tab pos="756285" algn="l"/>
              </a:tabLst>
            </a:pPr>
            <a:r>
              <a:rPr sz="3100" dirty="0">
                <a:latin typeface="Arial MT"/>
                <a:cs typeface="Arial MT"/>
              </a:rPr>
              <a:t>Would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it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be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possible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economy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to </a:t>
            </a:r>
            <a:r>
              <a:rPr sz="3100" dirty="0">
                <a:latin typeface="Arial MT"/>
                <a:cs typeface="Arial MT"/>
              </a:rPr>
              <a:t>produce</a:t>
            </a:r>
            <a:r>
              <a:rPr sz="3100" spc="-6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this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combination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two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goods?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704048"/>
            <a:ext cx="104775" cy="55962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500" y="710131"/>
            <a:ext cx="104775" cy="55962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749" y="162813"/>
            <a:ext cx="31610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Active</a:t>
            </a:r>
            <a:r>
              <a:rPr sz="3200" spc="-60" dirty="0"/>
              <a:t> </a:t>
            </a:r>
            <a:r>
              <a:rPr sz="3200" dirty="0"/>
              <a:t>Learning</a:t>
            </a:r>
            <a:r>
              <a:rPr sz="3200" spc="-65" dirty="0"/>
              <a:t> </a:t>
            </a:r>
            <a:r>
              <a:rPr sz="3200" spc="-50" dirty="0"/>
              <a:t>1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7293609" y="162813"/>
            <a:ext cx="15862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6FC0"/>
                </a:solidFill>
                <a:latin typeface="Arial MT"/>
                <a:cs typeface="Arial MT"/>
              </a:rPr>
              <a:t>Answers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786129"/>
            <a:ext cx="2922905" cy="512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55600" algn="l"/>
              </a:tabLst>
            </a:pP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Point</a:t>
            </a:r>
            <a:r>
              <a:rPr sz="27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F:</a:t>
            </a:r>
            <a:r>
              <a:rPr sz="27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100 </a:t>
            </a:r>
            <a:r>
              <a:rPr sz="2700" dirty="0">
                <a:latin typeface="Arial MT"/>
                <a:cs typeface="Arial MT"/>
              </a:rPr>
              <a:t>computers,</a:t>
            </a:r>
            <a:r>
              <a:rPr sz="2700" spc="-20" dirty="0">
                <a:latin typeface="Arial MT"/>
                <a:cs typeface="Arial MT"/>
              </a:rPr>
              <a:t> 3000 </a:t>
            </a:r>
            <a:r>
              <a:rPr sz="2700" dirty="0">
                <a:latin typeface="Arial MT"/>
                <a:cs typeface="Arial MT"/>
              </a:rPr>
              <a:t>tons</a:t>
            </a:r>
            <a:r>
              <a:rPr sz="2700" spc="-10" dirty="0">
                <a:latin typeface="Arial MT"/>
                <a:cs typeface="Arial MT"/>
              </a:rPr>
              <a:t> wheat</a:t>
            </a:r>
            <a:endParaRPr sz="2700">
              <a:latin typeface="Arial MT"/>
              <a:cs typeface="Arial MT"/>
            </a:endParaRPr>
          </a:p>
          <a:p>
            <a:pPr marL="355600" marR="44450" indent="-342900">
              <a:lnSpc>
                <a:spcPct val="100000"/>
              </a:lnSpc>
              <a:spcBef>
                <a:spcPts val="650"/>
              </a:spcBef>
              <a:buFont typeface="Courier New"/>
              <a:buChar char="o"/>
              <a:tabLst>
                <a:tab pos="355600" algn="l"/>
              </a:tabLst>
            </a:pPr>
            <a:r>
              <a:rPr sz="2700" dirty="0">
                <a:latin typeface="Arial MT"/>
                <a:cs typeface="Arial MT"/>
              </a:rPr>
              <a:t>Requires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40,000 </a:t>
            </a:r>
            <a:r>
              <a:rPr sz="2700" dirty="0">
                <a:latin typeface="Arial MT"/>
                <a:cs typeface="Arial MT"/>
              </a:rPr>
              <a:t>hours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 </a:t>
            </a:r>
            <a:r>
              <a:rPr sz="2700" spc="-10" dirty="0">
                <a:latin typeface="Arial MT"/>
                <a:cs typeface="Arial MT"/>
              </a:rPr>
              <a:t>labor</a:t>
            </a:r>
            <a:endParaRPr sz="2700">
              <a:latin typeface="Arial MT"/>
              <a:cs typeface="Arial MT"/>
            </a:endParaRPr>
          </a:p>
          <a:p>
            <a:pPr marL="355600" marR="120014" indent="-342900">
              <a:lnSpc>
                <a:spcPct val="100000"/>
              </a:lnSpc>
              <a:spcBef>
                <a:spcPts val="650"/>
              </a:spcBef>
              <a:buFont typeface="Courier New"/>
              <a:buChar char="o"/>
              <a:tabLst>
                <a:tab pos="355600" algn="l"/>
              </a:tabLst>
            </a:pPr>
            <a:r>
              <a:rPr sz="2700" dirty="0">
                <a:latin typeface="Arial MT"/>
                <a:cs typeface="Arial MT"/>
              </a:rPr>
              <a:t>Possible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but </a:t>
            </a:r>
            <a:r>
              <a:rPr sz="2700" spc="-25" dirty="0">
                <a:latin typeface="Arial MT"/>
                <a:cs typeface="Arial MT"/>
              </a:rPr>
              <a:t>not </a:t>
            </a:r>
            <a:r>
              <a:rPr sz="2700" dirty="0">
                <a:latin typeface="Arial MT"/>
                <a:cs typeface="Arial MT"/>
              </a:rPr>
              <a:t>efficient: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could </a:t>
            </a:r>
            <a:r>
              <a:rPr sz="2700" dirty="0">
                <a:latin typeface="Arial MT"/>
                <a:cs typeface="Arial MT"/>
              </a:rPr>
              <a:t>get </a:t>
            </a:r>
            <a:r>
              <a:rPr sz="2700" spc="-20" dirty="0">
                <a:latin typeface="Arial MT"/>
                <a:cs typeface="Arial MT"/>
              </a:rPr>
              <a:t>more</a:t>
            </a:r>
            <a:endParaRPr sz="2700">
              <a:latin typeface="Arial MT"/>
              <a:cs typeface="Arial MT"/>
            </a:endParaRPr>
          </a:p>
          <a:p>
            <a:pPr marL="355600" marR="5080">
              <a:lnSpc>
                <a:spcPct val="100000"/>
              </a:lnSpc>
            </a:pP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either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good </a:t>
            </a:r>
            <a:r>
              <a:rPr sz="2700" spc="-10" dirty="0">
                <a:latin typeface="Arial MT"/>
                <a:cs typeface="Arial MT"/>
              </a:rPr>
              <a:t>without </a:t>
            </a:r>
            <a:r>
              <a:rPr sz="2700" dirty="0">
                <a:latin typeface="Arial MT"/>
                <a:cs typeface="Arial MT"/>
              </a:rPr>
              <a:t>sacrificing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any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of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other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20028" y="1413434"/>
            <a:ext cx="3974465" cy="3540760"/>
            <a:chOff x="4420028" y="1413434"/>
            <a:chExt cx="3974465" cy="3540760"/>
          </a:xfrm>
        </p:grpSpPr>
        <p:sp>
          <p:nvSpPr>
            <p:cNvPr id="8" name="object 8"/>
            <p:cNvSpPr/>
            <p:nvPr/>
          </p:nvSpPr>
          <p:spPr>
            <a:xfrm>
              <a:off x="4501736" y="1419149"/>
              <a:ext cx="3886835" cy="3453129"/>
            </a:xfrm>
            <a:custGeom>
              <a:avLst/>
              <a:gdLst/>
              <a:ahLst/>
              <a:cxnLst/>
              <a:rect l="l" t="t" r="r" b="b"/>
              <a:pathLst>
                <a:path w="3886834" h="3453129">
                  <a:moveTo>
                    <a:pt x="0" y="3452898"/>
                  </a:moveTo>
                  <a:lnTo>
                    <a:pt x="3886503" y="3452898"/>
                  </a:lnTo>
                  <a:lnTo>
                    <a:pt x="3886503" y="0"/>
                  </a:lnTo>
                  <a:lnTo>
                    <a:pt x="0" y="0"/>
                  </a:lnTo>
                  <a:lnTo>
                    <a:pt x="0" y="3452898"/>
                  </a:lnTo>
                  <a:close/>
                </a:path>
              </a:pathLst>
            </a:custGeom>
            <a:ln w="10857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25743" y="1419149"/>
              <a:ext cx="3963035" cy="3529329"/>
            </a:xfrm>
            <a:custGeom>
              <a:avLst/>
              <a:gdLst/>
              <a:ahLst/>
              <a:cxnLst/>
              <a:rect l="l" t="t" r="r" b="b"/>
              <a:pathLst>
                <a:path w="3963034" h="3529329">
                  <a:moveTo>
                    <a:pt x="75993" y="3452898"/>
                  </a:moveTo>
                  <a:lnTo>
                    <a:pt x="75993" y="0"/>
                  </a:lnTo>
                </a:path>
                <a:path w="3963034" h="3529329">
                  <a:moveTo>
                    <a:pt x="0" y="3452898"/>
                  </a:moveTo>
                  <a:lnTo>
                    <a:pt x="75993" y="3452898"/>
                  </a:lnTo>
                </a:path>
                <a:path w="3963034" h="3529329">
                  <a:moveTo>
                    <a:pt x="0" y="2953422"/>
                  </a:moveTo>
                  <a:lnTo>
                    <a:pt x="75993" y="2953422"/>
                  </a:lnTo>
                </a:path>
                <a:path w="3963034" h="3529329">
                  <a:moveTo>
                    <a:pt x="0" y="2453946"/>
                  </a:moveTo>
                  <a:lnTo>
                    <a:pt x="75993" y="2453946"/>
                  </a:lnTo>
                </a:path>
                <a:path w="3963034" h="3529329">
                  <a:moveTo>
                    <a:pt x="0" y="1954470"/>
                  </a:moveTo>
                  <a:lnTo>
                    <a:pt x="75993" y="1954470"/>
                  </a:lnTo>
                </a:path>
                <a:path w="3963034" h="3529329">
                  <a:moveTo>
                    <a:pt x="0" y="1454994"/>
                  </a:moveTo>
                  <a:lnTo>
                    <a:pt x="75993" y="1454994"/>
                  </a:lnTo>
                </a:path>
                <a:path w="3963034" h="3529329">
                  <a:moveTo>
                    <a:pt x="0" y="944660"/>
                  </a:moveTo>
                  <a:lnTo>
                    <a:pt x="75993" y="944660"/>
                  </a:lnTo>
                </a:path>
                <a:path w="3963034" h="3529329">
                  <a:moveTo>
                    <a:pt x="0" y="445184"/>
                  </a:moveTo>
                  <a:lnTo>
                    <a:pt x="75993" y="445184"/>
                  </a:lnTo>
                </a:path>
                <a:path w="3963034" h="3529329">
                  <a:moveTo>
                    <a:pt x="75993" y="3452898"/>
                  </a:moveTo>
                  <a:lnTo>
                    <a:pt x="3962568" y="3452898"/>
                  </a:lnTo>
                </a:path>
                <a:path w="3963034" h="3529329">
                  <a:moveTo>
                    <a:pt x="75993" y="3452898"/>
                  </a:moveTo>
                  <a:lnTo>
                    <a:pt x="75993" y="3528905"/>
                  </a:lnTo>
                </a:path>
                <a:path w="3963034" h="3529329">
                  <a:moveTo>
                    <a:pt x="651296" y="3452898"/>
                  </a:moveTo>
                  <a:lnTo>
                    <a:pt x="651296" y="3528905"/>
                  </a:lnTo>
                </a:path>
                <a:path w="3963034" h="3529329">
                  <a:moveTo>
                    <a:pt x="1226817" y="3452898"/>
                  </a:moveTo>
                  <a:lnTo>
                    <a:pt x="1226817" y="3528905"/>
                  </a:lnTo>
                </a:path>
                <a:path w="3963034" h="3529329">
                  <a:moveTo>
                    <a:pt x="1791337" y="3452898"/>
                  </a:moveTo>
                  <a:lnTo>
                    <a:pt x="1791337" y="3528905"/>
                  </a:lnTo>
                </a:path>
                <a:path w="3963034" h="3529329">
                  <a:moveTo>
                    <a:pt x="2366713" y="3452898"/>
                  </a:moveTo>
                  <a:lnTo>
                    <a:pt x="2366713" y="3528905"/>
                  </a:lnTo>
                </a:path>
                <a:path w="3963034" h="3529329">
                  <a:moveTo>
                    <a:pt x="2942090" y="3452898"/>
                  </a:moveTo>
                  <a:lnTo>
                    <a:pt x="2942090" y="3528905"/>
                  </a:lnTo>
                </a:path>
                <a:path w="3963034" h="3529329">
                  <a:moveTo>
                    <a:pt x="3506610" y="3452898"/>
                  </a:moveTo>
                  <a:lnTo>
                    <a:pt x="3506610" y="3528905"/>
                  </a:lnTo>
                </a:path>
              </a:pathLst>
            </a:custGeom>
            <a:ln w="10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28663" y="934119"/>
            <a:ext cx="796925" cy="410082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590" marR="5080" indent="-22225">
              <a:lnSpc>
                <a:spcPts val="2320"/>
              </a:lnSpc>
              <a:spcBef>
                <a:spcPts val="305"/>
              </a:spcBef>
            </a:pPr>
            <a:r>
              <a:rPr sz="2050" b="1" spc="-10" dirty="0">
                <a:latin typeface="Arial"/>
                <a:cs typeface="Arial"/>
              </a:rPr>
              <a:t>Wheat (tons)</a:t>
            </a:r>
            <a:endParaRPr sz="2050">
              <a:latin typeface="Arial"/>
              <a:cs typeface="Arial"/>
            </a:endParaRPr>
          </a:p>
          <a:p>
            <a:pPr marR="43180" algn="r">
              <a:lnSpc>
                <a:spcPct val="100000"/>
              </a:lnSpc>
              <a:spcBef>
                <a:spcPts val="1060"/>
              </a:spcBef>
            </a:pPr>
            <a:r>
              <a:rPr sz="2050" spc="-10" dirty="0">
                <a:latin typeface="Arial MT"/>
                <a:cs typeface="Arial MT"/>
              </a:rPr>
              <a:t>6,000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5,000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4,000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3,000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2,000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1,000</a:t>
            </a:r>
            <a:endParaRPr sz="2050">
              <a:latin typeface="Arial MT"/>
              <a:cs typeface="Arial MT"/>
            </a:endParaRPr>
          </a:p>
          <a:p>
            <a:pPr marR="38100" algn="r">
              <a:lnSpc>
                <a:spcPct val="100000"/>
              </a:lnSpc>
              <a:spcBef>
                <a:spcPts val="1495"/>
              </a:spcBef>
            </a:pPr>
            <a:r>
              <a:rPr sz="2050" spc="-50" dirty="0">
                <a:latin typeface="Arial MT"/>
                <a:cs typeface="Arial MT"/>
              </a:rPr>
              <a:t>0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5876" y="4880557"/>
            <a:ext cx="4252595" cy="915669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0"/>
              </a:spcBef>
              <a:tabLst>
                <a:tab pos="426084" algn="l"/>
                <a:tab pos="1000760" algn="l"/>
                <a:tab pos="1574800" algn="l"/>
                <a:tab pos="2148205" algn="l"/>
                <a:tab pos="2722880" algn="l"/>
                <a:tab pos="3296920" algn="l"/>
              </a:tabLst>
            </a:pPr>
            <a:r>
              <a:rPr sz="2050" spc="-50" dirty="0">
                <a:latin typeface="Arial MT"/>
                <a:cs typeface="Arial MT"/>
              </a:rPr>
              <a:t>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100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200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300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400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500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600</a:t>
            </a:r>
            <a:endParaRPr sz="2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040"/>
              </a:spcBef>
            </a:pPr>
            <a:r>
              <a:rPr sz="2050" b="1" spc="-10" dirty="0">
                <a:latin typeface="Arial"/>
                <a:cs typeface="Arial"/>
              </a:rPr>
              <a:t>Computers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77838" y="892235"/>
            <a:ext cx="5331460" cy="5027930"/>
            <a:chOff x="3377838" y="892235"/>
            <a:chExt cx="5331460" cy="5027930"/>
          </a:xfrm>
        </p:grpSpPr>
        <p:sp>
          <p:nvSpPr>
            <p:cNvPr id="13" name="object 13"/>
            <p:cNvSpPr/>
            <p:nvPr/>
          </p:nvSpPr>
          <p:spPr>
            <a:xfrm>
              <a:off x="3383553" y="897950"/>
              <a:ext cx="5320030" cy="5016500"/>
            </a:xfrm>
            <a:custGeom>
              <a:avLst/>
              <a:gdLst/>
              <a:ahLst/>
              <a:cxnLst/>
              <a:rect l="l" t="t" r="r" b="b"/>
              <a:pathLst>
                <a:path w="5320030" h="5016500">
                  <a:moveTo>
                    <a:pt x="0" y="5016474"/>
                  </a:moveTo>
                  <a:lnTo>
                    <a:pt x="5319515" y="5016474"/>
                  </a:lnTo>
                  <a:lnTo>
                    <a:pt x="5319515" y="0"/>
                  </a:lnTo>
                  <a:lnTo>
                    <a:pt x="0" y="0"/>
                  </a:lnTo>
                  <a:lnTo>
                    <a:pt x="0" y="5016474"/>
                  </a:lnTo>
                  <a:close/>
                </a:path>
              </a:pathLst>
            </a:custGeom>
            <a:ln w="10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7418" y="2337053"/>
              <a:ext cx="2932430" cy="2540635"/>
            </a:xfrm>
            <a:custGeom>
              <a:avLst/>
              <a:gdLst/>
              <a:ahLst/>
              <a:cxnLst/>
              <a:rect l="l" t="t" r="r" b="b"/>
              <a:pathLst>
                <a:path w="2932429" h="2540635">
                  <a:moveTo>
                    <a:pt x="0" y="0"/>
                  </a:moveTo>
                  <a:lnTo>
                    <a:pt x="2932176" y="2540508"/>
                  </a:lnTo>
                </a:path>
              </a:pathLst>
            </a:custGeom>
            <a:ln w="50292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5800" y="3339083"/>
              <a:ext cx="593090" cy="1531620"/>
            </a:xfrm>
            <a:custGeom>
              <a:avLst/>
              <a:gdLst/>
              <a:ahLst/>
              <a:cxnLst/>
              <a:rect l="l" t="t" r="r" b="b"/>
              <a:pathLst>
                <a:path w="593089" h="1531620">
                  <a:moveTo>
                    <a:pt x="0" y="0"/>
                  </a:moveTo>
                  <a:lnTo>
                    <a:pt x="583691" y="0"/>
                  </a:lnTo>
                </a:path>
                <a:path w="593089" h="1531620">
                  <a:moveTo>
                    <a:pt x="592836" y="9143"/>
                  </a:moveTo>
                  <a:lnTo>
                    <a:pt x="582167" y="1531620"/>
                  </a:lnTo>
                </a:path>
              </a:pathLst>
            </a:custGeom>
            <a:ln w="9144">
              <a:solidFill>
                <a:srgbClr val="95959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0056" y="3276599"/>
              <a:ext cx="140208" cy="13868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74234" y="3304413"/>
            <a:ext cx="19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86655" y="2302764"/>
            <a:ext cx="2970530" cy="2636520"/>
            <a:chOff x="4486655" y="2302764"/>
            <a:chExt cx="2970530" cy="263652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5200" y="4800600"/>
              <a:ext cx="141731" cy="13868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6655" y="2302764"/>
              <a:ext cx="140208" cy="138684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704048"/>
            <a:ext cx="104775" cy="55962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500" y="710131"/>
            <a:ext cx="104775" cy="55962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749" y="162813"/>
            <a:ext cx="31610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Active</a:t>
            </a:r>
            <a:r>
              <a:rPr sz="3200" spc="-60" dirty="0"/>
              <a:t> </a:t>
            </a:r>
            <a:r>
              <a:rPr sz="3200" dirty="0"/>
              <a:t>Learning</a:t>
            </a:r>
            <a:r>
              <a:rPr sz="3200" spc="-65" dirty="0"/>
              <a:t> </a:t>
            </a:r>
            <a:r>
              <a:rPr sz="3200" spc="-50" dirty="0"/>
              <a:t>1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7293609" y="162813"/>
            <a:ext cx="15862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6FC0"/>
                </a:solidFill>
                <a:latin typeface="Arial MT"/>
                <a:cs typeface="Arial MT"/>
              </a:rPr>
              <a:t>Answers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786129"/>
            <a:ext cx="2921635" cy="430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55600" algn="l"/>
              </a:tabLst>
            </a:pP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Point</a:t>
            </a:r>
            <a:r>
              <a:rPr sz="27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G: </a:t>
            </a:r>
            <a:r>
              <a:rPr sz="2700" spc="-25" dirty="0">
                <a:solidFill>
                  <a:srgbClr val="006FC0"/>
                </a:solidFill>
                <a:latin typeface="Arial MT"/>
                <a:cs typeface="Arial MT"/>
              </a:rPr>
              <a:t>300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computers,</a:t>
            </a:r>
            <a:r>
              <a:rPr sz="2700" spc="-20" dirty="0">
                <a:solidFill>
                  <a:srgbClr val="006FC0"/>
                </a:solidFill>
                <a:latin typeface="Arial MT"/>
                <a:cs typeface="Arial MT"/>
              </a:rPr>
              <a:t> 3500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tons</a:t>
            </a:r>
            <a:r>
              <a:rPr sz="2700" spc="-10" dirty="0">
                <a:solidFill>
                  <a:srgbClr val="006FC0"/>
                </a:solidFill>
                <a:latin typeface="Arial MT"/>
                <a:cs typeface="Arial MT"/>
              </a:rPr>
              <a:t> wheat</a:t>
            </a:r>
            <a:endParaRPr sz="2700">
              <a:latin typeface="Arial MT"/>
              <a:cs typeface="Arial MT"/>
            </a:endParaRPr>
          </a:p>
          <a:p>
            <a:pPr marL="355600" marR="43180" indent="-342900">
              <a:lnSpc>
                <a:spcPct val="100000"/>
              </a:lnSpc>
              <a:spcBef>
                <a:spcPts val="650"/>
              </a:spcBef>
              <a:buFont typeface="Courier New"/>
              <a:buChar char="o"/>
              <a:tabLst>
                <a:tab pos="355600" algn="l"/>
              </a:tabLst>
            </a:pP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Requires</a:t>
            </a:r>
            <a:r>
              <a:rPr sz="27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006FC0"/>
                </a:solidFill>
                <a:latin typeface="Arial MT"/>
                <a:cs typeface="Arial MT"/>
              </a:rPr>
              <a:t>65,000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hours</a:t>
            </a:r>
            <a:r>
              <a:rPr sz="27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sz="2700" spc="-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006FC0"/>
                </a:solidFill>
                <a:latin typeface="Arial MT"/>
                <a:cs typeface="Arial MT"/>
              </a:rPr>
              <a:t>labor.</a:t>
            </a:r>
            <a:endParaRPr sz="2700">
              <a:latin typeface="Arial MT"/>
              <a:cs typeface="Arial MT"/>
            </a:endParaRPr>
          </a:p>
          <a:p>
            <a:pPr marL="355600" marR="441959" indent="-342900">
              <a:lnSpc>
                <a:spcPct val="100000"/>
              </a:lnSpc>
              <a:spcBef>
                <a:spcPts val="650"/>
              </a:spcBef>
              <a:buFont typeface="Courier New"/>
              <a:buChar char="o"/>
              <a:tabLst>
                <a:tab pos="355600" algn="l"/>
              </a:tabLst>
            </a:pP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Not </a:t>
            </a:r>
            <a:r>
              <a:rPr sz="2700" spc="-10" dirty="0">
                <a:solidFill>
                  <a:srgbClr val="006FC0"/>
                </a:solidFill>
                <a:latin typeface="Arial MT"/>
                <a:cs typeface="Arial MT"/>
              </a:rPr>
              <a:t>possible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because</a:t>
            </a:r>
            <a:r>
              <a:rPr sz="27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700" spc="-25" dirty="0">
                <a:solidFill>
                  <a:srgbClr val="006FC0"/>
                </a:solidFill>
                <a:latin typeface="Arial MT"/>
                <a:cs typeface="Arial MT"/>
              </a:rPr>
              <a:t>the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economy </a:t>
            </a:r>
            <a:r>
              <a:rPr sz="2700" spc="-20" dirty="0">
                <a:solidFill>
                  <a:srgbClr val="006FC0"/>
                </a:solidFill>
                <a:latin typeface="Arial MT"/>
                <a:cs typeface="Arial MT"/>
              </a:rPr>
              <a:t>only </a:t>
            </a:r>
            <a:r>
              <a:rPr sz="2700" dirty="0">
                <a:solidFill>
                  <a:srgbClr val="006FC0"/>
                </a:solidFill>
                <a:latin typeface="Arial MT"/>
                <a:cs typeface="Arial MT"/>
              </a:rPr>
              <a:t>has </a:t>
            </a:r>
            <a:r>
              <a:rPr sz="2700" spc="-10" dirty="0">
                <a:solidFill>
                  <a:srgbClr val="006FC0"/>
                </a:solidFill>
                <a:latin typeface="Arial MT"/>
                <a:cs typeface="Arial MT"/>
              </a:rPr>
              <a:t>50,000 hours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96228" y="1459154"/>
            <a:ext cx="3974465" cy="3540760"/>
            <a:chOff x="4496228" y="1459154"/>
            <a:chExt cx="3974465" cy="3540760"/>
          </a:xfrm>
        </p:grpSpPr>
        <p:sp>
          <p:nvSpPr>
            <p:cNvPr id="8" name="object 8"/>
            <p:cNvSpPr/>
            <p:nvPr/>
          </p:nvSpPr>
          <p:spPr>
            <a:xfrm>
              <a:off x="4577936" y="1464869"/>
              <a:ext cx="3886835" cy="3453129"/>
            </a:xfrm>
            <a:custGeom>
              <a:avLst/>
              <a:gdLst/>
              <a:ahLst/>
              <a:cxnLst/>
              <a:rect l="l" t="t" r="r" b="b"/>
              <a:pathLst>
                <a:path w="3886834" h="3453129">
                  <a:moveTo>
                    <a:pt x="0" y="3452898"/>
                  </a:moveTo>
                  <a:lnTo>
                    <a:pt x="3886503" y="3452898"/>
                  </a:lnTo>
                  <a:lnTo>
                    <a:pt x="3886503" y="0"/>
                  </a:lnTo>
                  <a:lnTo>
                    <a:pt x="0" y="0"/>
                  </a:lnTo>
                  <a:lnTo>
                    <a:pt x="0" y="3452898"/>
                  </a:lnTo>
                  <a:close/>
                </a:path>
              </a:pathLst>
            </a:custGeom>
            <a:ln w="10857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01943" y="1464869"/>
              <a:ext cx="3963035" cy="3529329"/>
            </a:xfrm>
            <a:custGeom>
              <a:avLst/>
              <a:gdLst/>
              <a:ahLst/>
              <a:cxnLst/>
              <a:rect l="l" t="t" r="r" b="b"/>
              <a:pathLst>
                <a:path w="3963034" h="3529329">
                  <a:moveTo>
                    <a:pt x="75993" y="3452898"/>
                  </a:moveTo>
                  <a:lnTo>
                    <a:pt x="75993" y="0"/>
                  </a:lnTo>
                </a:path>
                <a:path w="3963034" h="3529329">
                  <a:moveTo>
                    <a:pt x="0" y="3452898"/>
                  </a:moveTo>
                  <a:lnTo>
                    <a:pt x="75993" y="3452898"/>
                  </a:lnTo>
                </a:path>
                <a:path w="3963034" h="3529329">
                  <a:moveTo>
                    <a:pt x="0" y="2953422"/>
                  </a:moveTo>
                  <a:lnTo>
                    <a:pt x="75993" y="2953422"/>
                  </a:lnTo>
                </a:path>
                <a:path w="3963034" h="3529329">
                  <a:moveTo>
                    <a:pt x="0" y="2453946"/>
                  </a:moveTo>
                  <a:lnTo>
                    <a:pt x="75993" y="2453946"/>
                  </a:lnTo>
                </a:path>
                <a:path w="3963034" h="3529329">
                  <a:moveTo>
                    <a:pt x="0" y="1954470"/>
                  </a:moveTo>
                  <a:lnTo>
                    <a:pt x="75993" y="1954470"/>
                  </a:lnTo>
                </a:path>
                <a:path w="3963034" h="3529329">
                  <a:moveTo>
                    <a:pt x="0" y="1454994"/>
                  </a:moveTo>
                  <a:lnTo>
                    <a:pt x="75993" y="1454994"/>
                  </a:lnTo>
                </a:path>
                <a:path w="3963034" h="3529329">
                  <a:moveTo>
                    <a:pt x="0" y="944660"/>
                  </a:moveTo>
                  <a:lnTo>
                    <a:pt x="75993" y="944660"/>
                  </a:lnTo>
                </a:path>
                <a:path w="3963034" h="3529329">
                  <a:moveTo>
                    <a:pt x="0" y="445184"/>
                  </a:moveTo>
                  <a:lnTo>
                    <a:pt x="75993" y="445184"/>
                  </a:lnTo>
                </a:path>
                <a:path w="3963034" h="3529329">
                  <a:moveTo>
                    <a:pt x="75993" y="3452898"/>
                  </a:moveTo>
                  <a:lnTo>
                    <a:pt x="3962568" y="3452897"/>
                  </a:lnTo>
                </a:path>
                <a:path w="3963034" h="3529329">
                  <a:moveTo>
                    <a:pt x="75993" y="3452898"/>
                  </a:moveTo>
                  <a:lnTo>
                    <a:pt x="75993" y="3528905"/>
                  </a:lnTo>
                </a:path>
                <a:path w="3963034" h="3529329">
                  <a:moveTo>
                    <a:pt x="651296" y="3452898"/>
                  </a:moveTo>
                  <a:lnTo>
                    <a:pt x="651296" y="3528905"/>
                  </a:lnTo>
                </a:path>
                <a:path w="3963034" h="3529329">
                  <a:moveTo>
                    <a:pt x="1226817" y="3452898"/>
                  </a:moveTo>
                  <a:lnTo>
                    <a:pt x="1226817" y="3528905"/>
                  </a:lnTo>
                </a:path>
                <a:path w="3963034" h="3529329">
                  <a:moveTo>
                    <a:pt x="1791337" y="3452898"/>
                  </a:moveTo>
                  <a:lnTo>
                    <a:pt x="1791337" y="3528905"/>
                  </a:lnTo>
                </a:path>
                <a:path w="3963034" h="3529329">
                  <a:moveTo>
                    <a:pt x="2366713" y="3452898"/>
                  </a:moveTo>
                  <a:lnTo>
                    <a:pt x="2366713" y="3528905"/>
                  </a:lnTo>
                </a:path>
                <a:path w="3963034" h="3529329">
                  <a:moveTo>
                    <a:pt x="2942090" y="3452898"/>
                  </a:moveTo>
                  <a:lnTo>
                    <a:pt x="2942090" y="3528905"/>
                  </a:lnTo>
                </a:path>
                <a:path w="3963034" h="3529329">
                  <a:moveTo>
                    <a:pt x="3506610" y="3452898"/>
                  </a:moveTo>
                  <a:lnTo>
                    <a:pt x="3506610" y="3528905"/>
                  </a:lnTo>
                </a:path>
              </a:pathLst>
            </a:custGeom>
            <a:ln w="10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92163" y="979839"/>
            <a:ext cx="809625" cy="410082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4290" marR="5080" indent="-22225">
              <a:lnSpc>
                <a:spcPts val="2320"/>
              </a:lnSpc>
              <a:spcBef>
                <a:spcPts val="305"/>
              </a:spcBef>
            </a:pPr>
            <a:r>
              <a:rPr sz="2050" b="1" spc="-10" dirty="0">
                <a:latin typeface="Arial"/>
                <a:cs typeface="Arial"/>
              </a:rPr>
              <a:t>Wheat (tons)</a:t>
            </a:r>
            <a:endParaRPr sz="2050">
              <a:latin typeface="Arial"/>
              <a:cs typeface="Arial"/>
            </a:endParaRPr>
          </a:p>
          <a:p>
            <a:pPr marR="43180" algn="r">
              <a:lnSpc>
                <a:spcPct val="100000"/>
              </a:lnSpc>
              <a:spcBef>
                <a:spcPts val="1060"/>
              </a:spcBef>
            </a:pPr>
            <a:r>
              <a:rPr sz="2050" spc="-10" dirty="0">
                <a:latin typeface="Arial MT"/>
                <a:cs typeface="Arial MT"/>
              </a:rPr>
              <a:t>6,000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5,000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4,000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3,000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2,000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1,000</a:t>
            </a:r>
            <a:endParaRPr sz="2050">
              <a:latin typeface="Arial MT"/>
              <a:cs typeface="Arial MT"/>
            </a:endParaRPr>
          </a:p>
          <a:p>
            <a:pPr marR="38100" algn="r">
              <a:lnSpc>
                <a:spcPct val="100000"/>
              </a:lnSpc>
              <a:spcBef>
                <a:spcPts val="1495"/>
              </a:spcBef>
            </a:pPr>
            <a:r>
              <a:rPr sz="2050" spc="-50" dirty="0">
                <a:latin typeface="Arial MT"/>
                <a:cs typeface="Arial MT"/>
              </a:rPr>
              <a:t>0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99376" y="4926277"/>
            <a:ext cx="4265295" cy="915669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438784" algn="l"/>
                <a:tab pos="1013460" algn="l"/>
                <a:tab pos="1587500" algn="l"/>
                <a:tab pos="2160905" algn="l"/>
                <a:tab pos="2735580" algn="l"/>
                <a:tab pos="3309620" algn="l"/>
              </a:tabLst>
            </a:pPr>
            <a:r>
              <a:rPr sz="2050" spc="-50" dirty="0">
                <a:latin typeface="Arial MT"/>
                <a:cs typeface="Arial MT"/>
              </a:rPr>
              <a:t>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100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200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300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400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500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600</a:t>
            </a:r>
            <a:endParaRPr sz="2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040"/>
              </a:spcBef>
            </a:pPr>
            <a:r>
              <a:rPr sz="2050" b="1" spc="-10" dirty="0">
                <a:latin typeface="Arial"/>
                <a:cs typeface="Arial"/>
              </a:rPr>
              <a:t>Computers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54318" y="938236"/>
            <a:ext cx="5330825" cy="5027930"/>
            <a:chOff x="3454318" y="938236"/>
            <a:chExt cx="5330825" cy="5027930"/>
          </a:xfrm>
        </p:grpSpPr>
        <p:sp>
          <p:nvSpPr>
            <p:cNvPr id="13" name="object 13"/>
            <p:cNvSpPr/>
            <p:nvPr/>
          </p:nvSpPr>
          <p:spPr>
            <a:xfrm>
              <a:off x="3459753" y="943670"/>
              <a:ext cx="5320030" cy="5016500"/>
            </a:xfrm>
            <a:custGeom>
              <a:avLst/>
              <a:gdLst/>
              <a:ahLst/>
              <a:cxnLst/>
              <a:rect l="l" t="t" r="r" b="b"/>
              <a:pathLst>
                <a:path w="5320030" h="5016500">
                  <a:moveTo>
                    <a:pt x="0" y="5016475"/>
                  </a:moveTo>
                  <a:lnTo>
                    <a:pt x="5319515" y="5016474"/>
                  </a:lnTo>
                  <a:lnTo>
                    <a:pt x="5319515" y="0"/>
                  </a:lnTo>
                  <a:lnTo>
                    <a:pt x="0" y="0"/>
                  </a:lnTo>
                  <a:lnTo>
                    <a:pt x="0" y="5016475"/>
                  </a:lnTo>
                  <a:close/>
                </a:path>
              </a:pathLst>
            </a:custGeom>
            <a:ln w="10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10862" y="2413254"/>
              <a:ext cx="2932430" cy="2540635"/>
            </a:xfrm>
            <a:custGeom>
              <a:avLst/>
              <a:gdLst/>
              <a:ahLst/>
              <a:cxnLst/>
              <a:rect l="l" t="t" r="r" b="b"/>
              <a:pathLst>
                <a:path w="2932429" h="2540635">
                  <a:moveTo>
                    <a:pt x="0" y="0"/>
                  </a:moveTo>
                  <a:lnTo>
                    <a:pt x="2932176" y="2540508"/>
                  </a:lnTo>
                </a:path>
              </a:pathLst>
            </a:custGeom>
            <a:ln w="50292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2736" y="4840223"/>
              <a:ext cx="140208" cy="13868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6656" y="2302763"/>
              <a:ext cx="140208" cy="1386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12564" y="3162300"/>
              <a:ext cx="1780539" cy="1790700"/>
            </a:xfrm>
            <a:custGeom>
              <a:avLst/>
              <a:gdLst/>
              <a:ahLst/>
              <a:cxnLst/>
              <a:rect l="l" t="t" r="r" b="b"/>
              <a:pathLst>
                <a:path w="1780539" h="1790700">
                  <a:moveTo>
                    <a:pt x="0" y="0"/>
                  </a:moveTo>
                  <a:lnTo>
                    <a:pt x="1754124" y="0"/>
                  </a:lnTo>
                </a:path>
                <a:path w="1780539" h="1790700">
                  <a:moveTo>
                    <a:pt x="1773936" y="1524"/>
                  </a:moveTo>
                  <a:lnTo>
                    <a:pt x="1780032" y="1790700"/>
                  </a:lnTo>
                </a:path>
              </a:pathLst>
            </a:custGeom>
            <a:ln w="9144">
              <a:solidFill>
                <a:srgbClr val="95959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2492" y="3098291"/>
              <a:ext cx="141732" cy="13868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385940" y="2838958"/>
            <a:ext cx="26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3608" y="121157"/>
            <a:ext cx="74745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PPF:</a:t>
            </a:r>
            <a:r>
              <a:rPr spc="-65" dirty="0"/>
              <a:t> </a:t>
            </a: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We</a:t>
            </a:r>
            <a:r>
              <a:rPr spc="-65" dirty="0"/>
              <a:t> </a:t>
            </a:r>
            <a:r>
              <a:rPr dirty="0"/>
              <a:t>Know</a:t>
            </a:r>
            <a:r>
              <a:rPr spc="-50" dirty="0"/>
              <a:t> </a:t>
            </a:r>
            <a:r>
              <a:rPr dirty="0"/>
              <a:t>So</a:t>
            </a:r>
            <a:r>
              <a:rPr spc="-65" dirty="0"/>
              <a:t> </a:t>
            </a:r>
            <a:r>
              <a:rPr spc="-25" dirty="0"/>
              <a:t>Far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079105" cy="462089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Courier New"/>
              <a:buChar char="o"/>
              <a:tabLst>
                <a:tab pos="35496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Points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on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PPF</a:t>
            </a:r>
            <a:r>
              <a:rPr sz="3400" spc="-3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(like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A</a:t>
            </a:r>
            <a:r>
              <a:rPr sz="3400" spc="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–</a:t>
            </a:r>
            <a:r>
              <a:rPr sz="3400" spc="-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E):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possible</a:t>
            </a:r>
            <a:endParaRPr sz="3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650" algn="l"/>
              </a:tabLst>
            </a:pPr>
            <a:r>
              <a:rPr sz="3200" dirty="0">
                <a:latin typeface="Arial MT"/>
                <a:cs typeface="Arial MT"/>
              </a:rPr>
              <a:t>Efficient: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resources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fully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utilized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Font typeface="Courier New"/>
              <a:buChar char="o"/>
              <a:tabLst>
                <a:tab pos="35496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Points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under</a:t>
            </a:r>
            <a:r>
              <a:rPr sz="3400" spc="-1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3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PPF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(like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F):</a:t>
            </a:r>
            <a:r>
              <a:rPr sz="3400" spc="-1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possible</a:t>
            </a:r>
            <a:endParaRPr sz="34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Not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efficient: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some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resources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are 	</a:t>
            </a:r>
            <a:r>
              <a:rPr sz="3200" dirty="0">
                <a:latin typeface="Arial MT"/>
                <a:cs typeface="Arial MT"/>
              </a:rPr>
              <a:t>underutilized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(e.g.,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workers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unemployed, 	</a:t>
            </a:r>
            <a:r>
              <a:rPr sz="3200" dirty="0">
                <a:latin typeface="Arial MT"/>
                <a:cs typeface="Arial MT"/>
              </a:rPr>
              <a:t>factories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idle)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Font typeface="Courier New"/>
              <a:buChar char="o"/>
              <a:tabLst>
                <a:tab pos="35496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Points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above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PPF</a:t>
            </a:r>
            <a:r>
              <a:rPr sz="3400" spc="-3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(like</a:t>
            </a:r>
            <a:r>
              <a:rPr sz="3400" spc="-3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G)</a:t>
            </a:r>
            <a:endParaRPr sz="3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Not </a:t>
            </a:r>
            <a:r>
              <a:rPr sz="3200" spc="-10" dirty="0">
                <a:latin typeface="Arial MT"/>
                <a:cs typeface="Arial MT"/>
              </a:rPr>
              <a:t>possible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85" dirty="0"/>
              <a:t> </a:t>
            </a:r>
            <a:r>
              <a:rPr spc="-25" dirty="0"/>
              <a:t>PPF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258175" cy="510857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Courier New"/>
              <a:buChar char="o"/>
              <a:tabLst>
                <a:tab pos="35496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Moving</a:t>
            </a:r>
            <a:r>
              <a:rPr sz="3400" spc="-4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along</a:t>
            </a:r>
            <a:r>
              <a:rPr sz="3400" spc="-5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a</a:t>
            </a:r>
            <a:r>
              <a:rPr sz="3400" spc="-5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PPF</a:t>
            </a:r>
            <a:endParaRPr sz="3400">
              <a:latin typeface="Arial MT"/>
              <a:cs typeface="Arial MT"/>
            </a:endParaRPr>
          </a:p>
          <a:p>
            <a:pPr marL="755015" marR="1108710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Involves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shifting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resources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	</a:t>
            </a:r>
            <a:r>
              <a:rPr sz="3200" dirty="0">
                <a:latin typeface="Arial MT"/>
                <a:cs typeface="Arial MT"/>
              </a:rPr>
              <a:t>production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good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other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Font typeface="Courier New"/>
              <a:buChar char="o"/>
              <a:tabLst>
                <a:tab pos="35496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Society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faces</a:t>
            </a:r>
            <a:r>
              <a:rPr sz="3400" spc="-1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a</a:t>
            </a:r>
            <a:r>
              <a:rPr sz="3400" spc="-3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tradeoff</a:t>
            </a:r>
            <a:endParaRPr sz="3400">
              <a:latin typeface="Arial MT"/>
              <a:cs typeface="Arial MT"/>
            </a:endParaRPr>
          </a:p>
          <a:p>
            <a:pPr marL="755015" marR="1312545" lvl="1" indent="-285750">
              <a:lnSpc>
                <a:spcPct val="100000"/>
              </a:lnSpc>
              <a:spcBef>
                <a:spcPts val="76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Getting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more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good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requires 	</a:t>
            </a:r>
            <a:r>
              <a:rPr sz="3200" dirty="0">
                <a:latin typeface="Arial MT"/>
                <a:cs typeface="Arial MT"/>
              </a:rPr>
              <a:t>sacrificing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some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other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Font typeface="Courier New"/>
              <a:buChar char="o"/>
              <a:tabLst>
                <a:tab pos="35496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3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slope</a:t>
            </a:r>
            <a:r>
              <a:rPr sz="3400" spc="-4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of</a:t>
            </a:r>
            <a:r>
              <a:rPr sz="3400" spc="-1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3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PPF</a:t>
            </a:r>
            <a:endParaRPr sz="34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opportunity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cost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good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terms 	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other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575754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The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PPF</a:t>
            </a:r>
            <a:r>
              <a:rPr sz="3300" spc="-3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and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Opportunity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spc="-20" dirty="0">
                <a:solidFill>
                  <a:srgbClr val="000000"/>
                </a:solidFill>
              </a:rPr>
              <a:t>Cost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870828" y="773429"/>
            <a:ext cx="293433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slope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line </a:t>
            </a:r>
            <a:r>
              <a:rPr sz="2800" dirty="0">
                <a:latin typeface="Arial MT"/>
                <a:cs typeface="Arial MT"/>
              </a:rPr>
              <a:t>equals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“</a:t>
            </a:r>
            <a:r>
              <a:rPr sz="2800" b="1" spc="-20" dirty="0">
                <a:solidFill>
                  <a:srgbClr val="9900CC"/>
                </a:solidFill>
                <a:latin typeface="Arial"/>
                <a:cs typeface="Arial"/>
              </a:rPr>
              <a:t>rise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spc="-10" dirty="0">
                <a:solidFill>
                  <a:srgbClr val="339933"/>
                </a:solidFill>
                <a:latin typeface="Arial"/>
                <a:cs typeface="Arial"/>
              </a:rPr>
              <a:t>run.</a:t>
            </a:r>
            <a:r>
              <a:rPr sz="2800" spc="-10" dirty="0">
                <a:latin typeface="Arial MT"/>
                <a:cs typeface="Arial MT"/>
              </a:rPr>
              <a:t>”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0828" y="3334258"/>
            <a:ext cx="30137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6FC0"/>
                </a:solidFill>
                <a:latin typeface="Arial MT"/>
                <a:cs typeface="Arial MT"/>
              </a:rPr>
              <a:t>Opportunity</a:t>
            </a:r>
            <a:r>
              <a:rPr sz="2800" spc="-9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6FC0"/>
                </a:solidFill>
                <a:latin typeface="Arial MT"/>
                <a:cs typeface="Arial MT"/>
              </a:rPr>
              <a:t>cost</a:t>
            </a:r>
            <a:r>
              <a:rPr sz="2800" spc="-1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=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10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tons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wheat.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23219" y="1337234"/>
            <a:ext cx="3975735" cy="3540760"/>
            <a:chOff x="1523219" y="1337234"/>
            <a:chExt cx="3975735" cy="3540760"/>
          </a:xfrm>
        </p:grpSpPr>
        <p:sp>
          <p:nvSpPr>
            <p:cNvPr id="6" name="object 6"/>
            <p:cNvSpPr/>
            <p:nvPr/>
          </p:nvSpPr>
          <p:spPr>
            <a:xfrm>
              <a:off x="1610379" y="1337520"/>
              <a:ext cx="3888104" cy="3453129"/>
            </a:xfrm>
            <a:custGeom>
              <a:avLst/>
              <a:gdLst/>
              <a:ahLst/>
              <a:cxnLst/>
              <a:rect l="l" t="t" r="r" b="b"/>
              <a:pathLst>
                <a:path w="3888104" h="3453129">
                  <a:moveTo>
                    <a:pt x="3887614" y="0"/>
                  </a:moveTo>
                  <a:lnTo>
                    <a:pt x="0" y="0"/>
                  </a:lnTo>
                  <a:lnTo>
                    <a:pt x="0" y="3452898"/>
                  </a:lnTo>
                  <a:lnTo>
                    <a:pt x="3887614" y="3452898"/>
                  </a:lnTo>
                  <a:lnTo>
                    <a:pt x="3887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04949" y="1342949"/>
              <a:ext cx="3888104" cy="3442335"/>
            </a:xfrm>
            <a:custGeom>
              <a:avLst/>
              <a:gdLst/>
              <a:ahLst/>
              <a:cxnLst/>
              <a:rect l="l" t="t" r="r" b="b"/>
              <a:pathLst>
                <a:path w="3888104" h="3442335">
                  <a:moveTo>
                    <a:pt x="0" y="3442040"/>
                  </a:moveTo>
                  <a:lnTo>
                    <a:pt x="3887614" y="3442040"/>
                  </a:lnTo>
                  <a:lnTo>
                    <a:pt x="3887614" y="0"/>
                  </a:lnTo>
                  <a:lnTo>
                    <a:pt x="0" y="0"/>
                  </a:lnTo>
                  <a:lnTo>
                    <a:pt x="0" y="3442040"/>
                  </a:lnTo>
                  <a:close/>
                </a:path>
              </a:pathLst>
            </a:custGeom>
            <a:ln w="1085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8934" y="1342949"/>
              <a:ext cx="3964304" cy="3529329"/>
            </a:xfrm>
            <a:custGeom>
              <a:avLst/>
              <a:gdLst/>
              <a:ahLst/>
              <a:cxnLst/>
              <a:rect l="l" t="t" r="r" b="b"/>
              <a:pathLst>
                <a:path w="3964304" h="3529329">
                  <a:moveTo>
                    <a:pt x="76014" y="3442040"/>
                  </a:moveTo>
                  <a:lnTo>
                    <a:pt x="76014" y="0"/>
                  </a:lnTo>
                </a:path>
                <a:path w="3964304" h="3529329">
                  <a:moveTo>
                    <a:pt x="0" y="3442040"/>
                  </a:moveTo>
                  <a:lnTo>
                    <a:pt x="76014" y="3442040"/>
                  </a:lnTo>
                </a:path>
                <a:path w="3964304" h="3529329">
                  <a:moveTo>
                    <a:pt x="0" y="2942564"/>
                  </a:moveTo>
                  <a:lnTo>
                    <a:pt x="76014" y="2942564"/>
                  </a:lnTo>
                </a:path>
                <a:path w="3964304" h="3529329">
                  <a:moveTo>
                    <a:pt x="0" y="2443088"/>
                  </a:moveTo>
                  <a:lnTo>
                    <a:pt x="76014" y="2443088"/>
                  </a:lnTo>
                </a:path>
                <a:path w="3964304" h="3529329">
                  <a:moveTo>
                    <a:pt x="0" y="1943612"/>
                  </a:moveTo>
                  <a:lnTo>
                    <a:pt x="76014" y="1943612"/>
                  </a:lnTo>
                </a:path>
                <a:path w="3964304" h="3529329">
                  <a:moveTo>
                    <a:pt x="0" y="1444136"/>
                  </a:moveTo>
                  <a:lnTo>
                    <a:pt x="76014" y="1444136"/>
                  </a:lnTo>
                </a:path>
                <a:path w="3964304" h="3529329">
                  <a:moveTo>
                    <a:pt x="0" y="944660"/>
                  </a:moveTo>
                  <a:lnTo>
                    <a:pt x="76014" y="944660"/>
                  </a:lnTo>
                </a:path>
                <a:path w="3964304" h="3529329">
                  <a:moveTo>
                    <a:pt x="0" y="445184"/>
                  </a:moveTo>
                  <a:lnTo>
                    <a:pt x="76014" y="445184"/>
                  </a:lnTo>
                </a:path>
                <a:path w="3964304" h="3529329">
                  <a:moveTo>
                    <a:pt x="76014" y="3442040"/>
                  </a:moveTo>
                  <a:lnTo>
                    <a:pt x="3963701" y="3442040"/>
                  </a:lnTo>
                </a:path>
                <a:path w="3964304" h="3529329">
                  <a:moveTo>
                    <a:pt x="76014" y="3442040"/>
                  </a:moveTo>
                  <a:lnTo>
                    <a:pt x="76014" y="3528905"/>
                  </a:lnTo>
                </a:path>
                <a:path w="3964304" h="3529329">
                  <a:moveTo>
                    <a:pt x="651483" y="3442040"/>
                  </a:moveTo>
                  <a:lnTo>
                    <a:pt x="651483" y="3528905"/>
                  </a:lnTo>
                </a:path>
                <a:path w="3964304" h="3529329">
                  <a:moveTo>
                    <a:pt x="1227168" y="3442040"/>
                  </a:moveTo>
                  <a:lnTo>
                    <a:pt x="1227168" y="3528905"/>
                  </a:lnTo>
                </a:path>
                <a:path w="3964304" h="3529329">
                  <a:moveTo>
                    <a:pt x="1791849" y="3442040"/>
                  </a:moveTo>
                  <a:lnTo>
                    <a:pt x="1791849" y="3528905"/>
                  </a:lnTo>
                </a:path>
                <a:path w="3964304" h="3529329">
                  <a:moveTo>
                    <a:pt x="2367390" y="3442040"/>
                  </a:moveTo>
                  <a:lnTo>
                    <a:pt x="2367390" y="3528905"/>
                  </a:lnTo>
                </a:path>
                <a:path w="3964304" h="3529329">
                  <a:moveTo>
                    <a:pt x="2942931" y="3442040"/>
                  </a:moveTo>
                  <a:lnTo>
                    <a:pt x="2942931" y="3528905"/>
                  </a:lnTo>
                </a:path>
                <a:path w="3964304" h="3529329">
                  <a:moveTo>
                    <a:pt x="3507612" y="3442040"/>
                  </a:moveTo>
                  <a:lnTo>
                    <a:pt x="3507612" y="3528905"/>
                  </a:lnTo>
                </a:path>
              </a:pathLst>
            </a:custGeom>
            <a:ln w="10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1597" y="857919"/>
            <a:ext cx="796290" cy="40970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590" marR="5080" indent="-22225">
              <a:lnSpc>
                <a:spcPts val="2320"/>
              </a:lnSpc>
              <a:spcBef>
                <a:spcPts val="305"/>
              </a:spcBef>
            </a:pPr>
            <a:r>
              <a:rPr sz="2050" b="1" spc="-10" dirty="0">
                <a:latin typeface="Arial"/>
                <a:cs typeface="Arial"/>
              </a:rPr>
              <a:t>Wheat (tons)</a:t>
            </a:r>
            <a:endParaRPr sz="2050">
              <a:latin typeface="Arial"/>
              <a:cs typeface="Arial"/>
            </a:endParaRPr>
          </a:p>
          <a:p>
            <a:pPr marR="43180" algn="r">
              <a:lnSpc>
                <a:spcPct val="100000"/>
              </a:lnSpc>
              <a:spcBef>
                <a:spcPts val="1050"/>
              </a:spcBef>
            </a:pPr>
            <a:r>
              <a:rPr sz="2050" spc="-10" dirty="0">
                <a:latin typeface="Arial MT"/>
                <a:cs typeface="Arial MT"/>
              </a:rPr>
              <a:t>6,000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5,000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4,000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3,000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2,000</a:t>
            </a:r>
            <a:endParaRPr sz="2050">
              <a:latin typeface="Arial MT"/>
              <a:cs typeface="Arial MT"/>
            </a:endParaRPr>
          </a:p>
          <a:p>
            <a:pPr marR="43180" algn="r">
              <a:lnSpc>
                <a:spcPct val="100000"/>
              </a:lnSpc>
              <a:spcBef>
                <a:spcPts val="1490"/>
              </a:spcBef>
            </a:pPr>
            <a:r>
              <a:rPr sz="2050" spc="-10" dirty="0">
                <a:latin typeface="Arial MT"/>
                <a:cs typeface="Arial MT"/>
              </a:rPr>
              <a:t>1,000</a:t>
            </a:r>
            <a:endParaRPr sz="2050">
              <a:latin typeface="Arial MT"/>
              <a:cs typeface="Arial MT"/>
            </a:endParaRPr>
          </a:p>
          <a:p>
            <a:pPr marR="37465" algn="r">
              <a:lnSpc>
                <a:spcPct val="100000"/>
              </a:lnSpc>
              <a:spcBef>
                <a:spcPts val="1490"/>
              </a:spcBef>
            </a:pPr>
            <a:r>
              <a:rPr sz="2050" spc="-50" dirty="0">
                <a:latin typeface="Arial MT"/>
                <a:cs typeface="Arial MT"/>
              </a:rPr>
              <a:t>0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8707" y="4800631"/>
            <a:ext cx="4254500" cy="91440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35"/>
              </a:spcBef>
              <a:tabLst>
                <a:tab pos="426084" algn="l"/>
                <a:tab pos="1000125" algn="l"/>
                <a:tab pos="1574800" algn="l"/>
                <a:tab pos="2148840" algn="l"/>
                <a:tab pos="2722880" algn="l"/>
                <a:tab pos="3296920" algn="l"/>
              </a:tabLst>
            </a:pPr>
            <a:r>
              <a:rPr sz="2050" spc="-50" dirty="0">
                <a:latin typeface="Arial MT"/>
                <a:cs typeface="Arial MT"/>
              </a:rPr>
              <a:t>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100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200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300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400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500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600</a:t>
            </a:r>
            <a:endParaRPr sz="2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040"/>
              </a:spcBef>
            </a:pPr>
            <a:r>
              <a:rPr sz="2050" b="1" spc="-10" dirty="0">
                <a:latin typeface="Arial"/>
                <a:cs typeface="Arial"/>
              </a:rPr>
              <a:t>Computers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0730" y="816035"/>
            <a:ext cx="5332730" cy="5027930"/>
            <a:chOff x="480730" y="816035"/>
            <a:chExt cx="5332730" cy="5027930"/>
          </a:xfrm>
        </p:grpSpPr>
        <p:sp>
          <p:nvSpPr>
            <p:cNvPr id="12" name="object 12"/>
            <p:cNvSpPr/>
            <p:nvPr/>
          </p:nvSpPr>
          <p:spPr>
            <a:xfrm>
              <a:off x="486445" y="821750"/>
              <a:ext cx="5321300" cy="5016500"/>
            </a:xfrm>
            <a:custGeom>
              <a:avLst/>
              <a:gdLst/>
              <a:ahLst/>
              <a:cxnLst/>
              <a:rect l="l" t="t" r="r" b="b"/>
              <a:pathLst>
                <a:path w="5321300" h="5016500">
                  <a:moveTo>
                    <a:pt x="0" y="5016474"/>
                  </a:moveTo>
                  <a:lnTo>
                    <a:pt x="5321036" y="5016474"/>
                  </a:lnTo>
                  <a:lnTo>
                    <a:pt x="5321036" y="0"/>
                  </a:lnTo>
                  <a:lnTo>
                    <a:pt x="0" y="0"/>
                  </a:lnTo>
                  <a:lnTo>
                    <a:pt x="0" y="5016474"/>
                  </a:lnTo>
                  <a:close/>
                </a:path>
              </a:pathLst>
            </a:custGeom>
            <a:ln w="108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47621" y="2291333"/>
              <a:ext cx="2932430" cy="2540635"/>
            </a:xfrm>
            <a:custGeom>
              <a:avLst/>
              <a:gdLst/>
              <a:ahLst/>
              <a:cxnLst/>
              <a:rect l="l" t="t" r="r" b="b"/>
              <a:pathLst>
                <a:path w="2932429" h="2540635">
                  <a:moveTo>
                    <a:pt x="0" y="0"/>
                  </a:moveTo>
                  <a:lnTo>
                    <a:pt x="2932176" y="2540508"/>
                  </a:lnTo>
                </a:path>
              </a:pathLst>
            </a:custGeom>
            <a:ln w="50292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76578" y="2200655"/>
              <a:ext cx="565785" cy="190500"/>
            </a:xfrm>
            <a:custGeom>
              <a:avLst/>
              <a:gdLst/>
              <a:ahLst/>
              <a:cxnLst/>
              <a:rect l="l" t="t" r="r" b="b"/>
              <a:pathLst>
                <a:path w="565785" h="190500">
                  <a:moveTo>
                    <a:pt x="451103" y="0"/>
                  </a:moveTo>
                  <a:lnTo>
                    <a:pt x="451103" y="190500"/>
                  </a:lnTo>
                  <a:lnTo>
                    <a:pt x="542543" y="114300"/>
                  </a:lnTo>
                  <a:lnTo>
                    <a:pt x="470153" y="114300"/>
                  </a:lnTo>
                  <a:lnTo>
                    <a:pt x="470153" y="76200"/>
                  </a:lnTo>
                  <a:lnTo>
                    <a:pt x="542543" y="76200"/>
                  </a:lnTo>
                  <a:lnTo>
                    <a:pt x="451103" y="0"/>
                  </a:lnTo>
                  <a:close/>
                </a:path>
                <a:path w="565785" h="190500">
                  <a:moveTo>
                    <a:pt x="451103" y="76200"/>
                  </a:moveTo>
                  <a:lnTo>
                    <a:pt x="0" y="76200"/>
                  </a:lnTo>
                  <a:lnTo>
                    <a:pt x="0" y="114300"/>
                  </a:lnTo>
                  <a:lnTo>
                    <a:pt x="451103" y="114300"/>
                  </a:lnTo>
                  <a:lnTo>
                    <a:pt x="451103" y="76200"/>
                  </a:lnTo>
                  <a:close/>
                </a:path>
                <a:path w="565785" h="190500">
                  <a:moveTo>
                    <a:pt x="542543" y="76200"/>
                  </a:moveTo>
                  <a:lnTo>
                    <a:pt x="470153" y="76200"/>
                  </a:lnTo>
                  <a:lnTo>
                    <a:pt x="470153" y="114300"/>
                  </a:lnTo>
                  <a:lnTo>
                    <a:pt x="542543" y="114300"/>
                  </a:lnTo>
                  <a:lnTo>
                    <a:pt x="565404" y="95250"/>
                  </a:lnTo>
                  <a:lnTo>
                    <a:pt x="542543" y="76200"/>
                  </a:lnTo>
                  <a:close/>
                </a:path>
              </a:pathLst>
            </a:custGeom>
            <a:solidFill>
              <a:srgbClr val="33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23490" y="2306573"/>
              <a:ext cx="190500" cy="487680"/>
            </a:xfrm>
            <a:custGeom>
              <a:avLst/>
              <a:gdLst/>
              <a:ahLst/>
              <a:cxnLst/>
              <a:rect l="l" t="t" r="r" b="b"/>
              <a:pathLst>
                <a:path w="190500" h="487680">
                  <a:moveTo>
                    <a:pt x="76265" y="373430"/>
                  </a:moveTo>
                  <a:lnTo>
                    <a:pt x="0" y="373634"/>
                  </a:lnTo>
                  <a:lnTo>
                    <a:pt x="95631" y="487679"/>
                  </a:lnTo>
                  <a:lnTo>
                    <a:pt x="174513" y="392429"/>
                  </a:lnTo>
                  <a:lnTo>
                    <a:pt x="76326" y="392429"/>
                  </a:lnTo>
                  <a:lnTo>
                    <a:pt x="76265" y="373430"/>
                  </a:lnTo>
                  <a:close/>
                </a:path>
                <a:path w="190500" h="487680">
                  <a:moveTo>
                    <a:pt x="113156" y="0"/>
                  </a:moveTo>
                  <a:lnTo>
                    <a:pt x="75056" y="0"/>
                  </a:lnTo>
                  <a:lnTo>
                    <a:pt x="76264" y="373125"/>
                  </a:lnTo>
                  <a:lnTo>
                    <a:pt x="76326" y="392429"/>
                  </a:lnTo>
                  <a:lnTo>
                    <a:pt x="114426" y="392429"/>
                  </a:lnTo>
                  <a:lnTo>
                    <a:pt x="113156" y="0"/>
                  </a:lnTo>
                  <a:close/>
                </a:path>
                <a:path w="190500" h="487680">
                  <a:moveTo>
                    <a:pt x="190247" y="373430"/>
                  </a:moveTo>
                  <a:lnTo>
                    <a:pt x="114365" y="373430"/>
                  </a:lnTo>
                  <a:lnTo>
                    <a:pt x="114426" y="392429"/>
                  </a:lnTo>
                  <a:lnTo>
                    <a:pt x="174513" y="392429"/>
                  </a:lnTo>
                  <a:lnTo>
                    <a:pt x="190247" y="373430"/>
                  </a:lnTo>
                  <a:close/>
                </a:path>
                <a:path w="190500" h="487680">
                  <a:moveTo>
                    <a:pt x="190500" y="373125"/>
                  </a:moveTo>
                  <a:lnTo>
                    <a:pt x="76265" y="373430"/>
                  </a:lnTo>
                  <a:lnTo>
                    <a:pt x="190247" y="373430"/>
                  </a:lnTo>
                  <a:lnTo>
                    <a:pt x="190500" y="373125"/>
                  </a:lnTo>
                  <a:close/>
                </a:path>
              </a:pathLst>
            </a:custGeom>
            <a:solidFill>
              <a:srgbClr val="99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50665" y="1806955"/>
            <a:ext cx="5435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500" b="1" spc="-25" dirty="0">
                <a:solidFill>
                  <a:srgbClr val="339933"/>
                </a:solidFill>
                <a:latin typeface="Arial"/>
                <a:cs typeface="Arial"/>
              </a:rPr>
              <a:t>100</a:t>
            </a:r>
            <a:endParaRPr sz="2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2992" y="1613408"/>
            <a:ext cx="30372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226820" algn="l"/>
              </a:tabLst>
            </a:pPr>
            <a:r>
              <a:rPr sz="3750" baseline="1111" dirty="0">
                <a:latin typeface="Arial MT"/>
                <a:cs typeface="Arial MT"/>
              </a:rPr>
              <a:t>slope</a:t>
            </a:r>
            <a:r>
              <a:rPr sz="3750" spc="-37" baseline="1111" dirty="0">
                <a:latin typeface="Arial MT"/>
                <a:cs typeface="Arial MT"/>
              </a:rPr>
              <a:t> </a:t>
            </a:r>
            <a:r>
              <a:rPr sz="3750" spc="-75" baseline="1111" dirty="0">
                <a:latin typeface="Arial MT"/>
                <a:cs typeface="Arial MT"/>
              </a:rPr>
              <a:t>=</a:t>
            </a:r>
            <a:r>
              <a:rPr sz="3750" baseline="1111" dirty="0">
                <a:latin typeface="Arial MT"/>
                <a:cs typeface="Arial MT"/>
              </a:rPr>
              <a:t>	</a:t>
            </a:r>
            <a:r>
              <a:rPr sz="3750" b="1" u="sng" baseline="34444" dirty="0">
                <a:solidFill>
                  <a:srgbClr val="9900C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–1000</a:t>
            </a:r>
            <a:r>
              <a:rPr sz="3750" b="1" spc="-75" baseline="34444" dirty="0">
                <a:solidFill>
                  <a:srgbClr val="9900CC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 MT"/>
                <a:cs typeface="Arial MT"/>
              </a:rPr>
              <a:t>= </a:t>
            </a:r>
            <a:r>
              <a:rPr sz="2500" spc="-25" dirty="0">
                <a:latin typeface="Arial MT"/>
                <a:cs typeface="Arial MT"/>
              </a:rPr>
              <a:t>–10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82852" y="2226564"/>
            <a:ext cx="3066415" cy="2662555"/>
            <a:chOff x="1482852" y="2226564"/>
            <a:chExt cx="3066415" cy="266255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2852" y="2226564"/>
              <a:ext cx="141731" cy="1386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8931" y="4751832"/>
              <a:ext cx="140207" cy="13716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543040"/>
            <a:chOff x="0" y="0"/>
            <a:chExt cx="9144000" cy="654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" y="487680"/>
              <a:ext cx="8590788" cy="56540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100" y="448631"/>
              <a:ext cx="342900" cy="6039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41720"/>
              <a:ext cx="9144000" cy="400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" y="0"/>
              <a:ext cx="248411" cy="6542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7" y="78485"/>
              <a:ext cx="8930005" cy="6297930"/>
            </a:xfrm>
            <a:custGeom>
              <a:avLst/>
              <a:gdLst/>
              <a:ahLst/>
              <a:cxnLst/>
              <a:rect l="l" t="t" r="r" b="b"/>
              <a:pathLst>
                <a:path w="8930005" h="6297930">
                  <a:moveTo>
                    <a:pt x="0" y="458724"/>
                  </a:moveTo>
                  <a:lnTo>
                    <a:pt x="2075688" y="458724"/>
                  </a:lnTo>
                </a:path>
                <a:path w="8930005" h="6297930">
                  <a:moveTo>
                    <a:pt x="112775" y="583311"/>
                  </a:moveTo>
                  <a:lnTo>
                    <a:pt x="112775" y="0"/>
                  </a:lnTo>
                </a:path>
                <a:path w="8930005" h="6297930">
                  <a:moveTo>
                    <a:pt x="8097012" y="6214872"/>
                  </a:moveTo>
                  <a:lnTo>
                    <a:pt x="8930005" y="6214872"/>
                  </a:lnTo>
                </a:path>
                <a:path w="8930005" h="6297930">
                  <a:moveTo>
                    <a:pt x="8851392" y="5934456"/>
                  </a:moveTo>
                  <a:lnTo>
                    <a:pt x="8851392" y="6297752"/>
                  </a:lnTo>
                </a:path>
              </a:pathLst>
            </a:custGeom>
            <a:ln w="28956">
              <a:solidFill>
                <a:srgbClr val="0747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57797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Economic</a:t>
            </a:r>
            <a:r>
              <a:rPr sz="3300" spc="-8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Growth</a:t>
            </a:r>
            <a:r>
              <a:rPr sz="3300" spc="-8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and</a:t>
            </a:r>
            <a:r>
              <a:rPr sz="3300" spc="-7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the</a:t>
            </a:r>
            <a:r>
              <a:rPr sz="3300" spc="-75" dirty="0">
                <a:solidFill>
                  <a:srgbClr val="000000"/>
                </a:solidFill>
              </a:rPr>
              <a:t> </a:t>
            </a:r>
            <a:r>
              <a:rPr sz="3300" spc="-25" dirty="0">
                <a:solidFill>
                  <a:srgbClr val="000000"/>
                </a:solidFill>
              </a:rPr>
              <a:t>PPF</a:t>
            </a:r>
            <a:endParaRPr sz="3300"/>
          </a:p>
        </p:txBody>
      </p:sp>
      <p:sp>
        <p:nvSpPr>
          <p:cNvPr id="9" name="object 9"/>
          <p:cNvSpPr txBox="1"/>
          <p:nvPr/>
        </p:nvSpPr>
        <p:spPr>
          <a:xfrm>
            <a:off x="231140" y="709929"/>
            <a:ext cx="273558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193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additional </a:t>
            </a:r>
            <a:r>
              <a:rPr sz="2800" dirty="0">
                <a:latin typeface="Arial MT"/>
                <a:cs typeface="Arial MT"/>
              </a:rPr>
              <a:t>resources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 </a:t>
            </a:r>
            <a:r>
              <a:rPr sz="2800" dirty="0">
                <a:latin typeface="Arial MT"/>
                <a:cs typeface="Arial MT"/>
              </a:rPr>
              <a:t>improvement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 </a:t>
            </a:r>
            <a:r>
              <a:rPr sz="2800" spc="-10" dirty="0">
                <a:latin typeface="Arial MT"/>
                <a:cs typeface="Arial MT"/>
              </a:rPr>
              <a:t>technology,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economy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can </a:t>
            </a:r>
            <a:r>
              <a:rPr sz="2800" dirty="0">
                <a:latin typeface="Arial MT"/>
                <a:cs typeface="Arial MT"/>
              </a:rPr>
              <a:t>produce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more </a:t>
            </a:r>
            <a:r>
              <a:rPr sz="2800" spc="-10" dirty="0">
                <a:latin typeface="Arial MT"/>
                <a:cs typeface="Arial MT"/>
              </a:rPr>
              <a:t>computers,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140" y="4124325"/>
            <a:ext cx="19837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wheat,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140" y="4977460"/>
            <a:ext cx="341058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or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combination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 </a:t>
            </a:r>
            <a:r>
              <a:rPr sz="2800" spc="-10" dirty="0">
                <a:latin typeface="Arial MT"/>
                <a:cs typeface="Arial MT"/>
              </a:rPr>
              <a:t>between.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03969" y="1337552"/>
            <a:ext cx="3692525" cy="3539490"/>
            <a:chOff x="4903969" y="1337552"/>
            <a:chExt cx="3692525" cy="3539490"/>
          </a:xfrm>
        </p:grpSpPr>
        <p:sp>
          <p:nvSpPr>
            <p:cNvPr id="13" name="object 13"/>
            <p:cNvSpPr/>
            <p:nvPr/>
          </p:nvSpPr>
          <p:spPr>
            <a:xfrm>
              <a:off x="4985311" y="1348378"/>
              <a:ext cx="3609975" cy="3442335"/>
            </a:xfrm>
            <a:custGeom>
              <a:avLst/>
              <a:gdLst/>
              <a:ahLst/>
              <a:cxnLst/>
              <a:rect l="l" t="t" r="r" b="b"/>
              <a:pathLst>
                <a:path w="3609975" h="3442335">
                  <a:moveTo>
                    <a:pt x="3609927" y="0"/>
                  </a:moveTo>
                  <a:lnTo>
                    <a:pt x="0" y="0"/>
                  </a:lnTo>
                  <a:lnTo>
                    <a:pt x="0" y="3442040"/>
                  </a:lnTo>
                  <a:lnTo>
                    <a:pt x="3609927" y="3442040"/>
                  </a:lnTo>
                  <a:lnTo>
                    <a:pt x="3609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80269" y="1342949"/>
              <a:ext cx="3609975" cy="3453129"/>
            </a:xfrm>
            <a:custGeom>
              <a:avLst/>
              <a:gdLst/>
              <a:ahLst/>
              <a:cxnLst/>
              <a:rect l="l" t="t" r="r" b="b"/>
              <a:pathLst>
                <a:path w="3609975" h="3453129">
                  <a:moveTo>
                    <a:pt x="0" y="3452898"/>
                  </a:moveTo>
                  <a:lnTo>
                    <a:pt x="3609927" y="3452898"/>
                  </a:lnTo>
                  <a:lnTo>
                    <a:pt x="3609927" y="0"/>
                  </a:lnTo>
                  <a:lnTo>
                    <a:pt x="0" y="0"/>
                  </a:lnTo>
                  <a:lnTo>
                    <a:pt x="0" y="3452898"/>
                  </a:lnTo>
                  <a:close/>
                </a:path>
              </a:pathLst>
            </a:custGeom>
            <a:ln w="1048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09684" y="1342949"/>
              <a:ext cx="3681095" cy="3529329"/>
            </a:xfrm>
            <a:custGeom>
              <a:avLst/>
              <a:gdLst/>
              <a:ahLst/>
              <a:cxnLst/>
              <a:rect l="l" t="t" r="r" b="b"/>
              <a:pathLst>
                <a:path w="3681095" h="3529329">
                  <a:moveTo>
                    <a:pt x="70585" y="3452898"/>
                  </a:moveTo>
                  <a:lnTo>
                    <a:pt x="70585" y="0"/>
                  </a:lnTo>
                </a:path>
                <a:path w="3681095" h="3529329">
                  <a:moveTo>
                    <a:pt x="0" y="3452898"/>
                  </a:moveTo>
                  <a:lnTo>
                    <a:pt x="70585" y="3452898"/>
                  </a:lnTo>
                </a:path>
                <a:path w="3681095" h="3529329">
                  <a:moveTo>
                    <a:pt x="0" y="2953422"/>
                  </a:moveTo>
                  <a:lnTo>
                    <a:pt x="70585" y="2953422"/>
                  </a:lnTo>
                </a:path>
                <a:path w="3681095" h="3529329">
                  <a:moveTo>
                    <a:pt x="0" y="2453946"/>
                  </a:moveTo>
                  <a:lnTo>
                    <a:pt x="70585" y="2453946"/>
                  </a:lnTo>
                </a:path>
                <a:path w="3681095" h="3529329">
                  <a:moveTo>
                    <a:pt x="0" y="1954470"/>
                  </a:moveTo>
                  <a:lnTo>
                    <a:pt x="70585" y="1954470"/>
                  </a:lnTo>
                </a:path>
                <a:path w="3681095" h="3529329">
                  <a:moveTo>
                    <a:pt x="0" y="1454994"/>
                  </a:moveTo>
                  <a:lnTo>
                    <a:pt x="70585" y="1454994"/>
                  </a:lnTo>
                </a:path>
                <a:path w="3681095" h="3529329">
                  <a:moveTo>
                    <a:pt x="0" y="955519"/>
                  </a:moveTo>
                  <a:lnTo>
                    <a:pt x="70585" y="955519"/>
                  </a:lnTo>
                </a:path>
                <a:path w="3681095" h="3529329">
                  <a:moveTo>
                    <a:pt x="0" y="445184"/>
                  </a:moveTo>
                  <a:lnTo>
                    <a:pt x="70585" y="445184"/>
                  </a:lnTo>
                </a:path>
                <a:path w="3681095" h="3529329">
                  <a:moveTo>
                    <a:pt x="70585" y="3452898"/>
                  </a:moveTo>
                  <a:lnTo>
                    <a:pt x="3680579" y="3452898"/>
                  </a:lnTo>
                </a:path>
                <a:path w="3681095" h="3529329">
                  <a:moveTo>
                    <a:pt x="70585" y="3452898"/>
                  </a:moveTo>
                  <a:lnTo>
                    <a:pt x="70585" y="3528905"/>
                  </a:lnTo>
                </a:path>
                <a:path w="3681095" h="3529329">
                  <a:moveTo>
                    <a:pt x="604948" y="3452898"/>
                  </a:moveTo>
                  <a:lnTo>
                    <a:pt x="604948" y="3528905"/>
                  </a:lnTo>
                </a:path>
                <a:path w="3681095" h="3529329">
                  <a:moveTo>
                    <a:pt x="1139513" y="3452898"/>
                  </a:moveTo>
                  <a:lnTo>
                    <a:pt x="1139513" y="3528905"/>
                  </a:lnTo>
                </a:path>
                <a:path w="3681095" h="3529329">
                  <a:moveTo>
                    <a:pt x="1663860" y="3452898"/>
                  </a:moveTo>
                  <a:lnTo>
                    <a:pt x="1663860" y="3528905"/>
                  </a:lnTo>
                </a:path>
                <a:path w="3681095" h="3529329">
                  <a:moveTo>
                    <a:pt x="2198291" y="3452898"/>
                  </a:moveTo>
                  <a:lnTo>
                    <a:pt x="2198291" y="3528905"/>
                  </a:lnTo>
                </a:path>
                <a:path w="3681095" h="3529329">
                  <a:moveTo>
                    <a:pt x="2722638" y="3452898"/>
                  </a:moveTo>
                  <a:lnTo>
                    <a:pt x="2722638" y="3528905"/>
                  </a:lnTo>
                </a:path>
                <a:path w="3681095" h="3529329">
                  <a:moveTo>
                    <a:pt x="3257068" y="3452898"/>
                  </a:moveTo>
                  <a:lnTo>
                    <a:pt x="3257068" y="3528905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76443" y="857919"/>
            <a:ext cx="740410" cy="41033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9685" marR="5080" indent="-20320">
              <a:lnSpc>
                <a:spcPts val="2320"/>
              </a:lnSpc>
              <a:spcBef>
                <a:spcPts val="305"/>
              </a:spcBef>
            </a:pPr>
            <a:r>
              <a:rPr sz="2050" b="1" spc="-100" dirty="0">
                <a:latin typeface="Arial"/>
                <a:cs typeface="Arial"/>
              </a:rPr>
              <a:t>Wheat </a:t>
            </a:r>
            <a:r>
              <a:rPr sz="2050" b="1" spc="-35" dirty="0">
                <a:latin typeface="Arial"/>
                <a:cs typeface="Arial"/>
              </a:rPr>
              <a:t>(tons)</a:t>
            </a:r>
            <a:endParaRPr sz="2050">
              <a:latin typeface="Arial"/>
              <a:cs typeface="Arial"/>
            </a:endParaRPr>
          </a:p>
          <a:p>
            <a:pPr marR="40640" algn="r">
              <a:lnSpc>
                <a:spcPct val="100000"/>
              </a:lnSpc>
              <a:spcBef>
                <a:spcPts val="1065"/>
              </a:spcBef>
            </a:pPr>
            <a:r>
              <a:rPr sz="2050" spc="-10" dirty="0">
                <a:latin typeface="Arial MT"/>
                <a:cs typeface="Arial MT"/>
              </a:rPr>
              <a:t>6,000</a:t>
            </a:r>
            <a:endParaRPr sz="2050">
              <a:latin typeface="Arial MT"/>
              <a:cs typeface="Arial MT"/>
            </a:endParaRPr>
          </a:p>
          <a:p>
            <a:pPr marR="4064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5,000</a:t>
            </a:r>
            <a:endParaRPr sz="2050">
              <a:latin typeface="Arial MT"/>
              <a:cs typeface="Arial MT"/>
            </a:endParaRPr>
          </a:p>
          <a:p>
            <a:pPr marR="4064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4,000</a:t>
            </a:r>
            <a:endParaRPr sz="2050">
              <a:latin typeface="Arial MT"/>
              <a:cs typeface="Arial MT"/>
            </a:endParaRPr>
          </a:p>
          <a:p>
            <a:pPr marR="40640" algn="r">
              <a:lnSpc>
                <a:spcPct val="100000"/>
              </a:lnSpc>
              <a:spcBef>
                <a:spcPts val="1500"/>
              </a:spcBef>
            </a:pPr>
            <a:r>
              <a:rPr sz="2050" spc="-10" dirty="0">
                <a:latin typeface="Arial MT"/>
                <a:cs typeface="Arial MT"/>
              </a:rPr>
              <a:t>3,000</a:t>
            </a:r>
            <a:endParaRPr sz="2050">
              <a:latin typeface="Arial MT"/>
              <a:cs typeface="Arial MT"/>
            </a:endParaRPr>
          </a:p>
          <a:p>
            <a:pPr marR="4064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2,000</a:t>
            </a:r>
            <a:endParaRPr sz="2050">
              <a:latin typeface="Arial MT"/>
              <a:cs typeface="Arial MT"/>
            </a:endParaRPr>
          </a:p>
          <a:p>
            <a:pPr marR="40640" algn="r">
              <a:lnSpc>
                <a:spcPct val="100000"/>
              </a:lnSpc>
              <a:spcBef>
                <a:spcPts val="1495"/>
              </a:spcBef>
            </a:pPr>
            <a:r>
              <a:rPr sz="2050" spc="-10" dirty="0">
                <a:latin typeface="Arial MT"/>
                <a:cs typeface="Arial MT"/>
              </a:rPr>
              <a:t>1,000</a:t>
            </a:r>
            <a:endParaRPr sz="2050">
              <a:latin typeface="Arial MT"/>
              <a:cs typeface="Arial MT"/>
            </a:endParaRPr>
          </a:p>
          <a:p>
            <a:pPr marR="35560" algn="r">
              <a:lnSpc>
                <a:spcPct val="100000"/>
              </a:lnSpc>
              <a:spcBef>
                <a:spcPts val="1495"/>
              </a:spcBef>
            </a:pPr>
            <a:r>
              <a:rPr sz="2050" spc="-50" dirty="0">
                <a:latin typeface="Arial MT"/>
                <a:cs typeface="Arial MT"/>
              </a:rPr>
              <a:t>0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8424" y="4807253"/>
            <a:ext cx="3951604" cy="915669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0"/>
              </a:spcBef>
              <a:tabLst>
                <a:tab pos="395605" algn="l"/>
              </a:tabLst>
            </a:pPr>
            <a:r>
              <a:rPr sz="2050" spc="-50" dirty="0">
                <a:latin typeface="Arial MT"/>
                <a:cs typeface="Arial MT"/>
              </a:rPr>
              <a:t>0</a:t>
            </a:r>
            <a:r>
              <a:rPr sz="2050" dirty="0">
                <a:latin typeface="Arial MT"/>
                <a:cs typeface="Arial MT"/>
              </a:rPr>
              <a:t>	100</a:t>
            </a:r>
            <a:r>
              <a:rPr sz="2050" spc="19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200</a:t>
            </a:r>
            <a:r>
              <a:rPr sz="2050" spc="19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300</a:t>
            </a:r>
            <a:r>
              <a:rPr sz="2050" spc="19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400</a:t>
            </a:r>
            <a:r>
              <a:rPr sz="2050" spc="19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500</a:t>
            </a:r>
            <a:r>
              <a:rPr sz="2050" spc="200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600</a:t>
            </a:r>
            <a:endParaRPr sz="2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040"/>
              </a:spcBef>
            </a:pPr>
            <a:r>
              <a:rPr sz="2050" b="1" spc="-10" dirty="0">
                <a:latin typeface="Arial"/>
                <a:cs typeface="Arial"/>
              </a:rPr>
              <a:t>Computers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36407" y="816498"/>
            <a:ext cx="4951730" cy="5027295"/>
            <a:chOff x="3936407" y="816498"/>
            <a:chExt cx="4951730" cy="5027295"/>
          </a:xfrm>
        </p:grpSpPr>
        <p:sp>
          <p:nvSpPr>
            <p:cNvPr id="19" name="object 19"/>
            <p:cNvSpPr/>
            <p:nvPr/>
          </p:nvSpPr>
          <p:spPr>
            <a:xfrm>
              <a:off x="3941659" y="821750"/>
              <a:ext cx="4941570" cy="5016500"/>
            </a:xfrm>
            <a:custGeom>
              <a:avLst/>
              <a:gdLst/>
              <a:ahLst/>
              <a:cxnLst/>
              <a:rect l="l" t="t" r="r" b="b"/>
              <a:pathLst>
                <a:path w="4941570" h="5016500">
                  <a:moveTo>
                    <a:pt x="0" y="5016474"/>
                  </a:moveTo>
                  <a:lnTo>
                    <a:pt x="4940962" y="5016474"/>
                  </a:lnTo>
                  <a:lnTo>
                    <a:pt x="4940962" y="0"/>
                  </a:lnTo>
                  <a:lnTo>
                    <a:pt x="0" y="0"/>
                  </a:lnTo>
                  <a:lnTo>
                    <a:pt x="0" y="5016474"/>
                  </a:lnTo>
                  <a:close/>
                </a:path>
              </a:pathLst>
            </a:custGeom>
            <a:ln w="10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76622" y="2253233"/>
              <a:ext cx="2722245" cy="2540635"/>
            </a:xfrm>
            <a:custGeom>
              <a:avLst/>
              <a:gdLst/>
              <a:ahLst/>
              <a:cxnLst/>
              <a:rect l="l" t="t" r="r" b="b"/>
              <a:pathLst>
                <a:path w="2722245" h="2540635">
                  <a:moveTo>
                    <a:pt x="0" y="0"/>
                  </a:moveTo>
                  <a:lnTo>
                    <a:pt x="2721863" y="2540508"/>
                  </a:lnTo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75860" y="1740408"/>
              <a:ext cx="3251200" cy="3009900"/>
            </a:xfrm>
            <a:custGeom>
              <a:avLst/>
              <a:gdLst/>
              <a:ahLst/>
              <a:cxnLst/>
              <a:rect l="l" t="t" r="r" b="b"/>
              <a:pathLst>
                <a:path w="3251200" h="3009900">
                  <a:moveTo>
                    <a:pt x="0" y="0"/>
                  </a:moveTo>
                  <a:lnTo>
                    <a:pt x="3250691" y="3009899"/>
                  </a:lnTo>
                </a:path>
              </a:pathLst>
            </a:custGeom>
            <a:ln w="579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9660" y="2159508"/>
              <a:ext cx="141731" cy="137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0000" y="4692395"/>
              <a:ext cx="141731" cy="13868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2544" y="4689347"/>
              <a:ext cx="140207" cy="13868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735823" y="4672583"/>
              <a:ext cx="457200" cy="173990"/>
            </a:xfrm>
            <a:custGeom>
              <a:avLst/>
              <a:gdLst/>
              <a:ahLst/>
              <a:cxnLst/>
              <a:rect l="l" t="t" r="r" b="b"/>
              <a:pathLst>
                <a:path w="457200" h="173989">
                  <a:moveTo>
                    <a:pt x="283464" y="0"/>
                  </a:moveTo>
                  <a:lnTo>
                    <a:pt x="283464" y="173736"/>
                  </a:lnTo>
                  <a:lnTo>
                    <a:pt x="399288" y="115824"/>
                  </a:lnTo>
                  <a:lnTo>
                    <a:pt x="312420" y="115824"/>
                  </a:lnTo>
                  <a:lnTo>
                    <a:pt x="312420" y="57912"/>
                  </a:lnTo>
                  <a:lnTo>
                    <a:pt x="399288" y="57912"/>
                  </a:lnTo>
                  <a:lnTo>
                    <a:pt x="283464" y="0"/>
                  </a:lnTo>
                  <a:close/>
                </a:path>
                <a:path w="457200" h="173989">
                  <a:moveTo>
                    <a:pt x="283464" y="57912"/>
                  </a:moveTo>
                  <a:lnTo>
                    <a:pt x="0" y="57912"/>
                  </a:lnTo>
                  <a:lnTo>
                    <a:pt x="0" y="115824"/>
                  </a:lnTo>
                  <a:lnTo>
                    <a:pt x="283464" y="115824"/>
                  </a:lnTo>
                  <a:lnTo>
                    <a:pt x="283464" y="57912"/>
                  </a:lnTo>
                  <a:close/>
                </a:path>
                <a:path w="457200" h="173989">
                  <a:moveTo>
                    <a:pt x="399288" y="57912"/>
                  </a:moveTo>
                  <a:lnTo>
                    <a:pt x="312420" y="57912"/>
                  </a:lnTo>
                  <a:lnTo>
                    <a:pt x="312420" y="115824"/>
                  </a:lnTo>
                  <a:lnTo>
                    <a:pt x="399288" y="115824"/>
                  </a:lnTo>
                  <a:lnTo>
                    <a:pt x="457200" y="86868"/>
                  </a:lnTo>
                  <a:lnTo>
                    <a:pt x="399288" y="579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1184" y="1665731"/>
              <a:ext cx="141731" cy="13715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87468" y="1793747"/>
              <a:ext cx="173990" cy="363220"/>
            </a:xfrm>
            <a:custGeom>
              <a:avLst/>
              <a:gdLst/>
              <a:ahLst/>
              <a:cxnLst/>
              <a:rect l="l" t="t" r="r" b="b"/>
              <a:pathLst>
                <a:path w="173989" h="363219">
                  <a:moveTo>
                    <a:pt x="115824" y="144779"/>
                  </a:moveTo>
                  <a:lnTo>
                    <a:pt x="57912" y="144779"/>
                  </a:lnTo>
                  <a:lnTo>
                    <a:pt x="57912" y="362712"/>
                  </a:lnTo>
                  <a:lnTo>
                    <a:pt x="115824" y="362712"/>
                  </a:lnTo>
                  <a:lnTo>
                    <a:pt x="115824" y="144779"/>
                  </a:lnTo>
                  <a:close/>
                </a:path>
                <a:path w="173989" h="363219">
                  <a:moveTo>
                    <a:pt x="86868" y="0"/>
                  </a:moveTo>
                  <a:lnTo>
                    <a:pt x="0" y="173736"/>
                  </a:lnTo>
                  <a:lnTo>
                    <a:pt x="57912" y="173736"/>
                  </a:lnTo>
                  <a:lnTo>
                    <a:pt x="57912" y="144779"/>
                  </a:lnTo>
                  <a:lnTo>
                    <a:pt x="159258" y="144779"/>
                  </a:lnTo>
                  <a:lnTo>
                    <a:pt x="86868" y="0"/>
                  </a:lnTo>
                  <a:close/>
                </a:path>
                <a:path w="173989" h="363219">
                  <a:moveTo>
                    <a:pt x="159258" y="144779"/>
                  </a:moveTo>
                  <a:lnTo>
                    <a:pt x="115824" y="144779"/>
                  </a:lnTo>
                  <a:lnTo>
                    <a:pt x="115824" y="173736"/>
                  </a:lnTo>
                  <a:lnTo>
                    <a:pt x="173736" y="173736"/>
                  </a:lnTo>
                  <a:lnTo>
                    <a:pt x="159258" y="14477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8023" y="1348740"/>
              <a:ext cx="2095500" cy="16764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96583" y="1301495"/>
              <a:ext cx="2267712" cy="184403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313932" y="1374647"/>
            <a:ext cx="1988820" cy="1569720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 marR="177165">
              <a:lnSpc>
                <a:spcPct val="100000"/>
              </a:lnSpc>
              <a:spcBef>
                <a:spcPts val="300"/>
              </a:spcBef>
            </a:pPr>
            <a:r>
              <a:rPr sz="2400" spc="-10" dirty="0">
                <a:latin typeface="Arial MT"/>
                <a:cs typeface="Arial MT"/>
              </a:rPr>
              <a:t>Economic </a:t>
            </a:r>
            <a:r>
              <a:rPr sz="2400" dirty="0">
                <a:latin typeface="Arial MT"/>
                <a:cs typeface="Arial MT"/>
              </a:rPr>
              <a:t>growth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shifts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PPF </a:t>
            </a:r>
            <a:r>
              <a:rPr sz="2400" spc="-10" dirty="0">
                <a:latin typeface="Arial MT"/>
                <a:cs typeface="Arial MT"/>
              </a:rPr>
              <a:t>outward.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41069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85" dirty="0"/>
              <a:t> </a:t>
            </a:r>
            <a:r>
              <a:rPr dirty="0"/>
              <a:t>Shape</a:t>
            </a:r>
            <a:r>
              <a:rPr spc="-6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25" dirty="0"/>
              <a:t>PPF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7992745" cy="46101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 algn="just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Shape</a:t>
            </a:r>
            <a:r>
              <a:rPr sz="3400" spc="-4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of</a:t>
            </a:r>
            <a:r>
              <a:rPr sz="3400" spc="-3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3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PPF</a:t>
            </a:r>
            <a:endParaRPr sz="3400">
              <a:latin typeface="Arial MT"/>
              <a:cs typeface="Arial MT"/>
            </a:endParaRPr>
          </a:p>
          <a:p>
            <a:pPr marL="755015" lvl="1" indent="-285750" algn="just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Straight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line: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constant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opportunity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cost</a:t>
            </a:r>
            <a:endParaRPr sz="3200">
              <a:latin typeface="Arial MT"/>
              <a:cs typeface="Arial MT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690"/>
              </a:spcBef>
              <a:buSzPct val="89285"/>
              <a:buChar char="•"/>
              <a:tabLst>
                <a:tab pos="1155700" algn="l"/>
              </a:tabLst>
            </a:pPr>
            <a:r>
              <a:rPr sz="2800" dirty="0">
                <a:latin typeface="Arial MT"/>
                <a:cs typeface="Arial MT"/>
              </a:rPr>
              <a:t>Previous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example: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opportunity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1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10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tons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wheat</a:t>
            </a:r>
            <a:endParaRPr sz="2800">
              <a:latin typeface="Arial MT"/>
              <a:cs typeface="Arial MT"/>
            </a:endParaRPr>
          </a:p>
          <a:p>
            <a:pPr marL="756285" marR="121920" lvl="1" indent="-287020" algn="just">
              <a:lnSpc>
                <a:spcPct val="100000"/>
              </a:lnSpc>
              <a:spcBef>
                <a:spcPts val="755"/>
              </a:spcBef>
              <a:buChar char="–"/>
              <a:tabLst>
                <a:tab pos="756285" algn="l"/>
                <a:tab pos="867410" algn="l"/>
              </a:tabLst>
            </a:pPr>
            <a:r>
              <a:rPr sz="3200" dirty="0">
                <a:latin typeface="Arial MT"/>
                <a:cs typeface="Arial MT"/>
              </a:rPr>
              <a:t>	Bowed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outward: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increasing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opportunity </a:t>
            </a:r>
            <a:r>
              <a:rPr sz="3200" spc="-20" dirty="0">
                <a:latin typeface="Arial MT"/>
                <a:cs typeface="Arial MT"/>
              </a:rPr>
              <a:t>cost</a:t>
            </a:r>
            <a:endParaRPr sz="3200">
              <a:latin typeface="Arial MT"/>
              <a:cs typeface="Arial MT"/>
            </a:endParaRPr>
          </a:p>
          <a:p>
            <a:pPr marL="1155700" marR="219710" lvl="2" indent="-228600" algn="just">
              <a:lnSpc>
                <a:spcPct val="100000"/>
              </a:lnSpc>
              <a:spcBef>
                <a:spcPts val="690"/>
              </a:spcBef>
              <a:buSzPct val="89285"/>
              <a:buChar char="•"/>
              <a:tabLst>
                <a:tab pos="1155700" algn="l"/>
              </a:tabLst>
            </a:pP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units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good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produced,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we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increasing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amounts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other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good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produced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543040"/>
            <a:chOff x="0" y="0"/>
            <a:chExt cx="9144000" cy="654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" y="487680"/>
              <a:ext cx="8590788" cy="56540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100" y="448631"/>
              <a:ext cx="342900" cy="6039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41720"/>
              <a:ext cx="9144000" cy="400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" y="0"/>
              <a:ext cx="248411" cy="6542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7" y="78485"/>
              <a:ext cx="8930005" cy="6297930"/>
            </a:xfrm>
            <a:custGeom>
              <a:avLst/>
              <a:gdLst/>
              <a:ahLst/>
              <a:cxnLst/>
              <a:rect l="l" t="t" r="r" b="b"/>
              <a:pathLst>
                <a:path w="8930005" h="6297930">
                  <a:moveTo>
                    <a:pt x="0" y="458724"/>
                  </a:moveTo>
                  <a:lnTo>
                    <a:pt x="2075688" y="458724"/>
                  </a:lnTo>
                </a:path>
                <a:path w="8930005" h="6297930">
                  <a:moveTo>
                    <a:pt x="112775" y="583311"/>
                  </a:moveTo>
                  <a:lnTo>
                    <a:pt x="112775" y="0"/>
                  </a:lnTo>
                </a:path>
                <a:path w="8930005" h="6297930">
                  <a:moveTo>
                    <a:pt x="8097012" y="6214872"/>
                  </a:moveTo>
                  <a:lnTo>
                    <a:pt x="8930005" y="6214872"/>
                  </a:lnTo>
                </a:path>
                <a:path w="8930005" h="6297930">
                  <a:moveTo>
                    <a:pt x="8851392" y="5934456"/>
                  </a:moveTo>
                  <a:lnTo>
                    <a:pt x="8851392" y="6297752"/>
                  </a:lnTo>
                </a:path>
              </a:pathLst>
            </a:custGeom>
            <a:ln w="28956">
              <a:solidFill>
                <a:srgbClr val="0747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736219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Why</a:t>
            </a:r>
            <a:r>
              <a:rPr sz="3300" spc="-4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the</a:t>
            </a:r>
            <a:r>
              <a:rPr sz="3300" spc="-3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PPF</a:t>
            </a:r>
            <a:r>
              <a:rPr sz="3300" spc="-3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Might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Be</a:t>
            </a:r>
            <a:r>
              <a:rPr sz="3300" spc="-4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Bowed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spc="-10" dirty="0">
                <a:solidFill>
                  <a:srgbClr val="000000"/>
                </a:solidFill>
              </a:rPr>
              <a:t>Outward</a:t>
            </a:r>
            <a:endParaRPr sz="3300"/>
          </a:p>
        </p:txBody>
      </p:sp>
      <p:sp>
        <p:nvSpPr>
          <p:cNvPr id="9" name="object 9"/>
          <p:cNvSpPr txBox="1"/>
          <p:nvPr/>
        </p:nvSpPr>
        <p:spPr>
          <a:xfrm>
            <a:off x="5566028" y="925829"/>
            <a:ext cx="271780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As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economy </a:t>
            </a:r>
            <a:r>
              <a:rPr sz="2800" dirty="0">
                <a:latin typeface="Arial MT"/>
                <a:cs typeface="Arial MT"/>
              </a:rPr>
              <a:t>shifts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resources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automated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cars: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800">
              <a:latin typeface="Arial MT"/>
              <a:cs typeface="Arial MT"/>
            </a:endParaRPr>
          </a:p>
          <a:p>
            <a:pPr marL="12700" marR="46482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PPF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becomes steeper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6028" y="4339793"/>
            <a:ext cx="307340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opportunity </a:t>
            </a: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automated </a:t>
            </a:r>
            <a:r>
              <a:rPr sz="2800" dirty="0">
                <a:latin typeface="Arial MT"/>
                <a:cs typeface="Arial MT"/>
              </a:rPr>
              <a:t>cars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increases.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7467" y="940308"/>
            <a:ext cx="4116704" cy="3954779"/>
          </a:xfrm>
          <a:custGeom>
            <a:avLst/>
            <a:gdLst/>
            <a:ahLst/>
            <a:cxnLst/>
            <a:rect l="l" t="t" r="r" b="b"/>
            <a:pathLst>
              <a:path w="4116704" h="3954779">
                <a:moveTo>
                  <a:pt x="0" y="0"/>
                </a:moveTo>
                <a:lnTo>
                  <a:pt x="0" y="3954779"/>
                </a:lnTo>
              </a:path>
              <a:path w="4116704" h="3954779">
                <a:moveTo>
                  <a:pt x="0" y="3954779"/>
                </a:moveTo>
                <a:lnTo>
                  <a:pt x="4116324" y="395477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57142" y="4897373"/>
            <a:ext cx="16173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Automated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Cars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4624" y="1001260"/>
            <a:ext cx="366395" cy="14636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b="1" spc="-10" dirty="0">
                <a:latin typeface="Arial"/>
                <a:cs typeface="Arial"/>
              </a:rPr>
              <a:t>Computer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44549" y="1405000"/>
            <a:ext cx="3463925" cy="3510279"/>
            <a:chOff x="1044549" y="1405000"/>
            <a:chExt cx="3463925" cy="3510279"/>
          </a:xfrm>
        </p:grpSpPr>
        <p:sp>
          <p:nvSpPr>
            <p:cNvPr id="15" name="object 15"/>
            <p:cNvSpPr/>
            <p:nvPr/>
          </p:nvSpPr>
          <p:spPr>
            <a:xfrm>
              <a:off x="1063599" y="1466722"/>
              <a:ext cx="3385820" cy="3429635"/>
            </a:xfrm>
            <a:custGeom>
              <a:avLst/>
              <a:gdLst/>
              <a:ahLst/>
              <a:cxnLst/>
              <a:rect l="l" t="t" r="r" b="b"/>
              <a:pathLst>
                <a:path w="3385820" h="3429635">
                  <a:moveTo>
                    <a:pt x="0" y="0"/>
                  </a:moveTo>
                  <a:lnTo>
                    <a:pt x="46915" y="3454"/>
                  </a:lnTo>
                  <a:lnTo>
                    <a:pt x="93671" y="7549"/>
                  </a:lnTo>
                  <a:lnTo>
                    <a:pt x="140264" y="12280"/>
                  </a:lnTo>
                  <a:lnTo>
                    <a:pt x="186690" y="17642"/>
                  </a:lnTo>
                  <a:lnTo>
                    <a:pt x="232945" y="23633"/>
                  </a:lnTo>
                  <a:lnTo>
                    <a:pt x="279025" y="30248"/>
                  </a:lnTo>
                  <a:lnTo>
                    <a:pt x="324927" y="37483"/>
                  </a:lnTo>
                  <a:lnTo>
                    <a:pt x="370646" y="45335"/>
                  </a:lnTo>
                  <a:lnTo>
                    <a:pt x="416179" y="53800"/>
                  </a:lnTo>
                  <a:lnTo>
                    <a:pt x="461522" y="62873"/>
                  </a:lnTo>
                  <a:lnTo>
                    <a:pt x="506671" y="72551"/>
                  </a:lnTo>
                  <a:lnTo>
                    <a:pt x="551623" y="82830"/>
                  </a:lnTo>
                  <a:lnTo>
                    <a:pt x="596373" y="93706"/>
                  </a:lnTo>
                  <a:lnTo>
                    <a:pt x="640917" y="105176"/>
                  </a:lnTo>
                  <a:lnTo>
                    <a:pt x="685252" y="117235"/>
                  </a:lnTo>
                  <a:lnTo>
                    <a:pt x="729375" y="129879"/>
                  </a:lnTo>
                  <a:lnTo>
                    <a:pt x="773280" y="143105"/>
                  </a:lnTo>
                  <a:lnTo>
                    <a:pt x="816965" y="156909"/>
                  </a:lnTo>
                  <a:lnTo>
                    <a:pt x="860425" y="171286"/>
                  </a:lnTo>
                  <a:lnTo>
                    <a:pt x="903657" y="186234"/>
                  </a:lnTo>
                  <a:lnTo>
                    <a:pt x="946657" y="201747"/>
                  </a:lnTo>
                  <a:lnTo>
                    <a:pt x="989421" y="217823"/>
                  </a:lnTo>
                  <a:lnTo>
                    <a:pt x="1031945" y="234457"/>
                  </a:lnTo>
                  <a:lnTo>
                    <a:pt x="1074226" y="251646"/>
                  </a:lnTo>
                  <a:lnTo>
                    <a:pt x="1116259" y="269385"/>
                  </a:lnTo>
                  <a:lnTo>
                    <a:pt x="1158041" y="287672"/>
                  </a:lnTo>
                  <a:lnTo>
                    <a:pt x="1199568" y="306501"/>
                  </a:lnTo>
                  <a:lnTo>
                    <a:pt x="1240835" y="325868"/>
                  </a:lnTo>
                  <a:lnTo>
                    <a:pt x="1281841" y="345771"/>
                  </a:lnTo>
                  <a:lnTo>
                    <a:pt x="1322579" y="366206"/>
                  </a:lnTo>
                  <a:lnTo>
                    <a:pt x="1363047" y="387167"/>
                  </a:lnTo>
                  <a:lnTo>
                    <a:pt x="1403241" y="408652"/>
                  </a:lnTo>
                  <a:lnTo>
                    <a:pt x="1443157" y="430657"/>
                  </a:lnTo>
                  <a:lnTo>
                    <a:pt x="1482791" y="453178"/>
                  </a:lnTo>
                  <a:lnTo>
                    <a:pt x="1522139" y="476210"/>
                  </a:lnTo>
                  <a:lnTo>
                    <a:pt x="1561198" y="499750"/>
                  </a:lnTo>
                  <a:lnTo>
                    <a:pt x="1599963" y="523795"/>
                  </a:lnTo>
                  <a:lnTo>
                    <a:pt x="1638432" y="548339"/>
                  </a:lnTo>
                  <a:lnTo>
                    <a:pt x="1676599" y="573380"/>
                  </a:lnTo>
                  <a:lnTo>
                    <a:pt x="1714461" y="598914"/>
                  </a:lnTo>
                  <a:lnTo>
                    <a:pt x="1752015" y="624936"/>
                  </a:lnTo>
                  <a:lnTo>
                    <a:pt x="1789256" y="651442"/>
                  </a:lnTo>
                  <a:lnTo>
                    <a:pt x="1826181" y="678430"/>
                  </a:lnTo>
                  <a:lnTo>
                    <a:pt x="1862786" y="705895"/>
                  </a:lnTo>
                  <a:lnTo>
                    <a:pt x="1899067" y="733832"/>
                  </a:lnTo>
                  <a:lnTo>
                    <a:pt x="1935020" y="762239"/>
                  </a:lnTo>
                  <a:lnTo>
                    <a:pt x="1970641" y="791111"/>
                  </a:lnTo>
                  <a:lnTo>
                    <a:pt x="2005928" y="820445"/>
                  </a:lnTo>
                  <a:lnTo>
                    <a:pt x="2040874" y="850236"/>
                  </a:lnTo>
                  <a:lnTo>
                    <a:pt x="2075478" y="880481"/>
                  </a:lnTo>
                  <a:lnTo>
                    <a:pt x="2109735" y="911176"/>
                  </a:lnTo>
                  <a:lnTo>
                    <a:pt x="2143641" y="942317"/>
                  </a:lnTo>
                  <a:lnTo>
                    <a:pt x="2177192" y="973900"/>
                  </a:lnTo>
                  <a:lnTo>
                    <a:pt x="2210385" y="1005921"/>
                  </a:lnTo>
                  <a:lnTo>
                    <a:pt x="2243216" y="1038377"/>
                  </a:lnTo>
                  <a:lnTo>
                    <a:pt x="2275681" y="1071263"/>
                  </a:lnTo>
                  <a:lnTo>
                    <a:pt x="2307776" y="1104575"/>
                  </a:lnTo>
                  <a:lnTo>
                    <a:pt x="2339497" y="1138311"/>
                  </a:lnTo>
                  <a:lnTo>
                    <a:pt x="2370841" y="1172465"/>
                  </a:lnTo>
                  <a:lnTo>
                    <a:pt x="2401803" y="1207034"/>
                  </a:lnTo>
                  <a:lnTo>
                    <a:pt x="2432381" y="1242014"/>
                  </a:lnTo>
                  <a:lnTo>
                    <a:pt x="2462569" y="1277401"/>
                  </a:lnTo>
                  <a:lnTo>
                    <a:pt x="2492364" y="1313192"/>
                  </a:lnTo>
                  <a:lnTo>
                    <a:pt x="2521763" y="1349382"/>
                  </a:lnTo>
                  <a:lnTo>
                    <a:pt x="2550761" y="1385968"/>
                  </a:lnTo>
                  <a:lnTo>
                    <a:pt x="2579355" y="1422946"/>
                  </a:lnTo>
                  <a:lnTo>
                    <a:pt x="2607541" y="1460311"/>
                  </a:lnTo>
                  <a:lnTo>
                    <a:pt x="2635315" y="1498060"/>
                  </a:lnTo>
                  <a:lnTo>
                    <a:pt x="2662673" y="1536189"/>
                  </a:lnTo>
                  <a:lnTo>
                    <a:pt x="2689611" y="1574695"/>
                  </a:lnTo>
                  <a:lnTo>
                    <a:pt x="2716126" y="1613573"/>
                  </a:lnTo>
                  <a:lnTo>
                    <a:pt x="2742214" y="1652819"/>
                  </a:lnTo>
                  <a:lnTo>
                    <a:pt x="2767871" y="1692430"/>
                  </a:lnTo>
                  <a:lnTo>
                    <a:pt x="2793093" y="1732402"/>
                  </a:lnTo>
                  <a:lnTo>
                    <a:pt x="2817876" y="1772730"/>
                  </a:lnTo>
                  <a:lnTo>
                    <a:pt x="2842216" y="1813412"/>
                  </a:lnTo>
                  <a:lnTo>
                    <a:pt x="2866110" y="1854442"/>
                  </a:lnTo>
                  <a:lnTo>
                    <a:pt x="2889554" y="1895818"/>
                  </a:lnTo>
                  <a:lnTo>
                    <a:pt x="2912544" y="1937535"/>
                  </a:lnTo>
                  <a:lnTo>
                    <a:pt x="2935076" y="1979589"/>
                  </a:lnTo>
                  <a:lnTo>
                    <a:pt x="2957146" y="2021977"/>
                  </a:lnTo>
                  <a:lnTo>
                    <a:pt x="2978751" y="2064695"/>
                  </a:lnTo>
                  <a:lnTo>
                    <a:pt x="2999886" y="2107739"/>
                  </a:lnTo>
                  <a:lnTo>
                    <a:pt x="3020549" y="2151104"/>
                  </a:lnTo>
                  <a:lnTo>
                    <a:pt x="3040734" y="2194788"/>
                  </a:lnTo>
                  <a:lnTo>
                    <a:pt x="3060438" y="2238786"/>
                  </a:lnTo>
                  <a:lnTo>
                    <a:pt x="3079658" y="2283094"/>
                  </a:lnTo>
                  <a:lnTo>
                    <a:pt x="3098389" y="2327708"/>
                  </a:lnTo>
                  <a:lnTo>
                    <a:pt x="3116628" y="2372625"/>
                  </a:lnTo>
                  <a:lnTo>
                    <a:pt x="3134371" y="2417841"/>
                  </a:lnTo>
                  <a:lnTo>
                    <a:pt x="3151614" y="2463352"/>
                  </a:lnTo>
                  <a:lnTo>
                    <a:pt x="3168353" y="2509153"/>
                  </a:lnTo>
                  <a:lnTo>
                    <a:pt x="3184585" y="2555242"/>
                  </a:lnTo>
                  <a:lnTo>
                    <a:pt x="3200305" y="2601614"/>
                  </a:lnTo>
                  <a:lnTo>
                    <a:pt x="3215510" y="2648265"/>
                  </a:lnTo>
                  <a:lnTo>
                    <a:pt x="3230196" y="2695191"/>
                  </a:lnTo>
                  <a:lnTo>
                    <a:pt x="3244359" y="2742390"/>
                  </a:lnTo>
                  <a:lnTo>
                    <a:pt x="3257995" y="2789855"/>
                  </a:lnTo>
                  <a:lnTo>
                    <a:pt x="3271100" y="2837585"/>
                  </a:lnTo>
                  <a:lnTo>
                    <a:pt x="3283672" y="2885575"/>
                  </a:lnTo>
                  <a:lnTo>
                    <a:pt x="3295704" y="2933820"/>
                  </a:lnTo>
                  <a:lnTo>
                    <a:pt x="3307195" y="2982318"/>
                  </a:lnTo>
                  <a:lnTo>
                    <a:pt x="3318141" y="3031064"/>
                  </a:lnTo>
                  <a:lnTo>
                    <a:pt x="3328536" y="3080055"/>
                  </a:lnTo>
                  <a:lnTo>
                    <a:pt x="3338378" y="3129286"/>
                  </a:lnTo>
                  <a:lnTo>
                    <a:pt x="3347662" y="3178754"/>
                  </a:lnTo>
                  <a:lnTo>
                    <a:pt x="3356386" y="3228454"/>
                  </a:lnTo>
                  <a:lnTo>
                    <a:pt x="3364544" y="3278384"/>
                  </a:lnTo>
                  <a:lnTo>
                    <a:pt x="3372134" y="3328539"/>
                  </a:lnTo>
                  <a:lnTo>
                    <a:pt x="3379150" y="3378914"/>
                  </a:lnTo>
                  <a:lnTo>
                    <a:pt x="3385591" y="3429507"/>
                  </a:lnTo>
                </a:path>
              </a:pathLst>
            </a:custGeom>
            <a:ln w="38100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95704" y="1424050"/>
              <a:ext cx="2767330" cy="2627630"/>
            </a:xfrm>
            <a:custGeom>
              <a:avLst/>
              <a:gdLst/>
              <a:ahLst/>
              <a:cxnLst/>
              <a:rect l="l" t="t" r="r" b="b"/>
              <a:pathLst>
                <a:path w="2767329" h="2627629">
                  <a:moveTo>
                    <a:pt x="0" y="0"/>
                  </a:moveTo>
                  <a:lnTo>
                    <a:pt x="47181" y="11129"/>
                  </a:lnTo>
                  <a:lnTo>
                    <a:pt x="94144" y="22881"/>
                  </a:lnTo>
                  <a:lnTo>
                    <a:pt x="140882" y="35252"/>
                  </a:lnTo>
                  <a:lnTo>
                    <a:pt x="187392" y="48238"/>
                  </a:lnTo>
                  <a:lnTo>
                    <a:pt x="233670" y="61835"/>
                  </a:lnTo>
                  <a:lnTo>
                    <a:pt x="279711" y="76038"/>
                  </a:lnTo>
                  <a:lnTo>
                    <a:pt x="325512" y="90845"/>
                  </a:lnTo>
                  <a:lnTo>
                    <a:pt x="371067" y="106250"/>
                  </a:lnTo>
                  <a:lnTo>
                    <a:pt x="416374" y="122250"/>
                  </a:lnTo>
                  <a:lnTo>
                    <a:pt x="461427" y="138841"/>
                  </a:lnTo>
                  <a:lnTo>
                    <a:pt x="506222" y="156019"/>
                  </a:lnTo>
                  <a:lnTo>
                    <a:pt x="550756" y="173780"/>
                  </a:lnTo>
                  <a:lnTo>
                    <a:pt x="595024" y="192119"/>
                  </a:lnTo>
                  <a:lnTo>
                    <a:pt x="639022" y="211034"/>
                  </a:lnTo>
                  <a:lnTo>
                    <a:pt x="682745" y="230519"/>
                  </a:lnTo>
                  <a:lnTo>
                    <a:pt x="726190" y="250572"/>
                  </a:lnTo>
                  <a:lnTo>
                    <a:pt x="769352" y="271187"/>
                  </a:lnTo>
                  <a:lnTo>
                    <a:pt x="812227" y="292361"/>
                  </a:lnTo>
                  <a:lnTo>
                    <a:pt x="854811" y="314090"/>
                  </a:lnTo>
                  <a:lnTo>
                    <a:pt x="897100" y="336370"/>
                  </a:lnTo>
                  <a:lnTo>
                    <a:pt x="939089" y="359197"/>
                  </a:lnTo>
                  <a:lnTo>
                    <a:pt x="980774" y="382567"/>
                  </a:lnTo>
                  <a:lnTo>
                    <a:pt x="1022152" y="406476"/>
                  </a:lnTo>
                  <a:lnTo>
                    <a:pt x="1063217" y="430920"/>
                  </a:lnTo>
                  <a:lnTo>
                    <a:pt x="1103966" y="455895"/>
                  </a:lnTo>
                  <a:lnTo>
                    <a:pt x="1144394" y="481397"/>
                  </a:lnTo>
                  <a:lnTo>
                    <a:pt x="1184498" y="507422"/>
                  </a:lnTo>
                  <a:lnTo>
                    <a:pt x="1224273" y="533966"/>
                  </a:lnTo>
                  <a:lnTo>
                    <a:pt x="1263714" y="561024"/>
                  </a:lnTo>
                  <a:lnTo>
                    <a:pt x="1302818" y="588594"/>
                  </a:lnTo>
                  <a:lnTo>
                    <a:pt x="1341581" y="616671"/>
                  </a:lnTo>
                  <a:lnTo>
                    <a:pt x="1379998" y="645251"/>
                  </a:lnTo>
                  <a:lnTo>
                    <a:pt x="1418065" y="674330"/>
                  </a:lnTo>
                  <a:lnTo>
                    <a:pt x="1455778" y="703904"/>
                  </a:lnTo>
                  <a:lnTo>
                    <a:pt x="1493132" y="733969"/>
                  </a:lnTo>
                  <a:lnTo>
                    <a:pt x="1530124" y="764521"/>
                  </a:lnTo>
                  <a:lnTo>
                    <a:pt x="1566749" y="795557"/>
                  </a:lnTo>
                  <a:lnTo>
                    <a:pt x="1603004" y="827071"/>
                  </a:lnTo>
                  <a:lnTo>
                    <a:pt x="1638883" y="859060"/>
                  </a:lnTo>
                  <a:lnTo>
                    <a:pt x="1674383" y="891521"/>
                  </a:lnTo>
                  <a:lnTo>
                    <a:pt x="1709499" y="924448"/>
                  </a:lnTo>
                  <a:lnTo>
                    <a:pt x="1744227" y="957839"/>
                  </a:lnTo>
                  <a:lnTo>
                    <a:pt x="1778564" y="991689"/>
                  </a:lnTo>
                  <a:lnTo>
                    <a:pt x="1812504" y="1025994"/>
                  </a:lnTo>
                  <a:lnTo>
                    <a:pt x="1846044" y="1060750"/>
                  </a:lnTo>
                  <a:lnTo>
                    <a:pt x="1879180" y="1095953"/>
                  </a:lnTo>
                  <a:lnTo>
                    <a:pt x="1911907" y="1131599"/>
                  </a:lnTo>
                  <a:lnTo>
                    <a:pt x="1944221" y="1167685"/>
                  </a:lnTo>
                  <a:lnTo>
                    <a:pt x="1976117" y="1204205"/>
                  </a:lnTo>
                  <a:lnTo>
                    <a:pt x="2007593" y="1241157"/>
                  </a:lnTo>
                  <a:lnTo>
                    <a:pt x="2038642" y="1278536"/>
                  </a:lnTo>
                  <a:lnTo>
                    <a:pt x="2069262" y="1316338"/>
                  </a:lnTo>
                  <a:lnTo>
                    <a:pt x="2099449" y="1354559"/>
                  </a:lnTo>
                  <a:lnTo>
                    <a:pt x="2129197" y="1393196"/>
                  </a:lnTo>
                  <a:lnTo>
                    <a:pt x="2158502" y="1432244"/>
                  </a:lnTo>
                  <a:lnTo>
                    <a:pt x="2187361" y="1471698"/>
                  </a:lnTo>
                  <a:lnTo>
                    <a:pt x="2215770" y="1511557"/>
                  </a:lnTo>
                  <a:lnTo>
                    <a:pt x="2243723" y="1551814"/>
                  </a:lnTo>
                  <a:lnTo>
                    <a:pt x="2271217" y="1592466"/>
                  </a:lnTo>
                  <a:lnTo>
                    <a:pt x="2298248" y="1633510"/>
                  </a:lnTo>
                  <a:lnTo>
                    <a:pt x="2324812" y="1674941"/>
                  </a:lnTo>
                  <a:lnTo>
                    <a:pt x="2350903" y="1716756"/>
                  </a:lnTo>
                  <a:lnTo>
                    <a:pt x="2376519" y="1758949"/>
                  </a:lnTo>
                  <a:lnTo>
                    <a:pt x="2401655" y="1801518"/>
                  </a:lnTo>
                  <a:lnTo>
                    <a:pt x="2426306" y="1844458"/>
                  </a:lnTo>
                  <a:lnTo>
                    <a:pt x="2450468" y="1887765"/>
                  </a:lnTo>
                  <a:lnTo>
                    <a:pt x="2474138" y="1931436"/>
                  </a:lnTo>
                  <a:lnTo>
                    <a:pt x="2497311" y="1975466"/>
                  </a:lnTo>
                  <a:lnTo>
                    <a:pt x="2519983" y="2019851"/>
                  </a:lnTo>
                  <a:lnTo>
                    <a:pt x="2542150" y="2064588"/>
                  </a:lnTo>
                  <a:lnTo>
                    <a:pt x="2563807" y="2109672"/>
                  </a:lnTo>
                  <a:lnTo>
                    <a:pt x="2584950" y="2155099"/>
                  </a:lnTo>
                  <a:lnTo>
                    <a:pt x="2605575" y="2200865"/>
                  </a:lnTo>
                  <a:lnTo>
                    <a:pt x="2625678" y="2246967"/>
                  </a:lnTo>
                  <a:lnTo>
                    <a:pt x="2645255" y="2293401"/>
                  </a:lnTo>
                  <a:lnTo>
                    <a:pt x="2664301" y="2340161"/>
                  </a:lnTo>
                  <a:lnTo>
                    <a:pt x="2682813" y="2387245"/>
                  </a:lnTo>
                  <a:lnTo>
                    <a:pt x="2700786" y="2434648"/>
                  </a:lnTo>
                  <a:lnTo>
                    <a:pt x="2718215" y="2482367"/>
                  </a:lnTo>
                  <a:lnTo>
                    <a:pt x="2735097" y="2530397"/>
                  </a:lnTo>
                  <a:lnTo>
                    <a:pt x="2751428" y="2578735"/>
                  </a:lnTo>
                  <a:lnTo>
                    <a:pt x="2767203" y="2627376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50947" y="1790445"/>
              <a:ext cx="1757045" cy="2293620"/>
            </a:xfrm>
            <a:custGeom>
              <a:avLst/>
              <a:gdLst/>
              <a:ahLst/>
              <a:cxnLst/>
              <a:rect l="l" t="t" r="r" b="b"/>
              <a:pathLst>
                <a:path w="1757045" h="2293620">
                  <a:moveTo>
                    <a:pt x="247015" y="214249"/>
                  </a:moveTo>
                  <a:lnTo>
                    <a:pt x="121031" y="0"/>
                  </a:lnTo>
                  <a:lnTo>
                    <a:pt x="0" y="186436"/>
                  </a:lnTo>
                  <a:lnTo>
                    <a:pt x="247015" y="214249"/>
                  </a:lnTo>
                  <a:close/>
                </a:path>
                <a:path w="1757045" h="2293620">
                  <a:moveTo>
                    <a:pt x="1170178" y="1159129"/>
                  </a:moveTo>
                  <a:lnTo>
                    <a:pt x="1133729" y="913384"/>
                  </a:lnTo>
                  <a:lnTo>
                    <a:pt x="951738" y="1040765"/>
                  </a:lnTo>
                  <a:lnTo>
                    <a:pt x="1170178" y="1159129"/>
                  </a:lnTo>
                  <a:close/>
                </a:path>
                <a:path w="1757045" h="2293620">
                  <a:moveTo>
                    <a:pt x="1757045" y="2046986"/>
                  </a:moveTo>
                  <a:lnTo>
                    <a:pt x="1546860" y="2119249"/>
                  </a:lnTo>
                  <a:lnTo>
                    <a:pt x="1724279" y="2293239"/>
                  </a:lnTo>
                  <a:lnTo>
                    <a:pt x="1757045" y="2046986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543040"/>
            <a:chOff x="0" y="0"/>
            <a:chExt cx="9144000" cy="654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" y="487680"/>
              <a:ext cx="8590788" cy="56540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100" y="448631"/>
              <a:ext cx="342900" cy="6039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41720"/>
              <a:ext cx="9144000" cy="400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" y="0"/>
              <a:ext cx="248411" cy="6542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7" y="78485"/>
              <a:ext cx="8930005" cy="6297930"/>
            </a:xfrm>
            <a:custGeom>
              <a:avLst/>
              <a:gdLst/>
              <a:ahLst/>
              <a:cxnLst/>
              <a:rect l="l" t="t" r="r" b="b"/>
              <a:pathLst>
                <a:path w="8930005" h="6297930">
                  <a:moveTo>
                    <a:pt x="0" y="458724"/>
                  </a:moveTo>
                  <a:lnTo>
                    <a:pt x="2075688" y="458724"/>
                  </a:lnTo>
                </a:path>
                <a:path w="8930005" h="6297930">
                  <a:moveTo>
                    <a:pt x="112775" y="583311"/>
                  </a:moveTo>
                  <a:lnTo>
                    <a:pt x="112775" y="0"/>
                  </a:lnTo>
                </a:path>
                <a:path w="8930005" h="6297930">
                  <a:moveTo>
                    <a:pt x="8097012" y="6214872"/>
                  </a:moveTo>
                  <a:lnTo>
                    <a:pt x="8930005" y="6214872"/>
                  </a:lnTo>
                </a:path>
                <a:path w="8930005" h="6297930">
                  <a:moveTo>
                    <a:pt x="8851392" y="5934456"/>
                  </a:moveTo>
                  <a:lnTo>
                    <a:pt x="8851392" y="6297752"/>
                  </a:lnTo>
                </a:path>
              </a:pathLst>
            </a:custGeom>
            <a:ln w="28956">
              <a:solidFill>
                <a:srgbClr val="0747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736219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Why</a:t>
            </a:r>
            <a:r>
              <a:rPr sz="3300" spc="-4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the</a:t>
            </a:r>
            <a:r>
              <a:rPr sz="3300" spc="-3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PPF</a:t>
            </a:r>
            <a:r>
              <a:rPr sz="3300" spc="-3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Might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Be</a:t>
            </a:r>
            <a:r>
              <a:rPr sz="3300" spc="-4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Bowed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spc="-10" dirty="0">
                <a:solidFill>
                  <a:srgbClr val="000000"/>
                </a:solidFill>
              </a:rPr>
              <a:t>Outward</a:t>
            </a:r>
            <a:endParaRPr sz="3300"/>
          </a:p>
        </p:txBody>
      </p:sp>
      <p:sp>
        <p:nvSpPr>
          <p:cNvPr id="9" name="object 9"/>
          <p:cNvSpPr txBox="1"/>
          <p:nvPr/>
        </p:nvSpPr>
        <p:spPr>
          <a:xfrm>
            <a:off x="5718428" y="721613"/>
            <a:ext cx="2655570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At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A,</a:t>
            </a:r>
            <a:r>
              <a:rPr sz="2800" spc="-20" dirty="0">
                <a:latin typeface="Arial MT"/>
                <a:cs typeface="Arial MT"/>
              </a:rPr>
              <a:t> most </a:t>
            </a:r>
            <a:r>
              <a:rPr sz="2800" dirty="0">
                <a:latin typeface="Arial MT"/>
                <a:cs typeface="Arial MT"/>
              </a:rPr>
              <a:t>workers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are </a:t>
            </a:r>
            <a:r>
              <a:rPr sz="2800" spc="-10" dirty="0">
                <a:latin typeface="Arial MT"/>
                <a:cs typeface="Arial MT"/>
              </a:rPr>
              <a:t>producing </a:t>
            </a:r>
            <a:r>
              <a:rPr sz="2800" dirty="0">
                <a:latin typeface="Arial MT"/>
                <a:cs typeface="Arial MT"/>
              </a:rPr>
              <a:t>computers,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even </a:t>
            </a:r>
            <a:r>
              <a:rPr sz="2800" dirty="0">
                <a:latin typeface="Arial MT"/>
                <a:cs typeface="Arial MT"/>
              </a:rPr>
              <a:t>those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are </a:t>
            </a:r>
            <a:r>
              <a:rPr sz="2800" dirty="0">
                <a:latin typeface="Arial MT"/>
                <a:cs typeface="Arial MT"/>
              </a:rPr>
              <a:t>better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suited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spc="-10" dirty="0">
                <a:latin typeface="Arial MT"/>
                <a:cs typeface="Arial MT"/>
              </a:rPr>
              <a:t>building </a:t>
            </a:r>
            <a:r>
              <a:rPr sz="2800" dirty="0">
                <a:latin typeface="Arial MT"/>
                <a:cs typeface="Arial MT"/>
              </a:rPr>
              <a:t>automated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cars.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8428" y="4562602"/>
            <a:ext cx="29121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So,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give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much </a:t>
            </a:r>
            <a:r>
              <a:rPr sz="2800" dirty="0">
                <a:latin typeface="Arial MT"/>
                <a:cs typeface="Arial MT"/>
              </a:rPr>
              <a:t>computers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get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8428" y="5843117"/>
            <a:ext cx="1708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cars.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7467" y="940308"/>
            <a:ext cx="4116704" cy="3954779"/>
          </a:xfrm>
          <a:custGeom>
            <a:avLst/>
            <a:gdLst/>
            <a:ahLst/>
            <a:cxnLst/>
            <a:rect l="l" t="t" r="r" b="b"/>
            <a:pathLst>
              <a:path w="4116704" h="3954779">
                <a:moveTo>
                  <a:pt x="0" y="0"/>
                </a:moveTo>
                <a:lnTo>
                  <a:pt x="0" y="3954779"/>
                </a:lnTo>
              </a:path>
              <a:path w="4116704" h="3954779">
                <a:moveTo>
                  <a:pt x="0" y="3954779"/>
                </a:moveTo>
                <a:lnTo>
                  <a:pt x="4116324" y="395477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57396" y="4897373"/>
            <a:ext cx="16173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Automated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Cars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3434" y="998847"/>
            <a:ext cx="366395" cy="14662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b="1" spc="-10" dirty="0">
                <a:latin typeface="Arial"/>
                <a:cs typeface="Arial"/>
              </a:rPr>
              <a:t>Computer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3599" y="1466722"/>
            <a:ext cx="3385820" cy="3429635"/>
          </a:xfrm>
          <a:custGeom>
            <a:avLst/>
            <a:gdLst/>
            <a:ahLst/>
            <a:cxnLst/>
            <a:rect l="l" t="t" r="r" b="b"/>
            <a:pathLst>
              <a:path w="3385820" h="3429635">
                <a:moveTo>
                  <a:pt x="0" y="0"/>
                </a:moveTo>
                <a:lnTo>
                  <a:pt x="46915" y="3454"/>
                </a:lnTo>
                <a:lnTo>
                  <a:pt x="93671" y="7549"/>
                </a:lnTo>
                <a:lnTo>
                  <a:pt x="140264" y="12280"/>
                </a:lnTo>
                <a:lnTo>
                  <a:pt x="186690" y="17642"/>
                </a:lnTo>
                <a:lnTo>
                  <a:pt x="232945" y="23633"/>
                </a:lnTo>
                <a:lnTo>
                  <a:pt x="279025" y="30248"/>
                </a:lnTo>
                <a:lnTo>
                  <a:pt x="324927" y="37483"/>
                </a:lnTo>
                <a:lnTo>
                  <a:pt x="370646" y="45335"/>
                </a:lnTo>
                <a:lnTo>
                  <a:pt x="416179" y="53800"/>
                </a:lnTo>
                <a:lnTo>
                  <a:pt x="461522" y="62873"/>
                </a:lnTo>
                <a:lnTo>
                  <a:pt x="506671" y="72551"/>
                </a:lnTo>
                <a:lnTo>
                  <a:pt x="551623" y="82830"/>
                </a:lnTo>
                <a:lnTo>
                  <a:pt x="596373" y="93706"/>
                </a:lnTo>
                <a:lnTo>
                  <a:pt x="640917" y="105176"/>
                </a:lnTo>
                <a:lnTo>
                  <a:pt x="685252" y="117235"/>
                </a:lnTo>
                <a:lnTo>
                  <a:pt x="729375" y="129879"/>
                </a:lnTo>
                <a:lnTo>
                  <a:pt x="773280" y="143105"/>
                </a:lnTo>
                <a:lnTo>
                  <a:pt x="816965" y="156909"/>
                </a:lnTo>
                <a:lnTo>
                  <a:pt x="860425" y="171286"/>
                </a:lnTo>
                <a:lnTo>
                  <a:pt x="903657" y="186234"/>
                </a:lnTo>
                <a:lnTo>
                  <a:pt x="946657" y="201747"/>
                </a:lnTo>
                <a:lnTo>
                  <a:pt x="989421" y="217823"/>
                </a:lnTo>
                <a:lnTo>
                  <a:pt x="1031945" y="234457"/>
                </a:lnTo>
                <a:lnTo>
                  <a:pt x="1074226" y="251646"/>
                </a:lnTo>
                <a:lnTo>
                  <a:pt x="1116259" y="269385"/>
                </a:lnTo>
                <a:lnTo>
                  <a:pt x="1158041" y="287672"/>
                </a:lnTo>
                <a:lnTo>
                  <a:pt x="1199568" y="306501"/>
                </a:lnTo>
                <a:lnTo>
                  <a:pt x="1240835" y="325868"/>
                </a:lnTo>
                <a:lnTo>
                  <a:pt x="1281841" y="345771"/>
                </a:lnTo>
                <a:lnTo>
                  <a:pt x="1322579" y="366206"/>
                </a:lnTo>
                <a:lnTo>
                  <a:pt x="1363047" y="387167"/>
                </a:lnTo>
                <a:lnTo>
                  <a:pt x="1403241" y="408652"/>
                </a:lnTo>
                <a:lnTo>
                  <a:pt x="1443157" y="430657"/>
                </a:lnTo>
                <a:lnTo>
                  <a:pt x="1482791" y="453178"/>
                </a:lnTo>
                <a:lnTo>
                  <a:pt x="1522139" y="476210"/>
                </a:lnTo>
                <a:lnTo>
                  <a:pt x="1561198" y="499750"/>
                </a:lnTo>
                <a:lnTo>
                  <a:pt x="1599963" y="523795"/>
                </a:lnTo>
                <a:lnTo>
                  <a:pt x="1638432" y="548339"/>
                </a:lnTo>
                <a:lnTo>
                  <a:pt x="1676599" y="573380"/>
                </a:lnTo>
                <a:lnTo>
                  <a:pt x="1714461" y="598914"/>
                </a:lnTo>
                <a:lnTo>
                  <a:pt x="1752015" y="624936"/>
                </a:lnTo>
                <a:lnTo>
                  <a:pt x="1789256" y="651442"/>
                </a:lnTo>
                <a:lnTo>
                  <a:pt x="1826181" y="678430"/>
                </a:lnTo>
                <a:lnTo>
                  <a:pt x="1862786" y="705895"/>
                </a:lnTo>
                <a:lnTo>
                  <a:pt x="1899067" y="733832"/>
                </a:lnTo>
                <a:lnTo>
                  <a:pt x="1935020" y="762239"/>
                </a:lnTo>
                <a:lnTo>
                  <a:pt x="1970641" y="791111"/>
                </a:lnTo>
                <a:lnTo>
                  <a:pt x="2005928" y="820445"/>
                </a:lnTo>
                <a:lnTo>
                  <a:pt x="2040874" y="850236"/>
                </a:lnTo>
                <a:lnTo>
                  <a:pt x="2075478" y="880481"/>
                </a:lnTo>
                <a:lnTo>
                  <a:pt x="2109735" y="911176"/>
                </a:lnTo>
                <a:lnTo>
                  <a:pt x="2143641" y="942317"/>
                </a:lnTo>
                <a:lnTo>
                  <a:pt x="2177192" y="973900"/>
                </a:lnTo>
                <a:lnTo>
                  <a:pt x="2210385" y="1005921"/>
                </a:lnTo>
                <a:lnTo>
                  <a:pt x="2243216" y="1038377"/>
                </a:lnTo>
                <a:lnTo>
                  <a:pt x="2275681" y="1071263"/>
                </a:lnTo>
                <a:lnTo>
                  <a:pt x="2307776" y="1104575"/>
                </a:lnTo>
                <a:lnTo>
                  <a:pt x="2339497" y="1138311"/>
                </a:lnTo>
                <a:lnTo>
                  <a:pt x="2370841" y="1172465"/>
                </a:lnTo>
                <a:lnTo>
                  <a:pt x="2401803" y="1207034"/>
                </a:lnTo>
                <a:lnTo>
                  <a:pt x="2432381" y="1242014"/>
                </a:lnTo>
                <a:lnTo>
                  <a:pt x="2462569" y="1277401"/>
                </a:lnTo>
                <a:lnTo>
                  <a:pt x="2492364" y="1313192"/>
                </a:lnTo>
                <a:lnTo>
                  <a:pt x="2521763" y="1349382"/>
                </a:lnTo>
                <a:lnTo>
                  <a:pt x="2550761" y="1385968"/>
                </a:lnTo>
                <a:lnTo>
                  <a:pt x="2579355" y="1422946"/>
                </a:lnTo>
                <a:lnTo>
                  <a:pt x="2607541" y="1460311"/>
                </a:lnTo>
                <a:lnTo>
                  <a:pt x="2635315" y="1498060"/>
                </a:lnTo>
                <a:lnTo>
                  <a:pt x="2662673" y="1536189"/>
                </a:lnTo>
                <a:lnTo>
                  <a:pt x="2689611" y="1574695"/>
                </a:lnTo>
                <a:lnTo>
                  <a:pt x="2716126" y="1613573"/>
                </a:lnTo>
                <a:lnTo>
                  <a:pt x="2742214" y="1652819"/>
                </a:lnTo>
                <a:lnTo>
                  <a:pt x="2767871" y="1692430"/>
                </a:lnTo>
                <a:lnTo>
                  <a:pt x="2793093" y="1732402"/>
                </a:lnTo>
                <a:lnTo>
                  <a:pt x="2817876" y="1772730"/>
                </a:lnTo>
                <a:lnTo>
                  <a:pt x="2842216" y="1813412"/>
                </a:lnTo>
                <a:lnTo>
                  <a:pt x="2866110" y="1854442"/>
                </a:lnTo>
                <a:lnTo>
                  <a:pt x="2889554" y="1895818"/>
                </a:lnTo>
                <a:lnTo>
                  <a:pt x="2912544" y="1937535"/>
                </a:lnTo>
                <a:lnTo>
                  <a:pt x="2935076" y="1979589"/>
                </a:lnTo>
                <a:lnTo>
                  <a:pt x="2957146" y="2021977"/>
                </a:lnTo>
                <a:lnTo>
                  <a:pt x="2978751" y="2064695"/>
                </a:lnTo>
                <a:lnTo>
                  <a:pt x="2999886" y="2107739"/>
                </a:lnTo>
                <a:lnTo>
                  <a:pt x="3020549" y="2151104"/>
                </a:lnTo>
                <a:lnTo>
                  <a:pt x="3040734" y="2194788"/>
                </a:lnTo>
                <a:lnTo>
                  <a:pt x="3060438" y="2238786"/>
                </a:lnTo>
                <a:lnTo>
                  <a:pt x="3079658" y="2283094"/>
                </a:lnTo>
                <a:lnTo>
                  <a:pt x="3098389" y="2327708"/>
                </a:lnTo>
                <a:lnTo>
                  <a:pt x="3116628" y="2372625"/>
                </a:lnTo>
                <a:lnTo>
                  <a:pt x="3134371" y="2417841"/>
                </a:lnTo>
                <a:lnTo>
                  <a:pt x="3151614" y="2463352"/>
                </a:lnTo>
                <a:lnTo>
                  <a:pt x="3168353" y="2509153"/>
                </a:lnTo>
                <a:lnTo>
                  <a:pt x="3184585" y="2555242"/>
                </a:lnTo>
                <a:lnTo>
                  <a:pt x="3200305" y="2601614"/>
                </a:lnTo>
                <a:lnTo>
                  <a:pt x="3215510" y="2648265"/>
                </a:lnTo>
                <a:lnTo>
                  <a:pt x="3230196" y="2695191"/>
                </a:lnTo>
                <a:lnTo>
                  <a:pt x="3244359" y="2742390"/>
                </a:lnTo>
                <a:lnTo>
                  <a:pt x="3257995" y="2789855"/>
                </a:lnTo>
                <a:lnTo>
                  <a:pt x="3271100" y="2837585"/>
                </a:lnTo>
                <a:lnTo>
                  <a:pt x="3283672" y="2885575"/>
                </a:lnTo>
                <a:lnTo>
                  <a:pt x="3295704" y="2933820"/>
                </a:lnTo>
                <a:lnTo>
                  <a:pt x="3307195" y="2982318"/>
                </a:lnTo>
                <a:lnTo>
                  <a:pt x="3318141" y="3031064"/>
                </a:lnTo>
                <a:lnTo>
                  <a:pt x="3328536" y="3080055"/>
                </a:lnTo>
                <a:lnTo>
                  <a:pt x="3338378" y="3129286"/>
                </a:lnTo>
                <a:lnTo>
                  <a:pt x="3347662" y="3178754"/>
                </a:lnTo>
                <a:lnTo>
                  <a:pt x="3356386" y="3228454"/>
                </a:lnTo>
                <a:lnTo>
                  <a:pt x="3364544" y="3278384"/>
                </a:lnTo>
                <a:lnTo>
                  <a:pt x="3372134" y="3328539"/>
                </a:lnTo>
                <a:lnTo>
                  <a:pt x="3379150" y="3378914"/>
                </a:lnTo>
                <a:lnTo>
                  <a:pt x="3385591" y="3429507"/>
                </a:lnTo>
              </a:path>
            </a:pathLst>
          </a:custGeom>
          <a:ln w="38100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84172" y="103428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32560" y="640080"/>
            <a:ext cx="4014470" cy="1249680"/>
            <a:chOff x="1432560" y="640080"/>
            <a:chExt cx="4014470" cy="124968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2560" y="1441704"/>
              <a:ext cx="141731" cy="13868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73530" y="1412748"/>
              <a:ext cx="670560" cy="190500"/>
            </a:xfrm>
            <a:custGeom>
              <a:avLst/>
              <a:gdLst/>
              <a:ahLst/>
              <a:cxnLst/>
              <a:rect l="l" t="t" r="r" b="b"/>
              <a:pathLst>
                <a:path w="670560" h="190500">
                  <a:moveTo>
                    <a:pt x="556259" y="0"/>
                  </a:moveTo>
                  <a:lnTo>
                    <a:pt x="556259" y="190500"/>
                  </a:lnTo>
                  <a:lnTo>
                    <a:pt x="647699" y="114300"/>
                  </a:lnTo>
                  <a:lnTo>
                    <a:pt x="575309" y="114300"/>
                  </a:lnTo>
                  <a:lnTo>
                    <a:pt x="575309" y="76200"/>
                  </a:lnTo>
                  <a:lnTo>
                    <a:pt x="647699" y="76200"/>
                  </a:lnTo>
                  <a:lnTo>
                    <a:pt x="556259" y="0"/>
                  </a:lnTo>
                  <a:close/>
                </a:path>
                <a:path w="670560" h="190500">
                  <a:moveTo>
                    <a:pt x="556259" y="76200"/>
                  </a:moveTo>
                  <a:lnTo>
                    <a:pt x="0" y="76200"/>
                  </a:lnTo>
                  <a:lnTo>
                    <a:pt x="0" y="114300"/>
                  </a:lnTo>
                  <a:lnTo>
                    <a:pt x="556259" y="114300"/>
                  </a:lnTo>
                  <a:lnTo>
                    <a:pt x="556259" y="76200"/>
                  </a:lnTo>
                  <a:close/>
                </a:path>
                <a:path w="670560" h="190500">
                  <a:moveTo>
                    <a:pt x="647699" y="76200"/>
                  </a:moveTo>
                  <a:lnTo>
                    <a:pt x="575309" y="76200"/>
                  </a:lnTo>
                  <a:lnTo>
                    <a:pt x="575309" y="114300"/>
                  </a:lnTo>
                  <a:lnTo>
                    <a:pt x="647699" y="114300"/>
                  </a:lnTo>
                  <a:lnTo>
                    <a:pt x="670559" y="95250"/>
                  </a:lnTo>
                  <a:lnTo>
                    <a:pt x="647699" y="76200"/>
                  </a:lnTo>
                  <a:close/>
                </a:path>
              </a:pathLst>
            </a:custGeom>
            <a:solidFill>
              <a:srgbClr val="00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47316" y="1696212"/>
              <a:ext cx="141731" cy="13716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20773" y="1501775"/>
              <a:ext cx="190500" cy="265430"/>
            </a:xfrm>
            <a:custGeom>
              <a:avLst/>
              <a:gdLst/>
              <a:ahLst/>
              <a:cxnLst/>
              <a:rect l="l" t="t" r="r" b="b"/>
              <a:pathLst>
                <a:path w="190500" h="265430">
                  <a:moveTo>
                    <a:pt x="76212" y="151104"/>
                  </a:moveTo>
                  <a:lnTo>
                    <a:pt x="0" y="151511"/>
                  </a:lnTo>
                  <a:lnTo>
                    <a:pt x="95884" y="265302"/>
                  </a:lnTo>
                  <a:lnTo>
                    <a:pt x="174277" y="170179"/>
                  </a:lnTo>
                  <a:lnTo>
                    <a:pt x="76326" y="170179"/>
                  </a:lnTo>
                  <a:lnTo>
                    <a:pt x="76212" y="151104"/>
                  </a:lnTo>
                  <a:close/>
                </a:path>
                <a:path w="190500" h="265430">
                  <a:moveTo>
                    <a:pt x="114313" y="150901"/>
                  </a:moveTo>
                  <a:lnTo>
                    <a:pt x="76212" y="151104"/>
                  </a:lnTo>
                  <a:lnTo>
                    <a:pt x="76326" y="170179"/>
                  </a:lnTo>
                  <a:lnTo>
                    <a:pt x="114426" y="169925"/>
                  </a:lnTo>
                  <a:lnTo>
                    <a:pt x="114313" y="150901"/>
                  </a:lnTo>
                  <a:close/>
                </a:path>
                <a:path w="190500" h="265430">
                  <a:moveTo>
                    <a:pt x="190500" y="150495"/>
                  </a:moveTo>
                  <a:lnTo>
                    <a:pt x="114313" y="150901"/>
                  </a:lnTo>
                  <a:lnTo>
                    <a:pt x="114426" y="169925"/>
                  </a:lnTo>
                  <a:lnTo>
                    <a:pt x="76326" y="170179"/>
                  </a:lnTo>
                  <a:lnTo>
                    <a:pt x="174277" y="170179"/>
                  </a:lnTo>
                  <a:lnTo>
                    <a:pt x="190500" y="150495"/>
                  </a:lnTo>
                  <a:close/>
                </a:path>
                <a:path w="190500" h="265430">
                  <a:moveTo>
                    <a:pt x="113410" y="0"/>
                  </a:moveTo>
                  <a:lnTo>
                    <a:pt x="75310" y="253"/>
                  </a:lnTo>
                  <a:lnTo>
                    <a:pt x="76209" y="150495"/>
                  </a:lnTo>
                  <a:lnTo>
                    <a:pt x="76212" y="151104"/>
                  </a:lnTo>
                  <a:lnTo>
                    <a:pt x="114313" y="150901"/>
                  </a:lnTo>
                  <a:lnTo>
                    <a:pt x="113412" y="253"/>
                  </a:lnTo>
                  <a:lnTo>
                    <a:pt x="113410" y="0"/>
                  </a:lnTo>
                  <a:close/>
                </a:path>
              </a:pathLst>
            </a:custGeom>
            <a:solidFill>
              <a:srgbClr val="00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4516" y="672084"/>
              <a:ext cx="2820924" cy="11216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42032" y="640080"/>
              <a:ext cx="2904744" cy="124968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630423" y="697991"/>
            <a:ext cx="2714625" cy="1015365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 marR="18859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opportunity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cost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automated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 </a:t>
            </a:r>
            <a:r>
              <a:rPr sz="2000" spc="-20" dirty="0">
                <a:latin typeface="Arial MT"/>
                <a:cs typeface="Arial MT"/>
              </a:rPr>
              <a:t>low.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543040"/>
            <a:chOff x="0" y="0"/>
            <a:chExt cx="9144000" cy="654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" y="487680"/>
              <a:ext cx="8590788" cy="56540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100" y="448631"/>
              <a:ext cx="342900" cy="6039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41720"/>
              <a:ext cx="9144000" cy="400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" y="0"/>
              <a:ext cx="248411" cy="6542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7" y="78485"/>
              <a:ext cx="8930005" cy="6297930"/>
            </a:xfrm>
            <a:custGeom>
              <a:avLst/>
              <a:gdLst/>
              <a:ahLst/>
              <a:cxnLst/>
              <a:rect l="l" t="t" r="r" b="b"/>
              <a:pathLst>
                <a:path w="8930005" h="6297930">
                  <a:moveTo>
                    <a:pt x="0" y="458724"/>
                  </a:moveTo>
                  <a:lnTo>
                    <a:pt x="2075688" y="458724"/>
                  </a:lnTo>
                </a:path>
                <a:path w="8930005" h="6297930">
                  <a:moveTo>
                    <a:pt x="112775" y="583311"/>
                  </a:moveTo>
                  <a:lnTo>
                    <a:pt x="112775" y="0"/>
                  </a:lnTo>
                </a:path>
                <a:path w="8930005" h="6297930">
                  <a:moveTo>
                    <a:pt x="8097012" y="6214872"/>
                  </a:moveTo>
                  <a:lnTo>
                    <a:pt x="8930005" y="6214872"/>
                  </a:lnTo>
                </a:path>
                <a:path w="8930005" h="6297930">
                  <a:moveTo>
                    <a:pt x="8851392" y="5934456"/>
                  </a:moveTo>
                  <a:lnTo>
                    <a:pt x="8851392" y="6297752"/>
                  </a:lnTo>
                </a:path>
              </a:pathLst>
            </a:custGeom>
            <a:ln w="28956">
              <a:solidFill>
                <a:srgbClr val="0747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442" y="-54406"/>
            <a:ext cx="736219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000000"/>
                </a:solidFill>
              </a:rPr>
              <a:t>Why</a:t>
            </a:r>
            <a:r>
              <a:rPr sz="3300" spc="-4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the</a:t>
            </a:r>
            <a:r>
              <a:rPr sz="3300" spc="-3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PPF</a:t>
            </a:r>
            <a:r>
              <a:rPr sz="3300" spc="-3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Might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Be</a:t>
            </a:r>
            <a:r>
              <a:rPr sz="3300" spc="-40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Bowed</a:t>
            </a:r>
            <a:r>
              <a:rPr sz="3300" spc="-25" dirty="0">
                <a:solidFill>
                  <a:srgbClr val="000000"/>
                </a:solidFill>
              </a:rPr>
              <a:t> </a:t>
            </a:r>
            <a:r>
              <a:rPr sz="3300" spc="-10" dirty="0">
                <a:solidFill>
                  <a:srgbClr val="000000"/>
                </a:solidFill>
              </a:rPr>
              <a:t>Outward</a:t>
            </a:r>
            <a:endParaRPr sz="3300"/>
          </a:p>
        </p:txBody>
      </p:sp>
      <p:sp>
        <p:nvSpPr>
          <p:cNvPr id="9" name="object 9"/>
          <p:cNvSpPr txBox="1"/>
          <p:nvPr/>
        </p:nvSpPr>
        <p:spPr>
          <a:xfrm>
            <a:off x="5489828" y="607313"/>
            <a:ext cx="3310890" cy="557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812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At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workers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producing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cars.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few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 </a:t>
            </a:r>
            <a:r>
              <a:rPr sz="2800" spc="-10" dirty="0">
                <a:latin typeface="Arial MT"/>
                <a:cs typeface="Arial MT"/>
              </a:rPr>
              <a:t>computers </a:t>
            </a:r>
            <a:r>
              <a:rPr sz="2800" dirty="0">
                <a:latin typeface="Arial MT"/>
                <a:cs typeface="Arial MT"/>
              </a:rPr>
              <a:t>production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spc="-10" dirty="0">
                <a:latin typeface="Arial MT"/>
                <a:cs typeface="Arial MT"/>
              </a:rPr>
              <a:t>best.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Producing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cars </a:t>
            </a:r>
            <a:r>
              <a:rPr sz="2800" dirty="0">
                <a:latin typeface="Arial MT"/>
                <a:cs typeface="Arial MT"/>
              </a:rPr>
              <a:t>would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require </a:t>
            </a:r>
            <a:r>
              <a:rPr sz="2800" dirty="0">
                <a:latin typeface="Arial MT"/>
                <a:cs typeface="Arial MT"/>
              </a:rPr>
              <a:t>shifting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best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producers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away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computer production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 MT"/>
                <a:cs typeface="Arial MT"/>
              </a:rPr>
              <a:t>causing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drop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89828" y="6155537"/>
            <a:ext cx="2696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output.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7467" y="940308"/>
            <a:ext cx="4116704" cy="3954779"/>
          </a:xfrm>
          <a:custGeom>
            <a:avLst/>
            <a:gdLst/>
            <a:ahLst/>
            <a:cxnLst/>
            <a:rect l="l" t="t" r="r" b="b"/>
            <a:pathLst>
              <a:path w="4116704" h="3954779">
                <a:moveTo>
                  <a:pt x="0" y="0"/>
                </a:moveTo>
                <a:lnTo>
                  <a:pt x="0" y="3954779"/>
                </a:lnTo>
              </a:path>
              <a:path w="4116704" h="3954779">
                <a:moveTo>
                  <a:pt x="0" y="3954779"/>
                </a:moveTo>
                <a:lnTo>
                  <a:pt x="4116324" y="395477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57142" y="4897373"/>
            <a:ext cx="16173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Automated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Cars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4624" y="1000305"/>
            <a:ext cx="366395" cy="1633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b="1" spc="-10" dirty="0">
                <a:latin typeface="Arial"/>
                <a:cs typeface="Arial"/>
              </a:rPr>
              <a:t>Computers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63599" y="1466722"/>
            <a:ext cx="3385820" cy="3429635"/>
          </a:xfrm>
          <a:custGeom>
            <a:avLst/>
            <a:gdLst/>
            <a:ahLst/>
            <a:cxnLst/>
            <a:rect l="l" t="t" r="r" b="b"/>
            <a:pathLst>
              <a:path w="3385820" h="3429635">
                <a:moveTo>
                  <a:pt x="0" y="0"/>
                </a:moveTo>
                <a:lnTo>
                  <a:pt x="46915" y="3454"/>
                </a:lnTo>
                <a:lnTo>
                  <a:pt x="93671" y="7549"/>
                </a:lnTo>
                <a:lnTo>
                  <a:pt x="140264" y="12280"/>
                </a:lnTo>
                <a:lnTo>
                  <a:pt x="186690" y="17642"/>
                </a:lnTo>
                <a:lnTo>
                  <a:pt x="232945" y="23633"/>
                </a:lnTo>
                <a:lnTo>
                  <a:pt x="279025" y="30248"/>
                </a:lnTo>
                <a:lnTo>
                  <a:pt x="324927" y="37483"/>
                </a:lnTo>
                <a:lnTo>
                  <a:pt x="370646" y="45335"/>
                </a:lnTo>
                <a:lnTo>
                  <a:pt x="416179" y="53800"/>
                </a:lnTo>
                <a:lnTo>
                  <a:pt x="461522" y="62873"/>
                </a:lnTo>
                <a:lnTo>
                  <a:pt x="506671" y="72551"/>
                </a:lnTo>
                <a:lnTo>
                  <a:pt x="551623" y="82830"/>
                </a:lnTo>
                <a:lnTo>
                  <a:pt x="596373" y="93706"/>
                </a:lnTo>
                <a:lnTo>
                  <a:pt x="640917" y="105176"/>
                </a:lnTo>
                <a:lnTo>
                  <a:pt x="685252" y="117235"/>
                </a:lnTo>
                <a:lnTo>
                  <a:pt x="729375" y="129879"/>
                </a:lnTo>
                <a:lnTo>
                  <a:pt x="773280" y="143105"/>
                </a:lnTo>
                <a:lnTo>
                  <a:pt x="816965" y="156909"/>
                </a:lnTo>
                <a:lnTo>
                  <a:pt x="860425" y="171286"/>
                </a:lnTo>
                <a:lnTo>
                  <a:pt x="903657" y="186234"/>
                </a:lnTo>
                <a:lnTo>
                  <a:pt x="946657" y="201747"/>
                </a:lnTo>
                <a:lnTo>
                  <a:pt x="989421" y="217823"/>
                </a:lnTo>
                <a:lnTo>
                  <a:pt x="1031945" y="234457"/>
                </a:lnTo>
                <a:lnTo>
                  <a:pt x="1074226" y="251646"/>
                </a:lnTo>
                <a:lnTo>
                  <a:pt x="1116259" y="269385"/>
                </a:lnTo>
                <a:lnTo>
                  <a:pt x="1158041" y="287672"/>
                </a:lnTo>
                <a:lnTo>
                  <a:pt x="1199568" y="306501"/>
                </a:lnTo>
                <a:lnTo>
                  <a:pt x="1240835" y="325868"/>
                </a:lnTo>
                <a:lnTo>
                  <a:pt x="1281841" y="345771"/>
                </a:lnTo>
                <a:lnTo>
                  <a:pt x="1322579" y="366206"/>
                </a:lnTo>
                <a:lnTo>
                  <a:pt x="1363047" y="387167"/>
                </a:lnTo>
                <a:lnTo>
                  <a:pt x="1403241" y="408652"/>
                </a:lnTo>
                <a:lnTo>
                  <a:pt x="1443157" y="430657"/>
                </a:lnTo>
                <a:lnTo>
                  <a:pt x="1482791" y="453178"/>
                </a:lnTo>
                <a:lnTo>
                  <a:pt x="1522139" y="476210"/>
                </a:lnTo>
                <a:lnTo>
                  <a:pt x="1561198" y="499750"/>
                </a:lnTo>
                <a:lnTo>
                  <a:pt x="1599963" y="523795"/>
                </a:lnTo>
                <a:lnTo>
                  <a:pt x="1638432" y="548339"/>
                </a:lnTo>
                <a:lnTo>
                  <a:pt x="1676599" y="573380"/>
                </a:lnTo>
                <a:lnTo>
                  <a:pt x="1714461" y="598914"/>
                </a:lnTo>
                <a:lnTo>
                  <a:pt x="1752015" y="624936"/>
                </a:lnTo>
                <a:lnTo>
                  <a:pt x="1789256" y="651442"/>
                </a:lnTo>
                <a:lnTo>
                  <a:pt x="1826181" y="678430"/>
                </a:lnTo>
                <a:lnTo>
                  <a:pt x="1862786" y="705895"/>
                </a:lnTo>
                <a:lnTo>
                  <a:pt x="1899067" y="733832"/>
                </a:lnTo>
                <a:lnTo>
                  <a:pt x="1935020" y="762239"/>
                </a:lnTo>
                <a:lnTo>
                  <a:pt x="1970641" y="791111"/>
                </a:lnTo>
                <a:lnTo>
                  <a:pt x="2005928" y="820445"/>
                </a:lnTo>
                <a:lnTo>
                  <a:pt x="2040874" y="850236"/>
                </a:lnTo>
                <a:lnTo>
                  <a:pt x="2075478" y="880481"/>
                </a:lnTo>
                <a:lnTo>
                  <a:pt x="2109735" y="911176"/>
                </a:lnTo>
                <a:lnTo>
                  <a:pt x="2143641" y="942317"/>
                </a:lnTo>
                <a:lnTo>
                  <a:pt x="2177192" y="973900"/>
                </a:lnTo>
                <a:lnTo>
                  <a:pt x="2210385" y="1005921"/>
                </a:lnTo>
                <a:lnTo>
                  <a:pt x="2243216" y="1038377"/>
                </a:lnTo>
                <a:lnTo>
                  <a:pt x="2275681" y="1071263"/>
                </a:lnTo>
                <a:lnTo>
                  <a:pt x="2307776" y="1104575"/>
                </a:lnTo>
                <a:lnTo>
                  <a:pt x="2339497" y="1138311"/>
                </a:lnTo>
                <a:lnTo>
                  <a:pt x="2370841" y="1172465"/>
                </a:lnTo>
                <a:lnTo>
                  <a:pt x="2401803" y="1207034"/>
                </a:lnTo>
                <a:lnTo>
                  <a:pt x="2432381" y="1242014"/>
                </a:lnTo>
                <a:lnTo>
                  <a:pt x="2462569" y="1277401"/>
                </a:lnTo>
                <a:lnTo>
                  <a:pt x="2492364" y="1313192"/>
                </a:lnTo>
                <a:lnTo>
                  <a:pt x="2521763" y="1349382"/>
                </a:lnTo>
                <a:lnTo>
                  <a:pt x="2550761" y="1385968"/>
                </a:lnTo>
                <a:lnTo>
                  <a:pt x="2579355" y="1422946"/>
                </a:lnTo>
                <a:lnTo>
                  <a:pt x="2607541" y="1460311"/>
                </a:lnTo>
                <a:lnTo>
                  <a:pt x="2635315" y="1498060"/>
                </a:lnTo>
                <a:lnTo>
                  <a:pt x="2662673" y="1536189"/>
                </a:lnTo>
                <a:lnTo>
                  <a:pt x="2689611" y="1574695"/>
                </a:lnTo>
                <a:lnTo>
                  <a:pt x="2716126" y="1613573"/>
                </a:lnTo>
                <a:lnTo>
                  <a:pt x="2742214" y="1652819"/>
                </a:lnTo>
                <a:lnTo>
                  <a:pt x="2767871" y="1692430"/>
                </a:lnTo>
                <a:lnTo>
                  <a:pt x="2793093" y="1732402"/>
                </a:lnTo>
                <a:lnTo>
                  <a:pt x="2817876" y="1772730"/>
                </a:lnTo>
                <a:lnTo>
                  <a:pt x="2842216" y="1813412"/>
                </a:lnTo>
                <a:lnTo>
                  <a:pt x="2866110" y="1854442"/>
                </a:lnTo>
                <a:lnTo>
                  <a:pt x="2889554" y="1895818"/>
                </a:lnTo>
                <a:lnTo>
                  <a:pt x="2912544" y="1937535"/>
                </a:lnTo>
                <a:lnTo>
                  <a:pt x="2935076" y="1979589"/>
                </a:lnTo>
                <a:lnTo>
                  <a:pt x="2957146" y="2021977"/>
                </a:lnTo>
                <a:lnTo>
                  <a:pt x="2978751" y="2064695"/>
                </a:lnTo>
                <a:lnTo>
                  <a:pt x="2999886" y="2107739"/>
                </a:lnTo>
                <a:lnTo>
                  <a:pt x="3020549" y="2151104"/>
                </a:lnTo>
                <a:lnTo>
                  <a:pt x="3040734" y="2194788"/>
                </a:lnTo>
                <a:lnTo>
                  <a:pt x="3060438" y="2238786"/>
                </a:lnTo>
                <a:lnTo>
                  <a:pt x="3079658" y="2283094"/>
                </a:lnTo>
                <a:lnTo>
                  <a:pt x="3098389" y="2327708"/>
                </a:lnTo>
                <a:lnTo>
                  <a:pt x="3116628" y="2372625"/>
                </a:lnTo>
                <a:lnTo>
                  <a:pt x="3134371" y="2417841"/>
                </a:lnTo>
                <a:lnTo>
                  <a:pt x="3151614" y="2463352"/>
                </a:lnTo>
                <a:lnTo>
                  <a:pt x="3168353" y="2509153"/>
                </a:lnTo>
                <a:lnTo>
                  <a:pt x="3184585" y="2555242"/>
                </a:lnTo>
                <a:lnTo>
                  <a:pt x="3200305" y="2601614"/>
                </a:lnTo>
                <a:lnTo>
                  <a:pt x="3215510" y="2648265"/>
                </a:lnTo>
                <a:lnTo>
                  <a:pt x="3230196" y="2695191"/>
                </a:lnTo>
                <a:lnTo>
                  <a:pt x="3244359" y="2742390"/>
                </a:lnTo>
                <a:lnTo>
                  <a:pt x="3257995" y="2789855"/>
                </a:lnTo>
                <a:lnTo>
                  <a:pt x="3271100" y="2837585"/>
                </a:lnTo>
                <a:lnTo>
                  <a:pt x="3283672" y="2885575"/>
                </a:lnTo>
                <a:lnTo>
                  <a:pt x="3295704" y="2933820"/>
                </a:lnTo>
                <a:lnTo>
                  <a:pt x="3307195" y="2982318"/>
                </a:lnTo>
                <a:lnTo>
                  <a:pt x="3318141" y="3031064"/>
                </a:lnTo>
                <a:lnTo>
                  <a:pt x="3328536" y="3080055"/>
                </a:lnTo>
                <a:lnTo>
                  <a:pt x="3338378" y="3129286"/>
                </a:lnTo>
                <a:lnTo>
                  <a:pt x="3347662" y="3178754"/>
                </a:lnTo>
                <a:lnTo>
                  <a:pt x="3356386" y="3228454"/>
                </a:lnTo>
                <a:lnTo>
                  <a:pt x="3364544" y="3278384"/>
                </a:lnTo>
                <a:lnTo>
                  <a:pt x="3372134" y="3328539"/>
                </a:lnTo>
                <a:lnTo>
                  <a:pt x="3379150" y="3378914"/>
                </a:lnTo>
                <a:lnTo>
                  <a:pt x="3385591" y="3429507"/>
                </a:lnTo>
              </a:path>
            </a:pathLst>
          </a:custGeom>
          <a:ln w="38100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84172" y="103428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32560" y="1412747"/>
            <a:ext cx="878840" cy="421005"/>
            <a:chOff x="1432560" y="1412747"/>
            <a:chExt cx="878840" cy="42100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2560" y="1441703"/>
              <a:ext cx="141731" cy="1386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73530" y="1412747"/>
              <a:ext cx="670560" cy="190500"/>
            </a:xfrm>
            <a:custGeom>
              <a:avLst/>
              <a:gdLst/>
              <a:ahLst/>
              <a:cxnLst/>
              <a:rect l="l" t="t" r="r" b="b"/>
              <a:pathLst>
                <a:path w="670560" h="190500">
                  <a:moveTo>
                    <a:pt x="556259" y="0"/>
                  </a:moveTo>
                  <a:lnTo>
                    <a:pt x="556259" y="190500"/>
                  </a:lnTo>
                  <a:lnTo>
                    <a:pt x="647699" y="114300"/>
                  </a:lnTo>
                  <a:lnTo>
                    <a:pt x="575309" y="114300"/>
                  </a:lnTo>
                  <a:lnTo>
                    <a:pt x="575309" y="76200"/>
                  </a:lnTo>
                  <a:lnTo>
                    <a:pt x="647699" y="76200"/>
                  </a:lnTo>
                  <a:lnTo>
                    <a:pt x="556259" y="0"/>
                  </a:lnTo>
                  <a:close/>
                </a:path>
                <a:path w="670560" h="190500">
                  <a:moveTo>
                    <a:pt x="556259" y="76200"/>
                  </a:moveTo>
                  <a:lnTo>
                    <a:pt x="0" y="76200"/>
                  </a:lnTo>
                  <a:lnTo>
                    <a:pt x="0" y="114300"/>
                  </a:lnTo>
                  <a:lnTo>
                    <a:pt x="556259" y="114300"/>
                  </a:lnTo>
                  <a:lnTo>
                    <a:pt x="556259" y="76200"/>
                  </a:lnTo>
                  <a:close/>
                </a:path>
                <a:path w="670560" h="190500">
                  <a:moveTo>
                    <a:pt x="647699" y="76200"/>
                  </a:moveTo>
                  <a:lnTo>
                    <a:pt x="575309" y="76200"/>
                  </a:lnTo>
                  <a:lnTo>
                    <a:pt x="575309" y="114300"/>
                  </a:lnTo>
                  <a:lnTo>
                    <a:pt x="647699" y="114300"/>
                  </a:lnTo>
                  <a:lnTo>
                    <a:pt x="670559" y="95250"/>
                  </a:lnTo>
                  <a:lnTo>
                    <a:pt x="647699" y="76200"/>
                  </a:lnTo>
                  <a:close/>
                </a:path>
              </a:pathLst>
            </a:custGeom>
            <a:solidFill>
              <a:srgbClr val="00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47316" y="1696211"/>
              <a:ext cx="141731" cy="1371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20773" y="1501774"/>
              <a:ext cx="190500" cy="265430"/>
            </a:xfrm>
            <a:custGeom>
              <a:avLst/>
              <a:gdLst/>
              <a:ahLst/>
              <a:cxnLst/>
              <a:rect l="l" t="t" r="r" b="b"/>
              <a:pathLst>
                <a:path w="190500" h="265430">
                  <a:moveTo>
                    <a:pt x="76212" y="151104"/>
                  </a:moveTo>
                  <a:lnTo>
                    <a:pt x="0" y="151511"/>
                  </a:lnTo>
                  <a:lnTo>
                    <a:pt x="95884" y="265302"/>
                  </a:lnTo>
                  <a:lnTo>
                    <a:pt x="174277" y="170179"/>
                  </a:lnTo>
                  <a:lnTo>
                    <a:pt x="76326" y="170179"/>
                  </a:lnTo>
                  <a:lnTo>
                    <a:pt x="76212" y="151104"/>
                  </a:lnTo>
                  <a:close/>
                </a:path>
                <a:path w="190500" h="265430">
                  <a:moveTo>
                    <a:pt x="114313" y="150901"/>
                  </a:moveTo>
                  <a:lnTo>
                    <a:pt x="76212" y="151104"/>
                  </a:lnTo>
                  <a:lnTo>
                    <a:pt x="76326" y="170179"/>
                  </a:lnTo>
                  <a:lnTo>
                    <a:pt x="114426" y="169925"/>
                  </a:lnTo>
                  <a:lnTo>
                    <a:pt x="114313" y="150901"/>
                  </a:lnTo>
                  <a:close/>
                </a:path>
                <a:path w="190500" h="265430">
                  <a:moveTo>
                    <a:pt x="190500" y="150495"/>
                  </a:moveTo>
                  <a:lnTo>
                    <a:pt x="114313" y="150901"/>
                  </a:lnTo>
                  <a:lnTo>
                    <a:pt x="114426" y="169925"/>
                  </a:lnTo>
                  <a:lnTo>
                    <a:pt x="76326" y="170179"/>
                  </a:lnTo>
                  <a:lnTo>
                    <a:pt x="174277" y="170179"/>
                  </a:lnTo>
                  <a:lnTo>
                    <a:pt x="190500" y="150495"/>
                  </a:lnTo>
                  <a:close/>
                </a:path>
                <a:path w="190500" h="265430">
                  <a:moveTo>
                    <a:pt x="113410" y="0"/>
                  </a:moveTo>
                  <a:lnTo>
                    <a:pt x="75310" y="253"/>
                  </a:lnTo>
                  <a:lnTo>
                    <a:pt x="76209" y="150495"/>
                  </a:lnTo>
                  <a:lnTo>
                    <a:pt x="76212" y="151104"/>
                  </a:lnTo>
                  <a:lnTo>
                    <a:pt x="114313" y="150901"/>
                  </a:lnTo>
                  <a:lnTo>
                    <a:pt x="113412" y="253"/>
                  </a:lnTo>
                  <a:lnTo>
                    <a:pt x="113410" y="0"/>
                  </a:lnTo>
                  <a:close/>
                </a:path>
              </a:pathLst>
            </a:custGeom>
            <a:solidFill>
              <a:srgbClr val="00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89984" y="2540634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2563" y="2880360"/>
            <a:ext cx="3667125" cy="1751330"/>
            <a:chOff x="702563" y="2880360"/>
            <a:chExt cx="3667125" cy="175133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39312" y="2909316"/>
              <a:ext cx="140208" cy="13868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51325" y="2880360"/>
              <a:ext cx="547370" cy="190500"/>
            </a:xfrm>
            <a:custGeom>
              <a:avLst/>
              <a:gdLst/>
              <a:ahLst/>
              <a:cxnLst/>
              <a:rect l="l" t="t" r="r" b="b"/>
              <a:pathLst>
                <a:path w="547370" h="190500">
                  <a:moveTo>
                    <a:pt x="432815" y="0"/>
                  </a:moveTo>
                  <a:lnTo>
                    <a:pt x="432815" y="190500"/>
                  </a:lnTo>
                  <a:lnTo>
                    <a:pt x="524255" y="114300"/>
                  </a:lnTo>
                  <a:lnTo>
                    <a:pt x="451865" y="114300"/>
                  </a:lnTo>
                  <a:lnTo>
                    <a:pt x="451865" y="76200"/>
                  </a:lnTo>
                  <a:lnTo>
                    <a:pt x="524255" y="76200"/>
                  </a:lnTo>
                  <a:lnTo>
                    <a:pt x="432815" y="0"/>
                  </a:lnTo>
                  <a:close/>
                </a:path>
                <a:path w="547370" h="190500">
                  <a:moveTo>
                    <a:pt x="432815" y="76200"/>
                  </a:moveTo>
                  <a:lnTo>
                    <a:pt x="0" y="76200"/>
                  </a:lnTo>
                  <a:lnTo>
                    <a:pt x="0" y="114300"/>
                  </a:lnTo>
                  <a:lnTo>
                    <a:pt x="432815" y="114300"/>
                  </a:lnTo>
                  <a:lnTo>
                    <a:pt x="432815" y="76200"/>
                  </a:lnTo>
                  <a:close/>
                </a:path>
                <a:path w="547370" h="190500">
                  <a:moveTo>
                    <a:pt x="524255" y="76200"/>
                  </a:moveTo>
                  <a:lnTo>
                    <a:pt x="451865" y="76200"/>
                  </a:lnTo>
                  <a:lnTo>
                    <a:pt x="451865" y="114300"/>
                  </a:lnTo>
                  <a:lnTo>
                    <a:pt x="524255" y="114300"/>
                  </a:lnTo>
                  <a:lnTo>
                    <a:pt x="547115" y="95250"/>
                  </a:lnTo>
                  <a:lnTo>
                    <a:pt x="524255" y="76200"/>
                  </a:lnTo>
                  <a:close/>
                </a:path>
              </a:pathLst>
            </a:custGeom>
            <a:solidFill>
              <a:srgbClr val="00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1667" y="4017263"/>
              <a:ext cx="141732" cy="13868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78808" y="2974086"/>
              <a:ext cx="190500" cy="1051560"/>
            </a:xfrm>
            <a:custGeom>
              <a:avLst/>
              <a:gdLst/>
              <a:ahLst/>
              <a:cxnLst/>
              <a:rect l="l" t="t" r="r" b="b"/>
              <a:pathLst>
                <a:path w="190500" h="1051560">
                  <a:moveTo>
                    <a:pt x="76200" y="937259"/>
                  </a:moveTo>
                  <a:lnTo>
                    <a:pt x="0" y="937259"/>
                  </a:lnTo>
                  <a:lnTo>
                    <a:pt x="95250" y="1051559"/>
                  </a:lnTo>
                  <a:lnTo>
                    <a:pt x="174625" y="956309"/>
                  </a:lnTo>
                  <a:lnTo>
                    <a:pt x="76200" y="956309"/>
                  </a:lnTo>
                  <a:lnTo>
                    <a:pt x="76200" y="937259"/>
                  </a:lnTo>
                  <a:close/>
                </a:path>
                <a:path w="190500" h="1051560">
                  <a:moveTo>
                    <a:pt x="114300" y="0"/>
                  </a:moveTo>
                  <a:lnTo>
                    <a:pt x="76200" y="0"/>
                  </a:lnTo>
                  <a:lnTo>
                    <a:pt x="76200" y="956309"/>
                  </a:lnTo>
                  <a:lnTo>
                    <a:pt x="114300" y="956309"/>
                  </a:lnTo>
                  <a:lnTo>
                    <a:pt x="114300" y="0"/>
                  </a:lnTo>
                  <a:close/>
                </a:path>
                <a:path w="190500" h="1051560">
                  <a:moveTo>
                    <a:pt x="190500" y="937259"/>
                  </a:moveTo>
                  <a:lnTo>
                    <a:pt x="114300" y="937259"/>
                  </a:lnTo>
                  <a:lnTo>
                    <a:pt x="114300" y="956309"/>
                  </a:lnTo>
                  <a:lnTo>
                    <a:pt x="174625" y="956309"/>
                  </a:lnTo>
                  <a:lnTo>
                    <a:pt x="190500" y="937259"/>
                  </a:lnTo>
                  <a:close/>
                </a:path>
              </a:pathLst>
            </a:custGeom>
            <a:solidFill>
              <a:srgbClr val="00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3523" y="3413760"/>
              <a:ext cx="2465832" cy="112166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563" y="3381756"/>
              <a:ext cx="2496312" cy="12496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89431" y="3439668"/>
              <a:ext cx="2359660" cy="1015365"/>
            </a:xfrm>
            <a:custGeom>
              <a:avLst/>
              <a:gdLst/>
              <a:ahLst/>
              <a:cxnLst/>
              <a:rect l="l" t="t" r="r" b="b"/>
              <a:pathLst>
                <a:path w="2359660" h="1015364">
                  <a:moveTo>
                    <a:pt x="2359152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2359152" y="1014984"/>
                  </a:lnTo>
                  <a:lnTo>
                    <a:pt x="235915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69086" y="3465067"/>
            <a:ext cx="204406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B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opportunity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automated </a:t>
            </a:r>
            <a:r>
              <a:rPr sz="2000" dirty="0">
                <a:latin typeface="Arial MT"/>
                <a:cs typeface="Arial MT"/>
              </a:rPr>
              <a:t>car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high.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1610" y="249173"/>
            <a:ext cx="75799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Why</a:t>
            </a:r>
            <a:r>
              <a:rPr sz="3400" spc="-30" dirty="0"/>
              <a:t> </a:t>
            </a:r>
            <a:r>
              <a:rPr sz="3400" dirty="0"/>
              <a:t>the</a:t>
            </a:r>
            <a:r>
              <a:rPr sz="3400" spc="-35" dirty="0"/>
              <a:t> </a:t>
            </a:r>
            <a:r>
              <a:rPr sz="3400" dirty="0"/>
              <a:t>PPF</a:t>
            </a:r>
            <a:r>
              <a:rPr sz="3400" spc="-45" dirty="0"/>
              <a:t> </a:t>
            </a:r>
            <a:r>
              <a:rPr sz="3400" dirty="0"/>
              <a:t>Might</a:t>
            </a:r>
            <a:r>
              <a:rPr sz="3400" spc="-30" dirty="0"/>
              <a:t> </a:t>
            </a:r>
            <a:r>
              <a:rPr sz="3400" dirty="0"/>
              <a:t>Be</a:t>
            </a:r>
            <a:r>
              <a:rPr sz="3400" spc="-40" dirty="0"/>
              <a:t> </a:t>
            </a:r>
            <a:r>
              <a:rPr sz="3400" dirty="0"/>
              <a:t>Bowed</a:t>
            </a:r>
            <a:r>
              <a:rPr sz="3400" spc="-40" dirty="0"/>
              <a:t> </a:t>
            </a:r>
            <a:r>
              <a:rPr sz="3400" spc="-10" dirty="0"/>
              <a:t>Outward</a:t>
            </a:r>
            <a:endParaRPr sz="34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351520" cy="43173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The</a:t>
            </a:r>
            <a:r>
              <a:rPr sz="3400" spc="-3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PPF</a:t>
            </a:r>
            <a:r>
              <a:rPr sz="3400" spc="-2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is</a:t>
            </a:r>
            <a:r>
              <a:rPr sz="3400" spc="-2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bowed</a:t>
            </a:r>
            <a:r>
              <a:rPr sz="3400" spc="-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outward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 when:</a:t>
            </a:r>
            <a:endParaRPr sz="3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workers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skills</a:t>
            </a:r>
            <a:endParaRPr sz="3200">
              <a:latin typeface="Arial MT"/>
              <a:cs typeface="Arial MT"/>
            </a:endParaRPr>
          </a:p>
          <a:p>
            <a:pPr marL="755015" marR="524510" lvl="1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opportunity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costs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producing 	</a:t>
            </a:r>
            <a:r>
              <a:rPr sz="3200" dirty="0">
                <a:latin typeface="Arial MT"/>
                <a:cs typeface="Arial MT"/>
              </a:rPr>
              <a:t>one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good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terms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other</a:t>
            </a:r>
            <a:endParaRPr sz="3200">
              <a:latin typeface="Arial MT"/>
              <a:cs typeface="Arial MT"/>
            </a:endParaRPr>
          </a:p>
          <a:p>
            <a:pPr marL="755015" marR="365760" lvl="1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There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some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other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resource,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mix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	</a:t>
            </a:r>
            <a:r>
              <a:rPr sz="3200" dirty="0">
                <a:latin typeface="Arial MT"/>
                <a:cs typeface="Arial MT"/>
              </a:rPr>
              <a:t>resources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varying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opportunity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costs</a:t>
            </a:r>
            <a:endParaRPr sz="3200">
              <a:latin typeface="Arial MT"/>
              <a:cs typeface="Arial MT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690"/>
              </a:spcBef>
              <a:buSzPct val="89285"/>
              <a:buChar char="•"/>
              <a:tabLst>
                <a:tab pos="1155700" algn="l"/>
              </a:tabLst>
            </a:pPr>
            <a:r>
              <a:rPr sz="2800" dirty="0">
                <a:latin typeface="Arial MT"/>
                <a:cs typeface="Arial MT"/>
              </a:rPr>
              <a:t>E.g.,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types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land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suited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different </a:t>
            </a:r>
            <a:r>
              <a:rPr sz="2800" spc="-20" dirty="0">
                <a:latin typeface="Arial MT"/>
                <a:cs typeface="Arial MT"/>
              </a:rPr>
              <a:t>uses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Economist</a:t>
            </a:r>
            <a:r>
              <a:rPr spc="-5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Scientist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100695" cy="43891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Microeconomics</a:t>
            </a:r>
            <a:endParaRPr sz="3400">
              <a:latin typeface="Arial MT"/>
              <a:cs typeface="Arial MT"/>
            </a:endParaRPr>
          </a:p>
          <a:p>
            <a:pPr marL="755015" marR="13906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study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households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firms 	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decisions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in 	</a:t>
            </a:r>
            <a:r>
              <a:rPr sz="3200" spc="-10" dirty="0">
                <a:latin typeface="Arial MT"/>
                <a:cs typeface="Arial MT"/>
              </a:rPr>
              <a:t>markets</a:t>
            </a:r>
            <a:endParaRPr sz="3200">
              <a:latin typeface="Arial MT"/>
              <a:cs typeface="Arial MT"/>
            </a:endParaRPr>
          </a:p>
          <a:p>
            <a:pPr marL="516890" indent="-504190">
              <a:lnSpc>
                <a:spcPct val="100000"/>
              </a:lnSpc>
              <a:spcBef>
                <a:spcPts val="825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Macroeconomics</a:t>
            </a:r>
            <a:endParaRPr sz="34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6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study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economy-</a:t>
            </a:r>
            <a:r>
              <a:rPr sz="3200" dirty="0">
                <a:latin typeface="Arial MT"/>
                <a:cs typeface="Arial MT"/>
              </a:rPr>
              <a:t>wide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phenomena, 	</a:t>
            </a:r>
            <a:r>
              <a:rPr sz="3200" dirty="0">
                <a:latin typeface="Arial MT"/>
                <a:cs typeface="Arial MT"/>
              </a:rPr>
              <a:t>including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inflation,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unemployment,</a:t>
            </a:r>
            <a:r>
              <a:rPr sz="3200" spc="-11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	</a:t>
            </a:r>
            <a:r>
              <a:rPr sz="3200" dirty="0">
                <a:latin typeface="Arial MT"/>
                <a:cs typeface="Arial MT"/>
              </a:rPr>
              <a:t>economic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growth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987155" cy="1132840"/>
            <a:chOff x="0" y="0"/>
            <a:chExt cx="8987155" cy="1132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75232" cy="11323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1832"/>
              <a:ext cx="8830056" cy="1905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548" y="6286500"/>
            <a:ext cx="8763378" cy="10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00" dirty="0"/>
              <a:t> </a:t>
            </a:r>
            <a:r>
              <a:rPr dirty="0"/>
              <a:t>Economist</a:t>
            </a:r>
            <a:r>
              <a:rPr spc="-75" dirty="0"/>
              <a:t> </a:t>
            </a:r>
            <a:r>
              <a:rPr dirty="0"/>
              <a:t>as</a:t>
            </a:r>
            <a:r>
              <a:rPr spc="-95" dirty="0"/>
              <a:t> </a:t>
            </a:r>
            <a:r>
              <a:rPr dirty="0"/>
              <a:t>Policy</a:t>
            </a:r>
            <a:r>
              <a:rPr spc="-85" dirty="0"/>
              <a:t> </a:t>
            </a:r>
            <a:r>
              <a:rPr spc="-10" dirty="0"/>
              <a:t>Adviser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56717" y="945846"/>
            <a:ext cx="8325484" cy="49739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900"/>
              </a:spcBef>
              <a:buFont typeface="Wingdings"/>
              <a:buChar char=""/>
              <a:tabLst>
                <a:tab pos="516890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Positive</a:t>
            </a:r>
            <a:r>
              <a:rPr sz="3400" spc="-9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statements:</a:t>
            </a:r>
            <a:r>
              <a:rPr sz="3400" spc="-6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descriptive</a:t>
            </a:r>
            <a:endParaRPr sz="3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5015" algn="l"/>
              </a:tabLst>
            </a:pPr>
            <a:r>
              <a:rPr sz="3200" dirty="0">
                <a:latin typeface="Arial MT"/>
                <a:cs typeface="Arial MT"/>
              </a:rPr>
              <a:t>Attempt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describe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world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is</a:t>
            </a:r>
            <a:endParaRPr sz="3200">
              <a:latin typeface="Arial MT"/>
              <a:cs typeface="Arial MT"/>
            </a:endParaRPr>
          </a:p>
          <a:p>
            <a:pPr marL="755015" marR="161290" lvl="1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Confirm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refute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examining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evidence: 	“Minimum-</a:t>
            </a:r>
            <a:r>
              <a:rPr sz="3200" dirty="0">
                <a:latin typeface="Arial MT"/>
                <a:cs typeface="Arial MT"/>
              </a:rPr>
              <a:t>wage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laws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cause 	unemployment”</a:t>
            </a:r>
            <a:endParaRPr sz="3200">
              <a:latin typeface="Arial MT"/>
              <a:cs typeface="Arial MT"/>
            </a:endParaRPr>
          </a:p>
          <a:p>
            <a:pPr marL="516255" indent="-503555">
              <a:lnSpc>
                <a:spcPct val="100000"/>
              </a:lnSpc>
              <a:spcBef>
                <a:spcPts val="819"/>
              </a:spcBef>
              <a:buFont typeface="Wingdings"/>
              <a:buChar char=""/>
              <a:tabLst>
                <a:tab pos="516255" algn="l"/>
              </a:tabLst>
            </a:pP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Normative</a:t>
            </a:r>
            <a:r>
              <a:rPr sz="3400" spc="-150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5EA3"/>
                </a:solidFill>
                <a:latin typeface="Arial MT"/>
                <a:cs typeface="Arial MT"/>
              </a:rPr>
              <a:t>statements:</a:t>
            </a:r>
            <a:r>
              <a:rPr sz="3400" spc="-145" dirty="0">
                <a:solidFill>
                  <a:srgbClr val="005EA3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05EA3"/>
                </a:solidFill>
                <a:latin typeface="Arial MT"/>
                <a:cs typeface="Arial MT"/>
              </a:rPr>
              <a:t>prescriptive</a:t>
            </a:r>
            <a:endParaRPr sz="34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65"/>
              </a:spcBef>
              <a:buChar char="–"/>
              <a:tabLst>
                <a:tab pos="756285" algn="l"/>
              </a:tabLst>
            </a:pPr>
            <a:r>
              <a:rPr sz="3200" dirty="0">
                <a:latin typeface="Arial MT"/>
                <a:cs typeface="Arial MT"/>
              </a:rPr>
              <a:t>Attempt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prescribe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world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should 	</a:t>
            </a:r>
            <a:r>
              <a:rPr sz="3200" dirty="0">
                <a:latin typeface="Arial MT"/>
                <a:cs typeface="Arial MT"/>
              </a:rPr>
              <a:t>be: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“The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government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should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raise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	</a:t>
            </a:r>
            <a:r>
              <a:rPr sz="3200" dirty="0">
                <a:latin typeface="Arial MT"/>
                <a:cs typeface="Arial MT"/>
              </a:rPr>
              <a:t>minimum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wage”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1" y="0"/>
            <a:ext cx="9131808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704048"/>
            <a:ext cx="104775" cy="55962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500" y="710131"/>
            <a:ext cx="104775" cy="55962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749" y="162813"/>
            <a:ext cx="87572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5670" algn="l"/>
              </a:tabLst>
            </a:pPr>
            <a:r>
              <a:rPr sz="3200" dirty="0"/>
              <a:t>Active</a:t>
            </a:r>
            <a:r>
              <a:rPr sz="3200" spc="-60" dirty="0"/>
              <a:t> </a:t>
            </a:r>
            <a:r>
              <a:rPr sz="3200" dirty="0"/>
              <a:t>Learning</a:t>
            </a:r>
            <a:r>
              <a:rPr sz="3200" spc="-55" dirty="0"/>
              <a:t> </a:t>
            </a:r>
            <a:r>
              <a:rPr sz="3200" spc="-50" dirty="0"/>
              <a:t>3</a:t>
            </a:r>
            <a:r>
              <a:rPr sz="3200" dirty="0"/>
              <a:t>	Positive</a:t>
            </a:r>
            <a:r>
              <a:rPr sz="3200" spc="-35" dirty="0"/>
              <a:t> </a:t>
            </a:r>
            <a:r>
              <a:rPr sz="3200" dirty="0"/>
              <a:t>vs.</a:t>
            </a:r>
            <a:r>
              <a:rPr sz="3200" spc="-35" dirty="0"/>
              <a:t> </a:t>
            </a:r>
            <a:r>
              <a:rPr sz="3200" spc="-10" dirty="0"/>
              <a:t>Normative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07340" y="937005"/>
            <a:ext cx="8256905" cy="465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45134" algn="just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Which</a:t>
            </a:r>
            <a:r>
              <a:rPr sz="3100" spc="-9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of</a:t>
            </a:r>
            <a:r>
              <a:rPr sz="3100" spc="-10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these</a:t>
            </a:r>
            <a:r>
              <a:rPr sz="3100" spc="-9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statements</a:t>
            </a:r>
            <a:r>
              <a:rPr sz="3100" spc="-6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are</a:t>
            </a:r>
            <a:r>
              <a:rPr sz="3100" spc="-9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“positive”</a:t>
            </a:r>
            <a:r>
              <a:rPr sz="3100" spc="-85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spc="-25" dirty="0">
                <a:solidFill>
                  <a:srgbClr val="161645"/>
                </a:solidFill>
                <a:latin typeface="Arial MT"/>
                <a:cs typeface="Arial MT"/>
              </a:rPr>
              <a:t>and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which</a:t>
            </a:r>
            <a:r>
              <a:rPr sz="3100" spc="-7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are</a:t>
            </a:r>
            <a:r>
              <a:rPr sz="3100" spc="-7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“normative”?</a:t>
            </a:r>
            <a:r>
              <a:rPr sz="3100" spc="75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How</a:t>
            </a:r>
            <a:r>
              <a:rPr sz="3100" spc="-7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can</a:t>
            </a:r>
            <a:r>
              <a:rPr sz="3100" spc="-8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you</a:t>
            </a:r>
            <a:r>
              <a:rPr sz="3100" spc="-7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161645"/>
                </a:solidFill>
                <a:latin typeface="Arial MT"/>
                <a:cs typeface="Arial MT"/>
              </a:rPr>
              <a:t>tell</a:t>
            </a:r>
            <a:r>
              <a:rPr sz="3100" spc="-80" dirty="0">
                <a:solidFill>
                  <a:srgbClr val="161645"/>
                </a:solidFill>
                <a:latin typeface="Arial MT"/>
                <a:cs typeface="Arial MT"/>
              </a:rPr>
              <a:t> </a:t>
            </a:r>
            <a:r>
              <a:rPr sz="3100" spc="-25" dirty="0">
                <a:solidFill>
                  <a:srgbClr val="161645"/>
                </a:solidFill>
                <a:latin typeface="Arial MT"/>
                <a:cs typeface="Arial MT"/>
              </a:rPr>
              <a:t>the </a:t>
            </a:r>
            <a:r>
              <a:rPr sz="3100" spc="-10" dirty="0">
                <a:solidFill>
                  <a:srgbClr val="161645"/>
                </a:solidFill>
                <a:latin typeface="Arial MT"/>
                <a:cs typeface="Arial MT"/>
              </a:rPr>
              <a:t>difference?</a:t>
            </a:r>
            <a:endParaRPr sz="3100">
              <a:latin typeface="Arial MT"/>
              <a:cs typeface="Arial MT"/>
            </a:endParaRPr>
          </a:p>
          <a:p>
            <a:pPr marL="984885" marR="137795" indent="-515620">
              <a:lnSpc>
                <a:spcPct val="100000"/>
              </a:lnSpc>
              <a:spcBef>
                <a:spcPts val="665"/>
              </a:spcBef>
              <a:buAutoNum type="alphaLcPeriod"/>
              <a:tabLst>
                <a:tab pos="984885" algn="l"/>
              </a:tabLst>
            </a:pPr>
            <a:r>
              <a:rPr sz="2700" dirty="0">
                <a:latin typeface="Arial MT"/>
                <a:cs typeface="Arial MT"/>
              </a:rPr>
              <a:t>Prices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rise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when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government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increases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the </a:t>
            </a:r>
            <a:r>
              <a:rPr sz="2700" dirty="0">
                <a:latin typeface="Arial MT"/>
                <a:cs typeface="Arial MT"/>
              </a:rPr>
              <a:t>quantity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 </a:t>
            </a:r>
            <a:r>
              <a:rPr sz="2700" spc="-10" dirty="0">
                <a:latin typeface="Arial MT"/>
                <a:cs typeface="Arial MT"/>
              </a:rPr>
              <a:t>money.</a:t>
            </a:r>
            <a:endParaRPr sz="2700">
              <a:latin typeface="Arial MT"/>
              <a:cs typeface="Arial MT"/>
            </a:endParaRPr>
          </a:p>
          <a:p>
            <a:pPr marL="984885" indent="-514984">
              <a:lnSpc>
                <a:spcPct val="100000"/>
              </a:lnSpc>
              <a:spcBef>
                <a:spcPts val="650"/>
              </a:spcBef>
              <a:buAutoNum type="alphaLcPeriod"/>
              <a:tabLst>
                <a:tab pos="984885" algn="l"/>
              </a:tabLst>
            </a:pP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government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should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print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less</a:t>
            </a:r>
            <a:r>
              <a:rPr sz="2700" spc="-10" dirty="0">
                <a:latin typeface="Arial MT"/>
                <a:cs typeface="Arial MT"/>
              </a:rPr>
              <a:t> money.</a:t>
            </a:r>
            <a:endParaRPr sz="2700">
              <a:latin typeface="Arial MT"/>
              <a:cs typeface="Arial MT"/>
            </a:endParaRPr>
          </a:p>
          <a:p>
            <a:pPr marL="984885" indent="-514984">
              <a:lnSpc>
                <a:spcPct val="100000"/>
              </a:lnSpc>
              <a:spcBef>
                <a:spcPts val="650"/>
              </a:spcBef>
              <a:buAutoNum type="alphaLcPeriod"/>
              <a:tabLst>
                <a:tab pos="984885" algn="l"/>
              </a:tabLst>
            </a:pPr>
            <a:r>
              <a:rPr sz="2700" dirty="0">
                <a:latin typeface="Arial MT"/>
                <a:cs typeface="Arial MT"/>
              </a:rPr>
              <a:t>A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tax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cut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needed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stimulate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economy.</a:t>
            </a:r>
            <a:endParaRPr sz="2700">
              <a:latin typeface="Arial MT"/>
              <a:cs typeface="Arial MT"/>
            </a:endParaRPr>
          </a:p>
          <a:p>
            <a:pPr marL="984885" marR="5080" indent="-515620">
              <a:lnSpc>
                <a:spcPct val="100000"/>
              </a:lnSpc>
              <a:spcBef>
                <a:spcPts val="650"/>
              </a:spcBef>
              <a:buAutoNum type="alphaLcPeriod"/>
              <a:tabLst>
                <a:tab pos="984885" algn="l"/>
              </a:tabLst>
            </a:pPr>
            <a:r>
              <a:rPr sz="2700" dirty="0">
                <a:latin typeface="Arial MT"/>
                <a:cs typeface="Arial MT"/>
              </a:rPr>
              <a:t>An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increase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price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burritos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will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cause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an </a:t>
            </a:r>
            <a:r>
              <a:rPr sz="2700" dirty="0">
                <a:latin typeface="Arial MT"/>
                <a:cs typeface="Arial MT"/>
              </a:rPr>
              <a:t>increase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consumer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demand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for </a:t>
            </a:r>
            <a:r>
              <a:rPr sz="2700" spc="-10" dirty="0">
                <a:latin typeface="Arial MT"/>
                <a:cs typeface="Arial MT"/>
              </a:rPr>
              <a:t>music downloads.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704048"/>
            <a:ext cx="104775" cy="55962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500" y="710131"/>
            <a:ext cx="104775" cy="55962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749" y="162813"/>
            <a:ext cx="87572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83755" algn="l"/>
              </a:tabLst>
            </a:pPr>
            <a:r>
              <a:rPr sz="3200" dirty="0"/>
              <a:t>Active</a:t>
            </a:r>
            <a:r>
              <a:rPr sz="3200" spc="-60" dirty="0"/>
              <a:t> </a:t>
            </a:r>
            <a:r>
              <a:rPr sz="3200" dirty="0"/>
              <a:t>Learning</a:t>
            </a:r>
            <a:r>
              <a:rPr sz="3200" spc="-55" dirty="0"/>
              <a:t> </a:t>
            </a:r>
            <a:r>
              <a:rPr sz="3200" spc="-50" dirty="0"/>
              <a:t>3</a:t>
            </a:r>
            <a:r>
              <a:rPr sz="3200" dirty="0"/>
              <a:t>	</a:t>
            </a:r>
            <a:r>
              <a:rPr sz="3200" spc="-10" dirty="0"/>
              <a:t>Answers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65252" y="937005"/>
            <a:ext cx="8105140" cy="389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780" marR="45720" indent="-513715">
              <a:lnSpc>
                <a:spcPct val="100000"/>
              </a:lnSpc>
              <a:spcBef>
                <a:spcPts val="95"/>
              </a:spcBef>
              <a:buAutoNum type="alphaLcPeriod"/>
              <a:tabLst>
                <a:tab pos="525780" algn="l"/>
              </a:tabLst>
            </a:pPr>
            <a:r>
              <a:rPr sz="3100" dirty="0">
                <a:latin typeface="Arial MT"/>
                <a:cs typeface="Arial MT"/>
              </a:rPr>
              <a:t>Prices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rise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when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government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increases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quantity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6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money.</a:t>
            </a:r>
            <a:endParaRPr sz="3100">
              <a:latin typeface="Arial MT"/>
              <a:cs typeface="Arial MT"/>
            </a:endParaRPr>
          </a:p>
          <a:p>
            <a:pPr marL="869315" marR="124460">
              <a:lnSpc>
                <a:spcPct val="100000"/>
              </a:lnSpc>
              <a:spcBef>
                <a:spcPts val="685"/>
              </a:spcBef>
            </a:pP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Positive</a:t>
            </a:r>
            <a:r>
              <a:rPr sz="2800" i="1" spc="-8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–</a:t>
            </a:r>
            <a:r>
              <a:rPr sz="2800" i="1" spc="-7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describes</a:t>
            </a:r>
            <a:r>
              <a:rPr sz="2800" i="1" spc="-7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a</a:t>
            </a:r>
            <a:r>
              <a:rPr sz="2800" i="1" spc="-7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relationship,</a:t>
            </a:r>
            <a:r>
              <a:rPr sz="2800" i="1" spc="-7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could</a:t>
            </a:r>
            <a:r>
              <a:rPr sz="2800" i="1" spc="-8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solidFill>
                  <a:srgbClr val="005EA3"/>
                </a:solidFill>
                <a:latin typeface="Arial"/>
                <a:cs typeface="Arial"/>
              </a:rPr>
              <a:t>use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data</a:t>
            </a:r>
            <a:r>
              <a:rPr sz="2800" i="1" spc="-5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to</a:t>
            </a:r>
            <a:r>
              <a:rPr sz="2800" i="1" spc="-5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confirm</a:t>
            </a:r>
            <a:r>
              <a:rPr sz="2800" i="1" spc="-5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or</a:t>
            </a:r>
            <a:r>
              <a:rPr sz="2800" i="1" spc="-5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05EA3"/>
                </a:solidFill>
                <a:latin typeface="Arial"/>
                <a:cs typeface="Arial"/>
              </a:rPr>
              <a:t>refute.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800">
              <a:latin typeface="Arial"/>
              <a:cs typeface="Arial"/>
            </a:endParaRPr>
          </a:p>
          <a:p>
            <a:pPr marL="525780" marR="5080" indent="-513715">
              <a:lnSpc>
                <a:spcPct val="109000"/>
              </a:lnSpc>
              <a:buAutoNum type="alphaLcPeriod" startAt="2"/>
              <a:tabLst>
                <a:tab pos="869315" algn="l"/>
              </a:tabLst>
            </a:pP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government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should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print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less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money. 	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Normative</a:t>
            </a:r>
            <a:r>
              <a:rPr sz="2700" i="1" spc="-1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–</a:t>
            </a:r>
            <a:r>
              <a:rPr sz="2700" i="1" spc="-2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this</a:t>
            </a:r>
            <a:r>
              <a:rPr sz="2700" i="1" spc="-1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is</a:t>
            </a:r>
            <a:r>
              <a:rPr sz="2700" i="1" spc="-1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a</a:t>
            </a:r>
            <a:r>
              <a:rPr sz="2700" i="1" spc="-2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value</a:t>
            </a:r>
            <a:r>
              <a:rPr sz="2700" i="1" spc="-1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judgment,</a:t>
            </a:r>
            <a:r>
              <a:rPr sz="2700" i="1" spc="-1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cannot</a:t>
            </a:r>
            <a:r>
              <a:rPr sz="2700" i="1" spc="-1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spc="-25" dirty="0">
                <a:solidFill>
                  <a:srgbClr val="005EA3"/>
                </a:solidFill>
                <a:latin typeface="Arial"/>
                <a:cs typeface="Arial"/>
              </a:rPr>
              <a:t>be 	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confirmed</a:t>
            </a:r>
            <a:r>
              <a:rPr sz="2700" i="1" spc="-2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05EA3"/>
                </a:solidFill>
                <a:latin typeface="Arial"/>
                <a:cs typeface="Arial"/>
              </a:rPr>
              <a:t>or</a:t>
            </a:r>
            <a:r>
              <a:rPr sz="2700" i="1" spc="-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700" i="1" spc="-10" dirty="0">
                <a:solidFill>
                  <a:srgbClr val="005EA3"/>
                </a:solidFill>
                <a:latin typeface="Arial"/>
                <a:cs typeface="Arial"/>
              </a:rPr>
              <a:t>refuted.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704048"/>
            <a:ext cx="104775" cy="55962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500" y="710131"/>
            <a:ext cx="104775" cy="55962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749" y="162813"/>
            <a:ext cx="31616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Active</a:t>
            </a:r>
            <a:r>
              <a:rPr sz="3200" spc="-60" dirty="0"/>
              <a:t> </a:t>
            </a:r>
            <a:r>
              <a:rPr sz="3200" dirty="0"/>
              <a:t>Learning</a:t>
            </a:r>
            <a:r>
              <a:rPr sz="3200" spc="-55" dirty="0"/>
              <a:t> </a:t>
            </a:r>
            <a:r>
              <a:rPr sz="3200" spc="-50" dirty="0"/>
              <a:t>3</a:t>
            </a:r>
            <a:endParaRPr sz="32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403338" y="162813"/>
            <a:ext cx="15862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6FC0"/>
                </a:solidFill>
                <a:latin typeface="Arial MT"/>
                <a:cs typeface="Arial MT"/>
              </a:rPr>
              <a:t>Answers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252" y="937005"/>
            <a:ext cx="8413750" cy="5069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780" marR="1749425" indent="-513715">
              <a:lnSpc>
                <a:spcPct val="100000"/>
              </a:lnSpc>
              <a:spcBef>
                <a:spcPts val="95"/>
              </a:spcBef>
              <a:tabLst>
                <a:tab pos="525780" algn="l"/>
              </a:tabLst>
            </a:pPr>
            <a:r>
              <a:rPr sz="3100" spc="-25" dirty="0">
                <a:latin typeface="Arial MT"/>
                <a:cs typeface="Arial MT"/>
              </a:rPr>
              <a:t>c.</a:t>
            </a:r>
            <a:r>
              <a:rPr sz="3100" dirty="0">
                <a:latin typeface="Arial MT"/>
                <a:cs typeface="Arial MT"/>
              </a:rPr>
              <a:t>	A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tax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cut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needed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stimulate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the </a:t>
            </a:r>
            <a:r>
              <a:rPr sz="3100" spc="-10" dirty="0">
                <a:latin typeface="Arial MT"/>
                <a:cs typeface="Arial MT"/>
              </a:rPr>
              <a:t>economy.</a:t>
            </a:r>
            <a:endParaRPr sz="3100">
              <a:latin typeface="Arial MT"/>
              <a:cs typeface="Arial MT"/>
            </a:endParaRPr>
          </a:p>
          <a:p>
            <a:pPr marL="869315">
              <a:lnSpc>
                <a:spcPct val="100000"/>
              </a:lnSpc>
              <a:spcBef>
                <a:spcPts val="685"/>
              </a:spcBef>
            </a:pP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Normative</a:t>
            </a:r>
            <a:r>
              <a:rPr sz="2800" i="1" spc="-6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–</a:t>
            </a:r>
            <a:r>
              <a:rPr sz="2800" i="1" spc="-6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another</a:t>
            </a:r>
            <a:r>
              <a:rPr sz="2800" i="1" spc="-7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value</a:t>
            </a:r>
            <a:r>
              <a:rPr sz="2800" i="1" spc="-7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05EA3"/>
                </a:solidFill>
                <a:latin typeface="Arial"/>
                <a:cs typeface="Arial"/>
              </a:rPr>
              <a:t>judgment.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800">
              <a:latin typeface="Arial"/>
              <a:cs typeface="Arial"/>
            </a:endParaRPr>
          </a:p>
          <a:p>
            <a:pPr marL="525780" marR="89535" indent="-513715">
              <a:lnSpc>
                <a:spcPct val="100000"/>
              </a:lnSpc>
              <a:spcBef>
                <a:spcPts val="5"/>
              </a:spcBef>
              <a:tabLst>
                <a:tab pos="525780" algn="l"/>
              </a:tabLst>
            </a:pPr>
            <a:r>
              <a:rPr sz="3100" spc="-25" dirty="0">
                <a:latin typeface="Arial MT"/>
                <a:cs typeface="Arial MT"/>
              </a:rPr>
              <a:t>d.</a:t>
            </a:r>
            <a:r>
              <a:rPr sz="3100" dirty="0">
                <a:latin typeface="Arial MT"/>
                <a:cs typeface="Arial MT"/>
              </a:rPr>
              <a:t>	An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increase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price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burritos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will</a:t>
            </a:r>
            <a:r>
              <a:rPr sz="3100" spc="-6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cause </a:t>
            </a:r>
            <a:r>
              <a:rPr sz="3100" dirty="0">
                <a:latin typeface="Arial MT"/>
                <a:cs typeface="Arial MT"/>
              </a:rPr>
              <a:t>an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increase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consumer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demand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music downloads</a:t>
            </a:r>
            <a:endParaRPr sz="3100">
              <a:latin typeface="Arial MT"/>
              <a:cs typeface="Arial MT"/>
            </a:endParaRPr>
          </a:p>
          <a:p>
            <a:pPr marL="869315">
              <a:lnSpc>
                <a:spcPct val="100000"/>
              </a:lnSpc>
              <a:spcBef>
                <a:spcPts val="1045"/>
              </a:spcBef>
            </a:pP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Positive</a:t>
            </a:r>
            <a:r>
              <a:rPr sz="2800" i="1" spc="-6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–</a:t>
            </a:r>
            <a:r>
              <a:rPr sz="2800" i="1" spc="-5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describes</a:t>
            </a:r>
            <a:r>
              <a:rPr sz="2800" i="1" spc="-6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a</a:t>
            </a:r>
            <a:r>
              <a:rPr sz="2800" i="1" spc="-5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05EA3"/>
                </a:solidFill>
                <a:latin typeface="Arial"/>
                <a:cs typeface="Arial"/>
              </a:rPr>
              <a:t>relationship.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Note</a:t>
            </a:r>
            <a:r>
              <a:rPr sz="2800" i="1" spc="-3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that</a:t>
            </a:r>
            <a:r>
              <a:rPr sz="2800" i="1" spc="-5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a</a:t>
            </a:r>
            <a:r>
              <a:rPr sz="2800" i="1" spc="-5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statement</a:t>
            </a:r>
            <a:r>
              <a:rPr sz="2800" i="1" spc="-5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need</a:t>
            </a:r>
            <a:r>
              <a:rPr sz="2800" i="1" spc="-5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not</a:t>
            </a:r>
            <a:r>
              <a:rPr sz="2800" i="1" spc="-4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be</a:t>
            </a:r>
            <a:r>
              <a:rPr sz="2800" i="1" spc="-45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true</a:t>
            </a:r>
            <a:r>
              <a:rPr sz="2800" i="1" spc="-4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to</a:t>
            </a:r>
            <a:r>
              <a:rPr sz="2800" i="1" spc="-5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5EA3"/>
                </a:solidFill>
                <a:latin typeface="Arial"/>
                <a:cs typeface="Arial"/>
              </a:rPr>
              <a:t>be</a:t>
            </a:r>
            <a:r>
              <a:rPr sz="2800" i="1" spc="-40" dirty="0">
                <a:solidFill>
                  <a:srgbClr val="005EA3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05EA3"/>
                </a:solidFill>
                <a:latin typeface="Arial"/>
                <a:cs typeface="Arial"/>
              </a:rPr>
              <a:t>positive.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400800"/>
            <a:chOff x="0" y="0"/>
            <a:chExt cx="9144000" cy="640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4607"/>
              <a:ext cx="9144000" cy="53461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6512" cy="6400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9011" y="0"/>
              <a:ext cx="284988" cy="64008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80638" y="232409"/>
            <a:ext cx="1981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5EA3"/>
                </a:solidFill>
              </a:rPr>
              <a:t>Summary</a:t>
            </a:r>
            <a:endParaRPr sz="36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71652" y="985011"/>
            <a:ext cx="8300720" cy="505587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9"/>
              </a:spcBef>
              <a:buChar char="•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Economists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are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scientists</a:t>
            </a:r>
            <a:endParaRPr sz="3000">
              <a:latin typeface="Arial MT"/>
              <a:cs typeface="Arial MT"/>
            </a:endParaRPr>
          </a:p>
          <a:p>
            <a:pPr marL="756285" marR="681990" lvl="1" indent="-287020">
              <a:lnSpc>
                <a:spcPct val="100000"/>
              </a:lnSpc>
              <a:spcBef>
                <a:spcPts val="725"/>
              </a:spcBef>
              <a:buChar char="–"/>
              <a:tabLst>
                <a:tab pos="756285" algn="l"/>
              </a:tabLst>
            </a:pPr>
            <a:r>
              <a:rPr sz="3000" dirty="0">
                <a:latin typeface="Arial MT"/>
                <a:cs typeface="Arial MT"/>
              </a:rPr>
              <a:t>Make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appropriate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assumptions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build </a:t>
            </a:r>
            <a:r>
              <a:rPr sz="3000" dirty="0">
                <a:latin typeface="Arial MT"/>
                <a:cs typeface="Arial MT"/>
              </a:rPr>
              <a:t>simplified</a:t>
            </a:r>
            <a:r>
              <a:rPr sz="3000" spc="-8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models</a:t>
            </a:r>
            <a:endParaRPr sz="30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720"/>
              </a:spcBef>
              <a:buChar char="–"/>
              <a:tabLst>
                <a:tab pos="756285" algn="l"/>
              </a:tabLst>
            </a:pP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circular-</a:t>
            </a:r>
            <a:r>
              <a:rPr sz="3000" dirty="0">
                <a:latin typeface="Arial MT"/>
                <a:cs typeface="Arial MT"/>
              </a:rPr>
              <a:t>flow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diagram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1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production </a:t>
            </a:r>
            <a:r>
              <a:rPr sz="3000" dirty="0">
                <a:latin typeface="Arial MT"/>
                <a:cs typeface="Arial MT"/>
              </a:rPr>
              <a:t>possibilities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frontier</a:t>
            </a:r>
            <a:endParaRPr sz="3000">
              <a:latin typeface="Arial MT"/>
              <a:cs typeface="Arial MT"/>
            </a:endParaRPr>
          </a:p>
          <a:p>
            <a:pPr marL="355600" marR="281940" indent="-342900">
              <a:lnSpc>
                <a:spcPct val="100000"/>
              </a:lnSpc>
              <a:spcBef>
                <a:spcPts val="720"/>
              </a:spcBef>
              <a:buChar char="•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Micro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economists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study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decision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making</a:t>
            </a:r>
            <a:r>
              <a:rPr sz="3000" spc="-25" dirty="0">
                <a:latin typeface="Arial MT"/>
                <a:cs typeface="Arial MT"/>
              </a:rPr>
              <a:t> by </a:t>
            </a:r>
            <a:r>
              <a:rPr sz="3000" dirty="0">
                <a:latin typeface="Arial MT"/>
                <a:cs typeface="Arial MT"/>
              </a:rPr>
              <a:t>households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firms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their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interactions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in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marketplace</a:t>
            </a:r>
            <a:endParaRPr sz="3000">
              <a:latin typeface="Arial MT"/>
              <a:cs typeface="Arial MT"/>
            </a:endParaRPr>
          </a:p>
          <a:p>
            <a:pPr marL="355600" marR="255904" indent="-342900">
              <a:lnSpc>
                <a:spcPct val="100000"/>
              </a:lnSpc>
              <a:spcBef>
                <a:spcPts val="725"/>
              </a:spcBef>
              <a:buChar char="•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Macroeconomists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study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forces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trends </a:t>
            </a:r>
            <a:r>
              <a:rPr sz="3000" dirty="0">
                <a:latin typeface="Arial MT"/>
                <a:cs typeface="Arial MT"/>
              </a:rPr>
              <a:t>that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affect</a:t>
            </a:r>
            <a:r>
              <a:rPr sz="3000" spc="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economy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whole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400800"/>
            <a:chOff x="0" y="0"/>
            <a:chExt cx="9144000" cy="640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4607"/>
              <a:ext cx="9144000" cy="53461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6512" cy="6400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9011" y="0"/>
              <a:ext cx="284988" cy="64008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80638" y="232409"/>
            <a:ext cx="1981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5EA3"/>
                </a:solidFill>
              </a:rPr>
              <a:t>Summary</a:t>
            </a:r>
            <a:endParaRPr sz="36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71652" y="1076705"/>
            <a:ext cx="8366125" cy="452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176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A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positive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statement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assertion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about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how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world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is</a:t>
            </a:r>
            <a:endParaRPr sz="3000">
              <a:latin typeface="Arial MT"/>
              <a:cs typeface="Arial MT"/>
            </a:endParaRPr>
          </a:p>
          <a:p>
            <a:pPr marL="355600" marR="573405" indent="-342900">
              <a:lnSpc>
                <a:spcPct val="100000"/>
              </a:lnSpc>
              <a:spcBef>
                <a:spcPts val="720"/>
              </a:spcBef>
              <a:buChar char="•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A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normative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statement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assertion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about </a:t>
            </a:r>
            <a:r>
              <a:rPr sz="3000" dirty="0">
                <a:latin typeface="Arial MT"/>
                <a:cs typeface="Arial MT"/>
              </a:rPr>
              <a:t>how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world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ought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be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25"/>
              </a:spcBef>
              <a:buChar char="•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As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policy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advisers,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economists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make</a:t>
            </a:r>
            <a:r>
              <a:rPr sz="3000" spc="-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normative statements</a:t>
            </a:r>
            <a:endParaRPr sz="3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Char char="•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Economists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sometimes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offer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conflicting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advice</a:t>
            </a:r>
            <a:endParaRPr sz="3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8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Differences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scientific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judgments</a:t>
            </a:r>
            <a:endParaRPr sz="2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Differences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values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FC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1135</Words>
  <Application>Microsoft Office PowerPoint</Application>
  <PresentationFormat>On-screen Show (4:3)</PresentationFormat>
  <Paragraphs>338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MT</vt:lpstr>
      <vt:lpstr>Calibri</vt:lpstr>
      <vt:lpstr>Comic Sans MS</vt:lpstr>
      <vt:lpstr>Courier New</vt:lpstr>
      <vt:lpstr>Times New Roman</vt:lpstr>
      <vt:lpstr>Wingdings</vt:lpstr>
      <vt:lpstr>Office Theme</vt:lpstr>
      <vt:lpstr>PRINCIPLES OF ECONOMICS 7TH EDITION</vt:lpstr>
      <vt:lpstr>Look for the answers to these questions:</vt:lpstr>
      <vt:lpstr>The Economist as a Scientist</vt:lpstr>
      <vt:lpstr>The Economist as a Scientist</vt:lpstr>
      <vt:lpstr>The Economist as a Scientist</vt:lpstr>
      <vt:lpstr>The Economist as a Scientist</vt:lpstr>
      <vt:lpstr>Figure 1</vt:lpstr>
      <vt:lpstr>Figure 1</vt:lpstr>
      <vt:lpstr>The PPF Model</vt:lpstr>
      <vt:lpstr>PPF Example</vt:lpstr>
      <vt:lpstr>PPF Example</vt:lpstr>
      <vt:lpstr>Active Learning 1 Points off the PPF</vt:lpstr>
      <vt:lpstr>Active Learning 1</vt:lpstr>
      <vt:lpstr>Active Learning 1</vt:lpstr>
      <vt:lpstr>The PPF: What We Know So Far</vt:lpstr>
      <vt:lpstr>The PPF</vt:lpstr>
      <vt:lpstr>The PPF and Opportunity Cost</vt:lpstr>
      <vt:lpstr>Economic Growth and the PPF</vt:lpstr>
      <vt:lpstr>The Shape of the PPF</vt:lpstr>
      <vt:lpstr>Why the PPF Might Be Bowed Outward</vt:lpstr>
      <vt:lpstr>Why the PPF Might Be Bowed Outward</vt:lpstr>
      <vt:lpstr>Why the PPF Might Be Bowed Outward</vt:lpstr>
      <vt:lpstr>Why the PPF Might Be Bowed Outward</vt:lpstr>
      <vt:lpstr>The Economist as a Scientist</vt:lpstr>
      <vt:lpstr>PowerPoint Presentation</vt:lpstr>
      <vt:lpstr>The Economist as Policy Adviser</vt:lpstr>
      <vt:lpstr>PowerPoint Presentation</vt:lpstr>
      <vt:lpstr>Active Learning 3 Positive vs. Normative</vt:lpstr>
      <vt:lpstr>Active Learning 3 Answers</vt:lpstr>
      <vt:lpstr>Active Learning 3</vt:lpstr>
      <vt:lpstr>Summary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ECONOMICS 7TH EDITION</dc:title>
  <cp:lastModifiedBy>HP</cp:lastModifiedBy>
  <cp:revision>2</cp:revision>
  <dcterms:created xsi:type="dcterms:W3CDTF">2026-03-01T18:46:12Z</dcterms:created>
  <dcterms:modified xsi:type="dcterms:W3CDTF">2026-03-11T05:33:50Z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2026-03-01T00:00:00Z</vt:filetime>
  </property>
  <property fmtid="{D5CDD505-2E9C-101B-9397-08002B2CF9AE}" pid="5" name="Producer">
    <vt:lpwstr>Microsoft® PowerPoint® 2013</vt:lpwstr>
  </property>
</Properties>
</file>