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9" r:id="rId2"/>
  </p:sldMasterIdLst>
  <p:notesMasterIdLst>
    <p:notesMasterId r:id="rId66"/>
  </p:notesMasterIdLst>
  <p:sldIdLst>
    <p:sldId id="266" r:id="rId3"/>
    <p:sldId id="272"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338" r:id="rId20"/>
    <p:sldId id="339" r:id="rId21"/>
    <p:sldId id="340" r:id="rId22"/>
    <p:sldId id="347" r:id="rId23"/>
    <p:sldId id="296" r:id="rId24"/>
    <p:sldId id="297" r:id="rId25"/>
    <p:sldId id="298" r:id="rId26"/>
    <p:sldId id="299" r:id="rId27"/>
    <p:sldId id="300" r:id="rId28"/>
    <p:sldId id="301" r:id="rId29"/>
    <p:sldId id="302" r:id="rId30"/>
    <p:sldId id="303" r:id="rId31"/>
    <p:sldId id="304" r:id="rId32"/>
    <p:sldId id="305" r:id="rId33"/>
    <p:sldId id="306" r:id="rId34"/>
    <p:sldId id="307" r:id="rId35"/>
    <p:sldId id="341" r:id="rId36"/>
    <p:sldId id="342" r:id="rId37"/>
    <p:sldId id="343" r:id="rId38"/>
    <p:sldId id="348" r:id="rId39"/>
    <p:sldId id="312" r:id="rId40"/>
    <p:sldId id="313" r:id="rId41"/>
    <p:sldId id="314" r:id="rId42"/>
    <p:sldId id="315"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44" r:id="rId57"/>
    <p:sldId id="345" r:id="rId58"/>
    <p:sldId id="346" r:id="rId59"/>
    <p:sldId id="349" r:id="rId60"/>
    <p:sldId id="333" r:id="rId61"/>
    <p:sldId id="273" r:id="rId62"/>
    <p:sldId id="350" r:id="rId63"/>
    <p:sldId id="351" r:id="rId64"/>
    <p:sldId id="352" r:id="rId6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3610">
          <p15:clr>
            <a:srgbClr val="A4A3A4"/>
          </p15:clr>
        </p15:guide>
        <p15:guide id="2" pos="142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66"/>
    <a:srgbClr val="FFFFCC"/>
    <a:srgbClr val="996633"/>
    <a:srgbClr val="777777"/>
    <a:srgbClr val="339966"/>
    <a:srgbClr val="333399"/>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8" autoAdjust="0"/>
    <p:restoredTop sz="73327" autoAdjust="0"/>
  </p:normalViewPr>
  <p:slideViewPr>
    <p:cSldViewPr snapToGrid="0">
      <p:cViewPr varScale="1">
        <p:scale>
          <a:sx n="113" d="100"/>
          <a:sy n="113" d="100"/>
        </p:scale>
        <p:origin x="528" y="82"/>
      </p:cViewPr>
      <p:guideLst>
        <p:guide orient="horz" pos="3610"/>
        <p:guide pos="1422"/>
      </p:guideLst>
    </p:cSldViewPr>
  </p:slideViewPr>
  <p:notesTextViewPr>
    <p:cViewPr>
      <p:scale>
        <a:sx n="100" d="100"/>
        <a:sy n="100" d="100"/>
      </p:scale>
      <p:origin x="0" y="0"/>
    </p:cViewPr>
  </p:notesTextViewPr>
  <p:sorterViewPr>
    <p:cViewPr>
      <p:scale>
        <a:sx n="90" d="100"/>
        <a:sy n="90" d="100"/>
      </p:scale>
      <p:origin x="0" y="1872"/>
    </p:cViewPr>
  </p:sorterViewPr>
  <p:notesViewPr>
    <p:cSldViewPr snapToGrid="0">
      <p:cViewPr>
        <p:scale>
          <a:sx n="90" d="100"/>
          <a:sy n="90" d="100"/>
        </p:scale>
        <p:origin x="-2814" y="25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225C011-2A1E-45D8-B0A4-5155B25A84D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lvl1pPr>
          </a:lstStyle>
          <a:p>
            <a:pPr>
              <a:defRPr/>
            </a:pPr>
            <a:endParaRPr lang="en-US"/>
          </a:p>
        </p:txBody>
      </p:sp>
      <p:sp>
        <p:nvSpPr>
          <p:cNvPr id="7171" name="Rectangle 3">
            <a:extLst>
              <a:ext uri="{FF2B5EF4-FFF2-40B4-BE49-F238E27FC236}">
                <a16:creationId xmlns:a16="http://schemas.microsoft.com/office/drawing/2014/main" id="{C6E7D09B-5F73-4BB1-86E0-286FCD5667CF}"/>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p>
        </p:txBody>
      </p:sp>
      <p:sp>
        <p:nvSpPr>
          <p:cNvPr id="3076" name="Rectangle 4">
            <a:extLst>
              <a:ext uri="{FF2B5EF4-FFF2-40B4-BE49-F238E27FC236}">
                <a16:creationId xmlns:a16="http://schemas.microsoft.com/office/drawing/2014/main" id="{801A4A1F-5C86-41CA-A954-9C8CF4B92B1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a:extLst>
              <a:ext uri="{FF2B5EF4-FFF2-40B4-BE49-F238E27FC236}">
                <a16:creationId xmlns:a16="http://schemas.microsoft.com/office/drawing/2014/main" id="{AED06374-0992-43E8-9AFD-5D7A502B2686}"/>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a:extLst>
              <a:ext uri="{FF2B5EF4-FFF2-40B4-BE49-F238E27FC236}">
                <a16:creationId xmlns:a16="http://schemas.microsoft.com/office/drawing/2014/main" id="{C25BE8DD-E376-491A-9B7F-CE97014FB32D}"/>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smtClean="0"/>
            </a:lvl1pPr>
          </a:lstStyle>
          <a:p>
            <a:pPr>
              <a:defRPr/>
            </a:pPr>
            <a:endParaRPr lang="en-US"/>
          </a:p>
        </p:txBody>
      </p:sp>
      <p:sp>
        <p:nvSpPr>
          <p:cNvPr id="7175" name="Rectangle 7">
            <a:extLst>
              <a:ext uri="{FF2B5EF4-FFF2-40B4-BE49-F238E27FC236}">
                <a16:creationId xmlns:a16="http://schemas.microsoft.com/office/drawing/2014/main" id="{C03C53CD-ED52-4239-AD72-4952A1C961FE}"/>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16B19CA2-A52F-4C97-A596-51D3E5B7121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5F28A1A-70DF-4DE2-AFDB-1A6B47FD0FD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CEC8F7-EF92-4CAE-84AE-15774B5B5806}" type="slidenum">
              <a:rPr lang="en-US" altLang="en-US"/>
              <a:pPr/>
              <a:t>0</a:t>
            </a:fld>
            <a:endParaRPr lang="en-US" altLang="en-US"/>
          </a:p>
        </p:txBody>
      </p:sp>
      <p:sp>
        <p:nvSpPr>
          <p:cNvPr id="5123" name="Rectangle 2">
            <a:extLst>
              <a:ext uri="{FF2B5EF4-FFF2-40B4-BE49-F238E27FC236}">
                <a16:creationId xmlns:a16="http://schemas.microsoft.com/office/drawing/2014/main" id="{3A7217B9-C246-43EB-9B25-454A518854C2}"/>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D2A1F6A8-70B4-4AFE-AD0B-85435A5CED38}"/>
              </a:ext>
            </a:extLst>
          </p:cNvPr>
          <p:cNvSpPr>
            <a:spLocks noGrp="1" noChangeArrowheads="1"/>
          </p:cNvSpPr>
          <p:nvPr>
            <p:ph type="body" idx="1"/>
          </p:nvPr>
        </p:nvSpPr>
        <p:spPr>
          <a:noFill/>
        </p:spPr>
        <p:txBody>
          <a:bodyPr/>
          <a:lstStyle/>
          <a:p>
            <a:pPr eaLnBrk="1" hangingPunct="1"/>
            <a:r>
              <a:rPr lang="en-US" altLang="en-US"/>
              <a:t>This is perhaps the most important chapter in the textbook.   It’s worth mentioning to your students that investing extra time to master this chapter will make it easier for them to learn much of the subsequent material in the book. </a:t>
            </a:r>
          </a:p>
          <a:p>
            <a:pPr eaLnBrk="1" hangingPunct="1"/>
            <a:endParaRPr lang="en-US" altLang="en-US"/>
          </a:p>
          <a:p>
            <a:pPr eaLnBrk="1" hangingPunct="1"/>
            <a:r>
              <a:rPr lang="en-US" altLang="en-US"/>
              <a:t>This is also one of the longest chapters in the textbook, and this PowerPoint file is one of the most graph-intensive.  Many students taking economics for the first time have difficulty grasping the graphs, which are critically important in this and all subsequent chapters in the book.  So an extra degree of hand-holding might be appropriate.  </a:t>
            </a:r>
          </a:p>
          <a:p>
            <a:pPr eaLnBrk="1" hangingPunct="1"/>
            <a:endParaRPr lang="en-US" altLang="en-US"/>
          </a:p>
          <a:p>
            <a:pPr eaLnBrk="1" hangingPunct="1"/>
            <a:r>
              <a:rPr lang="en-US" altLang="en-US"/>
              <a:t>Accordingly, this PowerPoint has carefully detailed animations that build many of the graphs with great care.  For example, we show a demand or supply schedule next to the axes, and highlight each coordinate pair in the table as the corresponding point appears on the graph.  </a:t>
            </a:r>
          </a:p>
          <a:p>
            <a:pPr eaLnBrk="1" hangingPunct="1"/>
            <a:endParaRPr lang="en-US" altLang="en-US"/>
          </a:p>
          <a:p>
            <a:pPr eaLnBrk="1" hangingPunct="1"/>
            <a:r>
              <a:rPr lang="en-US" altLang="en-US"/>
              <a:t>Please be assured that the presentation of graphs is more streamlined in subsequent chapters.  In this early chapter, though, we do not want to leave any students behind.  </a:t>
            </a:r>
          </a:p>
          <a:p>
            <a:pPr eaLnBrk="1" hangingPunct="1"/>
            <a:endParaRPr lang="en-US" altLang="en-US"/>
          </a:p>
          <a:p>
            <a:pPr eaLnBrk="1" hangingPunct="1"/>
            <a:r>
              <a:rPr lang="en-US" altLang="en-US"/>
              <a:t>If your students are already very comfortable with scatter-type graphs, you may wish to simplify or turn off the animation on these slides, in order to get through them faster.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B287112-9AB9-486D-B757-06B358518163}"/>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9812BAC-4A70-4A67-B218-94DFECC32757}" type="slidenum">
              <a:rPr lang="en-US" altLang="en-US"/>
              <a:pPr/>
              <a:t>1</a:t>
            </a:fld>
            <a:endParaRPr lang="en-US" altLang="en-US"/>
          </a:p>
        </p:txBody>
      </p:sp>
      <p:sp>
        <p:nvSpPr>
          <p:cNvPr id="7171" name="Rectangle 2">
            <a:extLst>
              <a:ext uri="{FF2B5EF4-FFF2-40B4-BE49-F238E27FC236}">
                <a16:creationId xmlns:a16="http://schemas.microsoft.com/office/drawing/2014/main" id="{1BC629A9-052C-4D65-87BF-2D9A4342EA0A}"/>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0A959258-EC4E-4D60-97B3-DFF234565B0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966ED738-5C10-4771-B3E1-81602CECFBC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8B2340-4F0E-4EF0-9601-179D4498BF31}" type="slidenum">
              <a:rPr lang="en-US" altLang="en-US"/>
              <a:pPr/>
              <a:t>2</a:t>
            </a:fld>
            <a:endParaRPr lang="en-US" altLang="en-US"/>
          </a:p>
        </p:txBody>
      </p:sp>
      <p:sp>
        <p:nvSpPr>
          <p:cNvPr id="9219" name="Rectangle 7">
            <a:extLst>
              <a:ext uri="{FF2B5EF4-FFF2-40B4-BE49-F238E27FC236}">
                <a16:creationId xmlns:a16="http://schemas.microsoft.com/office/drawing/2014/main" id="{DA128825-63AD-4902-80D2-A6AEDDFA781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5FC3E1D-0C95-4727-B03D-A5BD419E3DA3}" type="slidenum">
              <a:rPr lang="en-US" altLang="en-US" sz="1200">
                <a:cs typeface="Arial" panose="020B0604020202020204" pitchFamily="34" charset="0"/>
              </a:rPr>
              <a:pPr algn="r" eaLnBrk="1" hangingPunct="1"/>
              <a:t>2</a:t>
            </a:fld>
            <a:endParaRPr lang="en-US" altLang="en-US" sz="1200">
              <a:cs typeface="Arial" panose="020B0604020202020204" pitchFamily="34" charset="0"/>
            </a:endParaRPr>
          </a:p>
        </p:txBody>
      </p:sp>
      <p:sp>
        <p:nvSpPr>
          <p:cNvPr id="9220" name="Rectangle 2">
            <a:extLst>
              <a:ext uri="{FF2B5EF4-FFF2-40B4-BE49-F238E27FC236}">
                <a16:creationId xmlns:a16="http://schemas.microsoft.com/office/drawing/2014/main" id="{E6E12AD4-FB68-44EE-A33A-864F10554973}"/>
              </a:ext>
            </a:extLst>
          </p:cNvPr>
          <p:cNvSpPr>
            <a:spLocks noGrp="1" noRot="1" noChangeAspect="1" noChangeArrowheads="1" noTextEdit="1"/>
          </p:cNvSpPr>
          <p:nvPr>
            <p:ph type="sldImg"/>
          </p:nvPr>
        </p:nvSpPr>
        <p:spPr>
          <a:ln/>
        </p:spPr>
      </p:sp>
      <p:sp>
        <p:nvSpPr>
          <p:cNvPr id="9221" name="Rectangle 3">
            <a:extLst>
              <a:ext uri="{FF2B5EF4-FFF2-40B4-BE49-F238E27FC236}">
                <a16:creationId xmlns:a16="http://schemas.microsoft.com/office/drawing/2014/main" id="{6963281A-9690-46BD-A6C2-E919AE04FA89}"/>
              </a:ext>
            </a:extLst>
          </p:cNvPr>
          <p:cNvSpPr>
            <a:spLocks noGrp="1" noChangeArrowheads="1"/>
          </p:cNvSpPr>
          <p:nvPr>
            <p:ph type="body" idx="1"/>
          </p:nvPr>
        </p:nvSpPr>
        <p:spPr>
          <a:noFill/>
        </p:spPr>
        <p:txBody>
          <a:bodyPr/>
          <a:lstStyle/>
          <a:p>
            <a:pPr eaLnBrk="1" hangingPunct="1"/>
            <a:r>
              <a:rPr lang="en-US" altLang="en-US"/>
              <a:t>In the real world, there are relatively few </a:t>
            </a:r>
            <a:r>
              <a:rPr lang="en-US" altLang="en-US" u="sng"/>
              <a:t>perfectly</a:t>
            </a:r>
            <a:r>
              <a:rPr lang="en-US" altLang="en-US"/>
              <a:t> competitive markets.  Most goods come in lots of different varieties – including ice cream, the example in the textbook.  And there are many markets in which the number of firms is small enough that some of them have the ability to affect the market price.  </a:t>
            </a:r>
          </a:p>
          <a:p>
            <a:pPr eaLnBrk="1" hangingPunct="1"/>
            <a:endParaRPr lang="en-US" altLang="en-US"/>
          </a:p>
          <a:p>
            <a:pPr eaLnBrk="1" hangingPunct="1"/>
            <a:r>
              <a:rPr lang="en-US" altLang="en-US"/>
              <a:t>For now, though, we look at supply and demand in perfectly competitive markets, for two reasons:  First, it’s easier to learn.  Understanding perfectly competitive markets makes it a lot easier to learn the more realistic but complicated analysis of imperfectly competitive markets.  Second, despite the lack of realism, the perfectly competitive model can teach us a LOT about how the world works, as we will see many times in the chapters that follow.  </a:t>
            </a:r>
          </a:p>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B27D429F-8D87-496F-B7E3-3D55F710612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38B28B6-E163-40C1-A796-B51DE846A5D5}" type="slidenum">
              <a:rPr lang="en-US" altLang="en-US"/>
              <a:pPr/>
              <a:t>3</a:t>
            </a:fld>
            <a:endParaRPr lang="en-US" altLang="en-US"/>
          </a:p>
        </p:txBody>
      </p:sp>
      <p:sp>
        <p:nvSpPr>
          <p:cNvPr id="11267" name="Rectangle 7">
            <a:extLst>
              <a:ext uri="{FF2B5EF4-FFF2-40B4-BE49-F238E27FC236}">
                <a16:creationId xmlns:a16="http://schemas.microsoft.com/office/drawing/2014/main" id="{37402C4F-10F4-4A5E-A112-77885C3BAA1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7F8D20C-FA6E-4A54-9197-39608F9B54A0}" type="slidenum">
              <a:rPr lang="en-US" altLang="en-US" sz="1200">
                <a:cs typeface="Arial" panose="020B0604020202020204" pitchFamily="34" charset="0"/>
              </a:rPr>
              <a:pPr algn="r" eaLnBrk="1" hangingPunct="1"/>
              <a:t>3</a:t>
            </a:fld>
            <a:endParaRPr lang="en-US" altLang="en-US" sz="1200">
              <a:cs typeface="Arial" panose="020B0604020202020204" pitchFamily="34" charset="0"/>
            </a:endParaRPr>
          </a:p>
        </p:txBody>
      </p:sp>
      <p:sp>
        <p:nvSpPr>
          <p:cNvPr id="11268" name="Rectangle 2">
            <a:extLst>
              <a:ext uri="{FF2B5EF4-FFF2-40B4-BE49-F238E27FC236}">
                <a16:creationId xmlns:a16="http://schemas.microsoft.com/office/drawing/2014/main" id="{1524794D-00D7-4213-99D5-C0467F028CDB}"/>
              </a:ext>
            </a:extLst>
          </p:cNvPr>
          <p:cNvSpPr>
            <a:spLocks noGrp="1" noRot="1" noChangeAspect="1" noChangeArrowheads="1" noTextEdit="1"/>
          </p:cNvSpPr>
          <p:nvPr>
            <p:ph type="sldImg"/>
          </p:nvPr>
        </p:nvSpPr>
        <p:spPr>
          <a:ln/>
        </p:spPr>
      </p:sp>
      <p:sp>
        <p:nvSpPr>
          <p:cNvPr id="11269" name="Rectangle 3">
            <a:extLst>
              <a:ext uri="{FF2B5EF4-FFF2-40B4-BE49-F238E27FC236}">
                <a16:creationId xmlns:a16="http://schemas.microsoft.com/office/drawing/2014/main" id="{18FBA457-4A9B-4C10-A41D-279881E26D9A}"/>
              </a:ext>
            </a:extLst>
          </p:cNvPr>
          <p:cNvSpPr>
            <a:spLocks noGrp="1" noChangeArrowheads="1"/>
          </p:cNvSpPr>
          <p:nvPr>
            <p:ph type="body" idx="1"/>
          </p:nvPr>
        </p:nvSpPr>
        <p:spPr>
          <a:noFill/>
        </p:spPr>
        <p:txBody>
          <a:bodyPr/>
          <a:lstStyle/>
          <a:p>
            <a:pPr eaLnBrk="1" hangingPunct="1"/>
            <a:r>
              <a:rPr lang="en-US" altLang="en-US"/>
              <a:t>Demand comes from the behavior of buyers.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886B9F43-7780-4EB6-AAD5-8D9DD25A10D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9D822B0-A214-4113-997B-C5988A5F6E84}" type="slidenum">
              <a:rPr lang="en-US" altLang="en-US"/>
              <a:pPr/>
              <a:t>4</a:t>
            </a:fld>
            <a:endParaRPr lang="en-US" altLang="en-US"/>
          </a:p>
        </p:txBody>
      </p:sp>
      <p:sp>
        <p:nvSpPr>
          <p:cNvPr id="13315" name="Rectangle 7">
            <a:extLst>
              <a:ext uri="{FF2B5EF4-FFF2-40B4-BE49-F238E27FC236}">
                <a16:creationId xmlns:a16="http://schemas.microsoft.com/office/drawing/2014/main" id="{292E3062-28C6-4391-A821-06A71D49667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26F3C9E-ADBD-4140-864B-C613CB13CBD2}" type="slidenum">
              <a:rPr lang="en-US" altLang="en-US" sz="1200">
                <a:cs typeface="Arial" panose="020B0604020202020204" pitchFamily="34" charset="0"/>
              </a:rPr>
              <a:pPr algn="r" eaLnBrk="1" hangingPunct="1"/>
              <a:t>4</a:t>
            </a:fld>
            <a:endParaRPr lang="en-US" altLang="en-US" sz="1200">
              <a:cs typeface="Arial" panose="020B0604020202020204" pitchFamily="34" charset="0"/>
            </a:endParaRPr>
          </a:p>
        </p:txBody>
      </p:sp>
      <p:sp>
        <p:nvSpPr>
          <p:cNvPr id="13316" name="Rectangle 2">
            <a:extLst>
              <a:ext uri="{FF2B5EF4-FFF2-40B4-BE49-F238E27FC236}">
                <a16:creationId xmlns:a16="http://schemas.microsoft.com/office/drawing/2014/main" id="{3DFC466F-C803-4A69-96CA-B8175CD7C8A7}"/>
              </a:ext>
            </a:extLst>
          </p:cNvPr>
          <p:cNvSpPr>
            <a:spLocks noGrp="1" noRot="1" noChangeAspect="1" noChangeArrowheads="1" noTextEdit="1"/>
          </p:cNvSpPr>
          <p:nvPr>
            <p:ph type="sldImg"/>
          </p:nvPr>
        </p:nvSpPr>
        <p:spPr>
          <a:xfrm>
            <a:off x="1143000" y="534988"/>
            <a:ext cx="4572000" cy="3429000"/>
          </a:xfrm>
          <a:ln/>
        </p:spPr>
      </p:sp>
      <p:sp>
        <p:nvSpPr>
          <p:cNvPr id="13317" name="Rectangle 3">
            <a:extLst>
              <a:ext uri="{FF2B5EF4-FFF2-40B4-BE49-F238E27FC236}">
                <a16:creationId xmlns:a16="http://schemas.microsoft.com/office/drawing/2014/main" id="{CC03D93A-EC10-4862-B7B2-EA59A0EB0A2C}"/>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0CCFB1F1-E715-4DDF-B728-1ABA5376925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B8E38CC-CCB3-4778-B562-B99866ED6403}" type="slidenum">
              <a:rPr lang="en-US" altLang="en-US"/>
              <a:pPr/>
              <a:t>5</a:t>
            </a:fld>
            <a:endParaRPr lang="en-US" altLang="en-US"/>
          </a:p>
        </p:txBody>
      </p:sp>
      <p:sp>
        <p:nvSpPr>
          <p:cNvPr id="15363" name="Rectangle 7">
            <a:extLst>
              <a:ext uri="{FF2B5EF4-FFF2-40B4-BE49-F238E27FC236}">
                <a16:creationId xmlns:a16="http://schemas.microsoft.com/office/drawing/2014/main" id="{989A11A7-D63F-4D1F-93EA-DC250C71156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C9CAAD5-1B75-4CD3-B000-40C2B3CE4ECB}" type="slidenum">
              <a:rPr lang="en-US" altLang="en-US" sz="1200">
                <a:cs typeface="Arial" panose="020B0604020202020204" pitchFamily="34" charset="0"/>
              </a:rPr>
              <a:pPr algn="r" eaLnBrk="1" hangingPunct="1"/>
              <a:t>5</a:t>
            </a:fld>
            <a:endParaRPr lang="en-US" altLang="en-US" sz="1200">
              <a:cs typeface="Arial" panose="020B0604020202020204" pitchFamily="34" charset="0"/>
            </a:endParaRPr>
          </a:p>
        </p:txBody>
      </p:sp>
      <p:sp>
        <p:nvSpPr>
          <p:cNvPr id="15364" name="Rectangle 2">
            <a:extLst>
              <a:ext uri="{FF2B5EF4-FFF2-40B4-BE49-F238E27FC236}">
                <a16:creationId xmlns:a16="http://schemas.microsoft.com/office/drawing/2014/main" id="{DA4E9D43-37C7-4C1E-9999-147C7781C5EA}"/>
              </a:ext>
            </a:extLst>
          </p:cNvPr>
          <p:cNvSpPr>
            <a:spLocks noGrp="1" noRot="1" noChangeAspect="1" noChangeArrowheads="1" noTextEdit="1"/>
          </p:cNvSpPr>
          <p:nvPr>
            <p:ph type="sldImg"/>
          </p:nvPr>
        </p:nvSpPr>
        <p:spPr>
          <a:xfrm>
            <a:off x="1143000" y="534988"/>
            <a:ext cx="4572000" cy="3429000"/>
          </a:xfrm>
          <a:ln/>
        </p:spPr>
      </p:sp>
      <p:sp>
        <p:nvSpPr>
          <p:cNvPr id="15365" name="Rectangle 3">
            <a:extLst>
              <a:ext uri="{FF2B5EF4-FFF2-40B4-BE49-F238E27FC236}">
                <a16:creationId xmlns:a16="http://schemas.microsoft.com/office/drawing/2014/main" id="{0FAB4EE7-7FF1-4314-8B46-CEE1CD0D0841}"/>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CC8EB05-A38B-496A-9399-D18BFF6223A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4EFC47-5007-488E-8694-8B7D587E0FC0}" type="slidenum">
              <a:rPr lang="en-US" altLang="en-US"/>
              <a:pPr/>
              <a:t>6</a:t>
            </a:fld>
            <a:endParaRPr lang="en-US" altLang="en-US"/>
          </a:p>
        </p:txBody>
      </p:sp>
      <p:sp>
        <p:nvSpPr>
          <p:cNvPr id="17411" name="Rectangle 7">
            <a:extLst>
              <a:ext uri="{FF2B5EF4-FFF2-40B4-BE49-F238E27FC236}">
                <a16:creationId xmlns:a16="http://schemas.microsoft.com/office/drawing/2014/main" id="{F517E546-34CF-49B8-8CE9-E7FB5970D10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2C9E169-7954-487C-A325-A9CF15CF0A40}" type="slidenum">
              <a:rPr lang="en-US" altLang="en-US" sz="1200">
                <a:cs typeface="Arial" panose="020B0604020202020204" pitchFamily="34" charset="0"/>
              </a:rPr>
              <a:pPr algn="r" eaLnBrk="1" hangingPunct="1"/>
              <a:t>6</a:t>
            </a:fld>
            <a:endParaRPr lang="en-US" altLang="en-US" sz="1200">
              <a:cs typeface="Arial" panose="020B0604020202020204" pitchFamily="34" charset="0"/>
            </a:endParaRPr>
          </a:p>
        </p:txBody>
      </p:sp>
      <p:sp>
        <p:nvSpPr>
          <p:cNvPr id="17412" name="Rectangle 2">
            <a:extLst>
              <a:ext uri="{FF2B5EF4-FFF2-40B4-BE49-F238E27FC236}">
                <a16:creationId xmlns:a16="http://schemas.microsoft.com/office/drawing/2014/main" id="{C000BEF5-85DC-4280-8009-FB2FECE0FFFF}"/>
              </a:ext>
            </a:extLst>
          </p:cNvPr>
          <p:cNvSpPr>
            <a:spLocks noGrp="1" noRot="1" noChangeAspect="1" noChangeArrowheads="1" noTextEdit="1"/>
          </p:cNvSpPr>
          <p:nvPr>
            <p:ph type="sldImg"/>
          </p:nvPr>
        </p:nvSpPr>
        <p:spPr>
          <a:xfrm>
            <a:off x="1143000" y="534988"/>
            <a:ext cx="4572000" cy="3429000"/>
          </a:xfrm>
          <a:ln/>
        </p:spPr>
      </p:sp>
      <p:sp>
        <p:nvSpPr>
          <p:cNvPr id="17413" name="Rectangle 3">
            <a:extLst>
              <a:ext uri="{FF2B5EF4-FFF2-40B4-BE49-F238E27FC236}">
                <a16:creationId xmlns:a16="http://schemas.microsoft.com/office/drawing/2014/main" id="{9D050E1F-FDD8-468F-A3DA-5C2EE809C790}"/>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This example violates the “many buyers” condition of perfect competition.  Yet, we are merely trying to show here that, at each price, the quantity demanded in the market is the sum of the quantity demanded by each buyer in the market.  This holds whether there are two buyers or two million buyers.  But it would be harder to fit data for two million buyers on this slide, so we settle for two.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9ECE5E0-2FFE-4ED7-B922-4DEE43B6CEE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E50245-CC8F-4761-A588-7B8E0C626411}" type="slidenum">
              <a:rPr lang="en-US" altLang="en-US"/>
              <a:pPr/>
              <a:t>7</a:t>
            </a:fld>
            <a:endParaRPr lang="en-US" altLang="en-US"/>
          </a:p>
        </p:txBody>
      </p:sp>
      <p:sp>
        <p:nvSpPr>
          <p:cNvPr id="19459" name="Rectangle 7">
            <a:extLst>
              <a:ext uri="{FF2B5EF4-FFF2-40B4-BE49-F238E27FC236}">
                <a16:creationId xmlns:a16="http://schemas.microsoft.com/office/drawing/2014/main" id="{84313FA8-0D31-484D-BA32-3905881A9E4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5EA2F0B0-95EF-4957-B33C-3779B3F7965E}" type="slidenum">
              <a:rPr lang="en-US" altLang="en-US" sz="1200">
                <a:cs typeface="Arial" panose="020B0604020202020204" pitchFamily="34" charset="0"/>
              </a:rPr>
              <a:pPr algn="r" eaLnBrk="1" hangingPunct="1"/>
              <a:t>7</a:t>
            </a:fld>
            <a:endParaRPr lang="en-US" altLang="en-US" sz="1200">
              <a:cs typeface="Arial" panose="020B0604020202020204" pitchFamily="34" charset="0"/>
            </a:endParaRPr>
          </a:p>
        </p:txBody>
      </p:sp>
      <p:sp>
        <p:nvSpPr>
          <p:cNvPr id="19460" name="Rectangle 2">
            <a:extLst>
              <a:ext uri="{FF2B5EF4-FFF2-40B4-BE49-F238E27FC236}">
                <a16:creationId xmlns:a16="http://schemas.microsoft.com/office/drawing/2014/main" id="{FCCCF098-87D0-4771-B446-E348BE76ED47}"/>
              </a:ext>
            </a:extLst>
          </p:cNvPr>
          <p:cNvSpPr>
            <a:spLocks noGrp="1" noRot="1" noChangeAspect="1" noChangeArrowheads="1" noTextEdit="1"/>
          </p:cNvSpPr>
          <p:nvPr>
            <p:ph type="sldImg"/>
          </p:nvPr>
        </p:nvSpPr>
        <p:spPr>
          <a:xfrm>
            <a:off x="1143000" y="534988"/>
            <a:ext cx="4572000" cy="3429000"/>
          </a:xfrm>
          <a:ln/>
        </p:spPr>
      </p:sp>
      <p:sp>
        <p:nvSpPr>
          <p:cNvPr id="19461" name="Rectangle 3">
            <a:extLst>
              <a:ext uri="{FF2B5EF4-FFF2-40B4-BE49-F238E27FC236}">
                <a16:creationId xmlns:a16="http://schemas.microsoft.com/office/drawing/2014/main" id="{FA573C75-AE97-40DE-8039-BD6BDFD04DC5}"/>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A4568500-42A6-48E1-902F-357F59AD374A}"/>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366578F-1F06-4336-9AB9-0B78E5DFA853}" type="slidenum">
              <a:rPr lang="en-US" altLang="en-US"/>
              <a:pPr/>
              <a:t>8</a:t>
            </a:fld>
            <a:endParaRPr lang="en-US" altLang="en-US"/>
          </a:p>
        </p:txBody>
      </p:sp>
      <p:sp>
        <p:nvSpPr>
          <p:cNvPr id="21507" name="Rectangle 7">
            <a:extLst>
              <a:ext uri="{FF2B5EF4-FFF2-40B4-BE49-F238E27FC236}">
                <a16:creationId xmlns:a16="http://schemas.microsoft.com/office/drawing/2014/main" id="{983A7586-5EBF-4F6E-A6EA-FC21B315494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3B4456B-A680-43F3-97D9-96F88C38CDC2}" type="slidenum">
              <a:rPr lang="en-US" altLang="en-US" sz="1200">
                <a:cs typeface="Arial" panose="020B0604020202020204" pitchFamily="34" charset="0"/>
              </a:rPr>
              <a:pPr algn="r" eaLnBrk="1" hangingPunct="1"/>
              <a:t>8</a:t>
            </a:fld>
            <a:endParaRPr lang="en-US" altLang="en-US" sz="1200">
              <a:cs typeface="Arial" panose="020B0604020202020204" pitchFamily="34" charset="0"/>
            </a:endParaRPr>
          </a:p>
        </p:txBody>
      </p:sp>
      <p:sp>
        <p:nvSpPr>
          <p:cNvPr id="21508" name="Rectangle 2">
            <a:extLst>
              <a:ext uri="{FF2B5EF4-FFF2-40B4-BE49-F238E27FC236}">
                <a16:creationId xmlns:a16="http://schemas.microsoft.com/office/drawing/2014/main" id="{6F489FC8-95D9-48B5-A1B3-66E7046FDC3E}"/>
              </a:ext>
            </a:extLst>
          </p:cNvPr>
          <p:cNvSpPr>
            <a:spLocks noGrp="1" noRot="1" noChangeAspect="1" noChangeArrowheads="1" noTextEdit="1"/>
          </p:cNvSpPr>
          <p:nvPr>
            <p:ph type="sldImg"/>
          </p:nvPr>
        </p:nvSpPr>
        <p:spPr>
          <a:xfrm>
            <a:off x="1143000" y="534988"/>
            <a:ext cx="4572000" cy="3429000"/>
          </a:xfrm>
          <a:ln/>
        </p:spPr>
      </p:sp>
      <p:sp>
        <p:nvSpPr>
          <p:cNvPr id="21509" name="Rectangle 3">
            <a:extLst>
              <a:ext uri="{FF2B5EF4-FFF2-40B4-BE49-F238E27FC236}">
                <a16:creationId xmlns:a16="http://schemas.microsoft.com/office/drawing/2014/main" id="{FB7B4DBD-6657-48B1-8815-EB019DB62C82}"/>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F00F6586-22F8-49F2-8012-26CE53833D6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CD475B-69D5-428A-AB92-6E9C77383293}" type="slidenum">
              <a:rPr lang="en-US" altLang="en-US"/>
              <a:pPr/>
              <a:t>9</a:t>
            </a:fld>
            <a:endParaRPr lang="en-US" altLang="en-US"/>
          </a:p>
        </p:txBody>
      </p:sp>
      <p:sp>
        <p:nvSpPr>
          <p:cNvPr id="23555" name="Rectangle 7">
            <a:extLst>
              <a:ext uri="{FF2B5EF4-FFF2-40B4-BE49-F238E27FC236}">
                <a16:creationId xmlns:a16="http://schemas.microsoft.com/office/drawing/2014/main" id="{76BDA26C-758A-4DC4-993B-BDA55FCD194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526EEC7-F398-4272-954C-D4EA91DC63F7}" type="slidenum">
              <a:rPr lang="en-US" altLang="en-US" sz="1200">
                <a:cs typeface="Arial" panose="020B0604020202020204" pitchFamily="34" charset="0"/>
              </a:rPr>
              <a:pPr algn="r" eaLnBrk="1" hangingPunct="1"/>
              <a:t>9</a:t>
            </a:fld>
            <a:endParaRPr lang="en-US" altLang="en-US" sz="1200">
              <a:cs typeface="Arial" panose="020B0604020202020204" pitchFamily="34" charset="0"/>
            </a:endParaRPr>
          </a:p>
        </p:txBody>
      </p:sp>
      <p:sp>
        <p:nvSpPr>
          <p:cNvPr id="23556" name="Rectangle 2">
            <a:extLst>
              <a:ext uri="{FF2B5EF4-FFF2-40B4-BE49-F238E27FC236}">
                <a16:creationId xmlns:a16="http://schemas.microsoft.com/office/drawing/2014/main" id="{22B867B8-A670-4E17-8327-CD325F03D092}"/>
              </a:ext>
            </a:extLst>
          </p:cNvPr>
          <p:cNvSpPr>
            <a:spLocks noGrp="1" noRot="1" noChangeAspect="1" noChangeArrowheads="1" noTextEdit="1"/>
          </p:cNvSpPr>
          <p:nvPr>
            <p:ph type="sldImg"/>
          </p:nvPr>
        </p:nvSpPr>
        <p:spPr>
          <a:ln/>
        </p:spPr>
      </p:sp>
      <p:sp>
        <p:nvSpPr>
          <p:cNvPr id="23557" name="Rectangle 3">
            <a:extLst>
              <a:ext uri="{FF2B5EF4-FFF2-40B4-BE49-F238E27FC236}">
                <a16:creationId xmlns:a16="http://schemas.microsoft.com/office/drawing/2014/main" id="{9D504B07-AF74-4CB0-8C03-7D255712DC29}"/>
              </a:ext>
            </a:extLst>
          </p:cNvPr>
          <p:cNvSpPr>
            <a:spLocks noGrp="1" noChangeArrowheads="1"/>
          </p:cNvSpPr>
          <p:nvPr>
            <p:ph type="body" idx="1"/>
          </p:nvPr>
        </p:nvSpPr>
        <p:spPr>
          <a:noFill/>
        </p:spPr>
        <p:txBody>
          <a:bodyPr/>
          <a:lstStyle/>
          <a:p>
            <a:pPr eaLnBrk="1" hangingPunct="1"/>
            <a:r>
              <a:rPr lang="en-US" altLang="en-US"/>
              <a:t>Income is the first demand shifter discussed in this chapter of the textbook.  I chose to start with a different one (number of buyers), for the following reason: </a:t>
            </a:r>
          </a:p>
          <a:p>
            <a:pPr eaLnBrk="1" hangingPunct="1"/>
            <a:r>
              <a:rPr lang="en-US" altLang="en-US"/>
              <a:t>In discussing the impact of changes in income on the demand curve, the textbook also introduces the concept of normal goods and inferior goods.   Students may find it easier to learn about curve shifts if the presentation focuses </a:t>
            </a:r>
            <a:r>
              <a:rPr lang="en-US" altLang="en-US" i="1"/>
              <a:t>solely</a:t>
            </a:r>
            <a:r>
              <a:rPr lang="en-US" altLang="en-US"/>
              <a:t> on a curve shift (at least initially) without simultaneously introducing other concepts.  </a:t>
            </a:r>
          </a:p>
          <a:p>
            <a:pPr eaLnBrk="1" hangingPunct="1"/>
            <a:endParaRPr lang="en-US" altLang="en-US"/>
          </a:p>
          <a:p>
            <a:pPr eaLnBrk="1" hangingPunct="1"/>
            <a:r>
              <a:rPr lang="en-US" altLang="en-US"/>
              <a:t>If you wish to present the demand shifters in the same order as they appear in the book, simply reorder the slides in this presentation.  </a:t>
            </a:r>
          </a:p>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1297BAAD-B3C1-4BFB-B4A2-48C45B3EC82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ABB8974-6BD8-43E4-9970-CE1BA59AFE24}" type="slidenum">
              <a:rPr lang="en-US" altLang="en-US"/>
              <a:pPr/>
              <a:t>10</a:t>
            </a:fld>
            <a:endParaRPr lang="en-US" altLang="en-US"/>
          </a:p>
        </p:txBody>
      </p:sp>
      <p:sp>
        <p:nvSpPr>
          <p:cNvPr id="25603" name="Rectangle 7">
            <a:extLst>
              <a:ext uri="{FF2B5EF4-FFF2-40B4-BE49-F238E27FC236}">
                <a16:creationId xmlns:a16="http://schemas.microsoft.com/office/drawing/2014/main" id="{AF13B109-D02C-45CC-B43A-9E9BDF18B99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5EC18C6-9632-45A7-B1B0-BA5EDC038724}" type="slidenum">
              <a:rPr lang="en-US" altLang="en-US" sz="1200">
                <a:cs typeface="Arial" panose="020B0604020202020204" pitchFamily="34" charset="0"/>
              </a:rPr>
              <a:pPr algn="r" eaLnBrk="1" hangingPunct="1"/>
              <a:t>10</a:t>
            </a:fld>
            <a:endParaRPr lang="en-US" altLang="en-US" sz="1200">
              <a:cs typeface="Arial" panose="020B0604020202020204" pitchFamily="34" charset="0"/>
            </a:endParaRPr>
          </a:p>
        </p:txBody>
      </p:sp>
      <p:sp>
        <p:nvSpPr>
          <p:cNvPr id="25604" name="Rectangle 2">
            <a:extLst>
              <a:ext uri="{FF2B5EF4-FFF2-40B4-BE49-F238E27FC236}">
                <a16:creationId xmlns:a16="http://schemas.microsoft.com/office/drawing/2014/main" id="{1DB3718D-E8EE-4B37-996D-9A5D60F584E4}"/>
              </a:ext>
            </a:extLst>
          </p:cNvPr>
          <p:cNvSpPr>
            <a:spLocks noGrp="1" noRot="1" noChangeAspect="1" noChangeArrowheads="1" noTextEdit="1"/>
          </p:cNvSpPr>
          <p:nvPr>
            <p:ph type="sldImg"/>
          </p:nvPr>
        </p:nvSpPr>
        <p:spPr>
          <a:ln/>
        </p:spPr>
      </p:sp>
      <p:sp>
        <p:nvSpPr>
          <p:cNvPr id="25605" name="Rectangle 3">
            <a:extLst>
              <a:ext uri="{FF2B5EF4-FFF2-40B4-BE49-F238E27FC236}">
                <a16:creationId xmlns:a16="http://schemas.microsoft.com/office/drawing/2014/main" id="{4881EF12-C33B-49AF-B926-B4837235F040}"/>
              </a:ext>
            </a:extLst>
          </p:cNvPr>
          <p:cNvSpPr>
            <a:spLocks noGrp="1" noChangeArrowheads="1"/>
          </p:cNvSpPr>
          <p:nvPr>
            <p:ph type="body" idx="1"/>
          </p:nvPr>
        </p:nvSpPr>
        <p:spPr>
          <a:noFill/>
        </p:spPr>
        <p:txBody>
          <a:bodyPr/>
          <a:lstStyle/>
          <a:p>
            <a:pPr eaLnBrk="1" hangingPunct="1">
              <a:lnSpc>
                <a:spcPct val="90000"/>
              </a:lnSpc>
            </a:pPr>
            <a:r>
              <a:rPr lang="en-US" altLang="en-US"/>
              <a:t>Beginning economics students often have trouble understanding the difference between a movement along the curve and a shift in the curve.  Here, the animation has been carefully designed to help students see that a shift in the curve results from an increase in quantity at each price.  </a:t>
            </a:r>
          </a:p>
          <a:p>
            <a:pPr eaLnBrk="1" hangingPunct="1">
              <a:lnSpc>
                <a:spcPct val="90000"/>
              </a:lnSpc>
            </a:pPr>
            <a:endParaRPr lang="en-US" altLang="en-US"/>
          </a:p>
          <a:p>
            <a:pPr eaLnBrk="1" hangingPunct="1">
              <a:lnSpc>
                <a:spcPct val="90000"/>
              </a:lnSpc>
            </a:pPr>
            <a:r>
              <a:rPr lang="en-US" altLang="en-US"/>
              <a:t>(A more realistic scenario would involve a non-parallel shift, where the horizontal distance of the shift would be greater for lower prices than higher ones. However, to remain consistent with the textbook, and to keep things simple, this slide shows a parallel shift.)</a:t>
            </a:r>
          </a:p>
          <a:p>
            <a:pPr eaLnBrk="1" hangingPunct="1">
              <a:lnSpc>
                <a:spcPct val="90000"/>
              </a:lnSpc>
            </a:pP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9E0320EE-51AD-4506-BC75-FD7D5AAA44CB}"/>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0BAFA0-950D-4C57-9E02-BB700260C464}" type="slidenum">
              <a:rPr lang="en-US" altLang="en-US"/>
              <a:pPr/>
              <a:t>11</a:t>
            </a:fld>
            <a:endParaRPr lang="en-US" altLang="en-US"/>
          </a:p>
        </p:txBody>
      </p:sp>
      <p:sp>
        <p:nvSpPr>
          <p:cNvPr id="27651" name="Rectangle 7">
            <a:extLst>
              <a:ext uri="{FF2B5EF4-FFF2-40B4-BE49-F238E27FC236}">
                <a16:creationId xmlns:a16="http://schemas.microsoft.com/office/drawing/2014/main" id="{3C044254-65C5-4E6D-98D1-D70B20E554F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032D896-BE68-4AAC-A1F7-ED9FC44F3841}" type="slidenum">
              <a:rPr lang="en-US" altLang="en-US" sz="1200">
                <a:cs typeface="Arial" panose="020B0604020202020204" pitchFamily="34" charset="0"/>
              </a:rPr>
              <a:pPr algn="r" eaLnBrk="1" hangingPunct="1"/>
              <a:t>11</a:t>
            </a:fld>
            <a:endParaRPr lang="en-US" altLang="en-US" sz="1200">
              <a:cs typeface="Arial" panose="020B0604020202020204" pitchFamily="34" charset="0"/>
            </a:endParaRPr>
          </a:p>
        </p:txBody>
      </p:sp>
      <p:sp>
        <p:nvSpPr>
          <p:cNvPr id="27652" name="Rectangle 2">
            <a:extLst>
              <a:ext uri="{FF2B5EF4-FFF2-40B4-BE49-F238E27FC236}">
                <a16:creationId xmlns:a16="http://schemas.microsoft.com/office/drawing/2014/main" id="{98E700A9-CAC7-41E7-B9D6-28B6CB928E5B}"/>
              </a:ext>
            </a:extLst>
          </p:cNvPr>
          <p:cNvSpPr>
            <a:spLocks noGrp="1" noRot="1" noChangeAspect="1" noChangeArrowheads="1" noTextEdit="1"/>
          </p:cNvSpPr>
          <p:nvPr>
            <p:ph type="sldImg"/>
          </p:nvPr>
        </p:nvSpPr>
        <p:spPr>
          <a:ln/>
        </p:spPr>
      </p:sp>
      <p:sp>
        <p:nvSpPr>
          <p:cNvPr id="27653" name="Rectangle 3">
            <a:extLst>
              <a:ext uri="{FF2B5EF4-FFF2-40B4-BE49-F238E27FC236}">
                <a16:creationId xmlns:a16="http://schemas.microsoft.com/office/drawing/2014/main" id="{F5542301-8850-44FF-BCA0-01F6B1DD7CD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C6426A19-0579-415C-BC3C-19E2DF5F4BF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EBFD4E-A8CE-4B82-91F9-348D39E1CA1D}" type="slidenum">
              <a:rPr lang="en-US" altLang="en-US"/>
              <a:pPr/>
              <a:t>12</a:t>
            </a:fld>
            <a:endParaRPr lang="en-US" altLang="en-US"/>
          </a:p>
        </p:txBody>
      </p:sp>
      <p:sp>
        <p:nvSpPr>
          <p:cNvPr id="29699" name="Rectangle 7">
            <a:extLst>
              <a:ext uri="{FF2B5EF4-FFF2-40B4-BE49-F238E27FC236}">
                <a16:creationId xmlns:a16="http://schemas.microsoft.com/office/drawing/2014/main" id="{641FE963-3CBA-4694-9D01-4EB0744D912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1988C86-8A4F-46A3-BC34-6E50AA284264}" type="slidenum">
              <a:rPr lang="en-US" altLang="en-US" sz="1200">
                <a:cs typeface="Arial" panose="020B0604020202020204" pitchFamily="34" charset="0"/>
              </a:rPr>
              <a:pPr algn="r" eaLnBrk="1" hangingPunct="1"/>
              <a:t>12</a:t>
            </a:fld>
            <a:endParaRPr lang="en-US" altLang="en-US" sz="1200">
              <a:cs typeface="Arial" panose="020B0604020202020204" pitchFamily="34" charset="0"/>
            </a:endParaRPr>
          </a:p>
        </p:txBody>
      </p:sp>
      <p:sp>
        <p:nvSpPr>
          <p:cNvPr id="29700" name="Rectangle 2">
            <a:extLst>
              <a:ext uri="{FF2B5EF4-FFF2-40B4-BE49-F238E27FC236}">
                <a16:creationId xmlns:a16="http://schemas.microsoft.com/office/drawing/2014/main" id="{5182A246-550D-4F9A-B3C7-F996270FF7D9}"/>
              </a:ext>
            </a:extLst>
          </p:cNvPr>
          <p:cNvSpPr>
            <a:spLocks noGrp="1" noRot="1" noChangeAspect="1" noChangeArrowheads="1" noTextEdit="1"/>
          </p:cNvSpPr>
          <p:nvPr>
            <p:ph type="sldImg"/>
          </p:nvPr>
        </p:nvSpPr>
        <p:spPr>
          <a:xfrm>
            <a:off x="1143000" y="534988"/>
            <a:ext cx="4572000" cy="3429000"/>
          </a:xfrm>
          <a:ln/>
        </p:spPr>
      </p:sp>
      <p:sp>
        <p:nvSpPr>
          <p:cNvPr id="29701" name="Rectangle 3">
            <a:extLst>
              <a:ext uri="{FF2B5EF4-FFF2-40B4-BE49-F238E27FC236}">
                <a16:creationId xmlns:a16="http://schemas.microsoft.com/office/drawing/2014/main" id="{218D41DD-CBA0-44F0-9C3D-FB0EB82E93D3}"/>
              </a:ext>
            </a:extLst>
          </p:cNvPr>
          <p:cNvSpPr>
            <a:spLocks noGrp="1" noChangeArrowheads="1"/>
          </p:cNvSpPr>
          <p:nvPr>
            <p:ph type="body" idx="1"/>
          </p:nvPr>
        </p:nvSpPr>
        <p:spPr>
          <a:xfrm>
            <a:off x="685800" y="4248150"/>
            <a:ext cx="5486400" cy="4210050"/>
          </a:xfrm>
          <a:noFill/>
        </p:spPr>
        <p:txBody>
          <a:bodyPr/>
          <a:lstStyle/>
          <a:p>
            <a:pPr eaLnBrk="1" hangingPunct="1"/>
            <a:r>
              <a:rPr lang="en-US" altLang="en-US" sz="1100"/>
              <a:t>If you are willing to spend a couple extra minutes on substitutes and complements, and have a blackboard or whiteboard to draw on, here’s an idea:</a:t>
            </a:r>
          </a:p>
          <a:p>
            <a:pPr eaLnBrk="1" hangingPunct="1"/>
            <a:endParaRPr lang="en-US" altLang="en-US" sz="1100"/>
          </a:p>
          <a:p>
            <a:pPr eaLnBrk="1" hangingPunct="1"/>
            <a:r>
              <a:rPr lang="en-US" altLang="en-US" sz="1100"/>
              <a:t>Before (or instead of) showing this slide, draw the demand curve for hamburgers.  Pick a price, say $5, and draw a horizontal line at that price, extending from the vertical axis through the D curve and continuing to the right.  Suppose Q = 1000 when P = $5.  Label this on the horizontal axis.  </a:t>
            </a:r>
          </a:p>
          <a:p>
            <a:pPr eaLnBrk="1" hangingPunct="1"/>
            <a:endParaRPr lang="en-US" altLang="en-US" sz="1100"/>
          </a:p>
          <a:p>
            <a:pPr eaLnBrk="1" hangingPunct="1"/>
            <a:r>
              <a:rPr lang="en-US" altLang="en-US" sz="1100"/>
              <a:t>Now ask your students:   If pizza becomes more expensive, but price of hamburgers does not change, what would happen to the quantity of hamburgers demanded?  Would it remain at 1000, would it increase, or would it decrease?  Explain.  </a:t>
            </a:r>
          </a:p>
          <a:p>
            <a:pPr eaLnBrk="1" hangingPunct="1"/>
            <a:endParaRPr lang="en-US" altLang="en-US" sz="1100"/>
          </a:p>
          <a:p>
            <a:pPr eaLnBrk="1" hangingPunct="1"/>
            <a:r>
              <a:rPr lang="en-US" altLang="en-US" sz="1100"/>
              <a:t>Some and perhaps most students will see right away that people will want more hamburgers when the price of pizza rises.  After establishing this, note that the increase in the price of pizza caused an increase in the quantity demanded of hamburgers.  Then state the term “substitutes” and give the definition.  </a:t>
            </a:r>
          </a:p>
          <a:p>
            <a:pPr eaLnBrk="1" hangingPunct="1"/>
            <a:endParaRPr lang="en-US" altLang="en-US" sz="1100"/>
          </a:p>
          <a:p>
            <a:pPr eaLnBrk="1" hangingPunct="1"/>
            <a:r>
              <a:rPr lang="en-US" altLang="en-US" sz="1100"/>
              <a:t>Before giving the other examples (listed in the 3</a:t>
            </a:r>
            <a:r>
              <a:rPr lang="en-US" altLang="en-US" sz="1100" baseline="30000"/>
              <a:t>rd</a:t>
            </a:r>
            <a:r>
              <a:rPr lang="en-US" altLang="en-US" sz="1100"/>
              <a:t> bullet of this slide), do a similar exercise to develop the concept of complements.  Finally, give the examples of substitutes and complements from the 3</a:t>
            </a:r>
            <a:r>
              <a:rPr lang="en-US" altLang="en-US" sz="1100" baseline="30000"/>
              <a:t>rd</a:t>
            </a:r>
            <a:r>
              <a:rPr lang="en-US" altLang="en-US" sz="1100"/>
              <a:t> bullet point of this and the following slides, but mix up the order and ask students to identify whether each example is complements or substitutes. </a:t>
            </a:r>
          </a:p>
          <a:p>
            <a:pPr eaLnBrk="1" hangingPunct="1"/>
            <a:endParaRPr lang="en-US" altLang="en-US"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5FD5810E-4E02-495D-B66A-BE5EE305FB3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DE56D0-6A2B-43D3-8109-A12AAE855EC4}" type="slidenum">
              <a:rPr lang="en-US" altLang="en-US"/>
              <a:pPr/>
              <a:t>13</a:t>
            </a:fld>
            <a:endParaRPr lang="en-US" altLang="en-US"/>
          </a:p>
        </p:txBody>
      </p:sp>
      <p:sp>
        <p:nvSpPr>
          <p:cNvPr id="31747" name="Rectangle 7">
            <a:extLst>
              <a:ext uri="{FF2B5EF4-FFF2-40B4-BE49-F238E27FC236}">
                <a16:creationId xmlns:a16="http://schemas.microsoft.com/office/drawing/2014/main" id="{532CBD45-E9A4-41F1-A0EC-0704E5E4AC6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F69EE568-C8A0-48D5-B420-90EF09F37069}" type="slidenum">
              <a:rPr lang="en-US" altLang="en-US" sz="1200">
                <a:cs typeface="Arial" panose="020B0604020202020204" pitchFamily="34" charset="0"/>
              </a:rPr>
              <a:pPr algn="r" eaLnBrk="1" hangingPunct="1"/>
              <a:t>13</a:t>
            </a:fld>
            <a:endParaRPr lang="en-US" altLang="en-US" sz="1200">
              <a:cs typeface="Arial" panose="020B0604020202020204" pitchFamily="34" charset="0"/>
            </a:endParaRPr>
          </a:p>
        </p:txBody>
      </p:sp>
      <p:sp>
        <p:nvSpPr>
          <p:cNvPr id="31748" name="Rectangle 2">
            <a:extLst>
              <a:ext uri="{FF2B5EF4-FFF2-40B4-BE49-F238E27FC236}">
                <a16:creationId xmlns:a16="http://schemas.microsoft.com/office/drawing/2014/main" id="{BC730504-1CD9-414D-B3A0-A0983FFFBF95}"/>
              </a:ext>
            </a:extLst>
          </p:cNvPr>
          <p:cNvSpPr>
            <a:spLocks noGrp="1" noRot="1" noChangeAspect="1" noChangeArrowheads="1" noTextEdit="1"/>
          </p:cNvSpPr>
          <p:nvPr>
            <p:ph type="sldImg"/>
          </p:nvPr>
        </p:nvSpPr>
        <p:spPr>
          <a:xfrm>
            <a:off x="1143000" y="534988"/>
            <a:ext cx="4572000" cy="3429000"/>
          </a:xfrm>
          <a:ln/>
        </p:spPr>
      </p:sp>
      <p:sp>
        <p:nvSpPr>
          <p:cNvPr id="31749" name="Rectangle 3">
            <a:extLst>
              <a:ext uri="{FF2B5EF4-FFF2-40B4-BE49-F238E27FC236}">
                <a16:creationId xmlns:a16="http://schemas.microsoft.com/office/drawing/2014/main" id="{05F3C214-1934-42F7-B14E-C06BBBD4B695}"/>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2C828A0D-A36B-4948-AF44-0B010E8310A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8BB59E8-E711-49AD-8171-5ECA7C0AB6DA}" type="slidenum">
              <a:rPr lang="en-US" altLang="en-US"/>
              <a:pPr/>
              <a:t>14</a:t>
            </a:fld>
            <a:endParaRPr lang="en-US" altLang="en-US"/>
          </a:p>
        </p:txBody>
      </p:sp>
      <p:sp>
        <p:nvSpPr>
          <p:cNvPr id="33795" name="Rectangle 7">
            <a:extLst>
              <a:ext uri="{FF2B5EF4-FFF2-40B4-BE49-F238E27FC236}">
                <a16:creationId xmlns:a16="http://schemas.microsoft.com/office/drawing/2014/main" id="{13236EC5-01BE-41C0-9D3C-E9FA289320E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34E9A9A-2524-4D09-A9D1-68F02AC9B8A4}" type="slidenum">
              <a:rPr lang="en-US" altLang="en-US" sz="1200">
                <a:cs typeface="Arial" panose="020B0604020202020204" pitchFamily="34" charset="0"/>
              </a:rPr>
              <a:pPr algn="r" eaLnBrk="1" hangingPunct="1"/>
              <a:t>14</a:t>
            </a:fld>
            <a:endParaRPr lang="en-US" altLang="en-US" sz="1200">
              <a:cs typeface="Arial" panose="020B0604020202020204" pitchFamily="34" charset="0"/>
            </a:endParaRPr>
          </a:p>
        </p:txBody>
      </p:sp>
      <p:sp>
        <p:nvSpPr>
          <p:cNvPr id="33796" name="Rectangle 2">
            <a:extLst>
              <a:ext uri="{FF2B5EF4-FFF2-40B4-BE49-F238E27FC236}">
                <a16:creationId xmlns:a16="http://schemas.microsoft.com/office/drawing/2014/main" id="{8932BF48-5E5A-45E9-9A53-973E30BDAB97}"/>
              </a:ext>
            </a:extLst>
          </p:cNvPr>
          <p:cNvSpPr>
            <a:spLocks noGrp="1" noRot="1" noChangeAspect="1" noChangeArrowheads="1" noTextEdit="1"/>
          </p:cNvSpPr>
          <p:nvPr>
            <p:ph type="sldImg"/>
          </p:nvPr>
        </p:nvSpPr>
        <p:spPr>
          <a:xfrm>
            <a:off x="1143000" y="534988"/>
            <a:ext cx="4572000" cy="3429000"/>
          </a:xfrm>
          <a:ln/>
        </p:spPr>
      </p:sp>
      <p:sp>
        <p:nvSpPr>
          <p:cNvPr id="33797" name="Rectangle 3">
            <a:extLst>
              <a:ext uri="{FF2B5EF4-FFF2-40B4-BE49-F238E27FC236}">
                <a16:creationId xmlns:a16="http://schemas.microsoft.com/office/drawing/2014/main" id="{64BF2C91-4204-4E60-9F9F-1DA1F52E0F0C}"/>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EB3F7F4-91DE-40E1-8F51-0070B4FC739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AC3F7A-6965-4317-A854-2127245898FD}" type="slidenum">
              <a:rPr lang="en-US" altLang="en-US"/>
              <a:pPr/>
              <a:t>15</a:t>
            </a:fld>
            <a:endParaRPr lang="en-US" altLang="en-US"/>
          </a:p>
        </p:txBody>
      </p:sp>
      <p:sp>
        <p:nvSpPr>
          <p:cNvPr id="35843" name="Rectangle 7">
            <a:extLst>
              <a:ext uri="{FF2B5EF4-FFF2-40B4-BE49-F238E27FC236}">
                <a16:creationId xmlns:a16="http://schemas.microsoft.com/office/drawing/2014/main" id="{6CF8E575-0CC8-4015-8DDF-F22A6603B3D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3FB134E-0862-4CD2-B8FC-EA378D93FDDA}" type="slidenum">
              <a:rPr lang="en-US" altLang="en-US" sz="1200">
                <a:cs typeface="Arial" panose="020B0604020202020204" pitchFamily="34" charset="0"/>
              </a:rPr>
              <a:pPr algn="r" eaLnBrk="1" hangingPunct="1"/>
              <a:t>15</a:t>
            </a:fld>
            <a:endParaRPr lang="en-US" altLang="en-US" sz="1200">
              <a:cs typeface="Arial" panose="020B0604020202020204" pitchFamily="34" charset="0"/>
            </a:endParaRPr>
          </a:p>
        </p:txBody>
      </p:sp>
      <p:sp>
        <p:nvSpPr>
          <p:cNvPr id="35844" name="Rectangle 2">
            <a:extLst>
              <a:ext uri="{FF2B5EF4-FFF2-40B4-BE49-F238E27FC236}">
                <a16:creationId xmlns:a16="http://schemas.microsoft.com/office/drawing/2014/main" id="{D0F1CFF3-12C0-4853-8717-10D6825FCDF2}"/>
              </a:ext>
            </a:extLst>
          </p:cNvPr>
          <p:cNvSpPr>
            <a:spLocks noGrp="1" noRot="1" noChangeAspect="1" noChangeArrowheads="1" noTextEdit="1"/>
          </p:cNvSpPr>
          <p:nvPr>
            <p:ph type="sldImg"/>
          </p:nvPr>
        </p:nvSpPr>
        <p:spPr>
          <a:xfrm>
            <a:off x="1143000" y="534988"/>
            <a:ext cx="4572000" cy="3429000"/>
          </a:xfrm>
          <a:ln/>
        </p:spPr>
      </p:sp>
      <p:sp>
        <p:nvSpPr>
          <p:cNvPr id="35845" name="Rectangle 3">
            <a:extLst>
              <a:ext uri="{FF2B5EF4-FFF2-40B4-BE49-F238E27FC236}">
                <a16:creationId xmlns:a16="http://schemas.microsoft.com/office/drawing/2014/main" id="{F8F42EF2-86BA-46ED-9A8F-9AE2A7A168E8}"/>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43F4068-F39F-43E0-BAB0-CCF5BC27EC5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D6F8FC6-57A1-4EC9-B6CB-687B8F76035B}" type="slidenum">
              <a:rPr lang="en-US" altLang="en-US"/>
              <a:pPr/>
              <a:t>16</a:t>
            </a:fld>
            <a:endParaRPr lang="en-US" altLang="en-US"/>
          </a:p>
        </p:txBody>
      </p:sp>
      <p:sp>
        <p:nvSpPr>
          <p:cNvPr id="37891" name="Rectangle 7">
            <a:extLst>
              <a:ext uri="{FF2B5EF4-FFF2-40B4-BE49-F238E27FC236}">
                <a16:creationId xmlns:a16="http://schemas.microsoft.com/office/drawing/2014/main" id="{3A84713F-97CC-463F-A1D8-91700A990D6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5449278-79CF-4A29-902A-C02A687BEA38}" type="slidenum">
              <a:rPr lang="en-US" altLang="en-US" sz="1200">
                <a:cs typeface="Arial" panose="020B0604020202020204" pitchFamily="34" charset="0"/>
              </a:rPr>
              <a:pPr algn="r" eaLnBrk="1" hangingPunct="1"/>
              <a:t>16</a:t>
            </a:fld>
            <a:endParaRPr lang="en-US" altLang="en-US" sz="1200">
              <a:cs typeface="Arial" panose="020B0604020202020204" pitchFamily="34" charset="0"/>
            </a:endParaRPr>
          </a:p>
        </p:txBody>
      </p:sp>
      <p:sp>
        <p:nvSpPr>
          <p:cNvPr id="37892" name="Rectangle 2">
            <a:extLst>
              <a:ext uri="{FF2B5EF4-FFF2-40B4-BE49-F238E27FC236}">
                <a16:creationId xmlns:a16="http://schemas.microsoft.com/office/drawing/2014/main" id="{7144B31C-43E7-4573-A32F-EBE8269CE6CB}"/>
              </a:ext>
            </a:extLst>
          </p:cNvPr>
          <p:cNvSpPr>
            <a:spLocks noGrp="1" noRot="1" noChangeAspect="1" noChangeArrowheads="1" noTextEdit="1"/>
          </p:cNvSpPr>
          <p:nvPr>
            <p:ph type="sldImg"/>
          </p:nvPr>
        </p:nvSpPr>
        <p:spPr>
          <a:ln/>
        </p:spPr>
      </p:sp>
      <p:sp>
        <p:nvSpPr>
          <p:cNvPr id="37893" name="Rectangle 3">
            <a:extLst>
              <a:ext uri="{FF2B5EF4-FFF2-40B4-BE49-F238E27FC236}">
                <a16:creationId xmlns:a16="http://schemas.microsoft.com/office/drawing/2014/main" id="{B8582060-30E2-4AAB-92C0-5B1481E09222}"/>
              </a:ext>
            </a:extLst>
          </p:cNvPr>
          <p:cNvSpPr>
            <a:spLocks noGrp="1" noChangeArrowheads="1"/>
          </p:cNvSpPr>
          <p:nvPr>
            <p:ph type="body" idx="1"/>
          </p:nvPr>
        </p:nvSpPr>
        <p:spPr>
          <a:noFill/>
        </p:spPr>
        <p:txBody>
          <a:bodyPr/>
          <a:lstStyle/>
          <a:p>
            <a:pPr eaLnBrk="1" hangingPunct="1"/>
            <a:r>
              <a:rPr lang="en-US" altLang="en-US"/>
              <a:t>Students should notice that the only determinant of quantity demanded that causes a movement along the curve is price.  Also notice:  price is one of the variables measured along the axes of the graph.  </a:t>
            </a:r>
          </a:p>
          <a:p>
            <a:pPr eaLnBrk="1" hangingPunct="1"/>
            <a:endParaRPr lang="en-US" altLang="en-US"/>
          </a:p>
          <a:p>
            <a:pPr eaLnBrk="1" hangingPunct="1"/>
            <a:r>
              <a:rPr lang="en-US" altLang="en-US"/>
              <a:t>Here’s a handy “rule of thumb” to help students remember whether the curve shifts:  If the variable causing demand to change is measured on one of the axes, you move along the curve.  If the variable that’s causing demand to change is NOT measured on either axis, then the curve shifts.  </a:t>
            </a:r>
          </a:p>
          <a:p>
            <a:pPr eaLnBrk="1" hangingPunct="1"/>
            <a:endParaRPr lang="en-US" altLang="en-US"/>
          </a:p>
          <a:p>
            <a:pPr eaLnBrk="1" hangingPunct="1"/>
            <a:r>
              <a:rPr lang="en-US" altLang="en-US"/>
              <a:t>This rule of thumb works with all curves in economics that involve an X-Y relationship.  (I.e., it works for the supply curve, the marginal cost curve, the IS and LM curves, among many others, but it does not apply to curves drawn on time series graphs.)  </a:t>
            </a:r>
          </a:p>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15890FA-1319-4C71-8213-63569B30657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4FA4136-EBBE-4088-9E7E-1903AD916801}" type="slidenum">
              <a:rPr lang="en-US" altLang="en-US"/>
              <a:pPr/>
              <a:t>17</a:t>
            </a:fld>
            <a:endParaRPr lang="en-US" altLang="en-US"/>
          </a:p>
        </p:txBody>
      </p:sp>
      <p:sp>
        <p:nvSpPr>
          <p:cNvPr id="39939" name="Rectangle 2">
            <a:extLst>
              <a:ext uri="{FF2B5EF4-FFF2-40B4-BE49-F238E27FC236}">
                <a16:creationId xmlns:a16="http://schemas.microsoft.com/office/drawing/2014/main" id="{AD81943C-8F12-4B93-A312-0921B0A912C7}"/>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509A15DC-2280-4C07-A423-AFE64E99ED31}"/>
              </a:ext>
            </a:extLst>
          </p:cNvPr>
          <p:cNvSpPr>
            <a:spLocks noGrp="1" noChangeArrowheads="1"/>
          </p:cNvSpPr>
          <p:nvPr>
            <p:ph type="body" idx="1"/>
          </p:nvPr>
        </p:nvSpPr>
        <p:spPr>
          <a:noFill/>
        </p:spPr>
        <p:txBody>
          <a:bodyPr/>
          <a:lstStyle/>
          <a:p>
            <a:pPr eaLnBrk="1" hangingPunct="1"/>
            <a:r>
              <a:rPr lang="en-US" altLang="en-US"/>
              <a:t>In each case, there are only three possible answers:</a:t>
            </a:r>
          </a:p>
          <a:p>
            <a:pPr eaLnBrk="1" hangingPunct="1"/>
            <a:r>
              <a:rPr lang="en-US" altLang="en-US"/>
              <a:t>- The curve shifts to the right</a:t>
            </a:r>
          </a:p>
          <a:p>
            <a:pPr eaLnBrk="1" hangingPunct="1"/>
            <a:r>
              <a:rPr lang="en-US" altLang="en-US"/>
              <a:t>- The curve shifts to the left</a:t>
            </a:r>
          </a:p>
          <a:p>
            <a:pPr eaLnBrk="1" hangingPunct="1"/>
            <a:r>
              <a:rPr lang="en-US" altLang="en-US"/>
              <a:t>- The curve does not shift (though there may be a movement along the curve)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B74A0DD9-8753-4EA8-B723-D8F786F6DF4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51F98A-03D7-46FF-B896-694AD9F9182B}" type="slidenum">
              <a:rPr lang="en-US" altLang="en-US"/>
              <a:pPr/>
              <a:t>18</a:t>
            </a:fld>
            <a:endParaRPr lang="en-US" altLang="en-US"/>
          </a:p>
        </p:txBody>
      </p:sp>
      <p:sp>
        <p:nvSpPr>
          <p:cNvPr id="41987" name="Rectangle 2">
            <a:extLst>
              <a:ext uri="{FF2B5EF4-FFF2-40B4-BE49-F238E27FC236}">
                <a16:creationId xmlns:a16="http://schemas.microsoft.com/office/drawing/2014/main" id="{BCAB86FE-E9FE-4CBC-B2B0-1A2ACF7B0996}"/>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39994476-D31F-4BB4-B651-2378FEA5E953}"/>
              </a:ext>
            </a:extLst>
          </p:cNvPr>
          <p:cNvSpPr>
            <a:spLocks noGrp="1" noChangeArrowheads="1"/>
          </p:cNvSpPr>
          <p:nvPr>
            <p:ph type="body" idx="1"/>
          </p:nvPr>
        </p:nvSpPr>
        <p:spPr>
          <a:noFill/>
        </p:spPr>
        <p:txBody>
          <a:bodyPr/>
          <a:lstStyle/>
          <a:p>
            <a:pPr eaLnBrk="1" hangingPunct="1"/>
            <a:r>
              <a:rPr lang="en-US" altLang="en-US"/>
              <a:t>Point out to your students that there are no numbers or units on either axis, and we are using “P</a:t>
            </a:r>
            <a:r>
              <a:rPr lang="en-US" altLang="en-US" baseline="-25000"/>
              <a:t>1</a:t>
            </a:r>
            <a:r>
              <a:rPr lang="en-US" altLang="en-US"/>
              <a:t>” and “Q</a:t>
            </a:r>
            <a:r>
              <a:rPr lang="en-US" altLang="en-US" baseline="-25000"/>
              <a:t>1</a:t>
            </a:r>
            <a:r>
              <a:rPr lang="en-US" altLang="en-US"/>
              <a:t>” to represent the initial price and quantity, rather than specific numerical values.  Tell them that this is common, because in much economic analysis, the goal is only to see the direction of changes, not specific amounts.  (Besides, if we put numbers on this graph, they’d just have been made up, so why bother?)</a:t>
            </a:r>
          </a:p>
          <a:p>
            <a:pPr eaLnBrk="1" hangingPunct="1"/>
            <a:endParaRPr lang="en-US" altLang="en-US"/>
          </a:p>
          <a:p>
            <a:pPr eaLnBrk="1" hangingPunct="1"/>
            <a:r>
              <a:rPr lang="en-US" altLang="en-US"/>
              <a:t>Also point out the following:  </a:t>
            </a:r>
          </a:p>
          <a:p>
            <a:pPr eaLnBrk="1" hangingPunct="1"/>
            <a:r>
              <a:rPr lang="en-US" altLang="en-US"/>
              <a:t>The price of music downloads is the same, but the quantity demanded is now higher.  In fact, this is the nature of a shift in a curve:  at any given price, the quantity is different than before.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89BCE046-5148-416A-B5D0-6C98DB37047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C56F13F-6EE0-4D05-8B07-CE7921F35521}" type="slidenum">
              <a:rPr lang="en-US" altLang="en-US"/>
              <a:pPr/>
              <a:t>19</a:t>
            </a:fld>
            <a:endParaRPr lang="en-US" altLang="en-US"/>
          </a:p>
        </p:txBody>
      </p:sp>
      <p:sp>
        <p:nvSpPr>
          <p:cNvPr id="44035" name="Rectangle 2">
            <a:extLst>
              <a:ext uri="{FF2B5EF4-FFF2-40B4-BE49-F238E27FC236}">
                <a16:creationId xmlns:a16="http://schemas.microsoft.com/office/drawing/2014/main" id="{DA301134-8BED-42EF-8DEA-C1450F9C8CF3}"/>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606E4D1E-7F82-4880-845C-E9588FBA670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EC779ACF-E5B9-4FE8-B221-1B86BD7E6A1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398F5C7-F6E8-47B1-A96B-10A921D0FE82}" type="slidenum">
              <a:rPr lang="en-US" altLang="en-US"/>
              <a:pPr/>
              <a:t>20</a:t>
            </a:fld>
            <a:endParaRPr lang="en-US" altLang="en-US"/>
          </a:p>
        </p:txBody>
      </p:sp>
      <p:sp>
        <p:nvSpPr>
          <p:cNvPr id="46083" name="Rectangle 2">
            <a:extLst>
              <a:ext uri="{FF2B5EF4-FFF2-40B4-BE49-F238E27FC236}">
                <a16:creationId xmlns:a16="http://schemas.microsoft.com/office/drawing/2014/main" id="{F9603D3F-829F-4DBC-98FE-669456F65DD4}"/>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1F49C1F6-CDD5-4286-B03E-4A6B508083C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A87C7C71-FBA9-4904-8103-A93A61D669D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8474CBA-14B2-419F-891C-D31234989BB5}" type="slidenum">
              <a:rPr lang="en-US" altLang="en-US"/>
              <a:pPr/>
              <a:t>21</a:t>
            </a:fld>
            <a:endParaRPr lang="en-US" altLang="en-US"/>
          </a:p>
        </p:txBody>
      </p:sp>
      <p:sp>
        <p:nvSpPr>
          <p:cNvPr id="48131" name="Rectangle 7">
            <a:extLst>
              <a:ext uri="{FF2B5EF4-FFF2-40B4-BE49-F238E27FC236}">
                <a16:creationId xmlns:a16="http://schemas.microsoft.com/office/drawing/2014/main" id="{3420C262-BC25-4ACC-AAF5-A902E2F3B49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0AAE044-C5F4-4A01-8460-E78D5303C9D4}" type="slidenum">
              <a:rPr lang="en-US" altLang="en-US" sz="1200">
                <a:cs typeface="Arial" panose="020B0604020202020204" pitchFamily="34" charset="0"/>
              </a:rPr>
              <a:pPr algn="r" eaLnBrk="1" hangingPunct="1"/>
              <a:t>21</a:t>
            </a:fld>
            <a:endParaRPr lang="en-US" altLang="en-US" sz="1200">
              <a:cs typeface="Arial" panose="020B0604020202020204" pitchFamily="34" charset="0"/>
            </a:endParaRPr>
          </a:p>
        </p:txBody>
      </p:sp>
      <p:sp>
        <p:nvSpPr>
          <p:cNvPr id="48132" name="Rectangle 2">
            <a:extLst>
              <a:ext uri="{FF2B5EF4-FFF2-40B4-BE49-F238E27FC236}">
                <a16:creationId xmlns:a16="http://schemas.microsoft.com/office/drawing/2014/main" id="{0A4BE5A4-7432-4C44-9780-8ABC6145B6CE}"/>
              </a:ext>
            </a:extLst>
          </p:cNvPr>
          <p:cNvSpPr>
            <a:spLocks noGrp="1" noRot="1" noChangeAspect="1" noChangeArrowheads="1" noTextEdit="1"/>
          </p:cNvSpPr>
          <p:nvPr>
            <p:ph type="sldImg"/>
          </p:nvPr>
        </p:nvSpPr>
        <p:spPr>
          <a:ln/>
        </p:spPr>
      </p:sp>
      <p:sp>
        <p:nvSpPr>
          <p:cNvPr id="48133" name="Rectangle 3">
            <a:extLst>
              <a:ext uri="{FF2B5EF4-FFF2-40B4-BE49-F238E27FC236}">
                <a16:creationId xmlns:a16="http://schemas.microsoft.com/office/drawing/2014/main" id="{453A730C-DEAC-41BF-AC66-F47F4EA48FFA}"/>
              </a:ext>
            </a:extLst>
          </p:cNvPr>
          <p:cNvSpPr>
            <a:spLocks noGrp="1" noChangeArrowheads="1"/>
          </p:cNvSpPr>
          <p:nvPr>
            <p:ph type="body" idx="1"/>
          </p:nvPr>
        </p:nvSpPr>
        <p:spPr>
          <a:noFill/>
        </p:spPr>
        <p:txBody>
          <a:bodyPr/>
          <a:lstStyle/>
          <a:p>
            <a:pPr eaLnBrk="1" hangingPunct="1"/>
            <a:r>
              <a:rPr lang="en-US" altLang="en-US"/>
              <a:t>Supply comes from the behavior of sellers.  </a:t>
            </a:r>
          </a:p>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3B01109-9AEF-4EC9-ADC7-049C4736D35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CD9AB91-531E-41D1-A62C-780378493FF5}" type="slidenum">
              <a:rPr lang="en-US" altLang="en-US"/>
              <a:pPr/>
              <a:t>22</a:t>
            </a:fld>
            <a:endParaRPr lang="en-US" altLang="en-US"/>
          </a:p>
        </p:txBody>
      </p:sp>
      <p:sp>
        <p:nvSpPr>
          <p:cNvPr id="50179" name="Rectangle 7">
            <a:extLst>
              <a:ext uri="{FF2B5EF4-FFF2-40B4-BE49-F238E27FC236}">
                <a16:creationId xmlns:a16="http://schemas.microsoft.com/office/drawing/2014/main" id="{32E41D15-9963-437E-B8C0-DC6E30B45D8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4FF08FF-4D55-415C-AA26-5C5CF122FDDC}" type="slidenum">
              <a:rPr lang="en-US" altLang="en-US" sz="1200">
                <a:cs typeface="Arial" panose="020B0604020202020204" pitchFamily="34" charset="0"/>
              </a:rPr>
              <a:pPr algn="r" eaLnBrk="1" hangingPunct="1"/>
              <a:t>22</a:t>
            </a:fld>
            <a:endParaRPr lang="en-US" altLang="en-US" sz="1200">
              <a:cs typeface="Arial" panose="020B0604020202020204" pitchFamily="34" charset="0"/>
            </a:endParaRPr>
          </a:p>
        </p:txBody>
      </p:sp>
      <p:sp>
        <p:nvSpPr>
          <p:cNvPr id="50180" name="Rectangle 2">
            <a:extLst>
              <a:ext uri="{FF2B5EF4-FFF2-40B4-BE49-F238E27FC236}">
                <a16:creationId xmlns:a16="http://schemas.microsoft.com/office/drawing/2014/main" id="{DE53E68B-4839-4BAC-8551-24D376A6D600}"/>
              </a:ext>
            </a:extLst>
          </p:cNvPr>
          <p:cNvSpPr>
            <a:spLocks noGrp="1" noRot="1" noChangeAspect="1" noChangeArrowheads="1" noTextEdit="1"/>
          </p:cNvSpPr>
          <p:nvPr>
            <p:ph type="sldImg"/>
          </p:nvPr>
        </p:nvSpPr>
        <p:spPr>
          <a:xfrm>
            <a:off x="1143000" y="534988"/>
            <a:ext cx="4572000" cy="3429000"/>
          </a:xfrm>
          <a:ln/>
        </p:spPr>
      </p:sp>
      <p:sp>
        <p:nvSpPr>
          <p:cNvPr id="50181" name="Rectangle 3">
            <a:extLst>
              <a:ext uri="{FF2B5EF4-FFF2-40B4-BE49-F238E27FC236}">
                <a16:creationId xmlns:a16="http://schemas.microsoft.com/office/drawing/2014/main" id="{C133AA65-D3E6-4E8D-8023-5F1702058B08}"/>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0CDF0D28-17D6-498C-B9D1-E70441FC3AA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3352C2-B135-4EE4-88D0-DE7728CC9592}" type="slidenum">
              <a:rPr lang="en-US" altLang="en-US"/>
              <a:pPr/>
              <a:t>23</a:t>
            </a:fld>
            <a:endParaRPr lang="en-US" altLang="en-US"/>
          </a:p>
        </p:txBody>
      </p:sp>
      <p:sp>
        <p:nvSpPr>
          <p:cNvPr id="52227" name="Rectangle 7">
            <a:extLst>
              <a:ext uri="{FF2B5EF4-FFF2-40B4-BE49-F238E27FC236}">
                <a16:creationId xmlns:a16="http://schemas.microsoft.com/office/drawing/2014/main" id="{C7824697-38A6-4093-8E89-879396D9453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6C7C08B-27F6-4BA4-B0C5-8AE560C85559}" type="slidenum">
              <a:rPr lang="en-US" altLang="en-US" sz="1200">
                <a:cs typeface="Arial" panose="020B0604020202020204" pitchFamily="34" charset="0"/>
              </a:rPr>
              <a:pPr algn="r" eaLnBrk="1" hangingPunct="1"/>
              <a:t>23</a:t>
            </a:fld>
            <a:endParaRPr lang="en-US" altLang="en-US" sz="1200">
              <a:cs typeface="Arial" panose="020B0604020202020204" pitchFamily="34" charset="0"/>
            </a:endParaRPr>
          </a:p>
        </p:txBody>
      </p:sp>
      <p:sp>
        <p:nvSpPr>
          <p:cNvPr id="52228" name="Rectangle 2">
            <a:extLst>
              <a:ext uri="{FF2B5EF4-FFF2-40B4-BE49-F238E27FC236}">
                <a16:creationId xmlns:a16="http://schemas.microsoft.com/office/drawing/2014/main" id="{2CC5FB89-37F3-4180-9745-4FB7A9ACEA17}"/>
              </a:ext>
            </a:extLst>
          </p:cNvPr>
          <p:cNvSpPr>
            <a:spLocks noGrp="1" noRot="1" noChangeAspect="1" noChangeArrowheads="1" noTextEdit="1"/>
          </p:cNvSpPr>
          <p:nvPr>
            <p:ph type="sldImg"/>
          </p:nvPr>
        </p:nvSpPr>
        <p:spPr>
          <a:xfrm>
            <a:off x="1143000" y="534988"/>
            <a:ext cx="4572000" cy="3429000"/>
          </a:xfrm>
          <a:ln/>
        </p:spPr>
      </p:sp>
      <p:sp>
        <p:nvSpPr>
          <p:cNvPr id="52229" name="Rectangle 3">
            <a:extLst>
              <a:ext uri="{FF2B5EF4-FFF2-40B4-BE49-F238E27FC236}">
                <a16:creationId xmlns:a16="http://schemas.microsoft.com/office/drawing/2014/main" id="{C49B34F5-CC1A-4946-83CC-2003B6B44BEE}"/>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2E2B0596-7B7A-41B5-8ABD-ECC1E5A56FD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1BE099A-A9E4-456C-94B3-3482BCA82959}" type="slidenum">
              <a:rPr lang="en-US" altLang="en-US"/>
              <a:pPr/>
              <a:t>24</a:t>
            </a:fld>
            <a:endParaRPr lang="en-US" altLang="en-US"/>
          </a:p>
        </p:txBody>
      </p:sp>
      <p:sp>
        <p:nvSpPr>
          <p:cNvPr id="54275" name="Rectangle 7">
            <a:extLst>
              <a:ext uri="{FF2B5EF4-FFF2-40B4-BE49-F238E27FC236}">
                <a16:creationId xmlns:a16="http://schemas.microsoft.com/office/drawing/2014/main" id="{DA9C3A85-BEA0-452F-9C05-C99540AA54B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76060FF-1E95-4B47-AFA6-B973884494B0}" type="slidenum">
              <a:rPr lang="en-US" altLang="en-US" sz="1200">
                <a:cs typeface="Arial" panose="020B0604020202020204" pitchFamily="34" charset="0"/>
              </a:rPr>
              <a:pPr algn="r" eaLnBrk="1" hangingPunct="1"/>
              <a:t>24</a:t>
            </a:fld>
            <a:endParaRPr lang="en-US" altLang="en-US" sz="1200">
              <a:cs typeface="Arial" panose="020B0604020202020204" pitchFamily="34" charset="0"/>
            </a:endParaRPr>
          </a:p>
        </p:txBody>
      </p:sp>
      <p:sp>
        <p:nvSpPr>
          <p:cNvPr id="54276" name="Rectangle 2">
            <a:extLst>
              <a:ext uri="{FF2B5EF4-FFF2-40B4-BE49-F238E27FC236}">
                <a16:creationId xmlns:a16="http://schemas.microsoft.com/office/drawing/2014/main" id="{9CA6A90D-A617-4A05-BB1B-8B6E92D199E1}"/>
              </a:ext>
            </a:extLst>
          </p:cNvPr>
          <p:cNvSpPr>
            <a:spLocks noGrp="1" noRot="1" noChangeAspect="1" noChangeArrowheads="1" noTextEdit="1"/>
          </p:cNvSpPr>
          <p:nvPr>
            <p:ph type="sldImg"/>
          </p:nvPr>
        </p:nvSpPr>
        <p:spPr>
          <a:ln/>
        </p:spPr>
      </p:sp>
      <p:sp>
        <p:nvSpPr>
          <p:cNvPr id="54277" name="Rectangle 3">
            <a:extLst>
              <a:ext uri="{FF2B5EF4-FFF2-40B4-BE49-F238E27FC236}">
                <a16:creationId xmlns:a16="http://schemas.microsoft.com/office/drawing/2014/main" id="{BCD9BAEB-5B79-4041-A920-2C34AF63B4C3}"/>
              </a:ext>
            </a:extLst>
          </p:cNvPr>
          <p:cNvSpPr>
            <a:spLocks noGrp="1" noChangeArrowheads="1"/>
          </p:cNvSpPr>
          <p:nvPr>
            <p:ph type="body" idx="1"/>
          </p:nvPr>
        </p:nvSpPr>
        <p:spPr>
          <a:noFill/>
        </p:spPr>
        <p:txBody>
          <a:bodyPr/>
          <a:lstStyle/>
          <a:p>
            <a:pPr eaLnBrk="1" hangingPunct="1"/>
            <a:r>
              <a:rPr lang="en-US" altLang="en-US"/>
              <a:t>Again, the assumption of only two sellers is a clear violation of perfect competition.  However, it’s much easier for students to learn how the market supply curve relates to individual supplies in the two-seller case.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B5EA26BA-3E16-4278-8EEA-6662A4DF4AE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65E82E-58D5-49FF-8F2A-7E340EF1D1B6}" type="slidenum">
              <a:rPr lang="en-US" altLang="en-US"/>
              <a:pPr/>
              <a:t>25</a:t>
            </a:fld>
            <a:endParaRPr lang="en-US" altLang="en-US"/>
          </a:p>
        </p:txBody>
      </p:sp>
      <p:sp>
        <p:nvSpPr>
          <p:cNvPr id="56323" name="Rectangle 7">
            <a:extLst>
              <a:ext uri="{FF2B5EF4-FFF2-40B4-BE49-F238E27FC236}">
                <a16:creationId xmlns:a16="http://schemas.microsoft.com/office/drawing/2014/main" id="{73F4BE35-0365-4977-A557-B7F03A8480C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02E4923-2776-4CB9-B103-DD46EC8576CC}" type="slidenum">
              <a:rPr lang="en-US" altLang="en-US" sz="1200">
                <a:cs typeface="Arial" panose="020B0604020202020204" pitchFamily="34" charset="0"/>
              </a:rPr>
              <a:pPr algn="r" eaLnBrk="1" hangingPunct="1"/>
              <a:t>25</a:t>
            </a:fld>
            <a:endParaRPr lang="en-US" altLang="en-US" sz="1200">
              <a:cs typeface="Arial" panose="020B0604020202020204" pitchFamily="34" charset="0"/>
            </a:endParaRPr>
          </a:p>
        </p:txBody>
      </p:sp>
      <p:sp>
        <p:nvSpPr>
          <p:cNvPr id="56324" name="Rectangle 2">
            <a:extLst>
              <a:ext uri="{FF2B5EF4-FFF2-40B4-BE49-F238E27FC236}">
                <a16:creationId xmlns:a16="http://schemas.microsoft.com/office/drawing/2014/main" id="{3AE97932-032F-4EDE-8194-E74E1D2CF5CA}"/>
              </a:ext>
            </a:extLst>
          </p:cNvPr>
          <p:cNvSpPr>
            <a:spLocks noGrp="1" noRot="1" noChangeAspect="1" noChangeArrowheads="1" noTextEdit="1"/>
          </p:cNvSpPr>
          <p:nvPr>
            <p:ph type="sldImg"/>
          </p:nvPr>
        </p:nvSpPr>
        <p:spPr>
          <a:ln/>
        </p:spPr>
      </p:sp>
      <p:sp>
        <p:nvSpPr>
          <p:cNvPr id="56325" name="Rectangle 3">
            <a:extLst>
              <a:ext uri="{FF2B5EF4-FFF2-40B4-BE49-F238E27FC236}">
                <a16:creationId xmlns:a16="http://schemas.microsoft.com/office/drawing/2014/main" id="{D4BFC484-2C37-4F5B-9CD3-00FE15208EBF}"/>
              </a:ext>
            </a:extLst>
          </p:cNvPr>
          <p:cNvSpPr>
            <a:spLocks noGrp="1" noChangeArrowheads="1"/>
          </p:cNvSpPr>
          <p:nvPr>
            <p:ph type="body" idx="1"/>
          </p:nvPr>
        </p:nvSpPr>
        <p:spPr>
          <a:noFill/>
        </p:spPr>
        <p:txBody>
          <a:bodyPr/>
          <a:lstStyle/>
          <a:p>
            <a:pPr eaLnBrk="1" hangingPunct="1">
              <a:lnSpc>
                <a:spcPct val="90000"/>
              </a:lnSpc>
            </a:pPr>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BF20657-CC91-47DC-9D43-A3A66AFAC3D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89DA2C7-81E4-45CF-98C7-E34C647C2675}" type="slidenum">
              <a:rPr lang="en-US" altLang="en-US"/>
              <a:pPr/>
              <a:t>26</a:t>
            </a:fld>
            <a:endParaRPr lang="en-US" altLang="en-US"/>
          </a:p>
        </p:txBody>
      </p:sp>
      <p:sp>
        <p:nvSpPr>
          <p:cNvPr id="58371" name="Rectangle 7">
            <a:extLst>
              <a:ext uri="{FF2B5EF4-FFF2-40B4-BE49-F238E27FC236}">
                <a16:creationId xmlns:a16="http://schemas.microsoft.com/office/drawing/2014/main" id="{3A391D56-1DC9-424E-BA34-4D26B97D08D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AC0C3CA-89F7-4878-A46C-49D6D38F8F7F}" type="slidenum">
              <a:rPr lang="en-US" altLang="en-US" sz="1200">
                <a:cs typeface="Arial" panose="020B0604020202020204" pitchFamily="34" charset="0"/>
              </a:rPr>
              <a:pPr algn="r" eaLnBrk="1" hangingPunct="1"/>
              <a:t>26</a:t>
            </a:fld>
            <a:endParaRPr lang="en-US" altLang="en-US" sz="1200">
              <a:cs typeface="Arial" panose="020B0604020202020204" pitchFamily="34" charset="0"/>
            </a:endParaRPr>
          </a:p>
        </p:txBody>
      </p:sp>
      <p:sp>
        <p:nvSpPr>
          <p:cNvPr id="58372" name="Rectangle 2">
            <a:extLst>
              <a:ext uri="{FF2B5EF4-FFF2-40B4-BE49-F238E27FC236}">
                <a16:creationId xmlns:a16="http://schemas.microsoft.com/office/drawing/2014/main" id="{241AE1AA-3794-4F35-B7F6-138FAE4CF42F}"/>
              </a:ext>
            </a:extLst>
          </p:cNvPr>
          <p:cNvSpPr>
            <a:spLocks noGrp="1" noRot="1" noChangeAspect="1" noChangeArrowheads="1" noTextEdit="1"/>
          </p:cNvSpPr>
          <p:nvPr>
            <p:ph type="sldImg"/>
          </p:nvPr>
        </p:nvSpPr>
        <p:spPr>
          <a:xfrm>
            <a:off x="1143000" y="534988"/>
            <a:ext cx="4572000" cy="3429000"/>
          </a:xfrm>
          <a:ln/>
        </p:spPr>
      </p:sp>
      <p:sp>
        <p:nvSpPr>
          <p:cNvPr id="58373" name="Rectangle 3">
            <a:extLst>
              <a:ext uri="{FF2B5EF4-FFF2-40B4-BE49-F238E27FC236}">
                <a16:creationId xmlns:a16="http://schemas.microsoft.com/office/drawing/2014/main" id="{B9383853-DBC7-44C8-9B3F-98B7DE5B4717}"/>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“Non-price determinants of supply” simply means the things – other than the price of a good – that determine sellers’ supply of the good.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0944B7AB-28DC-494E-BD51-DDB17000830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52CDEC0-8008-4C92-B053-40D665F9156C}" type="slidenum">
              <a:rPr lang="en-US" altLang="en-US"/>
              <a:pPr/>
              <a:t>27</a:t>
            </a:fld>
            <a:endParaRPr lang="en-US" altLang="en-US"/>
          </a:p>
        </p:txBody>
      </p:sp>
      <p:sp>
        <p:nvSpPr>
          <p:cNvPr id="60419" name="Rectangle 7">
            <a:extLst>
              <a:ext uri="{FF2B5EF4-FFF2-40B4-BE49-F238E27FC236}">
                <a16:creationId xmlns:a16="http://schemas.microsoft.com/office/drawing/2014/main" id="{92C6D43C-6C59-443A-8818-5F86A359C59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A5FC625-90F6-47E5-AD16-3BC3D00DA877}" type="slidenum">
              <a:rPr lang="en-US" altLang="en-US" sz="1200">
                <a:cs typeface="Arial" panose="020B0604020202020204" pitchFamily="34" charset="0"/>
              </a:rPr>
              <a:pPr algn="r" eaLnBrk="1" hangingPunct="1"/>
              <a:t>27</a:t>
            </a:fld>
            <a:endParaRPr lang="en-US" altLang="en-US" sz="1200">
              <a:cs typeface="Arial" panose="020B0604020202020204" pitchFamily="34" charset="0"/>
            </a:endParaRPr>
          </a:p>
        </p:txBody>
      </p:sp>
      <p:sp>
        <p:nvSpPr>
          <p:cNvPr id="60420" name="Rectangle 2">
            <a:extLst>
              <a:ext uri="{FF2B5EF4-FFF2-40B4-BE49-F238E27FC236}">
                <a16:creationId xmlns:a16="http://schemas.microsoft.com/office/drawing/2014/main" id="{C0141B38-73E9-45E2-A7FA-6920F60E610E}"/>
              </a:ext>
            </a:extLst>
          </p:cNvPr>
          <p:cNvSpPr>
            <a:spLocks noGrp="1" noRot="1" noChangeAspect="1" noChangeArrowheads="1" noTextEdit="1"/>
          </p:cNvSpPr>
          <p:nvPr>
            <p:ph type="sldImg"/>
          </p:nvPr>
        </p:nvSpPr>
        <p:spPr>
          <a:xfrm>
            <a:off x="1143000" y="534988"/>
            <a:ext cx="4572000" cy="3429000"/>
          </a:xfrm>
          <a:ln/>
        </p:spPr>
      </p:sp>
      <p:sp>
        <p:nvSpPr>
          <p:cNvPr id="60421" name="Rectangle 3">
            <a:extLst>
              <a:ext uri="{FF2B5EF4-FFF2-40B4-BE49-F238E27FC236}">
                <a16:creationId xmlns:a16="http://schemas.microsoft.com/office/drawing/2014/main" id="{C41069D6-8011-44FB-BD67-E920981C9FEA}"/>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In the second bullet point, “output price” just means the price of the good that firms are producing and selling.  I have used “output price” here to distinguish it from “input prices.”</a:t>
            </a:r>
          </a:p>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410A4251-6085-49C7-ABAD-88500D3729A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9125EA-2D7F-4BB6-882D-E1127D942FBC}" type="slidenum">
              <a:rPr lang="en-US" altLang="en-US"/>
              <a:pPr/>
              <a:t>28</a:t>
            </a:fld>
            <a:endParaRPr lang="en-US" altLang="en-US"/>
          </a:p>
        </p:txBody>
      </p:sp>
      <p:sp>
        <p:nvSpPr>
          <p:cNvPr id="62467" name="Rectangle 7">
            <a:extLst>
              <a:ext uri="{FF2B5EF4-FFF2-40B4-BE49-F238E27FC236}">
                <a16:creationId xmlns:a16="http://schemas.microsoft.com/office/drawing/2014/main" id="{CE6F6A71-EFAD-4A77-B785-3C0D8427947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AD47A90-F004-4F65-AFB1-92A29A6C61B7}" type="slidenum">
              <a:rPr lang="en-US" altLang="en-US" sz="1200">
                <a:cs typeface="Arial" panose="020B0604020202020204" pitchFamily="34" charset="0"/>
              </a:rPr>
              <a:pPr algn="r" eaLnBrk="1" hangingPunct="1"/>
              <a:t>28</a:t>
            </a:fld>
            <a:endParaRPr lang="en-US" altLang="en-US" sz="1200">
              <a:cs typeface="Arial" panose="020B0604020202020204" pitchFamily="34" charset="0"/>
            </a:endParaRPr>
          </a:p>
        </p:txBody>
      </p:sp>
      <p:sp>
        <p:nvSpPr>
          <p:cNvPr id="62468" name="Rectangle 2">
            <a:extLst>
              <a:ext uri="{FF2B5EF4-FFF2-40B4-BE49-F238E27FC236}">
                <a16:creationId xmlns:a16="http://schemas.microsoft.com/office/drawing/2014/main" id="{9A88F976-6824-4FE0-AF89-3DC209BA56C6}"/>
              </a:ext>
            </a:extLst>
          </p:cNvPr>
          <p:cNvSpPr>
            <a:spLocks noGrp="1" noRot="1" noChangeAspect="1" noChangeArrowheads="1" noTextEdit="1"/>
          </p:cNvSpPr>
          <p:nvPr>
            <p:ph type="sldImg"/>
          </p:nvPr>
        </p:nvSpPr>
        <p:spPr>
          <a:ln/>
        </p:spPr>
      </p:sp>
      <p:sp>
        <p:nvSpPr>
          <p:cNvPr id="62469" name="Rectangle 3">
            <a:extLst>
              <a:ext uri="{FF2B5EF4-FFF2-40B4-BE49-F238E27FC236}">
                <a16:creationId xmlns:a16="http://schemas.microsoft.com/office/drawing/2014/main" id="{CBA03550-EB35-483E-8137-00DE31A45BC9}"/>
              </a:ext>
            </a:extLst>
          </p:cNvPr>
          <p:cNvSpPr>
            <a:spLocks noGrp="1" noChangeArrowheads="1"/>
          </p:cNvSpPr>
          <p:nvPr>
            <p:ph type="body" idx="1"/>
          </p:nvPr>
        </p:nvSpPr>
        <p:spPr>
          <a:noFill/>
        </p:spPr>
        <p:txBody>
          <a:bodyPr/>
          <a:lstStyle/>
          <a:p>
            <a:pPr eaLnBrk="1" hangingPunct="1">
              <a:lnSpc>
                <a:spcPct val="90000"/>
              </a:lnSpc>
            </a:pPr>
            <a:r>
              <a:rPr lang="en-US" altLang="en-US"/>
              <a:t>Again, the animation here is carefully designed to help make clear that a shift in the supply curve means that there is a change in the quantity supplied at each possible price.  If it seems tedious, you can turn it off.  </a:t>
            </a:r>
          </a:p>
          <a:p>
            <a:pPr eaLnBrk="1" hangingPunct="1">
              <a:lnSpc>
                <a:spcPct val="90000"/>
              </a:lnSpc>
            </a:pPr>
            <a:endParaRPr lang="en-US" altLang="en-US"/>
          </a:p>
          <a:p>
            <a:pPr eaLnBrk="1" hangingPunct="1">
              <a:lnSpc>
                <a:spcPct val="90000"/>
              </a:lnSpc>
            </a:pPr>
            <a:r>
              <a:rPr lang="en-US" altLang="en-US"/>
              <a:t>In any case, be assured that, by the end of this chapter, the animation of curve shifts will be streamlined and simplified.  </a:t>
            </a:r>
          </a:p>
          <a:p>
            <a:pPr eaLnBrk="1" hangingPunct="1">
              <a:lnSpc>
                <a:spcPct val="90000"/>
              </a:lnSpc>
            </a:pPr>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84CCBAF-9405-403C-ADA6-0CE727537C6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4CF021-90DA-4E3F-86B5-B07B4CD6A458}" type="slidenum">
              <a:rPr lang="en-US" altLang="en-US"/>
              <a:pPr/>
              <a:t>29</a:t>
            </a:fld>
            <a:endParaRPr lang="en-US" altLang="en-US"/>
          </a:p>
        </p:txBody>
      </p:sp>
      <p:sp>
        <p:nvSpPr>
          <p:cNvPr id="64515" name="Rectangle 7">
            <a:extLst>
              <a:ext uri="{FF2B5EF4-FFF2-40B4-BE49-F238E27FC236}">
                <a16:creationId xmlns:a16="http://schemas.microsoft.com/office/drawing/2014/main" id="{DA22CFA0-ADCC-4A1C-881C-C0593DD1875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013C9EB-6635-4675-9018-4058C13C709D}" type="slidenum">
              <a:rPr lang="en-US" altLang="en-US" sz="1200">
                <a:cs typeface="Arial" panose="020B0604020202020204" pitchFamily="34" charset="0"/>
              </a:rPr>
              <a:pPr algn="r" eaLnBrk="1" hangingPunct="1"/>
              <a:t>29</a:t>
            </a:fld>
            <a:endParaRPr lang="en-US" altLang="en-US" sz="1200">
              <a:cs typeface="Arial" panose="020B0604020202020204" pitchFamily="34" charset="0"/>
            </a:endParaRPr>
          </a:p>
        </p:txBody>
      </p:sp>
      <p:sp>
        <p:nvSpPr>
          <p:cNvPr id="64516" name="Rectangle 2">
            <a:extLst>
              <a:ext uri="{FF2B5EF4-FFF2-40B4-BE49-F238E27FC236}">
                <a16:creationId xmlns:a16="http://schemas.microsoft.com/office/drawing/2014/main" id="{21B421D7-F24E-46D5-8D70-309EC3AC71C7}"/>
              </a:ext>
            </a:extLst>
          </p:cNvPr>
          <p:cNvSpPr>
            <a:spLocks noGrp="1" noRot="1" noChangeAspect="1" noChangeArrowheads="1" noTextEdit="1"/>
          </p:cNvSpPr>
          <p:nvPr>
            <p:ph type="sldImg"/>
          </p:nvPr>
        </p:nvSpPr>
        <p:spPr>
          <a:xfrm>
            <a:off x="1143000" y="534988"/>
            <a:ext cx="4572000" cy="3429000"/>
          </a:xfrm>
          <a:ln/>
        </p:spPr>
      </p:sp>
      <p:sp>
        <p:nvSpPr>
          <p:cNvPr id="64517" name="Rectangle 3">
            <a:extLst>
              <a:ext uri="{FF2B5EF4-FFF2-40B4-BE49-F238E27FC236}">
                <a16:creationId xmlns:a16="http://schemas.microsoft.com/office/drawing/2014/main" id="{9F3A1DBB-49B8-45C0-B488-BD186034FCA8}"/>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2BB8922B-5859-41CC-A05E-E38D1676CAB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27CEDE-FEA9-4285-AA2D-668A9BF6C24C}" type="slidenum">
              <a:rPr lang="en-US" altLang="en-US"/>
              <a:pPr/>
              <a:t>30</a:t>
            </a:fld>
            <a:endParaRPr lang="en-US" altLang="en-US"/>
          </a:p>
        </p:txBody>
      </p:sp>
      <p:sp>
        <p:nvSpPr>
          <p:cNvPr id="66563" name="Rectangle 7">
            <a:extLst>
              <a:ext uri="{FF2B5EF4-FFF2-40B4-BE49-F238E27FC236}">
                <a16:creationId xmlns:a16="http://schemas.microsoft.com/office/drawing/2014/main" id="{D44EF9AA-C4AE-4493-B98E-78F664306DA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50AF1BE-AE64-47AF-B172-1F722833B45C}" type="slidenum">
              <a:rPr lang="en-US" altLang="en-US" sz="1200">
                <a:cs typeface="Arial" panose="020B0604020202020204" pitchFamily="34" charset="0"/>
              </a:rPr>
              <a:pPr algn="r" eaLnBrk="1" hangingPunct="1"/>
              <a:t>30</a:t>
            </a:fld>
            <a:endParaRPr lang="en-US" altLang="en-US" sz="1200">
              <a:cs typeface="Arial" panose="020B0604020202020204" pitchFamily="34" charset="0"/>
            </a:endParaRPr>
          </a:p>
        </p:txBody>
      </p:sp>
      <p:sp>
        <p:nvSpPr>
          <p:cNvPr id="66564" name="Rectangle 2">
            <a:extLst>
              <a:ext uri="{FF2B5EF4-FFF2-40B4-BE49-F238E27FC236}">
                <a16:creationId xmlns:a16="http://schemas.microsoft.com/office/drawing/2014/main" id="{086E6BE3-8D41-4924-AEF0-B0642CF80ACD}"/>
              </a:ext>
            </a:extLst>
          </p:cNvPr>
          <p:cNvSpPr>
            <a:spLocks noGrp="1" noRot="1" noChangeAspect="1" noChangeArrowheads="1" noTextEdit="1"/>
          </p:cNvSpPr>
          <p:nvPr>
            <p:ph type="sldImg"/>
          </p:nvPr>
        </p:nvSpPr>
        <p:spPr>
          <a:xfrm>
            <a:off x="1143000" y="534988"/>
            <a:ext cx="4572000" cy="3429000"/>
          </a:xfrm>
          <a:ln/>
        </p:spPr>
      </p:sp>
      <p:sp>
        <p:nvSpPr>
          <p:cNvPr id="66565" name="Rectangle 3">
            <a:extLst>
              <a:ext uri="{FF2B5EF4-FFF2-40B4-BE49-F238E27FC236}">
                <a16:creationId xmlns:a16="http://schemas.microsoft.com/office/drawing/2014/main" id="{872058C1-914D-4F8E-8861-55949248AECE}"/>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A30946C-0725-488C-BA97-22FB10BE2FB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AC4A17-CDC4-40D8-A7D1-852132D96499}" type="slidenum">
              <a:rPr lang="en-US" altLang="en-US"/>
              <a:pPr/>
              <a:t>31</a:t>
            </a:fld>
            <a:endParaRPr lang="en-US" altLang="en-US"/>
          </a:p>
        </p:txBody>
      </p:sp>
      <p:sp>
        <p:nvSpPr>
          <p:cNvPr id="68611" name="Rectangle 7">
            <a:extLst>
              <a:ext uri="{FF2B5EF4-FFF2-40B4-BE49-F238E27FC236}">
                <a16:creationId xmlns:a16="http://schemas.microsoft.com/office/drawing/2014/main" id="{DEE28537-1FDC-4DE2-B0BC-520C093C184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A67BBD0-74C4-48F8-B756-EE22674BBF42}" type="slidenum">
              <a:rPr lang="en-US" altLang="en-US" sz="1200">
                <a:cs typeface="Arial" panose="020B0604020202020204" pitchFamily="34" charset="0"/>
              </a:rPr>
              <a:pPr algn="r" eaLnBrk="1" hangingPunct="1"/>
              <a:t>31</a:t>
            </a:fld>
            <a:endParaRPr lang="en-US" altLang="en-US" sz="1200">
              <a:cs typeface="Arial" panose="020B0604020202020204" pitchFamily="34" charset="0"/>
            </a:endParaRPr>
          </a:p>
        </p:txBody>
      </p:sp>
      <p:sp>
        <p:nvSpPr>
          <p:cNvPr id="68612" name="Rectangle 2">
            <a:extLst>
              <a:ext uri="{FF2B5EF4-FFF2-40B4-BE49-F238E27FC236}">
                <a16:creationId xmlns:a16="http://schemas.microsoft.com/office/drawing/2014/main" id="{63D581C6-2053-426B-B295-04538A1C5844}"/>
              </a:ext>
            </a:extLst>
          </p:cNvPr>
          <p:cNvSpPr>
            <a:spLocks noGrp="1" noRot="1" noChangeAspect="1" noChangeArrowheads="1" noTextEdit="1"/>
          </p:cNvSpPr>
          <p:nvPr>
            <p:ph type="sldImg"/>
          </p:nvPr>
        </p:nvSpPr>
        <p:spPr>
          <a:ln/>
        </p:spPr>
      </p:sp>
      <p:sp>
        <p:nvSpPr>
          <p:cNvPr id="68613" name="Rectangle 3">
            <a:extLst>
              <a:ext uri="{FF2B5EF4-FFF2-40B4-BE49-F238E27FC236}">
                <a16:creationId xmlns:a16="http://schemas.microsoft.com/office/drawing/2014/main" id="{559B289D-5301-4064-B9BF-02427022BE6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E25D86B-2E05-43F4-80E5-B86D4F6C799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8D8864E-B1AE-499F-84A4-38B1A27E6345}" type="slidenum">
              <a:rPr lang="en-US" altLang="en-US"/>
              <a:pPr/>
              <a:t>32</a:t>
            </a:fld>
            <a:endParaRPr lang="en-US" altLang="en-US"/>
          </a:p>
        </p:txBody>
      </p:sp>
      <p:sp>
        <p:nvSpPr>
          <p:cNvPr id="70659" name="Rectangle 7">
            <a:extLst>
              <a:ext uri="{FF2B5EF4-FFF2-40B4-BE49-F238E27FC236}">
                <a16:creationId xmlns:a16="http://schemas.microsoft.com/office/drawing/2014/main" id="{69EFE921-D86B-4B46-A25A-94F20823EED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0D1C33D-F3B7-4807-8AB5-79A9552E1714}" type="slidenum">
              <a:rPr lang="en-US" altLang="en-US" sz="1200">
                <a:cs typeface="Arial" panose="020B0604020202020204" pitchFamily="34" charset="0"/>
              </a:rPr>
              <a:pPr algn="r" eaLnBrk="1" hangingPunct="1"/>
              <a:t>32</a:t>
            </a:fld>
            <a:endParaRPr lang="en-US" altLang="en-US" sz="1200">
              <a:cs typeface="Arial" panose="020B0604020202020204" pitchFamily="34" charset="0"/>
            </a:endParaRPr>
          </a:p>
        </p:txBody>
      </p:sp>
      <p:sp>
        <p:nvSpPr>
          <p:cNvPr id="70660" name="Rectangle 2">
            <a:extLst>
              <a:ext uri="{FF2B5EF4-FFF2-40B4-BE49-F238E27FC236}">
                <a16:creationId xmlns:a16="http://schemas.microsoft.com/office/drawing/2014/main" id="{E1236CF5-67C5-44D7-87FB-BD51576F4B5F}"/>
              </a:ext>
            </a:extLst>
          </p:cNvPr>
          <p:cNvSpPr>
            <a:spLocks noGrp="1" noRot="1" noChangeAspect="1" noChangeArrowheads="1" noTextEdit="1"/>
          </p:cNvSpPr>
          <p:nvPr>
            <p:ph type="sldImg"/>
          </p:nvPr>
        </p:nvSpPr>
        <p:spPr>
          <a:ln/>
        </p:spPr>
      </p:sp>
      <p:sp>
        <p:nvSpPr>
          <p:cNvPr id="70661" name="Rectangle 3">
            <a:extLst>
              <a:ext uri="{FF2B5EF4-FFF2-40B4-BE49-F238E27FC236}">
                <a16:creationId xmlns:a16="http://schemas.microsoft.com/office/drawing/2014/main" id="{38772821-C711-4842-B77E-D2807FC6509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DD744DD4-1F8D-4D5F-A581-ADDAF613331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5E182A9-2252-401E-AA26-CE93AC64A1EE}" type="slidenum">
              <a:rPr lang="en-US" altLang="en-US"/>
              <a:pPr/>
              <a:t>33</a:t>
            </a:fld>
            <a:endParaRPr lang="en-US" altLang="en-US"/>
          </a:p>
        </p:txBody>
      </p:sp>
      <p:sp>
        <p:nvSpPr>
          <p:cNvPr id="72707" name="Rectangle 2">
            <a:extLst>
              <a:ext uri="{FF2B5EF4-FFF2-40B4-BE49-F238E27FC236}">
                <a16:creationId xmlns:a16="http://schemas.microsoft.com/office/drawing/2014/main" id="{976BEDE7-BBE8-4850-99BE-218D19CD079F}"/>
              </a:ext>
            </a:extLst>
          </p:cNvPr>
          <p:cNvSpPr>
            <a:spLocks noGrp="1" noRot="1" noChangeAspect="1" noChangeArrowheads="1" noTextEdit="1"/>
          </p:cNvSpPr>
          <p:nvPr>
            <p:ph type="sldImg"/>
          </p:nvPr>
        </p:nvSpPr>
        <p:spPr>
          <a:ln/>
        </p:spPr>
      </p:sp>
      <p:sp>
        <p:nvSpPr>
          <p:cNvPr id="72708" name="Rectangle 3">
            <a:extLst>
              <a:ext uri="{FF2B5EF4-FFF2-40B4-BE49-F238E27FC236}">
                <a16:creationId xmlns:a16="http://schemas.microsoft.com/office/drawing/2014/main" id="{69D0AA2A-893C-43E7-B0B6-DF5683228B2A}"/>
              </a:ext>
            </a:extLst>
          </p:cNvPr>
          <p:cNvSpPr>
            <a:spLocks noGrp="1" noChangeArrowheads="1"/>
          </p:cNvSpPr>
          <p:nvPr>
            <p:ph type="body" idx="1"/>
          </p:nvPr>
        </p:nvSpPr>
        <p:spPr>
          <a:noFill/>
        </p:spPr>
        <p:txBody>
          <a:bodyPr/>
          <a:lstStyle/>
          <a:p>
            <a:pPr eaLnBrk="1" hangingPunct="1"/>
            <a:r>
              <a:rPr lang="en-US" altLang="en-US"/>
              <a:t>“Tax return preparation software” means programs like TurboTax by Quicken and TaxCut by H&amp;R Block.</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2A87A2D8-795D-40C0-8C50-597E6FA4D51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39053A-1723-467F-A8DE-97268954B764}" type="slidenum">
              <a:rPr lang="en-US" altLang="en-US"/>
              <a:pPr/>
              <a:t>34</a:t>
            </a:fld>
            <a:endParaRPr lang="en-US" altLang="en-US"/>
          </a:p>
        </p:txBody>
      </p:sp>
      <p:sp>
        <p:nvSpPr>
          <p:cNvPr id="74755" name="Rectangle 2">
            <a:extLst>
              <a:ext uri="{FF2B5EF4-FFF2-40B4-BE49-F238E27FC236}">
                <a16:creationId xmlns:a16="http://schemas.microsoft.com/office/drawing/2014/main" id="{34E5CD98-8A42-4993-8593-83151DAA4D5F}"/>
              </a:ext>
            </a:extLst>
          </p:cNvPr>
          <p:cNvSpPr>
            <a:spLocks noGrp="1" noRot="1" noChangeAspect="1" noChangeArrowheads="1" noTextEdit="1"/>
          </p:cNvSpPr>
          <p:nvPr>
            <p:ph type="sldImg"/>
          </p:nvPr>
        </p:nvSpPr>
        <p:spPr>
          <a:ln/>
        </p:spPr>
      </p:sp>
      <p:sp>
        <p:nvSpPr>
          <p:cNvPr id="74756" name="Rectangle 3">
            <a:extLst>
              <a:ext uri="{FF2B5EF4-FFF2-40B4-BE49-F238E27FC236}">
                <a16:creationId xmlns:a16="http://schemas.microsoft.com/office/drawing/2014/main" id="{A99E9C5F-20D1-440D-8730-6C928078067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0E2F9A3B-B3C7-48AB-B723-1E342FCE621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E4D77CD-0C7F-4BCC-B573-B5CA1995FBDB}" type="slidenum">
              <a:rPr lang="en-US" altLang="en-US"/>
              <a:pPr/>
              <a:t>35</a:t>
            </a:fld>
            <a:endParaRPr lang="en-US" altLang="en-US"/>
          </a:p>
        </p:txBody>
      </p:sp>
      <p:sp>
        <p:nvSpPr>
          <p:cNvPr id="76803" name="Rectangle 2">
            <a:extLst>
              <a:ext uri="{FF2B5EF4-FFF2-40B4-BE49-F238E27FC236}">
                <a16:creationId xmlns:a16="http://schemas.microsoft.com/office/drawing/2014/main" id="{E543BA0A-326F-45D0-A19F-033ED5D05C72}"/>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08255F2A-D766-43B8-BF8B-A1C89A8A80E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09F407D6-573D-4835-BA76-E2025AE412D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87FD9F6-6DFC-4C8B-9B9A-A0D98992E48D}" type="slidenum">
              <a:rPr lang="en-US" altLang="en-US"/>
              <a:pPr/>
              <a:t>36</a:t>
            </a:fld>
            <a:endParaRPr lang="en-US" altLang="en-US"/>
          </a:p>
        </p:txBody>
      </p:sp>
      <p:sp>
        <p:nvSpPr>
          <p:cNvPr id="78851" name="Rectangle 2">
            <a:extLst>
              <a:ext uri="{FF2B5EF4-FFF2-40B4-BE49-F238E27FC236}">
                <a16:creationId xmlns:a16="http://schemas.microsoft.com/office/drawing/2014/main" id="{7CE57E1F-D8D9-454F-923D-0A361ECFD3E8}"/>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7C452D07-3898-4B87-BEB5-6139F5429B3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380C3AF1-C9E8-4F4D-BAA7-E629FEC8A4F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17AB25-2E9B-4DD5-864F-C7FCD51C56C8}" type="slidenum">
              <a:rPr lang="en-US" altLang="en-US"/>
              <a:pPr/>
              <a:t>37</a:t>
            </a:fld>
            <a:endParaRPr lang="en-US" altLang="en-US"/>
          </a:p>
        </p:txBody>
      </p:sp>
      <p:sp>
        <p:nvSpPr>
          <p:cNvPr id="80899" name="Rectangle 7">
            <a:extLst>
              <a:ext uri="{FF2B5EF4-FFF2-40B4-BE49-F238E27FC236}">
                <a16:creationId xmlns:a16="http://schemas.microsoft.com/office/drawing/2014/main" id="{1224CA75-541C-461E-931A-1512D56ADEC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C313611-1792-4F5D-BF5A-7993545214B7}" type="slidenum">
              <a:rPr lang="en-US" altLang="en-US" sz="1200">
                <a:cs typeface="Arial" panose="020B0604020202020204" pitchFamily="34" charset="0"/>
              </a:rPr>
              <a:pPr algn="r" eaLnBrk="1" hangingPunct="1"/>
              <a:t>37</a:t>
            </a:fld>
            <a:endParaRPr lang="en-US" altLang="en-US" sz="1200">
              <a:cs typeface="Arial" panose="020B0604020202020204" pitchFamily="34" charset="0"/>
            </a:endParaRPr>
          </a:p>
        </p:txBody>
      </p:sp>
      <p:sp>
        <p:nvSpPr>
          <p:cNvPr id="80900" name="Rectangle 2">
            <a:extLst>
              <a:ext uri="{FF2B5EF4-FFF2-40B4-BE49-F238E27FC236}">
                <a16:creationId xmlns:a16="http://schemas.microsoft.com/office/drawing/2014/main" id="{067DD1DB-CDBC-42EB-BDEF-9BDA20C42651}"/>
              </a:ext>
            </a:extLst>
          </p:cNvPr>
          <p:cNvSpPr>
            <a:spLocks noGrp="1" noRot="1" noChangeAspect="1" noChangeArrowheads="1" noTextEdit="1"/>
          </p:cNvSpPr>
          <p:nvPr>
            <p:ph type="sldImg"/>
          </p:nvPr>
        </p:nvSpPr>
        <p:spPr>
          <a:xfrm>
            <a:off x="1143000" y="534988"/>
            <a:ext cx="4572000" cy="3429000"/>
          </a:xfrm>
          <a:ln/>
        </p:spPr>
      </p:sp>
      <p:sp>
        <p:nvSpPr>
          <p:cNvPr id="80901" name="Rectangle 3">
            <a:extLst>
              <a:ext uri="{FF2B5EF4-FFF2-40B4-BE49-F238E27FC236}">
                <a16:creationId xmlns:a16="http://schemas.microsoft.com/office/drawing/2014/main" id="{A7DA194F-873E-4702-AA0E-BAC595FDB977}"/>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We now return to the latte example to illustrate the concepts of equilibrium, shortage and surplus.  </a:t>
            </a:r>
          </a:p>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749AA0E3-8E9F-4D0C-9FE7-9B43E8A670A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743AF94-E7E9-4D47-9D66-66B779CD1F50}" type="slidenum">
              <a:rPr lang="en-US" altLang="en-US"/>
              <a:pPr/>
              <a:t>38</a:t>
            </a:fld>
            <a:endParaRPr lang="en-US" altLang="en-US"/>
          </a:p>
        </p:txBody>
      </p:sp>
      <p:sp>
        <p:nvSpPr>
          <p:cNvPr id="82947" name="Rectangle 7">
            <a:extLst>
              <a:ext uri="{FF2B5EF4-FFF2-40B4-BE49-F238E27FC236}">
                <a16:creationId xmlns:a16="http://schemas.microsoft.com/office/drawing/2014/main" id="{64B7C9FF-A57B-4DBA-87A2-DDA0A49FE95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977B168-C9BA-4F5A-9032-D02BF0DD4833}" type="slidenum">
              <a:rPr lang="en-US" altLang="en-US" sz="1200">
                <a:cs typeface="Arial" panose="020B0604020202020204" pitchFamily="34" charset="0"/>
              </a:rPr>
              <a:pPr algn="r" eaLnBrk="1" hangingPunct="1"/>
              <a:t>38</a:t>
            </a:fld>
            <a:endParaRPr lang="en-US" altLang="en-US" sz="1200">
              <a:cs typeface="Arial" panose="020B0604020202020204" pitchFamily="34" charset="0"/>
            </a:endParaRPr>
          </a:p>
        </p:txBody>
      </p:sp>
      <p:sp>
        <p:nvSpPr>
          <p:cNvPr id="82948" name="Rectangle 2">
            <a:extLst>
              <a:ext uri="{FF2B5EF4-FFF2-40B4-BE49-F238E27FC236}">
                <a16:creationId xmlns:a16="http://schemas.microsoft.com/office/drawing/2014/main" id="{29F57C1C-AE53-469F-A724-8CEE803C1F1F}"/>
              </a:ext>
            </a:extLst>
          </p:cNvPr>
          <p:cNvSpPr>
            <a:spLocks noGrp="1" noRot="1" noChangeAspect="1" noChangeArrowheads="1" noTextEdit="1"/>
          </p:cNvSpPr>
          <p:nvPr>
            <p:ph type="sldImg"/>
          </p:nvPr>
        </p:nvSpPr>
        <p:spPr>
          <a:xfrm>
            <a:off x="1143000" y="534988"/>
            <a:ext cx="4572000" cy="3429000"/>
          </a:xfrm>
          <a:ln/>
        </p:spPr>
      </p:sp>
      <p:sp>
        <p:nvSpPr>
          <p:cNvPr id="82949" name="Rectangle 3">
            <a:extLst>
              <a:ext uri="{FF2B5EF4-FFF2-40B4-BE49-F238E27FC236}">
                <a16:creationId xmlns:a16="http://schemas.microsoft.com/office/drawing/2014/main" id="{82CF6225-8063-4B0B-9726-03C83B3FA63D}"/>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807E1D55-5775-44E3-9460-E05E882D18DC}"/>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B4954C-8155-42F5-BA0E-2D55C48D293C}" type="slidenum">
              <a:rPr lang="en-US" altLang="en-US"/>
              <a:pPr/>
              <a:t>39</a:t>
            </a:fld>
            <a:endParaRPr lang="en-US" altLang="en-US"/>
          </a:p>
        </p:txBody>
      </p:sp>
      <p:sp>
        <p:nvSpPr>
          <p:cNvPr id="84995" name="Rectangle 7">
            <a:extLst>
              <a:ext uri="{FF2B5EF4-FFF2-40B4-BE49-F238E27FC236}">
                <a16:creationId xmlns:a16="http://schemas.microsoft.com/office/drawing/2014/main" id="{8716D226-D1B0-42EA-9FD2-6580ACEB542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085FCE0-DDE1-46B2-8EBC-3B3DD8F9FF38}" type="slidenum">
              <a:rPr lang="en-US" altLang="en-US" sz="1200">
                <a:cs typeface="Arial" panose="020B0604020202020204" pitchFamily="34" charset="0"/>
              </a:rPr>
              <a:pPr algn="r" eaLnBrk="1" hangingPunct="1"/>
              <a:t>39</a:t>
            </a:fld>
            <a:endParaRPr lang="en-US" altLang="en-US" sz="1200">
              <a:cs typeface="Arial" panose="020B0604020202020204" pitchFamily="34" charset="0"/>
            </a:endParaRPr>
          </a:p>
        </p:txBody>
      </p:sp>
      <p:sp>
        <p:nvSpPr>
          <p:cNvPr id="84996" name="Rectangle 2">
            <a:extLst>
              <a:ext uri="{FF2B5EF4-FFF2-40B4-BE49-F238E27FC236}">
                <a16:creationId xmlns:a16="http://schemas.microsoft.com/office/drawing/2014/main" id="{8C1E9C01-33FB-4F34-B86E-A19D66CD07E3}"/>
              </a:ext>
            </a:extLst>
          </p:cNvPr>
          <p:cNvSpPr>
            <a:spLocks noGrp="1" noRot="1" noChangeAspect="1" noChangeArrowheads="1" noTextEdit="1"/>
          </p:cNvSpPr>
          <p:nvPr>
            <p:ph type="sldImg"/>
          </p:nvPr>
        </p:nvSpPr>
        <p:spPr>
          <a:xfrm>
            <a:off x="1143000" y="534988"/>
            <a:ext cx="4572000" cy="3429000"/>
          </a:xfrm>
          <a:ln/>
        </p:spPr>
      </p:sp>
      <p:sp>
        <p:nvSpPr>
          <p:cNvPr id="84997" name="Rectangle 3">
            <a:extLst>
              <a:ext uri="{FF2B5EF4-FFF2-40B4-BE49-F238E27FC236}">
                <a16:creationId xmlns:a16="http://schemas.microsoft.com/office/drawing/2014/main" id="{2F81B34A-07FD-45DB-9B4D-7FBA76CD80C6}"/>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D18B821A-A5C7-4D19-99E5-5A46F1E641A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8489AE-86C1-4680-AD89-F0B20698B857}" type="slidenum">
              <a:rPr lang="en-US" altLang="en-US"/>
              <a:pPr/>
              <a:t>40</a:t>
            </a:fld>
            <a:endParaRPr lang="en-US" altLang="en-US"/>
          </a:p>
        </p:txBody>
      </p:sp>
      <p:sp>
        <p:nvSpPr>
          <p:cNvPr id="87043" name="Rectangle 7">
            <a:extLst>
              <a:ext uri="{FF2B5EF4-FFF2-40B4-BE49-F238E27FC236}">
                <a16:creationId xmlns:a16="http://schemas.microsoft.com/office/drawing/2014/main" id="{58922A5A-3CB2-4BC3-9D1B-106DED30AA1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18F4CB0-9EB2-490F-ADCF-B82DADF4E1D5}" type="slidenum">
              <a:rPr lang="en-US" altLang="en-US" sz="1200">
                <a:cs typeface="Arial" panose="020B0604020202020204" pitchFamily="34" charset="0"/>
              </a:rPr>
              <a:pPr algn="r" eaLnBrk="1" hangingPunct="1"/>
              <a:t>40</a:t>
            </a:fld>
            <a:endParaRPr lang="en-US" altLang="en-US" sz="1200">
              <a:cs typeface="Arial" panose="020B0604020202020204" pitchFamily="34" charset="0"/>
            </a:endParaRPr>
          </a:p>
        </p:txBody>
      </p:sp>
      <p:sp>
        <p:nvSpPr>
          <p:cNvPr id="87044" name="Rectangle 2">
            <a:extLst>
              <a:ext uri="{FF2B5EF4-FFF2-40B4-BE49-F238E27FC236}">
                <a16:creationId xmlns:a16="http://schemas.microsoft.com/office/drawing/2014/main" id="{9B676A99-1E44-43C9-A89E-393621B46675}"/>
              </a:ext>
            </a:extLst>
          </p:cNvPr>
          <p:cNvSpPr>
            <a:spLocks noGrp="1" noRot="1" noChangeAspect="1" noChangeArrowheads="1" noTextEdit="1"/>
          </p:cNvSpPr>
          <p:nvPr>
            <p:ph type="sldImg"/>
          </p:nvPr>
        </p:nvSpPr>
        <p:spPr>
          <a:xfrm>
            <a:off x="1143000" y="534988"/>
            <a:ext cx="4572000" cy="3429000"/>
          </a:xfrm>
          <a:ln/>
        </p:spPr>
      </p:sp>
      <p:sp>
        <p:nvSpPr>
          <p:cNvPr id="87045" name="Rectangle 3">
            <a:extLst>
              <a:ext uri="{FF2B5EF4-FFF2-40B4-BE49-F238E27FC236}">
                <a16:creationId xmlns:a16="http://schemas.microsoft.com/office/drawing/2014/main" id="{1017305C-A85D-4307-8FD3-9D2670D7E1D9}"/>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ED729301-0992-4BC5-8188-C21B999F9D8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55FDBBA-A4E4-4256-94F2-37DD21249B42}" type="slidenum">
              <a:rPr lang="en-US" altLang="en-US"/>
              <a:pPr/>
              <a:t>41</a:t>
            </a:fld>
            <a:endParaRPr lang="en-US" altLang="en-US"/>
          </a:p>
        </p:txBody>
      </p:sp>
      <p:sp>
        <p:nvSpPr>
          <p:cNvPr id="89091" name="Rectangle 7">
            <a:extLst>
              <a:ext uri="{FF2B5EF4-FFF2-40B4-BE49-F238E27FC236}">
                <a16:creationId xmlns:a16="http://schemas.microsoft.com/office/drawing/2014/main" id="{F5694667-7442-432C-AE73-745B60B5075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FDA66556-4F6B-460A-8F90-05E36C92733F}" type="slidenum">
              <a:rPr lang="en-US" altLang="en-US" sz="1200">
                <a:cs typeface="Arial" panose="020B0604020202020204" pitchFamily="34" charset="0"/>
              </a:rPr>
              <a:pPr algn="r" eaLnBrk="1" hangingPunct="1"/>
              <a:t>41</a:t>
            </a:fld>
            <a:endParaRPr lang="en-US" altLang="en-US" sz="1200">
              <a:cs typeface="Arial" panose="020B0604020202020204" pitchFamily="34" charset="0"/>
            </a:endParaRPr>
          </a:p>
        </p:txBody>
      </p:sp>
      <p:sp>
        <p:nvSpPr>
          <p:cNvPr id="89092" name="Rectangle 2">
            <a:extLst>
              <a:ext uri="{FF2B5EF4-FFF2-40B4-BE49-F238E27FC236}">
                <a16:creationId xmlns:a16="http://schemas.microsoft.com/office/drawing/2014/main" id="{1C01B402-293D-42FF-B3AA-5FE393A9FB36}"/>
              </a:ext>
            </a:extLst>
          </p:cNvPr>
          <p:cNvSpPr>
            <a:spLocks noGrp="1" noRot="1" noChangeAspect="1" noChangeArrowheads="1" noTextEdit="1"/>
          </p:cNvSpPr>
          <p:nvPr>
            <p:ph type="sldImg"/>
          </p:nvPr>
        </p:nvSpPr>
        <p:spPr>
          <a:xfrm>
            <a:off x="1143000" y="534988"/>
            <a:ext cx="4572000" cy="3429000"/>
          </a:xfrm>
          <a:ln/>
        </p:spPr>
      </p:sp>
      <p:sp>
        <p:nvSpPr>
          <p:cNvPr id="89093" name="Rectangle 3">
            <a:extLst>
              <a:ext uri="{FF2B5EF4-FFF2-40B4-BE49-F238E27FC236}">
                <a16:creationId xmlns:a16="http://schemas.microsoft.com/office/drawing/2014/main" id="{29284D92-B042-47B5-A693-7B92A457D1D5}"/>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AACF3ED9-8B3B-40CB-BEFC-574176B4EE7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E9299A-3EE4-4CA7-8B77-CEFA124E5166}" type="slidenum">
              <a:rPr lang="en-US" altLang="en-US"/>
              <a:pPr/>
              <a:t>42</a:t>
            </a:fld>
            <a:endParaRPr lang="en-US" altLang="en-US"/>
          </a:p>
        </p:txBody>
      </p:sp>
      <p:sp>
        <p:nvSpPr>
          <p:cNvPr id="91139" name="Rectangle 7">
            <a:extLst>
              <a:ext uri="{FF2B5EF4-FFF2-40B4-BE49-F238E27FC236}">
                <a16:creationId xmlns:a16="http://schemas.microsoft.com/office/drawing/2014/main" id="{98C39911-8C7F-4924-A543-FDA7EFF1F1A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D4957E1-F458-44C1-861A-2CDE746D671F}" type="slidenum">
              <a:rPr lang="en-US" altLang="en-US" sz="1200">
                <a:cs typeface="Arial" panose="020B0604020202020204" pitchFamily="34" charset="0"/>
              </a:rPr>
              <a:pPr algn="r" eaLnBrk="1" hangingPunct="1"/>
              <a:t>42</a:t>
            </a:fld>
            <a:endParaRPr lang="en-US" altLang="en-US" sz="1200">
              <a:cs typeface="Arial" panose="020B0604020202020204" pitchFamily="34" charset="0"/>
            </a:endParaRPr>
          </a:p>
        </p:txBody>
      </p:sp>
      <p:sp>
        <p:nvSpPr>
          <p:cNvPr id="91140" name="Rectangle 2">
            <a:extLst>
              <a:ext uri="{FF2B5EF4-FFF2-40B4-BE49-F238E27FC236}">
                <a16:creationId xmlns:a16="http://schemas.microsoft.com/office/drawing/2014/main" id="{EDE3DE8D-2304-4D39-80A5-8DE7969FE15C}"/>
              </a:ext>
            </a:extLst>
          </p:cNvPr>
          <p:cNvSpPr>
            <a:spLocks noGrp="1" noRot="1" noChangeAspect="1" noChangeArrowheads="1" noTextEdit="1"/>
          </p:cNvSpPr>
          <p:nvPr>
            <p:ph type="sldImg"/>
          </p:nvPr>
        </p:nvSpPr>
        <p:spPr>
          <a:xfrm>
            <a:off x="1143000" y="534988"/>
            <a:ext cx="4572000" cy="3429000"/>
          </a:xfrm>
          <a:ln/>
        </p:spPr>
      </p:sp>
      <p:sp>
        <p:nvSpPr>
          <p:cNvPr id="91141" name="Rectangle 3">
            <a:extLst>
              <a:ext uri="{FF2B5EF4-FFF2-40B4-BE49-F238E27FC236}">
                <a16:creationId xmlns:a16="http://schemas.microsoft.com/office/drawing/2014/main" id="{7EC1F8CC-147D-4A9F-B208-5E2AFC8A07FA}"/>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EC2F0AFC-4F1F-4E84-BA95-8BF06A1B6FB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C42A18-C42F-4E08-A8CC-8125AD8CD8DB}" type="slidenum">
              <a:rPr lang="en-US" altLang="en-US"/>
              <a:pPr/>
              <a:t>43</a:t>
            </a:fld>
            <a:endParaRPr lang="en-US" altLang="en-US"/>
          </a:p>
        </p:txBody>
      </p:sp>
      <p:sp>
        <p:nvSpPr>
          <p:cNvPr id="93187" name="Rectangle 7">
            <a:extLst>
              <a:ext uri="{FF2B5EF4-FFF2-40B4-BE49-F238E27FC236}">
                <a16:creationId xmlns:a16="http://schemas.microsoft.com/office/drawing/2014/main" id="{CFA1F46B-177B-4782-AC5C-24DA0A03995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D9BE10F-4FFF-4722-BE45-B08590D97720}" type="slidenum">
              <a:rPr lang="en-US" altLang="en-US" sz="1200">
                <a:cs typeface="Arial" panose="020B0604020202020204" pitchFamily="34" charset="0"/>
              </a:rPr>
              <a:pPr algn="r" eaLnBrk="1" hangingPunct="1"/>
              <a:t>43</a:t>
            </a:fld>
            <a:endParaRPr lang="en-US" altLang="en-US" sz="1200">
              <a:cs typeface="Arial" panose="020B0604020202020204" pitchFamily="34" charset="0"/>
            </a:endParaRPr>
          </a:p>
        </p:txBody>
      </p:sp>
      <p:sp>
        <p:nvSpPr>
          <p:cNvPr id="93188" name="Rectangle 2">
            <a:extLst>
              <a:ext uri="{FF2B5EF4-FFF2-40B4-BE49-F238E27FC236}">
                <a16:creationId xmlns:a16="http://schemas.microsoft.com/office/drawing/2014/main" id="{7D5908B1-2900-44CC-B955-8635CDB60873}"/>
              </a:ext>
            </a:extLst>
          </p:cNvPr>
          <p:cNvSpPr>
            <a:spLocks noGrp="1" noRot="1" noChangeAspect="1" noChangeArrowheads="1" noTextEdit="1"/>
          </p:cNvSpPr>
          <p:nvPr>
            <p:ph type="sldImg"/>
          </p:nvPr>
        </p:nvSpPr>
        <p:spPr>
          <a:xfrm>
            <a:off x="1143000" y="534988"/>
            <a:ext cx="4572000" cy="3429000"/>
          </a:xfrm>
          <a:ln/>
        </p:spPr>
      </p:sp>
      <p:sp>
        <p:nvSpPr>
          <p:cNvPr id="93189" name="Rectangle 3">
            <a:extLst>
              <a:ext uri="{FF2B5EF4-FFF2-40B4-BE49-F238E27FC236}">
                <a16:creationId xmlns:a16="http://schemas.microsoft.com/office/drawing/2014/main" id="{2731ACDC-7EF0-42FC-B4B4-6755DA4F4630}"/>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A988DBF5-0016-4E30-BB76-289913522F8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B9F9E53-CF24-4673-A44F-35035BAD8F3F}" type="slidenum">
              <a:rPr lang="en-US" altLang="en-US"/>
              <a:pPr/>
              <a:t>44</a:t>
            </a:fld>
            <a:endParaRPr lang="en-US" altLang="en-US"/>
          </a:p>
        </p:txBody>
      </p:sp>
      <p:sp>
        <p:nvSpPr>
          <p:cNvPr id="95235" name="Rectangle 7">
            <a:extLst>
              <a:ext uri="{FF2B5EF4-FFF2-40B4-BE49-F238E27FC236}">
                <a16:creationId xmlns:a16="http://schemas.microsoft.com/office/drawing/2014/main" id="{DAD04CAD-2F68-4DD3-A68A-5B931CE84D9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3830A94-0498-491D-B83A-75956F01DE85}" type="slidenum">
              <a:rPr lang="en-US" altLang="en-US" sz="1200">
                <a:cs typeface="Arial" panose="020B0604020202020204" pitchFamily="34" charset="0"/>
              </a:rPr>
              <a:pPr algn="r" eaLnBrk="1" hangingPunct="1"/>
              <a:t>44</a:t>
            </a:fld>
            <a:endParaRPr lang="en-US" altLang="en-US" sz="1200">
              <a:cs typeface="Arial" panose="020B0604020202020204" pitchFamily="34" charset="0"/>
            </a:endParaRPr>
          </a:p>
        </p:txBody>
      </p:sp>
      <p:sp>
        <p:nvSpPr>
          <p:cNvPr id="95236" name="Rectangle 2">
            <a:extLst>
              <a:ext uri="{FF2B5EF4-FFF2-40B4-BE49-F238E27FC236}">
                <a16:creationId xmlns:a16="http://schemas.microsoft.com/office/drawing/2014/main" id="{8761721C-6BC7-4CCA-8AE9-C48C72ADE774}"/>
              </a:ext>
            </a:extLst>
          </p:cNvPr>
          <p:cNvSpPr>
            <a:spLocks noGrp="1" noRot="1" noChangeAspect="1" noChangeArrowheads="1" noTextEdit="1"/>
          </p:cNvSpPr>
          <p:nvPr>
            <p:ph type="sldImg"/>
          </p:nvPr>
        </p:nvSpPr>
        <p:spPr>
          <a:xfrm>
            <a:off x="1143000" y="534988"/>
            <a:ext cx="4572000" cy="3429000"/>
          </a:xfrm>
          <a:ln/>
        </p:spPr>
      </p:sp>
      <p:sp>
        <p:nvSpPr>
          <p:cNvPr id="95237" name="Rectangle 3">
            <a:extLst>
              <a:ext uri="{FF2B5EF4-FFF2-40B4-BE49-F238E27FC236}">
                <a16:creationId xmlns:a16="http://schemas.microsoft.com/office/drawing/2014/main" id="{EC1D8029-3C9F-46E3-AC06-CE57A8228C8F}"/>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E09EF813-C0BD-4219-B4F7-3F0C4CDC431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98BC98-EEA8-4349-9F68-0E22F54116D6}" type="slidenum">
              <a:rPr lang="en-US" altLang="en-US"/>
              <a:pPr/>
              <a:t>45</a:t>
            </a:fld>
            <a:endParaRPr lang="en-US" altLang="en-US"/>
          </a:p>
        </p:txBody>
      </p:sp>
      <p:sp>
        <p:nvSpPr>
          <p:cNvPr id="97283" name="Rectangle 7">
            <a:extLst>
              <a:ext uri="{FF2B5EF4-FFF2-40B4-BE49-F238E27FC236}">
                <a16:creationId xmlns:a16="http://schemas.microsoft.com/office/drawing/2014/main" id="{1C2DEA28-3B10-4C1A-BB80-DBFCE1EB091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1A43872E-AE93-4880-926E-5AB3FE83F98D}" type="slidenum">
              <a:rPr lang="en-US" altLang="en-US" sz="1200">
                <a:cs typeface="Arial" panose="020B0604020202020204" pitchFamily="34" charset="0"/>
              </a:rPr>
              <a:pPr algn="r" eaLnBrk="1" hangingPunct="1"/>
              <a:t>45</a:t>
            </a:fld>
            <a:endParaRPr lang="en-US" altLang="en-US" sz="1200">
              <a:cs typeface="Arial" panose="020B0604020202020204" pitchFamily="34" charset="0"/>
            </a:endParaRPr>
          </a:p>
        </p:txBody>
      </p:sp>
      <p:sp>
        <p:nvSpPr>
          <p:cNvPr id="97284" name="Rectangle 2">
            <a:extLst>
              <a:ext uri="{FF2B5EF4-FFF2-40B4-BE49-F238E27FC236}">
                <a16:creationId xmlns:a16="http://schemas.microsoft.com/office/drawing/2014/main" id="{C4B2352D-BC9D-4626-B0A9-E76AA8F3538D}"/>
              </a:ext>
            </a:extLst>
          </p:cNvPr>
          <p:cNvSpPr>
            <a:spLocks noGrp="1" noRot="1" noChangeAspect="1" noChangeArrowheads="1" noTextEdit="1"/>
          </p:cNvSpPr>
          <p:nvPr>
            <p:ph type="sldImg"/>
          </p:nvPr>
        </p:nvSpPr>
        <p:spPr>
          <a:xfrm>
            <a:off x="1143000" y="534988"/>
            <a:ext cx="4572000" cy="3429000"/>
          </a:xfrm>
          <a:ln/>
        </p:spPr>
      </p:sp>
      <p:sp>
        <p:nvSpPr>
          <p:cNvPr id="97285" name="Rectangle 3">
            <a:extLst>
              <a:ext uri="{FF2B5EF4-FFF2-40B4-BE49-F238E27FC236}">
                <a16:creationId xmlns:a16="http://schemas.microsoft.com/office/drawing/2014/main" id="{E66CA3BB-307B-4E2D-8299-B45D2D50E040}"/>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98984EBB-63B5-4072-B6BD-922AD6E276F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CB01DF-4019-49F1-86DB-48CCB41C590B}" type="slidenum">
              <a:rPr lang="en-US" altLang="en-US"/>
              <a:pPr/>
              <a:t>46</a:t>
            </a:fld>
            <a:endParaRPr lang="en-US" altLang="en-US"/>
          </a:p>
        </p:txBody>
      </p:sp>
      <p:sp>
        <p:nvSpPr>
          <p:cNvPr id="99331" name="Rectangle 7">
            <a:extLst>
              <a:ext uri="{FF2B5EF4-FFF2-40B4-BE49-F238E27FC236}">
                <a16:creationId xmlns:a16="http://schemas.microsoft.com/office/drawing/2014/main" id="{FA027DF9-4C62-432C-9A58-B2AC5198E7F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17F445D8-9E72-4142-9A75-22A6F9727AFE}" type="slidenum">
              <a:rPr lang="en-US" altLang="en-US" sz="1200">
                <a:cs typeface="Arial" panose="020B0604020202020204" pitchFamily="34" charset="0"/>
              </a:rPr>
              <a:pPr algn="r" eaLnBrk="1" hangingPunct="1"/>
              <a:t>46</a:t>
            </a:fld>
            <a:endParaRPr lang="en-US" altLang="en-US" sz="1200">
              <a:cs typeface="Arial" panose="020B0604020202020204" pitchFamily="34" charset="0"/>
            </a:endParaRPr>
          </a:p>
        </p:txBody>
      </p:sp>
      <p:sp>
        <p:nvSpPr>
          <p:cNvPr id="99332" name="Rectangle 2">
            <a:extLst>
              <a:ext uri="{FF2B5EF4-FFF2-40B4-BE49-F238E27FC236}">
                <a16:creationId xmlns:a16="http://schemas.microsoft.com/office/drawing/2014/main" id="{50DA81DA-CA38-4C2F-911E-A50F4D67FC6C}"/>
              </a:ext>
            </a:extLst>
          </p:cNvPr>
          <p:cNvSpPr>
            <a:spLocks noGrp="1" noRot="1" noChangeAspect="1" noChangeArrowheads="1" noTextEdit="1"/>
          </p:cNvSpPr>
          <p:nvPr>
            <p:ph type="sldImg"/>
          </p:nvPr>
        </p:nvSpPr>
        <p:spPr>
          <a:xfrm>
            <a:off x="1143000" y="534988"/>
            <a:ext cx="4572000" cy="3429000"/>
          </a:xfrm>
          <a:ln/>
        </p:spPr>
      </p:sp>
      <p:sp>
        <p:nvSpPr>
          <p:cNvPr id="99333" name="Rectangle 3">
            <a:extLst>
              <a:ext uri="{FF2B5EF4-FFF2-40B4-BE49-F238E27FC236}">
                <a16:creationId xmlns:a16="http://schemas.microsoft.com/office/drawing/2014/main" id="{89B80C3E-06DC-4B6F-858D-DAECAF513130}"/>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Step one requires knowing all of the things that can shift D and S – the non-price determinants of demand and of supply.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401FF178-99E0-4E08-985A-F67340DF047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39CDD79-5895-4D99-A55D-A0065B8E058F}" type="slidenum">
              <a:rPr lang="en-US" altLang="en-US"/>
              <a:pPr/>
              <a:t>47</a:t>
            </a:fld>
            <a:endParaRPr lang="en-US" altLang="en-US"/>
          </a:p>
        </p:txBody>
      </p:sp>
      <p:sp>
        <p:nvSpPr>
          <p:cNvPr id="101379" name="Rectangle 7">
            <a:extLst>
              <a:ext uri="{FF2B5EF4-FFF2-40B4-BE49-F238E27FC236}">
                <a16:creationId xmlns:a16="http://schemas.microsoft.com/office/drawing/2014/main" id="{73A0B737-F9CC-4B68-9A5E-AEB090D0AE7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855B0A1-FB15-4D31-A382-A5E436857CA9}" type="slidenum">
              <a:rPr lang="en-US" altLang="en-US" sz="1200">
                <a:cs typeface="Arial" panose="020B0604020202020204" pitchFamily="34" charset="0"/>
              </a:rPr>
              <a:pPr algn="r" eaLnBrk="1" hangingPunct="1"/>
              <a:t>47</a:t>
            </a:fld>
            <a:endParaRPr lang="en-US" altLang="en-US" sz="1200">
              <a:cs typeface="Arial" panose="020B0604020202020204" pitchFamily="34" charset="0"/>
            </a:endParaRPr>
          </a:p>
        </p:txBody>
      </p:sp>
      <p:sp>
        <p:nvSpPr>
          <p:cNvPr id="101380" name="Rectangle 2">
            <a:extLst>
              <a:ext uri="{FF2B5EF4-FFF2-40B4-BE49-F238E27FC236}">
                <a16:creationId xmlns:a16="http://schemas.microsoft.com/office/drawing/2014/main" id="{09754970-BDC7-44A9-AA88-AE8586A928D4}"/>
              </a:ext>
            </a:extLst>
          </p:cNvPr>
          <p:cNvSpPr>
            <a:spLocks noGrp="1" noRot="1" noChangeAspect="1" noChangeArrowheads="1" noTextEdit="1"/>
          </p:cNvSpPr>
          <p:nvPr>
            <p:ph type="sldImg"/>
          </p:nvPr>
        </p:nvSpPr>
        <p:spPr>
          <a:xfrm>
            <a:off x="1143000" y="534988"/>
            <a:ext cx="4572000" cy="3429000"/>
          </a:xfrm>
          <a:ln/>
        </p:spPr>
      </p:sp>
      <p:sp>
        <p:nvSpPr>
          <p:cNvPr id="101381" name="Rectangle 3">
            <a:extLst>
              <a:ext uri="{FF2B5EF4-FFF2-40B4-BE49-F238E27FC236}">
                <a16:creationId xmlns:a16="http://schemas.microsoft.com/office/drawing/2014/main" id="{0D11747C-C8CE-47CF-BA69-F8A76121BD57}"/>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728B328C-0CBC-4A94-AABD-65AEC34D034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FF92B56-F933-46D2-BB68-FB6011381A2C}" type="slidenum">
              <a:rPr lang="en-US" altLang="en-US"/>
              <a:pPr/>
              <a:t>48</a:t>
            </a:fld>
            <a:endParaRPr lang="en-US" altLang="en-US"/>
          </a:p>
        </p:txBody>
      </p:sp>
      <p:sp>
        <p:nvSpPr>
          <p:cNvPr id="103427" name="Rectangle 7">
            <a:extLst>
              <a:ext uri="{FF2B5EF4-FFF2-40B4-BE49-F238E27FC236}">
                <a16:creationId xmlns:a16="http://schemas.microsoft.com/office/drawing/2014/main" id="{73E34DE1-D436-4E9A-9E63-D18313BE7A0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E47B202-1AE6-4B79-88E6-5DFA6345D019}" type="slidenum">
              <a:rPr lang="en-US" altLang="en-US" sz="1200">
                <a:cs typeface="Arial" panose="020B0604020202020204" pitchFamily="34" charset="0"/>
              </a:rPr>
              <a:pPr algn="r" eaLnBrk="1" hangingPunct="1"/>
              <a:t>48</a:t>
            </a:fld>
            <a:endParaRPr lang="en-US" altLang="en-US" sz="1200">
              <a:cs typeface="Arial" panose="020B0604020202020204" pitchFamily="34" charset="0"/>
            </a:endParaRPr>
          </a:p>
        </p:txBody>
      </p:sp>
      <p:sp>
        <p:nvSpPr>
          <p:cNvPr id="103428" name="Rectangle 2">
            <a:extLst>
              <a:ext uri="{FF2B5EF4-FFF2-40B4-BE49-F238E27FC236}">
                <a16:creationId xmlns:a16="http://schemas.microsoft.com/office/drawing/2014/main" id="{FB82F622-92A8-41FF-84B5-C6E1B5EABFC8}"/>
              </a:ext>
            </a:extLst>
          </p:cNvPr>
          <p:cNvSpPr>
            <a:spLocks noGrp="1" noRot="1" noChangeAspect="1" noChangeArrowheads="1" noTextEdit="1"/>
          </p:cNvSpPr>
          <p:nvPr>
            <p:ph type="sldImg"/>
          </p:nvPr>
        </p:nvSpPr>
        <p:spPr>
          <a:xfrm>
            <a:off x="1143000" y="534988"/>
            <a:ext cx="4572000" cy="3429000"/>
          </a:xfrm>
          <a:ln/>
        </p:spPr>
      </p:sp>
      <p:sp>
        <p:nvSpPr>
          <p:cNvPr id="103429" name="Rectangle 3">
            <a:extLst>
              <a:ext uri="{FF2B5EF4-FFF2-40B4-BE49-F238E27FC236}">
                <a16:creationId xmlns:a16="http://schemas.microsoft.com/office/drawing/2014/main" id="{CCE30693-9C9A-4F71-99F7-1BF671493386}"/>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3C3B3D7C-1514-4EFA-9FDA-EA4FFEEFE89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BBE94B8-72CB-4F36-993A-24E3C46E99C6}" type="slidenum">
              <a:rPr lang="en-US" altLang="en-US"/>
              <a:pPr/>
              <a:t>49</a:t>
            </a:fld>
            <a:endParaRPr lang="en-US" altLang="en-US"/>
          </a:p>
        </p:txBody>
      </p:sp>
      <p:sp>
        <p:nvSpPr>
          <p:cNvPr id="105475" name="Rectangle 7">
            <a:extLst>
              <a:ext uri="{FF2B5EF4-FFF2-40B4-BE49-F238E27FC236}">
                <a16:creationId xmlns:a16="http://schemas.microsoft.com/office/drawing/2014/main" id="{5F4844A3-28C6-4A7B-AFBB-E917C7A0079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B27E6BB-8C1D-49CF-B8CA-C8CE4B5B7C52}" type="slidenum">
              <a:rPr lang="en-US" altLang="en-US" sz="1200">
                <a:cs typeface="Arial" panose="020B0604020202020204" pitchFamily="34" charset="0"/>
              </a:rPr>
              <a:pPr algn="r" eaLnBrk="1" hangingPunct="1"/>
              <a:t>49</a:t>
            </a:fld>
            <a:endParaRPr lang="en-US" altLang="en-US" sz="1200">
              <a:cs typeface="Arial" panose="020B0604020202020204" pitchFamily="34" charset="0"/>
            </a:endParaRPr>
          </a:p>
        </p:txBody>
      </p:sp>
      <p:sp>
        <p:nvSpPr>
          <p:cNvPr id="105476" name="Rectangle 2">
            <a:extLst>
              <a:ext uri="{FF2B5EF4-FFF2-40B4-BE49-F238E27FC236}">
                <a16:creationId xmlns:a16="http://schemas.microsoft.com/office/drawing/2014/main" id="{5530CB0A-DB2F-4395-AF5F-0F5EF003B0D8}"/>
              </a:ext>
            </a:extLst>
          </p:cNvPr>
          <p:cNvSpPr>
            <a:spLocks noGrp="1" noRot="1" noChangeAspect="1" noChangeArrowheads="1" noTextEdit="1"/>
          </p:cNvSpPr>
          <p:nvPr>
            <p:ph type="sldImg"/>
          </p:nvPr>
        </p:nvSpPr>
        <p:spPr>
          <a:xfrm>
            <a:off x="1143000" y="534988"/>
            <a:ext cx="4572000" cy="3429000"/>
          </a:xfrm>
          <a:ln/>
        </p:spPr>
      </p:sp>
      <p:sp>
        <p:nvSpPr>
          <p:cNvPr id="105477" name="Rectangle 3">
            <a:extLst>
              <a:ext uri="{FF2B5EF4-FFF2-40B4-BE49-F238E27FC236}">
                <a16:creationId xmlns:a16="http://schemas.microsoft.com/office/drawing/2014/main" id="{D42BDBC0-D406-4C71-AD32-17A2F97CCC21}"/>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DB6961A7-BD30-41C5-9B4E-9A1EEABFA7E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E90669-7DB1-4CEE-907A-D3B18FAB9477}" type="slidenum">
              <a:rPr lang="en-US" altLang="en-US"/>
              <a:pPr/>
              <a:t>50</a:t>
            </a:fld>
            <a:endParaRPr lang="en-US" altLang="en-US"/>
          </a:p>
        </p:txBody>
      </p:sp>
      <p:sp>
        <p:nvSpPr>
          <p:cNvPr id="107523" name="Rectangle 7">
            <a:extLst>
              <a:ext uri="{FF2B5EF4-FFF2-40B4-BE49-F238E27FC236}">
                <a16:creationId xmlns:a16="http://schemas.microsoft.com/office/drawing/2014/main" id="{F0408B72-ED30-413D-A3BF-22D147975FC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0AA61D7-D181-4B36-B804-F5C8791E5311}" type="slidenum">
              <a:rPr lang="en-US" altLang="en-US" sz="1200">
                <a:cs typeface="Arial" panose="020B0604020202020204" pitchFamily="34" charset="0"/>
              </a:rPr>
              <a:pPr algn="r" eaLnBrk="1" hangingPunct="1"/>
              <a:t>50</a:t>
            </a:fld>
            <a:endParaRPr lang="en-US" altLang="en-US" sz="1200">
              <a:cs typeface="Arial" panose="020B0604020202020204" pitchFamily="34" charset="0"/>
            </a:endParaRPr>
          </a:p>
        </p:txBody>
      </p:sp>
      <p:sp>
        <p:nvSpPr>
          <p:cNvPr id="107524" name="Rectangle 2">
            <a:extLst>
              <a:ext uri="{FF2B5EF4-FFF2-40B4-BE49-F238E27FC236}">
                <a16:creationId xmlns:a16="http://schemas.microsoft.com/office/drawing/2014/main" id="{8F6D6E94-8C1C-4136-AC04-B7DABC1AA83A}"/>
              </a:ext>
            </a:extLst>
          </p:cNvPr>
          <p:cNvSpPr>
            <a:spLocks noGrp="1" noRot="1" noChangeAspect="1" noChangeArrowheads="1" noTextEdit="1"/>
          </p:cNvSpPr>
          <p:nvPr>
            <p:ph type="sldImg"/>
          </p:nvPr>
        </p:nvSpPr>
        <p:spPr>
          <a:xfrm>
            <a:off x="1143000" y="534988"/>
            <a:ext cx="4572000" cy="3429000"/>
          </a:xfrm>
          <a:ln/>
        </p:spPr>
      </p:sp>
      <p:sp>
        <p:nvSpPr>
          <p:cNvPr id="107525" name="Rectangle 3">
            <a:extLst>
              <a:ext uri="{FF2B5EF4-FFF2-40B4-BE49-F238E27FC236}">
                <a16:creationId xmlns:a16="http://schemas.microsoft.com/office/drawing/2014/main" id="{A2821B93-3A56-4CA1-84CB-54F8239E9AE4}"/>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“Supply” refers to the position of the supply curve, while “quantity supplied” refers to the specific amount that producers are willing and able to sell. </a:t>
            </a:r>
          </a:p>
          <a:p>
            <a:pPr eaLnBrk="1" hangingPunct="1"/>
            <a:endParaRPr lang="en-US" altLang="en-US"/>
          </a:p>
          <a:p>
            <a:pPr eaLnBrk="1" hangingPunct="1"/>
            <a:r>
              <a:rPr lang="en-US" altLang="en-US"/>
              <a:t>Similarly, “demand” refers to the position of the demand curve, while “quantity demanded” refers to the specific amount that consumers are willing and able to buy.  </a:t>
            </a:r>
          </a:p>
          <a:p>
            <a:pPr eaLnBrk="1" hangingPunct="1"/>
            <a:endParaRPr lang="en-US" altLang="en-US"/>
          </a:p>
          <a:p>
            <a:pPr eaLnBrk="1" hangingPunct="1"/>
            <a:r>
              <a:rPr lang="en-US" altLang="en-US"/>
              <a:t>If you’d like to be a rebel, delete this slide and all references to the jargon it contains, and just use the terms “movement along a curve” and “shift in a curve.”  Note, however, that this is not the official recommendation of Cengage/South-Western or Dr. Mankiw.  </a:t>
            </a:r>
          </a:p>
          <a:p>
            <a:pPr eaLnBrk="1" hangingPunct="1"/>
            <a:endParaRPr lang="en-US" altLang="en-US"/>
          </a:p>
          <a:p>
            <a:pPr eaLnBrk="1" hangingPunct="1"/>
            <a:r>
              <a:rPr lang="en-US" altLang="en-US"/>
              <a:t>If you’d like to cover this slide but make it move more quickly, delete the text next to each second-level bullet (starting with “occurs when”).  Instead, give the information to your students verbally or rely on them to read it in the textbook.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804D824F-D096-4960-A47E-F8E87911EF7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31F3BE6-500C-45DD-ABE4-0482E075A84A}" type="slidenum">
              <a:rPr lang="en-US" altLang="en-US"/>
              <a:pPr/>
              <a:t>51</a:t>
            </a:fld>
            <a:endParaRPr lang="en-US" altLang="en-US"/>
          </a:p>
        </p:txBody>
      </p:sp>
      <p:sp>
        <p:nvSpPr>
          <p:cNvPr id="109571" name="Rectangle 7">
            <a:extLst>
              <a:ext uri="{FF2B5EF4-FFF2-40B4-BE49-F238E27FC236}">
                <a16:creationId xmlns:a16="http://schemas.microsoft.com/office/drawing/2014/main" id="{FB1EEC75-6B63-49D5-B514-AE41D7A98CB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1BA5E8A-7A2C-4B0D-A944-ACBD24D4650F}" type="slidenum">
              <a:rPr lang="en-US" altLang="en-US" sz="1200">
                <a:cs typeface="Arial" panose="020B0604020202020204" pitchFamily="34" charset="0"/>
              </a:rPr>
              <a:pPr algn="r" eaLnBrk="1" hangingPunct="1"/>
              <a:t>51</a:t>
            </a:fld>
            <a:endParaRPr lang="en-US" altLang="en-US" sz="1200">
              <a:cs typeface="Arial" panose="020B0604020202020204" pitchFamily="34" charset="0"/>
            </a:endParaRPr>
          </a:p>
        </p:txBody>
      </p:sp>
      <p:sp>
        <p:nvSpPr>
          <p:cNvPr id="109572" name="Rectangle 2">
            <a:extLst>
              <a:ext uri="{FF2B5EF4-FFF2-40B4-BE49-F238E27FC236}">
                <a16:creationId xmlns:a16="http://schemas.microsoft.com/office/drawing/2014/main" id="{6EE0EF8B-8DDA-4A80-A374-FEC7AF582ED0}"/>
              </a:ext>
            </a:extLst>
          </p:cNvPr>
          <p:cNvSpPr>
            <a:spLocks noGrp="1" noRot="1" noChangeAspect="1" noChangeArrowheads="1" noTextEdit="1"/>
          </p:cNvSpPr>
          <p:nvPr>
            <p:ph type="sldImg"/>
          </p:nvPr>
        </p:nvSpPr>
        <p:spPr>
          <a:xfrm>
            <a:off x="1143000" y="534988"/>
            <a:ext cx="4572000" cy="3429000"/>
          </a:xfrm>
          <a:ln/>
        </p:spPr>
      </p:sp>
      <p:sp>
        <p:nvSpPr>
          <p:cNvPr id="109573" name="Rectangle 3">
            <a:extLst>
              <a:ext uri="{FF2B5EF4-FFF2-40B4-BE49-F238E27FC236}">
                <a16:creationId xmlns:a16="http://schemas.microsoft.com/office/drawing/2014/main" id="{2D0BC518-BBE6-41EC-B008-2CF588548A3A}"/>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34226AF3-CC37-4E72-BC70-2863BCB86EEC}"/>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313C0A5-E11E-4500-8DD7-60BD15C675BE}" type="slidenum">
              <a:rPr lang="en-US" altLang="en-US"/>
              <a:pPr/>
              <a:t>52</a:t>
            </a:fld>
            <a:endParaRPr lang="en-US" altLang="en-US"/>
          </a:p>
        </p:txBody>
      </p:sp>
      <p:sp>
        <p:nvSpPr>
          <p:cNvPr id="111619" name="Rectangle 7">
            <a:extLst>
              <a:ext uri="{FF2B5EF4-FFF2-40B4-BE49-F238E27FC236}">
                <a16:creationId xmlns:a16="http://schemas.microsoft.com/office/drawing/2014/main" id="{F7E1D6C9-D04B-4A82-99F4-1087CE7EA1F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2D2FA06-7F49-4397-ADE8-725D60DCBC48}" type="slidenum">
              <a:rPr lang="en-US" altLang="en-US" sz="1200">
                <a:cs typeface="Arial" panose="020B0604020202020204" pitchFamily="34" charset="0"/>
              </a:rPr>
              <a:pPr algn="r" eaLnBrk="1" hangingPunct="1"/>
              <a:t>52</a:t>
            </a:fld>
            <a:endParaRPr lang="en-US" altLang="en-US" sz="1200">
              <a:cs typeface="Arial" panose="020B0604020202020204" pitchFamily="34" charset="0"/>
            </a:endParaRPr>
          </a:p>
        </p:txBody>
      </p:sp>
      <p:sp>
        <p:nvSpPr>
          <p:cNvPr id="111620" name="Rectangle 2">
            <a:extLst>
              <a:ext uri="{FF2B5EF4-FFF2-40B4-BE49-F238E27FC236}">
                <a16:creationId xmlns:a16="http://schemas.microsoft.com/office/drawing/2014/main" id="{4B4C0DEE-C991-4737-91BC-5C0E0FE400E9}"/>
              </a:ext>
            </a:extLst>
          </p:cNvPr>
          <p:cNvSpPr>
            <a:spLocks noGrp="1" noRot="1" noChangeAspect="1" noChangeArrowheads="1" noTextEdit="1"/>
          </p:cNvSpPr>
          <p:nvPr>
            <p:ph type="sldImg"/>
          </p:nvPr>
        </p:nvSpPr>
        <p:spPr>
          <a:xfrm>
            <a:off x="1143000" y="534988"/>
            <a:ext cx="4572000" cy="3429000"/>
          </a:xfrm>
          <a:ln/>
        </p:spPr>
      </p:sp>
      <p:sp>
        <p:nvSpPr>
          <p:cNvPr id="111621" name="Rectangle 3">
            <a:extLst>
              <a:ext uri="{FF2B5EF4-FFF2-40B4-BE49-F238E27FC236}">
                <a16:creationId xmlns:a16="http://schemas.microsoft.com/office/drawing/2014/main" id="{4B377328-7753-44B0-8303-A2859FC17F2A}"/>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061827C8-F9B9-4181-8CA5-4622912EE0F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AA03FCA-1322-4754-BCE9-AFFE003E2653}" type="slidenum">
              <a:rPr lang="en-US" altLang="en-US"/>
              <a:pPr/>
              <a:t>53</a:t>
            </a:fld>
            <a:endParaRPr lang="en-US" altLang="en-US"/>
          </a:p>
        </p:txBody>
      </p:sp>
      <p:sp>
        <p:nvSpPr>
          <p:cNvPr id="113667" name="Rectangle 7">
            <a:extLst>
              <a:ext uri="{FF2B5EF4-FFF2-40B4-BE49-F238E27FC236}">
                <a16:creationId xmlns:a16="http://schemas.microsoft.com/office/drawing/2014/main" id="{835E99A0-6BF2-4D5E-83E7-589DFEC9C67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568AE04-57A3-41ED-8AC3-9F52FA8E4D49}" type="slidenum">
              <a:rPr lang="en-US" altLang="en-US" sz="1200">
                <a:cs typeface="Arial" panose="020B0604020202020204" pitchFamily="34" charset="0"/>
              </a:rPr>
              <a:pPr algn="r" eaLnBrk="1" hangingPunct="1"/>
              <a:t>53</a:t>
            </a:fld>
            <a:endParaRPr lang="en-US" altLang="en-US" sz="1200">
              <a:cs typeface="Arial" panose="020B0604020202020204" pitchFamily="34" charset="0"/>
            </a:endParaRPr>
          </a:p>
        </p:txBody>
      </p:sp>
      <p:sp>
        <p:nvSpPr>
          <p:cNvPr id="113668" name="Rectangle 2">
            <a:extLst>
              <a:ext uri="{FF2B5EF4-FFF2-40B4-BE49-F238E27FC236}">
                <a16:creationId xmlns:a16="http://schemas.microsoft.com/office/drawing/2014/main" id="{BE125CE2-F8E2-4824-A7F7-35DD4E67ADCE}"/>
              </a:ext>
            </a:extLst>
          </p:cNvPr>
          <p:cNvSpPr>
            <a:spLocks noGrp="1" noRot="1" noChangeAspect="1" noChangeArrowheads="1" noTextEdit="1"/>
          </p:cNvSpPr>
          <p:nvPr>
            <p:ph type="sldImg"/>
          </p:nvPr>
        </p:nvSpPr>
        <p:spPr>
          <a:xfrm>
            <a:off x="1143000" y="534988"/>
            <a:ext cx="4572000" cy="3429000"/>
          </a:xfrm>
          <a:ln/>
        </p:spPr>
      </p:sp>
      <p:sp>
        <p:nvSpPr>
          <p:cNvPr id="113669" name="Rectangle 3">
            <a:extLst>
              <a:ext uri="{FF2B5EF4-FFF2-40B4-BE49-F238E27FC236}">
                <a16:creationId xmlns:a16="http://schemas.microsoft.com/office/drawing/2014/main" id="{D0078FC3-092F-4107-848E-218E5991FDC3}"/>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F157AC89-824A-49E5-B8E5-520FFF35FD2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7EAAB7-F7D8-456E-8FAD-F2AE44981F88}" type="slidenum">
              <a:rPr lang="en-US" altLang="en-US"/>
              <a:pPr/>
              <a:t>54</a:t>
            </a:fld>
            <a:endParaRPr lang="en-US" altLang="en-US"/>
          </a:p>
        </p:txBody>
      </p:sp>
      <p:sp>
        <p:nvSpPr>
          <p:cNvPr id="115715" name="Rectangle 2">
            <a:extLst>
              <a:ext uri="{FF2B5EF4-FFF2-40B4-BE49-F238E27FC236}">
                <a16:creationId xmlns:a16="http://schemas.microsoft.com/office/drawing/2014/main" id="{700F7160-A965-4625-8E29-404C3AC1C727}"/>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BB66863A-3A8B-4369-8EB1-4198C047849D}"/>
              </a:ext>
            </a:extLst>
          </p:cNvPr>
          <p:cNvSpPr>
            <a:spLocks noGrp="1" noChangeArrowheads="1"/>
          </p:cNvSpPr>
          <p:nvPr>
            <p:ph type="body" idx="1"/>
          </p:nvPr>
        </p:nvSpPr>
        <p:spPr>
          <a:noFill/>
        </p:spPr>
        <p:txBody>
          <a:bodyPr/>
          <a:lstStyle/>
          <a:p>
            <a:pPr eaLnBrk="1" hangingPunct="1"/>
            <a:r>
              <a:rPr lang="en-US" altLang="en-US"/>
              <a:t>Important note about Event B:</a:t>
            </a:r>
          </a:p>
          <a:p>
            <a:pPr eaLnBrk="1" hangingPunct="1"/>
            <a:endParaRPr lang="en-US" altLang="en-US"/>
          </a:p>
          <a:p>
            <a:pPr eaLnBrk="1" hangingPunct="1"/>
            <a:r>
              <a:rPr lang="en-US" altLang="en-US"/>
              <a:t>The royalties that sellers must pay the artists are part of sellers’ “costs of production.”  Typically, this royalty is a fixed amount each time one of the artist’s songs is downloaded.  Event B, therefore, describes a reduction in sellers’ “costs of production.”  </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30983A04-F851-430F-8499-0322A38E291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8370A09-37A0-43D4-8ABF-B97A639BCEAD}" type="slidenum">
              <a:rPr lang="en-US" altLang="en-US"/>
              <a:pPr/>
              <a:t>55</a:t>
            </a:fld>
            <a:endParaRPr lang="en-US" altLang="en-US"/>
          </a:p>
        </p:txBody>
      </p:sp>
      <p:sp>
        <p:nvSpPr>
          <p:cNvPr id="117763" name="Rectangle 2">
            <a:extLst>
              <a:ext uri="{FF2B5EF4-FFF2-40B4-BE49-F238E27FC236}">
                <a16:creationId xmlns:a16="http://schemas.microsoft.com/office/drawing/2014/main" id="{E57580C8-60AB-4B2E-9B76-72A540DF27DE}"/>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A22A87C8-4D2E-4AA4-BA19-F1DE4E9C3B8F}"/>
              </a:ext>
            </a:extLst>
          </p:cNvPr>
          <p:cNvSpPr>
            <a:spLocks noGrp="1" noChangeArrowheads="1"/>
          </p:cNvSpPr>
          <p:nvPr>
            <p:ph type="body" idx="1"/>
          </p:nvPr>
        </p:nvSpPr>
        <p:spPr>
          <a:noFill/>
        </p:spPr>
        <p:txBody>
          <a:bodyPr/>
          <a:lstStyle/>
          <a:p>
            <a:pPr eaLnBrk="1" hangingPunct="1"/>
            <a:r>
              <a:rPr lang="en-US" altLang="en-US"/>
              <a:t>This is an extension of Active Learning exercise 1C, where we saw that a fall in the price of compact discs would cause a fall in demand for music downloads, because the two goods are substitutes.</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C01E6C2D-6BAB-4094-918F-783FFB83A5F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DCD4785-63D4-4EA8-9C4C-45DDAD8A7184}" type="slidenum">
              <a:rPr lang="en-US" altLang="en-US"/>
              <a:pPr/>
              <a:t>56</a:t>
            </a:fld>
            <a:endParaRPr lang="en-US" altLang="en-US"/>
          </a:p>
        </p:txBody>
      </p:sp>
      <p:sp>
        <p:nvSpPr>
          <p:cNvPr id="119811" name="Rectangle 2">
            <a:extLst>
              <a:ext uri="{FF2B5EF4-FFF2-40B4-BE49-F238E27FC236}">
                <a16:creationId xmlns:a16="http://schemas.microsoft.com/office/drawing/2014/main" id="{158041D9-2150-4C29-8FDC-A92D2A23B935}"/>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79871D61-0B84-4649-B208-2E4957C59149}"/>
              </a:ext>
            </a:extLst>
          </p:cNvPr>
          <p:cNvSpPr>
            <a:spLocks noGrp="1" noChangeArrowheads="1"/>
          </p:cNvSpPr>
          <p:nvPr>
            <p:ph type="body" idx="1"/>
          </p:nvPr>
        </p:nvSpPr>
        <p:spPr>
          <a:noFill/>
        </p:spPr>
        <p:txBody>
          <a:bodyPr/>
          <a:lstStyle/>
          <a:p>
            <a:pPr eaLnBrk="1" hangingPunct="1"/>
            <a:r>
              <a:rPr lang="en-US" altLang="en-US"/>
              <a:t>NOTE:  Don’t worry that the text on this slide looks garbled in “Normal view” (i.e., edit mode).  It works fine in “Slide Show” (i.e., presentation mode).  </a:t>
            </a:r>
          </a:p>
          <a:p>
            <a:pPr eaLnBrk="1" hangingPunct="1"/>
            <a:endParaRPr lang="en-US" altLang="en-US"/>
          </a:p>
          <a:p>
            <a:pPr eaLnBrk="1" hangingPunct="1"/>
            <a:r>
              <a:rPr lang="en-US" altLang="en-US"/>
              <a:t>Event B:  Sellers of music downloads negotiate a reduction in the royalties they must pay for each song they sell.  This event causes a fall in “costs of production” for sellers of music downloads.   Hence, the S curve shifts to the right.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9EDA0012-30C0-44CD-9D6F-0B862091E44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4B8FB47-696E-43B9-B739-1362264BD954}" type="slidenum">
              <a:rPr lang="en-US" altLang="en-US"/>
              <a:pPr/>
              <a:t>57</a:t>
            </a:fld>
            <a:endParaRPr lang="en-US" altLang="en-US"/>
          </a:p>
        </p:txBody>
      </p:sp>
      <p:sp>
        <p:nvSpPr>
          <p:cNvPr id="121859" name="Rectangle 2">
            <a:extLst>
              <a:ext uri="{FF2B5EF4-FFF2-40B4-BE49-F238E27FC236}">
                <a16:creationId xmlns:a16="http://schemas.microsoft.com/office/drawing/2014/main" id="{3D065306-0BF0-4F33-BACE-981366309781}"/>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74C9B8D9-4F07-4BC8-86ED-43A6D23EFC42}"/>
              </a:ext>
            </a:extLst>
          </p:cNvPr>
          <p:cNvSpPr>
            <a:spLocks noGrp="1" noChangeArrowheads="1"/>
          </p:cNvSpPr>
          <p:nvPr>
            <p:ph type="body" idx="1"/>
          </p:nvPr>
        </p:nvSpPr>
        <p:spPr>
          <a:noFill/>
        </p:spPr>
        <p:txBody>
          <a:bodyPr/>
          <a:lstStyle/>
          <a:p>
            <a:pPr eaLnBrk="1" hangingPunct="1"/>
            <a:r>
              <a:rPr lang="en-US" altLang="en-US"/>
              <a:t>It’s not necessary to draw a graph here.   The answers to steps 1 and 2 should be clear from parts A and B.  The answer to step 3 is a combination of the results from A and B.</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282AD32D-9C11-4A19-B617-CEA1B917041B}"/>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89E4F7-E538-4811-9FF2-6D3526E62C37}" type="slidenum">
              <a:rPr lang="en-US" altLang="en-US"/>
              <a:pPr/>
              <a:t>58</a:t>
            </a:fld>
            <a:endParaRPr lang="en-US" altLang="en-US"/>
          </a:p>
        </p:txBody>
      </p:sp>
      <p:sp>
        <p:nvSpPr>
          <p:cNvPr id="123907" name="Rectangle 7">
            <a:extLst>
              <a:ext uri="{FF2B5EF4-FFF2-40B4-BE49-F238E27FC236}">
                <a16:creationId xmlns:a16="http://schemas.microsoft.com/office/drawing/2014/main" id="{AAEE7D57-3042-4A3C-BBC0-B73BC342F38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1B54630D-A090-41D6-8492-5EBE19612904}" type="slidenum">
              <a:rPr lang="en-US" altLang="en-US" sz="1200">
                <a:cs typeface="Arial" panose="020B0604020202020204" pitchFamily="34" charset="0"/>
              </a:rPr>
              <a:pPr algn="r" eaLnBrk="1" hangingPunct="1"/>
              <a:t>58</a:t>
            </a:fld>
            <a:endParaRPr lang="en-US" altLang="en-US" sz="1200">
              <a:cs typeface="Arial" panose="020B0604020202020204" pitchFamily="34" charset="0"/>
            </a:endParaRPr>
          </a:p>
        </p:txBody>
      </p:sp>
      <p:sp>
        <p:nvSpPr>
          <p:cNvPr id="123908" name="Rectangle 2">
            <a:extLst>
              <a:ext uri="{FF2B5EF4-FFF2-40B4-BE49-F238E27FC236}">
                <a16:creationId xmlns:a16="http://schemas.microsoft.com/office/drawing/2014/main" id="{F216267C-CD78-4DFD-992F-8B9C6C461F27}"/>
              </a:ext>
            </a:extLst>
          </p:cNvPr>
          <p:cNvSpPr>
            <a:spLocks noGrp="1" noRot="1" noChangeAspect="1" noChangeArrowheads="1" noTextEdit="1"/>
          </p:cNvSpPr>
          <p:nvPr>
            <p:ph type="sldImg"/>
          </p:nvPr>
        </p:nvSpPr>
        <p:spPr>
          <a:xfrm>
            <a:off x="1143000" y="534988"/>
            <a:ext cx="4572000" cy="3429000"/>
          </a:xfrm>
          <a:ln/>
        </p:spPr>
      </p:sp>
      <p:sp>
        <p:nvSpPr>
          <p:cNvPr id="123909" name="Rectangle 3">
            <a:extLst>
              <a:ext uri="{FF2B5EF4-FFF2-40B4-BE49-F238E27FC236}">
                <a16:creationId xmlns:a16="http://schemas.microsoft.com/office/drawing/2014/main" id="{79E9DD12-753D-45DC-B96D-91ED0355C6F1}"/>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In the textbook, the conclusion of this chapter offers some very nice elaboration on the second bullet point.  There is also an “In the News” box with a very nice article titled “In Praise of Price Gouging.”  </a:t>
            </a:r>
          </a:p>
          <a:p>
            <a:pPr eaLnBrk="1" hangingPunct="1"/>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91F578A9-4187-4485-B473-347271A6319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BB46E61-7171-4310-95A6-F39817693B93}" type="slidenum">
              <a:rPr lang="en-US" altLang="en-US"/>
              <a:pPr/>
              <a:t>59</a:t>
            </a:fld>
            <a:endParaRPr lang="en-US" altLang="en-US"/>
          </a:p>
        </p:txBody>
      </p:sp>
      <p:sp>
        <p:nvSpPr>
          <p:cNvPr id="125955" name="Rectangle 2">
            <a:extLst>
              <a:ext uri="{FF2B5EF4-FFF2-40B4-BE49-F238E27FC236}">
                <a16:creationId xmlns:a16="http://schemas.microsoft.com/office/drawing/2014/main" id="{FEE623D6-C360-4BD1-BB14-0321AF6673CF}"/>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3C3E7FB9-351A-4B32-8C8A-18370456C67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F82FF3B3-C1EA-4EFE-A3A6-608AE6DE360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6BE324-73F0-4EB3-A342-325645E92A88}" type="slidenum">
              <a:rPr lang="en-US" altLang="en-US"/>
              <a:pPr/>
              <a:t>60</a:t>
            </a:fld>
            <a:endParaRPr lang="en-US" altLang="en-US"/>
          </a:p>
        </p:txBody>
      </p:sp>
      <p:sp>
        <p:nvSpPr>
          <p:cNvPr id="128003" name="Rectangle 2">
            <a:extLst>
              <a:ext uri="{FF2B5EF4-FFF2-40B4-BE49-F238E27FC236}">
                <a16:creationId xmlns:a16="http://schemas.microsoft.com/office/drawing/2014/main" id="{0D291085-9728-48DE-9DCA-44801ACBDDB8}"/>
              </a:ext>
            </a:extLst>
          </p:cNvPr>
          <p:cNvSpPr>
            <a:spLocks noGrp="1" noRot="1" noChangeAspect="1" noChangeArrowheads="1" noTextEdit="1"/>
          </p:cNvSpPr>
          <p:nvPr>
            <p:ph type="sldImg"/>
          </p:nvPr>
        </p:nvSpPr>
        <p:spPr>
          <a:ln/>
        </p:spPr>
      </p:sp>
      <p:sp>
        <p:nvSpPr>
          <p:cNvPr id="128004" name="Rectangle 3">
            <a:extLst>
              <a:ext uri="{FF2B5EF4-FFF2-40B4-BE49-F238E27FC236}">
                <a16:creationId xmlns:a16="http://schemas.microsoft.com/office/drawing/2014/main" id="{C5D33537-E026-40EF-9AF2-AAD725E489B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508DE4BC-2ABC-4830-9B58-83A00B4F15FA}"/>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D4990C0-DBF2-415F-8705-D33C57E4693D}" type="slidenum">
              <a:rPr lang="en-US" altLang="en-US"/>
              <a:pPr/>
              <a:t>61</a:t>
            </a:fld>
            <a:endParaRPr lang="en-US" altLang="en-US"/>
          </a:p>
        </p:txBody>
      </p:sp>
      <p:sp>
        <p:nvSpPr>
          <p:cNvPr id="130051" name="Rectangle 2">
            <a:extLst>
              <a:ext uri="{FF2B5EF4-FFF2-40B4-BE49-F238E27FC236}">
                <a16:creationId xmlns:a16="http://schemas.microsoft.com/office/drawing/2014/main" id="{B7DEB7D2-D394-411A-898A-92220F914E00}"/>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8CD1D951-0B63-4945-AAC2-2CB41581BE9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3A4EDE33-061E-4B93-AB44-2272541BC43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EA4BCD-440F-4B82-BB20-07D78DA9FBEF}" type="slidenum">
              <a:rPr lang="en-US" altLang="en-US"/>
              <a:pPr/>
              <a:t>62</a:t>
            </a:fld>
            <a:endParaRPr lang="en-US" altLang="en-US"/>
          </a:p>
        </p:txBody>
      </p:sp>
      <p:sp>
        <p:nvSpPr>
          <p:cNvPr id="132099" name="Rectangle 2">
            <a:extLst>
              <a:ext uri="{FF2B5EF4-FFF2-40B4-BE49-F238E27FC236}">
                <a16:creationId xmlns:a16="http://schemas.microsoft.com/office/drawing/2014/main" id="{CEF55C3E-9A69-451E-98FD-9A0DAB8A06B4}"/>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D0E31094-5220-4C95-BD42-CCCC64D9E58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Text Box 14">
            <a:extLst>
              <a:ext uri="{FF2B5EF4-FFF2-40B4-BE49-F238E27FC236}">
                <a16:creationId xmlns:a16="http://schemas.microsoft.com/office/drawing/2014/main" id="{791738E3-AD21-4053-AEBC-403FA8AEA4AF}"/>
              </a:ext>
            </a:extLst>
          </p:cNvPr>
          <p:cNvSpPr txBox="1">
            <a:spLocks noChangeArrowheads="1"/>
          </p:cNvSpPr>
          <p:nvPr userDrawn="1"/>
        </p:nvSpPr>
        <p:spPr bwMode="auto">
          <a:xfrm>
            <a:off x="0" y="6445250"/>
            <a:ext cx="9144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00" i="1">
                <a:solidFill>
                  <a:srgbClr val="969696"/>
                </a:solidFill>
                <a:latin typeface="Times New Roman" panose="02020603050405020304" pitchFamily="18" charset="0"/>
                <a:cs typeface="Arial" panose="020B0604020202020204" pitchFamily="34" charset="0"/>
              </a:rPr>
              <a:t>© 2009 South-Western, a part of Cengage Learning, all rights reserved</a:t>
            </a:r>
          </a:p>
        </p:txBody>
      </p:sp>
      <p:sp>
        <p:nvSpPr>
          <p:cNvPr id="5" name="TextBox 4">
            <a:extLst>
              <a:ext uri="{FF2B5EF4-FFF2-40B4-BE49-F238E27FC236}">
                <a16:creationId xmlns:a16="http://schemas.microsoft.com/office/drawing/2014/main" id="{906CC8D3-3D61-4AC4-8241-6C82A73EA21C}"/>
              </a:ext>
            </a:extLst>
          </p:cNvPr>
          <p:cNvSpPr txBox="1">
            <a:spLocks noChangeArrowheads="1"/>
          </p:cNvSpPr>
          <p:nvPr userDrawn="1"/>
        </p:nvSpPr>
        <p:spPr bwMode="auto">
          <a:xfrm>
            <a:off x="327025" y="301625"/>
            <a:ext cx="19589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sz="2200">
                <a:solidFill>
                  <a:srgbClr val="008080"/>
                </a:solidFill>
                <a:latin typeface="Tahoma" panose="020B0604030504040204" pitchFamily="34" charset="0"/>
                <a:cs typeface="Arial" panose="020B0604020202020204" pitchFamily="34" charset="0"/>
              </a:rPr>
              <a:t>C H A P T E R</a:t>
            </a:r>
          </a:p>
        </p:txBody>
      </p:sp>
      <p:sp>
        <p:nvSpPr>
          <p:cNvPr id="6146" name="Rectangle 2"/>
          <p:cNvSpPr>
            <a:spLocks noGrp="1" noChangeArrowheads="1"/>
          </p:cNvSpPr>
          <p:nvPr>
            <p:ph type="ctrTitle"/>
          </p:nvPr>
        </p:nvSpPr>
        <p:spPr>
          <a:xfrm>
            <a:off x="0" y="1479550"/>
            <a:ext cx="9144000" cy="1470025"/>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en-US" noProof="0"/>
          </a:p>
        </p:txBody>
      </p:sp>
      <p:sp>
        <p:nvSpPr>
          <p:cNvPr id="6147" name="Rectangle 3"/>
          <p:cNvSpPr>
            <a:spLocks noGrp="1" noChangeArrowheads="1"/>
          </p:cNvSpPr>
          <p:nvPr>
            <p:ph type="subTitle" idx="1"/>
          </p:nvPr>
        </p:nvSpPr>
        <p:spPr>
          <a:xfrm>
            <a:off x="1987550" y="130175"/>
            <a:ext cx="1219200" cy="990600"/>
          </a:xfrm>
        </p:spPr>
        <p:txBody>
          <a:bodyPr/>
          <a:lstStyle>
            <a:lvl1pPr marL="0" indent="0" algn="ctr">
              <a:buFont typeface="Wingdings" panose="05000000000000000000" pitchFamily="2" charset="2"/>
              <a:buNone/>
              <a:defRPr sz="5800" i="1">
                <a:solidFill>
                  <a:srgbClr val="008080"/>
                </a:solidFill>
                <a:latin typeface="Tahoma" panose="020B0604030504040204" pitchFamily="34" charset="0"/>
              </a:defRPr>
            </a:lvl1pPr>
          </a:lstStyle>
          <a:p>
            <a:pPr lvl="0"/>
            <a:r>
              <a:rPr lang="en-US" noProof="0"/>
              <a:t>34</a:t>
            </a:r>
          </a:p>
        </p:txBody>
      </p:sp>
    </p:spTree>
    <p:extLst>
      <p:ext uri="{BB962C8B-B14F-4D97-AF65-F5344CB8AC3E}">
        <p14:creationId xmlns:p14="http://schemas.microsoft.com/office/powerpoint/2010/main" val="954055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7A51F61-AFAC-4F8C-92BD-EBF188C90258}"/>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5" name="Rectangle 6">
            <a:extLst>
              <a:ext uri="{FF2B5EF4-FFF2-40B4-BE49-F238E27FC236}">
                <a16:creationId xmlns:a16="http://schemas.microsoft.com/office/drawing/2014/main" id="{A11C4EDB-DEDF-4DA6-8F12-74A4611ACF95}"/>
              </a:ext>
            </a:extLst>
          </p:cNvPr>
          <p:cNvSpPr>
            <a:spLocks noGrp="1" noChangeArrowheads="1"/>
          </p:cNvSpPr>
          <p:nvPr>
            <p:ph type="sldNum" sz="quarter" idx="11"/>
          </p:nvPr>
        </p:nvSpPr>
        <p:spPr>
          <a:ln/>
        </p:spPr>
        <p:txBody>
          <a:bodyPr/>
          <a:lstStyle>
            <a:lvl1pPr>
              <a:defRPr/>
            </a:lvl1pPr>
          </a:lstStyle>
          <a:p>
            <a:fld id="{129637CD-B378-4ED3-A13A-ADF3E4C4293F}" type="slidenum">
              <a:rPr lang="en-US" altLang="en-US"/>
              <a:pPr/>
              <a:t>‹#›</a:t>
            </a:fld>
            <a:endParaRPr lang="en-US" altLang="en-US"/>
          </a:p>
        </p:txBody>
      </p:sp>
    </p:spTree>
    <p:extLst>
      <p:ext uri="{BB962C8B-B14F-4D97-AF65-F5344CB8AC3E}">
        <p14:creationId xmlns:p14="http://schemas.microsoft.com/office/powerpoint/2010/main" val="361773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5">
            <a:extLst>
              <a:ext uri="{FF2B5EF4-FFF2-40B4-BE49-F238E27FC236}">
                <a16:creationId xmlns:a16="http://schemas.microsoft.com/office/drawing/2014/main" id="{8AEBE127-50A2-47F9-B8EB-573CE0D4848F}"/>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5" name="Rectangle 6">
            <a:extLst>
              <a:ext uri="{FF2B5EF4-FFF2-40B4-BE49-F238E27FC236}">
                <a16:creationId xmlns:a16="http://schemas.microsoft.com/office/drawing/2014/main" id="{050F53FD-98AC-4450-8CF0-1B618773B8EE}"/>
              </a:ext>
            </a:extLst>
          </p:cNvPr>
          <p:cNvSpPr>
            <a:spLocks noGrp="1" noChangeArrowheads="1"/>
          </p:cNvSpPr>
          <p:nvPr>
            <p:ph type="sldNum" sz="quarter" idx="11"/>
          </p:nvPr>
        </p:nvSpPr>
        <p:spPr>
          <a:ln/>
        </p:spPr>
        <p:txBody>
          <a:bodyPr/>
          <a:lstStyle>
            <a:lvl1pPr>
              <a:defRPr/>
            </a:lvl1pPr>
          </a:lstStyle>
          <a:p>
            <a:fld id="{3F91C2F1-9A8C-4E41-B5D5-69AF2323E662}" type="slidenum">
              <a:rPr lang="en-US" altLang="en-US"/>
              <a:pPr/>
              <a:t>‹#›</a:t>
            </a:fld>
            <a:endParaRPr lang="en-US" altLang="en-US"/>
          </a:p>
        </p:txBody>
      </p:sp>
    </p:spTree>
    <p:extLst>
      <p:ext uri="{BB962C8B-B14F-4D97-AF65-F5344CB8AC3E}">
        <p14:creationId xmlns:p14="http://schemas.microsoft.com/office/powerpoint/2010/main" val="3260109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73063" y="1008063"/>
            <a:ext cx="4079875" cy="5118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05338" y="1008063"/>
            <a:ext cx="4081462" cy="5118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F34BBBE1-9CAE-4338-8FA2-44405C5E3B16}"/>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6" name="Rectangle 6">
            <a:extLst>
              <a:ext uri="{FF2B5EF4-FFF2-40B4-BE49-F238E27FC236}">
                <a16:creationId xmlns:a16="http://schemas.microsoft.com/office/drawing/2014/main" id="{4E4BC248-FE84-4A86-A400-CEAF2DFC2789}"/>
              </a:ext>
            </a:extLst>
          </p:cNvPr>
          <p:cNvSpPr>
            <a:spLocks noGrp="1" noChangeArrowheads="1"/>
          </p:cNvSpPr>
          <p:nvPr>
            <p:ph type="sldNum" sz="quarter" idx="11"/>
          </p:nvPr>
        </p:nvSpPr>
        <p:spPr>
          <a:ln/>
        </p:spPr>
        <p:txBody>
          <a:bodyPr/>
          <a:lstStyle>
            <a:lvl1pPr>
              <a:defRPr/>
            </a:lvl1pPr>
          </a:lstStyle>
          <a:p>
            <a:fld id="{CBE24512-755C-455A-A45C-3258051F8328}" type="slidenum">
              <a:rPr lang="en-US" altLang="en-US"/>
              <a:pPr/>
              <a:t>‹#›</a:t>
            </a:fld>
            <a:endParaRPr lang="en-US" altLang="en-US"/>
          </a:p>
        </p:txBody>
      </p:sp>
    </p:spTree>
    <p:extLst>
      <p:ext uri="{BB962C8B-B14F-4D97-AF65-F5344CB8AC3E}">
        <p14:creationId xmlns:p14="http://schemas.microsoft.com/office/powerpoint/2010/main" val="4207401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4AA846C1-02B5-4D14-95E2-9D9D7A0C3057}"/>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8" name="Rectangle 6">
            <a:extLst>
              <a:ext uri="{FF2B5EF4-FFF2-40B4-BE49-F238E27FC236}">
                <a16:creationId xmlns:a16="http://schemas.microsoft.com/office/drawing/2014/main" id="{5E6425E2-2617-48E3-9362-B074B0EDA6D3}"/>
              </a:ext>
            </a:extLst>
          </p:cNvPr>
          <p:cNvSpPr>
            <a:spLocks noGrp="1" noChangeArrowheads="1"/>
          </p:cNvSpPr>
          <p:nvPr>
            <p:ph type="sldNum" sz="quarter" idx="11"/>
          </p:nvPr>
        </p:nvSpPr>
        <p:spPr>
          <a:ln/>
        </p:spPr>
        <p:txBody>
          <a:bodyPr/>
          <a:lstStyle>
            <a:lvl1pPr>
              <a:defRPr/>
            </a:lvl1pPr>
          </a:lstStyle>
          <a:p>
            <a:fld id="{297FB067-9CA6-4EA8-8CAD-7C6C7973D0D3}" type="slidenum">
              <a:rPr lang="en-US" altLang="en-US"/>
              <a:pPr/>
              <a:t>‹#›</a:t>
            </a:fld>
            <a:endParaRPr lang="en-US" altLang="en-US"/>
          </a:p>
        </p:txBody>
      </p:sp>
    </p:spTree>
    <p:extLst>
      <p:ext uri="{BB962C8B-B14F-4D97-AF65-F5344CB8AC3E}">
        <p14:creationId xmlns:p14="http://schemas.microsoft.com/office/powerpoint/2010/main" val="1906874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403F432E-B80A-4DE9-9A62-886494EBD407}"/>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4" name="Rectangle 6">
            <a:extLst>
              <a:ext uri="{FF2B5EF4-FFF2-40B4-BE49-F238E27FC236}">
                <a16:creationId xmlns:a16="http://schemas.microsoft.com/office/drawing/2014/main" id="{52991E1D-E3F1-4032-8EB3-6105C8C09F96}"/>
              </a:ext>
            </a:extLst>
          </p:cNvPr>
          <p:cNvSpPr>
            <a:spLocks noGrp="1" noChangeArrowheads="1"/>
          </p:cNvSpPr>
          <p:nvPr>
            <p:ph type="sldNum" sz="quarter" idx="11"/>
          </p:nvPr>
        </p:nvSpPr>
        <p:spPr>
          <a:ln/>
        </p:spPr>
        <p:txBody>
          <a:bodyPr/>
          <a:lstStyle>
            <a:lvl1pPr>
              <a:defRPr/>
            </a:lvl1pPr>
          </a:lstStyle>
          <a:p>
            <a:fld id="{53885B6A-752F-42FD-BEE3-19934DDA0B61}" type="slidenum">
              <a:rPr lang="en-US" altLang="en-US"/>
              <a:pPr/>
              <a:t>‹#›</a:t>
            </a:fld>
            <a:endParaRPr lang="en-US" altLang="en-US"/>
          </a:p>
        </p:txBody>
      </p:sp>
    </p:spTree>
    <p:extLst>
      <p:ext uri="{BB962C8B-B14F-4D97-AF65-F5344CB8AC3E}">
        <p14:creationId xmlns:p14="http://schemas.microsoft.com/office/powerpoint/2010/main" val="1528517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44694623-2840-4350-B4A9-300241E9583A}"/>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3" name="Rectangle 6">
            <a:extLst>
              <a:ext uri="{FF2B5EF4-FFF2-40B4-BE49-F238E27FC236}">
                <a16:creationId xmlns:a16="http://schemas.microsoft.com/office/drawing/2014/main" id="{84A068AD-650D-4120-B559-4861C6734843}"/>
              </a:ext>
            </a:extLst>
          </p:cNvPr>
          <p:cNvSpPr>
            <a:spLocks noGrp="1" noChangeArrowheads="1"/>
          </p:cNvSpPr>
          <p:nvPr>
            <p:ph type="sldNum" sz="quarter" idx="11"/>
          </p:nvPr>
        </p:nvSpPr>
        <p:spPr>
          <a:ln/>
        </p:spPr>
        <p:txBody>
          <a:bodyPr/>
          <a:lstStyle>
            <a:lvl1pPr>
              <a:defRPr/>
            </a:lvl1pPr>
          </a:lstStyle>
          <a:p>
            <a:fld id="{4E1CCA93-897B-42D8-B81F-9EA494341F11}" type="slidenum">
              <a:rPr lang="en-US" altLang="en-US"/>
              <a:pPr/>
              <a:t>‹#›</a:t>
            </a:fld>
            <a:endParaRPr lang="en-US" altLang="en-US"/>
          </a:p>
        </p:txBody>
      </p:sp>
    </p:spTree>
    <p:extLst>
      <p:ext uri="{BB962C8B-B14F-4D97-AF65-F5344CB8AC3E}">
        <p14:creationId xmlns:p14="http://schemas.microsoft.com/office/powerpoint/2010/main" val="1191978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a:extLst>
              <a:ext uri="{FF2B5EF4-FFF2-40B4-BE49-F238E27FC236}">
                <a16:creationId xmlns:a16="http://schemas.microsoft.com/office/drawing/2014/main" id="{911EF13B-34DA-4253-8152-B4FE64CFD431}"/>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6" name="Rectangle 6">
            <a:extLst>
              <a:ext uri="{FF2B5EF4-FFF2-40B4-BE49-F238E27FC236}">
                <a16:creationId xmlns:a16="http://schemas.microsoft.com/office/drawing/2014/main" id="{3A7EF46E-4086-4BE1-B6AB-1B49821D6ADD}"/>
              </a:ext>
            </a:extLst>
          </p:cNvPr>
          <p:cNvSpPr>
            <a:spLocks noGrp="1" noChangeArrowheads="1"/>
          </p:cNvSpPr>
          <p:nvPr>
            <p:ph type="sldNum" sz="quarter" idx="11"/>
          </p:nvPr>
        </p:nvSpPr>
        <p:spPr>
          <a:ln/>
        </p:spPr>
        <p:txBody>
          <a:bodyPr/>
          <a:lstStyle>
            <a:lvl1pPr>
              <a:defRPr/>
            </a:lvl1pPr>
          </a:lstStyle>
          <a:p>
            <a:fld id="{EA02872B-B932-4E99-AB98-FC930B88C294}" type="slidenum">
              <a:rPr lang="en-US" altLang="en-US"/>
              <a:pPr/>
              <a:t>‹#›</a:t>
            </a:fld>
            <a:endParaRPr lang="en-US" altLang="en-US"/>
          </a:p>
        </p:txBody>
      </p:sp>
    </p:spTree>
    <p:extLst>
      <p:ext uri="{BB962C8B-B14F-4D97-AF65-F5344CB8AC3E}">
        <p14:creationId xmlns:p14="http://schemas.microsoft.com/office/powerpoint/2010/main" val="371156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a:extLst>
              <a:ext uri="{FF2B5EF4-FFF2-40B4-BE49-F238E27FC236}">
                <a16:creationId xmlns:a16="http://schemas.microsoft.com/office/drawing/2014/main" id="{5CF62CDA-E7C3-4B3B-B816-15DAAEDCB531}"/>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6" name="Rectangle 6">
            <a:extLst>
              <a:ext uri="{FF2B5EF4-FFF2-40B4-BE49-F238E27FC236}">
                <a16:creationId xmlns:a16="http://schemas.microsoft.com/office/drawing/2014/main" id="{5D6FB771-D949-4AAE-92D2-BEEE2ADCCF28}"/>
              </a:ext>
            </a:extLst>
          </p:cNvPr>
          <p:cNvSpPr>
            <a:spLocks noGrp="1" noChangeArrowheads="1"/>
          </p:cNvSpPr>
          <p:nvPr>
            <p:ph type="sldNum" sz="quarter" idx="11"/>
          </p:nvPr>
        </p:nvSpPr>
        <p:spPr>
          <a:ln/>
        </p:spPr>
        <p:txBody>
          <a:bodyPr/>
          <a:lstStyle>
            <a:lvl1pPr>
              <a:defRPr/>
            </a:lvl1pPr>
          </a:lstStyle>
          <a:p>
            <a:fld id="{E9F5560E-891D-4F0B-AFED-1D6CC99277BF}" type="slidenum">
              <a:rPr lang="en-US" altLang="en-US"/>
              <a:pPr/>
              <a:t>‹#›</a:t>
            </a:fld>
            <a:endParaRPr lang="en-US" altLang="en-US"/>
          </a:p>
        </p:txBody>
      </p:sp>
    </p:spTree>
    <p:extLst>
      <p:ext uri="{BB962C8B-B14F-4D97-AF65-F5344CB8AC3E}">
        <p14:creationId xmlns:p14="http://schemas.microsoft.com/office/powerpoint/2010/main" val="2761641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7EE3028A-4497-46DF-AE47-8784108C1F1E}"/>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5" name="Rectangle 6">
            <a:extLst>
              <a:ext uri="{FF2B5EF4-FFF2-40B4-BE49-F238E27FC236}">
                <a16:creationId xmlns:a16="http://schemas.microsoft.com/office/drawing/2014/main" id="{33E01637-EF1C-49A0-9F74-02D105F6E8F5}"/>
              </a:ext>
            </a:extLst>
          </p:cNvPr>
          <p:cNvSpPr>
            <a:spLocks noGrp="1" noChangeArrowheads="1"/>
          </p:cNvSpPr>
          <p:nvPr>
            <p:ph type="sldNum" sz="quarter" idx="11"/>
          </p:nvPr>
        </p:nvSpPr>
        <p:spPr>
          <a:ln/>
        </p:spPr>
        <p:txBody>
          <a:bodyPr/>
          <a:lstStyle>
            <a:lvl1pPr>
              <a:defRPr/>
            </a:lvl1pPr>
          </a:lstStyle>
          <a:p>
            <a:fld id="{32E40BE6-6A5F-48D9-BCF2-BE70B5E87A9F}" type="slidenum">
              <a:rPr lang="en-US" altLang="en-US"/>
              <a:pPr/>
              <a:t>‹#›</a:t>
            </a:fld>
            <a:endParaRPr lang="en-US" altLang="en-US"/>
          </a:p>
        </p:txBody>
      </p:sp>
    </p:spTree>
    <p:extLst>
      <p:ext uri="{BB962C8B-B14F-4D97-AF65-F5344CB8AC3E}">
        <p14:creationId xmlns:p14="http://schemas.microsoft.com/office/powerpoint/2010/main" val="341108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1625" y="252413"/>
            <a:ext cx="2101850" cy="5873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52413"/>
            <a:ext cx="6156325" cy="5873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F68F124-76F2-4096-A080-69EC6B42174A}"/>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5" name="Rectangle 6">
            <a:extLst>
              <a:ext uri="{FF2B5EF4-FFF2-40B4-BE49-F238E27FC236}">
                <a16:creationId xmlns:a16="http://schemas.microsoft.com/office/drawing/2014/main" id="{973A1527-983F-4000-8564-1EA36625FF03}"/>
              </a:ext>
            </a:extLst>
          </p:cNvPr>
          <p:cNvSpPr>
            <a:spLocks noGrp="1" noChangeArrowheads="1"/>
          </p:cNvSpPr>
          <p:nvPr>
            <p:ph type="sldNum" sz="quarter" idx="11"/>
          </p:nvPr>
        </p:nvSpPr>
        <p:spPr>
          <a:ln/>
        </p:spPr>
        <p:txBody>
          <a:bodyPr/>
          <a:lstStyle>
            <a:lvl1pPr>
              <a:defRPr/>
            </a:lvl1pPr>
          </a:lstStyle>
          <a:p>
            <a:fld id="{B9738183-2F5D-43EB-892B-1D94BCEA68FF}" type="slidenum">
              <a:rPr lang="en-US" altLang="en-US"/>
              <a:pPr/>
              <a:t>‹#›</a:t>
            </a:fld>
            <a:endParaRPr lang="en-US" altLang="en-US"/>
          </a:p>
        </p:txBody>
      </p:sp>
    </p:spTree>
    <p:extLst>
      <p:ext uri="{BB962C8B-B14F-4D97-AF65-F5344CB8AC3E}">
        <p14:creationId xmlns:p14="http://schemas.microsoft.com/office/powerpoint/2010/main" val="21081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C7303F3-9E9B-43A8-A0A5-C04AEC05B70F}"/>
              </a:ext>
            </a:extLst>
          </p:cNvPr>
          <p:cNvSpPr>
            <a:spLocks noGrp="1" noChangeArrowheads="1"/>
          </p:cNvSpPr>
          <p:nvPr>
            <p:ph type="title"/>
          </p:nvPr>
        </p:nvSpPr>
        <p:spPr bwMode="auto">
          <a:xfrm>
            <a:off x="342900" y="252413"/>
            <a:ext cx="8410575"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en-US" altLang="en-US"/>
          </a:p>
        </p:txBody>
      </p:sp>
      <p:sp>
        <p:nvSpPr>
          <p:cNvPr id="4099" name="Rectangle 3">
            <a:extLst>
              <a:ext uri="{FF2B5EF4-FFF2-40B4-BE49-F238E27FC236}">
                <a16:creationId xmlns:a16="http://schemas.microsoft.com/office/drawing/2014/main" id="{57270E64-91A6-468F-A909-597A9259E1BF}"/>
              </a:ext>
            </a:extLst>
          </p:cNvPr>
          <p:cNvSpPr>
            <a:spLocks noGrp="1" noChangeArrowheads="1"/>
          </p:cNvSpPr>
          <p:nvPr>
            <p:ph type="body" idx="1"/>
          </p:nvPr>
        </p:nvSpPr>
        <p:spPr bwMode="auto">
          <a:xfrm>
            <a:off x="373063" y="1008063"/>
            <a:ext cx="8313737" cy="511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1" name="Rectangle 5">
            <a:extLst>
              <a:ext uri="{FF2B5EF4-FFF2-40B4-BE49-F238E27FC236}">
                <a16:creationId xmlns:a16="http://schemas.microsoft.com/office/drawing/2014/main" id="{3DCB504A-4CE2-4B1E-AF85-15DEFA355353}"/>
              </a:ext>
            </a:extLst>
          </p:cNvPr>
          <p:cNvSpPr>
            <a:spLocks noGrp="1" noChangeArrowheads="1"/>
          </p:cNvSpPr>
          <p:nvPr>
            <p:ph type="ftr" sz="quarter" idx="3"/>
          </p:nvPr>
        </p:nvSpPr>
        <p:spPr bwMode="auto">
          <a:xfrm>
            <a:off x="285750" y="6392863"/>
            <a:ext cx="7335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eaLnBrk="1" hangingPunct="1">
              <a:defRPr i="1" smtClean="0">
                <a:solidFill>
                  <a:srgbClr val="777777"/>
                </a:solidFill>
              </a:defRPr>
            </a:lvl1pPr>
          </a:lstStyle>
          <a:p>
            <a:pPr>
              <a:defRPr/>
            </a:pPr>
            <a:r>
              <a:rPr lang="en-US"/>
              <a:t>THE MARKET FORCES OF SUPPLY AND DEMAND</a:t>
            </a:r>
          </a:p>
        </p:txBody>
      </p:sp>
      <p:sp>
        <p:nvSpPr>
          <p:cNvPr id="4102" name="Rectangle 6">
            <a:extLst>
              <a:ext uri="{FF2B5EF4-FFF2-40B4-BE49-F238E27FC236}">
                <a16:creationId xmlns:a16="http://schemas.microsoft.com/office/drawing/2014/main" id="{868A17DE-B0E4-4D4A-A65B-99742D6989AC}"/>
              </a:ext>
            </a:extLst>
          </p:cNvPr>
          <p:cNvSpPr>
            <a:spLocks noGrp="1" noChangeArrowheads="1"/>
          </p:cNvSpPr>
          <p:nvPr>
            <p:ph type="sldNum" sz="quarter" idx="4"/>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700">
                <a:solidFill>
                  <a:srgbClr val="777777"/>
                </a:solidFill>
                <a:latin typeface="Tahoma" panose="020B0604030504040204" pitchFamily="34" charset="0"/>
              </a:defRPr>
            </a:lvl1pPr>
          </a:lstStyle>
          <a:p>
            <a:fld id="{64429630-E1FD-41F6-B10B-5A3EDD733AC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left)">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wipe(left)">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wipe(left)">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wipe(left)">
                                      <p:cBhvr>
                                        <p:cTn id="22" dur="500"/>
                                        <p:tgtEl>
                                          <p:spTgt spid="4099">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Effect transition="in" filter="wipe(left)">
                                      <p:cBhvr>
                                        <p:cTn id="25" dur="500"/>
                                        <p:tgtEl>
                                          <p:spTgt spid="40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bldLvl="4">
        <p:tmplLst>
          <p:tmpl lvl="1">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Lst>
      </p:bldP>
    </p:bldLst>
  </p:timing>
  <p:hf hdr="0" dt="0"/>
  <p:txStyles>
    <p:titleStyle>
      <a:lvl1pPr algn="ctr" rtl="0" eaLnBrk="0" fontAlgn="base" hangingPunct="0">
        <a:spcBef>
          <a:spcPct val="0"/>
        </a:spcBef>
        <a:spcAft>
          <a:spcPct val="0"/>
        </a:spcAft>
        <a:defRPr sz="3800" b="1" kern="1200">
          <a:solidFill>
            <a:srgbClr val="333399"/>
          </a:solidFill>
          <a:latin typeface="+mj-lt"/>
          <a:ea typeface="+mj-ea"/>
          <a:cs typeface="+mj-cs"/>
        </a:defRPr>
      </a:lvl1pPr>
      <a:lvl2pPr algn="ctr" rtl="0" eaLnBrk="0" fontAlgn="base" hangingPunct="0">
        <a:spcBef>
          <a:spcPct val="0"/>
        </a:spcBef>
        <a:spcAft>
          <a:spcPct val="0"/>
        </a:spcAft>
        <a:defRPr sz="3800" b="1">
          <a:solidFill>
            <a:srgbClr val="333399"/>
          </a:solidFill>
          <a:latin typeface="Book Antiqua" panose="02040602050305030304" pitchFamily="18" charset="0"/>
        </a:defRPr>
      </a:lvl2pPr>
      <a:lvl3pPr algn="ctr" rtl="0" eaLnBrk="0" fontAlgn="base" hangingPunct="0">
        <a:spcBef>
          <a:spcPct val="0"/>
        </a:spcBef>
        <a:spcAft>
          <a:spcPct val="0"/>
        </a:spcAft>
        <a:defRPr sz="3800" b="1">
          <a:solidFill>
            <a:srgbClr val="333399"/>
          </a:solidFill>
          <a:latin typeface="Book Antiqua" panose="02040602050305030304" pitchFamily="18" charset="0"/>
        </a:defRPr>
      </a:lvl3pPr>
      <a:lvl4pPr algn="ctr" rtl="0" eaLnBrk="0" fontAlgn="base" hangingPunct="0">
        <a:spcBef>
          <a:spcPct val="0"/>
        </a:spcBef>
        <a:spcAft>
          <a:spcPct val="0"/>
        </a:spcAft>
        <a:defRPr sz="3800" b="1">
          <a:solidFill>
            <a:srgbClr val="333399"/>
          </a:solidFill>
          <a:latin typeface="Book Antiqua" panose="02040602050305030304" pitchFamily="18" charset="0"/>
        </a:defRPr>
      </a:lvl4pPr>
      <a:lvl5pPr algn="ctr" rtl="0" eaLnBrk="0" fontAlgn="base" hangingPunct="0">
        <a:spcBef>
          <a:spcPct val="0"/>
        </a:spcBef>
        <a:spcAft>
          <a:spcPct val="0"/>
        </a:spcAft>
        <a:defRPr sz="3800" b="1">
          <a:solidFill>
            <a:srgbClr val="333399"/>
          </a:solidFill>
          <a:latin typeface="Book Antiqua" panose="02040602050305030304" pitchFamily="18" charset="0"/>
        </a:defRPr>
      </a:lvl5pPr>
      <a:lvl6pPr marL="457200" algn="ctr" rtl="0" fontAlgn="base">
        <a:spcBef>
          <a:spcPct val="0"/>
        </a:spcBef>
        <a:spcAft>
          <a:spcPct val="0"/>
        </a:spcAft>
        <a:defRPr sz="3800" b="1">
          <a:solidFill>
            <a:srgbClr val="333399"/>
          </a:solidFill>
          <a:latin typeface="Book Antiqua" panose="02040602050305030304" pitchFamily="18" charset="0"/>
        </a:defRPr>
      </a:lvl6pPr>
      <a:lvl7pPr marL="914400" algn="ctr" rtl="0" fontAlgn="base">
        <a:spcBef>
          <a:spcPct val="0"/>
        </a:spcBef>
        <a:spcAft>
          <a:spcPct val="0"/>
        </a:spcAft>
        <a:defRPr sz="3800" b="1">
          <a:solidFill>
            <a:srgbClr val="333399"/>
          </a:solidFill>
          <a:latin typeface="Book Antiqua" panose="02040602050305030304" pitchFamily="18" charset="0"/>
        </a:defRPr>
      </a:lvl7pPr>
      <a:lvl8pPr marL="1371600" algn="ctr" rtl="0" fontAlgn="base">
        <a:spcBef>
          <a:spcPct val="0"/>
        </a:spcBef>
        <a:spcAft>
          <a:spcPct val="0"/>
        </a:spcAft>
        <a:defRPr sz="3800" b="1">
          <a:solidFill>
            <a:srgbClr val="333399"/>
          </a:solidFill>
          <a:latin typeface="Book Antiqua" panose="02040602050305030304" pitchFamily="18" charset="0"/>
        </a:defRPr>
      </a:lvl8pPr>
      <a:lvl9pPr marL="1828800" algn="ctr" rtl="0" fontAlgn="base">
        <a:spcBef>
          <a:spcPct val="0"/>
        </a:spcBef>
        <a:spcAft>
          <a:spcPct val="0"/>
        </a:spcAft>
        <a:defRPr sz="3800" b="1">
          <a:solidFill>
            <a:srgbClr val="333399"/>
          </a:solidFill>
          <a:latin typeface="Book Antiqua" panose="02040602050305030304" pitchFamily="18" charset="0"/>
        </a:defRPr>
      </a:lvl9pPr>
    </p:titleStyle>
    <p:body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kern="12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kern="1200">
          <a:solidFill>
            <a:schemeClr val="tx1"/>
          </a:solidFill>
          <a:latin typeface="+mn-lt"/>
          <a:ea typeface="+mn-ea"/>
          <a:cs typeface="+mn-cs"/>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kern="1200">
          <a:solidFill>
            <a:schemeClr val="tx1"/>
          </a:solidFill>
          <a:latin typeface="+mn-lt"/>
          <a:ea typeface="+mn-ea"/>
          <a:cs typeface="+mn-cs"/>
        </a:defRPr>
      </a:lvl3pPr>
      <a:lvl4pPr marL="1600200" indent="-228600" algn="l" rtl="0" eaLnBrk="0" fontAlgn="base" hangingPunct="0">
        <a:spcBef>
          <a:spcPct val="15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Program%20Files/TurningPoint/2003/Questions.htm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hyperlink" Target="../../../../Program%20Files/TurningPoint/2003/Questions.html" TargetMode="External"/><Relationship Id="rId4" Type="http://schemas.openxmlformats.org/officeDocument/2006/relationships/image" Target="../media/image5.emf"/></Relationships>
</file>

<file path=ppt/slides/_rels/slide1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6.emf"/></Relationships>
</file>

<file path=ppt/slides/_rels/slide2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7.emf"/></Relationships>
</file>

<file path=ppt/slides/_rels/slide2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7.emf"/></Relationships>
</file>

<file path=ppt/slides/_rels/slide3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8.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8.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40.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8.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8.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8.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8.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8.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9.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46.xml"/><Relationship Id="rId1" Type="http://schemas.openxmlformats.org/officeDocument/2006/relationships/slideLayout" Target="../slideLayouts/slideLayout7.xml"/><Relationship Id="rId5" Type="http://schemas.openxmlformats.org/officeDocument/2006/relationships/hyperlink" Target="../../../../Program%20Files/TurningPoint/2003/Questions.html" TargetMode="External"/><Relationship Id="rId4" Type="http://schemas.openxmlformats.org/officeDocument/2006/relationships/image" Target="../media/image9.e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8" descr="Mankiw_brshstroke_rust">
            <a:extLst>
              <a:ext uri="{FF2B5EF4-FFF2-40B4-BE49-F238E27FC236}">
                <a16:creationId xmlns:a16="http://schemas.microsoft.com/office/drawing/2014/main" id="{CE86A37D-9FF0-41DF-852D-1D33FEBFE9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06463"/>
            <a:ext cx="9144000" cy="509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2">
            <a:extLst>
              <a:ext uri="{FF2B5EF4-FFF2-40B4-BE49-F238E27FC236}">
                <a16:creationId xmlns:a16="http://schemas.microsoft.com/office/drawing/2014/main" id="{4C820C12-3C66-4EFE-97DB-D82604F34D83}"/>
              </a:ext>
            </a:extLst>
          </p:cNvPr>
          <p:cNvSpPr>
            <a:spLocks noGrp="1" noChangeArrowheads="1"/>
          </p:cNvSpPr>
          <p:nvPr>
            <p:ph type="ctrTitle"/>
          </p:nvPr>
        </p:nvSpPr>
        <p:spPr>
          <a:xfrm>
            <a:off x="0" y="1501775"/>
            <a:ext cx="9144000" cy="1470025"/>
          </a:xfrm>
        </p:spPr>
        <p:txBody>
          <a:bodyPr/>
          <a:lstStyle/>
          <a:p>
            <a:pPr eaLnBrk="1" hangingPunct="1">
              <a:defRPr/>
            </a:pPr>
            <a:r>
              <a:rPr lang="en-US" sz="4600"/>
              <a:t>The Market Forces of </a:t>
            </a:r>
            <a:br>
              <a:rPr lang="en-US" sz="4600"/>
            </a:br>
            <a:r>
              <a:rPr lang="en-US" sz="4600"/>
              <a:t>Supply and Demand</a:t>
            </a:r>
          </a:p>
        </p:txBody>
      </p:sp>
      <p:sp>
        <p:nvSpPr>
          <p:cNvPr id="4100" name="TextBox 9">
            <a:extLst>
              <a:ext uri="{FF2B5EF4-FFF2-40B4-BE49-F238E27FC236}">
                <a16:creationId xmlns:a16="http://schemas.microsoft.com/office/drawing/2014/main" id="{8B3F28C8-CA59-4A8D-8349-8A0B87A29AB1}"/>
              </a:ext>
            </a:extLst>
          </p:cNvPr>
          <p:cNvSpPr txBox="1">
            <a:spLocks noChangeArrowheads="1"/>
          </p:cNvSpPr>
          <p:nvPr/>
        </p:nvSpPr>
        <p:spPr bwMode="auto">
          <a:xfrm>
            <a:off x="1811338" y="3060700"/>
            <a:ext cx="6707187"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r>
              <a:rPr lang="en-US" altLang="en-US" sz="7200">
                <a:latin typeface="Book Antiqua" panose="02040602050305030304" pitchFamily="18" charset="0"/>
                <a:cs typeface="Arial" panose="020B0604020202020204" pitchFamily="34" charset="0"/>
              </a:rPr>
              <a:t>E</a:t>
            </a:r>
            <a:r>
              <a:rPr lang="en-US" altLang="en-US" sz="6400">
                <a:latin typeface="Book Antiqua" panose="02040602050305030304" pitchFamily="18" charset="0"/>
                <a:cs typeface="Arial" panose="020B0604020202020204" pitchFamily="34" charset="0"/>
              </a:rPr>
              <a:t>conomics</a:t>
            </a:r>
          </a:p>
        </p:txBody>
      </p:sp>
      <p:sp>
        <p:nvSpPr>
          <p:cNvPr id="11" name="TextBox 10">
            <a:extLst>
              <a:ext uri="{FF2B5EF4-FFF2-40B4-BE49-F238E27FC236}">
                <a16:creationId xmlns:a16="http://schemas.microsoft.com/office/drawing/2014/main" id="{E46290FF-66A2-4AA1-845D-01A07C7C0911}"/>
              </a:ext>
            </a:extLst>
          </p:cNvPr>
          <p:cNvSpPr txBox="1"/>
          <p:nvPr/>
        </p:nvSpPr>
        <p:spPr>
          <a:xfrm>
            <a:off x="2478088" y="3205163"/>
            <a:ext cx="4681537" cy="350837"/>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sz="1700">
                <a:solidFill>
                  <a:schemeClr val="bg1"/>
                </a:solidFill>
                <a:effectLst>
                  <a:outerShdw blurRad="38100" dist="38100" dir="2700000" algn="tl">
                    <a:srgbClr val="C0C0C0"/>
                  </a:outerShdw>
                </a:effectLst>
                <a:latin typeface="Tahoma" panose="020B0604030504040204" pitchFamily="34" charset="0"/>
                <a:cs typeface="Arial" panose="020B0604020202020204" pitchFamily="34" charset="0"/>
              </a:rPr>
              <a:t>P R I N C I P L E S   O F</a:t>
            </a:r>
          </a:p>
        </p:txBody>
      </p:sp>
      <p:sp>
        <p:nvSpPr>
          <p:cNvPr id="14" name="TextBox 13">
            <a:extLst>
              <a:ext uri="{FF2B5EF4-FFF2-40B4-BE49-F238E27FC236}">
                <a16:creationId xmlns:a16="http://schemas.microsoft.com/office/drawing/2014/main" id="{55F6C11C-1723-4375-A152-3223F73636E3}"/>
              </a:ext>
            </a:extLst>
          </p:cNvPr>
          <p:cNvSpPr txBox="1"/>
          <p:nvPr/>
        </p:nvSpPr>
        <p:spPr>
          <a:xfrm>
            <a:off x="3233738" y="3932238"/>
            <a:ext cx="4516437" cy="641350"/>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sz="3600">
                <a:solidFill>
                  <a:schemeClr val="bg1"/>
                </a:solidFill>
                <a:effectLst>
                  <a:outerShdw blurRad="38100" dist="38100" dir="2700000" algn="tl">
                    <a:srgbClr val="C0C0C0"/>
                  </a:outerShdw>
                </a:effectLst>
                <a:latin typeface="Tahoma" panose="020B0604030504040204" pitchFamily="34" charset="0"/>
                <a:cs typeface="Arial" panose="020B0604020202020204" pitchFamily="34" charset="0"/>
              </a:rPr>
              <a:t>N. Gregory Mankiw</a:t>
            </a:r>
          </a:p>
        </p:txBody>
      </p:sp>
      <p:sp>
        <p:nvSpPr>
          <p:cNvPr id="4103" name="TextBox 12">
            <a:extLst>
              <a:ext uri="{FF2B5EF4-FFF2-40B4-BE49-F238E27FC236}">
                <a16:creationId xmlns:a16="http://schemas.microsoft.com/office/drawing/2014/main" id="{686BFEE8-4B96-47EA-9E89-D62EC74CFB87}"/>
              </a:ext>
            </a:extLst>
          </p:cNvPr>
          <p:cNvSpPr txBox="1">
            <a:spLocks noChangeArrowheads="1"/>
          </p:cNvSpPr>
          <p:nvPr/>
        </p:nvSpPr>
        <p:spPr bwMode="auto">
          <a:xfrm>
            <a:off x="128588" y="5399088"/>
            <a:ext cx="88757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a:solidFill>
                  <a:srgbClr val="008080"/>
                </a:solidFill>
                <a:ea typeface="Arial Unicode MS" pitchFamily="34" charset="-128"/>
                <a:cs typeface="Arial" panose="020B0604020202020204" pitchFamily="34" charset="0"/>
              </a:rPr>
              <a:t>Premium PowerPoint Slides </a:t>
            </a:r>
            <a:br>
              <a:rPr lang="en-US" altLang="en-US">
                <a:solidFill>
                  <a:srgbClr val="008080"/>
                </a:solidFill>
                <a:ea typeface="Arial Unicode MS" pitchFamily="34" charset="-128"/>
                <a:cs typeface="Arial" panose="020B0604020202020204" pitchFamily="34" charset="0"/>
              </a:rPr>
            </a:br>
            <a:r>
              <a:rPr lang="en-US" altLang="en-US">
                <a:solidFill>
                  <a:srgbClr val="008080"/>
                </a:solidFill>
                <a:ea typeface="Arial Unicode MS" pitchFamily="34" charset="-128"/>
                <a:cs typeface="Arial" panose="020B0604020202020204" pitchFamily="34" charset="0"/>
              </a:rPr>
              <a:t>by Ron Cronovich</a:t>
            </a:r>
          </a:p>
        </p:txBody>
      </p:sp>
      <p:sp>
        <p:nvSpPr>
          <p:cNvPr id="4104" name="Rectangle 11">
            <a:extLst>
              <a:ext uri="{FF2B5EF4-FFF2-40B4-BE49-F238E27FC236}">
                <a16:creationId xmlns:a16="http://schemas.microsoft.com/office/drawing/2014/main" id="{E08F2223-C923-415A-B199-422294528972}"/>
              </a:ext>
            </a:extLst>
          </p:cNvPr>
          <p:cNvSpPr>
            <a:spLocks noGrp="1" noChangeArrowheads="1"/>
          </p:cNvSpPr>
          <p:nvPr>
            <p:ph type="subTitle" idx="1"/>
          </p:nvPr>
        </p:nvSpPr>
        <p:spPr>
          <a:xfrm>
            <a:off x="2187575" y="152400"/>
            <a:ext cx="1158875" cy="990600"/>
          </a:xfrm>
          <a:noFill/>
        </p:spPr>
        <p:txBody>
          <a:bodyPr tIns="0" bIns="0"/>
          <a:lstStyle/>
          <a:p>
            <a:pPr algn="l" eaLnBrk="1" hangingPunct="1"/>
            <a:r>
              <a:rPr lang="en-US" altLang="en-US"/>
              <a:t>4</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Content Placeholder 8" descr="Mankiw_PaintingArt.jpg">
            <a:extLst>
              <a:ext uri="{FF2B5EF4-FFF2-40B4-BE49-F238E27FC236}">
                <a16:creationId xmlns:a16="http://schemas.microsoft.com/office/drawing/2014/main" id="{1D9B3B29-059A-476C-937B-2EBDB13525EC}"/>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03EFD389-9702-4C7B-A627-0F5AAC5954CC}"/>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In this chapter, </a:t>
            </a:r>
            <a:br>
              <a:rPr lang="en-US" sz="3700">
                <a:solidFill>
                  <a:schemeClr val="tx1"/>
                </a:solidFill>
                <a:effectLst>
                  <a:outerShdw blurRad="38100" dist="38100" dir="2700000" algn="tl">
                    <a:srgbClr val="C0C0C0"/>
                  </a:outerShdw>
                </a:effectLst>
              </a:rPr>
            </a:br>
            <a:r>
              <a:rPr lang="en-US" sz="3700">
                <a:solidFill>
                  <a:schemeClr val="tx1"/>
                </a:solidFill>
                <a:effectLst>
                  <a:outerShdw blurRad="38100" dist="38100" dir="2700000" algn="tl">
                    <a:srgbClr val="C0C0C0"/>
                  </a:outerShdw>
                </a:effectLst>
              </a:rPr>
              <a:t>look for the answers to these questions:</a:t>
            </a:r>
          </a:p>
        </p:txBody>
      </p:sp>
      <p:sp>
        <p:nvSpPr>
          <p:cNvPr id="6148" name="Rectangle 3">
            <a:extLst>
              <a:ext uri="{FF2B5EF4-FFF2-40B4-BE49-F238E27FC236}">
                <a16:creationId xmlns:a16="http://schemas.microsoft.com/office/drawing/2014/main" id="{F992F4A0-2919-44DC-B3BB-BD0FAB700657}"/>
              </a:ext>
            </a:extLst>
          </p:cNvPr>
          <p:cNvSpPr>
            <a:spLocks noGrp="1" noChangeArrowheads="1"/>
          </p:cNvSpPr>
          <p:nvPr>
            <p:ph type="body" idx="1"/>
          </p:nvPr>
        </p:nvSpPr>
        <p:spPr>
          <a:xfrm>
            <a:off x="373063" y="1863725"/>
            <a:ext cx="8396287" cy="4546600"/>
          </a:xfrm>
        </p:spPr>
        <p:txBody>
          <a:bodyPr/>
          <a:lstStyle/>
          <a:p>
            <a:pPr eaLnBrk="1" hangingPunct="1">
              <a:buClr>
                <a:srgbClr val="996633"/>
              </a:buClr>
            </a:pPr>
            <a:r>
              <a:rPr lang="en-US" altLang="en-US" sz="2700"/>
              <a:t>What factors affect buyers’ demand for goods?</a:t>
            </a:r>
          </a:p>
          <a:p>
            <a:pPr eaLnBrk="1" hangingPunct="1">
              <a:buClr>
                <a:srgbClr val="996633"/>
              </a:buClr>
            </a:pPr>
            <a:r>
              <a:rPr lang="en-US" altLang="en-US" sz="2700"/>
              <a:t>What factors affect sellers’ supply of goods? </a:t>
            </a:r>
          </a:p>
          <a:p>
            <a:pPr eaLnBrk="1" hangingPunct="1">
              <a:buClr>
                <a:srgbClr val="996633"/>
              </a:buClr>
            </a:pPr>
            <a:r>
              <a:rPr lang="en-US" altLang="en-US" sz="2700"/>
              <a:t>How do supply and demand determine the price of a good and the quantity sold?  </a:t>
            </a:r>
          </a:p>
          <a:p>
            <a:pPr eaLnBrk="1" hangingPunct="1">
              <a:buClr>
                <a:srgbClr val="996633"/>
              </a:buClr>
            </a:pPr>
            <a:r>
              <a:rPr lang="en-US" altLang="en-US" sz="2700"/>
              <a:t>How do changes in the factors that affect demand or supply affect the market price and quantity of a good?  </a:t>
            </a:r>
          </a:p>
          <a:p>
            <a:pPr eaLnBrk="1" hangingPunct="1">
              <a:buClr>
                <a:srgbClr val="996633"/>
              </a:buClr>
            </a:pPr>
            <a:r>
              <a:rPr lang="en-US" altLang="en-US" sz="2700"/>
              <a:t>How do markets allocate resources? </a:t>
            </a:r>
          </a:p>
        </p:txBody>
      </p:sp>
      <p:sp>
        <p:nvSpPr>
          <p:cNvPr id="6149" name="Rectangle 5">
            <a:extLst>
              <a:ext uri="{FF2B5EF4-FFF2-40B4-BE49-F238E27FC236}">
                <a16:creationId xmlns:a16="http://schemas.microsoft.com/office/drawing/2014/main" id="{7BFF3550-41C6-469A-962F-9918C2F86E96}"/>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D16378B-99ED-451A-88AE-7367D4DEFF8F}" type="slidenum">
              <a:rPr lang="en-US" altLang="en-US" sz="1700">
                <a:solidFill>
                  <a:srgbClr val="777777"/>
                </a:solidFill>
                <a:latin typeface="Tahoma" panose="020B0604030504040204" pitchFamily="34" charset="0"/>
              </a:rPr>
              <a:pPr algn="r" eaLnBrk="1" hangingPunct="1"/>
              <a:t>1</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Footer Placeholder 1">
            <a:extLst>
              <a:ext uri="{FF2B5EF4-FFF2-40B4-BE49-F238E27FC236}">
                <a16:creationId xmlns:a16="http://schemas.microsoft.com/office/drawing/2014/main" id="{1B058EE1-7140-4E28-B625-0935CDFBD1DA}"/>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195" name="Slide Number Placeholder 2">
            <a:extLst>
              <a:ext uri="{FF2B5EF4-FFF2-40B4-BE49-F238E27FC236}">
                <a16:creationId xmlns:a16="http://schemas.microsoft.com/office/drawing/2014/main" id="{DFCDEFE2-BE6A-4FAE-959D-D35972A4879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2DAD909-6D99-4A8A-9FC7-247955EE34B1}" type="slidenum">
              <a:rPr lang="en-US" altLang="en-US">
                <a:solidFill>
                  <a:srgbClr val="777777"/>
                </a:solidFill>
                <a:latin typeface="Tahoma" panose="020B0604030504040204" pitchFamily="34" charset="0"/>
              </a:rPr>
              <a:pPr/>
              <a:t>2</a:t>
            </a:fld>
            <a:endParaRPr lang="en-US" altLang="en-US">
              <a:solidFill>
                <a:srgbClr val="777777"/>
              </a:solidFill>
              <a:latin typeface="Tahoma" panose="020B0604030504040204" pitchFamily="34" charset="0"/>
            </a:endParaRPr>
          </a:p>
        </p:txBody>
      </p:sp>
      <p:sp>
        <p:nvSpPr>
          <p:cNvPr id="8196" name="Rectangle 2">
            <a:extLst>
              <a:ext uri="{FF2B5EF4-FFF2-40B4-BE49-F238E27FC236}">
                <a16:creationId xmlns:a16="http://schemas.microsoft.com/office/drawing/2014/main" id="{FFB90443-9ADC-4F87-BA7B-F52CDD014F03}"/>
              </a:ext>
            </a:extLst>
          </p:cNvPr>
          <p:cNvSpPr>
            <a:spLocks noGrp="1" noChangeArrowheads="1"/>
          </p:cNvSpPr>
          <p:nvPr>
            <p:ph type="title" idx="4294967295"/>
          </p:nvPr>
        </p:nvSpPr>
        <p:spPr/>
        <p:txBody>
          <a:bodyPr/>
          <a:lstStyle/>
          <a:p>
            <a:pPr eaLnBrk="1" hangingPunct="1"/>
            <a:r>
              <a:rPr lang="en-US" altLang="en-US"/>
              <a:t>Markets and Competition</a:t>
            </a:r>
          </a:p>
        </p:txBody>
      </p:sp>
      <p:sp>
        <p:nvSpPr>
          <p:cNvPr id="8197" name="Rectangle 3">
            <a:extLst>
              <a:ext uri="{FF2B5EF4-FFF2-40B4-BE49-F238E27FC236}">
                <a16:creationId xmlns:a16="http://schemas.microsoft.com/office/drawing/2014/main" id="{00A62586-9D51-47BF-B337-89518D89337E}"/>
              </a:ext>
            </a:extLst>
          </p:cNvPr>
          <p:cNvSpPr>
            <a:spLocks noGrp="1" noChangeArrowheads="1"/>
          </p:cNvSpPr>
          <p:nvPr>
            <p:ph type="body" idx="4294967295"/>
          </p:nvPr>
        </p:nvSpPr>
        <p:spPr>
          <a:xfrm>
            <a:off x="379413" y="1009650"/>
            <a:ext cx="8402637" cy="5370513"/>
          </a:xfrm>
        </p:spPr>
        <p:txBody>
          <a:bodyPr/>
          <a:lstStyle/>
          <a:p>
            <a:pPr eaLnBrk="1" hangingPunct="1"/>
            <a:r>
              <a:rPr lang="en-US" altLang="en-US"/>
              <a:t>A </a:t>
            </a:r>
            <a:r>
              <a:rPr lang="en-US" altLang="en-US" b="1">
                <a:solidFill>
                  <a:srgbClr val="CC0000"/>
                </a:solidFill>
              </a:rPr>
              <a:t>market</a:t>
            </a:r>
            <a:r>
              <a:rPr lang="en-US" altLang="en-US"/>
              <a:t> is a group of buyers and sellers of a particular product. </a:t>
            </a:r>
          </a:p>
          <a:p>
            <a:pPr eaLnBrk="1" hangingPunct="1"/>
            <a:r>
              <a:rPr lang="en-US" altLang="en-US"/>
              <a:t>A </a:t>
            </a:r>
            <a:r>
              <a:rPr lang="en-US" altLang="en-US" b="1">
                <a:solidFill>
                  <a:srgbClr val="CC0000"/>
                </a:solidFill>
              </a:rPr>
              <a:t>competitive market</a:t>
            </a:r>
            <a:r>
              <a:rPr lang="en-US" altLang="en-US"/>
              <a:t> is one with many buyers and sellers, each has a negligible effect on price. </a:t>
            </a:r>
          </a:p>
          <a:p>
            <a:pPr eaLnBrk="1" hangingPunct="1"/>
            <a:r>
              <a:rPr lang="en-US" altLang="en-US"/>
              <a:t>In a </a:t>
            </a:r>
            <a:r>
              <a:rPr lang="en-US" altLang="en-US" b="1">
                <a:solidFill>
                  <a:srgbClr val="CC0000"/>
                </a:solidFill>
              </a:rPr>
              <a:t>perfectly competitive</a:t>
            </a:r>
            <a:r>
              <a:rPr lang="en-US" altLang="en-US"/>
              <a:t> market:</a:t>
            </a:r>
          </a:p>
          <a:p>
            <a:pPr lvl="1" eaLnBrk="1" hangingPunct="1">
              <a:lnSpc>
                <a:spcPct val="105000"/>
              </a:lnSpc>
            </a:pPr>
            <a:r>
              <a:rPr lang="en-US" altLang="en-US" sz="2800"/>
              <a:t>All goods exactly the same</a:t>
            </a:r>
          </a:p>
          <a:p>
            <a:pPr lvl="1" eaLnBrk="1" hangingPunct="1">
              <a:lnSpc>
                <a:spcPct val="105000"/>
              </a:lnSpc>
            </a:pPr>
            <a:r>
              <a:rPr lang="en-US" altLang="en-US" sz="2800"/>
              <a:t>Buyers &amp; sellers so numerous that no one can affect market price – each is a “</a:t>
            </a:r>
            <a:r>
              <a:rPr lang="en-US" altLang="en-US" sz="2800" b="1">
                <a:solidFill>
                  <a:srgbClr val="990099"/>
                </a:solidFill>
              </a:rPr>
              <a:t>price taker</a:t>
            </a:r>
            <a:r>
              <a:rPr lang="en-US" altLang="en-US" sz="2800"/>
              <a:t>”</a:t>
            </a:r>
          </a:p>
          <a:p>
            <a:pPr eaLnBrk="1" hangingPunct="1"/>
            <a:r>
              <a:rPr lang="en-US" altLang="en-US"/>
              <a:t>In this chapter, we assume markets are perfectly competitive.  </a:t>
            </a:r>
          </a:p>
        </p:txBody>
      </p:sp>
      <p:sp>
        <p:nvSpPr>
          <p:cNvPr id="8198" name="FlagCount" hidden="1">
            <a:hlinkClick r:id="rId3" action="ppaction://hlinkfile"/>
            <a:extLst>
              <a:ext uri="{FF2B5EF4-FFF2-40B4-BE49-F238E27FC236}">
                <a16:creationId xmlns:a16="http://schemas.microsoft.com/office/drawing/2014/main" id="{E1EFFD31-2B89-4261-A46B-B30549E02919}"/>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7">
                                            <p:txEl>
                                              <p:pRg st="0" end="0"/>
                                            </p:txEl>
                                          </p:spTgt>
                                        </p:tgtEl>
                                        <p:attrNameLst>
                                          <p:attrName>style.visibility</p:attrName>
                                        </p:attrNameLst>
                                      </p:cBhvr>
                                      <p:to>
                                        <p:strVal val="visible"/>
                                      </p:to>
                                    </p:set>
                                    <p:animEffect transition="in" filter="wipe(left)">
                                      <p:cBhvr>
                                        <p:cTn id="7" dur="500"/>
                                        <p:tgtEl>
                                          <p:spTgt spid="81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7">
                                            <p:txEl>
                                              <p:pRg st="1" end="1"/>
                                            </p:txEl>
                                          </p:spTgt>
                                        </p:tgtEl>
                                        <p:attrNameLst>
                                          <p:attrName>style.visibility</p:attrName>
                                        </p:attrNameLst>
                                      </p:cBhvr>
                                      <p:to>
                                        <p:strVal val="visible"/>
                                      </p:to>
                                    </p:set>
                                    <p:animEffect transition="in" filter="wipe(left)">
                                      <p:cBhvr>
                                        <p:cTn id="12" dur="500"/>
                                        <p:tgtEl>
                                          <p:spTgt spid="81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7">
                                            <p:txEl>
                                              <p:pRg st="2" end="2"/>
                                            </p:txEl>
                                          </p:spTgt>
                                        </p:tgtEl>
                                        <p:attrNameLst>
                                          <p:attrName>style.visibility</p:attrName>
                                        </p:attrNameLst>
                                      </p:cBhvr>
                                      <p:to>
                                        <p:strVal val="visible"/>
                                      </p:to>
                                    </p:set>
                                    <p:animEffect transition="in" filter="wipe(left)">
                                      <p:cBhvr>
                                        <p:cTn id="17" dur="500"/>
                                        <p:tgtEl>
                                          <p:spTgt spid="81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7">
                                            <p:txEl>
                                              <p:pRg st="3" end="3"/>
                                            </p:txEl>
                                          </p:spTgt>
                                        </p:tgtEl>
                                        <p:attrNameLst>
                                          <p:attrName>style.visibility</p:attrName>
                                        </p:attrNameLst>
                                      </p:cBhvr>
                                      <p:to>
                                        <p:strVal val="visible"/>
                                      </p:to>
                                    </p:set>
                                    <p:animEffect transition="in" filter="wipe(left)">
                                      <p:cBhvr>
                                        <p:cTn id="22" dur="500"/>
                                        <p:tgtEl>
                                          <p:spTgt spid="819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7">
                                            <p:txEl>
                                              <p:pRg st="4" end="4"/>
                                            </p:txEl>
                                          </p:spTgt>
                                        </p:tgtEl>
                                        <p:attrNameLst>
                                          <p:attrName>style.visibility</p:attrName>
                                        </p:attrNameLst>
                                      </p:cBhvr>
                                      <p:to>
                                        <p:strVal val="visible"/>
                                      </p:to>
                                    </p:set>
                                    <p:animEffect transition="in" filter="wipe(left)">
                                      <p:cBhvr>
                                        <p:cTn id="27" dur="500"/>
                                        <p:tgtEl>
                                          <p:spTgt spid="819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7">
                                            <p:txEl>
                                              <p:pRg st="5" end="5"/>
                                            </p:txEl>
                                          </p:spTgt>
                                        </p:tgtEl>
                                        <p:attrNameLst>
                                          <p:attrName>style.visibility</p:attrName>
                                        </p:attrNameLst>
                                      </p:cBhvr>
                                      <p:to>
                                        <p:strVal val="visible"/>
                                      </p:to>
                                    </p:set>
                                    <p:animEffect transition="in" filter="wipe(left)">
                                      <p:cBhvr>
                                        <p:cTn id="32" dur="500"/>
                                        <p:tgtEl>
                                          <p:spTgt spid="819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p" bldLvl="4"/>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Footer Placeholder 1">
            <a:extLst>
              <a:ext uri="{FF2B5EF4-FFF2-40B4-BE49-F238E27FC236}">
                <a16:creationId xmlns:a16="http://schemas.microsoft.com/office/drawing/2014/main" id="{4D04B440-5EF8-4519-9F2E-8C243545E3A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243" name="Slide Number Placeholder 2">
            <a:extLst>
              <a:ext uri="{FF2B5EF4-FFF2-40B4-BE49-F238E27FC236}">
                <a16:creationId xmlns:a16="http://schemas.microsoft.com/office/drawing/2014/main" id="{0F77DC97-041D-40CB-B1A5-41C45458CCE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623F78-9816-4396-81A6-A1DB326CCFC4}" type="slidenum">
              <a:rPr lang="en-US" altLang="en-US">
                <a:solidFill>
                  <a:srgbClr val="777777"/>
                </a:solidFill>
                <a:latin typeface="Tahoma" panose="020B0604030504040204" pitchFamily="34" charset="0"/>
              </a:rPr>
              <a:pPr/>
              <a:t>3</a:t>
            </a:fld>
            <a:endParaRPr lang="en-US" altLang="en-US">
              <a:solidFill>
                <a:srgbClr val="777777"/>
              </a:solidFill>
              <a:latin typeface="Tahoma" panose="020B0604030504040204" pitchFamily="34" charset="0"/>
            </a:endParaRPr>
          </a:p>
        </p:txBody>
      </p:sp>
      <p:sp>
        <p:nvSpPr>
          <p:cNvPr id="10244" name="Rectangle 2">
            <a:extLst>
              <a:ext uri="{FF2B5EF4-FFF2-40B4-BE49-F238E27FC236}">
                <a16:creationId xmlns:a16="http://schemas.microsoft.com/office/drawing/2014/main" id="{0B8279C9-9EC2-42DD-BE14-52790EDA56FD}"/>
              </a:ext>
            </a:extLst>
          </p:cNvPr>
          <p:cNvSpPr>
            <a:spLocks noGrp="1" noChangeArrowheads="1"/>
          </p:cNvSpPr>
          <p:nvPr>
            <p:ph type="title" idx="4294967295"/>
          </p:nvPr>
        </p:nvSpPr>
        <p:spPr/>
        <p:txBody>
          <a:bodyPr/>
          <a:lstStyle/>
          <a:p>
            <a:pPr eaLnBrk="1" hangingPunct="1"/>
            <a:r>
              <a:rPr lang="en-US" altLang="en-US"/>
              <a:t>Demand</a:t>
            </a:r>
          </a:p>
        </p:txBody>
      </p:sp>
      <p:sp>
        <p:nvSpPr>
          <p:cNvPr id="10245" name="Rectangle 3">
            <a:extLst>
              <a:ext uri="{FF2B5EF4-FFF2-40B4-BE49-F238E27FC236}">
                <a16:creationId xmlns:a16="http://schemas.microsoft.com/office/drawing/2014/main" id="{DAE781EC-3FF2-4AE7-B896-2E40B0B43D34}"/>
              </a:ext>
            </a:extLst>
          </p:cNvPr>
          <p:cNvSpPr>
            <a:spLocks noGrp="1" noChangeArrowheads="1"/>
          </p:cNvSpPr>
          <p:nvPr>
            <p:ph type="body" idx="4294967295"/>
          </p:nvPr>
        </p:nvSpPr>
        <p:spPr/>
        <p:txBody>
          <a:bodyPr/>
          <a:lstStyle/>
          <a:p>
            <a:pPr eaLnBrk="1" hangingPunct="1"/>
            <a:r>
              <a:rPr lang="en-US" altLang="en-US" dirty="0"/>
              <a:t>The </a:t>
            </a:r>
            <a:r>
              <a:rPr lang="en-US" altLang="en-US" b="1" dirty="0">
                <a:solidFill>
                  <a:srgbClr val="CC0000"/>
                </a:solidFill>
              </a:rPr>
              <a:t>quantity demanded</a:t>
            </a:r>
            <a:r>
              <a:rPr lang="en-US" altLang="en-US" dirty="0"/>
              <a:t> of any good is the amount of the good that buyers are willing and able to purchase. </a:t>
            </a:r>
          </a:p>
          <a:p>
            <a:pPr eaLnBrk="1" hangingPunct="1"/>
            <a:r>
              <a:rPr lang="en-US" altLang="en-US" b="1" dirty="0">
                <a:solidFill>
                  <a:srgbClr val="CC0000"/>
                </a:solidFill>
              </a:rPr>
              <a:t>Law of demand</a:t>
            </a:r>
            <a:r>
              <a:rPr lang="en-US" altLang="en-US" dirty="0"/>
              <a:t>:  the claim that the quantity demanded of a good falls when the price of the good rises, other things equal  </a:t>
            </a:r>
          </a:p>
        </p:txBody>
      </p:sp>
      <p:sp>
        <p:nvSpPr>
          <p:cNvPr id="10246" name="FlagCount" hidden="1">
            <a:hlinkClick r:id="rId3" action="ppaction://hlinkfile"/>
            <a:extLst>
              <a:ext uri="{FF2B5EF4-FFF2-40B4-BE49-F238E27FC236}">
                <a16:creationId xmlns:a16="http://schemas.microsoft.com/office/drawing/2014/main" id="{D915EF87-2E62-4375-9E9C-3CBBCC3047CE}"/>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animEffect transition="in" filter="wipe(left)">
                                      <p:cBhvr>
                                        <p:cTn id="7" dur="500"/>
                                        <p:tgtEl>
                                          <p:spTgt spid="102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5">
                                            <p:txEl>
                                              <p:pRg st="1" end="1"/>
                                            </p:txEl>
                                          </p:spTgt>
                                        </p:tgtEl>
                                        <p:attrNameLst>
                                          <p:attrName>style.visibility</p:attrName>
                                        </p:attrNameLst>
                                      </p:cBhvr>
                                      <p:to>
                                        <p:strVal val="visible"/>
                                      </p:to>
                                    </p:set>
                                    <p:animEffect transition="in" filter="wipe(left)">
                                      <p:cBhvr>
                                        <p:cTn id="12" dur="500"/>
                                        <p:tgtEl>
                                          <p:spTgt spid="102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build="p" bldLvl="4"/>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Footer Placeholder 1">
            <a:extLst>
              <a:ext uri="{FF2B5EF4-FFF2-40B4-BE49-F238E27FC236}">
                <a16:creationId xmlns:a16="http://schemas.microsoft.com/office/drawing/2014/main" id="{1592B071-640C-4ED0-BC31-CBC6451581C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2291" name="Slide Number Placeholder 2">
            <a:extLst>
              <a:ext uri="{FF2B5EF4-FFF2-40B4-BE49-F238E27FC236}">
                <a16:creationId xmlns:a16="http://schemas.microsoft.com/office/drawing/2014/main" id="{DC590D82-1AFD-4815-B189-93339BEFC96C}"/>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FD6F37-865F-45AF-B4A7-9B90B2A0F204}" type="slidenum">
              <a:rPr lang="en-US" altLang="en-US">
                <a:solidFill>
                  <a:srgbClr val="777777"/>
                </a:solidFill>
                <a:latin typeface="Tahoma" panose="020B0604030504040204" pitchFamily="34" charset="0"/>
              </a:rPr>
              <a:pPr/>
              <a:t>4</a:t>
            </a:fld>
            <a:endParaRPr lang="en-US" altLang="en-US">
              <a:solidFill>
                <a:srgbClr val="777777"/>
              </a:solidFill>
              <a:latin typeface="Tahoma" panose="020B0604030504040204" pitchFamily="34" charset="0"/>
            </a:endParaRPr>
          </a:p>
        </p:txBody>
      </p:sp>
      <p:sp>
        <p:nvSpPr>
          <p:cNvPr id="12292" name="Rectangle 2">
            <a:extLst>
              <a:ext uri="{FF2B5EF4-FFF2-40B4-BE49-F238E27FC236}">
                <a16:creationId xmlns:a16="http://schemas.microsoft.com/office/drawing/2014/main" id="{DE3ECD51-1835-4A45-97D6-5A5A44C633BA}"/>
              </a:ext>
            </a:extLst>
          </p:cNvPr>
          <p:cNvSpPr>
            <a:spLocks noGrp="1" noChangeArrowheads="1"/>
          </p:cNvSpPr>
          <p:nvPr>
            <p:ph type="title" idx="4294967295"/>
          </p:nvPr>
        </p:nvSpPr>
        <p:spPr>
          <a:xfrm>
            <a:off x="222250" y="0"/>
            <a:ext cx="8686800" cy="901700"/>
          </a:xfrm>
        </p:spPr>
        <p:txBody>
          <a:bodyPr/>
          <a:lstStyle/>
          <a:p>
            <a:pPr eaLnBrk="1" hangingPunct="1"/>
            <a:r>
              <a:rPr lang="en-US" altLang="en-US" sz="3400"/>
              <a:t>The Demand Schedule</a:t>
            </a:r>
          </a:p>
        </p:txBody>
      </p:sp>
      <p:sp>
        <p:nvSpPr>
          <p:cNvPr id="12293" name="Rectangle 3">
            <a:extLst>
              <a:ext uri="{FF2B5EF4-FFF2-40B4-BE49-F238E27FC236}">
                <a16:creationId xmlns:a16="http://schemas.microsoft.com/office/drawing/2014/main" id="{61A7B81A-4DB1-4DCB-BC92-1F7E8B418A35}"/>
              </a:ext>
            </a:extLst>
          </p:cNvPr>
          <p:cNvSpPr>
            <a:spLocks noGrp="1" noChangeArrowheads="1"/>
          </p:cNvSpPr>
          <p:nvPr>
            <p:ph type="body" idx="4294967295"/>
          </p:nvPr>
        </p:nvSpPr>
        <p:spPr>
          <a:xfrm>
            <a:off x="531813" y="1016000"/>
            <a:ext cx="5099050" cy="3527425"/>
          </a:xfrm>
        </p:spPr>
        <p:txBody>
          <a:bodyPr/>
          <a:lstStyle/>
          <a:p>
            <a:pPr eaLnBrk="1" hangingPunct="1"/>
            <a:r>
              <a:rPr lang="en-US" altLang="en-US" b="1">
                <a:solidFill>
                  <a:srgbClr val="CC0000"/>
                </a:solidFill>
              </a:rPr>
              <a:t>Demand schedule</a:t>
            </a:r>
            <a:r>
              <a:rPr lang="en-US" altLang="en-US"/>
              <a:t>:   </a:t>
            </a:r>
            <a:br>
              <a:rPr lang="en-US" altLang="en-US"/>
            </a:br>
            <a:r>
              <a:rPr lang="en-US" altLang="en-US"/>
              <a:t>a table that shows the relationship between the price of a good and the quantity demanded </a:t>
            </a:r>
          </a:p>
          <a:p>
            <a:pPr eaLnBrk="1" hangingPunct="1">
              <a:spcBef>
                <a:spcPct val="60000"/>
              </a:spcBef>
            </a:pPr>
            <a:r>
              <a:rPr lang="en-US" altLang="en-US"/>
              <a:t>Example:  </a:t>
            </a:r>
            <a:br>
              <a:rPr lang="en-US" altLang="en-US"/>
            </a:br>
            <a:r>
              <a:rPr lang="en-US" altLang="en-US"/>
              <a:t>Helen’s demand for lattes.</a:t>
            </a:r>
          </a:p>
        </p:txBody>
      </p:sp>
      <p:graphicFrame>
        <p:nvGraphicFramePr>
          <p:cNvPr id="71684" name="Group 4">
            <a:extLst>
              <a:ext uri="{FF2B5EF4-FFF2-40B4-BE49-F238E27FC236}">
                <a16:creationId xmlns:a16="http://schemas.microsoft.com/office/drawing/2014/main" id="{4E4F35BB-8C7F-448D-BE4F-D3E940F1494B}"/>
              </a:ext>
            </a:extLst>
          </p:cNvPr>
          <p:cNvGraphicFramePr>
            <a:graphicFrameLocks noGrp="1"/>
          </p:cNvGraphicFramePr>
          <p:nvPr>
            <p:extLst>
              <p:ext uri="{D42A27DB-BD31-4B8C-83A1-F6EECF244321}">
                <p14:modId xmlns:p14="http://schemas.microsoft.com/office/powerpoint/2010/main" val="2555913931"/>
              </p:ext>
            </p:extLst>
          </p:nvPr>
        </p:nvGraphicFramePr>
        <p:xfrm>
          <a:off x="6191250" y="841375"/>
          <a:ext cx="2668588" cy="4572000"/>
        </p:xfrm>
        <a:graphic>
          <a:graphicData uri="http://schemas.openxmlformats.org/drawingml/2006/table">
            <a:tbl>
              <a:tblPr/>
              <a:tblGrid>
                <a:gridCol w="998538">
                  <a:extLst>
                    <a:ext uri="{9D8B030D-6E8A-4147-A177-3AD203B41FA5}">
                      <a16:colId xmlns:a16="http://schemas.microsoft.com/office/drawing/2014/main" val="20000"/>
                    </a:ext>
                  </a:extLst>
                </a:gridCol>
                <a:gridCol w="1670050">
                  <a:extLst>
                    <a:ext uri="{9D8B030D-6E8A-4147-A177-3AD203B41FA5}">
                      <a16:colId xmlns:a16="http://schemas.microsoft.com/office/drawing/2014/main" val="20001"/>
                    </a:ext>
                  </a:extLst>
                </a:gridCol>
              </a:tblGrid>
              <a:tr h="127371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Price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a:t>
                      </a:r>
                    </a:p>
                  </a:txBody>
                  <a:tcPr marT="47854" marB="47854"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dirty="0">
                          <a:ln>
                            <a:noFill/>
                          </a:ln>
                          <a:solidFill>
                            <a:schemeClr val="tx1"/>
                          </a:solidFill>
                          <a:effectLst/>
                          <a:latin typeface="Arial" panose="020B0604020202020204" pitchFamily="34" charset="0"/>
                        </a:rPr>
                        <a:t>Quantity </a:t>
                      </a:r>
                      <a:br>
                        <a:rPr kumimoji="0" lang="en-US" sz="2400" b="0" i="0" u="none" strike="noStrike" cap="none" normalizeH="0" baseline="0" dirty="0">
                          <a:ln>
                            <a:noFill/>
                          </a:ln>
                          <a:solidFill>
                            <a:schemeClr val="tx1"/>
                          </a:solidFill>
                          <a:effectLst/>
                          <a:latin typeface="Arial" panose="020B0604020202020204" pitchFamily="34" charset="0"/>
                        </a:rPr>
                      </a:br>
                      <a:r>
                        <a:rPr kumimoji="0" lang="en-US" sz="2400" b="0" i="0" u="none" strike="noStrike" cap="none" normalizeH="0" baseline="0" dirty="0">
                          <a:ln>
                            <a:noFill/>
                          </a:ln>
                          <a:solidFill>
                            <a:schemeClr val="tx1"/>
                          </a:solidFill>
                          <a:effectLst/>
                          <a:latin typeface="Arial" panose="020B0604020202020204" pitchFamily="34" charset="0"/>
                        </a:rPr>
                        <a:t>of lattes demanded</a:t>
                      </a:r>
                    </a:p>
                  </a:txBody>
                  <a:tcPr marT="47854" marB="47854"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14</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8</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dirty="0">
                          <a:ln>
                            <a:noFill/>
                          </a:ln>
                          <a:solidFill>
                            <a:schemeClr val="tx1"/>
                          </a:solidFill>
                          <a:effectLst/>
                          <a:latin typeface="Arial" panose="020B0604020202020204" pitchFamily="34" charset="0"/>
                        </a:rPr>
                        <a:t>4</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71729" name="Rectangle 49">
            <a:extLst>
              <a:ext uri="{FF2B5EF4-FFF2-40B4-BE49-F238E27FC236}">
                <a16:creationId xmlns:a16="http://schemas.microsoft.com/office/drawing/2014/main" id="{F773DDD3-B550-4DD4-8E43-D40E4FD8AC3F}"/>
              </a:ext>
            </a:extLst>
          </p:cNvPr>
          <p:cNvSpPr>
            <a:spLocks noChangeArrowheads="1"/>
          </p:cNvSpPr>
          <p:nvPr/>
        </p:nvSpPr>
        <p:spPr bwMode="auto">
          <a:xfrm>
            <a:off x="565150" y="4692650"/>
            <a:ext cx="484028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a:cs typeface="Arial" panose="020B0604020202020204" pitchFamily="34" charset="0"/>
              </a:rPr>
              <a:t>Notice that Helen’s preferences obey the </a:t>
            </a:r>
            <a:br>
              <a:rPr lang="en-US" altLang="en-US">
                <a:cs typeface="Arial" panose="020B0604020202020204" pitchFamily="34" charset="0"/>
              </a:rPr>
            </a:br>
            <a:r>
              <a:rPr lang="en-US" altLang="en-US">
                <a:cs typeface="Arial" panose="020B0604020202020204" pitchFamily="34" charset="0"/>
              </a:rPr>
              <a:t>Law of Demand.  </a:t>
            </a:r>
          </a:p>
        </p:txBody>
      </p:sp>
      <p:sp>
        <p:nvSpPr>
          <p:cNvPr id="12320" name="FlagCount" hidden="1">
            <a:hlinkClick r:id="rId3" action="ppaction://hlinkfile"/>
            <a:extLst>
              <a:ext uri="{FF2B5EF4-FFF2-40B4-BE49-F238E27FC236}">
                <a16:creationId xmlns:a16="http://schemas.microsoft.com/office/drawing/2014/main" id="{C3B388FF-FF4E-43A2-A1BF-194AC70183BB}"/>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3">
                                            <p:txEl>
                                              <p:pRg st="0" end="0"/>
                                            </p:txEl>
                                          </p:spTgt>
                                        </p:tgtEl>
                                        <p:attrNameLst>
                                          <p:attrName>style.visibility</p:attrName>
                                        </p:attrNameLst>
                                      </p:cBhvr>
                                      <p:to>
                                        <p:strVal val="visible"/>
                                      </p:to>
                                    </p:set>
                                    <p:animEffect transition="in" filter="wipe(left)">
                                      <p:cBhvr>
                                        <p:cTn id="7" dur="500"/>
                                        <p:tgtEl>
                                          <p:spTgt spid="122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3">
                                            <p:txEl>
                                              <p:pRg st="1" end="1"/>
                                            </p:txEl>
                                          </p:spTgt>
                                        </p:tgtEl>
                                        <p:attrNameLst>
                                          <p:attrName>style.visibility</p:attrName>
                                        </p:attrNameLst>
                                      </p:cBhvr>
                                      <p:to>
                                        <p:strVal val="visible"/>
                                      </p:to>
                                    </p:set>
                                    <p:animEffect transition="in" filter="wipe(left)">
                                      <p:cBhvr>
                                        <p:cTn id="12" dur="500"/>
                                        <p:tgtEl>
                                          <p:spTgt spid="12293">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71684"/>
                                        </p:tgtEl>
                                        <p:attrNameLst>
                                          <p:attrName>style.visibility</p:attrName>
                                        </p:attrNameLst>
                                      </p:cBhvr>
                                      <p:to>
                                        <p:strVal val="visible"/>
                                      </p:to>
                                    </p:set>
                                    <p:animEffect transition="in" filter="dissolve">
                                      <p:cBhvr>
                                        <p:cTn id="16" dur="500"/>
                                        <p:tgtEl>
                                          <p:spTgt spid="7168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1729"/>
                                        </p:tgtEl>
                                        <p:attrNameLst>
                                          <p:attrName>style.visibility</p:attrName>
                                        </p:attrNameLst>
                                      </p:cBhvr>
                                      <p:to>
                                        <p:strVal val="visible"/>
                                      </p:to>
                                    </p:set>
                                    <p:animEffect transition="in" filter="wipe(left)">
                                      <p:cBhvr>
                                        <p:cTn id="21" dur="500"/>
                                        <p:tgtEl>
                                          <p:spTgt spid="71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build="p" bldLvl="4"/>
      <p:bldP spid="717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1">
            <a:extLst>
              <a:ext uri="{FF2B5EF4-FFF2-40B4-BE49-F238E27FC236}">
                <a16:creationId xmlns:a16="http://schemas.microsoft.com/office/drawing/2014/main" id="{1F7AB985-4B91-4880-AE82-B856197E5D41}"/>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4339" name="Slide Number Placeholder 2">
            <a:extLst>
              <a:ext uri="{FF2B5EF4-FFF2-40B4-BE49-F238E27FC236}">
                <a16:creationId xmlns:a16="http://schemas.microsoft.com/office/drawing/2014/main" id="{074C0CB4-20A1-4134-B27F-EEC39E3A2FCD}"/>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42940-8140-468A-99A5-D054EC63A784}" type="slidenum">
              <a:rPr lang="en-US" altLang="en-US">
                <a:solidFill>
                  <a:srgbClr val="777777"/>
                </a:solidFill>
                <a:latin typeface="Tahoma" panose="020B0604030504040204" pitchFamily="34" charset="0"/>
              </a:rPr>
              <a:pPr/>
              <a:t>5</a:t>
            </a:fld>
            <a:endParaRPr lang="en-US" altLang="en-US">
              <a:solidFill>
                <a:srgbClr val="777777"/>
              </a:solidFill>
              <a:latin typeface="Tahoma" panose="020B0604030504040204" pitchFamily="34" charset="0"/>
            </a:endParaRPr>
          </a:p>
        </p:txBody>
      </p:sp>
      <p:grpSp>
        <p:nvGrpSpPr>
          <p:cNvPr id="2" name="Group 2">
            <a:extLst>
              <a:ext uri="{FF2B5EF4-FFF2-40B4-BE49-F238E27FC236}">
                <a16:creationId xmlns:a16="http://schemas.microsoft.com/office/drawing/2014/main" id="{12CECA39-A792-4BE2-AFF2-2BC17AD050E3}"/>
              </a:ext>
            </a:extLst>
          </p:cNvPr>
          <p:cNvGrpSpPr>
            <a:grpSpLocks/>
          </p:cNvGrpSpPr>
          <p:nvPr/>
        </p:nvGrpSpPr>
        <p:grpSpPr bwMode="auto">
          <a:xfrm>
            <a:off x="133350" y="876300"/>
            <a:ext cx="6445250" cy="5456238"/>
            <a:chOff x="84" y="552"/>
            <a:chExt cx="4060" cy="3437"/>
          </a:xfrm>
        </p:grpSpPr>
        <p:pic>
          <p:nvPicPr>
            <p:cNvPr id="14407" name="Picture 3" descr="chap4 graph1">
              <a:extLst>
                <a:ext uri="{FF2B5EF4-FFF2-40B4-BE49-F238E27FC236}">
                  <a16:creationId xmlns:a16="http://schemas.microsoft.com/office/drawing/2014/main" id="{829E79F9-544B-437E-986E-20078A5B3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 y="631"/>
              <a:ext cx="3646" cy="3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08" name="Text Box 4">
              <a:extLst>
                <a:ext uri="{FF2B5EF4-FFF2-40B4-BE49-F238E27FC236}">
                  <a16:creationId xmlns:a16="http://schemas.microsoft.com/office/drawing/2014/main" id="{C39A4B1E-C458-4C74-BEF0-FAB3B2959F23}"/>
                </a:ext>
              </a:extLst>
            </p:cNvPr>
            <p:cNvSpPr txBox="1">
              <a:spLocks noChangeArrowheads="1"/>
            </p:cNvSpPr>
            <p:nvPr/>
          </p:nvSpPr>
          <p:spPr bwMode="auto">
            <a:xfrm>
              <a:off x="84" y="552"/>
              <a:ext cx="857" cy="5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400" b="1">
                  <a:cs typeface="Arial" panose="020B0604020202020204" pitchFamily="34" charset="0"/>
                </a:rPr>
                <a:t>Price of Lattes</a:t>
              </a:r>
            </a:p>
          </p:txBody>
        </p:sp>
        <p:sp>
          <p:nvSpPr>
            <p:cNvPr id="14409" name="Text Box 5">
              <a:extLst>
                <a:ext uri="{FF2B5EF4-FFF2-40B4-BE49-F238E27FC236}">
                  <a16:creationId xmlns:a16="http://schemas.microsoft.com/office/drawing/2014/main" id="{8D40A7FB-8423-491E-A93A-DDC37316E5C1}"/>
                </a:ext>
              </a:extLst>
            </p:cNvPr>
            <p:cNvSpPr txBox="1">
              <a:spLocks noChangeArrowheads="1"/>
            </p:cNvSpPr>
            <p:nvPr/>
          </p:nvSpPr>
          <p:spPr bwMode="auto">
            <a:xfrm>
              <a:off x="3277" y="3489"/>
              <a:ext cx="867" cy="4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a:cs typeface="Arial" panose="020B0604020202020204" pitchFamily="34" charset="0"/>
                </a:rPr>
                <a:t>Quantity of Lattes</a:t>
              </a:r>
            </a:p>
          </p:txBody>
        </p:sp>
      </p:grpSp>
      <p:sp>
        <p:nvSpPr>
          <p:cNvPr id="72710" name="Line 6">
            <a:extLst>
              <a:ext uri="{FF2B5EF4-FFF2-40B4-BE49-F238E27FC236}">
                <a16:creationId xmlns:a16="http://schemas.microsoft.com/office/drawing/2014/main" id="{637F153D-86D7-4324-978E-627BAAD3024E}"/>
              </a:ext>
            </a:extLst>
          </p:cNvPr>
          <p:cNvSpPr>
            <a:spLocks noChangeShapeType="1"/>
          </p:cNvSpPr>
          <p:nvPr/>
        </p:nvSpPr>
        <p:spPr bwMode="auto">
          <a:xfrm>
            <a:off x="1960563" y="1585913"/>
            <a:ext cx="3052762" cy="3889375"/>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1" name="Oval 7">
            <a:extLst>
              <a:ext uri="{FF2B5EF4-FFF2-40B4-BE49-F238E27FC236}">
                <a16:creationId xmlns:a16="http://schemas.microsoft.com/office/drawing/2014/main" id="{9B393D6A-2F56-422C-9393-9B18A179E756}"/>
              </a:ext>
            </a:extLst>
          </p:cNvPr>
          <p:cNvSpPr>
            <a:spLocks noChangeArrowheads="1"/>
          </p:cNvSpPr>
          <p:nvPr/>
        </p:nvSpPr>
        <p:spPr bwMode="auto">
          <a:xfrm>
            <a:off x="4943475" y="5414963"/>
            <a:ext cx="139700" cy="13811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4343" name="Rectangle 8">
            <a:extLst>
              <a:ext uri="{FF2B5EF4-FFF2-40B4-BE49-F238E27FC236}">
                <a16:creationId xmlns:a16="http://schemas.microsoft.com/office/drawing/2014/main" id="{6FAD2C85-D51E-4EE3-A3F7-9058343C681A}"/>
              </a:ext>
            </a:extLst>
          </p:cNvPr>
          <p:cNvSpPr>
            <a:spLocks noGrp="1" noChangeArrowheads="1"/>
          </p:cNvSpPr>
          <p:nvPr>
            <p:ph type="title" idx="4294967295"/>
          </p:nvPr>
        </p:nvSpPr>
        <p:spPr>
          <a:xfrm>
            <a:off x="896938" y="109538"/>
            <a:ext cx="7491412" cy="677862"/>
          </a:xfrm>
        </p:spPr>
        <p:txBody>
          <a:bodyPr/>
          <a:lstStyle/>
          <a:p>
            <a:pPr eaLnBrk="1" hangingPunct="1"/>
            <a:r>
              <a:rPr lang="en-US" altLang="en-US" sz="3200"/>
              <a:t>Helen’s Demand Schedule &amp; Curve</a:t>
            </a:r>
          </a:p>
        </p:txBody>
      </p:sp>
      <p:graphicFrame>
        <p:nvGraphicFramePr>
          <p:cNvPr id="72713" name="Group 9">
            <a:extLst>
              <a:ext uri="{FF2B5EF4-FFF2-40B4-BE49-F238E27FC236}">
                <a16:creationId xmlns:a16="http://schemas.microsoft.com/office/drawing/2014/main" id="{BCB60E96-6C29-4A57-99DE-90FB020D9233}"/>
              </a:ext>
            </a:extLst>
          </p:cNvPr>
          <p:cNvGraphicFramePr>
            <a:graphicFrameLocks noGrp="1"/>
          </p:cNvGraphicFramePr>
          <p:nvPr/>
        </p:nvGraphicFramePr>
        <p:xfrm>
          <a:off x="6191250" y="841375"/>
          <a:ext cx="2668588" cy="4966504"/>
        </p:xfrm>
        <a:graphic>
          <a:graphicData uri="http://schemas.openxmlformats.org/drawingml/2006/table">
            <a:tbl>
              <a:tblPr/>
              <a:tblGrid>
                <a:gridCol w="998538">
                  <a:extLst>
                    <a:ext uri="{9D8B030D-6E8A-4147-A177-3AD203B41FA5}">
                      <a16:colId xmlns:a16="http://schemas.microsoft.com/office/drawing/2014/main" val="20000"/>
                    </a:ext>
                  </a:extLst>
                </a:gridCol>
                <a:gridCol w="1670050">
                  <a:extLst>
                    <a:ext uri="{9D8B030D-6E8A-4147-A177-3AD203B41FA5}">
                      <a16:colId xmlns:a16="http://schemas.microsoft.com/office/drawing/2014/main" val="20001"/>
                    </a:ext>
                  </a:extLst>
                </a:gridCol>
              </a:tblGrid>
              <a:tr h="127371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Price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a:t>
                      </a:r>
                    </a:p>
                  </a:txBody>
                  <a:tcPr marT="47854" marB="47854"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Quantity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 demanded</a:t>
                      </a:r>
                    </a:p>
                  </a:txBody>
                  <a:tcPr marT="47854" marB="47854"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14</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8</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grpSp>
        <p:nvGrpSpPr>
          <p:cNvPr id="3" name="Group 54">
            <a:extLst>
              <a:ext uri="{FF2B5EF4-FFF2-40B4-BE49-F238E27FC236}">
                <a16:creationId xmlns:a16="http://schemas.microsoft.com/office/drawing/2014/main" id="{77F56279-EB52-4102-9462-A304FE0A997A}"/>
              </a:ext>
            </a:extLst>
          </p:cNvPr>
          <p:cNvGrpSpPr>
            <a:grpSpLocks/>
          </p:cNvGrpSpPr>
          <p:nvPr/>
        </p:nvGrpSpPr>
        <p:grpSpPr bwMode="auto">
          <a:xfrm>
            <a:off x="1335088" y="4235450"/>
            <a:ext cx="2832100" cy="1250950"/>
            <a:chOff x="841" y="2668"/>
            <a:chExt cx="1784" cy="788"/>
          </a:xfrm>
        </p:grpSpPr>
        <p:grpSp>
          <p:nvGrpSpPr>
            <p:cNvPr id="14403" name="Group 55">
              <a:extLst>
                <a:ext uri="{FF2B5EF4-FFF2-40B4-BE49-F238E27FC236}">
                  <a16:creationId xmlns:a16="http://schemas.microsoft.com/office/drawing/2014/main" id="{5BC1950E-0364-4A43-9D4C-897B726E8C25}"/>
                </a:ext>
              </a:extLst>
            </p:cNvPr>
            <p:cNvGrpSpPr>
              <a:grpSpLocks/>
            </p:cNvGrpSpPr>
            <p:nvPr/>
          </p:nvGrpSpPr>
          <p:grpSpPr bwMode="auto">
            <a:xfrm>
              <a:off x="841" y="2712"/>
              <a:ext cx="1747" cy="744"/>
              <a:chOff x="357" y="2450"/>
              <a:chExt cx="795" cy="646"/>
            </a:xfrm>
          </p:grpSpPr>
          <p:sp>
            <p:nvSpPr>
              <p:cNvPr id="14405" name="Line 56">
                <a:extLst>
                  <a:ext uri="{FF2B5EF4-FFF2-40B4-BE49-F238E27FC236}">
                    <a16:creationId xmlns:a16="http://schemas.microsoft.com/office/drawing/2014/main" id="{7320857E-4157-45AC-82A1-4A03201EEA12}"/>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406" name="Line 57">
                <a:extLst>
                  <a:ext uri="{FF2B5EF4-FFF2-40B4-BE49-F238E27FC236}">
                    <a16:creationId xmlns:a16="http://schemas.microsoft.com/office/drawing/2014/main" id="{8F5BDDCA-DBDA-475D-B559-46162ED8967E}"/>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404" name="Oval 58">
              <a:extLst>
                <a:ext uri="{FF2B5EF4-FFF2-40B4-BE49-F238E27FC236}">
                  <a16:creationId xmlns:a16="http://schemas.microsoft.com/office/drawing/2014/main" id="{C15E480C-35FB-49B5-B3DA-A23C36A7FA61}"/>
                </a:ext>
              </a:extLst>
            </p:cNvPr>
            <p:cNvSpPr>
              <a:spLocks noChangeArrowheads="1"/>
            </p:cNvSpPr>
            <p:nvPr/>
          </p:nvSpPr>
          <p:spPr bwMode="auto">
            <a:xfrm>
              <a:off x="2537" y="2668"/>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5" name="Group 59">
            <a:extLst>
              <a:ext uri="{FF2B5EF4-FFF2-40B4-BE49-F238E27FC236}">
                <a16:creationId xmlns:a16="http://schemas.microsoft.com/office/drawing/2014/main" id="{13BEA5A8-74E9-4CE6-9ACE-47FB2D1F1E0A}"/>
              </a:ext>
            </a:extLst>
          </p:cNvPr>
          <p:cNvGrpSpPr>
            <a:grpSpLocks/>
          </p:cNvGrpSpPr>
          <p:nvPr/>
        </p:nvGrpSpPr>
        <p:grpSpPr bwMode="auto">
          <a:xfrm>
            <a:off x="1335088" y="4837113"/>
            <a:ext cx="3300412" cy="655637"/>
            <a:chOff x="841" y="3047"/>
            <a:chExt cx="2079" cy="413"/>
          </a:xfrm>
        </p:grpSpPr>
        <p:grpSp>
          <p:nvGrpSpPr>
            <p:cNvPr id="14399" name="Group 60">
              <a:extLst>
                <a:ext uri="{FF2B5EF4-FFF2-40B4-BE49-F238E27FC236}">
                  <a16:creationId xmlns:a16="http://schemas.microsoft.com/office/drawing/2014/main" id="{3A1290F4-DA27-4119-BE2C-E3CE680E7808}"/>
                </a:ext>
              </a:extLst>
            </p:cNvPr>
            <p:cNvGrpSpPr>
              <a:grpSpLocks/>
            </p:cNvGrpSpPr>
            <p:nvPr/>
          </p:nvGrpSpPr>
          <p:grpSpPr bwMode="auto">
            <a:xfrm>
              <a:off x="841" y="3092"/>
              <a:ext cx="2032" cy="368"/>
              <a:chOff x="357" y="2450"/>
              <a:chExt cx="795" cy="646"/>
            </a:xfrm>
          </p:grpSpPr>
          <p:sp>
            <p:nvSpPr>
              <p:cNvPr id="14401" name="Line 61">
                <a:extLst>
                  <a:ext uri="{FF2B5EF4-FFF2-40B4-BE49-F238E27FC236}">
                    <a16:creationId xmlns:a16="http://schemas.microsoft.com/office/drawing/2014/main" id="{F5AF59AC-D90D-42AB-9FF9-4672FE3E1FB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402" name="Line 62">
                <a:extLst>
                  <a:ext uri="{FF2B5EF4-FFF2-40B4-BE49-F238E27FC236}">
                    <a16:creationId xmlns:a16="http://schemas.microsoft.com/office/drawing/2014/main" id="{0AC45C87-BC06-4CB8-8F02-04CC67D29F6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400" name="Oval 63">
              <a:extLst>
                <a:ext uri="{FF2B5EF4-FFF2-40B4-BE49-F238E27FC236}">
                  <a16:creationId xmlns:a16="http://schemas.microsoft.com/office/drawing/2014/main" id="{DE337976-7070-4893-B12B-3BB09C4FB062}"/>
                </a:ext>
              </a:extLst>
            </p:cNvPr>
            <p:cNvSpPr>
              <a:spLocks noChangeArrowheads="1"/>
            </p:cNvSpPr>
            <p:nvPr/>
          </p:nvSpPr>
          <p:spPr bwMode="auto">
            <a:xfrm>
              <a:off x="2832" y="3047"/>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7" name="Group 64">
            <a:extLst>
              <a:ext uri="{FF2B5EF4-FFF2-40B4-BE49-F238E27FC236}">
                <a16:creationId xmlns:a16="http://schemas.microsoft.com/office/drawing/2014/main" id="{B7D6A023-73F6-419C-9A5F-6BD81B97458C}"/>
              </a:ext>
            </a:extLst>
          </p:cNvPr>
          <p:cNvGrpSpPr>
            <a:grpSpLocks/>
          </p:cNvGrpSpPr>
          <p:nvPr/>
        </p:nvGrpSpPr>
        <p:grpSpPr bwMode="auto">
          <a:xfrm>
            <a:off x="1338263" y="3652838"/>
            <a:ext cx="2374900" cy="1835150"/>
            <a:chOff x="843" y="2301"/>
            <a:chExt cx="1496" cy="1156"/>
          </a:xfrm>
        </p:grpSpPr>
        <p:sp>
          <p:nvSpPr>
            <p:cNvPr id="14395" name="Oval 65">
              <a:extLst>
                <a:ext uri="{FF2B5EF4-FFF2-40B4-BE49-F238E27FC236}">
                  <a16:creationId xmlns:a16="http://schemas.microsoft.com/office/drawing/2014/main" id="{B152518C-D969-4D40-A9F8-9617BD0BD091}"/>
                </a:ext>
              </a:extLst>
            </p:cNvPr>
            <p:cNvSpPr>
              <a:spLocks noChangeArrowheads="1"/>
            </p:cNvSpPr>
            <p:nvPr/>
          </p:nvSpPr>
          <p:spPr bwMode="auto">
            <a:xfrm>
              <a:off x="2251" y="2301"/>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4396" name="Group 66">
              <a:extLst>
                <a:ext uri="{FF2B5EF4-FFF2-40B4-BE49-F238E27FC236}">
                  <a16:creationId xmlns:a16="http://schemas.microsoft.com/office/drawing/2014/main" id="{89E93CE7-F53D-4AD9-A5B3-204A38E3B449}"/>
                </a:ext>
              </a:extLst>
            </p:cNvPr>
            <p:cNvGrpSpPr>
              <a:grpSpLocks/>
            </p:cNvGrpSpPr>
            <p:nvPr/>
          </p:nvGrpSpPr>
          <p:grpSpPr bwMode="auto">
            <a:xfrm>
              <a:off x="843" y="2343"/>
              <a:ext cx="1452" cy="1114"/>
              <a:chOff x="357" y="2450"/>
              <a:chExt cx="795" cy="646"/>
            </a:xfrm>
          </p:grpSpPr>
          <p:sp>
            <p:nvSpPr>
              <p:cNvPr id="14397" name="Line 67">
                <a:extLst>
                  <a:ext uri="{FF2B5EF4-FFF2-40B4-BE49-F238E27FC236}">
                    <a16:creationId xmlns:a16="http://schemas.microsoft.com/office/drawing/2014/main" id="{CA99E30E-3DDB-4AA7-ADE9-06B998E2CECE}"/>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98" name="Line 68">
                <a:extLst>
                  <a:ext uri="{FF2B5EF4-FFF2-40B4-BE49-F238E27FC236}">
                    <a16:creationId xmlns:a16="http://schemas.microsoft.com/office/drawing/2014/main" id="{6D82E38D-6D37-4875-A58C-E9518A5EA90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 name="Group 69">
            <a:extLst>
              <a:ext uri="{FF2B5EF4-FFF2-40B4-BE49-F238E27FC236}">
                <a16:creationId xmlns:a16="http://schemas.microsoft.com/office/drawing/2014/main" id="{24EB8026-F105-4412-8A69-E324A7671B39}"/>
              </a:ext>
            </a:extLst>
          </p:cNvPr>
          <p:cNvGrpSpPr>
            <a:grpSpLocks/>
          </p:cNvGrpSpPr>
          <p:nvPr/>
        </p:nvGrpSpPr>
        <p:grpSpPr bwMode="auto">
          <a:xfrm>
            <a:off x="1333500" y="3063875"/>
            <a:ext cx="1917700" cy="2420938"/>
            <a:chOff x="840" y="1930"/>
            <a:chExt cx="1208" cy="1525"/>
          </a:xfrm>
        </p:grpSpPr>
        <p:sp>
          <p:nvSpPr>
            <p:cNvPr id="14391" name="Oval 70">
              <a:extLst>
                <a:ext uri="{FF2B5EF4-FFF2-40B4-BE49-F238E27FC236}">
                  <a16:creationId xmlns:a16="http://schemas.microsoft.com/office/drawing/2014/main" id="{952CBAAA-08E2-4AE5-B469-CC251A7B4C9F}"/>
                </a:ext>
              </a:extLst>
            </p:cNvPr>
            <p:cNvSpPr>
              <a:spLocks noChangeArrowheads="1"/>
            </p:cNvSpPr>
            <p:nvPr/>
          </p:nvSpPr>
          <p:spPr bwMode="auto">
            <a:xfrm>
              <a:off x="1960" y="1930"/>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4392" name="Group 71">
              <a:extLst>
                <a:ext uri="{FF2B5EF4-FFF2-40B4-BE49-F238E27FC236}">
                  <a16:creationId xmlns:a16="http://schemas.microsoft.com/office/drawing/2014/main" id="{0B75F868-6ADB-4807-AACD-7E12B9622D4A}"/>
                </a:ext>
              </a:extLst>
            </p:cNvPr>
            <p:cNvGrpSpPr>
              <a:grpSpLocks/>
            </p:cNvGrpSpPr>
            <p:nvPr/>
          </p:nvGrpSpPr>
          <p:grpSpPr bwMode="auto">
            <a:xfrm>
              <a:off x="840" y="1971"/>
              <a:ext cx="1172" cy="1484"/>
              <a:chOff x="357" y="2450"/>
              <a:chExt cx="795" cy="646"/>
            </a:xfrm>
          </p:grpSpPr>
          <p:sp>
            <p:nvSpPr>
              <p:cNvPr id="14393" name="Line 72">
                <a:extLst>
                  <a:ext uri="{FF2B5EF4-FFF2-40B4-BE49-F238E27FC236}">
                    <a16:creationId xmlns:a16="http://schemas.microsoft.com/office/drawing/2014/main" id="{5F5AB3A4-C3FB-4BFF-938D-1480845FDCE5}"/>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94" name="Line 73">
                <a:extLst>
                  <a:ext uri="{FF2B5EF4-FFF2-40B4-BE49-F238E27FC236}">
                    <a16:creationId xmlns:a16="http://schemas.microsoft.com/office/drawing/2014/main" id="{321084D7-3A06-4D85-A4D0-F6E4CA4DC2C8}"/>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1" name="Group 74">
            <a:extLst>
              <a:ext uri="{FF2B5EF4-FFF2-40B4-BE49-F238E27FC236}">
                <a16:creationId xmlns:a16="http://schemas.microsoft.com/office/drawing/2014/main" id="{2554BFB7-879F-4746-9826-BB17385D2386}"/>
              </a:ext>
            </a:extLst>
          </p:cNvPr>
          <p:cNvGrpSpPr>
            <a:grpSpLocks/>
          </p:cNvGrpSpPr>
          <p:nvPr/>
        </p:nvGrpSpPr>
        <p:grpSpPr bwMode="auto">
          <a:xfrm>
            <a:off x="1336675" y="2466975"/>
            <a:ext cx="1452563" cy="3027363"/>
            <a:chOff x="842" y="1554"/>
            <a:chExt cx="915" cy="1907"/>
          </a:xfrm>
        </p:grpSpPr>
        <p:sp>
          <p:nvSpPr>
            <p:cNvPr id="14387" name="Oval 75">
              <a:extLst>
                <a:ext uri="{FF2B5EF4-FFF2-40B4-BE49-F238E27FC236}">
                  <a16:creationId xmlns:a16="http://schemas.microsoft.com/office/drawing/2014/main" id="{7C01E115-7C67-4814-A872-15D75AA90C64}"/>
                </a:ext>
              </a:extLst>
            </p:cNvPr>
            <p:cNvSpPr>
              <a:spLocks noChangeArrowheads="1"/>
            </p:cNvSpPr>
            <p:nvPr/>
          </p:nvSpPr>
          <p:spPr bwMode="auto">
            <a:xfrm>
              <a:off x="1669" y="1554"/>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4388" name="Group 76">
              <a:extLst>
                <a:ext uri="{FF2B5EF4-FFF2-40B4-BE49-F238E27FC236}">
                  <a16:creationId xmlns:a16="http://schemas.microsoft.com/office/drawing/2014/main" id="{CBAEE8A2-2D94-48BA-8B89-534169FC64C8}"/>
                </a:ext>
              </a:extLst>
            </p:cNvPr>
            <p:cNvGrpSpPr>
              <a:grpSpLocks/>
            </p:cNvGrpSpPr>
            <p:nvPr/>
          </p:nvGrpSpPr>
          <p:grpSpPr bwMode="auto">
            <a:xfrm>
              <a:off x="842" y="1590"/>
              <a:ext cx="873" cy="1871"/>
              <a:chOff x="357" y="2450"/>
              <a:chExt cx="795" cy="646"/>
            </a:xfrm>
          </p:grpSpPr>
          <p:sp>
            <p:nvSpPr>
              <p:cNvPr id="14389" name="Line 77">
                <a:extLst>
                  <a:ext uri="{FF2B5EF4-FFF2-40B4-BE49-F238E27FC236}">
                    <a16:creationId xmlns:a16="http://schemas.microsoft.com/office/drawing/2014/main" id="{BCE8B3C4-3A31-470F-AF1E-9EB78D0C99E4}"/>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90" name="Line 78">
                <a:extLst>
                  <a:ext uri="{FF2B5EF4-FFF2-40B4-BE49-F238E27FC236}">
                    <a16:creationId xmlns:a16="http://schemas.microsoft.com/office/drawing/2014/main" id="{51BACB58-0E27-44F4-969E-913482E2307C}"/>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3" name="Group 79">
            <a:extLst>
              <a:ext uri="{FF2B5EF4-FFF2-40B4-BE49-F238E27FC236}">
                <a16:creationId xmlns:a16="http://schemas.microsoft.com/office/drawing/2014/main" id="{F9EBB597-3A76-496B-BFF4-8C31E40BEE56}"/>
              </a:ext>
            </a:extLst>
          </p:cNvPr>
          <p:cNvGrpSpPr>
            <a:grpSpLocks/>
          </p:cNvGrpSpPr>
          <p:nvPr/>
        </p:nvGrpSpPr>
        <p:grpSpPr bwMode="auto">
          <a:xfrm>
            <a:off x="1333500" y="1876425"/>
            <a:ext cx="984250" cy="3619500"/>
            <a:chOff x="840" y="1182"/>
            <a:chExt cx="620" cy="2280"/>
          </a:xfrm>
        </p:grpSpPr>
        <p:sp>
          <p:nvSpPr>
            <p:cNvPr id="14383" name="Oval 80">
              <a:extLst>
                <a:ext uri="{FF2B5EF4-FFF2-40B4-BE49-F238E27FC236}">
                  <a16:creationId xmlns:a16="http://schemas.microsoft.com/office/drawing/2014/main" id="{A0BD7E34-B35B-4F19-A269-85A0A2A688B6}"/>
                </a:ext>
              </a:extLst>
            </p:cNvPr>
            <p:cNvSpPr>
              <a:spLocks noChangeArrowheads="1"/>
            </p:cNvSpPr>
            <p:nvPr/>
          </p:nvSpPr>
          <p:spPr bwMode="auto">
            <a:xfrm>
              <a:off x="1372" y="1182"/>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4384" name="Group 81">
              <a:extLst>
                <a:ext uri="{FF2B5EF4-FFF2-40B4-BE49-F238E27FC236}">
                  <a16:creationId xmlns:a16="http://schemas.microsoft.com/office/drawing/2014/main" id="{AA77715E-B00D-4049-803A-B06123D46746}"/>
                </a:ext>
              </a:extLst>
            </p:cNvPr>
            <p:cNvGrpSpPr>
              <a:grpSpLocks/>
            </p:cNvGrpSpPr>
            <p:nvPr/>
          </p:nvGrpSpPr>
          <p:grpSpPr bwMode="auto">
            <a:xfrm>
              <a:off x="840" y="1221"/>
              <a:ext cx="579" cy="2241"/>
              <a:chOff x="357" y="2450"/>
              <a:chExt cx="795" cy="646"/>
            </a:xfrm>
          </p:grpSpPr>
          <p:sp>
            <p:nvSpPr>
              <p:cNvPr id="14385" name="Line 82">
                <a:extLst>
                  <a:ext uri="{FF2B5EF4-FFF2-40B4-BE49-F238E27FC236}">
                    <a16:creationId xmlns:a16="http://schemas.microsoft.com/office/drawing/2014/main" id="{E17EFD1C-D801-433F-966A-8259E9B7E4B3}"/>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86" name="Line 83">
                <a:extLst>
                  <a:ext uri="{FF2B5EF4-FFF2-40B4-BE49-F238E27FC236}">
                    <a16:creationId xmlns:a16="http://schemas.microsoft.com/office/drawing/2014/main" id="{BFF38C23-960A-4BF6-94EC-CD92910CBD4F}"/>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72788" name="Line 84">
            <a:extLst>
              <a:ext uri="{FF2B5EF4-FFF2-40B4-BE49-F238E27FC236}">
                <a16:creationId xmlns:a16="http://schemas.microsoft.com/office/drawing/2014/main" id="{AFFA8EAC-3B41-4E17-92C2-8428BC4D233E}"/>
              </a:ext>
            </a:extLst>
          </p:cNvPr>
          <p:cNvSpPr>
            <a:spLocks noChangeShapeType="1"/>
          </p:cNvSpPr>
          <p:nvPr/>
        </p:nvSpPr>
        <p:spPr bwMode="auto">
          <a:xfrm>
            <a:off x="5645150" y="2338388"/>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89" name="Line 85">
            <a:extLst>
              <a:ext uri="{FF2B5EF4-FFF2-40B4-BE49-F238E27FC236}">
                <a16:creationId xmlns:a16="http://schemas.microsoft.com/office/drawing/2014/main" id="{2D245DD9-2116-4619-9BE7-604B04F1203E}"/>
              </a:ext>
            </a:extLst>
          </p:cNvPr>
          <p:cNvSpPr>
            <a:spLocks noChangeShapeType="1"/>
          </p:cNvSpPr>
          <p:nvPr/>
        </p:nvSpPr>
        <p:spPr bwMode="auto">
          <a:xfrm>
            <a:off x="5637213" y="2809875"/>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0" name="Line 86">
            <a:extLst>
              <a:ext uri="{FF2B5EF4-FFF2-40B4-BE49-F238E27FC236}">
                <a16:creationId xmlns:a16="http://schemas.microsoft.com/office/drawing/2014/main" id="{79ED5714-8725-4C60-AD85-641EE446F6EA}"/>
              </a:ext>
            </a:extLst>
          </p:cNvPr>
          <p:cNvSpPr>
            <a:spLocks noChangeShapeType="1"/>
          </p:cNvSpPr>
          <p:nvPr/>
        </p:nvSpPr>
        <p:spPr bwMode="auto">
          <a:xfrm>
            <a:off x="5646738" y="3279775"/>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1" name="Line 87">
            <a:extLst>
              <a:ext uri="{FF2B5EF4-FFF2-40B4-BE49-F238E27FC236}">
                <a16:creationId xmlns:a16="http://schemas.microsoft.com/office/drawing/2014/main" id="{2C578D8C-EF9C-4B21-8D77-D6BF8C75BBBB}"/>
              </a:ext>
            </a:extLst>
          </p:cNvPr>
          <p:cNvSpPr>
            <a:spLocks noChangeShapeType="1"/>
          </p:cNvSpPr>
          <p:nvPr/>
        </p:nvSpPr>
        <p:spPr bwMode="auto">
          <a:xfrm>
            <a:off x="5637213" y="3752850"/>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2" name="Line 88">
            <a:extLst>
              <a:ext uri="{FF2B5EF4-FFF2-40B4-BE49-F238E27FC236}">
                <a16:creationId xmlns:a16="http://schemas.microsoft.com/office/drawing/2014/main" id="{A485A8BC-57D2-451D-9ECC-6B01F53E1E53}"/>
              </a:ext>
            </a:extLst>
          </p:cNvPr>
          <p:cNvSpPr>
            <a:spLocks noChangeShapeType="1"/>
          </p:cNvSpPr>
          <p:nvPr/>
        </p:nvSpPr>
        <p:spPr bwMode="auto">
          <a:xfrm>
            <a:off x="5645150" y="4238625"/>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3" name="Line 89">
            <a:extLst>
              <a:ext uri="{FF2B5EF4-FFF2-40B4-BE49-F238E27FC236}">
                <a16:creationId xmlns:a16="http://schemas.microsoft.com/office/drawing/2014/main" id="{3F71B888-E05A-4B7F-ABCB-4B0167886545}"/>
              </a:ext>
            </a:extLst>
          </p:cNvPr>
          <p:cNvSpPr>
            <a:spLocks noChangeShapeType="1"/>
          </p:cNvSpPr>
          <p:nvPr/>
        </p:nvSpPr>
        <p:spPr bwMode="auto">
          <a:xfrm>
            <a:off x="5638800" y="4710113"/>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4" name="Line 90">
            <a:extLst>
              <a:ext uri="{FF2B5EF4-FFF2-40B4-BE49-F238E27FC236}">
                <a16:creationId xmlns:a16="http://schemas.microsoft.com/office/drawing/2014/main" id="{2E6FE84C-B378-4309-BF6D-31EAA386B287}"/>
              </a:ext>
            </a:extLst>
          </p:cNvPr>
          <p:cNvSpPr>
            <a:spLocks noChangeShapeType="1"/>
          </p:cNvSpPr>
          <p:nvPr/>
        </p:nvSpPr>
        <p:spPr bwMode="auto">
          <a:xfrm>
            <a:off x="5629275" y="5181600"/>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4382" name="FlagCount" hidden="1">
            <a:hlinkClick r:id="rId4" action="ppaction://hlinkfile"/>
            <a:extLst>
              <a:ext uri="{FF2B5EF4-FFF2-40B4-BE49-F238E27FC236}">
                <a16:creationId xmlns:a16="http://schemas.microsoft.com/office/drawing/2014/main" id="{095CF9EC-5F23-4E77-ADFD-318F00B0DB08}"/>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711"/>
                                        </p:tgtEl>
                                        <p:attrNameLst>
                                          <p:attrName>style.visibility</p:attrName>
                                        </p:attrNameLst>
                                      </p:cBhvr>
                                      <p:to>
                                        <p:strVal val="visible"/>
                                      </p:to>
                                    </p:set>
                                    <p:animEffect transition="in" filter="dissolve">
                                      <p:cBhvr>
                                        <p:cTn id="12" dur="500"/>
                                        <p:tgtEl>
                                          <p:spTgt spid="72711"/>
                                        </p:tgtEl>
                                      </p:cBhvr>
                                    </p:animEffect>
                                  </p:childTnLst>
                                </p:cTn>
                              </p:par>
                              <p:par>
                                <p:cTn id="13" presetID="9" presetClass="entr" presetSubtype="0" fill="hold" nodeType="withEffect">
                                  <p:stCondLst>
                                    <p:cond delay="0"/>
                                  </p:stCondLst>
                                  <p:childTnLst>
                                    <p:set>
                                      <p:cBhvr>
                                        <p:cTn id="14" dur="1" fill="hold">
                                          <p:stCondLst>
                                            <p:cond delay="0"/>
                                          </p:stCondLst>
                                        </p:cTn>
                                        <p:tgtEl>
                                          <p:spTgt spid="72788"/>
                                        </p:tgtEl>
                                        <p:attrNameLst>
                                          <p:attrName>style.visibility</p:attrName>
                                        </p:attrNameLst>
                                      </p:cBhvr>
                                      <p:to>
                                        <p:strVal val="visible"/>
                                      </p:to>
                                    </p:set>
                                    <p:animEffect transition="in" filter="dissolve">
                                      <p:cBhvr>
                                        <p:cTn id="15" dur="500"/>
                                        <p:tgtEl>
                                          <p:spTgt spid="72788"/>
                                        </p:tgtEl>
                                      </p:cBhvr>
                                    </p:animEffect>
                                  </p:childTnLst>
                                  <p:subTnLst>
                                    <p:animClr clrSpc="rgb" dir="cw">
                                      <p:cBhvr override="childStyle">
                                        <p:cTn dur="1" fill="hold" display="0" masterRel="nextClick" afterEffect="1"/>
                                        <p:tgtEl>
                                          <p:spTgt spid="72788"/>
                                        </p:tgtEl>
                                        <p:attrNameLst>
                                          <p:attrName>ppt_c</p:attrName>
                                        </p:attrNameLst>
                                      </p:cBhvr>
                                      <p:to>
                                        <a:schemeClr val="bg1"/>
                                      </p:to>
                                    </p:animClr>
                                  </p:sub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3"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trips(upRight)">
                                      <p:cBhvr>
                                        <p:cTn id="20" dur="1000"/>
                                        <p:tgtEl>
                                          <p:spTgt spid="5"/>
                                        </p:tgtEl>
                                      </p:cBhvr>
                                    </p:animEffect>
                                  </p:childTnLst>
                                </p:cTn>
                              </p:par>
                              <p:par>
                                <p:cTn id="21" presetID="9" presetClass="entr" presetSubtype="0" fill="hold" nodeType="withEffect">
                                  <p:stCondLst>
                                    <p:cond delay="0"/>
                                  </p:stCondLst>
                                  <p:childTnLst>
                                    <p:set>
                                      <p:cBhvr>
                                        <p:cTn id="22" dur="1" fill="hold">
                                          <p:stCondLst>
                                            <p:cond delay="0"/>
                                          </p:stCondLst>
                                        </p:cTn>
                                        <p:tgtEl>
                                          <p:spTgt spid="72789"/>
                                        </p:tgtEl>
                                        <p:attrNameLst>
                                          <p:attrName>style.visibility</p:attrName>
                                        </p:attrNameLst>
                                      </p:cBhvr>
                                      <p:to>
                                        <p:strVal val="visible"/>
                                      </p:to>
                                    </p:set>
                                    <p:animEffect transition="in" filter="dissolve">
                                      <p:cBhvr>
                                        <p:cTn id="23" dur="500"/>
                                        <p:tgtEl>
                                          <p:spTgt spid="72789"/>
                                        </p:tgtEl>
                                      </p:cBhvr>
                                    </p:animEffect>
                                  </p:childTnLst>
                                  <p:subTnLst>
                                    <p:animClr clrSpc="rgb" dir="cw">
                                      <p:cBhvr override="childStyle">
                                        <p:cTn dur="1" fill="hold" display="0" masterRel="nextClick" afterEffect="1"/>
                                        <p:tgtEl>
                                          <p:spTgt spid="72789"/>
                                        </p:tgtEl>
                                        <p:attrNameLst>
                                          <p:attrName>ppt_c</p:attrName>
                                        </p:attrNameLst>
                                      </p:cBhvr>
                                      <p:to>
                                        <a:schemeClr val="bg1"/>
                                      </p:to>
                                    </p:animClr>
                                  </p:sub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3"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strips(upRight)">
                                      <p:cBhvr>
                                        <p:cTn id="28" dur="1000"/>
                                        <p:tgtEl>
                                          <p:spTgt spid="3"/>
                                        </p:tgtEl>
                                      </p:cBhvr>
                                    </p:animEffect>
                                  </p:childTnLst>
                                </p:cTn>
                              </p:par>
                              <p:par>
                                <p:cTn id="29" presetID="9" presetClass="entr" presetSubtype="0" fill="hold" nodeType="withEffect">
                                  <p:stCondLst>
                                    <p:cond delay="0"/>
                                  </p:stCondLst>
                                  <p:childTnLst>
                                    <p:set>
                                      <p:cBhvr>
                                        <p:cTn id="30" dur="1" fill="hold">
                                          <p:stCondLst>
                                            <p:cond delay="0"/>
                                          </p:stCondLst>
                                        </p:cTn>
                                        <p:tgtEl>
                                          <p:spTgt spid="72790"/>
                                        </p:tgtEl>
                                        <p:attrNameLst>
                                          <p:attrName>style.visibility</p:attrName>
                                        </p:attrNameLst>
                                      </p:cBhvr>
                                      <p:to>
                                        <p:strVal val="visible"/>
                                      </p:to>
                                    </p:set>
                                    <p:animEffect transition="in" filter="dissolve">
                                      <p:cBhvr>
                                        <p:cTn id="31" dur="500"/>
                                        <p:tgtEl>
                                          <p:spTgt spid="72790"/>
                                        </p:tgtEl>
                                      </p:cBhvr>
                                    </p:animEffect>
                                  </p:childTnLst>
                                  <p:subTnLst>
                                    <p:animClr clrSpc="rgb" dir="cw">
                                      <p:cBhvr override="childStyle">
                                        <p:cTn dur="1" fill="hold" display="0" masterRel="nextClick" afterEffect="1"/>
                                        <p:tgtEl>
                                          <p:spTgt spid="72790"/>
                                        </p:tgtEl>
                                        <p:attrNameLst>
                                          <p:attrName>ppt_c</p:attrName>
                                        </p:attrNameLst>
                                      </p:cBhvr>
                                      <p:to>
                                        <a:schemeClr val="bg1"/>
                                      </p:to>
                                    </p:animClr>
                                  </p:sub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3"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strips(upRight)">
                                      <p:cBhvr>
                                        <p:cTn id="36" dur="1000"/>
                                        <p:tgtEl>
                                          <p:spTgt spid="7"/>
                                        </p:tgtEl>
                                      </p:cBhvr>
                                    </p:animEffect>
                                  </p:childTnLst>
                                </p:cTn>
                              </p:par>
                              <p:par>
                                <p:cTn id="37" presetID="9" presetClass="entr" presetSubtype="0" fill="hold" nodeType="withEffect">
                                  <p:stCondLst>
                                    <p:cond delay="0"/>
                                  </p:stCondLst>
                                  <p:childTnLst>
                                    <p:set>
                                      <p:cBhvr>
                                        <p:cTn id="38" dur="1" fill="hold">
                                          <p:stCondLst>
                                            <p:cond delay="0"/>
                                          </p:stCondLst>
                                        </p:cTn>
                                        <p:tgtEl>
                                          <p:spTgt spid="72791"/>
                                        </p:tgtEl>
                                        <p:attrNameLst>
                                          <p:attrName>style.visibility</p:attrName>
                                        </p:attrNameLst>
                                      </p:cBhvr>
                                      <p:to>
                                        <p:strVal val="visible"/>
                                      </p:to>
                                    </p:set>
                                    <p:animEffect transition="in" filter="dissolve">
                                      <p:cBhvr>
                                        <p:cTn id="39" dur="500"/>
                                        <p:tgtEl>
                                          <p:spTgt spid="72791"/>
                                        </p:tgtEl>
                                      </p:cBhvr>
                                    </p:animEffect>
                                  </p:childTnLst>
                                  <p:subTnLst>
                                    <p:animClr clrSpc="rgb" dir="cw">
                                      <p:cBhvr override="childStyle">
                                        <p:cTn dur="1" fill="hold" display="0" masterRel="nextClick" afterEffect="1"/>
                                        <p:tgtEl>
                                          <p:spTgt spid="72791"/>
                                        </p:tgtEl>
                                        <p:attrNameLst>
                                          <p:attrName>ppt_c</p:attrName>
                                        </p:attrNameLst>
                                      </p:cBhvr>
                                      <p:to>
                                        <a:schemeClr val="bg1"/>
                                      </p:to>
                                    </p:animClr>
                                  </p:subTnLst>
                                </p:cTn>
                              </p:par>
                            </p:childTnLst>
                          </p:cTn>
                        </p:par>
                      </p:childTnLst>
                    </p:cTn>
                  </p:par>
                  <p:par>
                    <p:cTn id="40" fill="hold" nodeType="clickPar">
                      <p:stCondLst>
                        <p:cond delay="indefinite"/>
                      </p:stCondLst>
                      <p:childTnLst>
                        <p:par>
                          <p:cTn id="41" fill="hold" nodeType="withGroup">
                            <p:stCondLst>
                              <p:cond delay="0"/>
                            </p:stCondLst>
                            <p:childTnLst>
                              <p:par>
                                <p:cTn id="42" presetID="18" presetClass="entr" presetSubtype="3"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strips(upRight)">
                                      <p:cBhvr>
                                        <p:cTn id="44" dur="1000"/>
                                        <p:tgtEl>
                                          <p:spTgt spid="9"/>
                                        </p:tgtEl>
                                      </p:cBhvr>
                                    </p:animEffect>
                                  </p:childTnLst>
                                </p:cTn>
                              </p:par>
                              <p:par>
                                <p:cTn id="45" presetID="9" presetClass="entr" presetSubtype="0" fill="hold" nodeType="withEffect">
                                  <p:stCondLst>
                                    <p:cond delay="0"/>
                                  </p:stCondLst>
                                  <p:childTnLst>
                                    <p:set>
                                      <p:cBhvr>
                                        <p:cTn id="46" dur="1" fill="hold">
                                          <p:stCondLst>
                                            <p:cond delay="0"/>
                                          </p:stCondLst>
                                        </p:cTn>
                                        <p:tgtEl>
                                          <p:spTgt spid="72792"/>
                                        </p:tgtEl>
                                        <p:attrNameLst>
                                          <p:attrName>style.visibility</p:attrName>
                                        </p:attrNameLst>
                                      </p:cBhvr>
                                      <p:to>
                                        <p:strVal val="visible"/>
                                      </p:to>
                                    </p:set>
                                    <p:animEffect transition="in" filter="dissolve">
                                      <p:cBhvr>
                                        <p:cTn id="47" dur="500"/>
                                        <p:tgtEl>
                                          <p:spTgt spid="72792"/>
                                        </p:tgtEl>
                                      </p:cBhvr>
                                    </p:animEffect>
                                  </p:childTnLst>
                                  <p:subTnLst>
                                    <p:animClr clrSpc="rgb" dir="cw">
                                      <p:cBhvr override="childStyle">
                                        <p:cTn dur="1" fill="hold" display="0" masterRel="nextClick" afterEffect="1"/>
                                        <p:tgtEl>
                                          <p:spTgt spid="72792"/>
                                        </p:tgtEl>
                                        <p:attrNameLst>
                                          <p:attrName>ppt_c</p:attrName>
                                        </p:attrNameLst>
                                      </p:cBhvr>
                                      <p:to>
                                        <a:schemeClr val="bg1"/>
                                      </p:to>
                                    </p:animClr>
                                  </p:sub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3"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strips(upRight)">
                                      <p:cBhvr>
                                        <p:cTn id="52" dur="1000"/>
                                        <p:tgtEl>
                                          <p:spTgt spid="11"/>
                                        </p:tgtEl>
                                      </p:cBhvr>
                                    </p:animEffect>
                                  </p:childTnLst>
                                </p:cTn>
                              </p:par>
                              <p:par>
                                <p:cTn id="53" presetID="9" presetClass="entr" presetSubtype="0" fill="hold" nodeType="withEffect">
                                  <p:stCondLst>
                                    <p:cond delay="0"/>
                                  </p:stCondLst>
                                  <p:childTnLst>
                                    <p:set>
                                      <p:cBhvr>
                                        <p:cTn id="54" dur="1" fill="hold">
                                          <p:stCondLst>
                                            <p:cond delay="0"/>
                                          </p:stCondLst>
                                        </p:cTn>
                                        <p:tgtEl>
                                          <p:spTgt spid="72793"/>
                                        </p:tgtEl>
                                        <p:attrNameLst>
                                          <p:attrName>style.visibility</p:attrName>
                                        </p:attrNameLst>
                                      </p:cBhvr>
                                      <p:to>
                                        <p:strVal val="visible"/>
                                      </p:to>
                                    </p:set>
                                    <p:animEffect transition="in" filter="dissolve">
                                      <p:cBhvr>
                                        <p:cTn id="55" dur="500"/>
                                        <p:tgtEl>
                                          <p:spTgt spid="72793"/>
                                        </p:tgtEl>
                                      </p:cBhvr>
                                    </p:animEffect>
                                  </p:childTnLst>
                                  <p:subTnLst>
                                    <p:animClr clrSpc="rgb" dir="cw">
                                      <p:cBhvr override="childStyle">
                                        <p:cTn dur="1" fill="hold" display="0" masterRel="nextClick" afterEffect="1"/>
                                        <p:tgtEl>
                                          <p:spTgt spid="72793"/>
                                        </p:tgtEl>
                                        <p:attrNameLst>
                                          <p:attrName>ppt_c</p:attrName>
                                        </p:attrNameLst>
                                      </p:cBhvr>
                                      <p:to>
                                        <a:schemeClr val="bg1"/>
                                      </p:to>
                                    </p:animClr>
                                  </p:subTnLst>
                                </p:cTn>
                              </p:par>
                            </p:childTnLst>
                          </p:cTn>
                        </p:par>
                      </p:childTnLst>
                    </p:cTn>
                  </p:par>
                  <p:par>
                    <p:cTn id="56" fill="hold" nodeType="clickPar">
                      <p:stCondLst>
                        <p:cond delay="indefinite"/>
                      </p:stCondLst>
                      <p:childTnLst>
                        <p:par>
                          <p:cTn id="57" fill="hold" nodeType="withGroup">
                            <p:stCondLst>
                              <p:cond delay="0"/>
                            </p:stCondLst>
                            <p:childTnLst>
                              <p:par>
                                <p:cTn id="58" presetID="18" presetClass="entr" presetSubtype="3"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strips(upRight)">
                                      <p:cBhvr>
                                        <p:cTn id="60" dur="1000"/>
                                        <p:tgtEl>
                                          <p:spTgt spid="13"/>
                                        </p:tgtEl>
                                      </p:cBhvr>
                                    </p:animEffect>
                                  </p:childTnLst>
                                </p:cTn>
                              </p:par>
                              <p:par>
                                <p:cTn id="61" presetID="9" presetClass="entr" presetSubtype="0" fill="hold" nodeType="withEffect">
                                  <p:stCondLst>
                                    <p:cond delay="0"/>
                                  </p:stCondLst>
                                  <p:childTnLst>
                                    <p:set>
                                      <p:cBhvr>
                                        <p:cTn id="62" dur="1" fill="hold">
                                          <p:stCondLst>
                                            <p:cond delay="0"/>
                                          </p:stCondLst>
                                        </p:cTn>
                                        <p:tgtEl>
                                          <p:spTgt spid="72794"/>
                                        </p:tgtEl>
                                        <p:attrNameLst>
                                          <p:attrName>style.visibility</p:attrName>
                                        </p:attrNameLst>
                                      </p:cBhvr>
                                      <p:to>
                                        <p:strVal val="visible"/>
                                      </p:to>
                                    </p:set>
                                    <p:animEffect transition="in" filter="dissolve">
                                      <p:cBhvr>
                                        <p:cTn id="63" dur="500"/>
                                        <p:tgtEl>
                                          <p:spTgt spid="72794"/>
                                        </p:tgtEl>
                                      </p:cBhvr>
                                    </p:animEffect>
                                  </p:childTnLst>
                                  <p:subTnLst>
                                    <p:animClr clrSpc="rgb" dir="cw">
                                      <p:cBhvr override="childStyle">
                                        <p:cTn dur="1" fill="hold" display="0" masterRel="nextClick" afterEffect="1"/>
                                        <p:tgtEl>
                                          <p:spTgt spid="72794"/>
                                        </p:tgtEl>
                                        <p:attrNameLst>
                                          <p:attrName>ppt_c</p:attrName>
                                        </p:attrNameLst>
                                      </p:cBhvr>
                                      <p:to>
                                        <a:schemeClr val="bg1"/>
                                      </p:to>
                                    </p:animClr>
                                  </p:subTnLst>
                                </p:cTn>
                              </p:par>
                            </p:childTnLst>
                          </p:cTn>
                        </p:par>
                      </p:childTnLst>
                    </p:cTn>
                  </p:par>
                  <p:par>
                    <p:cTn id="64" fill="hold" nodeType="clickPar">
                      <p:stCondLst>
                        <p:cond delay="indefinite"/>
                      </p:stCondLst>
                      <p:childTnLst>
                        <p:par>
                          <p:cTn id="65" fill="hold" nodeType="withGroup">
                            <p:stCondLst>
                              <p:cond delay="0"/>
                            </p:stCondLst>
                            <p:childTnLst>
                              <p:par>
                                <p:cTn id="66" presetID="18" presetClass="entr" presetSubtype="6" fill="hold" nodeType="clickEffect">
                                  <p:stCondLst>
                                    <p:cond delay="0"/>
                                  </p:stCondLst>
                                  <p:childTnLst>
                                    <p:set>
                                      <p:cBhvr>
                                        <p:cTn id="67" dur="1" fill="hold">
                                          <p:stCondLst>
                                            <p:cond delay="0"/>
                                          </p:stCondLst>
                                        </p:cTn>
                                        <p:tgtEl>
                                          <p:spTgt spid="72710"/>
                                        </p:tgtEl>
                                        <p:attrNameLst>
                                          <p:attrName>style.visibility</p:attrName>
                                        </p:attrNameLst>
                                      </p:cBhvr>
                                      <p:to>
                                        <p:strVal val="visible"/>
                                      </p:to>
                                    </p:set>
                                    <p:animEffect transition="in" filter="strips(downRight)">
                                      <p:cBhvr>
                                        <p:cTn id="68" dur="1000"/>
                                        <p:tgtEl>
                                          <p:spTgt spid="72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1"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6F24D01-7EB2-4E05-B6D6-3C410490CEDE}"/>
              </a:ext>
            </a:extLst>
          </p:cNvPr>
          <p:cNvGrpSpPr>
            <a:grpSpLocks/>
          </p:cNvGrpSpPr>
          <p:nvPr/>
        </p:nvGrpSpPr>
        <p:grpSpPr bwMode="auto">
          <a:xfrm>
            <a:off x="841375" y="2801938"/>
            <a:ext cx="7491413" cy="3863975"/>
            <a:chOff x="530" y="1765"/>
            <a:chExt cx="4719" cy="2434"/>
          </a:xfrm>
        </p:grpSpPr>
        <p:sp>
          <p:nvSpPr>
            <p:cNvPr id="16472" name="Rectangle 3">
              <a:extLst>
                <a:ext uri="{FF2B5EF4-FFF2-40B4-BE49-F238E27FC236}">
                  <a16:creationId xmlns:a16="http://schemas.microsoft.com/office/drawing/2014/main" id="{D829B4D4-86E1-4FE6-92D2-261549E6CD6A}"/>
                </a:ext>
              </a:extLst>
            </p:cNvPr>
            <p:cNvSpPr>
              <a:spLocks noChangeArrowheads="1"/>
            </p:cNvSpPr>
            <p:nvPr/>
          </p:nvSpPr>
          <p:spPr bwMode="auto">
            <a:xfrm>
              <a:off x="530" y="1765"/>
              <a:ext cx="4719" cy="243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6473" name="Line 4">
              <a:extLst>
                <a:ext uri="{FF2B5EF4-FFF2-40B4-BE49-F238E27FC236}">
                  <a16:creationId xmlns:a16="http://schemas.microsoft.com/office/drawing/2014/main" id="{C3673D95-B1D8-491C-8A6F-8EF98F6FC6D6}"/>
                </a:ext>
              </a:extLst>
            </p:cNvPr>
            <p:cNvSpPr>
              <a:spLocks noChangeShapeType="1"/>
            </p:cNvSpPr>
            <p:nvPr/>
          </p:nvSpPr>
          <p:spPr bwMode="auto">
            <a:xfrm>
              <a:off x="582" y="2095"/>
              <a:ext cx="45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387" name="Rectangle 5">
            <a:extLst>
              <a:ext uri="{FF2B5EF4-FFF2-40B4-BE49-F238E27FC236}">
                <a16:creationId xmlns:a16="http://schemas.microsoft.com/office/drawing/2014/main" id="{52118BE1-1906-4575-B532-C988665576CE}"/>
              </a:ext>
            </a:extLst>
          </p:cNvPr>
          <p:cNvSpPr>
            <a:spLocks noGrp="1" noChangeArrowheads="1"/>
          </p:cNvSpPr>
          <p:nvPr>
            <p:ph type="title" idx="4294967295"/>
          </p:nvPr>
        </p:nvSpPr>
        <p:spPr>
          <a:xfrm>
            <a:off x="85725" y="238125"/>
            <a:ext cx="9001125" cy="588963"/>
          </a:xfrm>
        </p:spPr>
        <p:txBody>
          <a:bodyPr/>
          <a:lstStyle/>
          <a:p>
            <a:pPr eaLnBrk="1" hangingPunct="1"/>
            <a:r>
              <a:rPr lang="en-US" altLang="en-US" sz="3200"/>
              <a:t>Market Demand versus Individual Demand</a:t>
            </a:r>
          </a:p>
        </p:txBody>
      </p:sp>
      <p:sp>
        <p:nvSpPr>
          <p:cNvPr id="16388" name="Rectangle 6">
            <a:extLst>
              <a:ext uri="{FF2B5EF4-FFF2-40B4-BE49-F238E27FC236}">
                <a16:creationId xmlns:a16="http://schemas.microsoft.com/office/drawing/2014/main" id="{6C5378E9-C5D2-4BE6-9017-4CC29E77D891}"/>
              </a:ext>
            </a:extLst>
          </p:cNvPr>
          <p:cNvSpPr>
            <a:spLocks noGrp="1" noChangeArrowheads="1"/>
          </p:cNvSpPr>
          <p:nvPr>
            <p:ph type="body" idx="4294967295"/>
          </p:nvPr>
        </p:nvSpPr>
        <p:spPr>
          <a:xfrm>
            <a:off x="323850" y="846138"/>
            <a:ext cx="8526463" cy="1984375"/>
          </a:xfrm>
        </p:spPr>
        <p:txBody>
          <a:bodyPr/>
          <a:lstStyle/>
          <a:p>
            <a:pPr eaLnBrk="1" hangingPunct="1">
              <a:lnSpc>
                <a:spcPct val="100000"/>
              </a:lnSpc>
              <a:spcBef>
                <a:spcPct val="35000"/>
              </a:spcBef>
            </a:pPr>
            <a:r>
              <a:rPr lang="en-US" altLang="en-US" sz="2600"/>
              <a:t>The quantity demanded in the market is the sum of the quantities demanded by all buyers at each price. </a:t>
            </a:r>
          </a:p>
          <a:p>
            <a:pPr eaLnBrk="1" hangingPunct="1">
              <a:lnSpc>
                <a:spcPct val="100000"/>
              </a:lnSpc>
              <a:spcBef>
                <a:spcPct val="35000"/>
              </a:spcBef>
            </a:pPr>
            <a:r>
              <a:rPr lang="en-US" altLang="en-US" sz="2600"/>
              <a:t>Suppose Helen and Ken are the only two buyers in the Latte market.     (</a:t>
            </a:r>
            <a:r>
              <a:rPr lang="en-US" altLang="en-US" sz="2600" b="1" i="1"/>
              <a:t>Q</a:t>
            </a:r>
            <a:r>
              <a:rPr lang="en-US" altLang="en-US" sz="2600" b="1" i="1" baseline="30000"/>
              <a:t>d</a:t>
            </a:r>
            <a:r>
              <a:rPr lang="en-US" altLang="en-US" sz="2600"/>
              <a:t> = quantity demanded)</a:t>
            </a:r>
          </a:p>
        </p:txBody>
      </p:sp>
      <p:grpSp>
        <p:nvGrpSpPr>
          <p:cNvPr id="3" name="Group 7">
            <a:extLst>
              <a:ext uri="{FF2B5EF4-FFF2-40B4-BE49-F238E27FC236}">
                <a16:creationId xmlns:a16="http://schemas.microsoft.com/office/drawing/2014/main" id="{910678F6-5E14-4339-9A8E-C25E7D737306}"/>
              </a:ext>
            </a:extLst>
          </p:cNvPr>
          <p:cNvGrpSpPr>
            <a:grpSpLocks/>
          </p:cNvGrpSpPr>
          <p:nvPr/>
        </p:nvGrpSpPr>
        <p:grpSpPr bwMode="auto">
          <a:xfrm>
            <a:off x="2116138" y="2832100"/>
            <a:ext cx="1873250" cy="3816350"/>
            <a:chOff x="1333" y="1784"/>
            <a:chExt cx="1180" cy="2404"/>
          </a:xfrm>
        </p:grpSpPr>
        <p:sp>
          <p:nvSpPr>
            <p:cNvPr id="16464" name="Rectangle 8">
              <a:extLst>
                <a:ext uri="{FF2B5EF4-FFF2-40B4-BE49-F238E27FC236}">
                  <a16:creationId xmlns:a16="http://schemas.microsoft.com/office/drawing/2014/main" id="{CAA4A388-A008-4FD0-9FA4-E1B54DB3ECA5}"/>
                </a:ext>
              </a:extLst>
            </p:cNvPr>
            <p:cNvSpPr>
              <a:spLocks noChangeArrowheads="1"/>
            </p:cNvSpPr>
            <p:nvPr/>
          </p:nvSpPr>
          <p:spPr bwMode="auto">
            <a:xfrm>
              <a:off x="1333" y="3889"/>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4</a:t>
              </a:r>
            </a:p>
          </p:txBody>
        </p:sp>
        <p:sp>
          <p:nvSpPr>
            <p:cNvPr id="16465" name="Rectangle 9">
              <a:extLst>
                <a:ext uri="{FF2B5EF4-FFF2-40B4-BE49-F238E27FC236}">
                  <a16:creationId xmlns:a16="http://schemas.microsoft.com/office/drawing/2014/main" id="{906618F6-5321-4A56-B925-6897649D40FD}"/>
                </a:ext>
              </a:extLst>
            </p:cNvPr>
            <p:cNvSpPr>
              <a:spLocks noChangeArrowheads="1"/>
            </p:cNvSpPr>
            <p:nvPr/>
          </p:nvSpPr>
          <p:spPr bwMode="auto">
            <a:xfrm>
              <a:off x="1333" y="3590"/>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6</a:t>
              </a:r>
            </a:p>
          </p:txBody>
        </p:sp>
        <p:sp>
          <p:nvSpPr>
            <p:cNvPr id="16466" name="Rectangle 10">
              <a:extLst>
                <a:ext uri="{FF2B5EF4-FFF2-40B4-BE49-F238E27FC236}">
                  <a16:creationId xmlns:a16="http://schemas.microsoft.com/office/drawing/2014/main" id="{0130C62D-CA09-44F6-B787-28ADCD26C881}"/>
                </a:ext>
              </a:extLst>
            </p:cNvPr>
            <p:cNvSpPr>
              <a:spLocks noChangeArrowheads="1"/>
            </p:cNvSpPr>
            <p:nvPr/>
          </p:nvSpPr>
          <p:spPr bwMode="auto">
            <a:xfrm>
              <a:off x="1333" y="3291"/>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8</a:t>
              </a:r>
            </a:p>
          </p:txBody>
        </p:sp>
        <p:sp>
          <p:nvSpPr>
            <p:cNvPr id="16467" name="Rectangle 11">
              <a:extLst>
                <a:ext uri="{FF2B5EF4-FFF2-40B4-BE49-F238E27FC236}">
                  <a16:creationId xmlns:a16="http://schemas.microsoft.com/office/drawing/2014/main" id="{92B62B7D-D699-49AE-9DA1-F2207C67204C}"/>
                </a:ext>
              </a:extLst>
            </p:cNvPr>
            <p:cNvSpPr>
              <a:spLocks noChangeArrowheads="1"/>
            </p:cNvSpPr>
            <p:nvPr/>
          </p:nvSpPr>
          <p:spPr bwMode="auto">
            <a:xfrm>
              <a:off x="1333" y="2992"/>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10</a:t>
              </a:r>
            </a:p>
          </p:txBody>
        </p:sp>
        <p:sp>
          <p:nvSpPr>
            <p:cNvPr id="16468" name="Rectangle 12">
              <a:extLst>
                <a:ext uri="{FF2B5EF4-FFF2-40B4-BE49-F238E27FC236}">
                  <a16:creationId xmlns:a16="http://schemas.microsoft.com/office/drawing/2014/main" id="{FF572D85-FB37-4D7B-87C3-D59694854DCD}"/>
                </a:ext>
              </a:extLst>
            </p:cNvPr>
            <p:cNvSpPr>
              <a:spLocks noChangeArrowheads="1"/>
            </p:cNvSpPr>
            <p:nvPr/>
          </p:nvSpPr>
          <p:spPr bwMode="auto">
            <a:xfrm>
              <a:off x="1333" y="2693"/>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12</a:t>
              </a:r>
            </a:p>
          </p:txBody>
        </p:sp>
        <p:sp>
          <p:nvSpPr>
            <p:cNvPr id="16469" name="Rectangle 13">
              <a:extLst>
                <a:ext uri="{FF2B5EF4-FFF2-40B4-BE49-F238E27FC236}">
                  <a16:creationId xmlns:a16="http://schemas.microsoft.com/office/drawing/2014/main" id="{CEDE3002-F82F-4FCA-9CFC-1187779F4809}"/>
                </a:ext>
              </a:extLst>
            </p:cNvPr>
            <p:cNvSpPr>
              <a:spLocks noChangeArrowheads="1"/>
            </p:cNvSpPr>
            <p:nvPr/>
          </p:nvSpPr>
          <p:spPr bwMode="auto">
            <a:xfrm>
              <a:off x="1333" y="2394"/>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14</a:t>
              </a:r>
            </a:p>
          </p:txBody>
        </p:sp>
        <p:sp>
          <p:nvSpPr>
            <p:cNvPr id="16470" name="Rectangle 14">
              <a:extLst>
                <a:ext uri="{FF2B5EF4-FFF2-40B4-BE49-F238E27FC236}">
                  <a16:creationId xmlns:a16="http://schemas.microsoft.com/office/drawing/2014/main" id="{8EE8C37D-0B16-4F4E-AD46-F1A5885A120A}"/>
                </a:ext>
              </a:extLst>
            </p:cNvPr>
            <p:cNvSpPr>
              <a:spLocks noChangeArrowheads="1"/>
            </p:cNvSpPr>
            <p:nvPr/>
          </p:nvSpPr>
          <p:spPr bwMode="auto">
            <a:xfrm>
              <a:off x="1333" y="2095"/>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16</a:t>
              </a:r>
            </a:p>
          </p:txBody>
        </p:sp>
        <p:sp>
          <p:nvSpPr>
            <p:cNvPr id="16471" name="Rectangle 15">
              <a:extLst>
                <a:ext uri="{FF2B5EF4-FFF2-40B4-BE49-F238E27FC236}">
                  <a16:creationId xmlns:a16="http://schemas.microsoft.com/office/drawing/2014/main" id="{EBD1AA34-2C8C-4A74-A417-437B6403EA88}"/>
                </a:ext>
              </a:extLst>
            </p:cNvPr>
            <p:cNvSpPr>
              <a:spLocks noChangeArrowheads="1"/>
            </p:cNvSpPr>
            <p:nvPr/>
          </p:nvSpPr>
          <p:spPr bwMode="auto">
            <a:xfrm>
              <a:off x="1333" y="1784"/>
              <a:ext cx="118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Helen’s </a:t>
              </a:r>
              <a:r>
                <a:rPr lang="en-US" altLang="en-US" sz="2400" b="1" i="1">
                  <a:cs typeface="Arial" panose="020B0604020202020204" pitchFamily="34" charset="0"/>
                </a:rPr>
                <a:t>Q</a:t>
              </a:r>
              <a:r>
                <a:rPr lang="en-US" altLang="en-US" sz="2400" b="1" i="1" baseline="30000">
                  <a:cs typeface="Arial" panose="020B0604020202020204" pitchFamily="34" charset="0"/>
                </a:rPr>
                <a:t>d</a:t>
              </a:r>
              <a:r>
                <a:rPr lang="en-US" altLang="en-US" sz="2400">
                  <a:cs typeface="Arial" panose="020B0604020202020204" pitchFamily="34" charset="0"/>
                </a:rPr>
                <a:t> </a:t>
              </a:r>
            </a:p>
          </p:txBody>
        </p:sp>
      </p:grpSp>
      <p:grpSp>
        <p:nvGrpSpPr>
          <p:cNvPr id="4" name="Group 16">
            <a:extLst>
              <a:ext uri="{FF2B5EF4-FFF2-40B4-BE49-F238E27FC236}">
                <a16:creationId xmlns:a16="http://schemas.microsoft.com/office/drawing/2014/main" id="{9C9DA35B-6DFC-4634-B389-F2860368E0ED}"/>
              </a:ext>
            </a:extLst>
          </p:cNvPr>
          <p:cNvGrpSpPr>
            <a:grpSpLocks/>
          </p:cNvGrpSpPr>
          <p:nvPr/>
        </p:nvGrpSpPr>
        <p:grpSpPr bwMode="auto">
          <a:xfrm>
            <a:off x="4256088" y="2832100"/>
            <a:ext cx="1598612" cy="3816350"/>
            <a:chOff x="2681" y="1784"/>
            <a:chExt cx="1007" cy="2404"/>
          </a:xfrm>
        </p:grpSpPr>
        <p:sp>
          <p:nvSpPr>
            <p:cNvPr id="16456" name="Rectangle 17">
              <a:extLst>
                <a:ext uri="{FF2B5EF4-FFF2-40B4-BE49-F238E27FC236}">
                  <a16:creationId xmlns:a16="http://schemas.microsoft.com/office/drawing/2014/main" id="{E3C39A1F-CD8D-4505-B65A-45CC6773D020}"/>
                </a:ext>
              </a:extLst>
            </p:cNvPr>
            <p:cNvSpPr>
              <a:spLocks noChangeArrowheads="1"/>
            </p:cNvSpPr>
            <p:nvPr/>
          </p:nvSpPr>
          <p:spPr bwMode="auto">
            <a:xfrm>
              <a:off x="2681" y="3889"/>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2</a:t>
              </a:r>
            </a:p>
          </p:txBody>
        </p:sp>
        <p:sp>
          <p:nvSpPr>
            <p:cNvPr id="16457" name="Rectangle 18">
              <a:extLst>
                <a:ext uri="{FF2B5EF4-FFF2-40B4-BE49-F238E27FC236}">
                  <a16:creationId xmlns:a16="http://schemas.microsoft.com/office/drawing/2014/main" id="{03AF8155-7F3F-4972-BC1F-78268125B216}"/>
                </a:ext>
              </a:extLst>
            </p:cNvPr>
            <p:cNvSpPr>
              <a:spLocks noChangeArrowheads="1"/>
            </p:cNvSpPr>
            <p:nvPr/>
          </p:nvSpPr>
          <p:spPr bwMode="auto">
            <a:xfrm>
              <a:off x="2681" y="3590"/>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3</a:t>
              </a:r>
            </a:p>
          </p:txBody>
        </p:sp>
        <p:sp>
          <p:nvSpPr>
            <p:cNvPr id="16458" name="Rectangle 19">
              <a:extLst>
                <a:ext uri="{FF2B5EF4-FFF2-40B4-BE49-F238E27FC236}">
                  <a16:creationId xmlns:a16="http://schemas.microsoft.com/office/drawing/2014/main" id="{C4D432D9-61D2-4269-B7FB-2F7486F2F287}"/>
                </a:ext>
              </a:extLst>
            </p:cNvPr>
            <p:cNvSpPr>
              <a:spLocks noChangeArrowheads="1"/>
            </p:cNvSpPr>
            <p:nvPr/>
          </p:nvSpPr>
          <p:spPr bwMode="auto">
            <a:xfrm>
              <a:off x="2681" y="3291"/>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4</a:t>
              </a:r>
            </a:p>
          </p:txBody>
        </p:sp>
        <p:sp>
          <p:nvSpPr>
            <p:cNvPr id="16459" name="Rectangle 20">
              <a:extLst>
                <a:ext uri="{FF2B5EF4-FFF2-40B4-BE49-F238E27FC236}">
                  <a16:creationId xmlns:a16="http://schemas.microsoft.com/office/drawing/2014/main" id="{0AF2B864-4D3A-46D8-97B7-CCED00D6EB51}"/>
                </a:ext>
              </a:extLst>
            </p:cNvPr>
            <p:cNvSpPr>
              <a:spLocks noChangeArrowheads="1"/>
            </p:cNvSpPr>
            <p:nvPr/>
          </p:nvSpPr>
          <p:spPr bwMode="auto">
            <a:xfrm>
              <a:off x="2681" y="2992"/>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5</a:t>
              </a:r>
            </a:p>
          </p:txBody>
        </p:sp>
        <p:sp>
          <p:nvSpPr>
            <p:cNvPr id="16460" name="Rectangle 21">
              <a:extLst>
                <a:ext uri="{FF2B5EF4-FFF2-40B4-BE49-F238E27FC236}">
                  <a16:creationId xmlns:a16="http://schemas.microsoft.com/office/drawing/2014/main" id="{350FC079-7841-437A-8DB6-12D4AC10F166}"/>
                </a:ext>
              </a:extLst>
            </p:cNvPr>
            <p:cNvSpPr>
              <a:spLocks noChangeArrowheads="1"/>
            </p:cNvSpPr>
            <p:nvPr/>
          </p:nvSpPr>
          <p:spPr bwMode="auto">
            <a:xfrm>
              <a:off x="2681" y="2693"/>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6</a:t>
              </a:r>
            </a:p>
          </p:txBody>
        </p:sp>
        <p:sp>
          <p:nvSpPr>
            <p:cNvPr id="16461" name="Rectangle 22">
              <a:extLst>
                <a:ext uri="{FF2B5EF4-FFF2-40B4-BE49-F238E27FC236}">
                  <a16:creationId xmlns:a16="http://schemas.microsoft.com/office/drawing/2014/main" id="{948D495E-FF4A-46CC-AFA9-AD340781A65A}"/>
                </a:ext>
              </a:extLst>
            </p:cNvPr>
            <p:cNvSpPr>
              <a:spLocks noChangeArrowheads="1"/>
            </p:cNvSpPr>
            <p:nvPr/>
          </p:nvSpPr>
          <p:spPr bwMode="auto">
            <a:xfrm>
              <a:off x="2681" y="2394"/>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7</a:t>
              </a:r>
            </a:p>
          </p:txBody>
        </p:sp>
        <p:sp>
          <p:nvSpPr>
            <p:cNvPr id="16462" name="Rectangle 23">
              <a:extLst>
                <a:ext uri="{FF2B5EF4-FFF2-40B4-BE49-F238E27FC236}">
                  <a16:creationId xmlns:a16="http://schemas.microsoft.com/office/drawing/2014/main" id="{63ACA10B-447F-4299-BBF8-5BE0F54EDF6D}"/>
                </a:ext>
              </a:extLst>
            </p:cNvPr>
            <p:cNvSpPr>
              <a:spLocks noChangeArrowheads="1"/>
            </p:cNvSpPr>
            <p:nvPr/>
          </p:nvSpPr>
          <p:spPr bwMode="auto">
            <a:xfrm>
              <a:off x="2681" y="2095"/>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8</a:t>
              </a:r>
            </a:p>
          </p:txBody>
        </p:sp>
        <p:sp>
          <p:nvSpPr>
            <p:cNvPr id="16463" name="Rectangle 24">
              <a:extLst>
                <a:ext uri="{FF2B5EF4-FFF2-40B4-BE49-F238E27FC236}">
                  <a16:creationId xmlns:a16="http://schemas.microsoft.com/office/drawing/2014/main" id="{8FDD6131-5066-44A6-8650-6D1ECB6B6479}"/>
                </a:ext>
              </a:extLst>
            </p:cNvPr>
            <p:cNvSpPr>
              <a:spLocks noChangeArrowheads="1"/>
            </p:cNvSpPr>
            <p:nvPr/>
          </p:nvSpPr>
          <p:spPr bwMode="auto">
            <a:xfrm>
              <a:off x="2681" y="1784"/>
              <a:ext cx="100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Ken’s </a:t>
              </a:r>
              <a:r>
                <a:rPr lang="en-US" altLang="en-US" sz="2400" b="1" i="1">
                  <a:cs typeface="Arial" panose="020B0604020202020204" pitchFamily="34" charset="0"/>
                </a:rPr>
                <a:t>Q</a:t>
              </a:r>
              <a:r>
                <a:rPr lang="en-US" altLang="en-US" sz="2400" b="1" i="1" baseline="30000">
                  <a:cs typeface="Arial" panose="020B0604020202020204" pitchFamily="34" charset="0"/>
                </a:rPr>
                <a:t>d</a:t>
              </a:r>
              <a:r>
                <a:rPr lang="en-US" altLang="en-US" sz="2400">
                  <a:cs typeface="Arial" panose="020B0604020202020204" pitchFamily="34" charset="0"/>
                </a:rPr>
                <a:t> </a:t>
              </a:r>
            </a:p>
          </p:txBody>
        </p:sp>
      </p:grpSp>
      <p:grpSp>
        <p:nvGrpSpPr>
          <p:cNvPr id="5" name="Group 25">
            <a:extLst>
              <a:ext uri="{FF2B5EF4-FFF2-40B4-BE49-F238E27FC236}">
                <a16:creationId xmlns:a16="http://schemas.microsoft.com/office/drawing/2014/main" id="{BE349EA1-39CD-4298-BF8B-DF07C8302738}"/>
              </a:ext>
            </a:extLst>
          </p:cNvPr>
          <p:cNvGrpSpPr>
            <a:grpSpLocks/>
          </p:cNvGrpSpPr>
          <p:nvPr/>
        </p:nvGrpSpPr>
        <p:grpSpPr bwMode="auto">
          <a:xfrm>
            <a:off x="3989388" y="4749800"/>
            <a:ext cx="4217987" cy="1898650"/>
            <a:chOff x="2513" y="2992"/>
            <a:chExt cx="2657" cy="1196"/>
          </a:xfrm>
        </p:grpSpPr>
        <p:sp>
          <p:nvSpPr>
            <p:cNvPr id="16444" name="Rectangle 26">
              <a:extLst>
                <a:ext uri="{FF2B5EF4-FFF2-40B4-BE49-F238E27FC236}">
                  <a16:creationId xmlns:a16="http://schemas.microsoft.com/office/drawing/2014/main" id="{95882176-4EBC-457F-84F9-CA4DFCEE3FF5}"/>
                </a:ext>
              </a:extLst>
            </p:cNvPr>
            <p:cNvSpPr>
              <a:spLocks noChangeArrowheads="1"/>
            </p:cNvSpPr>
            <p:nvPr/>
          </p:nvSpPr>
          <p:spPr bwMode="auto">
            <a:xfrm>
              <a:off x="2513" y="3889"/>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5" name="Rectangle 27">
              <a:extLst>
                <a:ext uri="{FF2B5EF4-FFF2-40B4-BE49-F238E27FC236}">
                  <a16:creationId xmlns:a16="http://schemas.microsoft.com/office/drawing/2014/main" id="{B9A91309-A426-43E5-BB56-25114DEE2085}"/>
                </a:ext>
              </a:extLst>
            </p:cNvPr>
            <p:cNvSpPr>
              <a:spLocks noChangeArrowheads="1"/>
            </p:cNvSpPr>
            <p:nvPr/>
          </p:nvSpPr>
          <p:spPr bwMode="auto">
            <a:xfrm>
              <a:off x="2513" y="3590"/>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6" name="Rectangle 28">
              <a:extLst>
                <a:ext uri="{FF2B5EF4-FFF2-40B4-BE49-F238E27FC236}">
                  <a16:creationId xmlns:a16="http://schemas.microsoft.com/office/drawing/2014/main" id="{3D211CE8-EC6F-4FAB-9B40-97F15A1C1F08}"/>
                </a:ext>
              </a:extLst>
            </p:cNvPr>
            <p:cNvSpPr>
              <a:spLocks noChangeArrowheads="1"/>
            </p:cNvSpPr>
            <p:nvPr/>
          </p:nvSpPr>
          <p:spPr bwMode="auto">
            <a:xfrm>
              <a:off x="2513" y="3291"/>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7" name="Rectangle 29">
              <a:extLst>
                <a:ext uri="{FF2B5EF4-FFF2-40B4-BE49-F238E27FC236}">
                  <a16:creationId xmlns:a16="http://schemas.microsoft.com/office/drawing/2014/main" id="{F4270AA1-A9C7-4FDF-81B3-84FA96098F6D}"/>
                </a:ext>
              </a:extLst>
            </p:cNvPr>
            <p:cNvSpPr>
              <a:spLocks noChangeArrowheads="1"/>
            </p:cNvSpPr>
            <p:nvPr/>
          </p:nvSpPr>
          <p:spPr bwMode="auto">
            <a:xfrm>
              <a:off x="2513" y="2992"/>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8" name="Rectangle 30">
              <a:extLst>
                <a:ext uri="{FF2B5EF4-FFF2-40B4-BE49-F238E27FC236}">
                  <a16:creationId xmlns:a16="http://schemas.microsoft.com/office/drawing/2014/main" id="{7A49297B-1E65-4649-8068-08451C733C36}"/>
                </a:ext>
              </a:extLst>
            </p:cNvPr>
            <p:cNvSpPr>
              <a:spLocks noChangeArrowheads="1"/>
            </p:cNvSpPr>
            <p:nvPr/>
          </p:nvSpPr>
          <p:spPr bwMode="auto">
            <a:xfrm>
              <a:off x="3688" y="3889"/>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9" name="Rectangle 31">
              <a:extLst>
                <a:ext uri="{FF2B5EF4-FFF2-40B4-BE49-F238E27FC236}">
                  <a16:creationId xmlns:a16="http://schemas.microsoft.com/office/drawing/2014/main" id="{D412F945-8FBD-4481-82F1-9C63F36B8744}"/>
                </a:ext>
              </a:extLst>
            </p:cNvPr>
            <p:cNvSpPr>
              <a:spLocks noChangeArrowheads="1"/>
            </p:cNvSpPr>
            <p:nvPr/>
          </p:nvSpPr>
          <p:spPr bwMode="auto">
            <a:xfrm>
              <a:off x="3688" y="3590"/>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50" name="Rectangle 32">
              <a:extLst>
                <a:ext uri="{FF2B5EF4-FFF2-40B4-BE49-F238E27FC236}">
                  <a16:creationId xmlns:a16="http://schemas.microsoft.com/office/drawing/2014/main" id="{4086B219-70EC-4FBB-8418-6DB3EB57BBA6}"/>
                </a:ext>
              </a:extLst>
            </p:cNvPr>
            <p:cNvSpPr>
              <a:spLocks noChangeArrowheads="1"/>
            </p:cNvSpPr>
            <p:nvPr/>
          </p:nvSpPr>
          <p:spPr bwMode="auto">
            <a:xfrm>
              <a:off x="3688" y="3291"/>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51" name="Rectangle 33">
              <a:extLst>
                <a:ext uri="{FF2B5EF4-FFF2-40B4-BE49-F238E27FC236}">
                  <a16:creationId xmlns:a16="http://schemas.microsoft.com/office/drawing/2014/main" id="{ACA0E7FD-3573-4E14-BBC6-DB62EFEC7ADB}"/>
                </a:ext>
              </a:extLst>
            </p:cNvPr>
            <p:cNvSpPr>
              <a:spLocks noChangeArrowheads="1"/>
            </p:cNvSpPr>
            <p:nvPr/>
          </p:nvSpPr>
          <p:spPr bwMode="auto">
            <a:xfrm>
              <a:off x="3688" y="2992"/>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52" name="Rectangle 34">
              <a:extLst>
                <a:ext uri="{FF2B5EF4-FFF2-40B4-BE49-F238E27FC236}">
                  <a16:creationId xmlns:a16="http://schemas.microsoft.com/office/drawing/2014/main" id="{DE0AE059-8A31-4BAA-A57C-DFC6116E2280}"/>
                </a:ext>
              </a:extLst>
            </p:cNvPr>
            <p:cNvSpPr>
              <a:spLocks noChangeArrowheads="1"/>
            </p:cNvSpPr>
            <p:nvPr/>
          </p:nvSpPr>
          <p:spPr bwMode="auto">
            <a:xfrm>
              <a:off x="3973" y="3889"/>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6</a:t>
              </a:r>
            </a:p>
          </p:txBody>
        </p:sp>
        <p:sp>
          <p:nvSpPr>
            <p:cNvPr id="16453" name="Rectangle 35">
              <a:extLst>
                <a:ext uri="{FF2B5EF4-FFF2-40B4-BE49-F238E27FC236}">
                  <a16:creationId xmlns:a16="http://schemas.microsoft.com/office/drawing/2014/main" id="{238753C5-D0A7-49AE-A05C-10E42FE12EA2}"/>
                </a:ext>
              </a:extLst>
            </p:cNvPr>
            <p:cNvSpPr>
              <a:spLocks noChangeArrowheads="1"/>
            </p:cNvSpPr>
            <p:nvPr/>
          </p:nvSpPr>
          <p:spPr bwMode="auto">
            <a:xfrm>
              <a:off x="3973" y="3590"/>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9</a:t>
              </a:r>
            </a:p>
          </p:txBody>
        </p:sp>
        <p:sp>
          <p:nvSpPr>
            <p:cNvPr id="16454" name="Rectangle 36">
              <a:extLst>
                <a:ext uri="{FF2B5EF4-FFF2-40B4-BE49-F238E27FC236}">
                  <a16:creationId xmlns:a16="http://schemas.microsoft.com/office/drawing/2014/main" id="{0F0F882E-ED82-4605-9F5C-A8620EEE2D9A}"/>
                </a:ext>
              </a:extLst>
            </p:cNvPr>
            <p:cNvSpPr>
              <a:spLocks noChangeArrowheads="1"/>
            </p:cNvSpPr>
            <p:nvPr/>
          </p:nvSpPr>
          <p:spPr bwMode="auto">
            <a:xfrm>
              <a:off x="3973" y="3291"/>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12</a:t>
              </a:r>
            </a:p>
          </p:txBody>
        </p:sp>
        <p:sp>
          <p:nvSpPr>
            <p:cNvPr id="16455" name="Rectangle 37">
              <a:extLst>
                <a:ext uri="{FF2B5EF4-FFF2-40B4-BE49-F238E27FC236}">
                  <a16:creationId xmlns:a16="http://schemas.microsoft.com/office/drawing/2014/main" id="{5999F60E-E820-4E66-8C1D-5D9DDD5A2760}"/>
                </a:ext>
              </a:extLst>
            </p:cNvPr>
            <p:cNvSpPr>
              <a:spLocks noChangeArrowheads="1"/>
            </p:cNvSpPr>
            <p:nvPr/>
          </p:nvSpPr>
          <p:spPr bwMode="auto">
            <a:xfrm>
              <a:off x="3973" y="2992"/>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15</a:t>
              </a:r>
            </a:p>
          </p:txBody>
        </p:sp>
      </p:grpSp>
      <p:grpSp>
        <p:nvGrpSpPr>
          <p:cNvPr id="6" name="Group 38">
            <a:extLst>
              <a:ext uri="{FF2B5EF4-FFF2-40B4-BE49-F238E27FC236}">
                <a16:creationId xmlns:a16="http://schemas.microsoft.com/office/drawing/2014/main" id="{353DB243-335B-4982-B1E5-98C081849D48}"/>
              </a:ext>
            </a:extLst>
          </p:cNvPr>
          <p:cNvGrpSpPr>
            <a:grpSpLocks/>
          </p:cNvGrpSpPr>
          <p:nvPr/>
        </p:nvGrpSpPr>
        <p:grpSpPr bwMode="auto">
          <a:xfrm>
            <a:off x="3989388" y="4275138"/>
            <a:ext cx="4217987" cy="474662"/>
            <a:chOff x="2513" y="2693"/>
            <a:chExt cx="2657" cy="299"/>
          </a:xfrm>
        </p:grpSpPr>
        <p:sp>
          <p:nvSpPr>
            <p:cNvPr id="16441" name="Rectangle 39">
              <a:extLst>
                <a:ext uri="{FF2B5EF4-FFF2-40B4-BE49-F238E27FC236}">
                  <a16:creationId xmlns:a16="http://schemas.microsoft.com/office/drawing/2014/main" id="{C9FA2315-6B70-474C-80AA-8A0AE5DC8F8D}"/>
                </a:ext>
              </a:extLst>
            </p:cNvPr>
            <p:cNvSpPr>
              <a:spLocks noChangeArrowheads="1"/>
            </p:cNvSpPr>
            <p:nvPr/>
          </p:nvSpPr>
          <p:spPr bwMode="auto">
            <a:xfrm>
              <a:off x="2513" y="2693"/>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2" name="Rectangle 40">
              <a:extLst>
                <a:ext uri="{FF2B5EF4-FFF2-40B4-BE49-F238E27FC236}">
                  <a16:creationId xmlns:a16="http://schemas.microsoft.com/office/drawing/2014/main" id="{26456BD4-5543-4754-B7C6-343A77FAABDD}"/>
                </a:ext>
              </a:extLst>
            </p:cNvPr>
            <p:cNvSpPr>
              <a:spLocks noChangeArrowheads="1"/>
            </p:cNvSpPr>
            <p:nvPr/>
          </p:nvSpPr>
          <p:spPr bwMode="auto">
            <a:xfrm>
              <a:off x="3688" y="2693"/>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3" name="Rectangle 41">
              <a:extLst>
                <a:ext uri="{FF2B5EF4-FFF2-40B4-BE49-F238E27FC236}">
                  <a16:creationId xmlns:a16="http://schemas.microsoft.com/office/drawing/2014/main" id="{DBC0AF90-C459-489D-B7B6-BDBE031AD980}"/>
                </a:ext>
              </a:extLst>
            </p:cNvPr>
            <p:cNvSpPr>
              <a:spLocks noChangeArrowheads="1"/>
            </p:cNvSpPr>
            <p:nvPr/>
          </p:nvSpPr>
          <p:spPr bwMode="auto">
            <a:xfrm>
              <a:off x="3973" y="2693"/>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18</a:t>
              </a:r>
            </a:p>
          </p:txBody>
        </p:sp>
      </p:grpSp>
      <p:grpSp>
        <p:nvGrpSpPr>
          <p:cNvPr id="7" name="Group 42">
            <a:extLst>
              <a:ext uri="{FF2B5EF4-FFF2-40B4-BE49-F238E27FC236}">
                <a16:creationId xmlns:a16="http://schemas.microsoft.com/office/drawing/2014/main" id="{0A2BED4B-2427-4246-8F49-A15A260D157C}"/>
              </a:ext>
            </a:extLst>
          </p:cNvPr>
          <p:cNvGrpSpPr>
            <a:grpSpLocks/>
          </p:cNvGrpSpPr>
          <p:nvPr/>
        </p:nvGrpSpPr>
        <p:grpSpPr bwMode="auto">
          <a:xfrm>
            <a:off x="3989388" y="3800475"/>
            <a:ext cx="4217987" cy="474663"/>
            <a:chOff x="2513" y="2394"/>
            <a:chExt cx="2657" cy="299"/>
          </a:xfrm>
        </p:grpSpPr>
        <p:sp>
          <p:nvSpPr>
            <p:cNvPr id="16438" name="Rectangle 43">
              <a:extLst>
                <a:ext uri="{FF2B5EF4-FFF2-40B4-BE49-F238E27FC236}">
                  <a16:creationId xmlns:a16="http://schemas.microsoft.com/office/drawing/2014/main" id="{2116D70A-1B14-4DE6-86AE-DF38C755F80A}"/>
                </a:ext>
              </a:extLst>
            </p:cNvPr>
            <p:cNvSpPr>
              <a:spLocks noChangeArrowheads="1"/>
            </p:cNvSpPr>
            <p:nvPr/>
          </p:nvSpPr>
          <p:spPr bwMode="auto">
            <a:xfrm>
              <a:off x="2513" y="2394"/>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39" name="Rectangle 44">
              <a:extLst>
                <a:ext uri="{FF2B5EF4-FFF2-40B4-BE49-F238E27FC236}">
                  <a16:creationId xmlns:a16="http://schemas.microsoft.com/office/drawing/2014/main" id="{5E7CC6BD-843C-4B53-8652-E679BFCBE412}"/>
                </a:ext>
              </a:extLst>
            </p:cNvPr>
            <p:cNvSpPr>
              <a:spLocks noChangeArrowheads="1"/>
            </p:cNvSpPr>
            <p:nvPr/>
          </p:nvSpPr>
          <p:spPr bwMode="auto">
            <a:xfrm>
              <a:off x="3688" y="2394"/>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0" name="Rectangle 45">
              <a:extLst>
                <a:ext uri="{FF2B5EF4-FFF2-40B4-BE49-F238E27FC236}">
                  <a16:creationId xmlns:a16="http://schemas.microsoft.com/office/drawing/2014/main" id="{1239D259-6644-4865-84FA-296F62DBA4E2}"/>
                </a:ext>
              </a:extLst>
            </p:cNvPr>
            <p:cNvSpPr>
              <a:spLocks noChangeArrowheads="1"/>
            </p:cNvSpPr>
            <p:nvPr/>
          </p:nvSpPr>
          <p:spPr bwMode="auto">
            <a:xfrm>
              <a:off x="3973" y="2394"/>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21</a:t>
              </a:r>
            </a:p>
          </p:txBody>
        </p:sp>
      </p:grpSp>
      <p:grpSp>
        <p:nvGrpSpPr>
          <p:cNvPr id="8" name="Group 46">
            <a:extLst>
              <a:ext uri="{FF2B5EF4-FFF2-40B4-BE49-F238E27FC236}">
                <a16:creationId xmlns:a16="http://schemas.microsoft.com/office/drawing/2014/main" id="{DD54D72C-2979-4926-BDB8-408EA5CADB53}"/>
              </a:ext>
            </a:extLst>
          </p:cNvPr>
          <p:cNvGrpSpPr>
            <a:grpSpLocks/>
          </p:cNvGrpSpPr>
          <p:nvPr/>
        </p:nvGrpSpPr>
        <p:grpSpPr bwMode="auto">
          <a:xfrm>
            <a:off x="3989388" y="3325813"/>
            <a:ext cx="4217987" cy="474662"/>
            <a:chOff x="2513" y="2095"/>
            <a:chExt cx="2657" cy="299"/>
          </a:xfrm>
        </p:grpSpPr>
        <p:sp>
          <p:nvSpPr>
            <p:cNvPr id="16435" name="Rectangle 47">
              <a:extLst>
                <a:ext uri="{FF2B5EF4-FFF2-40B4-BE49-F238E27FC236}">
                  <a16:creationId xmlns:a16="http://schemas.microsoft.com/office/drawing/2014/main" id="{A6703EBB-C224-4163-9D11-A0622EAA3CC8}"/>
                </a:ext>
              </a:extLst>
            </p:cNvPr>
            <p:cNvSpPr>
              <a:spLocks noChangeArrowheads="1"/>
            </p:cNvSpPr>
            <p:nvPr/>
          </p:nvSpPr>
          <p:spPr bwMode="auto">
            <a:xfrm>
              <a:off x="2513" y="2095"/>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36" name="Rectangle 48">
              <a:extLst>
                <a:ext uri="{FF2B5EF4-FFF2-40B4-BE49-F238E27FC236}">
                  <a16:creationId xmlns:a16="http://schemas.microsoft.com/office/drawing/2014/main" id="{1940FE19-ED49-4097-8439-4977CAFC70F6}"/>
                </a:ext>
              </a:extLst>
            </p:cNvPr>
            <p:cNvSpPr>
              <a:spLocks noChangeArrowheads="1"/>
            </p:cNvSpPr>
            <p:nvPr/>
          </p:nvSpPr>
          <p:spPr bwMode="auto">
            <a:xfrm>
              <a:off x="3688" y="2095"/>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37" name="Rectangle 49">
              <a:extLst>
                <a:ext uri="{FF2B5EF4-FFF2-40B4-BE49-F238E27FC236}">
                  <a16:creationId xmlns:a16="http://schemas.microsoft.com/office/drawing/2014/main" id="{DBF56727-DD52-49F4-B398-B8F2BC4F29DC}"/>
                </a:ext>
              </a:extLst>
            </p:cNvPr>
            <p:cNvSpPr>
              <a:spLocks noChangeArrowheads="1"/>
            </p:cNvSpPr>
            <p:nvPr/>
          </p:nvSpPr>
          <p:spPr bwMode="auto">
            <a:xfrm>
              <a:off x="3973" y="2095"/>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24</a:t>
              </a:r>
            </a:p>
          </p:txBody>
        </p:sp>
      </p:grpSp>
      <p:sp>
        <p:nvSpPr>
          <p:cNvPr id="73778" name="Rectangle 50">
            <a:extLst>
              <a:ext uri="{FF2B5EF4-FFF2-40B4-BE49-F238E27FC236}">
                <a16:creationId xmlns:a16="http://schemas.microsoft.com/office/drawing/2014/main" id="{4CC38F08-F108-4DB5-8D3E-995F9DAD2CE8}"/>
              </a:ext>
            </a:extLst>
          </p:cNvPr>
          <p:cNvSpPr>
            <a:spLocks noChangeArrowheads="1"/>
          </p:cNvSpPr>
          <p:nvPr/>
        </p:nvSpPr>
        <p:spPr bwMode="auto">
          <a:xfrm>
            <a:off x="6307138" y="2832100"/>
            <a:ext cx="19002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Market </a:t>
            </a:r>
            <a:r>
              <a:rPr lang="en-US" altLang="en-US" sz="2400" b="1" i="1">
                <a:solidFill>
                  <a:srgbClr val="FF0000"/>
                </a:solidFill>
                <a:cs typeface="Arial" panose="020B0604020202020204" pitchFamily="34" charset="0"/>
              </a:rPr>
              <a:t>Q</a:t>
            </a:r>
            <a:r>
              <a:rPr lang="en-US" altLang="en-US" sz="2400" b="1" i="1" baseline="30000">
                <a:solidFill>
                  <a:srgbClr val="FF0000"/>
                </a:solidFill>
                <a:cs typeface="Arial" panose="020B0604020202020204" pitchFamily="34" charset="0"/>
              </a:rPr>
              <a:t>d</a:t>
            </a:r>
            <a:r>
              <a:rPr lang="en-US" altLang="en-US" sz="2400">
                <a:solidFill>
                  <a:srgbClr val="FF0000"/>
                </a:solidFill>
                <a:cs typeface="Arial" panose="020B0604020202020204" pitchFamily="34" charset="0"/>
              </a:rPr>
              <a:t> </a:t>
            </a:r>
          </a:p>
        </p:txBody>
      </p:sp>
      <p:grpSp>
        <p:nvGrpSpPr>
          <p:cNvPr id="9" name="Group 51">
            <a:extLst>
              <a:ext uri="{FF2B5EF4-FFF2-40B4-BE49-F238E27FC236}">
                <a16:creationId xmlns:a16="http://schemas.microsoft.com/office/drawing/2014/main" id="{E8D5C7BE-7342-403D-B058-E72C8103D2EE}"/>
              </a:ext>
            </a:extLst>
          </p:cNvPr>
          <p:cNvGrpSpPr>
            <a:grpSpLocks/>
          </p:cNvGrpSpPr>
          <p:nvPr/>
        </p:nvGrpSpPr>
        <p:grpSpPr bwMode="auto">
          <a:xfrm>
            <a:off x="923925" y="2832100"/>
            <a:ext cx="1192213" cy="3816350"/>
            <a:chOff x="582" y="1784"/>
            <a:chExt cx="751" cy="2404"/>
          </a:xfrm>
        </p:grpSpPr>
        <p:sp>
          <p:nvSpPr>
            <p:cNvPr id="16427" name="Rectangle 52">
              <a:extLst>
                <a:ext uri="{FF2B5EF4-FFF2-40B4-BE49-F238E27FC236}">
                  <a16:creationId xmlns:a16="http://schemas.microsoft.com/office/drawing/2014/main" id="{8B054AAD-9C37-4333-9C02-82F9E750BFCF}"/>
                </a:ext>
              </a:extLst>
            </p:cNvPr>
            <p:cNvSpPr>
              <a:spLocks noChangeArrowheads="1"/>
            </p:cNvSpPr>
            <p:nvPr/>
          </p:nvSpPr>
          <p:spPr bwMode="auto">
            <a:xfrm>
              <a:off x="582" y="2095"/>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$0.00</a:t>
              </a:r>
            </a:p>
          </p:txBody>
        </p:sp>
        <p:sp>
          <p:nvSpPr>
            <p:cNvPr id="16428" name="Rectangle 53">
              <a:extLst>
                <a:ext uri="{FF2B5EF4-FFF2-40B4-BE49-F238E27FC236}">
                  <a16:creationId xmlns:a16="http://schemas.microsoft.com/office/drawing/2014/main" id="{10FB240B-F71E-44EA-83C7-A99255D0B2DB}"/>
                </a:ext>
              </a:extLst>
            </p:cNvPr>
            <p:cNvSpPr>
              <a:spLocks noChangeArrowheads="1"/>
            </p:cNvSpPr>
            <p:nvPr/>
          </p:nvSpPr>
          <p:spPr bwMode="auto">
            <a:xfrm>
              <a:off x="582" y="3889"/>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6.00</a:t>
              </a:r>
            </a:p>
          </p:txBody>
        </p:sp>
        <p:sp>
          <p:nvSpPr>
            <p:cNvPr id="16429" name="Rectangle 54">
              <a:extLst>
                <a:ext uri="{FF2B5EF4-FFF2-40B4-BE49-F238E27FC236}">
                  <a16:creationId xmlns:a16="http://schemas.microsoft.com/office/drawing/2014/main" id="{2752A19C-E0D5-44B8-B224-E164714A9DBF}"/>
                </a:ext>
              </a:extLst>
            </p:cNvPr>
            <p:cNvSpPr>
              <a:spLocks noChangeArrowheads="1"/>
            </p:cNvSpPr>
            <p:nvPr/>
          </p:nvSpPr>
          <p:spPr bwMode="auto">
            <a:xfrm>
              <a:off x="582" y="3590"/>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5.00</a:t>
              </a:r>
            </a:p>
          </p:txBody>
        </p:sp>
        <p:sp>
          <p:nvSpPr>
            <p:cNvPr id="16430" name="Rectangle 55">
              <a:extLst>
                <a:ext uri="{FF2B5EF4-FFF2-40B4-BE49-F238E27FC236}">
                  <a16:creationId xmlns:a16="http://schemas.microsoft.com/office/drawing/2014/main" id="{BA5EE460-B2DF-448A-ABCC-EA00F63BE6B3}"/>
                </a:ext>
              </a:extLst>
            </p:cNvPr>
            <p:cNvSpPr>
              <a:spLocks noChangeArrowheads="1"/>
            </p:cNvSpPr>
            <p:nvPr/>
          </p:nvSpPr>
          <p:spPr bwMode="auto">
            <a:xfrm>
              <a:off x="582" y="3291"/>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4.00</a:t>
              </a:r>
            </a:p>
          </p:txBody>
        </p:sp>
        <p:sp>
          <p:nvSpPr>
            <p:cNvPr id="16431" name="Rectangle 56">
              <a:extLst>
                <a:ext uri="{FF2B5EF4-FFF2-40B4-BE49-F238E27FC236}">
                  <a16:creationId xmlns:a16="http://schemas.microsoft.com/office/drawing/2014/main" id="{71F7166C-ED5B-43B5-B01F-A2ECAF7B1801}"/>
                </a:ext>
              </a:extLst>
            </p:cNvPr>
            <p:cNvSpPr>
              <a:spLocks noChangeArrowheads="1"/>
            </p:cNvSpPr>
            <p:nvPr/>
          </p:nvSpPr>
          <p:spPr bwMode="auto">
            <a:xfrm>
              <a:off x="582" y="2992"/>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3.00</a:t>
              </a:r>
            </a:p>
          </p:txBody>
        </p:sp>
        <p:sp>
          <p:nvSpPr>
            <p:cNvPr id="16432" name="Rectangle 57">
              <a:extLst>
                <a:ext uri="{FF2B5EF4-FFF2-40B4-BE49-F238E27FC236}">
                  <a16:creationId xmlns:a16="http://schemas.microsoft.com/office/drawing/2014/main" id="{EA8912EF-2D09-466B-99F3-D504514C4E4C}"/>
                </a:ext>
              </a:extLst>
            </p:cNvPr>
            <p:cNvSpPr>
              <a:spLocks noChangeArrowheads="1"/>
            </p:cNvSpPr>
            <p:nvPr/>
          </p:nvSpPr>
          <p:spPr bwMode="auto">
            <a:xfrm>
              <a:off x="582" y="2693"/>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2.00</a:t>
              </a:r>
            </a:p>
          </p:txBody>
        </p:sp>
        <p:sp>
          <p:nvSpPr>
            <p:cNvPr id="16433" name="Rectangle 58">
              <a:extLst>
                <a:ext uri="{FF2B5EF4-FFF2-40B4-BE49-F238E27FC236}">
                  <a16:creationId xmlns:a16="http://schemas.microsoft.com/office/drawing/2014/main" id="{E2F3E3E6-8A0E-4AFC-9EBB-FF1BA2516385}"/>
                </a:ext>
              </a:extLst>
            </p:cNvPr>
            <p:cNvSpPr>
              <a:spLocks noChangeArrowheads="1"/>
            </p:cNvSpPr>
            <p:nvPr/>
          </p:nvSpPr>
          <p:spPr bwMode="auto">
            <a:xfrm>
              <a:off x="582" y="2394"/>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1.00</a:t>
              </a:r>
            </a:p>
          </p:txBody>
        </p:sp>
        <p:sp>
          <p:nvSpPr>
            <p:cNvPr id="16434" name="Rectangle 59">
              <a:extLst>
                <a:ext uri="{FF2B5EF4-FFF2-40B4-BE49-F238E27FC236}">
                  <a16:creationId xmlns:a16="http://schemas.microsoft.com/office/drawing/2014/main" id="{159E268A-6C24-4B3E-9B9E-9BDE4082736C}"/>
                </a:ext>
              </a:extLst>
            </p:cNvPr>
            <p:cNvSpPr>
              <a:spLocks noChangeArrowheads="1"/>
            </p:cNvSpPr>
            <p:nvPr/>
          </p:nvSpPr>
          <p:spPr bwMode="auto">
            <a:xfrm>
              <a:off x="582" y="1784"/>
              <a:ext cx="75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Price </a:t>
              </a:r>
            </a:p>
          </p:txBody>
        </p:sp>
      </p:grpSp>
      <p:sp>
        <p:nvSpPr>
          <p:cNvPr id="16397" name="Line 60">
            <a:extLst>
              <a:ext uri="{FF2B5EF4-FFF2-40B4-BE49-F238E27FC236}">
                <a16:creationId xmlns:a16="http://schemas.microsoft.com/office/drawing/2014/main" id="{A6295C53-EB96-490C-B6BA-B8D80DBA125D}"/>
              </a:ext>
            </a:extLst>
          </p:cNvPr>
          <p:cNvSpPr>
            <a:spLocks noChangeShapeType="1"/>
          </p:cNvSpPr>
          <p:nvPr/>
        </p:nvSpPr>
        <p:spPr bwMode="auto">
          <a:xfrm>
            <a:off x="923925" y="2832100"/>
            <a:ext cx="11922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398" name="Line 61">
            <a:extLst>
              <a:ext uri="{FF2B5EF4-FFF2-40B4-BE49-F238E27FC236}">
                <a16:creationId xmlns:a16="http://schemas.microsoft.com/office/drawing/2014/main" id="{9ACC26E3-DC29-4A3F-90BE-FDB415DB3963}"/>
              </a:ext>
            </a:extLst>
          </p:cNvPr>
          <p:cNvSpPr>
            <a:spLocks noChangeShapeType="1"/>
          </p:cNvSpPr>
          <p:nvPr/>
        </p:nvSpPr>
        <p:spPr bwMode="auto">
          <a:xfrm>
            <a:off x="923925" y="6648450"/>
            <a:ext cx="11922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399" name="Line 62">
            <a:extLst>
              <a:ext uri="{FF2B5EF4-FFF2-40B4-BE49-F238E27FC236}">
                <a16:creationId xmlns:a16="http://schemas.microsoft.com/office/drawing/2014/main" id="{D50960AC-2103-48AE-8BF3-4CEBD8389134}"/>
              </a:ext>
            </a:extLst>
          </p:cNvPr>
          <p:cNvSpPr>
            <a:spLocks noChangeShapeType="1"/>
          </p:cNvSpPr>
          <p:nvPr/>
        </p:nvSpPr>
        <p:spPr bwMode="auto">
          <a:xfrm>
            <a:off x="923925" y="2832100"/>
            <a:ext cx="0"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0" name="Line 63">
            <a:extLst>
              <a:ext uri="{FF2B5EF4-FFF2-40B4-BE49-F238E27FC236}">
                <a16:creationId xmlns:a16="http://schemas.microsoft.com/office/drawing/2014/main" id="{641400AB-385D-4115-9CC2-D4916E5176D9}"/>
              </a:ext>
            </a:extLst>
          </p:cNvPr>
          <p:cNvSpPr>
            <a:spLocks noChangeShapeType="1"/>
          </p:cNvSpPr>
          <p:nvPr/>
        </p:nvSpPr>
        <p:spPr bwMode="auto">
          <a:xfrm>
            <a:off x="8207375" y="2832100"/>
            <a:ext cx="0"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1" name="Line 64">
            <a:extLst>
              <a:ext uri="{FF2B5EF4-FFF2-40B4-BE49-F238E27FC236}">
                <a16:creationId xmlns:a16="http://schemas.microsoft.com/office/drawing/2014/main" id="{A181DDAE-0B61-464D-A12B-3ED3FF706742}"/>
              </a:ext>
            </a:extLst>
          </p:cNvPr>
          <p:cNvSpPr>
            <a:spLocks noChangeShapeType="1"/>
          </p:cNvSpPr>
          <p:nvPr/>
        </p:nvSpPr>
        <p:spPr bwMode="auto">
          <a:xfrm>
            <a:off x="2116138" y="2832100"/>
            <a:ext cx="18732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2" name="Line 65">
            <a:extLst>
              <a:ext uri="{FF2B5EF4-FFF2-40B4-BE49-F238E27FC236}">
                <a16:creationId xmlns:a16="http://schemas.microsoft.com/office/drawing/2014/main" id="{27C73544-C310-4C5F-8DA7-6D9F357F849D}"/>
              </a:ext>
            </a:extLst>
          </p:cNvPr>
          <p:cNvSpPr>
            <a:spLocks noChangeShapeType="1"/>
          </p:cNvSpPr>
          <p:nvPr/>
        </p:nvSpPr>
        <p:spPr bwMode="auto">
          <a:xfrm>
            <a:off x="923925" y="332581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3" name="Line 66">
            <a:extLst>
              <a:ext uri="{FF2B5EF4-FFF2-40B4-BE49-F238E27FC236}">
                <a16:creationId xmlns:a16="http://schemas.microsoft.com/office/drawing/2014/main" id="{5A33C8CC-4A2E-4D83-999D-7B926C49CE1B}"/>
              </a:ext>
            </a:extLst>
          </p:cNvPr>
          <p:cNvSpPr>
            <a:spLocks noChangeShapeType="1"/>
          </p:cNvSpPr>
          <p:nvPr/>
        </p:nvSpPr>
        <p:spPr bwMode="auto">
          <a:xfrm>
            <a:off x="8207375" y="332581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4" name="Line 67">
            <a:extLst>
              <a:ext uri="{FF2B5EF4-FFF2-40B4-BE49-F238E27FC236}">
                <a16:creationId xmlns:a16="http://schemas.microsoft.com/office/drawing/2014/main" id="{B33718BA-ACC7-4E0F-B68C-9D7C34FCF12A}"/>
              </a:ext>
            </a:extLst>
          </p:cNvPr>
          <p:cNvSpPr>
            <a:spLocks noChangeShapeType="1"/>
          </p:cNvSpPr>
          <p:nvPr/>
        </p:nvSpPr>
        <p:spPr bwMode="auto">
          <a:xfrm>
            <a:off x="923925" y="380047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5" name="Line 68">
            <a:extLst>
              <a:ext uri="{FF2B5EF4-FFF2-40B4-BE49-F238E27FC236}">
                <a16:creationId xmlns:a16="http://schemas.microsoft.com/office/drawing/2014/main" id="{15806A94-58EF-45E0-B17F-45CEA3DD5785}"/>
              </a:ext>
            </a:extLst>
          </p:cNvPr>
          <p:cNvSpPr>
            <a:spLocks noChangeShapeType="1"/>
          </p:cNvSpPr>
          <p:nvPr/>
        </p:nvSpPr>
        <p:spPr bwMode="auto">
          <a:xfrm>
            <a:off x="8207375" y="380047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6" name="Line 69">
            <a:extLst>
              <a:ext uri="{FF2B5EF4-FFF2-40B4-BE49-F238E27FC236}">
                <a16:creationId xmlns:a16="http://schemas.microsoft.com/office/drawing/2014/main" id="{5726ECA1-92A7-48C3-8C15-E95230EF67E9}"/>
              </a:ext>
            </a:extLst>
          </p:cNvPr>
          <p:cNvSpPr>
            <a:spLocks noChangeShapeType="1"/>
          </p:cNvSpPr>
          <p:nvPr/>
        </p:nvSpPr>
        <p:spPr bwMode="auto">
          <a:xfrm>
            <a:off x="923925" y="427513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7" name="Line 70">
            <a:extLst>
              <a:ext uri="{FF2B5EF4-FFF2-40B4-BE49-F238E27FC236}">
                <a16:creationId xmlns:a16="http://schemas.microsoft.com/office/drawing/2014/main" id="{60A6E8AA-BE5C-453E-B89F-6203BB46336F}"/>
              </a:ext>
            </a:extLst>
          </p:cNvPr>
          <p:cNvSpPr>
            <a:spLocks noChangeShapeType="1"/>
          </p:cNvSpPr>
          <p:nvPr/>
        </p:nvSpPr>
        <p:spPr bwMode="auto">
          <a:xfrm>
            <a:off x="8207375" y="427513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8" name="Line 71">
            <a:extLst>
              <a:ext uri="{FF2B5EF4-FFF2-40B4-BE49-F238E27FC236}">
                <a16:creationId xmlns:a16="http://schemas.microsoft.com/office/drawing/2014/main" id="{08583893-0CC2-4253-929C-347B4FAC1771}"/>
              </a:ext>
            </a:extLst>
          </p:cNvPr>
          <p:cNvSpPr>
            <a:spLocks noChangeShapeType="1"/>
          </p:cNvSpPr>
          <p:nvPr/>
        </p:nvSpPr>
        <p:spPr bwMode="auto">
          <a:xfrm>
            <a:off x="923925" y="4749800"/>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9" name="Line 72">
            <a:extLst>
              <a:ext uri="{FF2B5EF4-FFF2-40B4-BE49-F238E27FC236}">
                <a16:creationId xmlns:a16="http://schemas.microsoft.com/office/drawing/2014/main" id="{9E07CEAF-66AD-4C22-9AF8-FF59676C0E3F}"/>
              </a:ext>
            </a:extLst>
          </p:cNvPr>
          <p:cNvSpPr>
            <a:spLocks noChangeShapeType="1"/>
          </p:cNvSpPr>
          <p:nvPr/>
        </p:nvSpPr>
        <p:spPr bwMode="auto">
          <a:xfrm>
            <a:off x="8207375" y="4749800"/>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0" name="Line 73">
            <a:extLst>
              <a:ext uri="{FF2B5EF4-FFF2-40B4-BE49-F238E27FC236}">
                <a16:creationId xmlns:a16="http://schemas.microsoft.com/office/drawing/2014/main" id="{8D7C85E0-D917-4761-867B-D2BDFB6CEE59}"/>
              </a:ext>
            </a:extLst>
          </p:cNvPr>
          <p:cNvSpPr>
            <a:spLocks noChangeShapeType="1"/>
          </p:cNvSpPr>
          <p:nvPr/>
        </p:nvSpPr>
        <p:spPr bwMode="auto">
          <a:xfrm>
            <a:off x="923925" y="522446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1" name="Line 74">
            <a:extLst>
              <a:ext uri="{FF2B5EF4-FFF2-40B4-BE49-F238E27FC236}">
                <a16:creationId xmlns:a16="http://schemas.microsoft.com/office/drawing/2014/main" id="{9A31E7EE-C6F5-4A38-A8EA-8C19D022E8B6}"/>
              </a:ext>
            </a:extLst>
          </p:cNvPr>
          <p:cNvSpPr>
            <a:spLocks noChangeShapeType="1"/>
          </p:cNvSpPr>
          <p:nvPr/>
        </p:nvSpPr>
        <p:spPr bwMode="auto">
          <a:xfrm>
            <a:off x="8207375" y="522446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2" name="Line 75">
            <a:extLst>
              <a:ext uri="{FF2B5EF4-FFF2-40B4-BE49-F238E27FC236}">
                <a16:creationId xmlns:a16="http://schemas.microsoft.com/office/drawing/2014/main" id="{2020F185-BCD9-4CDE-B975-0A4D8D115A5A}"/>
              </a:ext>
            </a:extLst>
          </p:cNvPr>
          <p:cNvSpPr>
            <a:spLocks noChangeShapeType="1"/>
          </p:cNvSpPr>
          <p:nvPr/>
        </p:nvSpPr>
        <p:spPr bwMode="auto">
          <a:xfrm>
            <a:off x="923925" y="569912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3" name="Line 76">
            <a:extLst>
              <a:ext uri="{FF2B5EF4-FFF2-40B4-BE49-F238E27FC236}">
                <a16:creationId xmlns:a16="http://schemas.microsoft.com/office/drawing/2014/main" id="{18C0E106-FD8B-4B7B-90BB-BB7D6C6DE156}"/>
              </a:ext>
            </a:extLst>
          </p:cNvPr>
          <p:cNvSpPr>
            <a:spLocks noChangeShapeType="1"/>
          </p:cNvSpPr>
          <p:nvPr/>
        </p:nvSpPr>
        <p:spPr bwMode="auto">
          <a:xfrm>
            <a:off x="8207375" y="569912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4" name="Line 77">
            <a:extLst>
              <a:ext uri="{FF2B5EF4-FFF2-40B4-BE49-F238E27FC236}">
                <a16:creationId xmlns:a16="http://schemas.microsoft.com/office/drawing/2014/main" id="{AA10534E-8F96-4C4A-B30A-57AC5B5B6B43}"/>
              </a:ext>
            </a:extLst>
          </p:cNvPr>
          <p:cNvSpPr>
            <a:spLocks noChangeShapeType="1"/>
          </p:cNvSpPr>
          <p:nvPr/>
        </p:nvSpPr>
        <p:spPr bwMode="auto">
          <a:xfrm>
            <a:off x="923925" y="617378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5" name="Line 78">
            <a:extLst>
              <a:ext uri="{FF2B5EF4-FFF2-40B4-BE49-F238E27FC236}">
                <a16:creationId xmlns:a16="http://schemas.microsoft.com/office/drawing/2014/main" id="{67026C48-25B2-4C5F-863E-7A69356D45A3}"/>
              </a:ext>
            </a:extLst>
          </p:cNvPr>
          <p:cNvSpPr>
            <a:spLocks noChangeShapeType="1"/>
          </p:cNvSpPr>
          <p:nvPr/>
        </p:nvSpPr>
        <p:spPr bwMode="auto">
          <a:xfrm>
            <a:off x="8207375" y="617378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6" name="Line 79">
            <a:extLst>
              <a:ext uri="{FF2B5EF4-FFF2-40B4-BE49-F238E27FC236}">
                <a16:creationId xmlns:a16="http://schemas.microsoft.com/office/drawing/2014/main" id="{86D96C20-A645-40BA-92B7-6F3306D67B8B}"/>
              </a:ext>
            </a:extLst>
          </p:cNvPr>
          <p:cNvSpPr>
            <a:spLocks noChangeShapeType="1"/>
          </p:cNvSpPr>
          <p:nvPr/>
        </p:nvSpPr>
        <p:spPr bwMode="auto">
          <a:xfrm>
            <a:off x="2116138" y="6648450"/>
            <a:ext cx="18732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7" name="Line 80">
            <a:extLst>
              <a:ext uri="{FF2B5EF4-FFF2-40B4-BE49-F238E27FC236}">
                <a16:creationId xmlns:a16="http://schemas.microsoft.com/office/drawing/2014/main" id="{1A6C97AF-0886-4004-BE9E-462E15BC7AA8}"/>
              </a:ext>
            </a:extLst>
          </p:cNvPr>
          <p:cNvSpPr>
            <a:spLocks noChangeShapeType="1"/>
          </p:cNvSpPr>
          <p:nvPr/>
        </p:nvSpPr>
        <p:spPr bwMode="auto">
          <a:xfrm>
            <a:off x="3989388" y="2832100"/>
            <a:ext cx="2667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8" name="Line 81">
            <a:extLst>
              <a:ext uri="{FF2B5EF4-FFF2-40B4-BE49-F238E27FC236}">
                <a16:creationId xmlns:a16="http://schemas.microsoft.com/office/drawing/2014/main" id="{9278078D-EFF2-437C-9A62-0D132830E20A}"/>
              </a:ext>
            </a:extLst>
          </p:cNvPr>
          <p:cNvSpPr>
            <a:spLocks noChangeShapeType="1"/>
          </p:cNvSpPr>
          <p:nvPr/>
        </p:nvSpPr>
        <p:spPr bwMode="auto">
          <a:xfrm>
            <a:off x="4256088" y="2832100"/>
            <a:ext cx="1598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9" name="Line 82">
            <a:extLst>
              <a:ext uri="{FF2B5EF4-FFF2-40B4-BE49-F238E27FC236}">
                <a16:creationId xmlns:a16="http://schemas.microsoft.com/office/drawing/2014/main" id="{A2C70FB9-76DD-4B1F-8E16-DD44A3C30627}"/>
              </a:ext>
            </a:extLst>
          </p:cNvPr>
          <p:cNvSpPr>
            <a:spLocks noChangeShapeType="1"/>
          </p:cNvSpPr>
          <p:nvPr/>
        </p:nvSpPr>
        <p:spPr bwMode="auto">
          <a:xfrm>
            <a:off x="5854700" y="2832100"/>
            <a:ext cx="4524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0" name="Line 83">
            <a:extLst>
              <a:ext uri="{FF2B5EF4-FFF2-40B4-BE49-F238E27FC236}">
                <a16:creationId xmlns:a16="http://schemas.microsoft.com/office/drawing/2014/main" id="{D0B87795-B5C3-4A53-AD0D-3FABD48E690A}"/>
              </a:ext>
            </a:extLst>
          </p:cNvPr>
          <p:cNvSpPr>
            <a:spLocks noChangeShapeType="1"/>
          </p:cNvSpPr>
          <p:nvPr/>
        </p:nvSpPr>
        <p:spPr bwMode="auto">
          <a:xfrm>
            <a:off x="6307138" y="2832100"/>
            <a:ext cx="19002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1" name="Line 84">
            <a:extLst>
              <a:ext uri="{FF2B5EF4-FFF2-40B4-BE49-F238E27FC236}">
                <a16:creationId xmlns:a16="http://schemas.microsoft.com/office/drawing/2014/main" id="{24511B0D-A4B3-4A0F-9DB1-B92F7529CA29}"/>
              </a:ext>
            </a:extLst>
          </p:cNvPr>
          <p:cNvSpPr>
            <a:spLocks noChangeShapeType="1"/>
          </p:cNvSpPr>
          <p:nvPr/>
        </p:nvSpPr>
        <p:spPr bwMode="auto">
          <a:xfrm>
            <a:off x="3989388" y="6648450"/>
            <a:ext cx="2667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2" name="Line 85">
            <a:extLst>
              <a:ext uri="{FF2B5EF4-FFF2-40B4-BE49-F238E27FC236}">
                <a16:creationId xmlns:a16="http://schemas.microsoft.com/office/drawing/2014/main" id="{330A3229-42EA-48A7-A355-90F696FF4C14}"/>
              </a:ext>
            </a:extLst>
          </p:cNvPr>
          <p:cNvSpPr>
            <a:spLocks noChangeShapeType="1"/>
          </p:cNvSpPr>
          <p:nvPr/>
        </p:nvSpPr>
        <p:spPr bwMode="auto">
          <a:xfrm>
            <a:off x="4256088" y="6648450"/>
            <a:ext cx="1598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3" name="Line 86">
            <a:extLst>
              <a:ext uri="{FF2B5EF4-FFF2-40B4-BE49-F238E27FC236}">
                <a16:creationId xmlns:a16="http://schemas.microsoft.com/office/drawing/2014/main" id="{0CF23DAF-70F6-45CD-B2AA-049EFB0164DF}"/>
              </a:ext>
            </a:extLst>
          </p:cNvPr>
          <p:cNvSpPr>
            <a:spLocks noChangeShapeType="1"/>
          </p:cNvSpPr>
          <p:nvPr/>
        </p:nvSpPr>
        <p:spPr bwMode="auto">
          <a:xfrm>
            <a:off x="5854700" y="6648450"/>
            <a:ext cx="4524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4" name="Line 87">
            <a:extLst>
              <a:ext uri="{FF2B5EF4-FFF2-40B4-BE49-F238E27FC236}">
                <a16:creationId xmlns:a16="http://schemas.microsoft.com/office/drawing/2014/main" id="{C2B2C0E8-E959-4094-A5F9-D2E22275750B}"/>
              </a:ext>
            </a:extLst>
          </p:cNvPr>
          <p:cNvSpPr>
            <a:spLocks noChangeShapeType="1"/>
          </p:cNvSpPr>
          <p:nvPr/>
        </p:nvSpPr>
        <p:spPr bwMode="auto">
          <a:xfrm>
            <a:off x="6307138" y="6648450"/>
            <a:ext cx="19002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5" name="FlagCount" hidden="1">
            <a:hlinkClick r:id="rId3" action="ppaction://hlinkfile"/>
            <a:extLst>
              <a:ext uri="{FF2B5EF4-FFF2-40B4-BE49-F238E27FC236}">
                <a16:creationId xmlns:a16="http://schemas.microsoft.com/office/drawing/2014/main" id="{A385B0A7-258B-4ECC-84EF-53BC69E8027A}"/>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
        <p:nvSpPr>
          <p:cNvPr id="16426" name="Rectangle 89">
            <a:extLst>
              <a:ext uri="{FF2B5EF4-FFF2-40B4-BE49-F238E27FC236}">
                <a16:creationId xmlns:a16="http://schemas.microsoft.com/office/drawing/2014/main" id="{A049BA80-96EB-43BB-AD68-309A8C096217}"/>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2ED6AA8-7AFE-4EA8-A71B-068502B6ADFC}" type="slidenum">
              <a:rPr lang="en-US" altLang="en-US" sz="1700">
                <a:solidFill>
                  <a:srgbClr val="777777"/>
                </a:solidFill>
                <a:latin typeface="Tahoma" panose="020B0604030504040204" pitchFamily="34" charset="0"/>
              </a:rPr>
              <a:pPr algn="r" eaLnBrk="1" hangingPunct="1"/>
              <a:t>6</a:t>
            </a:fld>
            <a:endParaRPr lang="en-US" altLang="en-US" sz="1700">
              <a:solidFill>
                <a:srgbClr val="777777"/>
              </a:solidFill>
              <a:latin typeface="Tahoma" panose="020B060403050404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wipe(left)">
                                      <p:cBhvr>
                                        <p:cTn id="7" dur="500"/>
                                        <p:tgtEl>
                                          <p:spTgt spid="163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8">
                                            <p:txEl>
                                              <p:pRg st="1" end="1"/>
                                            </p:txEl>
                                          </p:spTgt>
                                        </p:tgtEl>
                                        <p:attrNameLst>
                                          <p:attrName>style.visibility</p:attrName>
                                        </p:attrNameLst>
                                      </p:cBhvr>
                                      <p:to>
                                        <p:strVal val="visible"/>
                                      </p:to>
                                    </p:set>
                                    <p:animEffect transition="in" filter="wipe(left)">
                                      <p:cBhvr>
                                        <p:cTn id="12" dur="500"/>
                                        <p:tgtEl>
                                          <p:spTgt spid="163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3778"/>
                                        </p:tgtEl>
                                        <p:attrNameLst>
                                          <p:attrName>style.visibility</p:attrName>
                                        </p:attrNameLst>
                                      </p:cBhvr>
                                      <p:to>
                                        <p:strVal val="visible"/>
                                      </p:to>
                                    </p:set>
                                    <p:animEffect transition="in" filter="wipe(left)">
                                      <p:cBhvr>
                                        <p:cTn id="35" dur="500"/>
                                        <p:tgtEl>
                                          <p:spTgt spid="7377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uild="p" bldLvl="4"/>
      <p:bldP spid="7377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1">
            <a:extLst>
              <a:ext uri="{FF2B5EF4-FFF2-40B4-BE49-F238E27FC236}">
                <a16:creationId xmlns:a16="http://schemas.microsoft.com/office/drawing/2014/main" id="{479CB504-FF42-49A2-8DD9-C42165D3036C}"/>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8435" name="Slide Number Placeholder 2">
            <a:extLst>
              <a:ext uri="{FF2B5EF4-FFF2-40B4-BE49-F238E27FC236}">
                <a16:creationId xmlns:a16="http://schemas.microsoft.com/office/drawing/2014/main" id="{F4CA5312-6ABB-4910-B72B-82AD8103DF8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BFB8117-4A26-4AAD-AE4F-C15FA78C6094}" type="slidenum">
              <a:rPr lang="en-US" altLang="en-US">
                <a:solidFill>
                  <a:srgbClr val="777777"/>
                </a:solidFill>
                <a:latin typeface="Tahoma" panose="020B0604030504040204" pitchFamily="34" charset="0"/>
              </a:rPr>
              <a:pPr/>
              <a:t>7</a:t>
            </a:fld>
            <a:endParaRPr lang="en-US" altLang="en-US">
              <a:solidFill>
                <a:srgbClr val="777777"/>
              </a:solidFill>
              <a:latin typeface="Tahoma" panose="020B0604030504040204" pitchFamily="34" charset="0"/>
            </a:endParaRPr>
          </a:p>
        </p:txBody>
      </p:sp>
      <p:graphicFrame>
        <p:nvGraphicFramePr>
          <p:cNvPr id="18436" name="Object 2">
            <a:extLst>
              <a:ext uri="{FF2B5EF4-FFF2-40B4-BE49-F238E27FC236}">
                <a16:creationId xmlns:a16="http://schemas.microsoft.com/office/drawing/2014/main" id="{BE4A5B6C-58A0-4F8F-9005-892BA0B66BBE}"/>
              </a:ext>
            </a:extLst>
          </p:cNvPr>
          <p:cNvGraphicFramePr>
            <a:graphicFrameLocks noChangeAspect="1"/>
          </p:cNvGraphicFramePr>
          <p:nvPr/>
        </p:nvGraphicFramePr>
        <p:xfrm>
          <a:off x="293688" y="1147763"/>
          <a:ext cx="5619750" cy="5091112"/>
        </p:xfrm>
        <a:graphic>
          <a:graphicData uri="http://schemas.openxmlformats.org/presentationml/2006/ole">
            <mc:AlternateContent xmlns:mc="http://schemas.openxmlformats.org/markup-compatibility/2006">
              <mc:Choice xmlns:v="urn:schemas-microsoft-com:vml" Requires="v">
                <p:oleObj name="Chart" r:id="rId3" imgW="4095902" imgH="3724351" progId="Excel.Chart.8">
                  <p:embed/>
                </p:oleObj>
              </mc:Choice>
              <mc:Fallback>
                <p:oleObj name="Chart" r:id="rId3" imgW="4095902" imgH="3724351"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88" y="1147763"/>
                        <a:ext cx="5619750"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7" name="Line 3">
            <a:extLst>
              <a:ext uri="{FF2B5EF4-FFF2-40B4-BE49-F238E27FC236}">
                <a16:creationId xmlns:a16="http://schemas.microsoft.com/office/drawing/2014/main" id="{8CE62CDB-02DC-415E-BF8A-998A41D1D03E}"/>
              </a:ext>
            </a:extLst>
          </p:cNvPr>
          <p:cNvSpPr>
            <a:spLocks noChangeShapeType="1"/>
          </p:cNvSpPr>
          <p:nvPr/>
        </p:nvSpPr>
        <p:spPr bwMode="auto">
          <a:xfrm>
            <a:off x="1960563" y="1585913"/>
            <a:ext cx="3052762" cy="3889375"/>
          </a:xfrm>
          <a:prstGeom prst="line">
            <a:avLst/>
          </a:prstGeom>
          <a:noFill/>
          <a:ln w="508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38" name="Group 4">
            <a:extLst>
              <a:ext uri="{FF2B5EF4-FFF2-40B4-BE49-F238E27FC236}">
                <a16:creationId xmlns:a16="http://schemas.microsoft.com/office/drawing/2014/main" id="{4DC51E12-B030-44DF-9751-A6317CCB8688}"/>
              </a:ext>
            </a:extLst>
          </p:cNvPr>
          <p:cNvGrpSpPr>
            <a:grpSpLocks/>
          </p:cNvGrpSpPr>
          <p:nvPr/>
        </p:nvGrpSpPr>
        <p:grpSpPr bwMode="auto">
          <a:xfrm>
            <a:off x="1336675" y="2466975"/>
            <a:ext cx="1452563" cy="3027363"/>
            <a:chOff x="842" y="1554"/>
            <a:chExt cx="915" cy="1907"/>
          </a:xfrm>
        </p:grpSpPr>
        <p:sp>
          <p:nvSpPr>
            <p:cNvPr id="18494" name="Oval 5">
              <a:extLst>
                <a:ext uri="{FF2B5EF4-FFF2-40B4-BE49-F238E27FC236}">
                  <a16:creationId xmlns:a16="http://schemas.microsoft.com/office/drawing/2014/main" id="{5D649C5A-8333-44C7-B276-3EC01E4404DB}"/>
                </a:ext>
              </a:extLst>
            </p:cNvPr>
            <p:cNvSpPr>
              <a:spLocks noChangeArrowheads="1"/>
            </p:cNvSpPr>
            <p:nvPr/>
          </p:nvSpPr>
          <p:spPr bwMode="auto">
            <a:xfrm>
              <a:off x="1669" y="1554"/>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8495" name="Group 6">
              <a:extLst>
                <a:ext uri="{FF2B5EF4-FFF2-40B4-BE49-F238E27FC236}">
                  <a16:creationId xmlns:a16="http://schemas.microsoft.com/office/drawing/2014/main" id="{54CA838E-85B8-4380-852B-108E21503E6B}"/>
                </a:ext>
              </a:extLst>
            </p:cNvPr>
            <p:cNvGrpSpPr>
              <a:grpSpLocks/>
            </p:cNvGrpSpPr>
            <p:nvPr/>
          </p:nvGrpSpPr>
          <p:grpSpPr bwMode="auto">
            <a:xfrm>
              <a:off x="842" y="1590"/>
              <a:ext cx="873" cy="1871"/>
              <a:chOff x="357" y="2450"/>
              <a:chExt cx="795" cy="646"/>
            </a:xfrm>
          </p:grpSpPr>
          <p:sp>
            <p:nvSpPr>
              <p:cNvPr id="18496" name="Line 7">
                <a:extLst>
                  <a:ext uri="{FF2B5EF4-FFF2-40B4-BE49-F238E27FC236}">
                    <a16:creationId xmlns:a16="http://schemas.microsoft.com/office/drawing/2014/main" id="{6A309493-AF75-4EDC-8609-EC980D2FC5EC}"/>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97" name="Line 8">
                <a:extLst>
                  <a:ext uri="{FF2B5EF4-FFF2-40B4-BE49-F238E27FC236}">
                    <a16:creationId xmlns:a16="http://schemas.microsoft.com/office/drawing/2014/main" id="{1FD13610-8D0E-402B-B8B1-22274012498A}"/>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8439" name="Text Box 9">
            <a:extLst>
              <a:ext uri="{FF2B5EF4-FFF2-40B4-BE49-F238E27FC236}">
                <a16:creationId xmlns:a16="http://schemas.microsoft.com/office/drawing/2014/main" id="{A8092FE3-24C8-416B-8494-9DFC8940FC92}"/>
              </a:ext>
            </a:extLst>
          </p:cNvPr>
          <p:cNvSpPr txBox="1">
            <a:spLocks noChangeArrowheads="1"/>
          </p:cNvSpPr>
          <p:nvPr/>
        </p:nvSpPr>
        <p:spPr bwMode="auto">
          <a:xfrm>
            <a:off x="1104900" y="1301750"/>
            <a:ext cx="415925" cy="48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18440" name="Text Box 10">
            <a:extLst>
              <a:ext uri="{FF2B5EF4-FFF2-40B4-BE49-F238E27FC236}">
                <a16:creationId xmlns:a16="http://schemas.microsoft.com/office/drawing/2014/main" id="{2DB0DEFB-7D28-4A2C-9D26-E1A5CEA62761}"/>
              </a:ext>
            </a:extLst>
          </p:cNvPr>
          <p:cNvSpPr txBox="1">
            <a:spLocks noChangeArrowheads="1"/>
          </p:cNvSpPr>
          <p:nvPr/>
        </p:nvSpPr>
        <p:spPr bwMode="auto">
          <a:xfrm>
            <a:off x="5305425" y="5311775"/>
            <a:ext cx="433388"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sp>
        <p:nvSpPr>
          <p:cNvPr id="18441" name="Oval 11">
            <a:extLst>
              <a:ext uri="{FF2B5EF4-FFF2-40B4-BE49-F238E27FC236}">
                <a16:creationId xmlns:a16="http://schemas.microsoft.com/office/drawing/2014/main" id="{6D70A54B-2311-4A6C-A2DE-A79B0C899419}"/>
              </a:ext>
            </a:extLst>
          </p:cNvPr>
          <p:cNvSpPr>
            <a:spLocks noChangeArrowheads="1"/>
          </p:cNvSpPr>
          <p:nvPr/>
        </p:nvSpPr>
        <p:spPr bwMode="auto">
          <a:xfrm>
            <a:off x="4943475" y="5414963"/>
            <a:ext cx="139700" cy="138112"/>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8442" name="Rectangle 12">
            <a:extLst>
              <a:ext uri="{FF2B5EF4-FFF2-40B4-BE49-F238E27FC236}">
                <a16:creationId xmlns:a16="http://schemas.microsoft.com/office/drawing/2014/main" id="{10CEE7E1-AC1C-4A3D-8FF3-D83386184019}"/>
              </a:ext>
            </a:extLst>
          </p:cNvPr>
          <p:cNvSpPr>
            <a:spLocks noGrp="1" noChangeArrowheads="1"/>
          </p:cNvSpPr>
          <p:nvPr>
            <p:ph type="title" idx="4294967295"/>
          </p:nvPr>
        </p:nvSpPr>
        <p:spPr>
          <a:xfrm>
            <a:off x="896938" y="109538"/>
            <a:ext cx="7491412" cy="677862"/>
          </a:xfrm>
        </p:spPr>
        <p:txBody>
          <a:bodyPr/>
          <a:lstStyle/>
          <a:p>
            <a:pPr eaLnBrk="1" hangingPunct="1"/>
            <a:r>
              <a:rPr lang="en-US" altLang="en-US" sz="3200"/>
              <a:t>The Market Demand Curve for Lattes</a:t>
            </a:r>
          </a:p>
        </p:txBody>
      </p:sp>
      <p:graphicFrame>
        <p:nvGraphicFramePr>
          <p:cNvPr id="74765" name="Group 13">
            <a:extLst>
              <a:ext uri="{FF2B5EF4-FFF2-40B4-BE49-F238E27FC236}">
                <a16:creationId xmlns:a16="http://schemas.microsoft.com/office/drawing/2014/main" id="{3D8365D1-CC09-49E2-9D30-698D11EC57F6}"/>
              </a:ext>
            </a:extLst>
          </p:cNvPr>
          <p:cNvGraphicFramePr>
            <a:graphicFrameLocks noGrp="1"/>
          </p:cNvGraphicFramePr>
          <p:nvPr/>
        </p:nvGraphicFramePr>
        <p:xfrm>
          <a:off x="6089650" y="1035050"/>
          <a:ext cx="2532063" cy="4187827"/>
        </p:xfrm>
        <a:graphic>
          <a:graphicData uri="http://schemas.openxmlformats.org/drawingml/2006/table">
            <a:tbl>
              <a:tblPr/>
              <a:tblGrid>
                <a:gridCol w="998538">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tblGrid>
              <a:tr h="86020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1" i="1" u="none" strike="noStrike" cap="none" normalizeH="0" baseline="0">
                          <a:ln>
                            <a:noFill/>
                          </a:ln>
                          <a:solidFill>
                            <a:schemeClr val="tx1"/>
                          </a:solidFill>
                          <a:effectLst/>
                          <a:latin typeface="Arial" panose="020B0604020202020204" pitchFamily="34" charset="0"/>
                        </a:rPr>
                        <a:t>P</a:t>
                      </a:r>
                    </a:p>
                  </a:txBody>
                  <a:tcPr marT="46567" marB="46567"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1" i="1" u="none" strike="noStrike" cap="none" normalizeH="0" baseline="0">
                          <a:ln>
                            <a:noFill/>
                          </a:ln>
                          <a:solidFill>
                            <a:schemeClr val="tx1"/>
                          </a:solidFill>
                          <a:effectLst/>
                          <a:latin typeface="Arial" panose="020B0604020202020204" pitchFamily="34" charset="0"/>
                        </a:rPr>
                        <a:t>Q</a:t>
                      </a:r>
                      <a:r>
                        <a:rPr kumimoji="0" lang="en-US" sz="2400" b="1" i="1" u="none" strike="noStrike" cap="none" normalizeH="0" baseline="30000">
                          <a:ln>
                            <a:noFill/>
                          </a:ln>
                          <a:solidFill>
                            <a:schemeClr val="tx1"/>
                          </a:solidFill>
                          <a:effectLst/>
                          <a:latin typeface="Arial" panose="020B0604020202020204" pitchFamily="34" charset="0"/>
                        </a:rPr>
                        <a:t>d</a:t>
                      </a:r>
                      <a:r>
                        <a:rPr kumimoji="0" lang="en-US" sz="2400" b="0" i="0" u="none" strike="noStrike" cap="none" normalizeH="0" baseline="0">
                          <a:ln>
                            <a:noFill/>
                          </a:ln>
                          <a:solidFill>
                            <a:schemeClr val="tx1"/>
                          </a:solidFill>
                          <a:effectLst/>
                          <a:latin typeface="Arial" panose="020B0604020202020204" pitchFamily="34" charset="0"/>
                        </a:rPr>
                        <a:t> (Market)</a:t>
                      </a:r>
                      <a:endParaRPr kumimoji="0" lang="en-US" sz="2400" b="1" i="1" u="none" strike="noStrike" cap="none" normalizeH="0" baseline="30000">
                        <a:ln>
                          <a:noFill/>
                        </a:ln>
                        <a:solidFill>
                          <a:schemeClr val="tx1"/>
                        </a:solidFill>
                        <a:effectLst/>
                        <a:latin typeface="Arial" panose="020B0604020202020204" pitchFamily="34" charset="0"/>
                      </a:endParaRPr>
                    </a:p>
                  </a:txBody>
                  <a:tcPr marT="46567" marB="46567"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$0.00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24</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1.00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21</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2.00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18</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3.00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15</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4.00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12</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5.00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9</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6.00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6</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extLst>
                  <a:ext uri="{0D108BD9-81ED-4DB2-BD59-A6C34878D82A}">
                    <a16:rowId xmlns:a16="http://schemas.microsoft.com/office/drawing/2014/main" val="10007"/>
                  </a:ext>
                </a:extLst>
              </a:tr>
            </a:tbl>
          </a:graphicData>
        </a:graphic>
      </p:graphicFrame>
      <p:grpSp>
        <p:nvGrpSpPr>
          <p:cNvPr id="18468" name="Group 58">
            <a:extLst>
              <a:ext uri="{FF2B5EF4-FFF2-40B4-BE49-F238E27FC236}">
                <a16:creationId xmlns:a16="http://schemas.microsoft.com/office/drawing/2014/main" id="{059A7DF6-6A73-4FB5-8AAB-0F97B1D25199}"/>
              </a:ext>
            </a:extLst>
          </p:cNvPr>
          <p:cNvGrpSpPr>
            <a:grpSpLocks/>
          </p:cNvGrpSpPr>
          <p:nvPr/>
        </p:nvGrpSpPr>
        <p:grpSpPr bwMode="auto">
          <a:xfrm>
            <a:off x="1335088" y="4235450"/>
            <a:ext cx="2832100" cy="1250950"/>
            <a:chOff x="841" y="2668"/>
            <a:chExt cx="1784" cy="788"/>
          </a:xfrm>
        </p:grpSpPr>
        <p:grpSp>
          <p:nvGrpSpPr>
            <p:cNvPr id="18490" name="Group 59">
              <a:extLst>
                <a:ext uri="{FF2B5EF4-FFF2-40B4-BE49-F238E27FC236}">
                  <a16:creationId xmlns:a16="http://schemas.microsoft.com/office/drawing/2014/main" id="{D0BA3C4B-504F-4EC9-A098-86C57DED1F64}"/>
                </a:ext>
              </a:extLst>
            </p:cNvPr>
            <p:cNvGrpSpPr>
              <a:grpSpLocks/>
            </p:cNvGrpSpPr>
            <p:nvPr/>
          </p:nvGrpSpPr>
          <p:grpSpPr bwMode="auto">
            <a:xfrm>
              <a:off x="841" y="2712"/>
              <a:ext cx="1747" cy="744"/>
              <a:chOff x="357" y="2450"/>
              <a:chExt cx="795" cy="646"/>
            </a:xfrm>
          </p:grpSpPr>
          <p:sp>
            <p:nvSpPr>
              <p:cNvPr id="18492" name="Line 60">
                <a:extLst>
                  <a:ext uri="{FF2B5EF4-FFF2-40B4-BE49-F238E27FC236}">
                    <a16:creationId xmlns:a16="http://schemas.microsoft.com/office/drawing/2014/main" id="{89A6DD27-DD2B-47CF-AD09-1837B72A2167}"/>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93" name="Line 61">
                <a:extLst>
                  <a:ext uri="{FF2B5EF4-FFF2-40B4-BE49-F238E27FC236}">
                    <a16:creationId xmlns:a16="http://schemas.microsoft.com/office/drawing/2014/main" id="{03C2B352-85ED-4270-9788-C87C391C587A}"/>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8491" name="Oval 62">
              <a:extLst>
                <a:ext uri="{FF2B5EF4-FFF2-40B4-BE49-F238E27FC236}">
                  <a16:creationId xmlns:a16="http://schemas.microsoft.com/office/drawing/2014/main" id="{B4A09525-EC83-4F7E-B271-CC6CA9AA3FBE}"/>
                </a:ext>
              </a:extLst>
            </p:cNvPr>
            <p:cNvSpPr>
              <a:spLocks noChangeArrowheads="1"/>
            </p:cNvSpPr>
            <p:nvPr/>
          </p:nvSpPr>
          <p:spPr bwMode="auto">
            <a:xfrm>
              <a:off x="2537" y="2668"/>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8469" name="Group 63">
            <a:extLst>
              <a:ext uri="{FF2B5EF4-FFF2-40B4-BE49-F238E27FC236}">
                <a16:creationId xmlns:a16="http://schemas.microsoft.com/office/drawing/2014/main" id="{FEC49748-BC45-4321-9D0B-2EACCC19F0FE}"/>
              </a:ext>
            </a:extLst>
          </p:cNvPr>
          <p:cNvGrpSpPr>
            <a:grpSpLocks/>
          </p:cNvGrpSpPr>
          <p:nvPr/>
        </p:nvGrpSpPr>
        <p:grpSpPr bwMode="auto">
          <a:xfrm>
            <a:off x="1335088" y="4837113"/>
            <a:ext cx="3300412" cy="655637"/>
            <a:chOff x="841" y="3047"/>
            <a:chExt cx="2079" cy="413"/>
          </a:xfrm>
        </p:grpSpPr>
        <p:grpSp>
          <p:nvGrpSpPr>
            <p:cNvPr id="18486" name="Group 64">
              <a:extLst>
                <a:ext uri="{FF2B5EF4-FFF2-40B4-BE49-F238E27FC236}">
                  <a16:creationId xmlns:a16="http://schemas.microsoft.com/office/drawing/2014/main" id="{B7613D2D-13E7-4CD1-ADA7-BB4A753F6880}"/>
                </a:ext>
              </a:extLst>
            </p:cNvPr>
            <p:cNvGrpSpPr>
              <a:grpSpLocks/>
            </p:cNvGrpSpPr>
            <p:nvPr/>
          </p:nvGrpSpPr>
          <p:grpSpPr bwMode="auto">
            <a:xfrm>
              <a:off x="841" y="3092"/>
              <a:ext cx="2032" cy="368"/>
              <a:chOff x="357" y="2450"/>
              <a:chExt cx="795" cy="646"/>
            </a:xfrm>
          </p:grpSpPr>
          <p:sp>
            <p:nvSpPr>
              <p:cNvPr id="18488" name="Line 65">
                <a:extLst>
                  <a:ext uri="{FF2B5EF4-FFF2-40B4-BE49-F238E27FC236}">
                    <a16:creationId xmlns:a16="http://schemas.microsoft.com/office/drawing/2014/main" id="{9600EE6A-29F9-47D7-B2A1-00DF56875339}"/>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89" name="Line 66">
                <a:extLst>
                  <a:ext uri="{FF2B5EF4-FFF2-40B4-BE49-F238E27FC236}">
                    <a16:creationId xmlns:a16="http://schemas.microsoft.com/office/drawing/2014/main" id="{E00C0BE0-E61F-4560-ABCB-840398453E51}"/>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8487" name="Oval 67">
              <a:extLst>
                <a:ext uri="{FF2B5EF4-FFF2-40B4-BE49-F238E27FC236}">
                  <a16:creationId xmlns:a16="http://schemas.microsoft.com/office/drawing/2014/main" id="{597BA93A-D6FD-4EE3-BAD0-7E0D73011D13}"/>
                </a:ext>
              </a:extLst>
            </p:cNvPr>
            <p:cNvSpPr>
              <a:spLocks noChangeArrowheads="1"/>
            </p:cNvSpPr>
            <p:nvPr/>
          </p:nvSpPr>
          <p:spPr bwMode="auto">
            <a:xfrm>
              <a:off x="2832" y="3047"/>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8470" name="Group 68">
            <a:extLst>
              <a:ext uri="{FF2B5EF4-FFF2-40B4-BE49-F238E27FC236}">
                <a16:creationId xmlns:a16="http://schemas.microsoft.com/office/drawing/2014/main" id="{1151E452-7841-46F1-965B-1E00E33C5380}"/>
              </a:ext>
            </a:extLst>
          </p:cNvPr>
          <p:cNvGrpSpPr>
            <a:grpSpLocks/>
          </p:cNvGrpSpPr>
          <p:nvPr/>
        </p:nvGrpSpPr>
        <p:grpSpPr bwMode="auto">
          <a:xfrm>
            <a:off x="1338263" y="3652838"/>
            <a:ext cx="2374900" cy="1835150"/>
            <a:chOff x="843" y="2301"/>
            <a:chExt cx="1496" cy="1156"/>
          </a:xfrm>
        </p:grpSpPr>
        <p:sp>
          <p:nvSpPr>
            <p:cNvPr id="18482" name="Oval 69">
              <a:extLst>
                <a:ext uri="{FF2B5EF4-FFF2-40B4-BE49-F238E27FC236}">
                  <a16:creationId xmlns:a16="http://schemas.microsoft.com/office/drawing/2014/main" id="{8EBCF7DC-CC87-4A2A-91C1-3A30DD2030DB}"/>
                </a:ext>
              </a:extLst>
            </p:cNvPr>
            <p:cNvSpPr>
              <a:spLocks noChangeArrowheads="1"/>
            </p:cNvSpPr>
            <p:nvPr/>
          </p:nvSpPr>
          <p:spPr bwMode="auto">
            <a:xfrm>
              <a:off x="2251" y="2301"/>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8483" name="Group 70">
              <a:extLst>
                <a:ext uri="{FF2B5EF4-FFF2-40B4-BE49-F238E27FC236}">
                  <a16:creationId xmlns:a16="http://schemas.microsoft.com/office/drawing/2014/main" id="{D27754AD-94AC-43FB-B702-3574D307663C}"/>
                </a:ext>
              </a:extLst>
            </p:cNvPr>
            <p:cNvGrpSpPr>
              <a:grpSpLocks/>
            </p:cNvGrpSpPr>
            <p:nvPr/>
          </p:nvGrpSpPr>
          <p:grpSpPr bwMode="auto">
            <a:xfrm>
              <a:off x="843" y="2343"/>
              <a:ext cx="1452" cy="1114"/>
              <a:chOff x="357" y="2450"/>
              <a:chExt cx="795" cy="646"/>
            </a:xfrm>
          </p:grpSpPr>
          <p:sp>
            <p:nvSpPr>
              <p:cNvPr id="18484" name="Line 71">
                <a:extLst>
                  <a:ext uri="{FF2B5EF4-FFF2-40B4-BE49-F238E27FC236}">
                    <a16:creationId xmlns:a16="http://schemas.microsoft.com/office/drawing/2014/main" id="{6E73B110-553A-4570-B185-265D272944D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85" name="Line 72">
                <a:extLst>
                  <a:ext uri="{FF2B5EF4-FFF2-40B4-BE49-F238E27FC236}">
                    <a16:creationId xmlns:a16="http://schemas.microsoft.com/office/drawing/2014/main" id="{8D4C28FD-468A-4870-8265-BE2D3355F15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8471" name="Group 73">
            <a:extLst>
              <a:ext uri="{FF2B5EF4-FFF2-40B4-BE49-F238E27FC236}">
                <a16:creationId xmlns:a16="http://schemas.microsoft.com/office/drawing/2014/main" id="{120F8140-6FA0-4036-9AEC-91468757AA0C}"/>
              </a:ext>
            </a:extLst>
          </p:cNvPr>
          <p:cNvGrpSpPr>
            <a:grpSpLocks/>
          </p:cNvGrpSpPr>
          <p:nvPr/>
        </p:nvGrpSpPr>
        <p:grpSpPr bwMode="auto">
          <a:xfrm>
            <a:off x="1333500" y="3063875"/>
            <a:ext cx="1917700" cy="2420938"/>
            <a:chOff x="840" y="1930"/>
            <a:chExt cx="1208" cy="1525"/>
          </a:xfrm>
        </p:grpSpPr>
        <p:sp>
          <p:nvSpPr>
            <p:cNvPr id="18478" name="Oval 74">
              <a:extLst>
                <a:ext uri="{FF2B5EF4-FFF2-40B4-BE49-F238E27FC236}">
                  <a16:creationId xmlns:a16="http://schemas.microsoft.com/office/drawing/2014/main" id="{D917DC50-3925-4210-B81A-27F3537429A9}"/>
                </a:ext>
              </a:extLst>
            </p:cNvPr>
            <p:cNvSpPr>
              <a:spLocks noChangeArrowheads="1"/>
            </p:cNvSpPr>
            <p:nvPr/>
          </p:nvSpPr>
          <p:spPr bwMode="auto">
            <a:xfrm>
              <a:off x="1960" y="1930"/>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8479" name="Group 75">
              <a:extLst>
                <a:ext uri="{FF2B5EF4-FFF2-40B4-BE49-F238E27FC236}">
                  <a16:creationId xmlns:a16="http://schemas.microsoft.com/office/drawing/2014/main" id="{0BFF10A2-1395-4803-A529-3EBBEFE29089}"/>
                </a:ext>
              </a:extLst>
            </p:cNvPr>
            <p:cNvGrpSpPr>
              <a:grpSpLocks/>
            </p:cNvGrpSpPr>
            <p:nvPr/>
          </p:nvGrpSpPr>
          <p:grpSpPr bwMode="auto">
            <a:xfrm>
              <a:off x="840" y="1971"/>
              <a:ext cx="1172" cy="1484"/>
              <a:chOff x="357" y="2450"/>
              <a:chExt cx="795" cy="646"/>
            </a:xfrm>
          </p:grpSpPr>
          <p:sp>
            <p:nvSpPr>
              <p:cNvPr id="18480" name="Line 76">
                <a:extLst>
                  <a:ext uri="{FF2B5EF4-FFF2-40B4-BE49-F238E27FC236}">
                    <a16:creationId xmlns:a16="http://schemas.microsoft.com/office/drawing/2014/main" id="{424E664C-11CA-4839-8483-E473D8C73000}"/>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81" name="Line 77">
                <a:extLst>
                  <a:ext uri="{FF2B5EF4-FFF2-40B4-BE49-F238E27FC236}">
                    <a16:creationId xmlns:a16="http://schemas.microsoft.com/office/drawing/2014/main" id="{8F1A7C71-9C6F-4673-92E9-D64871FFB191}"/>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8472" name="Group 78">
            <a:extLst>
              <a:ext uri="{FF2B5EF4-FFF2-40B4-BE49-F238E27FC236}">
                <a16:creationId xmlns:a16="http://schemas.microsoft.com/office/drawing/2014/main" id="{E3D511A7-BEE9-4563-B954-F37211E6597A}"/>
              </a:ext>
            </a:extLst>
          </p:cNvPr>
          <p:cNvGrpSpPr>
            <a:grpSpLocks/>
          </p:cNvGrpSpPr>
          <p:nvPr/>
        </p:nvGrpSpPr>
        <p:grpSpPr bwMode="auto">
          <a:xfrm>
            <a:off x="1333500" y="1876425"/>
            <a:ext cx="984250" cy="3619500"/>
            <a:chOff x="840" y="1182"/>
            <a:chExt cx="620" cy="2280"/>
          </a:xfrm>
        </p:grpSpPr>
        <p:sp>
          <p:nvSpPr>
            <p:cNvPr id="18474" name="Oval 79">
              <a:extLst>
                <a:ext uri="{FF2B5EF4-FFF2-40B4-BE49-F238E27FC236}">
                  <a16:creationId xmlns:a16="http://schemas.microsoft.com/office/drawing/2014/main" id="{689507AD-3BF0-41A7-B1AB-80826639E91D}"/>
                </a:ext>
              </a:extLst>
            </p:cNvPr>
            <p:cNvSpPr>
              <a:spLocks noChangeArrowheads="1"/>
            </p:cNvSpPr>
            <p:nvPr/>
          </p:nvSpPr>
          <p:spPr bwMode="auto">
            <a:xfrm>
              <a:off x="1372" y="1182"/>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8475" name="Group 80">
              <a:extLst>
                <a:ext uri="{FF2B5EF4-FFF2-40B4-BE49-F238E27FC236}">
                  <a16:creationId xmlns:a16="http://schemas.microsoft.com/office/drawing/2014/main" id="{FCCA6D6A-AAE1-4BA3-BFFB-2A9752DB18A4}"/>
                </a:ext>
              </a:extLst>
            </p:cNvPr>
            <p:cNvGrpSpPr>
              <a:grpSpLocks/>
            </p:cNvGrpSpPr>
            <p:nvPr/>
          </p:nvGrpSpPr>
          <p:grpSpPr bwMode="auto">
            <a:xfrm>
              <a:off x="840" y="1221"/>
              <a:ext cx="579" cy="2241"/>
              <a:chOff x="357" y="2450"/>
              <a:chExt cx="795" cy="646"/>
            </a:xfrm>
          </p:grpSpPr>
          <p:sp>
            <p:nvSpPr>
              <p:cNvPr id="18476" name="Line 81">
                <a:extLst>
                  <a:ext uri="{FF2B5EF4-FFF2-40B4-BE49-F238E27FC236}">
                    <a16:creationId xmlns:a16="http://schemas.microsoft.com/office/drawing/2014/main" id="{D796796E-6DCD-4173-8AE2-DA697D7F5D66}"/>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77" name="Line 82">
                <a:extLst>
                  <a:ext uri="{FF2B5EF4-FFF2-40B4-BE49-F238E27FC236}">
                    <a16:creationId xmlns:a16="http://schemas.microsoft.com/office/drawing/2014/main" id="{EAA6CA9C-58CA-49B0-83B2-33042B5259B6}"/>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8473" name="FlagCount" hidden="1">
            <a:hlinkClick r:id="rId5" action="ppaction://hlinkfile"/>
            <a:extLst>
              <a:ext uri="{FF2B5EF4-FFF2-40B4-BE49-F238E27FC236}">
                <a16:creationId xmlns:a16="http://schemas.microsoft.com/office/drawing/2014/main" id="{384D773F-4697-4E48-9ECC-19B89737EC26}"/>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Footer Placeholder 1">
            <a:extLst>
              <a:ext uri="{FF2B5EF4-FFF2-40B4-BE49-F238E27FC236}">
                <a16:creationId xmlns:a16="http://schemas.microsoft.com/office/drawing/2014/main" id="{09EC28B8-14E8-4D5C-8DB9-CAADB6B4231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0483" name="Slide Number Placeholder 2">
            <a:extLst>
              <a:ext uri="{FF2B5EF4-FFF2-40B4-BE49-F238E27FC236}">
                <a16:creationId xmlns:a16="http://schemas.microsoft.com/office/drawing/2014/main" id="{C572A4D1-54B2-4996-90F6-7C41E10AB071}"/>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9EBA544-4233-4BB0-AF21-357DD6B5CF84}" type="slidenum">
              <a:rPr lang="en-US" altLang="en-US">
                <a:solidFill>
                  <a:srgbClr val="777777"/>
                </a:solidFill>
                <a:latin typeface="Tahoma" panose="020B0604030504040204" pitchFamily="34" charset="0"/>
              </a:rPr>
              <a:pPr/>
              <a:t>8</a:t>
            </a:fld>
            <a:endParaRPr lang="en-US" altLang="en-US">
              <a:solidFill>
                <a:srgbClr val="777777"/>
              </a:solidFill>
              <a:latin typeface="Tahoma" panose="020B0604030504040204" pitchFamily="34" charset="0"/>
            </a:endParaRPr>
          </a:p>
        </p:txBody>
      </p:sp>
      <p:sp>
        <p:nvSpPr>
          <p:cNvPr id="20484" name="Rectangle 2">
            <a:extLst>
              <a:ext uri="{FF2B5EF4-FFF2-40B4-BE49-F238E27FC236}">
                <a16:creationId xmlns:a16="http://schemas.microsoft.com/office/drawing/2014/main" id="{0CCF25B8-EEE7-4EFE-8EA3-7C55954F7D65}"/>
              </a:ext>
            </a:extLst>
          </p:cNvPr>
          <p:cNvSpPr>
            <a:spLocks noGrp="1" noChangeArrowheads="1"/>
          </p:cNvSpPr>
          <p:nvPr>
            <p:ph type="title" idx="4294967295"/>
          </p:nvPr>
        </p:nvSpPr>
        <p:spPr/>
        <p:txBody>
          <a:bodyPr/>
          <a:lstStyle/>
          <a:p>
            <a:pPr eaLnBrk="1" hangingPunct="1"/>
            <a:r>
              <a:rPr lang="en-US" altLang="en-US"/>
              <a:t>Demand Curve Shifters</a:t>
            </a:r>
          </a:p>
        </p:txBody>
      </p:sp>
      <p:sp>
        <p:nvSpPr>
          <p:cNvPr id="20485" name="Rectangle 3">
            <a:extLst>
              <a:ext uri="{FF2B5EF4-FFF2-40B4-BE49-F238E27FC236}">
                <a16:creationId xmlns:a16="http://schemas.microsoft.com/office/drawing/2014/main" id="{EB2DB500-6F2D-4C6D-A83A-D8AF017C82C9}"/>
              </a:ext>
            </a:extLst>
          </p:cNvPr>
          <p:cNvSpPr>
            <a:spLocks noGrp="1" noChangeArrowheads="1"/>
          </p:cNvSpPr>
          <p:nvPr>
            <p:ph type="body" idx="4294967295"/>
          </p:nvPr>
        </p:nvSpPr>
        <p:spPr>
          <a:xfrm>
            <a:off x="457200" y="1001713"/>
            <a:ext cx="8229600" cy="5324475"/>
          </a:xfrm>
        </p:spPr>
        <p:txBody>
          <a:bodyPr/>
          <a:lstStyle/>
          <a:p>
            <a:pPr eaLnBrk="1" hangingPunct="1"/>
            <a:r>
              <a:rPr lang="en-US" altLang="en-US"/>
              <a:t>The demand curve shows how price affects quantity demanded, </a:t>
            </a:r>
            <a:r>
              <a:rPr lang="en-US" altLang="en-US" i="1"/>
              <a:t>other things being equal</a:t>
            </a:r>
            <a:r>
              <a:rPr lang="en-US" altLang="en-US"/>
              <a:t>. </a:t>
            </a:r>
          </a:p>
          <a:p>
            <a:pPr eaLnBrk="1" hangingPunct="1"/>
            <a:r>
              <a:rPr lang="en-US" altLang="en-US"/>
              <a:t>These “other things” are non-price determinants of demand (</a:t>
            </a:r>
            <a:r>
              <a:rPr lang="en-US" altLang="en-US" i="1"/>
              <a:t>i.e.,</a:t>
            </a:r>
            <a:r>
              <a:rPr lang="en-US" altLang="en-US"/>
              <a:t> things that determine buyers’ demand for a good, other than the good’s price).  </a:t>
            </a:r>
          </a:p>
          <a:p>
            <a:pPr eaLnBrk="1" hangingPunct="1"/>
            <a:r>
              <a:rPr lang="en-US" altLang="en-US"/>
              <a:t>Changes in them shift the </a:t>
            </a:r>
            <a:r>
              <a:rPr lang="en-US" altLang="en-US" b="1" i="1"/>
              <a:t>D</a:t>
            </a:r>
            <a:r>
              <a:rPr lang="en-US" altLang="en-US"/>
              <a:t> curve…  </a:t>
            </a:r>
          </a:p>
        </p:txBody>
      </p:sp>
      <p:sp>
        <p:nvSpPr>
          <p:cNvPr id="20486" name="FlagCount" hidden="1">
            <a:hlinkClick r:id="rId3" action="ppaction://hlinkfile"/>
            <a:extLst>
              <a:ext uri="{FF2B5EF4-FFF2-40B4-BE49-F238E27FC236}">
                <a16:creationId xmlns:a16="http://schemas.microsoft.com/office/drawing/2014/main" id="{9616DAEA-C7C5-4990-9E23-B804A53408E7}"/>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5">
                                            <p:txEl>
                                              <p:pRg st="0" end="0"/>
                                            </p:txEl>
                                          </p:spTgt>
                                        </p:tgtEl>
                                        <p:attrNameLst>
                                          <p:attrName>style.visibility</p:attrName>
                                        </p:attrNameLst>
                                      </p:cBhvr>
                                      <p:to>
                                        <p:strVal val="visible"/>
                                      </p:to>
                                    </p:set>
                                    <p:animEffect transition="in" filter="wipe(left)">
                                      <p:cBhvr>
                                        <p:cTn id="7" dur="500"/>
                                        <p:tgtEl>
                                          <p:spTgt spid="204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5">
                                            <p:txEl>
                                              <p:pRg st="1" end="1"/>
                                            </p:txEl>
                                          </p:spTgt>
                                        </p:tgtEl>
                                        <p:attrNameLst>
                                          <p:attrName>style.visibility</p:attrName>
                                        </p:attrNameLst>
                                      </p:cBhvr>
                                      <p:to>
                                        <p:strVal val="visible"/>
                                      </p:to>
                                    </p:set>
                                    <p:animEffect transition="in" filter="wipe(left)">
                                      <p:cBhvr>
                                        <p:cTn id="12" dur="500"/>
                                        <p:tgtEl>
                                          <p:spTgt spid="204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5">
                                            <p:txEl>
                                              <p:pRg st="2" end="2"/>
                                            </p:txEl>
                                          </p:spTgt>
                                        </p:tgtEl>
                                        <p:attrNameLst>
                                          <p:attrName>style.visibility</p:attrName>
                                        </p:attrNameLst>
                                      </p:cBhvr>
                                      <p:to>
                                        <p:strVal val="visible"/>
                                      </p:to>
                                    </p:set>
                                    <p:animEffect transition="in" filter="wipe(left)">
                                      <p:cBhvr>
                                        <p:cTn id="17" dur="500"/>
                                        <p:tgtEl>
                                          <p:spTgt spid="2048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build="p" bldLvl="4"/>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Footer Placeholder 1">
            <a:extLst>
              <a:ext uri="{FF2B5EF4-FFF2-40B4-BE49-F238E27FC236}">
                <a16:creationId xmlns:a16="http://schemas.microsoft.com/office/drawing/2014/main" id="{A94D0364-A7B4-42C6-9459-C9263DDB55B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2531" name="Slide Number Placeholder 2">
            <a:extLst>
              <a:ext uri="{FF2B5EF4-FFF2-40B4-BE49-F238E27FC236}">
                <a16:creationId xmlns:a16="http://schemas.microsoft.com/office/drawing/2014/main" id="{8CC80AC0-7108-476D-81DE-F9C3FD15C9C9}"/>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AFDCC0-F022-441F-91B0-0B36D26736E4}" type="slidenum">
              <a:rPr lang="en-US" altLang="en-US">
                <a:solidFill>
                  <a:srgbClr val="777777"/>
                </a:solidFill>
                <a:latin typeface="Tahoma" panose="020B0604030504040204" pitchFamily="34" charset="0"/>
              </a:rPr>
              <a:pPr/>
              <a:t>9</a:t>
            </a:fld>
            <a:endParaRPr lang="en-US" altLang="en-US">
              <a:solidFill>
                <a:srgbClr val="777777"/>
              </a:solidFill>
              <a:latin typeface="Tahoma" panose="020B0604030504040204" pitchFamily="34" charset="0"/>
            </a:endParaRPr>
          </a:p>
        </p:txBody>
      </p:sp>
      <p:sp>
        <p:nvSpPr>
          <p:cNvPr id="22532" name="Rectangle 2">
            <a:extLst>
              <a:ext uri="{FF2B5EF4-FFF2-40B4-BE49-F238E27FC236}">
                <a16:creationId xmlns:a16="http://schemas.microsoft.com/office/drawing/2014/main" id="{09B880FC-08E8-421A-8F2F-0FD965403970}"/>
              </a:ext>
            </a:extLst>
          </p:cNvPr>
          <p:cNvSpPr>
            <a:spLocks noGrp="1" noChangeArrowheads="1"/>
          </p:cNvSpPr>
          <p:nvPr>
            <p:ph type="title" idx="4294967295"/>
          </p:nvPr>
        </p:nvSpPr>
        <p:spPr>
          <a:xfrm>
            <a:off x="463550" y="252413"/>
            <a:ext cx="8366125" cy="692150"/>
          </a:xfrm>
        </p:spPr>
        <p:txBody>
          <a:bodyPr/>
          <a:lstStyle/>
          <a:p>
            <a:pPr algn="l" eaLnBrk="1" hangingPunct="1"/>
            <a:r>
              <a:rPr lang="en-US" altLang="en-US" sz="3400"/>
              <a:t>Demand Curve Shifters: </a:t>
            </a:r>
            <a:r>
              <a:rPr lang="en-US" altLang="en-US" sz="3400">
                <a:solidFill>
                  <a:srgbClr val="008080"/>
                </a:solidFill>
              </a:rPr>
              <a:t> # of Buyers</a:t>
            </a:r>
          </a:p>
        </p:txBody>
      </p:sp>
      <p:sp>
        <p:nvSpPr>
          <p:cNvPr id="22533" name="Rectangle 3">
            <a:extLst>
              <a:ext uri="{FF2B5EF4-FFF2-40B4-BE49-F238E27FC236}">
                <a16:creationId xmlns:a16="http://schemas.microsoft.com/office/drawing/2014/main" id="{531BFEB6-CA84-45A6-956A-27EDE28C8B3E}"/>
              </a:ext>
            </a:extLst>
          </p:cNvPr>
          <p:cNvSpPr>
            <a:spLocks noGrp="1" noChangeArrowheads="1"/>
          </p:cNvSpPr>
          <p:nvPr>
            <p:ph type="body" idx="4294967295"/>
          </p:nvPr>
        </p:nvSpPr>
        <p:spPr>
          <a:xfrm>
            <a:off x="373063" y="1008063"/>
            <a:ext cx="8234362" cy="5118100"/>
          </a:xfrm>
        </p:spPr>
        <p:txBody>
          <a:bodyPr/>
          <a:lstStyle/>
          <a:p>
            <a:pPr eaLnBrk="1" hangingPunct="1"/>
            <a:r>
              <a:rPr lang="en-US" altLang="en-US"/>
              <a:t>Increase in # of buyers </a:t>
            </a:r>
            <a:br>
              <a:rPr lang="en-US" altLang="en-US"/>
            </a:br>
            <a:r>
              <a:rPr lang="en-US" altLang="en-US"/>
              <a:t>increases quantity demanded at each price, shifts </a:t>
            </a:r>
            <a:r>
              <a:rPr lang="en-US" altLang="en-US" b="1" i="1"/>
              <a:t>D</a:t>
            </a:r>
            <a:r>
              <a:rPr lang="en-US" altLang="en-US"/>
              <a:t> curve to the right. </a:t>
            </a:r>
          </a:p>
        </p:txBody>
      </p:sp>
      <p:sp>
        <p:nvSpPr>
          <p:cNvPr id="22534" name="FlagCount" hidden="1">
            <a:hlinkClick r:id="rId3" action="ppaction://hlinkfile"/>
            <a:extLst>
              <a:ext uri="{FF2B5EF4-FFF2-40B4-BE49-F238E27FC236}">
                <a16:creationId xmlns:a16="http://schemas.microsoft.com/office/drawing/2014/main" id="{A5748922-F553-4128-9A06-A1365760A1E4}"/>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3">
                                            <p:txEl>
                                              <p:pRg st="0" end="0"/>
                                            </p:txEl>
                                          </p:spTgt>
                                        </p:tgtEl>
                                        <p:attrNameLst>
                                          <p:attrName>style.visibility</p:attrName>
                                        </p:attrNameLst>
                                      </p:cBhvr>
                                      <p:to>
                                        <p:strVal val="visible"/>
                                      </p:to>
                                    </p:set>
                                    <p:animEffect transition="in" filter="wipe(left)">
                                      <p:cBhvr>
                                        <p:cTn id="7" dur="500"/>
                                        <p:tgtEl>
                                          <p:spTgt spid="225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build="p" bldLvl="4"/>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2">
            <a:extLst>
              <a:ext uri="{FF2B5EF4-FFF2-40B4-BE49-F238E27FC236}">
                <a16:creationId xmlns:a16="http://schemas.microsoft.com/office/drawing/2014/main" id="{9CF0D025-C7ED-4437-860D-9CA30F6F4DA5}"/>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4579" name="Slide Number Placeholder 3">
            <a:extLst>
              <a:ext uri="{FF2B5EF4-FFF2-40B4-BE49-F238E27FC236}">
                <a16:creationId xmlns:a16="http://schemas.microsoft.com/office/drawing/2014/main" id="{2DB57DCD-F3C8-4A16-ADB7-F7C673EF0DA0}"/>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80AEF4-3942-4FF6-8B6E-73265A4B58D6}" type="slidenum">
              <a:rPr lang="en-US" altLang="en-US">
                <a:solidFill>
                  <a:srgbClr val="777777"/>
                </a:solidFill>
                <a:latin typeface="Tahoma" panose="020B0604030504040204" pitchFamily="34" charset="0"/>
              </a:rPr>
              <a:pPr/>
              <a:t>10</a:t>
            </a:fld>
            <a:endParaRPr lang="en-US" altLang="en-US">
              <a:solidFill>
                <a:srgbClr val="777777"/>
              </a:solidFill>
              <a:latin typeface="Tahoma" panose="020B0604030504040204" pitchFamily="34" charset="0"/>
            </a:endParaRPr>
          </a:p>
        </p:txBody>
      </p:sp>
      <p:grpSp>
        <p:nvGrpSpPr>
          <p:cNvPr id="24580" name="Group 2">
            <a:extLst>
              <a:ext uri="{FF2B5EF4-FFF2-40B4-BE49-F238E27FC236}">
                <a16:creationId xmlns:a16="http://schemas.microsoft.com/office/drawing/2014/main" id="{090445B0-99D8-4821-B384-57E413567F2A}"/>
              </a:ext>
            </a:extLst>
          </p:cNvPr>
          <p:cNvGrpSpPr>
            <a:grpSpLocks/>
          </p:cNvGrpSpPr>
          <p:nvPr/>
        </p:nvGrpSpPr>
        <p:grpSpPr bwMode="auto">
          <a:xfrm>
            <a:off x="236538" y="1166813"/>
            <a:ext cx="6669087" cy="5108575"/>
            <a:chOff x="149" y="735"/>
            <a:chExt cx="4201" cy="3218"/>
          </a:xfrm>
        </p:grpSpPr>
        <p:grpSp>
          <p:nvGrpSpPr>
            <p:cNvPr id="24606" name="Group 3">
              <a:extLst>
                <a:ext uri="{FF2B5EF4-FFF2-40B4-BE49-F238E27FC236}">
                  <a16:creationId xmlns:a16="http://schemas.microsoft.com/office/drawing/2014/main" id="{A3F0E09D-EB44-472E-8AFE-413C6204C776}"/>
                </a:ext>
              </a:extLst>
            </p:cNvPr>
            <p:cNvGrpSpPr>
              <a:grpSpLocks/>
            </p:cNvGrpSpPr>
            <p:nvPr/>
          </p:nvGrpSpPr>
          <p:grpSpPr bwMode="auto">
            <a:xfrm>
              <a:off x="149" y="735"/>
              <a:ext cx="4201" cy="3218"/>
              <a:chOff x="149" y="735"/>
              <a:chExt cx="4201" cy="3218"/>
            </a:xfrm>
          </p:grpSpPr>
          <p:graphicFrame>
            <p:nvGraphicFramePr>
              <p:cNvPr id="24608" name="Object 4">
                <a:extLst>
                  <a:ext uri="{FF2B5EF4-FFF2-40B4-BE49-F238E27FC236}">
                    <a16:creationId xmlns:a16="http://schemas.microsoft.com/office/drawing/2014/main" id="{5C7EDFEE-E0EB-4BF1-8B6B-A2A0306BDE34}"/>
                  </a:ext>
                </a:extLst>
              </p:cNvPr>
              <p:cNvGraphicFramePr>
                <a:graphicFrameLocks noChangeAspect="1"/>
              </p:cNvGraphicFramePr>
              <p:nvPr/>
            </p:nvGraphicFramePr>
            <p:xfrm>
              <a:off x="149" y="735"/>
              <a:ext cx="4150" cy="3218"/>
            </p:xfrm>
            <a:graphic>
              <a:graphicData uri="http://schemas.openxmlformats.org/presentationml/2006/ole">
                <mc:AlternateContent xmlns:mc="http://schemas.openxmlformats.org/markup-compatibility/2006">
                  <mc:Choice xmlns:v="urn:schemas-microsoft-com:vml" Requires="v">
                    <p:oleObj name="Chart" r:id="rId3" imgW="4743602" imgH="3733800" progId="Excel.Chart.8">
                      <p:embed/>
                    </p:oleObj>
                  </mc:Choice>
                  <mc:Fallback>
                    <p:oleObj name="Chart" r:id="rId3" imgW="4743602" imgH="3733800" progId="Excel.Char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 y="735"/>
                            <a:ext cx="4150" cy="3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4609" name="Group 5">
                <a:extLst>
                  <a:ext uri="{FF2B5EF4-FFF2-40B4-BE49-F238E27FC236}">
                    <a16:creationId xmlns:a16="http://schemas.microsoft.com/office/drawing/2014/main" id="{A94DB28A-318E-4333-82DE-33B6B2B1B783}"/>
                  </a:ext>
                </a:extLst>
              </p:cNvPr>
              <p:cNvGrpSpPr>
                <a:grpSpLocks/>
              </p:cNvGrpSpPr>
              <p:nvPr/>
            </p:nvGrpSpPr>
            <p:grpSpPr bwMode="auto">
              <a:xfrm>
                <a:off x="842" y="1605"/>
                <a:ext cx="883" cy="1871"/>
                <a:chOff x="357" y="2450"/>
                <a:chExt cx="795" cy="646"/>
              </a:xfrm>
            </p:grpSpPr>
            <p:sp>
              <p:nvSpPr>
                <p:cNvPr id="24635" name="Line 6">
                  <a:extLst>
                    <a:ext uri="{FF2B5EF4-FFF2-40B4-BE49-F238E27FC236}">
                      <a16:creationId xmlns:a16="http://schemas.microsoft.com/office/drawing/2014/main" id="{FBC35047-D249-46FF-8644-1737588BE09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36" name="Line 7">
                  <a:extLst>
                    <a:ext uri="{FF2B5EF4-FFF2-40B4-BE49-F238E27FC236}">
                      <a16:creationId xmlns:a16="http://schemas.microsoft.com/office/drawing/2014/main" id="{D60666AC-3EC9-4F37-9EA6-E60725BD039B}"/>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4610" name="Text Box 8">
                <a:extLst>
                  <a:ext uri="{FF2B5EF4-FFF2-40B4-BE49-F238E27FC236}">
                    <a16:creationId xmlns:a16="http://schemas.microsoft.com/office/drawing/2014/main" id="{8B106A63-1E6A-42F7-9069-4897A7CF03E9}"/>
                  </a:ext>
                </a:extLst>
              </p:cNvPr>
              <p:cNvSpPr txBox="1">
                <a:spLocks noChangeArrowheads="1"/>
              </p:cNvSpPr>
              <p:nvPr/>
            </p:nvSpPr>
            <p:spPr bwMode="auto">
              <a:xfrm>
                <a:off x="696" y="820"/>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24611" name="Text Box 9">
                <a:extLst>
                  <a:ext uri="{FF2B5EF4-FFF2-40B4-BE49-F238E27FC236}">
                    <a16:creationId xmlns:a16="http://schemas.microsoft.com/office/drawing/2014/main" id="{0537FD9A-8842-4D83-96A2-23B1FD91FC79}"/>
                  </a:ext>
                </a:extLst>
              </p:cNvPr>
              <p:cNvSpPr txBox="1">
                <a:spLocks noChangeArrowheads="1"/>
              </p:cNvSpPr>
              <p:nvPr/>
            </p:nvSpPr>
            <p:spPr bwMode="auto">
              <a:xfrm>
                <a:off x="4077" y="335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nvGrpSpPr>
              <p:cNvPr id="24612" name="Group 10">
                <a:extLst>
                  <a:ext uri="{FF2B5EF4-FFF2-40B4-BE49-F238E27FC236}">
                    <a16:creationId xmlns:a16="http://schemas.microsoft.com/office/drawing/2014/main" id="{FEBF133B-70E0-4C16-A715-0D3662355AD8}"/>
                  </a:ext>
                </a:extLst>
              </p:cNvPr>
              <p:cNvGrpSpPr>
                <a:grpSpLocks/>
              </p:cNvGrpSpPr>
              <p:nvPr/>
            </p:nvGrpSpPr>
            <p:grpSpPr bwMode="auto">
              <a:xfrm>
                <a:off x="841" y="2731"/>
                <a:ext cx="1747" cy="744"/>
                <a:chOff x="357" y="2450"/>
                <a:chExt cx="795" cy="646"/>
              </a:xfrm>
            </p:grpSpPr>
            <p:sp>
              <p:nvSpPr>
                <p:cNvPr id="24633" name="Line 11">
                  <a:extLst>
                    <a:ext uri="{FF2B5EF4-FFF2-40B4-BE49-F238E27FC236}">
                      <a16:creationId xmlns:a16="http://schemas.microsoft.com/office/drawing/2014/main" id="{FB1796D9-3B5B-44B8-B7C1-4DDAC2D44636}"/>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34" name="Line 12">
                  <a:extLst>
                    <a:ext uri="{FF2B5EF4-FFF2-40B4-BE49-F238E27FC236}">
                      <a16:creationId xmlns:a16="http://schemas.microsoft.com/office/drawing/2014/main" id="{A3FF383C-14AF-430A-8AAB-FED6E865A15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613" name="Group 13">
                <a:extLst>
                  <a:ext uri="{FF2B5EF4-FFF2-40B4-BE49-F238E27FC236}">
                    <a16:creationId xmlns:a16="http://schemas.microsoft.com/office/drawing/2014/main" id="{172F4591-6D1B-4C10-885E-6CE6679DB66C}"/>
                  </a:ext>
                </a:extLst>
              </p:cNvPr>
              <p:cNvGrpSpPr>
                <a:grpSpLocks/>
              </p:cNvGrpSpPr>
              <p:nvPr/>
            </p:nvGrpSpPr>
            <p:grpSpPr bwMode="auto">
              <a:xfrm>
                <a:off x="841" y="3092"/>
                <a:ext cx="2032" cy="368"/>
                <a:chOff x="357" y="2450"/>
                <a:chExt cx="795" cy="646"/>
              </a:xfrm>
            </p:grpSpPr>
            <p:sp>
              <p:nvSpPr>
                <p:cNvPr id="24631" name="Line 14">
                  <a:extLst>
                    <a:ext uri="{FF2B5EF4-FFF2-40B4-BE49-F238E27FC236}">
                      <a16:creationId xmlns:a16="http://schemas.microsoft.com/office/drawing/2014/main" id="{8F49C898-1648-46D5-A5F2-97850209B69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32" name="Line 15">
                  <a:extLst>
                    <a:ext uri="{FF2B5EF4-FFF2-40B4-BE49-F238E27FC236}">
                      <a16:creationId xmlns:a16="http://schemas.microsoft.com/office/drawing/2014/main" id="{ED7E90FE-07B9-42C5-BE5F-D7CC6D498363}"/>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614" name="Group 16">
                <a:extLst>
                  <a:ext uri="{FF2B5EF4-FFF2-40B4-BE49-F238E27FC236}">
                    <a16:creationId xmlns:a16="http://schemas.microsoft.com/office/drawing/2014/main" id="{356EF395-EDBD-4345-A22B-7F34F38752FB}"/>
                  </a:ext>
                </a:extLst>
              </p:cNvPr>
              <p:cNvGrpSpPr>
                <a:grpSpLocks/>
              </p:cNvGrpSpPr>
              <p:nvPr/>
            </p:nvGrpSpPr>
            <p:grpSpPr bwMode="auto">
              <a:xfrm>
                <a:off x="843" y="2345"/>
                <a:ext cx="1452" cy="1114"/>
                <a:chOff x="357" y="2450"/>
                <a:chExt cx="795" cy="646"/>
              </a:xfrm>
            </p:grpSpPr>
            <p:sp>
              <p:nvSpPr>
                <p:cNvPr id="24629" name="Line 17">
                  <a:extLst>
                    <a:ext uri="{FF2B5EF4-FFF2-40B4-BE49-F238E27FC236}">
                      <a16:creationId xmlns:a16="http://schemas.microsoft.com/office/drawing/2014/main" id="{1EB17199-9290-42A7-B408-EAE015E2E3F4}"/>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30" name="Line 18">
                  <a:extLst>
                    <a:ext uri="{FF2B5EF4-FFF2-40B4-BE49-F238E27FC236}">
                      <a16:creationId xmlns:a16="http://schemas.microsoft.com/office/drawing/2014/main" id="{6D984975-D200-4B62-B0C2-6885422EBCC8}"/>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615" name="Group 19">
                <a:extLst>
                  <a:ext uri="{FF2B5EF4-FFF2-40B4-BE49-F238E27FC236}">
                    <a16:creationId xmlns:a16="http://schemas.microsoft.com/office/drawing/2014/main" id="{22CE8DED-D109-48EB-864F-549C5B909807}"/>
                  </a:ext>
                </a:extLst>
              </p:cNvPr>
              <p:cNvGrpSpPr>
                <a:grpSpLocks/>
              </p:cNvGrpSpPr>
              <p:nvPr/>
            </p:nvGrpSpPr>
            <p:grpSpPr bwMode="auto">
              <a:xfrm>
                <a:off x="840" y="1977"/>
                <a:ext cx="1172" cy="1484"/>
                <a:chOff x="357" y="2450"/>
                <a:chExt cx="795" cy="646"/>
              </a:xfrm>
            </p:grpSpPr>
            <p:sp>
              <p:nvSpPr>
                <p:cNvPr id="24627" name="Line 20">
                  <a:extLst>
                    <a:ext uri="{FF2B5EF4-FFF2-40B4-BE49-F238E27FC236}">
                      <a16:creationId xmlns:a16="http://schemas.microsoft.com/office/drawing/2014/main" id="{4A1A137C-7C9D-4EAE-8DE1-8E1B28A3B9CD}"/>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28" name="Line 21">
                  <a:extLst>
                    <a:ext uri="{FF2B5EF4-FFF2-40B4-BE49-F238E27FC236}">
                      <a16:creationId xmlns:a16="http://schemas.microsoft.com/office/drawing/2014/main" id="{F87388D3-25CA-4021-8013-D71B8A6A7B69}"/>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616" name="Group 22">
                <a:extLst>
                  <a:ext uri="{FF2B5EF4-FFF2-40B4-BE49-F238E27FC236}">
                    <a16:creationId xmlns:a16="http://schemas.microsoft.com/office/drawing/2014/main" id="{53D5AEED-4A47-4411-A6A8-7F36764EB39D}"/>
                  </a:ext>
                </a:extLst>
              </p:cNvPr>
              <p:cNvGrpSpPr>
                <a:grpSpLocks/>
              </p:cNvGrpSpPr>
              <p:nvPr/>
            </p:nvGrpSpPr>
            <p:grpSpPr bwMode="auto">
              <a:xfrm>
                <a:off x="1235" y="999"/>
                <a:ext cx="1923" cy="2450"/>
                <a:chOff x="1235" y="999"/>
                <a:chExt cx="1923" cy="2450"/>
              </a:xfrm>
            </p:grpSpPr>
            <p:sp>
              <p:nvSpPr>
                <p:cNvPr id="24620" name="Line 23">
                  <a:extLst>
                    <a:ext uri="{FF2B5EF4-FFF2-40B4-BE49-F238E27FC236}">
                      <a16:creationId xmlns:a16="http://schemas.microsoft.com/office/drawing/2014/main" id="{8846D91B-46EA-4E75-A57D-D2BC9D5C5BE0}"/>
                    </a:ext>
                  </a:extLst>
                </p:cNvPr>
                <p:cNvSpPr>
                  <a:spLocks noChangeShapeType="1"/>
                </p:cNvSpPr>
                <p:nvPr/>
              </p:nvSpPr>
              <p:spPr bwMode="auto">
                <a:xfrm>
                  <a:off x="1235" y="999"/>
                  <a:ext cx="1923" cy="2450"/>
                </a:xfrm>
                <a:prstGeom prst="line">
                  <a:avLst/>
                </a:prstGeom>
                <a:noFill/>
                <a:ln w="50800">
                  <a:solidFill>
                    <a:srgbClr val="777777"/>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1" name="Oval 24">
                  <a:extLst>
                    <a:ext uri="{FF2B5EF4-FFF2-40B4-BE49-F238E27FC236}">
                      <a16:creationId xmlns:a16="http://schemas.microsoft.com/office/drawing/2014/main" id="{1BED6305-1945-43B1-BF26-368584EFAF6E}"/>
                    </a:ext>
                  </a:extLst>
                </p:cNvPr>
                <p:cNvSpPr>
                  <a:spLocks noChangeArrowheads="1"/>
                </p:cNvSpPr>
                <p:nvPr/>
              </p:nvSpPr>
              <p:spPr bwMode="auto">
                <a:xfrm>
                  <a:off x="1678" y="1569"/>
                  <a:ext cx="89"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2" name="Oval 25">
                  <a:extLst>
                    <a:ext uri="{FF2B5EF4-FFF2-40B4-BE49-F238E27FC236}">
                      <a16:creationId xmlns:a16="http://schemas.microsoft.com/office/drawing/2014/main" id="{1A6A8F4A-E03C-4011-AEA4-337480D524A7}"/>
                    </a:ext>
                  </a:extLst>
                </p:cNvPr>
                <p:cNvSpPr>
                  <a:spLocks noChangeArrowheads="1"/>
                </p:cNvSpPr>
                <p:nvPr/>
              </p:nvSpPr>
              <p:spPr bwMode="auto">
                <a:xfrm>
                  <a:off x="2547" y="2682"/>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3" name="Oval 26">
                  <a:extLst>
                    <a:ext uri="{FF2B5EF4-FFF2-40B4-BE49-F238E27FC236}">
                      <a16:creationId xmlns:a16="http://schemas.microsoft.com/office/drawing/2014/main" id="{F69A0247-0CAE-4358-80E5-19A4FAE789AA}"/>
                    </a:ext>
                  </a:extLst>
                </p:cNvPr>
                <p:cNvSpPr>
                  <a:spLocks noChangeArrowheads="1"/>
                </p:cNvSpPr>
                <p:nvPr/>
              </p:nvSpPr>
              <p:spPr bwMode="auto">
                <a:xfrm>
                  <a:off x="2832" y="3047"/>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4" name="Oval 27">
                  <a:extLst>
                    <a:ext uri="{FF2B5EF4-FFF2-40B4-BE49-F238E27FC236}">
                      <a16:creationId xmlns:a16="http://schemas.microsoft.com/office/drawing/2014/main" id="{026AC837-DA43-4873-A12B-56481E4AF01E}"/>
                    </a:ext>
                  </a:extLst>
                </p:cNvPr>
                <p:cNvSpPr>
                  <a:spLocks noChangeArrowheads="1"/>
                </p:cNvSpPr>
                <p:nvPr/>
              </p:nvSpPr>
              <p:spPr bwMode="auto">
                <a:xfrm>
                  <a:off x="2251" y="2303"/>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5" name="Oval 28">
                  <a:extLst>
                    <a:ext uri="{FF2B5EF4-FFF2-40B4-BE49-F238E27FC236}">
                      <a16:creationId xmlns:a16="http://schemas.microsoft.com/office/drawing/2014/main" id="{BFC646B4-1224-4E68-93FE-F7EAEA75FF95}"/>
                    </a:ext>
                  </a:extLst>
                </p:cNvPr>
                <p:cNvSpPr>
                  <a:spLocks noChangeArrowheads="1"/>
                </p:cNvSpPr>
                <p:nvPr/>
              </p:nvSpPr>
              <p:spPr bwMode="auto">
                <a:xfrm>
                  <a:off x="1960" y="1936"/>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6" name="Oval 29">
                  <a:extLst>
                    <a:ext uri="{FF2B5EF4-FFF2-40B4-BE49-F238E27FC236}">
                      <a16:creationId xmlns:a16="http://schemas.microsoft.com/office/drawing/2014/main" id="{E94BE054-DA59-49E9-B4E5-5AA1FF2444FB}"/>
                    </a:ext>
                  </a:extLst>
                </p:cNvPr>
                <p:cNvSpPr>
                  <a:spLocks noChangeArrowheads="1"/>
                </p:cNvSpPr>
                <p:nvPr/>
              </p:nvSpPr>
              <p:spPr bwMode="auto">
                <a:xfrm>
                  <a:off x="1389" y="1192"/>
                  <a:ext cx="91"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24617" name="Group 30">
                <a:extLst>
                  <a:ext uri="{FF2B5EF4-FFF2-40B4-BE49-F238E27FC236}">
                    <a16:creationId xmlns:a16="http://schemas.microsoft.com/office/drawing/2014/main" id="{3AA429B3-7F6F-4780-8BFC-E35B9E633329}"/>
                  </a:ext>
                </a:extLst>
              </p:cNvPr>
              <p:cNvGrpSpPr>
                <a:grpSpLocks/>
              </p:cNvGrpSpPr>
              <p:nvPr/>
            </p:nvGrpSpPr>
            <p:grpSpPr bwMode="auto">
              <a:xfrm>
                <a:off x="840" y="1231"/>
                <a:ext cx="598" cy="2241"/>
                <a:chOff x="357" y="2450"/>
                <a:chExt cx="795" cy="646"/>
              </a:xfrm>
            </p:grpSpPr>
            <p:sp>
              <p:nvSpPr>
                <p:cNvPr id="24618" name="Line 31">
                  <a:extLst>
                    <a:ext uri="{FF2B5EF4-FFF2-40B4-BE49-F238E27FC236}">
                      <a16:creationId xmlns:a16="http://schemas.microsoft.com/office/drawing/2014/main" id="{36FC4D9D-D401-4861-941F-6A5295E89137}"/>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19" name="Line 32">
                  <a:extLst>
                    <a:ext uri="{FF2B5EF4-FFF2-40B4-BE49-F238E27FC236}">
                      <a16:creationId xmlns:a16="http://schemas.microsoft.com/office/drawing/2014/main" id="{B70ED6F7-4D51-417B-B4D5-79389F489E3E}"/>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4607" name="Oval 33">
              <a:extLst>
                <a:ext uri="{FF2B5EF4-FFF2-40B4-BE49-F238E27FC236}">
                  <a16:creationId xmlns:a16="http://schemas.microsoft.com/office/drawing/2014/main" id="{B1FF4575-14D4-4D99-9466-00770C4D2F2C}"/>
                </a:ext>
              </a:extLst>
            </p:cNvPr>
            <p:cNvSpPr>
              <a:spLocks noChangeArrowheads="1"/>
            </p:cNvSpPr>
            <p:nvPr/>
          </p:nvSpPr>
          <p:spPr bwMode="auto">
            <a:xfrm>
              <a:off x="3114" y="3411"/>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78882" name="Text Box 34">
            <a:extLst>
              <a:ext uri="{FF2B5EF4-FFF2-40B4-BE49-F238E27FC236}">
                <a16:creationId xmlns:a16="http://schemas.microsoft.com/office/drawing/2014/main" id="{0DAA7C70-0F93-42B8-848B-092334EAA1E0}"/>
              </a:ext>
            </a:extLst>
          </p:cNvPr>
          <p:cNvSpPr txBox="1">
            <a:spLocks noChangeArrowheads="1"/>
          </p:cNvSpPr>
          <p:nvPr/>
        </p:nvSpPr>
        <p:spPr bwMode="auto">
          <a:xfrm>
            <a:off x="5324475" y="1193800"/>
            <a:ext cx="3421063" cy="22193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600">
                <a:cs typeface="Arial" panose="020B0604020202020204" pitchFamily="34" charset="0"/>
              </a:rPr>
              <a:t>Suppose the number of buyers increases.  </a:t>
            </a:r>
          </a:p>
          <a:p>
            <a:pPr eaLnBrk="1" hangingPunct="1">
              <a:spcBef>
                <a:spcPct val="10000"/>
              </a:spcBef>
              <a:buClrTx/>
              <a:buSzTx/>
              <a:buFontTx/>
              <a:buNone/>
            </a:pPr>
            <a:r>
              <a:rPr lang="en-US" altLang="en-US" sz="2600">
                <a:cs typeface="Arial" panose="020B0604020202020204" pitchFamily="34" charset="0"/>
              </a:rPr>
              <a:t>Then, at each </a:t>
            </a:r>
            <a:r>
              <a:rPr lang="en-US" altLang="en-US" sz="2600" b="1" i="1">
                <a:cs typeface="Arial" panose="020B0604020202020204" pitchFamily="34" charset="0"/>
              </a:rPr>
              <a:t>P</a:t>
            </a:r>
            <a:r>
              <a:rPr lang="en-US" altLang="en-US" sz="2600">
                <a:cs typeface="Arial" panose="020B0604020202020204" pitchFamily="34" charset="0"/>
              </a:rPr>
              <a:t>, </a:t>
            </a:r>
            <a:br>
              <a:rPr lang="en-US" altLang="en-US" sz="2600">
                <a:cs typeface="Arial" panose="020B0604020202020204" pitchFamily="34" charset="0"/>
              </a:rPr>
            </a:b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will increase </a:t>
            </a:r>
            <a:br>
              <a:rPr lang="en-US" altLang="en-US" sz="2600">
                <a:cs typeface="Arial" panose="020B0604020202020204" pitchFamily="34" charset="0"/>
              </a:rPr>
            </a:br>
            <a:r>
              <a:rPr lang="en-US" altLang="en-US" sz="2600">
                <a:cs typeface="Arial" panose="020B0604020202020204" pitchFamily="34" charset="0"/>
              </a:rPr>
              <a:t>(by 5 in this example).</a:t>
            </a:r>
          </a:p>
        </p:txBody>
      </p:sp>
      <p:sp>
        <p:nvSpPr>
          <p:cNvPr id="78883" name="Line 35">
            <a:extLst>
              <a:ext uri="{FF2B5EF4-FFF2-40B4-BE49-F238E27FC236}">
                <a16:creationId xmlns:a16="http://schemas.microsoft.com/office/drawing/2014/main" id="{D3C277C9-4534-42CF-8AC6-E212FFEA13CB}"/>
              </a:ext>
            </a:extLst>
          </p:cNvPr>
          <p:cNvSpPr>
            <a:spLocks noChangeShapeType="1"/>
          </p:cNvSpPr>
          <p:nvPr/>
        </p:nvSpPr>
        <p:spPr bwMode="auto">
          <a:xfrm>
            <a:off x="2719388" y="1563688"/>
            <a:ext cx="3074987" cy="394970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 name="Group 36">
            <a:extLst>
              <a:ext uri="{FF2B5EF4-FFF2-40B4-BE49-F238E27FC236}">
                <a16:creationId xmlns:a16="http://schemas.microsoft.com/office/drawing/2014/main" id="{7F667A03-F4AB-4FAB-9693-922B73597932}"/>
              </a:ext>
            </a:extLst>
          </p:cNvPr>
          <p:cNvGrpSpPr>
            <a:grpSpLocks/>
          </p:cNvGrpSpPr>
          <p:nvPr/>
        </p:nvGrpSpPr>
        <p:grpSpPr bwMode="auto">
          <a:xfrm>
            <a:off x="5099050" y="5435600"/>
            <a:ext cx="755650" cy="138113"/>
            <a:chOff x="3210" y="3415"/>
            <a:chExt cx="476" cy="87"/>
          </a:xfrm>
        </p:grpSpPr>
        <p:sp>
          <p:nvSpPr>
            <p:cNvPr id="24604" name="Oval 37">
              <a:extLst>
                <a:ext uri="{FF2B5EF4-FFF2-40B4-BE49-F238E27FC236}">
                  <a16:creationId xmlns:a16="http://schemas.microsoft.com/office/drawing/2014/main" id="{566A2513-FC60-4745-8881-6C3B762DDF63}"/>
                </a:ext>
              </a:extLst>
            </p:cNvPr>
            <p:cNvSpPr>
              <a:spLocks noChangeArrowheads="1"/>
            </p:cNvSpPr>
            <p:nvPr/>
          </p:nvSpPr>
          <p:spPr bwMode="auto">
            <a:xfrm>
              <a:off x="3598" y="3415"/>
              <a:ext cx="88" cy="87"/>
            </a:xfrm>
            <a:prstGeom prst="ellipse">
              <a:avLst/>
            </a:pr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05" name="Line 38">
              <a:extLst>
                <a:ext uri="{FF2B5EF4-FFF2-40B4-BE49-F238E27FC236}">
                  <a16:creationId xmlns:a16="http://schemas.microsoft.com/office/drawing/2014/main" id="{19E0729B-DE94-4FDD-A779-E9652B5914D3}"/>
                </a:ext>
              </a:extLst>
            </p:cNvPr>
            <p:cNvSpPr>
              <a:spLocks noChangeShapeType="1"/>
            </p:cNvSpPr>
            <p:nvPr/>
          </p:nvSpPr>
          <p:spPr bwMode="auto">
            <a:xfrm>
              <a:off x="3210" y="3456"/>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2" name="Group 39">
            <a:extLst>
              <a:ext uri="{FF2B5EF4-FFF2-40B4-BE49-F238E27FC236}">
                <a16:creationId xmlns:a16="http://schemas.microsoft.com/office/drawing/2014/main" id="{EC863FA1-4A58-439F-B316-EB4961BF2846}"/>
              </a:ext>
            </a:extLst>
          </p:cNvPr>
          <p:cNvGrpSpPr>
            <a:grpSpLocks/>
          </p:cNvGrpSpPr>
          <p:nvPr/>
        </p:nvGrpSpPr>
        <p:grpSpPr bwMode="auto">
          <a:xfrm>
            <a:off x="4638675" y="4827588"/>
            <a:ext cx="752475" cy="138112"/>
            <a:chOff x="2922" y="3041"/>
            <a:chExt cx="474" cy="87"/>
          </a:xfrm>
        </p:grpSpPr>
        <p:sp>
          <p:nvSpPr>
            <p:cNvPr id="24602" name="Oval 40">
              <a:extLst>
                <a:ext uri="{FF2B5EF4-FFF2-40B4-BE49-F238E27FC236}">
                  <a16:creationId xmlns:a16="http://schemas.microsoft.com/office/drawing/2014/main" id="{C9EE496D-F916-4063-A54E-17824D5F0538}"/>
                </a:ext>
              </a:extLst>
            </p:cNvPr>
            <p:cNvSpPr>
              <a:spLocks noChangeArrowheads="1"/>
            </p:cNvSpPr>
            <p:nvPr/>
          </p:nvSpPr>
          <p:spPr bwMode="auto">
            <a:xfrm>
              <a:off x="3308" y="3041"/>
              <a:ext cx="88"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03" name="Line 41">
              <a:extLst>
                <a:ext uri="{FF2B5EF4-FFF2-40B4-BE49-F238E27FC236}">
                  <a16:creationId xmlns:a16="http://schemas.microsoft.com/office/drawing/2014/main" id="{D05D166B-9E69-4664-97BA-D33FC3065E35}"/>
                </a:ext>
              </a:extLst>
            </p:cNvPr>
            <p:cNvSpPr>
              <a:spLocks noChangeShapeType="1"/>
            </p:cNvSpPr>
            <p:nvPr/>
          </p:nvSpPr>
          <p:spPr bwMode="auto">
            <a:xfrm>
              <a:off x="2922" y="3094"/>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3" name="Group 42">
            <a:extLst>
              <a:ext uri="{FF2B5EF4-FFF2-40B4-BE49-F238E27FC236}">
                <a16:creationId xmlns:a16="http://schemas.microsoft.com/office/drawing/2014/main" id="{AF5D2D87-C518-4065-A7BD-85F33A4A2D50}"/>
              </a:ext>
            </a:extLst>
          </p:cNvPr>
          <p:cNvGrpSpPr>
            <a:grpSpLocks/>
          </p:cNvGrpSpPr>
          <p:nvPr/>
        </p:nvGrpSpPr>
        <p:grpSpPr bwMode="auto">
          <a:xfrm>
            <a:off x="4181475" y="4248150"/>
            <a:ext cx="757238" cy="138113"/>
            <a:chOff x="2634" y="2676"/>
            <a:chExt cx="477" cy="87"/>
          </a:xfrm>
        </p:grpSpPr>
        <p:sp>
          <p:nvSpPr>
            <p:cNvPr id="24600" name="Oval 43">
              <a:extLst>
                <a:ext uri="{FF2B5EF4-FFF2-40B4-BE49-F238E27FC236}">
                  <a16:creationId xmlns:a16="http://schemas.microsoft.com/office/drawing/2014/main" id="{F5897062-35CC-4D93-8729-9F404E4B6841}"/>
                </a:ext>
              </a:extLst>
            </p:cNvPr>
            <p:cNvSpPr>
              <a:spLocks noChangeArrowheads="1"/>
            </p:cNvSpPr>
            <p:nvPr/>
          </p:nvSpPr>
          <p:spPr bwMode="auto">
            <a:xfrm>
              <a:off x="3023" y="2676"/>
              <a:ext cx="88"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01" name="Line 44">
              <a:extLst>
                <a:ext uri="{FF2B5EF4-FFF2-40B4-BE49-F238E27FC236}">
                  <a16:creationId xmlns:a16="http://schemas.microsoft.com/office/drawing/2014/main" id="{A007B2F0-4AF4-411C-AF23-81113A3C63FB}"/>
                </a:ext>
              </a:extLst>
            </p:cNvPr>
            <p:cNvSpPr>
              <a:spLocks noChangeShapeType="1"/>
            </p:cNvSpPr>
            <p:nvPr/>
          </p:nvSpPr>
          <p:spPr bwMode="auto">
            <a:xfrm>
              <a:off x="2634" y="2725"/>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4" name="Group 45">
            <a:extLst>
              <a:ext uri="{FF2B5EF4-FFF2-40B4-BE49-F238E27FC236}">
                <a16:creationId xmlns:a16="http://schemas.microsoft.com/office/drawing/2014/main" id="{4BC49C12-2EA4-40C2-A88C-CDFAA623B127}"/>
              </a:ext>
            </a:extLst>
          </p:cNvPr>
          <p:cNvGrpSpPr>
            <a:grpSpLocks/>
          </p:cNvGrpSpPr>
          <p:nvPr/>
        </p:nvGrpSpPr>
        <p:grpSpPr bwMode="auto">
          <a:xfrm>
            <a:off x="3724275" y="3646488"/>
            <a:ext cx="744538" cy="138112"/>
            <a:chOff x="2346" y="2297"/>
            <a:chExt cx="469" cy="87"/>
          </a:xfrm>
        </p:grpSpPr>
        <p:sp>
          <p:nvSpPr>
            <p:cNvPr id="24598" name="Oval 46">
              <a:extLst>
                <a:ext uri="{FF2B5EF4-FFF2-40B4-BE49-F238E27FC236}">
                  <a16:creationId xmlns:a16="http://schemas.microsoft.com/office/drawing/2014/main" id="{AF5B11D4-27D9-4B52-83BD-0AE303918F1E}"/>
                </a:ext>
              </a:extLst>
            </p:cNvPr>
            <p:cNvSpPr>
              <a:spLocks noChangeArrowheads="1"/>
            </p:cNvSpPr>
            <p:nvPr/>
          </p:nvSpPr>
          <p:spPr bwMode="auto">
            <a:xfrm>
              <a:off x="2727" y="2297"/>
              <a:ext cx="88"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599" name="Line 47">
              <a:extLst>
                <a:ext uri="{FF2B5EF4-FFF2-40B4-BE49-F238E27FC236}">
                  <a16:creationId xmlns:a16="http://schemas.microsoft.com/office/drawing/2014/main" id="{26A37A04-98AC-4BED-9ED4-9B2B232A3197}"/>
                </a:ext>
              </a:extLst>
            </p:cNvPr>
            <p:cNvSpPr>
              <a:spLocks noChangeShapeType="1"/>
            </p:cNvSpPr>
            <p:nvPr/>
          </p:nvSpPr>
          <p:spPr bwMode="auto">
            <a:xfrm>
              <a:off x="2346" y="2345"/>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5" name="Group 48">
            <a:extLst>
              <a:ext uri="{FF2B5EF4-FFF2-40B4-BE49-F238E27FC236}">
                <a16:creationId xmlns:a16="http://schemas.microsoft.com/office/drawing/2014/main" id="{2EAE3146-0C4F-4623-B989-297A5BB716FF}"/>
              </a:ext>
            </a:extLst>
          </p:cNvPr>
          <p:cNvGrpSpPr>
            <a:grpSpLocks/>
          </p:cNvGrpSpPr>
          <p:nvPr/>
        </p:nvGrpSpPr>
        <p:grpSpPr bwMode="auto">
          <a:xfrm>
            <a:off x="3252788" y="3063875"/>
            <a:ext cx="754062" cy="138113"/>
            <a:chOff x="2049" y="1930"/>
            <a:chExt cx="475" cy="87"/>
          </a:xfrm>
        </p:grpSpPr>
        <p:sp>
          <p:nvSpPr>
            <p:cNvPr id="24596" name="Oval 49">
              <a:extLst>
                <a:ext uri="{FF2B5EF4-FFF2-40B4-BE49-F238E27FC236}">
                  <a16:creationId xmlns:a16="http://schemas.microsoft.com/office/drawing/2014/main" id="{BADD8864-B1CE-418E-81BD-B0D63926C0AE}"/>
                </a:ext>
              </a:extLst>
            </p:cNvPr>
            <p:cNvSpPr>
              <a:spLocks noChangeArrowheads="1"/>
            </p:cNvSpPr>
            <p:nvPr/>
          </p:nvSpPr>
          <p:spPr bwMode="auto">
            <a:xfrm>
              <a:off x="2436" y="1930"/>
              <a:ext cx="88"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597" name="Line 50">
              <a:extLst>
                <a:ext uri="{FF2B5EF4-FFF2-40B4-BE49-F238E27FC236}">
                  <a16:creationId xmlns:a16="http://schemas.microsoft.com/office/drawing/2014/main" id="{749C829E-AA2C-4296-8335-D95A85FF5CD5}"/>
                </a:ext>
              </a:extLst>
            </p:cNvPr>
            <p:cNvSpPr>
              <a:spLocks noChangeShapeType="1"/>
            </p:cNvSpPr>
            <p:nvPr/>
          </p:nvSpPr>
          <p:spPr bwMode="auto">
            <a:xfrm>
              <a:off x="2049" y="1975"/>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6" name="Group 51">
            <a:extLst>
              <a:ext uri="{FF2B5EF4-FFF2-40B4-BE49-F238E27FC236}">
                <a16:creationId xmlns:a16="http://schemas.microsoft.com/office/drawing/2014/main" id="{C07DF5F5-DF69-4E3C-A24E-C13F4DF8347B}"/>
              </a:ext>
            </a:extLst>
          </p:cNvPr>
          <p:cNvGrpSpPr>
            <a:grpSpLocks/>
          </p:cNvGrpSpPr>
          <p:nvPr/>
        </p:nvGrpSpPr>
        <p:grpSpPr bwMode="auto">
          <a:xfrm>
            <a:off x="2809875" y="2481263"/>
            <a:ext cx="750888" cy="138112"/>
            <a:chOff x="1770" y="1563"/>
            <a:chExt cx="473" cy="87"/>
          </a:xfrm>
        </p:grpSpPr>
        <p:sp>
          <p:nvSpPr>
            <p:cNvPr id="24594" name="Oval 52">
              <a:extLst>
                <a:ext uri="{FF2B5EF4-FFF2-40B4-BE49-F238E27FC236}">
                  <a16:creationId xmlns:a16="http://schemas.microsoft.com/office/drawing/2014/main" id="{74628F65-F8E0-485C-ABE3-ED46501B541A}"/>
                </a:ext>
              </a:extLst>
            </p:cNvPr>
            <p:cNvSpPr>
              <a:spLocks noChangeArrowheads="1"/>
            </p:cNvSpPr>
            <p:nvPr/>
          </p:nvSpPr>
          <p:spPr bwMode="auto">
            <a:xfrm>
              <a:off x="2154" y="1563"/>
              <a:ext cx="89"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595" name="Line 53">
              <a:extLst>
                <a:ext uri="{FF2B5EF4-FFF2-40B4-BE49-F238E27FC236}">
                  <a16:creationId xmlns:a16="http://schemas.microsoft.com/office/drawing/2014/main" id="{6DDB4729-1DE7-4AFA-AEBC-BC8D8E1E2A8D}"/>
                </a:ext>
              </a:extLst>
            </p:cNvPr>
            <p:cNvSpPr>
              <a:spLocks noChangeShapeType="1"/>
            </p:cNvSpPr>
            <p:nvPr/>
          </p:nvSpPr>
          <p:spPr bwMode="auto">
            <a:xfrm>
              <a:off x="1770" y="1605"/>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7" name="Group 54">
            <a:extLst>
              <a:ext uri="{FF2B5EF4-FFF2-40B4-BE49-F238E27FC236}">
                <a16:creationId xmlns:a16="http://schemas.microsoft.com/office/drawing/2014/main" id="{35A12FB8-4CF5-4F21-B7C6-B641484CCABF}"/>
              </a:ext>
            </a:extLst>
          </p:cNvPr>
          <p:cNvGrpSpPr>
            <a:grpSpLocks/>
          </p:cNvGrpSpPr>
          <p:nvPr/>
        </p:nvGrpSpPr>
        <p:grpSpPr bwMode="auto">
          <a:xfrm>
            <a:off x="2352675" y="1882775"/>
            <a:ext cx="752475" cy="138113"/>
            <a:chOff x="1482" y="1186"/>
            <a:chExt cx="474" cy="87"/>
          </a:xfrm>
        </p:grpSpPr>
        <p:sp>
          <p:nvSpPr>
            <p:cNvPr id="24592" name="Oval 55">
              <a:extLst>
                <a:ext uri="{FF2B5EF4-FFF2-40B4-BE49-F238E27FC236}">
                  <a16:creationId xmlns:a16="http://schemas.microsoft.com/office/drawing/2014/main" id="{9E311BB7-FB8B-4175-9643-8407223CEF57}"/>
                </a:ext>
              </a:extLst>
            </p:cNvPr>
            <p:cNvSpPr>
              <a:spLocks noChangeArrowheads="1"/>
            </p:cNvSpPr>
            <p:nvPr/>
          </p:nvSpPr>
          <p:spPr bwMode="auto">
            <a:xfrm>
              <a:off x="1865" y="1186"/>
              <a:ext cx="91"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593" name="Line 56">
              <a:extLst>
                <a:ext uri="{FF2B5EF4-FFF2-40B4-BE49-F238E27FC236}">
                  <a16:creationId xmlns:a16="http://schemas.microsoft.com/office/drawing/2014/main" id="{3EEFCAFC-4BAD-4A9A-A495-20C772296532}"/>
                </a:ext>
              </a:extLst>
            </p:cNvPr>
            <p:cNvSpPr>
              <a:spLocks noChangeShapeType="1"/>
            </p:cNvSpPr>
            <p:nvPr/>
          </p:nvSpPr>
          <p:spPr bwMode="auto">
            <a:xfrm>
              <a:off x="1482" y="1234"/>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sp>
        <p:nvSpPr>
          <p:cNvPr id="24590" name="FlagCount" hidden="1">
            <a:hlinkClick r:id="rId5" action="ppaction://hlinkfile"/>
            <a:extLst>
              <a:ext uri="{FF2B5EF4-FFF2-40B4-BE49-F238E27FC236}">
                <a16:creationId xmlns:a16="http://schemas.microsoft.com/office/drawing/2014/main" id="{4B584657-2934-49B4-960C-320E3F542CB1}"/>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
        <p:nvSpPr>
          <p:cNvPr id="24591" name="Rectangle 61">
            <a:extLst>
              <a:ext uri="{FF2B5EF4-FFF2-40B4-BE49-F238E27FC236}">
                <a16:creationId xmlns:a16="http://schemas.microsoft.com/office/drawing/2014/main" id="{01801E16-26E6-48A4-B9BB-D4DA7E52213A}"/>
              </a:ext>
            </a:extLst>
          </p:cNvPr>
          <p:cNvSpPr>
            <a:spLocks noGrp="1" noChangeArrowheads="1"/>
          </p:cNvSpPr>
          <p:nvPr>
            <p:ph type="title"/>
          </p:nvPr>
        </p:nvSpPr>
        <p:spPr>
          <a:xfrm>
            <a:off x="469900" y="265113"/>
            <a:ext cx="8039100" cy="681037"/>
          </a:xfrm>
        </p:spPr>
        <p:txBody>
          <a:bodyPr/>
          <a:lstStyle/>
          <a:p>
            <a:pPr algn="l" eaLnBrk="1" hangingPunct="1"/>
            <a:r>
              <a:rPr lang="en-US" altLang="en-US" sz="3400"/>
              <a:t>Demand Curve Shifters: </a:t>
            </a:r>
            <a:r>
              <a:rPr lang="en-US" altLang="en-US" sz="3400">
                <a:solidFill>
                  <a:srgbClr val="008080"/>
                </a:solidFill>
              </a:rPr>
              <a:t> # of Buyers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882"/>
                                        </p:tgtEl>
                                        <p:attrNameLst>
                                          <p:attrName>style.visibility</p:attrName>
                                        </p:attrNameLst>
                                      </p:cBhvr>
                                      <p:to>
                                        <p:strVal val="visible"/>
                                      </p:to>
                                    </p:set>
                                    <p:animEffect transition="in" filter="dissolve">
                                      <p:cBhvr>
                                        <p:cTn id="7" dur="500"/>
                                        <p:tgtEl>
                                          <p:spTgt spid="78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par>
                                <p:cTn id="31" presetID="22" presetClass="entr" presetSubtype="8"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par>
                                <p:cTn id="34" presetID="22" presetClass="entr" presetSubtype="8"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nodeType="clickEffect">
                                  <p:stCondLst>
                                    <p:cond delay="0"/>
                                  </p:stCondLst>
                                  <p:childTnLst>
                                    <p:set>
                                      <p:cBhvr>
                                        <p:cTn id="40" dur="1" fill="hold">
                                          <p:stCondLst>
                                            <p:cond delay="0"/>
                                          </p:stCondLst>
                                        </p:cTn>
                                        <p:tgtEl>
                                          <p:spTgt spid="78883"/>
                                        </p:tgtEl>
                                        <p:attrNameLst>
                                          <p:attrName>style.visibility</p:attrName>
                                        </p:attrNameLst>
                                      </p:cBhvr>
                                      <p:to>
                                        <p:strVal val="visible"/>
                                      </p:to>
                                    </p:set>
                                    <p:animEffect transition="in" filter="strips(downRight)">
                                      <p:cBhvr>
                                        <p:cTn id="41" dur="500"/>
                                        <p:tgtEl>
                                          <p:spTgt spid="78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82"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Footer Placeholder 1">
            <a:extLst>
              <a:ext uri="{FF2B5EF4-FFF2-40B4-BE49-F238E27FC236}">
                <a16:creationId xmlns:a16="http://schemas.microsoft.com/office/drawing/2014/main" id="{21262350-8E87-4592-98E8-EEA3FBF32C78}"/>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6627" name="Slide Number Placeholder 2">
            <a:extLst>
              <a:ext uri="{FF2B5EF4-FFF2-40B4-BE49-F238E27FC236}">
                <a16:creationId xmlns:a16="http://schemas.microsoft.com/office/drawing/2014/main" id="{3DF72D62-828A-41F7-B644-14557644A86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C22127-7217-47FB-9AAA-C85FDCBA72E2}" type="slidenum">
              <a:rPr lang="en-US" altLang="en-US">
                <a:solidFill>
                  <a:srgbClr val="777777"/>
                </a:solidFill>
                <a:latin typeface="Tahoma" panose="020B0604030504040204" pitchFamily="34" charset="0"/>
              </a:rPr>
              <a:pPr/>
              <a:t>11</a:t>
            </a:fld>
            <a:endParaRPr lang="en-US" altLang="en-US">
              <a:solidFill>
                <a:srgbClr val="777777"/>
              </a:solidFill>
              <a:latin typeface="Tahoma" panose="020B0604030504040204" pitchFamily="34" charset="0"/>
            </a:endParaRPr>
          </a:p>
        </p:txBody>
      </p:sp>
      <p:sp>
        <p:nvSpPr>
          <p:cNvPr id="26628" name="Rectangle 2">
            <a:extLst>
              <a:ext uri="{FF2B5EF4-FFF2-40B4-BE49-F238E27FC236}">
                <a16:creationId xmlns:a16="http://schemas.microsoft.com/office/drawing/2014/main" id="{3CAA3072-A735-4683-B554-3DD66F745AFB}"/>
              </a:ext>
            </a:extLst>
          </p:cNvPr>
          <p:cNvSpPr>
            <a:spLocks noGrp="1" noChangeArrowheads="1"/>
          </p:cNvSpPr>
          <p:nvPr>
            <p:ph type="body" idx="4294967295"/>
          </p:nvPr>
        </p:nvSpPr>
        <p:spPr>
          <a:xfrm>
            <a:off x="457200" y="1089025"/>
            <a:ext cx="8229600" cy="5318125"/>
          </a:xfrm>
        </p:spPr>
        <p:txBody>
          <a:bodyPr/>
          <a:lstStyle/>
          <a:p>
            <a:pPr eaLnBrk="1" hangingPunct="1"/>
            <a:r>
              <a:rPr lang="en-US" altLang="en-US"/>
              <a:t>Demand for a </a:t>
            </a:r>
            <a:r>
              <a:rPr lang="en-US" altLang="en-US" b="1">
                <a:solidFill>
                  <a:srgbClr val="CC0000"/>
                </a:solidFill>
              </a:rPr>
              <a:t>normal good</a:t>
            </a:r>
            <a:r>
              <a:rPr lang="en-US" altLang="en-US"/>
              <a:t> is positively related to income.  </a:t>
            </a:r>
          </a:p>
          <a:p>
            <a:pPr lvl="1" eaLnBrk="1" hangingPunct="1">
              <a:lnSpc>
                <a:spcPct val="105000"/>
              </a:lnSpc>
            </a:pPr>
            <a:r>
              <a:rPr lang="en-US" altLang="en-US" sz="2800"/>
              <a:t>Increase in income causes </a:t>
            </a:r>
            <a:br>
              <a:rPr lang="en-US" altLang="en-US" sz="2800"/>
            </a:br>
            <a:r>
              <a:rPr lang="en-US" altLang="en-US" sz="2800"/>
              <a:t>increase in quantity demanded at each price, shifts </a:t>
            </a:r>
            <a:r>
              <a:rPr lang="en-US" altLang="en-US" sz="2800" b="1" i="1"/>
              <a:t>D</a:t>
            </a:r>
            <a:r>
              <a:rPr lang="en-US" altLang="en-US" sz="2800"/>
              <a:t> curve to the right.  </a:t>
            </a:r>
          </a:p>
          <a:p>
            <a:pPr eaLnBrk="1" hangingPunct="1">
              <a:spcBef>
                <a:spcPct val="60000"/>
              </a:spcBef>
              <a:buFont typeface="Wingdings" panose="05000000000000000000" pitchFamily="2" charset="2"/>
              <a:buNone/>
            </a:pPr>
            <a:r>
              <a:rPr lang="en-US" altLang="en-US"/>
              <a:t>	(Demand for an </a:t>
            </a:r>
            <a:r>
              <a:rPr lang="en-US" altLang="en-US" b="1">
                <a:solidFill>
                  <a:srgbClr val="CC0000"/>
                </a:solidFill>
              </a:rPr>
              <a:t>inferior good</a:t>
            </a:r>
            <a:r>
              <a:rPr lang="en-US" altLang="en-US"/>
              <a:t> is negatively related to income.  An increase in income shifts </a:t>
            </a:r>
            <a:r>
              <a:rPr lang="en-US" altLang="en-US" b="1" i="1"/>
              <a:t>D</a:t>
            </a:r>
            <a:r>
              <a:rPr lang="en-US" altLang="en-US"/>
              <a:t> curves for inferior goods to the left.)  </a:t>
            </a:r>
          </a:p>
        </p:txBody>
      </p:sp>
      <p:sp>
        <p:nvSpPr>
          <p:cNvPr id="26629" name="Rectangle 3">
            <a:extLst>
              <a:ext uri="{FF2B5EF4-FFF2-40B4-BE49-F238E27FC236}">
                <a16:creationId xmlns:a16="http://schemas.microsoft.com/office/drawing/2014/main" id="{BE2D803F-00D5-44A7-85AB-503C0F766DA4}"/>
              </a:ext>
            </a:extLst>
          </p:cNvPr>
          <p:cNvSpPr>
            <a:spLocks noGrp="1" noChangeArrowheads="1"/>
          </p:cNvSpPr>
          <p:nvPr>
            <p:ph type="title" idx="4294967295"/>
          </p:nvPr>
        </p:nvSpPr>
        <p:spPr>
          <a:noFill/>
        </p:spPr>
        <p:txBody>
          <a:bodyPr/>
          <a:lstStyle/>
          <a:p>
            <a:pPr algn="l" eaLnBrk="1" hangingPunct="1"/>
            <a:r>
              <a:rPr lang="en-US" altLang="en-US" sz="3400"/>
              <a:t>Demand Curve Shifters: </a:t>
            </a:r>
            <a:r>
              <a:rPr lang="en-US" altLang="en-US" sz="3400">
                <a:solidFill>
                  <a:srgbClr val="008080"/>
                </a:solidFill>
              </a:rPr>
              <a:t> Income</a:t>
            </a:r>
          </a:p>
        </p:txBody>
      </p:sp>
      <p:sp>
        <p:nvSpPr>
          <p:cNvPr id="26630" name="FlagCount" hidden="1">
            <a:hlinkClick r:id="rId3" action="ppaction://hlinkfile"/>
            <a:extLst>
              <a:ext uri="{FF2B5EF4-FFF2-40B4-BE49-F238E27FC236}">
                <a16:creationId xmlns:a16="http://schemas.microsoft.com/office/drawing/2014/main" id="{C70AE734-8ACE-44BC-9976-AA7EC63CA84A}"/>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animEffect transition="in" filter="wipe(left)">
                                      <p:cBhvr>
                                        <p:cTn id="7" dur="500"/>
                                        <p:tgtEl>
                                          <p:spTgt spid="266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8">
                                            <p:txEl>
                                              <p:pRg st="1" end="1"/>
                                            </p:txEl>
                                          </p:spTgt>
                                        </p:tgtEl>
                                        <p:attrNameLst>
                                          <p:attrName>style.visibility</p:attrName>
                                        </p:attrNameLst>
                                      </p:cBhvr>
                                      <p:to>
                                        <p:strVal val="visible"/>
                                      </p:to>
                                    </p:set>
                                    <p:animEffect transition="in" filter="wipe(left)">
                                      <p:cBhvr>
                                        <p:cTn id="12" dur="500"/>
                                        <p:tgtEl>
                                          <p:spTgt spid="266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8">
                                            <p:txEl>
                                              <p:pRg st="2" end="2"/>
                                            </p:txEl>
                                          </p:spTgt>
                                        </p:tgtEl>
                                        <p:attrNameLst>
                                          <p:attrName>style.visibility</p:attrName>
                                        </p:attrNameLst>
                                      </p:cBhvr>
                                      <p:to>
                                        <p:strVal val="visible"/>
                                      </p:to>
                                    </p:set>
                                    <p:animEffect transition="in" filter="wipe(left)">
                                      <p:cBhvr>
                                        <p:cTn id="17" dur="500"/>
                                        <p:tgtEl>
                                          <p:spTgt spid="266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uild="p" bldLvl="4"/>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Footer Placeholder 1">
            <a:extLst>
              <a:ext uri="{FF2B5EF4-FFF2-40B4-BE49-F238E27FC236}">
                <a16:creationId xmlns:a16="http://schemas.microsoft.com/office/drawing/2014/main" id="{21C24D9E-198C-4911-B746-DF54AA8AF338}"/>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8675" name="Slide Number Placeholder 2">
            <a:extLst>
              <a:ext uri="{FF2B5EF4-FFF2-40B4-BE49-F238E27FC236}">
                <a16:creationId xmlns:a16="http://schemas.microsoft.com/office/drawing/2014/main" id="{1068DAEA-19D8-40CE-A010-C4A78F7E3498}"/>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721A5E2-63EC-4EE9-8E23-C7F7AB152844}" type="slidenum">
              <a:rPr lang="en-US" altLang="en-US">
                <a:solidFill>
                  <a:srgbClr val="777777"/>
                </a:solidFill>
                <a:latin typeface="Tahoma" panose="020B0604030504040204" pitchFamily="34" charset="0"/>
              </a:rPr>
              <a:pPr/>
              <a:t>12</a:t>
            </a:fld>
            <a:endParaRPr lang="en-US" altLang="en-US">
              <a:solidFill>
                <a:srgbClr val="777777"/>
              </a:solidFill>
              <a:latin typeface="Tahoma" panose="020B0604030504040204" pitchFamily="34" charset="0"/>
            </a:endParaRPr>
          </a:p>
        </p:txBody>
      </p:sp>
      <p:sp>
        <p:nvSpPr>
          <p:cNvPr id="28676" name="Rectangle 2">
            <a:extLst>
              <a:ext uri="{FF2B5EF4-FFF2-40B4-BE49-F238E27FC236}">
                <a16:creationId xmlns:a16="http://schemas.microsoft.com/office/drawing/2014/main" id="{073A9927-F6C8-489B-BE9A-06C884A777EA}"/>
              </a:ext>
            </a:extLst>
          </p:cNvPr>
          <p:cNvSpPr>
            <a:spLocks noGrp="1" noChangeArrowheads="1"/>
          </p:cNvSpPr>
          <p:nvPr>
            <p:ph type="body" idx="4294967295"/>
          </p:nvPr>
        </p:nvSpPr>
        <p:spPr>
          <a:xfrm>
            <a:off x="409575" y="1389063"/>
            <a:ext cx="8466138" cy="5016500"/>
          </a:xfrm>
        </p:spPr>
        <p:txBody>
          <a:bodyPr/>
          <a:lstStyle/>
          <a:p>
            <a:pPr marL="290513" indent="-290513" eaLnBrk="1" hangingPunct="1">
              <a:spcBef>
                <a:spcPct val="50000"/>
              </a:spcBef>
            </a:pPr>
            <a:r>
              <a:rPr lang="en-US" altLang="en-US" sz="2700"/>
              <a:t>Two goods are </a:t>
            </a:r>
            <a:r>
              <a:rPr lang="en-US" altLang="en-US" sz="2700" b="1">
                <a:solidFill>
                  <a:srgbClr val="CC0000"/>
                </a:solidFill>
              </a:rPr>
              <a:t>substitutes</a:t>
            </a:r>
            <a:r>
              <a:rPr lang="en-US" altLang="en-US" sz="2700"/>
              <a:t> if </a:t>
            </a:r>
            <a:br>
              <a:rPr lang="en-US" altLang="en-US" sz="2700"/>
            </a:br>
            <a:r>
              <a:rPr lang="en-US" altLang="en-US" sz="2700"/>
              <a:t>   an increase in the price of one </a:t>
            </a:r>
            <a:br>
              <a:rPr lang="en-US" altLang="en-US" sz="2700"/>
            </a:br>
            <a:r>
              <a:rPr lang="en-US" altLang="en-US" sz="2700"/>
              <a:t>   causes an increase in demand for the other.  </a:t>
            </a:r>
          </a:p>
          <a:p>
            <a:pPr marL="290513" indent="-290513" eaLnBrk="1" hangingPunct="1">
              <a:spcBef>
                <a:spcPct val="50000"/>
              </a:spcBef>
            </a:pPr>
            <a:r>
              <a:rPr lang="en-US" altLang="en-US" sz="2700"/>
              <a:t>Example:  pizza and hamburgers.  </a:t>
            </a:r>
            <a:br>
              <a:rPr lang="en-US" altLang="en-US" sz="2700"/>
            </a:br>
            <a:r>
              <a:rPr lang="en-US" altLang="en-US" sz="2700"/>
              <a:t>An increase in the price of pizza </a:t>
            </a:r>
            <a:br>
              <a:rPr lang="en-US" altLang="en-US" sz="2700"/>
            </a:br>
            <a:r>
              <a:rPr lang="en-US" altLang="en-US" sz="2700"/>
              <a:t>increases demand for hamburgers, </a:t>
            </a:r>
            <a:br>
              <a:rPr lang="en-US" altLang="en-US" sz="2700"/>
            </a:br>
            <a:r>
              <a:rPr lang="en-US" altLang="en-US" sz="2700"/>
              <a:t>shifting hamburger demand curve to the right.  </a:t>
            </a:r>
          </a:p>
          <a:p>
            <a:pPr marL="290513" indent="-290513" eaLnBrk="1" hangingPunct="1">
              <a:spcBef>
                <a:spcPct val="50000"/>
              </a:spcBef>
            </a:pPr>
            <a:r>
              <a:rPr lang="en-US" altLang="en-US" sz="2700"/>
              <a:t>Other examples:   Coke and Pepsi,  </a:t>
            </a:r>
            <a:br>
              <a:rPr lang="en-US" altLang="en-US" sz="2700"/>
            </a:br>
            <a:r>
              <a:rPr lang="en-US" altLang="en-US" sz="2700"/>
              <a:t>laptops and desktop computers, </a:t>
            </a:r>
            <a:br>
              <a:rPr lang="en-US" altLang="en-US" sz="2700"/>
            </a:br>
            <a:r>
              <a:rPr lang="en-US" altLang="en-US" sz="2700"/>
              <a:t>CDs and music downloads </a:t>
            </a:r>
          </a:p>
        </p:txBody>
      </p:sp>
      <p:sp>
        <p:nvSpPr>
          <p:cNvPr id="28677" name="Rectangle 3">
            <a:extLst>
              <a:ext uri="{FF2B5EF4-FFF2-40B4-BE49-F238E27FC236}">
                <a16:creationId xmlns:a16="http://schemas.microsoft.com/office/drawing/2014/main" id="{8D929AE8-769E-4D7E-886F-9F7BDCC67547}"/>
              </a:ext>
            </a:extLst>
          </p:cNvPr>
          <p:cNvSpPr>
            <a:spLocks noGrp="1" noChangeArrowheads="1"/>
          </p:cNvSpPr>
          <p:nvPr>
            <p:ph type="title" idx="4294967295"/>
          </p:nvPr>
        </p:nvSpPr>
        <p:spPr>
          <a:xfrm>
            <a:off x="457200" y="300038"/>
            <a:ext cx="8337550" cy="1087437"/>
          </a:xfrm>
          <a:noFill/>
        </p:spPr>
        <p:txBody>
          <a:bodyPr/>
          <a:lstStyle/>
          <a:p>
            <a:pPr algn="l" eaLnBrk="1" hangingPunct="1">
              <a:tabLst>
                <a:tab pos="5197475" algn="l"/>
              </a:tabLst>
            </a:pPr>
            <a:r>
              <a:rPr lang="en-US" altLang="en-US" sz="3400"/>
              <a:t>Demand Curve Shifters: 	</a:t>
            </a:r>
            <a:r>
              <a:rPr lang="en-US" altLang="en-US" sz="3400">
                <a:solidFill>
                  <a:srgbClr val="008080"/>
                </a:solidFill>
              </a:rPr>
              <a:t>Prices of 	Related Goods</a:t>
            </a:r>
          </a:p>
        </p:txBody>
      </p:sp>
      <p:sp>
        <p:nvSpPr>
          <p:cNvPr id="28678" name="FlagCount" hidden="1">
            <a:hlinkClick r:id="rId3" action="ppaction://hlinkfile"/>
            <a:extLst>
              <a:ext uri="{FF2B5EF4-FFF2-40B4-BE49-F238E27FC236}">
                <a16:creationId xmlns:a16="http://schemas.microsoft.com/office/drawing/2014/main" id="{B8AC0B81-2DA6-45C4-9351-1127362EF2D1}"/>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Effect transition="in" filter="wipe(left)">
                                      <p:cBhvr>
                                        <p:cTn id="7" dur="500"/>
                                        <p:tgtEl>
                                          <p:spTgt spid="286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6">
                                            <p:txEl>
                                              <p:pRg st="1" end="1"/>
                                            </p:txEl>
                                          </p:spTgt>
                                        </p:tgtEl>
                                        <p:attrNameLst>
                                          <p:attrName>style.visibility</p:attrName>
                                        </p:attrNameLst>
                                      </p:cBhvr>
                                      <p:to>
                                        <p:strVal val="visible"/>
                                      </p:to>
                                    </p:set>
                                    <p:animEffect transition="in" filter="wipe(left)">
                                      <p:cBhvr>
                                        <p:cTn id="12" dur="500"/>
                                        <p:tgtEl>
                                          <p:spTgt spid="286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6">
                                            <p:txEl>
                                              <p:pRg st="2" end="2"/>
                                            </p:txEl>
                                          </p:spTgt>
                                        </p:tgtEl>
                                        <p:attrNameLst>
                                          <p:attrName>style.visibility</p:attrName>
                                        </p:attrNameLst>
                                      </p:cBhvr>
                                      <p:to>
                                        <p:strVal val="visible"/>
                                      </p:to>
                                    </p:set>
                                    <p:animEffect transition="in" filter="wipe(left)">
                                      <p:cBhvr>
                                        <p:cTn id="17" dur="500"/>
                                        <p:tgtEl>
                                          <p:spTgt spid="2867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uild="p" bldLvl="4"/>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Footer Placeholder 1">
            <a:extLst>
              <a:ext uri="{FF2B5EF4-FFF2-40B4-BE49-F238E27FC236}">
                <a16:creationId xmlns:a16="http://schemas.microsoft.com/office/drawing/2014/main" id="{DB2AA8E0-57C9-4F2F-8430-4D570E6D4941}"/>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30723" name="Slide Number Placeholder 2">
            <a:extLst>
              <a:ext uri="{FF2B5EF4-FFF2-40B4-BE49-F238E27FC236}">
                <a16:creationId xmlns:a16="http://schemas.microsoft.com/office/drawing/2014/main" id="{6FC39AE6-F95F-4102-B71A-DB5138492CF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388C94-E2EC-42C6-AC78-F9740E23F9ED}" type="slidenum">
              <a:rPr lang="en-US" altLang="en-US">
                <a:solidFill>
                  <a:srgbClr val="777777"/>
                </a:solidFill>
                <a:latin typeface="Tahoma" panose="020B0604030504040204" pitchFamily="34" charset="0"/>
              </a:rPr>
              <a:pPr/>
              <a:t>13</a:t>
            </a:fld>
            <a:endParaRPr lang="en-US" altLang="en-US">
              <a:solidFill>
                <a:srgbClr val="777777"/>
              </a:solidFill>
              <a:latin typeface="Tahoma" panose="020B0604030504040204" pitchFamily="34" charset="0"/>
            </a:endParaRPr>
          </a:p>
        </p:txBody>
      </p:sp>
      <p:sp>
        <p:nvSpPr>
          <p:cNvPr id="30724" name="Rectangle 2">
            <a:extLst>
              <a:ext uri="{FF2B5EF4-FFF2-40B4-BE49-F238E27FC236}">
                <a16:creationId xmlns:a16="http://schemas.microsoft.com/office/drawing/2014/main" id="{8884028D-F4D1-4405-8520-03BF56E7C7E6}"/>
              </a:ext>
            </a:extLst>
          </p:cNvPr>
          <p:cNvSpPr>
            <a:spLocks noGrp="1" noChangeArrowheads="1"/>
          </p:cNvSpPr>
          <p:nvPr>
            <p:ph type="body" idx="4294967295"/>
          </p:nvPr>
        </p:nvSpPr>
        <p:spPr>
          <a:xfrm>
            <a:off x="361950" y="1376363"/>
            <a:ext cx="8194675" cy="5057775"/>
          </a:xfrm>
        </p:spPr>
        <p:txBody>
          <a:bodyPr/>
          <a:lstStyle/>
          <a:p>
            <a:pPr marL="290513" indent="-290513" eaLnBrk="1" hangingPunct="1">
              <a:spcBef>
                <a:spcPct val="50000"/>
              </a:spcBef>
            </a:pPr>
            <a:r>
              <a:rPr lang="en-US" altLang="en-US" sz="2700"/>
              <a:t>Two goods are </a:t>
            </a:r>
            <a:r>
              <a:rPr lang="en-US" altLang="en-US" sz="2700" b="1">
                <a:solidFill>
                  <a:srgbClr val="CC0000"/>
                </a:solidFill>
              </a:rPr>
              <a:t>complements</a:t>
            </a:r>
            <a:r>
              <a:rPr lang="en-US" altLang="en-US" sz="2700"/>
              <a:t> if </a:t>
            </a:r>
            <a:br>
              <a:rPr lang="en-US" altLang="en-US" sz="2700"/>
            </a:br>
            <a:r>
              <a:rPr lang="en-US" altLang="en-US" sz="2700"/>
              <a:t>   an increase in the price of one </a:t>
            </a:r>
            <a:br>
              <a:rPr lang="en-US" altLang="en-US" sz="2700"/>
            </a:br>
            <a:r>
              <a:rPr lang="en-US" altLang="en-US" sz="2700"/>
              <a:t>   causes a fall in demand for the other.  </a:t>
            </a:r>
          </a:p>
          <a:p>
            <a:pPr marL="290513" indent="-290513" eaLnBrk="1" hangingPunct="1">
              <a:spcBef>
                <a:spcPct val="50000"/>
              </a:spcBef>
            </a:pPr>
            <a:r>
              <a:rPr lang="en-US" altLang="en-US" sz="2700"/>
              <a:t>Example:  computers and software.  </a:t>
            </a:r>
            <a:br>
              <a:rPr lang="en-US" altLang="en-US" sz="2700"/>
            </a:br>
            <a:r>
              <a:rPr lang="en-US" altLang="en-US" sz="2700"/>
              <a:t>If price of computers rises, people buy fewer computers, and therefore less software.  </a:t>
            </a:r>
            <a:br>
              <a:rPr lang="en-US" altLang="en-US" sz="2700"/>
            </a:br>
            <a:r>
              <a:rPr lang="en-US" altLang="en-US" sz="2700"/>
              <a:t>Software demand curve shifts left. </a:t>
            </a:r>
          </a:p>
          <a:p>
            <a:pPr marL="290513" indent="-290513" eaLnBrk="1" hangingPunct="1">
              <a:spcBef>
                <a:spcPct val="50000"/>
              </a:spcBef>
            </a:pPr>
            <a:r>
              <a:rPr lang="en-US" altLang="en-US" sz="2700"/>
              <a:t>Other examples: college tuition and textbooks,  </a:t>
            </a:r>
            <a:br>
              <a:rPr lang="en-US" altLang="en-US" sz="2700"/>
            </a:br>
            <a:r>
              <a:rPr lang="en-US" altLang="en-US" sz="2700"/>
              <a:t>bagels and cream cheese, eggs and bacon</a:t>
            </a:r>
          </a:p>
        </p:txBody>
      </p:sp>
      <p:sp>
        <p:nvSpPr>
          <p:cNvPr id="30725" name="Rectangle 3">
            <a:extLst>
              <a:ext uri="{FF2B5EF4-FFF2-40B4-BE49-F238E27FC236}">
                <a16:creationId xmlns:a16="http://schemas.microsoft.com/office/drawing/2014/main" id="{631C7F33-C51F-4535-8860-99766584AC3E}"/>
              </a:ext>
            </a:extLst>
          </p:cNvPr>
          <p:cNvSpPr>
            <a:spLocks noGrp="1" noChangeArrowheads="1"/>
          </p:cNvSpPr>
          <p:nvPr>
            <p:ph type="title" idx="4294967295"/>
          </p:nvPr>
        </p:nvSpPr>
        <p:spPr>
          <a:xfrm>
            <a:off x="457200" y="300038"/>
            <a:ext cx="8337550" cy="1087437"/>
          </a:xfrm>
          <a:noFill/>
        </p:spPr>
        <p:txBody>
          <a:bodyPr/>
          <a:lstStyle/>
          <a:p>
            <a:pPr algn="l" eaLnBrk="1" hangingPunct="1">
              <a:tabLst>
                <a:tab pos="5197475" algn="l"/>
              </a:tabLst>
            </a:pPr>
            <a:r>
              <a:rPr lang="en-US" altLang="en-US" sz="3400"/>
              <a:t>Demand Curve Shifters: </a:t>
            </a:r>
            <a:r>
              <a:rPr lang="en-US" altLang="en-US" sz="3400">
                <a:solidFill>
                  <a:srgbClr val="008080"/>
                </a:solidFill>
              </a:rPr>
              <a:t>	Prices of 	Related Goods</a:t>
            </a:r>
          </a:p>
        </p:txBody>
      </p:sp>
      <p:sp>
        <p:nvSpPr>
          <p:cNvPr id="30726" name="FlagCount" hidden="1">
            <a:hlinkClick r:id="rId3" action="ppaction://hlinkfile"/>
            <a:extLst>
              <a:ext uri="{FF2B5EF4-FFF2-40B4-BE49-F238E27FC236}">
                <a16:creationId xmlns:a16="http://schemas.microsoft.com/office/drawing/2014/main" id="{11BB44F0-6FA5-4322-8DBF-AF81C8BD168C}"/>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Effect transition="in" filter="wipe(left)">
                                      <p:cBhvr>
                                        <p:cTn id="7" dur="500"/>
                                        <p:tgtEl>
                                          <p:spTgt spid="307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4">
                                            <p:txEl>
                                              <p:pRg st="1" end="1"/>
                                            </p:txEl>
                                          </p:spTgt>
                                        </p:tgtEl>
                                        <p:attrNameLst>
                                          <p:attrName>style.visibility</p:attrName>
                                        </p:attrNameLst>
                                      </p:cBhvr>
                                      <p:to>
                                        <p:strVal val="visible"/>
                                      </p:to>
                                    </p:set>
                                    <p:animEffect transition="in" filter="wipe(left)">
                                      <p:cBhvr>
                                        <p:cTn id="12" dur="500"/>
                                        <p:tgtEl>
                                          <p:spTgt spid="307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24">
                                            <p:txEl>
                                              <p:pRg st="2" end="2"/>
                                            </p:txEl>
                                          </p:spTgt>
                                        </p:tgtEl>
                                        <p:attrNameLst>
                                          <p:attrName>style.visibility</p:attrName>
                                        </p:attrNameLst>
                                      </p:cBhvr>
                                      <p:to>
                                        <p:strVal val="visible"/>
                                      </p:to>
                                    </p:set>
                                    <p:animEffect transition="in" filter="wipe(left)">
                                      <p:cBhvr>
                                        <p:cTn id="17" dur="500"/>
                                        <p:tgtEl>
                                          <p:spTgt spid="307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uild="p" bldLvl="4"/>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Footer Placeholder 1">
            <a:extLst>
              <a:ext uri="{FF2B5EF4-FFF2-40B4-BE49-F238E27FC236}">
                <a16:creationId xmlns:a16="http://schemas.microsoft.com/office/drawing/2014/main" id="{0D669CED-99E4-4E7A-9433-89DEDCA05E2E}"/>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32771" name="Slide Number Placeholder 2">
            <a:extLst>
              <a:ext uri="{FF2B5EF4-FFF2-40B4-BE49-F238E27FC236}">
                <a16:creationId xmlns:a16="http://schemas.microsoft.com/office/drawing/2014/main" id="{95C31D53-8DA2-4810-9310-502F48C6FEF8}"/>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EB5802-D834-475B-87D5-E1B45EA282E8}" type="slidenum">
              <a:rPr lang="en-US" altLang="en-US">
                <a:solidFill>
                  <a:srgbClr val="777777"/>
                </a:solidFill>
                <a:latin typeface="Tahoma" panose="020B0604030504040204" pitchFamily="34" charset="0"/>
              </a:rPr>
              <a:pPr/>
              <a:t>14</a:t>
            </a:fld>
            <a:endParaRPr lang="en-US" altLang="en-US">
              <a:solidFill>
                <a:srgbClr val="777777"/>
              </a:solidFill>
              <a:latin typeface="Tahoma" panose="020B0604030504040204" pitchFamily="34" charset="0"/>
            </a:endParaRPr>
          </a:p>
        </p:txBody>
      </p:sp>
      <p:sp>
        <p:nvSpPr>
          <p:cNvPr id="32772" name="Rectangle 2">
            <a:extLst>
              <a:ext uri="{FF2B5EF4-FFF2-40B4-BE49-F238E27FC236}">
                <a16:creationId xmlns:a16="http://schemas.microsoft.com/office/drawing/2014/main" id="{C6AA0C5E-67B6-4E57-B633-72DD64743ADF}"/>
              </a:ext>
            </a:extLst>
          </p:cNvPr>
          <p:cNvSpPr>
            <a:spLocks noGrp="1" noChangeArrowheads="1"/>
          </p:cNvSpPr>
          <p:nvPr>
            <p:ph type="body" idx="4294967295"/>
          </p:nvPr>
        </p:nvSpPr>
        <p:spPr>
          <a:xfrm>
            <a:off x="412750" y="1117600"/>
            <a:ext cx="8274050" cy="4806950"/>
          </a:xfrm>
        </p:spPr>
        <p:txBody>
          <a:bodyPr/>
          <a:lstStyle/>
          <a:p>
            <a:pPr marL="290513" indent="-290513" eaLnBrk="1" hangingPunct="1">
              <a:spcBef>
                <a:spcPct val="55000"/>
              </a:spcBef>
            </a:pPr>
            <a:r>
              <a:rPr lang="en-US" altLang="en-US" sz="2700"/>
              <a:t>Anything that causes a shift in tastes </a:t>
            </a:r>
            <a:r>
              <a:rPr lang="en-US" altLang="en-US" sz="2700" i="1"/>
              <a:t>toward</a:t>
            </a:r>
            <a:r>
              <a:rPr lang="en-US" altLang="en-US" sz="2700"/>
              <a:t> a good will increase demand for that good </a:t>
            </a:r>
            <a:br>
              <a:rPr lang="en-US" altLang="en-US" sz="2700"/>
            </a:br>
            <a:r>
              <a:rPr lang="en-US" altLang="en-US" sz="2700"/>
              <a:t>and shift its </a:t>
            </a:r>
            <a:r>
              <a:rPr lang="en-US" altLang="en-US" sz="2700" b="1" i="1"/>
              <a:t>D</a:t>
            </a:r>
            <a:r>
              <a:rPr lang="en-US" altLang="en-US" sz="2700"/>
              <a:t> curve to the right.</a:t>
            </a:r>
          </a:p>
          <a:p>
            <a:pPr marL="290513" indent="-290513" eaLnBrk="1" hangingPunct="1">
              <a:spcBef>
                <a:spcPct val="55000"/>
              </a:spcBef>
            </a:pPr>
            <a:r>
              <a:rPr lang="en-US" altLang="en-US" sz="2700"/>
              <a:t>Example:  </a:t>
            </a:r>
            <a:br>
              <a:rPr lang="en-US" altLang="en-US" sz="2700"/>
            </a:br>
            <a:r>
              <a:rPr lang="en-US" altLang="en-US" sz="2700"/>
              <a:t>The Atkins diet became popular in the ’90s, </a:t>
            </a:r>
            <a:br>
              <a:rPr lang="en-US" altLang="en-US" sz="2700"/>
            </a:br>
            <a:r>
              <a:rPr lang="en-US" altLang="en-US" sz="2700"/>
              <a:t>caused an increase in demand for eggs, </a:t>
            </a:r>
            <a:br>
              <a:rPr lang="en-US" altLang="en-US" sz="2700"/>
            </a:br>
            <a:r>
              <a:rPr lang="en-US" altLang="en-US" sz="2700"/>
              <a:t>shifted the egg demand curve to the right.  </a:t>
            </a:r>
          </a:p>
        </p:txBody>
      </p:sp>
      <p:sp>
        <p:nvSpPr>
          <p:cNvPr id="32773" name="Rectangle 3">
            <a:extLst>
              <a:ext uri="{FF2B5EF4-FFF2-40B4-BE49-F238E27FC236}">
                <a16:creationId xmlns:a16="http://schemas.microsoft.com/office/drawing/2014/main" id="{E394DA3B-E9A7-42F7-AA75-29E6C87B00EB}"/>
              </a:ext>
            </a:extLst>
          </p:cNvPr>
          <p:cNvSpPr>
            <a:spLocks noGrp="1" noChangeArrowheads="1"/>
          </p:cNvSpPr>
          <p:nvPr>
            <p:ph type="title" idx="4294967295"/>
          </p:nvPr>
        </p:nvSpPr>
        <p:spPr>
          <a:noFill/>
        </p:spPr>
        <p:txBody>
          <a:bodyPr/>
          <a:lstStyle/>
          <a:p>
            <a:pPr algn="l" eaLnBrk="1" hangingPunct="1"/>
            <a:r>
              <a:rPr lang="en-US" altLang="en-US" sz="3400"/>
              <a:t>Demand Curve Shifters:  </a:t>
            </a:r>
            <a:r>
              <a:rPr lang="en-US" altLang="en-US" sz="3400">
                <a:solidFill>
                  <a:srgbClr val="008080"/>
                </a:solidFill>
              </a:rPr>
              <a:t>Tastes</a:t>
            </a:r>
          </a:p>
        </p:txBody>
      </p:sp>
      <p:sp>
        <p:nvSpPr>
          <p:cNvPr id="32774" name="FlagCount" hidden="1">
            <a:hlinkClick r:id="rId3" action="ppaction://hlinkfile"/>
            <a:extLst>
              <a:ext uri="{FF2B5EF4-FFF2-40B4-BE49-F238E27FC236}">
                <a16:creationId xmlns:a16="http://schemas.microsoft.com/office/drawing/2014/main" id="{0E8AD544-AA60-4224-B08F-FFC1E783BE8C}"/>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wipe(left)">
                                      <p:cBhvr>
                                        <p:cTn id="7" dur="500"/>
                                        <p:tgtEl>
                                          <p:spTgt spid="327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2">
                                            <p:txEl>
                                              <p:pRg st="1" end="1"/>
                                            </p:txEl>
                                          </p:spTgt>
                                        </p:tgtEl>
                                        <p:attrNameLst>
                                          <p:attrName>style.visibility</p:attrName>
                                        </p:attrNameLst>
                                      </p:cBhvr>
                                      <p:to>
                                        <p:strVal val="visible"/>
                                      </p:to>
                                    </p:set>
                                    <p:animEffect transition="in" filter="wipe(left)">
                                      <p:cBhvr>
                                        <p:cTn id="12" dur="500"/>
                                        <p:tgtEl>
                                          <p:spTgt spid="327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bldLvl="4"/>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Footer Placeholder 1">
            <a:extLst>
              <a:ext uri="{FF2B5EF4-FFF2-40B4-BE49-F238E27FC236}">
                <a16:creationId xmlns:a16="http://schemas.microsoft.com/office/drawing/2014/main" id="{CF3782D0-2AF9-495A-BA78-1EBA65F810AC}"/>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34819" name="Slide Number Placeholder 2">
            <a:extLst>
              <a:ext uri="{FF2B5EF4-FFF2-40B4-BE49-F238E27FC236}">
                <a16:creationId xmlns:a16="http://schemas.microsoft.com/office/drawing/2014/main" id="{8D58A164-4FFB-4EDB-A42D-1F8323A759C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1082A9-0AF0-46B5-8A54-B1D00F371DD4}" type="slidenum">
              <a:rPr lang="en-US" altLang="en-US">
                <a:solidFill>
                  <a:srgbClr val="777777"/>
                </a:solidFill>
                <a:latin typeface="Tahoma" panose="020B0604030504040204" pitchFamily="34" charset="0"/>
              </a:rPr>
              <a:pPr/>
              <a:t>15</a:t>
            </a:fld>
            <a:endParaRPr lang="en-US" altLang="en-US">
              <a:solidFill>
                <a:srgbClr val="777777"/>
              </a:solidFill>
              <a:latin typeface="Tahoma" panose="020B0604030504040204" pitchFamily="34" charset="0"/>
            </a:endParaRPr>
          </a:p>
        </p:txBody>
      </p:sp>
      <p:sp>
        <p:nvSpPr>
          <p:cNvPr id="34820" name="Rectangle 2">
            <a:extLst>
              <a:ext uri="{FF2B5EF4-FFF2-40B4-BE49-F238E27FC236}">
                <a16:creationId xmlns:a16="http://schemas.microsoft.com/office/drawing/2014/main" id="{A8EEE934-BBEC-4E63-93F1-05668621175D}"/>
              </a:ext>
            </a:extLst>
          </p:cNvPr>
          <p:cNvSpPr>
            <a:spLocks noGrp="1" noChangeArrowheads="1"/>
          </p:cNvSpPr>
          <p:nvPr>
            <p:ph type="body" idx="4294967295"/>
          </p:nvPr>
        </p:nvSpPr>
        <p:spPr>
          <a:xfrm>
            <a:off x="430213" y="1020763"/>
            <a:ext cx="8208962" cy="4884737"/>
          </a:xfrm>
        </p:spPr>
        <p:txBody>
          <a:bodyPr/>
          <a:lstStyle/>
          <a:p>
            <a:pPr marL="290513" indent="-290513" eaLnBrk="1" hangingPunct="1">
              <a:spcBef>
                <a:spcPct val="65000"/>
              </a:spcBef>
            </a:pPr>
            <a:r>
              <a:rPr lang="en-US" altLang="en-US"/>
              <a:t>Expectations affect consumers’ buying decisions.</a:t>
            </a:r>
          </a:p>
          <a:p>
            <a:pPr marL="290513" indent="-290513" eaLnBrk="1" hangingPunct="1">
              <a:spcBef>
                <a:spcPct val="40000"/>
              </a:spcBef>
            </a:pPr>
            <a:r>
              <a:rPr lang="en-US" altLang="en-US"/>
              <a:t>Examples:  </a:t>
            </a:r>
          </a:p>
          <a:p>
            <a:pPr lvl="1" eaLnBrk="1" hangingPunct="1">
              <a:lnSpc>
                <a:spcPct val="105000"/>
              </a:lnSpc>
              <a:spcBef>
                <a:spcPct val="35000"/>
              </a:spcBef>
            </a:pPr>
            <a:r>
              <a:rPr lang="en-US" altLang="en-US" sz="2800"/>
              <a:t>If people expect their incomes to rise, </a:t>
            </a:r>
            <a:br>
              <a:rPr lang="en-US" altLang="en-US" sz="2800"/>
            </a:br>
            <a:r>
              <a:rPr lang="en-US" altLang="en-US" sz="2800"/>
              <a:t>their demand for meals at expensive restaurants may increase now.</a:t>
            </a:r>
          </a:p>
          <a:p>
            <a:pPr lvl="1" eaLnBrk="1" hangingPunct="1">
              <a:lnSpc>
                <a:spcPct val="105000"/>
              </a:lnSpc>
              <a:spcBef>
                <a:spcPct val="35000"/>
              </a:spcBef>
            </a:pPr>
            <a:r>
              <a:rPr lang="en-US" altLang="en-US" sz="2800"/>
              <a:t>If the economy sours and people worry about their future job security, demand for new autos may fall now.  </a:t>
            </a:r>
          </a:p>
        </p:txBody>
      </p:sp>
      <p:sp>
        <p:nvSpPr>
          <p:cNvPr id="34821" name="Rectangle 3">
            <a:extLst>
              <a:ext uri="{FF2B5EF4-FFF2-40B4-BE49-F238E27FC236}">
                <a16:creationId xmlns:a16="http://schemas.microsoft.com/office/drawing/2014/main" id="{02012968-0CF7-4E3C-AD47-BBDA98FD4040}"/>
              </a:ext>
            </a:extLst>
          </p:cNvPr>
          <p:cNvSpPr>
            <a:spLocks noGrp="1" noChangeArrowheads="1"/>
          </p:cNvSpPr>
          <p:nvPr>
            <p:ph type="title" idx="4294967295"/>
          </p:nvPr>
        </p:nvSpPr>
        <p:spPr>
          <a:noFill/>
        </p:spPr>
        <p:txBody>
          <a:bodyPr/>
          <a:lstStyle/>
          <a:p>
            <a:pPr algn="l" eaLnBrk="1" hangingPunct="1"/>
            <a:r>
              <a:rPr lang="en-US" altLang="en-US" sz="3400"/>
              <a:t>Demand Curve Shifters: </a:t>
            </a:r>
            <a:r>
              <a:rPr lang="en-US" altLang="en-US" sz="3400">
                <a:solidFill>
                  <a:srgbClr val="008080"/>
                </a:solidFill>
              </a:rPr>
              <a:t> Expectations</a:t>
            </a:r>
          </a:p>
        </p:txBody>
      </p:sp>
      <p:sp>
        <p:nvSpPr>
          <p:cNvPr id="34822" name="FlagCount" hidden="1">
            <a:hlinkClick r:id="rId3" action="ppaction://hlinkfile"/>
            <a:extLst>
              <a:ext uri="{FF2B5EF4-FFF2-40B4-BE49-F238E27FC236}">
                <a16:creationId xmlns:a16="http://schemas.microsoft.com/office/drawing/2014/main" id="{5BD7D2E5-993A-44DA-96EC-EE965E05D4D7}"/>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animEffect transition="in" filter="wipe(left)">
                                      <p:cBhvr>
                                        <p:cTn id="7" dur="500"/>
                                        <p:tgtEl>
                                          <p:spTgt spid="348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0">
                                            <p:txEl>
                                              <p:pRg st="1" end="1"/>
                                            </p:txEl>
                                          </p:spTgt>
                                        </p:tgtEl>
                                        <p:attrNameLst>
                                          <p:attrName>style.visibility</p:attrName>
                                        </p:attrNameLst>
                                      </p:cBhvr>
                                      <p:to>
                                        <p:strVal val="visible"/>
                                      </p:to>
                                    </p:set>
                                    <p:animEffect transition="in" filter="wipe(left)">
                                      <p:cBhvr>
                                        <p:cTn id="12" dur="500"/>
                                        <p:tgtEl>
                                          <p:spTgt spid="348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0">
                                            <p:txEl>
                                              <p:pRg st="2" end="2"/>
                                            </p:txEl>
                                          </p:spTgt>
                                        </p:tgtEl>
                                        <p:attrNameLst>
                                          <p:attrName>style.visibility</p:attrName>
                                        </p:attrNameLst>
                                      </p:cBhvr>
                                      <p:to>
                                        <p:strVal val="visible"/>
                                      </p:to>
                                    </p:set>
                                    <p:animEffect transition="in" filter="wipe(left)">
                                      <p:cBhvr>
                                        <p:cTn id="17" dur="500"/>
                                        <p:tgtEl>
                                          <p:spTgt spid="348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20">
                                            <p:txEl>
                                              <p:pRg st="3" end="3"/>
                                            </p:txEl>
                                          </p:spTgt>
                                        </p:tgtEl>
                                        <p:attrNameLst>
                                          <p:attrName>style.visibility</p:attrName>
                                        </p:attrNameLst>
                                      </p:cBhvr>
                                      <p:to>
                                        <p:strVal val="visible"/>
                                      </p:to>
                                    </p:set>
                                    <p:animEffect transition="in" filter="wipe(left)">
                                      <p:cBhvr>
                                        <p:cTn id="22" dur="500"/>
                                        <p:tgtEl>
                                          <p:spTgt spid="348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uild="p" bldLvl="4"/>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Footer Placeholder 1">
            <a:extLst>
              <a:ext uri="{FF2B5EF4-FFF2-40B4-BE49-F238E27FC236}">
                <a16:creationId xmlns:a16="http://schemas.microsoft.com/office/drawing/2014/main" id="{2A5023CC-41E0-471A-900D-091D7D4C7A25}"/>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36867" name="Slide Number Placeholder 2">
            <a:extLst>
              <a:ext uri="{FF2B5EF4-FFF2-40B4-BE49-F238E27FC236}">
                <a16:creationId xmlns:a16="http://schemas.microsoft.com/office/drawing/2014/main" id="{C61BF57C-0ACC-47E1-B20A-BCBEF6A4B694}"/>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715DCD-7D89-44E1-AB77-CADFBB5DFFB8}" type="slidenum">
              <a:rPr lang="en-US" altLang="en-US">
                <a:solidFill>
                  <a:srgbClr val="777777"/>
                </a:solidFill>
                <a:latin typeface="Tahoma" panose="020B0604030504040204" pitchFamily="34" charset="0"/>
              </a:rPr>
              <a:pPr/>
              <a:t>16</a:t>
            </a:fld>
            <a:endParaRPr lang="en-US" altLang="en-US">
              <a:solidFill>
                <a:srgbClr val="777777"/>
              </a:solidFill>
              <a:latin typeface="Tahoma" panose="020B0604030504040204" pitchFamily="34" charset="0"/>
            </a:endParaRPr>
          </a:p>
        </p:txBody>
      </p:sp>
      <p:sp>
        <p:nvSpPr>
          <p:cNvPr id="36868" name="Rectangle 2">
            <a:extLst>
              <a:ext uri="{FF2B5EF4-FFF2-40B4-BE49-F238E27FC236}">
                <a16:creationId xmlns:a16="http://schemas.microsoft.com/office/drawing/2014/main" id="{F85F65F1-79B8-470A-B325-C6650C86AF81}"/>
              </a:ext>
            </a:extLst>
          </p:cNvPr>
          <p:cNvSpPr>
            <a:spLocks noChangeArrowheads="1"/>
          </p:cNvSpPr>
          <p:nvPr/>
        </p:nvSpPr>
        <p:spPr bwMode="auto">
          <a:xfrm>
            <a:off x="666750" y="987425"/>
            <a:ext cx="7359650" cy="5283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36869" name="Rectangle 3">
            <a:extLst>
              <a:ext uri="{FF2B5EF4-FFF2-40B4-BE49-F238E27FC236}">
                <a16:creationId xmlns:a16="http://schemas.microsoft.com/office/drawing/2014/main" id="{FB2E1563-CEB0-4A8A-A427-6EA184B04DA1}"/>
              </a:ext>
            </a:extLst>
          </p:cNvPr>
          <p:cNvSpPr>
            <a:spLocks noGrp="1" noChangeArrowheads="1"/>
          </p:cNvSpPr>
          <p:nvPr>
            <p:ph type="title" idx="4294967295"/>
          </p:nvPr>
        </p:nvSpPr>
        <p:spPr>
          <a:xfrm>
            <a:off x="185738" y="254000"/>
            <a:ext cx="8709025" cy="635000"/>
          </a:xfrm>
        </p:spPr>
        <p:txBody>
          <a:bodyPr/>
          <a:lstStyle/>
          <a:p>
            <a:pPr eaLnBrk="1" hangingPunct="1"/>
            <a:r>
              <a:rPr lang="en-US" altLang="en-US" sz="3100"/>
              <a:t>Summary:  Variables That Influence Buyers</a:t>
            </a:r>
          </a:p>
        </p:txBody>
      </p:sp>
      <p:sp>
        <p:nvSpPr>
          <p:cNvPr id="36870" name="Rectangle 4">
            <a:extLst>
              <a:ext uri="{FF2B5EF4-FFF2-40B4-BE49-F238E27FC236}">
                <a16:creationId xmlns:a16="http://schemas.microsoft.com/office/drawing/2014/main" id="{E0580E43-FB1F-4766-9343-30653C239778}"/>
              </a:ext>
            </a:extLst>
          </p:cNvPr>
          <p:cNvSpPr>
            <a:spLocks noGrp="1" noChangeArrowheads="1"/>
          </p:cNvSpPr>
          <p:nvPr>
            <p:ph type="body" idx="4294967295"/>
          </p:nvPr>
        </p:nvSpPr>
        <p:spPr>
          <a:xfrm>
            <a:off x="661988" y="1023938"/>
            <a:ext cx="7726362" cy="534987"/>
          </a:xfrm>
        </p:spPr>
        <p:txBody>
          <a:bodyPr/>
          <a:lstStyle/>
          <a:p>
            <a:pPr marL="0" indent="0" eaLnBrk="1" hangingPunct="1">
              <a:buFont typeface="Wingdings" panose="05000000000000000000" pitchFamily="2" charset="2"/>
              <a:buNone/>
              <a:tabLst>
                <a:tab pos="2684463" algn="l"/>
              </a:tabLst>
            </a:pPr>
            <a:r>
              <a:rPr lang="en-US" altLang="en-US" sz="2700" b="1"/>
              <a:t>Variable	A change in this variable… </a:t>
            </a:r>
          </a:p>
        </p:txBody>
      </p:sp>
      <p:sp>
        <p:nvSpPr>
          <p:cNvPr id="87045" name="Rectangle 5">
            <a:extLst>
              <a:ext uri="{FF2B5EF4-FFF2-40B4-BE49-F238E27FC236}">
                <a16:creationId xmlns:a16="http://schemas.microsoft.com/office/drawing/2014/main" id="{F1E4CFF4-C2B9-46BD-8F85-3A0F1CB9ED8F}"/>
              </a:ext>
            </a:extLst>
          </p:cNvPr>
          <p:cNvSpPr>
            <a:spLocks noChangeArrowheads="1"/>
          </p:cNvSpPr>
          <p:nvPr/>
        </p:nvSpPr>
        <p:spPr bwMode="auto">
          <a:xfrm>
            <a:off x="863600" y="1711325"/>
            <a:ext cx="7142163"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tabLst>
                <a:tab pos="2684463" algn="l"/>
              </a:tabLst>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tabLst>
                <a:tab pos="2684463" algn="l"/>
              </a:tabLst>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tabLst>
                <a:tab pos="2684463" algn="l"/>
              </a:tabLst>
              <a:defRPr sz="2500">
                <a:solidFill>
                  <a:schemeClr val="tx1"/>
                </a:solidFill>
                <a:latin typeface="Arial" panose="020B0604020202020204" pitchFamily="34" charset="0"/>
              </a:defRPr>
            </a:lvl3pPr>
            <a:lvl4pPr marL="1600200" indent="-228600">
              <a:spcBef>
                <a:spcPct val="15000"/>
              </a:spcBef>
              <a:buChar char="–"/>
              <a:tabLst>
                <a:tab pos="2684463" algn="l"/>
              </a:tabLst>
              <a:defRPr sz="2000">
                <a:solidFill>
                  <a:schemeClr val="tx1"/>
                </a:solidFill>
                <a:latin typeface="Arial" panose="020B0604020202020204" pitchFamily="34" charset="0"/>
              </a:defRPr>
            </a:lvl4pPr>
            <a:lvl5pPr marL="2057400" indent="-228600">
              <a:spcBef>
                <a:spcPct val="20000"/>
              </a:spcBef>
              <a:buChar char="»"/>
              <a:tabLst>
                <a:tab pos="26844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9pPr>
          </a:lstStyle>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Price	…causes a movement </a:t>
            </a:r>
            <a:br>
              <a:rPr lang="en-US" altLang="en-US" sz="2700">
                <a:cs typeface="Arial" panose="020B0604020202020204" pitchFamily="34" charset="0"/>
              </a:rPr>
            </a:br>
            <a:r>
              <a:rPr lang="en-US" altLang="en-US" sz="2700">
                <a:cs typeface="Arial" panose="020B0604020202020204" pitchFamily="34" charset="0"/>
              </a:rPr>
              <a:t>	    along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 of buyers	…shifts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Income	…shifts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Price of</a:t>
            </a:r>
            <a:br>
              <a:rPr lang="en-US" altLang="en-US" sz="2700">
                <a:cs typeface="Arial" panose="020B0604020202020204" pitchFamily="34" charset="0"/>
              </a:rPr>
            </a:br>
            <a:r>
              <a:rPr lang="en-US" altLang="en-US" sz="2700">
                <a:cs typeface="Arial" panose="020B0604020202020204" pitchFamily="34" charset="0"/>
              </a:rPr>
              <a:t>related goods	…shifts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Tastes	…shifts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Expectations	…shifts the </a:t>
            </a:r>
            <a:r>
              <a:rPr lang="en-US" altLang="en-US" sz="2700" b="1" i="1">
                <a:cs typeface="Arial" panose="020B0604020202020204" pitchFamily="34" charset="0"/>
              </a:rPr>
              <a:t>D</a:t>
            </a:r>
            <a:r>
              <a:rPr lang="en-US" altLang="en-US" sz="2700">
                <a:cs typeface="Arial" panose="020B0604020202020204" pitchFamily="34" charset="0"/>
              </a:rPr>
              <a:t> curve</a:t>
            </a:r>
          </a:p>
        </p:txBody>
      </p:sp>
      <p:sp>
        <p:nvSpPr>
          <p:cNvPr id="36872" name="Line 6">
            <a:extLst>
              <a:ext uri="{FF2B5EF4-FFF2-40B4-BE49-F238E27FC236}">
                <a16:creationId xmlns:a16="http://schemas.microsoft.com/office/drawing/2014/main" id="{4AB99FCA-D45B-4CD9-B4D0-3163A334A301}"/>
              </a:ext>
            </a:extLst>
          </p:cNvPr>
          <p:cNvSpPr>
            <a:spLocks noChangeShapeType="1"/>
          </p:cNvSpPr>
          <p:nvPr/>
        </p:nvSpPr>
        <p:spPr bwMode="auto">
          <a:xfrm>
            <a:off x="850900" y="1624013"/>
            <a:ext cx="6981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3" name="FlagCount" hidden="1">
            <a:hlinkClick r:id="rId3" action="ppaction://hlinkfile"/>
            <a:extLst>
              <a:ext uri="{FF2B5EF4-FFF2-40B4-BE49-F238E27FC236}">
                <a16:creationId xmlns:a16="http://schemas.microsoft.com/office/drawing/2014/main" id="{74927AE1-59D5-46F9-89EB-DC1C9756A493}"/>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45">
                                            <p:txEl>
                                              <p:pRg st="0" end="0"/>
                                            </p:txEl>
                                          </p:spTgt>
                                        </p:tgtEl>
                                        <p:attrNameLst>
                                          <p:attrName>style.visibility</p:attrName>
                                        </p:attrNameLst>
                                      </p:cBhvr>
                                      <p:to>
                                        <p:strVal val="visible"/>
                                      </p:to>
                                    </p:set>
                                    <p:animEffect transition="in" filter="wipe(left)">
                                      <p:cBhvr>
                                        <p:cTn id="7" dur="500"/>
                                        <p:tgtEl>
                                          <p:spTgt spid="870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45">
                                            <p:txEl>
                                              <p:pRg st="1" end="1"/>
                                            </p:txEl>
                                          </p:spTgt>
                                        </p:tgtEl>
                                        <p:attrNameLst>
                                          <p:attrName>style.visibility</p:attrName>
                                        </p:attrNameLst>
                                      </p:cBhvr>
                                      <p:to>
                                        <p:strVal val="visible"/>
                                      </p:to>
                                    </p:set>
                                    <p:animEffect transition="in" filter="wipe(left)">
                                      <p:cBhvr>
                                        <p:cTn id="12" dur="500"/>
                                        <p:tgtEl>
                                          <p:spTgt spid="8704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045">
                                            <p:txEl>
                                              <p:pRg st="2" end="2"/>
                                            </p:txEl>
                                          </p:spTgt>
                                        </p:tgtEl>
                                        <p:attrNameLst>
                                          <p:attrName>style.visibility</p:attrName>
                                        </p:attrNameLst>
                                      </p:cBhvr>
                                      <p:to>
                                        <p:strVal val="visible"/>
                                      </p:to>
                                    </p:set>
                                    <p:animEffect transition="in" filter="wipe(left)">
                                      <p:cBhvr>
                                        <p:cTn id="17" dur="500"/>
                                        <p:tgtEl>
                                          <p:spTgt spid="8704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045">
                                            <p:txEl>
                                              <p:pRg st="3" end="3"/>
                                            </p:txEl>
                                          </p:spTgt>
                                        </p:tgtEl>
                                        <p:attrNameLst>
                                          <p:attrName>style.visibility</p:attrName>
                                        </p:attrNameLst>
                                      </p:cBhvr>
                                      <p:to>
                                        <p:strVal val="visible"/>
                                      </p:to>
                                    </p:set>
                                    <p:animEffect transition="in" filter="wipe(left)">
                                      <p:cBhvr>
                                        <p:cTn id="22" dur="500"/>
                                        <p:tgtEl>
                                          <p:spTgt spid="8704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045">
                                            <p:txEl>
                                              <p:pRg st="4" end="4"/>
                                            </p:txEl>
                                          </p:spTgt>
                                        </p:tgtEl>
                                        <p:attrNameLst>
                                          <p:attrName>style.visibility</p:attrName>
                                        </p:attrNameLst>
                                      </p:cBhvr>
                                      <p:to>
                                        <p:strVal val="visible"/>
                                      </p:to>
                                    </p:set>
                                    <p:animEffect transition="in" filter="wipe(left)">
                                      <p:cBhvr>
                                        <p:cTn id="27" dur="500"/>
                                        <p:tgtEl>
                                          <p:spTgt spid="8704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7045">
                                            <p:txEl>
                                              <p:pRg st="5" end="5"/>
                                            </p:txEl>
                                          </p:spTgt>
                                        </p:tgtEl>
                                        <p:attrNameLst>
                                          <p:attrName>style.visibility</p:attrName>
                                        </p:attrNameLst>
                                      </p:cBhvr>
                                      <p:to>
                                        <p:strVal val="visible"/>
                                      </p:to>
                                    </p:set>
                                    <p:animEffect transition="in" filter="wipe(left)">
                                      <p:cBhvr>
                                        <p:cTn id="32" dur="500"/>
                                        <p:tgtEl>
                                          <p:spTgt spid="870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5D71F91-3960-4483-B430-11B8C2BE7545}"/>
              </a:ext>
            </a:extLst>
          </p:cNvPr>
          <p:cNvSpPr>
            <a:spLocks noGrp="1" noChangeArrowheads="1"/>
          </p:cNvSpPr>
          <p:nvPr>
            <p:ph type="body" idx="1"/>
          </p:nvPr>
        </p:nvSpPr>
        <p:spPr>
          <a:xfrm>
            <a:off x="625475" y="2933700"/>
            <a:ext cx="4005263" cy="3157538"/>
          </a:xfrm>
        </p:spPr>
        <p:txBody>
          <a:bodyPr/>
          <a:lstStyle/>
          <a:p>
            <a:pPr marL="517525" indent="-517525" eaLnBrk="1" hangingPunct="1">
              <a:buSzPct val="115000"/>
              <a:buFont typeface="Wingdings" panose="05000000000000000000" pitchFamily="2" charset="2"/>
              <a:buNone/>
            </a:pPr>
            <a:r>
              <a:rPr lang="en-US" altLang="en-US" sz="2600" b="1">
                <a:solidFill>
                  <a:srgbClr val="339966"/>
                </a:solidFill>
              </a:rPr>
              <a:t>A.	</a:t>
            </a:r>
            <a:r>
              <a:rPr lang="en-US" altLang="en-US" sz="2700"/>
              <a:t>The price of iPods falls</a:t>
            </a:r>
          </a:p>
          <a:p>
            <a:pPr marL="517525" indent="-517525" eaLnBrk="1" hangingPunct="1">
              <a:buSzPct val="115000"/>
              <a:buFont typeface="Wingdings" panose="05000000000000000000" pitchFamily="2" charset="2"/>
              <a:buNone/>
            </a:pPr>
            <a:r>
              <a:rPr lang="en-US" altLang="en-US" sz="2600" b="1">
                <a:solidFill>
                  <a:srgbClr val="339966"/>
                </a:solidFill>
              </a:rPr>
              <a:t>B.	</a:t>
            </a:r>
            <a:r>
              <a:rPr lang="en-US" altLang="en-US" sz="2700"/>
              <a:t>The price of music downloads falls</a:t>
            </a:r>
          </a:p>
          <a:p>
            <a:pPr marL="517525" indent="-517525" eaLnBrk="1" hangingPunct="1">
              <a:buSzPct val="115000"/>
              <a:buFont typeface="Wingdings" panose="05000000000000000000" pitchFamily="2" charset="2"/>
              <a:buNone/>
            </a:pPr>
            <a:r>
              <a:rPr lang="en-US" altLang="en-US" sz="2600" b="1">
                <a:solidFill>
                  <a:srgbClr val="339966"/>
                </a:solidFill>
              </a:rPr>
              <a:t>C.	</a:t>
            </a:r>
            <a:r>
              <a:rPr lang="en-US" altLang="en-US" sz="2700"/>
              <a:t>The price of CDs falls</a:t>
            </a:r>
          </a:p>
        </p:txBody>
      </p:sp>
      <p:sp>
        <p:nvSpPr>
          <p:cNvPr id="38915" name="Rectangle 8">
            <a:extLst>
              <a:ext uri="{FF2B5EF4-FFF2-40B4-BE49-F238E27FC236}">
                <a16:creationId xmlns:a16="http://schemas.microsoft.com/office/drawing/2014/main" id="{3CAE2BEC-2E98-4790-BB11-0ED9A1F15F19}"/>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7479235A-0435-4C90-ACD9-91ED311789E8}"/>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1</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Demand Curve</a:t>
            </a:r>
          </a:p>
        </p:txBody>
      </p:sp>
      <p:grpSp>
        <p:nvGrpSpPr>
          <p:cNvPr id="38917" name="Group 11">
            <a:extLst>
              <a:ext uri="{FF2B5EF4-FFF2-40B4-BE49-F238E27FC236}">
                <a16:creationId xmlns:a16="http://schemas.microsoft.com/office/drawing/2014/main" id="{CD2A9CA1-AFED-4E4B-A862-341129FB96AF}"/>
              </a:ext>
            </a:extLst>
          </p:cNvPr>
          <p:cNvGrpSpPr>
            <a:grpSpLocks/>
          </p:cNvGrpSpPr>
          <p:nvPr/>
        </p:nvGrpSpPr>
        <p:grpSpPr bwMode="auto">
          <a:xfrm>
            <a:off x="593725" y="290513"/>
            <a:ext cx="8210550" cy="1049337"/>
            <a:chOff x="374" y="183"/>
            <a:chExt cx="5000" cy="661"/>
          </a:xfrm>
        </p:grpSpPr>
        <p:sp>
          <p:nvSpPr>
            <p:cNvPr id="38920" name="Line 9">
              <a:extLst>
                <a:ext uri="{FF2B5EF4-FFF2-40B4-BE49-F238E27FC236}">
                  <a16:creationId xmlns:a16="http://schemas.microsoft.com/office/drawing/2014/main" id="{3CF3D196-54D6-4A95-A144-8548E11DB67E}"/>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1" name="Line 10">
              <a:extLst>
                <a:ext uri="{FF2B5EF4-FFF2-40B4-BE49-F238E27FC236}">
                  <a16:creationId xmlns:a16="http://schemas.microsoft.com/office/drawing/2014/main" id="{25EA00BF-7659-4CC2-9D21-2477FA6015CE}"/>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8918" name="Rectangle 8">
            <a:extLst>
              <a:ext uri="{FF2B5EF4-FFF2-40B4-BE49-F238E27FC236}">
                <a16:creationId xmlns:a16="http://schemas.microsoft.com/office/drawing/2014/main" id="{53B3D6EC-B817-4BBF-BA7B-196E445D15B2}"/>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E677037-B4E4-48A8-9C89-CDC2A1995A81}" type="slidenum">
              <a:rPr lang="en-US" altLang="en-US" sz="1700">
                <a:solidFill>
                  <a:srgbClr val="777777"/>
                </a:solidFill>
                <a:latin typeface="Tahoma" panose="020B0604030504040204" pitchFamily="34" charset="0"/>
              </a:rPr>
              <a:pPr algn="r" eaLnBrk="1" hangingPunct="1"/>
              <a:t>17</a:t>
            </a:fld>
            <a:endParaRPr lang="en-US" altLang="en-US" sz="1700">
              <a:solidFill>
                <a:srgbClr val="777777"/>
              </a:solidFill>
              <a:latin typeface="Tahoma" panose="020B0604030504040204" pitchFamily="34" charset="0"/>
            </a:endParaRPr>
          </a:p>
        </p:txBody>
      </p:sp>
      <p:sp>
        <p:nvSpPr>
          <p:cNvPr id="38919" name="Rectangle 7">
            <a:extLst>
              <a:ext uri="{FF2B5EF4-FFF2-40B4-BE49-F238E27FC236}">
                <a16:creationId xmlns:a16="http://schemas.microsoft.com/office/drawing/2014/main" id="{877E1526-CC32-4735-8513-BDD640BDD92A}"/>
              </a:ext>
            </a:extLst>
          </p:cNvPr>
          <p:cNvSpPr>
            <a:spLocks noChangeArrowheads="1"/>
          </p:cNvSpPr>
          <p:nvPr/>
        </p:nvSpPr>
        <p:spPr bwMode="auto">
          <a:xfrm>
            <a:off x="617538" y="1381125"/>
            <a:ext cx="7646987"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60000"/>
              </a:spcBef>
              <a:buClr>
                <a:srgbClr val="00B85C"/>
              </a:buClr>
              <a:buFont typeface="Wingdings" panose="05000000000000000000" pitchFamily="2" charset="2"/>
              <a:buNone/>
            </a:pPr>
            <a:r>
              <a:rPr lang="en-US" altLang="en-US" sz="2700">
                <a:cs typeface="Arial" panose="020B0604020202020204" pitchFamily="34" charset="0"/>
              </a:rPr>
              <a:t>Draw a demand curve for music downloads.  What happens to it in each of </a:t>
            </a:r>
            <a:br>
              <a:rPr lang="en-US" altLang="en-US" sz="2700">
                <a:cs typeface="Arial" panose="020B0604020202020204" pitchFamily="34" charset="0"/>
              </a:rPr>
            </a:br>
            <a:r>
              <a:rPr lang="en-US" altLang="en-US" sz="2700">
                <a:cs typeface="Arial" panose="020B0604020202020204" pitchFamily="34" charset="0"/>
              </a:rPr>
              <a:t>the following scenarios?  Why?</a:t>
            </a:r>
          </a:p>
        </p:txBody>
      </p:sp>
    </p:spTree>
  </p:cSld>
  <p:clrMapOvr>
    <a:masterClrMapping/>
  </p:clrMapOvr>
  <p:transition spd="med">
    <p:diamond/>
  </p:transition>
</p:sld>
</file>

<file path=ppt/slides/slide19.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40962" name="Rectangle 8">
            <a:extLst>
              <a:ext uri="{FF2B5EF4-FFF2-40B4-BE49-F238E27FC236}">
                <a16:creationId xmlns:a16="http://schemas.microsoft.com/office/drawing/2014/main" id="{B0A38C52-C745-48E9-9BE2-0DCD1344ECD9}"/>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A246F678-EB62-4C33-8857-251444E59C23}"/>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1</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A.  Price of iPods falls</a:t>
            </a:r>
          </a:p>
        </p:txBody>
      </p:sp>
      <p:grpSp>
        <p:nvGrpSpPr>
          <p:cNvPr id="40964" name="Group 11">
            <a:extLst>
              <a:ext uri="{FF2B5EF4-FFF2-40B4-BE49-F238E27FC236}">
                <a16:creationId xmlns:a16="http://schemas.microsoft.com/office/drawing/2014/main" id="{42FEE27A-A713-4123-BDAB-42813528C442}"/>
              </a:ext>
            </a:extLst>
          </p:cNvPr>
          <p:cNvGrpSpPr>
            <a:grpSpLocks/>
          </p:cNvGrpSpPr>
          <p:nvPr/>
        </p:nvGrpSpPr>
        <p:grpSpPr bwMode="auto">
          <a:xfrm>
            <a:off x="593725" y="290513"/>
            <a:ext cx="8210550" cy="1049337"/>
            <a:chOff x="374" y="183"/>
            <a:chExt cx="5000" cy="661"/>
          </a:xfrm>
        </p:grpSpPr>
        <p:sp>
          <p:nvSpPr>
            <p:cNvPr id="40994" name="Line 9">
              <a:extLst>
                <a:ext uri="{FF2B5EF4-FFF2-40B4-BE49-F238E27FC236}">
                  <a16:creationId xmlns:a16="http://schemas.microsoft.com/office/drawing/2014/main" id="{BE8A4685-F7C2-4A4B-8639-AC1F8801DB68}"/>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95" name="Line 10">
              <a:extLst>
                <a:ext uri="{FF2B5EF4-FFF2-40B4-BE49-F238E27FC236}">
                  <a16:creationId xmlns:a16="http://schemas.microsoft.com/office/drawing/2014/main" id="{12EBB1C9-8D42-484D-8BE5-DCB8519F2B8A}"/>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965" name="Rectangle 8">
            <a:extLst>
              <a:ext uri="{FF2B5EF4-FFF2-40B4-BE49-F238E27FC236}">
                <a16:creationId xmlns:a16="http://schemas.microsoft.com/office/drawing/2014/main" id="{7D82D776-C848-4DEB-84E2-03DAB5FAEB48}"/>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4DDA444-AF39-4B6F-870A-D24EE411E398}" type="slidenum">
              <a:rPr lang="en-US" altLang="en-US" sz="1700">
                <a:solidFill>
                  <a:srgbClr val="777777"/>
                </a:solidFill>
                <a:latin typeface="Tahoma" panose="020B0604030504040204" pitchFamily="34" charset="0"/>
              </a:rPr>
              <a:pPr algn="r" eaLnBrk="1" hangingPunct="1"/>
              <a:t>18</a:t>
            </a:fld>
            <a:endParaRPr lang="en-US" altLang="en-US" sz="1700">
              <a:solidFill>
                <a:srgbClr val="777777"/>
              </a:solidFill>
              <a:latin typeface="Tahoma" panose="020B0604030504040204" pitchFamily="34" charset="0"/>
            </a:endParaRPr>
          </a:p>
        </p:txBody>
      </p:sp>
      <p:grpSp>
        <p:nvGrpSpPr>
          <p:cNvPr id="3" name="Group 8">
            <a:extLst>
              <a:ext uri="{FF2B5EF4-FFF2-40B4-BE49-F238E27FC236}">
                <a16:creationId xmlns:a16="http://schemas.microsoft.com/office/drawing/2014/main" id="{18EDC768-15C3-409C-807A-CBBD2AEE7775}"/>
              </a:ext>
            </a:extLst>
          </p:cNvPr>
          <p:cNvGrpSpPr>
            <a:grpSpLocks/>
          </p:cNvGrpSpPr>
          <p:nvPr/>
        </p:nvGrpSpPr>
        <p:grpSpPr bwMode="auto">
          <a:xfrm>
            <a:off x="2951163" y="3543300"/>
            <a:ext cx="1254125" cy="2365375"/>
            <a:chOff x="1859" y="2232"/>
            <a:chExt cx="790" cy="1490"/>
          </a:xfrm>
        </p:grpSpPr>
        <p:grpSp>
          <p:nvGrpSpPr>
            <p:cNvPr id="40990" name="Group 9">
              <a:extLst>
                <a:ext uri="{FF2B5EF4-FFF2-40B4-BE49-F238E27FC236}">
                  <a16:creationId xmlns:a16="http://schemas.microsoft.com/office/drawing/2014/main" id="{5159A5FA-AB62-4439-9B11-2665C655555D}"/>
                </a:ext>
              </a:extLst>
            </p:cNvPr>
            <p:cNvGrpSpPr>
              <a:grpSpLocks/>
            </p:cNvGrpSpPr>
            <p:nvPr/>
          </p:nvGrpSpPr>
          <p:grpSpPr bwMode="auto">
            <a:xfrm>
              <a:off x="1859" y="2232"/>
              <a:ext cx="599" cy="1243"/>
              <a:chOff x="357" y="2450"/>
              <a:chExt cx="795" cy="646"/>
            </a:xfrm>
          </p:grpSpPr>
          <p:sp>
            <p:nvSpPr>
              <p:cNvPr id="40992" name="Line 10">
                <a:extLst>
                  <a:ext uri="{FF2B5EF4-FFF2-40B4-BE49-F238E27FC236}">
                    <a16:creationId xmlns:a16="http://schemas.microsoft.com/office/drawing/2014/main" id="{766ED827-6D8F-4F63-81F3-E9A30A8984B8}"/>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0993" name="Line 11">
                <a:extLst>
                  <a:ext uri="{FF2B5EF4-FFF2-40B4-BE49-F238E27FC236}">
                    <a16:creationId xmlns:a16="http://schemas.microsoft.com/office/drawing/2014/main" id="{FF579652-AF24-435F-B952-40067CAD1421}"/>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991" name="Text Box 12">
              <a:extLst>
                <a:ext uri="{FF2B5EF4-FFF2-40B4-BE49-F238E27FC236}">
                  <a16:creationId xmlns:a16="http://schemas.microsoft.com/office/drawing/2014/main" id="{61FC4DC3-9E7B-4345-9398-930387C3E1AB}"/>
                </a:ext>
              </a:extLst>
            </p:cNvPr>
            <p:cNvSpPr txBox="1">
              <a:spLocks noChangeArrowheads="1"/>
            </p:cNvSpPr>
            <p:nvPr/>
          </p:nvSpPr>
          <p:spPr bwMode="auto">
            <a:xfrm>
              <a:off x="2269" y="345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grpSp>
      <p:grpSp>
        <p:nvGrpSpPr>
          <p:cNvPr id="5" name="Group 13">
            <a:extLst>
              <a:ext uri="{FF2B5EF4-FFF2-40B4-BE49-F238E27FC236}">
                <a16:creationId xmlns:a16="http://schemas.microsoft.com/office/drawing/2014/main" id="{31E5CC7F-F335-406B-BBA4-512C2DEB3828}"/>
              </a:ext>
            </a:extLst>
          </p:cNvPr>
          <p:cNvGrpSpPr>
            <a:grpSpLocks/>
          </p:cNvGrpSpPr>
          <p:nvPr/>
        </p:nvGrpSpPr>
        <p:grpSpPr bwMode="auto">
          <a:xfrm>
            <a:off x="142875" y="1546225"/>
            <a:ext cx="6386513" cy="4718050"/>
            <a:chOff x="90" y="974"/>
            <a:chExt cx="4023" cy="2972"/>
          </a:xfrm>
        </p:grpSpPr>
        <p:grpSp>
          <p:nvGrpSpPr>
            <p:cNvPr id="40985" name="Group 14">
              <a:extLst>
                <a:ext uri="{FF2B5EF4-FFF2-40B4-BE49-F238E27FC236}">
                  <a16:creationId xmlns:a16="http://schemas.microsoft.com/office/drawing/2014/main" id="{E4907CCC-F38B-40D8-BF63-F63D4D7F8CC3}"/>
                </a:ext>
              </a:extLst>
            </p:cNvPr>
            <p:cNvGrpSpPr>
              <a:grpSpLocks/>
            </p:cNvGrpSpPr>
            <p:nvPr/>
          </p:nvGrpSpPr>
          <p:grpSpPr bwMode="auto">
            <a:xfrm>
              <a:off x="1023" y="1097"/>
              <a:ext cx="2970" cy="2378"/>
              <a:chOff x="2602" y="1083"/>
              <a:chExt cx="3055" cy="2115"/>
            </a:xfrm>
          </p:grpSpPr>
          <p:sp>
            <p:nvSpPr>
              <p:cNvPr id="40988" name="Line 15">
                <a:extLst>
                  <a:ext uri="{FF2B5EF4-FFF2-40B4-BE49-F238E27FC236}">
                    <a16:creationId xmlns:a16="http://schemas.microsoft.com/office/drawing/2014/main" id="{5F3650D8-25B1-4760-B4DA-F56AB90E000D}"/>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9" name="Line 16">
                <a:extLst>
                  <a:ext uri="{FF2B5EF4-FFF2-40B4-BE49-F238E27FC236}">
                    <a16:creationId xmlns:a16="http://schemas.microsoft.com/office/drawing/2014/main" id="{663A83B3-A74F-4650-A34C-3C426D34FAF8}"/>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986" name="Text Box 17">
              <a:extLst>
                <a:ext uri="{FF2B5EF4-FFF2-40B4-BE49-F238E27FC236}">
                  <a16:creationId xmlns:a16="http://schemas.microsoft.com/office/drawing/2014/main" id="{4C87A0C1-BA77-40E6-8C57-E21162525389}"/>
                </a:ext>
              </a:extLst>
            </p:cNvPr>
            <p:cNvSpPr txBox="1">
              <a:spLocks noChangeArrowheads="1"/>
            </p:cNvSpPr>
            <p:nvPr/>
          </p:nvSpPr>
          <p:spPr bwMode="auto">
            <a:xfrm>
              <a:off x="90" y="974"/>
              <a:ext cx="893"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music down-loads</a:t>
              </a:r>
            </a:p>
          </p:txBody>
        </p:sp>
        <p:sp>
          <p:nvSpPr>
            <p:cNvPr id="40987" name="Text Box 18">
              <a:extLst>
                <a:ext uri="{FF2B5EF4-FFF2-40B4-BE49-F238E27FC236}">
                  <a16:creationId xmlns:a16="http://schemas.microsoft.com/office/drawing/2014/main" id="{33039F69-F4ED-443A-9CE6-0DBC1A533396}"/>
                </a:ext>
              </a:extLst>
            </p:cNvPr>
            <p:cNvSpPr txBox="1">
              <a:spLocks noChangeArrowheads="1"/>
            </p:cNvSpPr>
            <p:nvPr/>
          </p:nvSpPr>
          <p:spPr bwMode="auto">
            <a:xfrm>
              <a:off x="2453" y="3466"/>
              <a:ext cx="166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a:t>
              </a:r>
              <a:br>
                <a:rPr lang="en-US" altLang="en-US" sz="2200">
                  <a:cs typeface="Arial" panose="020B0604020202020204" pitchFamily="34" charset="0"/>
                </a:rPr>
              </a:br>
              <a:r>
                <a:rPr lang="en-US" altLang="en-US" sz="2200">
                  <a:cs typeface="Arial" panose="020B0604020202020204" pitchFamily="34" charset="0"/>
                </a:rPr>
                <a:t>music downloads</a:t>
              </a:r>
            </a:p>
          </p:txBody>
        </p:sp>
      </p:grpSp>
      <p:grpSp>
        <p:nvGrpSpPr>
          <p:cNvPr id="7" name="Group 19">
            <a:extLst>
              <a:ext uri="{FF2B5EF4-FFF2-40B4-BE49-F238E27FC236}">
                <a16:creationId xmlns:a16="http://schemas.microsoft.com/office/drawing/2014/main" id="{88A6C5F9-F2BB-4584-992B-21FE2F4500A5}"/>
              </a:ext>
            </a:extLst>
          </p:cNvPr>
          <p:cNvGrpSpPr>
            <a:grpSpLocks/>
          </p:cNvGrpSpPr>
          <p:nvPr/>
        </p:nvGrpSpPr>
        <p:grpSpPr bwMode="auto">
          <a:xfrm>
            <a:off x="1806575" y="2136775"/>
            <a:ext cx="2732088" cy="3149600"/>
            <a:chOff x="1138" y="1346"/>
            <a:chExt cx="1721" cy="1984"/>
          </a:xfrm>
        </p:grpSpPr>
        <p:sp>
          <p:nvSpPr>
            <p:cNvPr id="40983" name="Line 20">
              <a:extLst>
                <a:ext uri="{FF2B5EF4-FFF2-40B4-BE49-F238E27FC236}">
                  <a16:creationId xmlns:a16="http://schemas.microsoft.com/office/drawing/2014/main" id="{5F95BEA0-5E9B-4A89-8F4F-C7AA5152B2B4}"/>
                </a:ext>
              </a:extLst>
            </p:cNvPr>
            <p:cNvSpPr>
              <a:spLocks noChangeShapeType="1"/>
            </p:cNvSpPr>
            <p:nvPr/>
          </p:nvSpPr>
          <p:spPr bwMode="auto">
            <a:xfrm>
              <a:off x="1138" y="1346"/>
              <a:ext cx="1412" cy="17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4" name="Text Box 21">
              <a:extLst>
                <a:ext uri="{FF2B5EF4-FFF2-40B4-BE49-F238E27FC236}">
                  <a16:creationId xmlns:a16="http://schemas.microsoft.com/office/drawing/2014/main" id="{A81923EA-3D57-4037-9D3A-3CAE68F166E0}"/>
                </a:ext>
              </a:extLst>
            </p:cNvPr>
            <p:cNvSpPr txBox="1">
              <a:spLocks noChangeArrowheads="1"/>
            </p:cNvSpPr>
            <p:nvPr/>
          </p:nvSpPr>
          <p:spPr bwMode="auto">
            <a:xfrm>
              <a:off x="2479" y="3061"/>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D</a:t>
              </a:r>
              <a:r>
                <a:rPr lang="en-US" altLang="en-US" sz="2200" b="1" baseline="-25000">
                  <a:latin typeface="Tahoma" panose="020B0604030504040204" pitchFamily="34" charset="0"/>
                  <a:cs typeface="Arial" panose="020B0604020202020204" pitchFamily="34" charset="0"/>
                </a:rPr>
                <a:t>1</a:t>
              </a:r>
            </a:p>
          </p:txBody>
        </p:sp>
      </p:grpSp>
      <p:grpSp>
        <p:nvGrpSpPr>
          <p:cNvPr id="8" name="Group 22">
            <a:extLst>
              <a:ext uri="{FF2B5EF4-FFF2-40B4-BE49-F238E27FC236}">
                <a16:creationId xmlns:a16="http://schemas.microsoft.com/office/drawing/2014/main" id="{18927781-50F9-486B-890C-988ED7B2A371}"/>
              </a:ext>
            </a:extLst>
          </p:cNvPr>
          <p:cNvGrpSpPr>
            <a:grpSpLocks/>
          </p:cNvGrpSpPr>
          <p:nvPr/>
        </p:nvGrpSpPr>
        <p:grpSpPr bwMode="auto">
          <a:xfrm>
            <a:off x="2759075" y="2138363"/>
            <a:ext cx="2732088" cy="3092450"/>
            <a:chOff x="1738" y="1347"/>
            <a:chExt cx="1721" cy="1948"/>
          </a:xfrm>
        </p:grpSpPr>
        <p:sp>
          <p:nvSpPr>
            <p:cNvPr id="40981" name="Line 23">
              <a:extLst>
                <a:ext uri="{FF2B5EF4-FFF2-40B4-BE49-F238E27FC236}">
                  <a16:creationId xmlns:a16="http://schemas.microsoft.com/office/drawing/2014/main" id="{486C6F7B-6469-45AA-89BF-004CF3B28A9E}"/>
                </a:ext>
              </a:extLst>
            </p:cNvPr>
            <p:cNvSpPr>
              <a:spLocks noChangeShapeType="1"/>
            </p:cNvSpPr>
            <p:nvPr/>
          </p:nvSpPr>
          <p:spPr bwMode="auto">
            <a:xfrm>
              <a:off x="1738" y="1347"/>
              <a:ext cx="1412" cy="1756"/>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2" name="Text Box 24">
              <a:extLst>
                <a:ext uri="{FF2B5EF4-FFF2-40B4-BE49-F238E27FC236}">
                  <a16:creationId xmlns:a16="http://schemas.microsoft.com/office/drawing/2014/main" id="{F4D446B3-8239-493D-A2BF-B678B6F44CA8}"/>
                </a:ext>
              </a:extLst>
            </p:cNvPr>
            <p:cNvSpPr txBox="1">
              <a:spLocks noChangeArrowheads="1"/>
            </p:cNvSpPr>
            <p:nvPr/>
          </p:nvSpPr>
          <p:spPr bwMode="auto">
            <a:xfrm>
              <a:off x="3079" y="3026"/>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solidFill>
                    <a:srgbClr val="006600"/>
                  </a:solidFill>
                  <a:latin typeface="Tahoma" panose="020B0604030504040204" pitchFamily="34" charset="0"/>
                  <a:cs typeface="Arial" panose="020B0604020202020204" pitchFamily="34" charset="0"/>
                </a:rPr>
                <a:t>D</a:t>
              </a:r>
              <a:r>
                <a:rPr lang="en-US" altLang="en-US" sz="2200" b="1" baseline="-25000">
                  <a:solidFill>
                    <a:srgbClr val="006600"/>
                  </a:solidFill>
                  <a:latin typeface="Tahoma" panose="020B0604030504040204" pitchFamily="34" charset="0"/>
                  <a:cs typeface="Arial" panose="020B0604020202020204" pitchFamily="34" charset="0"/>
                </a:rPr>
                <a:t>2</a:t>
              </a:r>
            </a:p>
          </p:txBody>
        </p:sp>
      </p:grpSp>
      <p:grpSp>
        <p:nvGrpSpPr>
          <p:cNvPr id="9" name="Group 25">
            <a:extLst>
              <a:ext uri="{FF2B5EF4-FFF2-40B4-BE49-F238E27FC236}">
                <a16:creationId xmlns:a16="http://schemas.microsoft.com/office/drawing/2014/main" id="{C4858DAC-E5AF-42E4-B134-6D41A80B4053}"/>
              </a:ext>
            </a:extLst>
          </p:cNvPr>
          <p:cNvGrpSpPr>
            <a:grpSpLocks/>
          </p:cNvGrpSpPr>
          <p:nvPr/>
        </p:nvGrpSpPr>
        <p:grpSpPr bwMode="auto">
          <a:xfrm>
            <a:off x="3005138" y="3473450"/>
            <a:ext cx="960437" cy="138113"/>
            <a:chOff x="1893" y="2188"/>
            <a:chExt cx="605" cy="87"/>
          </a:xfrm>
        </p:grpSpPr>
        <p:sp>
          <p:nvSpPr>
            <p:cNvPr id="40979" name="Line 26">
              <a:extLst>
                <a:ext uri="{FF2B5EF4-FFF2-40B4-BE49-F238E27FC236}">
                  <a16:creationId xmlns:a16="http://schemas.microsoft.com/office/drawing/2014/main" id="{BE4C93A4-5320-4556-A23A-65140456784B}"/>
                </a:ext>
              </a:extLst>
            </p:cNvPr>
            <p:cNvSpPr>
              <a:spLocks noChangeShapeType="1"/>
            </p:cNvSpPr>
            <p:nvPr/>
          </p:nvSpPr>
          <p:spPr bwMode="auto">
            <a:xfrm>
              <a:off x="1893" y="2231"/>
              <a:ext cx="519" cy="0"/>
            </a:xfrm>
            <a:prstGeom prst="line">
              <a:avLst/>
            </a:prstGeom>
            <a:noFill/>
            <a:ln w="44450">
              <a:solidFill>
                <a:srgbClr val="00CC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0980" name="Oval 27">
              <a:extLst>
                <a:ext uri="{FF2B5EF4-FFF2-40B4-BE49-F238E27FC236}">
                  <a16:creationId xmlns:a16="http://schemas.microsoft.com/office/drawing/2014/main" id="{CA239066-7CC2-4DBC-8A89-99FF6C67F820}"/>
                </a:ext>
              </a:extLst>
            </p:cNvPr>
            <p:cNvSpPr>
              <a:spLocks noChangeArrowheads="1"/>
            </p:cNvSpPr>
            <p:nvPr/>
          </p:nvSpPr>
          <p:spPr bwMode="auto">
            <a:xfrm>
              <a:off x="2410" y="2188"/>
              <a:ext cx="88" cy="87"/>
            </a:xfrm>
            <a:prstGeom prst="ellipse">
              <a:avLst/>
            </a:prstGeom>
            <a:solidFill>
              <a:srgbClr val="00CC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0" name="Group 28">
            <a:extLst>
              <a:ext uri="{FF2B5EF4-FFF2-40B4-BE49-F238E27FC236}">
                <a16:creationId xmlns:a16="http://schemas.microsoft.com/office/drawing/2014/main" id="{ECCC2F66-5DCE-4763-9AB4-EA9368AB24A4}"/>
              </a:ext>
            </a:extLst>
          </p:cNvPr>
          <p:cNvGrpSpPr>
            <a:grpSpLocks/>
          </p:cNvGrpSpPr>
          <p:nvPr/>
        </p:nvGrpSpPr>
        <p:grpSpPr bwMode="auto">
          <a:xfrm>
            <a:off x="1050925" y="3317875"/>
            <a:ext cx="2176463" cy="2606675"/>
            <a:chOff x="662" y="2090"/>
            <a:chExt cx="1371" cy="1642"/>
          </a:xfrm>
        </p:grpSpPr>
        <p:grpSp>
          <p:nvGrpSpPr>
            <p:cNvPr id="40973" name="Group 29">
              <a:extLst>
                <a:ext uri="{FF2B5EF4-FFF2-40B4-BE49-F238E27FC236}">
                  <a16:creationId xmlns:a16="http://schemas.microsoft.com/office/drawing/2014/main" id="{9FD2C7D6-4359-4B6A-AC09-D2BF68D9A0E2}"/>
                </a:ext>
              </a:extLst>
            </p:cNvPr>
            <p:cNvGrpSpPr>
              <a:grpSpLocks/>
            </p:cNvGrpSpPr>
            <p:nvPr/>
          </p:nvGrpSpPr>
          <p:grpSpPr bwMode="auto">
            <a:xfrm>
              <a:off x="1026" y="2228"/>
              <a:ext cx="819" cy="1243"/>
              <a:chOff x="357" y="2450"/>
              <a:chExt cx="795" cy="646"/>
            </a:xfrm>
          </p:grpSpPr>
          <p:sp>
            <p:nvSpPr>
              <p:cNvPr id="40977" name="Line 30">
                <a:extLst>
                  <a:ext uri="{FF2B5EF4-FFF2-40B4-BE49-F238E27FC236}">
                    <a16:creationId xmlns:a16="http://schemas.microsoft.com/office/drawing/2014/main" id="{4BA3F039-265F-4AC8-9439-87D9C58A27D1}"/>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0978" name="Line 31">
                <a:extLst>
                  <a:ext uri="{FF2B5EF4-FFF2-40B4-BE49-F238E27FC236}">
                    <a16:creationId xmlns:a16="http://schemas.microsoft.com/office/drawing/2014/main" id="{74745706-7B10-4AA2-BB2C-9604BE41D5EC}"/>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974" name="Oval 32">
              <a:extLst>
                <a:ext uri="{FF2B5EF4-FFF2-40B4-BE49-F238E27FC236}">
                  <a16:creationId xmlns:a16="http://schemas.microsoft.com/office/drawing/2014/main" id="{0F4B6370-30E9-4931-89E3-C68FB2A7A67A}"/>
                </a:ext>
              </a:extLst>
            </p:cNvPr>
            <p:cNvSpPr>
              <a:spLocks noChangeArrowheads="1"/>
            </p:cNvSpPr>
            <p:nvPr/>
          </p:nvSpPr>
          <p:spPr bwMode="auto">
            <a:xfrm>
              <a:off x="1802" y="219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40975" name="Text Box 33">
              <a:extLst>
                <a:ext uri="{FF2B5EF4-FFF2-40B4-BE49-F238E27FC236}">
                  <a16:creationId xmlns:a16="http://schemas.microsoft.com/office/drawing/2014/main" id="{AB7F471F-C35C-4D80-8D84-33A9F913252E}"/>
                </a:ext>
              </a:extLst>
            </p:cNvPr>
            <p:cNvSpPr txBox="1">
              <a:spLocks noChangeArrowheads="1"/>
            </p:cNvSpPr>
            <p:nvPr/>
          </p:nvSpPr>
          <p:spPr bwMode="auto">
            <a:xfrm>
              <a:off x="662" y="2090"/>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40976" name="Text Box 34">
              <a:extLst>
                <a:ext uri="{FF2B5EF4-FFF2-40B4-BE49-F238E27FC236}">
                  <a16:creationId xmlns:a16="http://schemas.microsoft.com/office/drawing/2014/main" id="{762FEC12-471F-49AF-81ED-51A583A4D537}"/>
                </a:ext>
              </a:extLst>
            </p:cNvPr>
            <p:cNvSpPr txBox="1">
              <a:spLocks noChangeArrowheads="1"/>
            </p:cNvSpPr>
            <p:nvPr/>
          </p:nvSpPr>
          <p:spPr bwMode="auto">
            <a:xfrm>
              <a:off x="1653" y="346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sp>
        <p:nvSpPr>
          <p:cNvPr id="252963" name="Text Box 35">
            <a:extLst>
              <a:ext uri="{FF2B5EF4-FFF2-40B4-BE49-F238E27FC236}">
                <a16:creationId xmlns:a16="http://schemas.microsoft.com/office/drawing/2014/main" id="{5420A233-8BFE-424B-9001-805ABA98991E}"/>
              </a:ext>
            </a:extLst>
          </p:cNvPr>
          <p:cNvSpPr txBox="1">
            <a:spLocks noChangeArrowheads="1"/>
          </p:cNvSpPr>
          <p:nvPr/>
        </p:nvSpPr>
        <p:spPr bwMode="auto">
          <a:xfrm>
            <a:off x="5794375" y="1219200"/>
            <a:ext cx="2962275" cy="3659188"/>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a:cs typeface="Arial" panose="020B0604020202020204" pitchFamily="34" charset="0"/>
              </a:rPr>
              <a:t>Music downloads and iPods are complements. </a:t>
            </a:r>
          </a:p>
          <a:p>
            <a:pPr eaLnBrk="1" hangingPunct="1">
              <a:lnSpc>
                <a:spcPct val="105000"/>
              </a:lnSpc>
              <a:spcBef>
                <a:spcPct val="30000"/>
              </a:spcBef>
            </a:pPr>
            <a:r>
              <a:rPr lang="en-US" altLang="en-US" sz="2600">
                <a:cs typeface="Arial" panose="020B0604020202020204" pitchFamily="34" charset="0"/>
              </a:rPr>
              <a:t>A fall in price of iPods shifts the demand curve for music downloads </a:t>
            </a:r>
            <a:br>
              <a:rPr lang="en-US" altLang="en-US" sz="2600">
                <a:cs typeface="Arial" panose="020B0604020202020204" pitchFamily="34" charset="0"/>
              </a:rPr>
            </a:br>
            <a:r>
              <a:rPr lang="en-US" altLang="en-US" sz="2600">
                <a:cs typeface="Arial" panose="020B0604020202020204" pitchFamily="34" charset="0"/>
              </a:rPr>
              <a:t>to the right.</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trips(downRight)">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2963"/>
                                        </p:tgtEl>
                                        <p:attrNameLst>
                                          <p:attrName>style.visibility</p:attrName>
                                        </p:attrNameLst>
                                      </p:cBhvr>
                                      <p:to>
                                        <p:strVal val="visible"/>
                                      </p:to>
                                    </p:set>
                                    <p:animEffect transition="in" filter="dissolve">
                                      <p:cBhvr>
                                        <p:cTn id="22" dur="500"/>
                                        <p:tgtEl>
                                          <p:spTgt spid="2529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nodeType="afterGroup">
                            <p:stCondLst>
                              <p:cond delay="500"/>
                            </p:stCondLst>
                            <p:childTnLst>
                              <p:par>
                                <p:cTn id="29" presetID="18" presetClass="entr" presetSubtype="6"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trips(downRight)">
                                      <p:cBhvr>
                                        <p:cTn id="31" dur="500"/>
                                        <p:tgtEl>
                                          <p:spTgt spid="8"/>
                                        </p:tgtEl>
                                      </p:cBhvr>
                                    </p:animEffect>
                                  </p:childTnLst>
                                </p:cTn>
                              </p:par>
                            </p:childTnLst>
                          </p:cTn>
                        </p:par>
                        <p:par>
                          <p:cTn id="32" fill="hold" nodeType="afterGroup">
                            <p:stCondLst>
                              <p:cond delay="1000"/>
                            </p:stCondLst>
                            <p:childTnLst>
                              <p:par>
                                <p:cTn id="33" presetID="18" presetClass="entr" presetSubtype="6"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strips(downRight)">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63"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43010" name="Rectangle 8">
            <a:extLst>
              <a:ext uri="{FF2B5EF4-FFF2-40B4-BE49-F238E27FC236}">
                <a16:creationId xmlns:a16="http://schemas.microsoft.com/office/drawing/2014/main" id="{DA58B740-A565-4BAE-A556-03B18B0E1270}"/>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72DA0FD1-8BC0-44FC-AA9E-3203759EAB18}"/>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1</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B.  Price of music downloads falls</a:t>
            </a:r>
          </a:p>
        </p:txBody>
      </p:sp>
      <p:grpSp>
        <p:nvGrpSpPr>
          <p:cNvPr id="43012" name="Group 11">
            <a:extLst>
              <a:ext uri="{FF2B5EF4-FFF2-40B4-BE49-F238E27FC236}">
                <a16:creationId xmlns:a16="http://schemas.microsoft.com/office/drawing/2014/main" id="{F4FA505B-58F7-4A24-BD28-26A604A6E5AA}"/>
              </a:ext>
            </a:extLst>
          </p:cNvPr>
          <p:cNvGrpSpPr>
            <a:grpSpLocks/>
          </p:cNvGrpSpPr>
          <p:nvPr/>
        </p:nvGrpSpPr>
        <p:grpSpPr bwMode="auto">
          <a:xfrm>
            <a:off x="593725" y="290513"/>
            <a:ext cx="8210550" cy="1049337"/>
            <a:chOff x="374" y="183"/>
            <a:chExt cx="5000" cy="661"/>
          </a:xfrm>
        </p:grpSpPr>
        <p:sp>
          <p:nvSpPr>
            <p:cNvPr id="43039" name="Line 9">
              <a:extLst>
                <a:ext uri="{FF2B5EF4-FFF2-40B4-BE49-F238E27FC236}">
                  <a16:creationId xmlns:a16="http://schemas.microsoft.com/office/drawing/2014/main" id="{28168810-8908-403F-9763-496C47ABF4D6}"/>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0" name="Line 10">
              <a:extLst>
                <a:ext uri="{FF2B5EF4-FFF2-40B4-BE49-F238E27FC236}">
                  <a16:creationId xmlns:a16="http://schemas.microsoft.com/office/drawing/2014/main" id="{B735BB66-8241-47B6-B163-9900950EDE12}"/>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13" name="Rectangle 8">
            <a:extLst>
              <a:ext uri="{FF2B5EF4-FFF2-40B4-BE49-F238E27FC236}">
                <a16:creationId xmlns:a16="http://schemas.microsoft.com/office/drawing/2014/main" id="{1193E9BB-89BA-4D68-B001-3D0CBC4110A6}"/>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0575F52-B65C-414D-B53D-99CA1943E25D}" type="slidenum">
              <a:rPr lang="en-US" altLang="en-US" sz="1700">
                <a:solidFill>
                  <a:srgbClr val="777777"/>
                </a:solidFill>
                <a:latin typeface="Tahoma" panose="020B0604030504040204" pitchFamily="34" charset="0"/>
              </a:rPr>
              <a:pPr algn="r" eaLnBrk="1" hangingPunct="1"/>
              <a:t>19</a:t>
            </a:fld>
            <a:endParaRPr lang="en-US" altLang="en-US" sz="1700">
              <a:solidFill>
                <a:srgbClr val="777777"/>
              </a:solidFill>
              <a:latin typeface="Tahoma" panose="020B0604030504040204" pitchFamily="34" charset="0"/>
            </a:endParaRPr>
          </a:p>
        </p:txBody>
      </p:sp>
      <p:sp>
        <p:nvSpPr>
          <p:cNvPr id="254984" name="Text Box 8">
            <a:extLst>
              <a:ext uri="{FF2B5EF4-FFF2-40B4-BE49-F238E27FC236}">
                <a16:creationId xmlns:a16="http://schemas.microsoft.com/office/drawing/2014/main" id="{C89D7934-8DA2-425A-BE08-43206B53E7E2}"/>
              </a:ext>
            </a:extLst>
          </p:cNvPr>
          <p:cNvSpPr txBox="1">
            <a:spLocks noChangeArrowheads="1"/>
          </p:cNvSpPr>
          <p:nvPr/>
        </p:nvSpPr>
        <p:spPr bwMode="auto">
          <a:xfrm>
            <a:off x="4857750" y="1814513"/>
            <a:ext cx="3408363" cy="2351087"/>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a:cs typeface="Arial" panose="020B0604020202020204" pitchFamily="34" charset="0"/>
              </a:rPr>
              <a:t>The </a:t>
            </a:r>
            <a:r>
              <a:rPr lang="en-US" altLang="en-US" sz="2600" b="1" i="1">
                <a:cs typeface="Arial" panose="020B0604020202020204" pitchFamily="34" charset="0"/>
              </a:rPr>
              <a:t>D</a:t>
            </a:r>
            <a:r>
              <a:rPr lang="en-US" altLang="en-US" sz="2600">
                <a:cs typeface="Arial" panose="020B0604020202020204" pitchFamily="34" charset="0"/>
              </a:rPr>
              <a:t> curve </a:t>
            </a:r>
            <a:br>
              <a:rPr lang="en-US" altLang="en-US" sz="2600">
                <a:cs typeface="Arial" panose="020B0604020202020204" pitchFamily="34" charset="0"/>
              </a:rPr>
            </a:br>
            <a:r>
              <a:rPr lang="en-US" altLang="en-US" sz="2600">
                <a:cs typeface="Arial" panose="020B0604020202020204" pitchFamily="34" charset="0"/>
              </a:rPr>
              <a:t>does not shift.  </a:t>
            </a:r>
          </a:p>
          <a:p>
            <a:pPr eaLnBrk="1" hangingPunct="1">
              <a:lnSpc>
                <a:spcPct val="105000"/>
              </a:lnSpc>
              <a:spcBef>
                <a:spcPct val="25000"/>
              </a:spcBef>
            </a:pPr>
            <a:r>
              <a:rPr lang="en-US" altLang="en-US" sz="2600">
                <a:cs typeface="Arial" panose="020B0604020202020204" pitchFamily="34" charset="0"/>
              </a:rPr>
              <a:t>Move down along curve to a point with lower </a:t>
            </a:r>
            <a:r>
              <a:rPr lang="en-US" altLang="en-US" sz="2600" b="1" i="1">
                <a:cs typeface="Arial" panose="020B0604020202020204" pitchFamily="34" charset="0"/>
              </a:rPr>
              <a:t>P</a:t>
            </a:r>
            <a:r>
              <a:rPr lang="en-US" altLang="en-US" sz="2600">
                <a:cs typeface="Arial" panose="020B0604020202020204" pitchFamily="34" charset="0"/>
              </a:rPr>
              <a:t>, higher </a:t>
            </a:r>
            <a:r>
              <a:rPr lang="en-US" altLang="en-US" sz="2600" b="1" i="1">
                <a:cs typeface="Arial" panose="020B0604020202020204" pitchFamily="34" charset="0"/>
              </a:rPr>
              <a:t>Q</a:t>
            </a:r>
            <a:r>
              <a:rPr lang="en-US" altLang="en-US" sz="2600">
                <a:cs typeface="Arial" panose="020B0604020202020204" pitchFamily="34" charset="0"/>
              </a:rPr>
              <a:t>. </a:t>
            </a:r>
          </a:p>
        </p:txBody>
      </p:sp>
      <p:grpSp>
        <p:nvGrpSpPr>
          <p:cNvPr id="43015" name="Group 9">
            <a:extLst>
              <a:ext uri="{FF2B5EF4-FFF2-40B4-BE49-F238E27FC236}">
                <a16:creationId xmlns:a16="http://schemas.microsoft.com/office/drawing/2014/main" id="{3B4F3A46-738F-4D4D-93BA-9733B59D4EDB}"/>
              </a:ext>
            </a:extLst>
          </p:cNvPr>
          <p:cNvGrpSpPr>
            <a:grpSpLocks/>
          </p:cNvGrpSpPr>
          <p:nvPr/>
        </p:nvGrpSpPr>
        <p:grpSpPr bwMode="auto">
          <a:xfrm>
            <a:off x="1624013" y="1741488"/>
            <a:ext cx="4714875" cy="3775075"/>
            <a:chOff x="2602" y="1083"/>
            <a:chExt cx="3055" cy="2115"/>
          </a:xfrm>
        </p:grpSpPr>
        <p:sp>
          <p:nvSpPr>
            <p:cNvPr id="43037" name="Line 10">
              <a:extLst>
                <a:ext uri="{FF2B5EF4-FFF2-40B4-BE49-F238E27FC236}">
                  <a16:creationId xmlns:a16="http://schemas.microsoft.com/office/drawing/2014/main" id="{D6FC6467-0306-46A9-8E62-2D9D7883D163}"/>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8" name="Line 11">
              <a:extLst>
                <a:ext uri="{FF2B5EF4-FFF2-40B4-BE49-F238E27FC236}">
                  <a16:creationId xmlns:a16="http://schemas.microsoft.com/office/drawing/2014/main" id="{71607093-0BD7-45BF-8C44-3D8FFA6B62BD}"/>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16" name="Text Box 12">
            <a:extLst>
              <a:ext uri="{FF2B5EF4-FFF2-40B4-BE49-F238E27FC236}">
                <a16:creationId xmlns:a16="http://schemas.microsoft.com/office/drawing/2014/main" id="{13B5E5F7-2B9D-4712-9179-8E1F39144F3A}"/>
              </a:ext>
            </a:extLst>
          </p:cNvPr>
          <p:cNvSpPr txBox="1">
            <a:spLocks noChangeArrowheads="1"/>
          </p:cNvSpPr>
          <p:nvPr/>
        </p:nvSpPr>
        <p:spPr bwMode="auto">
          <a:xfrm>
            <a:off x="260350" y="1546225"/>
            <a:ext cx="1300163"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music down-loads</a:t>
            </a:r>
          </a:p>
        </p:txBody>
      </p:sp>
      <p:sp>
        <p:nvSpPr>
          <p:cNvPr id="43017" name="Text Box 13">
            <a:extLst>
              <a:ext uri="{FF2B5EF4-FFF2-40B4-BE49-F238E27FC236}">
                <a16:creationId xmlns:a16="http://schemas.microsoft.com/office/drawing/2014/main" id="{2A920FCB-6252-4AF5-869A-F0775D6A6B2D}"/>
              </a:ext>
            </a:extLst>
          </p:cNvPr>
          <p:cNvSpPr txBox="1">
            <a:spLocks noChangeArrowheads="1"/>
          </p:cNvSpPr>
          <p:nvPr/>
        </p:nvSpPr>
        <p:spPr bwMode="auto">
          <a:xfrm>
            <a:off x="3894138" y="5502275"/>
            <a:ext cx="26352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a:t>
            </a:r>
            <a:br>
              <a:rPr lang="en-US" altLang="en-US" sz="2200">
                <a:cs typeface="Arial" panose="020B0604020202020204" pitchFamily="34" charset="0"/>
              </a:rPr>
            </a:br>
            <a:r>
              <a:rPr lang="en-US" altLang="en-US" sz="2200">
                <a:cs typeface="Arial" panose="020B0604020202020204" pitchFamily="34" charset="0"/>
              </a:rPr>
              <a:t>music downloads</a:t>
            </a:r>
          </a:p>
        </p:txBody>
      </p:sp>
      <p:sp>
        <p:nvSpPr>
          <p:cNvPr id="43018" name="Line 14">
            <a:extLst>
              <a:ext uri="{FF2B5EF4-FFF2-40B4-BE49-F238E27FC236}">
                <a16:creationId xmlns:a16="http://schemas.microsoft.com/office/drawing/2014/main" id="{A6AD16C7-CDE5-4809-BF3F-C8C4B304EF35}"/>
              </a:ext>
            </a:extLst>
          </p:cNvPr>
          <p:cNvSpPr>
            <a:spLocks noChangeShapeType="1"/>
          </p:cNvSpPr>
          <p:nvPr/>
        </p:nvSpPr>
        <p:spPr bwMode="auto">
          <a:xfrm>
            <a:off x="1806575" y="2136775"/>
            <a:ext cx="2241550" cy="27876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9" name="Text Box 15">
            <a:extLst>
              <a:ext uri="{FF2B5EF4-FFF2-40B4-BE49-F238E27FC236}">
                <a16:creationId xmlns:a16="http://schemas.microsoft.com/office/drawing/2014/main" id="{3F235A56-CD88-4360-84D7-C2384EBD16BF}"/>
              </a:ext>
            </a:extLst>
          </p:cNvPr>
          <p:cNvSpPr txBox="1">
            <a:spLocks noChangeArrowheads="1"/>
          </p:cNvSpPr>
          <p:nvPr/>
        </p:nvSpPr>
        <p:spPr bwMode="auto">
          <a:xfrm>
            <a:off x="3935413" y="4859338"/>
            <a:ext cx="6032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D</a:t>
            </a:r>
            <a:r>
              <a:rPr lang="en-US" altLang="en-US" sz="2200" b="1" baseline="-25000">
                <a:latin typeface="Tahoma" panose="020B0604030504040204" pitchFamily="34" charset="0"/>
                <a:cs typeface="Arial" panose="020B0604020202020204" pitchFamily="34" charset="0"/>
              </a:rPr>
              <a:t>1</a:t>
            </a:r>
          </a:p>
        </p:txBody>
      </p:sp>
      <p:grpSp>
        <p:nvGrpSpPr>
          <p:cNvPr id="43020" name="Group 16">
            <a:extLst>
              <a:ext uri="{FF2B5EF4-FFF2-40B4-BE49-F238E27FC236}">
                <a16:creationId xmlns:a16="http://schemas.microsoft.com/office/drawing/2014/main" id="{F140ED6A-E068-4560-9EC7-65FC9104EAB4}"/>
              </a:ext>
            </a:extLst>
          </p:cNvPr>
          <p:cNvGrpSpPr>
            <a:grpSpLocks/>
          </p:cNvGrpSpPr>
          <p:nvPr/>
        </p:nvGrpSpPr>
        <p:grpSpPr bwMode="auto">
          <a:xfrm>
            <a:off x="1628775" y="3536950"/>
            <a:ext cx="1300163" cy="1973263"/>
            <a:chOff x="357" y="2450"/>
            <a:chExt cx="795" cy="646"/>
          </a:xfrm>
        </p:grpSpPr>
        <p:sp>
          <p:nvSpPr>
            <p:cNvPr id="43035" name="Line 17">
              <a:extLst>
                <a:ext uri="{FF2B5EF4-FFF2-40B4-BE49-F238E27FC236}">
                  <a16:creationId xmlns:a16="http://schemas.microsoft.com/office/drawing/2014/main" id="{BBE5F39A-3F5A-487A-BE1C-D7728B40DE9F}"/>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18">
              <a:extLst>
                <a:ext uri="{FF2B5EF4-FFF2-40B4-BE49-F238E27FC236}">
                  <a16:creationId xmlns:a16="http://schemas.microsoft.com/office/drawing/2014/main" id="{A2B50954-EDCF-45E4-B721-A44A7392F458}"/>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21" name="Oval 19">
            <a:extLst>
              <a:ext uri="{FF2B5EF4-FFF2-40B4-BE49-F238E27FC236}">
                <a16:creationId xmlns:a16="http://schemas.microsoft.com/office/drawing/2014/main" id="{B292A892-D472-445C-A90D-6F020D089DAC}"/>
              </a:ext>
            </a:extLst>
          </p:cNvPr>
          <p:cNvSpPr>
            <a:spLocks noChangeArrowheads="1"/>
          </p:cNvSpPr>
          <p:nvPr/>
        </p:nvSpPr>
        <p:spPr bwMode="auto">
          <a:xfrm>
            <a:off x="2860675" y="3476625"/>
            <a:ext cx="139700" cy="138113"/>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54996" name="Line 20">
            <a:extLst>
              <a:ext uri="{FF2B5EF4-FFF2-40B4-BE49-F238E27FC236}">
                <a16:creationId xmlns:a16="http://schemas.microsoft.com/office/drawing/2014/main" id="{05C0401C-8B2A-47C4-AD1D-D4D2B510C0E3}"/>
              </a:ext>
            </a:extLst>
          </p:cNvPr>
          <p:cNvSpPr>
            <a:spLocks noChangeShapeType="1"/>
          </p:cNvSpPr>
          <p:nvPr/>
        </p:nvSpPr>
        <p:spPr bwMode="auto">
          <a:xfrm rot="5400000">
            <a:off x="1416050" y="3897313"/>
            <a:ext cx="704850" cy="0"/>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3023" name="Text Box 21">
            <a:extLst>
              <a:ext uri="{FF2B5EF4-FFF2-40B4-BE49-F238E27FC236}">
                <a16:creationId xmlns:a16="http://schemas.microsoft.com/office/drawing/2014/main" id="{EE82925C-4707-4218-B60A-5F137548567E}"/>
              </a:ext>
            </a:extLst>
          </p:cNvPr>
          <p:cNvSpPr txBox="1">
            <a:spLocks noChangeArrowheads="1"/>
          </p:cNvSpPr>
          <p:nvPr/>
        </p:nvSpPr>
        <p:spPr bwMode="auto">
          <a:xfrm>
            <a:off x="1050925" y="3317875"/>
            <a:ext cx="603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43024" name="Text Box 22">
            <a:extLst>
              <a:ext uri="{FF2B5EF4-FFF2-40B4-BE49-F238E27FC236}">
                <a16:creationId xmlns:a16="http://schemas.microsoft.com/office/drawing/2014/main" id="{1E44A024-E309-4060-A7FC-FFBF7C22998A}"/>
              </a:ext>
            </a:extLst>
          </p:cNvPr>
          <p:cNvSpPr txBox="1">
            <a:spLocks noChangeArrowheads="1"/>
          </p:cNvSpPr>
          <p:nvPr/>
        </p:nvSpPr>
        <p:spPr bwMode="auto">
          <a:xfrm>
            <a:off x="2590800" y="5497513"/>
            <a:ext cx="6032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nvGrpSpPr>
          <p:cNvPr id="5" name="Group 23">
            <a:extLst>
              <a:ext uri="{FF2B5EF4-FFF2-40B4-BE49-F238E27FC236}">
                <a16:creationId xmlns:a16="http://schemas.microsoft.com/office/drawing/2014/main" id="{62D01230-4209-45AE-9B3E-923E05EF0538}"/>
              </a:ext>
            </a:extLst>
          </p:cNvPr>
          <p:cNvGrpSpPr>
            <a:grpSpLocks/>
          </p:cNvGrpSpPr>
          <p:nvPr/>
        </p:nvGrpSpPr>
        <p:grpSpPr bwMode="auto">
          <a:xfrm>
            <a:off x="1058863" y="4025900"/>
            <a:ext cx="2790825" cy="1882775"/>
            <a:chOff x="667" y="2536"/>
            <a:chExt cx="1758" cy="1186"/>
          </a:xfrm>
        </p:grpSpPr>
        <p:sp>
          <p:nvSpPr>
            <p:cNvPr id="43026" name="Oval 24">
              <a:extLst>
                <a:ext uri="{FF2B5EF4-FFF2-40B4-BE49-F238E27FC236}">
                  <a16:creationId xmlns:a16="http://schemas.microsoft.com/office/drawing/2014/main" id="{F68BED3F-D465-418F-A086-D81DF9E6EDDD}"/>
                </a:ext>
              </a:extLst>
            </p:cNvPr>
            <p:cNvSpPr>
              <a:spLocks noChangeArrowheads="1"/>
            </p:cNvSpPr>
            <p:nvPr/>
          </p:nvSpPr>
          <p:spPr bwMode="auto">
            <a:xfrm>
              <a:off x="2162" y="2637"/>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43027" name="Group 25">
              <a:extLst>
                <a:ext uri="{FF2B5EF4-FFF2-40B4-BE49-F238E27FC236}">
                  <a16:creationId xmlns:a16="http://schemas.microsoft.com/office/drawing/2014/main" id="{AB5B708E-D9EF-4597-B303-E66F2DCEC36C}"/>
                </a:ext>
              </a:extLst>
            </p:cNvPr>
            <p:cNvGrpSpPr>
              <a:grpSpLocks/>
            </p:cNvGrpSpPr>
            <p:nvPr/>
          </p:nvGrpSpPr>
          <p:grpSpPr bwMode="auto">
            <a:xfrm>
              <a:off x="667" y="2536"/>
              <a:ext cx="1758" cy="1186"/>
              <a:chOff x="667" y="2536"/>
              <a:chExt cx="1758" cy="1186"/>
            </a:xfrm>
          </p:grpSpPr>
          <p:sp>
            <p:nvSpPr>
              <p:cNvPr id="43028" name="Line 26">
                <a:extLst>
                  <a:ext uri="{FF2B5EF4-FFF2-40B4-BE49-F238E27FC236}">
                    <a16:creationId xmlns:a16="http://schemas.microsoft.com/office/drawing/2014/main" id="{1195D6F4-B065-4B51-AD57-76D0750E303E}"/>
                  </a:ext>
                </a:extLst>
              </p:cNvPr>
              <p:cNvSpPr>
                <a:spLocks noChangeShapeType="1"/>
              </p:cNvSpPr>
              <p:nvPr/>
            </p:nvSpPr>
            <p:spPr bwMode="auto">
              <a:xfrm>
                <a:off x="1844" y="3393"/>
                <a:ext cx="361" cy="0"/>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43029" name="Group 27">
                <a:extLst>
                  <a:ext uri="{FF2B5EF4-FFF2-40B4-BE49-F238E27FC236}">
                    <a16:creationId xmlns:a16="http://schemas.microsoft.com/office/drawing/2014/main" id="{01E35C47-1D90-4CAE-B890-C55A5CF18CFD}"/>
                  </a:ext>
                </a:extLst>
              </p:cNvPr>
              <p:cNvGrpSpPr>
                <a:grpSpLocks/>
              </p:cNvGrpSpPr>
              <p:nvPr/>
            </p:nvGrpSpPr>
            <p:grpSpPr bwMode="auto">
              <a:xfrm>
                <a:off x="667" y="2536"/>
                <a:ext cx="1758" cy="1186"/>
                <a:chOff x="667" y="2536"/>
                <a:chExt cx="1758" cy="1186"/>
              </a:xfrm>
            </p:grpSpPr>
            <p:grpSp>
              <p:nvGrpSpPr>
                <p:cNvPr id="43030" name="Group 28">
                  <a:extLst>
                    <a:ext uri="{FF2B5EF4-FFF2-40B4-BE49-F238E27FC236}">
                      <a16:creationId xmlns:a16="http://schemas.microsoft.com/office/drawing/2014/main" id="{42C29214-633F-4526-8004-88C595AE92D6}"/>
                    </a:ext>
                  </a:extLst>
                </p:cNvPr>
                <p:cNvGrpSpPr>
                  <a:grpSpLocks/>
                </p:cNvGrpSpPr>
                <p:nvPr/>
              </p:nvGrpSpPr>
              <p:grpSpPr bwMode="auto">
                <a:xfrm>
                  <a:off x="1023" y="2678"/>
                  <a:ext cx="1182" cy="796"/>
                  <a:chOff x="357" y="2450"/>
                  <a:chExt cx="795" cy="646"/>
                </a:xfrm>
              </p:grpSpPr>
              <p:sp>
                <p:nvSpPr>
                  <p:cNvPr id="43033" name="Line 29">
                    <a:extLst>
                      <a:ext uri="{FF2B5EF4-FFF2-40B4-BE49-F238E27FC236}">
                        <a16:creationId xmlns:a16="http://schemas.microsoft.com/office/drawing/2014/main" id="{7E222579-5CFE-4F5F-B29E-C2107C98F4E1}"/>
                      </a:ext>
                    </a:extLst>
                  </p:cNvPr>
                  <p:cNvSpPr>
                    <a:spLocks noChangeShapeType="1"/>
                  </p:cNvSpPr>
                  <p:nvPr/>
                </p:nvSpPr>
                <p:spPr bwMode="auto">
                  <a:xfrm>
                    <a:off x="357" y="2450"/>
                    <a:ext cx="795" cy="0"/>
                  </a:xfrm>
                  <a:prstGeom prst="line">
                    <a:avLst/>
                  </a:prstGeom>
                  <a:noFill/>
                  <a:ln w="9525">
                    <a:solidFill>
                      <a:srgbClr val="0000FF"/>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4" name="Line 30">
                    <a:extLst>
                      <a:ext uri="{FF2B5EF4-FFF2-40B4-BE49-F238E27FC236}">
                        <a16:creationId xmlns:a16="http://schemas.microsoft.com/office/drawing/2014/main" id="{1535D70F-083C-461A-8156-EF767058D248}"/>
                      </a:ext>
                    </a:extLst>
                  </p:cNvPr>
                  <p:cNvSpPr>
                    <a:spLocks noChangeShapeType="1"/>
                  </p:cNvSpPr>
                  <p:nvPr/>
                </p:nvSpPr>
                <p:spPr bwMode="auto">
                  <a:xfrm>
                    <a:off x="1152" y="2451"/>
                    <a:ext cx="0" cy="645"/>
                  </a:xfrm>
                  <a:prstGeom prst="line">
                    <a:avLst/>
                  </a:prstGeom>
                  <a:noFill/>
                  <a:ln w="9525">
                    <a:solidFill>
                      <a:srgbClr val="0000FF"/>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31" name="Text Box 31">
                  <a:extLst>
                    <a:ext uri="{FF2B5EF4-FFF2-40B4-BE49-F238E27FC236}">
                      <a16:creationId xmlns:a16="http://schemas.microsoft.com/office/drawing/2014/main" id="{9F5C9565-7F9B-4D54-A497-080C7976CC3E}"/>
                    </a:ext>
                  </a:extLst>
                </p:cNvPr>
                <p:cNvSpPr txBox="1">
                  <a:spLocks noChangeArrowheads="1"/>
                </p:cNvSpPr>
                <p:nvPr/>
              </p:nvSpPr>
              <p:spPr bwMode="auto">
                <a:xfrm>
                  <a:off x="2045" y="345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sp>
              <p:nvSpPr>
                <p:cNvPr id="43032" name="Text Box 32">
                  <a:extLst>
                    <a:ext uri="{FF2B5EF4-FFF2-40B4-BE49-F238E27FC236}">
                      <a16:creationId xmlns:a16="http://schemas.microsoft.com/office/drawing/2014/main" id="{A136435A-2469-4B0D-97A0-CAA8A160731D}"/>
                    </a:ext>
                  </a:extLst>
                </p:cNvPr>
                <p:cNvSpPr txBox="1">
                  <a:spLocks noChangeArrowheads="1"/>
                </p:cNvSpPr>
                <p:nvPr/>
              </p:nvSpPr>
              <p:spPr bwMode="auto">
                <a:xfrm>
                  <a:off x="667" y="2536"/>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2</a:t>
                  </a:r>
                </a:p>
              </p:txBody>
            </p:sp>
          </p:grpSp>
        </p:grpSp>
      </p:gr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4984"/>
                                        </p:tgtEl>
                                        <p:attrNameLst>
                                          <p:attrName>style.visibility</p:attrName>
                                        </p:attrNameLst>
                                      </p:cBhvr>
                                      <p:to>
                                        <p:strVal val="visible"/>
                                      </p:to>
                                    </p:set>
                                    <p:animEffect transition="in" filter="dissolve">
                                      <p:cBhvr>
                                        <p:cTn id="7" dur="500"/>
                                        <p:tgtEl>
                                          <p:spTgt spid="2549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54996"/>
                                        </p:tgtEl>
                                        <p:attrNameLst>
                                          <p:attrName>style.visibility</p:attrName>
                                        </p:attrNameLst>
                                      </p:cBhvr>
                                      <p:to>
                                        <p:strVal val="visible"/>
                                      </p:to>
                                    </p:set>
                                    <p:animEffect transition="in" filter="wipe(up)">
                                      <p:cBhvr>
                                        <p:cTn id="12" dur="500"/>
                                        <p:tgtEl>
                                          <p:spTgt spid="254996"/>
                                        </p:tgtEl>
                                      </p:cBhvr>
                                    </p:animEffect>
                                  </p:childTnLst>
                                </p:cTn>
                              </p:par>
                            </p:childTnLst>
                          </p:cTn>
                        </p:par>
                        <p:par>
                          <p:cTn id="13" fill="hold" nodeType="after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strips(downRight)">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4"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45058" name="Rectangle 8">
            <a:extLst>
              <a:ext uri="{FF2B5EF4-FFF2-40B4-BE49-F238E27FC236}">
                <a16:creationId xmlns:a16="http://schemas.microsoft.com/office/drawing/2014/main" id="{06A7D3F6-34AE-44C3-BA49-0DA46BCC4F52}"/>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522BC22B-A873-44A7-B640-F0FADD21BCAE}"/>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1</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C.  Price of CDs falls</a:t>
            </a:r>
          </a:p>
        </p:txBody>
      </p:sp>
      <p:grpSp>
        <p:nvGrpSpPr>
          <p:cNvPr id="45060" name="Group 11">
            <a:extLst>
              <a:ext uri="{FF2B5EF4-FFF2-40B4-BE49-F238E27FC236}">
                <a16:creationId xmlns:a16="http://schemas.microsoft.com/office/drawing/2014/main" id="{1DDA5F43-7796-4A84-9882-A943D6DFD663}"/>
              </a:ext>
            </a:extLst>
          </p:cNvPr>
          <p:cNvGrpSpPr>
            <a:grpSpLocks/>
          </p:cNvGrpSpPr>
          <p:nvPr/>
        </p:nvGrpSpPr>
        <p:grpSpPr bwMode="auto">
          <a:xfrm>
            <a:off x="593725" y="290513"/>
            <a:ext cx="8210550" cy="1049337"/>
            <a:chOff x="374" y="183"/>
            <a:chExt cx="5000" cy="661"/>
          </a:xfrm>
        </p:grpSpPr>
        <p:sp>
          <p:nvSpPr>
            <p:cNvPr id="45088" name="Line 9">
              <a:extLst>
                <a:ext uri="{FF2B5EF4-FFF2-40B4-BE49-F238E27FC236}">
                  <a16:creationId xmlns:a16="http://schemas.microsoft.com/office/drawing/2014/main" id="{CAC056AB-91FF-4E2A-ADBB-CE3F2AAED68A}"/>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9" name="Line 10">
              <a:extLst>
                <a:ext uri="{FF2B5EF4-FFF2-40B4-BE49-F238E27FC236}">
                  <a16:creationId xmlns:a16="http://schemas.microsoft.com/office/drawing/2014/main" id="{E33DE2D3-DBBC-4760-A51E-188BC34F2F05}"/>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061" name="Rectangle 8">
            <a:extLst>
              <a:ext uri="{FF2B5EF4-FFF2-40B4-BE49-F238E27FC236}">
                <a16:creationId xmlns:a16="http://schemas.microsoft.com/office/drawing/2014/main" id="{569D02AD-2779-4C02-9221-9AC466229F4E}"/>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CBE756F-33ED-4E66-8996-32986844AA09}" type="slidenum">
              <a:rPr lang="en-US" altLang="en-US" sz="1700">
                <a:solidFill>
                  <a:srgbClr val="777777"/>
                </a:solidFill>
                <a:latin typeface="Tahoma" panose="020B0604030504040204" pitchFamily="34" charset="0"/>
              </a:rPr>
              <a:pPr algn="r" eaLnBrk="1" hangingPunct="1"/>
              <a:t>20</a:t>
            </a:fld>
            <a:endParaRPr lang="en-US" altLang="en-US" sz="1700">
              <a:solidFill>
                <a:srgbClr val="777777"/>
              </a:solidFill>
              <a:latin typeface="Tahoma" panose="020B0604030504040204" pitchFamily="34" charset="0"/>
            </a:endParaRPr>
          </a:p>
        </p:txBody>
      </p:sp>
      <p:grpSp>
        <p:nvGrpSpPr>
          <p:cNvPr id="45062" name="Group 8">
            <a:extLst>
              <a:ext uri="{FF2B5EF4-FFF2-40B4-BE49-F238E27FC236}">
                <a16:creationId xmlns:a16="http://schemas.microsoft.com/office/drawing/2014/main" id="{427E3E50-774A-4FD7-8B19-6A47FFA9619B}"/>
              </a:ext>
            </a:extLst>
          </p:cNvPr>
          <p:cNvGrpSpPr>
            <a:grpSpLocks/>
          </p:cNvGrpSpPr>
          <p:nvPr/>
        </p:nvGrpSpPr>
        <p:grpSpPr bwMode="auto">
          <a:xfrm>
            <a:off x="1050925" y="3317875"/>
            <a:ext cx="2754313" cy="2606675"/>
            <a:chOff x="662" y="2090"/>
            <a:chExt cx="1735" cy="1642"/>
          </a:xfrm>
        </p:grpSpPr>
        <p:grpSp>
          <p:nvGrpSpPr>
            <p:cNvPr id="45082" name="Group 9">
              <a:extLst>
                <a:ext uri="{FF2B5EF4-FFF2-40B4-BE49-F238E27FC236}">
                  <a16:creationId xmlns:a16="http://schemas.microsoft.com/office/drawing/2014/main" id="{8446D414-DF12-42E6-9032-45D9F7C4DEC6}"/>
                </a:ext>
              </a:extLst>
            </p:cNvPr>
            <p:cNvGrpSpPr>
              <a:grpSpLocks/>
            </p:cNvGrpSpPr>
            <p:nvPr/>
          </p:nvGrpSpPr>
          <p:grpSpPr bwMode="auto">
            <a:xfrm>
              <a:off x="1026" y="2228"/>
              <a:ext cx="1181" cy="1243"/>
              <a:chOff x="357" y="2450"/>
              <a:chExt cx="795" cy="646"/>
            </a:xfrm>
          </p:grpSpPr>
          <p:sp>
            <p:nvSpPr>
              <p:cNvPr id="45086" name="Line 10">
                <a:extLst>
                  <a:ext uri="{FF2B5EF4-FFF2-40B4-BE49-F238E27FC236}">
                    <a16:creationId xmlns:a16="http://schemas.microsoft.com/office/drawing/2014/main" id="{5D95D978-6AC6-4B42-A241-D0C0EE82223D}"/>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5087" name="Line 11">
                <a:extLst>
                  <a:ext uri="{FF2B5EF4-FFF2-40B4-BE49-F238E27FC236}">
                    <a16:creationId xmlns:a16="http://schemas.microsoft.com/office/drawing/2014/main" id="{584CC564-33CD-4750-850A-AAFAD24D84A4}"/>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083" name="Oval 12">
              <a:extLst>
                <a:ext uri="{FF2B5EF4-FFF2-40B4-BE49-F238E27FC236}">
                  <a16:creationId xmlns:a16="http://schemas.microsoft.com/office/drawing/2014/main" id="{D338496B-1C51-4D0A-A3E8-81AC8CD58F98}"/>
                </a:ext>
              </a:extLst>
            </p:cNvPr>
            <p:cNvSpPr>
              <a:spLocks noChangeArrowheads="1"/>
            </p:cNvSpPr>
            <p:nvPr/>
          </p:nvSpPr>
          <p:spPr bwMode="auto">
            <a:xfrm>
              <a:off x="2166" y="219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45084" name="Text Box 13">
              <a:extLst>
                <a:ext uri="{FF2B5EF4-FFF2-40B4-BE49-F238E27FC236}">
                  <a16:creationId xmlns:a16="http://schemas.microsoft.com/office/drawing/2014/main" id="{679481D7-B9F7-44FB-99AB-CA1951BF9214}"/>
                </a:ext>
              </a:extLst>
            </p:cNvPr>
            <p:cNvSpPr txBox="1">
              <a:spLocks noChangeArrowheads="1"/>
            </p:cNvSpPr>
            <p:nvPr/>
          </p:nvSpPr>
          <p:spPr bwMode="auto">
            <a:xfrm>
              <a:off x="662" y="2090"/>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45085" name="Text Box 14">
              <a:extLst>
                <a:ext uri="{FF2B5EF4-FFF2-40B4-BE49-F238E27FC236}">
                  <a16:creationId xmlns:a16="http://schemas.microsoft.com/office/drawing/2014/main" id="{1A87E366-3FE4-4242-B327-003FDBA409AF}"/>
                </a:ext>
              </a:extLst>
            </p:cNvPr>
            <p:cNvSpPr txBox="1">
              <a:spLocks noChangeArrowheads="1"/>
            </p:cNvSpPr>
            <p:nvPr/>
          </p:nvSpPr>
          <p:spPr bwMode="auto">
            <a:xfrm>
              <a:off x="2017" y="346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sp>
        <p:nvSpPr>
          <p:cNvPr id="257039" name="Text Box 15">
            <a:extLst>
              <a:ext uri="{FF2B5EF4-FFF2-40B4-BE49-F238E27FC236}">
                <a16:creationId xmlns:a16="http://schemas.microsoft.com/office/drawing/2014/main" id="{DCE53A00-2AA6-47B7-9F33-9C94900C4D08}"/>
              </a:ext>
            </a:extLst>
          </p:cNvPr>
          <p:cNvSpPr txBox="1">
            <a:spLocks noChangeArrowheads="1"/>
          </p:cNvSpPr>
          <p:nvPr/>
        </p:nvSpPr>
        <p:spPr bwMode="auto">
          <a:xfrm>
            <a:off x="5248275" y="1460500"/>
            <a:ext cx="3255963" cy="3165475"/>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a:cs typeface="Arial" panose="020B0604020202020204" pitchFamily="34" charset="0"/>
              </a:rPr>
              <a:t>CDs and </a:t>
            </a:r>
            <a:br>
              <a:rPr lang="en-US" altLang="en-US" sz="2600">
                <a:cs typeface="Arial" panose="020B0604020202020204" pitchFamily="34" charset="0"/>
              </a:rPr>
            </a:br>
            <a:r>
              <a:rPr lang="en-US" altLang="en-US" sz="2600">
                <a:cs typeface="Arial" panose="020B0604020202020204" pitchFamily="34" charset="0"/>
              </a:rPr>
              <a:t>music downloads are substitutes.  </a:t>
            </a:r>
          </a:p>
          <a:p>
            <a:pPr eaLnBrk="1" hangingPunct="1">
              <a:lnSpc>
                <a:spcPct val="105000"/>
              </a:lnSpc>
              <a:spcBef>
                <a:spcPct val="30000"/>
              </a:spcBef>
            </a:pPr>
            <a:r>
              <a:rPr lang="en-US" altLang="en-US" sz="2600">
                <a:cs typeface="Arial" panose="020B0604020202020204" pitchFamily="34" charset="0"/>
              </a:rPr>
              <a:t>A fall in price of CDs shifts demand for music downloads </a:t>
            </a:r>
            <a:br>
              <a:rPr lang="en-US" altLang="en-US" sz="2600">
                <a:cs typeface="Arial" panose="020B0604020202020204" pitchFamily="34" charset="0"/>
              </a:rPr>
            </a:br>
            <a:r>
              <a:rPr lang="en-US" altLang="en-US" sz="2600">
                <a:cs typeface="Arial" panose="020B0604020202020204" pitchFamily="34" charset="0"/>
              </a:rPr>
              <a:t>to the left. </a:t>
            </a:r>
          </a:p>
        </p:txBody>
      </p:sp>
      <p:grpSp>
        <p:nvGrpSpPr>
          <p:cNvPr id="45064" name="Group 16">
            <a:extLst>
              <a:ext uri="{FF2B5EF4-FFF2-40B4-BE49-F238E27FC236}">
                <a16:creationId xmlns:a16="http://schemas.microsoft.com/office/drawing/2014/main" id="{2C9DEEA8-F1DC-4220-AE9E-886F393DFD93}"/>
              </a:ext>
            </a:extLst>
          </p:cNvPr>
          <p:cNvGrpSpPr>
            <a:grpSpLocks/>
          </p:cNvGrpSpPr>
          <p:nvPr/>
        </p:nvGrpSpPr>
        <p:grpSpPr bwMode="auto">
          <a:xfrm>
            <a:off x="1624013" y="1741488"/>
            <a:ext cx="4714875" cy="3775075"/>
            <a:chOff x="2602" y="1083"/>
            <a:chExt cx="3055" cy="2115"/>
          </a:xfrm>
        </p:grpSpPr>
        <p:sp>
          <p:nvSpPr>
            <p:cNvPr id="45080" name="Line 17">
              <a:extLst>
                <a:ext uri="{FF2B5EF4-FFF2-40B4-BE49-F238E27FC236}">
                  <a16:creationId xmlns:a16="http://schemas.microsoft.com/office/drawing/2014/main" id="{93557D8F-2F8E-4E1C-9A9A-EB8DB51C10D0}"/>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1" name="Line 18">
              <a:extLst>
                <a:ext uri="{FF2B5EF4-FFF2-40B4-BE49-F238E27FC236}">
                  <a16:creationId xmlns:a16="http://schemas.microsoft.com/office/drawing/2014/main" id="{D736ACBD-0BC6-4CC2-927B-A8AFEBCC3802}"/>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065" name="Text Box 19">
            <a:extLst>
              <a:ext uri="{FF2B5EF4-FFF2-40B4-BE49-F238E27FC236}">
                <a16:creationId xmlns:a16="http://schemas.microsoft.com/office/drawing/2014/main" id="{127B5B87-22CF-4EC9-9945-2BADF045679F}"/>
              </a:ext>
            </a:extLst>
          </p:cNvPr>
          <p:cNvSpPr txBox="1">
            <a:spLocks noChangeArrowheads="1"/>
          </p:cNvSpPr>
          <p:nvPr/>
        </p:nvSpPr>
        <p:spPr bwMode="auto">
          <a:xfrm>
            <a:off x="260350" y="1546225"/>
            <a:ext cx="1300163"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music down-loads</a:t>
            </a:r>
          </a:p>
        </p:txBody>
      </p:sp>
      <p:sp>
        <p:nvSpPr>
          <p:cNvPr id="45066" name="Text Box 20">
            <a:extLst>
              <a:ext uri="{FF2B5EF4-FFF2-40B4-BE49-F238E27FC236}">
                <a16:creationId xmlns:a16="http://schemas.microsoft.com/office/drawing/2014/main" id="{960D51B6-65D8-412A-AA29-3FD7F49953DD}"/>
              </a:ext>
            </a:extLst>
          </p:cNvPr>
          <p:cNvSpPr txBox="1">
            <a:spLocks noChangeArrowheads="1"/>
          </p:cNvSpPr>
          <p:nvPr/>
        </p:nvSpPr>
        <p:spPr bwMode="auto">
          <a:xfrm>
            <a:off x="3894138" y="5502275"/>
            <a:ext cx="26352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a:t>
            </a:r>
            <a:br>
              <a:rPr lang="en-US" altLang="en-US" sz="2200">
                <a:cs typeface="Arial" panose="020B0604020202020204" pitchFamily="34" charset="0"/>
              </a:rPr>
            </a:br>
            <a:r>
              <a:rPr lang="en-US" altLang="en-US" sz="2200">
                <a:cs typeface="Arial" panose="020B0604020202020204" pitchFamily="34" charset="0"/>
              </a:rPr>
              <a:t>music downloads</a:t>
            </a:r>
          </a:p>
        </p:txBody>
      </p:sp>
      <p:grpSp>
        <p:nvGrpSpPr>
          <p:cNvPr id="45067" name="Group 21">
            <a:extLst>
              <a:ext uri="{FF2B5EF4-FFF2-40B4-BE49-F238E27FC236}">
                <a16:creationId xmlns:a16="http://schemas.microsoft.com/office/drawing/2014/main" id="{68986933-FB28-41B4-8B6E-F461D5AA918D}"/>
              </a:ext>
            </a:extLst>
          </p:cNvPr>
          <p:cNvGrpSpPr>
            <a:grpSpLocks/>
          </p:cNvGrpSpPr>
          <p:nvPr/>
        </p:nvGrpSpPr>
        <p:grpSpPr bwMode="auto">
          <a:xfrm>
            <a:off x="2384425" y="2136775"/>
            <a:ext cx="2732088" cy="3149600"/>
            <a:chOff x="1502" y="1346"/>
            <a:chExt cx="1721" cy="1984"/>
          </a:xfrm>
        </p:grpSpPr>
        <p:sp>
          <p:nvSpPr>
            <p:cNvPr id="45078" name="Line 22">
              <a:extLst>
                <a:ext uri="{FF2B5EF4-FFF2-40B4-BE49-F238E27FC236}">
                  <a16:creationId xmlns:a16="http://schemas.microsoft.com/office/drawing/2014/main" id="{483B35DC-70C4-4918-8501-0E7695C759F9}"/>
                </a:ext>
              </a:extLst>
            </p:cNvPr>
            <p:cNvSpPr>
              <a:spLocks noChangeShapeType="1"/>
            </p:cNvSpPr>
            <p:nvPr/>
          </p:nvSpPr>
          <p:spPr bwMode="auto">
            <a:xfrm>
              <a:off x="1502" y="1346"/>
              <a:ext cx="1412" cy="17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9" name="Text Box 23">
              <a:extLst>
                <a:ext uri="{FF2B5EF4-FFF2-40B4-BE49-F238E27FC236}">
                  <a16:creationId xmlns:a16="http://schemas.microsoft.com/office/drawing/2014/main" id="{509A7E8B-3567-4FC2-AF26-A67B34C8A2D4}"/>
                </a:ext>
              </a:extLst>
            </p:cNvPr>
            <p:cNvSpPr txBox="1">
              <a:spLocks noChangeArrowheads="1"/>
            </p:cNvSpPr>
            <p:nvPr/>
          </p:nvSpPr>
          <p:spPr bwMode="auto">
            <a:xfrm>
              <a:off x="2843" y="3061"/>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D</a:t>
              </a:r>
              <a:r>
                <a:rPr lang="en-US" altLang="en-US" sz="2200" b="1" baseline="-25000">
                  <a:latin typeface="Tahoma" panose="020B0604030504040204" pitchFamily="34" charset="0"/>
                  <a:cs typeface="Arial" panose="020B0604020202020204" pitchFamily="34" charset="0"/>
                </a:rPr>
                <a:t>1</a:t>
              </a:r>
            </a:p>
          </p:txBody>
        </p:sp>
      </p:grpSp>
      <p:grpSp>
        <p:nvGrpSpPr>
          <p:cNvPr id="7" name="Group 24">
            <a:extLst>
              <a:ext uri="{FF2B5EF4-FFF2-40B4-BE49-F238E27FC236}">
                <a16:creationId xmlns:a16="http://schemas.microsoft.com/office/drawing/2014/main" id="{243FA72C-EE4F-4DFA-B074-64F27A3BB0E3}"/>
              </a:ext>
            </a:extLst>
          </p:cNvPr>
          <p:cNvGrpSpPr>
            <a:grpSpLocks/>
          </p:cNvGrpSpPr>
          <p:nvPr/>
        </p:nvGrpSpPr>
        <p:grpSpPr bwMode="auto">
          <a:xfrm>
            <a:off x="1866900" y="2670175"/>
            <a:ext cx="2482850" cy="2705100"/>
            <a:chOff x="1176" y="1682"/>
            <a:chExt cx="1564" cy="1704"/>
          </a:xfrm>
        </p:grpSpPr>
        <p:sp>
          <p:nvSpPr>
            <p:cNvPr id="45076" name="Line 25">
              <a:extLst>
                <a:ext uri="{FF2B5EF4-FFF2-40B4-BE49-F238E27FC236}">
                  <a16:creationId xmlns:a16="http://schemas.microsoft.com/office/drawing/2014/main" id="{08DB2F9A-5186-4EC7-9BD7-8F2C3E7FA7C2}"/>
                </a:ext>
              </a:extLst>
            </p:cNvPr>
            <p:cNvSpPr>
              <a:spLocks noChangeShapeType="1"/>
            </p:cNvSpPr>
            <p:nvPr/>
          </p:nvSpPr>
          <p:spPr bwMode="auto">
            <a:xfrm>
              <a:off x="1176" y="1682"/>
              <a:ext cx="1238" cy="155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7" name="Text Box 26">
              <a:extLst>
                <a:ext uri="{FF2B5EF4-FFF2-40B4-BE49-F238E27FC236}">
                  <a16:creationId xmlns:a16="http://schemas.microsoft.com/office/drawing/2014/main" id="{D0BF18A5-49C3-4ACD-9549-B5164E38A6C7}"/>
                </a:ext>
              </a:extLst>
            </p:cNvPr>
            <p:cNvSpPr txBox="1">
              <a:spLocks noChangeArrowheads="1"/>
            </p:cNvSpPr>
            <p:nvPr/>
          </p:nvSpPr>
          <p:spPr bwMode="auto">
            <a:xfrm>
              <a:off x="2360" y="3117"/>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solidFill>
                    <a:srgbClr val="A50021"/>
                  </a:solidFill>
                  <a:latin typeface="Tahoma" panose="020B0604030504040204" pitchFamily="34" charset="0"/>
                  <a:cs typeface="Arial" panose="020B0604020202020204" pitchFamily="34" charset="0"/>
                </a:rPr>
                <a:t>D</a:t>
              </a:r>
              <a:r>
                <a:rPr lang="en-US" altLang="en-US" sz="2200" b="1" baseline="-25000">
                  <a:solidFill>
                    <a:srgbClr val="A50021"/>
                  </a:solidFill>
                  <a:latin typeface="Tahoma" panose="020B0604030504040204" pitchFamily="34" charset="0"/>
                  <a:cs typeface="Arial" panose="020B0604020202020204" pitchFamily="34" charset="0"/>
                </a:rPr>
                <a:t>2</a:t>
              </a:r>
            </a:p>
          </p:txBody>
        </p:sp>
      </p:grpSp>
      <p:sp>
        <p:nvSpPr>
          <p:cNvPr id="257051" name="Line 27">
            <a:extLst>
              <a:ext uri="{FF2B5EF4-FFF2-40B4-BE49-F238E27FC236}">
                <a16:creationId xmlns:a16="http://schemas.microsoft.com/office/drawing/2014/main" id="{2343E47A-6887-482D-96AD-45AA5169393D}"/>
              </a:ext>
            </a:extLst>
          </p:cNvPr>
          <p:cNvSpPr>
            <a:spLocks noChangeShapeType="1"/>
          </p:cNvSpPr>
          <p:nvPr/>
        </p:nvSpPr>
        <p:spPr bwMode="auto">
          <a:xfrm rot="10800000">
            <a:off x="2620963" y="3538538"/>
            <a:ext cx="823912" cy="0"/>
          </a:xfrm>
          <a:prstGeom prst="line">
            <a:avLst/>
          </a:prstGeom>
          <a:noFill/>
          <a:ln w="44450">
            <a:solidFill>
              <a:srgbClr val="CC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8" name="Group 28">
            <a:extLst>
              <a:ext uri="{FF2B5EF4-FFF2-40B4-BE49-F238E27FC236}">
                <a16:creationId xmlns:a16="http://schemas.microsoft.com/office/drawing/2014/main" id="{F7235DE5-BAE7-4F7F-89A8-779BAC8B422B}"/>
              </a:ext>
            </a:extLst>
          </p:cNvPr>
          <p:cNvGrpSpPr>
            <a:grpSpLocks/>
          </p:cNvGrpSpPr>
          <p:nvPr/>
        </p:nvGrpSpPr>
        <p:grpSpPr bwMode="auto">
          <a:xfrm>
            <a:off x="1620838" y="3470275"/>
            <a:ext cx="1247775" cy="2457450"/>
            <a:chOff x="1021" y="2186"/>
            <a:chExt cx="786" cy="1548"/>
          </a:xfrm>
        </p:grpSpPr>
        <p:grpSp>
          <p:nvGrpSpPr>
            <p:cNvPr id="45071" name="Group 29">
              <a:extLst>
                <a:ext uri="{FF2B5EF4-FFF2-40B4-BE49-F238E27FC236}">
                  <a16:creationId xmlns:a16="http://schemas.microsoft.com/office/drawing/2014/main" id="{7F40B03B-8B69-45E7-8C49-BA6EF9AF9CE2}"/>
                </a:ext>
              </a:extLst>
            </p:cNvPr>
            <p:cNvGrpSpPr>
              <a:grpSpLocks/>
            </p:cNvGrpSpPr>
            <p:nvPr/>
          </p:nvGrpSpPr>
          <p:grpSpPr bwMode="auto">
            <a:xfrm>
              <a:off x="1021" y="2229"/>
              <a:ext cx="587" cy="1243"/>
              <a:chOff x="357" y="2450"/>
              <a:chExt cx="795" cy="646"/>
            </a:xfrm>
          </p:grpSpPr>
          <p:sp>
            <p:nvSpPr>
              <p:cNvPr id="45074" name="Line 30">
                <a:extLst>
                  <a:ext uri="{FF2B5EF4-FFF2-40B4-BE49-F238E27FC236}">
                    <a16:creationId xmlns:a16="http://schemas.microsoft.com/office/drawing/2014/main" id="{4F997CB6-9B23-4CA3-9814-0F6AD9852630}"/>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5075" name="Line 31">
                <a:extLst>
                  <a:ext uri="{FF2B5EF4-FFF2-40B4-BE49-F238E27FC236}">
                    <a16:creationId xmlns:a16="http://schemas.microsoft.com/office/drawing/2014/main" id="{BEDEEFEF-EC64-4E4D-ADC8-F42E4A38D1ED}"/>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072" name="Oval 32">
              <a:extLst>
                <a:ext uri="{FF2B5EF4-FFF2-40B4-BE49-F238E27FC236}">
                  <a16:creationId xmlns:a16="http://schemas.microsoft.com/office/drawing/2014/main" id="{59C9C7A2-E04F-43B8-AEBD-95D3B2A0FA96}"/>
                </a:ext>
              </a:extLst>
            </p:cNvPr>
            <p:cNvSpPr>
              <a:spLocks noChangeArrowheads="1"/>
            </p:cNvSpPr>
            <p:nvPr/>
          </p:nvSpPr>
          <p:spPr bwMode="auto">
            <a:xfrm>
              <a:off x="1561" y="2186"/>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45073" name="Text Box 33">
              <a:extLst>
                <a:ext uri="{FF2B5EF4-FFF2-40B4-BE49-F238E27FC236}">
                  <a16:creationId xmlns:a16="http://schemas.microsoft.com/office/drawing/2014/main" id="{36547680-D8CB-442D-9C7B-52E53EC741C4}"/>
                </a:ext>
              </a:extLst>
            </p:cNvPr>
            <p:cNvSpPr txBox="1">
              <a:spLocks noChangeArrowheads="1"/>
            </p:cNvSpPr>
            <p:nvPr/>
          </p:nvSpPr>
          <p:spPr bwMode="auto">
            <a:xfrm>
              <a:off x="1427" y="3465"/>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gr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7039"/>
                                        </p:tgtEl>
                                        <p:attrNameLst>
                                          <p:attrName>style.visibility</p:attrName>
                                        </p:attrNameLst>
                                      </p:cBhvr>
                                      <p:to>
                                        <p:strVal val="visible"/>
                                      </p:to>
                                    </p:set>
                                    <p:animEffect transition="in" filter="dissolve">
                                      <p:cBhvr>
                                        <p:cTn id="7" dur="500"/>
                                        <p:tgtEl>
                                          <p:spTgt spid="2570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257051"/>
                                        </p:tgtEl>
                                        <p:attrNameLst>
                                          <p:attrName>style.visibility</p:attrName>
                                        </p:attrNameLst>
                                      </p:cBhvr>
                                      <p:to>
                                        <p:strVal val="visible"/>
                                      </p:to>
                                    </p:set>
                                    <p:animEffect transition="in" filter="wipe(right)">
                                      <p:cBhvr>
                                        <p:cTn id="12" dur="500"/>
                                        <p:tgtEl>
                                          <p:spTgt spid="257051"/>
                                        </p:tgtEl>
                                      </p:cBhvr>
                                    </p:animEffect>
                                  </p:childTnLst>
                                </p:cTn>
                              </p:par>
                            </p:childTnLst>
                          </p:cTn>
                        </p:par>
                        <p:par>
                          <p:cTn id="13" fill="hold" nodeType="after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trips(downRight)">
                                      <p:cBhvr>
                                        <p:cTn id="16" dur="500"/>
                                        <p:tgtEl>
                                          <p:spTgt spid="7"/>
                                        </p:tgtEl>
                                      </p:cBhvr>
                                    </p:animEffect>
                                  </p:childTnLst>
                                </p:cTn>
                              </p:par>
                            </p:childTnLst>
                          </p:cTn>
                        </p:par>
                        <p:par>
                          <p:cTn id="17" fill="hold" nodeType="afterGroup">
                            <p:stCondLst>
                              <p:cond delay="1000"/>
                            </p:stCondLst>
                            <p:childTnLst>
                              <p:par>
                                <p:cTn id="18" presetID="18" presetClass="entr" presetSubtype="12"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strips(downLeft)">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9"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Footer Placeholder 1">
            <a:extLst>
              <a:ext uri="{FF2B5EF4-FFF2-40B4-BE49-F238E27FC236}">
                <a16:creationId xmlns:a16="http://schemas.microsoft.com/office/drawing/2014/main" id="{7EAF7246-919C-4601-B061-169AE7F1C2EB}"/>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47107" name="Slide Number Placeholder 2">
            <a:extLst>
              <a:ext uri="{FF2B5EF4-FFF2-40B4-BE49-F238E27FC236}">
                <a16:creationId xmlns:a16="http://schemas.microsoft.com/office/drawing/2014/main" id="{1F374277-0797-43B1-8BD6-7B6A8DFD7916}"/>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61DFF05-5601-4EBC-907A-141A965C5265}" type="slidenum">
              <a:rPr lang="en-US" altLang="en-US">
                <a:solidFill>
                  <a:srgbClr val="777777"/>
                </a:solidFill>
                <a:latin typeface="Tahoma" panose="020B0604030504040204" pitchFamily="34" charset="0"/>
              </a:rPr>
              <a:pPr/>
              <a:t>21</a:t>
            </a:fld>
            <a:endParaRPr lang="en-US" altLang="en-US">
              <a:solidFill>
                <a:srgbClr val="777777"/>
              </a:solidFill>
              <a:latin typeface="Tahoma" panose="020B0604030504040204" pitchFamily="34" charset="0"/>
            </a:endParaRPr>
          </a:p>
        </p:txBody>
      </p:sp>
      <p:sp>
        <p:nvSpPr>
          <p:cNvPr id="47108" name="Rectangle 2">
            <a:extLst>
              <a:ext uri="{FF2B5EF4-FFF2-40B4-BE49-F238E27FC236}">
                <a16:creationId xmlns:a16="http://schemas.microsoft.com/office/drawing/2014/main" id="{FAE9FCDE-2466-4D6C-9F7F-324BD397F9A1}"/>
              </a:ext>
            </a:extLst>
          </p:cNvPr>
          <p:cNvSpPr>
            <a:spLocks noGrp="1" noChangeArrowheads="1"/>
          </p:cNvSpPr>
          <p:nvPr>
            <p:ph type="title" idx="4294967295"/>
          </p:nvPr>
        </p:nvSpPr>
        <p:spPr/>
        <p:txBody>
          <a:bodyPr/>
          <a:lstStyle/>
          <a:p>
            <a:pPr eaLnBrk="1" hangingPunct="1"/>
            <a:r>
              <a:rPr lang="en-US" altLang="en-US"/>
              <a:t>Supply</a:t>
            </a:r>
          </a:p>
        </p:txBody>
      </p:sp>
      <p:sp>
        <p:nvSpPr>
          <p:cNvPr id="47109" name="Rectangle 3">
            <a:extLst>
              <a:ext uri="{FF2B5EF4-FFF2-40B4-BE49-F238E27FC236}">
                <a16:creationId xmlns:a16="http://schemas.microsoft.com/office/drawing/2014/main" id="{2E3E6453-9355-4F16-95CB-E3511F6E3D25}"/>
              </a:ext>
            </a:extLst>
          </p:cNvPr>
          <p:cNvSpPr>
            <a:spLocks noGrp="1" noChangeArrowheads="1"/>
          </p:cNvSpPr>
          <p:nvPr>
            <p:ph type="body" idx="4294967295"/>
          </p:nvPr>
        </p:nvSpPr>
        <p:spPr/>
        <p:txBody>
          <a:bodyPr/>
          <a:lstStyle/>
          <a:p>
            <a:pPr eaLnBrk="1" hangingPunct="1"/>
            <a:r>
              <a:rPr lang="en-US" altLang="en-US" dirty="0"/>
              <a:t>The </a:t>
            </a:r>
            <a:r>
              <a:rPr lang="en-US" altLang="en-US" b="1" dirty="0">
                <a:solidFill>
                  <a:srgbClr val="CC0000"/>
                </a:solidFill>
              </a:rPr>
              <a:t>quantity supplied</a:t>
            </a:r>
            <a:r>
              <a:rPr lang="en-US" altLang="en-US" dirty="0"/>
              <a:t> of any good is the amount that sellers are willing and able to sell. </a:t>
            </a:r>
          </a:p>
          <a:p>
            <a:pPr eaLnBrk="1" hangingPunct="1"/>
            <a:r>
              <a:rPr lang="en-US" altLang="en-US" b="1" dirty="0">
                <a:solidFill>
                  <a:srgbClr val="CC0000"/>
                </a:solidFill>
              </a:rPr>
              <a:t>Law of supply</a:t>
            </a:r>
            <a:r>
              <a:rPr lang="en-US" altLang="en-US" dirty="0"/>
              <a:t>:  the claim that the quantity supplied of a good rises when the price of the good rises, other things equal  </a:t>
            </a:r>
          </a:p>
        </p:txBody>
      </p:sp>
      <p:sp>
        <p:nvSpPr>
          <p:cNvPr id="47110" name="FlagCount" hidden="1">
            <a:hlinkClick r:id="rId3" action="ppaction://hlinkfile"/>
            <a:extLst>
              <a:ext uri="{FF2B5EF4-FFF2-40B4-BE49-F238E27FC236}">
                <a16:creationId xmlns:a16="http://schemas.microsoft.com/office/drawing/2014/main" id="{90EB8BC7-5D2F-4561-8145-9BB31380AA9D}"/>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9">
                                            <p:txEl>
                                              <p:pRg st="0" end="0"/>
                                            </p:txEl>
                                          </p:spTgt>
                                        </p:tgtEl>
                                        <p:attrNameLst>
                                          <p:attrName>style.visibility</p:attrName>
                                        </p:attrNameLst>
                                      </p:cBhvr>
                                      <p:to>
                                        <p:strVal val="visible"/>
                                      </p:to>
                                    </p:set>
                                    <p:animEffect transition="in" filter="wipe(left)">
                                      <p:cBhvr>
                                        <p:cTn id="7" dur="500"/>
                                        <p:tgtEl>
                                          <p:spTgt spid="471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9">
                                            <p:txEl>
                                              <p:pRg st="1" end="1"/>
                                            </p:txEl>
                                          </p:spTgt>
                                        </p:tgtEl>
                                        <p:attrNameLst>
                                          <p:attrName>style.visibility</p:attrName>
                                        </p:attrNameLst>
                                      </p:cBhvr>
                                      <p:to>
                                        <p:strVal val="visible"/>
                                      </p:to>
                                    </p:set>
                                    <p:animEffect transition="in" filter="wipe(left)">
                                      <p:cBhvr>
                                        <p:cTn id="12" dur="500"/>
                                        <p:tgtEl>
                                          <p:spTgt spid="4710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build="p" bldLvl="4"/>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Footer Placeholder 1">
            <a:extLst>
              <a:ext uri="{FF2B5EF4-FFF2-40B4-BE49-F238E27FC236}">
                <a16:creationId xmlns:a16="http://schemas.microsoft.com/office/drawing/2014/main" id="{2AADF791-FAFC-4684-A16B-02B7EFF8EED9}"/>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49155" name="Slide Number Placeholder 2">
            <a:extLst>
              <a:ext uri="{FF2B5EF4-FFF2-40B4-BE49-F238E27FC236}">
                <a16:creationId xmlns:a16="http://schemas.microsoft.com/office/drawing/2014/main" id="{5ABEC817-81F5-4484-A62F-1E088031F001}"/>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2E6118D-BBDB-4934-BE27-156CC94D8D8E}" type="slidenum">
              <a:rPr lang="en-US" altLang="en-US">
                <a:solidFill>
                  <a:srgbClr val="777777"/>
                </a:solidFill>
                <a:latin typeface="Tahoma" panose="020B0604030504040204" pitchFamily="34" charset="0"/>
              </a:rPr>
              <a:pPr/>
              <a:t>22</a:t>
            </a:fld>
            <a:endParaRPr lang="en-US" altLang="en-US">
              <a:solidFill>
                <a:srgbClr val="777777"/>
              </a:solidFill>
              <a:latin typeface="Tahoma" panose="020B0604030504040204" pitchFamily="34" charset="0"/>
            </a:endParaRPr>
          </a:p>
        </p:txBody>
      </p:sp>
      <p:sp>
        <p:nvSpPr>
          <p:cNvPr id="49156" name="Rectangle 2">
            <a:extLst>
              <a:ext uri="{FF2B5EF4-FFF2-40B4-BE49-F238E27FC236}">
                <a16:creationId xmlns:a16="http://schemas.microsoft.com/office/drawing/2014/main" id="{0C3BF827-C9E4-4809-BF3D-35612F2CD683}"/>
              </a:ext>
            </a:extLst>
          </p:cNvPr>
          <p:cNvSpPr>
            <a:spLocks noGrp="1" noChangeArrowheads="1"/>
          </p:cNvSpPr>
          <p:nvPr>
            <p:ph type="title" idx="4294967295"/>
          </p:nvPr>
        </p:nvSpPr>
        <p:spPr>
          <a:xfrm>
            <a:off x="222250" y="0"/>
            <a:ext cx="8686800" cy="901700"/>
          </a:xfrm>
        </p:spPr>
        <p:txBody>
          <a:bodyPr/>
          <a:lstStyle/>
          <a:p>
            <a:pPr eaLnBrk="1" hangingPunct="1"/>
            <a:r>
              <a:rPr lang="en-US" altLang="en-US" sz="3400"/>
              <a:t>The Supply Schedule</a:t>
            </a:r>
          </a:p>
        </p:txBody>
      </p:sp>
      <p:sp>
        <p:nvSpPr>
          <p:cNvPr id="49157" name="Rectangle 3">
            <a:extLst>
              <a:ext uri="{FF2B5EF4-FFF2-40B4-BE49-F238E27FC236}">
                <a16:creationId xmlns:a16="http://schemas.microsoft.com/office/drawing/2014/main" id="{C083C319-06A2-4696-AA94-6992C3467B24}"/>
              </a:ext>
            </a:extLst>
          </p:cNvPr>
          <p:cNvSpPr>
            <a:spLocks noGrp="1" noChangeArrowheads="1"/>
          </p:cNvSpPr>
          <p:nvPr>
            <p:ph type="body" idx="4294967295"/>
          </p:nvPr>
        </p:nvSpPr>
        <p:spPr>
          <a:xfrm>
            <a:off x="531813" y="1003300"/>
            <a:ext cx="5099050" cy="3527425"/>
          </a:xfrm>
        </p:spPr>
        <p:txBody>
          <a:bodyPr/>
          <a:lstStyle/>
          <a:p>
            <a:pPr eaLnBrk="1" hangingPunct="1"/>
            <a:r>
              <a:rPr lang="en-US" altLang="en-US" b="1">
                <a:solidFill>
                  <a:srgbClr val="CC0000"/>
                </a:solidFill>
              </a:rPr>
              <a:t>Supply schedule</a:t>
            </a:r>
            <a:r>
              <a:rPr lang="en-US" altLang="en-US"/>
              <a:t>:   </a:t>
            </a:r>
            <a:br>
              <a:rPr lang="en-US" altLang="en-US"/>
            </a:br>
            <a:r>
              <a:rPr lang="en-US" altLang="en-US"/>
              <a:t>A table that shows the relationship between the price of a good and the quantity supplied. </a:t>
            </a:r>
          </a:p>
          <a:p>
            <a:pPr eaLnBrk="1" hangingPunct="1">
              <a:spcBef>
                <a:spcPct val="60000"/>
              </a:spcBef>
            </a:pPr>
            <a:r>
              <a:rPr lang="en-US" altLang="en-US"/>
              <a:t>Example:  </a:t>
            </a:r>
            <a:br>
              <a:rPr lang="en-US" altLang="en-US"/>
            </a:br>
            <a:r>
              <a:rPr lang="en-US" altLang="en-US"/>
              <a:t>Starbucks’ supply of lattes.</a:t>
            </a:r>
          </a:p>
        </p:txBody>
      </p:sp>
      <p:sp>
        <p:nvSpPr>
          <p:cNvPr id="94212" name="Rectangle 4">
            <a:extLst>
              <a:ext uri="{FF2B5EF4-FFF2-40B4-BE49-F238E27FC236}">
                <a16:creationId xmlns:a16="http://schemas.microsoft.com/office/drawing/2014/main" id="{55163275-76A9-4536-BAB8-FE78669A587F}"/>
              </a:ext>
            </a:extLst>
          </p:cNvPr>
          <p:cNvSpPr>
            <a:spLocks noChangeArrowheads="1"/>
          </p:cNvSpPr>
          <p:nvPr/>
        </p:nvSpPr>
        <p:spPr bwMode="auto">
          <a:xfrm>
            <a:off x="554038" y="4679950"/>
            <a:ext cx="48402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a:cs typeface="Arial" panose="020B0604020202020204" pitchFamily="34" charset="0"/>
              </a:rPr>
              <a:t>Notice that Starbucks’ supply schedule obeys the </a:t>
            </a:r>
            <a:br>
              <a:rPr lang="en-US" altLang="en-US">
                <a:cs typeface="Arial" panose="020B0604020202020204" pitchFamily="34" charset="0"/>
              </a:rPr>
            </a:br>
            <a:r>
              <a:rPr lang="en-US" altLang="en-US">
                <a:cs typeface="Arial" panose="020B0604020202020204" pitchFamily="34" charset="0"/>
              </a:rPr>
              <a:t>Law of Supply.  </a:t>
            </a:r>
          </a:p>
        </p:txBody>
      </p:sp>
      <p:graphicFrame>
        <p:nvGraphicFramePr>
          <p:cNvPr id="94213" name="Group 5">
            <a:extLst>
              <a:ext uri="{FF2B5EF4-FFF2-40B4-BE49-F238E27FC236}">
                <a16:creationId xmlns:a16="http://schemas.microsoft.com/office/drawing/2014/main" id="{55154E78-4FA1-4216-B8DD-9C6DB4B1AA46}"/>
              </a:ext>
            </a:extLst>
          </p:cNvPr>
          <p:cNvGraphicFramePr>
            <a:graphicFrameLocks noGrp="1"/>
          </p:cNvGraphicFramePr>
          <p:nvPr/>
        </p:nvGraphicFramePr>
        <p:xfrm>
          <a:off x="6048375" y="889000"/>
          <a:ext cx="2651125" cy="4572000"/>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127371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Price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a:t>
                      </a:r>
                    </a:p>
                  </a:txBody>
                  <a:tcPr marT="47854" marB="47854"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Quantity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 supplied</a:t>
                      </a:r>
                    </a:p>
                  </a:txBody>
                  <a:tcPr marT="47854" marB="47854"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9</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18</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extLst>
                  <a:ext uri="{0D108BD9-81ED-4DB2-BD59-A6C34878D82A}">
                    <a16:rowId xmlns:a16="http://schemas.microsoft.com/office/drawing/2014/main" val="10007"/>
                  </a:ext>
                </a:extLst>
              </a:tr>
            </a:tbl>
          </a:graphicData>
        </a:graphic>
      </p:graphicFrame>
      <p:sp>
        <p:nvSpPr>
          <p:cNvPr id="49184" name="FlagCount" hidden="1">
            <a:hlinkClick r:id="rId3" action="ppaction://hlinkfile"/>
            <a:extLst>
              <a:ext uri="{FF2B5EF4-FFF2-40B4-BE49-F238E27FC236}">
                <a16:creationId xmlns:a16="http://schemas.microsoft.com/office/drawing/2014/main" id="{584D1DE2-7318-408E-83A2-5B3827399952}"/>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7">
                                            <p:txEl>
                                              <p:pRg st="0" end="0"/>
                                            </p:txEl>
                                          </p:spTgt>
                                        </p:tgtEl>
                                        <p:attrNameLst>
                                          <p:attrName>style.visibility</p:attrName>
                                        </p:attrNameLst>
                                      </p:cBhvr>
                                      <p:to>
                                        <p:strVal val="visible"/>
                                      </p:to>
                                    </p:set>
                                    <p:animEffect transition="in" filter="wipe(left)">
                                      <p:cBhvr>
                                        <p:cTn id="7" dur="500"/>
                                        <p:tgtEl>
                                          <p:spTgt spid="491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7">
                                            <p:txEl>
                                              <p:pRg st="1" end="1"/>
                                            </p:txEl>
                                          </p:spTgt>
                                        </p:tgtEl>
                                        <p:attrNameLst>
                                          <p:attrName>style.visibility</p:attrName>
                                        </p:attrNameLst>
                                      </p:cBhvr>
                                      <p:to>
                                        <p:strVal val="visible"/>
                                      </p:to>
                                    </p:set>
                                    <p:animEffect transition="in" filter="wipe(left)">
                                      <p:cBhvr>
                                        <p:cTn id="12" dur="500"/>
                                        <p:tgtEl>
                                          <p:spTgt spid="49157">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94213"/>
                                        </p:tgtEl>
                                        <p:attrNameLst>
                                          <p:attrName>style.visibility</p:attrName>
                                        </p:attrNameLst>
                                      </p:cBhvr>
                                      <p:to>
                                        <p:strVal val="visible"/>
                                      </p:to>
                                    </p:set>
                                    <p:animEffect transition="in" filter="dissolve">
                                      <p:cBhvr>
                                        <p:cTn id="16" dur="500"/>
                                        <p:tgtEl>
                                          <p:spTgt spid="9421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4212"/>
                                        </p:tgtEl>
                                        <p:attrNameLst>
                                          <p:attrName>style.visibility</p:attrName>
                                        </p:attrNameLst>
                                      </p:cBhvr>
                                      <p:to>
                                        <p:strVal val="visible"/>
                                      </p:to>
                                    </p:set>
                                    <p:animEffect transition="in" filter="wipe(left)">
                                      <p:cBhvr>
                                        <p:cTn id="21" dur="500"/>
                                        <p:tgtEl>
                                          <p:spTgt spid="94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build="p" bldLvl="4"/>
      <p:bldP spid="942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1">
            <a:extLst>
              <a:ext uri="{FF2B5EF4-FFF2-40B4-BE49-F238E27FC236}">
                <a16:creationId xmlns:a16="http://schemas.microsoft.com/office/drawing/2014/main" id="{84E86CD5-5A3F-4977-A7BB-CF1AAD93C6DD}"/>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51203" name="Slide Number Placeholder 2">
            <a:extLst>
              <a:ext uri="{FF2B5EF4-FFF2-40B4-BE49-F238E27FC236}">
                <a16:creationId xmlns:a16="http://schemas.microsoft.com/office/drawing/2014/main" id="{214D760A-490D-42A9-92AA-225581CD622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AE3DF5-A6AC-4AE2-B30A-9BE2BB07C426}" type="slidenum">
              <a:rPr lang="en-US" altLang="en-US">
                <a:solidFill>
                  <a:srgbClr val="777777"/>
                </a:solidFill>
                <a:latin typeface="Tahoma" panose="020B0604030504040204" pitchFamily="34" charset="0"/>
              </a:rPr>
              <a:pPr/>
              <a:t>23</a:t>
            </a:fld>
            <a:endParaRPr lang="en-US" altLang="en-US">
              <a:solidFill>
                <a:srgbClr val="777777"/>
              </a:solidFill>
              <a:latin typeface="Tahoma" panose="020B0604030504040204" pitchFamily="34" charset="0"/>
            </a:endParaRPr>
          </a:p>
        </p:txBody>
      </p:sp>
      <p:graphicFrame>
        <p:nvGraphicFramePr>
          <p:cNvPr id="51204" name="Object 2">
            <a:extLst>
              <a:ext uri="{FF2B5EF4-FFF2-40B4-BE49-F238E27FC236}">
                <a16:creationId xmlns:a16="http://schemas.microsoft.com/office/drawing/2014/main" id="{04379CE6-7222-4AE0-A924-84CCFF00B284}"/>
              </a:ext>
            </a:extLst>
          </p:cNvPr>
          <p:cNvGraphicFramePr>
            <a:graphicFrameLocks noChangeAspect="1"/>
          </p:cNvGraphicFramePr>
          <p:nvPr/>
        </p:nvGraphicFramePr>
        <p:xfrm>
          <a:off x="277813" y="1157288"/>
          <a:ext cx="5151437" cy="5121275"/>
        </p:xfrm>
        <a:graphic>
          <a:graphicData uri="http://schemas.openxmlformats.org/presentationml/2006/ole">
            <mc:AlternateContent xmlns:mc="http://schemas.openxmlformats.org/markup-compatibility/2006">
              <mc:Choice xmlns:v="urn:schemas-microsoft-com:vml" Requires="v">
                <p:oleObj name="Chart" r:id="rId3" imgW="3733800" imgH="3724351" progId="Excel.Chart.8">
                  <p:embed/>
                </p:oleObj>
              </mc:Choice>
              <mc:Fallback>
                <p:oleObj name="Chart" r:id="rId3" imgW="3733800" imgH="3724351"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3" y="1157288"/>
                        <a:ext cx="5151437" cy="512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3">
            <a:extLst>
              <a:ext uri="{FF2B5EF4-FFF2-40B4-BE49-F238E27FC236}">
                <a16:creationId xmlns:a16="http://schemas.microsoft.com/office/drawing/2014/main" id="{D8C83B4F-8A68-47DC-BBB7-A890917981D4}"/>
              </a:ext>
            </a:extLst>
          </p:cNvPr>
          <p:cNvGrpSpPr>
            <a:grpSpLocks/>
          </p:cNvGrpSpPr>
          <p:nvPr/>
        </p:nvGrpSpPr>
        <p:grpSpPr bwMode="auto">
          <a:xfrm>
            <a:off x="1312863" y="4256088"/>
            <a:ext cx="1157287" cy="1262062"/>
            <a:chOff x="827" y="2681"/>
            <a:chExt cx="729" cy="795"/>
          </a:xfrm>
        </p:grpSpPr>
        <p:grpSp>
          <p:nvGrpSpPr>
            <p:cNvPr id="51269" name="Group 4">
              <a:extLst>
                <a:ext uri="{FF2B5EF4-FFF2-40B4-BE49-F238E27FC236}">
                  <a16:creationId xmlns:a16="http://schemas.microsoft.com/office/drawing/2014/main" id="{721A6FDC-6FED-4682-88DD-2E8DC8CB33C9}"/>
                </a:ext>
              </a:extLst>
            </p:cNvPr>
            <p:cNvGrpSpPr>
              <a:grpSpLocks/>
            </p:cNvGrpSpPr>
            <p:nvPr/>
          </p:nvGrpSpPr>
          <p:grpSpPr bwMode="auto">
            <a:xfrm>
              <a:off x="827" y="2724"/>
              <a:ext cx="685" cy="752"/>
              <a:chOff x="357" y="2450"/>
              <a:chExt cx="795" cy="646"/>
            </a:xfrm>
          </p:grpSpPr>
          <p:sp>
            <p:nvSpPr>
              <p:cNvPr id="51271" name="Line 5">
                <a:extLst>
                  <a:ext uri="{FF2B5EF4-FFF2-40B4-BE49-F238E27FC236}">
                    <a16:creationId xmlns:a16="http://schemas.microsoft.com/office/drawing/2014/main" id="{4F2B622E-EA74-4ED5-B472-11E5B66D8EC9}"/>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72" name="Line 6">
                <a:extLst>
                  <a:ext uri="{FF2B5EF4-FFF2-40B4-BE49-F238E27FC236}">
                    <a16:creationId xmlns:a16="http://schemas.microsoft.com/office/drawing/2014/main" id="{C5245485-4BAD-4031-9470-BFDEDE48AFC8}"/>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70" name="Oval 7">
              <a:extLst>
                <a:ext uri="{FF2B5EF4-FFF2-40B4-BE49-F238E27FC236}">
                  <a16:creationId xmlns:a16="http://schemas.microsoft.com/office/drawing/2014/main" id="{99506011-0E62-4C18-B460-C6DF25BBF0BB}"/>
                </a:ext>
              </a:extLst>
            </p:cNvPr>
            <p:cNvSpPr>
              <a:spLocks noChangeArrowheads="1"/>
            </p:cNvSpPr>
            <p:nvPr/>
          </p:nvSpPr>
          <p:spPr bwMode="auto">
            <a:xfrm>
              <a:off x="1468" y="2681"/>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4" name="Group 8">
            <a:extLst>
              <a:ext uri="{FF2B5EF4-FFF2-40B4-BE49-F238E27FC236}">
                <a16:creationId xmlns:a16="http://schemas.microsoft.com/office/drawing/2014/main" id="{C19F880B-BD89-42C4-9DBD-8DE8B315736A}"/>
              </a:ext>
            </a:extLst>
          </p:cNvPr>
          <p:cNvGrpSpPr>
            <a:grpSpLocks/>
          </p:cNvGrpSpPr>
          <p:nvPr/>
        </p:nvGrpSpPr>
        <p:grpSpPr bwMode="auto">
          <a:xfrm>
            <a:off x="1316038" y="3671888"/>
            <a:ext cx="1689100" cy="1852612"/>
            <a:chOff x="829" y="2313"/>
            <a:chExt cx="1064" cy="1167"/>
          </a:xfrm>
        </p:grpSpPr>
        <p:grpSp>
          <p:nvGrpSpPr>
            <p:cNvPr id="51265" name="Group 9">
              <a:extLst>
                <a:ext uri="{FF2B5EF4-FFF2-40B4-BE49-F238E27FC236}">
                  <a16:creationId xmlns:a16="http://schemas.microsoft.com/office/drawing/2014/main" id="{CC4C1B65-F11D-4A37-8D0D-A0C735199770}"/>
                </a:ext>
              </a:extLst>
            </p:cNvPr>
            <p:cNvGrpSpPr>
              <a:grpSpLocks/>
            </p:cNvGrpSpPr>
            <p:nvPr/>
          </p:nvGrpSpPr>
          <p:grpSpPr bwMode="auto">
            <a:xfrm>
              <a:off x="829" y="2355"/>
              <a:ext cx="1022" cy="1125"/>
              <a:chOff x="357" y="2450"/>
              <a:chExt cx="795" cy="646"/>
            </a:xfrm>
          </p:grpSpPr>
          <p:sp>
            <p:nvSpPr>
              <p:cNvPr id="51267" name="Line 10">
                <a:extLst>
                  <a:ext uri="{FF2B5EF4-FFF2-40B4-BE49-F238E27FC236}">
                    <a16:creationId xmlns:a16="http://schemas.microsoft.com/office/drawing/2014/main" id="{AD07BC1A-E71D-4AA1-A627-0EA4F9C0D7F0}"/>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68" name="Line 11">
                <a:extLst>
                  <a:ext uri="{FF2B5EF4-FFF2-40B4-BE49-F238E27FC236}">
                    <a16:creationId xmlns:a16="http://schemas.microsoft.com/office/drawing/2014/main" id="{00C5833D-9D6F-4B4C-9B58-F956EF8E3E6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66" name="Oval 12">
              <a:extLst>
                <a:ext uri="{FF2B5EF4-FFF2-40B4-BE49-F238E27FC236}">
                  <a16:creationId xmlns:a16="http://schemas.microsoft.com/office/drawing/2014/main" id="{2CE113AF-C608-4778-BB22-FD0C7B67820A}"/>
                </a:ext>
              </a:extLst>
            </p:cNvPr>
            <p:cNvSpPr>
              <a:spLocks noChangeArrowheads="1"/>
            </p:cNvSpPr>
            <p:nvPr/>
          </p:nvSpPr>
          <p:spPr bwMode="auto">
            <a:xfrm>
              <a:off x="1805" y="2313"/>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5245" name="Line 13">
            <a:extLst>
              <a:ext uri="{FF2B5EF4-FFF2-40B4-BE49-F238E27FC236}">
                <a16:creationId xmlns:a16="http://schemas.microsoft.com/office/drawing/2014/main" id="{A9F2BF43-F51D-4120-B919-E669679B7281}"/>
              </a:ext>
            </a:extLst>
          </p:cNvPr>
          <p:cNvSpPr>
            <a:spLocks noChangeShapeType="1"/>
          </p:cNvSpPr>
          <p:nvPr/>
        </p:nvSpPr>
        <p:spPr bwMode="auto">
          <a:xfrm flipV="1">
            <a:off x="1323975" y="1766888"/>
            <a:ext cx="3390900" cy="3733800"/>
          </a:xfrm>
          <a:prstGeom prst="line">
            <a:avLst/>
          </a:prstGeom>
          <a:noFill/>
          <a:ln w="50800">
            <a:solidFill>
              <a:srgbClr val="00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6" name="Oval 14">
            <a:extLst>
              <a:ext uri="{FF2B5EF4-FFF2-40B4-BE49-F238E27FC236}">
                <a16:creationId xmlns:a16="http://schemas.microsoft.com/office/drawing/2014/main" id="{424C1CB6-61FC-4D15-84C0-EBA157D34BB5}"/>
              </a:ext>
            </a:extLst>
          </p:cNvPr>
          <p:cNvSpPr>
            <a:spLocks noChangeArrowheads="1"/>
          </p:cNvSpPr>
          <p:nvPr/>
        </p:nvSpPr>
        <p:spPr bwMode="auto">
          <a:xfrm>
            <a:off x="1247775" y="5438775"/>
            <a:ext cx="139700" cy="138113"/>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1209" name="Rectangle 15">
            <a:extLst>
              <a:ext uri="{FF2B5EF4-FFF2-40B4-BE49-F238E27FC236}">
                <a16:creationId xmlns:a16="http://schemas.microsoft.com/office/drawing/2014/main" id="{82F601BC-829E-4EAA-A199-A73A3721DD6F}"/>
              </a:ext>
            </a:extLst>
          </p:cNvPr>
          <p:cNvSpPr>
            <a:spLocks noGrp="1" noChangeArrowheads="1"/>
          </p:cNvSpPr>
          <p:nvPr>
            <p:ph type="title" idx="4294967295"/>
          </p:nvPr>
        </p:nvSpPr>
        <p:spPr>
          <a:xfrm>
            <a:off x="481013" y="109538"/>
            <a:ext cx="8129587" cy="677862"/>
          </a:xfrm>
        </p:spPr>
        <p:txBody>
          <a:bodyPr/>
          <a:lstStyle/>
          <a:p>
            <a:pPr eaLnBrk="1" hangingPunct="1"/>
            <a:r>
              <a:rPr lang="en-US" altLang="en-US" sz="3200"/>
              <a:t>Starbucks’ Supply Schedule &amp; Curve</a:t>
            </a:r>
          </a:p>
        </p:txBody>
      </p:sp>
      <p:graphicFrame>
        <p:nvGraphicFramePr>
          <p:cNvPr id="95248" name="Group 16">
            <a:extLst>
              <a:ext uri="{FF2B5EF4-FFF2-40B4-BE49-F238E27FC236}">
                <a16:creationId xmlns:a16="http://schemas.microsoft.com/office/drawing/2014/main" id="{6F5DE352-A7FA-4270-9501-C975EDF24DB3}"/>
              </a:ext>
            </a:extLst>
          </p:cNvPr>
          <p:cNvGraphicFramePr>
            <a:graphicFrameLocks noGrp="1"/>
          </p:cNvGraphicFramePr>
          <p:nvPr/>
        </p:nvGraphicFramePr>
        <p:xfrm>
          <a:off x="6048375" y="889000"/>
          <a:ext cx="2651125" cy="4572000"/>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127371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Price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a:t>
                      </a:r>
                    </a:p>
                  </a:txBody>
                  <a:tcPr marT="47854" marB="47854"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Quantity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 supplied</a:t>
                      </a:r>
                    </a:p>
                  </a:txBody>
                  <a:tcPr marT="47854" marB="47854"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9</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18</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extLst>
                  <a:ext uri="{0D108BD9-81ED-4DB2-BD59-A6C34878D82A}">
                    <a16:rowId xmlns:a16="http://schemas.microsoft.com/office/drawing/2014/main" val="10007"/>
                  </a:ext>
                </a:extLst>
              </a:tr>
            </a:tbl>
          </a:graphicData>
        </a:graphic>
      </p:graphicFrame>
      <p:grpSp>
        <p:nvGrpSpPr>
          <p:cNvPr id="6" name="Group 61">
            <a:extLst>
              <a:ext uri="{FF2B5EF4-FFF2-40B4-BE49-F238E27FC236}">
                <a16:creationId xmlns:a16="http://schemas.microsoft.com/office/drawing/2014/main" id="{F47FD402-0840-4176-926F-5690AFF18EF6}"/>
              </a:ext>
            </a:extLst>
          </p:cNvPr>
          <p:cNvGrpSpPr>
            <a:grpSpLocks/>
          </p:cNvGrpSpPr>
          <p:nvPr/>
        </p:nvGrpSpPr>
        <p:grpSpPr bwMode="auto">
          <a:xfrm>
            <a:off x="1311275" y="4860925"/>
            <a:ext cx="601663" cy="655638"/>
            <a:chOff x="826" y="3062"/>
            <a:chExt cx="379" cy="413"/>
          </a:xfrm>
        </p:grpSpPr>
        <p:grpSp>
          <p:nvGrpSpPr>
            <p:cNvPr id="51261" name="Group 62">
              <a:extLst>
                <a:ext uri="{FF2B5EF4-FFF2-40B4-BE49-F238E27FC236}">
                  <a16:creationId xmlns:a16="http://schemas.microsoft.com/office/drawing/2014/main" id="{10D8638B-00C7-41B0-BDAA-CEEA0B5268B4}"/>
                </a:ext>
              </a:extLst>
            </p:cNvPr>
            <p:cNvGrpSpPr>
              <a:grpSpLocks/>
            </p:cNvGrpSpPr>
            <p:nvPr/>
          </p:nvGrpSpPr>
          <p:grpSpPr bwMode="auto">
            <a:xfrm>
              <a:off x="826" y="3103"/>
              <a:ext cx="341" cy="372"/>
              <a:chOff x="357" y="2450"/>
              <a:chExt cx="795" cy="646"/>
            </a:xfrm>
          </p:grpSpPr>
          <p:sp>
            <p:nvSpPr>
              <p:cNvPr id="51263" name="Line 63">
                <a:extLst>
                  <a:ext uri="{FF2B5EF4-FFF2-40B4-BE49-F238E27FC236}">
                    <a16:creationId xmlns:a16="http://schemas.microsoft.com/office/drawing/2014/main" id="{29F854FC-09D6-4EE3-97A3-FF4066080FCD}"/>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64" name="Line 64">
                <a:extLst>
                  <a:ext uri="{FF2B5EF4-FFF2-40B4-BE49-F238E27FC236}">
                    <a16:creationId xmlns:a16="http://schemas.microsoft.com/office/drawing/2014/main" id="{F9C13222-E924-4C06-8F58-3F0D9BBFD89A}"/>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62" name="Oval 65">
              <a:extLst>
                <a:ext uri="{FF2B5EF4-FFF2-40B4-BE49-F238E27FC236}">
                  <a16:creationId xmlns:a16="http://schemas.microsoft.com/office/drawing/2014/main" id="{0B5BE18F-2695-4178-9D5A-592E20A90F71}"/>
                </a:ext>
              </a:extLst>
            </p:cNvPr>
            <p:cNvSpPr>
              <a:spLocks noChangeArrowheads="1"/>
            </p:cNvSpPr>
            <p:nvPr/>
          </p:nvSpPr>
          <p:spPr bwMode="auto">
            <a:xfrm>
              <a:off x="1117" y="3062"/>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8" name="Group 66">
            <a:extLst>
              <a:ext uri="{FF2B5EF4-FFF2-40B4-BE49-F238E27FC236}">
                <a16:creationId xmlns:a16="http://schemas.microsoft.com/office/drawing/2014/main" id="{3BA5339E-D1EB-4769-A752-2E9842F00481}"/>
              </a:ext>
            </a:extLst>
          </p:cNvPr>
          <p:cNvGrpSpPr>
            <a:grpSpLocks/>
          </p:cNvGrpSpPr>
          <p:nvPr/>
        </p:nvGrpSpPr>
        <p:grpSpPr bwMode="auto">
          <a:xfrm>
            <a:off x="1314450" y="3071813"/>
            <a:ext cx="2219325" cy="2444750"/>
            <a:chOff x="828" y="1935"/>
            <a:chExt cx="1398" cy="1540"/>
          </a:xfrm>
        </p:grpSpPr>
        <p:grpSp>
          <p:nvGrpSpPr>
            <p:cNvPr id="51257" name="Group 67">
              <a:extLst>
                <a:ext uri="{FF2B5EF4-FFF2-40B4-BE49-F238E27FC236}">
                  <a16:creationId xmlns:a16="http://schemas.microsoft.com/office/drawing/2014/main" id="{F9B85503-5B3F-41BD-8EE6-74D31D117E2E}"/>
                </a:ext>
              </a:extLst>
            </p:cNvPr>
            <p:cNvGrpSpPr>
              <a:grpSpLocks/>
            </p:cNvGrpSpPr>
            <p:nvPr/>
          </p:nvGrpSpPr>
          <p:grpSpPr bwMode="auto">
            <a:xfrm>
              <a:off x="828" y="1975"/>
              <a:ext cx="1358" cy="1500"/>
              <a:chOff x="357" y="2450"/>
              <a:chExt cx="795" cy="646"/>
            </a:xfrm>
          </p:grpSpPr>
          <p:sp>
            <p:nvSpPr>
              <p:cNvPr id="51259" name="Line 68">
                <a:extLst>
                  <a:ext uri="{FF2B5EF4-FFF2-40B4-BE49-F238E27FC236}">
                    <a16:creationId xmlns:a16="http://schemas.microsoft.com/office/drawing/2014/main" id="{F0F456AA-9926-4FCE-9C81-17DD03DB7418}"/>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60" name="Line 69">
                <a:extLst>
                  <a:ext uri="{FF2B5EF4-FFF2-40B4-BE49-F238E27FC236}">
                    <a16:creationId xmlns:a16="http://schemas.microsoft.com/office/drawing/2014/main" id="{0A0E2E26-2055-41C1-8812-5BEA16073685}"/>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58" name="Oval 70">
              <a:extLst>
                <a:ext uri="{FF2B5EF4-FFF2-40B4-BE49-F238E27FC236}">
                  <a16:creationId xmlns:a16="http://schemas.microsoft.com/office/drawing/2014/main" id="{5D571B0E-03B9-495C-8395-51C707635F12}"/>
                </a:ext>
              </a:extLst>
            </p:cNvPr>
            <p:cNvSpPr>
              <a:spLocks noChangeArrowheads="1"/>
            </p:cNvSpPr>
            <p:nvPr/>
          </p:nvSpPr>
          <p:spPr bwMode="auto">
            <a:xfrm>
              <a:off x="2138" y="1935"/>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0" name="Group 71">
            <a:extLst>
              <a:ext uri="{FF2B5EF4-FFF2-40B4-BE49-F238E27FC236}">
                <a16:creationId xmlns:a16="http://schemas.microsoft.com/office/drawing/2014/main" id="{129B9432-5D3C-4574-8407-A197EF51F370}"/>
              </a:ext>
            </a:extLst>
          </p:cNvPr>
          <p:cNvGrpSpPr>
            <a:grpSpLocks/>
          </p:cNvGrpSpPr>
          <p:nvPr/>
        </p:nvGrpSpPr>
        <p:grpSpPr bwMode="auto">
          <a:xfrm>
            <a:off x="1316038" y="2479675"/>
            <a:ext cx="2759075" cy="3048000"/>
            <a:chOff x="829" y="1562"/>
            <a:chExt cx="1738" cy="1920"/>
          </a:xfrm>
        </p:grpSpPr>
        <p:grpSp>
          <p:nvGrpSpPr>
            <p:cNvPr id="51253" name="Group 72">
              <a:extLst>
                <a:ext uri="{FF2B5EF4-FFF2-40B4-BE49-F238E27FC236}">
                  <a16:creationId xmlns:a16="http://schemas.microsoft.com/office/drawing/2014/main" id="{8DF36DA9-20FD-4DC0-986A-6184D46AFF7C}"/>
                </a:ext>
              </a:extLst>
            </p:cNvPr>
            <p:cNvGrpSpPr>
              <a:grpSpLocks/>
            </p:cNvGrpSpPr>
            <p:nvPr/>
          </p:nvGrpSpPr>
          <p:grpSpPr bwMode="auto">
            <a:xfrm>
              <a:off x="829" y="1602"/>
              <a:ext cx="1695" cy="1880"/>
              <a:chOff x="357" y="2450"/>
              <a:chExt cx="795" cy="646"/>
            </a:xfrm>
          </p:grpSpPr>
          <p:sp>
            <p:nvSpPr>
              <p:cNvPr id="51255" name="Line 73">
                <a:extLst>
                  <a:ext uri="{FF2B5EF4-FFF2-40B4-BE49-F238E27FC236}">
                    <a16:creationId xmlns:a16="http://schemas.microsoft.com/office/drawing/2014/main" id="{4D57B6FD-C886-4057-9BB2-C64D6BF7497E}"/>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56" name="Line 74">
                <a:extLst>
                  <a:ext uri="{FF2B5EF4-FFF2-40B4-BE49-F238E27FC236}">
                    <a16:creationId xmlns:a16="http://schemas.microsoft.com/office/drawing/2014/main" id="{DC397E09-049B-4194-BF65-AEC29B143EF2}"/>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54" name="Oval 75">
              <a:extLst>
                <a:ext uri="{FF2B5EF4-FFF2-40B4-BE49-F238E27FC236}">
                  <a16:creationId xmlns:a16="http://schemas.microsoft.com/office/drawing/2014/main" id="{B4D1D488-8B61-4363-BAF7-E26633855B10}"/>
                </a:ext>
              </a:extLst>
            </p:cNvPr>
            <p:cNvSpPr>
              <a:spLocks noChangeArrowheads="1"/>
            </p:cNvSpPr>
            <p:nvPr/>
          </p:nvSpPr>
          <p:spPr bwMode="auto">
            <a:xfrm>
              <a:off x="2479" y="1562"/>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2" name="Group 76">
            <a:extLst>
              <a:ext uri="{FF2B5EF4-FFF2-40B4-BE49-F238E27FC236}">
                <a16:creationId xmlns:a16="http://schemas.microsoft.com/office/drawing/2014/main" id="{FA56D2AE-C4A9-474E-B29B-ECD268256394}"/>
              </a:ext>
            </a:extLst>
          </p:cNvPr>
          <p:cNvGrpSpPr>
            <a:grpSpLocks/>
          </p:cNvGrpSpPr>
          <p:nvPr/>
        </p:nvGrpSpPr>
        <p:grpSpPr bwMode="auto">
          <a:xfrm>
            <a:off x="1314450" y="1873250"/>
            <a:ext cx="3316288" cy="3640138"/>
            <a:chOff x="828" y="1180"/>
            <a:chExt cx="2089" cy="2293"/>
          </a:xfrm>
        </p:grpSpPr>
        <p:grpSp>
          <p:nvGrpSpPr>
            <p:cNvPr id="51249" name="Group 77">
              <a:extLst>
                <a:ext uri="{FF2B5EF4-FFF2-40B4-BE49-F238E27FC236}">
                  <a16:creationId xmlns:a16="http://schemas.microsoft.com/office/drawing/2014/main" id="{2597CCAA-9BBE-4188-AB81-D0A5FFB3163A}"/>
                </a:ext>
              </a:extLst>
            </p:cNvPr>
            <p:cNvGrpSpPr>
              <a:grpSpLocks/>
            </p:cNvGrpSpPr>
            <p:nvPr/>
          </p:nvGrpSpPr>
          <p:grpSpPr bwMode="auto">
            <a:xfrm>
              <a:off x="828" y="1224"/>
              <a:ext cx="2043" cy="2249"/>
              <a:chOff x="357" y="2450"/>
              <a:chExt cx="795" cy="646"/>
            </a:xfrm>
          </p:grpSpPr>
          <p:sp>
            <p:nvSpPr>
              <p:cNvPr id="51251" name="Line 78">
                <a:extLst>
                  <a:ext uri="{FF2B5EF4-FFF2-40B4-BE49-F238E27FC236}">
                    <a16:creationId xmlns:a16="http://schemas.microsoft.com/office/drawing/2014/main" id="{42C3A683-6528-46E4-9FB5-209C4793F7DE}"/>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52" name="Line 79">
                <a:extLst>
                  <a:ext uri="{FF2B5EF4-FFF2-40B4-BE49-F238E27FC236}">
                    <a16:creationId xmlns:a16="http://schemas.microsoft.com/office/drawing/2014/main" id="{12A019BC-4E2E-4421-8221-41695A5C61A7}"/>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50" name="Oval 80">
              <a:extLst>
                <a:ext uri="{FF2B5EF4-FFF2-40B4-BE49-F238E27FC236}">
                  <a16:creationId xmlns:a16="http://schemas.microsoft.com/office/drawing/2014/main" id="{61A27824-3D25-4F76-B3E0-0F2B50997D8B}"/>
                </a:ext>
              </a:extLst>
            </p:cNvPr>
            <p:cNvSpPr>
              <a:spLocks noChangeArrowheads="1"/>
            </p:cNvSpPr>
            <p:nvPr/>
          </p:nvSpPr>
          <p:spPr bwMode="auto">
            <a:xfrm>
              <a:off x="2829" y="1180"/>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5313" name="Line 81">
            <a:extLst>
              <a:ext uri="{FF2B5EF4-FFF2-40B4-BE49-F238E27FC236}">
                <a16:creationId xmlns:a16="http://schemas.microsoft.com/office/drawing/2014/main" id="{111B6299-E37C-4F80-9616-46C58123A7FC}"/>
              </a:ext>
            </a:extLst>
          </p:cNvPr>
          <p:cNvSpPr>
            <a:spLocks noChangeShapeType="1"/>
          </p:cNvSpPr>
          <p:nvPr/>
        </p:nvSpPr>
        <p:spPr bwMode="auto">
          <a:xfrm>
            <a:off x="5502275" y="2386013"/>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4" name="Line 82">
            <a:extLst>
              <a:ext uri="{FF2B5EF4-FFF2-40B4-BE49-F238E27FC236}">
                <a16:creationId xmlns:a16="http://schemas.microsoft.com/office/drawing/2014/main" id="{6EC33653-2A4E-4084-9A71-4210C288EE80}"/>
              </a:ext>
            </a:extLst>
          </p:cNvPr>
          <p:cNvSpPr>
            <a:spLocks noChangeShapeType="1"/>
          </p:cNvSpPr>
          <p:nvPr/>
        </p:nvSpPr>
        <p:spPr bwMode="auto">
          <a:xfrm>
            <a:off x="5494338" y="2857500"/>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5" name="Line 83">
            <a:extLst>
              <a:ext uri="{FF2B5EF4-FFF2-40B4-BE49-F238E27FC236}">
                <a16:creationId xmlns:a16="http://schemas.microsoft.com/office/drawing/2014/main" id="{3DA2D5ED-6636-46A2-8C45-8C0DEF030712}"/>
              </a:ext>
            </a:extLst>
          </p:cNvPr>
          <p:cNvSpPr>
            <a:spLocks noChangeShapeType="1"/>
          </p:cNvSpPr>
          <p:nvPr/>
        </p:nvSpPr>
        <p:spPr bwMode="auto">
          <a:xfrm>
            <a:off x="5503863" y="3327400"/>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6" name="Line 84">
            <a:extLst>
              <a:ext uri="{FF2B5EF4-FFF2-40B4-BE49-F238E27FC236}">
                <a16:creationId xmlns:a16="http://schemas.microsoft.com/office/drawing/2014/main" id="{50E75428-EB41-448D-8703-40C0BAA63BE1}"/>
              </a:ext>
            </a:extLst>
          </p:cNvPr>
          <p:cNvSpPr>
            <a:spLocks noChangeShapeType="1"/>
          </p:cNvSpPr>
          <p:nvPr/>
        </p:nvSpPr>
        <p:spPr bwMode="auto">
          <a:xfrm>
            <a:off x="5494338" y="3800475"/>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7" name="Line 85">
            <a:extLst>
              <a:ext uri="{FF2B5EF4-FFF2-40B4-BE49-F238E27FC236}">
                <a16:creationId xmlns:a16="http://schemas.microsoft.com/office/drawing/2014/main" id="{5AA77E1C-0C57-4D1D-8A31-D9A12EAA32C8}"/>
              </a:ext>
            </a:extLst>
          </p:cNvPr>
          <p:cNvSpPr>
            <a:spLocks noChangeShapeType="1"/>
          </p:cNvSpPr>
          <p:nvPr/>
        </p:nvSpPr>
        <p:spPr bwMode="auto">
          <a:xfrm>
            <a:off x="5502275" y="4286250"/>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8" name="Line 86">
            <a:extLst>
              <a:ext uri="{FF2B5EF4-FFF2-40B4-BE49-F238E27FC236}">
                <a16:creationId xmlns:a16="http://schemas.microsoft.com/office/drawing/2014/main" id="{F4EB6F1D-F95D-434C-885C-A3B636A59E98}"/>
              </a:ext>
            </a:extLst>
          </p:cNvPr>
          <p:cNvSpPr>
            <a:spLocks noChangeShapeType="1"/>
          </p:cNvSpPr>
          <p:nvPr/>
        </p:nvSpPr>
        <p:spPr bwMode="auto">
          <a:xfrm>
            <a:off x="5495925" y="4757738"/>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9" name="Line 87">
            <a:extLst>
              <a:ext uri="{FF2B5EF4-FFF2-40B4-BE49-F238E27FC236}">
                <a16:creationId xmlns:a16="http://schemas.microsoft.com/office/drawing/2014/main" id="{1A4EB500-2618-4CB3-AD54-CA1AA380E055}"/>
              </a:ext>
            </a:extLst>
          </p:cNvPr>
          <p:cNvSpPr>
            <a:spLocks noChangeShapeType="1"/>
          </p:cNvSpPr>
          <p:nvPr/>
        </p:nvSpPr>
        <p:spPr bwMode="auto">
          <a:xfrm>
            <a:off x="5486400" y="5229225"/>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51246" name="Text Box 88">
            <a:extLst>
              <a:ext uri="{FF2B5EF4-FFF2-40B4-BE49-F238E27FC236}">
                <a16:creationId xmlns:a16="http://schemas.microsoft.com/office/drawing/2014/main" id="{BAF7EC2E-FA55-439F-ADEA-A9BE5D8C62F4}"/>
              </a:ext>
            </a:extLst>
          </p:cNvPr>
          <p:cNvSpPr txBox="1">
            <a:spLocks noChangeArrowheads="1"/>
          </p:cNvSpPr>
          <p:nvPr/>
        </p:nvSpPr>
        <p:spPr bwMode="auto">
          <a:xfrm>
            <a:off x="1089025" y="1301750"/>
            <a:ext cx="415925" cy="48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51247" name="Text Box 89">
            <a:extLst>
              <a:ext uri="{FF2B5EF4-FFF2-40B4-BE49-F238E27FC236}">
                <a16:creationId xmlns:a16="http://schemas.microsoft.com/office/drawing/2014/main" id="{35C01FAC-83E4-46E6-BDDE-A6611837EDA0}"/>
              </a:ext>
            </a:extLst>
          </p:cNvPr>
          <p:cNvSpPr txBox="1">
            <a:spLocks noChangeArrowheads="1"/>
          </p:cNvSpPr>
          <p:nvPr/>
        </p:nvSpPr>
        <p:spPr bwMode="auto">
          <a:xfrm>
            <a:off x="4852988" y="5373688"/>
            <a:ext cx="433387"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sp>
        <p:nvSpPr>
          <p:cNvPr id="51248" name="FlagCount" hidden="1">
            <a:hlinkClick r:id="rId5" action="ppaction://hlinkfile"/>
            <a:extLst>
              <a:ext uri="{FF2B5EF4-FFF2-40B4-BE49-F238E27FC236}">
                <a16:creationId xmlns:a16="http://schemas.microsoft.com/office/drawing/2014/main" id="{266E3BE8-1977-48CC-AC99-453B705F85B0}"/>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246"/>
                                        </p:tgtEl>
                                        <p:attrNameLst>
                                          <p:attrName>style.visibility</p:attrName>
                                        </p:attrNameLst>
                                      </p:cBhvr>
                                      <p:to>
                                        <p:strVal val="visible"/>
                                      </p:to>
                                    </p:set>
                                    <p:animEffect transition="in" filter="dissolve">
                                      <p:cBhvr>
                                        <p:cTn id="7" dur="500"/>
                                        <p:tgtEl>
                                          <p:spTgt spid="95246"/>
                                        </p:tgtEl>
                                      </p:cBhvr>
                                    </p:animEffect>
                                  </p:childTnLst>
                                </p:cTn>
                              </p:par>
                              <p:par>
                                <p:cTn id="8" presetID="9" presetClass="entr" presetSubtype="0" fill="hold" nodeType="withEffect">
                                  <p:stCondLst>
                                    <p:cond delay="0"/>
                                  </p:stCondLst>
                                  <p:childTnLst>
                                    <p:set>
                                      <p:cBhvr>
                                        <p:cTn id="9" dur="1" fill="hold">
                                          <p:stCondLst>
                                            <p:cond delay="0"/>
                                          </p:stCondLst>
                                        </p:cTn>
                                        <p:tgtEl>
                                          <p:spTgt spid="95313"/>
                                        </p:tgtEl>
                                        <p:attrNameLst>
                                          <p:attrName>style.visibility</p:attrName>
                                        </p:attrNameLst>
                                      </p:cBhvr>
                                      <p:to>
                                        <p:strVal val="visible"/>
                                      </p:to>
                                    </p:set>
                                    <p:animEffect transition="in" filter="dissolve">
                                      <p:cBhvr>
                                        <p:cTn id="10" dur="500"/>
                                        <p:tgtEl>
                                          <p:spTgt spid="95313"/>
                                        </p:tgtEl>
                                      </p:cBhvr>
                                    </p:animEffect>
                                  </p:childTnLst>
                                  <p:subTnLst>
                                    <p:animClr clrSpc="rgb" dir="cw">
                                      <p:cBhvr override="childStyle">
                                        <p:cTn dur="1" fill="hold" display="0" masterRel="nextClick" afterEffect="1"/>
                                        <p:tgtEl>
                                          <p:spTgt spid="95313"/>
                                        </p:tgtEl>
                                        <p:attrNameLst>
                                          <p:attrName>ppt_c</p:attrName>
                                        </p:attrNameLst>
                                      </p:cBhvr>
                                      <p:to>
                                        <a:schemeClr val="bg1"/>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3"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trips(upRight)">
                                      <p:cBhvr>
                                        <p:cTn id="15" dur="500"/>
                                        <p:tgtEl>
                                          <p:spTgt spid="6"/>
                                        </p:tgtEl>
                                      </p:cBhvr>
                                    </p:animEffect>
                                  </p:childTnLst>
                                </p:cTn>
                              </p:par>
                              <p:par>
                                <p:cTn id="16" presetID="9" presetClass="entr" presetSubtype="0" fill="hold" nodeType="withEffect">
                                  <p:stCondLst>
                                    <p:cond delay="0"/>
                                  </p:stCondLst>
                                  <p:childTnLst>
                                    <p:set>
                                      <p:cBhvr>
                                        <p:cTn id="17" dur="1" fill="hold">
                                          <p:stCondLst>
                                            <p:cond delay="0"/>
                                          </p:stCondLst>
                                        </p:cTn>
                                        <p:tgtEl>
                                          <p:spTgt spid="95314"/>
                                        </p:tgtEl>
                                        <p:attrNameLst>
                                          <p:attrName>style.visibility</p:attrName>
                                        </p:attrNameLst>
                                      </p:cBhvr>
                                      <p:to>
                                        <p:strVal val="visible"/>
                                      </p:to>
                                    </p:set>
                                    <p:animEffect transition="in" filter="dissolve">
                                      <p:cBhvr>
                                        <p:cTn id="18" dur="500"/>
                                        <p:tgtEl>
                                          <p:spTgt spid="95314"/>
                                        </p:tgtEl>
                                      </p:cBhvr>
                                    </p:animEffect>
                                  </p:childTnLst>
                                  <p:subTnLst>
                                    <p:animClr clrSpc="rgb" dir="cw">
                                      <p:cBhvr override="childStyle">
                                        <p:cTn dur="1" fill="hold" display="0" masterRel="nextClick" afterEffect="1"/>
                                        <p:tgtEl>
                                          <p:spTgt spid="95314"/>
                                        </p:tgtEl>
                                        <p:attrNameLst>
                                          <p:attrName>ppt_c</p:attrName>
                                        </p:attrNameLst>
                                      </p:cBhvr>
                                      <p:to>
                                        <a:schemeClr val="bg1"/>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3"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strips(upRight)">
                                      <p:cBhvr>
                                        <p:cTn id="23" dur="500"/>
                                        <p:tgtEl>
                                          <p:spTgt spid="2"/>
                                        </p:tgtEl>
                                      </p:cBhvr>
                                    </p:animEffect>
                                  </p:childTnLst>
                                </p:cTn>
                              </p:par>
                              <p:par>
                                <p:cTn id="24" presetID="9" presetClass="entr" presetSubtype="0" fill="hold" nodeType="withEffect">
                                  <p:stCondLst>
                                    <p:cond delay="0"/>
                                  </p:stCondLst>
                                  <p:childTnLst>
                                    <p:set>
                                      <p:cBhvr>
                                        <p:cTn id="25" dur="1" fill="hold">
                                          <p:stCondLst>
                                            <p:cond delay="0"/>
                                          </p:stCondLst>
                                        </p:cTn>
                                        <p:tgtEl>
                                          <p:spTgt spid="95315"/>
                                        </p:tgtEl>
                                        <p:attrNameLst>
                                          <p:attrName>style.visibility</p:attrName>
                                        </p:attrNameLst>
                                      </p:cBhvr>
                                      <p:to>
                                        <p:strVal val="visible"/>
                                      </p:to>
                                    </p:set>
                                    <p:animEffect transition="in" filter="dissolve">
                                      <p:cBhvr>
                                        <p:cTn id="26" dur="500"/>
                                        <p:tgtEl>
                                          <p:spTgt spid="95315"/>
                                        </p:tgtEl>
                                      </p:cBhvr>
                                    </p:animEffect>
                                  </p:childTnLst>
                                  <p:subTnLst>
                                    <p:animClr clrSpc="rgb" dir="cw">
                                      <p:cBhvr override="childStyle">
                                        <p:cTn dur="1" fill="hold" display="0" masterRel="nextClick" afterEffect="1"/>
                                        <p:tgtEl>
                                          <p:spTgt spid="95315"/>
                                        </p:tgtEl>
                                        <p:attrNameLst>
                                          <p:attrName>ppt_c</p:attrName>
                                        </p:attrNameLst>
                                      </p:cBhvr>
                                      <p:to>
                                        <a:schemeClr val="bg1"/>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18" presetClass="entr" presetSubtype="3"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strips(upRight)">
                                      <p:cBhvr>
                                        <p:cTn id="31" dur="500"/>
                                        <p:tgtEl>
                                          <p:spTgt spid="4"/>
                                        </p:tgtEl>
                                      </p:cBhvr>
                                    </p:animEffect>
                                  </p:childTnLst>
                                </p:cTn>
                              </p:par>
                              <p:par>
                                <p:cTn id="32" presetID="9" presetClass="entr" presetSubtype="0" fill="hold" nodeType="withEffect">
                                  <p:stCondLst>
                                    <p:cond delay="0"/>
                                  </p:stCondLst>
                                  <p:childTnLst>
                                    <p:set>
                                      <p:cBhvr>
                                        <p:cTn id="33" dur="1" fill="hold">
                                          <p:stCondLst>
                                            <p:cond delay="0"/>
                                          </p:stCondLst>
                                        </p:cTn>
                                        <p:tgtEl>
                                          <p:spTgt spid="95316"/>
                                        </p:tgtEl>
                                        <p:attrNameLst>
                                          <p:attrName>style.visibility</p:attrName>
                                        </p:attrNameLst>
                                      </p:cBhvr>
                                      <p:to>
                                        <p:strVal val="visible"/>
                                      </p:to>
                                    </p:set>
                                    <p:animEffect transition="in" filter="dissolve">
                                      <p:cBhvr>
                                        <p:cTn id="34" dur="500"/>
                                        <p:tgtEl>
                                          <p:spTgt spid="95316"/>
                                        </p:tgtEl>
                                      </p:cBhvr>
                                    </p:animEffect>
                                  </p:childTnLst>
                                  <p:subTnLst>
                                    <p:animClr clrSpc="rgb" dir="cw">
                                      <p:cBhvr override="childStyle">
                                        <p:cTn dur="1" fill="hold" display="0" masterRel="nextClick" afterEffect="1"/>
                                        <p:tgtEl>
                                          <p:spTgt spid="95316"/>
                                        </p:tgtEl>
                                        <p:attrNameLst>
                                          <p:attrName>ppt_c</p:attrName>
                                        </p:attrNameLst>
                                      </p:cBhvr>
                                      <p:to>
                                        <a:schemeClr val="bg1"/>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3"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strips(upRight)">
                                      <p:cBhvr>
                                        <p:cTn id="39" dur="500"/>
                                        <p:tgtEl>
                                          <p:spTgt spid="8"/>
                                        </p:tgtEl>
                                      </p:cBhvr>
                                    </p:animEffect>
                                  </p:childTnLst>
                                </p:cTn>
                              </p:par>
                              <p:par>
                                <p:cTn id="40" presetID="9" presetClass="entr" presetSubtype="0" fill="hold" nodeType="withEffect">
                                  <p:stCondLst>
                                    <p:cond delay="0"/>
                                  </p:stCondLst>
                                  <p:childTnLst>
                                    <p:set>
                                      <p:cBhvr>
                                        <p:cTn id="41" dur="1" fill="hold">
                                          <p:stCondLst>
                                            <p:cond delay="0"/>
                                          </p:stCondLst>
                                        </p:cTn>
                                        <p:tgtEl>
                                          <p:spTgt spid="95317"/>
                                        </p:tgtEl>
                                        <p:attrNameLst>
                                          <p:attrName>style.visibility</p:attrName>
                                        </p:attrNameLst>
                                      </p:cBhvr>
                                      <p:to>
                                        <p:strVal val="visible"/>
                                      </p:to>
                                    </p:set>
                                    <p:animEffect transition="in" filter="dissolve">
                                      <p:cBhvr>
                                        <p:cTn id="42" dur="500"/>
                                        <p:tgtEl>
                                          <p:spTgt spid="95317"/>
                                        </p:tgtEl>
                                      </p:cBhvr>
                                    </p:animEffect>
                                  </p:childTnLst>
                                  <p:subTnLst>
                                    <p:animClr clrSpc="rgb" dir="cw">
                                      <p:cBhvr override="childStyle">
                                        <p:cTn dur="1" fill="hold" display="0" masterRel="nextClick" afterEffect="1"/>
                                        <p:tgtEl>
                                          <p:spTgt spid="95317"/>
                                        </p:tgtEl>
                                        <p:attrNameLst>
                                          <p:attrName>ppt_c</p:attrName>
                                        </p:attrNameLst>
                                      </p:cBhvr>
                                      <p:to>
                                        <a:schemeClr val="bg1"/>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3"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strips(upRight)">
                                      <p:cBhvr>
                                        <p:cTn id="47" dur="500"/>
                                        <p:tgtEl>
                                          <p:spTgt spid="10"/>
                                        </p:tgtEl>
                                      </p:cBhvr>
                                    </p:animEffect>
                                  </p:childTnLst>
                                </p:cTn>
                              </p:par>
                              <p:par>
                                <p:cTn id="48" presetID="9" presetClass="entr" presetSubtype="0" fill="hold" nodeType="withEffect">
                                  <p:stCondLst>
                                    <p:cond delay="0"/>
                                  </p:stCondLst>
                                  <p:childTnLst>
                                    <p:set>
                                      <p:cBhvr>
                                        <p:cTn id="49" dur="1" fill="hold">
                                          <p:stCondLst>
                                            <p:cond delay="0"/>
                                          </p:stCondLst>
                                        </p:cTn>
                                        <p:tgtEl>
                                          <p:spTgt spid="95318"/>
                                        </p:tgtEl>
                                        <p:attrNameLst>
                                          <p:attrName>style.visibility</p:attrName>
                                        </p:attrNameLst>
                                      </p:cBhvr>
                                      <p:to>
                                        <p:strVal val="visible"/>
                                      </p:to>
                                    </p:set>
                                    <p:animEffect transition="in" filter="dissolve">
                                      <p:cBhvr>
                                        <p:cTn id="50" dur="500"/>
                                        <p:tgtEl>
                                          <p:spTgt spid="95318"/>
                                        </p:tgtEl>
                                      </p:cBhvr>
                                    </p:animEffect>
                                  </p:childTnLst>
                                  <p:subTnLst>
                                    <p:animClr clrSpc="rgb" dir="cw">
                                      <p:cBhvr override="childStyle">
                                        <p:cTn dur="1" fill="hold" display="0" masterRel="nextClick" afterEffect="1"/>
                                        <p:tgtEl>
                                          <p:spTgt spid="95318"/>
                                        </p:tgtEl>
                                        <p:attrNameLst>
                                          <p:attrName>ppt_c</p:attrName>
                                        </p:attrNameLst>
                                      </p:cBhvr>
                                      <p:to>
                                        <a:schemeClr val="bg1"/>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3"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strips(upRight)">
                                      <p:cBhvr>
                                        <p:cTn id="55" dur="500"/>
                                        <p:tgtEl>
                                          <p:spTgt spid="12"/>
                                        </p:tgtEl>
                                      </p:cBhvr>
                                    </p:animEffect>
                                  </p:childTnLst>
                                </p:cTn>
                              </p:par>
                              <p:par>
                                <p:cTn id="56" presetID="9" presetClass="entr" presetSubtype="0" fill="hold" nodeType="withEffect">
                                  <p:stCondLst>
                                    <p:cond delay="0"/>
                                  </p:stCondLst>
                                  <p:childTnLst>
                                    <p:set>
                                      <p:cBhvr>
                                        <p:cTn id="57" dur="1" fill="hold">
                                          <p:stCondLst>
                                            <p:cond delay="0"/>
                                          </p:stCondLst>
                                        </p:cTn>
                                        <p:tgtEl>
                                          <p:spTgt spid="95319"/>
                                        </p:tgtEl>
                                        <p:attrNameLst>
                                          <p:attrName>style.visibility</p:attrName>
                                        </p:attrNameLst>
                                      </p:cBhvr>
                                      <p:to>
                                        <p:strVal val="visible"/>
                                      </p:to>
                                    </p:set>
                                    <p:animEffect transition="in" filter="dissolve">
                                      <p:cBhvr>
                                        <p:cTn id="58" dur="500"/>
                                        <p:tgtEl>
                                          <p:spTgt spid="95319"/>
                                        </p:tgtEl>
                                      </p:cBhvr>
                                    </p:animEffect>
                                  </p:childTnLst>
                                  <p:subTnLst>
                                    <p:animClr clrSpc="rgb" dir="cw">
                                      <p:cBhvr override="childStyle">
                                        <p:cTn dur="1" fill="hold" display="0" masterRel="nextClick" afterEffect="1"/>
                                        <p:tgtEl>
                                          <p:spTgt spid="95319"/>
                                        </p:tgtEl>
                                        <p:attrNameLst>
                                          <p:attrName>ppt_c</p:attrName>
                                        </p:attrNameLst>
                                      </p:cBhvr>
                                      <p:to>
                                        <a:schemeClr val="bg1"/>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18" presetClass="entr" presetSubtype="3" fill="hold" nodeType="clickEffect">
                                  <p:stCondLst>
                                    <p:cond delay="0"/>
                                  </p:stCondLst>
                                  <p:childTnLst>
                                    <p:set>
                                      <p:cBhvr>
                                        <p:cTn id="62" dur="1" fill="hold">
                                          <p:stCondLst>
                                            <p:cond delay="0"/>
                                          </p:stCondLst>
                                        </p:cTn>
                                        <p:tgtEl>
                                          <p:spTgt spid="95245"/>
                                        </p:tgtEl>
                                        <p:attrNameLst>
                                          <p:attrName>style.visibility</p:attrName>
                                        </p:attrNameLst>
                                      </p:cBhvr>
                                      <p:to>
                                        <p:strVal val="visible"/>
                                      </p:to>
                                    </p:set>
                                    <p:animEffect transition="in" filter="strips(upRight)">
                                      <p:cBhvr>
                                        <p:cTn id="63" dur="500"/>
                                        <p:tgtEl>
                                          <p:spTgt spid="95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AC68855-C9E8-4BE7-BA29-9EAB940BA947}"/>
              </a:ext>
            </a:extLst>
          </p:cNvPr>
          <p:cNvGrpSpPr>
            <a:grpSpLocks/>
          </p:cNvGrpSpPr>
          <p:nvPr/>
        </p:nvGrpSpPr>
        <p:grpSpPr bwMode="auto">
          <a:xfrm>
            <a:off x="841375" y="2801938"/>
            <a:ext cx="7491413" cy="3863975"/>
            <a:chOff x="530" y="1765"/>
            <a:chExt cx="4719" cy="2434"/>
          </a:xfrm>
        </p:grpSpPr>
        <p:sp>
          <p:nvSpPr>
            <p:cNvPr id="53336" name="Rectangle 3">
              <a:extLst>
                <a:ext uri="{FF2B5EF4-FFF2-40B4-BE49-F238E27FC236}">
                  <a16:creationId xmlns:a16="http://schemas.microsoft.com/office/drawing/2014/main" id="{FD23484A-423D-4CFD-8109-75EBEBE61E53}"/>
                </a:ext>
              </a:extLst>
            </p:cNvPr>
            <p:cNvSpPr>
              <a:spLocks noChangeArrowheads="1"/>
            </p:cNvSpPr>
            <p:nvPr/>
          </p:nvSpPr>
          <p:spPr bwMode="auto">
            <a:xfrm>
              <a:off x="530" y="1765"/>
              <a:ext cx="4719" cy="243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3337" name="Line 4">
              <a:extLst>
                <a:ext uri="{FF2B5EF4-FFF2-40B4-BE49-F238E27FC236}">
                  <a16:creationId xmlns:a16="http://schemas.microsoft.com/office/drawing/2014/main" id="{127E31A4-7115-4FE4-BF00-9DED6D21B771}"/>
                </a:ext>
              </a:extLst>
            </p:cNvPr>
            <p:cNvSpPr>
              <a:spLocks noChangeShapeType="1"/>
            </p:cNvSpPr>
            <p:nvPr/>
          </p:nvSpPr>
          <p:spPr bwMode="auto">
            <a:xfrm>
              <a:off x="582" y="2095"/>
              <a:ext cx="45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3251" name="Rectangle 5">
            <a:extLst>
              <a:ext uri="{FF2B5EF4-FFF2-40B4-BE49-F238E27FC236}">
                <a16:creationId xmlns:a16="http://schemas.microsoft.com/office/drawing/2014/main" id="{2F1609D6-C3F9-49F7-B18C-AFC50B6B0470}"/>
              </a:ext>
            </a:extLst>
          </p:cNvPr>
          <p:cNvSpPr>
            <a:spLocks noGrp="1" noChangeArrowheads="1"/>
          </p:cNvSpPr>
          <p:nvPr>
            <p:ph type="title" idx="4294967295"/>
          </p:nvPr>
        </p:nvSpPr>
        <p:spPr>
          <a:xfrm>
            <a:off x="85725" y="206375"/>
            <a:ext cx="9001125" cy="588963"/>
          </a:xfrm>
        </p:spPr>
        <p:txBody>
          <a:bodyPr/>
          <a:lstStyle/>
          <a:p>
            <a:pPr eaLnBrk="1" hangingPunct="1"/>
            <a:r>
              <a:rPr lang="en-US" altLang="en-US" sz="3200"/>
              <a:t>Market Supply versus Individual Supply</a:t>
            </a:r>
          </a:p>
        </p:txBody>
      </p:sp>
      <p:sp>
        <p:nvSpPr>
          <p:cNvPr id="53252" name="Rectangle 6">
            <a:extLst>
              <a:ext uri="{FF2B5EF4-FFF2-40B4-BE49-F238E27FC236}">
                <a16:creationId xmlns:a16="http://schemas.microsoft.com/office/drawing/2014/main" id="{C4E8343D-2D4D-422A-BB3A-116D63C319D1}"/>
              </a:ext>
            </a:extLst>
          </p:cNvPr>
          <p:cNvSpPr>
            <a:spLocks noGrp="1" noChangeArrowheads="1"/>
          </p:cNvSpPr>
          <p:nvPr>
            <p:ph type="body" idx="4294967295"/>
          </p:nvPr>
        </p:nvSpPr>
        <p:spPr>
          <a:xfrm>
            <a:off x="338138" y="803275"/>
            <a:ext cx="8526462" cy="1984375"/>
          </a:xfrm>
        </p:spPr>
        <p:txBody>
          <a:bodyPr/>
          <a:lstStyle/>
          <a:p>
            <a:pPr eaLnBrk="1" hangingPunct="1">
              <a:lnSpc>
                <a:spcPct val="100000"/>
              </a:lnSpc>
              <a:spcBef>
                <a:spcPct val="35000"/>
              </a:spcBef>
            </a:pPr>
            <a:r>
              <a:rPr lang="en-US" altLang="en-US" sz="2700"/>
              <a:t>The quantity supplied in the market is the sum of </a:t>
            </a:r>
            <a:br>
              <a:rPr lang="en-US" altLang="en-US" sz="2700"/>
            </a:br>
            <a:r>
              <a:rPr lang="en-US" altLang="en-US" sz="2700"/>
              <a:t>the quantities supplied by all sellers at each price. </a:t>
            </a:r>
          </a:p>
          <a:p>
            <a:pPr eaLnBrk="1" hangingPunct="1">
              <a:lnSpc>
                <a:spcPct val="100000"/>
              </a:lnSpc>
              <a:spcBef>
                <a:spcPct val="35000"/>
              </a:spcBef>
            </a:pPr>
            <a:r>
              <a:rPr lang="en-US" altLang="en-US" sz="2700"/>
              <a:t>Suppose Starbucks and Jitters are the only two sellers in this market.     (</a:t>
            </a:r>
            <a:r>
              <a:rPr lang="en-US" altLang="en-US" sz="2700" b="1" i="1"/>
              <a:t>Q</a:t>
            </a:r>
            <a:r>
              <a:rPr lang="en-US" altLang="en-US" sz="2700" b="1" i="1" baseline="30000"/>
              <a:t>s</a:t>
            </a:r>
            <a:r>
              <a:rPr lang="en-US" altLang="en-US" sz="2700"/>
              <a:t> = quantity supplied)</a:t>
            </a:r>
          </a:p>
        </p:txBody>
      </p:sp>
      <p:grpSp>
        <p:nvGrpSpPr>
          <p:cNvPr id="3" name="Group 7">
            <a:extLst>
              <a:ext uri="{FF2B5EF4-FFF2-40B4-BE49-F238E27FC236}">
                <a16:creationId xmlns:a16="http://schemas.microsoft.com/office/drawing/2014/main" id="{7917D8A0-284D-42CC-9240-2CCB359C5B47}"/>
              </a:ext>
            </a:extLst>
          </p:cNvPr>
          <p:cNvGrpSpPr>
            <a:grpSpLocks/>
          </p:cNvGrpSpPr>
          <p:nvPr/>
        </p:nvGrpSpPr>
        <p:grpSpPr bwMode="auto">
          <a:xfrm>
            <a:off x="2116138" y="2832100"/>
            <a:ext cx="1873250" cy="3816350"/>
            <a:chOff x="1333" y="1784"/>
            <a:chExt cx="1180" cy="2404"/>
          </a:xfrm>
        </p:grpSpPr>
        <p:sp>
          <p:nvSpPr>
            <p:cNvPr id="53328" name="Rectangle 8">
              <a:extLst>
                <a:ext uri="{FF2B5EF4-FFF2-40B4-BE49-F238E27FC236}">
                  <a16:creationId xmlns:a16="http://schemas.microsoft.com/office/drawing/2014/main" id="{EA9D34AC-1CDC-449F-A8E1-A0776531BEF9}"/>
                </a:ext>
              </a:extLst>
            </p:cNvPr>
            <p:cNvSpPr>
              <a:spLocks noChangeArrowheads="1"/>
            </p:cNvSpPr>
            <p:nvPr/>
          </p:nvSpPr>
          <p:spPr bwMode="auto">
            <a:xfrm>
              <a:off x="1333" y="3889"/>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18</a:t>
              </a:r>
            </a:p>
          </p:txBody>
        </p:sp>
        <p:sp>
          <p:nvSpPr>
            <p:cNvPr id="53329" name="Rectangle 9">
              <a:extLst>
                <a:ext uri="{FF2B5EF4-FFF2-40B4-BE49-F238E27FC236}">
                  <a16:creationId xmlns:a16="http://schemas.microsoft.com/office/drawing/2014/main" id="{E6D629F8-0131-4157-97B3-00FD2D542506}"/>
                </a:ext>
              </a:extLst>
            </p:cNvPr>
            <p:cNvSpPr>
              <a:spLocks noChangeArrowheads="1"/>
            </p:cNvSpPr>
            <p:nvPr/>
          </p:nvSpPr>
          <p:spPr bwMode="auto">
            <a:xfrm>
              <a:off x="1333" y="3590"/>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15</a:t>
              </a:r>
            </a:p>
          </p:txBody>
        </p:sp>
        <p:sp>
          <p:nvSpPr>
            <p:cNvPr id="53330" name="Rectangle 10">
              <a:extLst>
                <a:ext uri="{FF2B5EF4-FFF2-40B4-BE49-F238E27FC236}">
                  <a16:creationId xmlns:a16="http://schemas.microsoft.com/office/drawing/2014/main" id="{47CDEB6C-DD96-45DF-84A2-BB6FF2FB40E5}"/>
                </a:ext>
              </a:extLst>
            </p:cNvPr>
            <p:cNvSpPr>
              <a:spLocks noChangeArrowheads="1"/>
            </p:cNvSpPr>
            <p:nvPr/>
          </p:nvSpPr>
          <p:spPr bwMode="auto">
            <a:xfrm>
              <a:off x="1333" y="3291"/>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12</a:t>
              </a:r>
            </a:p>
          </p:txBody>
        </p:sp>
        <p:sp>
          <p:nvSpPr>
            <p:cNvPr id="53331" name="Rectangle 11">
              <a:extLst>
                <a:ext uri="{FF2B5EF4-FFF2-40B4-BE49-F238E27FC236}">
                  <a16:creationId xmlns:a16="http://schemas.microsoft.com/office/drawing/2014/main" id="{58184EEC-B458-4AC6-AAE6-A7ED4DD2FD51}"/>
                </a:ext>
              </a:extLst>
            </p:cNvPr>
            <p:cNvSpPr>
              <a:spLocks noChangeArrowheads="1"/>
            </p:cNvSpPr>
            <p:nvPr/>
          </p:nvSpPr>
          <p:spPr bwMode="auto">
            <a:xfrm>
              <a:off x="1333" y="2992"/>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9</a:t>
              </a:r>
            </a:p>
          </p:txBody>
        </p:sp>
        <p:sp>
          <p:nvSpPr>
            <p:cNvPr id="53332" name="Rectangle 12">
              <a:extLst>
                <a:ext uri="{FF2B5EF4-FFF2-40B4-BE49-F238E27FC236}">
                  <a16:creationId xmlns:a16="http://schemas.microsoft.com/office/drawing/2014/main" id="{D82FFA24-2017-444D-A604-B3BDA51D84AC}"/>
                </a:ext>
              </a:extLst>
            </p:cNvPr>
            <p:cNvSpPr>
              <a:spLocks noChangeArrowheads="1"/>
            </p:cNvSpPr>
            <p:nvPr/>
          </p:nvSpPr>
          <p:spPr bwMode="auto">
            <a:xfrm>
              <a:off x="1333" y="2693"/>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6</a:t>
              </a:r>
            </a:p>
          </p:txBody>
        </p:sp>
        <p:sp>
          <p:nvSpPr>
            <p:cNvPr id="53333" name="Rectangle 13">
              <a:extLst>
                <a:ext uri="{FF2B5EF4-FFF2-40B4-BE49-F238E27FC236}">
                  <a16:creationId xmlns:a16="http://schemas.microsoft.com/office/drawing/2014/main" id="{22F170D3-982E-449C-B845-A38627700886}"/>
                </a:ext>
              </a:extLst>
            </p:cNvPr>
            <p:cNvSpPr>
              <a:spLocks noChangeArrowheads="1"/>
            </p:cNvSpPr>
            <p:nvPr/>
          </p:nvSpPr>
          <p:spPr bwMode="auto">
            <a:xfrm>
              <a:off x="1333" y="2394"/>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3</a:t>
              </a:r>
            </a:p>
          </p:txBody>
        </p:sp>
        <p:sp>
          <p:nvSpPr>
            <p:cNvPr id="53334" name="Rectangle 14">
              <a:extLst>
                <a:ext uri="{FF2B5EF4-FFF2-40B4-BE49-F238E27FC236}">
                  <a16:creationId xmlns:a16="http://schemas.microsoft.com/office/drawing/2014/main" id="{9C9EB702-3C22-45B3-A6A2-5E5914DF9787}"/>
                </a:ext>
              </a:extLst>
            </p:cNvPr>
            <p:cNvSpPr>
              <a:spLocks noChangeArrowheads="1"/>
            </p:cNvSpPr>
            <p:nvPr/>
          </p:nvSpPr>
          <p:spPr bwMode="auto">
            <a:xfrm>
              <a:off x="1333" y="2095"/>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0</a:t>
              </a:r>
            </a:p>
          </p:txBody>
        </p:sp>
        <p:sp>
          <p:nvSpPr>
            <p:cNvPr id="53335" name="Rectangle 15">
              <a:extLst>
                <a:ext uri="{FF2B5EF4-FFF2-40B4-BE49-F238E27FC236}">
                  <a16:creationId xmlns:a16="http://schemas.microsoft.com/office/drawing/2014/main" id="{B12B08D4-C809-49C3-B8D0-71DFDE771921}"/>
                </a:ext>
              </a:extLst>
            </p:cNvPr>
            <p:cNvSpPr>
              <a:spLocks noChangeArrowheads="1"/>
            </p:cNvSpPr>
            <p:nvPr/>
          </p:nvSpPr>
          <p:spPr bwMode="auto">
            <a:xfrm>
              <a:off x="1333" y="1784"/>
              <a:ext cx="118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Starbucks</a:t>
              </a:r>
            </a:p>
          </p:txBody>
        </p:sp>
      </p:grpSp>
      <p:grpSp>
        <p:nvGrpSpPr>
          <p:cNvPr id="4" name="Group 16">
            <a:extLst>
              <a:ext uri="{FF2B5EF4-FFF2-40B4-BE49-F238E27FC236}">
                <a16:creationId xmlns:a16="http://schemas.microsoft.com/office/drawing/2014/main" id="{BA2F9B1E-0B84-4398-88B6-750F73DE1BAC}"/>
              </a:ext>
            </a:extLst>
          </p:cNvPr>
          <p:cNvGrpSpPr>
            <a:grpSpLocks/>
          </p:cNvGrpSpPr>
          <p:nvPr/>
        </p:nvGrpSpPr>
        <p:grpSpPr bwMode="auto">
          <a:xfrm>
            <a:off x="4256088" y="2832100"/>
            <a:ext cx="1598612" cy="3816350"/>
            <a:chOff x="2681" y="1784"/>
            <a:chExt cx="1007" cy="2404"/>
          </a:xfrm>
        </p:grpSpPr>
        <p:sp>
          <p:nvSpPr>
            <p:cNvPr id="53320" name="Rectangle 17">
              <a:extLst>
                <a:ext uri="{FF2B5EF4-FFF2-40B4-BE49-F238E27FC236}">
                  <a16:creationId xmlns:a16="http://schemas.microsoft.com/office/drawing/2014/main" id="{D0711817-AA88-468A-BECA-A83C526AB551}"/>
                </a:ext>
              </a:extLst>
            </p:cNvPr>
            <p:cNvSpPr>
              <a:spLocks noChangeArrowheads="1"/>
            </p:cNvSpPr>
            <p:nvPr/>
          </p:nvSpPr>
          <p:spPr bwMode="auto">
            <a:xfrm>
              <a:off x="2681" y="3889"/>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12</a:t>
              </a:r>
            </a:p>
          </p:txBody>
        </p:sp>
        <p:sp>
          <p:nvSpPr>
            <p:cNvPr id="53321" name="Rectangle 18">
              <a:extLst>
                <a:ext uri="{FF2B5EF4-FFF2-40B4-BE49-F238E27FC236}">
                  <a16:creationId xmlns:a16="http://schemas.microsoft.com/office/drawing/2014/main" id="{591DE083-1B35-4CD3-8BCC-9C7888B24E59}"/>
                </a:ext>
              </a:extLst>
            </p:cNvPr>
            <p:cNvSpPr>
              <a:spLocks noChangeArrowheads="1"/>
            </p:cNvSpPr>
            <p:nvPr/>
          </p:nvSpPr>
          <p:spPr bwMode="auto">
            <a:xfrm>
              <a:off x="2681" y="3590"/>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10</a:t>
              </a:r>
            </a:p>
          </p:txBody>
        </p:sp>
        <p:sp>
          <p:nvSpPr>
            <p:cNvPr id="53322" name="Rectangle 19">
              <a:extLst>
                <a:ext uri="{FF2B5EF4-FFF2-40B4-BE49-F238E27FC236}">
                  <a16:creationId xmlns:a16="http://schemas.microsoft.com/office/drawing/2014/main" id="{00A2C208-80C6-43C7-A7A2-0E53BE66049A}"/>
                </a:ext>
              </a:extLst>
            </p:cNvPr>
            <p:cNvSpPr>
              <a:spLocks noChangeArrowheads="1"/>
            </p:cNvSpPr>
            <p:nvPr/>
          </p:nvSpPr>
          <p:spPr bwMode="auto">
            <a:xfrm>
              <a:off x="2681" y="3291"/>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8</a:t>
              </a:r>
            </a:p>
          </p:txBody>
        </p:sp>
        <p:sp>
          <p:nvSpPr>
            <p:cNvPr id="53323" name="Rectangle 20">
              <a:extLst>
                <a:ext uri="{FF2B5EF4-FFF2-40B4-BE49-F238E27FC236}">
                  <a16:creationId xmlns:a16="http://schemas.microsoft.com/office/drawing/2014/main" id="{28E43AE3-0186-429D-9262-6651EF51A8A9}"/>
                </a:ext>
              </a:extLst>
            </p:cNvPr>
            <p:cNvSpPr>
              <a:spLocks noChangeArrowheads="1"/>
            </p:cNvSpPr>
            <p:nvPr/>
          </p:nvSpPr>
          <p:spPr bwMode="auto">
            <a:xfrm>
              <a:off x="2681" y="2992"/>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6</a:t>
              </a:r>
            </a:p>
          </p:txBody>
        </p:sp>
        <p:sp>
          <p:nvSpPr>
            <p:cNvPr id="53324" name="Rectangle 21">
              <a:extLst>
                <a:ext uri="{FF2B5EF4-FFF2-40B4-BE49-F238E27FC236}">
                  <a16:creationId xmlns:a16="http://schemas.microsoft.com/office/drawing/2014/main" id="{DC06B2FC-0165-4D08-A216-F105CAEB5B0C}"/>
                </a:ext>
              </a:extLst>
            </p:cNvPr>
            <p:cNvSpPr>
              <a:spLocks noChangeArrowheads="1"/>
            </p:cNvSpPr>
            <p:nvPr/>
          </p:nvSpPr>
          <p:spPr bwMode="auto">
            <a:xfrm>
              <a:off x="2681" y="2693"/>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4</a:t>
              </a:r>
            </a:p>
          </p:txBody>
        </p:sp>
        <p:sp>
          <p:nvSpPr>
            <p:cNvPr id="53325" name="Rectangle 22">
              <a:extLst>
                <a:ext uri="{FF2B5EF4-FFF2-40B4-BE49-F238E27FC236}">
                  <a16:creationId xmlns:a16="http://schemas.microsoft.com/office/drawing/2014/main" id="{901CBC30-2639-496C-8A79-D6C409D15656}"/>
                </a:ext>
              </a:extLst>
            </p:cNvPr>
            <p:cNvSpPr>
              <a:spLocks noChangeArrowheads="1"/>
            </p:cNvSpPr>
            <p:nvPr/>
          </p:nvSpPr>
          <p:spPr bwMode="auto">
            <a:xfrm>
              <a:off x="2681" y="2394"/>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2</a:t>
              </a:r>
            </a:p>
          </p:txBody>
        </p:sp>
        <p:sp>
          <p:nvSpPr>
            <p:cNvPr id="53326" name="Rectangle 23">
              <a:extLst>
                <a:ext uri="{FF2B5EF4-FFF2-40B4-BE49-F238E27FC236}">
                  <a16:creationId xmlns:a16="http://schemas.microsoft.com/office/drawing/2014/main" id="{7DC782DF-4F2B-43C0-B603-80FEBB82D133}"/>
                </a:ext>
              </a:extLst>
            </p:cNvPr>
            <p:cNvSpPr>
              <a:spLocks noChangeArrowheads="1"/>
            </p:cNvSpPr>
            <p:nvPr/>
          </p:nvSpPr>
          <p:spPr bwMode="auto">
            <a:xfrm>
              <a:off x="2681" y="2095"/>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0</a:t>
              </a:r>
            </a:p>
          </p:txBody>
        </p:sp>
        <p:sp>
          <p:nvSpPr>
            <p:cNvPr id="53327" name="Rectangle 24">
              <a:extLst>
                <a:ext uri="{FF2B5EF4-FFF2-40B4-BE49-F238E27FC236}">
                  <a16:creationId xmlns:a16="http://schemas.microsoft.com/office/drawing/2014/main" id="{CEF9D37C-29D3-4ADF-9852-A87061ECE1EE}"/>
                </a:ext>
              </a:extLst>
            </p:cNvPr>
            <p:cNvSpPr>
              <a:spLocks noChangeArrowheads="1"/>
            </p:cNvSpPr>
            <p:nvPr/>
          </p:nvSpPr>
          <p:spPr bwMode="auto">
            <a:xfrm>
              <a:off x="2681" y="1784"/>
              <a:ext cx="100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Jitters</a:t>
              </a:r>
            </a:p>
          </p:txBody>
        </p:sp>
      </p:grpSp>
      <p:grpSp>
        <p:nvGrpSpPr>
          <p:cNvPr id="5" name="Group 25">
            <a:extLst>
              <a:ext uri="{FF2B5EF4-FFF2-40B4-BE49-F238E27FC236}">
                <a16:creationId xmlns:a16="http://schemas.microsoft.com/office/drawing/2014/main" id="{77BC5259-1CE7-4262-B1AF-653A8E9DE2CE}"/>
              </a:ext>
            </a:extLst>
          </p:cNvPr>
          <p:cNvGrpSpPr>
            <a:grpSpLocks/>
          </p:cNvGrpSpPr>
          <p:nvPr/>
        </p:nvGrpSpPr>
        <p:grpSpPr bwMode="auto">
          <a:xfrm>
            <a:off x="3989388" y="4749800"/>
            <a:ext cx="4217987" cy="1898650"/>
            <a:chOff x="2513" y="2992"/>
            <a:chExt cx="2657" cy="1196"/>
          </a:xfrm>
        </p:grpSpPr>
        <p:sp>
          <p:nvSpPr>
            <p:cNvPr id="53308" name="Rectangle 26">
              <a:extLst>
                <a:ext uri="{FF2B5EF4-FFF2-40B4-BE49-F238E27FC236}">
                  <a16:creationId xmlns:a16="http://schemas.microsoft.com/office/drawing/2014/main" id="{1CF297BE-C946-4031-977B-2132E4908188}"/>
                </a:ext>
              </a:extLst>
            </p:cNvPr>
            <p:cNvSpPr>
              <a:spLocks noChangeArrowheads="1"/>
            </p:cNvSpPr>
            <p:nvPr/>
          </p:nvSpPr>
          <p:spPr bwMode="auto">
            <a:xfrm>
              <a:off x="2513" y="3889"/>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9" name="Rectangle 27">
              <a:extLst>
                <a:ext uri="{FF2B5EF4-FFF2-40B4-BE49-F238E27FC236}">
                  <a16:creationId xmlns:a16="http://schemas.microsoft.com/office/drawing/2014/main" id="{DD2EF0D1-352F-4E28-8599-A79A52C01538}"/>
                </a:ext>
              </a:extLst>
            </p:cNvPr>
            <p:cNvSpPr>
              <a:spLocks noChangeArrowheads="1"/>
            </p:cNvSpPr>
            <p:nvPr/>
          </p:nvSpPr>
          <p:spPr bwMode="auto">
            <a:xfrm>
              <a:off x="2513" y="3590"/>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0" name="Rectangle 28">
              <a:extLst>
                <a:ext uri="{FF2B5EF4-FFF2-40B4-BE49-F238E27FC236}">
                  <a16:creationId xmlns:a16="http://schemas.microsoft.com/office/drawing/2014/main" id="{E96EF197-D11E-434D-B01C-1A5A801C3FC0}"/>
                </a:ext>
              </a:extLst>
            </p:cNvPr>
            <p:cNvSpPr>
              <a:spLocks noChangeArrowheads="1"/>
            </p:cNvSpPr>
            <p:nvPr/>
          </p:nvSpPr>
          <p:spPr bwMode="auto">
            <a:xfrm>
              <a:off x="2513" y="3291"/>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1" name="Rectangle 29">
              <a:extLst>
                <a:ext uri="{FF2B5EF4-FFF2-40B4-BE49-F238E27FC236}">
                  <a16:creationId xmlns:a16="http://schemas.microsoft.com/office/drawing/2014/main" id="{5FD4BEE7-F831-4618-AE58-106A7CDFF864}"/>
                </a:ext>
              </a:extLst>
            </p:cNvPr>
            <p:cNvSpPr>
              <a:spLocks noChangeArrowheads="1"/>
            </p:cNvSpPr>
            <p:nvPr/>
          </p:nvSpPr>
          <p:spPr bwMode="auto">
            <a:xfrm>
              <a:off x="2513" y="2992"/>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2" name="Rectangle 30">
              <a:extLst>
                <a:ext uri="{FF2B5EF4-FFF2-40B4-BE49-F238E27FC236}">
                  <a16:creationId xmlns:a16="http://schemas.microsoft.com/office/drawing/2014/main" id="{92B2EDC3-6C4E-4D45-868C-3593F291C63C}"/>
                </a:ext>
              </a:extLst>
            </p:cNvPr>
            <p:cNvSpPr>
              <a:spLocks noChangeArrowheads="1"/>
            </p:cNvSpPr>
            <p:nvPr/>
          </p:nvSpPr>
          <p:spPr bwMode="auto">
            <a:xfrm>
              <a:off x="3688" y="3889"/>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3" name="Rectangle 31">
              <a:extLst>
                <a:ext uri="{FF2B5EF4-FFF2-40B4-BE49-F238E27FC236}">
                  <a16:creationId xmlns:a16="http://schemas.microsoft.com/office/drawing/2014/main" id="{9ED0CD61-F517-492D-B3CF-CA9455134C1A}"/>
                </a:ext>
              </a:extLst>
            </p:cNvPr>
            <p:cNvSpPr>
              <a:spLocks noChangeArrowheads="1"/>
            </p:cNvSpPr>
            <p:nvPr/>
          </p:nvSpPr>
          <p:spPr bwMode="auto">
            <a:xfrm>
              <a:off x="3688" y="3590"/>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4" name="Rectangle 32">
              <a:extLst>
                <a:ext uri="{FF2B5EF4-FFF2-40B4-BE49-F238E27FC236}">
                  <a16:creationId xmlns:a16="http://schemas.microsoft.com/office/drawing/2014/main" id="{5387F10A-A4D3-44C0-BB88-A6758ECB7DB9}"/>
                </a:ext>
              </a:extLst>
            </p:cNvPr>
            <p:cNvSpPr>
              <a:spLocks noChangeArrowheads="1"/>
            </p:cNvSpPr>
            <p:nvPr/>
          </p:nvSpPr>
          <p:spPr bwMode="auto">
            <a:xfrm>
              <a:off x="3688" y="3291"/>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5" name="Rectangle 33">
              <a:extLst>
                <a:ext uri="{FF2B5EF4-FFF2-40B4-BE49-F238E27FC236}">
                  <a16:creationId xmlns:a16="http://schemas.microsoft.com/office/drawing/2014/main" id="{0D721A6F-D3B0-4583-8451-46EC22DF3CE4}"/>
                </a:ext>
              </a:extLst>
            </p:cNvPr>
            <p:cNvSpPr>
              <a:spLocks noChangeArrowheads="1"/>
            </p:cNvSpPr>
            <p:nvPr/>
          </p:nvSpPr>
          <p:spPr bwMode="auto">
            <a:xfrm>
              <a:off x="3688" y="2992"/>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6" name="Rectangle 34">
              <a:extLst>
                <a:ext uri="{FF2B5EF4-FFF2-40B4-BE49-F238E27FC236}">
                  <a16:creationId xmlns:a16="http://schemas.microsoft.com/office/drawing/2014/main" id="{CC033F5B-A3D4-4797-95EA-0B466F2CDBEF}"/>
                </a:ext>
              </a:extLst>
            </p:cNvPr>
            <p:cNvSpPr>
              <a:spLocks noChangeArrowheads="1"/>
            </p:cNvSpPr>
            <p:nvPr/>
          </p:nvSpPr>
          <p:spPr bwMode="auto">
            <a:xfrm>
              <a:off x="3973" y="3889"/>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30</a:t>
              </a:r>
            </a:p>
          </p:txBody>
        </p:sp>
        <p:sp>
          <p:nvSpPr>
            <p:cNvPr id="53317" name="Rectangle 35">
              <a:extLst>
                <a:ext uri="{FF2B5EF4-FFF2-40B4-BE49-F238E27FC236}">
                  <a16:creationId xmlns:a16="http://schemas.microsoft.com/office/drawing/2014/main" id="{A5E24D25-68A2-41CB-85B1-E5C8C3D21199}"/>
                </a:ext>
              </a:extLst>
            </p:cNvPr>
            <p:cNvSpPr>
              <a:spLocks noChangeArrowheads="1"/>
            </p:cNvSpPr>
            <p:nvPr/>
          </p:nvSpPr>
          <p:spPr bwMode="auto">
            <a:xfrm>
              <a:off x="3973" y="3590"/>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25</a:t>
              </a:r>
            </a:p>
          </p:txBody>
        </p:sp>
        <p:sp>
          <p:nvSpPr>
            <p:cNvPr id="53318" name="Rectangle 36">
              <a:extLst>
                <a:ext uri="{FF2B5EF4-FFF2-40B4-BE49-F238E27FC236}">
                  <a16:creationId xmlns:a16="http://schemas.microsoft.com/office/drawing/2014/main" id="{9B9C1FED-3931-4FEF-BFD1-3AEC7FC30A0D}"/>
                </a:ext>
              </a:extLst>
            </p:cNvPr>
            <p:cNvSpPr>
              <a:spLocks noChangeArrowheads="1"/>
            </p:cNvSpPr>
            <p:nvPr/>
          </p:nvSpPr>
          <p:spPr bwMode="auto">
            <a:xfrm>
              <a:off x="3973" y="3291"/>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20</a:t>
              </a:r>
            </a:p>
          </p:txBody>
        </p:sp>
        <p:sp>
          <p:nvSpPr>
            <p:cNvPr id="53319" name="Rectangle 37">
              <a:extLst>
                <a:ext uri="{FF2B5EF4-FFF2-40B4-BE49-F238E27FC236}">
                  <a16:creationId xmlns:a16="http://schemas.microsoft.com/office/drawing/2014/main" id="{DB189412-F036-4C08-9D5D-EC8772A9B5F9}"/>
                </a:ext>
              </a:extLst>
            </p:cNvPr>
            <p:cNvSpPr>
              <a:spLocks noChangeArrowheads="1"/>
            </p:cNvSpPr>
            <p:nvPr/>
          </p:nvSpPr>
          <p:spPr bwMode="auto">
            <a:xfrm>
              <a:off x="3973" y="2992"/>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15</a:t>
              </a:r>
            </a:p>
          </p:txBody>
        </p:sp>
      </p:grpSp>
      <p:grpSp>
        <p:nvGrpSpPr>
          <p:cNvPr id="6" name="Group 38">
            <a:extLst>
              <a:ext uri="{FF2B5EF4-FFF2-40B4-BE49-F238E27FC236}">
                <a16:creationId xmlns:a16="http://schemas.microsoft.com/office/drawing/2014/main" id="{DA6D9F6D-3CDC-4A5F-993A-FA5262630CBA}"/>
              </a:ext>
            </a:extLst>
          </p:cNvPr>
          <p:cNvGrpSpPr>
            <a:grpSpLocks/>
          </p:cNvGrpSpPr>
          <p:nvPr/>
        </p:nvGrpSpPr>
        <p:grpSpPr bwMode="auto">
          <a:xfrm>
            <a:off x="3989388" y="4275138"/>
            <a:ext cx="4217987" cy="474662"/>
            <a:chOff x="2513" y="2693"/>
            <a:chExt cx="2657" cy="299"/>
          </a:xfrm>
        </p:grpSpPr>
        <p:sp>
          <p:nvSpPr>
            <p:cNvPr id="53305" name="Rectangle 39">
              <a:extLst>
                <a:ext uri="{FF2B5EF4-FFF2-40B4-BE49-F238E27FC236}">
                  <a16:creationId xmlns:a16="http://schemas.microsoft.com/office/drawing/2014/main" id="{175DE8D2-D0D2-4341-B948-98E1D700240E}"/>
                </a:ext>
              </a:extLst>
            </p:cNvPr>
            <p:cNvSpPr>
              <a:spLocks noChangeArrowheads="1"/>
            </p:cNvSpPr>
            <p:nvPr/>
          </p:nvSpPr>
          <p:spPr bwMode="auto">
            <a:xfrm>
              <a:off x="2513" y="2693"/>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6" name="Rectangle 40">
              <a:extLst>
                <a:ext uri="{FF2B5EF4-FFF2-40B4-BE49-F238E27FC236}">
                  <a16:creationId xmlns:a16="http://schemas.microsoft.com/office/drawing/2014/main" id="{8B549219-9634-432E-8126-C9D239FBE1B9}"/>
                </a:ext>
              </a:extLst>
            </p:cNvPr>
            <p:cNvSpPr>
              <a:spLocks noChangeArrowheads="1"/>
            </p:cNvSpPr>
            <p:nvPr/>
          </p:nvSpPr>
          <p:spPr bwMode="auto">
            <a:xfrm>
              <a:off x="3688" y="2693"/>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7" name="Rectangle 41">
              <a:extLst>
                <a:ext uri="{FF2B5EF4-FFF2-40B4-BE49-F238E27FC236}">
                  <a16:creationId xmlns:a16="http://schemas.microsoft.com/office/drawing/2014/main" id="{F25ED42C-410A-4865-83EC-626BE69B9AD5}"/>
                </a:ext>
              </a:extLst>
            </p:cNvPr>
            <p:cNvSpPr>
              <a:spLocks noChangeArrowheads="1"/>
            </p:cNvSpPr>
            <p:nvPr/>
          </p:nvSpPr>
          <p:spPr bwMode="auto">
            <a:xfrm>
              <a:off x="3973" y="2693"/>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10</a:t>
              </a:r>
            </a:p>
          </p:txBody>
        </p:sp>
      </p:grpSp>
      <p:grpSp>
        <p:nvGrpSpPr>
          <p:cNvPr id="7" name="Group 42">
            <a:extLst>
              <a:ext uri="{FF2B5EF4-FFF2-40B4-BE49-F238E27FC236}">
                <a16:creationId xmlns:a16="http://schemas.microsoft.com/office/drawing/2014/main" id="{74ED8131-47CC-4149-B0E3-FF4A5E5DB385}"/>
              </a:ext>
            </a:extLst>
          </p:cNvPr>
          <p:cNvGrpSpPr>
            <a:grpSpLocks/>
          </p:cNvGrpSpPr>
          <p:nvPr/>
        </p:nvGrpSpPr>
        <p:grpSpPr bwMode="auto">
          <a:xfrm>
            <a:off x="3989388" y="3800475"/>
            <a:ext cx="4217987" cy="474663"/>
            <a:chOff x="2513" y="2394"/>
            <a:chExt cx="2657" cy="299"/>
          </a:xfrm>
        </p:grpSpPr>
        <p:sp>
          <p:nvSpPr>
            <p:cNvPr id="53302" name="Rectangle 43">
              <a:extLst>
                <a:ext uri="{FF2B5EF4-FFF2-40B4-BE49-F238E27FC236}">
                  <a16:creationId xmlns:a16="http://schemas.microsoft.com/office/drawing/2014/main" id="{1E75601D-6CE6-4AA7-BD8E-CF032BB4CED3}"/>
                </a:ext>
              </a:extLst>
            </p:cNvPr>
            <p:cNvSpPr>
              <a:spLocks noChangeArrowheads="1"/>
            </p:cNvSpPr>
            <p:nvPr/>
          </p:nvSpPr>
          <p:spPr bwMode="auto">
            <a:xfrm>
              <a:off x="2513" y="2394"/>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3" name="Rectangle 44">
              <a:extLst>
                <a:ext uri="{FF2B5EF4-FFF2-40B4-BE49-F238E27FC236}">
                  <a16:creationId xmlns:a16="http://schemas.microsoft.com/office/drawing/2014/main" id="{A9BC9260-FC90-400A-893A-52625A315E91}"/>
                </a:ext>
              </a:extLst>
            </p:cNvPr>
            <p:cNvSpPr>
              <a:spLocks noChangeArrowheads="1"/>
            </p:cNvSpPr>
            <p:nvPr/>
          </p:nvSpPr>
          <p:spPr bwMode="auto">
            <a:xfrm>
              <a:off x="3688" y="2394"/>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4" name="Rectangle 45">
              <a:extLst>
                <a:ext uri="{FF2B5EF4-FFF2-40B4-BE49-F238E27FC236}">
                  <a16:creationId xmlns:a16="http://schemas.microsoft.com/office/drawing/2014/main" id="{39302CB9-4B7D-4F58-B8C1-11BD403267EC}"/>
                </a:ext>
              </a:extLst>
            </p:cNvPr>
            <p:cNvSpPr>
              <a:spLocks noChangeArrowheads="1"/>
            </p:cNvSpPr>
            <p:nvPr/>
          </p:nvSpPr>
          <p:spPr bwMode="auto">
            <a:xfrm>
              <a:off x="3973" y="2394"/>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5</a:t>
              </a:r>
            </a:p>
          </p:txBody>
        </p:sp>
      </p:grpSp>
      <p:grpSp>
        <p:nvGrpSpPr>
          <p:cNvPr id="8" name="Group 46">
            <a:extLst>
              <a:ext uri="{FF2B5EF4-FFF2-40B4-BE49-F238E27FC236}">
                <a16:creationId xmlns:a16="http://schemas.microsoft.com/office/drawing/2014/main" id="{2FB7DF84-D218-4A9F-A2AF-0F372138C655}"/>
              </a:ext>
            </a:extLst>
          </p:cNvPr>
          <p:cNvGrpSpPr>
            <a:grpSpLocks/>
          </p:cNvGrpSpPr>
          <p:nvPr/>
        </p:nvGrpSpPr>
        <p:grpSpPr bwMode="auto">
          <a:xfrm>
            <a:off x="3989388" y="3325813"/>
            <a:ext cx="4217987" cy="474662"/>
            <a:chOff x="2513" y="2095"/>
            <a:chExt cx="2657" cy="299"/>
          </a:xfrm>
        </p:grpSpPr>
        <p:sp>
          <p:nvSpPr>
            <p:cNvPr id="53299" name="Rectangle 47">
              <a:extLst>
                <a:ext uri="{FF2B5EF4-FFF2-40B4-BE49-F238E27FC236}">
                  <a16:creationId xmlns:a16="http://schemas.microsoft.com/office/drawing/2014/main" id="{6624ED05-08A3-4DA0-81D9-9E3349BCCAD2}"/>
                </a:ext>
              </a:extLst>
            </p:cNvPr>
            <p:cNvSpPr>
              <a:spLocks noChangeArrowheads="1"/>
            </p:cNvSpPr>
            <p:nvPr/>
          </p:nvSpPr>
          <p:spPr bwMode="auto">
            <a:xfrm>
              <a:off x="2513" y="2095"/>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0" name="Rectangle 48">
              <a:extLst>
                <a:ext uri="{FF2B5EF4-FFF2-40B4-BE49-F238E27FC236}">
                  <a16:creationId xmlns:a16="http://schemas.microsoft.com/office/drawing/2014/main" id="{B41C8A5A-F110-4E69-95A2-2775AF512327}"/>
                </a:ext>
              </a:extLst>
            </p:cNvPr>
            <p:cNvSpPr>
              <a:spLocks noChangeArrowheads="1"/>
            </p:cNvSpPr>
            <p:nvPr/>
          </p:nvSpPr>
          <p:spPr bwMode="auto">
            <a:xfrm>
              <a:off x="3688" y="2095"/>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1" name="Rectangle 49">
              <a:extLst>
                <a:ext uri="{FF2B5EF4-FFF2-40B4-BE49-F238E27FC236}">
                  <a16:creationId xmlns:a16="http://schemas.microsoft.com/office/drawing/2014/main" id="{17D394A4-FF6C-4887-8C4F-DD37D85A7F12}"/>
                </a:ext>
              </a:extLst>
            </p:cNvPr>
            <p:cNvSpPr>
              <a:spLocks noChangeArrowheads="1"/>
            </p:cNvSpPr>
            <p:nvPr/>
          </p:nvSpPr>
          <p:spPr bwMode="auto">
            <a:xfrm>
              <a:off x="3973" y="2095"/>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0</a:t>
              </a:r>
            </a:p>
          </p:txBody>
        </p:sp>
      </p:grpSp>
      <p:sp>
        <p:nvSpPr>
          <p:cNvPr id="96306" name="Rectangle 50">
            <a:extLst>
              <a:ext uri="{FF2B5EF4-FFF2-40B4-BE49-F238E27FC236}">
                <a16:creationId xmlns:a16="http://schemas.microsoft.com/office/drawing/2014/main" id="{0670430B-051F-4059-9270-7806F1C51B00}"/>
              </a:ext>
            </a:extLst>
          </p:cNvPr>
          <p:cNvSpPr>
            <a:spLocks noChangeArrowheads="1"/>
          </p:cNvSpPr>
          <p:nvPr/>
        </p:nvSpPr>
        <p:spPr bwMode="auto">
          <a:xfrm>
            <a:off x="6307138" y="2832100"/>
            <a:ext cx="19002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Market </a:t>
            </a:r>
            <a:r>
              <a:rPr lang="en-US" altLang="en-US" sz="2400" b="1" i="1">
                <a:solidFill>
                  <a:srgbClr val="FF0000"/>
                </a:solidFill>
                <a:cs typeface="Arial" panose="020B0604020202020204" pitchFamily="34" charset="0"/>
              </a:rPr>
              <a:t>Q</a:t>
            </a:r>
            <a:r>
              <a:rPr lang="en-US" altLang="en-US" sz="2400" b="1" i="1" baseline="30000">
                <a:solidFill>
                  <a:srgbClr val="FF0000"/>
                </a:solidFill>
                <a:cs typeface="Arial" panose="020B0604020202020204" pitchFamily="34" charset="0"/>
              </a:rPr>
              <a:t>s</a:t>
            </a:r>
            <a:r>
              <a:rPr lang="en-US" altLang="en-US" sz="2400">
                <a:solidFill>
                  <a:srgbClr val="FF0000"/>
                </a:solidFill>
                <a:cs typeface="Arial" panose="020B0604020202020204" pitchFamily="34" charset="0"/>
              </a:rPr>
              <a:t> </a:t>
            </a:r>
          </a:p>
        </p:txBody>
      </p:sp>
      <p:grpSp>
        <p:nvGrpSpPr>
          <p:cNvPr id="9" name="Group 51">
            <a:extLst>
              <a:ext uri="{FF2B5EF4-FFF2-40B4-BE49-F238E27FC236}">
                <a16:creationId xmlns:a16="http://schemas.microsoft.com/office/drawing/2014/main" id="{19911557-2CC4-42FC-8041-A09DCFBD92D7}"/>
              </a:ext>
            </a:extLst>
          </p:cNvPr>
          <p:cNvGrpSpPr>
            <a:grpSpLocks/>
          </p:cNvGrpSpPr>
          <p:nvPr/>
        </p:nvGrpSpPr>
        <p:grpSpPr bwMode="auto">
          <a:xfrm>
            <a:off x="923925" y="2832100"/>
            <a:ext cx="1192213" cy="3816350"/>
            <a:chOff x="582" y="1784"/>
            <a:chExt cx="751" cy="2404"/>
          </a:xfrm>
        </p:grpSpPr>
        <p:sp>
          <p:nvSpPr>
            <p:cNvPr id="53291" name="Rectangle 52">
              <a:extLst>
                <a:ext uri="{FF2B5EF4-FFF2-40B4-BE49-F238E27FC236}">
                  <a16:creationId xmlns:a16="http://schemas.microsoft.com/office/drawing/2014/main" id="{A83DE48E-7B12-46EE-B076-765A0B33FD72}"/>
                </a:ext>
              </a:extLst>
            </p:cNvPr>
            <p:cNvSpPr>
              <a:spLocks noChangeArrowheads="1"/>
            </p:cNvSpPr>
            <p:nvPr/>
          </p:nvSpPr>
          <p:spPr bwMode="auto">
            <a:xfrm>
              <a:off x="582" y="2095"/>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$0.00</a:t>
              </a:r>
            </a:p>
          </p:txBody>
        </p:sp>
        <p:sp>
          <p:nvSpPr>
            <p:cNvPr id="53292" name="Rectangle 53">
              <a:extLst>
                <a:ext uri="{FF2B5EF4-FFF2-40B4-BE49-F238E27FC236}">
                  <a16:creationId xmlns:a16="http://schemas.microsoft.com/office/drawing/2014/main" id="{F3D52527-9EC4-4FA2-9A29-EBA81A548B88}"/>
                </a:ext>
              </a:extLst>
            </p:cNvPr>
            <p:cNvSpPr>
              <a:spLocks noChangeArrowheads="1"/>
            </p:cNvSpPr>
            <p:nvPr/>
          </p:nvSpPr>
          <p:spPr bwMode="auto">
            <a:xfrm>
              <a:off x="582" y="3889"/>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6.00</a:t>
              </a:r>
            </a:p>
          </p:txBody>
        </p:sp>
        <p:sp>
          <p:nvSpPr>
            <p:cNvPr id="53293" name="Rectangle 54">
              <a:extLst>
                <a:ext uri="{FF2B5EF4-FFF2-40B4-BE49-F238E27FC236}">
                  <a16:creationId xmlns:a16="http://schemas.microsoft.com/office/drawing/2014/main" id="{3C46CF4C-0AA4-4E47-949C-C08FC1061FC3}"/>
                </a:ext>
              </a:extLst>
            </p:cNvPr>
            <p:cNvSpPr>
              <a:spLocks noChangeArrowheads="1"/>
            </p:cNvSpPr>
            <p:nvPr/>
          </p:nvSpPr>
          <p:spPr bwMode="auto">
            <a:xfrm>
              <a:off x="582" y="3590"/>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5.00</a:t>
              </a:r>
            </a:p>
          </p:txBody>
        </p:sp>
        <p:sp>
          <p:nvSpPr>
            <p:cNvPr id="53294" name="Rectangle 55">
              <a:extLst>
                <a:ext uri="{FF2B5EF4-FFF2-40B4-BE49-F238E27FC236}">
                  <a16:creationId xmlns:a16="http://schemas.microsoft.com/office/drawing/2014/main" id="{5BAB2FCB-36D1-4C7E-A4C4-789781092E6C}"/>
                </a:ext>
              </a:extLst>
            </p:cNvPr>
            <p:cNvSpPr>
              <a:spLocks noChangeArrowheads="1"/>
            </p:cNvSpPr>
            <p:nvPr/>
          </p:nvSpPr>
          <p:spPr bwMode="auto">
            <a:xfrm>
              <a:off x="582" y="3291"/>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4.00</a:t>
              </a:r>
            </a:p>
          </p:txBody>
        </p:sp>
        <p:sp>
          <p:nvSpPr>
            <p:cNvPr id="53295" name="Rectangle 56">
              <a:extLst>
                <a:ext uri="{FF2B5EF4-FFF2-40B4-BE49-F238E27FC236}">
                  <a16:creationId xmlns:a16="http://schemas.microsoft.com/office/drawing/2014/main" id="{DE7248FF-E452-499D-BA51-8DFE087CD8C0}"/>
                </a:ext>
              </a:extLst>
            </p:cNvPr>
            <p:cNvSpPr>
              <a:spLocks noChangeArrowheads="1"/>
            </p:cNvSpPr>
            <p:nvPr/>
          </p:nvSpPr>
          <p:spPr bwMode="auto">
            <a:xfrm>
              <a:off x="582" y="2992"/>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3.00</a:t>
              </a:r>
            </a:p>
          </p:txBody>
        </p:sp>
        <p:sp>
          <p:nvSpPr>
            <p:cNvPr id="53296" name="Rectangle 57">
              <a:extLst>
                <a:ext uri="{FF2B5EF4-FFF2-40B4-BE49-F238E27FC236}">
                  <a16:creationId xmlns:a16="http://schemas.microsoft.com/office/drawing/2014/main" id="{3146F8ED-0D4F-4064-9941-F3F80815B297}"/>
                </a:ext>
              </a:extLst>
            </p:cNvPr>
            <p:cNvSpPr>
              <a:spLocks noChangeArrowheads="1"/>
            </p:cNvSpPr>
            <p:nvPr/>
          </p:nvSpPr>
          <p:spPr bwMode="auto">
            <a:xfrm>
              <a:off x="582" y="2693"/>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2.00</a:t>
              </a:r>
            </a:p>
          </p:txBody>
        </p:sp>
        <p:sp>
          <p:nvSpPr>
            <p:cNvPr id="53297" name="Rectangle 58">
              <a:extLst>
                <a:ext uri="{FF2B5EF4-FFF2-40B4-BE49-F238E27FC236}">
                  <a16:creationId xmlns:a16="http://schemas.microsoft.com/office/drawing/2014/main" id="{0132F968-AAF1-4BDE-9D6C-825352D8C4F0}"/>
                </a:ext>
              </a:extLst>
            </p:cNvPr>
            <p:cNvSpPr>
              <a:spLocks noChangeArrowheads="1"/>
            </p:cNvSpPr>
            <p:nvPr/>
          </p:nvSpPr>
          <p:spPr bwMode="auto">
            <a:xfrm>
              <a:off x="582" y="2394"/>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1.00</a:t>
              </a:r>
            </a:p>
          </p:txBody>
        </p:sp>
        <p:sp>
          <p:nvSpPr>
            <p:cNvPr id="53298" name="Rectangle 59">
              <a:extLst>
                <a:ext uri="{FF2B5EF4-FFF2-40B4-BE49-F238E27FC236}">
                  <a16:creationId xmlns:a16="http://schemas.microsoft.com/office/drawing/2014/main" id="{CD8C32D8-2D00-40EB-8B30-DB6D1033C943}"/>
                </a:ext>
              </a:extLst>
            </p:cNvPr>
            <p:cNvSpPr>
              <a:spLocks noChangeArrowheads="1"/>
            </p:cNvSpPr>
            <p:nvPr/>
          </p:nvSpPr>
          <p:spPr bwMode="auto">
            <a:xfrm>
              <a:off x="582" y="1784"/>
              <a:ext cx="75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Price </a:t>
              </a:r>
            </a:p>
          </p:txBody>
        </p:sp>
      </p:grpSp>
      <p:sp>
        <p:nvSpPr>
          <p:cNvPr id="53261" name="Line 60">
            <a:extLst>
              <a:ext uri="{FF2B5EF4-FFF2-40B4-BE49-F238E27FC236}">
                <a16:creationId xmlns:a16="http://schemas.microsoft.com/office/drawing/2014/main" id="{6E189A97-05C2-46BD-8D0A-B03B0E842D2E}"/>
              </a:ext>
            </a:extLst>
          </p:cNvPr>
          <p:cNvSpPr>
            <a:spLocks noChangeShapeType="1"/>
          </p:cNvSpPr>
          <p:nvPr/>
        </p:nvSpPr>
        <p:spPr bwMode="auto">
          <a:xfrm>
            <a:off x="923925" y="2832100"/>
            <a:ext cx="11922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2" name="Line 61">
            <a:extLst>
              <a:ext uri="{FF2B5EF4-FFF2-40B4-BE49-F238E27FC236}">
                <a16:creationId xmlns:a16="http://schemas.microsoft.com/office/drawing/2014/main" id="{5054B543-57CD-4E1B-8190-519736E5B190}"/>
              </a:ext>
            </a:extLst>
          </p:cNvPr>
          <p:cNvSpPr>
            <a:spLocks noChangeShapeType="1"/>
          </p:cNvSpPr>
          <p:nvPr/>
        </p:nvSpPr>
        <p:spPr bwMode="auto">
          <a:xfrm>
            <a:off x="923925" y="6648450"/>
            <a:ext cx="11922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3" name="Line 62">
            <a:extLst>
              <a:ext uri="{FF2B5EF4-FFF2-40B4-BE49-F238E27FC236}">
                <a16:creationId xmlns:a16="http://schemas.microsoft.com/office/drawing/2014/main" id="{779C9F0F-A890-4969-B509-3D7E7EA25003}"/>
              </a:ext>
            </a:extLst>
          </p:cNvPr>
          <p:cNvSpPr>
            <a:spLocks noChangeShapeType="1"/>
          </p:cNvSpPr>
          <p:nvPr/>
        </p:nvSpPr>
        <p:spPr bwMode="auto">
          <a:xfrm>
            <a:off x="923925" y="2832100"/>
            <a:ext cx="0"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4" name="Line 63">
            <a:extLst>
              <a:ext uri="{FF2B5EF4-FFF2-40B4-BE49-F238E27FC236}">
                <a16:creationId xmlns:a16="http://schemas.microsoft.com/office/drawing/2014/main" id="{F4E4B535-966F-44A7-A52F-83FB478E710C}"/>
              </a:ext>
            </a:extLst>
          </p:cNvPr>
          <p:cNvSpPr>
            <a:spLocks noChangeShapeType="1"/>
          </p:cNvSpPr>
          <p:nvPr/>
        </p:nvSpPr>
        <p:spPr bwMode="auto">
          <a:xfrm>
            <a:off x="8207375" y="2832100"/>
            <a:ext cx="0"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5" name="Line 64">
            <a:extLst>
              <a:ext uri="{FF2B5EF4-FFF2-40B4-BE49-F238E27FC236}">
                <a16:creationId xmlns:a16="http://schemas.microsoft.com/office/drawing/2014/main" id="{09130520-1356-4042-84A2-51D15579F8E4}"/>
              </a:ext>
            </a:extLst>
          </p:cNvPr>
          <p:cNvSpPr>
            <a:spLocks noChangeShapeType="1"/>
          </p:cNvSpPr>
          <p:nvPr/>
        </p:nvSpPr>
        <p:spPr bwMode="auto">
          <a:xfrm>
            <a:off x="2116138" y="2832100"/>
            <a:ext cx="18732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6" name="Line 65">
            <a:extLst>
              <a:ext uri="{FF2B5EF4-FFF2-40B4-BE49-F238E27FC236}">
                <a16:creationId xmlns:a16="http://schemas.microsoft.com/office/drawing/2014/main" id="{FC9640D9-F88A-4B13-B37C-86E75420FEEA}"/>
              </a:ext>
            </a:extLst>
          </p:cNvPr>
          <p:cNvSpPr>
            <a:spLocks noChangeShapeType="1"/>
          </p:cNvSpPr>
          <p:nvPr/>
        </p:nvSpPr>
        <p:spPr bwMode="auto">
          <a:xfrm>
            <a:off x="923925" y="332581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7" name="Line 66">
            <a:extLst>
              <a:ext uri="{FF2B5EF4-FFF2-40B4-BE49-F238E27FC236}">
                <a16:creationId xmlns:a16="http://schemas.microsoft.com/office/drawing/2014/main" id="{A391F684-32F4-40C6-984D-33A828570038}"/>
              </a:ext>
            </a:extLst>
          </p:cNvPr>
          <p:cNvSpPr>
            <a:spLocks noChangeShapeType="1"/>
          </p:cNvSpPr>
          <p:nvPr/>
        </p:nvSpPr>
        <p:spPr bwMode="auto">
          <a:xfrm>
            <a:off x="8207375" y="332581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8" name="Line 67">
            <a:extLst>
              <a:ext uri="{FF2B5EF4-FFF2-40B4-BE49-F238E27FC236}">
                <a16:creationId xmlns:a16="http://schemas.microsoft.com/office/drawing/2014/main" id="{C9FFFAB5-8270-4262-915A-3ECBB8B97CBE}"/>
              </a:ext>
            </a:extLst>
          </p:cNvPr>
          <p:cNvSpPr>
            <a:spLocks noChangeShapeType="1"/>
          </p:cNvSpPr>
          <p:nvPr/>
        </p:nvSpPr>
        <p:spPr bwMode="auto">
          <a:xfrm>
            <a:off x="923925" y="380047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9" name="Line 68">
            <a:extLst>
              <a:ext uri="{FF2B5EF4-FFF2-40B4-BE49-F238E27FC236}">
                <a16:creationId xmlns:a16="http://schemas.microsoft.com/office/drawing/2014/main" id="{5341E3D6-8155-4D54-9FAC-37BCC389925B}"/>
              </a:ext>
            </a:extLst>
          </p:cNvPr>
          <p:cNvSpPr>
            <a:spLocks noChangeShapeType="1"/>
          </p:cNvSpPr>
          <p:nvPr/>
        </p:nvSpPr>
        <p:spPr bwMode="auto">
          <a:xfrm>
            <a:off x="8207375" y="380047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0" name="Line 69">
            <a:extLst>
              <a:ext uri="{FF2B5EF4-FFF2-40B4-BE49-F238E27FC236}">
                <a16:creationId xmlns:a16="http://schemas.microsoft.com/office/drawing/2014/main" id="{CABCFEEC-1D10-4700-B26C-6731BF44795C}"/>
              </a:ext>
            </a:extLst>
          </p:cNvPr>
          <p:cNvSpPr>
            <a:spLocks noChangeShapeType="1"/>
          </p:cNvSpPr>
          <p:nvPr/>
        </p:nvSpPr>
        <p:spPr bwMode="auto">
          <a:xfrm>
            <a:off x="923925" y="427513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1" name="Line 70">
            <a:extLst>
              <a:ext uri="{FF2B5EF4-FFF2-40B4-BE49-F238E27FC236}">
                <a16:creationId xmlns:a16="http://schemas.microsoft.com/office/drawing/2014/main" id="{4F9A1466-6A03-465C-9E44-B20CFC085D3C}"/>
              </a:ext>
            </a:extLst>
          </p:cNvPr>
          <p:cNvSpPr>
            <a:spLocks noChangeShapeType="1"/>
          </p:cNvSpPr>
          <p:nvPr/>
        </p:nvSpPr>
        <p:spPr bwMode="auto">
          <a:xfrm>
            <a:off x="8207375" y="427513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2" name="Line 71">
            <a:extLst>
              <a:ext uri="{FF2B5EF4-FFF2-40B4-BE49-F238E27FC236}">
                <a16:creationId xmlns:a16="http://schemas.microsoft.com/office/drawing/2014/main" id="{1458B6D1-D773-414E-89D6-7AD523A97062}"/>
              </a:ext>
            </a:extLst>
          </p:cNvPr>
          <p:cNvSpPr>
            <a:spLocks noChangeShapeType="1"/>
          </p:cNvSpPr>
          <p:nvPr/>
        </p:nvSpPr>
        <p:spPr bwMode="auto">
          <a:xfrm>
            <a:off x="923925" y="4749800"/>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3" name="Line 72">
            <a:extLst>
              <a:ext uri="{FF2B5EF4-FFF2-40B4-BE49-F238E27FC236}">
                <a16:creationId xmlns:a16="http://schemas.microsoft.com/office/drawing/2014/main" id="{8B891FB0-3673-43F6-ACF5-6AACCC968A3F}"/>
              </a:ext>
            </a:extLst>
          </p:cNvPr>
          <p:cNvSpPr>
            <a:spLocks noChangeShapeType="1"/>
          </p:cNvSpPr>
          <p:nvPr/>
        </p:nvSpPr>
        <p:spPr bwMode="auto">
          <a:xfrm>
            <a:off x="8207375" y="4749800"/>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4" name="Line 73">
            <a:extLst>
              <a:ext uri="{FF2B5EF4-FFF2-40B4-BE49-F238E27FC236}">
                <a16:creationId xmlns:a16="http://schemas.microsoft.com/office/drawing/2014/main" id="{BE7F6E24-F316-4005-B3DF-A2287416980E}"/>
              </a:ext>
            </a:extLst>
          </p:cNvPr>
          <p:cNvSpPr>
            <a:spLocks noChangeShapeType="1"/>
          </p:cNvSpPr>
          <p:nvPr/>
        </p:nvSpPr>
        <p:spPr bwMode="auto">
          <a:xfrm>
            <a:off x="923925" y="522446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5" name="Line 74">
            <a:extLst>
              <a:ext uri="{FF2B5EF4-FFF2-40B4-BE49-F238E27FC236}">
                <a16:creationId xmlns:a16="http://schemas.microsoft.com/office/drawing/2014/main" id="{3E742132-D77B-4E3F-BEA3-18FF86E0CF50}"/>
              </a:ext>
            </a:extLst>
          </p:cNvPr>
          <p:cNvSpPr>
            <a:spLocks noChangeShapeType="1"/>
          </p:cNvSpPr>
          <p:nvPr/>
        </p:nvSpPr>
        <p:spPr bwMode="auto">
          <a:xfrm>
            <a:off x="8207375" y="522446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6" name="Line 75">
            <a:extLst>
              <a:ext uri="{FF2B5EF4-FFF2-40B4-BE49-F238E27FC236}">
                <a16:creationId xmlns:a16="http://schemas.microsoft.com/office/drawing/2014/main" id="{3FE99096-A213-4345-BCAB-F5E1DAED2800}"/>
              </a:ext>
            </a:extLst>
          </p:cNvPr>
          <p:cNvSpPr>
            <a:spLocks noChangeShapeType="1"/>
          </p:cNvSpPr>
          <p:nvPr/>
        </p:nvSpPr>
        <p:spPr bwMode="auto">
          <a:xfrm>
            <a:off x="923925" y="569912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7" name="Line 76">
            <a:extLst>
              <a:ext uri="{FF2B5EF4-FFF2-40B4-BE49-F238E27FC236}">
                <a16:creationId xmlns:a16="http://schemas.microsoft.com/office/drawing/2014/main" id="{49BDCC6F-0C5B-4C6E-93B5-027ACC1D68FC}"/>
              </a:ext>
            </a:extLst>
          </p:cNvPr>
          <p:cNvSpPr>
            <a:spLocks noChangeShapeType="1"/>
          </p:cNvSpPr>
          <p:nvPr/>
        </p:nvSpPr>
        <p:spPr bwMode="auto">
          <a:xfrm>
            <a:off x="8207375" y="569912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8" name="Line 77">
            <a:extLst>
              <a:ext uri="{FF2B5EF4-FFF2-40B4-BE49-F238E27FC236}">
                <a16:creationId xmlns:a16="http://schemas.microsoft.com/office/drawing/2014/main" id="{B6395B07-A3D8-422C-90FE-019ACAB0395A}"/>
              </a:ext>
            </a:extLst>
          </p:cNvPr>
          <p:cNvSpPr>
            <a:spLocks noChangeShapeType="1"/>
          </p:cNvSpPr>
          <p:nvPr/>
        </p:nvSpPr>
        <p:spPr bwMode="auto">
          <a:xfrm>
            <a:off x="923925" y="617378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9" name="Line 78">
            <a:extLst>
              <a:ext uri="{FF2B5EF4-FFF2-40B4-BE49-F238E27FC236}">
                <a16:creationId xmlns:a16="http://schemas.microsoft.com/office/drawing/2014/main" id="{08B3F94A-B539-4361-A63C-BB7B49903E15}"/>
              </a:ext>
            </a:extLst>
          </p:cNvPr>
          <p:cNvSpPr>
            <a:spLocks noChangeShapeType="1"/>
          </p:cNvSpPr>
          <p:nvPr/>
        </p:nvSpPr>
        <p:spPr bwMode="auto">
          <a:xfrm>
            <a:off x="8207375" y="617378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0" name="Line 79">
            <a:extLst>
              <a:ext uri="{FF2B5EF4-FFF2-40B4-BE49-F238E27FC236}">
                <a16:creationId xmlns:a16="http://schemas.microsoft.com/office/drawing/2014/main" id="{A0CF9B92-D4DC-4AC4-A2A9-B4EB2B4AC9A6}"/>
              </a:ext>
            </a:extLst>
          </p:cNvPr>
          <p:cNvSpPr>
            <a:spLocks noChangeShapeType="1"/>
          </p:cNvSpPr>
          <p:nvPr/>
        </p:nvSpPr>
        <p:spPr bwMode="auto">
          <a:xfrm>
            <a:off x="2116138" y="6648450"/>
            <a:ext cx="18732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1" name="Line 80">
            <a:extLst>
              <a:ext uri="{FF2B5EF4-FFF2-40B4-BE49-F238E27FC236}">
                <a16:creationId xmlns:a16="http://schemas.microsoft.com/office/drawing/2014/main" id="{1A47185F-1279-4B77-B44E-C75CD87E4EAC}"/>
              </a:ext>
            </a:extLst>
          </p:cNvPr>
          <p:cNvSpPr>
            <a:spLocks noChangeShapeType="1"/>
          </p:cNvSpPr>
          <p:nvPr/>
        </p:nvSpPr>
        <p:spPr bwMode="auto">
          <a:xfrm>
            <a:off x="3989388" y="2832100"/>
            <a:ext cx="2667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2" name="Line 81">
            <a:extLst>
              <a:ext uri="{FF2B5EF4-FFF2-40B4-BE49-F238E27FC236}">
                <a16:creationId xmlns:a16="http://schemas.microsoft.com/office/drawing/2014/main" id="{0AD11FC6-2210-4618-B05C-BF790D0A2943}"/>
              </a:ext>
            </a:extLst>
          </p:cNvPr>
          <p:cNvSpPr>
            <a:spLocks noChangeShapeType="1"/>
          </p:cNvSpPr>
          <p:nvPr/>
        </p:nvSpPr>
        <p:spPr bwMode="auto">
          <a:xfrm>
            <a:off x="4256088" y="2832100"/>
            <a:ext cx="1598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3" name="Line 82">
            <a:extLst>
              <a:ext uri="{FF2B5EF4-FFF2-40B4-BE49-F238E27FC236}">
                <a16:creationId xmlns:a16="http://schemas.microsoft.com/office/drawing/2014/main" id="{7939EC02-EA5C-4327-A437-E0C986F17109}"/>
              </a:ext>
            </a:extLst>
          </p:cNvPr>
          <p:cNvSpPr>
            <a:spLocks noChangeShapeType="1"/>
          </p:cNvSpPr>
          <p:nvPr/>
        </p:nvSpPr>
        <p:spPr bwMode="auto">
          <a:xfrm>
            <a:off x="5854700" y="2832100"/>
            <a:ext cx="4524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4" name="Line 83">
            <a:extLst>
              <a:ext uri="{FF2B5EF4-FFF2-40B4-BE49-F238E27FC236}">
                <a16:creationId xmlns:a16="http://schemas.microsoft.com/office/drawing/2014/main" id="{DF37B1DE-8899-433C-97B1-AB7F72BD668F}"/>
              </a:ext>
            </a:extLst>
          </p:cNvPr>
          <p:cNvSpPr>
            <a:spLocks noChangeShapeType="1"/>
          </p:cNvSpPr>
          <p:nvPr/>
        </p:nvSpPr>
        <p:spPr bwMode="auto">
          <a:xfrm>
            <a:off x="6307138" y="2832100"/>
            <a:ext cx="19002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5" name="Line 84">
            <a:extLst>
              <a:ext uri="{FF2B5EF4-FFF2-40B4-BE49-F238E27FC236}">
                <a16:creationId xmlns:a16="http://schemas.microsoft.com/office/drawing/2014/main" id="{1DD01E94-304A-4ABF-BF21-37D5C0F0CB3B}"/>
              </a:ext>
            </a:extLst>
          </p:cNvPr>
          <p:cNvSpPr>
            <a:spLocks noChangeShapeType="1"/>
          </p:cNvSpPr>
          <p:nvPr/>
        </p:nvSpPr>
        <p:spPr bwMode="auto">
          <a:xfrm>
            <a:off x="3989388" y="6648450"/>
            <a:ext cx="2667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6" name="Line 85">
            <a:extLst>
              <a:ext uri="{FF2B5EF4-FFF2-40B4-BE49-F238E27FC236}">
                <a16:creationId xmlns:a16="http://schemas.microsoft.com/office/drawing/2014/main" id="{BD6F75C4-D124-4DB2-AE70-3C84597BBAA3}"/>
              </a:ext>
            </a:extLst>
          </p:cNvPr>
          <p:cNvSpPr>
            <a:spLocks noChangeShapeType="1"/>
          </p:cNvSpPr>
          <p:nvPr/>
        </p:nvSpPr>
        <p:spPr bwMode="auto">
          <a:xfrm>
            <a:off x="4256088" y="6648450"/>
            <a:ext cx="1598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7" name="Line 86">
            <a:extLst>
              <a:ext uri="{FF2B5EF4-FFF2-40B4-BE49-F238E27FC236}">
                <a16:creationId xmlns:a16="http://schemas.microsoft.com/office/drawing/2014/main" id="{9F058E18-9344-4980-9DAC-60C889CA8139}"/>
              </a:ext>
            </a:extLst>
          </p:cNvPr>
          <p:cNvSpPr>
            <a:spLocks noChangeShapeType="1"/>
          </p:cNvSpPr>
          <p:nvPr/>
        </p:nvSpPr>
        <p:spPr bwMode="auto">
          <a:xfrm>
            <a:off x="5854700" y="6648450"/>
            <a:ext cx="4524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8" name="Line 87">
            <a:extLst>
              <a:ext uri="{FF2B5EF4-FFF2-40B4-BE49-F238E27FC236}">
                <a16:creationId xmlns:a16="http://schemas.microsoft.com/office/drawing/2014/main" id="{CC141B14-E3D2-4892-A293-2FDEA0971FC0}"/>
              </a:ext>
            </a:extLst>
          </p:cNvPr>
          <p:cNvSpPr>
            <a:spLocks noChangeShapeType="1"/>
          </p:cNvSpPr>
          <p:nvPr/>
        </p:nvSpPr>
        <p:spPr bwMode="auto">
          <a:xfrm>
            <a:off x="6307138" y="6648450"/>
            <a:ext cx="19002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9" name="FlagCount" hidden="1">
            <a:hlinkClick r:id="rId3" action="ppaction://hlinkfile"/>
            <a:extLst>
              <a:ext uri="{FF2B5EF4-FFF2-40B4-BE49-F238E27FC236}">
                <a16:creationId xmlns:a16="http://schemas.microsoft.com/office/drawing/2014/main" id="{3F4F8F3F-479C-43E8-AFA0-CF85CBF77F4C}"/>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
        <p:nvSpPr>
          <p:cNvPr id="53290" name="Rectangle 89">
            <a:extLst>
              <a:ext uri="{FF2B5EF4-FFF2-40B4-BE49-F238E27FC236}">
                <a16:creationId xmlns:a16="http://schemas.microsoft.com/office/drawing/2014/main" id="{414E93B8-DD8E-400A-AC33-B0A9D98B9605}"/>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3FB01A2-B82A-4707-8692-C5144699A44F}" type="slidenum">
              <a:rPr lang="en-US" altLang="en-US" sz="1700">
                <a:solidFill>
                  <a:srgbClr val="777777"/>
                </a:solidFill>
                <a:latin typeface="Tahoma" panose="020B0604030504040204" pitchFamily="34" charset="0"/>
              </a:rPr>
              <a:pPr algn="r" eaLnBrk="1" hangingPunct="1"/>
              <a:t>24</a:t>
            </a:fld>
            <a:endParaRPr lang="en-US" altLang="en-US" sz="1700">
              <a:solidFill>
                <a:srgbClr val="777777"/>
              </a:solidFill>
              <a:latin typeface="Tahoma" panose="020B060403050404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2">
                                            <p:txEl>
                                              <p:pRg st="0" end="0"/>
                                            </p:txEl>
                                          </p:spTgt>
                                        </p:tgtEl>
                                        <p:attrNameLst>
                                          <p:attrName>style.visibility</p:attrName>
                                        </p:attrNameLst>
                                      </p:cBhvr>
                                      <p:to>
                                        <p:strVal val="visible"/>
                                      </p:to>
                                    </p:set>
                                    <p:animEffect transition="in" filter="wipe(left)">
                                      <p:cBhvr>
                                        <p:cTn id="7" dur="500"/>
                                        <p:tgtEl>
                                          <p:spTgt spid="53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2">
                                            <p:txEl>
                                              <p:pRg st="1" end="1"/>
                                            </p:txEl>
                                          </p:spTgt>
                                        </p:tgtEl>
                                        <p:attrNameLst>
                                          <p:attrName>style.visibility</p:attrName>
                                        </p:attrNameLst>
                                      </p:cBhvr>
                                      <p:to>
                                        <p:strVal val="visible"/>
                                      </p:to>
                                    </p:set>
                                    <p:animEffect transition="in" filter="wipe(left)">
                                      <p:cBhvr>
                                        <p:cTn id="12" dur="500"/>
                                        <p:tgtEl>
                                          <p:spTgt spid="532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6306"/>
                                        </p:tgtEl>
                                        <p:attrNameLst>
                                          <p:attrName>style.visibility</p:attrName>
                                        </p:attrNameLst>
                                      </p:cBhvr>
                                      <p:to>
                                        <p:strVal val="visible"/>
                                      </p:to>
                                    </p:set>
                                    <p:animEffect transition="in" filter="wipe(left)">
                                      <p:cBhvr>
                                        <p:cTn id="35" dur="500"/>
                                        <p:tgtEl>
                                          <p:spTgt spid="9630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build="p" bldLvl="4"/>
      <p:bldP spid="9630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1">
            <a:extLst>
              <a:ext uri="{FF2B5EF4-FFF2-40B4-BE49-F238E27FC236}">
                <a16:creationId xmlns:a16="http://schemas.microsoft.com/office/drawing/2014/main" id="{9E4BB36C-0F37-438F-B34D-FD7785D30F06}"/>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55299" name="Slide Number Placeholder 2">
            <a:extLst>
              <a:ext uri="{FF2B5EF4-FFF2-40B4-BE49-F238E27FC236}">
                <a16:creationId xmlns:a16="http://schemas.microsoft.com/office/drawing/2014/main" id="{5AE8DA61-78F4-4F1D-BDC0-D00D7F0EE5B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C69ABD-C3F0-43EB-A0E3-E425420E5A99}" type="slidenum">
              <a:rPr lang="en-US" altLang="en-US">
                <a:solidFill>
                  <a:srgbClr val="777777"/>
                </a:solidFill>
                <a:latin typeface="Tahoma" panose="020B0604030504040204" pitchFamily="34" charset="0"/>
              </a:rPr>
              <a:pPr/>
              <a:t>25</a:t>
            </a:fld>
            <a:endParaRPr lang="en-US" altLang="en-US">
              <a:solidFill>
                <a:srgbClr val="777777"/>
              </a:solidFill>
              <a:latin typeface="Tahoma" panose="020B0604030504040204" pitchFamily="34" charset="0"/>
            </a:endParaRPr>
          </a:p>
        </p:txBody>
      </p:sp>
      <p:grpSp>
        <p:nvGrpSpPr>
          <p:cNvPr id="55300" name="Group 2">
            <a:extLst>
              <a:ext uri="{FF2B5EF4-FFF2-40B4-BE49-F238E27FC236}">
                <a16:creationId xmlns:a16="http://schemas.microsoft.com/office/drawing/2014/main" id="{ACC9916E-B090-4097-806D-589010DFB39C}"/>
              </a:ext>
            </a:extLst>
          </p:cNvPr>
          <p:cNvGrpSpPr>
            <a:grpSpLocks/>
          </p:cNvGrpSpPr>
          <p:nvPr/>
        </p:nvGrpSpPr>
        <p:grpSpPr bwMode="auto">
          <a:xfrm>
            <a:off x="288925" y="1228725"/>
            <a:ext cx="6221413" cy="5111750"/>
            <a:chOff x="182" y="774"/>
            <a:chExt cx="3919" cy="3220"/>
          </a:xfrm>
        </p:grpSpPr>
        <p:graphicFrame>
          <p:nvGraphicFramePr>
            <p:cNvPr id="55354" name="Object 3">
              <a:extLst>
                <a:ext uri="{FF2B5EF4-FFF2-40B4-BE49-F238E27FC236}">
                  <a16:creationId xmlns:a16="http://schemas.microsoft.com/office/drawing/2014/main" id="{26E120A9-906A-4DE5-A9AE-67479B7E1302}"/>
                </a:ext>
              </a:extLst>
            </p:cNvPr>
            <p:cNvGraphicFramePr>
              <a:graphicFrameLocks noChangeAspect="1"/>
            </p:cNvGraphicFramePr>
            <p:nvPr/>
          </p:nvGraphicFramePr>
          <p:xfrm>
            <a:off x="182" y="774"/>
            <a:ext cx="3919" cy="3220"/>
          </p:xfrm>
          <a:graphic>
            <a:graphicData uri="http://schemas.openxmlformats.org/presentationml/2006/ole">
              <mc:AlternateContent xmlns:mc="http://schemas.openxmlformats.org/markup-compatibility/2006">
                <mc:Choice xmlns:v="urn:schemas-microsoft-com:vml" Requires="v">
                  <p:oleObj name="Chart" r:id="rId3" imgW="4390949" imgH="3610051" progId="Excel.Chart.8">
                    <p:embed/>
                  </p:oleObj>
                </mc:Choice>
                <mc:Fallback>
                  <p:oleObj name="Chart" r:id="rId3" imgW="4390949" imgH="3610051"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 y="774"/>
                          <a:ext cx="3919" cy="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55" name="Text Box 4">
              <a:extLst>
                <a:ext uri="{FF2B5EF4-FFF2-40B4-BE49-F238E27FC236}">
                  <a16:creationId xmlns:a16="http://schemas.microsoft.com/office/drawing/2014/main" id="{18B8C3CE-302F-4109-B8A4-BC9346ABB758}"/>
                </a:ext>
              </a:extLst>
            </p:cNvPr>
            <p:cNvSpPr txBox="1">
              <a:spLocks noChangeArrowheads="1"/>
            </p:cNvSpPr>
            <p:nvPr/>
          </p:nvSpPr>
          <p:spPr bwMode="auto">
            <a:xfrm>
              <a:off x="696" y="870"/>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55356" name="Text Box 5">
              <a:extLst>
                <a:ext uri="{FF2B5EF4-FFF2-40B4-BE49-F238E27FC236}">
                  <a16:creationId xmlns:a16="http://schemas.microsoft.com/office/drawing/2014/main" id="{E672F151-6E27-4A9D-BFA6-CDE54955ABEA}"/>
                </a:ext>
              </a:extLst>
            </p:cNvPr>
            <p:cNvSpPr txBox="1">
              <a:spLocks noChangeArrowheads="1"/>
            </p:cNvSpPr>
            <p:nvPr/>
          </p:nvSpPr>
          <p:spPr bwMode="auto">
            <a:xfrm>
              <a:off x="3759" y="337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55301" name="Group 6">
            <a:extLst>
              <a:ext uri="{FF2B5EF4-FFF2-40B4-BE49-F238E27FC236}">
                <a16:creationId xmlns:a16="http://schemas.microsoft.com/office/drawing/2014/main" id="{2EA5B104-776B-42DA-9F5E-AF2F76D32931}"/>
              </a:ext>
            </a:extLst>
          </p:cNvPr>
          <p:cNvGrpSpPr>
            <a:grpSpLocks/>
          </p:cNvGrpSpPr>
          <p:nvPr/>
        </p:nvGrpSpPr>
        <p:grpSpPr bwMode="auto">
          <a:xfrm>
            <a:off x="1355725" y="2022475"/>
            <a:ext cx="3740150" cy="3546475"/>
            <a:chOff x="854" y="1274"/>
            <a:chExt cx="2356" cy="2234"/>
          </a:xfrm>
        </p:grpSpPr>
        <p:grpSp>
          <p:nvGrpSpPr>
            <p:cNvPr id="55336" name="Group 7">
              <a:extLst>
                <a:ext uri="{FF2B5EF4-FFF2-40B4-BE49-F238E27FC236}">
                  <a16:creationId xmlns:a16="http://schemas.microsoft.com/office/drawing/2014/main" id="{AFD01C1B-79DC-4B40-9EF8-617AC941C3C3}"/>
                </a:ext>
              </a:extLst>
            </p:cNvPr>
            <p:cNvGrpSpPr>
              <a:grpSpLocks/>
            </p:cNvGrpSpPr>
            <p:nvPr/>
          </p:nvGrpSpPr>
          <p:grpSpPr bwMode="auto">
            <a:xfrm>
              <a:off x="860" y="1648"/>
              <a:ext cx="1964" cy="1855"/>
              <a:chOff x="357" y="2450"/>
              <a:chExt cx="795" cy="646"/>
            </a:xfrm>
          </p:grpSpPr>
          <p:sp>
            <p:nvSpPr>
              <p:cNvPr id="55352" name="Line 8">
                <a:extLst>
                  <a:ext uri="{FF2B5EF4-FFF2-40B4-BE49-F238E27FC236}">
                    <a16:creationId xmlns:a16="http://schemas.microsoft.com/office/drawing/2014/main" id="{31281C9F-5A67-4E0D-96E3-2D475ED9D5BB}"/>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53" name="Line 9">
                <a:extLst>
                  <a:ext uri="{FF2B5EF4-FFF2-40B4-BE49-F238E27FC236}">
                    <a16:creationId xmlns:a16="http://schemas.microsoft.com/office/drawing/2014/main" id="{0244CEEB-5ADB-46C6-A723-58C7612D37F5}"/>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37" name="Group 10">
              <a:extLst>
                <a:ext uri="{FF2B5EF4-FFF2-40B4-BE49-F238E27FC236}">
                  <a16:creationId xmlns:a16="http://schemas.microsoft.com/office/drawing/2014/main" id="{9B3CA0F5-8C35-4AAF-988D-118BCCF7EF44}"/>
                </a:ext>
              </a:extLst>
            </p:cNvPr>
            <p:cNvGrpSpPr>
              <a:grpSpLocks/>
            </p:cNvGrpSpPr>
            <p:nvPr/>
          </p:nvGrpSpPr>
          <p:grpSpPr bwMode="auto">
            <a:xfrm>
              <a:off x="854" y="2760"/>
              <a:ext cx="791" cy="747"/>
              <a:chOff x="357" y="2450"/>
              <a:chExt cx="795" cy="646"/>
            </a:xfrm>
          </p:grpSpPr>
          <p:sp>
            <p:nvSpPr>
              <p:cNvPr id="55350" name="Line 11">
                <a:extLst>
                  <a:ext uri="{FF2B5EF4-FFF2-40B4-BE49-F238E27FC236}">
                    <a16:creationId xmlns:a16="http://schemas.microsoft.com/office/drawing/2014/main" id="{C19B1E01-A66B-4FB0-94F0-98E553644B26}"/>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51" name="Line 12">
                <a:extLst>
                  <a:ext uri="{FF2B5EF4-FFF2-40B4-BE49-F238E27FC236}">
                    <a16:creationId xmlns:a16="http://schemas.microsoft.com/office/drawing/2014/main" id="{EF28EEF2-1EE1-493D-B8C9-C38CDDDEFB76}"/>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38" name="Group 13">
              <a:extLst>
                <a:ext uri="{FF2B5EF4-FFF2-40B4-BE49-F238E27FC236}">
                  <a16:creationId xmlns:a16="http://schemas.microsoft.com/office/drawing/2014/main" id="{C27F95F7-4295-4810-B60B-4795A3E1C7EB}"/>
                </a:ext>
              </a:extLst>
            </p:cNvPr>
            <p:cNvGrpSpPr>
              <a:grpSpLocks/>
            </p:cNvGrpSpPr>
            <p:nvPr/>
          </p:nvGrpSpPr>
          <p:grpSpPr bwMode="auto">
            <a:xfrm>
              <a:off x="856" y="3135"/>
              <a:ext cx="388" cy="371"/>
              <a:chOff x="357" y="2450"/>
              <a:chExt cx="795" cy="646"/>
            </a:xfrm>
          </p:grpSpPr>
          <p:sp>
            <p:nvSpPr>
              <p:cNvPr id="55348" name="Line 14">
                <a:extLst>
                  <a:ext uri="{FF2B5EF4-FFF2-40B4-BE49-F238E27FC236}">
                    <a16:creationId xmlns:a16="http://schemas.microsoft.com/office/drawing/2014/main" id="{05874224-0E7F-4715-B4E2-5BEAE31C441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49" name="Line 15">
                <a:extLst>
                  <a:ext uri="{FF2B5EF4-FFF2-40B4-BE49-F238E27FC236}">
                    <a16:creationId xmlns:a16="http://schemas.microsoft.com/office/drawing/2014/main" id="{D3CA6F61-83C4-492F-BBB0-149A3CE58591}"/>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39" name="Group 16">
              <a:extLst>
                <a:ext uri="{FF2B5EF4-FFF2-40B4-BE49-F238E27FC236}">
                  <a16:creationId xmlns:a16="http://schemas.microsoft.com/office/drawing/2014/main" id="{8D21911F-C915-4E1D-A22B-5007D77C2104}"/>
                </a:ext>
              </a:extLst>
            </p:cNvPr>
            <p:cNvGrpSpPr>
              <a:grpSpLocks/>
            </p:cNvGrpSpPr>
            <p:nvPr/>
          </p:nvGrpSpPr>
          <p:grpSpPr bwMode="auto">
            <a:xfrm>
              <a:off x="857" y="2397"/>
              <a:ext cx="1179" cy="1109"/>
              <a:chOff x="357" y="2450"/>
              <a:chExt cx="795" cy="646"/>
            </a:xfrm>
          </p:grpSpPr>
          <p:sp>
            <p:nvSpPr>
              <p:cNvPr id="55346" name="Line 17">
                <a:extLst>
                  <a:ext uri="{FF2B5EF4-FFF2-40B4-BE49-F238E27FC236}">
                    <a16:creationId xmlns:a16="http://schemas.microsoft.com/office/drawing/2014/main" id="{D4D74C35-466A-45A5-ACCB-F95E8B066352}"/>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47" name="Line 18">
                <a:extLst>
                  <a:ext uri="{FF2B5EF4-FFF2-40B4-BE49-F238E27FC236}">
                    <a16:creationId xmlns:a16="http://schemas.microsoft.com/office/drawing/2014/main" id="{9A0A686C-9993-4E9D-9A70-53815EC8A2E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40" name="Group 19">
              <a:extLst>
                <a:ext uri="{FF2B5EF4-FFF2-40B4-BE49-F238E27FC236}">
                  <a16:creationId xmlns:a16="http://schemas.microsoft.com/office/drawing/2014/main" id="{33447A37-AF58-47AF-9254-A962697A4AEE}"/>
                </a:ext>
              </a:extLst>
            </p:cNvPr>
            <p:cNvGrpSpPr>
              <a:grpSpLocks/>
            </p:cNvGrpSpPr>
            <p:nvPr/>
          </p:nvGrpSpPr>
          <p:grpSpPr bwMode="auto">
            <a:xfrm>
              <a:off x="858" y="2022"/>
              <a:ext cx="1577" cy="1479"/>
              <a:chOff x="357" y="2450"/>
              <a:chExt cx="795" cy="646"/>
            </a:xfrm>
          </p:grpSpPr>
          <p:sp>
            <p:nvSpPr>
              <p:cNvPr id="55344" name="Line 20">
                <a:extLst>
                  <a:ext uri="{FF2B5EF4-FFF2-40B4-BE49-F238E27FC236}">
                    <a16:creationId xmlns:a16="http://schemas.microsoft.com/office/drawing/2014/main" id="{EBDA2DBA-655B-414B-915C-8BDB9C503058}"/>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45" name="Line 21">
                <a:extLst>
                  <a:ext uri="{FF2B5EF4-FFF2-40B4-BE49-F238E27FC236}">
                    <a16:creationId xmlns:a16="http://schemas.microsoft.com/office/drawing/2014/main" id="{20AE86B6-25D5-4709-B6BB-FA15BF6BC14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41" name="Group 22">
              <a:extLst>
                <a:ext uri="{FF2B5EF4-FFF2-40B4-BE49-F238E27FC236}">
                  <a16:creationId xmlns:a16="http://schemas.microsoft.com/office/drawing/2014/main" id="{1796BE4E-0369-43CD-80AF-F238BDCCD146}"/>
                </a:ext>
              </a:extLst>
            </p:cNvPr>
            <p:cNvGrpSpPr>
              <a:grpSpLocks/>
            </p:cNvGrpSpPr>
            <p:nvPr/>
          </p:nvGrpSpPr>
          <p:grpSpPr bwMode="auto">
            <a:xfrm>
              <a:off x="864" y="1274"/>
              <a:ext cx="2346" cy="2234"/>
              <a:chOff x="357" y="2450"/>
              <a:chExt cx="795" cy="646"/>
            </a:xfrm>
          </p:grpSpPr>
          <p:sp>
            <p:nvSpPr>
              <p:cNvPr id="55342" name="Line 23">
                <a:extLst>
                  <a:ext uri="{FF2B5EF4-FFF2-40B4-BE49-F238E27FC236}">
                    <a16:creationId xmlns:a16="http://schemas.microsoft.com/office/drawing/2014/main" id="{E25BFF7E-B2F4-4BF0-AB53-9A1FC04C1089}"/>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43" name="Line 24">
                <a:extLst>
                  <a:ext uri="{FF2B5EF4-FFF2-40B4-BE49-F238E27FC236}">
                    <a16:creationId xmlns:a16="http://schemas.microsoft.com/office/drawing/2014/main" id="{993ABDF5-5142-4C40-947E-6B260450A276}"/>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55302" name="Line 25">
            <a:extLst>
              <a:ext uri="{FF2B5EF4-FFF2-40B4-BE49-F238E27FC236}">
                <a16:creationId xmlns:a16="http://schemas.microsoft.com/office/drawing/2014/main" id="{B7340FFC-E837-401E-86EB-D838CBD34FB6}"/>
              </a:ext>
            </a:extLst>
          </p:cNvPr>
          <p:cNvSpPr>
            <a:spLocks noChangeShapeType="1"/>
          </p:cNvSpPr>
          <p:nvPr/>
        </p:nvSpPr>
        <p:spPr bwMode="auto">
          <a:xfrm flipH="1">
            <a:off x="1712913" y="1804988"/>
            <a:ext cx="3611562" cy="341630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3" name="Oval 26">
            <a:extLst>
              <a:ext uri="{FF2B5EF4-FFF2-40B4-BE49-F238E27FC236}">
                <a16:creationId xmlns:a16="http://schemas.microsoft.com/office/drawing/2014/main" id="{37AD4BD5-86F6-4EA5-8447-F3E05300A16F}"/>
              </a:ext>
            </a:extLst>
          </p:cNvPr>
          <p:cNvSpPr>
            <a:spLocks noChangeArrowheads="1"/>
          </p:cNvSpPr>
          <p:nvPr/>
        </p:nvSpPr>
        <p:spPr bwMode="auto">
          <a:xfrm>
            <a:off x="5022850" y="1954213"/>
            <a:ext cx="139700" cy="138112"/>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4" name="Oval 27">
            <a:extLst>
              <a:ext uri="{FF2B5EF4-FFF2-40B4-BE49-F238E27FC236}">
                <a16:creationId xmlns:a16="http://schemas.microsoft.com/office/drawing/2014/main" id="{AE20DF31-33D3-4443-AAEF-C701988A626B}"/>
              </a:ext>
            </a:extLst>
          </p:cNvPr>
          <p:cNvSpPr>
            <a:spLocks noChangeArrowheads="1"/>
          </p:cNvSpPr>
          <p:nvPr/>
        </p:nvSpPr>
        <p:spPr bwMode="auto">
          <a:xfrm>
            <a:off x="4406900" y="2546350"/>
            <a:ext cx="139700" cy="138113"/>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5" name="Oval 28">
            <a:extLst>
              <a:ext uri="{FF2B5EF4-FFF2-40B4-BE49-F238E27FC236}">
                <a16:creationId xmlns:a16="http://schemas.microsoft.com/office/drawing/2014/main" id="{ED218359-41A1-4A04-8FD8-4731BB87B5F7}"/>
              </a:ext>
            </a:extLst>
          </p:cNvPr>
          <p:cNvSpPr>
            <a:spLocks noChangeArrowheads="1"/>
          </p:cNvSpPr>
          <p:nvPr/>
        </p:nvSpPr>
        <p:spPr bwMode="auto">
          <a:xfrm>
            <a:off x="3784600" y="3132138"/>
            <a:ext cx="139700" cy="138112"/>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6" name="Oval 29">
            <a:extLst>
              <a:ext uri="{FF2B5EF4-FFF2-40B4-BE49-F238E27FC236}">
                <a16:creationId xmlns:a16="http://schemas.microsoft.com/office/drawing/2014/main" id="{E2031354-8BE2-4588-8AAE-B63E9EFF4271}"/>
              </a:ext>
            </a:extLst>
          </p:cNvPr>
          <p:cNvSpPr>
            <a:spLocks noChangeArrowheads="1"/>
          </p:cNvSpPr>
          <p:nvPr/>
        </p:nvSpPr>
        <p:spPr bwMode="auto">
          <a:xfrm>
            <a:off x="3148013" y="3733800"/>
            <a:ext cx="139700" cy="138113"/>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7" name="Oval 30">
            <a:extLst>
              <a:ext uri="{FF2B5EF4-FFF2-40B4-BE49-F238E27FC236}">
                <a16:creationId xmlns:a16="http://schemas.microsoft.com/office/drawing/2014/main" id="{2CC18F78-FC3D-4A46-BD6D-F9CC9E9E35FC}"/>
              </a:ext>
            </a:extLst>
          </p:cNvPr>
          <p:cNvSpPr>
            <a:spLocks noChangeArrowheads="1"/>
          </p:cNvSpPr>
          <p:nvPr/>
        </p:nvSpPr>
        <p:spPr bwMode="auto">
          <a:xfrm>
            <a:off x="2536825" y="4308475"/>
            <a:ext cx="139700" cy="138113"/>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8" name="Oval 31">
            <a:extLst>
              <a:ext uri="{FF2B5EF4-FFF2-40B4-BE49-F238E27FC236}">
                <a16:creationId xmlns:a16="http://schemas.microsoft.com/office/drawing/2014/main" id="{5ACFB789-FB8D-492B-BE08-31325726EAFF}"/>
              </a:ext>
            </a:extLst>
          </p:cNvPr>
          <p:cNvSpPr>
            <a:spLocks noChangeArrowheads="1"/>
          </p:cNvSpPr>
          <p:nvPr/>
        </p:nvSpPr>
        <p:spPr bwMode="auto">
          <a:xfrm>
            <a:off x="1901825" y="4905375"/>
            <a:ext cx="139700" cy="138113"/>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9" name="Rectangle 32">
            <a:extLst>
              <a:ext uri="{FF2B5EF4-FFF2-40B4-BE49-F238E27FC236}">
                <a16:creationId xmlns:a16="http://schemas.microsoft.com/office/drawing/2014/main" id="{35814F49-F755-400F-A49A-3AEDD212974F}"/>
              </a:ext>
            </a:extLst>
          </p:cNvPr>
          <p:cNvSpPr>
            <a:spLocks noChangeArrowheads="1"/>
          </p:cNvSpPr>
          <p:nvPr/>
        </p:nvSpPr>
        <p:spPr bwMode="auto">
          <a:xfrm>
            <a:off x="457200" y="252413"/>
            <a:ext cx="82296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r>
              <a:rPr lang="en-US" altLang="en-US" sz="3400" b="1">
                <a:solidFill>
                  <a:srgbClr val="333399"/>
                </a:solidFill>
                <a:latin typeface="Book Antiqua" panose="02040602050305030304" pitchFamily="18" charset="0"/>
                <a:cs typeface="Arial" panose="020B0604020202020204" pitchFamily="34" charset="0"/>
              </a:rPr>
              <a:t>The Market Supply Curve</a:t>
            </a:r>
            <a:endParaRPr lang="en-US" altLang="en-US" sz="3400" b="1">
              <a:solidFill>
                <a:srgbClr val="0000FF"/>
              </a:solidFill>
              <a:latin typeface="Book Antiqua" panose="02040602050305030304" pitchFamily="18" charset="0"/>
              <a:cs typeface="Arial" panose="020B0604020202020204" pitchFamily="34" charset="0"/>
            </a:endParaRPr>
          </a:p>
        </p:txBody>
      </p:sp>
      <p:graphicFrame>
        <p:nvGraphicFramePr>
          <p:cNvPr id="98337" name="Group 33">
            <a:extLst>
              <a:ext uri="{FF2B5EF4-FFF2-40B4-BE49-F238E27FC236}">
                <a16:creationId xmlns:a16="http://schemas.microsoft.com/office/drawing/2014/main" id="{252D7C36-B495-4AD4-9E02-B24FC879D455}"/>
              </a:ext>
            </a:extLst>
          </p:cNvPr>
          <p:cNvGraphicFramePr>
            <a:graphicFrameLocks noGrp="1"/>
          </p:cNvGraphicFramePr>
          <p:nvPr/>
        </p:nvGraphicFramePr>
        <p:xfrm>
          <a:off x="6111875" y="809625"/>
          <a:ext cx="2651125" cy="4187823"/>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87546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P</a:t>
                      </a:r>
                    </a:p>
                  </a:txBody>
                  <a:tcPr marT="48058" marB="48058"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S</a:t>
                      </a:r>
                      <a:r>
                        <a:rPr kumimoji="0" lang="en-US" sz="2500" b="0" i="0" u="none" strike="noStrike" cap="none" normalizeH="0" baseline="0">
                          <a:ln>
                            <a:noFill/>
                          </a:ln>
                          <a:solidFill>
                            <a:schemeClr val="tx1"/>
                          </a:solidFill>
                          <a:effectLst/>
                          <a:latin typeface="Arial" panose="020B0604020202020204" pitchFamily="34" charset="0"/>
                        </a:rPr>
                        <a:t> (Market)</a:t>
                      </a:r>
                      <a:endParaRPr kumimoji="0" lang="en-US" sz="2500" b="1" i="1" u="none" strike="noStrike" cap="none" normalizeH="0" baseline="30000">
                        <a:ln>
                          <a:noFill/>
                        </a:ln>
                        <a:solidFill>
                          <a:schemeClr val="tx1"/>
                        </a:solidFill>
                        <a:effectLst/>
                        <a:latin typeface="Arial" panose="020B0604020202020204" pitchFamily="34" charset="0"/>
                      </a:endParaRPr>
                    </a:p>
                  </a:txBody>
                  <a:tcPr marT="48058" marB="48058"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39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2241">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39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2241">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39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2241">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25</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39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55335" name="FlagCount" hidden="1">
            <a:hlinkClick r:id="rId5" action="ppaction://hlinkfile"/>
            <a:extLst>
              <a:ext uri="{FF2B5EF4-FFF2-40B4-BE49-F238E27FC236}">
                <a16:creationId xmlns:a16="http://schemas.microsoft.com/office/drawing/2014/main" id="{F5E4F69B-7334-4FD6-B0CA-456DAD3F5747}"/>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Footer Placeholder 1">
            <a:extLst>
              <a:ext uri="{FF2B5EF4-FFF2-40B4-BE49-F238E27FC236}">
                <a16:creationId xmlns:a16="http://schemas.microsoft.com/office/drawing/2014/main" id="{9C1BEB16-D8DA-4D28-95A2-D1B652972787}"/>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57347" name="Slide Number Placeholder 2">
            <a:extLst>
              <a:ext uri="{FF2B5EF4-FFF2-40B4-BE49-F238E27FC236}">
                <a16:creationId xmlns:a16="http://schemas.microsoft.com/office/drawing/2014/main" id="{7C447E93-35B4-4A5E-A44A-229D2DA33570}"/>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C31A0F2-C249-49F3-AD30-074554A12D2B}" type="slidenum">
              <a:rPr lang="en-US" altLang="en-US">
                <a:solidFill>
                  <a:srgbClr val="777777"/>
                </a:solidFill>
                <a:latin typeface="Tahoma" panose="020B0604030504040204" pitchFamily="34" charset="0"/>
              </a:rPr>
              <a:pPr/>
              <a:t>26</a:t>
            </a:fld>
            <a:endParaRPr lang="en-US" altLang="en-US">
              <a:solidFill>
                <a:srgbClr val="777777"/>
              </a:solidFill>
              <a:latin typeface="Tahoma" panose="020B0604030504040204" pitchFamily="34" charset="0"/>
            </a:endParaRPr>
          </a:p>
        </p:txBody>
      </p:sp>
      <p:sp>
        <p:nvSpPr>
          <p:cNvPr id="57348" name="Rectangle 2">
            <a:extLst>
              <a:ext uri="{FF2B5EF4-FFF2-40B4-BE49-F238E27FC236}">
                <a16:creationId xmlns:a16="http://schemas.microsoft.com/office/drawing/2014/main" id="{10C76989-66C2-418D-ADA6-72BF1CB3D3F1}"/>
              </a:ext>
            </a:extLst>
          </p:cNvPr>
          <p:cNvSpPr>
            <a:spLocks noGrp="1" noChangeArrowheads="1"/>
          </p:cNvSpPr>
          <p:nvPr>
            <p:ph type="title" idx="4294967295"/>
          </p:nvPr>
        </p:nvSpPr>
        <p:spPr/>
        <p:txBody>
          <a:bodyPr/>
          <a:lstStyle/>
          <a:p>
            <a:pPr eaLnBrk="1" hangingPunct="1"/>
            <a:r>
              <a:rPr lang="en-US" altLang="en-US"/>
              <a:t>Supply Curve Shifters</a:t>
            </a:r>
          </a:p>
        </p:txBody>
      </p:sp>
      <p:sp>
        <p:nvSpPr>
          <p:cNvPr id="57349" name="Rectangle 3">
            <a:extLst>
              <a:ext uri="{FF2B5EF4-FFF2-40B4-BE49-F238E27FC236}">
                <a16:creationId xmlns:a16="http://schemas.microsoft.com/office/drawing/2014/main" id="{474E787A-D0CA-45F9-BBC4-A30C7CC7FC6C}"/>
              </a:ext>
            </a:extLst>
          </p:cNvPr>
          <p:cNvSpPr>
            <a:spLocks noGrp="1" noChangeArrowheads="1"/>
          </p:cNvSpPr>
          <p:nvPr>
            <p:ph type="body" idx="4294967295"/>
          </p:nvPr>
        </p:nvSpPr>
        <p:spPr>
          <a:xfrm>
            <a:off x="457200" y="1001713"/>
            <a:ext cx="8229600" cy="5324475"/>
          </a:xfrm>
        </p:spPr>
        <p:txBody>
          <a:bodyPr/>
          <a:lstStyle/>
          <a:p>
            <a:pPr eaLnBrk="1" hangingPunct="1"/>
            <a:r>
              <a:rPr lang="en-US" altLang="en-US"/>
              <a:t>The supply curve shows how price affects quantity supplied, </a:t>
            </a:r>
            <a:r>
              <a:rPr lang="en-US" altLang="en-US" i="1"/>
              <a:t>other things being equal</a:t>
            </a:r>
            <a:r>
              <a:rPr lang="en-US" altLang="en-US"/>
              <a:t>. </a:t>
            </a:r>
          </a:p>
          <a:p>
            <a:pPr eaLnBrk="1" hangingPunct="1"/>
            <a:r>
              <a:rPr lang="en-US" altLang="en-US"/>
              <a:t>These “other things” are non-price determinants of supply.  </a:t>
            </a:r>
          </a:p>
          <a:p>
            <a:pPr eaLnBrk="1" hangingPunct="1"/>
            <a:r>
              <a:rPr lang="en-US" altLang="en-US"/>
              <a:t>Changes in them shift the </a:t>
            </a:r>
            <a:r>
              <a:rPr lang="en-US" altLang="en-US" b="1" i="1"/>
              <a:t>S</a:t>
            </a:r>
            <a:r>
              <a:rPr lang="en-US" altLang="en-US"/>
              <a:t> curve… </a:t>
            </a:r>
          </a:p>
        </p:txBody>
      </p:sp>
      <p:sp>
        <p:nvSpPr>
          <p:cNvPr id="57350" name="FlagCount" hidden="1">
            <a:hlinkClick r:id="rId3" action="ppaction://hlinkfile"/>
            <a:extLst>
              <a:ext uri="{FF2B5EF4-FFF2-40B4-BE49-F238E27FC236}">
                <a16:creationId xmlns:a16="http://schemas.microsoft.com/office/drawing/2014/main" id="{2AD43B26-0CEA-4744-85AA-F79BDFBE2F15}"/>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9">
                                            <p:txEl>
                                              <p:pRg st="0" end="0"/>
                                            </p:txEl>
                                          </p:spTgt>
                                        </p:tgtEl>
                                        <p:attrNameLst>
                                          <p:attrName>style.visibility</p:attrName>
                                        </p:attrNameLst>
                                      </p:cBhvr>
                                      <p:to>
                                        <p:strVal val="visible"/>
                                      </p:to>
                                    </p:set>
                                    <p:animEffect transition="in" filter="wipe(left)">
                                      <p:cBhvr>
                                        <p:cTn id="7" dur="500"/>
                                        <p:tgtEl>
                                          <p:spTgt spid="573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9">
                                            <p:txEl>
                                              <p:pRg st="1" end="1"/>
                                            </p:txEl>
                                          </p:spTgt>
                                        </p:tgtEl>
                                        <p:attrNameLst>
                                          <p:attrName>style.visibility</p:attrName>
                                        </p:attrNameLst>
                                      </p:cBhvr>
                                      <p:to>
                                        <p:strVal val="visible"/>
                                      </p:to>
                                    </p:set>
                                    <p:animEffect transition="in" filter="wipe(left)">
                                      <p:cBhvr>
                                        <p:cTn id="12" dur="500"/>
                                        <p:tgtEl>
                                          <p:spTgt spid="573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49">
                                            <p:txEl>
                                              <p:pRg st="2" end="2"/>
                                            </p:txEl>
                                          </p:spTgt>
                                        </p:tgtEl>
                                        <p:attrNameLst>
                                          <p:attrName>style.visibility</p:attrName>
                                        </p:attrNameLst>
                                      </p:cBhvr>
                                      <p:to>
                                        <p:strVal val="visible"/>
                                      </p:to>
                                    </p:set>
                                    <p:animEffect transition="in" filter="wipe(left)">
                                      <p:cBhvr>
                                        <p:cTn id="17" dur="500"/>
                                        <p:tgtEl>
                                          <p:spTgt spid="5734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build="p" bldLvl="4"/>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Footer Placeholder 1">
            <a:extLst>
              <a:ext uri="{FF2B5EF4-FFF2-40B4-BE49-F238E27FC236}">
                <a16:creationId xmlns:a16="http://schemas.microsoft.com/office/drawing/2014/main" id="{6EB9B6F2-3FAB-4A1E-8097-6433F1E10439}"/>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59395" name="Slide Number Placeholder 2">
            <a:extLst>
              <a:ext uri="{FF2B5EF4-FFF2-40B4-BE49-F238E27FC236}">
                <a16:creationId xmlns:a16="http://schemas.microsoft.com/office/drawing/2014/main" id="{C221373F-D080-49EB-A20F-D40DBDC4C48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AA58329-FB58-4878-9787-5F8998B1E23C}" type="slidenum">
              <a:rPr lang="en-US" altLang="en-US">
                <a:solidFill>
                  <a:srgbClr val="777777"/>
                </a:solidFill>
                <a:latin typeface="Tahoma" panose="020B0604030504040204" pitchFamily="34" charset="0"/>
              </a:rPr>
              <a:pPr/>
              <a:t>27</a:t>
            </a:fld>
            <a:endParaRPr lang="en-US" altLang="en-US">
              <a:solidFill>
                <a:srgbClr val="777777"/>
              </a:solidFill>
              <a:latin typeface="Tahoma" panose="020B0604030504040204" pitchFamily="34" charset="0"/>
            </a:endParaRPr>
          </a:p>
        </p:txBody>
      </p:sp>
      <p:sp>
        <p:nvSpPr>
          <p:cNvPr id="59396" name="Rectangle 2">
            <a:extLst>
              <a:ext uri="{FF2B5EF4-FFF2-40B4-BE49-F238E27FC236}">
                <a16:creationId xmlns:a16="http://schemas.microsoft.com/office/drawing/2014/main" id="{9DF2722E-5B0E-450C-A966-2813541B38AB}"/>
              </a:ext>
            </a:extLst>
          </p:cNvPr>
          <p:cNvSpPr>
            <a:spLocks noGrp="1" noChangeArrowheads="1"/>
          </p:cNvSpPr>
          <p:nvPr>
            <p:ph type="title" idx="4294967295"/>
          </p:nvPr>
        </p:nvSpPr>
        <p:spPr/>
        <p:txBody>
          <a:bodyPr/>
          <a:lstStyle/>
          <a:p>
            <a:pPr algn="l" eaLnBrk="1" hangingPunct="1"/>
            <a:r>
              <a:rPr lang="en-US" altLang="en-US" sz="3400"/>
              <a:t>Supply Curve Shifters:  </a:t>
            </a:r>
            <a:r>
              <a:rPr lang="en-US" altLang="en-US" sz="3400">
                <a:solidFill>
                  <a:srgbClr val="008080"/>
                </a:solidFill>
              </a:rPr>
              <a:t>Input Prices</a:t>
            </a:r>
          </a:p>
        </p:txBody>
      </p:sp>
      <p:sp>
        <p:nvSpPr>
          <p:cNvPr id="59397" name="Rectangle 3">
            <a:extLst>
              <a:ext uri="{FF2B5EF4-FFF2-40B4-BE49-F238E27FC236}">
                <a16:creationId xmlns:a16="http://schemas.microsoft.com/office/drawing/2014/main" id="{804B5867-7551-48BF-B551-35B23B6E2BAF}"/>
              </a:ext>
            </a:extLst>
          </p:cNvPr>
          <p:cNvSpPr>
            <a:spLocks noGrp="1" noChangeArrowheads="1"/>
          </p:cNvSpPr>
          <p:nvPr>
            <p:ph type="body" idx="4294967295"/>
          </p:nvPr>
        </p:nvSpPr>
        <p:spPr/>
        <p:txBody>
          <a:bodyPr/>
          <a:lstStyle/>
          <a:p>
            <a:pPr eaLnBrk="1" hangingPunct="1">
              <a:lnSpc>
                <a:spcPct val="110000"/>
              </a:lnSpc>
              <a:spcBef>
                <a:spcPct val="50000"/>
              </a:spcBef>
            </a:pPr>
            <a:r>
              <a:rPr lang="en-US" altLang="en-US"/>
              <a:t>Examples of input prices:  </a:t>
            </a:r>
            <a:br>
              <a:rPr lang="en-US" altLang="en-US"/>
            </a:br>
            <a:r>
              <a:rPr lang="en-US" altLang="en-US"/>
              <a:t>  wages,  prices of raw materials.</a:t>
            </a:r>
          </a:p>
          <a:p>
            <a:pPr eaLnBrk="1" hangingPunct="1">
              <a:lnSpc>
                <a:spcPct val="110000"/>
              </a:lnSpc>
              <a:spcBef>
                <a:spcPct val="50000"/>
              </a:spcBef>
            </a:pPr>
            <a:r>
              <a:rPr lang="en-US" altLang="en-US"/>
              <a:t>A fall in input prices makes production </a:t>
            </a:r>
            <a:br>
              <a:rPr lang="en-US" altLang="en-US"/>
            </a:br>
            <a:r>
              <a:rPr lang="en-US" altLang="en-US"/>
              <a:t>more profitable at each output price, </a:t>
            </a:r>
            <a:br>
              <a:rPr lang="en-US" altLang="en-US"/>
            </a:br>
            <a:r>
              <a:rPr lang="en-US" altLang="en-US"/>
              <a:t>so firms supply a larger quantity at each price, </a:t>
            </a:r>
            <a:br>
              <a:rPr lang="en-US" altLang="en-US"/>
            </a:br>
            <a:r>
              <a:rPr lang="en-US" altLang="en-US"/>
              <a:t>and the </a:t>
            </a:r>
            <a:r>
              <a:rPr lang="en-US" altLang="en-US" b="1" i="1"/>
              <a:t>S</a:t>
            </a:r>
            <a:r>
              <a:rPr lang="en-US" altLang="en-US"/>
              <a:t> curve shifts to the right. </a:t>
            </a:r>
          </a:p>
        </p:txBody>
      </p:sp>
      <p:sp>
        <p:nvSpPr>
          <p:cNvPr id="59398" name="FlagCount" hidden="1">
            <a:hlinkClick r:id="rId3" action="ppaction://hlinkfile"/>
            <a:extLst>
              <a:ext uri="{FF2B5EF4-FFF2-40B4-BE49-F238E27FC236}">
                <a16:creationId xmlns:a16="http://schemas.microsoft.com/office/drawing/2014/main" id="{52D1768E-1A5E-4805-BDF3-37E595645EDB}"/>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7">
                                            <p:txEl>
                                              <p:pRg st="0" end="0"/>
                                            </p:txEl>
                                          </p:spTgt>
                                        </p:tgtEl>
                                        <p:attrNameLst>
                                          <p:attrName>style.visibility</p:attrName>
                                        </p:attrNameLst>
                                      </p:cBhvr>
                                      <p:to>
                                        <p:strVal val="visible"/>
                                      </p:to>
                                    </p:set>
                                    <p:animEffect transition="in" filter="wipe(left)">
                                      <p:cBhvr>
                                        <p:cTn id="7" dur="500"/>
                                        <p:tgtEl>
                                          <p:spTgt spid="593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7">
                                            <p:txEl>
                                              <p:pRg st="1" end="1"/>
                                            </p:txEl>
                                          </p:spTgt>
                                        </p:tgtEl>
                                        <p:attrNameLst>
                                          <p:attrName>style.visibility</p:attrName>
                                        </p:attrNameLst>
                                      </p:cBhvr>
                                      <p:to>
                                        <p:strVal val="visible"/>
                                      </p:to>
                                    </p:set>
                                    <p:animEffect transition="in" filter="wipe(left)">
                                      <p:cBhvr>
                                        <p:cTn id="12" dur="500"/>
                                        <p:tgtEl>
                                          <p:spTgt spid="593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build="p" bldLvl="4"/>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1">
            <a:extLst>
              <a:ext uri="{FF2B5EF4-FFF2-40B4-BE49-F238E27FC236}">
                <a16:creationId xmlns:a16="http://schemas.microsoft.com/office/drawing/2014/main" id="{455E4815-AF7C-42A6-9CDF-7E8BD5E4B1B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1443" name="Slide Number Placeholder 2">
            <a:extLst>
              <a:ext uri="{FF2B5EF4-FFF2-40B4-BE49-F238E27FC236}">
                <a16:creationId xmlns:a16="http://schemas.microsoft.com/office/drawing/2014/main" id="{D20A37EC-E224-4180-83A0-5AC092695AB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D1AF0A9-31D0-4A3E-B361-AC807E0CCA4C}" type="slidenum">
              <a:rPr lang="en-US" altLang="en-US">
                <a:solidFill>
                  <a:srgbClr val="777777"/>
                </a:solidFill>
                <a:latin typeface="Tahoma" panose="020B0604030504040204" pitchFamily="34" charset="0"/>
              </a:rPr>
              <a:pPr/>
              <a:t>28</a:t>
            </a:fld>
            <a:endParaRPr lang="en-US" altLang="en-US">
              <a:solidFill>
                <a:srgbClr val="777777"/>
              </a:solidFill>
              <a:latin typeface="Tahoma" panose="020B0604030504040204" pitchFamily="34" charset="0"/>
            </a:endParaRPr>
          </a:p>
        </p:txBody>
      </p:sp>
      <p:grpSp>
        <p:nvGrpSpPr>
          <p:cNvPr id="61444" name="Group 2">
            <a:extLst>
              <a:ext uri="{FF2B5EF4-FFF2-40B4-BE49-F238E27FC236}">
                <a16:creationId xmlns:a16="http://schemas.microsoft.com/office/drawing/2014/main" id="{59711015-4DAC-4EAE-B693-A6B84363DD70}"/>
              </a:ext>
            </a:extLst>
          </p:cNvPr>
          <p:cNvGrpSpPr>
            <a:grpSpLocks/>
          </p:cNvGrpSpPr>
          <p:nvPr/>
        </p:nvGrpSpPr>
        <p:grpSpPr bwMode="auto">
          <a:xfrm>
            <a:off x="288925" y="1228725"/>
            <a:ext cx="6221413" cy="5111750"/>
            <a:chOff x="182" y="774"/>
            <a:chExt cx="3919" cy="3220"/>
          </a:xfrm>
        </p:grpSpPr>
        <p:grpSp>
          <p:nvGrpSpPr>
            <p:cNvPr id="61467" name="Group 3">
              <a:extLst>
                <a:ext uri="{FF2B5EF4-FFF2-40B4-BE49-F238E27FC236}">
                  <a16:creationId xmlns:a16="http://schemas.microsoft.com/office/drawing/2014/main" id="{0AFE1818-83EE-47B1-9B15-BE20A914ACC2}"/>
                </a:ext>
              </a:extLst>
            </p:cNvPr>
            <p:cNvGrpSpPr>
              <a:grpSpLocks/>
            </p:cNvGrpSpPr>
            <p:nvPr/>
          </p:nvGrpSpPr>
          <p:grpSpPr bwMode="auto">
            <a:xfrm>
              <a:off x="182" y="774"/>
              <a:ext cx="3919" cy="3220"/>
              <a:chOff x="182" y="774"/>
              <a:chExt cx="3919" cy="3220"/>
            </a:xfrm>
          </p:grpSpPr>
          <p:graphicFrame>
            <p:nvGraphicFramePr>
              <p:cNvPr id="61495" name="Object 4">
                <a:extLst>
                  <a:ext uri="{FF2B5EF4-FFF2-40B4-BE49-F238E27FC236}">
                    <a16:creationId xmlns:a16="http://schemas.microsoft.com/office/drawing/2014/main" id="{96BDC207-057A-4F45-B5AA-C46308E86972}"/>
                  </a:ext>
                </a:extLst>
              </p:cNvPr>
              <p:cNvGraphicFramePr>
                <a:graphicFrameLocks noChangeAspect="1"/>
              </p:cNvGraphicFramePr>
              <p:nvPr/>
            </p:nvGraphicFramePr>
            <p:xfrm>
              <a:off x="182" y="774"/>
              <a:ext cx="3919" cy="3220"/>
            </p:xfrm>
            <a:graphic>
              <a:graphicData uri="http://schemas.openxmlformats.org/presentationml/2006/ole">
                <mc:AlternateContent xmlns:mc="http://schemas.openxmlformats.org/markup-compatibility/2006">
                  <mc:Choice xmlns:v="urn:schemas-microsoft-com:vml" Requires="v">
                    <p:oleObj name="Chart" r:id="rId3" imgW="4390949" imgH="3610051" progId="Excel.Chart.8">
                      <p:embed/>
                    </p:oleObj>
                  </mc:Choice>
                  <mc:Fallback>
                    <p:oleObj name="Chart" r:id="rId3" imgW="4390949" imgH="3610051" progId="Excel.Char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 y="774"/>
                            <a:ext cx="3919" cy="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96" name="Text Box 5">
                <a:extLst>
                  <a:ext uri="{FF2B5EF4-FFF2-40B4-BE49-F238E27FC236}">
                    <a16:creationId xmlns:a16="http://schemas.microsoft.com/office/drawing/2014/main" id="{C94C356C-83EF-4C71-A721-D214EAEEC834}"/>
                  </a:ext>
                </a:extLst>
              </p:cNvPr>
              <p:cNvSpPr txBox="1">
                <a:spLocks noChangeArrowheads="1"/>
              </p:cNvSpPr>
              <p:nvPr/>
            </p:nvSpPr>
            <p:spPr bwMode="auto">
              <a:xfrm>
                <a:off x="696" y="870"/>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61497" name="Text Box 6">
                <a:extLst>
                  <a:ext uri="{FF2B5EF4-FFF2-40B4-BE49-F238E27FC236}">
                    <a16:creationId xmlns:a16="http://schemas.microsoft.com/office/drawing/2014/main" id="{FA417110-693E-40BD-9220-909392028CB7}"/>
                  </a:ext>
                </a:extLst>
              </p:cNvPr>
              <p:cNvSpPr txBox="1">
                <a:spLocks noChangeArrowheads="1"/>
              </p:cNvSpPr>
              <p:nvPr/>
            </p:nvSpPr>
            <p:spPr bwMode="auto">
              <a:xfrm>
                <a:off x="3759" y="337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61468" name="Group 7">
              <a:extLst>
                <a:ext uri="{FF2B5EF4-FFF2-40B4-BE49-F238E27FC236}">
                  <a16:creationId xmlns:a16="http://schemas.microsoft.com/office/drawing/2014/main" id="{F5BB4762-A633-4078-9C72-89A9E8C5949C}"/>
                </a:ext>
              </a:extLst>
            </p:cNvPr>
            <p:cNvGrpSpPr>
              <a:grpSpLocks/>
            </p:cNvGrpSpPr>
            <p:nvPr/>
          </p:nvGrpSpPr>
          <p:grpSpPr bwMode="auto">
            <a:xfrm>
              <a:off x="854" y="1274"/>
              <a:ext cx="2356" cy="2234"/>
              <a:chOff x="854" y="1274"/>
              <a:chExt cx="2356" cy="2234"/>
            </a:xfrm>
          </p:grpSpPr>
          <p:grpSp>
            <p:nvGrpSpPr>
              <p:cNvPr id="61477" name="Group 8">
                <a:extLst>
                  <a:ext uri="{FF2B5EF4-FFF2-40B4-BE49-F238E27FC236}">
                    <a16:creationId xmlns:a16="http://schemas.microsoft.com/office/drawing/2014/main" id="{EFD67236-A42E-4F07-B9E3-DEB2ADC748E7}"/>
                  </a:ext>
                </a:extLst>
              </p:cNvPr>
              <p:cNvGrpSpPr>
                <a:grpSpLocks/>
              </p:cNvGrpSpPr>
              <p:nvPr/>
            </p:nvGrpSpPr>
            <p:grpSpPr bwMode="auto">
              <a:xfrm>
                <a:off x="860" y="1648"/>
                <a:ext cx="1964" cy="1855"/>
                <a:chOff x="357" y="2450"/>
                <a:chExt cx="795" cy="646"/>
              </a:xfrm>
            </p:grpSpPr>
            <p:sp>
              <p:nvSpPr>
                <p:cNvPr id="61493" name="Line 9">
                  <a:extLst>
                    <a:ext uri="{FF2B5EF4-FFF2-40B4-BE49-F238E27FC236}">
                      <a16:creationId xmlns:a16="http://schemas.microsoft.com/office/drawing/2014/main" id="{D58BB392-701F-4AE5-B490-7E2BBEE04AA7}"/>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94" name="Line 10">
                  <a:extLst>
                    <a:ext uri="{FF2B5EF4-FFF2-40B4-BE49-F238E27FC236}">
                      <a16:creationId xmlns:a16="http://schemas.microsoft.com/office/drawing/2014/main" id="{5E9EE073-646B-4E8F-97DF-FF2E80C84047}"/>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78" name="Group 11">
                <a:extLst>
                  <a:ext uri="{FF2B5EF4-FFF2-40B4-BE49-F238E27FC236}">
                    <a16:creationId xmlns:a16="http://schemas.microsoft.com/office/drawing/2014/main" id="{75F93E13-B378-475B-BFE0-66FC6944D463}"/>
                  </a:ext>
                </a:extLst>
              </p:cNvPr>
              <p:cNvGrpSpPr>
                <a:grpSpLocks/>
              </p:cNvGrpSpPr>
              <p:nvPr/>
            </p:nvGrpSpPr>
            <p:grpSpPr bwMode="auto">
              <a:xfrm>
                <a:off x="854" y="2760"/>
                <a:ext cx="791" cy="747"/>
                <a:chOff x="357" y="2450"/>
                <a:chExt cx="795" cy="646"/>
              </a:xfrm>
            </p:grpSpPr>
            <p:sp>
              <p:nvSpPr>
                <p:cNvPr id="61491" name="Line 12">
                  <a:extLst>
                    <a:ext uri="{FF2B5EF4-FFF2-40B4-BE49-F238E27FC236}">
                      <a16:creationId xmlns:a16="http://schemas.microsoft.com/office/drawing/2014/main" id="{88D75013-AC85-465A-8A71-0783A814C945}"/>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92" name="Line 13">
                  <a:extLst>
                    <a:ext uri="{FF2B5EF4-FFF2-40B4-BE49-F238E27FC236}">
                      <a16:creationId xmlns:a16="http://schemas.microsoft.com/office/drawing/2014/main" id="{C87C30DA-21E4-485A-949E-0FB8B4088494}"/>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79" name="Group 14">
                <a:extLst>
                  <a:ext uri="{FF2B5EF4-FFF2-40B4-BE49-F238E27FC236}">
                    <a16:creationId xmlns:a16="http://schemas.microsoft.com/office/drawing/2014/main" id="{BCFB2B96-7013-402C-9689-4B12D6DEDC83}"/>
                  </a:ext>
                </a:extLst>
              </p:cNvPr>
              <p:cNvGrpSpPr>
                <a:grpSpLocks/>
              </p:cNvGrpSpPr>
              <p:nvPr/>
            </p:nvGrpSpPr>
            <p:grpSpPr bwMode="auto">
              <a:xfrm>
                <a:off x="856" y="3135"/>
                <a:ext cx="388" cy="371"/>
                <a:chOff x="357" y="2450"/>
                <a:chExt cx="795" cy="646"/>
              </a:xfrm>
            </p:grpSpPr>
            <p:sp>
              <p:nvSpPr>
                <p:cNvPr id="61489" name="Line 15">
                  <a:extLst>
                    <a:ext uri="{FF2B5EF4-FFF2-40B4-BE49-F238E27FC236}">
                      <a16:creationId xmlns:a16="http://schemas.microsoft.com/office/drawing/2014/main" id="{C9572E8B-3153-49B2-A857-EE9D8D73D001}"/>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90" name="Line 16">
                  <a:extLst>
                    <a:ext uri="{FF2B5EF4-FFF2-40B4-BE49-F238E27FC236}">
                      <a16:creationId xmlns:a16="http://schemas.microsoft.com/office/drawing/2014/main" id="{2B485A21-FAAF-4863-A6C3-DA76F34E431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80" name="Group 17">
                <a:extLst>
                  <a:ext uri="{FF2B5EF4-FFF2-40B4-BE49-F238E27FC236}">
                    <a16:creationId xmlns:a16="http://schemas.microsoft.com/office/drawing/2014/main" id="{24344A9C-15FD-485A-8D24-2842977189F8}"/>
                  </a:ext>
                </a:extLst>
              </p:cNvPr>
              <p:cNvGrpSpPr>
                <a:grpSpLocks/>
              </p:cNvGrpSpPr>
              <p:nvPr/>
            </p:nvGrpSpPr>
            <p:grpSpPr bwMode="auto">
              <a:xfrm>
                <a:off x="857" y="2397"/>
                <a:ext cx="1179" cy="1109"/>
                <a:chOff x="357" y="2450"/>
                <a:chExt cx="795" cy="646"/>
              </a:xfrm>
            </p:grpSpPr>
            <p:sp>
              <p:nvSpPr>
                <p:cNvPr id="61487" name="Line 18">
                  <a:extLst>
                    <a:ext uri="{FF2B5EF4-FFF2-40B4-BE49-F238E27FC236}">
                      <a16:creationId xmlns:a16="http://schemas.microsoft.com/office/drawing/2014/main" id="{8C72C822-0754-4EB1-886F-AC4805A82FC2}"/>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88" name="Line 19">
                  <a:extLst>
                    <a:ext uri="{FF2B5EF4-FFF2-40B4-BE49-F238E27FC236}">
                      <a16:creationId xmlns:a16="http://schemas.microsoft.com/office/drawing/2014/main" id="{5F548967-8C26-4DC6-8F46-3199F6995AB7}"/>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81" name="Group 20">
                <a:extLst>
                  <a:ext uri="{FF2B5EF4-FFF2-40B4-BE49-F238E27FC236}">
                    <a16:creationId xmlns:a16="http://schemas.microsoft.com/office/drawing/2014/main" id="{D5F3E40A-64B9-4F55-95A7-622F687ED04B}"/>
                  </a:ext>
                </a:extLst>
              </p:cNvPr>
              <p:cNvGrpSpPr>
                <a:grpSpLocks/>
              </p:cNvGrpSpPr>
              <p:nvPr/>
            </p:nvGrpSpPr>
            <p:grpSpPr bwMode="auto">
              <a:xfrm>
                <a:off x="858" y="2022"/>
                <a:ext cx="1577" cy="1479"/>
                <a:chOff x="357" y="2450"/>
                <a:chExt cx="795" cy="646"/>
              </a:xfrm>
            </p:grpSpPr>
            <p:sp>
              <p:nvSpPr>
                <p:cNvPr id="61485" name="Line 21">
                  <a:extLst>
                    <a:ext uri="{FF2B5EF4-FFF2-40B4-BE49-F238E27FC236}">
                      <a16:creationId xmlns:a16="http://schemas.microsoft.com/office/drawing/2014/main" id="{F62B02A4-37F8-45F8-8ABA-FCC39E3C647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86" name="Line 22">
                  <a:extLst>
                    <a:ext uri="{FF2B5EF4-FFF2-40B4-BE49-F238E27FC236}">
                      <a16:creationId xmlns:a16="http://schemas.microsoft.com/office/drawing/2014/main" id="{873F664E-EC0E-422F-A26E-D6FE7B997AF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82" name="Group 23">
                <a:extLst>
                  <a:ext uri="{FF2B5EF4-FFF2-40B4-BE49-F238E27FC236}">
                    <a16:creationId xmlns:a16="http://schemas.microsoft.com/office/drawing/2014/main" id="{348ACA35-B0B0-4FA8-A5C7-622A2FCA096C}"/>
                  </a:ext>
                </a:extLst>
              </p:cNvPr>
              <p:cNvGrpSpPr>
                <a:grpSpLocks/>
              </p:cNvGrpSpPr>
              <p:nvPr/>
            </p:nvGrpSpPr>
            <p:grpSpPr bwMode="auto">
              <a:xfrm>
                <a:off x="864" y="1274"/>
                <a:ext cx="2346" cy="2234"/>
                <a:chOff x="357" y="2450"/>
                <a:chExt cx="795" cy="646"/>
              </a:xfrm>
            </p:grpSpPr>
            <p:sp>
              <p:nvSpPr>
                <p:cNvPr id="61483" name="Line 24">
                  <a:extLst>
                    <a:ext uri="{FF2B5EF4-FFF2-40B4-BE49-F238E27FC236}">
                      <a16:creationId xmlns:a16="http://schemas.microsoft.com/office/drawing/2014/main" id="{DF770B4F-EE33-4088-A9E1-1FED90EA266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84" name="Line 25">
                  <a:extLst>
                    <a:ext uri="{FF2B5EF4-FFF2-40B4-BE49-F238E27FC236}">
                      <a16:creationId xmlns:a16="http://schemas.microsoft.com/office/drawing/2014/main" id="{52077665-2BC2-40C5-9C01-7DEE246D28F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61469" name="Group 26">
              <a:extLst>
                <a:ext uri="{FF2B5EF4-FFF2-40B4-BE49-F238E27FC236}">
                  <a16:creationId xmlns:a16="http://schemas.microsoft.com/office/drawing/2014/main" id="{C3E06EAF-73D5-4790-ABAB-ABCEA4F8A85B}"/>
                </a:ext>
              </a:extLst>
            </p:cNvPr>
            <p:cNvGrpSpPr>
              <a:grpSpLocks/>
            </p:cNvGrpSpPr>
            <p:nvPr/>
          </p:nvGrpSpPr>
          <p:grpSpPr bwMode="auto">
            <a:xfrm>
              <a:off x="1079" y="1137"/>
              <a:ext cx="2275" cy="2152"/>
              <a:chOff x="1079" y="1137"/>
              <a:chExt cx="2275" cy="2152"/>
            </a:xfrm>
          </p:grpSpPr>
          <p:sp>
            <p:nvSpPr>
              <p:cNvPr id="61470" name="Line 27">
                <a:extLst>
                  <a:ext uri="{FF2B5EF4-FFF2-40B4-BE49-F238E27FC236}">
                    <a16:creationId xmlns:a16="http://schemas.microsoft.com/office/drawing/2014/main" id="{E380EDD2-24D1-47BA-9901-D63DE04B1FC0}"/>
                  </a:ext>
                </a:extLst>
              </p:cNvPr>
              <p:cNvSpPr>
                <a:spLocks noChangeShapeType="1"/>
              </p:cNvSpPr>
              <p:nvPr/>
            </p:nvSpPr>
            <p:spPr bwMode="auto">
              <a:xfrm flipH="1">
                <a:off x="1079" y="1137"/>
                <a:ext cx="2275" cy="2152"/>
              </a:xfrm>
              <a:prstGeom prst="line">
                <a:avLst/>
              </a:prstGeom>
              <a:noFill/>
              <a:ln w="50800">
                <a:solidFill>
                  <a:srgbClr val="777777"/>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1" name="Oval 28">
                <a:extLst>
                  <a:ext uri="{FF2B5EF4-FFF2-40B4-BE49-F238E27FC236}">
                    <a16:creationId xmlns:a16="http://schemas.microsoft.com/office/drawing/2014/main" id="{1AB919D7-A0A7-49CF-A019-ABEC5380B112}"/>
                  </a:ext>
                </a:extLst>
              </p:cNvPr>
              <p:cNvSpPr>
                <a:spLocks noChangeArrowheads="1"/>
              </p:cNvSpPr>
              <p:nvPr/>
            </p:nvSpPr>
            <p:spPr bwMode="auto">
              <a:xfrm>
                <a:off x="3164" y="1231"/>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2" name="Oval 29">
                <a:extLst>
                  <a:ext uri="{FF2B5EF4-FFF2-40B4-BE49-F238E27FC236}">
                    <a16:creationId xmlns:a16="http://schemas.microsoft.com/office/drawing/2014/main" id="{FF0E7A2F-B366-4533-B550-FBA138EB6F34}"/>
                  </a:ext>
                </a:extLst>
              </p:cNvPr>
              <p:cNvSpPr>
                <a:spLocks noChangeArrowheads="1"/>
              </p:cNvSpPr>
              <p:nvPr/>
            </p:nvSpPr>
            <p:spPr bwMode="auto">
              <a:xfrm>
                <a:off x="2776" y="1604"/>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3" name="Oval 30">
                <a:extLst>
                  <a:ext uri="{FF2B5EF4-FFF2-40B4-BE49-F238E27FC236}">
                    <a16:creationId xmlns:a16="http://schemas.microsoft.com/office/drawing/2014/main" id="{25D4EFF4-C6CF-4B3F-B851-1A759D0DE01A}"/>
                  </a:ext>
                </a:extLst>
              </p:cNvPr>
              <p:cNvSpPr>
                <a:spLocks noChangeArrowheads="1"/>
              </p:cNvSpPr>
              <p:nvPr/>
            </p:nvSpPr>
            <p:spPr bwMode="auto">
              <a:xfrm>
                <a:off x="2384" y="1973"/>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4" name="Oval 31">
                <a:extLst>
                  <a:ext uri="{FF2B5EF4-FFF2-40B4-BE49-F238E27FC236}">
                    <a16:creationId xmlns:a16="http://schemas.microsoft.com/office/drawing/2014/main" id="{AD379308-66DC-4764-8C72-D1E597C9AAF7}"/>
                  </a:ext>
                </a:extLst>
              </p:cNvPr>
              <p:cNvSpPr>
                <a:spLocks noChangeArrowheads="1"/>
              </p:cNvSpPr>
              <p:nvPr/>
            </p:nvSpPr>
            <p:spPr bwMode="auto">
              <a:xfrm>
                <a:off x="1983" y="2352"/>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5" name="Oval 32">
                <a:extLst>
                  <a:ext uri="{FF2B5EF4-FFF2-40B4-BE49-F238E27FC236}">
                    <a16:creationId xmlns:a16="http://schemas.microsoft.com/office/drawing/2014/main" id="{ACFA8967-6B2B-4531-BDE6-57D2B0D0DA74}"/>
                  </a:ext>
                </a:extLst>
              </p:cNvPr>
              <p:cNvSpPr>
                <a:spLocks noChangeArrowheads="1"/>
              </p:cNvSpPr>
              <p:nvPr/>
            </p:nvSpPr>
            <p:spPr bwMode="auto">
              <a:xfrm>
                <a:off x="1598" y="2714"/>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6" name="Oval 33">
                <a:extLst>
                  <a:ext uri="{FF2B5EF4-FFF2-40B4-BE49-F238E27FC236}">
                    <a16:creationId xmlns:a16="http://schemas.microsoft.com/office/drawing/2014/main" id="{04EEF866-6FD4-40A3-A938-C5F7DEC25D00}"/>
                  </a:ext>
                </a:extLst>
              </p:cNvPr>
              <p:cNvSpPr>
                <a:spLocks noChangeArrowheads="1"/>
              </p:cNvSpPr>
              <p:nvPr/>
            </p:nvSpPr>
            <p:spPr bwMode="auto">
              <a:xfrm>
                <a:off x="1198" y="3090"/>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sp>
        <p:nvSpPr>
          <p:cNvPr id="101410" name="Text Box 34">
            <a:extLst>
              <a:ext uri="{FF2B5EF4-FFF2-40B4-BE49-F238E27FC236}">
                <a16:creationId xmlns:a16="http://schemas.microsoft.com/office/drawing/2014/main" id="{4F0C224F-E466-4B49-BDD9-E47D0669294A}"/>
              </a:ext>
            </a:extLst>
          </p:cNvPr>
          <p:cNvSpPr txBox="1">
            <a:spLocks noChangeArrowheads="1"/>
          </p:cNvSpPr>
          <p:nvPr/>
        </p:nvSpPr>
        <p:spPr bwMode="auto">
          <a:xfrm>
            <a:off x="6086475" y="1247775"/>
            <a:ext cx="2727325" cy="34718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600">
                <a:cs typeface="Arial" panose="020B0604020202020204" pitchFamily="34" charset="0"/>
              </a:rPr>
              <a:t>Suppose the price of milk falls.  </a:t>
            </a:r>
          </a:p>
          <a:p>
            <a:pPr eaLnBrk="1" hangingPunct="1">
              <a:spcBef>
                <a:spcPct val="10000"/>
              </a:spcBef>
              <a:buClrTx/>
              <a:buSzTx/>
              <a:buFontTx/>
              <a:buNone/>
            </a:pPr>
            <a:r>
              <a:rPr lang="en-US" altLang="en-US" sz="2600">
                <a:cs typeface="Arial" panose="020B0604020202020204" pitchFamily="34" charset="0"/>
              </a:rPr>
              <a:t>At each price, the quantity of </a:t>
            </a:r>
            <a:br>
              <a:rPr lang="en-US" altLang="en-US" sz="2600">
                <a:cs typeface="Arial" panose="020B0604020202020204" pitchFamily="34" charset="0"/>
              </a:rPr>
            </a:br>
            <a:r>
              <a:rPr lang="en-US" altLang="en-US" sz="2600">
                <a:cs typeface="Arial" panose="020B0604020202020204" pitchFamily="34" charset="0"/>
              </a:rPr>
              <a:t>Lattes supplied </a:t>
            </a:r>
            <a:br>
              <a:rPr lang="en-US" altLang="en-US" sz="2600">
                <a:cs typeface="Arial" panose="020B0604020202020204" pitchFamily="34" charset="0"/>
              </a:rPr>
            </a:br>
            <a:r>
              <a:rPr lang="en-US" altLang="en-US" sz="2600">
                <a:cs typeface="Arial" panose="020B0604020202020204" pitchFamily="34" charset="0"/>
              </a:rPr>
              <a:t>will increase </a:t>
            </a:r>
            <a:br>
              <a:rPr lang="en-US" altLang="en-US" sz="2600">
                <a:cs typeface="Arial" panose="020B0604020202020204" pitchFamily="34" charset="0"/>
              </a:rPr>
            </a:br>
            <a:r>
              <a:rPr lang="en-US" altLang="en-US" sz="2600">
                <a:cs typeface="Arial" panose="020B0604020202020204" pitchFamily="34" charset="0"/>
              </a:rPr>
              <a:t>(by 5 in this example).</a:t>
            </a:r>
          </a:p>
        </p:txBody>
      </p:sp>
      <p:sp>
        <p:nvSpPr>
          <p:cNvPr id="101411" name="Line 35">
            <a:extLst>
              <a:ext uri="{FF2B5EF4-FFF2-40B4-BE49-F238E27FC236}">
                <a16:creationId xmlns:a16="http://schemas.microsoft.com/office/drawing/2014/main" id="{E712527B-A10C-4116-992F-1DA99F40851A}"/>
              </a:ext>
            </a:extLst>
          </p:cNvPr>
          <p:cNvSpPr>
            <a:spLocks noChangeShapeType="1"/>
          </p:cNvSpPr>
          <p:nvPr/>
        </p:nvSpPr>
        <p:spPr bwMode="auto">
          <a:xfrm flipV="1">
            <a:off x="2314575" y="1831975"/>
            <a:ext cx="3605213" cy="3413125"/>
          </a:xfrm>
          <a:prstGeom prst="line">
            <a:avLst/>
          </a:prstGeom>
          <a:noFill/>
          <a:ln w="508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 name="Group 36">
            <a:extLst>
              <a:ext uri="{FF2B5EF4-FFF2-40B4-BE49-F238E27FC236}">
                <a16:creationId xmlns:a16="http://schemas.microsoft.com/office/drawing/2014/main" id="{945D6C80-3CE2-4C92-917B-2DD339D28E60}"/>
              </a:ext>
            </a:extLst>
          </p:cNvPr>
          <p:cNvGrpSpPr>
            <a:grpSpLocks/>
          </p:cNvGrpSpPr>
          <p:nvPr/>
        </p:nvGrpSpPr>
        <p:grpSpPr bwMode="auto">
          <a:xfrm>
            <a:off x="2046288" y="4905375"/>
            <a:ext cx="636587" cy="138113"/>
            <a:chOff x="1289" y="3090"/>
            <a:chExt cx="401" cy="87"/>
          </a:xfrm>
        </p:grpSpPr>
        <p:sp>
          <p:nvSpPr>
            <p:cNvPr id="61465" name="Oval 37">
              <a:extLst>
                <a:ext uri="{FF2B5EF4-FFF2-40B4-BE49-F238E27FC236}">
                  <a16:creationId xmlns:a16="http://schemas.microsoft.com/office/drawing/2014/main" id="{7FB42E2C-EAEF-4B40-948F-2C7750155453}"/>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66" name="Line 38">
              <a:extLst>
                <a:ext uri="{FF2B5EF4-FFF2-40B4-BE49-F238E27FC236}">
                  <a16:creationId xmlns:a16="http://schemas.microsoft.com/office/drawing/2014/main" id="{7AFDBA1A-5A88-4FE5-B6CD-C347D4716B80}"/>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sp>
        <p:nvSpPr>
          <p:cNvPr id="61448" name="Rectangle 39">
            <a:extLst>
              <a:ext uri="{FF2B5EF4-FFF2-40B4-BE49-F238E27FC236}">
                <a16:creationId xmlns:a16="http://schemas.microsoft.com/office/drawing/2014/main" id="{456D9CCC-B6C2-4E04-AA4E-975AE6EAE278}"/>
              </a:ext>
            </a:extLst>
          </p:cNvPr>
          <p:cNvSpPr>
            <a:spLocks noChangeArrowheads="1"/>
          </p:cNvSpPr>
          <p:nvPr/>
        </p:nvSpPr>
        <p:spPr bwMode="auto">
          <a:xfrm>
            <a:off x="342900" y="252413"/>
            <a:ext cx="82296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r>
              <a:rPr lang="en-US" altLang="en-US" sz="3400" b="1">
                <a:solidFill>
                  <a:srgbClr val="333399"/>
                </a:solidFill>
                <a:latin typeface="Book Antiqua" panose="02040602050305030304" pitchFamily="18" charset="0"/>
                <a:cs typeface="Arial" panose="020B0604020202020204" pitchFamily="34" charset="0"/>
              </a:rPr>
              <a:t>Supply Curve Shifters:  </a:t>
            </a:r>
            <a:r>
              <a:rPr lang="en-US" altLang="en-US" sz="3400" b="1">
                <a:solidFill>
                  <a:srgbClr val="008080"/>
                </a:solidFill>
                <a:latin typeface="Book Antiqua" panose="02040602050305030304" pitchFamily="18" charset="0"/>
                <a:cs typeface="Arial" panose="020B0604020202020204" pitchFamily="34" charset="0"/>
              </a:rPr>
              <a:t>Input Prices</a:t>
            </a:r>
          </a:p>
        </p:txBody>
      </p:sp>
      <p:grpSp>
        <p:nvGrpSpPr>
          <p:cNvPr id="13" name="Group 40">
            <a:extLst>
              <a:ext uri="{FF2B5EF4-FFF2-40B4-BE49-F238E27FC236}">
                <a16:creationId xmlns:a16="http://schemas.microsoft.com/office/drawing/2014/main" id="{372F0F78-B7A7-4E42-897A-A67C2B6B3879}"/>
              </a:ext>
            </a:extLst>
          </p:cNvPr>
          <p:cNvGrpSpPr>
            <a:grpSpLocks/>
          </p:cNvGrpSpPr>
          <p:nvPr/>
        </p:nvGrpSpPr>
        <p:grpSpPr bwMode="auto">
          <a:xfrm>
            <a:off x="2667000" y="4310063"/>
            <a:ext cx="636588" cy="138112"/>
            <a:chOff x="1289" y="3090"/>
            <a:chExt cx="401" cy="87"/>
          </a:xfrm>
        </p:grpSpPr>
        <p:sp>
          <p:nvSpPr>
            <p:cNvPr id="61463" name="Oval 41">
              <a:extLst>
                <a:ext uri="{FF2B5EF4-FFF2-40B4-BE49-F238E27FC236}">
                  <a16:creationId xmlns:a16="http://schemas.microsoft.com/office/drawing/2014/main" id="{6C954715-1F84-42D0-8A3B-A7EF5BCA5380}"/>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64" name="Line 42">
              <a:extLst>
                <a:ext uri="{FF2B5EF4-FFF2-40B4-BE49-F238E27FC236}">
                  <a16:creationId xmlns:a16="http://schemas.microsoft.com/office/drawing/2014/main" id="{F199584C-37E1-484A-8047-589B05A4F5B1}"/>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4" name="Group 43">
            <a:extLst>
              <a:ext uri="{FF2B5EF4-FFF2-40B4-BE49-F238E27FC236}">
                <a16:creationId xmlns:a16="http://schemas.microsoft.com/office/drawing/2014/main" id="{DD7AB92F-0925-4F74-AE85-1A2DB8372BB4}"/>
              </a:ext>
            </a:extLst>
          </p:cNvPr>
          <p:cNvGrpSpPr>
            <a:grpSpLocks/>
          </p:cNvGrpSpPr>
          <p:nvPr/>
        </p:nvGrpSpPr>
        <p:grpSpPr bwMode="auto">
          <a:xfrm>
            <a:off x="3294063" y="3732213"/>
            <a:ext cx="636587" cy="138112"/>
            <a:chOff x="1289" y="3090"/>
            <a:chExt cx="401" cy="87"/>
          </a:xfrm>
        </p:grpSpPr>
        <p:sp>
          <p:nvSpPr>
            <p:cNvPr id="61461" name="Oval 44">
              <a:extLst>
                <a:ext uri="{FF2B5EF4-FFF2-40B4-BE49-F238E27FC236}">
                  <a16:creationId xmlns:a16="http://schemas.microsoft.com/office/drawing/2014/main" id="{796E5717-514B-4B59-80EC-94E36B19D8E2}"/>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62" name="Line 45">
              <a:extLst>
                <a:ext uri="{FF2B5EF4-FFF2-40B4-BE49-F238E27FC236}">
                  <a16:creationId xmlns:a16="http://schemas.microsoft.com/office/drawing/2014/main" id="{BD14620D-08D0-4425-9B06-9DFB8D6D0D51}"/>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5" name="Group 46">
            <a:extLst>
              <a:ext uri="{FF2B5EF4-FFF2-40B4-BE49-F238E27FC236}">
                <a16:creationId xmlns:a16="http://schemas.microsoft.com/office/drawing/2014/main" id="{6CC2BF81-6F07-438D-BD46-5158683BC1BE}"/>
              </a:ext>
            </a:extLst>
          </p:cNvPr>
          <p:cNvGrpSpPr>
            <a:grpSpLocks/>
          </p:cNvGrpSpPr>
          <p:nvPr/>
        </p:nvGrpSpPr>
        <p:grpSpPr bwMode="auto">
          <a:xfrm>
            <a:off x="3921125" y="3132138"/>
            <a:ext cx="636588" cy="138112"/>
            <a:chOff x="1289" y="3090"/>
            <a:chExt cx="401" cy="87"/>
          </a:xfrm>
        </p:grpSpPr>
        <p:sp>
          <p:nvSpPr>
            <p:cNvPr id="61459" name="Oval 47">
              <a:extLst>
                <a:ext uri="{FF2B5EF4-FFF2-40B4-BE49-F238E27FC236}">
                  <a16:creationId xmlns:a16="http://schemas.microsoft.com/office/drawing/2014/main" id="{08D36B11-5094-49B3-B76C-E64B95C296EC}"/>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60" name="Line 48">
              <a:extLst>
                <a:ext uri="{FF2B5EF4-FFF2-40B4-BE49-F238E27FC236}">
                  <a16:creationId xmlns:a16="http://schemas.microsoft.com/office/drawing/2014/main" id="{4859E6B3-A395-4251-A32E-45894D0F9D20}"/>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6" name="Group 49">
            <a:extLst>
              <a:ext uri="{FF2B5EF4-FFF2-40B4-BE49-F238E27FC236}">
                <a16:creationId xmlns:a16="http://schemas.microsoft.com/office/drawing/2014/main" id="{C755C1B0-CA86-4FE0-B02B-1DD6058685AA}"/>
              </a:ext>
            </a:extLst>
          </p:cNvPr>
          <p:cNvGrpSpPr>
            <a:grpSpLocks/>
          </p:cNvGrpSpPr>
          <p:nvPr/>
        </p:nvGrpSpPr>
        <p:grpSpPr bwMode="auto">
          <a:xfrm>
            <a:off x="4532313" y="2541588"/>
            <a:ext cx="636587" cy="138112"/>
            <a:chOff x="1289" y="3090"/>
            <a:chExt cx="401" cy="87"/>
          </a:xfrm>
        </p:grpSpPr>
        <p:sp>
          <p:nvSpPr>
            <p:cNvPr id="61457" name="Oval 50">
              <a:extLst>
                <a:ext uri="{FF2B5EF4-FFF2-40B4-BE49-F238E27FC236}">
                  <a16:creationId xmlns:a16="http://schemas.microsoft.com/office/drawing/2014/main" id="{7C45068C-F726-4A16-9378-3E1D55D2650A}"/>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58" name="Line 51">
              <a:extLst>
                <a:ext uri="{FF2B5EF4-FFF2-40B4-BE49-F238E27FC236}">
                  <a16:creationId xmlns:a16="http://schemas.microsoft.com/office/drawing/2014/main" id="{10D452D3-8399-47A9-AB1C-6AFBF061B46C}"/>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7" name="Group 52">
            <a:extLst>
              <a:ext uri="{FF2B5EF4-FFF2-40B4-BE49-F238E27FC236}">
                <a16:creationId xmlns:a16="http://schemas.microsoft.com/office/drawing/2014/main" id="{55FC61BE-6687-4BD1-A8A3-50E2D3064F97}"/>
              </a:ext>
            </a:extLst>
          </p:cNvPr>
          <p:cNvGrpSpPr>
            <a:grpSpLocks/>
          </p:cNvGrpSpPr>
          <p:nvPr/>
        </p:nvGrpSpPr>
        <p:grpSpPr bwMode="auto">
          <a:xfrm>
            <a:off x="5153025" y="1951038"/>
            <a:ext cx="636588" cy="138112"/>
            <a:chOff x="1289" y="3090"/>
            <a:chExt cx="401" cy="87"/>
          </a:xfrm>
        </p:grpSpPr>
        <p:sp>
          <p:nvSpPr>
            <p:cNvPr id="61455" name="Oval 53">
              <a:extLst>
                <a:ext uri="{FF2B5EF4-FFF2-40B4-BE49-F238E27FC236}">
                  <a16:creationId xmlns:a16="http://schemas.microsoft.com/office/drawing/2014/main" id="{AD9D52CA-FE80-4C65-9D89-7DF477ECDA78}"/>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56" name="Line 54">
              <a:extLst>
                <a:ext uri="{FF2B5EF4-FFF2-40B4-BE49-F238E27FC236}">
                  <a16:creationId xmlns:a16="http://schemas.microsoft.com/office/drawing/2014/main" id="{C4A9F036-2238-4BDA-8157-E6950D9CE78B}"/>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sp>
        <p:nvSpPr>
          <p:cNvPr id="61454" name="FlagCount" hidden="1">
            <a:hlinkClick r:id="rId5" action="ppaction://hlinkfile"/>
            <a:extLst>
              <a:ext uri="{FF2B5EF4-FFF2-40B4-BE49-F238E27FC236}">
                <a16:creationId xmlns:a16="http://schemas.microsoft.com/office/drawing/2014/main" id="{B4CC82BC-96D6-4991-B8AC-B6EFCE6CF844}"/>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1410"/>
                                        </p:tgtEl>
                                        <p:attrNameLst>
                                          <p:attrName>style.visibility</p:attrName>
                                        </p:attrNameLst>
                                      </p:cBhvr>
                                      <p:to>
                                        <p:strVal val="visible"/>
                                      </p:to>
                                    </p:set>
                                    <p:animEffect transition="in" filter="dissolve">
                                      <p:cBhvr>
                                        <p:cTn id="7" dur="500"/>
                                        <p:tgtEl>
                                          <p:spTgt spid="101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par>
                                <p:cTn id="28" presetID="22" presetClass="entr" presetSubtype="8"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par>
                                <p:cTn id="31" presetID="22" presetClass="entr" presetSubtype="8"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3" fill="hold" nodeType="clickEffect">
                                  <p:stCondLst>
                                    <p:cond delay="0"/>
                                  </p:stCondLst>
                                  <p:childTnLst>
                                    <p:set>
                                      <p:cBhvr>
                                        <p:cTn id="37" dur="1" fill="hold">
                                          <p:stCondLst>
                                            <p:cond delay="0"/>
                                          </p:stCondLst>
                                        </p:cTn>
                                        <p:tgtEl>
                                          <p:spTgt spid="101411"/>
                                        </p:tgtEl>
                                        <p:attrNameLst>
                                          <p:attrName>style.visibility</p:attrName>
                                        </p:attrNameLst>
                                      </p:cBhvr>
                                      <p:to>
                                        <p:strVal val="visible"/>
                                      </p:to>
                                    </p:set>
                                    <p:animEffect transition="in" filter="strips(upRight)">
                                      <p:cBhvr>
                                        <p:cTn id="38" dur="500"/>
                                        <p:tgtEl>
                                          <p:spTgt spid="10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10"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Footer Placeholder 1">
            <a:extLst>
              <a:ext uri="{FF2B5EF4-FFF2-40B4-BE49-F238E27FC236}">
                <a16:creationId xmlns:a16="http://schemas.microsoft.com/office/drawing/2014/main" id="{53EE3DEF-B528-409F-88F9-56E1B18C373C}"/>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3491" name="Slide Number Placeholder 2">
            <a:extLst>
              <a:ext uri="{FF2B5EF4-FFF2-40B4-BE49-F238E27FC236}">
                <a16:creationId xmlns:a16="http://schemas.microsoft.com/office/drawing/2014/main" id="{595F6757-2379-490D-91EA-211CA63BC1C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35711DE-D761-496C-9F2F-F3C175257F0C}" type="slidenum">
              <a:rPr lang="en-US" altLang="en-US">
                <a:solidFill>
                  <a:srgbClr val="777777"/>
                </a:solidFill>
                <a:latin typeface="Tahoma" panose="020B0604030504040204" pitchFamily="34" charset="0"/>
              </a:rPr>
              <a:pPr/>
              <a:t>29</a:t>
            </a:fld>
            <a:endParaRPr lang="en-US" altLang="en-US">
              <a:solidFill>
                <a:srgbClr val="777777"/>
              </a:solidFill>
              <a:latin typeface="Tahoma" panose="020B0604030504040204" pitchFamily="34" charset="0"/>
            </a:endParaRPr>
          </a:p>
        </p:txBody>
      </p:sp>
      <p:sp>
        <p:nvSpPr>
          <p:cNvPr id="63492" name="Rectangle 2">
            <a:extLst>
              <a:ext uri="{FF2B5EF4-FFF2-40B4-BE49-F238E27FC236}">
                <a16:creationId xmlns:a16="http://schemas.microsoft.com/office/drawing/2014/main" id="{66169A12-D380-49E1-BA0E-97FF762EB80D}"/>
              </a:ext>
            </a:extLst>
          </p:cNvPr>
          <p:cNvSpPr>
            <a:spLocks noGrp="1" noChangeArrowheads="1"/>
          </p:cNvSpPr>
          <p:nvPr>
            <p:ph type="title" idx="4294967295"/>
          </p:nvPr>
        </p:nvSpPr>
        <p:spPr/>
        <p:txBody>
          <a:bodyPr/>
          <a:lstStyle/>
          <a:p>
            <a:pPr algn="l" eaLnBrk="1" hangingPunct="1"/>
            <a:r>
              <a:rPr lang="en-US" altLang="en-US" sz="3400"/>
              <a:t>Supply Curve Shifters:  </a:t>
            </a:r>
            <a:r>
              <a:rPr lang="en-US" altLang="en-US" sz="3400">
                <a:solidFill>
                  <a:srgbClr val="008080"/>
                </a:solidFill>
              </a:rPr>
              <a:t>Technology</a:t>
            </a:r>
          </a:p>
        </p:txBody>
      </p:sp>
      <p:sp>
        <p:nvSpPr>
          <p:cNvPr id="63493" name="Rectangle 3">
            <a:extLst>
              <a:ext uri="{FF2B5EF4-FFF2-40B4-BE49-F238E27FC236}">
                <a16:creationId xmlns:a16="http://schemas.microsoft.com/office/drawing/2014/main" id="{50483844-5FE4-4327-8EF7-C1FB735030DB}"/>
              </a:ext>
            </a:extLst>
          </p:cNvPr>
          <p:cNvSpPr>
            <a:spLocks noGrp="1" noChangeArrowheads="1"/>
          </p:cNvSpPr>
          <p:nvPr>
            <p:ph type="body" idx="4294967295"/>
          </p:nvPr>
        </p:nvSpPr>
        <p:spPr/>
        <p:txBody>
          <a:bodyPr/>
          <a:lstStyle/>
          <a:p>
            <a:pPr eaLnBrk="1" hangingPunct="1"/>
            <a:r>
              <a:rPr lang="en-US" altLang="en-US"/>
              <a:t>Technology determines how much inputs are required to produce a unit of output.  </a:t>
            </a:r>
          </a:p>
          <a:p>
            <a:pPr eaLnBrk="1" hangingPunct="1"/>
            <a:r>
              <a:rPr lang="en-US" altLang="en-US"/>
              <a:t>A cost-saving technological improvement has </a:t>
            </a:r>
            <a:br>
              <a:rPr lang="en-US" altLang="en-US"/>
            </a:br>
            <a:r>
              <a:rPr lang="en-US" altLang="en-US"/>
              <a:t>the same effect as a fall in input prices, </a:t>
            </a:r>
            <a:br>
              <a:rPr lang="en-US" altLang="en-US"/>
            </a:br>
            <a:r>
              <a:rPr lang="en-US" altLang="en-US"/>
              <a:t>shifts </a:t>
            </a:r>
            <a:r>
              <a:rPr lang="en-US" altLang="en-US" b="1" i="1"/>
              <a:t>S</a:t>
            </a:r>
            <a:r>
              <a:rPr lang="en-US" altLang="en-US"/>
              <a:t> curve to the right.  </a:t>
            </a:r>
          </a:p>
        </p:txBody>
      </p:sp>
      <p:sp>
        <p:nvSpPr>
          <p:cNvPr id="63494" name="FlagCount" hidden="1">
            <a:hlinkClick r:id="rId3" action="ppaction://hlinkfile"/>
            <a:extLst>
              <a:ext uri="{FF2B5EF4-FFF2-40B4-BE49-F238E27FC236}">
                <a16:creationId xmlns:a16="http://schemas.microsoft.com/office/drawing/2014/main" id="{A86045B9-EE7A-4224-87F8-F81C71B200DA}"/>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3">
                                            <p:txEl>
                                              <p:pRg st="0" end="0"/>
                                            </p:txEl>
                                          </p:spTgt>
                                        </p:tgtEl>
                                        <p:attrNameLst>
                                          <p:attrName>style.visibility</p:attrName>
                                        </p:attrNameLst>
                                      </p:cBhvr>
                                      <p:to>
                                        <p:strVal val="visible"/>
                                      </p:to>
                                    </p:set>
                                    <p:animEffect transition="in" filter="wipe(left)">
                                      <p:cBhvr>
                                        <p:cTn id="7" dur="500"/>
                                        <p:tgtEl>
                                          <p:spTgt spid="634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3">
                                            <p:txEl>
                                              <p:pRg st="1" end="1"/>
                                            </p:txEl>
                                          </p:spTgt>
                                        </p:tgtEl>
                                        <p:attrNameLst>
                                          <p:attrName>style.visibility</p:attrName>
                                        </p:attrNameLst>
                                      </p:cBhvr>
                                      <p:to>
                                        <p:strVal val="visible"/>
                                      </p:to>
                                    </p:set>
                                    <p:animEffect transition="in" filter="wipe(left)">
                                      <p:cBhvr>
                                        <p:cTn id="12" dur="500"/>
                                        <p:tgtEl>
                                          <p:spTgt spid="6349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build="p" bldLvl="4"/>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Footer Placeholder 1">
            <a:extLst>
              <a:ext uri="{FF2B5EF4-FFF2-40B4-BE49-F238E27FC236}">
                <a16:creationId xmlns:a16="http://schemas.microsoft.com/office/drawing/2014/main" id="{99A8282A-5C03-4F0E-9A7F-46CAF1BCE10D}"/>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5539" name="Slide Number Placeholder 2">
            <a:extLst>
              <a:ext uri="{FF2B5EF4-FFF2-40B4-BE49-F238E27FC236}">
                <a16:creationId xmlns:a16="http://schemas.microsoft.com/office/drawing/2014/main" id="{1E2378B9-C7F0-49C1-9976-BF5C9DBF4126}"/>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7E0617D-BA89-44AD-BCBA-E9DBDE8FC90B}" type="slidenum">
              <a:rPr lang="en-US" altLang="en-US">
                <a:solidFill>
                  <a:srgbClr val="777777"/>
                </a:solidFill>
                <a:latin typeface="Tahoma" panose="020B0604030504040204" pitchFamily="34" charset="0"/>
              </a:rPr>
              <a:pPr/>
              <a:t>30</a:t>
            </a:fld>
            <a:endParaRPr lang="en-US" altLang="en-US">
              <a:solidFill>
                <a:srgbClr val="777777"/>
              </a:solidFill>
              <a:latin typeface="Tahoma" panose="020B0604030504040204" pitchFamily="34" charset="0"/>
            </a:endParaRPr>
          </a:p>
        </p:txBody>
      </p:sp>
      <p:sp>
        <p:nvSpPr>
          <p:cNvPr id="65540" name="Rectangle 2">
            <a:extLst>
              <a:ext uri="{FF2B5EF4-FFF2-40B4-BE49-F238E27FC236}">
                <a16:creationId xmlns:a16="http://schemas.microsoft.com/office/drawing/2014/main" id="{013AC63F-362D-4008-9727-67156924D468}"/>
              </a:ext>
            </a:extLst>
          </p:cNvPr>
          <p:cNvSpPr>
            <a:spLocks noGrp="1" noChangeArrowheads="1"/>
          </p:cNvSpPr>
          <p:nvPr>
            <p:ph type="title" idx="4294967295"/>
          </p:nvPr>
        </p:nvSpPr>
        <p:spPr>
          <a:xfrm>
            <a:off x="457200" y="300038"/>
            <a:ext cx="8307388" cy="661987"/>
          </a:xfrm>
          <a:noFill/>
        </p:spPr>
        <p:txBody>
          <a:bodyPr anchor="t"/>
          <a:lstStyle/>
          <a:p>
            <a:pPr algn="l" eaLnBrk="1" hangingPunct="1">
              <a:tabLst>
                <a:tab pos="4856163" algn="l"/>
              </a:tabLst>
            </a:pPr>
            <a:r>
              <a:rPr lang="en-US" altLang="en-US" sz="3400"/>
              <a:t>Supply Curve Shifters:  </a:t>
            </a:r>
            <a:r>
              <a:rPr lang="en-US" altLang="en-US" sz="3400">
                <a:solidFill>
                  <a:srgbClr val="008080"/>
                </a:solidFill>
              </a:rPr>
              <a:t># of Sellers</a:t>
            </a:r>
            <a:r>
              <a:rPr lang="en-US" altLang="en-US" sz="3400">
                <a:solidFill>
                  <a:srgbClr val="0000FF"/>
                </a:solidFill>
              </a:rPr>
              <a:t> </a:t>
            </a:r>
            <a:r>
              <a:rPr lang="en-US" altLang="en-US" sz="3400"/>
              <a:t> </a:t>
            </a:r>
            <a:endParaRPr lang="en-US" altLang="en-US" sz="3400">
              <a:solidFill>
                <a:srgbClr val="008080"/>
              </a:solidFill>
            </a:endParaRPr>
          </a:p>
        </p:txBody>
      </p:sp>
      <p:sp>
        <p:nvSpPr>
          <p:cNvPr id="65541" name="Rectangle 3">
            <a:extLst>
              <a:ext uri="{FF2B5EF4-FFF2-40B4-BE49-F238E27FC236}">
                <a16:creationId xmlns:a16="http://schemas.microsoft.com/office/drawing/2014/main" id="{20801143-6AC5-4C09-8D9F-238DEF749449}"/>
              </a:ext>
            </a:extLst>
          </p:cNvPr>
          <p:cNvSpPr>
            <a:spLocks noGrp="1" noChangeArrowheads="1"/>
          </p:cNvSpPr>
          <p:nvPr>
            <p:ph type="body" idx="4294967295"/>
          </p:nvPr>
        </p:nvSpPr>
        <p:spPr>
          <a:xfrm>
            <a:off x="603250" y="1301750"/>
            <a:ext cx="8083550" cy="4565650"/>
          </a:xfrm>
        </p:spPr>
        <p:txBody>
          <a:bodyPr/>
          <a:lstStyle/>
          <a:p>
            <a:pPr eaLnBrk="1" hangingPunct="1"/>
            <a:r>
              <a:rPr lang="en-US" altLang="en-US"/>
              <a:t>An increase in the number of sellers increases the quantity supplied at each price,</a:t>
            </a:r>
          </a:p>
          <a:p>
            <a:pPr eaLnBrk="1" hangingPunct="1">
              <a:spcBef>
                <a:spcPct val="20000"/>
              </a:spcBef>
              <a:buFont typeface="Wingdings" panose="05000000000000000000" pitchFamily="2" charset="2"/>
              <a:buNone/>
            </a:pPr>
            <a:r>
              <a:rPr lang="en-US" altLang="en-US"/>
              <a:t>	shifts </a:t>
            </a:r>
            <a:r>
              <a:rPr lang="en-US" altLang="en-US" b="1" i="1"/>
              <a:t>S</a:t>
            </a:r>
            <a:r>
              <a:rPr lang="en-US" altLang="en-US"/>
              <a:t> curve to the right.  </a:t>
            </a:r>
          </a:p>
        </p:txBody>
      </p:sp>
      <p:sp>
        <p:nvSpPr>
          <p:cNvPr id="65542" name="FlagCount" hidden="1">
            <a:hlinkClick r:id="rId3" action="ppaction://hlinkfile"/>
            <a:extLst>
              <a:ext uri="{FF2B5EF4-FFF2-40B4-BE49-F238E27FC236}">
                <a16:creationId xmlns:a16="http://schemas.microsoft.com/office/drawing/2014/main" id="{F98F8D1D-C3B0-466E-BD4D-E77D4705377E}"/>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41">
                                            <p:txEl>
                                              <p:pRg st="0" end="0"/>
                                            </p:txEl>
                                          </p:spTgt>
                                        </p:tgtEl>
                                        <p:attrNameLst>
                                          <p:attrName>style.visibility</p:attrName>
                                        </p:attrNameLst>
                                      </p:cBhvr>
                                      <p:to>
                                        <p:strVal val="visible"/>
                                      </p:to>
                                    </p:set>
                                    <p:animEffect transition="in" filter="wipe(left)">
                                      <p:cBhvr>
                                        <p:cTn id="7" dur="500"/>
                                        <p:tgtEl>
                                          <p:spTgt spid="655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41">
                                            <p:txEl>
                                              <p:pRg st="1" end="1"/>
                                            </p:txEl>
                                          </p:spTgt>
                                        </p:tgtEl>
                                        <p:attrNameLst>
                                          <p:attrName>style.visibility</p:attrName>
                                        </p:attrNameLst>
                                      </p:cBhvr>
                                      <p:to>
                                        <p:strVal val="visible"/>
                                      </p:to>
                                    </p:set>
                                    <p:animEffect transition="in" filter="wipe(left)">
                                      <p:cBhvr>
                                        <p:cTn id="12" dur="500"/>
                                        <p:tgtEl>
                                          <p:spTgt spid="655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build="p" bldLvl="4"/>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Footer Placeholder 1">
            <a:extLst>
              <a:ext uri="{FF2B5EF4-FFF2-40B4-BE49-F238E27FC236}">
                <a16:creationId xmlns:a16="http://schemas.microsoft.com/office/drawing/2014/main" id="{1B96C4D5-3465-4D29-A473-BA1FB3F79F3B}"/>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7587" name="Slide Number Placeholder 2">
            <a:extLst>
              <a:ext uri="{FF2B5EF4-FFF2-40B4-BE49-F238E27FC236}">
                <a16:creationId xmlns:a16="http://schemas.microsoft.com/office/drawing/2014/main" id="{260721B5-D1DB-429F-B285-7F81ACD5D650}"/>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1DBFD0-9524-46D5-8367-B08A8B694D9F}" type="slidenum">
              <a:rPr lang="en-US" altLang="en-US">
                <a:solidFill>
                  <a:srgbClr val="777777"/>
                </a:solidFill>
                <a:latin typeface="Tahoma" panose="020B0604030504040204" pitchFamily="34" charset="0"/>
              </a:rPr>
              <a:pPr/>
              <a:t>31</a:t>
            </a:fld>
            <a:endParaRPr lang="en-US" altLang="en-US">
              <a:solidFill>
                <a:srgbClr val="777777"/>
              </a:solidFill>
              <a:latin typeface="Tahoma" panose="020B0604030504040204" pitchFamily="34" charset="0"/>
            </a:endParaRPr>
          </a:p>
        </p:txBody>
      </p:sp>
      <p:sp>
        <p:nvSpPr>
          <p:cNvPr id="67588" name="Rectangle 2">
            <a:extLst>
              <a:ext uri="{FF2B5EF4-FFF2-40B4-BE49-F238E27FC236}">
                <a16:creationId xmlns:a16="http://schemas.microsoft.com/office/drawing/2014/main" id="{A2D88A35-D760-4D6B-AAC6-E85F23BAEF1B}"/>
              </a:ext>
            </a:extLst>
          </p:cNvPr>
          <p:cNvSpPr>
            <a:spLocks noGrp="1" noChangeArrowheads="1"/>
          </p:cNvSpPr>
          <p:nvPr>
            <p:ph type="title" idx="4294967295"/>
          </p:nvPr>
        </p:nvSpPr>
        <p:spPr>
          <a:xfrm>
            <a:off x="457200" y="300038"/>
            <a:ext cx="8307388" cy="661987"/>
          </a:xfrm>
          <a:noFill/>
        </p:spPr>
        <p:txBody>
          <a:bodyPr anchor="t"/>
          <a:lstStyle/>
          <a:p>
            <a:pPr algn="l" eaLnBrk="1" hangingPunct="1">
              <a:tabLst>
                <a:tab pos="4856163" algn="l"/>
              </a:tabLst>
            </a:pPr>
            <a:r>
              <a:rPr lang="en-US" altLang="en-US" sz="3400"/>
              <a:t>Supply Curve Shifters:  </a:t>
            </a:r>
            <a:r>
              <a:rPr lang="en-US" altLang="en-US" sz="3400">
                <a:solidFill>
                  <a:srgbClr val="008080"/>
                </a:solidFill>
              </a:rPr>
              <a:t>Expectations</a:t>
            </a:r>
            <a:r>
              <a:rPr lang="en-US" altLang="en-US" sz="3400"/>
              <a:t> </a:t>
            </a:r>
            <a:endParaRPr lang="en-US" altLang="en-US" sz="3400">
              <a:solidFill>
                <a:srgbClr val="008080"/>
              </a:solidFill>
            </a:endParaRPr>
          </a:p>
        </p:txBody>
      </p:sp>
      <p:sp>
        <p:nvSpPr>
          <p:cNvPr id="67589" name="Rectangle 3">
            <a:extLst>
              <a:ext uri="{FF2B5EF4-FFF2-40B4-BE49-F238E27FC236}">
                <a16:creationId xmlns:a16="http://schemas.microsoft.com/office/drawing/2014/main" id="{D84E38F4-915C-4254-B4DC-F5E086F59E4C}"/>
              </a:ext>
            </a:extLst>
          </p:cNvPr>
          <p:cNvSpPr>
            <a:spLocks noGrp="1" noChangeArrowheads="1"/>
          </p:cNvSpPr>
          <p:nvPr>
            <p:ph type="body" idx="4294967295"/>
          </p:nvPr>
        </p:nvSpPr>
        <p:spPr>
          <a:xfrm>
            <a:off x="457200" y="1268413"/>
            <a:ext cx="8229600" cy="5118100"/>
          </a:xfrm>
        </p:spPr>
        <p:txBody>
          <a:bodyPr/>
          <a:lstStyle/>
          <a:p>
            <a:pPr marL="0" indent="0" eaLnBrk="1" hangingPunct="1">
              <a:buFont typeface="Wingdings" panose="05000000000000000000" pitchFamily="2" charset="2"/>
              <a:buNone/>
            </a:pPr>
            <a:r>
              <a:rPr lang="en-US" altLang="en-US"/>
              <a:t>Example:</a:t>
            </a:r>
          </a:p>
          <a:p>
            <a:pPr marL="400050" lvl="1" eaLnBrk="1" hangingPunct="1">
              <a:lnSpc>
                <a:spcPct val="105000"/>
              </a:lnSpc>
            </a:pPr>
            <a:r>
              <a:rPr lang="en-US" altLang="en-US"/>
              <a:t>Events in the Middle East lead to expectations of higher oil prices.  </a:t>
            </a:r>
          </a:p>
          <a:p>
            <a:pPr marL="400050" lvl="1" eaLnBrk="1" hangingPunct="1">
              <a:lnSpc>
                <a:spcPct val="105000"/>
              </a:lnSpc>
            </a:pPr>
            <a:r>
              <a:rPr lang="en-US" altLang="en-US"/>
              <a:t>In response, owners of Texas oilfields reduce supply now, save some inventory to sell later at the higher price. </a:t>
            </a:r>
          </a:p>
          <a:p>
            <a:pPr marL="400050" lvl="1" eaLnBrk="1" hangingPunct="1">
              <a:lnSpc>
                <a:spcPct val="105000"/>
              </a:lnSpc>
            </a:pPr>
            <a:r>
              <a:rPr lang="en-US" altLang="en-US" b="1" i="1"/>
              <a:t>S</a:t>
            </a:r>
            <a:r>
              <a:rPr lang="en-US" altLang="en-US"/>
              <a:t> curve shifts left.  </a:t>
            </a:r>
          </a:p>
          <a:p>
            <a:pPr marL="0" indent="0" eaLnBrk="1" hangingPunct="1">
              <a:buFont typeface="Wingdings" panose="05000000000000000000" pitchFamily="2" charset="2"/>
              <a:buNone/>
            </a:pPr>
            <a:r>
              <a:rPr lang="en-US" altLang="en-US"/>
              <a:t>In general, sellers may adjust supply</a:t>
            </a:r>
            <a:r>
              <a:rPr lang="en-US" altLang="en-US" baseline="30000"/>
              <a:t>*</a:t>
            </a:r>
            <a:r>
              <a:rPr lang="en-US" altLang="en-US"/>
              <a:t> when their expectations of future prices change.  </a:t>
            </a:r>
            <a:br>
              <a:rPr lang="en-US" altLang="en-US"/>
            </a:br>
            <a:r>
              <a:rPr lang="en-US" altLang="en-US"/>
              <a:t>(</a:t>
            </a:r>
            <a:r>
              <a:rPr lang="en-US" altLang="en-US" baseline="30000"/>
              <a:t>*</a:t>
            </a:r>
            <a:r>
              <a:rPr lang="en-US" altLang="en-US" i="1"/>
              <a:t>If good not perishable</a:t>
            </a:r>
            <a:r>
              <a:rPr lang="en-US" altLang="en-US"/>
              <a:t>)</a:t>
            </a:r>
          </a:p>
        </p:txBody>
      </p:sp>
      <p:sp>
        <p:nvSpPr>
          <p:cNvPr id="67590" name="FlagCount" hidden="1">
            <a:hlinkClick r:id="rId3" action="ppaction://hlinkfile"/>
            <a:extLst>
              <a:ext uri="{FF2B5EF4-FFF2-40B4-BE49-F238E27FC236}">
                <a16:creationId xmlns:a16="http://schemas.microsoft.com/office/drawing/2014/main" id="{AC9C81B6-C232-4E31-A5ED-EA19E50B660A}"/>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9">
                                            <p:txEl>
                                              <p:pRg st="0" end="0"/>
                                            </p:txEl>
                                          </p:spTgt>
                                        </p:tgtEl>
                                        <p:attrNameLst>
                                          <p:attrName>style.visibility</p:attrName>
                                        </p:attrNameLst>
                                      </p:cBhvr>
                                      <p:to>
                                        <p:strVal val="visible"/>
                                      </p:to>
                                    </p:set>
                                    <p:animEffect transition="in" filter="wipe(left)">
                                      <p:cBhvr>
                                        <p:cTn id="7" dur="500"/>
                                        <p:tgtEl>
                                          <p:spTgt spid="675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89">
                                            <p:txEl>
                                              <p:pRg st="1" end="1"/>
                                            </p:txEl>
                                          </p:spTgt>
                                        </p:tgtEl>
                                        <p:attrNameLst>
                                          <p:attrName>style.visibility</p:attrName>
                                        </p:attrNameLst>
                                      </p:cBhvr>
                                      <p:to>
                                        <p:strVal val="visible"/>
                                      </p:to>
                                    </p:set>
                                    <p:animEffect transition="in" filter="wipe(left)">
                                      <p:cBhvr>
                                        <p:cTn id="12" dur="500"/>
                                        <p:tgtEl>
                                          <p:spTgt spid="675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589">
                                            <p:txEl>
                                              <p:pRg st="2" end="2"/>
                                            </p:txEl>
                                          </p:spTgt>
                                        </p:tgtEl>
                                        <p:attrNameLst>
                                          <p:attrName>style.visibility</p:attrName>
                                        </p:attrNameLst>
                                      </p:cBhvr>
                                      <p:to>
                                        <p:strVal val="visible"/>
                                      </p:to>
                                    </p:set>
                                    <p:animEffect transition="in" filter="wipe(left)">
                                      <p:cBhvr>
                                        <p:cTn id="17" dur="500"/>
                                        <p:tgtEl>
                                          <p:spTgt spid="675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589">
                                            <p:txEl>
                                              <p:pRg st="3" end="3"/>
                                            </p:txEl>
                                          </p:spTgt>
                                        </p:tgtEl>
                                        <p:attrNameLst>
                                          <p:attrName>style.visibility</p:attrName>
                                        </p:attrNameLst>
                                      </p:cBhvr>
                                      <p:to>
                                        <p:strVal val="visible"/>
                                      </p:to>
                                    </p:set>
                                    <p:animEffect transition="in" filter="wipe(left)">
                                      <p:cBhvr>
                                        <p:cTn id="22" dur="500"/>
                                        <p:tgtEl>
                                          <p:spTgt spid="675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589">
                                            <p:txEl>
                                              <p:pRg st="4" end="4"/>
                                            </p:txEl>
                                          </p:spTgt>
                                        </p:tgtEl>
                                        <p:attrNameLst>
                                          <p:attrName>style.visibility</p:attrName>
                                        </p:attrNameLst>
                                      </p:cBhvr>
                                      <p:to>
                                        <p:strVal val="visible"/>
                                      </p:to>
                                    </p:set>
                                    <p:animEffect transition="in" filter="wipe(left)">
                                      <p:cBhvr>
                                        <p:cTn id="27" dur="500"/>
                                        <p:tgtEl>
                                          <p:spTgt spid="675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9" grpId="0" build="p" bldLvl="4"/>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Footer Placeholder 1">
            <a:extLst>
              <a:ext uri="{FF2B5EF4-FFF2-40B4-BE49-F238E27FC236}">
                <a16:creationId xmlns:a16="http://schemas.microsoft.com/office/drawing/2014/main" id="{FCBE4928-54E2-47B7-8105-18480A7388F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9635" name="Slide Number Placeholder 2">
            <a:extLst>
              <a:ext uri="{FF2B5EF4-FFF2-40B4-BE49-F238E27FC236}">
                <a16:creationId xmlns:a16="http://schemas.microsoft.com/office/drawing/2014/main" id="{3243A03E-0D53-4E13-8A9E-A281A532E0C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3561EB6-58D9-4AD8-85FF-3CC317F75449}" type="slidenum">
              <a:rPr lang="en-US" altLang="en-US">
                <a:solidFill>
                  <a:srgbClr val="777777"/>
                </a:solidFill>
                <a:latin typeface="Tahoma" panose="020B0604030504040204" pitchFamily="34" charset="0"/>
              </a:rPr>
              <a:pPr/>
              <a:t>32</a:t>
            </a:fld>
            <a:endParaRPr lang="en-US" altLang="en-US">
              <a:solidFill>
                <a:srgbClr val="777777"/>
              </a:solidFill>
              <a:latin typeface="Tahoma" panose="020B0604030504040204" pitchFamily="34" charset="0"/>
            </a:endParaRPr>
          </a:p>
        </p:txBody>
      </p:sp>
      <p:sp>
        <p:nvSpPr>
          <p:cNvPr id="69636" name="Rectangle 2">
            <a:extLst>
              <a:ext uri="{FF2B5EF4-FFF2-40B4-BE49-F238E27FC236}">
                <a16:creationId xmlns:a16="http://schemas.microsoft.com/office/drawing/2014/main" id="{0BFB63FF-7A99-409E-B599-836185C28039}"/>
              </a:ext>
            </a:extLst>
          </p:cNvPr>
          <p:cNvSpPr>
            <a:spLocks noChangeArrowheads="1"/>
          </p:cNvSpPr>
          <p:nvPr/>
        </p:nvSpPr>
        <p:spPr bwMode="auto">
          <a:xfrm>
            <a:off x="857250" y="1098550"/>
            <a:ext cx="7359650" cy="451008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9637" name="Rectangle 3">
            <a:extLst>
              <a:ext uri="{FF2B5EF4-FFF2-40B4-BE49-F238E27FC236}">
                <a16:creationId xmlns:a16="http://schemas.microsoft.com/office/drawing/2014/main" id="{AB6EDB2B-2F1B-4925-9B29-E25D3F151B01}"/>
              </a:ext>
            </a:extLst>
          </p:cNvPr>
          <p:cNvSpPr>
            <a:spLocks noGrp="1" noChangeArrowheads="1"/>
          </p:cNvSpPr>
          <p:nvPr>
            <p:ph type="title" idx="4294967295"/>
          </p:nvPr>
        </p:nvSpPr>
        <p:spPr>
          <a:xfrm>
            <a:off x="58738" y="254000"/>
            <a:ext cx="8958262" cy="635000"/>
          </a:xfrm>
        </p:spPr>
        <p:txBody>
          <a:bodyPr/>
          <a:lstStyle/>
          <a:p>
            <a:pPr eaLnBrk="1" hangingPunct="1"/>
            <a:r>
              <a:rPr lang="en-US" altLang="en-US" sz="3300"/>
              <a:t>Summary:  Variables that Influence Sellers</a:t>
            </a:r>
          </a:p>
        </p:txBody>
      </p:sp>
      <p:sp>
        <p:nvSpPr>
          <p:cNvPr id="69638" name="Rectangle 4">
            <a:extLst>
              <a:ext uri="{FF2B5EF4-FFF2-40B4-BE49-F238E27FC236}">
                <a16:creationId xmlns:a16="http://schemas.microsoft.com/office/drawing/2014/main" id="{E21770D9-4BF8-43CC-B56E-C8BAF05F2421}"/>
              </a:ext>
            </a:extLst>
          </p:cNvPr>
          <p:cNvSpPr>
            <a:spLocks noGrp="1" noChangeArrowheads="1"/>
          </p:cNvSpPr>
          <p:nvPr>
            <p:ph type="body" idx="4294967295"/>
          </p:nvPr>
        </p:nvSpPr>
        <p:spPr>
          <a:xfrm>
            <a:off x="854075" y="1169988"/>
            <a:ext cx="7726363" cy="542925"/>
          </a:xfrm>
        </p:spPr>
        <p:txBody>
          <a:bodyPr/>
          <a:lstStyle/>
          <a:p>
            <a:pPr marL="0" indent="0" eaLnBrk="1" hangingPunct="1">
              <a:buFont typeface="Wingdings" panose="05000000000000000000" pitchFamily="2" charset="2"/>
              <a:buNone/>
              <a:tabLst>
                <a:tab pos="2684463" algn="l"/>
              </a:tabLst>
            </a:pPr>
            <a:r>
              <a:rPr lang="en-US" altLang="en-US" sz="2700" b="1"/>
              <a:t>Variable	A change in this variable… </a:t>
            </a:r>
          </a:p>
        </p:txBody>
      </p:sp>
      <p:sp>
        <p:nvSpPr>
          <p:cNvPr id="107525" name="Rectangle 5">
            <a:extLst>
              <a:ext uri="{FF2B5EF4-FFF2-40B4-BE49-F238E27FC236}">
                <a16:creationId xmlns:a16="http://schemas.microsoft.com/office/drawing/2014/main" id="{E1905A4C-C671-4CCD-99CB-AD2BEBF4F5F9}"/>
              </a:ext>
            </a:extLst>
          </p:cNvPr>
          <p:cNvSpPr>
            <a:spLocks noChangeArrowheads="1"/>
          </p:cNvSpPr>
          <p:nvPr/>
        </p:nvSpPr>
        <p:spPr bwMode="auto">
          <a:xfrm>
            <a:off x="1054100" y="1822450"/>
            <a:ext cx="7142163" cy="405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tabLst>
                <a:tab pos="2684463" algn="l"/>
              </a:tabLst>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tabLst>
                <a:tab pos="2684463" algn="l"/>
              </a:tabLst>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tabLst>
                <a:tab pos="2684463" algn="l"/>
              </a:tabLst>
              <a:defRPr sz="2500">
                <a:solidFill>
                  <a:schemeClr val="tx1"/>
                </a:solidFill>
                <a:latin typeface="Arial" panose="020B0604020202020204" pitchFamily="34" charset="0"/>
              </a:defRPr>
            </a:lvl3pPr>
            <a:lvl4pPr marL="1600200" indent="-228600">
              <a:spcBef>
                <a:spcPct val="15000"/>
              </a:spcBef>
              <a:buChar char="–"/>
              <a:tabLst>
                <a:tab pos="2684463" algn="l"/>
              </a:tabLst>
              <a:defRPr sz="2000">
                <a:solidFill>
                  <a:schemeClr val="tx1"/>
                </a:solidFill>
                <a:latin typeface="Arial" panose="020B0604020202020204" pitchFamily="34" charset="0"/>
              </a:defRPr>
            </a:lvl4pPr>
            <a:lvl5pPr marL="2057400" indent="-228600">
              <a:spcBef>
                <a:spcPct val="20000"/>
              </a:spcBef>
              <a:buChar char="»"/>
              <a:tabLst>
                <a:tab pos="26844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9pPr>
          </a:lstStyle>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Price	…causes a movement </a:t>
            </a:r>
            <a:br>
              <a:rPr lang="en-US" altLang="en-US" sz="2700">
                <a:cs typeface="Arial" panose="020B0604020202020204" pitchFamily="34" charset="0"/>
              </a:rPr>
            </a:br>
            <a:r>
              <a:rPr lang="en-US" altLang="en-US" sz="2700">
                <a:cs typeface="Arial" panose="020B0604020202020204" pitchFamily="34" charset="0"/>
              </a:rPr>
              <a:t>	    along the </a:t>
            </a:r>
            <a:r>
              <a:rPr lang="en-US" altLang="en-US" sz="2700" b="1" i="1">
                <a:cs typeface="Arial" panose="020B0604020202020204" pitchFamily="34" charset="0"/>
              </a:rPr>
              <a:t>S</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Input Prices	…shifts the </a:t>
            </a:r>
            <a:r>
              <a:rPr lang="en-US" altLang="en-US" sz="2700" b="1" i="1">
                <a:cs typeface="Arial" panose="020B0604020202020204" pitchFamily="34" charset="0"/>
              </a:rPr>
              <a:t>S</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Technology	…shifts the </a:t>
            </a:r>
            <a:r>
              <a:rPr lang="en-US" altLang="en-US" sz="2700" b="1" i="1">
                <a:cs typeface="Arial" panose="020B0604020202020204" pitchFamily="34" charset="0"/>
              </a:rPr>
              <a:t>S</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 of Sellers	…shifts the </a:t>
            </a:r>
            <a:r>
              <a:rPr lang="en-US" altLang="en-US" sz="2700" b="1" i="1">
                <a:cs typeface="Arial" panose="020B0604020202020204" pitchFamily="34" charset="0"/>
              </a:rPr>
              <a:t>S</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Expectations	…shifts the </a:t>
            </a:r>
            <a:r>
              <a:rPr lang="en-US" altLang="en-US" sz="2700" b="1" i="1">
                <a:cs typeface="Arial" panose="020B0604020202020204" pitchFamily="34" charset="0"/>
              </a:rPr>
              <a:t>S</a:t>
            </a:r>
            <a:r>
              <a:rPr lang="en-US" altLang="en-US" sz="2700">
                <a:cs typeface="Arial" panose="020B0604020202020204" pitchFamily="34" charset="0"/>
              </a:rPr>
              <a:t> curve</a:t>
            </a:r>
          </a:p>
        </p:txBody>
      </p:sp>
      <p:sp>
        <p:nvSpPr>
          <p:cNvPr id="69640" name="Line 6">
            <a:extLst>
              <a:ext uri="{FF2B5EF4-FFF2-40B4-BE49-F238E27FC236}">
                <a16:creationId xmlns:a16="http://schemas.microsoft.com/office/drawing/2014/main" id="{67D89519-0873-4B9F-B9CD-B6F91B134DE6}"/>
              </a:ext>
            </a:extLst>
          </p:cNvPr>
          <p:cNvSpPr>
            <a:spLocks noChangeShapeType="1"/>
          </p:cNvSpPr>
          <p:nvPr/>
        </p:nvSpPr>
        <p:spPr bwMode="auto">
          <a:xfrm>
            <a:off x="1041400" y="1735138"/>
            <a:ext cx="6981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1" name="FlagCount" hidden="1">
            <a:hlinkClick r:id="rId3" action="ppaction://hlinkfile"/>
            <a:extLst>
              <a:ext uri="{FF2B5EF4-FFF2-40B4-BE49-F238E27FC236}">
                <a16:creationId xmlns:a16="http://schemas.microsoft.com/office/drawing/2014/main" id="{1A7DE14C-5705-4732-B818-709D96639C9F}"/>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5">
                                            <p:txEl>
                                              <p:pRg st="0" end="0"/>
                                            </p:txEl>
                                          </p:spTgt>
                                        </p:tgtEl>
                                        <p:attrNameLst>
                                          <p:attrName>style.visibility</p:attrName>
                                        </p:attrNameLst>
                                      </p:cBhvr>
                                      <p:to>
                                        <p:strVal val="visible"/>
                                      </p:to>
                                    </p:set>
                                    <p:animEffect transition="in" filter="wipe(left)">
                                      <p:cBhvr>
                                        <p:cTn id="7" dur="500"/>
                                        <p:tgtEl>
                                          <p:spTgt spid="1075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5">
                                            <p:txEl>
                                              <p:pRg st="1" end="1"/>
                                            </p:txEl>
                                          </p:spTgt>
                                        </p:tgtEl>
                                        <p:attrNameLst>
                                          <p:attrName>style.visibility</p:attrName>
                                        </p:attrNameLst>
                                      </p:cBhvr>
                                      <p:to>
                                        <p:strVal val="visible"/>
                                      </p:to>
                                    </p:set>
                                    <p:animEffect transition="in" filter="wipe(left)">
                                      <p:cBhvr>
                                        <p:cTn id="12" dur="500"/>
                                        <p:tgtEl>
                                          <p:spTgt spid="10752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7525">
                                            <p:txEl>
                                              <p:pRg st="2" end="2"/>
                                            </p:txEl>
                                          </p:spTgt>
                                        </p:tgtEl>
                                        <p:attrNameLst>
                                          <p:attrName>style.visibility</p:attrName>
                                        </p:attrNameLst>
                                      </p:cBhvr>
                                      <p:to>
                                        <p:strVal val="visible"/>
                                      </p:to>
                                    </p:set>
                                    <p:animEffect transition="in" filter="wipe(left)">
                                      <p:cBhvr>
                                        <p:cTn id="17" dur="500"/>
                                        <p:tgtEl>
                                          <p:spTgt spid="10752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7525">
                                            <p:txEl>
                                              <p:pRg st="3" end="3"/>
                                            </p:txEl>
                                          </p:spTgt>
                                        </p:tgtEl>
                                        <p:attrNameLst>
                                          <p:attrName>style.visibility</p:attrName>
                                        </p:attrNameLst>
                                      </p:cBhvr>
                                      <p:to>
                                        <p:strVal val="visible"/>
                                      </p:to>
                                    </p:set>
                                    <p:animEffect transition="in" filter="wipe(left)">
                                      <p:cBhvr>
                                        <p:cTn id="22" dur="500"/>
                                        <p:tgtEl>
                                          <p:spTgt spid="10752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7525">
                                            <p:txEl>
                                              <p:pRg st="4" end="4"/>
                                            </p:txEl>
                                          </p:spTgt>
                                        </p:tgtEl>
                                        <p:attrNameLst>
                                          <p:attrName>style.visibility</p:attrName>
                                        </p:attrNameLst>
                                      </p:cBhvr>
                                      <p:to>
                                        <p:strVal val="visible"/>
                                      </p:to>
                                    </p:set>
                                    <p:animEffect transition="in" filter="wipe(left)">
                                      <p:cBhvr>
                                        <p:cTn id="27" dur="500"/>
                                        <p:tgtEl>
                                          <p:spTgt spid="1075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5"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71682" name="Rectangle 8">
            <a:extLst>
              <a:ext uri="{FF2B5EF4-FFF2-40B4-BE49-F238E27FC236}">
                <a16:creationId xmlns:a16="http://schemas.microsoft.com/office/drawing/2014/main" id="{857DCF68-F7C0-49CD-9162-C9E897EA0AE1}"/>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A7A54DB0-65C6-4C87-B18D-DE3DD13FA27A}"/>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2</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Supply Curve</a:t>
            </a:r>
          </a:p>
        </p:txBody>
      </p:sp>
      <p:grpSp>
        <p:nvGrpSpPr>
          <p:cNvPr id="71684" name="Group 11">
            <a:extLst>
              <a:ext uri="{FF2B5EF4-FFF2-40B4-BE49-F238E27FC236}">
                <a16:creationId xmlns:a16="http://schemas.microsoft.com/office/drawing/2014/main" id="{74294FA5-65B9-4294-A52F-042ECA58EC60}"/>
              </a:ext>
            </a:extLst>
          </p:cNvPr>
          <p:cNvGrpSpPr>
            <a:grpSpLocks/>
          </p:cNvGrpSpPr>
          <p:nvPr/>
        </p:nvGrpSpPr>
        <p:grpSpPr bwMode="auto">
          <a:xfrm>
            <a:off x="593725" y="290513"/>
            <a:ext cx="8210550" cy="1049337"/>
            <a:chOff x="374" y="183"/>
            <a:chExt cx="5000" cy="661"/>
          </a:xfrm>
        </p:grpSpPr>
        <p:sp>
          <p:nvSpPr>
            <p:cNvPr id="71688" name="Line 9">
              <a:extLst>
                <a:ext uri="{FF2B5EF4-FFF2-40B4-BE49-F238E27FC236}">
                  <a16:creationId xmlns:a16="http://schemas.microsoft.com/office/drawing/2014/main" id="{89579F9F-CA09-4B48-B6E4-557338881435}"/>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9" name="Line 10">
              <a:extLst>
                <a:ext uri="{FF2B5EF4-FFF2-40B4-BE49-F238E27FC236}">
                  <a16:creationId xmlns:a16="http://schemas.microsoft.com/office/drawing/2014/main" id="{F7A0F59E-28C2-4576-98CD-AA2E0150758D}"/>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1685" name="Rectangle 8">
            <a:extLst>
              <a:ext uri="{FF2B5EF4-FFF2-40B4-BE49-F238E27FC236}">
                <a16:creationId xmlns:a16="http://schemas.microsoft.com/office/drawing/2014/main" id="{26D6E2C0-8082-4F76-BF63-3368A9D7046D}"/>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5AD50F13-48E3-4367-A32A-0ECA13CF9535}" type="slidenum">
              <a:rPr lang="en-US" altLang="en-US" sz="1700">
                <a:solidFill>
                  <a:srgbClr val="777777"/>
                </a:solidFill>
                <a:latin typeface="Tahoma" panose="020B0604030504040204" pitchFamily="34" charset="0"/>
              </a:rPr>
              <a:pPr algn="r" eaLnBrk="1" hangingPunct="1"/>
              <a:t>33</a:t>
            </a:fld>
            <a:endParaRPr lang="en-US" altLang="en-US" sz="1700">
              <a:solidFill>
                <a:srgbClr val="777777"/>
              </a:solidFill>
              <a:latin typeface="Tahoma" panose="020B0604030504040204" pitchFamily="34" charset="0"/>
            </a:endParaRPr>
          </a:p>
        </p:txBody>
      </p:sp>
      <p:sp>
        <p:nvSpPr>
          <p:cNvPr id="71686" name="Rectangle 12">
            <a:extLst>
              <a:ext uri="{FF2B5EF4-FFF2-40B4-BE49-F238E27FC236}">
                <a16:creationId xmlns:a16="http://schemas.microsoft.com/office/drawing/2014/main" id="{6612174A-5691-494B-92B3-094EE4A57902}"/>
              </a:ext>
            </a:extLst>
          </p:cNvPr>
          <p:cNvSpPr>
            <a:spLocks noChangeArrowheads="1"/>
          </p:cNvSpPr>
          <p:nvPr/>
        </p:nvSpPr>
        <p:spPr bwMode="auto">
          <a:xfrm>
            <a:off x="581025" y="1411288"/>
            <a:ext cx="4629150"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60000"/>
              </a:spcBef>
              <a:buFont typeface="Wingdings" panose="05000000000000000000" pitchFamily="2" charset="2"/>
              <a:buNone/>
            </a:pPr>
            <a:r>
              <a:rPr lang="en-US" altLang="en-US" sz="2700"/>
              <a:t>Draw a supply curve for tax </a:t>
            </a:r>
            <a:br>
              <a:rPr lang="en-US" altLang="en-US" sz="2700"/>
            </a:br>
            <a:r>
              <a:rPr lang="en-US" altLang="en-US" sz="2700"/>
              <a:t>return preparation software.  </a:t>
            </a:r>
            <a:br>
              <a:rPr lang="en-US" altLang="en-US" sz="2700"/>
            </a:br>
            <a:r>
              <a:rPr lang="en-US" altLang="en-US" sz="2700"/>
              <a:t>What happens to it in each </a:t>
            </a:r>
            <a:br>
              <a:rPr lang="en-US" altLang="en-US" sz="2700"/>
            </a:br>
            <a:r>
              <a:rPr lang="en-US" altLang="en-US" sz="2700"/>
              <a:t>of the following scenarios? </a:t>
            </a:r>
          </a:p>
        </p:txBody>
      </p:sp>
      <p:sp>
        <p:nvSpPr>
          <p:cNvPr id="263182" name="Rectangle 14">
            <a:extLst>
              <a:ext uri="{FF2B5EF4-FFF2-40B4-BE49-F238E27FC236}">
                <a16:creationId xmlns:a16="http://schemas.microsoft.com/office/drawing/2014/main" id="{4F4ADBC4-578C-4713-8AC1-1821A944F5F6}"/>
              </a:ext>
            </a:extLst>
          </p:cNvPr>
          <p:cNvSpPr>
            <a:spLocks noChangeArrowheads="1"/>
          </p:cNvSpPr>
          <p:nvPr/>
        </p:nvSpPr>
        <p:spPr bwMode="auto">
          <a:xfrm>
            <a:off x="542925" y="3259138"/>
            <a:ext cx="7591425" cy="328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628650" indent="-5143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25000"/>
              </a:spcBef>
              <a:buClr>
                <a:srgbClr val="0066CC"/>
              </a:buClr>
              <a:buSzPct val="130000"/>
              <a:buFont typeface="Wingdings" panose="05000000000000000000" pitchFamily="2" charset="2"/>
              <a:buNone/>
            </a:pPr>
            <a:r>
              <a:rPr lang="en-US" altLang="en-US" sz="2600" b="1">
                <a:solidFill>
                  <a:srgbClr val="339966"/>
                </a:solidFill>
                <a:cs typeface="Arial" panose="020B0604020202020204" pitchFamily="34" charset="0"/>
              </a:rPr>
              <a:t>A.</a:t>
            </a:r>
            <a:r>
              <a:rPr lang="en-US" altLang="en-US" b="1">
                <a:solidFill>
                  <a:srgbClr val="339966"/>
                </a:solidFill>
                <a:cs typeface="Arial" panose="020B0604020202020204" pitchFamily="34" charset="0"/>
              </a:rPr>
              <a:t>	</a:t>
            </a:r>
            <a:r>
              <a:rPr lang="en-US" altLang="en-US">
                <a:cs typeface="Arial" panose="020B0604020202020204" pitchFamily="34" charset="0"/>
              </a:rPr>
              <a:t>Retailers cut the price of </a:t>
            </a:r>
            <a:br>
              <a:rPr lang="en-US" altLang="en-US">
                <a:cs typeface="Arial" panose="020B0604020202020204" pitchFamily="34" charset="0"/>
              </a:rPr>
            </a:br>
            <a:r>
              <a:rPr lang="en-US" altLang="en-US">
                <a:cs typeface="Arial" panose="020B0604020202020204" pitchFamily="34" charset="0"/>
              </a:rPr>
              <a:t>the software. </a:t>
            </a:r>
          </a:p>
          <a:p>
            <a:pPr lvl="1" eaLnBrk="1" hangingPunct="1">
              <a:spcBef>
                <a:spcPct val="25000"/>
              </a:spcBef>
              <a:buClr>
                <a:srgbClr val="0066CC"/>
              </a:buClr>
              <a:buSzPct val="130000"/>
              <a:buFont typeface="Wingdings" panose="05000000000000000000" pitchFamily="2" charset="2"/>
              <a:buNone/>
            </a:pPr>
            <a:r>
              <a:rPr lang="en-US" altLang="en-US" sz="2600" b="1">
                <a:solidFill>
                  <a:srgbClr val="339966"/>
                </a:solidFill>
                <a:cs typeface="Arial" panose="020B0604020202020204" pitchFamily="34" charset="0"/>
              </a:rPr>
              <a:t>B.</a:t>
            </a:r>
            <a:r>
              <a:rPr lang="en-US" altLang="en-US" b="1">
                <a:solidFill>
                  <a:srgbClr val="339966"/>
                </a:solidFill>
                <a:cs typeface="Arial" panose="020B0604020202020204" pitchFamily="34" charset="0"/>
              </a:rPr>
              <a:t>	</a:t>
            </a:r>
            <a:r>
              <a:rPr lang="en-US" altLang="en-US">
                <a:cs typeface="Arial" panose="020B0604020202020204" pitchFamily="34" charset="0"/>
              </a:rPr>
              <a:t>A technological advance </a:t>
            </a:r>
            <a:br>
              <a:rPr lang="en-US" altLang="en-US">
                <a:cs typeface="Arial" panose="020B0604020202020204" pitchFamily="34" charset="0"/>
              </a:rPr>
            </a:br>
            <a:r>
              <a:rPr lang="en-US" altLang="en-US">
                <a:cs typeface="Arial" panose="020B0604020202020204" pitchFamily="34" charset="0"/>
              </a:rPr>
              <a:t>allows the software to be </a:t>
            </a:r>
            <a:br>
              <a:rPr lang="en-US" altLang="en-US">
                <a:cs typeface="Arial" panose="020B0604020202020204" pitchFamily="34" charset="0"/>
              </a:rPr>
            </a:br>
            <a:r>
              <a:rPr lang="en-US" altLang="en-US">
                <a:cs typeface="Arial" panose="020B0604020202020204" pitchFamily="34" charset="0"/>
              </a:rPr>
              <a:t>produced at lower cost.</a:t>
            </a:r>
          </a:p>
          <a:p>
            <a:pPr lvl="1" eaLnBrk="1" hangingPunct="1">
              <a:spcBef>
                <a:spcPct val="25000"/>
              </a:spcBef>
              <a:buClr>
                <a:srgbClr val="0066CC"/>
              </a:buClr>
              <a:buSzPct val="130000"/>
              <a:buFont typeface="Wingdings" panose="05000000000000000000" pitchFamily="2" charset="2"/>
              <a:buNone/>
            </a:pPr>
            <a:r>
              <a:rPr lang="en-US" altLang="en-US" sz="2600" b="1">
                <a:solidFill>
                  <a:srgbClr val="339966"/>
                </a:solidFill>
                <a:cs typeface="Arial" panose="020B0604020202020204" pitchFamily="34" charset="0"/>
              </a:rPr>
              <a:t>C.</a:t>
            </a:r>
            <a:r>
              <a:rPr lang="en-US" altLang="en-US" b="1">
                <a:solidFill>
                  <a:srgbClr val="339966"/>
                </a:solidFill>
                <a:cs typeface="Arial" panose="020B0604020202020204" pitchFamily="34" charset="0"/>
              </a:rPr>
              <a:t>	</a:t>
            </a:r>
            <a:r>
              <a:rPr lang="en-US" altLang="en-US">
                <a:cs typeface="Arial" panose="020B0604020202020204" pitchFamily="34" charset="0"/>
              </a:rPr>
              <a:t>Professional tax return preparers raise the price of the services they provide.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182">
                                            <p:txEl>
                                              <p:pRg st="0" end="0"/>
                                            </p:txEl>
                                          </p:spTgt>
                                        </p:tgtEl>
                                        <p:attrNameLst>
                                          <p:attrName>style.visibility</p:attrName>
                                        </p:attrNameLst>
                                      </p:cBhvr>
                                      <p:to>
                                        <p:strVal val="visible"/>
                                      </p:to>
                                    </p:set>
                                    <p:animEffect transition="in" filter="wipe(left)">
                                      <p:cBhvr>
                                        <p:cTn id="7" dur="500"/>
                                        <p:tgtEl>
                                          <p:spTgt spid="2631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3182">
                                            <p:txEl>
                                              <p:pRg st="1" end="1"/>
                                            </p:txEl>
                                          </p:spTgt>
                                        </p:tgtEl>
                                        <p:attrNameLst>
                                          <p:attrName>style.visibility</p:attrName>
                                        </p:attrNameLst>
                                      </p:cBhvr>
                                      <p:to>
                                        <p:strVal val="visible"/>
                                      </p:to>
                                    </p:set>
                                    <p:animEffect transition="in" filter="wipe(left)">
                                      <p:cBhvr>
                                        <p:cTn id="12" dur="500"/>
                                        <p:tgtEl>
                                          <p:spTgt spid="2631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3182">
                                            <p:txEl>
                                              <p:pRg st="2" end="2"/>
                                            </p:txEl>
                                          </p:spTgt>
                                        </p:tgtEl>
                                        <p:attrNameLst>
                                          <p:attrName>style.visibility</p:attrName>
                                        </p:attrNameLst>
                                      </p:cBhvr>
                                      <p:to>
                                        <p:strVal val="visible"/>
                                      </p:to>
                                    </p:set>
                                    <p:animEffect transition="in" filter="wipe(left)">
                                      <p:cBhvr>
                                        <p:cTn id="17" dur="500"/>
                                        <p:tgtEl>
                                          <p:spTgt spid="26318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82" grpId="0" build="p" bldLvl="2"/>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73730" name="Rectangle 8">
            <a:extLst>
              <a:ext uri="{FF2B5EF4-FFF2-40B4-BE49-F238E27FC236}">
                <a16:creationId xmlns:a16="http://schemas.microsoft.com/office/drawing/2014/main" id="{7E797A9F-DC2D-4550-A7C6-2D4B508B74CF}"/>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BD9C995B-A1A4-43F4-83F4-49721CD25169}"/>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2</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400">
                <a:solidFill>
                  <a:srgbClr val="339966"/>
                </a:solidFill>
                <a:effectLst>
                  <a:outerShdw blurRad="38100" dist="38100" dir="2700000" algn="tl">
                    <a:srgbClr val="C0C0C0"/>
                  </a:outerShdw>
                </a:effectLst>
                <a:cs typeface="Arial" panose="020B0604020202020204" pitchFamily="34" charset="0"/>
              </a:rPr>
              <a:t>A.  Fall in price of tax return software</a:t>
            </a:r>
          </a:p>
        </p:txBody>
      </p:sp>
      <p:grpSp>
        <p:nvGrpSpPr>
          <p:cNvPr id="2" name="Group 11">
            <a:extLst>
              <a:ext uri="{FF2B5EF4-FFF2-40B4-BE49-F238E27FC236}">
                <a16:creationId xmlns:a16="http://schemas.microsoft.com/office/drawing/2014/main" id="{0CB32593-9D64-4DB6-9705-925DD19B8A3B}"/>
              </a:ext>
            </a:extLst>
          </p:cNvPr>
          <p:cNvGrpSpPr>
            <a:grpSpLocks/>
          </p:cNvGrpSpPr>
          <p:nvPr/>
        </p:nvGrpSpPr>
        <p:grpSpPr bwMode="auto">
          <a:xfrm>
            <a:off x="593725" y="290513"/>
            <a:ext cx="8210550" cy="1049337"/>
            <a:chOff x="374" y="183"/>
            <a:chExt cx="5000" cy="661"/>
          </a:xfrm>
        </p:grpSpPr>
        <p:sp>
          <p:nvSpPr>
            <p:cNvPr id="73761" name="Line 9">
              <a:extLst>
                <a:ext uri="{FF2B5EF4-FFF2-40B4-BE49-F238E27FC236}">
                  <a16:creationId xmlns:a16="http://schemas.microsoft.com/office/drawing/2014/main" id="{D62BF698-0CCC-4907-8611-3F059DF97C4F}"/>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2" name="Line 10">
              <a:extLst>
                <a:ext uri="{FF2B5EF4-FFF2-40B4-BE49-F238E27FC236}">
                  <a16:creationId xmlns:a16="http://schemas.microsoft.com/office/drawing/2014/main" id="{1544CCF4-56FE-4EBE-AA62-1E5AB64EA1A1}"/>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733" name="Rectangle 8">
            <a:extLst>
              <a:ext uri="{FF2B5EF4-FFF2-40B4-BE49-F238E27FC236}">
                <a16:creationId xmlns:a16="http://schemas.microsoft.com/office/drawing/2014/main" id="{96A680BF-5AF6-4D05-9B08-8D5B601B9C92}"/>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E126E76-13AF-4F2D-8A0B-D002A8622795}" type="slidenum">
              <a:rPr lang="en-US" altLang="en-US" sz="1700">
                <a:solidFill>
                  <a:srgbClr val="777777"/>
                </a:solidFill>
                <a:latin typeface="Tahoma" panose="020B0604030504040204" pitchFamily="34" charset="0"/>
              </a:rPr>
              <a:pPr algn="r" eaLnBrk="1" hangingPunct="1"/>
              <a:t>34</a:t>
            </a:fld>
            <a:endParaRPr lang="en-US" altLang="en-US" sz="1700">
              <a:solidFill>
                <a:srgbClr val="777777"/>
              </a:solidFill>
              <a:latin typeface="Tahoma" panose="020B0604030504040204" pitchFamily="34" charset="0"/>
            </a:endParaRPr>
          </a:p>
        </p:txBody>
      </p:sp>
      <p:sp>
        <p:nvSpPr>
          <p:cNvPr id="265225" name="Text Box 9">
            <a:extLst>
              <a:ext uri="{FF2B5EF4-FFF2-40B4-BE49-F238E27FC236}">
                <a16:creationId xmlns:a16="http://schemas.microsoft.com/office/drawing/2014/main" id="{0973E7DF-4C62-4C4F-9F1F-F8EE8937AE91}"/>
              </a:ext>
            </a:extLst>
          </p:cNvPr>
          <p:cNvSpPr txBox="1">
            <a:spLocks noChangeArrowheads="1"/>
          </p:cNvSpPr>
          <p:nvPr/>
        </p:nvSpPr>
        <p:spPr bwMode="auto">
          <a:xfrm>
            <a:off x="5324475" y="1866900"/>
            <a:ext cx="2949575" cy="2781300"/>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b="1" i="1">
                <a:cs typeface="Arial" panose="020B0604020202020204" pitchFamily="34" charset="0"/>
              </a:rPr>
              <a:t>S</a:t>
            </a:r>
            <a:r>
              <a:rPr lang="en-US" altLang="en-US" sz="2600">
                <a:cs typeface="Arial" panose="020B0604020202020204" pitchFamily="34" charset="0"/>
              </a:rPr>
              <a:t> curve does </a:t>
            </a:r>
            <a:br>
              <a:rPr lang="en-US" altLang="en-US" sz="2600">
                <a:cs typeface="Arial" panose="020B0604020202020204" pitchFamily="34" charset="0"/>
              </a:rPr>
            </a:br>
            <a:r>
              <a:rPr lang="en-US" altLang="en-US" sz="2600">
                <a:cs typeface="Arial" panose="020B0604020202020204" pitchFamily="34" charset="0"/>
              </a:rPr>
              <a:t>not shift. </a:t>
            </a:r>
          </a:p>
          <a:p>
            <a:pPr eaLnBrk="1" hangingPunct="1">
              <a:lnSpc>
                <a:spcPct val="105000"/>
              </a:lnSpc>
              <a:spcBef>
                <a:spcPct val="30000"/>
              </a:spcBef>
            </a:pPr>
            <a:r>
              <a:rPr lang="en-US" altLang="en-US" sz="2600">
                <a:cs typeface="Arial" panose="020B0604020202020204" pitchFamily="34" charset="0"/>
              </a:rPr>
              <a:t>Move down </a:t>
            </a:r>
            <a:br>
              <a:rPr lang="en-US" altLang="en-US" sz="2600">
                <a:cs typeface="Arial" panose="020B0604020202020204" pitchFamily="34" charset="0"/>
              </a:rPr>
            </a:br>
            <a:r>
              <a:rPr lang="en-US" altLang="en-US" sz="2600">
                <a:cs typeface="Arial" panose="020B0604020202020204" pitchFamily="34" charset="0"/>
              </a:rPr>
              <a:t>along the curve </a:t>
            </a:r>
            <a:br>
              <a:rPr lang="en-US" altLang="en-US" sz="2600">
                <a:cs typeface="Arial" panose="020B0604020202020204" pitchFamily="34" charset="0"/>
              </a:rPr>
            </a:br>
            <a:r>
              <a:rPr lang="en-US" altLang="en-US" sz="2600">
                <a:cs typeface="Arial" panose="020B0604020202020204" pitchFamily="34" charset="0"/>
              </a:rPr>
              <a:t>to a lower </a:t>
            </a:r>
            <a:r>
              <a:rPr lang="en-US" altLang="en-US" sz="2600" b="1" i="1">
                <a:cs typeface="Arial" panose="020B0604020202020204" pitchFamily="34" charset="0"/>
              </a:rPr>
              <a:t>P</a:t>
            </a:r>
            <a:r>
              <a:rPr lang="en-US" altLang="en-US" sz="2600">
                <a:cs typeface="Arial" panose="020B0604020202020204" pitchFamily="34" charset="0"/>
              </a:rPr>
              <a:t> </a:t>
            </a:r>
            <a:br>
              <a:rPr lang="en-US" altLang="en-US" sz="2600">
                <a:cs typeface="Arial" panose="020B0604020202020204" pitchFamily="34" charset="0"/>
              </a:rPr>
            </a:br>
            <a:r>
              <a:rPr lang="en-US" altLang="en-US" sz="2600">
                <a:cs typeface="Arial" panose="020B0604020202020204" pitchFamily="34" charset="0"/>
              </a:rPr>
              <a:t>and lower </a:t>
            </a:r>
            <a:r>
              <a:rPr lang="en-US" altLang="en-US" sz="2600" b="1" i="1">
                <a:cs typeface="Arial" panose="020B0604020202020204" pitchFamily="34" charset="0"/>
              </a:rPr>
              <a:t>Q</a:t>
            </a:r>
            <a:r>
              <a:rPr lang="en-US" altLang="en-US" sz="2600">
                <a:cs typeface="Arial" panose="020B0604020202020204" pitchFamily="34" charset="0"/>
              </a:rPr>
              <a:t>.</a:t>
            </a:r>
          </a:p>
        </p:txBody>
      </p:sp>
      <p:grpSp>
        <p:nvGrpSpPr>
          <p:cNvPr id="3" name="Group 10">
            <a:extLst>
              <a:ext uri="{FF2B5EF4-FFF2-40B4-BE49-F238E27FC236}">
                <a16:creationId xmlns:a16="http://schemas.microsoft.com/office/drawing/2014/main" id="{C8264AAF-9392-4C82-A9EA-CB9B6C49EE06}"/>
              </a:ext>
            </a:extLst>
          </p:cNvPr>
          <p:cNvGrpSpPr>
            <a:grpSpLocks/>
          </p:cNvGrpSpPr>
          <p:nvPr/>
        </p:nvGrpSpPr>
        <p:grpSpPr bwMode="auto">
          <a:xfrm>
            <a:off x="398463" y="1524000"/>
            <a:ext cx="6364287" cy="4751388"/>
            <a:chOff x="111" y="960"/>
            <a:chExt cx="4009" cy="2993"/>
          </a:xfrm>
        </p:grpSpPr>
        <p:grpSp>
          <p:nvGrpSpPr>
            <p:cNvPr id="73756" name="Group 11">
              <a:extLst>
                <a:ext uri="{FF2B5EF4-FFF2-40B4-BE49-F238E27FC236}">
                  <a16:creationId xmlns:a16="http://schemas.microsoft.com/office/drawing/2014/main" id="{463C05EF-C4A6-4F3A-BAE9-1CD720C69150}"/>
                </a:ext>
              </a:extLst>
            </p:cNvPr>
            <p:cNvGrpSpPr>
              <a:grpSpLocks/>
            </p:cNvGrpSpPr>
            <p:nvPr/>
          </p:nvGrpSpPr>
          <p:grpSpPr bwMode="auto">
            <a:xfrm>
              <a:off x="1023" y="1097"/>
              <a:ext cx="2970" cy="2378"/>
              <a:chOff x="2602" y="1083"/>
              <a:chExt cx="3055" cy="2115"/>
            </a:xfrm>
          </p:grpSpPr>
          <p:sp>
            <p:nvSpPr>
              <p:cNvPr id="73759" name="Line 12">
                <a:extLst>
                  <a:ext uri="{FF2B5EF4-FFF2-40B4-BE49-F238E27FC236}">
                    <a16:creationId xmlns:a16="http://schemas.microsoft.com/office/drawing/2014/main" id="{237E90AB-70E4-472D-BBBC-3BC6BAB29C3C}"/>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0" name="Line 13">
                <a:extLst>
                  <a:ext uri="{FF2B5EF4-FFF2-40B4-BE49-F238E27FC236}">
                    <a16:creationId xmlns:a16="http://schemas.microsoft.com/office/drawing/2014/main" id="{DC122CF2-2C75-4661-8D7F-A73EE1928D1F}"/>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757" name="Text Box 14">
              <a:extLst>
                <a:ext uri="{FF2B5EF4-FFF2-40B4-BE49-F238E27FC236}">
                  <a16:creationId xmlns:a16="http://schemas.microsoft.com/office/drawing/2014/main" id="{5F840697-112C-4C78-A047-49B1C4A96913}"/>
                </a:ext>
              </a:extLst>
            </p:cNvPr>
            <p:cNvSpPr txBox="1">
              <a:spLocks noChangeArrowheads="1"/>
            </p:cNvSpPr>
            <p:nvPr/>
          </p:nvSpPr>
          <p:spPr bwMode="auto">
            <a:xfrm>
              <a:off x="111" y="960"/>
              <a:ext cx="886" cy="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tax return software</a:t>
              </a:r>
            </a:p>
          </p:txBody>
        </p:sp>
        <p:sp>
          <p:nvSpPr>
            <p:cNvPr id="73758" name="Text Box 15">
              <a:extLst>
                <a:ext uri="{FF2B5EF4-FFF2-40B4-BE49-F238E27FC236}">
                  <a16:creationId xmlns:a16="http://schemas.microsoft.com/office/drawing/2014/main" id="{2569954F-B80B-42C2-B27F-627919D9BD5A}"/>
                </a:ext>
              </a:extLst>
            </p:cNvPr>
            <p:cNvSpPr txBox="1">
              <a:spLocks noChangeArrowheads="1"/>
            </p:cNvSpPr>
            <p:nvPr/>
          </p:nvSpPr>
          <p:spPr bwMode="auto">
            <a:xfrm>
              <a:off x="2728" y="3473"/>
              <a:ext cx="139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tax return software</a:t>
              </a:r>
            </a:p>
          </p:txBody>
        </p:sp>
      </p:grpSp>
      <p:grpSp>
        <p:nvGrpSpPr>
          <p:cNvPr id="5" name="Group 16">
            <a:extLst>
              <a:ext uri="{FF2B5EF4-FFF2-40B4-BE49-F238E27FC236}">
                <a16:creationId xmlns:a16="http://schemas.microsoft.com/office/drawing/2014/main" id="{4FD60F7A-DF6D-43EE-8F11-BD9AAAD955A5}"/>
              </a:ext>
            </a:extLst>
          </p:cNvPr>
          <p:cNvGrpSpPr>
            <a:grpSpLocks/>
          </p:cNvGrpSpPr>
          <p:nvPr/>
        </p:nvGrpSpPr>
        <p:grpSpPr bwMode="auto">
          <a:xfrm>
            <a:off x="1665288" y="2009775"/>
            <a:ext cx="2787650" cy="2970213"/>
            <a:chOff x="909" y="1266"/>
            <a:chExt cx="1756" cy="1871"/>
          </a:xfrm>
        </p:grpSpPr>
        <p:sp>
          <p:nvSpPr>
            <p:cNvPr id="73754" name="Line 17">
              <a:extLst>
                <a:ext uri="{FF2B5EF4-FFF2-40B4-BE49-F238E27FC236}">
                  <a16:creationId xmlns:a16="http://schemas.microsoft.com/office/drawing/2014/main" id="{723C16FB-AB03-4F69-B5AC-DF88D6BCC1F8}"/>
                </a:ext>
              </a:extLst>
            </p:cNvPr>
            <p:cNvSpPr>
              <a:spLocks noChangeShapeType="1"/>
            </p:cNvSpPr>
            <p:nvPr/>
          </p:nvSpPr>
          <p:spPr bwMode="auto">
            <a:xfrm rot="4500000">
              <a:off x="1081" y="1553"/>
              <a:ext cx="1412" cy="17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5" name="Text Box 18">
              <a:extLst>
                <a:ext uri="{FF2B5EF4-FFF2-40B4-BE49-F238E27FC236}">
                  <a16:creationId xmlns:a16="http://schemas.microsoft.com/office/drawing/2014/main" id="{2D56F3BA-1740-4FED-8A94-F4F7A6B4B71C}"/>
                </a:ext>
              </a:extLst>
            </p:cNvPr>
            <p:cNvSpPr txBox="1">
              <a:spLocks noChangeArrowheads="1"/>
            </p:cNvSpPr>
            <p:nvPr/>
          </p:nvSpPr>
          <p:spPr bwMode="auto">
            <a:xfrm>
              <a:off x="2315" y="1266"/>
              <a:ext cx="3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S</a:t>
              </a:r>
              <a:r>
                <a:rPr lang="en-US" altLang="en-US" sz="2200" b="1" baseline="-25000">
                  <a:latin typeface="Tahoma" panose="020B0604030504040204" pitchFamily="34" charset="0"/>
                  <a:cs typeface="Arial" panose="020B0604020202020204" pitchFamily="34" charset="0"/>
                </a:rPr>
                <a:t>1</a:t>
              </a:r>
            </a:p>
          </p:txBody>
        </p:sp>
      </p:grpSp>
      <p:grpSp>
        <p:nvGrpSpPr>
          <p:cNvPr id="6" name="Group 19">
            <a:extLst>
              <a:ext uri="{FF2B5EF4-FFF2-40B4-BE49-F238E27FC236}">
                <a16:creationId xmlns:a16="http://schemas.microsoft.com/office/drawing/2014/main" id="{14A105FE-CC26-4399-AA14-C1483DF3D689}"/>
              </a:ext>
            </a:extLst>
          </p:cNvPr>
          <p:cNvGrpSpPr>
            <a:grpSpLocks/>
          </p:cNvGrpSpPr>
          <p:nvPr/>
        </p:nvGrpSpPr>
        <p:grpSpPr bwMode="auto">
          <a:xfrm>
            <a:off x="1273175" y="2957513"/>
            <a:ext cx="2589213" cy="2962275"/>
            <a:chOff x="662" y="1863"/>
            <a:chExt cx="1631" cy="1866"/>
          </a:xfrm>
        </p:grpSpPr>
        <p:grpSp>
          <p:nvGrpSpPr>
            <p:cNvPr id="73748" name="Group 20">
              <a:extLst>
                <a:ext uri="{FF2B5EF4-FFF2-40B4-BE49-F238E27FC236}">
                  <a16:creationId xmlns:a16="http://schemas.microsoft.com/office/drawing/2014/main" id="{33B1DD65-0364-4DDC-A422-03F8EACA1871}"/>
                </a:ext>
              </a:extLst>
            </p:cNvPr>
            <p:cNvGrpSpPr>
              <a:grpSpLocks/>
            </p:cNvGrpSpPr>
            <p:nvPr/>
          </p:nvGrpSpPr>
          <p:grpSpPr bwMode="auto">
            <a:xfrm>
              <a:off x="1026" y="2000"/>
              <a:ext cx="1078" cy="1471"/>
              <a:chOff x="357" y="2450"/>
              <a:chExt cx="795" cy="646"/>
            </a:xfrm>
          </p:grpSpPr>
          <p:sp>
            <p:nvSpPr>
              <p:cNvPr id="73752" name="Line 21">
                <a:extLst>
                  <a:ext uri="{FF2B5EF4-FFF2-40B4-BE49-F238E27FC236}">
                    <a16:creationId xmlns:a16="http://schemas.microsoft.com/office/drawing/2014/main" id="{1431FB76-B92B-4650-A89D-513105BBFB8A}"/>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73753" name="Line 22">
                <a:extLst>
                  <a:ext uri="{FF2B5EF4-FFF2-40B4-BE49-F238E27FC236}">
                    <a16:creationId xmlns:a16="http://schemas.microsoft.com/office/drawing/2014/main" id="{A8214CF9-A28D-419B-BBD6-C97CB8946AD7}"/>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749" name="Oval 23">
              <a:extLst>
                <a:ext uri="{FF2B5EF4-FFF2-40B4-BE49-F238E27FC236}">
                  <a16:creationId xmlns:a16="http://schemas.microsoft.com/office/drawing/2014/main" id="{6AC0E493-FB7F-442C-A68A-EA2D5AB7A248}"/>
                </a:ext>
              </a:extLst>
            </p:cNvPr>
            <p:cNvSpPr>
              <a:spLocks noChangeArrowheads="1"/>
            </p:cNvSpPr>
            <p:nvPr/>
          </p:nvSpPr>
          <p:spPr bwMode="auto">
            <a:xfrm>
              <a:off x="2052" y="196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50" name="Text Box 24">
              <a:extLst>
                <a:ext uri="{FF2B5EF4-FFF2-40B4-BE49-F238E27FC236}">
                  <a16:creationId xmlns:a16="http://schemas.microsoft.com/office/drawing/2014/main" id="{3CB99F7D-D3FD-413D-B560-4B7F92322D5C}"/>
                </a:ext>
              </a:extLst>
            </p:cNvPr>
            <p:cNvSpPr txBox="1">
              <a:spLocks noChangeArrowheads="1"/>
            </p:cNvSpPr>
            <p:nvPr/>
          </p:nvSpPr>
          <p:spPr bwMode="auto">
            <a:xfrm>
              <a:off x="662" y="186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73751" name="Text Box 25">
              <a:extLst>
                <a:ext uri="{FF2B5EF4-FFF2-40B4-BE49-F238E27FC236}">
                  <a16:creationId xmlns:a16="http://schemas.microsoft.com/office/drawing/2014/main" id="{3F7AAEBE-9428-46B4-9248-3AD488CEE38D}"/>
                </a:ext>
              </a:extLst>
            </p:cNvPr>
            <p:cNvSpPr txBox="1">
              <a:spLocks noChangeArrowheads="1"/>
            </p:cNvSpPr>
            <p:nvPr/>
          </p:nvSpPr>
          <p:spPr bwMode="auto">
            <a:xfrm>
              <a:off x="1913" y="3460"/>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sp>
        <p:nvSpPr>
          <p:cNvPr id="265242" name="Line 26">
            <a:extLst>
              <a:ext uri="{FF2B5EF4-FFF2-40B4-BE49-F238E27FC236}">
                <a16:creationId xmlns:a16="http://schemas.microsoft.com/office/drawing/2014/main" id="{8B934F0E-6A9C-4B48-83E1-7646E86F1146}"/>
              </a:ext>
            </a:extLst>
          </p:cNvPr>
          <p:cNvSpPr>
            <a:spLocks noChangeShapeType="1"/>
          </p:cNvSpPr>
          <p:nvPr/>
        </p:nvSpPr>
        <p:spPr bwMode="auto">
          <a:xfrm rot="10800000">
            <a:off x="2952750" y="5351463"/>
            <a:ext cx="596900" cy="0"/>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5243" name="Line 27">
            <a:extLst>
              <a:ext uri="{FF2B5EF4-FFF2-40B4-BE49-F238E27FC236}">
                <a16:creationId xmlns:a16="http://schemas.microsoft.com/office/drawing/2014/main" id="{94597ABC-570D-403B-876A-646F35EAB4E0}"/>
              </a:ext>
            </a:extLst>
          </p:cNvPr>
          <p:cNvSpPr>
            <a:spLocks noChangeShapeType="1"/>
          </p:cNvSpPr>
          <p:nvPr/>
        </p:nvSpPr>
        <p:spPr bwMode="auto">
          <a:xfrm rot="5400000">
            <a:off x="1539875" y="3597276"/>
            <a:ext cx="852487" cy="4762"/>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5244" name="Line 28">
            <a:extLst>
              <a:ext uri="{FF2B5EF4-FFF2-40B4-BE49-F238E27FC236}">
                <a16:creationId xmlns:a16="http://schemas.microsoft.com/office/drawing/2014/main" id="{8E2D04E1-45A6-4D33-BC74-DF6FCA176F43}"/>
              </a:ext>
            </a:extLst>
          </p:cNvPr>
          <p:cNvSpPr>
            <a:spLocks noChangeShapeType="1"/>
          </p:cNvSpPr>
          <p:nvPr/>
        </p:nvSpPr>
        <p:spPr bwMode="auto">
          <a:xfrm flipH="1">
            <a:off x="2968625" y="3243263"/>
            <a:ext cx="538163" cy="735012"/>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8" name="Group 29">
            <a:extLst>
              <a:ext uri="{FF2B5EF4-FFF2-40B4-BE49-F238E27FC236}">
                <a16:creationId xmlns:a16="http://schemas.microsoft.com/office/drawing/2014/main" id="{D59CBEC4-30C0-4F35-B1DD-08114360CB6A}"/>
              </a:ext>
            </a:extLst>
          </p:cNvPr>
          <p:cNvGrpSpPr>
            <a:grpSpLocks/>
          </p:cNvGrpSpPr>
          <p:nvPr/>
        </p:nvGrpSpPr>
        <p:grpSpPr bwMode="auto">
          <a:xfrm>
            <a:off x="1276350" y="3811588"/>
            <a:ext cx="1963738" cy="2103437"/>
            <a:chOff x="664" y="2401"/>
            <a:chExt cx="1237" cy="1325"/>
          </a:xfrm>
        </p:grpSpPr>
        <p:grpSp>
          <p:nvGrpSpPr>
            <p:cNvPr id="73742" name="Group 30">
              <a:extLst>
                <a:ext uri="{FF2B5EF4-FFF2-40B4-BE49-F238E27FC236}">
                  <a16:creationId xmlns:a16="http://schemas.microsoft.com/office/drawing/2014/main" id="{52A58DE7-DDDF-4192-8495-054F2A7BD908}"/>
                </a:ext>
              </a:extLst>
            </p:cNvPr>
            <p:cNvGrpSpPr>
              <a:grpSpLocks/>
            </p:cNvGrpSpPr>
            <p:nvPr/>
          </p:nvGrpSpPr>
          <p:grpSpPr bwMode="auto">
            <a:xfrm>
              <a:off x="1024" y="2535"/>
              <a:ext cx="687" cy="940"/>
              <a:chOff x="357" y="2450"/>
              <a:chExt cx="795" cy="646"/>
            </a:xfrm>
          </p:grpSpPr>
          <p:sp>
            <p:nvSpPr>
              <p:cNvPr id="73746" name="Line 31">
                <a:extLst>
                  <a:ext uri="{FF2B5EF4-FFF2-40B4-BE49-F238E27FC236}">
                    <a16:creationId xmlns:a16="http://schemas.microsoft.com/office/drawing/2014/main" id="{7CBF36EB-0FBE-4C9D-A18F-2B38E82DA673}"/>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73747" name="Line 32">
                <a:extLst>
                  <a:ext uri="{FF2B5EF4-FFF2-40B4-BE49-F238E27FC236}">
                    <a16:creationId xmlns:a16="http://schemas.microsoft.com/office/drawing/2014/main" id="{DD6EAC6C-C0D8-4DBD-A28D-B98B2187F1FD}"/>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743" name="Oval 33">
              <a:extLst>
                <a:ext uri="{FF2B5EF4-FFF2-40B4-BE49-F238E27FC236}">
                  <a16:creationId xmlns:a16="http://schemas.microsoft.com/office/drawing/2014/main" id="{C7D08FD8-CC20-419B-93AD-2AD7AF27EBA7}"/>
                </a:ext>
              </a:extLst>
            </p:cNvPr>
            <p:cNvSpPr>
              <a:spLocks noChangeArrowheads="1"/>
            </p:cNvSpPr>
            <p:nvPr/>
          </p:nvSpPr>
          <p:spPr bwMode="auto">
            <a:xfrm>
              <a:off x="1665" y="2493"/>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44" name="Text Box 34">
              <a:extLst>
                <a:ext uri="{FF2B5EF4-FFF2-40B4-BE49-F238E27FC236}">
                  <a16:creationId xmlns:a16="http://schemas.microsoft.com/office/drawing/2014/main" id="{B37D79FF-E85F-433C-887B-FD1A8CB8F6A5}"/>
                </a:ext>
              </a:extLst>
            </p:cNvPr>
            <p:cNvSpPr txBox="1">
              <a:spLocks noChangeArrowheads="1"/>
            </p:cNvSpPr>
            <p:nvPr/>
          </p:nvSpPr>
          <p:spPr bwMode="auto">
            <a:xfrm>
              <a:off x="1521" y="3457"/>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sp>
          <p:nvSpPr>
            <p:cNvPr id="73745" name="Text Box 35">
              <a:extLst>
                <a:ext uri="{FF2B5EF4-FFF2-40B4-BE49-F238E27FC236}">
                  <a16:creationId xmlns:a16="http://schemas.microsoft.com/office/drawing/2014/main" id="{6C99E2AF-B139-4DF3-995D-F1D68C9CA29A}"/>
                </a:ext>
              </a:extLst>
            </p:cNvPr>
            <p:cNvSpPr txBox="1">
              <a:spLocks noChangeArrowheads="1"/>
            </p:cNvSpPr>
            <p:nvPr/>
          </p:nvSpPr>
          <p:spPr bwMode="auto">
            <a:xfrm>
              <a:off x="664" y="2401"/>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2</a:t>
              </a:r>
            </a:p>
          </p:txBody>
        </p:sp>
      </p:gr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up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Righ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65225"/>
                                        </p:tgtEl>
                                        <p:attrNameLst>
                                          <p:attrName>style.visibility</p:attrName>
                                        </p:attrNameLst>
                                      </p:cBhvr>
                                      <p:to>
                                        <p:strVal val="visible"/>
                                      </p:to>
                                    </p:set>
                                    <p:animEffect transition="in" filter="dissolve">
                                      <p:cBhvr>
                                        <p:cTn id="22" dur="500"/>
                                        <p:tgtEl>
                                          <p:spTgt spid="2652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65243"/>
                                        </p:tgtEl>
                                        <p:attrNameLst>
                                          <p:attrName>style.visibility</p:attrName>
                                        </p:attrNameLst>
                                      </p:cBhvr>
                                      <p:to>
                                        <p:strVal val="visible"/>
                                      </p:to>
                                    </p:set>
                                    <p:animEffect transition="in" filter="wipe(up)">
                                      <p:cBhvr>
                                        <p:cTn id="27" dur="500"/>
                                        <p:tgtEl>
                                          <p:spTgt spid="265243"/>
                                        </p:tgtEl>
                                      </p:cBhvr>
                                    </p:animEffect>
                                  </p:childTnLst>
                                </p:cTn>
                              </p:par>
                              <p:par>
                                <p:cTn id="28" presetID="18" presetClass="entr" presetSubtype="12" fill="hold" nodeType="withEffect">
                                  <p:stCondLst>
                                    <p:cond delay="0"/>
                                  </p:stCondLst>
                                  <p:childTnLst>
                                    <p:set>
                                      <p:cBhvr>
                                        <p:cTn id="29" dur="1" fill="hold">
                                          <p:stCondLst>
                                            <p:cond delay="0"/>
                                          </p:stCondLst>
                                        </p:cTn>
                                        <p:tgtEl>
                                          <p:spTgt spid="265244"/>
                                        </p:tgtEl>
                                        <p:attrNameLst>
                                          <p:attrName>style.visibility</p:attrName>
                                        </p:attrNameLst>
                                      </p:cBhvr>
                                      <p:to>
                                        <p:strVal val="visible"/>
                                      </p:to>
                                    </p:set>
                                    <p:animEffect transition="in" filter="strips(downLeft)">
                                      <p:cBhvr>
                                        <p:cTn id="30" dur="500"/>
                                        <p:tgtEl>
                                          <p:spTgt spid="265244"/>
                                        </p:tgtEl>
                                      </p:cBhvr>
                                    </p:animEffect>
                                  </p:childTnLst>
                                </p:cTn>
                              </p:par>
                              <p:par>
                                <p:cTn id="31" presetID="22" presetClass="entr" presetSubtype="2" fill="hold" nodeType="withEffect">
                                  <p:stCondLst>
                                    <p:cond delay="0"/>
                                  </p:stCondLst>
                                  <p:childTnLst>
                                    <p:set>
                                      <p:cBhvr>
                                        <p:cTn id="32" dur="1" fill="hold">
                                          <p:stCondLst>
                                            <p:cond delay="0"/>
                                          </p:stCondLst>
                                        </p:cTn>
                                        <p:tgtEl>
                                          <p:spTgt spid="265242"/>
                                        </p:tgtEl>
                                        <p:attrNameLst>
                                          <p:attrName>style.visibility</p:attrName>
                                        </p:attrNameLst>
                                      </p:cBhvr>
                                      <p:to>
                                        <p:strVal val="visible"/>
                                      </p:to>
                                    </p:set>
                                    <p:animEffect transition="in" filter="wipe(right)">
                                      <p:cBhvr>
                                        <p:cTn id="33" dur="500"/>
                                        <p:tgtEl>
                                          <p:spTgt spid="265242"/>
                                        </p:tgtEl>
                                      </p:cBhvr>
                                    </p:animEffect>
                                  </p:childTnLst>
                                </p:cTn>
                              </p:par>
                            </p:childTnLst>
                          </p:cTn>
                        </p:par>
                        <p:par>
                          <p:cTn id="34" fill="hold" nodeType="afterGroup">
                            <p:stCondLst>
                              <p:cond delay="500"/>
                            </p:stCondLst>
                            <p:childTnLst>
                              <p:par>
                                <p:cTn id="35" presetID="18" presetClass="entr" presetSubtype="12"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strips(down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75778" name="Rectangle 8">
            <a:extLst>
              <a:ext uri="{FF2B5EF4-FFF2-40B4-BE49-F238E27FC236}">
                <a16:creationId xmlns:a16="http://schemas.microsoft.com/office/drawing/2014/main" id="{4319AB51-88F7-4E41-B229-9ABA8CC34405}"/>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AA99968A-06B3-4BEF-BE0B-E5506D3B3BAD}"/>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2</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400">
                <a:solidFill>
                  <a:srgbClr val="339966"/>
                </a:solidFill>
                <a:effectLst>
                  <a:outerShdw blurRad="38100" dist="38100" dir="2700000" algn="tl">
                    <a:srgbClr val="C0C0C0"/>
                  </a:outerShdw>
                </a:effectLst>
                <a:cs typeface="Arial" panose="020B0604020202020204" pitchFamily="34" charset="0"/>
              </a:rPr>
              <a:t>B.  Fall in cost of producing the software</a:t>
            </a:r>
          </a:p>
        </p:txBody>
      </p:sp>
      <p:grpSp>
        <p:nvGrpSpPr>
          <p:cNvPr id="75780" name="Group 11">
            <a:extLst>
              <a:ext uri="{FF2B5EF4-FFF2-40B4-BE49-F238E27FC236}">
                <a16:creationId xmlns:a16="http://schemas.microsoft.com/office/drawing/2014/main" id="{FF9CEC0B-B3A9-4D94-8367-60C30C84E85C}"/>
              </a:ext>
            </a:extLst>
          </p:cNvPr>
          <p:cNvGrpSpPr>
            <a:grpSpLocks/>
          </p:cNvGrpSpPr>
          <p:nvPr/>
        </p:nvGrpSpPr>
        <p:grpSpPr bwMode="auto">
          <a:xfrm>
            <a:off x="593725" y="290513"/>
            <a:ext cx="8210550" cy="1049337"/>
            <a:chOff x="374" y="183"/>
            <a:chExt cx="5000" cy="661"/>
          </a:xfrm>
        </p:grpSpPr>
        <p:sp>
          <p:nvSpPr>
            <p:cNvPr id="75806" name="Line 9">
              <a:extLst>
                <a:ext uri="{FF2B5EF4-FFF2-40B4-BE49-F238E27FC236}">
                  <a16:creationId xmlns:a16="http://schemas.microsoft.com/office/drawing/2014/main" id="{FD556449-D10D-4C08-BD11-86E031B548D3}"/>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7" name="Line 10">
              <a:extLst>
                <a:ext uri="{FF2B5EF4-FFF2-40B4-BE49-F238E27FC236}">
                  <a16:creationId xmlns:a16="http://schemas.microsoft.com/office/drawing/2014/main" id="{DD9AC40B-1562-4D91-9BEF-51AA7887C328}"/>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781" name="Rectangle 8">
            <a:extLst>
              <a:ext uri="{FF2B5EF4-FFF2-40B4-BE49-F238E27FC236}">
                <a16:creationId xmlns:a16="http://schemas.microsoft.com/office/drawing/2014/main" id="{E30DCDA0-0F44-4D7D-B3D8-2A34C7F1F22C}"/>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5660A87-3594-4893-A1E2-88564D16EFE8}" type="slidenum">
              <a:rPr lang="en-US" altLang="en-US" sz="1700">
                <a:solidFill>
                  <a:srgbClr val="777777"/>
                </a:solidFill>
                <a:latin typeface="Tahoma" panose="020B0604030504040204" pitchFamily="34" charset="0"/>
              </a:rPr>
              <a:pPr algn="r" eaLnBrk="1" hangingPunct="1"/>
              <a:t>35</a:t>
            </a:fld>
            <a:endParaRPr lang="en-US" altLang="en-US" sz="1700">
              <a:solidFill>
                <a:srgbClr val="777777"/>
              </a:solidFill>
              <a:latin typeface="Tahoma" panose="020B0604030504040204" pitchFamily="34" charset="0"/>
            </a:endParaRPr>
          </a:p>
        </p:txBody>
      </p:sp>
      <p:sp>
        <p:nvSpPr>
          <p:cNvPr id="267273" name="Text Box 9">
            <a:extLst>
              <a:ext uri="{FF2B5EF4-FFF2-40B4-BE49-F238E27FC236}">
                <a16:creationId xmlns:a16="http://schemas.microsoft.com/office/drawing/2014/main" id="{2BCE2886-E281-4A32-94C3-4251AB4EA7CE}"/>
              </a:ext>
            </a:extLst>
          </p:cNvPr>
          <p:cNvSpPr txBox="1">
            <a:spLocks noChangeArrowheads="1"/>
          </p:cNvSpPr>
          <p:nvPr/>
        </p:nvSpPr>
        <p:spPr bwMode="auto">
          <a:xfrm>
            <a:off x="5995988" y="1779588"/>
            <a:ext cx="2292350" cy="2352675"/>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b="1" i="1">
                <a:cs typeface="Arial" panose="020B0604020202020204" pitchFamily="34" charset="0"/>
              </a:rPr>
              <a:t>S</a:t>
            </a:r>
            <a:r>
              <a:rPr lang="en-US" altLang="en-US" sz="2600">
                <a:cs typeface="Arial" panose="020B0604020202020204" pitchFamily="34" charset="0"/>
              </a:rPr>
              <a:t> curve shifts to the right: </a:t>
            </a:r>
          </a:p>
          <a:p>
            <a:pPr eaLnBrk="1" hangingPunct="1">
              <a:lnSpc>
                <a:spcPct val="105000"/>
              </a:lnSpc>
              <a:spcBef>
                <a:spcPct val="30000"/>
              </a:spcBef>
            </a:pPr>
            <a:r>
              <a:rPr lang="en-US" altLang="en-US" sz="2600">
                <a:cs typeface="Arial" panose="020B0604020202020204" pitchFamily="34" charset="0"/>
              </a:rPr>
              <a:t>at each price, </a:t>
            </a:r>
            <a:br>
              <a:rPr lang="en-US" altLang="en-US" sz="2600">
                <a:cs typeface="Arial" panose="020B0604020202020204" pitchFamily="34" charset="0"/>
              </a:rPr>
            </a:br>
            <a:r>
              <a:rPr lang="en-US" altLang="en-US" sz="2600" b="1" i="1">
                <a:cs typeface="Arial" panose="020B0604020202020204" pitchFamily="34" charset="0"/>
              </a:rPr>
              <a:t>Q</a:t>
            </a:r>
            <a:r>
              <a:rPr lang="en-US" altLang="en-US" sz="2600">
                <a:cs typeface="Arial" panose="020B0604020202020204" pitchFamily="34" charset="0"/>
              </a:rPr>
              <a:t> increases.</a:t>
            </a:r>
          </a:p>
        </p:txBody>
      </p:sp>
      <p:grpSp>
        <p:nvGrpSpPr>
          <p:cNvPr id="75783" name="Group 10">
            <a:extLst>
              <a:ext uri="{FF2B5EF4-FFF2-40B4-BE49-F238E27FC236}">
                <a16:creationId xmlns:a16="http://schemas.microsoft.com/office/drawing/2014/main" id="{61B8406A-CC83-47A2-8175-033B25ACB923}"/>
              </a:ext>
            </a:extLst>
          </p:cNvPr>
          <p:cNvGrpSpPr>
            <a:grpSpLocks/>
          </p:cNvGrpSpPr>
          <p:nvPr/>
        </p:nvGrpSpPr>
        <p:grpSpPr bwMode="auto">
          <a:xfrm>
            <a:off x="1846263" y="1741488"/>
            <a:ext cx="4714875" cy="3775075"/>
            <a:chOff x="2602" y="1083"/>
            <a:chExt cx="3055" cy="2115"/>
          </a:xfrm>
        </p:grpSpPr>
        <p:sp>
          <p:nvSpPr>
            <p:cNvPr id="75804" name="Line 11">
              <a:extLst>
                <a:ext uri="{FF2B5EF4-FFF2-40B4-BE49-F238E27FC236}">
                  <a16:creationId xmlns:a16="http://schemas.microsoft.com/office/drawing/2014/main" id="{084EA919-5839-45D0-86DB-771A41EA406C}"/>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5" name="Line 12">
              <a:extLst>
                <a:ext uri="{FF2B5EF4-FFF2-40B4-BE49-F238E27FC236}">
                  <a16:creationId xmlns:a16="http://schemas.microsoft.com/office/drawing/2014/main" id="{4B5CD3DF-194D-45AB-AEC4-8878A5B1423A}"/>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784" name="Text Box 13">
            <a:extLst>
              <a:ext uri="{FF2B5EF4-FFF2-40B4-BE49-F238E27FC236}">
                <a16:creationId xmlns:a16="http://schemas.microsoft.com/office/drawing/2014/main" id="{975B7CD2-0B2C-4A7E-85CC-763C37DF24FC}"/>
              </a:ext>
            </a:extLst>
          </p:cNvPr>
          <p:cNvSpPr txBox="1">
            <a:spLocks noChangeArrowheads="1"/>
          </p:cNvSpPr>
          <p:nvPr/>
        </p:nvSpPr>
        <p:spPr bwMode="auto">
          <a:xfrm>
            <a:off x="398463" y="1524000"/>
            <a:ext cx="1406525"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tax return software</a:t>
            </a:r>
          </a:p>
        </p:txBody>
      </p:sp>
      <p:sp>
        <p:nvSpPr>
          <p:cNvPr id="75785" name="Text Box 14">
            <a:extLst>
              <a:ext uri="{FF2B5EF4-FFF2-40B4-BE49-F238E27FC236}">
                <a16:creationId xmlns:a16="http://schemas.microsoft.com/office/drawing/2014/main" id="{EAEC5870-5DB2-4268-9032-71362C04DB1D}"/>
              </a:ext>
            </a:extLst>
          </p:cNvPr>
          <p:cNvSpPr txBox="1">
            <a:spLocks noChangeArrowheads="1"/>
          </p:cNvSpPr>
          <p:nvPr/>
        </p:nvSpPr>
        <p:spPr bwMode="auto">
          <a:xfrm>
            <a:off x="4552950" y="5513388"/>
            <a:ext cx="2209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tax return software</a:t>
            </a:r>
          </a:p>
        </p:txBody>
      </p:sp>
      <p:sp>
        <p:nvSpPr>
          <p:cNvPr id="75786" name="Line 15">
            <a:extLst>
              <a:ext uri="{FF2B5EF4-FFF2-40B4-BE49-F238E27FC236}">
                <a16:creationId xmlns:a16="http://schemas.microsoft.com/office/drawing/2014/main" id="{FC785C72-D869-4E7F-9F98-43FF771B9CE6}"/>
              </a:ext>
            </a:extLst>
          </p:cNvPr>
          <p:cNvSpPr>
            <a:spLocks noChangeShapeType="1"/>
          </p:cNvSpPr>
          <p:nvPr/>
        </p:nvSpPr>
        <p:spPr bwMode="auto">
          <a:xfrm rot="4500000">
            <a:off x="1938338" y="2465388"/>
            <a:ext cx="2241550" cy="27876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7" name="Text Box 16">
            <a:extLst>
              <a:ext uri="{FF2B5EF4-FFF2-40B4-BE49-F238E27FC236}">
                <a16:creationId xmlns:a16="http://schemas.microsoft.com/office/drawing/2014/main" id="{81ECFF8B-FA45-47BB-93D7-8D4EB4E14EB1}"/>
              </a:ext>
            </a:extLst>
          </p:cNvPr>
          <p:cNvSpPr txBox="1">
            <a:spLocks noChangeArrowheads="1"/>
          </p:cNvSpPr>
          <p:nvPr/>
        </p:nvSpPr>
        <p:spPr bwMode="auto">
          <a:xfrm>
            <a:off x="3897313" y="2009775"/>
            <a:ext cx="5175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S</a:t>
            </a:r>
            <a:r>
              <a:rPr lang="en-US" altLang="en-US" sz="2200" b="1" baseline="-25000">
                <a:latin typeface="Tahoma" panose="020B0604030504040204" pitchFamily="34" charset="0"/>
                <a:cs typeface="Arial" panose="020B0604020202020204" pitchFamily="34" charset="0"/>
              </a:rPr>
              <a:t>1</a:t>
            </a:r>
          </a:p>
        </p:txBody>
      </p:sp>
      <p:grpSp>
        <p:nvGrpSpPr>
          <p:cNvPr id="75788" name="Group 17">
            <a:extLst>
              <a:ext uri="{FF2B5EF4-FFF2-40B4-BE49-F238E27FC236}">
                <a16:creationId xmlns:a16="http://schemas.microsoft.com/office/drawing/2014/main" id="{D6733396-D8D7-4EC0-B42F-8FCFFC31834B}"/>
              </a:ext>
            </a:extLst>
          </p:cNvPr>
          <p:cNvGrpSpPr>
            <a:grpSpLocks/>
          </p:cNvGrpSpPr>
          <p:nvPr/>
        </p:nvGrpSpPr>
        <p:grpSpPr bwMode="auto">
          <a:xfrm>
            <a:off x="1851025" y="3175000"/>
            <a:ext cx="1711325" cy="2335213"/>
            <a:chOff x="357" y="2450"/>
            <a:chExt cx="795" cy="646"/>
          </a:xfrm>
        </p:grpSpPr>
        <p:sp>
          <p:nvSpPr>
            <p:cNvPr id="75802" name="Line 18">
              <a:extLst>
                <a:ext uri="{FF2B5EF4-FFF2-40B4-BE49-F238E27FC236}">
                  <a16:creationId xmlns:a16="http://schemas.microsoft.com/office/drawing/2014/main" id="{32F813A2-85A9-4D51-A0B7-A1FE232F7A40}"/>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75803" name="Line 19">
              <a:extLst>
                <a:ext uri="{FF2B5EF4-FFF2-40B4-BE49-F238E27FC236}">
                  <a16:creationId xmlns:a16="http://schemas.microsoft.com/office/drawing/2014/main" id="{B9D40F81-2101-4A2C-9F9A-523F5276A8B6}"/>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789" name="Oval 20">
            <a:extLst>
              <a:ext uri="{FF2B5EF4-FFF2-40B4-BE49-F238E27FC236}">
                <a16:creationId xmlns:a16="http://schemas.microsoft.com/office/drawing/2014/main" id="{FF6A5C66-025E-443D-9D32-40A6432BA938}"/>
              </a:ext>
            </a:extLst>
          </p:cNvPr>
          <p:cNvSpPr>
            <a:spLocks noChangeArrowheads="1"/>
          </p:cNvSpPr>
          <p:nvPr/>
        </p:nvSpPr>
        <p:spPr bwMode="auto">
          <a:xfrm>
            <a:off x="3479800" y="3111500"/>
            <a:ext cx="139700" cy="138113"/>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5790" name="Text Box 21">
            <a:extLst>
              <a:ext uri="{FF2B5EF4-FFF2-40B4-BE49-F238E27FC236}">
                <a16:creationId xmlns:a16="http://schemas.microsoft.com/office/drawing/2014/main" id="{61855965-B2BE-4D4E-97F7-C2D4F1107C67}"/>
              </a:ext>
            </a:extLst>
          </p:cNvPr>
          <p:cNvSpPr txBox="1">
            <a:spLocks noChangeArrowheads="1"/>
          </p:cNvSpPr>
          <p:nvPr/>
        </p:nvSpPr>
        <p:spPr bwMode="auto">
          <a:xfrm>
            <a:off x="1273175" y="2957513"/>
            <a:ext cx="6032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75791" name="Text Box 22">
            <a:extLst>
              <a:ext uri="{FF2B5EF4-FFF2-40B4-BE49-F238E27FC236}">
                <a16:creationId xmlns:a16="http://schemas.microsoft.com/office/drawing/2014/main" id="{F50776B2-DFEA-4DC0-B5BE-7EC30F3B2AE6}"/>
              </a:ext>
            </a:extLst>
          </p:cNvPr>
          <p:cNvSpPr txBox="1">
            <a:spLocks noChangeArrowheads="1"/>
          </p:cNvSpPr>
          <p:nvPr/>
        </p:nvSpPr>
        <p:spPr bwMode="auto">
          <a:xfrm>
            <a:off x="3259138" y="5480050"/>
            <a:ext cx="603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nvGrpSpPr>
          <p:cNvPr id="5" name="Group 23">
            <a:extLst>
              <a:ext uri="{FF2B5EF4-FFF2-40B4-BE49-F238E27FC236}">
                <a16:creationId xmlns:a16="http://schemas.microsoft.com/office/drawing/2014/main" id="{EC621BCB-603B-46D8-9FDB-869866085799}"/>
              </a:ext>
            </a:extLst>
          </p:cNvPr>
          <p:cNvGrpSpPr>
            <a:grpSpLocks/>
          </p:cNvGrpSpPr>
          <p:nvPr/>
        </p:nvGrpSpPr>
        <p:grpSpPr bwMode="auto">
          <a:xfrm>
            <a:off x="2573338" y="2058988"/>
            <a:ext cx="2787650" cy="2968625"/>
            <a:chOff x="1481" y="1297"/>
            <a:chExt cx="1756" cy="1870"/>
          </a:xfrm>
        </p:grpSpPr>
        <p:sp>
          <p:nvSpPr>
            <p:cNvPr id="75800" name="Text Box 24">
              <a:extLst>
                <a:ext uri="{FF2B5EF4-FFF2-40B4-BE49-F238E27FC236}">
                  <a16:creationId xmlns:a16="http://schemas.microsoft.com/office/drawing/2014/main" id="{204F3AE9-A0A1-4D67-95E9-4C5EB6679C7B}"/>
                </a:ext>
              </a:extLst>
            </p:cNvPr>
            <p:cNvSpPr txBox="1">
              <a:spLocks noChangeArrowheads="1"/>
            </p:cNvSpPr>
            <p:nvPr/>
          </p:nvSpPr>
          <p:spPr bwMode="auto">
            <a:xfrm>
              <a:off x="2855" y="1297"/>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solidFill>
                    <a:srgbClr val="A50021"/>
                  </a:solidFill>
                  <a:latin typeface="Tahoma" panose="020B0604030504040204" pitchFamily="34" charset="0"/>
                  <a:cs typeface="Arial" panose="020B0604020202020204" pitchFamily="34" charset="0"/>
                </a:rPr>
                <a:t>S</a:t>
              </a:r>
              <a:r>
                <a:rPr lang="en-US" altLang="en-US" sz="2200" b="1" baseline="-25000">
                  <a:solidFill>
                    <a:srgbClr val="A50021"/>
                  </a:solidFill>
                  <a:latin typeface="Tahoma" panose="020B0604030504040204" pitchFamily="34" charset="0"/>
                  <a:cs typeface="Arial" panose="020B0604020202020204" pitchFamily="34" charset="0"/>
                </a:rPr>
                <a:t>2</a:t>
              </a:r>
            </a:p>
          </p:txBody>
        </p:sp>
        <p:sp>
          <p:nvSpPr>
            <p:cNvPr id="75801" name="Line 25">
              <a:extLst>
                <a:ext uri="{FF2B5EF4-FFF2-40B4-BE49-F238E27FC236}">
                  <a16:creationId xmlns:a16="http://schemas.microsoft.com/office/drawing/2014/main" id="{C884BE6E-7EE3-44F2-9027-8A3166862FEC}"/>
                </a:ext>
              </a:extLst>
            </p:cNvPr>
            <p:cNvSpPr>
              <a:spLocks noChangeShapeType="1"/>
            </p:cNvSpPr>
            <p:nvPr/>
          </p:nvSpPr>
          <p:spPr bwMode="auto">
            <a:xfrm rot="4500000">
              <a:off x="1653" y="1583"/>
              <a:ext cx="1412" cy="1756"/>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26">
            <a:extLst>
              <a:ext uri="{FF2B5EF4-FFF2-40B4-BE49-F238E27FC236}">
                <a16:creationId xmlns:a16="http://schemas.microsoft.com/office/drawing/2014/main" id="{8967044A-941F-4563-B484-0368A8677B8A}"/>
              </a:ext>
            </a:extLst>
          </p:cNvPr>
          <p:cNvGrpSpPr>
            <a:grpSpLocks/>
          </p:cNvGrpSpPr>
          <p:nvPr/>
        </p:nvGrpSpPr>
        <p:grpSpPr bwMode="auto">
          <a:xfrm>
            <a:off x="3557588" y="3109913"/>
            <a:ext cx="1220787" cy="2781300"/>
            <a:chOff x="2101" y="1959"/>
            <a:chExt cx="769" cy="1752"/>
          </a:xfrm>
        </p:grpSpPr>
        <p:sp>
          <p:nvSpPr>
            <p:cNvPr id="75795" name="Text Box 27">
              <a:extLst>
                <a:ext uri="{FF2B5EF4-FFF2-40B4-BE49-F238E27FC236}">
                  <a16:creationId xmlns:a16="http://schemas.microsoft.com/office/drawing/2014/main" id="{B6695022-339D-4993-8DCA-3857FC9C6B98}"/>
                </a:ext>
              </a:extLst>
            </p:cNvPr>
            <p:cNvSpPr txBox="1">
              <a:spLocks noChangeArrowheads="1"/>
            </p:cNvSpPr>
            <p:nvPr/>
          </p:nvSpPr>
          <p:spPr bwMode="auto">
            <a:xfrm>
              <a:off x="2490" y="3442"/>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grpSp>
          <p:nvGrpSpPr>
            <p:cNvPr id="75796" name="Group 28">
              <a:extLst>
                <a:ext uri="{FF2B5EF4-FFF2-40B4-BE49-F238E27FC236}">
                  <a16:creationId xmlns:a16="http://schemas.microsoft.com/office/drawing/2014/main" id="{A1B1E858-E1DC-47EC-814C-797A1BF297EB}"/>
                </a:ext>
              </a:extLst>
            </p:cNvPr>
            <p:cNvGrpSpPr>
              <a:grpSpLocks/>
            </p:cNvGrpSpPr>
            <p:nvPr/>
          </p:nvGrpSpPr>
          <p:grpSpPr bwMode="auto">
            <a:xfrm>
              <a:off x="2101" y="1998"/>
              <a:ext cx="598" cy="1471"/>
              <a:chOff x="357" y="2450"/>
              <a:chExt cx="795" cy="646"/>
            </a:xfrm>
          </p:grpSpPr>
          <p:sp>
            <p:nvSpPr>
              <p:cNvPr id="75798" name="Line 29">
                <a:extLst>
                  <a:ext uri="{FF2B5EF4-FFF2-40B4-BE49-F238E27FC236}">
                    <a16:creationId xmlns:a16="http://schemas.microsoft.com/office/drawing/2014/main" id="{8EB0FD02-7E67-4EBD-86D0-91AA9FECD863}"/>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75799" name="Line 30">
                <a:extLst>
                  <a:ext uri="{FF2B5EF4-FFF2-40B4-BE49-F238E27FC236}">
                    <a16:creationId xmlns:a16="http://schemas.microsoft.com/office/drawing/2014/main" id="{407F72E7-81ED-43CD-B502-47D60BC27A92}"/>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797" name="Oval 31">
              <a:extLst>
                <a:ext uri="{FF2B5EF4-FFF2-40B4-BE49-F238E27FC236}">
                  <a16:creationId xmlns:a16="http://schemas.microsoft.com/office/drawing/2014/main" id="{B3E31DCF-D2CC-404F-9664-F8C1A376DE16}"/>
                </a:ext>
              </a:extLst>
            </p:cNvPr>
            <p:cNvSpPr>
              <a:spLocks noChangeArrowheads="1"/>
            </p:cNvSpPr>
            <p:nvPr/>
          </p:nvSpPr>
          <p:spPr bwMode="auto">
            <a:xfrm>
              <a:off x="2649" y="1959"/>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267296" name="Line 32">
            <a:extLst>
              <a:ext uri="{FF2B5EF4-FFF2-40B4-BE49-F238E27FC236}">
                <a16:creationId xmlns:a16="http://schemas.microsoft.com/office/drawing/2014/main" id="{985DAFD8-C087-4113-9097-72343F3EA1F0}"/>
              </a:ext>
            </a:extLst>
          </p:cNvPr>
          <p:cNvSpPr>
            <a:spLocks noChangeShapeType="1"/>
          </p:cNvSpPr>
          <p:nvPr/>
        </p:nvSpPr>
        <p:spPr bwMode="auto">
          <a:xfrm>
            <a:off x="3621088" y="3167063"/>
            <a:ext cx="823912" cy="0"/>
          </a:xfrm>
          <a:prstGeom prst="line">
            <a:avLst/>
          </a:prstGeom>
          <a:noFill/>
          <a:ln w="44450">
            <a:solidFill>
              <a:srgbClr val="CC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7273"/>
                                        </p:tgtEl>
                                        <p:attrNameLst>
                                          <p:attrName>style.visibility</p:attrName>
                                        </p:attrNameLst>
                                      </p:cBhvr>
                                      <p:to>
                                        <p:strVal val="visible"/>
                                      </p:to>
                                    </p:set>
                                    <p:animEffect transition="in" filter="dissolve">
                                      <p:cBhvr>
                                        <p:cTn id="7" dur="500"/>
                                        <p:tgtEl>
                                          <p:spTgt spid="2672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7296"/>
                                        </p:tgtEl>
                                        <p:attrNameLst>
                                          <p:attrName>style.visibility</p:attrName>
                                        </p:attrNameLst>
                                      </p:cBhvr>
                                      <p:to>
                                        <p:strVal val="visible"/>
                                      </p:to>
                                    </p:set>
                                    <p:animEffect transition="in" filter="wipe(left)">
                                      <p:cBhvr>
                                        <p:cTn id="12" dur="500"/>
                                        <p:tgtEl>
                                          <p:spTgt spid="267296"/>
                                        </p:tgtEl>
                                      </p:cBhvr>
                                    </p:animEffect>
                                  </p:childTnLst>
                                </p:cTn>
                              </p:par>
                            </p:childTnLst>
                          </p:cTn>
                        </p:par>
                        <p:par>
                          <p:cTn id="13" fill="hold" nodeType="afterGroup">
                            <p:stCondLst>
                              <p:cond delay="500"/>
                            </p:stCondLst>
                            <p:childTnLst>
                              <p:par>
                                <p:cTn id="14" presetID="18" presetClass="entr" presetSubtype="3"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strips(upRight)">
                                      <p:cBhvr>
                                        <p:cTn id="16" dur="500"/>
                                        <p:tgtEl>
                                          <p:spTgt spid="5"/>
                                        </p:tgtEl>
                                      </p:cBhvr>
                                    </p:animEffect>
                                  </p:childTnLst>
                                </p:cTn>
                              </p:par>
                            </p:childTnLst>
                          </p:cTn>
                        </p:par>
                        <p:par>
                          <p:cTn id="17" fill="hold" nodeType="afterGroup">
                            <p:stCondLst>
                              <p:cond delay="1000"/>
                            </p:stCondLst>
                            <p:childTnLst>
                              <p:par>
                                <p:cTn id="18" presetID="18" presetClass="entr" presetSubtype="6"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trips(downRight)">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3"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showMasterPhAnim="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77826" name="Rectangle 8">
            <a:extLst>
              <a:ext uri="{FF2B5EF4-FFF2-40B4-BE49-F238E27FC236}">
                <a16:creationId xmlns:a16="http://schemas.microsoft.com/office/drawing/2014/main" id="{B1107C95-07A2-4CBB-8F9E-196F9727FC1C}"/>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35E03E81-51D2-4280-A1B0-F738F6DA0D59}"/>
              </a:ext>
            </a:extLst>
          </p:cNvPr>
          <p:cNvSpPr>
            <a:spLocks noGrp="1" noChangeArrowheads="1"/>
          </p:cNvSpPr>
          <p:nvPr>
            <p:ph type="title"/>
          </p:nvPr>
        </p:nvSpPr>
        <p:spPr>
          <a:xfrm>
            <a:off x="587375" y="352425"/>
            <a:ext cx="830421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300">
                <a:solidFill>
                  <a:srgbClr val="339966"/>
                </a:solidFill>
                <a:effectLst>
                  <a:outerShdw blurRad="38100" dist="38100" dir="2700000" algn="tl">
                    <a:srgbClr val="C0C0C0"/>
                  </a:outerShdw>
                </a:effectLst>
                <a:cs typeface="Arial" panose="020B0604020202020204" pitchFamily="34" charset="0"/>
              </a:rPr>
              <a:t>C.  Professional preparers raise their price</a:t>
            </a:r>
          </a:p>
        </p:txBody>
      </p:sp>
      <p:grpSp>
        <p:nvGrpSpPr>
          <p:cNvPr id="77828" name="Group 11">
            <a:extLst>
              <a:ext uri="{FF2B5EF4-FFF2-40B4-BE49-F238E27FC236}">
                <a16:creationId xmlns:a16="http://schemas.microsoft.com/office/drawing/2014/main" id="{D0929C22-6344-4160-A55D-CE695AF9F5E1}"/>
              </a:ext>
            </a:extLst>
          </p:cNvPr>
          <p:cNvGrpSpPr>
            <a:grpSpLocks/>
          </p:cNvGrpSpPr>
          <p:nvPr/>
        </p:nvGrpSpPr>
        <p:grpSpPr bwMode="auto">
          <a:xfrm>
            <a:off x="593725" y="290513"/>
            <a:ext cx="8210550" cy="1049337"/>
            <a:chOff x="374" y="183"/>
            <a:chExt cx="5000" cy="661"/>
          </a:xfrm>
        </p:grpSpPr>
        <p:sp>
          <p:nvSpPr>
            <p:cNvPr id="77839" name="Line 9">
              <a:extLst>
                <a:ext uri="{FF2B5EF4-FFF2-40B4-BE49-F238E27FC236}">
                  <a16:creationId xmlns:a16="http://schemas.microsoft.com/office/drawing/2014/main" id="{0ECC2E9E-1D7F-4C4B-BD21-994BEC246F0F}"/>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0" name="Line 10">
              <a:extLst>
                <a:ext uri="{FF2B5EF4-FFF2-40B4-BE49-F238E27FC236}">
                  <a16:creationId xmlns:a16="http://schemas.microsoft.com/office/drawing/2014/main" id="{E5611BA9-E5E8-4C39-914C-427ED3E3DC2A}"/>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7829" name="Rectangle 8">
            <a:extLst>
              <a:ext uri="{FF2B5EF4-FFF2-40B4-BE49-F238E27FC236}">
                <a16:creationId xmlns:a16="http://schemas.microsoft.com/office/drawing/2014/main" id="{8C442FAF-1D43-4B1D-8F3B-AD946A926516}"/>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2884522-F992-426E-90FA-46AA1B81CF9E}" type="slidenum">
              <a:rPr lang="en-US" altLang="en-US" sz="1700">
                <a:solidFill>
                  <a:srgbClr val="777777"/>
                </a:solidFill>
                <a:latin typeface="Tahoma" panose="020B0604030504040204" pitchFamily="34" charset="0"/>
              </a:rPr>
              <a:pPr algn="r" eaLnBrk="1" hangingPunct="1"/>
              <a:t>36</a:t>
            </a:fld>
            <a:endParaRPr lang="en-US" altLang="en-US" sz="1700">
              <a:solidFill>
                <a:srgbClr val="777777"/>
              </a:solidFill>
              <a:latin typeface="Tahoma" panose="020B0604030504040204" pitchFamily="34" charset="0"/>
            </a:endParaRPr>
          </a:p>
        </p:txBody>
      </p:sp>
      <p:sp>
        <p:nvSpPr>
          <p:cNvPr id="269321" name="Text Box 9">
            <a:extLst>
              <a:ext uri="{FF2B5EF4-FFF2-40B4-BE49-F238E27FC236}">
                <a16:creationId xmlns:a16="http://schemas.microsoft.com/office/drawing/2014/main" id="{8A63B580-EF6C-4D4B-BE81-3556894F5A94}"/>
              </a:ext>
            </a:extLst>
          </p:cNvPr>
          <p:cNvSpPr txBox="1">
            <a:spLocks noChangeArrowheads="1"/>
          </p:cNvSpPr>
          <p:nvPr/>
        </p:nvSpPr>
        <p:spPr bwMode="auto">
          <a:xfrm>
            <a:off x="5226050" y="1984375"/>
            <a:ext cx="2962275" cy="2246313"/>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a:cs typeface="Arial" panose="020B0604020202020204" pitchFamily="34" charset="0"/>
              </a:rPr>
              <a:t>This shifts the </a:t>
            </a:r>
            <a:r>
              <a:rPr lang="en-US" altLang="en-US" sz="2600" u="sng">
                <a:cs typeface="Arial" panose="020B0604020202020204" pitchFamily="34" charset="0"/>
              </a:rPr>
              <a:t>demand</a:t>
            </a:r>
            <a:r>
              <a:rPr lang="en-US" altLang="en-US" sz="2600">
                <a:cs typeface="Arial" panose="020B0604020202020204" pitchFamily="34" charset="0"/>
              </a:rPr>
              <a:t> curve for tax preparation software, not the supply curve. </a:t>
            </a:r>
          </a:p>
        </p:txBody>
      </p:sp>
      <p:grpSp>
        <p:nvGrpSpPr>
          <p:cNvPr id="77831" name="Group 10">
            <a:extLst>
              <a:ext uri="{FF2B5EF4-FFF2-40B4-BE49-F238E27FC236}">
                <a16:creationId xmlns:a16="http://schemas.microsoft.com/office/drawing/2014/main" id="{7AAA8B12-93EA-402E-ADDF-3AAD9E1C3DD2}"/>
              </a:ext>
            </a:extLst>
          </p:cNvPr>
          <p:cNvGrpSpPr>
            <a:grpSpLocks/>
          </p:cNvGrpSpPr>
          <p:nvPr/>
        </p:nvGrpSpPr>
        <p:grpSpPr bwMode="auto">
          <a:xfrm>
            <a:off x="398463" y="1524000"/>
            <a:ext cx="6364287" cy="4751388"/>
            <a:chOff x="111" y="960"/>
            <a:chExt cx="4009" cy="2993"/>
          </a:xfrm>
        </p:grpSpPr>
        <p:grpSp>
          <p:nvGrpSpPr>
            <p:cNvPr id="77832" name="Group 11">
              <a:extLst>
                <a:ext uri="{FF2B5EF4-FFF2-40B4-BE49-F238E27FC236}">
                  <a16:creationId xmlns:a16="http://schemas.microsoft.com/office/drawing/2014/main" id="{01FE5BD1-F13F-4D58-AD90-B57B53E9BD81}"/>
                </a:ext>
              </a:extLst>
            </p:cNvPr>
            <p:cNvGrpSpPr>
              <a:grpSpLocks/>
            </p:cNvGrpSpPr>
            <p:nvPr/>
          </p:nvGrpSpPr>
          <p:grpSpPr bwMode="auto">
            <a:xfrm>
              <a:off x="1023" y="1097"/>
              <a:ext cx="2970" cy="2378"/>
              <a:chOff x="2602" y="1083"/>
              <a:chExt cx="3055" cy="2115"/>
            </a:xfrm>
          </p:grpSpPr>
          <p:sp>
            <p:nvSpPr>
              <p:cNvPr id="77837" name="Line 12">
                <a:extLst>
                  <a:ext uri="{FF2B5EF4-FFF2-40B4-BE49-F238E27FC236}">
                    <a16:creationId xmlns:a16="http://schemas.microsoft.com/office/drawing/2014/main" id="{38818A91-B5E5-4CD2-97E0-1EC979E7B2AD}"/>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38" name="Line 13">
                <a:extLst>
                  <a:ext uri="{FF2B5EF4-FFF2-40B4-BE49-F238E27FC236}">
                    <a16:creationId xmlns:a16="http://schemas.microsoft.com/office/drawing/2014/main" id="{6C421BDB-A7D2-46E3-BA2F-87497D3DFE7B}"/>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7833" name="Text Box 14">
              <a:extLst>
                <a:ext uri="{FF2B5EF4-FFF2-40B4-BE49-F238E27FC236}">
                  <a16:creationId xmlns:a16="http://schemas.microsoft.com/office/drawing/2014/main" id="{6E7F19BA-6A44-42EC-9425-78447A0E1442}"/>
                </a:ext>
              </a:extLst>
            </p:cNvPr>
            <p:cNvSpPr txBox="1">
              <a:spLocks noChangeArrowheads="1"/>
            </p:cNvSpPr>
            <p:nvPr/>
          </p:nvSpPr>
          <p:spPr bwMode="auto">
            <a:xfrm>
              <a:off x="111" y="960"/>
              <a:ext cx="886" cy="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tax return software</a:t>
              </a:r>
            </a:p>
          </p:txBody>
        </p:sp>
        <p:sp>
          <p:nvSpPr>
            <p:cNvPr id="77834" name="Text Box 15">
              <a:extLst>
                <a:ext uri="{FF2B5EF4-FFF2-40B4-BE49-F238E27FC236}">
                  <a16:creationId xmlns:a16="http://schemas.microsoft.com/office/drawing/2014/main" id="{474258F3-3052-47F3-89AF-4A1008C1A276}"/>
                </a:ext>
              </a:extLst>
            </p:cNvPr>
            <p:cNvSpPr txBox="1">
              <a:spLocks noChangeArrowheads="1"/>
            </p:cNvSpPr>
            <p:nvPr/>
          </p:nvSpPr>
          <p:spPr bwMode="auto">
            <a:xfrm>
              <a:off x="2728" y="3473"/>
              <a:ext cx="139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tax return software</a:t>
              </a:r>
            </a:p>
          </p:txBody>
        </p:sp>
        <p:sp>
          <p:nvSpPr>
            <p:cNvPr id="77835" name="Line 16">
              <a:extLst>
                <a:ext uri="{FF2B5EF4-FFF2-40B4-BE49-F238E27FC236}">
                  <a16:creationId xmlns:a16="http://schemas.microsoft.com/office/drawing/2014/main" id="{BDF45E14-157F-4870-8943-F7328625B136}"/>
                </a:ext>
              </a:extLst>
            </p:cNvPr>
            <p:cNvSpPr>
              <a:spLocks noChangeShapeType="1"/>
            </p:cNvSpPr>
            <p:nvPr/>
          </p:nvSpPr>
          <p:spPr bwMode="auto">
            <a:xfrm rot="4500000">
              <a:off x="1081" y="1553"/>
              <a:ext cx="1412" cy="17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36" name="Text Box 17">
              <a:extLst>
                <a:ext uri="{FF2B5EF4-FFF2-40B4-BE49-F238E27FC236}">
                  <a16:creationId xmlns:a16="http://schemas.microsoft.com/office/drawing/2014/main" id="{90952D24-BFA8-4A84-95AC-94281BC1F5B2}"/>
                </a:ext>
              </a:extLst>
            </p:cNvPr>
            <p:cNvSpPr txBox="1">
              <a:spLocks noChangeArrowheads="1"/>
            </p:cNvSpPr>
            <p:nvPr/>
          </p:nvSpPr>
          <p:spPr bwMode="auto">
            <a:xfrm>
              <a:off x="2315" y="1266"/>
              <a:ext cx="3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S</a:t>
              </a:r>
              <a:r>
                <a:rPr lang="en-US" altLang="en-US" sz="2200" b="1" baseline="-25000">
                  <a:latin typeface="Tahoma" panose="020B0604030504040204" pitchFamily="34" charset="0"/>
                  <a:cs typeface="Arial" panose="020B0604020202020204" pitchFamily="34" charset="0"/>
                </a:rPr>
                <a:t>1</a:t>
              </a:r>
            </a:p>
          </p:txBody>
        </p:sp>
      </p:gr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9321"/>
                                        </p:tgtEl>
                                        <p:attrNameLst>
                                          <p:attrName>style.visibility</p:attrName>
                                        </p:attrNameLst>
                                      </p:cBhvr>
                                      <p:to>
                                        <p:strVal val="visible"/>
                                      </p:to>
                                    </p:set>
                                    <p:animEffect transition="in" filter="dissolve">
                                      <p:cBhvr>
                                        <p:cTn id="7" dur="500"/>
                                        <p:tgtEl>
                                          <p:spTgt spid="269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1">
            <a:extLst>
              <a:ext uri="{FF2B5EF4-FFF2-40B4-BE49-F238E27FC236}">
                <a16:creationId xmlns:a16="http://schemas.microsoft.com/office/drawing/2014/main" id="{E0448BB3-BDC2-4020-B319-14E3FC1478CC}"/>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79875" name="Slide Number Placeholder 2">
            <a:extLst>
              <a:ext uri="{FF2B5EF4-FFF2-40B4-BE49-F238E27FC236}">
                <a16:creationId xmlns:a16="http://schemas.microsoft.com/office/drawing/2014/main" id="{260E0745-0E51-4809-A996-821DD4E542D6}"/>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6DF68A-EF9C-48FA-9ED5-048FDD5B6AA0}" type="slidenum">
              <a:rPr lang="en-US" altLang="en-US">
                <a:solidFill>
                  <a:srgbClr val="777777"/>
                </a:solidFill>
                <a:latin typeface="Tahoma" panose="020B0604030504040204" pitchFamily="34" charset="0"/>
              </a:rPr>
              <a:pPr/>
              <a:t>37</a:t>
            </a:fld>
            <a:endParaRPr lang="en-US" altLang="en-US">
              <a:solidFill>
                <a:srgbClr val="777777"/>
              </a:solidFill>
              <a:latin typeface="Tahoma" panose="020B0604030504040204" pitchFamily="34" charset="0"/>
            </a:endParaRPr>
          </a:p>
        </p:txBody>
      </p:sp>
      <p:grpSp>
        <p:nvGrpSpPr>
          <p:cNvPr id="79876" name="Group 2">
            <a:extLst>
              <a:ext uri="{FF2B5EF4-FFF2-40B4-BE49-F238E27FC236}">
                <a16:creationId xmlns:a16="http://schemas.microsoft.com/office/drawing/2014/main" id="{8783B7AA-9854-4E10-B431-4819E5D3EA56}"/>
              </a:ext>
            </a:extLst>
          </p:cNvPr>
          <p:cNvGrpSpPr>
            <a:grpSpLocks/>
          </p:cNvGrpSpPr>
          <p:nvPr/>
        </p:nvGrpSpPr>
        <p:grpSpPr bwMode="auto">
          <a:xfrm>
            <a:off x="277813" y="1444625"/>
            <a:ext cx="5513387" cy="4886325"/>
            <a:chOff x="175" y="910"/>
            <a:chExt cx="3473" cy="3078"/>
          </a:xfrm>
        </p:grpSpPr>
        <p:graphicFrame>
          <p:nvGraphicFramePr>
            <p:cNvPr id="79891" name="Object 3">
              <a:extLst>
                <a:ext uri="{FF2B5EF4-FFF2-40B4-BE49-F238E27FC236}">
                  <a16:creationId xmlns:a16="http://schemas.microsoft.com/office/drawing/2014/main" id="{4BD8DDD6-D644-4044-9CA1-236E0D08DED6}"/>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649" imgH="5181600" progId="Excel.Chart.8">
                    <p:embed/>
                  </p:oleObj>
                </mc:Choice>
                <mc:Fallback>
                  <p:oleObj name="Chart" r:id="rId3" imgW="5800649" imgH="5181600"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92" name="Text Box 4">
              <a:extLst>
                <a:ext uri="{FF2B5EF4-FFF2-40B4-BE49-F238E27FC236}">
                  <a16:creationId xmlns:a16="http://schemas.microsoft.com/office/drawing/2014/main" id="{9E08E293-E5C9-42D0-B66C-BDC9DB58033C}"/>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79893" name="Text Box 5">
              <a:extLst>
                <a:ext uri="{FF2B5EF4-FFF2-40B4-BE49-F238E27FC236}">
                  <a16:creationId xmlns:a16="http://schemas.microsoft.com/office/drawing/2014/main" id="{45440CCA-1CDA-4A82-AD02-0619436E60BB}"/>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sp>
        <p:nvSpPr>
          <p:cNvPr id="79877" name="Rectangle 6">
            <a:extLst>
              <a:ext uri="{FF2B5EF4-FFF2-40B4-BE49-F238E27FC236}">
                <a16:creationId xmlns:a16="http://schemas.microsoft.com/office/drawing/2014/main" id="{BBDEBF73-48D2-498E-818D-F9E2FA8504BC}"/>
              </a:ext>
            </a:extLst>
          </p:cNvPr>
          <p:cNvSpPr>
            <a:spLocks noGrp="1" noChangeArrowheads="1"/>
          </p:cNvSpPr>
          <p:nvPr>
            <p:ph type="title" idx="4294967295"/>
          </p:nvPr>
        </p:nvSpPr>
        <p:spPr>
          <a:xfrm>
            <a:off x="457200" y="223838"/>
            <a:ext cx="8229600" cy="633412"/>
          </a:xfrm>
        </p:spPr>
        <p:txBody>
          <a:bodyPr/>
          <a:lstStyle/>
          <a:p>
            <a:pPr eaLnBrk="1" hangingPunct="1"/>
            <a:r>
              <a:rPr lang="en-US" altLang="en-US" sz="3600"/>
              <a:t>Supply and Demand Together</a:t>
            </a:r>
          </a:p>
        </p:txBody>
      </p:sp>
      <p:grpSp>
        <p:nvGrpSpPr>
          <p:cNvPr id="79878" name="Group 7">
            <a:extLst>
              <a:ext uri="{FF2B5EF4-FFF2-40B4-BE49-F238E27FC236}">
                <a16:creationId xmlns:a16="http://schemas.microsoft.com/office/drawing/2014/main" id="{0CF5105C-2845-4F0F-B563-5CFC23C76CE2}"/>
              </a:ext>
            </a:extLst>
          </p:cNvPr>
          <p:cNvGrpSpPr>
            <a:grpSpLocks/>
          </p:cNvGrpSpPr>
          <p:nvPr/>
        </p:nvGrpSpPr>
        <p:grpSpPr bwMode="auto">
          <a:xfrm>
            <a:off x="1808163" y="1946275"/>
            <a:ext cx="2101850" cy="3660775"/>
            <a:chOff x="1139" y="1226"/>
            <a:chExt cx="1324" cy="2306"/>
          </a:xfrm>
        </p:grpSpPr>
        <p:sp>
          <p:nvSpPr>
            <p:cNvPr id="79889" name="Line 8">
              <a:extLst>
                <a:ext uri="{FF2B5EF4-FFF2-40B4-BE49-F238E27FC236}">
                  <a16:creationId xmlns:a16="http://schemas.microsoft.com/office/drawing/2014/main" id="{048E5073-3823-4DC4-B416-1E3D01550C17}"/>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0" name="Text Box 9">
              <a:extLst>
                <a:ext uri="{FF2B5EF4-FFF2-40B4-BE49-F238E27FC236}">
                  <a16:creationId xmlns:a16="http://schemas.microsoft.com/office/drawing/2014/main" id="{7BA41B77-A541-4D99-9AC3-D94CDF0B88AD}"/>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79879" name="Group 10">
            <a:extLst>
              <a:ext uri="{FF2B5EF4-FFF2-40B4-BE49-F238E27FC236}">
                <a16:creationId xmlns:a16="http://schemas.microsoft.com/office/drawing/2014/main" id="{B698F25A-E11F-4392-8D7F-977E473F7824}"/>
              </a:ext>
            </a:extLst>
          </p:cNvPr>
          <p:cNvGrpSpPr>
            <a:grpSpLocks/>
          </p:cNvGrpSpPr>
          <p:nvPr/>
        </p:nvGrpSpPr>
        <p:grpSpPr bwMode="auto">
          <a:xfrm>
            <a:off x="1327150" y="1944688"/>
            <a:ext cx="3367088" cy="3665537"/>
            <a:chOff x="836" y="1225"/>
            <a:chExt cx="2121" cy="2309"/>
          </a:xfrm>
        </p:grpSpPr>
        <p:sp>
          <p:nvSpPr>
            <p:cNvPr id="79887" name="Line 11">
              <a:extLst>
                <a:ext uri="{FF2B5EF4-FFF2-40B4-BE49-F238E27FC236}">
                  <a16:creationId xmlns:a16="http://schemas.microsoft.com/office/drawing/2014/main" id="{82C0F804-C8FC-4C53-A1DA-88113F54C455}"/>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8" name="Text Box 12">
              <a:extLst>
                <a:ext uri="{FF2B5EF4-FFF2-40B4-BE49-F238E27FC236}">
                  <a16:creationId xmlns:a16="http://schemas.microsoft.com/office/drawing/2014/main" id="{891AC390-D496-412C-BB53-D967061F7A6B}"/>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112653" name="Text Box 13">
            <a:extLst>
              <a:ext uri="{FF2B5EF4-FFF2-40B4-BE49-F238E27FC236}">
                <a16:creationId xmlns:a16="http://schemas.microsoft.com/office/drawing/2014/main" id="{791EE608-BEA5-46A5-A82B-8B5BB9BB0672}"/>
              </a:ext>
            </a:extLst>
          </p:cNvPr>
          <p:cNvSpPr txBox="1">
            <a:spLocks noChangeArrowheads="1"/>
          </p:cNvSpPr>
          <p:nvPr/>
        </p:nvSpPr>
        <p:spPr bwMode="auto">
          <a:xfrm>
            <a:off x="5295900" y="1754188"/>
            <a:ext cx="3170238" cy="268287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700" b="1">
                <a:solidFill>
                  <a:srgbClr val="CC0000"/>
                </a:solidFill>
                <a:cs typeface="Arial" panose="020B0604020202020204" pitchFamily="34" charset="0"/>
              </a:rPr>
              <a:t>Equilibrium</a:t>
            </a:r>
            <a:r>
              <a:rPr lang="en-US" altLang="en-US" sz="2700">
                <a:cs typeface="Arial" panose="020B0604020202020204" pitchFamily="34" charset="0"/>
              </a:rPr>
              <a:t>:  </a:t>
            </a:r>
            <a:br>
              <a:rPr lang="en-US" altLang="en-US" sz="2700">
                <a:cs typeface="Arial" panose="020B0604020202020204" pitchFamily="34" charset="0"/>
              </a:rPr>
            </a:br>
            <a:r>
              <a:rPr lang="en-US" altLang="en-US" sz="2700" b="1" i="1">
                <a:cs typeface="Arial" panose="020B0604020202020204" pitchFamily="34" charset="0"/>
              </a:rPr>
              <a:t>P</a:t>
            </a:r>
            <a:r>
              <a:rPr lang="en-US" altLang="en-US" sz="2700">
                <a:cs typeface="Arial" panose="020B0604020202020204" pitchFamily="34" charset="0"/>
              </a:rPr>
              <a:t>  has reached </a:t>
            </a:r>
            <a:br>
              <a:rPr lang="en-US" altLang="en-US" sz="2700">
                <a:cs typeface="Arial" panose="020B0604020202020204" pitchFamily="34" charset="0"/>
              </a:rPr>
            </a:br>
            <a:r>
              <a:rPr lang="en-US" altLang="en-US" sz="2700">
                <a:cs typeface="Arial" panose="020B0604020202020204" pitchFamily="34" charset="0"/>
              </a:rPr>
              <a:t>the level where </a:t>
            </a:r>
            <a:br>
              <a:rPr lang="en-US" altLang="en-US" sz="2700">
                <a:cs typeface="Arial" panose="020B0604020202020204" pitchFamily="34" charset="0"/>
              </a:rPr>
            </a:br>
            <a:r>
              <a:rPr lang="en-US" altLang="en-US" sz="2700">
                <a:cs typeface="Arial" panose="020B0604020202020204" pitchFamily="34" charset="0"/>
              </a:rPr>
              <a:t>quantity supplied equals </a:t>
            </a:r>
            <a:br>
              <a:rPr lang="en-US" altLang="en-US" sz="2700">
                <a:cs typeface="Arial" panose="020B0604020202020204" pitchFamily="34" charset="0"/>
              </a:rPr>
            </a:br>
            <a:r>
              <a:rPr lang="en-US" altLang="en-US" sz="2700">
                <a:cs typeface="Arial" panose="020B0604020202020204" pitchFamily="34" charset="0"/>
              </a:rPr>
              <a:t>quantity demanded </a:t>
            </a:r>
          </a:p>
        </p:txBody>
      </p:sp>
      <p:grpSp>
        <p:nvGrpSpPr>
          <p:cNvPr id="5" name="Group 14">
            <a:extLst>
              <a:ext uri="{FF2B5EF4-FFF2-40B4-BE49-F238E27FC236}">
                <a16:creationId xmlns:a16="http://schemas.microsoft.com/office/drawing/2014/main" id="{B92185EB-6105-4EBD-B5D3-27073960B5A2}"/>
              </a:ext>
            </a:extLst>
          </p:cNvPr>
          <p:cNvGrpSpPr>
            <a:grpSpLocks/>
          </p:cNvGrpSpPr>
          <p:nvPr/>
        </p:nvGrpSpPr>
        <p:grpSpPr bwMode="auto">
          <a:xfrm>
            <a:off x="1319213" y="3833813"/>
            <a:ext cx="1676400" cy="1781175"/>
            <a:chOff x="831" y="2415"/>
            <a:chExt cx="1056" cy="1122"/>
          </a:xfrm>
        </p:grpSpPr>
        <p:grpSp>
          <p:nvGrpSpPr>
            <p:cNvPr id="79883" name="Group 15">
              <a:extLst>
                <a:ext uri="{FF2B5EF4-FFF2-40B4-BE49-F238E27FC236}">
                  <a16:creationId xmlns:a16="http://schemas.microsoft.com/office/drawing/2014/main" id="{7BFF4C6E-1AD5-4896-B943-C41A93860729}"/>
                </a:ext>
              </a:extLst>
            </p:cNvPr>
            <p:cNvGrpSpPr>
              <a:grpSpLocks/>
            </p:cNvGrpSpPr>
            <p:nvPr/>
          </p:nvGrpSpPr>
          <p:grpSpPr bwMode="auto">
            <a:xfrm>
              <a:off x="831" y="2461"/>
              <a:ext cx="1013" cy="1076"/>
              <a:chOff x="357" y="2450"/>
              <a:chExt cx="795" cy="646"/>
            </a:xfrm>
          </p:grpSpPr>
          <p:sp>
            <p:nvSpPr>
              <p:cNvPr id="79885" name="Line 16">
                <a:extLst>
                  <a:ext uri="{FF2B5EF4-FFF2-40B4-BE49-F238E27FC236}">
                    <a16:creationId xmlns:a16="http://schemas.microsoft.com/office/drawing/2014/main" id="{C278762A-6A33-4B63-8DFA-30C02650E7A8}"/>
                  </a:ext>
                </a:extLst>
              </p:cNvPr>
              <p:cNvSpPr>
                <a:spLocks noChangeShapeType="1"/>
              </p:cNvSpPr>
              <p:nvPr/>
            </p:nvSpPr>
            <p:spPr bwMode="auto">
              <a:xfrm>
                <a:off x="357" y="2450"/>
                <a:ext cx="795" cy="0"/>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9886" name="Line 17">
                <a:extLst>
                  <a:ext uri="{FF2B5EF4-FFF2-40B4-BE49-F238E27FC236}">
                    <a16:creationId xmlns:a16="http://schemas.microsoft.com/office/drawing/2014/main" id="{E4C415B4-9AFE-4C0A-980D-695874E2F985}"/>
                  </a:ext>
                </a:extLst>
              </p:cNvPr>
              <p:cNvSpPr>
                <a:spLocks noChangeShapeType="1"/>
              </p:cNvSpPr>
              <p:nvPr/>
            </p:nvSpPr>
            <p:spPr bwMode="auto">
              <a:xfrm>
                <a:off x="1152" y="2451"/>
                <a:ext cx="0" cy="645"/>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9884" name="Oval 18">
              <a:extLst>
                <a:ext uri="{FF2B5EF4-FFF2-40B4-BE49-F238E27FC236}">
                  <a16:creationId xmlns:a16="http://schemas.microsoft.com/office/drawing/2014/main" id="{D4BF0D7A-9468-4ED4-996D-1EFA0D3FB2EA}"/>
                </a:ext>
              </a:extLst>
            </p:cNvPr>
            <p:cNvSpPr>
              <a:spLocks noChangeArrowheads="1"/>
            </p:cNvSpPr>
            <p:nvPr/>
          </p:nvSpPr>
          <p:spPr bwMode="auto">
            <a:xfrm>
              <a:off x="1799" y="241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79882" name="FlagCount" hidden="1">
            <a:hlinkClick r:id="rId5" action="ppaction://hlinkfile"/>
            <a:extLst>
              <a:ext uri="{FF2B5EF4-FFF2-40B4-BE49-F238E27FC236}">
                <a16:creationId xmlns:a16="http://schemas.microsoft.com/office/drawing/2014/main" id="{2D30BF4D-7C32-4A92-BAF6-8CD20294CBB3}"/>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653"/>
                                        </p:tgtEl>
                                        <p:attrNameLst>
                                          <p:attrName>style.visibility</p:attrName>
                                        </p:attrNameLst>
                                      </p:cBhvr>
                                      <p:to>
                                        <p:strVal val="visible"/>
                                      </p:to>
                                    </p:set>
                                    <p:animEffect transition="in" filter="dissolve">
                                      <p:cBhvr>
                                        <p:cTn id="7" dur="500"/>
                                        <p:tgtEl>
                                          <p:spTgt spid="1126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1">
            <a:extLst>
              <a:ext uri="{FF2B5EF4-FFF2-40B4-BE49-F238E27FC236}">
                <a16:creationId xmlns:a16="http://schemas.microsoft.com/office/drawing/2014/main" id="{CF191157-BA80-421A-8568-0F14D34DAB31}"/>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1923" name="Slide Number Placeholder 2">
            <a:extLst>
              <a:ext uri="{FF2B5EF4-FFF2-40B4-BE49-F238E27FC236}">
                <a16:creationId xmlns:a16="http://schemas.microsoft.com/office/drawing/2014/main" id="{A5A9835D-A332-4EE1-A7FE-4E47B509E9F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FE5BAE5-A692-46C4-A99D-12CF9B856D2B}" type="slidenum">
              <a:rPr lang="en-US" altLang="en-US">
                <a:solidFill>
                  <a:srgbClr val="777777"/>
                </a:solidFill>
                <a:latin typeface="Tahoma" panose="020B0604030504040204" pitchFamily="34" charset="0"/>
              </a:rPr>
              <a:pPr/>
              <a:t>38</a:t>
            </a:fld>
            <a:endParaRPr lang="en-US" altLang="en-US">
              <a:solidFill>
                <a:srgbClr val="777777"/>
              </a:solidFill>
              <a:latin typeface="Tahoma" panose="020B0604030504040204" pitchFamily="34" charset="0"/>
            </a:endParaRPr>
          </a:p>
        </p:txBody>
      </p:sp>
      <p:grpSp>
        <p:nvGrpSpPr>
          <p:cNvPr id="81924" name="Group 2">
            <a:extLst>
              <a:ext uri="{FF2B5EF4-FFF2-40B4-BE49-F238E27FC236}">
                <a16:creationId xmlns:a16="http://schemas.microsoft.com/office/drawing/2014/main" id="{2180952C-070D-4F94-9A2D-9E70D3ECCABA}"/>
              </a:ext>
            </a:extLst>
          </p:cNvPr>
          <p:cNvGrpSpPr>
            <a:grpSpLocks/>
          </p:cNvGrpSpPr>
          <p:nvPr/>
        </p:nvGrpSpPr>
        <p:grpSpPr bwMode="auto">
          <a:xfrm>
            <a:off x="1808163" y="1946275"/>
            <a:ext cx="2101850" cy="3660775"/>
            <a:chOff x="1139" y="1226"/>
            <a:chExt cx="1324" cy="2306"/>
          </a:xfrm>
        </p:grpSpPr>
        <p:sp>
          <p:nvSpPr>
            <p:cNvPr id="81977" name="Line 3">
              <a:extLst>
                <a:ext uri="{FF2B5EF4-FFF2-40B4-BE49-F238E27FC236}">
                  <a16:creationId xmlns:a16="http://schemas.microsoft.com/office/drawing/2014/main" id="{022B504E-3F62-4538-B4B4-0F981508EC25}"/>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8" name="Text Box 4">
              <a:extLst>
                <a:ext uri="{FF2B5EF4-FFF2-40B4-BE49-F238E27FC236}">
                  <a16:creationId xmlns:a16="http://schemas.microsoft.com/office/drawing/2014/main" id="{386FDD35-2FBE-40EC-93EF-D4A8D6AE010F}"/>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81925" name="Group 5">
            <a:extLst>
              <a:ext uri="{FF2B5EF4-FFF2-40B4-BE49-F238E27FC236}">
                <a16:creationId xmlns:a16="http://schemas.microsoft.com/office/drawing/2014/main" id="{0C86A54F-160B-42DE-8B12-24F3AD067CDD}"/>
              </a:ext>
            </a:extLst>
          </p:cNvPr>
          <p:cNvGrpSpPr>
            <a:grpSpLocks/>
          </p:cNvGrpSpPr>
          <p:nvPr/>
        </p:nvGrpSpPr>
        <p:grpSpPr bwMode="auto">
          <a:xfrm>
            <a:off x="1327150" y="1944688"/>
            <a:ext cx="3367088" cy="3665537"/>
            <a:chOff x="836" y="1225"/>
            <a:chExt cx="2121" cy="2309"/>
          </a:xfrm>
        </p:grpSpPr>
        <p:sp>
          <p:nvSpPr>
            <p:cNvPr id="81975" name="Line 6">
              <a:extLst>
                <a:ext uri="{FF2B5EF4-FFF2-40B4-BE49-F238E27FC236}">
                  <a16:creationId xmlns:a16="http://schemas.microsoft.com/office/drawing/2014/main" id="{5C0E1400-6958-48DB-B891-C6232EA25B9A}"/>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6" name="Text Box 7">
              <a:extLst>
                <a:ext uri="{FF2B5EF4-FFF2-40B4-BE49-F238E27FC236}">
                  <a16:creationId xmlns:a16="http://schemas.microsoft.com/office/drawing/2014/main" id="{DE1D1123-7AD9-4C7C-8E66-2BB847DE2F10}"/>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grpSp>
        <p:nvGrpSpPr>
          <p:cNvPr id="81926" name="Group 8">
            <a:extLst>
              <a:ext uri="{FF2B5EF4-FFF2-40B4-BE49-F238E27FC236}">
                <a16:creationId xmlns:a16="http://schemas.microsoft.com/office/drawing/2014/main" id="{F0023930-600E-4E35-BF18-2A9E2B734A59}"/>
              </a:ext>
            </a:extLst>
          </p:cNvPr>
          <p:cNvGrpSpPr>
            <a:grpSpLocks/>
          </p:cNvGrpSpPr>
          <p:nvPr/>
        </p:nvGrpSpPr>
        <p:grpSpPr bwMode="auto">
          <a:xfrm>
            <a:off x="277813" y="1444625"/>
            <a:ext cx="5513387" cy="4886325"/>
            <a:chOff x="175" y="910"/>
            <a:chExt cx="3473" cy="3078"/>
          </a:xfrm>
        </p:grpSpPr>
        <p:graphicFrame>
          <p:nvGraphicFramePr>
            <p:cNvPr id="81972" name="Object 9">
              <a:extLst>
                <a:ext uri="{FF2B5EF4-FFF2-40B4-BE49-F238E27FC236}">
                  <a16:creationId xmlns:a16="http://schemas.microsoft.com/office/drawing/2014/main" id="{6F602992-2686-43FD-9F81-3F2721AA85E2}"/>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649" imgH="5181600" progId="Excel.Chart.8">
                    <p:embed/>
                  </p:oleObj>
                </mc:Choice>
                <mc:Fallback>
                  <p:oleObj name="Chart" r:id="rId3" imgW="5800649" imgH="5181600" progId="Excel.Chart.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73" name="Text Box 10">
              <a:extLst>
                <a:ext uri="{FF2B5EF4-FFF2-40B4-BE49-F238E27FC236}">
                  <a16:creationId xmlns:a16="http://schemas.microsoft.com/office/drawing/2014/main" id="{0F55A2AF-AA57-46EC-A9CD-E7EFFEC1EC15}"/>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81974" name="Text Box 11">
              <a:extLst>
                <a:ext uri="{FF2B5EF4-FFF2-40B4-BE49-F238E27FC236}">
                  <a16:creationId xmlns:a16="http://schemas.microsoft.com/office/drawing/2014/main" id="{6E64EAD0-1B20-40C7-99BF-46F18A57F2F2}"/>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sp>
        <p:nvSpPr>
          <p:cNvPr id="113676" name="Rectangle 12">
            <a:extLst>
              <a:ext uri="{FF2B5EF4-FFF2-40B4-BE49-F238E27FC236}">
                <a16:creationId xmlns:a16="http://schemas.microsoft.com/office/drawing/2014/main" id="{DADE0D0A-DAA1-4E94-95C4-C294B7F9FD61}"/>
              </a:ext>
            </a:extLst>
          </p:cNvPr>
          <p:cNvSpPr>
            <a:spLocks noGrp="1" noChangeArrowheads="1"/>
          </p:cNvSpPr>
          <p:nvPr>
            <p:ph type="title" idx="4294967295"/>
          </p:nvPr>
        </p:nvSpPr>
        <p:spPr>
          <a:xfrm>
            <a:off x="569913" y="284163"/>
            <a:ext cx="6103937" cy="622300"/>
          </a:xfrm>
        </p:spPr>
        <p:txBody>
          <a:bodyPr/>
          <a:lstStyle/>
          <a:p>
            <a:pPr algn="l" eaLnBrk="1" hangingPunct="1"/>
            <a:r>
              <a:rPr lang="en-US" altLang="en-US" sz="3100">
                <a:solidFill>
                  <a:srgbClr val="CC0000"/>
                </a:solidFill>
              </a:rPr>
              <a:t>Equilibrium price:</a:t>
            </a:r>
          </a:p>
        </p:txBody>
      </p:sp>
      <p:graphicFrame>
        <p:nvGraphicFramePr>
          <p:cNvPr id="113677" name="Group 13">
            <a:extLst>
              <a:ext uri="{FF2B5EF4-FFF2-40B4-BE49-F238E27FC236}">
                <a16:creationId xmlns:a16="http://schemas.microsoft.com/office/drawing/2014/main" id="{7CCD00B6-63AB-44E4-9033-839D33D6A261}"/>
              </a:ext>
            </a:extLst>
          </p:cNvPr>
          <p:cNvGraphicFramePr>
            <a:graphicFrameLocks noGrp="1"/>
          </p:cNvGraphicFramePr>
          <p:nvPr/>
        </p:nvGraphicFramePr>
        <p:xfrm>
          <a:off x="6173788" y="2070100"/>
          <a:ext cx="2293937" cy="3836991"/>
        </p:xfrm>
        <a:graphic>
          <a:graphicData uri="http://schemas.openxmlformats.org/drawingml/2006/table">
            <a:tbl>
              <a:tblPr/>
              <a:tblGrid>
                <a:gridCol w="701675">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722312">
                  <a:extLst>
                    <a:ext uri="{9D8B030D-6E8A-4147-A177-3AD203B41FA5}">
                      <a16:colId xmlns:a16="http://schemas.microsoft.com/office/drawing/2014/main" val="20002"/>
                    </a:ext>
                  </a:extLst>
                </a:gridCol>
              </a:tblGrid>
              <a:tr h="53268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P</a:t>
                      </a:r>
                    </a:p>
                  </a:txBody>
                  <a:tcPr marT="47942" marB="47942"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D</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S</a:t>
                      </a:r>
                    </a:p>
                  </a:txBody>
                  <a:tcPr marT="47942" marB="47942"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24</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21</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18</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9</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113731" name="Text Box 67">
            <a:extLst>
              <a:ext uri="{FF2B5EF4-FFF2-40B4-BE49-F238E27FC236}">
                <a16:creationId xmlns:a16="http://schemas.microsoft.com/office/drawing/2014/main" id="{FE92E31B-4D31-4FD1-9B30-F615EE901392}"/>
              </a:ext>
            </a:extLst>
          </p:cNvPr>
          <p:cNvSpPr txBox="1">
            <a:spLocks noChangeArrowheads="1"/>
          </p:cNvSpPr>
          <p:nvPr/>
        </p:nvSpPr>
        <p:spPr bwMode="auto">
          <a:xfrm>
            <a:off x="1522413" y="754063"/>
            <a:ext cx="6432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the price that equates quantity supplied with quantity demanded</a:t>
            </a:r>
          </a:p>
        </p:txBody>
      </p:sp>
      <p:grpSp>
        <p:nvGrpSpPr>
          <p:cNvPr id="81963" name="Group 68">
            <a:extLst>
              <a:ext uri="{FF2B5EF4-FFF2-40B4-BE49-F238E27FC236}">
                <a16:creationId xmlns:a16="http://schemas.microsoft.com/office/drawing/2014/main" id="{F93D2A38-22F9-4A30-B77F-C7DBEF6C496D}"/>
              </a:ext>
            </a:extLst>
          </p:cNvPr>
          <p:cNvGrpSpPr>
            <a:grpSpLocks/>
          </p:cNvGrpSpPr>
          <p:nvPr/>
        </p:nvGrpSpPr>
        <p:grpSpPr bwMode="auto">
          <a:xfrm>
            <a:off x="1319213" y="3833813"/>
            <a:ext cx="1676400" cy="1781175"/>
            <a:chOff x="831" y="2415"/>
            <a:chExt cx="1056" cy="1122"/>
          </a:xfrm>
        </p:grpSpPr>
        <p:grpSp>
          <p:nvGrpSpPr>
            <p:cNvPr id="81968" name="Group 69">
              <a:extLst>
                <a:ext uri="{FF2B5EF4-FFF2-40B4-BE49-F238E27FC236}">
                  <a16:creationId xmlns:a16="http://schemas.microsoft.com/office/drawing/2014/main" id="{6BAD54D5-1804-440B-972A-5EFCD2B0426E}"/>
                </a:ext>
              </a:extLst>
            </p:cNvPr>
            <p:cNvGrpSpPr>
              <a:grpSpLocks/>
            </p:cNvGrpSpPr>
            <p:nvPr/>
          </p:nvGrpSpPr>
          <p:grpSpPr bwMode="auto">
            <a:xfrm>
              <a:off x="831" y="2461"/>
              <a:ext cx="1013" cy="1076"/>
              <a:chOff x="357" y="2450"/>
              <a:chExt cx="795" cy="646"/>
            </a:xfrm>
          </p:grpSpPr>
          <p:sp>
            <p:nvSpPr>
              <p:cNvPr id="81970" name="Line 70">
                <a:extLst>
                  <a:ext uri="{FF2B5EF4-FFF2-40B4-BE49-F238E27FC236}">
                    <a16:creationId xmlns:a16="http://schemas.microsoft.com/office/drawing/2014/main" id="{63F9F2C3-322C-49DD-B17E-DA607184B39D}"/>
                  </a:ext>
                </a:extLst>
              </p:cNvPr>
              <p:cNvSpPr>
                <a:spLocks noChangeShapeType="1"/>
              </p:cNvSpPr>
              <p:nvPr/>
            </p:nvSpPr>
            <p:spPr bwMode="auto">
              <a:xfrm>
                <a:off x="357" y="2450"/>
                <a:ext cx="795" cy="0"/>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1971" name="Line 71">
                <a:extLst>
                  <a:ext uri="{FF2B5EF4-FFF2-40B4-BE49-F238E27FC236}">
                    <a16:creationId xmlns:a16="http://schemas.microsoft.com/office/drawing/2014/main" id="{7B63769A-BDD2-4112-A317-FB0B3A7CD366}"/>
                  </a:ext>
                </a:extLst>
              </p:cNvPr>
              <p:cNvSpPr>
                <a:spLocks noChangeShapeType="1"/>
              </p:cNvSpPr>
              <p:nvPr/>
            </p:nvSpPr>
            <p:spPr bwMode="auto">
              <a:xfrm>
                <a:off x="1152" y="2451"/>
                <a:ext cx="0" cy="645"/>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1969" name="Oval 72">
              <a:extLst>
                <a:ext uri="{FF2B5EF4-FFF2-40B4-BE49-F238E27FC236}">
                  <a16:creationId xmlns:a16="http://schemas.microsoft.com/office/drawing/2014/main" id="{9DE2A7E2-C18E-4758-A408-8698C2007F2C}"/>
                </a:ext>
              </a:extLst>
            </p:cNvPr>
            <p:cNvSpPr>
              <a:spLocks noChangeArrowheads="1"/>
            </p:cNvSpPr>
            <p:nvPr/>
          </p:nvSpPr>
          <p:spPr bwMode="auto">
            <a:xfrm>
              <a:off x="1799" y="241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7" name="Group 73">
            <a:extLst>
              <a:ext uri="{FF2B5EF4-FFF2-40B4-BE49-F238E27FC236}">
                <a16:creationId xmlns:a16="http://schemas.microsoft.com/office/drawing/2014/main" id="{BF1921D2-9A7A-4482-8494-D476025F5A52}"/>
              </a:ext>
            </a:extLst>
          </p:cNvPr>
          <p:cNvGrpSpPr>
            <a:grpSpLocks/>
          </p:cNvGrpSpPr>
          <p:nvPr/>
        </p:nvGrpSpPr>
        <p:grpSpPr bwMode="auto">
          <a:xfrm>
            <a:off x="309563" y="3702050"/>
            <a:ext cx="6419850" cy="727075"/>
            <a:chOff x="195" y="2332"/>
            <a:chExt cx="4044" cy="458"/>
          </a:xfrm>
        </p:grpSpPr>
        <p:sp>
          <p:nvSpPr>
            <p:cNvPr id="81966" name="Rectangle 74">
              <a:extLst>
                <a:ext uri="{FF2B5EF4-FFF2-40B4-BE49-F238E27FC236}">
                  <a16:creationId xmlns:a16="http://schemas.microsoft.com/office/drawing/2014/main" id="{BA5EE1CD-A560-46B9-B468-3B00829895E7}"/>
                </a:ext>
              </a:extLst>
            </p:cNvPr>
            <p:cNvSpPr>
              <a:spLocks noChangeArrowheads="1"/>
            </p:cNvSpPr>
            <p:nvPr/>
          </p:nvSpPr>
          <p:spPr bwMode="auto">
            <a:xfrm>
              <a:off x="195" y="2332"/>
              <a:ext cx="529" cy="24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1967" name="Rectangle 75">
              <a:extLst>
                <a:ext uri="{FF2B5EF4-FFF2-40B4-BE49-F238E27FC236}">
                  <a16:creationId xmlns:a16="http://schemas.microsoft.com/office/drawing/2014/main" id="{B17BAC94-17B7-401E-B3F8-1C669CFEDBC3}"/>
                </a:ext>
              </a:extLst>
            </p:cNvPr>
            <p:cNvSpPr>
              <a:spLocks noChangeArrowheads="1"/>
            </p:cNvSpPr>
            <p:nvPr/>
          </p:nvSpPr>
          <p:spPr bwMode="auto">
            <a:xfrm>
              <a:off x="3979" y="2552"/>
              <a:ext cx="260" cy="23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81965" name="FlagCount" hidden="1">
            <a:hlinkClick r:id="rId5" action="ppaction://hlinkfile"/>
            <a:extLst>
              <a:ext uri="{FF2B5EF4-FFF2-40B4-BE49-F238E27FC236}">
                <a16:creationId xmlns:a16="http://schemas.microsoft.com/office/drawing/2014/main" id="{2DCB91E0-273D-44F3-9CB3-58222613167F}"/>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76"/>
                                        </p:tgtEl>
                                        <p:attrNameLst>
                                          <p:attrName>style.visibility</p:attrName>
                                        </p:attrNameLst>
                                      </p:cBhvr>
                                      <p:to>
                                        <p:strVal val="visible"/>
                                      </p:to>
                                    </p:set>
                                    <p:animEffect transition="in" filter="wipe(left)">
                                      <p:cBhvr>
                                        <p:cTn id="7" dur="500"/>
                                        <p:tgtEl>
                                          <p:spTgt spid="11367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3731"/>
                                        </p:tgtEl>
                                        <p:attrNameLst>
                                          <p:attrName>style.visibility</p:attrName>
                                        </p:attrNameLst>
                                      </p:cBhvr>
                                      <p:to>
                                        <p:strVal val="visible"/>
                                      </p:to>
                                    </p:set>
                                    <p:animEffect transition="in" filter="wipe(left)">
                                      <p:cBhvr>
                                        <p:cTn id="10" dur="500"/>
                                        <p:tgtEl>
                                          <p:spTgt spid="11373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6" grpId="0"/>
      <p:bldP spid="11373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1">
            <a:extLst>
              <a:ext uri="{FF2B5EF4-FFF2-40B4-BE49-F238E27FC236}">
                <a16:creationId xmlns:a16="http://schemas.microsoft.com/office/drawing/2014/main" id="{195D3A8D-A4D1-4C2D-98D1-8E5964FC5627}"/>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3971" name="Slide Number Placeholder 2">
            <a:extLst>
              <a:ext uri="{FF2B5EF4-FFF2-40B4-BE49-F238E27FC236}">
                <a16:creationId xmlns:a16="http://schemas.microsoft.com/office/drawing/2014/main" id="{1AD0051B-FE28-491F-A017-4059556915A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A0D09B-D139-49A7-BCFB-828286FE965E}" type="slidenum">
              <a:rPr lang="en-US" altLang="en-US">
                <a:solidFill>
                  <a:srgbClr val="777777"/>
                </a:solidFill>
                <a:latin typeface="Tahoma" panose="020B0604030504040204" pitchFamily="34" charset="0"/>
              </a:rPr>
              <a:pPr/>
              <a:t>39</a:t>
            </a:fld>
            <a:endParaRPr lang="en-US" altLang="en-US">
              <a:solidFill>
                <a:srgbClr val="777777"/>
              </a:solidFill>
              <a:latin typeface="Tahoma" panose="020B0604030504040204" pitchFamily="34" charset="0"/>
            </a:endParaRPr>
          </a:p>
        </p:txBody>
      </p:sp>
      <p:grpSp>
        <p:nvGrpSpPr>
          <p:cNvPr id="83972" name="Group 2">
            <a:extLst>
              <a:ext uri="{FF2B5EF4-FFF2-40B4-BE49-F238E27FC236}">
                <a16:creationId xmlns:a16="http://schemas.microsoft.com/office/drawing/2014/main" id="{BDF3D804-4E8E-45E2-917E-17AE286D05F3}"/>
              </a:ext>
            </a:extLst>
          </p:cNvPr>
          <p:cNvGrpSpPr>
            <a:grpSpLocks/>
          </p:cNvGrpSpPr>
          <p:nvPr/>
        </p:nvGrpSpPr>
        <p:grpSpPr bwMode="auto">
          <a:xfrm>
            <a:off x="1808163" y="1946275"/>
            <a:ext cx="2101850" cy="3660775"/>
            <a:chOff x="1139" y="1226"/>
            <a:chExt cx="1324" cy="2306"/>
          </a:xfrm>
        </p:grpSpPr>
        <p:sp>
          <p:nvSpPr>
            <p:cNvPr id="84025" name="Line 3">
              <a:extLst>
                <a:ext uri="{FF2B5EF4-FFF2-40B4-BE49-F238E27FC236}">
                  <a16:creationId xmlns:a16="http://schemas.microsoft.com/office/drawing/2014/main" id="{DAE15BB6-4D11-4E84-B078-794CD11182DC}"/>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26" name="Text Box 4">
              <a:extLst>
                <a:ext uri="{FF2B5EF4-FFF2-40B4-BE49-F238E27FC236}">
                  <a16:creationId xmlns:a16="http://schemas.microsoft.com/office/drawing/2014/main" id="{69A70FC9-1580-4723-B2A0-247AA7AEF24B}"/>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83973" name="Group 5">
            <a:extLst>
              <a:ext uri="{FF2B5EF4-FFF2-40B4-BE49-F238E27FC236}">
                <a16:creationId xmlns:a16="http://schemas.microsoft.com/office/drawing/2014/main" id="{A90AA9A0-0889-4812-80A4-E4BD628F12EF}"/>
              </a:ext>
            </a:extLst>
          </p:cNvPr>
          <p:cNvGrpSpPr>
            <a:grpSpLocks/>
          </p:cNvGrpSpPr>
          <p:nvPr/>
        </p:nvGrpSpPr>
        <p:grpSpPr bwMode="auto">
          <a:xfrm>
            <a:off x="1327150" y="1944688"/>
            <a:ext cx="3367088" cy="3665537"/>
            <a:chOff x="836" y="1225"/>
            <a:chExt cx="2121" cy="2309"/>
          </a:xfrm>
        </p:grpSpPr>
        <p:sp>
          <p:nvSpPr>
            <p:cNvPr id="84023" name="Line 6">
              <a:extLst>
                <a:ext uri="{FF2B5EF4-FFF2-40B4-BE49-F238E27FC236}">
                  <a16:creationId xmlns:a16="http://schemas.microsoft.com/office/drawing/2014/main" id="{4C3C8C1D-7525-4802-AC02-4363DC238D8C}"/>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24" name="Text Box 7">
              <a:extLst>
                <a:ext uri="{FF2B5EF4-FFF2-40B4-BE49-F238E27FC236}">
                  <a16:creationId xmlns:a16="http://schemas.microsoft.com/office/drawing/2014/main" id="{49388597-4052-4E3F-8F43-3B4C247F14C6}"/>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grpSp>
        <p:nvGrpSpPr>
          <p:cNvPr id="83974" name="Group 8">
            <a:extLst>
              <a:ext uri="{FF2B5EF4-FFF2-40B4-BE49-F238E27FC236}">
                <a16:creationId xmlns:a16="http://schemas.microsoft.com/office/drawing/2014/main" id="{8C77AB00-5C2B-4F0F-A561-2BABA3EFFF2B}"/>
              </a:ext>
            </a:extLst>
          </p:cNvPr>
          <p:cNvGrpSpPr>
            <a:grpSpLocks/>
          </p:cNvGrpSpPr>
          <p:nvPr/>
        </p:nvGrpSpPr>
        <p:grpSpPr bwMode="auto">
          <a:xfrm>
            <a:off x="277813" y="1444625"/>
            <a:ext cx="5513387" cy="4886325"/>
            <a:chOff x="175" y="910"/>
            <a:chExt cx="3473" cy="3078"/>
          </a:xfrm>
        </p:grpSpPr>
        <p:graphicFrame>
          <p:nvGraphicFramePr>
            <p:cNvPr id="84020" name="Object 9">
              <a:extLst>
                <a:ext uri="{FF2B5EF4-FFF2-40B4-BE49-F238E27FC236}">
                  <a16:creationId xmlns:a16="http://schemas.microsoft.com/office/drawing/2014/main" id="{A162FAEF-40DE-4B13-AF5E-2C8A5C157EE0}"/>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649" imgH="5181600" progId="Excel.Chart.8">
                    <p:embed/>
                  </p:oleObj>
                </mc:Choice>
                <mc:Fallback>
                  <p:oleObj name="Chart" r:id="rId3" imgW="5800649" imgH="5181600" progId="Excel.Chart.8">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021" name="Text Box 10">
              <a:extLst>
                <a:ext uri="{FF2B5EF4-FFF2-40B4-BE49-F238E27FC236}">
                  <a16:creationId xmlns:a16="http://schemas.microsoft.com/office/drawing/2014/main" id="{09449510-6107-4A45-B0D3-7862172DCA08}"/>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84022" name="Text Box 11">
              <a:extLst>
                <a:ext uri="{FF2B5EF4-FFF2-40B4-BE49-F238E27FC236}">
                  <a16:creationId xmlns:a16="http://schemas.microsoft.com/office/drawing/2014/main" id="{67503398-A9AD-45D1-9AC3-5B6B3FC161CF}"/>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sp>
        <p:nvSpPr>
          <p:cNvPr id="114700" name="Rectangle 12">
            <a:extLst>
              <a:ext uri="{FF2B5EF4-FFF2-40B4-BE49-F238E27FC236}">
                <a16:creationId xmlns:a16="http://schemas.microsoft.com/office/drawing/2014/main" id="{D79F2396-FDF4-4D81-BD13-039FCDA85270}"/>
              </a:ext>
            </a:extLst>
          </p:cNvPr>
          <p:cNvSpPr>
            <a:spLocks noGrp="1" noChangeArrowheads="1"/>
          </p:cNvSpPr>
          <p:nvPr>
            <p:ph type="title" idx="4294967295"/>
          </p:nvPr>
        </p:nvSpPr>
        <p:spPr>
          <a:xfrm>
            <a:off x="571500" y="280988"/>
            <a:ext cx="6586538" cy="622300"/>
          </a:xfrm>
        </p:spPr>
        <p:txBody>
          <a:bodyPr/>
          <a:lstStyle/>
          <a:p>
            <a:pPr algn="l" eaLnBrk="1" hangingPunct="1"/>
            <a:r>
              <a:rPr lang="en-US" altLang="en-US" sz="3100">
                <a:solidFill>
                  <a:srgbClr val="CC0000"/>
                </a:solidFill>
              </a:rPr>
              <a:t>Equilibrium quantity:</a:t>
            </a:r>
          </a:p>
        </p:txBody>
      </p:sp>
      <p:graphicFrame>
        <p:nvGraphicFramePr>
          <p:cNvPr id="114701" name="Group 13">
            <a:extLst>
              <a:ext uri="{FF2B5EF4-FFF2-40B4-BE49-F238E27FC236}">
                <a16:creationId xmlns:a16="http://schemas.microsoft.com/office/drawing/2014/main" id="{0B22B284-824F-42F5-B91D-1CF7803D14C3}"/>
              </a:ext>
            </a:extLst>
          </p:cNvPr>
          <p:cNvGraphicFramePr>
            <a:graphicFrameLocks noGrp="1"/>
          </p:cNvGraphicFramePr>
          <p:nvPr/>
        </p:nvGraphicFramePr>
        <p:xfrm>
          <a:off x="6173788" y="2070100"/>
          <a:ext cx="2293937" cy="3836991"/>
        </p:xfrm>
        <a:graphic>
          <a:graphicData uri="http://schemas.openxmlformats.org/drawingml/2006/table">
            <a:tbl>
              <a:tblPr/>
              <a:tblGrid>
                <a:gridCol w="701675">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722312">
                  <a:extLst>
                    <a:ext uri="{9D8B030D-6E8A-4147-A177-3AD203B41FA5}">
                      <a16:colId xmlns:a16="http://schemas.microsoft.com/office/drawing/2014/main" val="20002"/>
                    </a:ext>
                  </a:extLst>
                </a:gridCol>
              </a:tblGrid>
              <a:tr h="53268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P</a:t>
                      </a:r>
                    </a:p>
                  </a:txBody>
                  <a:tcPr marT="47942" marB="47942"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D</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S</a:t>
                      </a:r>
                    </a:p>
                  </a:txBody>
                  <a:tcPr marT="47942" marB="47942"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24</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21</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18</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9</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114755" name="Text Box 67">
            <a:extLst>
              <a:ext uri="{FF2B5EF4-FFF2-40B4-BE49-F238E27FC236}">
                <a16:creationId xmlns:a16="http://schemas.microsoft.com/office/drawing/2014/main" id="{DBC76DE5-5AC2-433D-8AD1-6B9FD1702CC9}"/>
              </a:ext>
            </a:extLst>
          </p:cNvPr>
          <p:cNvSpPr txBox="1">
            <a:spLocks noChangeArrowheads="1"/>
          </p:cNvSpPr>
          <p:nvPr/>
        </p:nvSpPr>
        <p:spPr bwMode="auto">
          <a:xfrm>
            <a:off x="1512888" y="758825"/>
            <a:ext cx="72707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the quantity supplied and quantity demanded at the equilibrium price</a:t>
            </a:r>
          </a:p>
        </p:txBody>
      </p:sp>
      <p:grpSp>
        <p:nvGrpSpPr>
          <p:cNvPr id="84011" name="Group 68">
            <a:extLst>
              <a:ext uri="{FF2B5EF4-FFF2-40B4-BE49-F238E27FC236}">
                <a16:creationId xmlns:a16="http://schemas.microsoft.com/office/drawing/2014/main" id="{DCCD0CFD-6A28-40C0-AEF7-0F445334C71B}"/>
              </a:ext>
            </a:extLst>
          </p:cNvPr>
          <p:cNvGrpSpPr>
            <a:grpSpLocks/>
          </p:cNvGrpSpPr>
          <p:nvPr/>
        </p:nvGrpSpPr>
        <p:grpSpPr bwMode="auto">
          <a:xfrm>
            <a:off x="1319213" y="3833813"/>
            <a:ext cx="1676400" cy="1781175"/>
            <a:chOff x="831" y="2415"/>
            <a:chExt cx="1056" cy="1122"/>
          </a:xfrm>
        </p:grpSpPr>
        <p:grpSp>
          <p:nvGrpSpPr>
            <p:cNvPr id="84016" name="Group 69">
              <a:extLst>
                <a:ext uri="{FF2B5EF4-FFF2-40B4-BE49-F238E27FC236}">
                  <a16:creationId xmlns:a16="http://schemas.microsoft.com/office/drawing/2014/main" id="{8F05E99A-D521-4F49-B879-A12E64A6B3AB}"/>
                </a:ext>
              </a:extLst>
            </p:cNvPr>
            <p:cNvGrpSpPr>
              <a:grpSpLocks/>
            </p:cNvGrpSpPr>
            <p:nvPr/>
          </p:nvGrpSpPr>
          <p:grpSpPr bwMode="auto">
            <a:xfrm>
              <a:off x="831" y="2461"/>
              <a:ext cx="1013" cy="1076"/>
              <a:chOff x="357" y="2450"/>
              <a:chExt cx="795" cy="646"/>
            </a:xfrm>
          </p:grpSpPr>
          <p:sp>
            <p:nvSpPr>
              <p:cNvPr id="84018" name="Line 70">
                <a:extLst>
                  <a:ext uri="{FF2B5EF4-FFF2-40B4-BE49-F238E27FC236}">
                    <a16:creationId xmlns:a16="http://schemas.microsoft.com/office/drawing/2014/main" id="{F774F495-12CC-46B3-9628-F729107882E5}"/>
                  </a:ext>
                </a:extLst>
              </p:cNvPr>
              <p:cNvSpPr>
                <a:spLocks noChangeShapeType="1"/>
              </p:cNvSpPr>
              <p:nvPr/>
            </p:nvSpPr>
            <p:spPr bwMode="auto">
              <a:xfrm>
                <a:off x="357" y="2450"/>
                <a:ext cx="795" cy="0"/>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4019" name="Line 71">
                <a:extLst>
                  <a:ext uri="{FF2B5EF4-FFF2-40B4-BE49-F238E27FC236}">
                    <a16:creationId xmlns:a16="http://schemas.microsoft.com/office/drawing/2014/main" id="{7562A71B-D64F-4691-A770-D4F92868E97F}"/>
                  </a:ext>
                </a:extLst>
              </p:cNvPr>
              <p:cNvSpPr>
                <a:spLocks noChangeShapeType="1"/>
              </p:cNvSpPr>
              <p:nvPr/>
            </p:nvSpPr>
            <p:spPr bwMode="auto">
              <a:xfrm>
                <a:off x="1152" y="2451"/>
                <a:ext cx="0" cy="645"/>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4017" name="Oval 72">
              <a:extLst>
                <a:ext uri="{FF2B5EF4-FFF2-40B4-BE49-F238E27FC236}">
                  <a16:creationId xmlns:a16="http://schemas.microsoft.com/office/drawing/2014/main" id="{2A903A43-2205-4ABD-84D1-62E3F6695168}"/>
                </a:ext>
              </a:extLst>
            </p:cNvPr>
            <p:cNvSpPr>
              <a:spLocks noChangeArrowheads="1"/>
            </p:cNvSpPr>
            <p:nvPr/>
          </p:nvSpPr>
          <p:spPr bwMode="auto">
            <a:xfrm>
              <a:off x="1799" y="241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7" name="Group 73">
            <a:extLst>
              <a:ext uri="{FF2B5EF4-FFF2-40B4-BE49-F238E27FC236}">
                <a16:creationId xmlns:a16="http://schemas.microsoft.com/office/drawing/2014/main" id="{D7058800-09EA-49C7-B33E-4724BFB061E1}"/>
              </a:ext>
            </a:extLst>
          </p:cNvPr>
          <p:cNvGrpSpPr>
            <a:grpSpLocks/>
          </p:cNvGrpSpPr>
          <p:nvPr/>
        </p:nvGrpSpPr>
        <p:grpSpPr bwMode="auto">
          <a:xfrm>
            <a:off x="2708275" y="4051300"/>
            <a:ext cx="5672138" cy="2168525"/>
            <a:chOff x="1706" y="2552"/>
            <a:chExt cx="3573" cy="1366"/>
          </a:xfrm>
        </p:grpSpPr>
        <p:sp>
          <p:nvSpPr>
            <p:cNvPr id="84014" name="Rectangle 74">
              <a:extLst>
                <a:ext uri="{FF2B5EF4-FFF2-40B4-BE49-F238E27FC236}">
                  <a16:creationId xmlns:a16="http://schemas.microsoft.com/office/drawing/2014/main" id="{9E805447-5701-4DC8-8626-E62CFD64A696}"/>
                </a:ext>
              </a:extLst>
            </p:cNvPr>
            <p:cNvSpPr>
              <a:spLocks noChangeArrowheads="1"/>
            </p:cNvSpPr>
            <p:nvPr/>
          </p:nvSpPr>
          <p:spPr bwMode="auto">
            <a:xfrm>
              <a:off x="1706" y="3676"/>
              <a:ext cx="278" cy="24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4015" name="Rectangle 75">
              <a:extLst>
                <a:ext uri="{FF2B5EF4-FFF2-40B4-BE49-F238E27FC236}">
                  <a16:creationId xmlns:a16="http://schemas.microsoft.com/office/drawing/2014/main" id="{649D1EBD-626B-4944-A276-1A09C392A63B}"/>
                </a:ext>
              </a:extLst>
            </p:cNvPr>
            <p:cNvSpPr>
              <a:spLocks noChangeArrowheads="1"/>
            </p:cNvSpPr>
            <p:nvPr/>
          </p:nvSpPr>
          <p:spPr bwMode="auto">
            <a:xfrm>
              <a:off x="4433" y="2552"/>
              <a:ext cx="846" cy="23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84013" name="FlagCount" hidden="1">
            <a:hlinkClick r:id="rId5" action="ppaction://hlinkfile"/>
            <a:extLst>
              <a:ext uri="{FF2B5EF4-FFF2-40B4-BE49-F238E27FC236}">
                <a16:creationId xmlns:a16="http://schemas.microsoft.com/office/drawing/2014/main" id="{010F11E3-33B9-438E-B441-763775BDC26C}"/>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700"/>
                                        </p:tgtEl>
                                        <p:attrNameLst>
                                          <p:attrName>style.visibility</p:attrName>
                                        </p:attrNameLst>
                                      </p:cBhvr>
                                      <p:to>
                                        <p:strVal val="visible"/>
                                      </p:to>
                                    </p:set>
                                    <p:animEffect transition="in" filter="wipe(left)">
                                      <p:cBhvr>
                                        <p:cTn id="7" dur="500"/>
                                        <p:tgtEl>
                                          <p:spTgt spid="11470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4755"/>
                                        </p:tgtEl>
                                        <p:attrNameLst>
                                          <p:attrName>style.visibility</p:attrName>
                                        </p:attrNameLst>
                                      </p:cBhvr>
                                      <p:to>
                                        <p:strVal val="visible"/>
                                      </p:to>
                                    </p:set>
                                    <p:animEffect transition="in" filter="wipe(left)">
                                      <p:cBhvr>
                                        <p:cTn id="10" dur="500"/>
                                        <p:tgtEl>
                                          <p:spTgt spid="11475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00" grpId="0"/>
      <p:bldP spid="11475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1">
            <a:extLst>
              <a:ext uri="{FF2B5EF4-FFF2-40B4-BE49-F238E27FC236}">
                <a16:creationId xmlns:a16="http://schemas.microsoft.com/office/drawing/2014/main" id="{FA93DC8A-C7AD-46B4-B555-F87B2C298F6E}"/>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6019" name="Slide Number Placeholder 2">
            <a:extLst>
              <a:ext uri="{FF2B5EF4-FFF2-40B4-BE49-F238E27FC236}">
                <a16:creationId xmlns:a16="http://schemas.microsoft.com/office/drawing/2014/main" id="{8F94B7E0-65D2-40F9-BD64-CA1E55249591}"/>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A854870-D9B7-40A2-B283-EEE36FE9597C}" type="slidenum">
              <a:rPr lang="en-US" altLang="en-US">
                <a:solidFill>
                  <a:srgbClr val="777777"/>
                </a:solidFill>
                <a:latin typeface="Tahoma" panose="020B0604030504040204" pitchFamily="34" charset="0"/>
              </a:rPr>
              <a:pPr/>
              <a:t>40</a:t>
            </a:fld>
            <a:endParaRPr lang="en-US" altLang="en-US">
              <a:solidFill>
                <a:srgbClr val="777777"/>
              </a:solidFill>
              <a:latin typeface="Tahoma" panose="020B0604030504040204" pitchFamily="34" charset="0"/>
            </a:endParaRPr>
          </a:p>
        </p:txBody>
      </p:sp>
      <p:grpSp>
        <p:nvGrpSpPr>
          <p:cNvPr id="86020" name="Group 2">
            <a:extLst>
              <a:ext uri="{FF2B5EF4-FFF2-40B4-BE49-F238E27FC236}">
                <a16:creationId xmlns:a16="http://schemas.microsoft.com/office/drawing/2014/main" id="{99EFACC4-AD25-4BBD-9222-3C12539073EE}"/>
              </a:ext>
            </a:extLst>
          </p:cNvPr>
          <p:cNvGrpSpPr>
            <a:grpSpLocks/>
          </p:cNvGrpSpPr>
          <p:nvPr/>
        </p:nvGrpSpPr>
        <p:grpSpPr bwMode="auto">
          <a:xfrm>
            <a:off x="277813" y="1444625"/>
            <a:ext cx="5513387" cy="4886325"/>
            <a:chOff x="175" y="910"/>
            <a:chExt cx="3473" cy="3078"/>
          </a:xfrm>
        </p:grpSpPr>
        <p:graphicFrame>
          <p:nvGraphicFramePr>
            <p:cNvPr id="86043" name="Object 3">
              <a:extLst>
                <a:ext uri="{FF2B5EF4-FFF2-40B4-BE49-F238E27FC236}">
                  <a16:creationId xmlns:a16="http://schemas.microsoft.com/office/drawing/2014/main" id="{8C206560-85F7-4489-82FD-42EDFD802422}"/>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649" imgH="5181600" progId="Excel.Chart.8">
                    <p:embed/>
                  </p:oleObj>
                </mc:Choice>
                <mc:Fallback>
                  <p:oleObj name="Chart" r:id="rId3" imgW="5800649" imgH="5181600"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44" name="Text Box 4">
              <a:extLst>
                <a:ext uri="{FF2B5EF4-FFF2-40B4-BE49-F238E27FC236}">
                  <a16:creationId xmlns:a16="http://schemas.microsoft.com/office/drawing/2014/main" id="{0CD4AE04-48E8-4C0D-A63C-915F7EF1C60E}"/>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86045" name="Text Box 5">
              <a:extLst>
                <a:ext uri="{FF2B5EF4-FFF2-40B4-BE49-F238E27FC236}">
                  <a16:creationId xmlns:a16="http://schemas.microsoft.com/office/drawing/2014/main" id="{B3CCEBE2-C356-4A65-A616-9B45A3AFEF89}"/>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86021" name="Group 6">
            <a:extLst>
              <a:ext uri="{FF2B5EF4-FFF2-40B4-BE49-F238E27FC236}">
                <a16:creationId xmlns:a16="http://schemas.microsoft.com/office/drawing/2014/main" id="{492CE919-95D1-4077-9320-9ABE170DF6D4}"/>
              </a:ext>
            </a:extLst>
          </p:cNvPr>
          <p:cNvGrpSpPr>
            <a:grpSpLocks/>
          </p:cNvGrpSpPr>
          <p:nvPr/>
        </p:nvGrpSpPr>
        <p:grpSpPr bwMode="auto">
          <a:xfrm>
            <a:off x="1808163" y="1946275"/>
            <a:ext cx="2101850" cy="3660775"/>
            <a:chOff x="1139" y="1226"/>
            <a:chExt cx="1324" cy="2306"/>
          </a:xfrm>
        </p:grpSpPr>
        <p:sp>
          <p:nvSpPr>
            <p:cNvPr id="86041" name="Line 7">
              <a:extLst>
                <a:ext uri="{FF2B5EF4-FFF2-40B4-BE49-F238E27FC236}">
                  <a16:creationId xmlns:a16="http://schemas.microsoft.com/office/drawing/2014/main" id="{DD69690A-9E24-4261-B938-D46B521DDEC0}"/>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42" name="Text Box 8">
              <a:extLst>
                <a:ext uri="{FF2B5EF4-FFF2-40B4-BE49-F238E27FC236}">
                  <a16:creationId xmlns:a16="http://schemas.microsoft.com/office/drawing/2014/main" id="{0BFA564A-7FAE-4DEB-9CEE-6D8CC39E89B3}"/>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86022" name="Group 9">
            <a:extLst>
              <a:ext uri="{FF2B5EF4-FFF2-40B4-BE49-F238E27FC236}">
                <a16:creationId xmlns:a16="http://schemas.microsoft.com/office/drawing/2014/main" id="{AD368203-26D0-45C6-A603-63CB8F959C3D}"/>
              </a:ext>
            </a:extLst>
          </p:cNvPr>
          <p:cNvGrpSpPr>
            <a:grpSpLocks/>
          </p:cNvGrpSpPr>
          <p:nvPr/>
        </p:nvGrpSpPr>
        <p:grpSpPr bwMode="auto">
          <a:xfrm>
            <a:off x="1327150" y="1944688"/>
            <a:ext cx="3367088" cy="3665537"/>
            <a:chOff x="836" y="1225"/>
            <a:chExt cx="2121" cy="2309"/>
          </a:xfrm>
        </p:grpSpPr>
        <p:sp>
          <p:nvSpPr>
            <p:cNvPr id="86039" name="Line 10">
              <a:extLst>
                <a:ext uri="{FF2B5EF4-FFF2-40B4-BE49-F238E27FC236}">
                  <a16:creationId xmlns:a16="http://schemas.microsoft.com/office/drawing/2014/main" id="{99EE940E-743B-4DCC-9713-D2ABC6361AB3}"/>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40" name="Text Box 11">
              <a:extLst>
                <a:ext uri="{FF2B5EF4-FFF2-40B4-BE49-F238E27FC236}">
                  <a16:creationId xmlns:a16="http://schemas.microsoft.com/office/drawing/2014/main" id="{121824DA-A413-4024-AD31-C4C1383E21B8}"/>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115724" name="Line 12">
            <a:extLst>
              <a:ext uri="{FF2B5EF4-FFF2-40B4-BE49-F238E27FC236}">
                <a16:creationId xmlns:a16="http://schemas.microsoft.com/office/drawing/2014/main" id="{A22F2E6F-70AA-43AD-B142-BD45086A68E8}"/>
              </a:ext>
            </a:extLst>
          </p:cNvPr>
          <p:cNvSpPr>
            <a:spLocks noChangeShapeType="1"/>
          </p:cNvSpPr>
          <p:nvPr/>
        </p:nvSpPr>
        <p:spPr bwMode="auto">
          <a:xfrm>
            <a:off x="1319213" y="2767013"/>
            <a:ext cx="2681287"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13">
            <a:extLst>
              <a:ext uri="{FF2B5EF4-FFF2-40B4-BE49-F238E27FC236}">
                <a16:creationId xmlns:a16="http://schemas.microsoft.com/office/drawing/2014/main" id="{FBD74B12-7FB0-4E42-950E-FB7BB6B8C30E}"/>
              </a:ext>
            </a:extLst>
          </p:cNvPr>
          <p:cNvGrpSpPr>
            <a:grpSpLocks/>
          </p:cNvGrpSpPr>
          <p:nvPr/>
        </p:nvGrpSpPr>
        <p:grpSpPr bwMode="auto">
          <a:xfrm>
            <a:off x="2212975" y="2695575"/>
            <a:ext cx="139700" cy="2908300"/>
            <a:chOff x="1394" y="1698"/>
            <a:chExt cx="88" cy="1832"/>
          </a:xfrm>
        </p:grpSpPr>
        <p:sp>
          <p:nvSpPr>
            <p:cNvPr id="86037" name="Line 14">
              <a:extLst>
                <a:ext uri="{FF2B5EF4-FFF2-40B4-BE49-F238E27FC236}">
                  <a16:creationId xmlns:a16="http://schemas.microsoft.com/office/drawing/2014/main" id="{31CBA36E-DA9D-482E-9F37-EFABA30D0AD6}"/>
                </a:ext>
              </a:extLst>
            </p:cNvPr>
            <p:cNvSpPr>
              <a:spLocks noChangeShapeType="1"/>
            </p:cNvSpPr>
            <p:nvPr/>
          </p:nvSpPr>
          <p:spPr bwMode="auto">
            <a:xfrm>
              <a:off x="1438" y="1744"/>
              <a:ext cx="0" cy="1786"/>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6038" name="Oval 15">
              <a:extLst>
                <a:ext uri="{FF2B5EF4-FFF2-40B4-BE49-F238E27FC236}">
                  <a16:creationId xmlns:a16="http://schemas.microsoft.com/office/drawing/2014/main" id="{27CFA52A-0E51-41DC-BC53-A49F7E7FC097}"/>
                </a:ext>
              </a:extLst>
            </p:cNvPr>
            <p:cNvSpPr>
              <a:spLocks noChangeArrowheads="1"/>
            </p:cNvSpPr>
            <p:nvPr/>
          </p:nvSpPr>
          <p:spPr bwMode="auto">
            <a:xfrm>
              <a:off x="1394" y="1698"/>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115728" name="Rectangle 16">
            <a:extLst>
              <a:ext uri="{FF2B5EF4-FFF2-40B4-BE49-F238E27FC236}">
                <a16:creationId xmlns:a16="http://schemas.microsoft.com/office/drawing/2014/main" id="{1D8BDC3A-CF1F-4620-9A77-9FF538FBCB0E}"/>
              </a:ext>
            </a:extLst>
          </p:cNvPr>
          <p:cNvSpPr>
            <a:spLocks noGrp="1" noChangeArrowheads="1"/>
          </p:cNvSpPr>
          <p:nvPr>
            <p:ph type="title" idx="4294967295"/>
          </p:nvPr>
        </p:nvSpPr>
        <p:spPr>
          <a:xfrm>
            <a:off x="571500" y="252413"/>
            <a:ext cx="6586538" cy="622300"/>
          </a:xfrm>
        </p:spPr>
        <p:txBody>
          <a:bodyPr/>
          <a:lstStyle/>
          <a:p>
            <a:pPr algn="l" eaLnBrk="1" hangingPunct="1"/>
            <a:r>
              <a:rPr lang="en-US" altLang="en-US" sz="3100">
                <a:solidFill>
                  <a:srgbClr val="CC0000"/>
                </a:solidFill>
              </a:rPr>
              <a:t>Surplus</a:t>
            </a:r>
            <a:r>
              <a:rPr lang="en-US" altLang="en-US" sz="3100">
                <a:solidFill>
                  <a:schemeClr val="tx1"/>
                </a:solidFill>
              </a:rPr>
              <a:t> (a.k.a. excess supply):</a:t>
            </a:r>
          </a:p>
        </p:txBody>
      </p:sp>
      <p:sp>
        <p:nvSpPr>
          <p:cNvPr id="115729" name="Text Box 17">
            <a:extLst>
              <a:ext uri="{FF2B5EF4-FFF2-40B4-BE49-F238E27FC236}">
                <a16:creationId xmlns:a16="http://schemas.microsoft.com/office/drawing/2014/main" id="{515E7D15-1A8E-4DB0-9ACD-205B8D4B4719}"/>
              </a:ext>
            </a:extLst>
          </p:cNvPr>
          <p:cNvSpPr txBox="1">
            <a:spLocks noChangeArrowheads="1"/>
          </p:cNvSpPr>
          <p:nvPr/>
        </p:nvSpPr>
        <p:spPr bwMode="auto">
          <a:xfrm>
            <a:off x="1512888" y="715963"/>
            <a:ext cx="6562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supplied is greater than quantity demanded</a:t>
            </a:r>
          </a:p>
        </p:txBody>
      </p:sp>
      <p:sp>
        <p:nvSpPr>
          <p:cNvPr id="115730" name="AutoShape 18">
            <a:extLst>
              <a:ext uri="{FF2B5EF4-FFF2-40B4-BE49-F238E27FC236}">
                <a16:creationId xmlns:a16="http://schemas.microsoft.com/office/drawing/2014/main" id="{13407C7C-AA00-4D23-AB97-8C57DBF3785F}"/>
              </a:ext>
            </a:extLst>
          </p:cNvPr>
          <p:cNvSpPr>
            <a:spLocks/>
          </p:cNvSpPr>
          <p:nvPr/>
        </p:nvSpPr>
        <p:spPr bwMode="auto">
          <a:xfrm rot="5400000">
            <a:off x="3029744" y="1705769"/>
            <a:ext cx="220662" cy="1714500"/>
          </a:xfrm>
          <a:prstGeom prst="leftBrace">
            <a:avLst>
              <a:gd name="adj1" fmla="val 64748"/>
              <a:gd name="adj2" fmla="val 50000"/>
            </a:avLst>
          </a:prstGeom>
          <a:noFill/>
          <a:ln w="1905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5731" name="Text Box 19">
            <a:extLst>
              <a:ext uri="{FF2B5EF4-FFF2-40B4-BE49-F238E27FC236}">
                <a16:creationId xmlns:a16="http://schemas.microsoft.com/office/drawing/2014/main" id="{238F566B-4ED5-42E0-991A-339C740C5041}"/>
              </a:ext>
            </a:extLst>
          </p:cNvPr>
          <p:cNvSpPr txBox="1">
            <a:spLocks noChangeArrowheads="1"/>
          </p:cNvSpPr>
          <p:nvPr/>
        </p:nvSpPr>
        <p:spPr bwMode="auto">
          <a:xfrm>
            <a:off x="2428875" y="1924050"/>
            <a:ext cx="1501775" cy="4889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Surplus</a:t>
            </a:r>
          </a:p>
        </p:txBody>
      </p:sp>
      <p:sp>
        <p:nvSpPr>
          <p:cNvPr id="115732" name="Text Box 20">
            <a:extLst>
              <a:ext uri="{FF2B5EF4-FFF2-40B4-BE49-F238E27FC236}">
                <a16:creationId xmlns:a16="http://schemas.microsoft.com/office/drawing/2014/main" id="{1B3821ED-F28E-4B84-9CCB-B7D627A669D4}"/>
              </a:ext>
            </a:extLst>
          </p:cNvPr>
          <p:cNvSpPr txBox="1">
            <a:spLocks noChangeArrowheads="1"/>
          </p:cNvSpPr>
          <p:nvPr/>
        </p:nvSpPr>
        <p:spPr bwMode="auto">
          <a:xfrm>
            <a:off x="5476875" y="1714500"/>
            <a:ext cx="22574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Example: </a:t>
            </a:r>
            <a:br>
              <a:rPr lang="en-US" altLang="en-US" sz="2600">
                <a:cs typeface="Arial" panose="020B0604020202020204" pitchFamily="34" charset="0"/>
              </a:rPr>
            </a:br>
            <a:r>
              <a:rPr lang="en-US" altLang="en-US" sz="2600">
                <a:cs typeface="Arial" panose="020B0604020202020204" pitchFamily="34" charset="0"/>
              </a:rPr>
              <a:t>If  </a:t>
            </a:r>
            <a:r>
              <a:rPr lang="en-US" altLang="en-US" sz="2600" b="1" i="1">
                <a:cs typeface="Arial" panose="020B0604020202020204" pitchFamily="34" charset="0"/>
              </a:rPr>
              <a:t>P</a:t>
            </a:r>
            <a:r>
              <a:rPr lang="en-US" altLang="en-US" sz="2600">
                <a:cs typeface="Arial" panose="020B0604020202020204" pitchFamily="34" charset="0"/>
              </a:rPr>
              <a:t>  =  $5, </a:t>
            </a:r>
          </a:p>
        </p:txBody>
      </p:sp>
      <p:sp>
        <p:nvSpPr>
          <p:cNvPr id="115733" name="Text Box 21">
            <a:extLst>
              <a:ext uri="{FF2B5EF4-FFF2-40B4-BE49-F238E27FC236}">
                <a16:creationId xmlns:a16="http://schemas.microsoft.com/office/drawing/2014/main" id="{68E2B6AD-04DE-44AC-B858-D72A74F5CA4F}"/>
              </a:ext>
            </a:extLst>
          </p:cNvPr>
          <p:cNvSpPr txBox="1">
            <a:spLocks noChangeArrowheads="1"/>
          </p:cNvSpPr>
          <p:nvPr/>
        </p:nvSpPr>
        <p:spPr bwMode="auto">
          <a:xfrm>
            <a:off x="5468938" y="2647950"/>
            <a:ext cx="286226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then</a:t>
            </a:r>
            <a:br>
              <a:rPr lang="en-US" altLang="en-US" sz="2600">
                <a:cs typeface="Arial" panose="020B0604020202020204" pitchFamily="34" charset="0"/>
              </a:rPr>
            </a:br>
            <a:r>
              <a:rPr lang="en-US" altLang="en-US" sz="2600">
                <a:cs typeface="Arial" panose="020B0604020202020204" pitchFamily="34" charset="0"/>
              </a:rPr>
              <a:t>   </a:t>
            </a: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  9 lattes</a:t>
            </a:r>
          </a:p>
        </p:txBody>
      </p:sp>
      <p:sp>
        <p:nvSpPr>
          <p:cNvPr id="115734" name="Text Box 22">
            <a:extLst>
              <a:ext uri="{FF2B5EF4-FFF2-40B4-BE49-F238E27FC236}">
                <a16:creationId xmlns:a16="http://schemas.microsoft.com/office/drawing/2014/main" id="{B2FA8F08-76DC-45DB-A26E-05326BB740CD}"/>
              </a:ext>
            </a:extLst>
          </p:cNvPr>
          <p:cNvSpPr txBox="1">
            <a:spLocks noChangeArrowheads="1"/>
          </p:cNvSpPr>
          <p:nvPr/>
        </p:nvSpPr>
        <p:spPr bwMode="auto">
          <a:xfrm>
            <a:off x="5478463" y="3586163"/>
            <a:ext cx="27876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and</a:t>
            </a:r>
            <a:br>
              <a:rPr lang="en-US" altLang="en-US" sz="2600">
                <a:cs typeface="Arial" panose="020B0604020202020204" pitchFamily="34" charset="0"/>
              </a:rPr>
            </a:br>
            <a:r>
              <a:rPr lang="en-US" altLang="en-US" sz="2600">
                <a:cs typeface="Arial" panose="020B0604020202020204" pitchFamily="34" charset="0"/>
              </a:rPr>
              <a:t>   </a:t>
            </a:r>
            <a:r>
              <a:rPr lang="en-US" altLang="en-US" sz="2600" b="1" i="1">
                <a:cs typeface="Arial" panose="020B0604020202020204" pitchFamily="34" charset="0"/>
              </a:rPr>
              <a:t>Q</a:t>
            </a:r>
            <a:r>
              <a:rPr lang="en-US" altLang="en-US" sz="2600" b="1" i="1" baseline="30000">
                <a:cs typeface="Arial" panose="020B0604020202020204" pitchFamily="34" charset="0"/>
              </a:rPr>
              <a:t>S</a:t>
            </a:r>
            <a:r>
              <a:rPr lang="en-US" altLang="en-US" sz="2600">
                <a:cs typeface="Arial" panose="020B0604020202020204" pitchFamily="34" charset="0"/>
              </a:rPr>
              <a:t>  =  25 lattes</a:t>
            </a:r>
          </a:p>
        </p:txBody>
      </p:sp>
      <p:sp>
        <p:nvSpPr>
          <p:cNvPr id="115735" name="Text Box 23">
            <a:extLst>
              <a:ext uri="{FF2B5EF4-FFF2-40B4-BE49-F238E27FC236}">
                <a16:creationId xmlns:a16="http://schemas.microsoft.com/office/drawing/2014/main" id="{566D9F06-DCDC-40C6-82C5-7C3AB1D61CFE}"/>
              </a:ext>
            </a:extLst>
          </p:cNvPr>
          <p:cNvSpPr txBox="1">
            <a:spLocks noChangeArrowheads="1"/>
          </p:cNvSpPr>
          <p:nvPr/>
        </p:nvSpPr>
        <p:spPr bwMode="auto">
          <a:xfrm>
            <a:off x="5472113" y="4502150"/>
            <a:ext cx="30226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resulting in a </a:t>
            </a:r>
            <a:br>
              <a:rPr lang="en-US" altLang="en-US" sz="2600">
                <a:cs typeface="Arial" panose="020B0604020202020204" pitchFamily="34" charset="0"/>
              </a:rPr>
            </a:br>
            <a:r>
              <a:rPr lang="en-US" altLang="en-US" sz="2600">
                <a:cs typeface="Arial" panose="020B0604020202020204" pitchFamily="34" charset="0"/>
              </a:rPr>
              <a:t>surplus of 16 lattes</a:t>
            </a:r>
          </a:p>
        </p:txBody>
      </p:sp>
      <p:grpSp>
        <p:nvGrpSpPr>
          <p:cNvPr id="6" name="Group 24">
            <a:extLst>
              <a:ext uri="{FF2B5EF4-FFF2-40B4-BE49-F238E27FC236}">
                <a16:creationId xmlns:a16="http://schemas.microsoft.com/office/drawing/2014/main" id="{EE55B10C-8341-451A-9071-20AB665A2843}"/>
              </a:ext>
            </a:extLst>
          </p:cNvPr>
          <p:cNvGrpSpPr>
            <a:grpSpLocks/>
          </p:cNvGrpSpPr>
          <p:nvPr/>
        </p:nvGrpSpPr>
        <p:grpSpPr bwMode="auto">
          <a:xfrm>
            <a:off x="3927475" y="2695575"/>
            <a:ext cx="139700" cy="2911475"/>
            <a:chOff x="2474" y="1698"/>
            <a:chExt cx="88" cy="1834"/>
          </a:xfrm>
        </p:grpSpPr>
        <p:sp>
          <p:nvSpPr>
            <p:cNvPr id="86035" name="Line 25">
              <a:extLst>
                <a:ext uri="{FF2B5EF4-FFF2-40B4-BE49-F238E27FC236}">
                  <a16:creationId xmlns:a16="http://schemas.microsoft.com/office/drawing/2014/main" id="{7C09AFE8-CEBE-4875-A80F-54A3EDE68016}"/>
                </a:ext>
              </a:extLst>
            </p:cNvPr>
            <p:cNvSpPr>
              <a:spLocks noChangeShapeType="1"/>
            </p:cNvSpPr>
            <p:nvPr/>
          </p:nvSpPr>
          <p:spPr bwMode="auto">
            <a:xfrm>
              <a:off x="2519" y="1744"/>
              <a:ext cx="0" cy="1788"/>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6036" name="Oval 26">
              <a:extLst>
                <a:ext uri="{FF2B5EF4-FFF2-40B4-BE49-F238E27FC236}">
                  <a16:creationId xmlns:a16="http://schemas.microsoft.com/office/drawing/2014/main" id="{9A19018E-65C1-4AFD-99E5-69A0F2AA68BE}"/>
                </a:ext>
              </a:extLst>
            </p:cNvPr>
            <p:cNvSpPr>
              <a:spLocks noChangeArrowheads="1"/>
            </p:cNvSpPr>
            <p:nvPr/>
          </p:nvSpPr>
          <p:spPr bwMode="auto">
            <a:xfrm>
              <a:off x="2474" y="1698"/>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86034" name="FlagCount" hidden="1">
            <a:hlinkClick r:id="rId5" action="ppaction://hlinkfile"/>
            <a:extLst>
              <a:ext uri="{FF2B5EF4-FFF2-40B4-BE49-F238E27FC236}">
                <a16:creationId xmlns:a16="http://schemas.microsoft.com/office/drawing/2014/main" id="{94991B5C-366D-4620-AC5A-877CA8CA4115}"/>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28"/>
                                        </p:tgtEl>
                                        <p:attrNameLst>
                                          <p:attrName>style.visibility</p:attrName>
                                        </p:attrNameLst>
                                      </p:cBhvr>
                                      <p:to>
                                        <p:strVal val="visible"/>
                                      </p:to>
                                    </p:set>
                                    <p:animEffect transition="in" filter="wipe(left)">
                                      <p:cBhvr>
                                        <p:cTn id="7" dur="500"/>
                                        <p:tgtEl>
                                          <p:spTgt spid="11572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5729"/>
                                        </p:tgtEl>
                                        <p:attrNameLst>
                                          <p:attrName>style.visibility</p:attrName>
                                        </p:attrNameLst>
                                      </p:cBhvr>
                                      <p:to>
                                        <p:strVal val="visible"/>
                                      </p:to>
                                    </p:set>
                                    <p:animEffect transition="in" filter="wipe(left)">
                                      <p:cBhvr>
                                        <p:cTn id="10" dur="500"/>
                                        <p:tgtEl>
                                          <p:spTgt spid="11572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5732"/>
                                        </p:tgtEl>
                                        <p:attrNameLst>
                                          <p:attrName>style.visibility</p:attrName>
                                        </p:attrNameLst>
                                      </p:cBhvr>
                                      <p:to>
                                        <p:strVal val="visible"/>
                                      </p:to>
                                    </p:set>
                                    <p:animEffect transition="in" filter="wipe(left)">
                                      <p:cBhvr>
                                        <p:cTn id="15" dur="500"/>
                                        <p:tgtEl>
                                          <p:spTgt spid="115732"/>
                                        </p:tgtEl>
                                      </p:cBhvr>
                                    </p:animEffect>
                                  </p:childTnLst>
                                </p:cTn>
                              </p:par>
                              <p:par>
                                <p:cTn id="16" presetID="22" presetClass="entr" presetSubtype="8" fill="hold" nodeType="withEffect">
                                  <p:stCondLst>
                                    <p:cond delay="0"/>
                                  </p:stCondLst>
                                  <p:childTnLst>
                                    <p:set>
                                      <p:cBhvr>
                                        <p:cTn id="17" dur="1" fill="hold">
                                          <p:stCondLst>
                                            <p:cond delay="0"/>
                                          </p:stCondLst>
                                        </p:cTn>
                                        <p:tgtEl>
                                          <p:spTgt spid="115724"/>
                                        </p:tgtEl>
                                        <p:attrNameLst>
                                          <p:attrName>style.visibility</p:attrName>
                                        </p:attrNameLst>
                                      </p:cBhvr>
                                      <p:to>
                                        <p:strVal val="visible"/>
                                      </p:to>
                                    </p:set>
                                    <p:animEffect transition="in" filter="wipe(left)">
                                      <p:cBhvr>
                                        <p:cTn id="18" dur="500"/>
                                        <p:tgtEl>
                                          <p:spTgt spid="1157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15733"/>
                                        </p:tgtEl>
                                        <p:attrNameLst>
                                          <p:attrName>style.visibility</p:attrName>
                                        </p:attrNameLst>
                                      </p:cBhvr>
                                      <p:to>
                                        <p:strVal val="visible"/>
                                      </p:to>
                                    </p:set>
                                    <p:animEffect transition="in" filter="wipe(left)">
                                      <p:cBhvr>
                                        <p:cTn id="23" dur="500"/>
                                        <p:tgtEl>
                                          <p:spTgt spid="115733"/>
                                        </p:tgtEl>
                                      </p:cBhvr>
                                    </p:animEffect>
                                  </p:childTnLst>
                                </p:cTn>
                              </p:par>
                            </p:childTnLst>
                          </p:cTn>
                        </p:par>
                        <p:par>
                          <p:cTn id="24" fill="hold" nodeType="afterGroup">
                            <p:stCondLst>
                              <p:cond delay="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5734"/>
                                        </p:tgtEl>
                                        <p:attrNameLst>
                                          <p:attrName>style.visibility</p:attrName>
                                        </p:attrNameLst>
                                      </p:cBhvr>
                                      <p:to>
                                        <p:strVal val="visible"/>
                                      </p:to>
                                    </p:set>
                                    <p:animEffect transition="in" filter="wipe(left)">
                                      <p:cBhvr>
                                        <p:cTn id="32" dur="500"/>
                                        <p:tgtEl>
                                          <p:spTgt spid="115734"/>
                                        </p:tgtEl>
                                      </p:cBhvr>
                                    </p:animEffect>
                                  </p:childTnLst>
                                </p:cTn>
                              </p:par>
                            </p:childTnLst>
                          </p:cTn>
                        </p:par>
                        <p:par>
                          <p:cTn id="33" fill="hold" nodeType="afterGroup">
                            <p:stCondLst>
                              <p:cond delay="500"/>
                            </p:stCondLst>
                            <p:childTnLst>
                              <p:par>
                                <p:cTn id="34" presetID="22" presetClass="entr" presetSubtype="1"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5735"/>
                                        </p:tgtEl>
                                        <p:attrNameLst>
                                          <p:attrName>style.visibility</p:attrName>
                                        </p:attrNameLst>
                                      </p:cBhvr>
                                      <p:to>
                                        <p:strVal val="visible"/>
                                      </p:to>
                                    </p:set>
                                    <p:animEffect transition="in" filter="wipe(left)">
                                      <p:cBhvr>
                                        <p:cTn id="41" dur="500"/>
                                        <p:tgtEl>
                                          <p:spTgt spid="115735"/>
                                        </p:tgtEl>
                                      </p:cBhvr>
                                    </p:animEffect>
                                  </p:childTnLst>
                                </p:cTn>
                              </p:par>
                            </p:childTnLst>
                          </p:cTn>
                        </p:par>
                        <p:par>
                          <p:cTn id="42" fill="hold" nodeType="afterGroup">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15730"/>
                                        </p:tgtEl>
                                        <p:attrNameLst>
                                          <p:attrName>style.visibility</p:attrName>
                                        </p:attrNameLst>
                                      </p:cBhvr>
                                      <p:to>
                                        <p:strVal val="visible"/>
                                      </p:to>
                                    </p:set>
                                    <p:animEffect transition="in" filter="wipe(left)">
                                      <p:cBhvr>
                                        <p:cTn id="45" dur="500"/>
                                        <p:tgtEl>
                                          <p:spTgt spid="115730"/>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15731"/>
                                        </p:tgtEl>
                                        <p:attrNameLst>
                                          <p:attrName>style.visibility</p:attrName>
                                        </p:attrNameLst>
                                      </p:cBhvr>
                                      <p:to>
                                        <p:strVal val="visible"/>
                                      </p:to>
                                    </p:set>
                                    <p:animEffect transition="in" filter="dissolve">
                                      <p:cBhvr>
                                        <p:cTn id="48" dur="500"/>
                                        <p:tgtEl>
                                          <p:spTgt spid="115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8" grpId="0"/>
      <p:bldP spid="115729" grpId="0"/>
      <p:bldP spid="115730" grpId="0" animBg="1"/>
      <p:bldP spid="115731" grpId="0" animBg="1"/>
      <p:bldP spid="115732" grpId="0"/>
      <p:bldP spid="115734" grpId="0"/>
      <p:bldP spid="1157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1">
            <a:extLst>
              <a:ext uri="{FF2B5EF4-FFF2-40B4-BE49-F238E27FC236}">
                <a16:creationId xmlns:a16="http://schemas.microsoft.com/office/drawing/2014/main" id="{3661EF91-63C2-4467-9A60-0852BB0B28E4}"/>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8067" name="Slide Number Placeholder 2">
            <a:extLst>
              <a:ext uri="{FF2B5EF4-FFF2-40B4-BE49-F238E27FC236}">
                <a16:creationId xmlns:a16="http://schemas.microsoft.com/office/drawing/2014/main" id="{E1AAA8CD-CDE4-423F-BC1E-5B0B5FD74D3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8BDC64-C2B2-4B30-B024-84E9033243F5}" type="slidenum">
              <a:rPr lang="en-US" altLang="en-US">
                <a:solidFill>
                  <a:srgbClr val="777777"/>
                </a:solidFill>
                <a:latin typeface="Tahoma" panose="020B0604030504040204" pitchFamily="34" charset="0"/>
              </a:rPr>
              <a:pPr/>
              <a:t>41</a:t>
            </a:fld>
            <a:endParaRPr lang="en-US" altLang="en-US">
              <a:solidFill>
                <a:srgbClr val="777777"/>
              </a:solidFill>
              <a:latin typeface="Tahoma" panose="020B0604030504040204" pitchFamily="34" charset="0"/>
            </a:endParaRPr>
          </a:p>
        </p:txBody>
      </p:sp>
      <p:grpSp>
        <p:nvGrpSpPr>
          <p:cNvPr id="88068" name="Group 2">
            <a:extLst>
              <a:ext uri="{FF2B5EF4-FFF2-40B4-BE49-F238E27FC236}">
                <a16:creationId xmlns:a16="http://schemas.microsoft.com/office/drawing/2014/main" id="{57715390-5943-404D-9B6A-B5373A4074BD}"/>
              </a:ext>
            </a:extLst>
          </p:cNvPr>
          <p:cNvGrpSpPr>
            <a:grpSpLocks/>
          </p:cNvGrpSpPr>
          <p:nvPr/>
        </p:nvGrpSpPr>
        <p:grpSpPr bwMode="auto">
          <a:xfrm>
            <a:off x="277813" y="1444625"/>
            <a:ext cx="5513387" cy="4886325"/>
            <a:chOff x="175" y="910"/>
            <a:chExt cx="3473" cy="3078"/>
          </a:xfrm>
        </p:grpSpPr>
        <p:graphicFrame>
          <p:nvGraphicFramePr>
            <p:cNvPr id="88104" name="Object 3">
              <a:extLst>
                <a:ext uri="{FF2B5EF4-FFF2-40B4-BE49-F238E27FC236}">
                  <a16:creationId xmlns:a16="http://schemas.microsoft.com/office/drawing/2014/main" id="{1C8AEBDA-2183-42A2-893E-984D648B592D}"/>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649" imgH="5181600" progId="Excel.Chart.8">
                    <p:embed/>
                  </p:oleObj>
                </mc:Choice>
                <mc:Fallback>
                  <p:oleObj name="Chart" r:id="rId3" imgW="5800649" imgH="5181600"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105" name="Text Box 4">
              <a:extLst>
                <a:ext uri="{FF2B5EF4-FFF2-40B4-BE49-F238E27FC236}">
                  <a16:creationId xmlns:a16="http://schemas.microsoft.com/office/drawing/2014/main" id="{349B83D4-29CB-401C-A341-64CBCFE0B886}"/>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88106" name="Text Box 5">
              <a:extLst>
                <a:ext uri="{FF2B5EF4-FFF2-40B4-BE49-F238E27FC236}">
                  <a16:creationId xmlns:a16="http://schemas.microsoft.com/office/drawing/2014/main" id="{C5F1EDBD-1243-43BD-BEAC-A696AC3C47C0}"/>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sp>
        <p:nvSpPr>
          <p:cNvPr id="88069" name="Line 6">
            <a:extLst>
              <a:ext uri="{FF2B5EF4-FFF2-40B4-BE49-F238E27FC236}">
                <a16:creationId xmlns:a16="http://schemas.microsoft.com/office/drawing/2014/main" id="{5BA938AB-D404-4C3C-B9AF-65DC3782826A}"/>
              </a:ext>
            </a:extLst>
          </p:cNvPr>
          <p:cNvSpPr>
            <a:spLocks noChangeShapeType="1"/>
          </p:cNvSpPr>
          <p:nvPr/>
        </p:nvSpPr>
        <p:spPr bwMode="auto">
          <a:xfrm>
            <a:off x="1319213" y="2767013"/>
            <a:ext cx="2681287" cy="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8070" name="Group 7">
            <a:extLst>
              <a:ext uri="{FF2B5EF4-FFF2-40B4-BE49-F238E27FC236}">
                <a16:creationId xmlns:a16="http://schemas.microsoft.com/office/drawing/2014/main" id="{8EB92355-C70D-4DE3-9145-81CE05DDC566}"/>
              </a:ext>
            </a:extLst>
          </p:cNvPr>
          <p:cNvGrpSpPr>
            <a:grpSpLocks/>
          </p:cNvGrpSpPr>
          <p:nvPr/>
        </p:nvGrpSpPr>
        <p:grpSpPr bwMode="auto">
          <a:xfrm>
            <a:off x="1808163" y="1946275"/>
            <a:ext cx="2101850" cy="3660775"/>
            <a:chOff x="1139" y="1226"/>
            <a:chExt cx="1324" cy="2306"/>
          </a:xfrm>
        </p:grpSpPr>
        <p:sp>
          <p:nvSpPr>
            <p:cNvPr id="88102" name="Line 8">
              <a:extLst>
                <a:ext uri="{FF2B5EF4-FFF2-40B4-BE49-F238E27FC236}">
                  <a16:creationId xmlns:a16="http://schemas.microsoft.com/office/drawing/2014/main" id="{6A4DF349-6222-4114-9F2B-A0CBE0CACE7B}"/>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3" name="Text Box 9">
              <a:extLst>
                <a:ext uri="{FF2B5EF4-FFF2-40B4-BE49-F238E27FC236}">
                  <a16:creationId xmlns:a16="http://schemas.microsoft.com/office/drawing/2014/main" id="{E620E6EA-37D1-4403-A585-6DFB3E7739C0}"/>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88071" name="Group 10">
            <a:extLst>
              <a:ext uri="{FF2B5EF4-FFF2-40B4-BE49-F238E27FC236}">
                <a16:creationId xmlns:a16="http://schemas.microsoft.com/office/drawing/2014/main" id="{502E8A45-95F0-48A8-8E2E-51D50CFB3D0A}"/>
              </a:ext>
            </a:extLst>
          </p:cNvPr>
          <p:cNvGrpSpPr>
            <a:grpSpLocks/>
          </p:cNvGrpSpPr>
          <p:nvPr/>
        </p:nvGrpSpPr>
        <p:grpSpPr bwMode="auto">
          <a:xfrm>
            <a:off x="1327150" y="1944688"/>
            <a:ext cx="3367088" cy="3665537"/>
            <a:chOff x="836" y="1225"/>
            <a:chExt cx="2121" cy="2309"/>
          </a:xfrm>
        </p:grpSpPr>
        <p:sp>
          <p:nvSpPr>
            <p:cNvPr id="88100" name="Line 11">
              <a:extLst>
                <a:ext uri="{FF2B5EF4-FFF2-40B4-BE49-F238E27FC236}">
                  <a16:creationId xmlns:a16="http://schemas.microsoft.com/office/drawing/2014/main" id="{F95D8057-F5F8-4165-A5F6-680BA1288E3C}"/>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1" name="Text Box 12">
              <a:extLst>
                <a:ext uri="{FF2B5EF4-FFF2-40B4-BE49-F238E27FC236}">
                  <a16:creationId xmlns:a16="http://schemas.microsoft.com/office/drawing/2014/main" id="{F61E9C75-586A-4D95-823B-03C89BE8CFBA}"/>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88072" name="Rectangle 13">
            <a:extLst>
              <a:ext uri="{FF2B5EF4-FFF2-40B4-BE49-F238E27FC236}">
                <a16:creationId xmlns:a16="http://schemas.microsoft.com/office/drawing/2014/main" id="{C4EE95BF-2595-4F74-AB7D-07E0F35EE466}"/>
              </a:ext>
            </a:extLst>
          </p:cNvPr>
          <p:cNvSpPr>
            <a:spLocks noGrp="1" noChangeArrowheads="1"/>
          </p:cNvSpPr>
          <p:nvPr>
            <p:ph type="title" idx="4294967295"/>
          </p:nvPr>
        </p:nvSpPr>
        <p:spPr>
          <a:xfrm>
            <a:off x="571500" y="252413"/>
            <a:ext cx="6586538" cy="622300"/>
          </a:xfrm>
        </p:spPr>
        <p:txBody>
          <a:bodyPr/>
          <a:lstStyle/>
          <a:p>
            <a:pPr algn="l" eaLnBrk="1" hangingPunct="1"/>
            <a:r>
              <a:rPr lang="en-US" altLang="en-US" sz="3100">
                <a:solidFill>
                  <a:srgbClr val="CC0000"/>
                </a:solidFill>
              </a:rPr>
              <a:t>Surplus</a:t>
            </a:r>
            <a:r>
              <a:rPr lang="en-US" altLang="en-US" sz="3100">
                <a:solidFill>
                  <a:schemeClr val="tx1"/>
                </a:solidFill>
              </a:rPr>
              <a:t> (a.k.a. excess supply):</a:t>
            </a:r>
          </a:p>
        </p:txBody>
      </p:sp>
      <p:sp>
        <p:nvSpPr>
          <p:cNvPr id="88073" name="Text Box 14">
            <a:extLst>
              <a:ext uri="{FF2B5EF4-FFF2-40B4-BE49-F238E27FC236}">
                <a16:creationId xmlns:a16="http://schemas.microsoft.com/office/drawing/2014/main" id="{CD92AE34-D2CB-4891-8EDF-06D0DC6F0C2F}"/>
              </a:ext>
            </a:extLst>
          </p:cNvPr>
          <p:cNvSpPr txBox="1">
            <a:spLocks noChangeArrowheads="1"/>
          </p:cNvSpPr>
          <p:nvPr/>
        </p:nvSpPr>
        <p:spPr bwMode="auto">
          <a:xfrm>
            <a:off x="1512888" y="715963"/>
            <a:ext cx="6562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supplied is greater than quantity demanded</a:t>
            </a:r>
          </a:p>
        </p:txBody>
      </p:sp>
      <p:sp>
        <p:nvSpPr>
          <p:cNvPr id="88074" name="Line 15">
            <a:extLst>
              <a:ext uri="{FF2B5EF4-FFF2-40B4-BE49-F238E27FC236}">
                <a16:creationId xmlns:a16="http://schemas.microsoft.com/office/drawing/2014/main" id="{ED1AC9C9-388E-45AE-B538-A7BA6048B5D4}"/>
              </a:ext>
            </a:extLst>
          </p:cNvPr>
          <p:cNvSpPr>
            <a:spLocks noChangeShapeType="1"/>
          </p:cNvSpPr>
          <p:nvPr/>
        </p:nvSpPr>
        <p:spPr bwMode="auto">
          <a:xfrm>
            <a:off x="2282825" y="2768600"/>
            <a:ext cx="0" cy="283527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75" name="Oval 16">
            <a:extLst>
              <a:ext uri="{FF2B5EF4-FFF2-40B4-BE49-F238E27FC236}">
                <a16:creationId xmlns:a16="http://schemas.microsoft.com/office/drawing/2014/main" id="{247C93C4-9CE9-40CA-92F3-2B484AE25650}"/>
              </a:ext>
            </a:extLst>
          </p:cNvPr>
          <p:cNvSpPr>
            <a:spLocks noChangeArrowheads="1"/>
          </p:cNvSpPr>
          <p:nvPr/>
        </p:nvSpPr>
        <p:spPr bwMode="auto">
          <a:xfrm>
            <a:off x="2212975" y="2695575"/>
            <a:ext cx="139700" cy="138113"/>
          </a:xfrm>
          <a:prstGeom prst="ellipse">
            <a:avLst/>
          </a:prstGeom>
          <a:solidFill>
            <a:srgbClr val="B2B2B2"/>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8076" name="Line 17">
            <a:extLst>
              <a:ext uri="{FF2B5EF4-FFF2-40B4-BE49-F238E27FC236}">
                <a16:creationId xmlns:a16="http://schemas.microsoft.com/office/drawing/2014/main" id="{70ACEFC2-C820-471C-A6FF-95240062BAD4}"/>
              </a:ext>
            </a:extLst>
          </p:cNvPr>
          <p:cNvSpPr>
            <a:spLocks noChangeShapeType="1"/>
          </p:cNvSpPr>
          <p:nvPr/>
        </p:nvSpPr>
        <p:spPr bwMode="auto">
          <a:xfrm>
            <a:off x="3998913" y="2768600"/>
            <a:ext cx="0" cy="283845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77" name="Oval 18">
            <a:extLst>
              <a:ext uri="{FF2B5EF4-FFF2-40B4-BE49-F238E27FC236}">
                <a16:creationId xmlns:a16="http://schemas.microsoft.com/office/drawing/2014/main" id="{755CFFA4-903D-40B0-8B26-9244301BA5E0}"/>
              </a:ext>
            </a:extLst>
          </p:cNvPr>
          <p:cNvSpPr>
            <a:spLocks noChangeArrowheads="1"/>
          </p:cNvSpPr>
          <p:nvPr/>
        </p:nvSpPr>
        <p:spPr bwMode="auto">
          <a:xfrm>
            <a:off x="3927475" y="2695575"/>
            <a:ext cx="139700" cy="138113"/>
          </a:xfrm>
          <a:prstGeom prst="ellipse">
            <a:avLst/>
          </a:prstGeom>
          <a:solidFill>
            <a:srgbClr val="B2B2B2"/>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8078" name="AutoShape 19">
            <a:extLst>
              <a:ext uri="{FF2B5EF4-FFF2-40B4-BE49-F238E27FC236}">
                <a16:creationId xmlns:a16="http://schemas.microsoft.com/office/drawing/2014/main" id="{B755DEFC-5B74-4153-98D7-C7A37CED180F}"/>
              </a:ext>
            </a:extLst>
          </p:cNvPr>
          <p:cNvSpPr>
            <a:spLocks/>
          </p:cNvSpPr>
          <p:nvPr/>
        </p:nvSpPr>
        <p:spPr bwMode="auto">
          <a:xfrm rot="5400000">
            <a:off x="3029744" y="1705769"/>
            <a:ext cx="220662" cy="1714500"/>
          </a:xfrm>
          <a:prstGeom prst="leftBrace">
            <a:avLst>
              <a:gd name="adj1" fmla="val 64748"/>
              <a:gd name="adj2" fmla="val 50000"/>
            </a:avLst>
          </a:prstGeom>
          <a:noFill/>
          <a:ln w="19050">
            <a:solidFill>
              <a:srgbClr val="B2B2B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6756" name="Text Box 20">
            <a:extLst>
              <a:ext uri="{FF2B5EF4-FFF2-40B4-BE49-F238E27FC236}">
                <a16:creationId xmlns:a16="http://schemas.microsoft.com/office/drawing/2014/main" id="{66CDE1B3-E687-43EE-BAF6-2CA5D7389D01}"/>
              </a:ext>
            </a:extLst>
          </p:cNvPr>
          <p:cNvSpPr txBox="1">
            <a:spLocks noChangeArrowheads="1"/>
          </p:cNvSpPr>
          <p:nvPr/>
        </p:nvSpPr>
        <p:spPr bwMode="auto">
          <a:xfrm>
            <a:off x="4960938" y="1782763"/>
            <a:ext cx="396875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Facing a surplus, </a:t>
            </a:r>
            <a:br>
              <a:rPr lang="en-US" altLang="en-US" sz="2600">
                <a:cs typeface="Arial" panose="020B0604020202020204" pitchFamily="34" charset="0"/>
              </a:rPr>
            </a:br>
            <a:r>
              <a:rPr lang="en-US" altLang="en-US" sz="2600">
                <a:cs typeface="Arial" panose="020B0604020202020204" pitchFamily="34" charset="0"/>
              </a:rPr>
              <a:t>sellers try to increase sales by cutting price.</a:t>
            </a:r>
          </a:p>
        </p:txBody>
      </p:sp>
      <p:sp>
        <p:nvSpPr>
          <p:cNvPr id="116757" name="Text Box 21">
            <a:extLst>
              <a:ext uri="{FF2B5EF4-FFF2-40B4-BE49-F238E27FC236}">
                <a16:creationId xmlns:a16="http://schemas.microsoft.com/office/drawing/2014/main" id="{B612381A-9EF0-4CF1-AC7C-33CD5A8C3332}"/>
              </a:ext>
            </a:extLst>
          </p:cNvPr>
          <p:cNvSpPr txBox="1">
            <a:spLocks noChangeArrowheads="1"/>
          </p:cNvSpPr>
          <p:nvPr/>
        </p:nvSpPr>
        <p:spPr bwMode="auto">
          <a:xfrm>
            <a:off x="4962525" y="3155950"/>
            <a:ext cx="3122613"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This causes </a:t>
            </a:r>
            <a:br>
              <a:rPr lang="en-US" altLang="en-US" sz="2600">
                <a:cs typeface="Arial" panose="020B0604020202020204" pitchFamily="34" charset="0"/>
              </a:rPr>
            </a:b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to rise</a:t>
            </a:r>
          </a:p>
        </p:txBody>
      </p:sp>
      <p:grpSp>
        <p:nvGrpSpPr>
          <p:cNvPr id="5" name="Group 22">
            <a:extLst>
              <a:ext uri="{FF2B5EF4-FFF2-40B4-BE49-F238E27FC236}">
                <a16:creationId xmlns:a16="http://schemas.microsoft.com/office/drawing/2014/main" id="{713289B2-A8E5-46F1-AF1B-1939716472C1}"/>
              </a:ext>
            </a:extLst>
          </p:cNvPr>
          <p:cNvGrpSpPr>
            <a:grpSpLocks/>
          </p:cNvGrpSpPr>
          <p:nvPr/>
        </p:nvGrpSpPr>
        <p:grpSpPr bwMode="auto">
          <a:xfrm>
            <a:off x="1320800" y="2770188"/>
            <a:ext cx="2152650" cy="558800"/>
            <a:chOff x="832" y="1745"/>
            <a:chExt cx="1356" cy="352"/>
          </a:xfrm>
        </p:grpSpPr>
        <p:sp>
          <p:nvSpPr>
            <p:cNvPr id="88098" name="Line 23">
              <a:extLst>
                <a:ext uri="{FF2B5EF4-FFF2-40B4-BE49-F238E27FC236}">
                  <a16:creationId xmlns:a16="http://schemas.microsoft.com/office/drawing/2014/main" id="{6EBFFD23-3E88-4FD3-A932-8F8244F4F964}"/>
                </a:ext>
              </a:extLst>
            </p:cNvPr>
            <p:cNvSpPr>
              <a:spLocks noChangeShapeType="1"/>
            </p:cNvSpPr>
            <p:nvPr/>
          </p:nvSpPr>
          <p:spPr bwMode="auto">
            <a:xfrm>
              <a:off x="833" y="1745"/>
              <a:ext cx="0" cy="35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8099" name="Line 24">
              <a:extLst>
                <a:ext uri="{FF2B5EF4-FFF2-40B4-BE49-F238E27FC236}">
                  <a16:creationId xmlns:a16="http://schemas.microsoft.com/office/drawing/2014/main" id="{E5C77EFF-EDFD-4577-9716-175A9AFC50F3}"/>
                </a:ext>
              </a:extLst>
            </p:cNvPr>
            <p:cNvSpPr>
              <a:spLocks noChangeShapeType="1"/>
            </p:cNvSpPr>
            <p:nvPr/>
          </p:nvSpPr>
          <p:spPr bwMode="auto">
            <a:xfrm flipV="1">
              <a:off x="832" y="2096"/>
              <a:ext cx="1356" cy="1"/>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25">
            <a:extLst>
              <a:ext uri="{FF2B5EF4-FFF2-40B4-BE49-F238E27FC236}">
                <a16:creationId xmlns:a16="http://schemas.microsoft.com/office/drawing/2014/main" id="{FE10B591-5230-49B5-B2AD-15719B5CFDCB}"/>
              </a:ext>
            </a:extLst>
          </p:cNvPr>
          <p:cNvGrpSpPr>
            <a:grpSpLocks/>
          </p:cNvGrpSpPr>
          <p:nvPr/>
        </p:nvGrpSpPr>
        <p:grpSpPr bwMode="auto">
          <a:xfrm>
            <a:off x="2282825" y="3254375"/>
            <a:ext cx="377825" cy="2365375"/>
            <a:chOff x="1438" y="2050"/>
            <a:chExt cx="238" cy="1490"/>
          </a:xfrm>
        </p:grpSpPr>
        <p:sp>
          <p:nvSpPr>
            <p:cNvPr id="88095" name="Line 26">
              <a:extLst>
                <a:ext uri="{FF2B5EF4-FFF2-40B4-BE49-F238E27FC236}">
                  <a16:creationId xmlns:a16="http://schemas.microsoft.com/office/drawing/2014/main" id="{239954F3-61EC-4FC2-B267-4E6E6C32F935}"/>
                </a:ext>
              </a:extLst>
            </p:cNvPr>
            <p:cNvSpPr>
              <a:spLocks noChangeShapeType="1"/>
            </p:cNvSpPr>
            <p:nvPr/>
          </p:nvSpPr>
          <p:spPr bwMode="auto">
            <a:xfrm>
              <a:off x="1634" y="2090"/>
              <a:ext cx="6" cy="145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96" name="Oval 27">
              <a:extLst>
                <a:ext uri="{FF2B5EF4-FFF2-40B4-BE49-F238E27FC236}">
                  <a16:creationId xmlns:a16="http://schemas.microsoft.com/office/drawing/2014/main" id="{D6BE7A3D-FFDE-44AE-9536-C522E3093B0D}"/>
                </a:ext>
              </a:extLst>
            </p:cNvPr>
            <p:cNvSpPr>
              <a:spLocks noChangeArrowheads="1"/>
            </p:cNvSpPr>
            <p:nvPr/>
          </p:nvSpPr>
          <p:spPr bwMode="auto">
            <a:xfrm>
              <a:off x="1588" y="205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8097" name="Line 28">
              <a:extLst>
                <a:ext uri="{FF2B5EF4-FFF2-40B4-BE49-F238E27FC236}">
                  <a16:creationId xmlns:a16="http://schemas.microsoft.com/office/drawing/2014/main" id="{F45EB09D-8717-459A-A07B-4E128F64E002}"/>
                </a:ext>
              </a:extLst>
            </p:cNvPr>
            <p:cNvSpPr>
              <a:spLocks noChangeShapeType="1"/>
            </p:cNvSpPr>
            <p:nvPr/>
          </p:nvSpPr>
          <p:spPr bwMode="auto">
            <a:xfrm rot="-5400000">
              <a:off x="1541" y="3435"/>
              <a:ext cx="0" cy="206"/>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7" name="Group 29">
            <a:extLst>
              <a:ext uri="{FF2B5EF4-FFF2-40B4-BE49-F238E27FC236}">
                <a16:creationId xmlns:a16="http://schemas.microsoft.com/office/drawing/2014/main" id="{78F33826-3AC0-4EBE-9EE0-277789EA8BEB}"/>
              </a:ext>
            </a:extLst>
          </p:cNvPr>
          <p:cNvGrpSpPr>
            <a:grpSpLocks/>
          </p:cNvGrpSpPr>
          <p:nvPr/>
        </p:nvGrpSpPr>
        <p:grpSpPr bwMode="auto">
          <a:xfrm>
            <a:off x="3381375" y="3254375"/>
            <a:ext cx="617538" cy="2362200"/>
            <a:chOff x="2130" y="2050"/>
            <a:chExt cx="389" cy="1488"/>
          </a:xfrm>
        </p:grpSpPr>
        <p:sp>
          <p:nvSpPr>
            <p:cNvPr id="88092" name="Line 30">
              <a:extLst>
                <a:ext uri="{FF2B5EF4-FFF2-40B4-BE49-F238E27FC236}">
                  <a16:creationId xmlns:a16="http://schemas.microsoft.com/office/drawing/2014/main" id="{BEA6BA51-ABA0-453D-9121-6C310840EE09}"/>
                </a:ext>
              </a:extLst>
            </p:cNvPr>
            <p:cNvSpPr>
              <a:spLocks noChangeShapeType="1"/>
            </p:cNvSpPr>
            <p:nvPr/>
          </p:nvSpPr>
          <p:spPr bwMode="auto">
            <a:xfrm>
              <a:off x="2174" y="2088"/>
              <a:ext cx="6" cy="145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93" name="Oval 31">
              <a:extLst>
                <a:ext uri="{FF2B5EF4-FFF2-40B4-BE49-F238E27FC236}">
                  <a16:creationId xmlns:a16="http://schemas.microsoft.com/office/drawing/2014/main" id="{0883BDFF-C338-48A9-A7FC-A025488067DD}"/>
                </a:ext>
              </a:extLst>
            </p:cNvPr>
            <p:cNvSpPr>
              <a:spLocks noChangeArrowheads="1"/>
            </p:cNvSpPr>
            <p:nvPr/>
          </p:nvSpPr>
          <p:spPr bwMode="auto">
            <a:xfrm>
              <a:off x="2130" y="205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8094" name="Line 32">
              <a:extLst>
                <a:ext uri="{FF2B5EF4-FFF2-40B4-BE49-F238E27FC236}">
                  <a16:creationId xmlns:a16="http://schemas.microsoft.com/office/drawing/2014/main" id="{153F6718-D528-44D9-95AB-914871D3A731}"/>
                </a:ext>
              </a:extLst>
            </p:cNvPr>
            <p:cNvSpPr>
              <a:spLocks noChangeShapeType="1"/>
            </p:cNvSpPr>
            <p:nvPr/>
          </p:nvSpPr>
          <p:spPr bwMode="auto">
            <a:xfrm rot="5400000">
              <a:off x="2348" y="3367"/>
              <a:ext cx="0" cy="34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8" name="Group 33">
            <a:extLst>
              <a:ext uri="{FF2B5EF4-FFF2-40B4-BE49-F238E27FC236}">
                <a16:creationId xmlns:a16="http://schemas.microsoft.com/office/drawing/2014/main" id="{FFF70BF5-2947-4A33-99BC-1501C633BD89}"/>
              </a:ext>
            </a:extLst>
          </p:cNvPr>
          <p:cNvGrpSpPr>
            <a:grpSpLocks/>
          </p:cNvGrpSpPr>
          <p:nvPr/>
        </p:nvGrpSpPr>
        <p:grpSpPr bwMode="auto">
          <a:xfrm>
            <a:off x="2428875" y="1924050"/>
            <a:ext cx="1501775" cy="1317625"/>
            <a:chOff x="1530" y="1212"/>
            <a:chExt cx="946" cy="830"/>
          </a:xfrm>
        </p:grpSpPr>
        <p:sp>
          <p:nvSpPr>
            <p:cNvPr id="88088" name="AutoShape 34">
              <a:extLst>
                <a:ext uri="{FF2B5EF4-FFF2-40B4-BE49-F238E27FC236}">
                  <a16:creationId xmlns:a16="http://schemas.microsoft.com/office/drawing/2014/main" id="{86B6060D-45FA-4DBB-86DF-A343ECB1F797}"/>
                </a:ext>
              </a:extLst>
            </p:cNvPr>
            <p:cNvSpPr>
              <a:spLocks/>
            </p:cNvSpPr>
            <p:nvPr/>
          </p:nvSpPr>
          <p:spPr bwMode="auto">
            <a:xfrm rot="5400000">
              <a:off x="1834" y="1699"/>
              <a:ext cx="139" cy="548"/>
            </a:xfrm>
            <a:prstGeom prst="leftBrace">
              <a:avLst>
                <a:gd name="adj1" fmla="val 32854"/>
                <a:gd name="adj2" fmla="val 50000"/>
              </a:avLst>
            </a:prstGeom>
            <a:noFill/>
            <a:ln w="1905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88089" name="Group 35">
              <a:extLst>
                <a:ext uri="{FF2B5EF4-FFF2-40B4-BE49-F238E27FC236}">
                  <a16:creationId xmlns:a16="http://schemas.microsoft.com/office/drawing/2014/main" id="{88E6EDAF-6CA4-4A1E-8526-32C8DE6F3B04}"/>
                </a:ext>
              </a:extLst>
            </p:cNvPr>
            <p:cNvGrpSpPr>
              <a:grpSpLocks/>
            </p:cNvGrpSpPr>
            <p:nvPr/>
          </p:nvGrpSpPr>
          <p:grpSpPr bwMode="auto">
            <a:xfrm>
              <a:off x="1530" y="1212"/>
              <a:ext cx="946" cy="666"/>
              <a:chOff x="1530" y="1212"/>
              <a:chExt cx="946" cy="666"/>
            </a:xfrm>
          </p:grpSpPr>
          <p:sp>
            <p:nvSpPr>
              <p:cNvPr id="88090" name="Line 36">
                <a:extLst>
                  <a:ext uri="{FF2B5EF4-FFF2-40B4-BE49-F238E27FC236}">
                    <a16:creationId xmlns:a16="http://schemas.microsoft.com/office/drawing/2014/main" id="{DA7B0665-8D98-4B38-BA0D-C3C375C1C6FD}"/>
                  </a:ext>
                </a:extLst>
              </p:cNvPr>
              <p:cNvSpPr>
                <a:spLocks noChangeShapeType="1"/>
              </p:cNvSpPr>
              <p:nvPr/>
            </p:nvSpPr>
            <p:spPr bwMode="auto">
              <a:xfrm flipV="1">
                <a:off x="1907" y="1489"/>
                <a:ext cx="120" cy="3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091" name="Text Box 37">
                <a:extLst>
                  <a:ext uri="{FF2B5EF4-FFF2-40B4-BE49-F238E27FC236}">
                    <a16:creationId xmlns:a16="http://schemas.microsoft.com/office/drawing/2014/main" id="{FE40EBE6-4EE8-49E8-A871-B1FAEABAFD25}"/>
                  </a:ext>
                </a:extLst>
              </p:cNvPr>
              <p:cNvSpPr txBox="1">
                <a:spLocks noChangeArrowheads="1"/>
              </p:cNvSpPr>
              <p:nvPr/>
            </p:nvSpPr>
            <p:spPr bwMode="auto">
              <a:xfrm>
                <a:off x="1530" y="1212"/>
                <a:ext cx="946" cy="30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Surplus</a:t>
                </a:r>
              </a:p>
            </p:txBody>
          </p:sp>
        </p:grpSp>
      </p:grpSp>
      <p:sp>
        <p:nvSpPr>
          <p:cNvPr id="116774" name="Text Box 38">
            <a:extLst>
              <a:ext uri="{FF2B5EF4-FFF2-40B4-BE49-F238E27FC236}">
                <a16:creationId xmlns:a16="http://schemas.microsoft.com/office/drawing/2014/main" id="{6B8373E9-27B6-4D66-901E-6AD9B9E88FA6}"/>
              </a:ext>
            </a:extLst>
          </p:cNvPr>
          <p:cNvSpPr txBox="1">
            <a:spLocks noChangeArrowheads="1"/>
          </p:cNvSpPr>
          <p:nvPr/>
        </p:nvSpPr>
        <p:spPr bwMode="auto">
          <a:xfrm>
            <a:off x="4973638" y="4156075"/>
            <a:ext cx="33528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…which reduces the surplus.   </a:t>
            </a:r>
          </a:p>
        </p:txBody>
      </p:sp>
      <p:sp>
        <p:nvSpPr>
          <p:cNvPr id="116775" name="Text Box 39">
            <a:extLst>
              <a:ext uri="{FF2B5EF4-FFF2-40B4-BE49-F238E27FC236}">
                <a16:creationId xmlns:a16="http://schemas.microsoft.com/office/drawing/2014/main" id="{8FFEDE30-DFCE-45FD-AEBD-F2C6ABF24601}"/>
              </a:ext>
            </a:extLst>
          </p:cNvPr>
          <p:cNvSpPr txBox="1">
            <a:spLocks noChangeArrowheads="1"/>
          </p:cNvSpPr>
          <p:nvPr/>
        </p:nvSpPr>
        <p:spPr bwMode="auto">
          <a:xfrm>
            <a:off x="6462713" y="3559175"/>
            <a:ext cx="24463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and </a:t>
            </a:r>
            <a:r>
              <a:rPr lang="en-US" altLang="en-US" sz="2600" b="1" i="1">
                <a:cs typeface="Arial" panose="020B0604020202020204" pitchFamily="34" charset="0"/>
              </a:rPr>
              <a:t>Q</a:t>
            </a:r>
            <a:r>
              <a:rPr lang="en-US" altLang="en-US" sz="2600" b="1" i="1" baseline="30000">
                <a:cs typeface="Arial" panose="020B0604020202020204" pitchFamily="34" charset="0"/>
              </a:rPr>
              <a:t>S</a:t>
            </a:r>
            <a:r>
              <a:rPr lang="en-US" altLang="en-US" sz="2600">
                <a:cs typeface="Arial" panose="020B0604020202020204" pitchFamily="34" charset="0"/>
              </a:rPr>
              <a:t> to fall…  </a:t>
            </a:r>
          </a:p>
        </p:txBody>
      </p:sp>
      <p:sp>
        <p:nvSpPr>
          <p:cNvPr id="88087" name="FlagCount" hidden="1">
            <a:hlinkClick r:id="rId5" action="ppaction://hlinkfile"/>
            <a:extLst>
              <a:ext uri="{FF2B5EF4-FFF2-40B4-BE49-F238E27FC236}">
                <a16:creationId xmlns:a16="http://schemas.microsoft.com/office/drawing/2014/main" id="{27A8CCA2-56AA-4619-8DF4-CD30EA2E8C83}"/>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56"/>
                                        </p:tgtEl>
                                        <p:attrNameLst>
                                          <p:attrName>style.visibility</p:attrName>
                                        </p:attrNameLst>
                                      </p:cBhvr>
                                      <p:to>
                                        <p:strVal val="visible"/>
                                      </p:to>
                                    </p:set>
                                    <p:animEffect transition="in" filter="wipe(left)">
                                      <p:cBhvr>
                                        <p:cTn id="7" dur="500"/>
                                        <p:tgtEl>
                                          <p:spTgt spid="1167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6757"/>
                                        </p:tgtEl>
                                        <p:attrNameLst>
                                          <p:attrName>style.visibility</p:attrName>
                                        </p:attrNameLst>
                                      </p:cBhvr>
                                      <p:to>
                                        <p:strVal val="visible"/>
                                      </p:to>
                                    </p:set>
                                    <p:animEffect transition="in" filter="wipe(left)">
                                      <p:cBhvr>
                                        <p:cTn id="17" dur="500"/>
                                        <p:tgtEl>
                                          <p:spTgt spid="116757"/>
                                        </p:tgtEl>
                                      </p:cBhvr>
                                    </p:animEffect>
                                  </p:childTnLst>
                                </p:cTn>
                              </p:par>
                            </p:childTnLst>
                          </p:cTn>
                        </p:par>
                        <p:par>
                          <p:cTn id="18" fill="hold" nodeType="afterGroup">
                            <p:stCondLst>
                              <p:cond delay="500"/>
                            </p:stCondLst>
                            <p:childTnLst>
                              <p:par>
                                <p:cTn id="19" presetID="18" presetClass="entr" presetSubtype="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strips(downRight)">
                                      <p:cBhvr>
                                        <p:cTn id="21" dur="500"/>
                                        <p:tgtEl>
                                          <p:spTgt spid="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6775"/>
                                        </p:tgtEl>
                                        <p:attrNameLst>
                                          <p:attrName>style.visibility</p:attrName>
                                        </p:attrNameLst>
                                      </p:cBhvr>
                                      <p:to>
                                        <p:strVal val="visible"/>
                                      </p:to>
                                    </p:set>
                                    <p:animEffect transition="in" filter="wipe(left)">
                                      <p:cBhvr>
                                        <p:cTn id="26" dur="500"/>
                                        <p:tgtEl>
                                          <p:spTgt spid="116775"/>
                                        </p:tgtEl>
                                      </p:cBhvr>
                                    </p:animEffect>
                                  </p:childTnLst>
                                </p:cTn>
                              </p:par>
                            </p:childTnLst>
                          </p:cTn>
                        </p:par>
                        <p:par>
                          <p:cTn id="27" fill="hold" nodeType="afterGroup">
                            <p:stCondLst>
                              <p:cond delay="500"/>
                            </p:stCondLst>
                            <p:childTnLst>
                              <p:par>
                                <p:cTn id="28" presetID="18" presetClass="entr" presetSubtype="12"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strips(downLeft)">
                                      <p:cBhvr>
                                        <p:cTn id="30" dur="500"/>
                                        <p:tgtEl>
                                          <p:spTgt spid="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6774"/>
                                        </p:tgtEl>
                                        <p:attrNameLst>
                                          <p:attrName>style.visibility</p:attrName>
                                        </p:attrNameLst>
                                      </p:cBhvr>
                                      <p:to>
                                        <p:strVal val="visible"/>
                                      </p:to>
                                    </p:set>
                                    <p:animEffect transition="in" filter="wipe(left)">
                                      <p:cBhvr>
                                        <p:cTn id="35" dur="500"/>
                                        <p:tgtEl>
                                          <p:spTgt spid="116774"/>
                                        </p:tgtEl>
                                      </p:cBhvr>
                                    </p:animEffect>
                                  </p:childTnLst>
                                </p:cTn>
                              </p:par>
                            </p:childTnLst>
                          </p:cTn>
                        </p:par>
                        <p:par>
                          <p:cTn id="36" fill="hold" nodeType="afterGroup">
                            <p:stCondLst>
                              <p:cond delay="500"/>
                            </p:stCondLst>
                            <p:childTnLst>
                              <p:par>
                                <p:cTn id="37" presetID="9"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dissolve">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56" grpId="0"/>
      <p:bldP spid="116757" grpId="0"/>
      <p:bldP spid="116774" grpId="0"/>
      <p:bldP spid="11677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1">
            <a:extLst>
              <a:ext uri="{FF2B5EF4-FFF2-40B4-BE49-F238E27FC236}">
                <a16:creationId xmlns:a16="http://schemas.microsoft.com/office/drawing/2014/main" id="{9948BAEC-9708-44FE-9692-25F9081A4327}"/>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0115" name="Slide Number Placeholder 2">
            <a:extLst>
              <a:ext uri="{FF2B5EF4-FFF2-40B4-BE49-F238E27FC236}">
                <a16:creationId xmlns:a16="http://schemas.microsoft.com/office/drawing/2014/main" id="{2CFCED35-81B1-4CF4-9D7C-FEDA5AB1D218}"/>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AA841D-3FF1-473A-9A79-41B8AC36F384}" type="slidenum">
              <a:rPr lang="en-US" altLang="en-US">
                <a:solidFill>
                  <a:srgbClr val="777777"/>
                </a:solidFill>
                <a:latin typeface="Tahoma" panose="020B0604030504040204" pitchFamily="34" charset="0"/>
              </a:rPr>
              <a:pPr/>
              <a:t>42</a:t>
            </a:fld>
            <a:endParaRPr lang="en-US" altLang="en-US">
              <a:solidFill>
                <a:srgbClr val="777777"/>
              </a:solidFill>
              <a:latin typeface="Tahoma" panose="020B0604030504040204" pitchFamily="34" charset="0"/>
            </a:endParaRPr>
          </a:p>
        </p:txBody>
      </p:sp>
      <p:grpSp>
        <p:nvGrpSpPr>
          <p:cNvPr id="90116" name="Group 2">
            <a:extLst>
              <a:ext uri="{FF2B5EF4-FFF2-40B4-BE49-F238E27FC236}">
                <a16:creationId xmlns:a16="http://schemas.microsoft.com/office/drawing/2014/main" id="{699B0C0E-E59F-4EB9-BACD-3BE92C30105F}"/>
              </a:ext>
            </a:extLst>
          </p:cNvPr>
          <p:cNvGrpSpPr>
            <a:grpSpLocks/>
          </p:cNvGrpSpPr>
          <p:nvPr/>
        </p:nvGrpSpPr>
        <p:grpSpPr bwMode="auto">
          <a:xfrm>
            <a:off x="277813" y="1444625"/>
            <a:ext cx="5513387" cy="4886325"/>
            <a:chOff x="175" y="910"/>
            <a:chExt cx="3473" cy="3078"/>
          </a:xfrm>
        </p:grpSpPr>
        <p:graphicFrame>
          <p:nvGraphicFramePr>
            <p:cNvPr id="90142" name="Object 3">
              <a:extLst>
                <a:ext uri="{FF2B5EF4-FFF2-40B4-BE49-F238E27FC236}">
                  <a16:creationId xmlns:a16="http://schemas.microsoft.com/office/drawing/2014/main" id="{D97B089E-F64F-4165-B70D-DE5997D4B454}"/>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649" imgH="5181600" progId="Excel.Chart.8">
                    <p:embed/>
                  </p:oleObj>
                </mc:Choice>
                <mc:Fallback>
                  <p:oleObj name="Chart" r:id="rId3" imgW="5800649" imgH="5181600"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43" name="Text Box 4">
              <a:extLst>
                <a:ext uri="{FF2B5EF4-FFF2-40B4-BE49-F238E27FC236}">
                  <a16:creationId xmlns:a16="http://schemas.microsoft.com/office/drawing/2014/main" id="{1C3D50FC-E14E-4656-A0C5-B72B7CB56F58}"/>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90144" name="Text Box 5">
              <a:extLst>
                <a:ext uri="{FF2B5EF4-FFF2-40B4-BE49-F238E27FC236}">
                  <a16:creationId xmlns:a16="http://schemas.microsoft.com/office/drawing/2014/main" id="{9E730F50-4C46-4024-A9BF-749B3EB7D5F8}"/>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90117" name="Group 6">
            <a:extLst>
              <a:ext uri="{FF2B5EF4-FFF2-40B4-BE49-F238E27FC236}">
                <a16:creationId xmlns:a16="http://schemas.microsoft.com/office/drawing/2014/main" id="{5C9A078D-8C1E-4B4B-9282-DC2A3C05C3E9}"/>
              </a:ext>
            </a:extLst>
          </p:cNvPr>
          <p:cNvGrpSpPr>
            <a:grpSpLocks/>
          </p:cNvGrpSpPr>
          <p:nvPr/>
        </p:nvGrpSpPr>
        <p:grpSpPr bwMode="auto">
          <a:xfrm>
            <a:off x="1808163" y="1946275"/>
            <a:ext cx="2101850" cy="3660775"/>
            <a:chOff x="1139" y="1226"/>
            <a:chExt cx="1324" cy="2306"/>
          </a:xfrm>
        </p:grpSpPr>
        <p:sp>
          <p:nvSpPr>
            <p:cNvPr id="90140" name="Line 7">
              <a:extLst>
                <a:ext uri="{FF2B5EF4-FFF2-40B4-BE49-F238E27FC236}">
                  <a16:creationId xmlns:a16="http://schemas.microsoft.com/office/drawing/2014/main" id="{DE3AFB08-D794-415A-9197-A2EA03DFED28}"/>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41" name="Text Box 8">
              <a:extLst>
                <a:ext uri="{FF2B5EF4-FFF2-40B4-BE49-F238E27FC236}">
                  <a16:creationId xmlns:a16="http://schemas.microsoft.com/office/drawing/2014/main" id="{95439C14-8A7C-40F6-BB49-2849D984ACB8}"/>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90118" name="Group 9">
            <a:extLst>
              <a:ext uri="{FF2B5EF4-FFF2-40B4-BE49-F238E27FC236}">
                <a16:creationId xmlns:a16="http://schemas.microsoft.com/office/drawing/2014/main" id="{3298A1CD-4D4C-4E34-9FB2-244A2BCE1626}"/>
              </a:ext>
            </a:extLst>
          </p:cNvPr>
          <p:cNvGrpSpPr>
            <a:grpSpLocks/>
          </p:cNvGrpSpPr>
          <p:nvPr/>
        </p:nvGrpSpPr>
        <p:grpSpPr bwMode="auto">
          <a:xfrm>
            <a:off x="1327150" y="1944688"/>
            <a:ext cx="3367088" cy="3665537"/>
            <a:chOff x="836" y="1225"/>
            <a:chExt cx="2121" cy="2309"/>
          </a:xfrm>
        </p:grpSpPr>
        <p:sp>
          <p:nvSpPr>
            <p:cNvPr id="90138" name="Line 10">
              <a:extLst>
                <a:ext uri="{FF2B5EF4-FFF2-40B4-BE49-F238E27FC236}">
                  <a16:creationId xmlns:a16="http://schemas.microsoft.com/office/drawing/2014/main" id="{E4107176-710E-465E-B92B-32DF59B5A572}"/>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39" name="Text Box 11">
              <a:extLst>
                <a:ext uri="{FF2B5EF4-FFF2-40B4-BE49-F238E27FC236}">
                  <a16:creationId xmlns:a16="http://schemas.microsoft.com/office/drawing/2014/main" id="{7F92CC97-E361-471F-8DFC-40C8D5B4C2DE}"/>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90119" name="Rectangle 12">
            <a:extLst>
              <a:ext uri="{FF2B5EF4-FFF2-40B4-BE49-F238E27FC236}">
                <a16:creationId xmlns:a16="http://schemas.microsoft.com/office/drawing/2014/main" id="{5A502910-B57C-4FAB-B920-45029BB7F8E9}"/>
              </a:ext>
            </a:extLst>
          </p:cNvPr>
          <p:cNvSpPr>
            <a:spLocks noGrp="1" noChangeArrowheads="1"/>
          </p:cNvSpPr>
          <p:nvPr>
            <p:ph type="title" idx="4294967295"/>
          </p:nvPr>
        </p:nvSpPr>
        <p:spPr>
          <a:xfrm>
            <a:off x="571500" y="252413"/>
            <a:ext cx="6586538" cy="622300"/>
          </a:xfrm>
        </p:spPr>
        <p:txBody>
          <a:bodyPr/>
          <a:lstStyle/>
          <a:p>
            <a:pPr algn="l" eaLnBrk="1" hangingPunct="1"/>
            <a:r>
              <a:rPr lang="en-US" altLang="en-US" sz="3100">
                <a:solidFill>
                  <a:srgbClr val="CC0000"/>
                </a:solidFill>
              </a:rPr>
              <a:t>Surplus</a:t>
            </a:r>
            <a:r>
              <a:rPr lang="en-US" altLang="en-US" sz="3100">
                <a:solidFill>
                  <a:schemeClr val="tx1"/>
                </a:solidFill>
              </a:rPr>
              <a:t> (a.k.a. excess supply):</a:t>
            </a:r>
          </a:p>
        </p:txBody>
      </p:sp>
      <p:sp>
        <p:nvSpPr>
          <p:cNvPr id="90120" name="Text Box 13">
            <a:extLst>
              <a:ext uri="{FF2B5EF4-FFF2-40B4-BE49-F238E27FC236}">
                <a16:creationId xmlns:a16="http://schemas.microsoft.com/office/drawing/2014/main" id="{1F050A55-C965-4727-A7BC-E7B4EB644DC2}"/>
              </a:ext>
            </a:extLst>
          </p:cNvPr>
          <p:cNvSpPr txBox="1">
            <a:spLocks noChangeArrowheads="1"/>
          </p:cNvSpPr>
          <p:nvPr/>
        </p:nvSpPr>
        <p:spPr bwMode="auto">
          <a:xfrm>
            <a:off x="1512888" y="715963"/>
            <a:ext cx="6562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supplied is greater than quantity demanded</a:t>
            </a:r>
          </a:p>
        </p:txBody>
      </p:sp>
      <p:sp>
        <p:nvSpPr>
          <p:cNvPr id="90121" name="Text Box 14">
            <a:extLst>
              <a:ext uri="{FF2B5EF4-FFF2-40B4-BE49-F238E27FC236}">
                <a16:creationId xmlns:a16="http://schemas.microsoft.com/office/drawing/2014/main" id="{615F3631-2E1E-4AD0-82DE-9AB340923E6D}"/>
              </a:ext>
            </a:extLst>
          </p:cNvPr>
          <p:cNvSpPr txBox="1">
            <a:spLocks noChangeArrowheads="1"/>
          </p:cNvSpPr>
          <p:nvPr/>
        </p:nvSpPr>
        <p:spPr bwMode="auto">
          <a:xfrm>
            <a:off x="4967288" y="1782763"/>
            <a:ext cx="396875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Facing a surplus, </a:t>
            </a:r>
            <a:br>
              <a:rPr lang="en-US" altLang="en-US" sz="2600">
                <a:solidFill>
                  <a:srgbClr val="B2B2B2"/>
                </a:solidFill>
                <a:cs typeface="Arial" panose="020B0604020202020204" pitchFamily="34" charset="0"/>
              </a:rPr>
            </a:br>
            <a:r>
              <a:rPr lang="en-US" altLang="en-US" sz="2600">
                <a:solidFill>
                  <a:srgbClr val="B2B2B2"/>
                </a:solidFill>
                <a:cs typeface="Arial" panose="020B0604020202020204" pitchFamily="34" charset="0"/>
              </a:rPr>
              <a:t>sellers try to increase sales by cutting price.</a:t>
            </a:r>
          </a:p>
        </p:txBody>
      </p:sp>
      <p:sp>
        <p:nvSpPr>
          <p:cNvPr id="90122" name="Text Box 15">
            <a:extLst>
              <a:ext uri="{FF2B5EF4-FFF2-40B4-BE49-F238E27FC236}">
                <a16:creationId xmlns:a16="http://schemas.microsoft.com/office/drawing/2014/main" id="{D785CC89-7B51-4657-B23A-F86DF2631635}"/>
              </a:ext>
            </a:extLst>
          </p:cNvPr>
          <p:cNvSpPr txBox="1">
            <a:spLocks noChangeArrowheads="1"/>
          </p:cNvSpPr>
          <p:nvPr/>
        </p:nvSpPr>
        <p:spPr bwMode="auto">
          <a:xfrm>
            <a:off x="4956175" y="3155950"/>
            <a:ext cx="40481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This causes </a:t>
            </a:r>
            <a:br>
              <a:rPr lang="en-US" altLang="en-US" sz="2600">
                <a:solidFill>
                  <a:srgbClr val="B2B2B2"/>
                </a:solidFill>
                <a:cs typeface="Arial" panose="020B0604020202020204" pitchFamily="34" charset="0"/>
              </a:rPr>
            </a:br>
            <a:r>
              <a:rPr lang="en-US" altLang="en-US" sz="2600" b="1" i="1">
                <a:solidFill>
                  <a:srgbClr val="B2B2B2"/>
                </a:solidFill>
                <a:cs typeface="Arial" panose="020B0604020202020204" pitchFamily="34" charset="0"/>
              </a:rPr>
              <a:t>Q</a:t>
            </a:r>
            <a:r>
              <a:rPr lang="en-US" altLang="en-US" sz="2600" b="1" i="1" baseline="30000">
                <a:solidFill>
                  <a:srgbClr val="B2B2B2"/>
                </a:solidFill>
                <a:cs typeface="Arial" panose="020B0604020202020204" pitchFamily="34" charset="0"/>
              </a:rPr>
              <a:t>D</a:t>
            </a:r>
            <a:r>
              <a:rPr lang="en-US" altLang="en-US" sz="2600">
                <a:solidFill>
                  <a:srgbClr val="B2B2B2"/>
                </a:solidFill>
                <a:cs typeface="Arial" panose="020B0604020202020204" pitchFamily="34" charset="0"/>
              </a:rPr>
              <a:t> to rise and </a:t>
            </a:r>
            <a:r>
              <a:rPr lang="en-US" altLang="en-US" sz="2600" b="1" i="1">
                <a:solidFill>
                  <a:srgbClr val="B2B2B2"/>
                </a:solidFill>
                <a:cs typeface="Arial" panose="020B0604020202020204" pitchFamily="34" charset="0"/>
              </a:rPr>
              <a:t>Q</a:t>
            </a:r>
            <a:r>
              <a:rPr lang="en-US" altLang="en-US" sz="2600" b="1" i="1" baseline="30000">
                <a:solidFill>
                  <a:srgbClr val="B2B2B2"/>
                </a:solidFill>
                <a:cs typeface="Arial" panose="020B0604020202020204" pitchFamily="34" charset="0"/>
              </a:rPr>
              <a:t>S</a:t>
            </a:r>
            <a:r>
              <a:rPr lang="en-US" altLang="en-US" sz="2600">
                <a:solidFill>
                  <a:srgbClr val="B2B2B2"/>
                </a:solidFill>
                <a:cs typeface="Arial" panose="020B0604020202020204" pitchFamily="34" charset="0"/>
              </a:rPr>
              <a:t> to fall.  </a:t>
            </a:r>
          </a:p>
        </p:txBody>
      </p:sp>
      <p:sp>
        <p:nvSpPr>
          <p:cNvPr id="90123" name="Line 16">
            <a:extLst>
              <a:ext uri="{FF2B5EF4-FFF2-40B4-BE49-F238E27FC236}">
                <a16:creationId xmlns:a16="http://schemas.microsoft.com/office/drawing/2014/main" id="{E83A0EA5-6B28-4C1F-AEE8-A2E8CD819613}"/>
              </a:ext>
            </a:extLst>
          </p:cNvPr>
          <p:cNvSpPr>
            <a:spLocks noChangeShapeType="1"/>
          </p:cNvSpPr>
          <p:nvPr/>
        </p:nvSpPr>
        <p:spPr bwMode="auto">
          <a:xfrm flipV="1">
            <a:off x="1320800" y="3327400"/>
            <a:ext cx="2152650" cy="1588"/>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24" name="Line 17">
            <a:extLst>
              <a:ext uri="{FF2B5EF4-FFF2-40B4-BE49-F238E27FC236}">
                <a16:creationId xmlns:a16="http://schemas.microsoft.com/office/drawing/2014/main" id="{F2480F2C-B20C-4A0C-A935-2D7631091E4B}"/>
              </a:ext>
            </a:extLst>
          </p:cNvPr>
          <p:cNvSpPr>
            <a:spLocks noChangeShapeType="1"/>
          </p:cNvSpPr>
          <p:nvPr/>
        </p:nvSpPr>
        <p:spPr bwMode="auto">
          <a:xfrm>
            <a:off x="2593975" y="3317875"/>
            <a:ext cx="9525" cy="230187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25" name="Line 18">
            <a:extLst>
              <a:ext uri="{FF2B5EF4-FFF2-40B4-BE49-F238E27FC236}">
                <a16:creationId xmlns:a16="http://schemas.microsoft.com/office/drawing/2014/main" id="{39B7E990-784B-415C-A7B0-D489FEFDCCE0}"/>
              </a:ext>
            </a:extLst>
          </p:cNvPr>
          <p:cNvSpPr>
            <a:spLocks noChangeShapeType="1"/>
          </p:cNvSpPr>
          <p:nvPr/>
        </p:nvSpPr>
        <p:spPr bwMode="auto">
          <a:xfrm>
            <a:off x="3451225" y="3314700"/>
            <a:ext cx="9525" cy="230187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26" name="AutoShape 19">
            <a:extLst>
              <a:ext uri="{FF2B5EF4-FFF2-40B4-BE49-F238E27FC236}">
                <a16:creationId xmlns:a16="http://schemas.microsoft.com/office/drawing/2014/main" id="{5E76856F-7947-43AE-921E-6A667F971AD7}"/>
              </a:ext>
            </a:extLst>
          </p:cNvPr>
          <p:cNvSpPr>
            <a:spLocks/>
          </p:cNvSpPr>
          <p:nvPr/>
        </p:nvSpPr>
        <p:spPr bwMode="auto">
          <a:xfrm rot="5400000">
            <a:off x="2912269" y="2696369"/>
            <a:ext cx="220662" cy="869950"/>
          </a:xfrm>
          <a:prstGeom prst="leftBrace">
            <a:avLst>
              <a:gd name="adj1" fmla="val 32854"/>
              <a:gd name="adj2" fmla="val 50000"/>
            </a:avLst>
          </a:prstGeom>
          <a:noFill/>
          <a:ln w="19050">
            <a:solidFill>
              <a:srgbClr val="B2B2B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90127" name="Line 20">
            <a:extLst>
              <a:ext uri="{FF2B5EF4-FFF2-40B4-BE49-F238E27FC236}">
                <a16:creationId xmlns:a16="http://schemas.microsoft.com/office/drawing/2014/main" id="{9DC8C03D-3265-4D75-BA48-EE1E66810E82}"/>
              </a:ext>
            </a:extLst>
          </p:cNvPr>
          <p:cNvSpPr>
            <a:spLocks noChangeShapeType="1"/>
          </p:cNvSpPr>
          <p:nvPr/>
        </p:nvSpPr>
        <p:spPr bwMode="auto">
          <a:xfrm flipV="1">
            <a:off x="3027363" y="2363788"/>
            <a:ext cx="190500" cy="617537"/>
          </a:xfrm>
          <a:prstGeom prst="line">
            <a:avLst/>
          </a:prstGeom>
          <a:noFill/>
          <a:ln w="952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28" name="Text Box 21">
            <a:extLst>
              <a:ext uri="{FF2B5EF4-FFF2-40B4-BE49-F238E27FC236}">
                <a16:creationId xmlns:a16="http://schemas.microsoft.com/office/drawing/2014/main" id="{4B6452AD-DBFB-4488-BF62-60D11F0D3A01}"/>
              </a:ext>
            </a:extLst>
          </p:cNvPr>
          <p:cNvSpPr txBox="1">
            <a:spLocks noChangeArrowheads="1"/>
          </p:cNvSpPr>
          <p:nvPr/>
        </p:nvSpPr>
        <p:spPr bwMode="auto">
          <a:xfrm>
            <a:off x="2428875" y="1924050"/>
            <a:ext cx="15017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solidFill>
                  <a:srgbClr val="B2B2B2"/>
                </a:solidFill>
                <a:cs typeface="Arial" panose="020B0604020202020204" pitchFamily="34" charset="0"/>
              </a:rPr>
              <a:t>Surplus</a:t>
            </a:r>
          </a:p>
        </p:txBody>
      </p:sp>
      <p:sp>
        <p:nvSpPr>
          <p:cNvPr id="117782" name="Text Box 22">
            <a:extLst>
              <a:ext uri="{FF2B5EF4-FFF2-40B4-BE49-F238E27FC236}">
                <a16:creationId xmlns:a16="http://schemas.microsoft.com/office/drawing/2014/main" id="{DB073E78-8B02-4D3E-B00B-8F4E5A13B010}"/>
              </a:ext>
            </a:extLst>
          </p:cNvPr>
          <p:cNvSpPr txBox="1">
            <a:spLocks noChangeArrowheads="1"/>
          </p:cNvSpPr>
          <p:nvPr/>
        </p:nvSpPr>
        <p:spPr bwMode="auto">
          <a:xfrm>
            <a:off x="4967288" y="4108450"/>
            <a:ext cx="3768725"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Prices continue to fall until market reaches equilibrium. </a:t>
            </a:r>
          </a:p>
        </p:txBody>
      </p:sp>
      <p:grpSp>
        <p:nvGrpSpPr>
          <p:cNvPr id="5" name="Group 23">
            <a:extLst>
              <a:ext uri="{FF2B5EF4-FFF2-40B4-BE49-F238E27FC236}">
                <a16:creationId xmlns:a16="http://schemas.microsoft.com/office/drawing/2014/main" id="{EC0AFEC2-E839-4720-B2DB-A884F7983A53}"/>
              </a:ext>
            </a:extLst>
          </p:cNvPr>
          <p:cNvGrpSpPr>
            <a:grpSpLocks/>
          </p:cNvGrpSpPr>
          <p:nvPr/>
        </p:nvGrpSpPr>
        <p:grpSpPr bwMode="auto">
          <a:xfrm>
            <a:off x="1319213" y="3338513"/>
            <a:ext cx="1681162" cy="2278062"/>
            <a:chOff x="831" y="2103"/>
            <a:chExt cx="1059" cy="1435"/>
          </a:xfrm>
        </p:grpSpPr>
        <p:grpSp>
          <p:nvGrpSpPr>
            <p:cNvPr id="90132" name="Group 24">
              <a:extLst>
                <a:ext uri="{FF2B5EF4-FFF2-40B4-BE49-F238E27FC236}">
                  <a16:creationId xmlns:a16="http://schemas.microsoft.com/office/drawing/2014/main" id="{FA887784-3D5C-4352-9D42-56D7CCB70458}"/>
                </a:ext>
              </a:extLst>
            </p:cNvPr>
            <p:cNvGrpSpPr>
              <a:grpSpLocks/>
            </p:cNvGrpSpPr>
            <p:nvPr/>
          </p:nvGrpSpPr>
          <p:grpSpPr bwMode="auto">
            <a:xfrm>
              <a:off x="831" y="2103"/>
              <a:ext cx="1013" cy="358"/>
              <a:chOff x="831" y="2103"/>
              <a:chExt cx="1013" cy="358"/>
            </a:xfrm>
          </p:grpSpPr>
          <p:sp>
            <p:nvSpPr>
              <p:cNvPr id="90136" name="Line 25">
                <a:extLst>
                  <a:ext uri="{FF2B5EF4-FFF2-40B4-BE49-F238E27FC236}">
                    <a16:creationId xmlns:a16="http://schemas.microsoft.com/office/drawing/2014/main" id="{DF24284B-55A0-46F8-BCDC-84A269FC1AD1}"/>
                  </a:ext>
                </a:extLst>
              </p:cNvPr>
              <p:cNvSpPr>
                <a:spLocks noChangeShapeType="1"/>
              </p:cNvSpPr>
              <p:nvPr/>
            </p:nvSpPr>
            <p:spPr bwMode="auto">
              <a:xfrm>
                <a:off x="831" y="2103"/>
                <a:ext cx="0" cy="35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0137" name="Line 26">
                <a:extLst>
                  <a:ext uri="{FF2B5EF4-FFF2-40B4-BE49-F238E27FC236}">
                    <a16:creationId xmlns:a16="http://schemas.microsoft.com/office/drawing/2014/main" id="{6D4603B6-09AE-44B1-9736-974183FD851B}"/>
                  </a:ext>
                </a:extLst>
              </p:cNvPr>
              <p:cNvSpPr>
                <a:spLocks noChangeShapeType="1"/>
              </p:cNvSpPr>
              <p:nvPr/>
            </p:nvSpPr>
            <p:spPr bwMode="auto">
              <a:xfrm flipV="1">
                <a:off x="834" y="2460"/>
                <a:ext cx="1010" cy="1"/>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0133" name="Group 27">
              <a:extLst>
                <a:ext uri="{FF2B5EF4-FFF2-40B4-BE49-F238E27FC236}">
                  <a16:creationId xmlns:a16="http://schemas.microsoft.com/office/drawing/2014/main" id="{76736783-916B-4077-B513-2BFB2979A118}"/>
                </a:ext>
              </a:extLst>
            </p:cNvPr>
            <p:cNvGrpSpPr>
              <a:grpSpLocks/>
            </p:cNvGrpSpPr>
            <p:nvPr/>
          </p:nvGrpSpPr>
          <p:grpSpPr bwMode="auto">
            <a:xfrm>
              <a:off x="1802" y="2410"/>
              <a:ext cx="88" cy="1128"/>
              <a:chOff x="1802" y="2410"/>
              <a:chExt cx="88" cy="1128"/>
            </a:xfrm>
          </p:grpSpPr>
          <p:sp>
            <p:nvSpPr>
              <p:cNvPr id="90134" name="Line 28">
                <a:extLst>
                  <a:ext uri="{FF2B5EF4-FFF2-40B4-BE49-F238E27FC236}">
                    <a16:creationId xmlns:a16="http://schemas.microsoft.com/office/drawing/2014/main" id="{75C2C544-F7D3-4F9A-B1B4-EB3FA6F7275C}"/>
                  </a:ext>
                </a:extLst>
              </p:cNvPr>
              <p:cNvSpPr>
                <a:spLocks noChangeShapeType="1"/>
              </p:cNvSpPr>
              <p:nvPr/>
            </p:nvSpPr>
            <p:spPr bwMode="auto">
              <a:xfrm>
                <a:off x="1840" y="2440"/>
                <a:ext cx="4" cy="1098"/>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35" name="Oval 29">
                <a:extLst>
                  <a:ext uri="{FF2B5EF4-FFF2-40B4-BE49-F238E27FC236}">
                    <a16:creationId xmlns:a16="http://schemas.microsoft.com/office/drawing/2014/main" id="{E6D75857-536C-4D65-9C52-4008CFAEBA38}"/>
                  </a:ext>
                </a:extLst>
              </p:cNvPr>
              <p:cNvSpPr>
                <a:spLocks noChangeArrowheads="1"/>
              </p:cNvSpPr>
              <p:nvPr/>
            </p:nvSpPr>
            <p:spPr bwMode="auto">
              <a:xfrm>
                <a:off x="1802" y="241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sp>
        <p:nvSpPr>
          <p:cNvPr id="90131" name="FlagCount" hidden="1">
            <a:hlinkClick r:id="rId5" action="ppaction://hlinkfile"/>
            <a:extLst>
              <a:ext uri="{FF2B5EF4-FFF2-40B4-BE49-F238E27FC236}">
                <a16:creationId xmlns:a16="http://schemas.microsoft.com/office/drawing/2014/main" id="{D957FE7D-639B-4B8C-8D33-55A4F7EE4365}"/>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82"/>
                                        </p:tgtEl>
                                        <p:attrNameLst>
                                          <p:attrName>style.visibility</p:attrName>
                                        </p:attrNameLst>
                                      </p:cBhvr>
                                      <p:to>
                                        <p:strVal val="visible"/>
                                      </p:to>
                                    </p:set>
                                    <p:animEffect transition="in" filter="wipe(left)">
                                      <p:cBhvr>
                                        <p:cTn id="7" dur="500"/>
                                        <p:tgtEl>
                                          <p:spTgt spid="117782"/>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1">
            <a:extLst>
              <a:ext uri="{FF2B5EF4-FFF2-40B4-BE49-F238E27FC236}">
                <a16:creationId xmlns:a16="http://schemas.microsoft.com/office/drawing/2014/main" id="{1EB29ED6-37AE-49A2-8C07-CF1DAC190C7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2163" name="Slide Number Placeholder 2">
            <a:extLst>
              <a:ext uri="{FF2B5EF4-FFF2-40B4-BE49-F238E27FC236}">
                <a16:creationId xmlns:a16="http://schemas.microsoft.com/office/drawing/2014/main" id="{AC0CB53A-C939-4DB4-A71F-48B0EE8ABCD1}"/>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8209DBC-8851-4A74-A22C-356487E9820C}" type="slidenum">
              <a:rPr lang="en-US" altLang="en-US">
                <a:solidFill>
                  <a:srgbClr val="777777"/>
                </a:solidFill>
                <a:latin typeface="Tahoma" panose="020B0604030504040204" pitchFamily="34" charset="0"/>
              </a:rPr>
              <a:pPr/>
              <a:t>43</a:t>
            </a:fld>
            <a:endParaRPr lang="en-US" altLang="en-US">
              <a:solidFill>
                <a:srgbClr val="777777"/>
              </a:solidFill>
              <a:latin typeface="Tahoma" panose="020B0604030504040204" pitchFamily="34" charset="0"/>
            </a:endParaRPr>
          </a:p>
        </p:txBody>
      </p:sp>
      <p:grpSp>
        <p:nvGrpSpPr>
          <p:cNvPr id="92164" name="Group 2">
            <a:extLst>
              <a:ext uri="{FF2B5EF4-FFF2-40B4-BE49-F238E27FC236}">
                <a16:creationId xmlns:a16="http://schemas.microsoft.com/office/drawing/2014/main" id="{D191B504-47E6-43E2-A534-77C34188E880}"/>
              </a:ext>
            </a:extLst>
          </p:cNvPr>
          <p:cNvGrpSpPr>
            <a:grpSpLocks/>
          </p:cNvGrpSpPr>
          <p:nvPr/>
        </p:nvGrpSpPr>
        <p:grpSpPr bwMode="auto">
          <a:xfrm>
            <a:off x="277813" y="1444625"/>
            <a:ext cx="5513387" cy="4886325"/>
            <a:chOff x="175" y="910"/>
            <a:chExt cx="3473" cy="3078"/>
          </a:xfrm>
        </p:grpSpPr>
        <p:graphicFrame>
          <p:nvGraphicFramePr>
            <p:cNvPr id="92187" name="Object 3">
              <a:extLst>
                <a:ext uri="{FF2B5EF4-FFF2-40B4-BE49-F238E27FC236}">
                  <a16:creationId xmlns:a16="http://schemas.microsoft.com/office/drawing/2014/main" id="{A2D7819E-DE0D-445E-B213-278AA24D3232}"/>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649" imgH="5181600" progId="Excel.Chart.8">
                    <p:embed/>
                  </p:oleObj>
                </mc:Choice>
                <mc:Fallback>
                  <p:oleObj name="Chart" r:id="rId3" imgW="5800649" imgH="5181600"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188" name="Text Box 4">
              <a:extLst>
                <a:ext uri="{FF2B5EF4-FFF2-40B4-BE49-F238E27FC236}">
                  <a16:creationId xmlns:a16="http://schemas.microsoft.com/office/drawing/2014/main" id="{D803548B-D432-4782-B4A9-CF5A1C12C459}"/>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92189" name="Text Box 5">
              <a:extLst>
                <a:ext uri="{FF2B5EF4-FFF2-40B4-BE49-F238E27FC236}">
                  <a16:creationId xmlns:a16="http://schemas.microsoft.com/office/drawing/2014/main" id="{5811D114-EE99-4563-98FC-A9ED89822579}"/>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92165" name="Group 6">
            <a:extLst>
              <a:ext uri="{FF2B5EF4-FFF2-40B4-BE49-F238E27FC236}">
                <a16:creationId xmlns:a16="http://schemas.microsoft.com/office/drawing/2014/main" id="{D99ED31F-64A0-488C-9CEC-E2E45A572DD5}"/>
              </a:ext>
            </a:extLst>
          </p:cNvPr>
          <p:cNvGrpSpPr>
            <a:grpSpLocks/>
          </p:cNvGrpSpPr>
          <p:nvPr/>
        </p:nvGrpSpPr>
        <p:grpSpPr bwMode="auto">
          <a:xfrm>
            <a:off x="1808163" y="1946275"/>
            <a:ext cx="2101850" cy="3660775"/>
            <a:chOff x="1139" y="1226"/>
            <a:chExt cx="1324" cy="2306"/>
          </a:xfrm>
        </p:grpSpPr>
        <p:sp>
          <p:nvSpPr>
            <p:cNvPr id="92185" name="Line 7">
              <a:extLst>
                <a:ext uri="{FF2B5EF4-FFF2-40B4-BE49-F238E27FC236}">
                  <a16:creationId xmlns:a16="http://schemas.microsoft.com/office/drawing/2014/main" id="{DA8FA05C-2DF5-41AF-B4E4-6989D0BDA18F}"/>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6" name="Text Box 8">
              <a:extLst>
                <a:ext uri="{FF2B5EF4-FFF2-40B4-BE49-F238E27FC236}">
                  <a16:creationId xmlns:a16="http://schemas.microsoft.com/office/drawing/2014/main" id="{45177F16-04C0-4732-B34F-24250BB3B09A}"/>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92166" name="Group 9">
            <a:extLst>
              <a:ext uri="{FF2B5EF4-FFF2-40B4-BE49-F238E27FC236}">
                <a16:creationId xmlns:a16="http://schemas.microsoft.com/office/drawing/2014/main" id="{65D06F1A-AFB4-4BDC-9565-CBD1653B4DF0}"/>
              </a:ext>
            </a:extLst>
          </p:cNvPr>
          <p:cNvGrpSpPr>
            <a:grpSpLocks/>
          </p:cNvGrpSpPr>
          <p:nvPr/>
        </p:nvGrpSpPr>
        <p:grpSpPr bwMode="auto">
          <a:xfrm>
            <a:off x="1327150" y="1944688"/>
            <a:ext cx="3367088" cy="3665537"/>
            <a:chOff x="836" y="1225"/>
            <a:chExt cx="2121" cy="2309"/>
          </a:xfrm>
        </p:grpSpPr>
        <p:sp>
          <p:nvSpPr>
            <p:cNvPr id="92183" name="Line 10">
              <a:extLst>
                <a:ext uri="{FF2B5EF4-FFF2-40B4-BE49-F238E27FC236}">
                  <a16:creationId xmlns:a16="http://schemas.microsoft.com/office/drawing/2014/main" id="{C45B97D7-BDB8-4253-8E95-6E3A2006D8D6}"/>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4" name="Text Box 11">
              <a:extLst>
                <a:ext uri="{FF2B5EF4-FFF2-40B4-BE49-F238E27FC236}">
                  <a16:creationId xmlns:a16="http://schemas.microsoft.com/office/drawing/2014/main" id="{C29E8999-6841-4C28-B356-6F4B6DF4172B}"/>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118796" name="Rectangle 12">
            <a:extLst>
              <a:ext uri="{FF2B5EF4-FFF2-40B4-BE49-F238E27FC236}">
                <a16:creationId xmlns:a16="http://schemas.microsoft.com/office/drawing/2014/main" id="{8F634D6D-68AC-471C-AD92-30ACE98F70C0}"/>
              </a:ext>
            </a:extLst>
          </p:cNvPr>
          <p:cNvSpPr>
            <a:spLocks noGrp="1" noChangeArrowheads="1"/>
          </p:cNvSpPr>
          <p:nvPr>
            <p:ph type="title" idx="4294967295"/>
          </p:nvPr>
        </p:nvSpPr>
        <p:spPr>
          <a:xfrm>
            <a:off x="571500" y="257175"/>
            <a:ext cx="6586538" cy="622300"/>
          </a:xfrm>
        </p:spPr>
        <p:txBody>
          <a:bodyPr/>
          <a:lstStyle/>
          <a:p>
            <a:pPr algn="l" eaLnBrk="1" hangingPunct="1"/>
            <a:r>
              <a:rPr lang="en-US" altLang="en-US" sz="3100">
                <a:solidFill>
                  <a:srgbClr val="CC0000"/>
                </a:solidFill>
              </a:rPr>
              <a:t>Shortage</a:t>
            </a:r>
            <a:r>
              <a:rPr lang="en-US" altLang="en-US" sz="3100">
                <a:solidFill>
                  <a:schemeClr val="tx1"/>
                </a:solidFill>
              </a:rPr>
              <a:t> (a.k.a. excess demand):</a:t>
            </a:r>
          </a:p>
        </p:txBody>
      </p:sp>
      <p:sp>
        <p:nvSpPr>
          <p:cNvPr id="118797" name="Text Box 13">
            <a:extLst>
              <a:ext uri="{FF2B5EF4-FFF2-40B4-BE49-F238E27FC236}">
                <a16:creationId xmlns:a16="http://schemas.microsoft.com/office/drawing/2014/main" id="{3D4E9ED8-E815-4E08-B8B3-DAB5EC4D0FF5}"/>
              </a:ext>
            </a:extLst>
          </p:cNvPr>
          <p:cNvSpPr txBox="1">
            <a:spLocks noChangeArrowheads="1"/>
          </p:cNvSpPr>
          <p:nvPr/>
        </p:nvSpPr>
        <p:spPr bwMode="auto">
          <a:xfrm>
            <a:off x="1512888" y="714375"/>
            <a:ext cx="66754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demanded is greater than quantity supplied</a:t>
            </a:r>
          </a:p>
        </p:txBody>
      </p:sp>
      <p:sp>
        <p:nvSpPr>
          <p:cNvPr id="118798" name="Text Box 14">
            <a:extLst>
              <a:ext uri="{FF2B5EF4-FFF2-40B4-BE49-F238E27FC236}">
                <a16:creationId xmlns:a16="http://schemas.microsoft.com/office/drawing/2014/main" id="{D9DA66C2-5B67-4748-9DC0-7013F0511B1C}"/>
              </a:ext>
            </a:extLst>
          </p:cNvPr>
          <p:cNvSpPr txBox="1">
            <a:spLocks noChangeArrowheads="1"/>
          </p:cNvSpPr>
          <p:nvPr/>
        </p:nvSpPr>
        <p:spPr bwMode="auto">
          <a:xfrm>
            <a:off x="5299075" y="1809750"/>
            <a:ext cx="22574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Example: </a:t>
            </a:r>
            <a:br>
              <a:rPr lang="en-US" altLang="en-US" sz="2600">
                <a:cs typeface="Arial" panose="020B0604020202020204" pitchFamily="34" charset="0"/>
              </a:rPr>
            </a:br>
            <a:r>
              <a:rPr lang="en-US" altLang="en-US" sz="2600">
                <a:cs typeface="Arial" panose="020B0604020202020204" pitchFamily="34" charset="0"/>
              </a:rPr>
              <a:t>If  </a:t>
            </a:r>
            <a:r>
              <a:rPr lang="en-US" altLang="en-US" sz="2600" b="1" i="1">
                <a:cs typeface="Arial" panose="020B0604020202020204" pitchFamily="34" charset="0"/>
              </a:rPr>
              <a:t>P</a:t>
            </a:r>
            <a:r>
              <a:rPr lang="en-US" altLang="en-US" sz="2600">
                <a:cs typeface="Arial" panose="020B0604020202020204" pitchFamily="34" charset="0"/>
              </a:rPr>
              <a:t>  =  $1, </a:t>
            </a:r>
          </a:p>
        </p:txBody>
      </p:sp>
      <p:sp>
        <p:nvSpPr>
          <p:cNvPr id="118799" name="Text Box 15">
            <a:extLst>
              <a:ext uri="{FF2B5EF4-FFF2-40B4-BE49-F238E27FC236}">
                <a16:creationId xmlns:a16="http://schemas.microsoft.com/office/drawing/2014/main" id="{88560820-E0E0-4E14-B70F-865768B67F33}"/>
              </a:ext>
            </a:extLst>
          </p:cNvPr>
          <p:cNvSpPr txBox="1">
            <a:spLocks noChangeArrowheads="1"/>
          </p:cNvSpPr>
          <p:nvPr/>
        </p:nvSpPr>
        <p:spPr bwMode="auto">
          <a:xfrm>
            <a:off x="5534025" y="2698750"/>
            <a:ext cx="2862263"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then</a:t>
            </a:r>
            <a:br>
              <a:rPr lang="en-US" altLang="en-US" sz="2600">
                <a:cs typeface="Arial" panose="020B0604020202020204" pitchFamily="34" charset="0"/>
              </a:rPr>
            </a:br>
            <a:r>
              <a:rPr lang="en-US" altLang="en-US" sz="2600">
                <a:cs typeface="Arial" panose="020B0604020202020204" pitchFamily="34" charset="0"/>
              </a:rPr>
              <a:t>   </a:t>
            </a: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  21 lattes</a:t>
            </a:r>
          </a:p>
        </p:txBody>
      </p:sp>
      <p:sp>
        <p:nvSpPr>
          <p:cNvPr id="118800" name="Text Box 16">
            <a:extLst>
              <a:ext uri="{FF2B5EF4-FFF2-40B4-BE49-F238E27FC236}">
                <a16:creationId xmlns:a16="http://schemas.microsoft.com/office/drawing/2014/main" id="{07D51CD8-B382-478E-B265-8921F7E018DF}"/>
              </a:ext>
            </a:extLst>
          </p:cNvPr>
          <p:cNvSpPr txBox="1">
            <a:spLocks noChangeArrowheads="1"/>
          </p:cNvSpPr>
          <p:nvPr/>
        </p:nvSpPr>
        <p:spPr bwMode="auto">
          <a:xfrm>
            <a:off x="5543550" y="3570288"/>
            <a:ext cx="27876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and</a:t>
            </a:r>
            <a:br>
              <a:rPr lang="en-US" altLang="en-US" sz="2600">
                <a:cs typeface="Arial" panose="020B0604020202020204" pitchFamily="34" charset="0"/>
              </a:rPr>
            </a:br>
            <a:r>
              <a:rPr lang="en-US" altLang="en-US" sz="2600">
                <a:cs typeface="Arial" panose="020B0604020202020204" pitchFamily="34" charset="0"/>
              </a:rPr>
              <a:t>   </a:t>
            </a:r>
            <a:r>
              <a:rPr lang="en-US" altLang="en-US" sz="2600" b="1" i="1">
                <a:cs typeface="Arial" panose="020B0604020202020204" pitchFamily="34" charset="0"/>
              </a:rPr>
              <a:t>Q</a:t>
            </a:r>
            <a:r>
              <a:rPr lang="en-US" altLang="en-US" sz="2600" b="1" i="1" baseline="30000">
                <a:cs typeface="Arial" panose="020B0604020202020204" pitchFamily="34" charset="0"/>
              </a:rPr>
              <a:t>S</a:t>
            </a:r>
            <a:r>
              <a:rPr lang="en-US" altLang="en-US" sz="2600">
                <a:cs typeface="Arial" panose="020B0604020202020204" pitchFamily="34" charset="0"/>
              </a:rPr>
              <a:t>  =  5 lattes</a:t>
            </a:r>
          </a:p>
        </p:txBody>
      </p:sp>
      <p:sp>
        <p:nvSpPr>
          <p:cNvPr id="118801" name="Text Box 17">
            <a:extLst>
              <a:ext uri="{FF2B5EF4-FFF2-40B4-BE49-F238E27FC236}">
                <a16:creationId xmlns:a16="http://schemas.microsoft.com/office/drawing/2014/main" id="{6D7CCDF9-7620-4486-BBF5-DDDB7FF25BA1}"/>
              </a:ext>
            </a:extLst>
          </p:cNvPr>
          <p:cNvSpPr txBox="1">
            <a:spLocks noChangeArrowheads="1"/>
          </p:cNvSpPr>
          <p:nvPr/>
        </p:nvSpPr>
        <p:spPr bwMode="auto">
          <a:xfrm>
            <a:off x="5537200" y="4451350"/>
            <a:ext cx="3252788"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resulting in a </a:t>
            </a:r>
            <a:br>
              <a:rPr lang="en-US" altLang="en-US" sz="2600">
                <a:cs typeface="Arial" panose="020B0604020202020204" pitchFamily="34" charset="0"/>
              </a:rPr>
            </a:br>
            <a:r>
              <a:rPr lang="en-US" altLang="en-US" sz="2600">
                <a:cs typeface="Arial" panose="020B0604020202020204" pitchFamily="34" charset="0"/>
              </a:rPr>
              <a:t>shortage of 16 lattes</a:t>
            </a:r>
          </a:p>
        </p:txBody>
      </p:sp>
      <p:sp>
        <p:nvSpPr>
          <p:cNvPr id="118802" name="Line 18">
            <a:extLst>
              <a:ext uri="{FF2B5EF4-FFF2-40B4-BE49-F238E27FC236}">
                <a16:creationId xmlns:a16="http://schemas.microsoft.com/office/drawing/2014/main" id="{6F818943-4B69-43D3-8FBB-2515616416C3}"/>
              </a:ext>
            </a:extLst>
          </p:cNvPr>
          <p:cNvSpPr>
            <a:spLocks noChangeShapeType="1"/>
          </p:cNvSpPr>
          <p:nvPr/>
        </p:nvSpPr>
        <p:spPr bwMode="auto">
          <a:xfrm>
            <a:off x="1322388" y="5045075"/>
            <a:ext cx="2259012"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19">
            <a:extLst>
              <a:ext uri="{FF2B5EF4-FFF2-40B4-BE49-F238E27FC236}">
                <a16:creationId xmlns:a16="http://schemas.microsoft.com/office/drawing/2014/main" id="{9FA31DD1-6744-4115-AE53-51F4E7A8454A}"/>
              </a:ext>
            </a:extLst>
          </p:cNvPr>
          <p:cNvGrpSpPr>
            <a:grpSpLocks/>
          </p:cNvGrpSpPr>
          <p:nvPr/>
        </p:nvGrpSpPr>
        <p:grpSpPr bwMode="auto">
          <a:xfrm>
            <a:off x="3505200" y="4972050"/>
            <a:ext cx="139700" cy="642938"/>
            <a:chOff x="2208" y="3132"/>
            <a:chExt cx="88" cy="405"/>
          </a:xfrm>
        </p:grpSpPr>
        <p:sp>
          <p:nvSpPr>
            <p:cNvPr id="92181" name="Line 20">
              <a:extLst>
                <a:ext uri="{FF2B5EF4-FFF2-40B4-BE49-F238E27FC236}">
                  <a16:creationId xmlns:a16="http://schemas.microsoft.com/office/drawing/2014/main" id="{B4F99CBE-049E-41A3-9C94-849E3F03009C}"/>
                </a:ext>
              </a:extLst>
            </p:cNvPr>
            <p:cNvSpPr>
              <a:spLocks noChangeShapeType="1"/>
            </p:cNvSpPr>
            <p:nvPr/>
          </p:nvSpPr>
          <p:spPr bwMode="auto">
            <a:xfrm flipH="1">
              <a:off x="2247" y="3163"/>
              <a:ext cx="2" cy="374"/>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82" name="Oval 21">
              <a:extLst>
                <a:ext uri="{FF2B5EF4-FFF2-40B4-BE49-F238E27FC236}">
                  <a16:creationId xmlns:a16="http://schemas.microsoft.com/office/drawing/2014/main" id="{F87F5D49-72D0-4DAA-99D9-A143BC54EE3B}"/>
                </a:ext>
              </a:extLst>
            </p:cNvPr>
            <p:cNvSpPr>
              <a:spLocks noChangeArrowheads="1"/>
            </p:cNvSpPr>
            <p:nvPr/>
          </p:nvSpPr>
          <p:spPr bwMode="auto">
            <a:xfrm>
              <a:off x="2208" y="313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6" name="Group 22">
            <a:extLst>
              <a:ext uri="{FF2B5EF4-FFF2-40B4-BE49-F238E27FC236}">
                <a16:creationId xmlns:a16="http://schemas.microsoft.com/office/drawing/2014/main" id="{89ADEFD9-16FA-42F2-9AED-ECB4DF5045B7}"/>
              </a:ext>
            </a:extLst>
          </p:cNvPr>
          <p:cNvGrpSpPr>
            <a:grpSpLocks/>
          </p:cNvGrpSpPr>
          <p:nvPr/>
        </p:nvGrpSpPr>
        <p:grpSpPr bwMode="auto">
          <a:xfrm>
            <a:off x="1793875" y="4972050"/>
            <a:ext cx="139700" cy="646113"/>
            <a:chOff x="1130" y="3132"/>
            <a:chExt cx="88" cy="407"/>
          </a:xfrm>
        </p:grpSpPr>
        <p:sp>
          <p:nvSpPr>
            <p:cNvPr id="92179" name="Line 23">
              <a:extLst>
                <a:ext uri="{FF2B5EF4-FFF2-40B4-BE49-F238E27FC236}">
                  <a16:creationId xmlns:a16="http://schemas.microsoft.com/office/drawing/2014/main" id="{CC4949BD-2D93-490C-A922-67B1149C7368}"/>
                </a:ext>
              </a:extLst>
            </p:cNvPr>
            <p:cNvSpPr>
              <a:spLocks noChangeShapeType="1"/>
            </p:cNvSpPr>
            <p:nvPr/>
          </p:nvSpPr>
          <p:spPr bwMode="auto">
            <a:xfrm flipH="1">
              <a:off x="1173" y="3165"/>
              <a:ext cx="2" cy="374"/>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80" name="Oval 24">
              <a:extLst>
                <a:ext uri="{FF2B5EF4-FFF2-40B4-BE49-F238E27FC236}">
                  <a16:creationId xmlns:a16="http://schemas.microsoft.com/office/drawing/2014/main" id="{D32269CC-051A-402F-B40A-6CB73D5E492C}"/>
                </a:ext>
              </a:extLst>
            </p:cNvPr>
            <p:cNvSpPr>
              <a:spLocks noChangeArrowheads="1"/>
            </p:cNvSpPr>
            <p:nvPr/>
          </p:nvSpPr>
          <p:spPr bwMode="auto">
            <a:xfrm>
              <a:off x="1130" y="313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118809" name="AutoShape 25">
            <a:extLst>
              <a:ext uri="{FF2B5EF4-FFF2-40B4-BE49-F238E27FC236}">
                <a16:creationId xmlns:a16="http://schemas.microsoft.com/office/drawing/2014/main" id="{385E520C-B82B-47DA-928D-4FB6FE8B8E69}"/>
              </a:ext>
            </a:extLst>
          </p:cNvPr>
          <p:cNvSpPr>
            <a:spLocks/>
          </p:cNvSpPr>
          <p:nvPr/>
        </p:nvSpPr>
        <p:spPr bwMode="auto">
          <a:xfrm rot="-5400000">
            <a:off x="2601119" y="4407694"/>
            <a:ext cx="220662" cy="1714500"/>
          </a:xfrm>
          <a:prstGeom prst="leftBrace">
            <a:avLst>
              <a:gd name="adj1" fmla="val 64748"/>
              <a:gd name="adj2" fmla="val 50000"/>
            </a:avLst>
          </a:prstGeom>
          <a:noFill/>
          <a:ln w="1905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8810" name="Text Box 26">
            <a:extLst>
              <a:ext uri="{FF2B5EF4-FFF2-40B4-BE49-F238E27FC236}">
                <a16:creationId xmlns:a16="http://schemas.microsoft.com/office/drawing/2014/main" id="{837137C1-789B-412B-84B9-043617C32FB0}"/>
              </a:ext>
            </a:extLst>
          </p:cNvPr>
          <p:cNvSpPr txBox="1">
            <a:spLocks noChangeArrowheads="1"/>
          </p:cNvSpPr>
          <p:nvPr/>
        </p:nvSpPr>
        <p:spPr bwMode="auto">
          <a:xfrm>
            <a:off x="1951038" y="5394325"/>
            <a:ext cx="1512887" cy="47307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b="1" i="1">
                <a:cs typeface="Arial" panose="020B0604020202020204" pitchFamily="34" charset="0"/>
              </a:rPr>
              <a:t>Shortage</a:t>
            </a:r>
          </a:p>
        </p:txBody>
      </p:sp>
      <p:sp>
        <p:nvSpPr>
          <p:cNvPr id="92178" name="FlagCount" hidden="1">
            <a:hlinkClick r:id="rId5" action="ppaction://hlinkfile"/>
            <a:extLst>
              <a:ext uri="{FF2B5EF4-FFF2-40B4-BE49-F238E27FC236}">
                <a16:creationId xmlns:a16="http://schemas.microsoft.com/office/drawing/2014/main" id="{F77F937F-25EA-4849-B2A8-551FA80BC499}"/>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96"/>
                                        </p:tgtEl>
                                        <p:attrNameLst>
                                          <p:attrName>style.visibility</p:attrName>
                                        </p:attrNameLst>
                                      </p:cBhvr>
                                      <p:to>
                                        <p:strVal val="visible"/>
                                      </p:to>
                                    </p:set>
                                    <p:animEffect transition="in" filter="wipe(left)">
                                      <p:cBhvr>
                                        <p:cTn id="7" dur="500"/>
                                        <p:tgtEl>
                                          <p:spTgt spid="11879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8797"/>
                                        </p:tgtEl>
                                        <p:attrNameLst>
                                          <p:attrName>style.visibility</p:attrName>
                                        </p:attrNameLst>
                                      </p:cBhvr>
                                      <p:to>
                                        <p:strVal val="visible"/>
                                      </p:to>
                                    </p:set>
                                    <p:animEffect transition="in" filter="wipe(left)">
                                      <p:cBhvr>
                                        <p:cTn id="10" dur="500"/>
                                        <p:tgtEl>
                                          <p:spTgt spid="11879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8798"/>
                                        </p:tgtEl>
                                        <p:attrNameLst>
                                          <p:attrName>style.visibility</p:attrName>
                                        </p:attrNameLst>
                                      </p:cBhvr>
                                      <p:to>
                                        <p:strVal val="visible"/>
                                      </p:to>
                                    </p:set>
                                    <p:animEffect transition="in" filter="wipe(left)">
                                      <p:cBhvr>
                                        <p:cTn id="15" dur="500"/>
                                        <p:tgtEl>
                                          <p:spTgt spid="118798"/>
                                        </p:tgtEl>
                                      </p:cBhvr>
                                    </p:animEffect>
                                  </p:childTnLst>
                                </p:cTn>
                              </p:par>
                              <p:par>
                                <p:cTn id="16" presetID="22" presetClass="entr" presetSubtype="8" fill="hold" nodeType="withEffect">
                                  <p:stCondLst>
                                    <p:cond delay="0"/>
                                  </p:stCondLst>
                                  <p:childTnLst>
                                    <p:set>
                                      <p:cBhvr>
                                        <p:cTn id="17" dur="1" fill="hold">
                                          <p:stCondLst>
                                            <p:cond delay="0"/>
                                          </p:stCondLst>
                                        </p:cTn>
                                        <p:tgtEl>
                                          <p:spTgt spid="118802"/>
                                        </p:tgtEl>
                                        <p:attrNameLst>
                                          <p:attrName>style.visibility</p:attrName>
                                        </p:attrNameLst>
                                      </p:cBhvr>
                                      <p:to>
                                        <p:strVal val="visible"/>
                                      </p:to>
                                    </p:set>
                                    <p:animEffect transition="in" filter="wipe(left)">
                                      <p:cBhvr>
                                        <p:cTn id="18" dur="500"/>
                                        <p:tgtEl>
                                          <p:spTgt spid="11880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18799"/>
                                        </p:tgtEl>
                                        <p:attrNameLst>
                                          <p:attrName>style.visibility</p:attrName>
                                        </p:attrNameLst>
                                      </p:cBhvr>
                                      <p:to>
                                        <p:strVal val="visible"/>
                                      </p:to>
                                    </p:set>
                                    <p:animEffect transition="in" filter="wipe(left)">
                                      <p:cBhvr>
                                        <p:cTn id="23" dur="500"/>
                                        <p:tgtEl>
                                          <p:spTgt spid="118799"/>
                                        </p:tgtEl>
                                      </p:cBhvr>
                                    </p:animEffect>
                                  </p:childTnLst>
                                </p:cTn>
                              </p:par>
                            </p:childTnLst>
                          </p:cTn>
                        </p:par>
                        <p:par>
                          <p:cTn id="24" fill="hold" nodeType="afterGroup">
                            <p:stCondLst>
                              <p:cond delay="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8800"/>
                                        </p:tgtEl>
                                        <p:attrNameLst>
                                          <p:attrName>style.visibility</p:attrName>
                                        </p:attrNameLst>
                                      </p:cBhvr>
                                      <p:to>
                                        <p:strVal val="visible"/>
                                      </p:to>
                                    </p:set>
                                    <p:animEffect transition="in" filter="wipe(left)">
                                      <p:cBhvr>
                                        <p:cTn id="32" dur="500"/>
                                        <p:tgtEl>
                                          <p:spTgt spid="118800"/>
                                        </p:tgtEl>
                                      </p:cBhvr>
                                    </p:animEffect>
                                  </p:childTnLst>
                                </p:cTn>
                              </p:par>
                            </p:childTnLst>
                          </p:cTn>
                        </p:par>
                        <p:par>
                          <p:cTn id="33" fill="hold" nodeType="afterGroup">
                            <p:stCondLst>
                              <p:cond delay="500"/>
                            </p:stCondLst>
                            <p:childTnLst>
                              <p:par>
                                <p:cTn id="34" presetID="22" presetClass="entr" presetSubtype="1"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8801"/>
                                        </p:tgtEl>
                                        <p:attrNameLst>
                                          <p:attrName>style.visibility</p:attrName>
                                        </p:attrNameLst>
                                      </p:cBhvr>
                                      <p:to>
                                        <p:strVal val="visible"/>
                                      </p:to>
                                    </p:set>
                                    <p:animEffect transition="in" filter="wipe(left)">
                                      <p:cBhvr>
                                        <p:cTn id="41" dur="500"/>
                                        <p:tgtEl>
                                          <p:spTgt spid="118801"/>
                                        </p:tgtEl>
                                      </p:cBhvr>
                                    </p:animEffect>
                                  </p:childTnLst>
                                </p:cTn>
                              </p:par>
                            </p:childTnLst>
                          </p:cTn>
                        </p:par>
                        <p:par>
                          <p:cTn id="42" fill="hold" nodeType="afterGroup">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18809"/>
                                        </p:tgtEl>
                                        <p:attrNameLst>
                                          <p:attrName>style.visibility</p:attrName>
                                        </p:attrNameLst>
                                      </p:cBhvr>
                                      <p:to>
                                        <p:strVal val="visible"/>
                                      </p:to>
                                    </p:set>
                                    <p:animEffect transition="in" filter="wipe(left)">
                                      <p:cBhvr>
                                        <p:cTn id="45" dur="500"/>
                                        <p:tgtEl>
                                          <p:spTgt spid="118809"/>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18810"/>
                                        </p:tgtEl>
                                        <p:attrNameLst>
                                          <p:attrName>style.visibility</p:attrName>
                                        </p:attrNameLst>
                                      </p:cBhvr>
                                      <p:to>
                                        <p:strVal val="visible"/>
                                      </p:to>
                                    </p:set>
                                    <p:animEffect transition="in" filter="dissolve">
                                      <p:cBhvr>
                                        <p:cTn id="48" dur="500"/>
                                        <p:tgtEl>
                                          <p:spTgt spid="118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6" grpId="0"/>
      <p:bldP spid="118797" grpId="0"/>
      <p:bldP spid="118798" grpId="0"/>
      <p:bldP spid="118800" grpId="0"/>
      <p:bldP spid="118801" grpId="0"/>
      <p:bldP spid="118809" grpId="0" animBg="1"/>
      <p:bldP spid="1188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1">
            <a:extLst>
              <a:ext uri="{FF2B5EF4-FFF2-40B4-BE49-F238E27FC236}">
                <a16:creationId xmlns:a16="http://schemas.microsoft.com/office/drawing/2014/main" id="{DFCFDBC5-AF64-4F51-A8B1-9A53D31716D4}"/>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4211" name="Slide Number Placeholder 2">
            <a:extLst>
              <a:ext uri="{FF2B5EF4-FFF2-40B4-BE49-F238E27FC236}">
                <a16:creationId xmlns:a16="http://schemas.microsoft.com/office/drawing/2014/main" id="{B8960013-1E71-47AA-9844-2976F542CC67}"/>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BE9BA2-3A39-42D2-A887-41F0E59024D8}" type="slidenum">
              <a:rPr lang="en-US" altLang="en-US">
                <a:solidFill>
                  <a:srgbClr val="777777"/>
                </a:solidFill>
                <a:latin typeface="Tahoma" panose="020B0604030504040204" pitchFamily="34" charset="0"/>
              </a:rPr>
              <a:pPr/>
              <a:t>44</a:t>
            </a:fld>
            <a:endParaRPr lang="en-US" altLang="en-US">
              <a:solidFill>
                <a:srgbClr val="777777"/>
              </a:solidFill>
              <a:latin typeface="Tahoma" panose="020B0604030504040204" pitchFamily="34" charset="0"/>
            </a:endParaRPr>
          </a:p>
        </p:txBody>
      </p:sp>
      <p:grpSp>
        <p:nvGrpSpPr>
          <p:cNvPr id="94212" name="Group 2">
            <a:extLst>
              <a:ext uri="{FF2B5EF4-FFF2-40B4-BE49-F238E27FC236}">
                <a16:creationId xmlns:a16="http://schemas.microsoft.com/office/drawing/2014/main" id="{F5893498-7FBF-4C9D-848B-381A47339F1F}"/>
              </a:ext>
            </a:extLst>
          </p:cNvPr>
          <p:cNvGrpSpPr>
            <a:grpSpLocks/>
          </p:cNvGrpSpPr>
          <p:nvPr/>
        </p:nvGrpSpPr>
        <p:grpSpPr bwMode="auto">
          <a:xfrm>
            <a:off x="277813" y="1444625"/>
            <a:ext cx="5513387" cy="4886325"/>
            <a:chOff x="175" y="910"/>
            <a:chExt cx="3473" cy="3078"/>
          </a:xfrm>
        </p:grpSpPr>
        <p:graphicFrame>
          <p:nvGraphicFramePr>
            <p:cNvPr id="94250" name="Object 3">
              <a:extLst>
                <a:ext uri="{FF2B5EF4-FFF2-40B4-BE49-F238E27FC236}">
                  <a16:creationId xmlns:a16="http://schemas.microsoft.com/office/drawing/2014/main" id="{8C2A9CE0-44F1-4C76-BCCD-DDED4253A526}"/>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825" imgH="5181763" progId="Excel.Chart.8">
                    <p:embed/>
                  </p:oleObj>
                </mc:Choice>
                <mc:Fallback>
                  <p:oleObj name="Chart" r:id="rId3" imgW="5800825" imgH="5181763"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51" name="Text Box 4">
              <a:extLst>
                <a:ext uri="{FF2B5EF4-FFF2-40B4-BE49-F238E27FC236}">
                  <a16:creationId xmlns:a16="http://schemas.microsoft.com/office/drawing/2014/main" id="{B8319650-2BBF-4D35-B30D-8B4E3CDD0626}"/>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94252" name="Text Box 5">
              <a:extLst>
                <a:ext uri="{FF2B5EF4-FFF2-40B4-BE49-F238E27FC236}">
                  <a16:creationId xmlns:a16="http://schemas.microsoft.com/office/drawing/2014/main" id="{14A9B8FB-F866-43DD-8DB5-02D7C97147BD}"/>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94213" name="Group 6">
            <a:extLst>
              <a:ext uri="{FF2B5EF4-FFF2-40B4-BE49-F238E27FC236}">
                <a16:creationId xmlns:a16="http://schemas.microsoft.com/office/drawing/2014/main" id="{46D74414-7B78-433C-9FE7-B98023145F5E}"/>
              </a:ext>
            </a:extLst>
          </p:cNvPr>
          <p:cNvGrpSpPr>
            <a:grpSpLocks/>
          </p:cNvGrpSpPr>
          <p:nvPr/>
        </p:nvGrpSpPr>
        <p:grpSpPr bwMode="auto">
          <a:xfrm>
            <a:off x="1808163" y="1946275"/>
            <a:ext cx="2101850" cy="3660775"/>
            <a:chOff x="1139" y="1226"/>
            <a:chExt cx="1324" cy="2306"/>
          </a:xfrm>
        </p:grpSpPr>
        <p:sp>
          <p:nvSpPr>
            <p:cNvPr id="94248" name="Line 7">
              <a:extLst>
                <a:ext uri="{FF2B5EF4-FFF2-40B4-BE49-F238E27FC236}">
                  <a16:creationId xmlns:a16="http://schemas.microsoft.com/office/drawing/2014/main" id="{01DF8B7D-1A56-4399-8C17-3D0BCACB5BAE}"/>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9" name="Text Box 8">
              <a:extLst>
                <a:ext uri="{FF2B5EF4-FFF2-40B4-BE49-F238E27FC236}">
                  <a16:creationId xmlns:a16="http://schemas.microsoft.com/office/drawing/2014/main" id="{F5C49847-C987-4A11-BA6C-806EF96B3389}"/>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94214" name="Group 9">
            <a:extLst>
              <a:ext uri="{FF2B5EF4-FFF2-40B4-BE49-F238E27FC236}">
                <a16:creationId xmlns:a16="http://schemas.microsoft.com/office/drawing/2014/main" id="{AF04DCFA-8899-4735-9022-8460775A7337}"/>
              </a:ext>
            </a:extLst>
          </p:cNvPr>
          <p:cNvGrpSpPr>
            <a:grpSpLocks/>
          </p:cNvGrpSpPr>
          <p:nvPr/>
        </p:nvGrpSpPr>
        <p:grpSpPr bwMode="auto">
          <a:xfrm>
            <a:off x="1327150" y="1944688"/>
            <a:ext cx="3367088" cy="3665537"/>
            <a:chOff x="836" y="1225"/>
            <a:chExt cx="2121" cy="2309"/>
          </a:xfrm>
        </p:grpSpPr>
        <p:sp>
          <p:nvSpPr>
            <p:cNvPr id="94246" name="Line 10">
              <a:extLst>
                <a:ext uri="{FF2B5EF4-FFF2-40B4-BE49-F238E27FC236}">
                  <a16:creationId xmlns:a16="http://schemas.microsoft.com/office/drawing/2014/main" id="{58DB9370-5EA6-45AF-A296-CD3103BFF891}"/>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7" name="Text Box 11">
              <a:extLst>
                <a:ext uri="{FF2B5EF4-FFF2-40B4-BE49-F238E27FC236}">
                  <a16:creationId xmlns:a16="http://schemas.microsoft.com/office/drawing/2014/main" id="{F0DF1F66-AAE0-4131-8D23-5CA3754710C1}"/>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94215" name="Rectangle 12">
            <a:extLst>
              <a:ext uri="{FF2B5EF4-FFF2-40B4-BE49-F238E27FC236}">
                <a16:creationId xmlns:a16="http://schemas.microsoft.com/office/drawing/2014/main" id="{49912021-98CE-4FFF-8DE6-5B00C3AB0EBC}"/>
              </a:ext>
            </a:extLst>
          </p:cNvPr>
          <p:cNvSpPr>
            <a:spLocks noGrp="1" noChangeArrowheads="1"/>
          </p:cNvSpPr>
          <p:nvPr>
            <p:ph type="title" idx="4294967295"/>
          </p:nvPr>
        </p:nvSpPr>
        <p:spPr>
          <a:xfrm>
            <a:off x="571500" y="257175"/>
            <a:ext cx="6586538" cy="622300"/>
          </a:xfrm>
        </p:spPr>
        <p:txBody>
          <a:bodyPr/>
          <a:lstStyle/>
          <a:p>
            <a:pPr algn="l" eaLnBrk="1" hangingPunct="1"/>
            <a:r>
              <a:rPr lang="en-US" altLang="en-US" sz="3100">
                <a:solidFill>
                  <a:srgbClr val="CC0000"/>
                </a:solidFill>
              </a:rPr>
              <a:t>Shortage</a:t>
            </a:r>
            <a:r>
              <a:rPr lang="en-US" altLang="en-US" sz="3100">
                <a:solidFill>
                  <a:schemeClr val="tx1"/>
                </a:solidFill>
              </a:rPr>
              <a:t> (a.k.a. excess demand):</a:t>
            </a:r>
          </a:p>
        </p:txBody>
      </p:sp>
      <p:sp>
        <p:nvSpPr>
          <p:cNvPr id="94216" name="Text Box 13">
            <a:extLst>
              <a:ext uri="{FF2B5EF4-FFF2-40B4-BE49-F238E27FC236}">
                <a16:creationId xmlns:a16="http://schemas.microsoft.com/office/drawing/2014/main" id="{80B24DB3-5453-4893-A6CD-09CB2D7E7D8B}"/>
              </a:ext>
            </a:extLst>
          </p:cNvPr>
          <p:cNvSpPr txBox="1">
            <a:spLocks noChangeArrowheads="1"/>
          </p:cNvSpPr>
          <p:nvPr/>
        </p:nvSpPr>
        <p:spPr bwMode="auto">
          <a:xfrm>
            <a:off x="1512888" y="714375"/>
            <a:ext cx="66754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demanded is greater than quantity supplied</a:t>
            </a:r>
          </a:p>
        </p:txBody>
      </p:sp>
      <p:sp>
        <p:nvSpPr>
          <p:cNvPr id="94217" name="Line 14">
            <a:extLst>
              <a:ext uri="{FF2B5EF4-FFF2-40B4-BE49-F238E27FC236}">
                <a16:creationId xmlns:a16="http://schemas.microsoft.com/office/drawing/2014/main" id="{723025EA-F0FF-4674-B200-CE05BB63F32C}"/>
              </a:ext>
            </a:extLst>
          </p:cNvPr>
          <p:cNvSpPr>
            <a:spLocks noChangeShapeType="1"/>
          </p:cNvSpPr>
          <p:nvPr/>
        </p:nvSpPr>
        <p:spPr bwMode="auto">
          <a:xfrm>
            <a:off x="1322388" y="5045075"/>
            <a:ext cx="2259012" cy="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18" name="Line 15">
            <a:extLst>
              <a:ext uri="{FF2B5EF4-FFF2-40B4-BE49-F238E27FC236}">
                <a16:creationId xmlns:a16="http://schemas.microsoft.com/office/drawing/2014/main" id="{2E3B35C0-1B5F-40E8-921C-3E3A1883192E}"/>
              </a:ext>
            </a:extLst>
          </p:cNvPr>
          <p:cNvSpPr>
            <a:spLocks noChangeShapeType="1"/>
          </p:cNvSpPr>
          <p:nvPr/>
        </p:nvSpPr>
        <p:spPr bwMode="auto">
          <a:xfrm flipH="1">
            <a:off x="3567113" y="5021263"/>
            <a:ext cx="3175" cy="59372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19" name="Oval 16">
            <a:extLst>
              <a:ext uri="{FF2B5EF4-FFF2-40B4-BE49-F238E27FC236}">
                <a16:creationId xmlns:a16="http://schemas.microsoft.com/office/drawing/2014/main" id="{37F50BB8-E166-46A9-BE3C-0A1972F37C77}"/>
              </a:ext>
            </a:extLst>
          </p:cNvPr>
          <p:cNvSpPr>
            <a:spLocks noChangeArrowheads="1"/>
          </p:cNvSpPr>
          <p:nvPr/>
        </p:nvSpPr>
        <p:spPr bwMode="auto">
          <a:xfrm>
            <a:off x="3505200" y="4972050"/>
            <a:ext cx="139700" cy="138113"/>
          </a:xfrm>
          <a:prstGeom prst="ellipse">
            <a:avLst/>
          </a:prstGeom>
          <a:solidFill>
            <a:srgbClr val="B2B2B2"/>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94220" name="Group 17">
            <a:extLst>
              <a:ext uri="{FF2B5EF4-FFF2-40B4-BE49-F238E27FC236}">
                <a16:creationId xmlns:a16="http://schemas.microsoft.com/office/drawing/2014/main" id="{FB6B1EF7-A1DA-49BE-9AD8-47A6D0CF2DA8}"/>
              </a:ext>
            </a:extLst>
          </p:cNvPr>
          <p:cNvGrpSpPr>
            <a:grpSpLocks/>
          </p:cNvGrpSpPr>
          <p:nvPr/>
        </p:nvGrpSpPr>
        <p:grpSpPr bwMode="auto">
          <a:xfrm>
            <a:off x="1793875" y="4972050"/>
            <a:ext cx="139700" cy="646113"/>
            <a:chOff x="1130" y="3132"/>
            <a:chExt cx="88" cy="407"/>
          </a:xfrm>
        </p:grpSpPr>
        <p:sp>
          <p:nvSpPr>
            <p:cNvPr id="94244" name="Line 18">
              <a:extLst>
                <a:ext uri="{FF2B5EF4-FFF2-40B4-BE49-F238E27FC236}">
                  <a16:creationId xmlns:a16="http://schemas.microsoft.com/office/drawing/2014/main" id="{B93BB6C5-D5D6-46A4-A9E5-088257400FF2}"/>
                </a:ext>
              </a:extLst>
            </p:cNvPr>
            <p:cNvSpPr>
              <a:spLocks noChangeShapeType="1"/>
            </p:cNvSpPr>
            <p:nvPr/>
          </p:nvSpPr>
          <p:spPr bwMode="auto">
            <a:xfrm flipH="1">
              <a:off x="1173" y="3165"/>
              <a:ext cx="2" cy="374"/>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45" name="Oval 19">
              <a:extLst>
                <a:ext uri="{FF2B5EF4-FFF2-40B4-BE49-F238E27FC236}">
                  <a16:creationId xmlns:a16="http://schemas.microsoft.com/office/drawing/2014/main" id="{BCF31D2A-86E8-4E99-A8A8-9563C97814B2}"/>
                </a:ext>
              </a:extLst>
            </p:cNvPr>
            <p:cNvSpPr>
              <a:spLocks noChangeArrowheads="1"/>
            </p:cNvSpPr>
            <p:nvPr/>
          </p:nvSpPr>
          <p:spPr bwMode="auto">
            <a:xfrm>
              <a:off x="1130" y="3132"/>
              <a:ext cx="88" cy="87"/>
            </a:xfrm>
            <a:prstGeom prst="ellipse">
              <a:avLst/>
            </a:prstGeom>
            <a:solidFill>
              <a:srgbClr val="B2B2B2"/>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119828" name="Text Box 20">
            <a:extLst>
              <a:ext uri="{FF2B5EF4-FFF2-40B4-BE49-F238E27FC236}">
                <a16:creationId xmlns:a16="http://schemas.microsoft.com/office/drawing/2014/main" id="{D09B4CC3-3214-4E86-8C18-B03F9B66877B}"/>
              </a:ext>
            </a:extLst>
          </p:cNvPr>
          <p:cNvSpPr txBox="1">
            <a:spLocks noChangeArrowheads="1"/>
          </p:cNvSpPr>
          <p:nvPr/>
        </p:nvSpPr>
        <p:spPr bwMode="auto">
          <a:xfrm>
            <a:off x="5005388" y="1782763"/>
            <a:ext cx="39687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Facing a shortage, </a:t>
            </a:r>
            <a:br>
              <a:rPr lang="en-US" altLang="en-US" sz="2600">
                <a:cs typeface="Arial" panose="020B0604020202020204" pitchFamily="34" charset="0"/>
              </a:rPr>
            </a:br>
            <a:r>
              <a:rPr lang="en-US" altLang="en-US" sz="2600">
                <a:cs typeface="Arial" panose="020B0604020202020204" pitchFamily="34" charset="0"/>
              </a:rPr>
              <a:t>sellers raise the price,</a:t>
            </a:r>
          </a:p>
        </p:txBody>
      </p:sp>
      <p:sp>
        <p:nvSpPr>
          <p:cNvPr id="119829" name="Text Box 21">
            <a:extLst>
              <a:ext uri="{FF2B5EF4-FFF2-40B4-BE49-F238E27FC236}">
                <a16:creationId xmlns:a16="http://schemas.microsoft.com/office/drawing/2014/main" id="{B930C995-9CE1-4D88-ACD7-47081A1AC26D}"/>
              </a:ext>
            </a:extLst>
          </p:cNvPr>
          <p:cNvSpPr txBox="1">
            <a:spLocks noChangeArrowheads="1"/>
          </p:cNvSpPr>
          <p:nvPr/>
        </p:nvSpPr>
        <p:spPr bwMode="auto">
          <a:xfrm>
            <a:off x="5056188" y="2722563"/>
            <a:ext cx="31226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causing </a:t>
            </a: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to fall</a:t>
            </a:r>
          </a:p>
        </p:txBody>
      </p:sp>
      <p:sp>
        <p:nvSpPr>
          <p:cNvPr id="119830" name="Text Box 22">
            <a:extLst>
              <a:ext uri="{FF2B5EF4-FFF2-40B4-BE49-F238E27FC236}">
                <a16:creationId xmlns:a16="http://schemas.microsoft.com/office/drawing/2014/main" id="{EEA6249D-27D3-4D8D-AB48-2036F9C08015}"/>
              </a:ext>
            </a:extLst>
          </p:cNvPr>
          <p:cNvSpPr txBox="1">
            <a:spLocks noChangeArrowheads="1"/>
          </p:cNvSpPr>
          <p:nvPr/>
        </p:nvSpPr>
        <p:spPr bwMode="auto">
          <a:xfrm>
            <a:off x="5019675" y="3638550"/>
            <a:ext cx="33528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…which reduces the shortage.   </a:t>
            </a:r>
          </a:p>
        </p:txBody>
      </p:sp>
      <p:sp>
        <p:nvSpPr>
          <p:cNvPr id="119831" name="Text Box 23">
            <a:extLst>
              <a:ext uri="{FF2B5EF4-FFF2-40B4-BE49-F238E27FC236}">
                <a16:creationId xmlns:a16="http://schemas.microsoft.com/office/drawing/2014/main" id="{7A7A5105-1ED6-49A2-8A3D-002CA0B3B2AB}"/>
              </a:ext>
            </a:extLst>
          </p:cNvPr>
          <p:cNvSpPr txBox="1">
            <a:spLocks noChangeArrowheads="1"/>
          </p:cNvSpPr>
          <p:nvPr/>
        </p:nvSpPr>
        <p:spPr bwMode="auto">
          <a:xfrm>
            <a:off x="5065713" y="3144838"/>
            <a:ext cx="31226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and </a:t>
            </a:r>
            <a:r>
              <a:rPr lang="en-US" altLang="en-US" sz="2600" b="1" i="1">
                <a:cs typeface="Arial" panose="020B0604020202020204" pitchFamily="34" charset="0"/>
              </a:rPr>
              <a:t>Q</a:t>
            </a:r>
            <a:r>
              <a:rPr lang="en-US" altLang="en-US" sz="2600" b="1" i="1" baseline="30000">
                <a:cs typeface="Arial" panose="020B0604020202020204" pitchFamily="34" charset="0"/>
              </a:rPr>
              <a:t>S</a:t>
            </a:r>
            <a:r>
              <a:rPr lang="en-US" altLang="en-US" sz="2600">
                <a:cs typeface="Arial" panose="020B0604020202020204" pitchFamily="34" charset="0"/>
              </a:rPr>
              <a:t> to rise,</a:t>
            </a:r>
          </a:p>
        </p:txBody>
      </p:sp>
      <p:grpSp>
        <p:nvGrpSpPr>
          <p:cNvPr id="6" name="Group 24">
            <a:extLst>
              <a:ext uri="{FF2B5EF4-FFF2-40B4-BE49-F238E27FC236}">
                <a16:creationId xmlns:a16="http://schemas.microsoft.com/office/drawing/2014/main" id="{7D392255-B3BF-47E7-89DE-229D614FEF35}"/>
              </a:ext>
            </a:extLst>
          </p:cNvPr>
          <p:cNvGrpSpPr>
            <a:grpSpLocks/>
          </p:cNvGrpSpPr>
          <p:nvPr/>
        </p:nvGrpSpPr>
        <p:grpSpPr bwMode="auto">
          <a:xfrm>
            <a:off x="1319213" y="4479925"/>
            <a:ext cx="1952625" cy="558800"/>
            <a:chOff x="831" y="2822"/>
            <a:chExt cx="1230" cy="352"/>
          </a:xfrm>
        </p:grpSpPr>
        <p:sp>
          <p:nvSpPr>
            <p:cNvPr id="94242" name="Line 25">
              <a:extLst>
                <a:ext uri="{FF2B5EF4-FFF2-40B4-BE49-F238E27FC236}">
                  <a16:creationId xmlns:a16="http://schemas.microsoft.com/office/drawing/2014/main" id="{D4EB5939-8D8F-4C83-A619-4F60B357B405}"/>
                </a:ext>
              </a:extLst>
            </p:cNvPr>
            <p:cNvSpPr>
              <a:spLocks noChangeShapeType="1"/>
            </p:cNvSpPr>
            <p:nvPr/>
          </p:nvSpPr>
          <p:spPr bwMode="auto">
            <a:xfrm>
              <a:off x="831" y="2822"/>
              <a:ext cx="1230"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43" name="Line 26">
              <a:extLst>
                <a:ext uri="{FF2B5EF4-FFF2-40B4-BE49-F238E27FC236}">
                  <a16:creationId xmlns:a16="http://schemas.microsoft.com/office/drawing/2014/main" id="{DB7087C9-68D9-45DE-A46E-4F73B0D366D3}"/>
                </a:ext>
              </a:extLst>
            </p:cNvPr>
            <p:cNvSpPr>
              <a:spLocks noChangeShapeType="1"/>
            </p:cNvSpPr>
            <p:nvPr/>
          </p:nvSpPr>
          <p:spPr bwMode="auto">
            <a:xfrm rot="10800000">
              <a:off x="833" y="2822"/>
              <a:ext cx="0" cy="35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7" name="Group 27">
            <a:extLst>
              <a:ext uri="{FF2B5EF4-FFF2-40B4-BE49-F238E27FC236}">
                <a16:creationId xmlns:a16="http://schemas.microsoft.com/office/drawing/2014/main" id="{39EB4525-7CA2-4EB6-9560-A5AA0FFDDFB6}"/>
              </a:ext>
            </a:extLst>
          </p:cNvPr>
          <p:cNvGrpSpPr>
            <a:grpSpLocks/>
          </p:cNvGrpSpPr>
          <p:nvPr/>
        </p:nvGrpSpPr>
        <p:grpSpPr bwMode="auto">
          <a:xfrm>
            <a:off x="3186113" y="4405313"/>
            <a:ext cx="384175" cy="1214437"/>
            <a:chOff x="2007" y="2775"/>
            <a:chExt cx="242" cy="765"/>
          </a:xfrm>
        </p:grpSpPr>
        <p:grpSp>
          <p:nvGrpSpPr>
            <p:cNvPr id="94238" name="Group 28">
              <a:extLst>
                <a:ext uri="{FF2B5EF4-FFF2-40B4-BE49-F238E27FC236}">
                  <a16:creationId xmlns:a16="http://schemas.microsoft.com/office/drawing/2014/main" id="{FE5A4BF6-D180-48B7-9CDB-525518383A5E}"/>
                </a:ext>
              </a:extLst>
            </p:cNvPr>
            <p:cNvGrpSpPr>
              <a:grpSpLocks/>
            </p:cNvGrpSpPr>
            <p:nvPr/>
          </p:nvGrpSpPr>
          <p:grpSpPr bwMode="auto">
            <a:xfrm>
              <a:off x="2007" y="2775"/>
              <a:ext cx="88" cy="765"/>
              <a:chOff x="2007" y="2775"/>
              <a:chExt cx="88" cy="765"/>
            </a:xfrm>
          </p:grpSpPr>
          <p:sp>
            <p:nvSpPr>
              <p:cNvPr id="94240" name="Line 29">
                <a:extLst>
                  <a:ext uri="{FF2B5EF4-FFF2-40B4-BE49-F238E27FC236}">
                    <a16:creationId xmlns:a16="http://schemas.microsoft.com/office/drawing/2014/main" id="{A558A930-D097-4577-AB8A-10A8A95119B6}"/>
                  </a:ext>
                </a:extLst>
              </p:cNvPr>
              <p:cNvSpPr>
                <a:spLocks noChangeShapeType="1"/>
              </p:cNvSpPr>
              <p:nvPr/>
            </p:nvSpPr>
            <p:spPr bwMode="auto">
              <a:xfrm flipH="1">
                <a:off x="2050" y="2822"/>
                <a:ext cx="0" cy="718"/>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41" name="Oval 30">
                <a:extLst>
                  <a:ext uri="{FF2B5EF4-FFF2-40B4-BE49-F238E27FC236}">
                    <a16:creationId xmlns:a16="http://schemas.microsoft.com/office/drawing/2014/main" id="{EBF3488A-1A01-42DB-8FAB-38197CFFD96F}"/>
                  </a:ext>
                </a:extLst>
              </p:cNvPr>
              <p:cNvSpPr>
                <a:spLocks noChangeArrowheads="1"/>
              </p:cNvSpPr>
              <p:nvPr/>
            </p:nvSpPr>
            <p:spPr bwMode="auto">
              <a:xfrm>
                <a:off x="2007" y="277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4239" name="Line 31">
              <a:extLst>
                <a:ext uri="{FF2B5EF4-FFF2-40B4-BE49-F238E27FC236}">
                  <a16:creationId xmlns:a16="http://schemas.microsoft.com/office/drawing/2014/main" id="{CFB1C40D-7CF3-4154-BC06-8FAF74681397}"/>
                </a:ext>
              </a:extLst>
            </p:cNvPr>
            <p:cNvSpPr>
              <a:spLocks noChangeShapeType="1"/>
            </p:cNvSpPr>
            <p:nvPr/>
          </p:nvSpPr>
          <p:spPr bwMode="auto">
            <a:xfrm rot="5400000">
              <a:off x="2148" y="3438"/>
              <a:ext cx="0" cy="20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9" name="Group 32">
            <a:extLst>
              <a:ext uri="{FF2B5EF4-FFF2-40B4-BE49-F238E27FC236}">
                <a16:creationId xmlns:a16="http://schemas.microsoft.com/office/drawing/2014/main" id="{7EA957B2-09D6-4F8C-A1FC-031691FC6F90}"/>
              </a:ext>
            </a:extLst>
          </p:cNvPr>
          <p:cNvGrpSpPr>
            <a:grpSpLocks/>
          </p:cNvGrpSpPr>
          <p:nvPr/>
        </p:nvGrpSpPr>
        <p:grpSpPr bwMode="auto">
          <a:xfrm>
            <a:off x="1858963" y="4408488"/>
            <a:ext cx="596900" cy="1209675"/>
            <a:chOff x="1171" y="2777"/>
            <a:chExt cx="376" cy="762"/>
          </a:xfrm>
        </p:grpSpPr>
        <p:grpSp>
          <p:nvGrpSpPr>
            <p:cNvPr id="94234" name="Group 33">
              <a:extLst>
                <a:ext uri="{FF2B5EF4-FFF2-40B4-BE49-F238E27FC236}">
                  <a16:creationId xmlns:a16="http://schemas.microsoft.com/office/drawing/2014/main" id="{518F8AB0-4AE2-4611-AF5E-2F6A81C79EEC}"/>
                </a:ext>
              </a:extLst>
            </p:cNvPr>
            <p:cNvGrpSpPr>
              <a:grpSpLocks/>
            </p:cNvGrpSpPr>
            <p:nvPr/>
          </p:nvGrpSpPr>
          <p:grpSpPr bwMode="auto">
            <a:xfrm>
              <a:off x="1459" y="2777"/>
              <a:ext cx="88" cy="759"/>
              <a:chOff x="1459" y="2777"/>
              <a:chExt cx="88" cy="759"/>
            </a:xfrm>
          </p:grpSpPr>
          <p:sp>
            <p:nvSpPr>
              <p:cNvPr id="94236" name="Line 34">
                <a:extLst>
                  <a:ext uri="{FF2B5EF4-FFF2-40B4-BE49-F238E27FC236}">
                    <a16:creationId xmlns:a16="http://schemas.microsoft.com/office/drawing/2014/main" id="{A493AC89-0D3E-40D0-82D8-1315DDF8AF08}"/>
                  </a:ext>
                </a:extLst>
              </p:cNvPr>
              <p:cNvSpPr>
                <a:spLocks noChangeShapeType="1"/>
              </p:cNvSpPr>
              <p:nvPr/>
            </p:nvSpPr>
            <p:spPr bwMode="auto">
              <a:xfrm flipH="1">
                <a:off x="1504" y="2820"/>
                <a:ext cx="2" cy="716"/>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37" name="Oval 35">
                <a:extLst>
                  <a:ext uri="{FF2B5EF4-FFF2-40B4-BE49-F238E27FC236}">
                    <a16:creationId xmlns:a16="http://schemas.microsoft.com/office/drawing/2014/main" id="{44271F0D-8C6A-4E28-B9A3-A27DA1244E5E}"/>
                  </a:ext>
                </a:extLst>
              </p:cNvPr>
              <p:cNvSpPr>
                <a:spLocks noChangeArrowheads="1"/>
              </p:cNvSpPr>
              <p:nvPr/>
            </p:nvSpPr>
            <p:spPr bwMode="auto">
              <a:xfrm>
                <a:off x="1459" y="277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4235" name="Line 36">
              <a:extLst>
                <a:ext uri="{FF2B5EF4-FFF2-40B4-BE49-F238E27FC236}">
                  <a16:creationId xmlns:a16="http://schemas.microsoft.com/office/drawing/2014/main" id="{8BFC2BA0-B020-4C09-864F-39646B0AF46E}"/>
                </a:ext>
              </a:extLst>
            </p:cNvPr>
            <p:cNvSpPr>
              <a:spLocks noChangeShapeType="1"/>
            </p:cNvSpPr>
            <p:nvPr/>
          </p:nvSpPr>
          <p:spPr bwMode="auto">
            <a:xfrm rot="-5400000">
              <a:off x="1340" y="3370"/>
              <a:ext cx="0" cy="338"/>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1" name="Group 37">
            <a:extLst>
              <a:ext uri="{FF2B5EF4-FFF2-40B4-BE49-F238E27FC236}">
                <a16:creationId xmlns:a16="http://schemas.microsoft.com/office/drawing/2014/main" id="{63486FB4-7D53-4FE5-8F2B-632A7904EACD}"/>
              </a:ext>
            </a:extLst>
          </p:cNvPr>
          <p:cNvGrpSpPr>
            <a:grpSpLocks/>
          </p:cNvGrpSpPr>
          <p:nvPr/>
        </p:nvGrpSpPr>
        <p:grpSpPr bwMode="auto">
          <a:xfrm>
            <a:off x="1958975" y="4572000"/>
            <a:ext cx="1512888" cy="912813"/>
            <a:chOff x="1234" y="2880"/>
            <a:chExt cx="953" cy="575"/>
          </a:xfrm>
        </p:grpSpPr>
        <p:sp>
          <p:nvSpPr>
            <p:cNvPr id="94230" name="AutoShape 38">
              <a:extLst>
                <a:ext uri="{FF2B5EF4-FFF2-40B4-BE49-F238E27FC236}">
                  <a16:creationId xmlns:a16="http://schemas.microsoft.com/office/drawing/2014/main" id="{55E0ADEC-B741-45DE-821C-4CB850112AC5}"/>
                </a:ext>
              </a:extLst>
            </p:cNvPr>
            <p:cNvSpPr>
              <a:spLocks/>
            </p:cNvSpPr>
            <p:nvPr/>
          </p:nvSpPr>
          <p:spPr bwMode="auto">
            <a:xfrm rot="-5400000">
              <a:off x="1712" y="2675"/>
              <a:ext cx="132" cy="541"/>
            </a:xfrm>
            <a:prstGeom prst="leftBrace">
              <a:avLst>
                <a:gd name="adj1" fmla="val 34154"/>
                <a:gd name="adj2" fmla="val 50000"/>
              </a:avLst>
            </a:prstGeom>
            <a:noFill/>
            <a:ln w="1905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94231" name="Group 39">
              <a:extLst>
                <a:ext uri="{FF2B5EF4-FFF2-40B4-BE49-F238E27FC236}">
                  <a16:creationId xmlns:a16="http://schemas.microsoft.com/office/drawing/2014/main" id="{74586BC0-B9CE-45AB-AEB6-942F32220B03}"/>
                </a:ext>
              </a:extLst>
            </p:cNvPr>
            <p:cNvGrpSpPr>
              <a:grpSpLocks/>
            </p:cNvGrpSpPr>
            <p:nvPr/>
          </p:nvGrpSpPr>
          <p:grpSpPr bwMode="auto">
            <a:xfrm>
              <a:off x="1234" y="3031"/>
              <a:ext cx="953" cy="424"/>
              <a:chOff x="1234" y="3031"/>
              <a:chExt cx="953" cy="424"/>
            </a:xfrm>
          </p:grpSpPr>
          <p:sp>
            <p:nvSpPr>
              <p:cNvPr id="94232" name="Line 40">
                <a:extLst>
                  <a:ext uri="{FF2B5EF4-FFF2-40B4-BE49-F238E27FC236}">
                    <a16:creationId xmlns:a16="http://schemas.microsoft.com/office/drawing/2014/main" id="{A059088B-3A40-41F4-84E4-24E20D54401F}"/>
                  </a:ext>
                </a:extLst>
              </p:cNvPr>
              <p:cNvSpPr>
                <a:spLocks noChangeShapeType="1"/>
              </p:cNvSpPr>
              <p:nvPr/>
            </p:nvSpPr>
            <p:spPr bwMode="auto">
              <a:xfrm flipV="1">
                <a:off x="1700" y="3031"/>
                <a:ext cx="75" cy="3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33" name="Text Box 41">
                <a:extLst>
                  <a:ext uri="{FF2B5EF4-FFF2-40B4-BE49-F238E27FC236}">
                    <a16:creationId xmlns:a16="http://schemas.microsoft.com/office/drawing/2014/main" id="{18082EF0-105F-483D-BE10-B933CCD2CEC9}"/>
                  </a:ext>
                </a:extLst>
              </p:cNvPr>
              <p:cNvSpPr txBox="1">
                <a:spLocks noChangeArrowheads="1"/>
              </p:cNvSpPr>
              <p:nvPr/>
            </p:nvSpPr>
            <p:spPr bwMode="auto">
              <a:xfrm>
                <a:off x="1234" y="3157"/>
                <a:ext cx="953" cy="29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b="1" i="1">
                    <a:cs typeface="Arial" panose="020B0604020202020204" pitchFamily="34" charset="0"/>
                  </a:rPr>
                  <a:t>Shortage</a:t>
                </a:r>
              </a:p>
            </p:txBody>
          </p:sp>
        </p:grpSp>
      </p:grpSp>
      <p:sp>
        <p:nvSpPr>
          <p:cNvPr id="94229" name="FlagCount" hidden="1">
            <a:hlinkClick r:id="rId5" action="ppaction://hlinkfile"/>
            <a:extLst>
              <a:ext uri="{FF2B5EF4-FFF2-40B4-BE49-F238E27FC236}">
                <a16:creationId xmlns:a16="http://schemas.microsoft.com/office/drawing/2014/main" id="{7B3FEC92-C5B5-4BD8-99E6-947D2CA48825}"/>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28"/>
                                        </p:tgtEl>
                                        <p:attrNameLst>
                                          <p:attrName>style.visibility</p:attrName>
                                        </p:attrNameLst>
                                      </p:cBhvr>
                                      <p:to>
                                        <p:strVal val="visible"/>
                                      </p:to>
                                    </p:set>
                                    <p:animEffect transition="in" filter="wipe(left)">
                                      <p:cBhvr>
                                        <p:cTn id="7" dur="500"/>
                                        <p:tgtEl>
                                          <p:spTgt spid="119828"/>
                                        </p:tgtEl>
                                      </p:cBhvr>
                                    </p:animEffect>
                                  </p:childTnLst>
                                </p:cTn>
                              </p:par>
                            </p:childTnLst>
                          </p:cTn>
                        </p:par>
                        <p:par>
                          <p:cTn id="8" fill="hold" nodeType="afterGroup">
                            <p:stCondLst>
                              <p:cond delay="500"/>
                            </p:stCondLst>
                            <p:childTnLst>
                              <p:par>
                                <p:cTn id="9" presetID="18" presetClass="entr" presetSubtype="3"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trips(upRight)">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9829"/>
                                        </p:tgtEl>
                                        <p:attrNameLst>
                                          <p:attrName>style.visibility</p:attrName>
                                        </p:attrNameLst>
                                      </p:cBhvr>
                                      <p:to>
                                        <p:strVal val="visible"/>
                                      </p:to>
                                    </p:set>
                                    <p:animEffect transition="in" filter="wipe(left)">
                                      <p:cBhvr>
                                        <p:cTn id="16" dur="500"/>
                                        <p:tgtEl>
                                          <p:spTgt spid="119829"/>
                                        </p:tgtEl>
                                      </p:cBhvr>
                                    </p:animEffect>
                                  </p:childTnLst>
                                </p:cTn>
                              </p:par>
                            </p:childTnLst>
                          </p:cTn>
                        </p:par>
                        <p:par>
                          <p:cTn id="17" fill="hold" nodeType="afterGroup">
                            <p:stCondLst>
                              <p:cond delay="500"/>
                            </p:stCondLst>
                            <p:childTnLst>
                              <p:par>
                                <p:cTn id="18" presetID="18" presetClass="entr" presetSubtype="12"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strips(downLeft)">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9831"/>
                                        </p:tgtEl>
                                        <p:attrNameLst>
                                          <p:attrName>style.visibility</p:attrName>
                                        </p:attrNameLst>
                                      </p:cBhvr>
                                      <p:to>
                                        <p:strVal val="visible"/>
                                      </p:to>
                                    </p:set>
                                    <p:animEffect transition="in" filter="wipe(left)">
                                      <p:cBhvr>
                                        <p:cTn id="25" dur="500"/>
                                        <p:tgtEl>
                                          <p:spTgt spid="119831"/>
                                        </p:tgtEl>
                                      </p:cBhvr>
                                    </p:animEffect>
                                  </p:childTnLst>
                                </p:cTn>
                              </p:par>
                            </p:childTnLst>
                          </p:cTn>
                        </p:par>
                        <p:par>
                          <p:cTn id="26" fill="hold" nodeType="afterGroup">
                            <p:stCondLst>
                              <p:cond delay="500"/>
                            </p:stCondLst>
                            <p:childTnLst>
                              <p:par>
                                <p:cTn id="27" presetID="18" presetClass="entr" presetSubtype="6"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strips(downRight)">
                                      <p:cBhvr>
                                        <p:cTn id="29" dur="5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9830"/>
                                        </p:tgtEl>
                                        <p:attrNameLst>
                                          <p:attrName>style.visibility</p:attrName>
                                        </p:attrNameLst>
                                      </p:cBhvr>
                                      <p:to>
                                        <p:strVal val="visible"/>
                                      </p:to>
                                    </p:set>
                                    <p:animEffect transition="in" filter="wipe(left)">
                                      <p:cBhvr>
                                        <p:cTn id="34" dur="500"/>
                                        <p:tgtEl>
                                          <p:spTgt spid="119830"/>
                                        </p:tgtEl>
                                      </p:cBhvr>
                                    </p:animEffect>
                                  </p:childTnLst>
                                </p:cTn>
                              </p:par>
                            </p:childTnLst>
                          </p:cTn>
                        </p:par>
                        <p:par>
                          <p:cTn id="35" fill="hold" nodeType="afterGroup">
                            <p:stCondLst>
                              <p:cond delay="500"/>
                            </p:stCondLst>
                            <p:childTnLst>
                              <p:par>
                                <p:cTn id="36" presetID="9" presetClass="entr" presetSubtype="0" fill="hold"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dissolv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28" grpId="0"/>
      <p:bldP spid="119829" grpId="0"/>
      <p:bldP spid="119830" grpId="0"/>
      <p:bldP spid="11983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1">
            <a:extLst>
              <a:ext uri="{FF2B5EF4-FFF2-40B4-BE49-F238E27FC236}">
                <a16:creationId xmlns:a16="http://schemas.microsoft.com/office/drawing/2014/main" id="{EAC0F567-9C03-45A6-BDA3-DC2C1E3E1C99}"/>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6259" name="Slide Number Placeholder 2">
            <a:extLst>
              <a:ext uri="{FF2B5EF4-FFF2-40B4-BE49-F238E27FC236}">
                <a16:creationId xmlns:a16="http://schemas.microsoft.com/office/drawing/2014/main" id="{4B650F7E-644B-4F81-A050-53C43A33BCFE}"/>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F7F352-16C1-4E59-B690-250B520B7562}" type="slidenum">
              <a:rPr lang="en-US" altLang="en-US">
                <a:solidFill>
                  <a:srgbClr val="777777"/>
                </a:solidFill>
                <a:latin typeface="Tahoma" panose="020B0604030504040204" pitchFamily="34" charset="0"/>
              </a:rPr>
              <a:pPr/>
              <a:t>45</a:t>
            </a:fld>
            <a:endParaRPr lang="en-US" altLang="en-US">
              <a:solidFill>
                <a:srgbClr val="777777"/>
              </a:solidFill>
              <a:latin typeface="Tahoma" panose="020B0604030504040204" pitchFamily="34" charset="0"/>
            </a:endParaRPr>
          </a:p>
        </p:txBody>
      </p:sp>
      <p:grpSp>
        <p:nvGrpSpPr>
          <p:cNvPr id="96260" name="Group 2">
            <a:extLst>
              <a:ext uri="{FF2B5EF4-FFF2-40B4-BE49-F238E27FC236}">
                <a16:creationId xmlns:a16="http://schemas.microsoft.com/office/drawing/2014/main" id="{DC894AAD-EBA3-4163-8922-27C43A9BDDE9}"/>
              </a:ext>
            </a:extLst>
          </p:cNvPr>
          <p:cNvGrpSpPr>
            <a:grpSpLocks/>
          </p:cNvGrpSpPr>
          <p:nvPr/>
        </p:nvGrpSpPr>
        <p:grpSpPr bwMode="auto">
          <a:xfrm>
            <a:off x="277813" y="1444625"/>
            <a:ext cx="5513387" cy="4886325"/>
            <a:chOff x="175" y="910"/>
            <a:chExt cx="3473" cy="3078"/>
          </a:xfrm>
        </p:grpSpPr>
        <p:graphicFrame>
          <p:nvGraphicFramePr>
            <p:cNvPr id="96286" name="Object 3">
              <a:extLst>
                <a:ext uri="{FF2B5EF4-FFF2-40B4-BE49-F238E27FC236}">
                  <a16:creationId xmlns:a16="http://schemas.microsoft.com/office/drawing/2014/main" id="{CB8937A2-0DF9-4A06-98F2-5AFACCE594A4}"/>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name="Chart" r:id="rId3" imgW="5800825" imgH="5181763" progId="Excel.Chart.8">
                    <p:embed/>
                  </p:oleObj>
                </mc:Choice>
                <mc:Fallback>
                  <p:oleObj name="Chart" r:id="rId3" imgW="5800825" imgH="5181763" progId="Excel.Chart.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87" name="Text Box 4">
              <a:extLst>
                <a:ext uri="{FF2B5EF4-FFF2-40B4-BE49-F238E27FC236}">
                  <a16:creationId xmlns:a16="http://schemas.microsoft.com/office/drawing/2014/main" id="{669C24E5-CDAB-4078-8E75-FB66572CEADA}"/>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96288" name="Text Box 5">
              <a:extLst>
                <a:ext uri="{FF2B5EF4-FFF2-40B4-BE49-F238E27FC236}">
                  <a16:creationId xmlns:a16="http://schemas.microsoft.com/office/drawing/2014/main" id="{8BAF1FA0-EB5C-445E-A46C-BA8B5AFF127A}"/>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96261" name="Group 6">
            <a:extLst>
              <a:ext uri="{FF2B5EF4-FFF2-40B4-BE49-F238E27FC236}">
                <a16:creationId xmlns:a16="http://schemas.microsoft.com/office/drawing/2014/main" id="{C6925D8C-B0EC-4226-8340-53FEA09510A0}"/>
              </a:ext>
            </a:extLst>
          </p:cNvPr>
          <p:cNvGrpSpPr>
            <a:grpSpLocks/>
          </p:cNvGrpSpPr>
          <p:nvPr/>
        </p:nvGrpSpPr>
        <p:grpSpPr bwMode="auto">
          <a:xfrm>
            <a:off x="1808163" y="1946275"/>
            <a:ext cx="2101850" cy="3660775"/>
            <a:chOff x="1139" y="1226"/>
            <a:chExt cx="1324" cy="2306"/>
          </a:xfrm>
        </p:grpSpPr>
        <p:sp>
          <p:nvSpPr>
            <p:cNvPr id="96284" name="Line 7">
              <a:extLst>
                <a:ext uri="{FF2B5EF4-FFF2-40B4-BE49-F238E27FC236}">
                  <a16:creationId xmlns:a16="http://schemas.microsoft.com/office/drawing/2014/main" id="{2519557B-0AB3-4BB8-B234-F29B3D3556D8}"/>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5" name="Text Box 8">
              <a:extLst>
                <a:ext uri="{FF2B5EF4-FFF2-40B4-BE49-F238E27FC236}">
                  <a16:creationId xmlns:a16="http://schemas.microsoft.com/office/drawing/2014/main" id="{3DB3DADB-C885-406F-9374-C19B66059CD1}"/>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96262" name="Group 9">
            <a:extLst>
              <a:ext uri="{FF2B5EF4-FFF2-40B4-BE49-F238E27FC236}">
                <a16:creationId xmlns:a16="http://schemas.microsoft.com/office/drawing/2014/main" id="{48D71AAC-0AA9-4C5A-8036-06E9F002D964}"/>
              </a:ext>
            </a:extLst>
          </p:cNvPr>
          <p:cNvGrpSpPr>
            <a:grpSpLocks/>
          </p:cNvGrpSpPr>
          <p:nvPr/>
        </p:nvGrpSpPr>
        <p:grpSpPr bwMode="auto">
          <a:xfrm>
            <a:off x="1327150" y="1944688"/>
            <a:ext cx="3367088" cy="3665537"/>
            <a:chOff x="836" y="1225"/>
            <a:chExt cx="2121" cy="2309"/>
          </a:xfrm>
        </p:grpSpPr>
        <p:sp>
          <p:nvSpPr>
            <p:cNvPr id="96282" name="Line 10">
              <a:extLst>
                <a:ext uri="{FF2B5EF4-FFF2-40B4-BE49-F238E27FC236}">
                  <a16:creationId xmlns:a16="http://schemas.microsoft.com/office/drawing/2014/main" id="{FC886515-2414-42B1-85AF-4914F7A372E8}"/>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3" name="Text Box 11">
              <a:extLst>
                <a:ext uri="{FF2B5EF4-FFF2-40B4-BE49-F238E27FC236}">
                  <a16:creationId xmlns:a16="http://schemas.microsoft.com/office/drawing/2014/main" id="{013BF1B0-269A-4A0E-AAFF-5032F1132CF4}"/>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96263" name="Rectangle 12">
            <a:extLst>
              <a:ext uri="{FF2B5EF4-FFF2-40B4-BE49-F238E27FC236}">
                <a16:creationId xmlns:a16="http://schemas.microsoft.com/office/drawing/2014/main" id="{12D2BC55-8FC4-4315-A4E1-FB6E0DD6EEA6}"/>
              </a:ext>
            </a:extLst>
          </p:cNvPr>
          <p:cNvSpPr>
            <a:spLocks noGrp="1" noChangeArrowheads="1"/>
          </p:cNvSpPr>
          <p:nvPr>
            <p:ph type="title" idx="4294967295"/>
          </p:nvPr>
        </p:nvSpPr>
        <p:spPr>
          <a:xfrm>
            <a:off x="571500" y="257175"/>
            <a:ext cx="6586538" cy="622300"/>
          </a:xfrm>
        </p:spPr>
        <p:txBody>
          <a:bodyPr/>
          <a:lstStyle/>
          <a:p>
            <a:pPr algn="l" eaLnBrk="1" hangingPunct="1"/>
            <a:r>
              <a:rPr lang="en-US" altLang="en-US" sz="3100">
                <a:solidFill>
                  <a:srgbClr val="CC0000"/>
                </a:solidFill>
              </a:rPr>
              <a:t>Shortage</a:t>
            </a:r>
            <a:r>
              <a:rPr lang="en-US" altLang="en-US" sz="3100">
                <a:solidFill>
                  <a:schemeClr val="tx1"/>
                </a:solidFill>
              </a:rPr>
              <a:t> (a.k.a. excess demand):</a:t>
            </a:r>
          </a:p>
        </p:txBody>
      </p:sp>
      <p:sp>
        <p:nvSpPr>
          <p:cNvPr id="96264" name="Text Box 13">
            <a:extLst>
              <a:ext uri="{FF2B5EF4-FFF2-40B4-BE49-F238E27FC236}">
                <a16:creationId xmlns:a16="http://schemas.microsoft.com/office/drawing/2014/main" id="{442BA6F0-22AC-4AC7-A79B-32F515CAF247}"/>
              </a:ext>
            </a:extLst>
          </p:cNvPr>
          <p:cNvSpPr txBox="1">
            <a:spLocks noChangeArrowheads="1"/>
          </p:cNvSpPr>
          <p:nvPr/>
        </p:nvSpPr>
        <p:spPr bwMode="auto">
          <a:xfrm>
            <a:off x="1512888" y="714375"/>
            <a:ext cx="66754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demanded is greater than quantity supplied</a:t>
            </a:r>
          </a:p>
        </p:txBody>
      </p:sp>
      <p:sp>
        <p:nvSpPr>
          <p:cNvPr id="96265" name="Text Box 14">
            <a:extLst>
              <a:ext uri="{FF2B5EF4-FFF2-40B4-BE49-F238E27FC236}">
                <a16:creationId xmlns:a16="http://schemas.microsoft.com/office/drawing/2014/main" id="{8056DE8B-E882-4ABA-957D-3B0E8F1F6F8B}"/>
              </a:ext>
            </a:extLst>
          </p:cNvPr>
          <p:cNvSpPr txBox="1">
            <a:spLocks noChangeArrowheads="1"/>
          </p:cNvSpPr>
          <p:nvPr/>
        </p:nvSpPr>
        <p:spPr bwMode="auto">
          <a:xfrm>
            <a:off x="5005388" y="1782763"/>
            <a:ext cx="35179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Facing a shortage, </a:t>
            </a:r>
            <a:br>
              <a:rPr lang="en-US" altLang="en-US" sz="2600">
                <a:solidFill>
                  <a:srgbClr val="B2B2B2"/>
                </a:solidFill>
                <a:cs typeface="Arial" panose="020B0604020202020204" pitchFamily="34" charset="0"/>
              </a:rPr>
            </a:br>
            <a:r>
              <a:rPr lang="en-US" altLang="en-US" sz="2600">
                <a:solidFill>
                  <a:srgbClr val="B2B2B2"/>
                </a:solidFill>
                <a:cs typeface="Arial" panose="020B0604020202020204" pitchFamily="34" charset="0"/>
              </a:rPr>
              <a:t>sellers raise the price,</a:t>
            </a:r>
          </a:p>
        </p:txBody>
      </p:sp>
      <p:sp>
        <p:nvSpPr>
          <p:cNvPr id="96266" name="Text Box 15">
            <a:extLst>
              <a:ext uri="{FF2B5EF4-FFF2-40B4-BE49-F238E27FC236}">
                <a16:creationId xmlns:a16="http://schemas.microsoft.com/office/drawing/2014/main" id="{DFA51193-5534-4AE5-AEDD-AE002287DF35}"/>
              </a:ext>
            </a:extLst>
          </p:cNvPr>
          <p:cNvSpPr txBox="1">
            <a:spLocks noChangeArrowheads="1"/>
          </p:cNvSpPr>
          <p:nvPr/>
        </p:nvSpPr>
        <p:spPr bwMode="auto">
          <a:xfrm>
            <a:off x="5056188" y="2722563"/>
            <a:ext cx="31226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causing </a:t>
            </a:r>
            <a:r>
              <a:rPr lang="en-US" altLang="en-US" sz="2600" b="1" i="1">
                <a:solidFill>
                  <a:srgbClr val="B2B2B2"/>
                </a:solidFill>
                <a:cs typeface="Arial" panose="020B0604020202020204" pitchFamily="34" charset="0"/>
              </a:rPr>
              <a:t>Q</a:t>
            </a:r>
            <a:r>
              <a:rPr lang="en-US" altLang="en-US" sz="2600" b="1" i="1" baseline="30000">
                <a:solidFill>
                  <a:srgbClr val="B2B2B2"/>
                </a:solidFill>
                <a:cs typeface="Arial" panose="020B0604020202020204" pitchFamily="34" charset="0"/>
              </a:rPr>
              <a:t>D</a:t>
            </a:r>
            <a:r>
              <a:rPr lang="en-US" altLang="en-US" sz="2600">
                <a:solidFill>
                  <a:srgbClr val="B2B2B2"/>
                </a:solidFill>
                <a:cs typeface="Arial" panose="020B0604020202020204" pitchFamily="34" charset="0"/>
              </a:rPr>
              <a:t> to fall</a:t>
            </a:r>
          </a:p>
        </p:txBody>
      </p:sp>
      <p:sp>
        <p:nvSpPr>
          <p:cNvPr id="96267" name="Text Box 16">
            <a:extLst>
              <a:ext uri="{FF2B5EF4-FFF2-40B4-BE49-F238E27FC236}">
                <a16:creationId xmlns:a16="http://schemas.microsoft.com/office/drawing/2014/main" id="{AB897704-FB2A-4456-9540-F0108153ACEE}"/>
              </a:ext>
            </a:extLst>
          </p:cNvPr>
          <p:cNvSpPr txBox="1">
            <a:spLocks noChangeArrowheads="1"/>
          </p:cNvSpPr>
          <p:nvPr/>
        </p:nvSpPr>
        <p:spPr bwMode="auto">
          <a:xfrm>
            <a:off x="5065713" y="3144838"/>
            <a:ext cx="31226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and </a:t>
            </a:r>
            <a:r>
              <a:rPr lang="en-US" altLang="en-US" sz="2600" b="1" i="1">
                <a:solidFill>
                  <a:srgbClr val="B2B2B2"/>
                </a:solidFill>
                <a:cs typeface="Arial" panose="020B0604020202020204" pitchFamily="34" charset="0"/>
              </a:rPr>
              <a:t>Q</a:t>
            </a:r>
            <a:r>
              <a:rPr lang="en-US" altLang="en-US" sz="2600" b="1" i="1" baseline="30000">
                <a:solidFill>
                  <a:srgbClr val="B2B2B2"/>
                </a:solidFill>
                <a:cs typeface="Arial" panose="020B0604020202020204" pitchFamily="34" charset="0"/>
              </a:rPr>
              <a:t>S</a:t>
            </a:r>
            <a:r>
              <a:rPr lang="en-US" altLang="en-US" sz="2600">
                <a:solidFill>
                  <a:srgbClr val="B2B2B2"/>
                </a:solidFill>
                <a:cs typeface="Arial" panose="020B0604020202020204" pitchFamily="34" charset="0"/>
              </a:rPr>
              <a:t> to rise.</a:t>
            </a:r>
          </a:p>
        </p:txBody>
      </p:sp>
      <p:sp>
        <p:nvSpPr>
          <p:cNvPr id="96268" name="Line 17">
            <a:extLst>
              <a:ext uri="{FF2B5EF4-FFF2-40B4-BE49-F238E27FC236}">
                <a16:creationId xmlns:a16="http://schemas.microsoft.com/office/drawing/2014/main" id="{71D28786-F928-4C7C-87EE-86879908F7FF}"/>
              </a:ext>
            </a:extLst>
          </p:cNvPr>
          <p:cNvSpPr>
            <a:spLocks noChangeShapeType="1"/>
          </p:cNvSpPr>
          <p:nvPr/>
        </p:nvSpPr>
        <p:spPr bwMode="auto">
          <a:xfrm>
            <a:off x="1319213" y="4479925"/>
            <a:ext cx="1952625" cy="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69" name="Line 18">
            <a:extLst>
              <a:ext uri="{FF2B5EF4-FFF2-40B4-BE49-F238E27FC236}">
                <a16:creationId xmlns:a16="http://schemas.microsoft.com/office/drawing/2014/main" id="{F0E4B4A1-2BC5-4FEE-9F0F-F3806024E621}"/>
              </a:ext>
            </a:extLst>
          </p:cNvPr>
          <p:cNvSpPr>
            <a:spLocks noChangeShapeType="1"/>
          </p:cNvSpPr>
          <p:nvPr/>
        </p:nvSpPr>
        <p:spPr bwMode="auto">
          <a:xfrm flipH="1">
            <a:off x="3254375" y="4479925"/>
            <a:ext cx="0" cy="113982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70" name="Line 19">
            <a:extLst>
              <a:ext uri="{FF2B5EF4-FFF2-40B4-BE49-F238E27FC236}">
                <a16:creationId xmlns:a16="http://schemas.microsoft.com/office/drawing/2014/main" id="{8EF00B9A-4203-4D1B-B55C-57A57279D133}"/>
              </a:ext>
            </a:extLst>
          </p:cNvPr>
          <p:cNvSpPr>
            <a:spLocks noChangeShapeType="1"/>
          </p:cNvSpPr>
          <p:nvPr/>
        </p:nvSpPr>
        <p:spPr bwMode="auto">
          <a:xfrm flipH="1">
            <a:off x="2387600" y="4476750"/>
            <a:ext cx="3175" cy="113665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71" name="AutoShape 20">
            <a:extLst>
              <a:ext uri="{FF2B5EF4-FFF2-40B4-BE49-F238E27FC236}">
                <a16:creationId xmlns:a16="http://schemas.microsoft.com/office/drawing/2014/main" id="{38A6E4AB-0F58-46F7-A05B-0DEB99E5706C}"/>
              </a:ext>
            </a:extLst>
          </p:cNvPr>
          <p:cNvSpPr>
            <a:spLocks/>
          </p:cNvSpPr>
          <p:nvPr/>
        </p:nvSpPr>
        <p:spPr bwMode="auto">
          <a:xfrm rot="-5400000">
            <a:off x="2717007" y="4247356"/>
            <a:ext cx="209550" cy="858837"/>
          </a:xfrm>
          <a:prstGeom prst="leftBrace">
            <a:avLst>
              <a:gd name="adj1" fmla="val 34154"/>
              <a:gd name="adj2" fmla="val 50000"/>
            </a:avLst>
          </a:prstGeom>
          <a:noFill/>
          <a:ln w="19050">
            <a:solidFill>
              <a:srgbClr val="B2B2B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96272" name="Line 21">
            <a:extLst>
              <a:ext uri="{FF2B5EF4-FFF2-40B4-BE49-F238E27FC236}">
                <a16:creationId xmlns:a16="http://schemas.microsoft.com/office/drawing/2014/main" id="{57997727-EE2E-4E3B-9207-5DFE8F77CB30}"/>
              </a:ext>
            </a:extLst>
          </p:cNvPr>
          <p:cNvSpPr>
            <a:spLocks noChangeShapeType="1"/>
          </p:cNvSpPr>
          <p:nvPr/>
        </p:nvSpPr>
        <p:spPr bwMode="auto">
          <a:xfrm flipV="1">
            <a:off x="2746375" y="4811713"/>
            <a:ext cx="71438" cy="320675"/>
          </a:xfrm>
          <a:prstGeom prst="line">
            <a:avLst/>
          </a:prstGeom>
          <a:noFill/>
          <a:ln w="952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3" name="Text Box 22">
            <a:extLst>
              <a:ext uri="{FF2B5EF4-FFF2-40B4-BE49-F238E27FC236}">
                <a16:creationId xmlns:a16="http://schemas.microsoft.com/office/drawing/2014/main" id="{5B81FD8E-263B-4395-AD0B-04A069FCED0D}"/>
              </a:ext>
            </a:extLst>
          </p:cNvPr>
          <p:cNvSpPr txBox="1">
            <a:spLocks noChangeArrowheads="1"/>
          </p:cNvSpPr>
          <p:nvPr/>
        </p:nvSpPr>
        <p:spPr bwMode="auto">
          <a:xfrm>
            <a:off x="1958975" y="5011738"/>
            <a:ext cx="15128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b="1" i="1">
                <a:solidFill>
                  <a:srgbClr val="B2B2B2"/>
                </a:solidFill>
                <a:cs typeface="Arial" panose="020B0604020202020204" pitchFamily="34" charset="0"/>
              </a:rPr>
              <a:t>Shortage</a:t>
            </a:r>
          </a:p>
        </p:txBody>
      </p:sp>
      <p:sp>
        <p:nvSpPr>
          <p:cNvPr id="120855" name="Text Box 23">
            <a:extLst>
              <a:ext uri="{FF2B5EF4-FFF2-40B4-BE49-F238E27FC236}">
                <a16:creationId xmlns:a16="http://schemas.microsoft.com/office/drawing/2014/main" id="{D853935F-446D-4EC8-8C71-E3DC9A2CBA79}"/>
              </a:ext>
            </a:extLst>
          </p:cNvPr>
          <p:cNvSpPr txBox="1">
            <a:spLocks noChangeArrowheads="1"/>
          </p:cNvSpPr>
          <p:nvPr/>
        </p:nvSpPr>
        <p:spPr bwMode="auto">
          <a:xfrm>
            <a:off x="5048250" y="3697288"/>
            <a:ext cx="353695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Prices continue to rise until market reaches equilibrium. </a:t>
            </a:r>
          </a:p>
        </p:txBody>
      </p:sp>
      <p:grpSp>
        <p:nvGrpSpPr>
          <p:cNvPr id="5" name="Group 24">
            <a:extLst>
              <a:ext uri="{FF2B5EF4-FFF2-40B4-BE49-F238E27FC236}">
                <a16:creationId xmlns:a16="http://schemas.microsoft.com/office/drawing/2014/main" id="{44246B33-C87C-4426-85F3-DE0788B5661B}"/>
              </a:ext>
            </a:extLst>
          </p:cNvPr>
          <p:cNvGrpSpPr>
            <a:grpSpLocks/>
          </p:cNvGrpSpPr>
          <p:nvPr/>
        </p:nvGrpSpPr>
        <p:grpSpPr bwMode="auto">
          <a:xfrm>
            <a:off x="1322388" y="3902075"/>
            <a:ext cx="1604962" cy="558800"/>
            <a:chOff x="833" y="2458"/>
            <a:chExt cx="1011" cy="352"/>
          </a:xfrm>
        </p:grpSpPr>
        <p:sp>
          <p:nvSpPr>
            <p:cNvPr id="96280" name="Line 25">
              <a:extLst>
                <a:ext uri="{FF2B5EF4-FFF2-40B4-BE49-F238E27FC236}">
                  <a16:creationId xmlns:a16="http://schemas.microsoft.com/office/drawing/2014/main" id="{1DCC8433-A8DF-4974-A9ED-AEB48F0A1363}"/>
                </a:ext>
              </a:extLst>
            </p:cNvPr>
            <p:cNvSpPr>
              <a:spLocks noChangeShapeType="1"/>
            </p:cNvSpPr>
            <p:nvPr/>
          </p:nvSpPr>
          <p:spPr bwMode="auto">
            <a:xfrm rot="10800000">
              <a:off x="833" y="2458"/>
              <a:ext cx="0" cy="35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81" name="Line 26">
              <a:extLst>
                <a:ext uri="{FF2B5EF4-FFF2-40B4-BE49-F238E27FC236}">
                  <a16:creationId xmlns:a16="http://schemas.microsoft.com/office/drawing/2014/main" id="{D8EAFA87-B321-4D60-83F8-6AA240E0A9F2}"/>
                </a:ext>
              </a:extLst>
            </p:cNvPr>
            <p:cNvSpPr>
              <a:spLocks noChangeShapeType="1"/>
            </p:cNvSpPr>
            <p:nvPr/>
          </p:nvSpPr>
          <p:spPr bwMode="auto">
            <a:xfrm flipV="1">
              <a:off x="834" y="2460"/>
              <a:ext cx="1010" cy="1"/>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27">
            <a:extLst>
              <a:ext uri="{FF2B5EF4-FFF2-40B4-BE49-F238E27FC236}">
                <a16:creationId xmlns:a16="http://schemas.microsoft.com/office/drawing/2014/main" id="{05CF260F-F21B-4C13-85E3-294A6D3D42F9}"/>
              </a:ext>
            </a:extLst>
          </p:cNvPr>
          <p:cNvGrpSpPr>
            <a:grpSpLocks/>
          </p:cNvGrpSpPr>
          <p:nvPr/>
        </p:nvGrpSpPr>
        <p:grpSpPr bwMode="auto">
          <a:xfrm>
            <a:off x="2860675" y="3825875"/>
            <a:ext cx="139700" cy="1790700"/>
            <a:chOff x="1802" y="2410"/>
            <a:chExt cx="88" cy="1128"/>
          </a:xfrm>
        </p:grpSpPr>
        <p:sp>
          <p:nvSpPr>
            <p:cNvPr id="96278" name="Line 28">
              <a:extLst>
                <a:ext uri="{FF2B5EF4-FFF2-40B4-BE49-F238E27FC236}">
                  <a16:creationId xmlns:a16="http://schemas.microsoft.com/office/drawing/2014/main" id="{2160A179-2AA2-432C-A749-AA660C3C287A}"/>
                </a:ext>
              </a:extLst>
            </p:cNvPr>
            <p:cNvSpPr>
              <a:spLocks noChangeShapeType="1"/>
            </p:cNvSpPr>
            <p:nvPr/>
          </p:nvSpPr>
          <p:spPr bwMode="auto">
            <a:xfrm>
              <a:off x="1840" y="2440"/>
              <a:ext cx="4" cy="1098"/>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79" name="Oval 29">
              <a:extLst>
                <a:ext uri="{FF2B5EF4-FFF2-40B4-BE49-F238E27FC236}">
                  <a16:creationId xmlns:a16="http://schemas.microsoft.com/office/drawing/2014/main" id="{F30E94A6-D87D-4081-B60C-F7BF664DD809}"/>
                </a:ext>
              </a:extLst>
            </p:cNvPr>
            <p:cNvSpPr>
              <a:spLocks noChangeArrowheads="1"/>
            </p:cNvSpPr>
            <p:nvPr/>
          </p:nvSpPr>
          <p:spPr bwMode="auto">
            <a:xfrm>
              <a:off x="1802" y="241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6277" name="FlagCount" hidden="1">
            <a:hlinkClick r:id="rId5" action="ppaction://hlinkfile"/>
            <a:extLst>
              <a:ext uri="{FF2B5EF4-FFF2-40B4-BE49-F238E27FC236}">
                <a16:creationId xmlns:a16="http://schemas.microsoft.com/office/drawing/2014/main" id="{C11A147E-9CAE-473A-837F-60907837B9E4}"/>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55"/>
                                        </p:tgtEl>
                                        <p:attrNameLst>
                                          <p:attrName>style.visibility</p:attrName>
                                        </p:attrNameLst>
                                      </p:cBhvr>
                                      <p:to>
                                        <p:strVal val="visible"/>
                                      </p:to>
                                    </p:set>
                                    <p:animEffect transition="in" filter="wipe(left)">
                                      <p:cBhvr>
                                        <p:cTn id="7" dur="500"/>
                                        <p:tgtEl>
                                          <p:spTgt spid="120855"/>
                                        </p:tgtEl>
                                      </p:cBhvr>
                                    </p:animEffect>
                                  </p:childTnLst>
                                </p:cTn>
                              </p:par>
                            </p:childTnLst>
                          </p:cTn>
                        </p:par>
                        <p:par>
                          <p:cTn id="8" fill="hold" nodeType="afterGroup">
                            <p:stCondLst>
                              <p:cond delay="500"/>
                            </p:stCondLst>
                            <p:childTnLst>
                              <p:par>
                                <p:cTn id="9" presetID="18" presetClass="entr" presetSubtype="3"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upRight)">
                                      <p:cBhvr>
                                        <p:cTn id="11" dur="500"/>
                                        <p:tgtEl>
                                          <p:spTgt spid="5"/>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5"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Footer Placeholder 1">
            <a:extLst>
              <a:ext uri="{FF2B5EF4-FFF2-40B4-BE49-F238E27FC236}">
                <a16:creationId xmlns:a16="http://schemas.microsoft.com/office/drawing/2014/main" id="{473FCE68-03E5-46BE-897E-9F03D253FC5D}"/>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8307" name="Slide Number Placeholder 2">
            <a:extLst>
              <a:ext uri="{FF2B5EF4-FFF2-40B4-BE49-F238E27FC236}">
                <a16:creationId xmlns:a16="http://schemas.microsoft.com/office/drawing/2014/main" id="{66EC6217-B679-485E-927D-0AEC84EACC96}"/>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52AB554-1E4F-4F4D-803B-0AA4929F3EEE}" type="slidenum">
              <a:rPr lang="en-US" altLang="en-US">
                <a:solidFill>
                  <a:srgbClr val="777777"/>
                </a:solidFill>
                <a:latin typeface="Tahoma" panose="020B0604030504040204" pitchFamily="34" charset="0"/>
              </a:rPr>
              <a:pPr/>
              <a:t>46</a:t>
            </a:fld>
            <a:endParaRPr lang="en-US" altLang="en-US">
              <a:solidFill>
                <a:srgbClr val="777777"/>
              </a:solidFill>
              <a:latin typeface="Tahoma" panose="020B0604030504040204" pitchFamily="34" charset="0"/>
            </a:endParaRPr>
          </a:p>
        </p:txBody>
      </p:sp>
      <p:sp>
        <p:nvSpPr>
          <p:cNvPr id="98308" name="Rectangle 2">
            <a:extLst>
              <a:ext uri="{FF2B5EF4-FFF2-40B4-BE49-F238E27FC236}">
                <a16:creationId xmlns:a16="http://schemas.microsoft.com/office/drawing/2014/main" id="{5BE1B4AC-580D-44FA-84B2-ABACC0B827B2}"/>
              </a:ext>
            </a:extLst>
          </p:cNvPr>
          <p:cNvSpPr>
            <a:spLocks noGrp="1" noChangeArrowheads="1"/>
          </p:cNvSpPr>
          <p:nvPr>
            <p:ph type="title" idx="4294967295"/>
          </p:nvPr>
        </p:nvSpPr>
        <p:spPr>
          <a:xfrm>
            <a:off x="0" y="263525"/>
            <a:ext cx="9144000" cy="649288"/>
          </a:xfrm>
        </p:spPr>
        <p:txBody>
          <a:bodyPr/>
          <a:lstStyle/>
          <a:p>
            <a:pPr eaLnBrk="1" hangingPunct="1"/>
            <a:r>
              <a:rPr lang="en-US" altLang="en-US" sz="3400"/>
              <a:t>Three Steps to Analyzing Changes in Eq’m</a:t>
            </a:r>
          </a:p>
        </p:txBody>
      </p:sp>
      <p:sp>
        <p:nvSpPr>
          <p:cNvPr id="200707" name="Rectangle 3">
            <a:extLst>
              <a:ext uri="{FF2B5EF4-FFF2-40B4-BE49-F238E27FC236}">
                <a16:creationId xmlns:a16="http://schemas.microsoft.com/office/drawing/2014/main" id="{B83B17A4-5C11-42F9-AC6C-1C638314C98B}"/>
              </a:ext>
            </a:extLst>
          </p:cNvPr>
          <p:cNvSpPr>
            <a:spLocks noGrp="1" noChangeArrowheads="1"/>
          </p:cNvSpPr>
          <p:nvPr>
            <p:ph type="body" idx="4294967295"/>
          </p:nvPr>
        </p:nvSpPr>
        <p:spPr>
          <a:xfrm>
            <a:off x="474663" y="1354138"/>
            <a:ext cx="8064500" cy="4159250"/>
          </a:xfrm>
          <a:solidFill>
            <a:schemeClr val="bg1"/>
          </a:solidFill>
          <a:ln>
            <a:solidFill>
              <a:srgbClr val="0000FF"/>
            </a:solidFill>
            <a:miter lim="800000"/>
            <a:headEnd/>
            <a:tailEnd/>
          </a:ln>
          <a:effectLst>
            <a:outerShdw dist="125724" dir="2700000" algn="ctr" rotWithShape="0">
              <a:srgbClr val="336699">
                <a:alpha val="50000"/>
              </a:srgbClr>
            </a:outerShdw>
          </a:effectLst>
        </p:spPr>
        <p:txBody>
          <a:bodyPr lIns="137160" tIns="91440" bIns="91440"/>
          <a:lstStyle/>
          <a:p>
            <a:pPr marL="0" indent="0" eaLnBrk="1" hangingPunct="1">
              <a:spcBef>
                <a:spcPct val="60000"/>
              </a:spcBef>
              <a:buFont typeface="Wingdings" panose="05000000000000000000" pitchFamily="2" charset="2"/>
              <a:buNone/>
            </a:pPr>
            <a:r>
              <a:rPr lang="en-US" altLang="en-US"/>
              <a:t>To determine the effects of any event,  </a:t>
            </a:r>
            <a:endParaRPr lang="en-US" altLang="en-US" b="1">
              <a:solidFill>
                <a:srgbClr val="CC0000"/>
              </a:solidFill>
            </a:endParaRPr>
          </a:p>
          <a:p>
            <a:pPr marL="692150" lvl="1" indent="-457200" eaLnBrk="1" hangingPunct="1">
              <a:lnSpc>
                <a:spcPct val="105000"/>
              </a:lnSpc>
              <a:spcBef>
                <a:spcPct val="80000"/>
              </a:spcBef>
              <a:buFont typeface="Wingdings" panose="05000000000000000000" pitchFamily="2" charset="2"/>
              <a:buNone/>
            </a:pPr>
            <a:r>
              <a:rPr lang="en-US" altLang="en-US" sz="2600" b="1">
                <a:solidFill>
                  <a:srgbClr val="339966"/>
                </a:solidFill>
              </a:rPr>
              <a:t>1.</a:t>
            </a:r>
            <a:r>
              <a:rPr lang="en-US" altLang="en-US" sz="2600">
                <a:solidFill>
                  <a:srgbClr val="339966"/>
                </a:solidFill>
              </a:rPr>
              <a:t>	</a:t>
            </a:r>
            <a:r>
              <a:rPr lang="en-US" altLang="en-US" sz="2800"/>
              <a:t>Decide whether event shifts </a:t>
            </a:r>
            <a:r>
              <a:rPr lang="en-US" altLang="en-US" sz="2800" b="1" i="1"/>
              <a:t>S</a:t>
            </a:r>
            <a:r>
              <a:rPr lang="en-US" altLang="en-US" sz="2800"/>
              <a:t> curve, </a:t>
            </a:r>
            <a:br>
              <a:rPr lang="en-US" altLang="en-US" sz="2800"/>
            </a:br>
            <a:r>
              <a:rPr lang="en-US" altLang="en-US" sz="2800" b="1" i="1"/>
              <a:t>D</a:t>
            </a:r>
            <a:r>
              <a:rPr lang="en-US" altLang="en-US" sz="2800"/>
              <a:t> curve, or both. </a:t>
            </a:r>
          </a:p>
          <a:p>
            <a:pPr marL="692150" lvl="1" indent="-457200" eaLnBrk="1" hangingPunct="1">
              <a:lnSpc>
                <a:spcPct val="105000"/>
              </a:lnSpc>
              <a:spcBef>
                <a:spcPct val="60000"/>
              </a:spcBef>
              <a:buFont typeface="Wingdings" panose="05000000000000000000" pitchFamily="2" charset="2"/>
              <a:buNone/>
            </a:pPr>
            <a:r>
              <a:rPr lang="en-US" altLang="en-US" sz="2600" b="1">
                <a:solidFill>
                  <a:srgbClr val="339966"/>
                </a:solidFill>
              </a:rPr>
              <a:t>2.</a:t>
            </a:r>
            <a:r>
              <a:rPr lang="en-US" altLang="en-US" sz="2600">
                <a:solidFill>
                  <a:srgbClr val="339966"/>
                </a:solidFill>
              </a:rPr>
              <a:t>	</a:t>
            </a:r>
            <a:r>
              <a:rPr lang="en-US" altLang="en-US" sz="2800"/>
              <a:t>Decide in which direction curve shifts. </a:t>
            </a:r>
          </a:p>
          <a:p>
            <a:pPr marL="692150" lvl="1" indent="-457200" eaLnBrk="1" hangingPunct="1">
              <a:lnSpc>
                <a:spcPct val="105000"/>
              </a:lnSpc>
              <a:spcBef>
                <a:spcPct val="60000"/>
              </a:spcBef>
              <a:buFont typeface="Wingdings" panose="05000000000000000000" pitchFamily="2" charset="2"/>
              <a:buNone/>
            </a:pPr>
            <a:r>
              <a:rPr lang="en-US" altLang="en-US" sz="2600" b="1">
                <a:solidFill>
                  <a:srgbClr val="339966"/>
                </a:solidFill>
              </a:rPr>
              <a:t>3.</a:t>
            </a:r>
            <a:r>
              <a:rPr lang="en-US" altLang="en-US" sz="2600">
                <a:solidFill>
                  <a:srgbClr val="339966"/>
                </a:solidFill>
              </a:rPr>
              <a:t>	</a:t>
            </a:r>
            <a:r>
              <a:rPr lang="en-US" altLang="en-US" sz="2800"/>
              <a:t>Use supply-demand diagram to see </a:t>
            </a:r>
            <a:br>
              <a:rPr lang="en-US" altLang="en-US" sz="2800"/>
            </a:br>
            <a:r>
              <a:rPr lang="en-US" altLang="en-US" sz="2800"/>
              <a:t>how the shift changes eq’m </a:t>
            </a:r>
            <a:r>
              <a:rPr lang="en-US" altLang="en-US" sz="2800" b="1" i="1"/>
              <a:t>P</a:t>
            </a:r>
            <a:r>
              <a:rPr lang="en-US" altLang="en-US" sz="2800"/>
              <a:t> and </a:t>
            </a:r>
            <a:r>
              <a:rPr lang="en-US" altLang="en-US" sz="2800" b="1" i="1"/>
              <a:t>Q</a:t>
            </a:r>
            <a:r>
              <a:rPr lang="en-US" altLang="en-US" sz="2800"/>
              <a:t>.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0707">
                                            <p:txEl>
                                              <p:pRg st="1" end="1"/>
                                            </p:txEl>
                                          </p:spTgt>
                                        </p:tgtEl>
                                        <p:attrNameLst>
                                          <p:attrName>style.visibility</p:attrName>
                                        </p:attrNameLst>
                                      </p:cBhvr>
                                      <p:to>
                                        <p:strVal val="visible"/>
                                      </p:to>
                                    </p:set>
                                    <p:animEffect transition="in" filter="wipe(left)">
                                      <p:cBhvr>
                                        <p:cTn id="7" dur="500"/>
                                        <p:tgtEl>
                                          <p:spTgt spid="2007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0707">
                                            <p:txEl>
                                              <p:pRg st="2" end="2"/>
                                            </p:txEl>
                                          </p:spTgt>
                                        </p:tgtEl>
                                        <p:attrNameLst>
                                          <p:attrName>style.visibility</p:attrName>
                                        </p:attrNameLst>
                                      </p:cBhvr>
                                      <p:to>
                                        <p:strVal val="visible"/>
                                      </p:to>
                                    </p:set>
                                    <p:animEffect transition="in" filter="wipe(left)">
                                      <p:cBhvr>
                                        <p:cTn id="12" dur="500"/>
                                        <p:tgtEl>
                                          <p:spTgt spid="2007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0707">
                                            <p:txEl>
                                              <p:pRg st="3" end="3"/>
                                            </p:txEl>
                                          </p:spTgt>
                                        </p:tgtEl>
                                        <p:attrNameLst>
                                          <p:attrName>style.visibility</p:attrName>
                                        </p:attrNameLst>
                                      </p:cBhvr>
                                      <p:to>
                                        <p:strVal val="visible"/>
                                      </p:to>
                                    </p:set>
                                    <p:animEffect transition="in" filter="wipe(left)">
                                      <p:cBhvr>
                                        <p:cTn id="17" dur="500"/>
                                        <p:tgtEl>
                                          <p:spTgt spid="2007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bldLvl="5"/>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Footer Placeholder 1">
            <a:extLst>
              <a:ext uri="{FF2B5EF4-FFF2-40B4-BE49-F238E27FC236}">
                <a16:creationId xmlns:a16="http://schemas.microsoft.com/office/drawing/2014/main" id="{74E8FC6A-B2BD-4473-B6AA-D21756FDF0EA}"/>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0355" name="Slide Number Placeholder 2">
            <a:extLst>
              <a:ext uri="{FF2B5EF4-FFF2-40B4-BE49-F238E27FC236}">
                <a16:creationId xmlns:a16="http://schemas.microsoft.com/office/drawing/2014/main" id="{A278A3D3-A93C-450C-83F5-6F7DB48E5B9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0F37EDB-DDA7-4DB3-BD83-751DCD81466A}" type="slidenum">
              <a:rPr lang="en-US" altLang="en-US">
                <a:solidFill>
                  <a:srgbClr val="777777"/>
                </a:solidFill>
                <a:latin typeface="Tahoma" panose="020B0604030504040204" pitchFamily="34" charset="0"/>
              </a:rPr>
              <a:pPr/>
              <a:t>47</a:t>
            </a:fld>
            <a:endParaRPr lang="en-US" altLang="en-US">
              <a:solidFill>
                <a:srgbClr val="777777"/>
              </a:solidFill>
              <a:latin typeface="Tahoma" panose="020B0604030504040204" pitchFamily="34" charset="0"/>
            </a:endParaRPr>
          </a:p>
        </p:txBody>
      </p:sp>
      <p:sp>
        <p:nvSpPr>
          <p:cNvPr id="100356" name="Rectangle 2">
            <a:extLst>
              <a:ext uri="{FF2B5EF4-FFF2-40B4-BE49-F238E27FC236}">
                <a16:creationId xmlns:a16="http://schemas.microsoft.com/office/drawing/2014/main" id="{D8A0CCED-6D34-4748-ACF9-8F28F380E161}"/>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a:t>
            </a:r>
            <a:r>
              <a:rPr lang="en-US" altLang="en-US" sz="3200"/>
              <a:t>	</a:t>
            </a:r>
            <a:r>
              <a:rPr lang="en-US" altLang="en-US" sz="3400"/>
              <a:t>The Market for Hybrid Cars</a:t>
            </a:r>
            <a:br>
              <a:rPr lang="en-US" altLang="en-US" sz="3400"/>
            </a:br>
            <a:endParaRPr lang="en-US" altLang="en-US" sz="3400"/>
          </a:p>
        </p:txBody>
      </p:sp>
      <p:grpSp>
        <p:nvGrpSpPr>
          <p:cNvPr id="2" name="Group 4">
            <a:extLst>
              <a:ext uri="{FF2B5EF4-FFF2-40B4-BE49-F238E27FC236}">
                <a16:creationId xmlns:a16="http://schemas.microsoft.com/office/drawing/2014/main" id="{1B3F3D7D-5F02-4A72-B79E-EC1C6AA9D391}"/>
              </a:ext>
            </a:extLst>
          </p:cNvPr>
          <p:cNvGrpSpPr>
            <a:grpSpLocks/>
          </p:cNvGrpSpPr>
          <p:nvPr/>
        </p:nvGrpSpPr>
        <p:grpSpPr bwMode="auto">
          <a:xfrm>
            <a:off x="4094163" y="1179513"/>
            <a:ext cx="4422775" cy="4106862"/>
            <a:chOff x="2579" y="785"/>
            <a:chExt cx="2786" cy="2420"/>
          </a:xfrm>
        </p:grpSpPr>
        <p:grpSp>
          <p:nvGrpSpPr>
            <p:cNvPr id="100376" name="Group 5">
              <a:extLst>
                <a:ext uri="{FF2B5EF4-FFF2-40B4-BE49-F238E27FC236}">
                  <a16:creationId xmlns:a16="http://schemas.microsoft.com/office/drawing/2014/main" id="{7AEBAA15-FB67-4AEB-B275-583BF3567269}"/>
                </a:ext>
              </a:extLst>
            </p:cNvPr>
            <p:cNvGrpSpPr>
              <a:grpSpLocks/>
            </p:cNvGrpSpPr>
            <p:nvPr/>
          </p:nvGrpSpPr>
          <p:grpSpPr bwMode="auto">
            <a:xfrm>
              <a:off x="2697" y="1037"/>
              <a:ext cx="2409" cy="2049"/>
              <a:chOff x="1098" y="1361"/>
              <a:chExt cx="2116" cy="2027"/>
            </a:xfrm>
          </p:grpSpPr>
          <p:sp>
            <p:nvSpPr>
              <p:cNvPr id="100379" name="Line 6">
                <a:extLst>
                  <a:ext uri="{FF2B5EF4-FFF2-40B4-BE49-F238E27FC236}">
                    <a16:creationId xmlns:a16="http://schemas.microsoft.com/office/drawing/2014/main" id="{69587BFE-50CA-42F7-B0FB-302E45700401}"/>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0" name="Line 7">
                <a:extLst>
                  <a:ext uri="{FF2B5EF4-FFF2-40B4-BE49-F238E27FC236}">
                    <a16:creationId xmlns:a16="http://schemas.microsoft.com/office/drawing/2014/main" id="{72326FD3-0589-4104-89D1-377EFF34D2F3}"/>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0377" name="Text Box 8">
              <a:extLst>
                <a:ext uri="{FF2B5EF4-FFF2-40B4-BE49-F238E27FC236}">
                  <a16:creationId xmlns:a16="http://schemas.microsoft.com/office/drawing/2014/main" id="{ADA4AD81-EFE3-42FC-8241-D7F50F61DF9D}"/>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00378" name="Text Box 9">
              <a:extLst>
                <a:ext uri="{FF2B5EF4-FFF2-40B4-BE49-F238E27FC236}">
                  <a16:creationId xmlns:a16="http://schemas.microsoft.com/office/drawing/2014/main" id="{D6C7441C-81CC-4D97-BFFE-20C9CABBDC06}"/>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4" name="Group 38">
            <a:extLst>
              <a:ext uri="{FF2B5EF4-FFF2-40B4-BE49-F238E27FC236}">
                <a16:creationId xmlns:a16="http://schemas.microsoft.com/office/drawing/2014/main" id="{AA1F1272-5BD7-4548-AC58-7B313AC7A767}"/>
              </a:ext>
            </a:extLst>
          </p:cNvPr>
          <p:cNvGrpSpPr>
            <a:grpSpLocks/>
          </p:cNvGrpSpPr>
          <p:nvPr/>
        </p:nvGrpSpPr>
        <p:grpSpPr bwMode="auto">
          <a:xfrm>
            <a:off x="4524375" y="1957388"/>
            <a:ext cx="2486025" cy="2901950"/>
            <a:chOff x="2850" y="1233"/>
            <a:chExt cx="1566" cy="1828"/>
          </a:xfrm>
        </p:grpSpPr>
        <p:sp>
          <p:nvSpPr>
            <p:cNvPr id="100374" name="Line 11">
              <a:extLst>
                <a:ext uri="{FF2B5EF4-FFF2-40B4-BE49-F238E27FC236}">
                  <a16:creationId xmlns:a16="http://schemas.microsoft.com/office/drawing/2014/main" id="{80590986-588F-4717-8BD0-E661048693FC}"/>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5" name="Text Box 12">
              <a:extLst>
                <a:ext uri="{FF2B5EF4-FFF2-40B4-BE49-F238E27FC236}">
                  <a16:creationId xmlns:a16="http://schemas.microsoft.com/office/drawing/2014/main" id="{10019ACA-18E1-429A-8545-5EA760494C1A}"/>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5" name="Group 39">
            <a:extLst>
              <a:ext uri="{FF2B5EF4-FFF2-40B4-BE49-F238E27FC236}">
                <a16:creationId xmlns:a16="http://schemas.microsoft.com/office/drawing/2014/main" id="{490735C4-39A5-4A88-831E-4F366A34BFAE}"/>
              </a:ext>
            </a:extLst>
          </p:cNvPr>
          <p:cNvGrpSpPr>
            <a:grpSpLocks/>
          </p:cNvGrpSpPr>
          <p:nvPr/>
        </p:nvGrpSpPr>
        <p:grpSpPr bwMode="auto">
          <a:xfrm>
            <a:off x="4868863" y="1625600"/>
            <a:ext cx="1933575" cy="2901950"/>
            <a:chOff x="3067" y="1024"/>
            <a:chExt cx="1218" cy="1828"/>
          </a:xfrm>
        </p:grpSpPr>
        <p:sp>
          <p:nvSpPr>
            <p:cNvPr id="100372" name="Line 14">
              <a:extLst>
                <a:ext uri="{FF2B5EF4-FFF2-40B4-BE49-F238E27FC236}">
                  <a16:creationId xmlns:a16="http://schemas.microsoft.com/office/drawing/2014/main" id="{ADCDF3D9-3CF0-434F-91E9-29E1F6AD4EFD}"/>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3" name="Text Box 15">
              <a:extLst>
                <a:ext uri="{FF2B5EF4-FFF2-40B4-BE49-F238E27FC236}">
                  <a16:creationId xmlns:a16="http://schemas.microsoft.com/office/drawing/2014/main" id="{2DC60886-C076-498B-88A5-E7DD07DA6FCE}"/>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6" name="Group 42">
            <a:extLst>
              <a:ext uri="{FF2B5EF4-FFF2-40B4-BE49-F238E27FC236}">
                <a16:creationId xmlns:a16="http://schemas.microsoft.com/office/drawing/2014/main" id="{E2472908-F81A-4319-9F9A-A54311C8D860}"/>
              </a:ext>
            </a:extLst>
          </p:cNvPr>
          <p:cNvGrpSpPr>
            <a:grpSpLocks/>
          </p:cNvGrpSpPr>
          <p:nvPr/>
        </p:nvGrpSpPr>
        <p:grpSpPr bwMode="auto">
          <a:xfrm>
            <a:off x="3783013" y="3136900"/>
            <a:ext cx="2060575" cy="2327275"/>
            <a:chOff x="2383" y="1976"/>
            <a:chExt cx="1298" cy="1466"/>
          </a:xfrm>
        </p:grpSpPr>
        <p:sp>
          <p:nvSpPr>
            <p:cNvPr id="100367" name="Text Box 17">
              <a:extLst>
                <a:ext uri="{FF2B5EF4-FFF2-40B4-BE49-F238E27FC236}">
                  <a16:creationId xmlns:a16="http://schemas.microsoft.com/office/drawing/2014/main" id="{CDF2C2B0-9608-43ED-B1F0-CB74D2D58920}"/>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00368" name="Oval 18">
              <a:extLst>
                <a:ext uri="{FF2B5EF4-FFF2-40B4-BE49-F238E27FC236}">
                  <a16:creationId xmlns:a16="http://schemas.microsoft.com/office/drawing/2014/main" id="{837CFED6-590F-4519-9838-1A3641526EAD}"/>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0369" name="Line 19">
              <a:extLst>
                <a:ext uri="{FF2B5EF4-FFF2-40B4-BE49-F238E27FC236}">
                  <a16:creationId xmlns:a16="http://schemas.microsoft.com/office/drawing/2014/main" id="{6515AD90-2631-40E3-85B4-5BCE65745F53}"/>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0370" name="Line 21">
              <a:extLst>
                <a:ext uri="{FF2B5EF4-FFF2-40B4-BE49-F238E27FC236}">
                  <a16:creationId xmlns:a16="http://schemas.microsoft.com/office/drawing/2014/main" id="{41BF69C2-FE25-4E58-AA43-952BFD50F86F}"/>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0371" name="Text Box 22">
              <a:extLst>
                <a:ext uri="{FF2B5EF4-FFF2-40B4-BE49-F238E27FC236}">
                  <a16:creationId xmlns:a16="http://schemas.microsoft.com/office/drawing/2014/main" id="{9ABA5C1B-29E2-4B1D-B6CB-471D9B5A6A95}"/>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3">
            <a:extLst>
              <a:ext uri="{FF2B5EF4-FFF2-40B4-BE49-F238E27FC236}">
                <a16:creationId xmlns:a16="http://schemas.microsoft.com/office/drawing/2014/main" id="{CA3D763F-F7D9-42BC-B340-DD65E06EF61D}"/>
              </a:ext>
            </a:extLst>
          </p:cNvPr>
          <p:cNvGrpSpPr>
            <a:grpSpLocks/>
          </p:cNvGrpSpPr>
          <p:nvPr/>
        </p:nvGrpSpPr>
        <p:grpSpPr bwMode="auto">
          <a:xfrm>
            <a:off x="1876425" y="1412875"/>
            <a:ext cx="2259013" cy="831850"/>
            <a:chOff x="1330" y="890"/>
            <a:chExt cx="1275" cy="524"/>
          </a:xfrm>
        </p:grpSpPr>
        <p:sp>
          <p:nvSpPr>
            <p:cNvPr id="100365" name="Line 24">
              <a:extLst>
                <a:ext uri="{FF2B5EF4-FFF2-40B4-BE49-F238E27FC236}">
                  <a16:creationId xmlns:a16="http://schemas.microsoft.com/office/drawing/2014/main" id="{556BB9C6-B055-4EE2-87EF-D4D6178CABF7}"/>
                </a:ext>
              </a:extLst>
            </p:cNvPr>
            <p:cNvSpPr>
              <a:spLocks noChangeShapeType="1"/>
            </p:cNvSpPr>
            <p:nvPr/>
          </p:nvSpPr>
          <p:spPr bwMode="auto">
            <a:xfrm flipV="1">
              <a:off x="2271" y="907"/>
              <a:ext cx="334" cy="240"/>
            </a:xfrm>
            <a:prstGeom prst="line">
              <a:avLst/>
            </a:prstGeom>
            <a:noFill/>
            <a:ln w="444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00366" name="Text Box 25">
              <a:extLst>
                <a:ext uri="{FF2B5EF4-FFF2-40B4-BE49-F238E27FC236}">
                  <a16:creationId xmlns:a16="http://schemas.microsoft.com/office/drawing/2014/main" id="{198F316F-2E53-4EBE-BF2C-3AAEEC786E99}"/>
                </a:ext>
              </a:extLst>
            </p:cNvPr>
            <p:cNvSpPr txBox="1">
              <a:spLocks noChangeArrowheads="1"/>
            </p:cNvSpPr>
            <p:nvPr/>
          </p:nvSpPr>
          <p:spPr bwMode="auto">
            <a:xfrm>
              <a:off x="1330" y="890"/>
              <a:ext cx="986" cy="524"/>
            </a:xfrm>
            <a:prstGeom prst="rect">
              <a:avLst/>
            </a:prstGeom>
            <a:solidFill>
              <a:srgbClr val="CCFFCC"/>
            </a:solidFill>
            <a:ln w="9525">
              <a:solidFill>
                <a:schemeClr val="tx1"/>
              </a:solidFill>
              <a:miter lim="800000"/>
              <a:headEnd/>
              <a:tailEnd/>
            </a:ln>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price of hybrid cars</a:t>
              </a:r>
            </a:p>
          </p:txBody>
        </p:sp>
      </p:grpSp>
      <p:grpSp>
        <p:nvGrpSpPr>
          <p:cNvPr id="8" name="Group 26">
            <a:extLst>
              <a:ext uri="{FF2B5EF4-FFF2-40B4-BE49-F238E27FC236}">
                <a16:creationId xmlns:a16="http://schemas.microsoft.com/office/drawing/2014/main" id="{6F775F87-1D97-4F3C-9F4E-B9179FD044BB}"/>
              </a:ext>
            </a:extLst>
          </p:cNvPr>
          <p:cNvGrpSpPr>
            <a:grpSpLocks/>
          </p:cNvGrpSpPr>
          <p:nvPr/>
        </p:nvGrpSpPr>
        <p:grpSpPr bwMode="auto">
          <a:xfrm>
            <a:off x="6581775" y="5253038"/>
            <a:ext cx="1909763" cy="1214437"/>
            <a:chOff x="3703" y="3309"/>
            <a:chExt cx="1695" cy="765"/>
          </a:xfrm>
        </p:grpSpPr>
        <p:sp>
          <p:nvSpPr>
            <p:cNvPr id="100363" name="Line 27">
              <a:extLst>
                <a:ext uri="{FF2B5EF4-FFF2-40B4-BE49-F238E27FC236}">
                  <a16:creationId xmlns:a16="http://schemas.microsoft.com/office/drawing/2014/main" id="{45E81F9A-95DD-4BE7-B77A-7D3880FBA97C}"/>
                </a:ext>
              </a:extLst>
            </p:cNvPr>
            <p:cNvSpPr>
              <a:spLocks noChangeShapeType="1"/>
            </p:cNvSpPr>
            <p:nvPr/>
          </p:nvSpPr>
          <p:spPr bwMode="auto">
            <a:xfrm flipV="1">
              <a:off x="5050" y="3309"/>
              <a:ext cx="127" cy="281"/>
            </a:xfrm>
            <a:prstGeom prst="line">
              <a:avLst/>
            </a:prstGeom>
            <a:noFill/>
            <a:ln w="444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00364" name="Text Box 28">
              <a:extLst>
                <a:ext uri="{FF2B5EF4-FFF2-40B4-BE49-F238E27FC236}">
                  <a16:creationId xmlns:a16="http://schemas.microsoft.com/office/drawing/2014/main" id="{9AE5FB54-F63D-475C-BDFB-038FF068811C}"/>
                </a:ext>
              </a:extLst>
            </p:cNvPr>
            <p:cNvSpPr txBox="1">
              <a:spLocks noChangeArrowheads="1"/>
            </p:cNvSpPr>
            <p:nvPr/>
          </p:nvSpPr>
          <p:spPr bwMode="auto">
            <a:xfrm>
              <a:off x="3703" y="3550"/>
              <a:ext cx="1695" cy="524"/>
            </a:xfrm>
            <a:prstGeom prst="rect">
              <a:avLst/>
            </a:prstGeom>
            <a:solidFill>
              <a:srgbClr val="CCFFCC"/>
            </a:solidFill>
            <a:ln w="9525">
              <a:solidFill>
                <a:schemeClr val="tx1"/>
              </a:solidFill>
              <a:miter lim="800000"/>
              <a:headEnd/>
              <a:tailEnd/>
            </a:ln>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quantity of </a:t>
              </a:r>
              <a:br>
                <a:rPr lang="en-US" altLang="en-US" sz="2400">
                  <a:cs typeface="Arial" panose="020B0604020202020204" pitchFamily="34" charset="0"/>
                </a:rPr>
              </a:br>
              <a:r>
                <a:rPr lang="en-US" altLang="en-US" sz="2400">
                  <a:cs typeface="Arial" panose="020B0604020202020204" pitchFamily="34" charset="0"/>
                </a:rPr>
                <a:t>hybrid cars</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par>
                                <p:cTn id="23" presetID="9" presetClass="exit" presetSubtype="0" fill="hold" nodeType="withEffect">
                                  <p:stCondLst>
                                    <p:cond delay="0"/>
                                  </p:stCondLst>
                                  <p:childTnLst>
                                    <p:animEffect transition="out" filter="dissolve">
                                      <p:cBhvr>
                                        <p:cTn id="24" dur="500"/>
                                        <p:tgtEl>
                                          <p:spTgt spid="8"/>
                                        </p:tgtEl>
                                      </p:cBhvr>
                                    </p:animEffect>
                                    <p:set>
                                      <p:cBhvr>
                                        <p:cTn id="25" dur="1" fill="hold">
                                          <p:stCondLst>
                                            <p:cond delay="499"/>
                                          </p:stCondLst>
                                        </p:cTn>
                                        <p:tgtEl>
                                          <p:spTgt spid="8"/>
                                        </p:tgtEl>
                                        <p:attrNameLst>
                                          <p:attrName>style.visibility</p:attrName>
                                        </p:attrNameLst>
                                      </p:cBhvr>
                                      <p:to>
                                        <p:strVal val="hidden"/>
                                      </p:to>
                                    </p:set>
                                  </p:childTnLst>
                                </p:cTn>
                              </p:par>
                            </p:childTnLst>
                          </p:cTn>
                        </p:par>
                        <p:par>
                          <p:cTn id="26" fill="hold" nodeType="afterGroup">
                            <p:stCondLst>
                              <p:cond delay="500"/>
                            </p:stCondLst>
                            <p:childTnLst>
                              <p:par>
                                <p:cTn id="27" presetID="18" presetClass="entr" presetSubtype="6"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strips(downRight)">
                                      <p:cBhvr>
                                        <p:cTn id="29" dur="500"/>
                                        <p:tgtEl>
                                          <p:spTgt spid="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8" presetClass="entr" presetSubtype="3"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strips(upRight)">
                                      <p:cBhvr>
                                        <p:cTn id="34" dur="500"/>
                                        <p:tgtEl>
                                          <p:spTgt spid="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6"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strips(downRight)">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Footer Placeholder 1">
            <a:extLst>
              <a:ext uri="{FF2B5EF4-FFF2-40B4-BE49-F238E27FC236}">
                <a16:creationId xmlns:a16="http://schemas.microsoft.com/office/drawing/2014/main" id="{03BDF875-563F-4DF1-B421-45A0572868BE}"/>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2403" name="Slide Number Placeholder 2">
            <a:extLst>
              <a:ext uri="{FF2B5EF4-FFF2-40B4-BE49-F238E27FC236}">
                <a16:creationId xmlns:a16="http://schemas.microsoft.com/office/drawing/2014/main" id="{C7490567-35E8-44C2-9662-920C8B4255A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1B4C58-AD3F-4C38-9F4F-E73AAB96CB6B}" type="slidenum">
              <a:rPr lang="en-US" altLang="en-US">
                <a:solidFill>
                  <a:srgbClr val="777777"/>
                </a:solidFill>
                <a:latin typeface="Tahoma" panose="020B0604030504040204" pitchFamily="34" charset="0"/>
              </a:rPr>
              <a:pPr/>
              <a:t>48</a:t>
            </a:fld>
            <a:endParaRPr lang="en-US" altLang="en-US">
              <a:solidFill>
                <a:srgbClr val="777777"/>
              </a:solidFill>
              <a:latin typeface="Tahoma" panose="020B0604030504040204" pitchFamily="34" charset="0"/>
            </a:endParaRPr>
          </a:p>
        </p:txBody>
      </p:sp>
      <p:sp>
        <p:nvSpPr>
          <p:cNvPr id="224287" name="Text Box 31">
            <a:extLst>
              <a:ext uri="{FF2B5EF4-FFF2-40B4-BE49-F238E27FC236}">
                <a16:creationId xmlns:a16="http://schemas.microsoft.com/office/drawing/2014/main" id="{F3FEB887-ED89-48B4-B602-4D9604A9DA45}"/>
              </a:ext>
            </a:extLst>
          </p:cNvPr>
          <p:cNvSpPr txBox="1">
            <a:spLocks noChangeArrowheads="1"/>
          </p:cNvSpPr>
          <p:nvPr/>
        </p:nvSpPr>
        <p:spPr bwMode="auto">
          <a:xfrm>
            <a:off x="438150" y="2182813"/>
            <a:ext cx="3200400"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300" b="1">
                <a:cs typeface="Arial" panose="020B0604020202020204" pitchFamily="34" charset="0"/>
              </a:rPr>
              <a:t>STEP 1:  </a:t>
            </a:r>
          </a:p>
          <a:p>
            <a:pPr eaLnBrk="1" hangingPunct="1">
              <a:spcBef>
                <a:spcPct val="15000"/>
              </a:spcBef>
              <a:buClr>
                <a:srgbClr val="00B85C"/>
              </a:buClr>
              <a:buFont typeface="Wingdings" panose="05000000000000000000" pitchFamily="2" charset="2"/>
              <a:buNone/>
            </a:pPr>
            <a:r>
              <a:rPr lang="en-US" altLang="en-US" sz="2500" b="1" i="1">
                <a:cs typeface="Arial" panose="020B0604020202020204" pitchFamily="34" charset="0"/>
              </a:rPr>
              <a:t>D</a:t>
            </a:r>
            <a:r>
              <a:rPr lang="en-US" altLang="en-US" sz="2500">
                <a:cs typeface="Arial" panose="020B0604020202020204" pitchFamily="34" charset="0"/>
              </a:rPr>
              <a:t> curve shifts </a:t>
            </a:r>
            <a:br>
              <a:rPr lang="en-US" altLang="en-US" sz="2500">
                <a:cs typeface="Arial" panose="020B0604020202020204" pitchFamily="34" charset="0"/>
              </a:rPr>
            </a:br>
            <a:r>
              <a:rPr lang="en-US" altLang="en-US" sz="2500">
                <a:cs typeface="Arial" panose="020B0604020202020204" pitchFamily="34" charset="0"/>
              </a:rPr>
              <a:t>because price of gas affects demand for hybrids. </a:t>
            </a:r>
          </a:p>
          <a:p>
            <a:pPr eaLnBrk="1" hangingPunct="1">
              <a:spcBef>
                <a:spcPct val="15000"/>
              </a:spcBef>
              <a:buClr>
                <a:srgbClr val="00B85C"/>
              </a:buClr>
              <a:buFont typeface="Wingdings" panose="05000000000000000000" pitchFamily="2" charset="2"/>
              <a:buNone/>
            </a:pPr>
            <a:r>
              <a:rPr lang="en-US" altLang="en-US" sz="2500" b="1" i="1">
                <a:cs typeface="Arial" panose="020B0604020202020204" pitchFamily="34" charset="0"/>
              </a:rPr>
              <a:t>S</a:t>
            </a:r>
            <a:r>
              <a:rPr lang="en-US" altLang="en-US" sz="2500">
                <a:cs typeface="Arial" panose="020B0604020202020204" pitchFamily="34" charset="0"/>
              </a:rPr>
              <a:t> curve does not shift, because price of gas does not affect cost of producing hybrids. </a:t>
            </a:r>
          </a:p>
        </p:txBody>
      </p:sp>
      <p:sp>
        <p:nvSpPr>
          <p:cNvPr id="224290" name="Rectangle 34">
            <a:extLst>
              <a:ext uri="{FF2B5EF4-FFF2-40B4-BE49-F238E27FC236}">
                <a16:creationId xmlns:a16="http://schemas.microsoft.com/office/drawing/2014/main" id="{67866A27-3781-454F-89D1-596B348AE8CB}"/>
              </a:ext>
            </a:extLst>
          </p:cNvPr>
          <p:cNvSpPr>
            <a:spLocks noChangeArrowheads="1"/>
          </p:cNvSpPr>
          <p:nvPr/>
        </p:nvSpPr>
        <p:spPr bwMode="auto">
          <a:xfrm>
            <a:off x="268288" y="3100388"/>
            <a:ext cx="3433762" cy="3289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24288" name="Text Box 32">
            <a:extLst>
              <a:ext uri="{FF2B5EF4-FFF2-40B4-BE49-F238E27FC236}">
                <a16:creationId xmlns:a16="http://schemas.microsoft.com/office/drawing/2014/main" id="{6C968481-3D75-4D27-8318-3279173BEF87}"/>
              </a:ext>
            </a:extLst>
          </p:cNvPr>
          <p:cNvSpPr txBox="1">
            <a:spLocks noChangeArrowheads="1"/>
          </p:cNvSpPr>
          <p:nvPr/>
        </p:nvSpPr>
        <p:spPr bwMode="auto">
          <a:xfrm>
            <a:off x="446088" y="3079750"/>
            <a:ext cx="3200400"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300" b="1">
                <a:cs typeface="Arial" panose="020B0604020202020204" pitchFamily="34" charset="0"/>
              </a:rPr>
              <a:t>STEP 2:  </a:t>
            </a:r>
          </a:p>
          <a:p>
            <a:pPr eaLnBrk="1" hangingPunct="1">
              <a:spcBef>
                <a:spcPct val="20000"/>
              </a:spcBef>
              <a:buClr>
                <a:srgbClr val="00B85C"/>
              </a:buClr>
              <a:buFont typeface="Wingdings" panose="05000000000000000000" pitchFamily="2" charset="2"/>
              <a:buNone/>
            </a:pPr>
            <a:r>
              <a:rPr lang="en-US" altLang="en-US" sz="2500" b="1" i="1">
                <a:cs typeface="Arial" panose="020B0604020202020204" pitchFamily="34" charset="0"/>
              </a:rPr>
              <a:t>D</a:t>
            </a:r>
            <a:r>
              <a:rPr lang="en-US" altLang="en-US" sz="2500">
                <a:cs typeface="Arial" panose="020B0604020202020204" pitchFamily="34" charset="0"/>
              </a:rPr>
              <a:t> shifts </a:t>
            </a:r>
            <a:r>
              <a:rPr lang="en-US" altLang="en-US" sz="2500" u="sng">
                <a:cs typeface="Arial" panose="020B0604020202020204" pitchFamily="34" charset="0"/>
              </a:rPr>
              <a:t>right</a:t>
            </a:r>
            <a:br>
              <a:rPr lang="en-US" altLang="en-US" sz="2500">
                <a:cs typeface="Arial" panose="020B0604020202020204" pitchFamily="34" charset="0"/>
              </a:rPr>
            </a:br>
            <a:r>
              <a:rPr lang="en-US" altLang="en-US" sz="2500">
                <a:cs typeface="Arial" panose="020B0604020202020204" pitchFamily="34" charset="0"/>
              </a:rPr>
              <a:t>because high gas price makes hybrids more attractive relative to other cars.</a:t>
            </a:r>
          </a:p>
        </p:txBody>
      </p:sp>
      <p:sp>
        <p:nvSpPr>
          <p:cNvPr id="224291" name="Rectangle 35">
            <a:extLst>
              <a:ext uri="{FF2B5EF4-FFF2-40B4-BE49-F238E27FC236}">
                <a16:creationId xmlns:a16="http://schemas.microsoft.com/office/drawing/2014/main" id="{85462E4D-781A-4716-A15E-A0F90F42C9D6}"/>
              </a:ext>
            </a:extLst>
          </p:cNvPr>
          <p:cNvSpPr>
            <a:spLocks noChangeArrowheads="1"/>
          </p:cNvSpPr>
          <p:nvPr/>
        </p:nvSpPr>
        <p:spPr bwMode="auto">
          <a:xfrm>
            <a:off x="446088" y="4114800"/>
            <a:ext cx="3400425" cy="2297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2408" name="Rectangle 2">
            <a:extLst>
              <a:ext uri="{FF2B5EF4-FFF2-40B4-BE49-F238E27FC236}">
                <a16:creationId xmlns:a16="http://schemas.microsoft.com/office/drawing/2014/main" id="{5F1E5CA0-AC67-4673-9C8D-0B067AC35732}"/>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1:  </a:t>
            </a:r>
            <a:r>
              <a:rPr lang="en-US" altLang="en-US" sz="3200"/>
              <a:t>	</a:t>
            </a:r>
            <a:r>
              <a:rPr lang="en-US" altLang="en-US" sz="3400"/>
              <a:t>A Shift in Demand</a:t>
            </a:r>
            <a:br>
              <a:rPr lang="en-US" altLang="en-US" sz="3400"/>
            </a:br>
            <a:endParaRPr lang="en-US" altLang="en-US" sz="3400"/>
          </a:p>
        </p:txBody>
      </p:sp>
      <p:sp>
        <p:nvSpPr>
          <p:cNvPr id="224259" name="Rectangle 3">
            <a:extLst>
              <a:ext uri="{FF2B5EF4-FFF2-40B4-BE49-F238E27FC236}">
                <a16:creationId xmlns:a16="http://schemas.microsoft.com/office/drawing/2014/main" id="{CEBE373B-8325-4351-A637-B2578C3FA441}"/>
              </a:ext>
            </a:extLst>
          </p:cNvPr>
          <p:cNvSpPr>
            <a:spLocks noGrp="1" noChangeArrowheads="1"/>
          </p:cNvSpPr>
          <p:nvPr>
            <p:ph type="body" idx="4294967295"/>
          </p:nvPr>
        </p:nvSpPr>
        <p:spPr>
          <a:xfrm>
            <a:off x="433388" y="877888"/>
            <a:ext cx="3648075" cy="1350962"/>
          </a:xfrm>
        </p:spPr>
        <p:txBody>
          <a:bodyPr/>
          <a:lstStyle/>
          <a:p>
            <a:pPr marL="0" indent="0" eaLnBrk="1" hangingPunct="1">
              <a:lnSpc>
                <a:spcPct val="100000"/>
              </a:lnSpc>
              <a:buFont typeface="Wingdings" panose="05000000000000000000" pitchFamily="2" charset="2"/>
              <a:buNone/>
            </a:pPr>
            <a:r>
              <a:rPr lang="en-US" altLang="en-US" sz="2300" b="1"/>
              <a:t>EVENT TO BE </a:t>
            </a:r>
            <a:br>
              <a:rPr lang="en-US" altLang="en-US" sz="2300" b="1"/>
            </a:br>
            <a:r>
              <a:rPr lang="en-US" altLang="en-US" sz="2300" b="1"/>
              <a:t>ANALYZED:  </a:t>
            </a:r>
            <a:br>
              <a:rPr lang="en-US" altLang="en-US" sz="2300" b="1"/>
            </a:br>
            <a:r>
              <a:rPr lang="en-US" altLang="en-US" sz="2500"/>
              <a:t>Increase in price of gas.</a:t>
            </a:r>
          </a:p>
        </p:txBody>
      </p:sp>
      <p:grpSp>
        <p:nvGrpSpPr>
          <p:cNvPr id="102410" name="Group 4">
            <a:extLst>
              <a:ext uri="{FF2B5EF4-FFF2-40B4-BE49-F238E27FC236}">
                <a16:creationId xmlns:a16="http://schemas.microsoft.com/office/drawing/2014/main" id="{B2EB7422-0CC2-4D76-AD41-A40E5F1439D7}"/>
              </a:ext>
            </a:extLst>
          </p:cNvPr>
          <p:cNvGrpSpPr>
            <a:grpSpLocks/>
          </p:cNvGrpSpPr>
          <p:nvPr/>
        </p:nvGrpSpPr>
        <p:grpSpPr bwMode="auto">
          <a:xfrm>
            <a:off x="4094163" y="1179513"/>
            <a:ext cx="4422775" cy="4106862"/>
            <a:chOff x="2579" y="785"/>
            <a:chExt cx="2786" cy="2420"/>
          </a:xfrm>
        </p:grpSpPr>
        <p:grpSp>
          <p:nvGrpSpPr>
            <p:cNvPr id="102434" name="Group 5">
              <a:extLst>
                <a:ext uri="{FF2B5EF4-FFF2-40B4-BE49-F238E27FC236}">
                  <a16:creationId xmlns:a16="http://schemas.microsoft.com/office/drawing/2014/main" id="{FC713688-A432-4E1E-A430-C48F1EBCD0B9}"/>
                </a:ext>
              </a:extLst>
            </p:cNvPr>
            <p:cNvGrpSpPr>
              <a:grpSpLocks/>
            </p:cNvGrpSpPr>
            <p:nvPr/>
          </p:nvGrpSpPr>
          <p:grpSpPr bwMode="auto">
            <a:xfrm>
              <a:off x="2697" y="1037"/>
              <a:ext cx="2409" cy="2049"/>
              <a:chOff x="1098" y="1361"/>
              <a:chExt cx="2116" cy="2027"/>
            </a:xfrm>
          </p:grpSpPr>
          <p:sp>
            <p:nvSpPr>
              <p:cNvPr id="102437" name="Line 6">
                <a:extLst>
                  <a:ext uri="{FF2B5EF4-FFF2-40B4-BE49-F238E27FC236}">
                    <a16:creationId xmlns:a16="http://schemas.microsoft.com/office/drawing/2014/main" id="{643E4EE8-0467-43E6-9283-00B2C24C2C70}"/>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38" name="Line 7">
                <a:extLst>
                  <a:ext uri="{FF2B5EF4-FFF2-40B4-BE49-F238E27FC236}">
                    <a16:creationId xmlns:a16="http://schemas.microsoft.com/office/drawing/2014/main" id="{F6F4698F-2B84-4BD2-8521-B20EB2E1CBEF}"/>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2435" name="Text Box 8">
              <a:extLst>
                <a:ext uri="{FF2B5EF4-FFF2-40B4-BE49-F238E27FC236}">
                  <a16:creationId xmlns:a16="http://schemas.microsoft.com/office/drawing/2014/main" id="{C7DFCF9C-9676-4BF9-AF89-7D74AE6C09F9}"/>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02436" name="Text Box 9">
              <a:extLst>
                <a:ext uri="{FF2B5EF4-FFF2-40B4-BE49-F238E27FC236}">
                  <a16:creationId xmlns:a16="http://schemas.microsoft.com/office/drawing/2014/main" id="{CB2B50F0-2621-41A8-B3F0-62E3B3BEF699}"/>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02411" name="Group 10">
            <a:extLst>
              <a:ext uri="{FF2B5EF4-FFF2-40B4-BE49-F238E27FC236}">
                <a16:creationId xmlns:a16="http://schemas.microsoft.com/office/drawing/2014/main" id="{16F61AA3-4E4D-438D-8503-989EC57E4786}"/>
              </a:ext>
            </a:extLst>
          </p:cNvPr>
          <p:cNvGrpSpPr>
            <a:grpSpLocks/>
          </p:cNvGrpSpPr>
          <p:nvPr/>
        </p:nvGrpSpPr>
        <p:grpSpPr bwMode="auto">
          <a:xfrm>
            <a:off x="4524375" y="1957388"/>
            <a:ext cx="2486025" cy="2901950"/>
            <a:chOff x="2850" y="1233"/>
            <a:chExt cx="1566" cy="1828"/>
          </a:xfrm>
        </p:grpSpPr>
        <p:sp>
          <p:nvSpPr>
            <p:cNvPr id="102432" name="Line 11">
              <a:extLst>
                <a:ext uri="{FF2B5EF4-FFF2-40B4-BE49-F238E27FC236}">
                  <a16:creationId xmlns:a16="http://schemas.microsoft.com/office/drawing/2014/main" id="{E6507CCE-765E-4DBF-AC3B-43A476626B93}"/>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33" name="Text Box 12">
              <a:extLst>
                <a:ext uri="{FF2B5EF4-FFF2-40B4-BE49-F238E27FC236}">
                  <a16:creationId xmlns:a16="http://schemas.microsoft.com/office/drawing/2014/main" id="{7E145F8B-9CA9-4068-BA32-A43552BC2480}"/>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02412" name="Group 13">
            <a:extLst>
              <a:ext uri="{FF2B5EF4-FFF2-40B4-BE49-F238E27FC236}">
                <a16:creationId xmlns:a16="http://schemas.microsoft.com/office/drawing/2014/main" id="{9DA66C69-1920-48F8-8C93-28D561CE32B0}"/>
              </a:ext>
            </a:extLst>
          </p:cNvPr>
          <p:cNvGrpSpPr>
            <a:grpSpLocks/>
          </p:cNvGrpSpPr>
          <p:nvPr/>
        </p:nvGrpSpPr>
        <p:grpSpPr bwMode="auto">
          <a:xfrm>
            <a:off x="4868863" y="1625600"/>
            <a:ext cx="1933575" cy="2901950"/>
            <a:chOff x="3067" y="1024"/>
            <a:chExt cx="1218" cy="1828"/>
          </a:xfrm>
        </p:grpSpPr>
        <p:sp>
          <p:nvSpPr>
            <p:cNvPr id="102430" name="Line 14">
              <a:extLst>
                <a:ext uri="{FF2B5EF4-FFF2-40B4-BE49-F238E27FC236}">
                  <a16:creationId xmlns:a16="http://schemas.microsoft.com/office/drawing/2014/main" id="{57209C0B-AB13-4ED9-8B9B-24F0B4A09690}"/>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31" name="Text Box 15">
              <a:extLst>
                <a:ext uri="{FF2B5EF4-FFF2-40B4-BE49-F238E27FC236}">
                  <a16:creationId xmlns:a16="http://schemas.microsoft.com/office/drawing/2014/main" id="{D067129E-B688-47EA-9D07-BD46A01775D9}"/>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02413" name="Group 16">
            <a:extLst>
              <a:ext uri="{FF2B5EF4-FFF2-40B4-BE49-F238E27FC236}">
                <a16:creationId xmlns:a16="http://schemas.microsoft.com/office/drawing/2014/main" id="{70663EE8-AE3D-4594-BD60-6867662A6E91}"/>
              </a:ext>
            </a:extLst>
          </p:cNvPr>
          <p:cNvGrpSpPr>
            <a:grpSpLocks/>
          </p:cNvGrpSpPr>
          <p:nvPr/>
        </p:nvGrpSpPr>
        <p:grpSpPr bwMode="auto">
          <a:xfrm>
            <a:off x="3783013" y="3136900"/>
            <a:ext cx="2060575" cy="2327275"/>
            <a:chOff x="2383" y="1976"/>
            <a:chExt cx="1298" cy="1466"/>
          </a:xfrm>
        </p:grpSpPr>
        <p:sp>
          <p:nvSpPr>
            <p:cNvPr id="102425" name="Text Box 17">
              <a:extLst>
                <a:ext uri="{FF2B5EF4-FFF2-40B4-BE49-F238E27FC236}">
                  <a16:creationId xmlns:a16="http://schemas.microsoft.com/office/drawing/2014/main" id="{4B2021F2-B50D-4EA5-BD7C-320CC1218A6E}"/>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02426" name="Oval 18">
              <a:extLst>
                <a:ext uri="{FF2B5EF4-FFF2-40B4-BE49-F238E27FC236}">
                  <a16:creationId xmlns:a16="http://schemas.microsoft.com/office/drawing/2014/main" id="{23F906A2-A11C-4BFA-A6E9-C4E73EFA3735}"/>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2427" name="Line 19">
              <a:extLst>
                <a:ext uri="{FF2B5EF4-FFF2-40B4-BE49-F238E27FC236}">
                  <a16:creationId xmlns:a16="http://schemas.microsoft.com/office/drawing/2014/main" id="{1AAFE224-519B-466E-8AC4-E8563D403E68}"/>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2428" name="Line 20">
              <a:extLst>
                <a:ext uri="{FF2B5EF4-FFF2-40B4-BE49-F238E27FC236}">
                  <a16:creationId xmlns:a16="http://schemas.microsoft.com/office/drawing/2014/main" id="{74D2E0B7-0FFC-4607-ADFA-878CA925A2EC}"/>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2429" name="Text Box 21">
              <a:extLst>
                <a:ext uri="{FF2B5EF4-FFF2-40B4-BE49-F238E27FC236}">
                  <a16:creationId xmlns:a16="http://schemas.microsoft.com/office/drawing/2014/main" id="{5B2422B3-B8AB-44C2-9D35-B545FDD39173}"/>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2">
            <a:extLst>
              <a:ext uri="{FF2B5EF4-FFF2-40B4-BE49-F238E27FC236}">
                <a16:creationId xmlns:a16="http://schemas.microsoft.com/office/drawing/2014/main" id="{A31201E2-2FDD-453F-ACDA-4AF075621A3C}"/>
              </a:ext>
            </a:extLst>
          </p:cNvPr>
          <p:cNvGrpSpPr>
            <a:grpSpLocks/>
          </p:cNvGrpSpPr>
          <p:nvPr/>
        </p:nvGrpSpPr>
        <p:grpSpPr bwMode="auto">
          <a:xfrm>
            <a:off x="5665788" y="1854200"/>
            <a:ext cx="2486025" cy="2901950"/>
            <a:chOff x="3569" y="1168"/>
            <a:chExt cx="1566" cy="1828"/>
          </a:xfrm>
        </p:grpSpPr>
        <p:sp>
          <p:nvSpPr>
            <p:cNvPr id="102423" name="Line 23">
              <a:extLst>
                <a:ext uri="{FF2B5EF4-FFF2-40B4-BE49-F238E27FC236}">
                  <a16:creationId xmlns:a16="http://schemas.microsoft.com/office/drawing/2014/main" id="{4DCD6581-F255-4684-9E5A-57DA32D76E1A}"/>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24" name="Text Box 24">
              <a:extLst>
                <a:ext uri="{FF2B5EF4-FFF2-40B4-BE49-F238E27FC236}">
                  <a16:creationId xmlns:a16="http://schemas.microsoft.com/office/drawing/2014/main" id="{115872C5-6E0D-4B1A-919E-694B5329C05A}"/>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224281" name="Line 25">
            <a:extLst>
              <a:ext uri="{FF2B5EF4-FFF2-40B4-BE49-F238E27FC236}">
                <a16:creationId xmlns:a16="http://schemas.microsoft.com/office/drawing/2014/main" id="{9D155507-4D8A-49C6-B0F6-C46969D606AB}"/>
              </a:ext>
            </a:extLst>
          </p:cNvPr>
          <p:cNvSpPr>
            <a:spLocks noChangeShapeType="1"/>
          </p:cNvSpPr>
          <p:nvPr/>
        </p:nvSpPr>
        <p:spPr bwMode="auto">
          <a:xfrm>
            <a:off x="4787900" y="2192338"/>
            <a:ext cx="1068388"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nvGrpSpPr>
          <p:cNvPr id="8" name="Group 36">
            <a:extLst>
              <a:ext uri="{FF2B5EF4-FFF2-40B4-BE49-F238E27FC236}">
                <a16:creationId xmlns:a16="http://schemas.microsoft.com/office/drawing/2014/main" id="{030DDA2B-7541-4D08-8B92-54B729751ADF}"/>
              </a:ext>
            </a:extLst>
          </p:cNvPr>
          <p:cNvGrpSpPr>
            <a:grpSpLocks/>
          </p:cNvGrpSpPr>
          <p:nvPr/>
        </p:nvGrpSpPr>
        <p:grpSpPr bwMode="auto">
          <a:xfrm>
            <a:off x="3775075" y="2252663"/>
            <a:ext cx="2598738" cy="3219450"/>
            <a:chOff x="2378" y="1419"/>
            <a:chExt cx="1637" cy="2028"/>
          </a:xfrm>
        </p:grpSpPr>
        <p:sp>
          <p:nvSpPr>
            <p:cNvPr id="102418" name="Text Box 26">
              <a:extLst>
                <a:ext uri="{FF2B5EF4-FFF2-40B4-BE49-F238E27FC236}">
                  <a16:creationId xmlns:a16="http://schemas.microsoft.com/office/drawing/2014/main" id="{97A0268F-CCDB-4B7C-9B5F-D60A03B0289C}"/>
                </a:ext>
              </a:extLst>
            </p:cNvPr>
            <p:cNvSpPr txBox="1">
              <a:spLocks noChangeArrowheads="1"/>
            </p:cNvSpPr>
            <p:nvPr/>
          </p:nvSpPr>
          <p:spPr bwMode="auto">
            <a:xfrm>
              <a:off x="2378" y="1419"/>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02419" name="Oval 27">
              <a:extLst>
                <a:ext uri="{FF2B5EF4-FFF2-40B4-BE49-F238E27FC236}">
                  <a16:creationId xmlns:a16="http://schemas.microsoft.com/office/drawing/2014/main" id="{4CE9632E-90B5-438E-B9CF-14AB0DE09CAA}"/>
                </a:ext>
              </a:extLst>
            </p:cNvPr>
            <p:cNvSpPr>
              <a:spLocks noChangeArrowheads="1"/>
            </p:cNvSpPr>
            <p:nvPr/>
          </p:nvSpPr>
          <p:spPr bwMode="auto">
            <a:xfrm>
              <a:off x="3818" y="148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2420" name="Text Box 28">
              <a:extLst>
                <a:ext uri="{FF2B5EF4-FFF2-40B4-BE49-F238E27FC236}">
                  <a16:creationId xmlns:a16="http://schemas.microsoft.com/office/drawing/2014/main" id="{6DEEF7A6-48E1-43AC-B002-35EC1AE31972}"/>
                </a:ext>
              </a:extLst>
            </p:cNvPr>
            <p:cNvSpPr txBox="1">
              <a:spLocks noChangeArrowheads="1"/>
            </p:cNvSpPr>
            <p:nvPr/>
          </p:nvSpPr>
          <p:spPr bwMode="auto">
            <a:xfrm>
              <a:off x="3707" y="3217"/>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02421" name="Line 29">
              <a:extLst>
                <a:ext uri="{FF2B5EF4-FFF2-40B4-BE49-F238E27FC236}">
                  <a16:creationId xmlns:a16="http://schemas.microsoft.com/office/drawing/2014/main" id="{64687B38-09EA-44E4-8260-616D3DFBE785}"/>
                </a:ext>
              </a:extLst>
            </p:cNvPr>
            <p:cNvSpPr>
              <a:spLocks noChangeShapeType="1"/>
            </p:cNvSpPr>
            <p:nvPr/>
          </p:nvSpPr>
          <p:spPr bwMode="auto">
            <a:xfrm flipH="1">
              <a:off x="2700" y="1535"/>
              <a:ext cx="116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2422" name="Line 30">
              <a:extLst>
                <a:ext uri="{FF2B5EF4-FFF2-40B4-BE49-F238E27FC236}">
                  <a16:creationId xmlns:a16="http://schemas.microsoft.com/office/drawing/2014/main" id="{D1E13E1E-E98C-4D15-ABC6-9A0AFE455F01}"/>
                </a:ext>
              </a:extLst>
            </p:cNvPr>
            <p:cNvSpPr>
              <a:spLocks noChangeShapeType="1"/>
            </p:cNvSpPr>
            <p:nvPr/>
          </p:nvSpPr>
          <p:spPr bwMode="auto">
            <a:xfrm>
              <a:off x="3862" y="1535"/>
              <a:ext cx="0" cy="166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4289" name="Text Box 33">
            <a:extLst>
              <a:ext uri="{FF2B5EF4-FFF2-40B4-BE49-F238E27FC236}">
                <a16:creationId xmlns:a16="http://schemas.microsoft.com/office/drawing/2014/main" id="{1A3A5B1F-5A79-4C4A-94CB-CC71B360E8BA}"/>
              </a:ext>
            </a:extLst>
          </p:cNvPr>
          <p:cNvSpPr txBox="1">
            <a:spLocks noChangeArrowheads="1"/>
          </p:cNvSpPr>
          <p:nvPr/>
        </p:nvSpPr>
        <p:spPr bwMode="auto">
          <a:xfrm>
            <a:off x="454025" y="4076700"/>
            <a:ext cx="3078163"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rgbClr val="00B85C"/>
              </a:buClr>
              <a:buFont typeface="Wingdings" panose="05000000000000000000" pitchFamily="2" charset="2"/>
              <a:buNone/>
            </a:pPr>
            <a:r>
              <a:rPr lang="en-US" altLang="en-US" sz="2300" b="1">
                <a:cs typeface="Arial" panose="020B0604020202020204" pitchFamily="34" charset="0"/>
              </a:rPr>
              <a:t>STEP 3:  </a:t>
            </a:r>
          </a:p>
          <a:p>
            <a:pPr eaLnBrk="1" hangingPunct="1">
              <a:spcBef>
                <a:spcPct val="20000"/>
              </a:spcBef>
              <a:buClr>
                <a:srgbClr val="00B85C"/>
              </a:buClr>
              <a:buFont typeface="Wingdings" panose="05000000000000000000" pitchFamily="2" charset="2"/>
              <a:buNone/>
            </a:pPr>
            <a:r>
              <a:rPr lang="en-US" altLang="en-US" sz="2500">
                <a:cs typeface="Arial" panose="020B0604020202020204" pitchFamily="34" charset="0"/>
              </a:rPr>
              <a:t>The shift causes an increase in price </a:t>
            </a:r>
            <a:br>
              <a:rPr lang="en-US" altLang="en-US" sz="2500">
                <a:cs typeface="Arial" panose="020B0604020202020204" pitchFamily="34" charset="0"/>
              </a:rPr>
            </a:br>
            <a:r>
              <a:rPr lang="en-US" altLang="en-US" sz="2500">
                <a:cs typeface="Arial" panose="020B0604020202020204" pitchFamily="34" charset="0"/>
              </a:rPr>
              <a:t>and quantity of hybrid cars.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Effect transition="in" filter="wipe(left)">
                                      <p:cBhvr>
                                        <p:cTn id="7" dur="500"/>
                                        <p:tgtEl>
                                          <p:spTgt spid="224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4287">
                                            <p:txEl>
                                              <p:pRg st="0" end="0"/>
                                            </p:txEl>
                                          </p:spTgt>
                                        </p:tgtEl>
                                        <p:attrNameLst>
                                          <p:attrName>style.visibility</p:attrName>
                                        </p:attrNameLst>
                                      </p:cBhvr>
                                      <p:to>
                                        <p:strVal val="visible"/>
                                      </p:to>
                                    </p:set>
                                    <p:animEffect transition="in" filter="wipe(left)">
                                      <p:cBhvr>
                                        <p:cTn id="12" dur="500"/>
                                        <p:tgtEl>
                                          <p:spTgt spid="22428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4287">
                                            <p:txEl>
                                              <p:pRg st="1" end="1"/>
                                            </p:txEl>
                                          </p:spTgt>
                                        </p:tgtEl>
                                        <p:attrNameLst>
                                          <p:attrName>style.visibility</p:attrName>
                                        </p:attrNameLst>
                                      </p:cBhvr>
                                      <p:to>
                                        <p:strVal val="visible"/>
                                      </p:to>
                                    </p:set>
                                    <p:animEffect transition="in" filter="wipe(left)">
                                      <p:cBhvr>
                                        <p:cTn id="17" dur="500"/>
                                        <p:tgtEl>
                                          <p:spTgt spid="22428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4287">
                                            <p:txEl>
                                              <p:pRg st="2" end="2"/>
                                            </p:txEl>
                                          </p:spTgt>
                                        </p:tgtEl>
                                        <p:attrNameLst>
                                          <p:attrName>style.visibility</p:attrName>
                                        </p:attrNameLst>
                                      </p:cBhvr>
                                      <p:to>
                                        <p:strVal val="visible"/>
                                      </p:to>
                                    </p:set>
                                    <p:animEffect transition="in" filter="wipe(left)">
                                      <p:cBhvr>
                                        <p:cTn id="22" dur="500"/>
                                        <p:tgtEl>
                                          <p:spTgt spid="22428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4290"/>
                                        </p:tgtEl>
                                        <p:attrNameLst>
                                          <p:attrName>style.visibility</p:attrName>
                                        </p:attrNameLst>
                                      </p:cBhvr>
                                      <p:to>
                                        <p:strVal val="visible"/>
                                      </p:to>
                                    </p:set>
                                    <p:animEffect transition="in" filter="dissolve">
                                      <p:cBhvr>
                                        <p:cTn id="27" dur="500"/>
                                        <p:tgtEl>
                                          <p:spTgt spid="2242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4288">
                                            <p:txEl>
                                              <p:pRg st="0" end="0"/>
                                            </p:txEl>
                                          </p:spTgt>
                                        </p:tgtEl>
                                        <p:attrNameLst>
                                          <p:attrName>style.visibility</p:attrName>
                                        </p:attrNameLst>
                                      </p:cBhvr>
                                      <p:to>
                                        <p:strVal val="visible"/>
                                      </p:to>
                                    </p:set>
                                    <p:animEffect transition="in" filter="wipe(left)">
                                      <p:cBhvr>
                                        <p:cTn id="32" dur="500"/>
                                        <p:tgtEl>
                                          <p:spTgt spid="224288">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4288">
                                            <p:txEl>
                                              <p:pRg st="1" end="1"/>
                                            </p:txEl>
                                          </p:spTgt>
                                        </p:tgtEl>
                                        <p:attrNameLst>
                                          <p:attrName>style.visibility</p:attrName>
                                        </p:attrNameLst>
                                      </p:cBhvr>
                                      <p:to>
                                        <p:strVal val="visible"/>
                                      </p:to>
                                    </p:set>
                                    <p:animEffect transition="in" filter="wipe(left)">
                                      <p:cBhvr>
                                        <p:cTn id="37" dur="500"/>
                                        <p:tgtEl>
                                          <p:spTgt spid="224288">
                                            <p:txEl>
                                              <p:pRg st="1" end="1"/>
                                            </p:txEl>
                                          </p:spTgt>
                                        </p:tgtEl>
                                      </p:cBhvr>
                                    </p:animEffect>
                                  </p:childTnLst>
                                </p:cTn>
                              </p:par>
                            </p:childTnLst>
                          </p:cTn>
                        </p:par>
                        <p:par>
                          <p:cTn id="38" fill="hold" nodeType="afterGroup">
                            <p:stCondLst>
                              <p:cond delay="500"/>
                            </p:stCondLst>
                            <p:childTnLst>
                              <p:par>
                                <p:cTn id="39" presetID="17" presetClass="entr" presetSubtype="8" fill="hold" nodeType="afterEffect">
                                  <p:stCondLst>
                                    <p:cond delay="0"/>
                                  </p:stCondLst>
                                  <p:childTnLst>
                                    <p:set>
                                      <p:cBhvr>
                                        <p:cTn id="40" dur="1" fill="hold">
                                          <p:stCondLst>
                                            <p:cond delay="0"/>
                                          </p:stCondLst>
                                        </p:cTn>
                                        <p:tgtEl>
                                          <p:spTgt spid="224281"/>
                                        </p:tgtEl>
                                        <p:attrNameLst>
                                          <p:attrName>style.visibility</p:attrName>
                                        </p:attrNameLst>
                                      </p:cBhvr>
                                      <p:to>
                                        <p:strVal val="visible"/>
                                      </p:to>
                                    </p:set>
                                    <p:anim calcmode="lin" valueType="num">
                                      <p:cBhvr>
                                        <p:cTn id="41" dur="500" fill="hold"/>
                                        <p:tgtEl>
                                          <p:spTgt spid="224281"/>
                                        </p:tgtEl>
                                        <p:attrNameLst>
                                          <p:attrName>ppt_x</p:attrName>
                                        </p:attrNameLst>
                                      </p:cBhvr>
                                      <p:tavLst>
                                        <p:tav tm="0">
                                          <p:val>
                                            <p:strVal val="#ppt_x-#ppt_w/2"/>
                                          </p:val>
                                        </p:tav>
                                        <p:tav tm="100000">
                                          <p:val>
                                            <p:strVal val="#ppt_x"/>
                                          </p:val>
                                        </p:tav>
                                      </p:tavLst>
                                    </p:anim>
                                    <p:anim calcmode="lin" valueType="num">
                                      <p:cBhvr>
                                        <p:cTn id="42" dur="500" fill="hold"/>
                                        <p:tgtEl>
                                          <p:spTgt spid="224281"/>
                                        </p:tgtEl>
                                        <p:attrNameLst>
                                          <p:attrName>ppt_y</p:attrName>
                                        </p:attrNameLst>
                                      </p:cBhvr>
                                      <p:tavLst>
                                        <p:tav tm="0">
                                          <p:val>
                                            <p:strVal val="#ppt_y"/>
                                          </p:val>
                                        </p:tav>
                                        <p:tav tm="100000">
                                          <p:val>
                                            <p:strVal val="#ppt_y"/>
                                          </p:val>
                                        </p:tav>
                                      </p:tavLst>
                                    </p:anim>
                                    <p:anim calcmode="lin" valueType="num">
                                      <p:cBhvr>
                                        <p:cTn id="43" dur="500" fill="hold"/>
                                        <p:tgtEl>
                                          <p:spTgt spid="224281"/>
                                        </p:tgtEl>
                                        <p:attrNameLst>
                                          <p:attrName>ppt_w</p:attrName>
                                        </p:attrNameLst>
                                      </p:cBhvr>
                                      <p:tavLst>
                                        <p:tav tm="0">
                                          <p:val>
                                            <p:fltVal val="0"/>
                                          </p:val>
                                        </p:tav>
                                        <p:tav tm="100000">
                                          <p:val>
                                            <p:strVal val="#ppt_w"/>
                                          </p:val>
                                        </p:tav>
                                      </p:tavLst>
                                    </p:anim>
                                    <p:anim calcmode="lin" valueType="num">
                                      <p:cBhvr>
                                        <p:cTn id="44" dur="500" fill="hold"/>
                                        <p:tgtEl>
                                          <p:spTgt spid="224281"/>
                                        </p:tgtEl>
                                        <p:attrNameLst>
                                          <p:attrName>ppt_h</p:attrName>
                                        </p:attrNameLst>
                                      </p:cBhvr>
                                      <p:tavLst>
                                        <p:tav tm="0">
                                          <p:val>
                                            <p:strVal val="#ppt_h"/>
                                          </p:val>
                                        </p:tav>
                                        <p:tav tm="100000">
                                          <p:val>
                                            <p:strVal val="#ppt_h"/>
                                          </p:val>
                                        </p:tav>
                                      </p:tavLst>
                                    </p:anim>
                                  </p:childTnLst>
                                </p:cTn>
                              </p:par>
                            </p:childTnLst>
                          </p:cTn>
                        </p:par>
                        <p:par>
                          <p:cTn id="45" fill="hold" nodeType="afterGroup">
                            <p:stCondLst>
                              <p:cond delay="1000"/>
                            </p:stCondLst>
                            <p:childTnLst>
                              <p:par>
                                <p:cTn id="46" presetID="18" presetClass="entr" presetSubtype="6" fill="hold"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strips(downRight)">
                                      <p:cBhvr>
                                        <p:cTn id="48" dur="500"/>
                                        <p:tgtEl>
                                          <p:spTgt spid="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224291"/>
                                        </p:tgtEl>
                                        <p:attrNameLst>
                                          <p:attrName>style.visibility</p:attrName>
                                        </p:attrNameLst>
                                      </p:cBhvr>
                                      <p:to>
                                        <p:strVal val="visible"/>
                                      </p:to>
                                    </p:set>
                                    <p:animEffect transition="in" filter="dissolve">
                                      <p:cBhvr>
                                        <p:cTn id="53" dur="500"/>
                                        <p:tgtEl>
                                          <p:spTgt spid="224291"/>
                                        </p:tgtEl>
                                      </p:cBhvr>
                                    </p:animEffect>
                                  </p:childTnLst>
                                </p:cTn>
                              </p:par>
                              <p:par>
                                <p:cTn id="54" presetID="9" presetClass="exit" presetSubtype="0" fill="hold" nodeType="withEffect">
                                  <p:stCondLst>
                                    <p:cond delay="0"/>
                                  </p:stCondLst>
                                  <p:childTnLst>
                                    <p:animEffect transition="out" filter="dissolve">
                                      <p:cBhvr>
                                        <p:cTn id="55" dur="500"/>
                                        <p:tgtEl>
                                          <p:spTgt spid="224281"/>
                                        </p:tgtEl>
                                      </p:cBhvr>
                                    </p:animEffect>
                                    <p:set>
                                      <p:cBhvr>
                                        <p:cTn id="56" dur="1" fill="hold">
                                          <p:stCondLst>
                                            <p:cond delay="499"/>
                                          </p:stCondLst>
                                        </p:cTn>
                                        <p:tgtEl>
                                          <p:spTgt spid="224281"/>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24289">
                                            <p:txEl>
                                              <p:pRg st="0" end="0"/>
                                            </p:txEl>
                                          </p:spTgt>
                                        </p:tgtEl>
                                        <p:attrNameLst>
                                          <p:attrName>style.visibility</p:attrName>
                                        </p:attrNameLst>
                                      </p:cBhvr>
                                      <p:to>
                                        <p:strVal val="visible"/>
                                      </p:to>
                                    </p:set>
                                    <p:animEffect transition="in" filter="wipe(left)">
                                      <p:cBhvr>
                                        <p:cTn id="61" dur="500"/>
                                        <p:tgtEl>
                                          <p:spTgt spid="224289">
                                            <p:txEl>
                                              <p:pRg st="0" end="0"/>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4289">
                                            <p:txEl>
                                              <p:pRg st="1" end="1"/>
                                            </p:txEl>
                                          </p:spTgt>
                                        </p:tgtEl>
                                        <p:attrNameLst>
                                          <p:attrName>style.visibility</p:attrName>
                                        </p:attrNameLst>
                                      </p:cBhvr>
                                      <p:to>
                                        <p:strVal val="visible"/>
                                      </p:to>
                                    </p:set>
                                    <p:animEffect transition="in" filter="wipe(left)">
                                      <p:cBhvr>
                                        <p:cTn id="66" dur="500"/>
                                        <p:tgtEl>
                                          <p:spTgt spid="224289">
                                            <p:txEl>
                                              <p:pRg st="1" end="1"/>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8" presetClass="entr" presetSubtype="12" fill="hold" nodeType="click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strips(downLeft)">
                                      <p:cBhvr>
                                        <p:cTn id="7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87" grpId="0" build="p"/>
      <p:bldP spid="224290" grpId="0" animBg="1"/>
      <p:bldP spid="224288" grpId="0" build="p"/>
      <p:bldP spid="224291" grpId="0" animBg="1"/>
      <p:bldP spid="224259" grpId="0" build="p" bldLvl="5"/>
      <p:bldP spid="224289"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Footer Placeholder 1">
            <a:extLst>
              <a:ext uri="{FF2B5EF4-FFF2-40B4-BE49-F238E27FC236}">
                <a16:creationId xmlns:a16="http://schemas.microsoft.com/office/drawing/2014/main" id="{41BA7AF8-2061-4E76-8A59-F267430D61E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4451" name="Slide Number Placeholder 2">
            <a:extLst>
              <a:ext uri="{FF2B5EF4-FFF2-40B4-BE49-F238E27FC236}">
                <a16:creationId xmlns:a16="http://schemas.microsoft.com/office/drawing/2014/main" id="{58369046-E4C2-48FA-ADFE-A5E5F40900E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D5EFA5-630A-4C2F-80A7-801E8B3CABED}" type="slidenum">
              <a:rPr lang="en-US" altLang="en-US">
                <a:solidFill>
                  <a:srgbClr val="777777"/>
                </a:solidFill>
                <a:latin typeface="Tahoma" panose="020B0604030504040204" pitchFamily="34" charset="0"/>
              </a:rPr>
              <a:pPr/>
              <a:t>49</a:t>
            </a:fld>
            <a:endParaRPr lang="en-US" altLang="en-US">
              <a:solidFill>
                <a:srgbClr val="777777"/>
              </a:solidFill>
              <a:latin typeface="Tahoma" panose="020B0604030504040204" pitchFamily="34" charset="0"/>
            </a:endParaRPr>
          </a:p>
        </p:txBody>
      </p:sp>
      <p:sp>
        <p:nvSpPr>
          <p:cNvPr id="104452" name="Rectangle 2">
            <a:extLst>
              <a:ext uri="{FF2B5EF4-FFF2-40B4-BE49-F238E27FC236}">
                <a16:creationId xmlns:a16="http://schemas.microsoft.com/office/drawing/2014/main" id="{18E9D574-F9A9-40F3-BCDC-18197272A419}"/>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1:  </a:t>
            </a:r>
            <a:r>
              <a:rPr lang="en-US" altLang="en-US" sz="3200"/>
              <a:t>	</a:t>
            </a:r>
            <a:r>
              <a:rPr lang="en-US" altLang="en-US" sz="3400"/>
              <a:t>A Shift in Demand</a:t>
            </a:r>
            <a:br>
              <a:rPr lang="en-US" altLang="en-US" sz="3400"/>
            </a:br>
            <a:endParaRPr lang="en-US" altLang="en-US" sz="3400"/>
          </a:p>
        </p:txBody>
      </p:sp>
      <p:grpSp>
        <p:nvGrpSpPr>
          <p:cNvPr id="104453" name="Group 4">
            <a:extLst>
              <a:ext uri="{FF2B5EF4-FFF2-40B4-BE49-F238E27FC236}">
                <a16:creationId xmlns:a16="http://schemas.microsoft.com/office/drawing/2014/main" id="{607BE89E-0B1F-423B-B842-88619A2CCC38}"/>
              </a:ext>
            </a:extLst>
          </p:cNvPr>
          <p:cNvGrpSpPr>
            <a:grpSpLocks/>
          </p:cNvGrpSpPr>
          <p:nvPr/>
        </p:nvGrpSpPr>
        <p:grpSpPr bwMode="auto">
          <a:xfrm>
            <a:off x="4094163" y="1179513"/>
            <a:ext cx="4422775" cy="4106862"/>
            <a:chOff x="2579" y="785"/>
            <a:chExt cx="2786" cy="2420"/>
          </a:xfrm>
        </p:grpSpPr>
        <p:grpSp>
          <p:nvGrpSpPr>
            <p:cNvPr id="104476" name="Group 5">
              <a:extLst>
                <a:ext uri="{FF2B5EF4-FFF2-40B4-BE49-F238E27FC236}">
                  <a16:creationId xmlns:a16="http://schemas.microsoft.com/office/drawing/2014/main" id="{F68E3132-9EC5-4A89-AF16-C2BF7A922C52}"/>
                </a:ext>
              </a:extLst>
            </p:cNvPr>
            <p:cNvGrpSpPr>
              <a:grpSpLocks/>
            </p:cNvGrpSpPr>
            <p:nvPr/>
          </p:nvGrpSpPr>
          <p:grpSpPr bwMode="auto">
            <a:xfrm>
              <a:off x="2697" y="1037"/>
              <a:ext cx="2409" cy="2049"/>
              <a:chOff x="1098" y="1361"/>
              <a:chExt cx="2116" cy="2027"/>
            </a:xfrm>
          </p:grpSpPr>
          <p:sp>
            <p:nvSpPr>
              <p:cNvPr id="104479" name="Line 6">
                <a:extLst>
                  <a:ext uri="{FF2B5EF4-FFF2-40B4-BE49-F238E27FC236}">
                    <a16:creationId xmlns:a16="http://schemas.microsoft.com/office/drawing/2014/main" id="{BC909F76-333B-4CB9-B8D8-A10E90AB54FB}"/>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0" name="Line 7">
                <a:extLst>
                  <a:ext uri="{FF2B5EF4-FFF2-40B4-BE49-F238E27FC236}">
                    <a16:creationId xmlns:a16="http://schemas.microsoft.com/office/drawing/2014/main" id="{9452B3B1-F59F-4012-AB18-FA7574FE30BE}"/>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477" name="Text Box 8">
              <a:extLst>
                <a:ext uri="{FF2B5EF4-FFF2-40B4-BE49-F238E27FC236}">
                  <a16:creationId xmlns:a16="http://schemas.microsoft.com/office/drawing/2014/main" id="{D9EA1CAF-30E0-407A-A19A-EAD27CB74426}"/>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04478" name="Text Box 9">
              <a:extLst>
                <a:ext uri="{FF2B5EF4-FFF2-40B4-BE49-F238E27FC236}">
                  <a16:creationId xmlns:a16="http://schemas.microsoft.com/office/drawing/2014/main" id="{7B6135B0-BC99-4EB2-A388-061AF7BCCE10}"/>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04454" name="Group 10">
            <a:extLst>
              <a:ext uri="{FF2B5EF4-FFF2-40B4-BE49-F238E27FC236}">
                <a16:creationId xmlns:a16="http://schemas.microsoft.com/office/drawing/2014/main" id="{14C681C4-46D0-4197-8A8D-E695A8364430}"/>
              </a:ext>
            </a:extLst>
          </p:cNvPr>
          <p:cNvGrpSpPr>
            <a:grpSpLocks/>
          </p:cNvGrpSpPr>
          <p:nvPr/>
        </p:nvGrpSpPr>
        <p:grpSpPr bwMode="auto">
          <a:xfrm>
            <a:off x="4524375" y="1957388"/>
            <a:ext cx="2486025" cy="2901950"/>
            <a:chOff x="2850" y="1233"/>
            <a:chExt cx="1566" cy="1828"/>
          </a:xfrm>
        </p:grpSpPr>
        <p:sp>
          <p:nvSpPr>
            <p:cNvPr id="104474" name="Line 11">
              <a:extLst>
                <a:ext uri="{FF2B5EF4-FFF2-40B4-BE49-F238E27FC236}">
                  <a16:creationId xmlns:a16="http://schemas.microsoft.com/office/drawing/2014/main" id="{7AB1AB76-F370-42AC-B4D1-189D43143BC8}"/>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5" name="Text Box 12">
              <a:extLst>
                <a:ext uri="{FF2B5EF4-FFF2-40B4-BE49-F238E27FC236}">
                  <a16:creationId xmlns:a16="http://schemas.microsoft.com/office/drawing/2014/main" id="{71FB95A5-8702-4D91-8B9A-0503979ADB66}"/>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04455" name="Group 13">
            <a:extLst>
              <a:ext uri="{FF2B5EF4-FFF2-40B4-BE49-F238E27FC236}">
                <a16:creationId xmlns:a16="http://schemas.microsoft.com/office/drawing/2014/main" id="{F2F441C5-833D-47E3-861C-BAD2C8893EF6}"/>
              </a:ext>
            </a:extLst>
          </p:cNvPr>
          <p:cNvGrpSpPr>
            <a:grpSpLocks/>
          </p:cNvGrpSpPr>
          <p:nvPr/>
        </p:nvGrpSpPr>
        <p:grpSpPr bwMode="auto">
          <a:xfrm>
            <a:off x="4868863" y="1625600"/>
            <a:ext cx="1933575" cy="2901950"/>
            <a:chOff x="3067" y="1024"/>
            <a:chExt cx="1218" cy="1828"/>
          </a:xfrm>
        </p:grpSpPr>
        <p:sp>
          <p:nvSpPr>
            <p:cNvPr id="104472" name="Line 14">
              <a:extLst>
                <a:ext uri="{FF2B5EF4-FFF2-40B4-BE49-F238E27FC236}">
                  <a16:creationId xmlns:a16="http://schemas.microsoft.com/office/drawing/2014/main" id="{A805684C-2D7E-4D49-B899-2F1D43296EA2}"/>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3" name="Text Box 15">
              <a:extLst>
                <a:ext uri="{FF2B5EF4-FFF2-40B4-BE49-F238E27FC236}">
                  <a16:creationId xmlns:a16="http://schemas.microsoft.com/office/drawing/2014/main" id="{B609C12A-3295-472F-B217-0D7DB82B1F7B}"/>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04456" name="Group 16">
            <a:extLst>
              <a:ext uri="{FF2B5EF4-FFF2-40B4-BE49-F238E27FC236}">
                <a16:creationId xmlns:a16="http://schemas.microsoft.com/office/drawing/2014/main" id="{D749ADAE-6C8C-49EB-A6C1-B10EA5114CA4}"/>
              </a:ext>
            </a:extLst>
          </p:cNvPr>
          <p:cNvGrpSpPr>
            <a:grpSpLocks/>
          </p:cNvGrpSpPr>
          <p:nvPr/>
        </p:nvGrpSpPr>
        <p:grpSpPr bwMode="auto">
          <a:xfrm>
            <a:off x="3783013" y="3136900"/>
            <a:ext cx="2060575" cy="2327275"/>
            <a:chOff x="2383" y="1976"/>
            <a:chExt cx="1298" cy="1466"/>
          </a:xfrm>
        </p:grpSpPr>
        <p:sp>
          <p:nvSpPr>
            <p:cNvPr id="104467" name="Text Box 17">
              <a:extLst>
                <a:ext uri="{FF2B5EF4-FFF2-40B4-BE49-F238E27FC236}">
                  <a16:creationId xmlns:a16="http://schemas.microsoft.com/office/drawing/2014/main" id="{BF0D4B36-F3DF-4ABC-9BCB-F189DE24BE56}"/>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04468" name="Oval 18">
              <a:extLst>
                <a:ext uri="{FF2B5EF4-FFF2-40B4-BE49-F238E27FC236}">
                  <a16:creationId xmlns:a16="http://schemas.microsoft.com/office/drawing/2014/main" id="{DC82A184-88F3-4034-AC39-563BD1265B3A}"/>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4469" name="Line 19">
              <a:extLst>
                <a:ext uri="{FF2B5EF4-FFF2-40B4-BE49-F238E27FC236}">
                  <a16:creationId xmlns:a16="http://schemas.microsoft.com/office/drawing/2014/main" id="{F08688E4-A2E4-40B5-89D2-C9AEC8E13624}"/>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470" name="Line 20">
              <a:extLst>
                <a:ext uri="{FF2B5EF4-FFF2-40B4-BE49-F238E27FC236}">
                  <a16:creationId xmlns:a16="http://schemas.microsoft.com/office/drawing/2014/main" id="{48FEA9D3-6925-4C02-84AD-401DBCE1D9F8}"/>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471" name="Text Box 21">
              <a:extLst>
                <a:ext uri="{FF2B5EF4-FFF2-40B4-BE49-F238E27FC236}">
                  <a16:creationId xmlns:a16="http://schemas.microsoft.com/office/drawing/2014/main" id="{3308DCCA-A3DB-428B-9E47-B7C209283881}"/>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104457" name="Group 22">
            <a:extLst>
              <a:ext uri="{FF2B5EF4-FFF2-40B4-BE49-F238E27FC236}">
                <a16:creationId xmlns:a16="http://schemas.microsoft.com/office/drawing/2014/main" id="{1642AE3A-3181-493F-A7D1-6220311FD2F1}"/>
              </a:ext>
            </a:extLst>
          </p:cNvPr>
          <p:cNvGrpSpPr>
            <a:grpSpLocks/>
          </p:cNvGrpSpPr>
          <p:nvPr/>
        </p:nvGrpSpPr>
        <p:grpSpPr bwMode="auto">
          <a:xfrm>
            <a:off x="5665788" y="1854200"/>
            <a:ext cx="2486025" cy="2901950"/>
            <a:chOff x="3569" y="1168"/>
            <a:chExt cx="1566" cy="1828"/>
          </a:xfrm>
        </p:grpSpPr>
        <p:sp>
          <p:nvSpPr>
            <p:cNvPr id="104465" name="Line 23">
              <a:extLst>
                <a:ext uri="{FF2B5EF4-FFF2-40B4-BE49-F238E27FC236}">
                  <a16:creationId xmlns:a16="http://schemas.microsoft.com/office/drawing/2014/main" id="{51F7B01C-7410-4C01-B653-96CF7A0EB12C}"/>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6" name="Text Box 24">
              <a:extLst>
                <a:ext uri="{FF2B5EF4-FFF2-40B4-BE49-F238E27FC236}">
                  <a16:creationId xmlns:a16="http://schemas.microsoft.com/office/drawing/2014/main" id="{81FE2A43-FCBE-4B52-AC73-0D429B5958DD}"/>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104458" name="Text Box 26">
            <a:extLst>
              <a:ext uri="{FF2B5EF4-FFF2-40B4-BE49-F238E27FC236}">
                <a16:creationId xmlns:a16="http://schemas.microsoft.com/office/drawing/2014/main" id="{D4586757-9635-4148-847C-FE41122DFAD6}"/>
              </a:ext>
            </a:extLst>
          </p:cNvPr>
          <p:cNvSpPr txBox="1">
            <a:spLocks noChangeArrowheads="1"/>
          </p:cNvSpPr>
          <p:nvPr/>
        </p:nvSpPr>
        <p:spPr bwMode="auto">
          <a:xfrm>
            <a:off x="3775075" y="2252663"/>
            <a:ext cx="4889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04459" name="Oval 27">
            <a:extLst>
              <a:ext uri="{FF2B5EF4-FFF2-40B4-BE49-F238E27FC236}">
                <a16:creationId xmlns:a16="http://schemas.microsoft.com/office/drawing/2014/main" id="{1AD3AFF8-F48D-4FC3-8B95-23C9DB32CC18}"/>
              </a:ext>
            </a:extLst>
          </p:cNvPr>
          <p:cNvSpPr>
            <a:spLocks noChangeArrowheads="1"/>
          </p:cNvSpPr>
          <p:nvPr/>
        </p:nvSpPr>
        <p:spPr bwMode="auto">
          <a:xfrm>
            <a:off x="6061075" y="2360613"/>
            <a:ext cx="139700" cy="138112"/>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4460" name="Text Box 28">
            <a:extLst>
              <a:ext uri="{FF2B5EF4-FFF2-40B4-BE49-F238E27FC236}">
                <a16:creationId xmlns:a16="http://schemas.microsoft.com/office/drawing/2014/main" id="{040892EA-4229-49F2-8FE6-C60C67260203}"/>
              </a:ext>
            </a:extLst>
          </p:cNvPr>
          <p:cNvSpPr txBox="1">
            <a:spLocks noChangeArrowheads="1"/>
          </p:cNvSpPr>
          <p:nvPr/>
        </p:nvSpPr>
        <p:spPr bwMode="auto">
          <a:xfrm>
            <a:off x="5884863" y="5106988"/>
            <a:ext cx="4889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04461" name="Line 29">
            <a:extLst>
              <a:ext uri="{FF2B5EF4-FFF2-40B4-BE49-F238E27FC236}">
                <a16:creationId xmlns:a16="http://schemas.microsoft.com/office/drawing/2014/main" id="{21146DF2-02BC-4185-8BE3-60DA9AC722E7}"/>
              </a:ext>
            </a:extLst>
          </p:cNvPr>
          <p:cNvSpPr>
            <a:spLocks noChangeShapeType="1"/>
          </p:cNvSpPr>
          <p:nvPr/>
        </p:nvSpPr>
        <p:spPr bwMode="auto">
          <a:xfrm flipH="1">
            <a:off x="4286250" y="2436813"/>
            <a:ext cx="1849438"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462" name="Line 30">
            <a:extLst>
              <a:ext uri="{FF2B5EF4-FFF2-40B4-BE49-F238E27FC236}">
                <a16:creationId xmlns:a16="http://schemas.microsoft.com/office/drawing/2014/main" id="{E38AB044-BF32-4A42-AFAC-AD0A32157BD9}"/>
              </a:ext>
            </a:extLst>
          </p:cNvPr>
          <p:cNvSpPr>
            <a:spLocks noChangeShapeType="1"/>
          </p:cNvSpPr>
          <p:nvPr/>
        </p:nvSpPr>
        <p:spPr bwMode="auto">
          <a:xfrm>
            <a:off x="6130925" y="2436813"/>
            <a:ext cx="0" cy="264318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20191" name="Text Box 31">
            <a:extLst>
              <a:ext uri="{FF2B5EF4-FFF2-40B4-BE49-F238E27FC236}">
                <a16:creationId xmlns:a16="http://schemas.microsoft.com/office/drawing/2014/main" id="{F9445F96-08E0-44C6-8390-47C55D122A5D}"/>
              </a:ext>
            </a:extLst>
          </p:cNvPr>
          <p:cNvSpPr txBox="1">
            <a:spLocks noChangeArrowheads="1"/>
          </p:cNvSpPr>
          <p:nvPr/>
        </p:nvSpPr>
        <p:spPr bwMode="auto">
          <a:xfrm>
            <a:off x="517525" y="1025525"/>
            <a:ext cx="296545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500">
                <a:cs typeface="Arial" panose="020B0604020202020204" pitchFamily="34" charset="0"/>
              </a:rPr>
              <a:t>Notice:  </a:t>
            </a:r>
            <a:br>
              <a:rPr lang="en-US" altLang="en-US" sz="2500">
                <a:cs typeface="Arial" panose="020B0604020202020204" pitchFamily="34" charset="0"/>
              </a:rPr>
            </a:br>
            <a:r>
              <a:rPr lang="en-US" altLang="en-US" sz="2500">
                <a:cs typeface="Arial" panose="020B0604020202020204" pitchFamily="34" charset="0"/>
              </a:rPr>
              <a:t>When </a:t>
            </a:r>
            <a:r>
              <a:rPr lang="en-US" altLang="en-US" sz="2500" b="1" i="1">
                <a:cs typeface="Arial" panose="020B0604020202020204" pitchFamily="34" charset="0"/>
              </a:rPr>
              <a:t>P</a:t>
            </a:r>
            <a:r>
              <a:rPr lang="en-US" altLang="en-US" sz="2500">
                <a:cs typeface="Arial" panose="020B0604020202020204" pitchFamily="34" charset="0"/>
              </a:rPr>
              <a:t> rises, producers supply </a:t>
            </a:r>
            <a:br>
              <a:rPr lang="en-US" altLang="en-US" sz="2500">
                <a:cs typeface="Arial" panose="020B0604020202020204" pitchFamily="34" charset="0"/>
              </a:rPr>
            </a:br>
            <a:r>
              <a:rPr lang="en-US" altLang="en-US" sz="2500">
                <a:cs typeface="Arial" panose="020B0604020202020204" pitchFamily="34" charset="0"/>
              </a:rPr>
              <a:t>a larger quantity </a:t>
            </a:r>
            <a:br>
              <a:rPr lang="en-US" altLang="en-US" sz="2500">
                <a:cs typeface="Arial" panose="020B0604020202020204" pitchFamily="34" charset="0"/>
              </a:rPr>
            </a:br>
            <a:r>
              <a:rPr lang="en-US" altLang="en-US" sz="2500">
                <a:cs typeface="Arial" panose="020B0604020202020204" pitchFamily="34" charset="0"/>
              </a:rPr>
              <a:t>of hybrids, even though the </a:t>
            </a:r>
            <a:r>
              <a:rPr lang="en-US" altLang="en-US" sz="2500" b="1" i="1">
                <a:cs typeface="Arial" panose="020B0604020202020204" pitchFamily="34" charset="0"/>
              </a:rPr>
              <a:t>S</a:t>
            </a:r>
            <a:r>
              <a:rPr lang="en-US" altLang="en-US" sz="2500">
                <a:cs typeface="Arial" panose="020B0604020202020204" pitchFamily="34" charset="0"/>
              </a:rPr>
              <a:t> curve has not shifted. </a:t>
            </a:r>
          </a:p>
        </p:txBody>
      </p:sp>
      <p:sp>
        <p:nvSpPr>
          <p:cNvPr id="220194" name="Text Box 34">
            <a:extLst>
              <a:ext uri="{FF2B5EF4-FFF2-40B4-BE49-F238E27FC236}">
                <a16:creationId xmlns:a16="http://schemas.microsoft.com/office/drawing/2014/main" id="{5B83D7EA-54AB-404E-9190-45500C17D521}"/>
              </a:ext>
            </a:extLst>
          </p:cNvPr>
          <p:cNvSpPr txBox="1">
            <a:spLocks noChangeArrowheads="1"/>
          </p:cNvSpPr>
          <p:nvPr/>
        </p:nvSpPr>
        <p:spPr bwMode="auto">
          <a:xfrm>
            <a:off x="534988" y="4003675"/>
            <a:ext cx="2967037" cy="2193925"/>
          </a:xfrm>
          <a:prstGeom prst="rect">
            <a:avLst/>
          </a:prstGeom>
          <a:solidFill>
            <a:srgbClr val="FFFF99"/>
          </a:solidFill>
          <a:ln w="9525">
            <a:solidFill>
              <a:schemeClr val="tx1"/>
            </a:solidFill>
            <a:miter lim="800000"/>
            <a:headEnd/>
            <a:tailEnd/>
          </a:ln>
          <a:effectLst/>
        </p:spPr>
        <p:txBody>
          <a:bodyPr lIns="137160" tIns="91440" bIns="91440">
            <a:spAutoFit/>
          </a:bodyPr>
          <a:lstStyle/>
          <a:p>
            <a:pPr eaLnBrk="1" hangingPunct="1">
              <a:lnSpc>
                <a:spcPct val="105000"/>
              </a:lnSpc>
              <a:spcBef>
                <a:spcPct val="15000"/>
              </a:spcBef>
              <a:buClr>
                <a:srgbClr val="00B85C"/>
              </a:buClr>
              <a:buSzPct val="120000"/>
              <a:buFont typeface="Wingdings" pitchFamily="2" charset="2"/>
              <a:buNone/>
              <a:defRPr/>
            </a:pPr>
            <a:r>
              <a:rPr lang="en-US" sz="2500" b="1" i="1">
                <a:effectLst>
                  <a:outerShdw blurRad="38100" dist="38100" dir="2700000" algn="tl">
                    <a:srgbClr val="FFFFFF"/>
                  </a:outerShdw>
                </a:effectLst>
                <a:latin typeface="Arial" charset="0"/>
                <a:cs typeface="Arial" charset="0"/>
              </a:rPr>
              <a:t>Always be careful to distinguish b/w a shift in a curve and a movement along the curve. </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0191">
                                            <p:txEl>
                                              <p:pRg st="0" end="0"/>
                                            </p:txEl>
                                          </p:spTgt>
                                        </p:tgtEl>
                                        <p:attrNameLst>
                                          <p:attrName>style.visibility</p:attrName>
                                        </p:attrNameLst>
                                      </p:cBhvr>
                                      <p:to>
                                        <p:strVal val="visible"/>
                                      </p:to>
                                    </p:set>
                                    <p:animEffect transition="in" filter="wipe(left)">
                                      <p:cBhvr>
                                        <p:cTn id="7" dur="500"/>
                                        <p:tgtEl>
                                          <p:spTgt spid="2201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0194"/>
                                        </p:tgtEl>
                                        <p:attrNameLst>
                                          <p:attrName>style.visibility</p:attrName>
                                        </p:attrNameLst>
                                      </p:cBhvr>
                                      <p:to>
                                        <p:strVal val="visible"/>
                                      </p:to>
                                    </p:set>
                                    <p:animEffect transition="in" filter="dissolve">
                                      <p:cBhvr>
                                        <p:cTn id="12" dur="500"/>
                                        <p:tgtEl>
                                          <p:spTgt spid="220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91" grpId="0" build="p"/>
      <p:bldP spid="220194"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EB470A2-B1A3-4F93-8DE2-1DC205E2EB02}"/>
              </a:ext>
            </a:extLst>
          </p:cNvPr>
          <p:cNvSpPr>
            <a:spLocks noGrp="1" noChangeArrowheads="1"/>
          </p:cNvSpPr>
          <p:nvPr>
            <p:ph type="title" idx="4294967295"/>
          </p:nvPr>
        </p:nvSpPr>
        <p:spPr>
          <a:xfrm>
            <a:off x="0" y="130175"/>
            <a:ext cx="9144000" cy="649288"/>
          </a:xfrm>
        </p:spPr>
        <p:txBody>
          <a:bodyPr/>
          <a:lstStyle/>
          <a:p>
            <a:pPr eaLnBrk="1" hangingPunct="1"/>
            <a:r>
              <a:rPr lang="en-US" altLang="en-US" sz="3300"/>
              <a:t>Terms for Shift vs. Movement Along Curve</a:t>
            </a:r>
          </a:p>
        </p:txBody>
      </p:sp>
      <p:sp>
        <p:nvSpPr>
          <p:cNvPr id="221187" name="Rectangle 3">
            <a:extLst>
              <a:ext uri="{FF2B5EF4-FFF2-40B4-BE49-F238E27FC236}">
                <a16:creationId xmlns:a16="http://schemas.microsoft.com/office/drawing/2014/main" id="{8041F3AC-364B-45E7-8479-44566F31EDD6}"/>
              </a:ext>
            </a:extLst>
          </p:cNvPr>
          <p:cNvSpPr>
            <a:spLocks noGrp="1" noChangeArrowheads="1"/>
          </p:cNvSpPr>
          <p:nvPr>
            <p:ph type="body" idx="4294967295"/>
          </p:nvPr>
        </p:nvSpPr>
        <p:spPr>
          <a:xfrm>
            <a:off x="458788" y="757238"/>
            <a:ext cx="8189912" cy="5910262"/>
          </a:xfrm>
        </p:spPr>
        <p:txBody>
          <a:bodyPr/>
          <a:lstStyle/>
          <a:p>
            <a:pPr eaLnBrk="1" hangingPunct="1">
              <a:spcBef>
                <a:spcPct val="10000"/>
              </a:spcBef>
            </a:pPr>
            <a:r>
              <a:rPr lang="en-US" altLang="en-US" sz="2700" b="1">
                <a:solidFill>
                  <a:srgbClr val="CC0000"/>
                </a:solidFill>
              </a:rPr>
              <a:t>Change in supply:</a:t>
            </a:r>
            <a:r>
              <a:rPr lang="en-US" altLang="en-US" sz="2700"/>
              <a:t>  a shift in the </a:t>
            </a:r>
            <a:r>
              <a:rPr lang="en-US" altLang="en-US" sz="2700" b="1" i="1"/>
              <a:t>S</a:t>
            </a:r>
            <a:r>
              <a:rPr lang="en-US" altLang="en-US" sz="2700"/>
              <a:t> curve</a:t>
            </a:r>
          </a:p>
          <a:p>
            <a:pPr eaLnBrk="1" hangingPunct="1">
              <a:spcBef>
                <a:spcPct val="5000"/>
              </a:spcBef>
              <a:buFont typeface="Wingdings" panose="05000000000000000000" pitchFamily="2" charset="2"/>
              <a:buNone/>
            </a:pPr>
            <a:r>
              <a:rPr lang="en-US" altLang="en-US" sz="2700"/>
              <a:t>	occurs when a non-price determinant of supply changes (like technology or costs)</a:t>
            </a:r>
          </a:p>
          <a:p>
            <a:pPr eaLnBrk="1" hangingPunct="1">
              <a:spcBef>
                <a:spcPct val="35000"/>
              </a:spcBef>
            </a:pPr>
            <a:r>
              <a:rPr lang="en-US" altLang="en-US" sz="2700" b="1">
                <a:solidFill>
                  <a:srgbClr val="CC0000"/>
                </a:solidFill>
              </a:rPr>
              <a:t>Change in the quantity supplied:</a:t>
            </a:r>
            <a:r>
              <a:rPr lang="en-US" altLang="en-US" sz="2700"/>
              <a:t> </a:t>
            </a:r>
            <a:br>
              <a:rPr lang="en-US" altLang="en-US" sz="2700"/>
            </a:br>
            <a:r>
              <a:rPr lang="en-US" altLang="en-US" sz="2700"/>
              <a:t>a movement along a fixed </a:t>
            </a:r>
            <a:r>
              <a:rPr lang="en-US" altLang="en-US" sz="2700" b="1" i="1"/>
              <a:t>S</a:t>
            </a:r>
            <a:r>
              <a:rPr lang="en-US" altLang="en-US" sz="2700"/>
              <a:t> curve </a:t>
            </a:r>
          </a:p>
          <a:p>
            <a:pPr eaLnBrk="1" hangingPunct="1">
              <a:spcBef>
                <a:spcPct val="5000"/>
              </a:spcBef>
              <a:buFont typeface="Wingdings" panose="05000000000000000000" pitchFamily="2" charset="2"/>
              <a:buNone/>
            </a:pPr>
            <a:r>
              <a:rPr lang="en-US" altLang="en-US" sz="2700"/>
              <a:t>	occurs when </a:t>
            </a:r>
            <a:r>
              <a:rPr lang="en-US" altLang="en-US" sz="2700" b="1" i="1"/>
              <a:t>P</a:t>
            </a:r>
            <a:r>
              <a:rPr lang="en-US" altLang="en-US" sz="2700"/>
              <a:t> changes  </a:t>
            </a:r>
          </a:p>
          <a:p>
            <a:pPr eaLnBrk="1" hangingPunct="1">
              <a:spcBef>
                <a:spcPct val="35000"/>
              </a:spcBef>
            </a:pPr>
            <a:r>
              <a:rPr lang="en-US" altLang="en-US" sz="2700" b="1">
                <a:solidFill>
                  <a:srgbClr val="CC0000"/>
                </a:solidFill>
              </a:rPr>
              <a:t>Change in demand:</a:t>
            </a:r>
            <a:r>
              <a:rPr lang="en-US" altLang="en-US" sz="2700"/>
              <a:t>  a shift in the </a:t>
            </a:r>
            <a:r>
              <a:rPr lang="en-US" altLang="en-US" sz="2700" b="1" i="1"/>
              <a:t>D</a:t>
            </a:r>
            <a:r>
              <a:rPr lang="en-US" altLang="en-US" sz="2700"/>
              <a:t> curve</a:t>
            </a:r>
          </a:p>
          <a:p>
            <a:pPr eaLnBrk="1" hangingPunct="1">
              <a:spcBef>
                <a:spcPct val="5000"/>
              </a:spcBef>
              <a:buFont typeface="Wingdings" panose="05000000000000000000" pitchFamily="2" charset="2"/>
              <a:buNone/>
            </a:pPr>
            <a:r>
              <a:rPr lang="en-US" altLang="en-US" sz="2700"/>
              <a:t>	occurs when a non-price determinant of demand changes (like income or # of buyers)</a:t>
            </a:r>
          </a:p>
          <a:p>
            <a:pPr eaLnBrk="1" hangingPunct="1">
              <a:spcBef>
                <a:spcPct val="35000"/>
              </a:spcBef>
            </a:pPr>
            <a:r>
              <a:rPr lang="en-US" altLang="en-US" sz="2700" b="1">
                <a:solidFill>
                  <a:srgbClr val="CC0000"/>
                </a:solidFill>
              </a:rPr>
              <a:t>Change in the quantity demanded:</a:t>
            </a:r>
            <a:r>
              <a:rPr lang="en-US" altLang="en-US" sz="2700"/>
              <a:t> </a:t>
            </a:r>
            <a:br>
              <a:rPr lang="en-US" altLang="en-US" sz="2700"/>
            </a:br>
            <a:r>
              <a:rPr lang="en-US" altLang="en-US" sz="2700"/>
              <a:t>a movement along a fixed </a:t>
            </a:r>
            <a:r>
              <a:rPr lang="en-US" altLang="en-US" sz="2700" b="1" i="1"/>
              <a:t>D</a:t>
            </a:r>
            <a:r>
              <a:rPr lang="en-US" altLang="en-US" sz="2700"/>
              <a:t> curve</a:t>
            </a:r>
          </a:p>
          <a:p>
            <a:pPr eaLnBrk="1" hangingPunct="1">
              <a:spcBef>
                <a:spcPct val="5000"/>
              </a:spcBef>
              <a:buFont typeface="Wingdings" panose="05000000000000000000" pitchFamily="2" charset="2"/>
              <a:buNone/>
            </a:pPr>
            <a:r>
              <a:rPr lang="en-US" altLang="en-US" sz="2700"/>
              <a:t>	occurs when </a:t>
            </a:r>
            <a:r>
              <a:rPr lang="en-US" altLang="en-US" sz="2700" b="1" i="1"/>
              <a:t>P</a:t>
            </a:r>
            <a:r>
              <a:rPr lang="en-US" altLang="en-US" sz="2700"/>
              <a:t> changes </a:t>
            </a:r>
          </a:p>
        </p:txBody>
      </p:sp>
      <p:sp>
        <p:nvSpPr>
          <p:cNvPr id="106500" name="Rectangle 4">
            <a:extLst>
              <a:ext uri="{FF2B5EF4-FFF2-40B4-BE49-F238E27FC236}">
                <a16:creationId xmlns:a16="http://schemas.microsoft.com/office/drawing/2014/main" id="{3E95B6F7-5F9F-4EC3-A8FD-364526778BA7}"/>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532FC6F-9B2E-4960-878C-3308459BF102}" type="slidenum">
              <a:rPr lang="en-US" altLang="en-US" sz="1700">
                <a:solidFill>
                  <a:srgbClr val="777777"/>
                </a:solidFill>
                <a:latin typeface="Tahoma" panose="020B0604030504040204" pitchFamily="34" charset="0"/>
              </a:rPr>
              <a:pPr algn="r" eaLnBrk="1" hangingPunct="1"/>
              <a:t>50</a:t>
            </a:fld>
            <a:endParaRPr lang="en-US" altLang="en-US" sz="1700">
              <a:solidFill>
                <a:srgbClr val="777777"/>
              </a:solidFill>
              <a:latin typeface="Tahoma" panose="020B060403050404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Effect transition="in" filter="wipe(left)">
                                      <p:cBhvr>
                                        <p:cTn id="7" dur="500"/>
                                        <p:tgtEl>
                                          <p:spTgt spid="221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1187">
                                            <p:txEl>
                                              <p:pRg st="1" end="1"/>
                                            </p:txEl>
                                          </p:spTgt>
                                        </p:tgtEl>
                                        <p:attrNameLst>
                                          <p:attrName>style.visibility</p:attrName>
                                        </p:attrNameLst>
                                      </p:cBhvr>
                                      <p:to>
                                        <p:strVal val="visible"/>
                                      </p:to>
                                    </p:set>
                                    <p:animEffect transition="in" filter="wipe(left)">
                                      <p:cBhvr>
                                        <p:cTn id="12" dur="500"/>
                                        <p:tgtEl>
                                          <p:spTgt spid="221187">
                                            <p:txEl>
                                              <p:pRg st="1" end="1"/>
                                            </p:txEl>
                                          </p:spTgt>
                                        </p:tgtEl>
                                      </p:cBhvr>
                                    </p:animEffect>
                                  </p:childTnLst>
                                  <p:subTnLst>
                                    <p:animClr clrSpc="rgb" dir="cw">
                                      <p:cBhvr override="childStyle">
                                        <p:cTn dur="1" fill="hold" display="0" masterRel="nextClick" afterEffect="1"/>
                                        <p:tgtEl>
                                          <p:spTgt spid="221187">
                                            <p:txEl>
                                              <p:pRg st="1" end="1"/>
                                            </p:txEl>
                                          </p:spTgt>
                                        </p:tgtEl>
                                        <p:attrNameLst>
                                          <p:attrName>ppt_c</p:attrName>
                                        </p:attrNameLst>
                                      </p:cBhvr>
                                      <p:to>
                                        <a:schemeClr val="bg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1187">
                                            <p:txEl>
                                              <p:pRg st="2" end="2"/>
                                            </p:txEl>
                                          </p:spTgt>
                                        </p:tgtEl>
                                        <p:attrNameLst>
                                          <p:attrName>style.visibility</p:attrName>
                                        </p:attrNameLst>
                                      </p:cBhvr>
                                      <p:to>
                                        <p:strVal val="visible"/>
                                      </p:to>
                                    </p:set>
                                    <p:animEffect transition="in" filter="wipe(left)">
                                      <p:cBhvr>
                                        <p:cTn id="17" dur="500"/>
                                        <p:tgtEl>
                                          <p:spTgt spid="2211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1187">
                                            <p:txEl>
                                              <p:pRg st="3" end="3"/>
                                            </p:txEl>
                                          </p:spTgt>
                                        </p:tgtEl>
                                        <p:attrNameLst>
                                          <p:attrName>style.visibility</p:attrName>
                                        </p:attrNameLst>
                                      </p:cBhvr>
                                      <p:to>
                                        <p:strVal val="visible"/>
                                      </p:to>
                                    </p:set>
                                    <p:animEffect transition="in" filter="wipe(left)">
                                      <p:cBhvr>
                                        <p:cTn id="22" dur="500"/>
                                        <p:tgtEl>
                                          <p:spTgt spid="221187">
                                            <p:txEl>
                                              <p:pRg st="3" end="3"/>
                                            </p:txEl>
                                          </p:spTgt>
                                        </p:tgtEl>
                                      </p:cBhvr>
                                    </p:animEffect>
                                  </p:childTnLst>
                                  <p:subTnLst>
                                    <p:animClr clrSpc="rgb" dir="cw">
                                      <p:cBhvr override="childStyle">
                                        <p:cTn dur="1" fill="hold" display="0" masterRel="nextClick" afterEffect="1"/>
                                        <p:tgtEl>
                                          <p:spTgt spid="221187">
                                            <p:txEl>
                                              <p:pRg st="3" end="3"/>
                                            </p:txEl>
                                          </p:spTgt>
                                        </p:tgtEl>
                                        <p:attrNameLst>
                                          <p:attrName>ppt_c</p:attrName>
                                        </p:attrNameLst>
                                      </p:cBhvr>
                                      <p:to>
                                        <a:schemeClr val="bg2"/>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1187">
                                            <p:txEl>
                                              <p:pRg st="4" end="4"/>
                                            </p:txEl>
                                          </p:spTgt>
                                        </p:tgtEl>
                                        <p:attrNameLst>
                                          <p:attrName>style.visibility</p:attrName>
                                        </p:attrNameLst>
                                      </p:cBhvr>
                                      <p:to>
                                        <p:strVal val="visible"/>
                                      </p:to>
                                    </p:set>
                                    <p:animEffect transition="in" filter="wipe(left)">
                                      <p:cBhvr>
                                        <p:cTn id="27" dur="500"/>
                                        <p:tgtEl>
                                          <p:spTgt spid="2211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1187">
                                            <p:txEl>
                                              <p:pRg st="5" end="5"/>
                                            </p:txEl>
                                          </p:spTgt>
                                        </p:tgtEl>
                                        <p:attrNameLst>
                                          <p:attrName>style.visibility</p:attrName>
                                        </p:attrNameLst>
                                      </p:cBhvr>
                                      <p:to>
                                        <p:strVal val="visible"/>
                                      </p:to>
                                    </p:set>
                                    <p:animEffect transition="in" filter="wipe(left)">
                                      <p:cBhvr>
                                        <p:cTn id="32" dur="500"/>
                                        <p:tgtEl>
                                          <p:spTgt spid="221187">
                                            <p:txEl>
                                              <p:pRg st="5" end="5"/>
                                            </p:txEl>
                                          </p:spTgt>
                                        </p:tgtEl>
                                      </p:cBhvr>
                                    </p:animEffect>
                                  </p:childTnLst>
                                  <p:subTnLst>
                                    <p:animClr clrSpc="rgb" dir="cw">
                                      <p:cBhvr override="childStyle">
                                        <p:cTn dur="1" fill="hold" display="0" masterRel="nextClick" afterEffect="1"/>
                                        <p:tgtEl>
                                          <p:spTgt spid="221187">
                                            <p:txEl>
                                              <p:pRg st="5" end="5"/>
                                            </p:txEl>
                                          </p:spTgt>
                                        </p:tgtEl>
                                        <p:attrNameLst>
                                          <p:attrName>ppt_c</p:attrName>
                                        </p:attrNameLst>
                                      </p:cBhvr>
                                      <p:to>
                                        <a:schemeClr val="bg2"/>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1187">
                                            <p:txEl>
                                              <p:pRg st="6" end="6"/>
                                            </p:txEl>
                                          </p:spTgt>
                                        </p:tgtEl>
                                        <p:attrNameLst>
                                          <p:attrName>style.visibility</p:attrName>
                                        </p:attrNameLst>
                                      </p:cBhvr>
                                      <p:to>
                                        <p:strVal val="visible"/>
                                      </p:to>
                                    </p:set>
                                    <p:animEffect transition="in" filter="wipe(left)">
                                      <p:cBhvr>
                                        <p:cTn id="37" dur="500"/>
                                        <p:tgtEl>
                                          <p:spTgt spid="22118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1187">
                                            <p:txEl>
                                              <p:pRg st="7" end="7"/>
                                            </p:txEl>
                                          </p:spTgt>
                                        </p:tgtEl>
                                        <p:attrNameLst>
                                          <p:attrName>style.visibility</p:attrName>
                                        </p:attrNameLst>
                                      </p:cBhvr>
                                      <p:to>
                                        <p:strVal val="visible"/>
                                      </p:to>
                                    </p:set>
                                    <p:animEffect transition="in" filter="wipe(left)">
                                      <p:cBhvr>
                                        <p:cTn id="42" dur="500"/>
                                        <p:tgtEl>
                                          <p:spTgt spid="2211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bldLvl="5"/>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Footer Placeholder 1">
            <a:extLst>
              <a:ext uri="{FF2B5EF4-FFF2-40B4-BE49-F238E27FC236}">
                <a16:creationId xmlns:a16="http://schemas.microsoft.com/office/drawing/2014/main" id="{2DCBC778-B920-40EF-A72C-E03B579438D8}"/>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8547" name="Slide Number Placeholder 2">
            <a:extLst>
              <a:ext uri="{FF2B5EF4-FFF2-40B4-BE49-F238E27FC236}">
                <a16:creationId xmlns:a16="http://schemas.microsoft.com/office/drawing/2014/main" id="{E5E5BF53-32AD-4EA0-BE9F-F56D275E3B5E}"/>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EC236B-CB6D-4DEF-89F5-DD5F2C60EAB9}" type="slidenum">
              <a:rPr lang="en-US" altLang="en-US">
                <a:solidFill>
                  <a:srgbClr val="777777"/>
                </a:solidFill>
                <a:latin typeface="Tahoma" panose="020B0604030504040204" pitchFamily="34" charset="0"/>
              </a:rPr>
              <a:pPr/>
              <a:t>51</a:t>
            </a:fld>
            <a:endParaRPr lang="en-US" altLang="en-US">
              <a:solidFill>
                <a:srgbClr val="777777"/>
              </a:solidFill>
              <a:latin typeface="Tahoma" panose="020B0604030504040204" pitchFamily="34" charset="0"/>
            </a:endParaRPr>
          </a:p>
        </p:txBody>
      </p:sp>
      <p:sp>
        <p:nvSpPr>
          <p:cNvPr id="210988" name="Text Box 44">
            <a:extLst>
              <a:ext uri="{FF2B5EF4-FFF2-40B4-BE49-F238E27FC236}">
                <a16:creationId xmlns:a16="http://schemas.microsoft.com/office/drawing/2014/main" id="{46FC4F5B-C6D4-4B47-9464-7EBE14D764E9}"/>
              </a:ext>
            </a:extLst>
          </p:cNvPr>
          <p:cNvSpPr txBox="1">
            <a:spLocks noChangeArrowheads="1"/>
          </p:cNvSpPr>
          <p:nvPr/>
        </p:nvSpPr>
        <p:spPr bwMode="auto">
          <a:xfrm>
            <a:off x="438150" y="2182813"/>
            <a:ext cx="3289300"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300" b="1">
                <a:cs typeface="Arial" panose="020B0604020202020204" pitchFamily="34" charset="0"/>
              </a:rPr>
              <a:t>STEP 1:  </a:t>
            </a:r>
          </a:p>
          <a:p>
            <a:pPr eaLnBrk="1" hangingPunct="1">
              <a:spcBef>
                <a:spcPct val="15000"/>
              </a:spcBef>
              <a:buClr>
                <a:srgbClr val="00B85C"/>
              </a:buClr>
              <a:buFont typeface="Wingdings" panose="05000000000000000000" pitchFamily="2" charset="2"/>
              <a:buNone/>
            </a:pPr>
            <a:r>
              <a:rPr lang="en-US" altLang="en-US" sz="2500" b="1" i="1">
                <a:cs typeface="Arial" panose="020B0604020202020204" pitchFamily="34" charset="0"/>
              </a:rPr>
              <a:t>S</a:t>
            </a:r>
            <a:r>
              <a:rPr lang="en-US" altLang="en-US" sz="2500">
                <a:cs typeface="Arial" panose="020B0604020202020204" pitchFamily="34" charset="0"/>
              </a:rPr>
              <a:t> curve shifts </a:t>
            </a:r>
            <a:br>
              <a:rPr lang="en-US" altLang="en-US" sz="2500">
                <a:cs typeface="Arial" panose="020B0604020202020204" pitchFamily="34" charset="0"/>
              </a:rPr>
            </a:br>
            <a:r>
              <a:rPr lang="en-US" altLang="en-US" sz="2500">
                <a:cs typeface="Arial" panose="020B0604020202020204" pitchFamily="34" charset="0"/>
              </a:rPr>
              <a:t>because event affects cost of production. </a:t>
            </a:r>
          </a:p>
          <a:p>
            <a:pPr eaLnBrk="1" hangingPunct="1">
              <a:spcBef>
                <a:spcPct val="15000"/>
              </a:spcBef>
              <a:buClr>
                <a:srgbClr val="00B85C"/>
              </a:buClr>
              <a:buFont typeface="Wingdings" panose="05000000000000000000" pitchFamily="2" charset="2"/>
              <a:buNone/>
            </a:pPr>
            <a:r>
              <a:rPr lang="en-US" altLang="en-US" sz="2500" b="1" i="1">
                <a:cs typeface="Arial" panose="020B0604020202020204" pitchFamily="34" charset="0"/>
              </a:rPr>
              <a:t>D</a:t>
            </a:r>
            <a:r>
              <a:rPr lang="en-US" altLang="en-US" sz="2500">
                <a:cs typeface="Arial" panose="020B0604020202020204" pitchFamily="34" charset="0"/>
              </a:rPr>
              <a:t> curve does not shift, because production technology is not one of the factors that affect demand.</a:t>
            </a:r>
          </a:p>
        </p:txBody>
      </p:sp>
      <p:sp>
        <p:nvSpPr>
          <p:cNvPr id="210991" name="Rectangle 47">
            <a:extLst>
              <a:ext uri="{FF2B5EF4-FFF2-40B4-BE49-F238E27FC236}">
                <a16:creationId xmlns:a16="http://schemas.microsoft.com/office/drawing/2014/main" id="{4006D8D6-0100-4BC1-8CE2-BF7E8E17B7B2}"/>
              </a:ext>
            </a:extLst>
          </p:cNvPr>
          <p:cNvSpPr>
            <a:spLocks noChangeArrowheads="1"/>
          </p:cNvSpPr>
          <p:nvPr/>
        </p:nvSpPr>
        <p:spPr bwMode="auto">
          <a:xfrm>
            <a:off x="423863" y="3089275"/>
            <a:ext cx="3367087" cy="3244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10989" name="Text Box 45">
            <a:extLst>
              <a:ext uri="{FF2B5EF4-FFF2-40B4-BE49-F238E27FC236}">
                <a16:creationId xmlns:a16="http://schemas.microsoft.com/office/drawing/2014/main" id="{5AC8868D-C1C6-459C-8A63-D02B9D76177A}"/>
              </a:ext>
            </a:extLst>
          </p:cNvPr>
          <p:cNvSpPr txBox="1">
            <a:spLocks noChangeArrowheads="1"/>
          </p:cNvSpPr>
          <p:nvPr/>
        </p:nvSpPr>
        <p:spPr bwMode="auto">
          <a:xfrm>
            <a:off x="446088" y="3079750"/>
            <a:ext cx="32004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300" b="1">
                <a:cs typeface="Arial" panose="020B0604020202020204" pitchFamily="34" charset="0"/>
              </a:rPr>
              <a:t>STEP 2:  </a:t>
            </a:r>
          </a:p>
          <a:p>
            <a:pPr eaLnBrk="1" hangingPunct="1">
              <a:spcBef>
                <a:spcPct val="20000"/>
              </a:spcBef>
              <a:buClr>
                <a:srgbClr val="00B85C"/>
              </a:buClr>
              <a:buFont typeface="Wingdings" panose="05000000000000000000" pitchFamily="2" charset="2"/>
              <a:buNone/>
            </a:pPr>
            <a:r>
              <a:rPr lang="en-US" altLang="en-US" sz="2500" b="1" i="1">
                <a:cs typeface="Arial" panose="020B0604020202020204" pitchFamily="34" charset="0"/>
              </a:rPr>
              <a:t>S</a:t>
            </a:r>
            <a:r>
              <a:rPr lang="en-US" altLang="en-US" sz="2500">
                <a:cs typeface="Arial" panose="020B0604020202020204" pitchFamily="34" charset="0"/>
              </a:rPr>
              <a:t> shifts </a:t>
            </a:r>
            <a:r>
              <a:rPr lang="en-US" altLang="en-US" sz="2500" u="sng">
                <a:cs typeface="Arial" panose="020B0604020202020204" pitchFamily="34" charset="0"/>
              </a:rPr>
              <a:t>right</a:t>
            </a:r>
            <a:br>
              <a:rPr lang="en-US" altLang="en-US" sz="2500">
                <a:cs typeface="Arial" panose="020B0604020202020204" pitchFamily="34" charset="0"/>
              </a:rPr>
            </a:br>
            <a:r>
              <a:rPr lang="en-US" altLang="en-US" sz="2500">
                <a:cs typeface="Arial" panose="020B0604020202020204" pitchFamily="34" charset="0"/>
              </a:rPr>
              <a:t>because event reduces cost, </a:t>
            </a:r>
            <a:br>
              <a:rPr lang="en-US" altLang="en-US" sz="2500">
                <a:cs typeface="Arial" panose="020B0604020202020204" pitchFamily="34" charset="0"/>
              </a:rPr>
            </a:br>
            <a:r>
              <a:rPr lang="en-US" altLang="en-US" sz="2500">
                <a:cs typeface="Arial" panose="020B0604020202020204" pitchFamily="34" charset="0"/>
              </a:rPr>
              <a:t>makes production more profitable at any given price. </a:t>
            </a:r>
          </a:p>
        </p:txBody>
      </p:sp>
      <p:sp>
        <p:nvSpPr>
          <p:cNvPr id="210992" name="Rectangle 48">
            <a:extLst>
              <a:ext uri="{FF2B5EF4-FFF2-40B4-BE49-F238E27FC236}">
                <a16:creationId xmlns:a16="http://schemas.microsoft.com/office/drawing/2014/main" id="{26807F68-F8DF-4E3E-BE63-4B28EE1E7E33}"/>
              </a:ext>
            </a:extLst>
          </p:cNvPr>
          <p:cNvSpPr>
            <a:spLocks noChangeArrowheads="1"/>
          </p:cNvSpPr>
          <p:nvPr/>
        </p:nvSpPr>
        <p:spPr bwMode="auto">
          <a:xfrm>
            <a:off x="268288" y="4103688"/>
            <a:ext cx="3121025" cy="2085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8552" name="Rectangle 2">
            <a:extLst>
              <a:ext uri="{FF2B5EF4-FFF2-40B4-BE49-F238E27FC236}">
                <a16:creationId xmlns:a16="http://schemas.microsoft.com/office/drawing/2014/main" id="{FC9E045A-C15D-4D70-B271-5752367C9994}"/>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2:  </a:t>
            </a:r>
            <a:r>
              <a:rPr lang="en-US" altLang="en-US" sz="3200"/>
              <a:t>	</a:t>
            </a:r>
            <a:r>
              <a:rPr lang="en-US" altLang="en-US" sz="3400"/>
              <a:t>A Shift in Supply</a:t>
            </a:r>
            <a:br>
              <a:rPr lang="en-US" altLang="en-US" sz="3400"/>
            </a:br>
            <a:endParaRPr lang="en-US" altLang="en-US" sz="3400"/>
          </a:p>
        </p:txBody>
      </p:sp>
      <p:grpSp>
        <p:nvGrpSpPr>
          <p:cNvPr id="108553" name="Group 4">
            <a:extLst>
              <a:ext uri="{FF2B5EF4-FFF2-40B4-BE49-F238E27FC236}">
                <a16:creationId xmlns:a16="http://schemas.microsoft.com/office/drawing/2014/main" id="{92712F04-09B7-4ECF-8537-36E0E4E36F8F}"/>
              </a:ext>
            </a:extLst>
          </p:cNvPr>
          <p:cNvGrpSpPr>
            <a:grpSpLocks/>
          </p:cNvGrpSpPr>
          <p:nvPr/>
        </p:nvGrpSpPr>
        <p:grpSpPr bwMode="auto">
          <a:xfrm>
            <a:off x="4094163" y="1179513"/>
            <a:ext cx="4422775" cy="4106862"/>
            <a:chOff x="2579" y="785"/>
            <a:chExt cx="2786" cy="2420"/>
          </a:xfrm>
        </p:grpSpPr>
        <p:grpSp>
          <p:nvGrpSpPr>
            <p:cNvPr id="108578" name="Group 5">
              <a:extLst>
                <a:ext uri="{FF2B5EF4-FFF2-40B4-BE49-F238E27FC236}">
                  <a16:creationId xmlns:a16="http://schemas.microsoft.com/office/drawing/2014/main" id="{3A00966E-4C13-47A0-B3DE-1BFC94764AC2}"/>
                </a:ext>
              </a:extLst>
            </p:cNvPr>
            <p:cNvGrpSpPr>
              <a:grpSpLocks/>
            </p:cNvGrpSpPr>
            <p:nvPr/>
          </p:nvGrpSpPr>
          <p:grpSpPr bwMode="auto">
            <a:xfrm>
              <a:off x="2697" y="1037"/>
              <a:ext cx="2409" cy="2049"/>
              <a:chOff x="1098" y="1361"/>
              <a:chExt cx="2116" cy="2027"/>
            </a:xfrm>
          </p:grpSpPr>
          <p:sp>
            <p:nvSpPr>
              <p:cNvPr id="108581" name="Line 6">
                <a:extLst>
                  <a:ext uri="{FF2B5EF4-FFF2-40B4-BE49-F238E27FC236}">
                    <a16:creationId xmlns:a16="http://schemas.microsoft.com/office/drawing/2014/main" id="{8802A1ED-952C-4BFE-B03F-81DB3B3FDD09}"/>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582" name="Line 7">
                <a:extLst>
                  <a:ext uri="{FF2B5EF4-FFF2-40B4-BE49-F238E27FC236}">
                    <a16:creationId xmlns:a16="http://schemas.microsoft.com/office/drawing/2014/main" id="{D7E98BD8-8F60-4173-B737-4678BBD2A0A9}"/>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8579" name="Text Box 8">
              <a:extLst>
                <a:ext uri="{FF2B5EF4-FFF2-40B4-BE49-F238E27FC236}">
                  <a16:creationId xmlns:a16="http://schemas.microsoft.com/office/drawing/2014/main" id="{FA49AF1F-7AAF-49D3-BD05-163F88632655}"/>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08580" name="Text Box 9">
              <a:extLst>
                <a:ext uri="{FF2B5EF4-FFF2-40B4-BE49-F238E27FC236}">
                  <a16:creationId xmlns:a16="http://schemas.microsoft.com/office/drawing/2014/main" id="{3A079DD0-728B-48A7-BF3A-3F49BD4A53B5}"/>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08554" name="Group 10">
            <a:extLst>
              <a:ext uri="{FF2B5EF4-FFF2-40B4-BE49-F238E27FC236}">
                <a16:creationId xmlns:a16="http://schemas.microsoft.com/office/drawing/2014/main" id="{4C445468-3E10-4E60-8944-81F40895B50D}"/>
              </a:ext>
            </a:extLst>
          </p:cNvPr>
          <p:cNvGrpSpPr>
            <a:grpSpLocks/>
          </p:cNvGrpSpPr>
          <p:nvPr/>
        </p:nvGrpSpPr>
        <p:grpSpPr bwMode="auto">
          <a:xfrm>
            <a:off x="4524375" y="1957388"/>
            <a:ext cx="2486025" cy="2901950"/>
            <a:chOff x="2850" y="1233"/>
            <a:chExt cx="1566" cy="1828"/>
          </a:xfrm>
        </p:grpSpPr>
        <p:sp>
          <p:nvSpPr>
            <p:cNvPr id="108576" name="Line 11">
              <a:extLst>
                <a:ext uri="{FF2B5EF4-FFF2-40B4-BE49-F238E27FC236}">
                  <a16:creationId xmlns:a16="http://schemas.microsoft.com/office/drawing/2014/main" id="{E63F4151-A7C2-4252-A810-418C129AD586}"/>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577" name="Text Box 12">
              <a:extLst>
                <a:ext uri="{FF2B5EF4-FFF2-40B4-BE49-F238E27FC236}">
                  <a16:creationId xmlns:a16="http://schemas.microsoft.com/office/drawing/2014/main" id="{D9E3CA93-E978-4757-8956-42584DBDE9F4}"/>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08555" name="Group 13">
            <a:extLst>
              <a:ext uri="{FF2B5EF4-FFF2-40B4-BE49-F238E27FC236}">
                <a16:creationId xmlns:a16="http://schemas.microsoft.com/office/drawing/2014/main" id="{D74DEF42-3761-4373-95AA-D5081F796E71}"/>
              </a:ext>
            </a:extLst>
          </p:cNvPr>
          <p:cNvGrpSpPr>
            <a:grpSpLocks/>
          </p:cNvGrpSpPr>
          <p:nvPr/>
        </p:nvGrpSpPr>
        <p:grpSpPr bwMode="auto">
          <a:xfrm>
            <a:off x="4868863" y="1625600"/>
            <a:ext cx="1933575" cy="2901950"/>
            <a:chOff x="3067" y="1024"/>
            <a:chExt cx="1218" cy="1828"/>
          </a:xfrm>
        </p:grpSpPr>
        <p:sp>
          <p:nvSpPr>
            <p:cNvPr id="108574" name="Line 14">
              <a:extLst>
                <a:ext uri="{FF2B5EF4-FFF2-40B4-BE49-F238E27FC236}">
                  <a16:creationId xmlns:a16="http://schemas.microsoft.com/office/drawing/2014/main" id="{11DF93DF-0DA2-498F-8BD4-B2A2B8C30BC1}"/>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575" name="Text Box 15">
              <a:extLst>
                <a:ext uri="{FF2B5EF4-FFF2-40B4-BE49-F238E27FC236}">
                  <a16:creationId xmlns:a16="http://schemas.microsoft.com/office/drawing/2014/main" id="{585B07B0-CCBA-4643-A963-C1D5C01ADB71}"/>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08556" name="Group 16">
            <a:extLst>
              <a:ext uri="{FF2B5EF4-FFF2-40B4-BE49-F238E27FC236}">
                <a16:creationId xmlns:a16="http://schemas.microsoft.com/office/drawing/2014/main" id="{B42A6102-1F65-42BB-9BF0-8776E287A8E5}"/>
              </a:ext>
            </a:extLst>
          </p:cNvPr>
          <p:cNvGrpSpPr>
            <a:grpSpLocks/>
          </p:cNvGrpSpPr>
          <p:nvPr/>
        </p:nvGrpSpPr>
        <p:grpSpPr bwMode="auto">
          <a:xfrm>
            <a:off x="3783013" y="3136900"/>
            <a:ext cx="2060575" cy="2327275"/>
            <a:chOff x="2383" y="1976"/>
            <a:chExt cx="1298" cy="1466"/>
          </a:xfrm>
        </p:grpSpPr>
        <p:sp>
          <p:nvSpPr>
            <p:cNvPr id="108569" name="Text Box 17">
              <a:extLst>
                <a:ext uri="{FF2B5EF4-FFF2-40B4-BE49-F238E27FC236}">
                  <a16:creationId xmlns:a16="http://schemas.microsoft.com/office/drawing/2014/main" id="{0A4811A2-DB15-4263-8682-190D4A1707B7}"/>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08570" name="Oval 18">
              <a:extLst>
                <a:ext uri="{FF2B5EF4-FFF2-40B4-BE49-F238E27FC236}">
                  <a16:creationId xmlns:a16="http://schemas.microsoft.com/office/drawing/2014/main" id="{6F655EB8-654C-484D-AD6F-2449844C85A6}"/>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8571" name="Line 19">
              <a:extLst>
                <a:ext uri="{FF2B5EF4-FFF2-40B4-BE49-F238E27FC236}">
                  <a16:creationId xmlns:a16="http://schemas.microsoft.com/office/drawing/2014/main" id="{3E7FD0D2-6066-47D2-A4CF-A07D0EFEE965}"/>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72" name="Line 20">
              <a:extLst>
                <a:ext uri="{FF2B5EF4-FFF2-40B4-BE49-F238E27FC236}">
                  <a16:creationId xmlns:a16="http://schemas.microsoft.com/office/drawing/2014/main" id="{C617DDF0-653C-421C-800C-8FBCB0F1E890}"/>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73" name="Text Box 21">
              <a:extLst>
                <a:ext uri="{FF2B5EF4-FFF2-40B4-BE49-F238E27FC236}">
                  <a16:creationId xmlns:a16="http://schemas.microsoft.com/office/drawing/2014/main" id="{3FA738E4-6793-46A2-B03D-ED892503E6A9}"/>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8">
            <a:extLst>
              <a:ext uri="{FF2B5EF4-FFF2-40B4-BE49-F238E27FC236}">
                <a16:creationId xmlns:a16="http://schemas.microsoft.com/office/drawing/2014/main" id="{E4AFEF0E-4A46-4314-9172-512B397DB5BF}"/>
              </a:ext>
            </a:extLst>
          </p:cNvPr>
          <p:cNvGrpSpPr>
            <a:grpSpLocks/>
          </p:cNvGrpSpPr>
          <p:nvPr/>
        </p:nvGrpSpPr>
        <p:grpSpPr bwMode="auto">
          <a:xfrm>
            <a:off x="5588000" y="1633538"/>
            <a:ext cx="1933575" cy="2901950"/>
            <a:chOff x="3520" y="1029"/>
            <a:chExt cx="1218" cy="1828"/>
          </a:xfrm>
        </p:grpSpPr>
        <p:sp>
          <p:nvSpPr>
            <p:cNvPr id="108567" name="Line 29">
              <a:extLst>
                <a:ext uri="{FF2B5EF4-FFF2-40B4-BE49-F238E27FC236}">
                  <a16:creationId xmlns:a16="http://schemas.microsoft.com/office/drawing/2014/main" id="{1EC9BBBD-415E-4A75-97A9-8FF0459F0D6F}"/>
                </a:ext>
              </a:extLst>
            </p:cNvPr>
            <p:cNvSpPr>
              <a:spLocks noChangeShapeType="1"/>
            </p:cNvSpPr>
            <p:nvPr/>
          </p:nvSpPr>
          <p:spPr bwMode="auto">
            <a:xfrm flipV="1">
              <a:off x="3520" y="1283"/>
              <a:ext cx="949" cy="15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568" name="Text Box 30">
              <a:extLst>
                <a:ext uri="{FF2B5EF4-FFF2-40B4-BE49-F238E27FC236}">
                  <a16:creationId xmlns:a16="http://schemas.microsoft.com/office/drawing/2014/main" id="{118990B4-34D9-4FE0-A201-775421C86E98}"/>
                </a:ext>
              </a:extLst>
            </p:cNvPr>
            <p:cNvSpPr txBox="1">
              <a:spLocks noChangeArrowheads="1"/>
            </p:cNvSpPr>
            <p:nvPr/>
          </p:nvSpPr>
          <p:spPr bwMode="auto">
            <a:xfrm>
              <a:off x="4373" y="1029"/>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2</a:t>
              </a:r>
            </a:p>
          </p:txBody>
        </p:sp>
      </p:grpSp>
      <p:sp>
        <p:nvSpPr>
          <p:cNvPr id="210979" name="Line 35">
            <a:extLst>
              <a:ext uri="{FF2B5EF4-FFF2-40B4-BE49-F238E27FC236}">
                <a16:creationId xmlns:a16="http://schemas.microsoft.com/office/drawing/2014/main" id="{8BC35BC8-D2C5-45B1-B97D-A3DEC7F089CF}"/>
              </a:ext>
            </a:extLst>
          </p:cNvPr>
          <p:cNvSpPr>
            <a:spLocks noChangeShapeType="1"/>
          </p:cNvSpPr>
          <p:nvPr/>
        </p:nvSpPr>
        <p:spPr bwMode="auto">
          <a:xfrm>
            <a:off x="6326188" y="2190750"/>
            <a:ext cx="646112"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nvGrpSpPr>
          <p:cNvPr id="8" name="Group 49">
            <a:extLst>
              <a:ext uri="{FF2B5EF4-FFF2-40B4-BE49-F238E27FC236}">
                <a16:creationId xmlns:a16="http://schemas.microsoft.com/office/drawing/2014/main" id="{CBF864AA-4E90-4531-B1B0-133170A597E8}"/>
              </a:ext>
            </a:extLst>
          </p:cNvPr>
          <p:cNvGrpSpPr>
            <a:grpSpLocks/>
          </p:cNvGrpSpPr>
          <p:nvPr/>
        </p:nvGrpSpPr>
        <p:grpSpPr bwMode="auto">
          <a:xfrm>
            <a:off x="3775075" y="3648075"/>
            <a:ext cx="2484438" cy="1824038"/>
            <a:chOff x="2378" y="2298"/>
            <a:chExt cx="1565" cy="1149"/>
          </a:xfrm>
        </p:grpSpPr>
        <p:sp>
          <p:nvSpPr>
            <p:cNvPr id="108562" name="Line 36">
              <a:extLst>
                <a:ext uri="{FF2B5EF4-FFF2-40B4-BE49-F238E27FC236}">
                  <a16:creationId xmlns:a16="http://schemas.microsoft.com/office/drawing/2014/main" id="{E3B591D7-FE07-4638-B983-E2EDA42E220A}"/>
                </a:ext>
              </a:extLst>
            </p:cNvPr>
            <p:cNvSpPr>
              <a:spLocks noChangeShapeType="1"/>
            </p:cNvSpPr>
            <p:nvPr/>
          </p:nvSpPr>
          <p:spPr bwMode="auto">
            <a:xfrm flipH="1">
              <a:off x="2697" y="2417"/>
              <a:ext cx="1089"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63" name="Line 37">
              <a:extLst>
                <a:ext uri="{FF2B5EF4-FFF2-40B4-BE49-F238E27FC236}">
                  <a16:creationId xmlns:a16="http://schemas.microsoft.com/office/drawing/2014/main" id="{A4312DB3-29C2-4420-9E03-59B63EF28688}"/>
                </a:ext>
              </a:extLst>
            </p:cNvPr>
            <p:cNvSpPr>
              <a:spLocks noChangeShapeType="1"/>
            </p:cNvSpPr>
            <p:nvPr/>
          </p:nvSpPr>
          <p:spPr bwMode="auto">
            <a:xfrm>
              <a:off x="3789" y="2417"/>
              <a:ext cx="0" cy="786"/>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64" name="Text Box 38">
              <a:extLst>
                <a:ext uri="{FF2B5EF4-FFF2-40B4-BE49-F238E27FC236}">
                  <a16:creationId xmlns:a16="http://schemas.microsoft.com/office/drawing/2014/main" id="{84B5166F-722C-4DB0-9B3C-B62E74BB56B5}"/>
                </a:ext>
              </a:extLst>
            </p:cNvPr>
            <p:cNvSpPr txBox="1">
              <a:spLocks noChangeArrowheads="1"/>
            </p:cNvSpPr>
            <p:nvPr/>
          </p:nvSpPr>
          <p:spPr bwMode="auto">
            <a:xfrm>
              <a:off x="2378" y="2298"/>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08565" name="Oval 39">
              <a:extLst>
                <a:ext uri="{FF2B5EF4-FFF2-40B4-BE49-F238E27FC236}">
                  <a16:creationId xmlns:a16="http://schemas.microsoft.com/office/drawing/2014/main" id="{86D6FF56-95C5-4339-81E5-4C33A35A2DFC}"/>
                </a:ext>
              </a:extLst>
            </p:cNvPr>
            <p:cNvSpPr>
              <a:spLocks noChangeArrowheads="1"/>
            </p:cNvSpPr>
            <p:nvPr/>
          </p:nvSpPr>
          <p:spPr bwMode="auto">
            <a:xfrm>
              <a:off x="3742" y="237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8566" name="Text Box 40">
              <a:extLst>
                <a:ext uri="{FF2B5EF4-FFF2-40B4-BE49-F238E27FC236}">
                  <a16:creationId xmlns:a16="http://schemas.microsoft.com/office/drawing/2014/main" id="{9108CF1B-83F5-4C70-B591-D49E2D997A88}"/>
                </a:ext>
              </a:extLst>
            </p:cNvPr>
            <p:cNvSpPr txBox="1">
              <a:spLocks noChangeArrowheads="1"/>
            </p:cNvSpPr>
            <p:nvPr/>
          </p:nvSpPr>
          <p:spPr bwMode="auto">
            <a:xfrm>
              <a:off x="3635" y="3217"/>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grpSp>
      <p:sp>
        <p:nvSpPr>
          <p:cNvPr id="210987" name="Rectangle 43">
            <a:extLst>
              <a:ext uri="{FF2B5EF4-FFF2-40B4-BE49-F238E27FC236}">
                <a16:creationId xmlns:a16="http://schemas.microsoft.com/office/drawing/2014/main" id="{07A15976-F157-446B-880D-F807DDE0E8E5}"/>
              </a:ext>
            </a:extLst>
          </p:cNvPr>
          <p:cNvSpPr>
            <a:spLocks noGrp="1" noChangeArrowheads="1"/>
          </p:cNvSpPr>
          <p:nvPr>
            <p:ph type="body" idx="4294967295"/>
          </p:nvPr>
        </p:nvSpPr>
        <p:spPr>
          <a:xfrm>
            <a:off x="433388" y="877888"/>
            <a:ext cx="3648075" cy="1228725"/>
          </a:xfrm>
          <a:noFill/>
        </p:spPr>
        <p:txBody>
          <a:bodyPr/>
          <a:lstStyle/>
          <a:p>
            <a:pPr marL="0" indent="0" eaLnBrk="1" hangingPunct="1">
              <a:lnSpc>
                <a:spcPct val="100000"/>
              </a:lnSpc>
              <a:buFont typeface="Wingdings" panose="05000000000000000000" pitchFamily="2" charset="2"/>
              <a:buNone/>
            </a:pPr>
            <a:r>
              <a:rPr lang="en-US" altLang="en-US" sz="2400" b="1"/>
              <a:t>EVENT:</a:t>
            </a:r>
            <a:r>
              <a:rPr lang="en-US" altLang="en-US" sz="2400"/>
              <a:t>  New technology reduces cost of producing hybrid cars.</a:t>
            </a:r>
          </a:p>
        </p:txBody>
      </p:sp>
      <p:sp>
        <p:nvSpPr>
          <p:cNvPr id="210990" name="Text Box 46">
            <a:extLst>
              <a:ext uri="{FF2B5EF4-FFF2-40B4-BE49-F238E27FC236}">
                <a16:creationId xmlns:a16="http://schemas.microsoft.com/office/drawing/2014/main" id="{C6C250BA-1E87-4634-B850-D8AAACB0E2FF}"/>
              </a:ext>
            </a:extLst>
          </p:cNvPr>
          <p:cNvSpPr txBox="1">
            <a:spLocks noChangeArrowheads="1"/>
          </p:cNvSpPr>
          <p:nvPr/>
        </p:nvSpPr>
        <p:spPr bwMode="auto">
          <a:xfrm>
            <a:off x="454025" y="4076700"/>
            <a:ext cx="3078163"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rgbClr val="00B85C"/>
              </a:buClr>
              <a:buFont typeface="Wingdings" panose="05000000000000000000" pitchFamily="2" charset="2"/>
              <a:buNone/>
            </a:pPr>
            <a:r>
              <a:rPr lang="en-US" altLang="en-US" sz="2300" b="1">
                <a:cs typeface="Arial" panose="020B0604020202020204" pitchFamily="34" charset="0"/>
              </a:rPr>
              <a:t>STEP 3:  </a:t>
            </a:r>
          </a:p>
          <a:p>
            <a:pPr eaLnBrk="1" hangingPunct="1">
              <a:spcBef>
                <a:spcPct val="20000"/>
              </a:spcBef>
              <a:buClr>
                <a:srgbClr val="00B85C"/>
              </a:buClr>
              <a:buFont typeface="Wingdings" panose="05000000000000000000" pitchFamily="2" charset="2"/>
              <a:buNone/>
            </a:pPr>
            <a:r>
              <a:rPr lang="en-US" altLang="en-US" sz="2500">
                <a:cs typeface="Arial" panose="020B0604020202020204" pitchFamily="34" charset="0"/>
              </a:rPr>
              <a:t>The shift causes price to fall </a:t>
            </a:r>
            <a:br>
              <a:rPr lang="en-US" altLang="en-US" sz="2500">
                <a:cs typeface="Arial" panose="020B0604020202020204" pitchFamily="34" charset="0"/>
              </a:rPr>
            </a:br>
            <a:r>
              <a:rPr lang="en-US" altLang="en-US" sz="2500">
                <a:cs typeface="Arial" panose="020B0604020202020204" pitchFamily="34" charset="0"/>
              </a:rPr>
              <a:t>and quantity to rise.</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87">
                                            <p:txEl>
                                              <p:pRg st="0" end="0"/>
                                            </p:txEl>
                                          </p:spTgt>
                                        </p:tgtEl>
                                        <p:attrNameLst>
                                          <p:attrName>style.visibility</p:attrName>
                                        </p:attrNameLst>
                                      </p:cBhvr>
                                      <p:to>
                                        <p:strVal val="visible"/>
                                      </p:to>
                                    </p:set>
                                    <p:animEffect transition="in" filter="wipe(left)">
                                      <p:cBhvr>
                                        <p:cTn id="7" dur="500"/>
                                        <p:tgtEl>
                                          <p:spTgt spid="210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0988">
                                            <p:txEl>
                                              <p:pRg st="0" end="0"/>
                                            </p:txEl>
                                          </p:spTgt>
                                        </p:tgtEl>
                                        <p:attrNameLst>
                                          <p:attrName>style.visibility</p:attrName>
                                        </p:attrNameLst>
                                      </p:cBhvr>
                                      <p:to>
                                        <p:strVal val="visible"/>
                                      </p:to>
                                    </p:set>
                                    <p:animEffect transition="in" filter="wipe(left)">
                                      <p:cBhvr>
                                        <p:cTn id="12" dur="500"/>
                                        <p:tgtEl>
                                          <p:spTgt spid="21098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0988">
                                            <p:txEl>
                                              <p:pRg st="1" end="1"/>
                                            </p:txEl>
                                          </p:spTgt>
                                        </p:tgtEl>
                                        <p:attrNameLst>
                                          <p:attrName>style.visibility</p:attrName>
                                        </p:attrNameLst>
                                      </p:cBhvr>
                                      <p:to>
                                        <p:strVal val="visible"/>
                                      </p:to>
                                    </p:set>
                                    <p:animEffect transition="in" filter="wipe(left)">
                                      <p:cBhvr>
                                        <p:cTn id="17" dur="500"/>
                                        <p:tgtEl>
                                          <p:spTgt spid="21098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0988">
                                            <p:txEl>
                                              <p:pRg st="2" end="2"/>
                                            </p:txEl>
                                          </p:spTgt>
                                        </p:tgtEl>
                                        <p:attrNameLst>
                                          <p:attrName>style.visibility</p:attrName>
                                        </p:attrNameLst>
                                      </p:cBhvr>
                                      <p:to>
                                        <p:strVal val="visible"/>
                                      </p:to>
                                    </p:set>
                                    <p:animEffect transition="in" filter="wipe(left)">
                                      <p:cBhvr>
                                        <p:cTn id="22" dur="500"/>
                                        <p:tgtEl>
                                          <p:spTgt spid="210988">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0991"/>
                                        </p:tgtEl>
                                        <p:attrNameLst>
                                          <p:attrName>style.visibility</p:attrName>
                                        </p:attrNameLst>
                                      </p:cBhvr>
                                      <p:to>
                                        <p:strVal val="visible"/>
                                      </p:to>
                                    </p:set>
                                    <p:animEffect transition="in" filter="dissolve">
                                      <p:cBhvr>
                                        <p:cTn id="27" dur="500"/>
                                        <p:tgtEl>
                                          <p:spTgt spid="2109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0989">
                                            <p:txEl>
                                              <p:pRg st="0" end="0"/>
                                            </p:txEl>
                                          </p:spTgt>
                                        </p:tgtEl>
                                        <p:attrNameLst>
                                          <p:attrName>style.visibility</p:attrName>
                                        </p:attrNameLst>
                                      </p:cBhvr>
                                      <p:to>
                                        <p:strVal val="visible"/>
                                      </p:to>
                                    </p:set>
                                    <p:animEffect transition="in" filter="wipe(left)">
                                      <p:cBhvr>
                                        <p:cTn id="32" dur="500"/>
                                        <p:tgtEl>
                                          <p:spTgt spid="21098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0989">
                                            <p:txEl>
                                              <p:pRg st="1" end="1"/>
                                            </p:txEl>
                                          </p:spTgt>
                                        </p:tgtEl>
                                        <p:attrNameLst>
                                          <p:attrName>style.visibility</p:attrName>
                                        </p:attrNameLst>
                                      </p:cBhvr>
                                      <p:to>
                                        <p:strVal val="visible"/>
                                      </p:to>
                                    </p:set>
                                    <p:animEffect transition="in" filter="wipe(left)">
                                      <p:cBhvr>
                                        <p:cTn id="37" dur="500"/>
                                        <p:tgtEl>
                                          <p:spTgt spid="210989">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8" fill="hold" nodeType="clickEffect">
                                  <p:stCondLst>
                                    <p:cond delay="0"/>
                                  </p:stCondLst>
                                  <p:childTnLst>
                                    <p:set>
                                      <p:cBhvr>
                                        <p:cTn id="41" dur="1" fill="hold">
                                          <p:stCondLst>
                                            <p:cond delay="0"/>
                                          </p:stCondLst>
                                        </p:cTn>
                                        <p:tgtEl>
                                          <p:spTgt spid="210979"/>
                                        </p:tgtEl>
                                        <p:attrNameLst>
                                          <p:attrName>style.visibility</p:attrName>
                                        </p:attrNameLst>
                                      </p:cBhvr>
                                      <p:to>
                                        <p:strVal val="visible"/>
                                      </p:to>
                                    </p:set>
                                    <p:anim calcmode="lin" valueType="num">
                                      <p:cBhvr>
                                        <p:cTn id="42" dur="500" fill="hold"/>
                                        <p:tgtEl>
                                          <p:spTgt spid="210979"/>
                                        </p:tgtEl>
                                        <p:attrNameLst>
                                          <p:attrName>ppt_x</p:attrName>
                                        </p:attrNameLst>
                                      </p:cBhvr>
                                      <p:tavLst>
                                        <p:tav tm="0">
                                          <p:val>
                                            <p:strVal val="#ppt_x-#ppt_w/2"/>
                                          </p:val>
                                        </p:tav>
                                        <p:tav tm="100000">
                                          <p:val>
                                            <p:strVal val="#ppt_x"/>
                                          </p:val>
                                        </p:tav>
                                      </p:tavLst>
                                    </p:anim>
                                    <p:anim calcmode="lin" valueType="num">
                                      <p:cBhvr>
                                        <p:cTn id="43" dur="500" fill="hold"/>
                                        <p:tgtEl>
                                          <p:spTgt spid="210979"/>
                                        </p:tgtEl>
                                        <p:attrNameLst>
                                          <p:attrName>ppt_y</p:attrName>
                                        </p:attrNameLst>
                                      </p:cBhvr>
                                      <p:tavLst>
                                        <p:tav tm="0">
                                          <p:val>
                                            <p:strVal val="#ppt_y"/>
                                          </p:val>
                                        </p:tav>
                                        <p:tav tm="100000">
                                          <p:val>
                                            <p:strVal val="#ppt_y"/>
                                          </p:val>
                                        </p:tav>
                                      </p:tavLst>
                                    </p:anim>
                                    <p:anim calcmode="lin" valueType="num">
                                      <p:cBhvr>
                                        <p:cTn id="44" dur="500" fill="hold"/>
                                        <p:tgtEl>
                                          <p:spTgt spid="210979"/>
                                        </p:tgtEl>
                                        <p:attrNameLst>
                                          <p:attrName>ppt_w</p:attrName>
                                        </p:attrNameLst>
                                      </p:cBhvr>
                                      <p:tavLst>
                                        <p:tav tm="0">
                                          <p:val>
                                            <p:fltVal val="0"/>
                                          </p:val>
                                        </p:tav>
                                        <p:tav tm="100000">
                                          <p:val>
                                            <p:strVal val="#ppt_w"/>
                                          </p:val>
                                        </p:tav>
                                      </p:tavLst>
                                    </p:anim>
                                    <p:anim calcmode="lin" valueType="num">
                                      <p:cBhvr>
                                        <p:cTn id="45" dur="500" fill="hold"/>
                                        <p:tgtEl>
                                          <p:spTgt spid="210979"/>
                                        </p:tgtEl>
                                        <p:attrNameLst>
                                          <p:attrName>ppt_h</p:attrName>
                                        </p:attrNameLst>
                                      </p:cBhvr>
                                      <p:tavLst>
                                        <p:tav tm="0">
                                          <p:val>
                                            <p:strVal val="#ppt_h"/>
                                          </p:val>
                                        </p:tav>
                                        <p:tav tm="100000">
                                          <p:val>
                                            <p:strVal val="#ppt_h"/>
                                          </p:val>
                                        </p:tav>
                                      </p:tavLst>
                                    </p:anim>
                                  </p:childTnLst>
                                </p:cTn>
                              </p:par>
                            </p:childTnLst>
                          </p:cTn>
                        </p:par>
                        <p:par>
                          <p:cTn id="46" fill="hold" nodeType="afterGroup">
                            <p:stCondLst>
                              <p:cond delay="500"/>
                            </p:stCondLst>
                            <p:childTnLst>
                              <p:par>
                                <p:cTn id="47" presetID="18" presetClass="entr" presetSubtype="12"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strips(downLeft)">
                                      <p:cBhvr>
                                        <p:cTn id="49" dur="500"/>
                                        <p:tgtEl>
                                          <p:spTgt spid="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210992"/>
                                        </p:tgtEl>
                                        <p:attrNameLst>
                                          <p:attrName>style.visibility</p:attrName>
                                        </p:attrNameLst>
                                      </p:cBhvr>
                                      <p:to>
                                        <p:strVal val="visible"/>
                                      </p:to>
                                    </p:set>
                                    <p:animEffect transition="in" filter="dissolve">
                                      <p:cBhvr>
                                        <p:cTn id="54" dur="500"/>
                                        <p:tgtEl>
                                          <p:spTgt spid="210992"/>
                                        </p:tgtEl>
                                      </p:cBhvr>
                                    </p:animEffect>
                                  </p:childTnLst>
                                </p:cTn>
                              </p:par>
                              <p:par>
                                <p:cTn id="55" presetID="9" presetClass="exit" presetSubtype="0" fill="hold" nodeType="withEffect">
                                  <p:stCondLst>
                                    <p:cond delay="0"/>
                                  </p:stCondLst>
                                  <p:childTnLst>
                                    <p:animEffect transition="out" filter="dissolve">
                                      <p:cBhvr>
                                        <p:cTn id="56" dur="500"/>
                                        <p:tgtEl>
                                          <p:spTgt spid="210979"/>
                                        </p:tgtEl>
                                      </p:cBhvr>
                                    </p:animEffect>
                                    <p:set>
                                      <p:cBhvr>
                                        <p:cTn id="57" dur="1" fill="hold">
                                          <p:stCondLst>
                                            <p:cond delay="499"/>
                                          </p:stCondLst>
                                        </p:cTn>
                                        <p:tgtEl>
                                          <p:spTgt spid="210979"/>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0990">
                                            <p:txEl>
                                              <p:pRg st="0" end="0"/>
                                            </p:txEl>
                                          </p:spTgt>
                                        </p:tgtEl>
                                        <p:attrNameLst>
                                          <p:attrName>style.visibility</p:attrName>
                                        </p:attrNameLst>
                                      </p:cBhvr>
                                      <p:to>
                                        <p:strVal val="visible"/>
                                      </p:to>
                                    </p:set>
                                    <p:animEffect transition="in" filter="wipe(left)">
                                      <p:cBhvr>
                                        <p:cTn id="62" dur="500"/>
                                        <p:tgtEl>
                                          <p:spTgt spid="210990">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0990">
                                            <p:txEl>
                                              <p:pRg st="1" end="1"/>
                                            </p:txEl>
                                          </p:spTgt>
                                        </p:tgtEl>
                                        <p:attrNameLst>
                                          <p:attrName>style.visibility</p:attrName>
                                        </p:attrNameLst>
                                      </p:cBhvr>
                                      <p:to>
                                        <p:strVal val="visible"/>
                                      </p:to>
                                    </p:set>
                                    <p:animEffect transition="in" filter="wipe(left)">
                                      <p:cBhvr>
                                        <p:cTn id="67" dur="500"/>
                                        <p:tgtEl>
                                          <p:spTgt spid="210990">
                                            <p:txEl>
                                              <p:pRg st="1" end="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8" presetClass="entr" presetSubtype="12"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strips(downLeft)">
                                      <p:cBhvr>
                                        <p:cTn id="7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88" grpId="0" build="p"/>
      <p:bldP spid="210991" grpId="0" animBg="1"/>
      <p:bldP spid="210989" grpId="0" build="p"/>
      <p:bldP spid="210992" grpId="0" animBg="1"/>
      <p:bldP spid="210987" grpId="0" build="p" bldLvl="5"/>
      <p:bldP spid="210990"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Footer Placeholder 1">
            <a:extLst>
              <a:ext uri="{FF2B5EF4-FFF2-40B4-BE49-F238E27FC236}">
                <a16:creationId xmlns:a16="http://schemas.microsoft.com/office/drawing/2014/main" id="{C9E2879D-B0B4-4347-B8EE-D1E6F0EBD55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10595" name="Slide Number Placeholder 2">
            <a:extLst>
              <a:ext uri="{FF2B5EF4-FFF2-40B4-BE49-F238E27FC236}">
                <a16:creationId xmlns:a16="http://schemas.microsoft.com/office/drawing/2014/main" id="{137AE527-FE4F-4EDD-9FFD-D906C33EA6DD}"/>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E099D61-B510-45BD-9C7D-7B4E413FBCFA}" type="slidenum">
              <a:rPr lang="en-US" altLang="en-US">
                <a:solidFill>
                  <a:srgbClr val="777777"/>
                </a:solidFill>
                <a:latin typeface="Tahoma" panose="020B0604030504040204" pitchFamily="34" charset="0"/>
              </a:rPr>
              <a:pPr/>
              <a:t>52</a:t>
            </a:fld>
            <a:endParaRPr lang="en-US" altLang="en-US">
              <a:solidFill>
                <a:srgbClr val="777777"/>
              </a:solidFill>
              <a:latin typeface="Tahoma" panose="020B0604030504040204" pitchFamily="34" charset="0"/>
            </a:endParaRPr>
          </a:p>
        </p:txBody>
      </p:sp>
      <p:sp>
        <p:nvSpPr>
          <p:cNvPr id="110596" name="Rectangle 2">
            <a:extLst>
              <a:ext uri="{FF2B5EF4-FFF2-40B4-BE49-F238E27FC236}">
                <a16:creationId xmlns:a16="http://schemas.microsoft.com/office/drawing/2014/main" id="{AC5DD9E4-0A22-4A26-A9C8-20ABFD21B46C}"/>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3:  </a:t>
            </a:r>
            <a:r>
              <a:rPr lang="en-US" altLang="en-US" sz="3200"/>
              <a:t>	</a:t>
            </a:r>
            <a:r>
              <a:rPr lang="en-US" altLang="en-US" sz="3400"/>
              <a:t>A Shift in Both Supply </a:t>
            </a:r>
            <a:br>
              <a:rPr lang="en-US" altLang="en-US" sz="3400"/>
            </a:br>
            <a:r>
              <a:rPr lang="en-US" altLang="en-US" sz="3400"/>
              <a:t>    and Demand</a:t>
            </a:r>
          </a:p>
        </p:txBody>
      </p:sp>
      <p:grpSp>
        <p:nvGrpSpPr>
          <p:cNvPr id="110597" name="Group 4">
            <a:extLst>
              <a:ext uri="{FF2B5EF4-FFF2-40B4-BE49-F238E27FC236}">
                <a16:creationId xmlns:a16="http://schemas.microsoft.com/office/drawing/2014/main" id="{2066584C-E04C-4863-AEB8-71DC4784F0B0}"/>
              </a:ext>
            </a:extLst>
          </p:cNvPr>
          <p:cNvGrpSpPr>
            <a:grpSpLocks/>
          </p:cNvGrpSpPr>
          <p:nvPr/>
        </p:nvGrpSpPr>
        <p:grpSpPr bwMode="auto">
          <a:xfrm>
            <a:off x="4094163" y="1179513"/>
            <a:ext cx="4422775" cy="4106862"/>
            <a:chOff x="2579" y="785"/>
            <a:chExt cx="2786" cy="2420"/>
          </a:xfrm>
        </p:grpSpPr>
        <p:grpSp>
          <p:nvGrpSpPr>
            <p:cNvPr id="110629" name="Group 5">
              <a:extLst>
                <a:ext uri="{FF2B5EF4-FFF2-40B4-BE49-F238E27FC236}">
                  <a16:creationId xmlns:a16="http://schemas.microsoft.com/office/drawing/2014/main" id="{D79DE725-0BD5-49BD-B50B-28D38EB05214}"/>
                </a:ext>
              </a:extLst>
            </p:cNvPr>
            <p:cNvGrpSpPr>
              <a:grpSpLocks/>
            </p:cNvGrpSpPr>
            <p:nvPr/>
          </p:nvGrpSpPr>
          <p:grpSpPr bwMode="auto">
            <a:xfrm>
              <a:off x="2697" y="1037"/>
              <a:ext cx="2409" cy="2049"/>
              <a:chOff x="1098" y="1361"/>
              <a:chExt cx="2116" cy="2027"/>
            </a:xfrm>
          </p:grpSpPr>
          <p:sp>
            <p:nvSpPr>
              <p:cNvPr id="110632" name="Line 6">
                <a:extLst>
                  <a:ext uri="{FF2B5EF4-FFF2-40B4-BE49-F238E27FC236}">
                    <a16:creationId xmlns:a16="http://schemas.microsoft.com/office/drawing/2014/main" id="{8055E940-1EBF-4793-996D-3C28815E4B32}"/>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3" name="Line 7">
                <a:extLst>
                  <a:ext uri="{FF2B5EF4-FFF2-40B4-BE49-F238E27FC236}">
                    <a16:creationId xmlns:a16="http://schemas.microsoft.com/office/drawing/2014/main" id="{B8EEECA8-A573-480E-A584-BDDA436C8B9F}"/>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0630" name="Text Box 8">
              <a:extLst>
                <a:ext uri="{FF2B5EF4-FFF2-40B4-BE49-F238E27FC236}">
                  <a16:creationId xmlns:a16="http://schemas.microsoft.com/office/drawing/2014/main" id="{D4353CC5-C0BF-4332-B6F2-F837AD6AAC4E}"/>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10631" name="Text Box 9">
              <a:extLst>
                <a:ext uri="{FF2B5EF4-FFF2-40B4-BE49-F238E27FC236}">
                  <a16:creationId xmlns:a16="http://schemas.microsoft.com/office/drawing/2014/main" id="{74656EB6-32B8-464B-8042-7EEC5D8F7BD3}"/>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10598" name="Group 10">
            <a:extLst>
              <a:ext uri="{FF2B5EF4-FFF2-40B4-BE49-F238E27FC236}">
                <a16:creationId xmlns:a16="http://schemas.microsoft.com/office/drawing/2014/main" id="{BFBFD613-8892-42AD-9F4E-3CEA9C5A514B}"/>
              </a:ext>
            </a:extLst>
          </p:cNvPr>
          <p:cNvGrpSpPr>
            <a:grpSpLocks/>
          </p:cNvGrpSpPr>
          <p:nvPr/>
        </p:nvGrpSpPr>
        <p:grpSpPr bwMode="auto">
          <a:xfrm>
            <a:off x="4524375" y="1957388"/>
            <a:ext cx="2486025" cy="2901950"/>
            <a:chOff x="2850" y="1233"/>
            <a:chExt cx="1566" cy="1828"/>
          </a:xfrm>
        </p:grpSpPr>
        <p:sp>
          <p:nvSpPr>
            <p:cNvPr id="110627" name="Line 11">
              <a:extLst>
                <a:ext uri="{FF2B5EF4-FFF2-40B4-BE49-F238E27FC236}">
                  <a16:creationId xmlns:a16="http://schemas.microsoft.com/office/drawing/2014/main" id="{3A38FB54-6749-4230-8E79-23290DD0AB98}"/>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8" name="Text Box 12">
              <a:extLst>
                <a:ext uri="{FF2B5EF4-FFF2-40B4-BE49-F238E27FC236}">
                  <a16:creationId xmlns:a16="http://schemas.microsoft.com/office/drawing/2014/main" id="{99C9DA47-F7AF-4574-A5B6-C9D3C7EFA532}"/>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10599" name="Group 13">
            <a:extLst>
              <a:ext uri="{FF2B5EF4-FFF2-40B4-BE49-F238E27FC236}">
                <a16:creationId xmlns:a16="http://schemas.microsoft.com/office/drawing/2014/main" id="{DE5012C8-8F64-41C2-BC32-71940F73702F}"/>
              </a:ext>
            </a:extLst>
          </p:cNvPr>
          <p:cNvGrpSpPr>
            <a:grpSpLocks/>
          </p:cNvGrpSpPr>
          <p:nvPr/>
        </p:nvGrpSpPr>
        <p:grpSpPr bwMode="auto">
          <a:xfrm>
            <a:off x="4868863" y="1625600"/>
            <a:ext cx="1933575" cy="2901950"/>
            <a:chOff x="3067" y="1024"/>
            <a:chExt cx="1218" cy="1828"/>
          </a:xfrm>
        </p:grpSpPr>
        <p:sp>
          <p:nvSpPr>
            <p:cNvPr id="110625" name="Line 14">
              <a:extLst>
                <a:ext uri="{FF2B5EF4-FFF2-40B4-BE49-F238E27FC236}">
                  <a16:creationId xmlns:a16="http://schemas.microsoft.com/office/drawing/2014/main" id="{DC208D8F-AB6F-4F42-9818-910B31E7B430}"/>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6" name="Text Box 15">
              <a:extLst>
                <a:ext uri="{FF2B5EF4-FFF2-40B4-BE49-F238E27FC236}">
                  <a16:creationId xmlns:a16="http://schemas.microsoft.com/office/drawing/2014/main" id="{C3140C69-4274-41DF-AB48-BF89399177CC}"/>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10600" name="Group 16">
            <a:extLst>
              <a:ext uri="{FF2B5EF4-FFF2-40B4-BE49-F238E27FC236}">
                <a16:creationId xmlns:a16="http://schemas.microsoft.com/office/drawing/2014/main" id="{82860389-8723-4B46-85C8-747F2DE8EA6F}"/>
              </a:ext>
            </a:extLst>
          </p:cNvPr>
          <p:cNvGrpSpPr>
            <a:grpSpLocks/>
          </p:cNvGrpSpPr>
          <p:nvPr/>
        </p:nvGrpSpPr>
        <p:grpSpPr bwMode="auto">
          <a:xfrm>
            <a:off x="3783013" y="3136900"/>
            <a:ext cx="2060575" cy="2327275"/>
            <a:chOff x="2383" y="1976"/>
            <a:chExt cx="1298" cy="1466"/>
          </a:xfrm>
        </p:grpSpPr>
        <p:sp>
          <p:nvSpPr>
            <p:cNvPr id="110620" name="Text Box 17">
              <a:extLst>
                <a:ext uri="{FF2B5EF4-FFF2-40B4-BE49-F238E27FC236}">
                  <a16:creationId xmlns:a16="http://schemas.microsoft.com/office/drawing/2014/main" id="{1AC87D01-31D8-47A3-A5D4-FD97CCA434E7}"/>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10621" name="Oval 18">
              <a:extLst>
                <a:ext uri="{FF2B5EF4-FFF2-40B4-BE49-F238E27FC236}">
                  <a16:creationId xmlns:a16="http://schemas.microsoft.com/office/drawing/2014/main" id="{8E3C6F5A-18F7-47C0-8B21-E51509D86F0B}"/>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0622" name="Line 19">
              <a:extLst>
                <a:ext uri="{FF2B5EF4-FFF2-40B4-BE49-F238E27FC236}">
                  <a16:creationId xmlns:a16="http://schemas.microsoft.com/office/drawing/2014/main" id="{B65E0ACE-4CDD-48B6-A749-E7C0701F5E00}"/>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0623" name="Line 20">
              <a:extLst>
                <a:ext uri="{FF2B5EF4-FFF2-40B4-BE49-F238E27FC236}">
                  <a16:creationId xmlns:a16="http://schemas.microsoft.com/office/drawing/2014/main" id="{B221298B-B10E-489B-872D-6322CF38B100}"/>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0624" name="Text Box 21">
              <a:extLst>
                <a:ext uri="{FF2B5EF4-FFF2-40B4-BE49-F238E27FC236}">
                  <a16:creationId xmlns:a16="http://schemas.microsoft.com/office/drawing/2014/main" id="{A8B93F17-99B1-45A9-9407-4CFF15648606}"/>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8">
            <a:extLst>
              <a:ext uri="{FF2B5EF4-FFF2-40B4-BE49-F238E27FC236}">
                <a16:creationId xmlns:a16="http://schemas.microsoft.com/office/drawing/2014/main" id="{21756E2E-D04A-4228-A647-CBA5F96B88AA}"/>
              </a:ext>
            </a:extLst>
          </p:cNvPr>
          <p:cNvGrpSpPr>
            <a:grpSpLocks/>
          </p:cNvGrpSpPr>
          <p:nvPr/>
        </p:nvGrpSpPr>
        <p:grpSpPr bwMode="auto">
          <a:xfrm>
            <a:off x="5588000" y="1633538"/>
            <a:ext cx="1933575" cy="2901950"/>
            <a:chOff x="3520" y="1029"/>
            <a:chExt cx="1218" cy="1828"/>
          </a:xfrm>
        </p:grpSpPr>
        <p:sp>
          <p:nvSpPr>
            <p:cNvPr id="110618" name="Line 29">
              <a:extLst>
                <a:ext uri="{FF2B5EF4-FFF2-40B4-BE49-F238E27FC236}">
                  <a16:creationId xmlns:a16="http://schemas.microsoft.com/office/drawing/2014/main" id="{275530C7-D8CE-4E72-BB83-79DD9244C22E}"/>
                </a:ext>
              </a:extLst>
            </p:cNvPr>
            <p:cNvSpPr>
              <a:spLocks noChangeShapeType="1"/>
            </p:cNvSpPr>
            <p:nvPr/>
          </p:nvSpPr>
          <p:spPr bwMode="auto">
            <a:xfrm flipV="1">
              <a:off x="3520" y="1283"/>
              <a:ext cx="949" cy="15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9" name="Text Box 30">
              <a:extLst>
                <a:ext uri="{FF2B5EF4-FFF2-40B4-BE49-F238E27FC236}">
                  <a16:creationId xmlns:a16="http://schemas.microsoft.com/office/drawing/2014/main" id="{A21227D4-2A43-4EB5-8E31-C684666FB9A4}"/>
                </a:ext>
              </a:extLst>
            </p:cNvPr>
            <p:cNvSpPr txBox="1">
              <a:spLocks noChangeArrowheads="1"/>
            </p:cNvSpPr>
            <p:nvPr/>
          </p:nvSpPr>
          <p:spPr bwMode="auto">
            <a:xfrm>
              <a:off x="4373" y="1029"/>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2</a:t>
              </a:r>
            </a:p>
          </p:txBody>
        </p:sp>
      </p:grpSp>
      <p:grpSp>
        <p:nvGrpSpPr>
          <p:cNvPr id="8" name="Group 31">
            <a:extLst>
              <a:ext uri="{FF2B5EF4-FFF2-40B4-BE49-F238E27FC236}">
                <a16:creationId xmlns:a16="http://schemas.microsoft.com/office/drawing/2014/main" id="{D70D6807-89CF-448C-AF72-3664D7A050F5}"/>
              </a:ext>
            </a:extLst>
          </p:cNvPr>
          <p:cNvGrpSpPr>
            <a:grpSpLocks/>
          </p:cNvGrpSpPr>
          <p:nvPr/>
        </p:nvGrpSpPr>
        <p:grpSpPr bwMode="auto">
          <a:xfrm>
            <a:off x="5665788" y="1854200"/>
            <a:ext cx="2486025" cy="2901950"/>
            <a:chOff x="3569" y="1168"/>
            <a:chExt cx="1566" cy="1828"/>
          </a:xfrm>
        </p:grpSpPr>
        <p:sp>
          <p:nvSpPr>
            <p:cNvPr id="110616" name="Line 32">
              <a:extLst>
                <a:ext uri="{FF2B5EF4-FFF2-40B4-BE49-F238E27FC236}">
                  <a16:creationId xmlns:a16="http://schemas.microsoft.com/office/drawing/2014/main" id="{73043D28-0611-4BFB-9FDF-1E1903CB567D}"/>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7" name="Text Box 33">
              <a:extLst>
                <a:ext uri="{FF2B5EF4-FFF2-40B4-BE49-F238E27FC236}">
                  <a16:creationId xmlns:a16="http://schemas.microsoft.com/office/drawing/2014/main" id="{2A9AE526-AE08-445A-A658-78245CBC58CE}"/>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212002" name="Line 34">
            <a:extLst>
              <a:ext uri="{FF2B5EF4-FFF2-40B4-BE49-F238E27FC236}">
                <a16:creationId xmlns:a16="http://schemas.microsoft.com/office/drawing/2014/main" id="{D9AECF46-9445-48CB-98CD-272953A94FD5}"/>
              </a:ext>
            </a:extLst>
          </p:cNvPr>
          <p:cNvSpPr>
            <a:spLocks noChangeShapeType="1"/>
          </p:cNvSpPr>
          <p:nvPr/>
        </p:nvSpPr>
        <p:spPr bwMode="auto">
          <a:xfrm>
            <a:off x="4787900" y="2192338"/>
            <a:ext cx="1068388"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12003" name="Line 35">
            <a:extLst>
              <a:ext uri="{FF2B5EF4-FFF2-40B4-BE49-F238E27FC236}">
                <a16:creationId xmlns:a16="http://schemas.microsoft.com/office/drawing/2014/main" id="{780A7A34-EFE3-40B5-8A07-B37732D90A8A}"/>
              </a:ext>
            </a:extLst>
          </p:cNvPr>
          <p:cNvSpPr>
            <a:spLocks noChangeShapeType="1"/>
          </p:cNvSpPr>
          <p:nvPr/>
        </p:nvSpPr>
        <p:spPr bwMode="auto">
          <a:xfrm>
            <a:off x="6326188" y="2190750"/>
            <a:ext cx="646112"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nvGrpSpPr>
          <p:cNvPr id="9" name="Group 48">
            <a:extLst>
              <a:ext uri="{FF2B5EF4-FFF2-40B4-BE49-F238E27FC236}">
                <a16:creationId xmlns:a16="http://schemas.microsoft.com/office/drawing/2014/main" id="{DE98EB4A-507C-44EE-A6C4-8FDB27D8BCA2}"/>
              </a:ext>
            </a:extLst>
          </p:cNvPr>
          <p:cNvGrpSpPr>
            <a:grpSpLocks/>
          </p:cNvGrpSpPr>
          <p:nvPr/>
        </p:nvGrpSpPr>
        <p:grpSpPr bwMode="auto">
          <a:xfrm>
            <a:off x="3597275" y="2654300"/>
            <a:ext cx="3190875" cy="2817813"/>
            <a:chOff x="2266" y="1672"/>
            <a:chExt cx="2010" cy="1775"/>
          </a:xfrm>
        </p:grpSpPr>
        <p:sp>
          <p:nvSpPr>
            <p:cNvPr id="110610" name="Text Box 36">
              <a:extLst>
                <a:ext uri="{FF2B5EF4-FFF2-40B4-BE49-F238E27FC236}">
                  <a16:creationId xmlns:a16="http://schemas.microsoft.com/office/drawing/2014/main" id="{D25E04F6-1F64-45D5-8A7F-8913A102E042}"/>
                </a:ext>
              </a:extLst>
            </p:cNvPr>
            <p:cNvSpPr txBox="1">
              <a:spLocks noChangeArrowheads="1"/>
            </p:cNvSpPr>
            <p:nvPr/>
          </p:nvSpPr>
          <p:spPr bwMode="auto">
            <a:xfrm>
              <a:off x="2266" y="167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10611" name="Oval 37">
              <a:extLst>
                <a:ext uri="{FF2B5EF4-FFF2-40B4-BE49-F238E27FC236}">
                  <a16:creationId xmlns:a16="http://schemas.microsoft.com/office/drawing/2014/main" id="{21901463-58B4-4B20-9609-08305C592230}"/>
                </a:ext>
              </a:extLst>
            </p:cNvPr>
            <p:cNvSpPr>
              <a:spLocks noChangeArrowheads="1"/>
            </p:cNvSpPr>
            <p:nvPr/>
          </p:nvSpPr>
          <p:spPr bwMode="auto">
            <a:xfrm>
              <a:off x="4075" y="181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0612" name="Line 38">
              <a:extLst>
                <a:ext uri="{FF2B5EF4-FFF2-40B4-BE49-F238E27FC236}">
                  <a16:creationId xmlns:a16="http://schemas.microsoft.com/office/drawing/2014/main" id="{D41B35D5-E5C0-45F1-AAD8-C454CE508BA7}"/>
                </a:ext>
              </a:extLst>
            </p:cNvPr>
            <p:cNvSpPr>
              <a:spLocks noChangeShapeType="1"/>
            </p:cNvSpPr>
            <p:nvPr/>
          </p:nvSpPr>
          <p:spPr bwMode="auto">
            <a:xfrm>
              <a:off x="2699" y="1864"/>
              <a:ext cx="142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0613" name="Text Box 40">
              <a:extLst>
                <a:ext uri="{FF2B5EF4-FFF2-40B4-BE49-F238E27FC236}">
                  <a16:creationId xmlns:a16="http://schemas.microsoft.com/office/drawing/2014/main" id="{AEE6CFC0-0EA4-45FB-A5F1-1B7C0BF4FDEF}"/>
                </a:ext>
              </a:extLst>
            </p:cNvPr>
            <p:cNvSpPr txBox="1">
              <a:spLocks noChangeArrowheads="1"/>
            </p:cNvSpPr>
            <p:nvPr/>
          </p:nvSpPr>
          <p:spPr bwMode="auto">
            <a:xfrm>
              <a:off x="3968" y="3217"/>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10614" name="Line 41">
              <a:extLst>
                <a:ext uri="{FF2B5EF4-FFF2-40B4-BE49-F238E27FC236}">
                  <a16:creationId xmlns:a16="http://schemas.microsoft.com/office/drawing/2014/main" id="{6A730A53-1DE0-4CAD-B9F9-C03BE37EA366}"/>
                </a:ext>
              </a:extLst>
            </p:cNvPr>
            <p:cNvSpPr>
              <a:spLocks noChangeShapeType="1"/>
            </p:cNvSpPr>
            <p:nvPr/>
          </p:nvSpPr>
          <p:spPr bwMode="auto">
            <a:xfrm flipH="1" flipV="1">
              <a:off x="2538" y="1818"/>
              <a:ext cx="132"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5" name="Line 42">
              <a:extLst>
                <a:ext uri="{FF2B5EF4-FFF2-40B4-BE49-F238E27FC236}">
                  <a16:creationId xmlns:a16="http://schemas.microsoft.com/office/drawing/2014/main" id="{715D00FE-1A96-4605-AA3B-EA178F7ED3A4}"/>
                </a:ext>
              </a:extLst>
            </p:cNvPr>
            <p:cNvSpPr>
              <a:spLocks noChangeShapeType="1"/>
            </p:cNvSpPr>
            <p:nvPr/>
          </p:nvSpPr>
          <p:spPr bwMode="auto">
            <a:xfrm>
              <a:off x="4122" y="1867"/>
              <a:ext cx="0" cy="133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2012" name="Rectangle 44">
            <a:extLst>
              <a:ext uri="{FF2B5EF4-FFF2-40B4-BE49-F238E27FC236}">
                <a16:creationId xmlns:a16="http://schemas.microsoft.com/office/drawing/2014/main" id="{991EC413-9B42-4D64-8A8E-4A19C2E529B4}"/>
              </a:ext>
            </a:extLst>
          </p:cNvPr>
          <p:cNvSpPr>
            <a:spLocks noGrp="1" noChangeArrowheads="1"/>
          </p:cNvSpPr>
          <p:nvPr>
            <p:ph type="body" idx="4294967295"/>
          </p:nvPr>
        </p:nvSpPr>
        <p:spPr>
          <a:xfrm>
            <a:off x="433388" y="944563"/>
            <a:ext cx="3714750" cy="1641475"/>
          </a:xfrm>
          <a:noFill/>
        </p:spPr>
        <p:txBody>
          <a:bodyPr/>
          <a:lstStyle/>
          <a:p>
            <a:pPr marL="0" indent="0" eaLnBrk="1" hangingPunct="1">
              <a:lnSpc>
                <a:spcPct val="100000"/>
              </a:lnSpc>
              <a:buFont typeface="Wingdings" panose="05000000000000000000" pitchFamily="2" charset="2"/>
              <a:buNone/>
            </a:pPr>
            <a:r>
              <a:rPr lang="en-US" altLang="en-US" sz="2400" b="1"/>
              <a:t>EVENTS:</a:t>
            </a:r>
            <a:r>
              <a:rPr lang="en-US" altLang="en-US" sz="2400"/>
              <a:t>  </a:t>
            </a:r>
            <a:br>
              <a:rPr lang="en-US" altLang="en-US" sz="2400"/>
            </a:br>
            <a:r>
              <a:rPr lang="en-US" altLang="en-US" sz="2400"/>
              <a:t>price of gas rises AND </a:t>
            </a:r>
            <a:br>
              <a:rPr lang="en-US" altLang="en-US" sz="2400"/>
            </a:br>
            <a:r>
              <a:rPr lang="en-US" altLang="en-US" sz="2400"/>
              <a:t>new technology reduces production costs</a:t>
            </a:r>
          </a:p>
        </p:txBody>
      </p:sp>
      <p:sp>
        <p:nvSpPr>
          <p:cNvPr id="212013" name="Text Box 45">
            <a:extLst>
              <a:ext uri="{FF2B5EF4-FFF2-40B4-BE49-F238E27FC236}">
                <a16:creationId xmlns:a16="http://schemas.microsoft.com/office/drawing/2014/main" id="{90CE9F74-E6A9-4C52-915F-74792005E1A2}"/>
              </a:ext>
            </a:extLst>
          </p:cNvPr>
          <p:cNvSpPr txBox="1">
            <a:spLocks noChangeArrowheads="1"/>
          </p:cNvSpPr>
          <p:nvPr/>
        </p:nvSpPr>
        <p:spPr bwMode="auto">
          <a:xfrm>
            <a:off x="438150" y="2516188"/>
            <a:ext cx="3289300"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
              </a:spcBef>
              <a:buClr>
                <a:srgbClr val="00B85C"/>
              </a:buClr>
              <a:buFont typeface="Wingdings" panose="05000000000000000000" pitchFamily="2" charset="2"/>
              <a:buNone/>
            </a:pPr>
            <a:r>
              <a:rPr lang="en-US" altLang="en-US" sz="2300" b="1">
                <a:cs typeface="Arial" panose="020B0604020202020204" pitchFamily="34" charset="0"/>
              </a:rPr>
              <a:t>STEP 1:  </a:t>
            </a:r>
          </a:p>
          <a:p>
            <a:pPr eaLnBrk="1" hangingPunct="1">
              <a:lnSpc>
                <a:spcPct val="100000"/>
              </a:lnSpc>
              <a:spcBef>
                <a:spcPct val="5000"/>
              </a:spcBef>
              <a:buClr>
                <a:srgbClr val="00B85C"/>
              </a:buClr>
              <a:buFont typeface="Wingdings" panose="05000000000000000000" pitchFamily="2" charset="2"/>
              <a:buNone/>
            </a:pPr>
            <a:r>
              <a:rPr lang="en-US" altLang="en-US" sz="2500">
                <a:cs typeface="Arial" panose="020B0604020202020204" pitchFamily="34" charset="0"/>
              </a:rPr>
              <a:t>Both curves shift.</a:t>
            </a:r>
          </a:p>
        </p:txBody>
      </p:sp>
      <p:sp>
        <p:nvSpPr>
          <p:cNvPr id="212014" name="Text Box 46">
            <a:extLst>
              <a:ext uri="{FF2B5EF4-FFF2-40B4-BE49-F238E27FC236}">
                <a16:creationId xmlns:a16="http://schemas.microsoft.com/office/drawing/2014/main" id="{668D5C3D-9B89-4D9D-811A-9599606ECDC7}"/>
              </a:ext>
            </a:extLst>
          </p:cNvPr>
          <p:cNvSpPr txBox="1">
            <a:spLocks noChangeArrowheads="1"/>
          </p:cNvSpPr>
          <p:nvPr/>
        </p:nvSpPr>
        <p:spPr bwMode="auto">
          <a:xfrm>
            <a:off x="446088" y="3435350"/>
            <a:ext cx="32004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
              </a:spcBef>
              <a:buClr>
                <a:srgbClr val="00B85C"/>
              </a:buClr>
              <a:buFont typeface="Wingdings" panose="05000000000000000000" pitchFamily="2" charset="2"/>
              <a:buNone/>
            </a:pPr>
            <a:r>
              <a:rPr lang="en-US" altLang="en-US" sz="2300" b="1">
                <a:cs typeface="Arial" panose="020B0604020202020204" pitchFamily="34" charset="0"/>
              </a:rPr>
              <a:t>STEP 2:  </a:t>
            </a:r>
          </a:p>
          <a:p>
            <a:pPr eaLnBrk="1" hangingPunct="1">
              <a:lnSpc>
                <a:spcPct val="100000"/>
              </a:lnSpc>
              <a:spcBef>
                <a:spcPct val="5000"/>
              </a:spcBef>
              <a:buClr>
                <a:srgbClr val="00B85C"/>
              </a:buClr>
              <a:buFont typeface="Wingdings" panose="05000000000000000000" pitchFamily="2" charset="2"/>
              <a:buNone/>
            </a:pPr>
            <a:r>
              <a:rPr lang="en-US" altLang="en-US" sz="2500">
                <a:cs typeface="Arial" panose="020B0604020202020204" pitchFamily="34" charset="0"/>
              </a:rPr>
              <a:t>Both shift </a:t>
            </a:r>
            <a:r>
              <a:rPr lang="en-US" altLang="en-US" sz="2500" u="sng">
                <a:cs typeface="Arial" panose="020B0604020202020204" pitchFamily="34" charset="0"/>
              </a:rPr>
              <a:t>to the right</a:t>
            </a:r>
            <a:r>
              <a:rPr lang="en-US" altLang="en-US" sz="2500">
                <a:cs typeface="Arial" panose="020B0604020202020204" pitchFamily="34" charset="0"/>
              </a:rPr>
              <a:t>. </a:t>
            </a:r>
          </a:p>
        </p:txBody>
      </p:sp>
      <p:sp>
        <p:nvSpPr>
          <p:cNvPr id="212015" name="Text Box 47">
            <a:extLst>
              <a:ext uri="{FF2B5EF4-FFF2-40B4-BE49-F238E27FC236}">
                <a16:creationId xmlns:a16="http://schemas.microsoft.com/office/drawing/2014/main" id="{F3230118-60AF-4E3E-BD16-41BE979A6197}"/>
              </a:ext>
            </a:extLst>
          </p:cNvPr>
          <p:cNvSpPr txBox="1">
            <a:spLocks noChangeArrowheads="1"/>
          </p:cNvSpPr>
          <p:nvPr/>
        </p:nvSpPr>
        <p:spPr bwMode="auto">
          <a:xfrm>
            <a:off x="454025" y="4343400"/>
            <a:ext cx="4360863"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
              </a:spcBef>
              <a:buClr>
                <a:srgbClr val="00B85C"/>
              </a:buClr>
              <a:buFont typeface="Wingdings" panose="05000000000000000000" pitchFamily="2" charset="2"/>
              <a:buNone/>
            </a:pPr>
            <a:r>
              <a:rPr lang="en-US" altLang="en-US" sz="2300" b="1">
                <a:cs typeface="Arial" panose="020B0604020202020204" pitchFamily="34" charset="0"/>
              </a:rPr>
              <a:t>STEP 3:  </a:t>
            </a:r>
          </a:p>
          <a:p>
            <a:pPr eaLnBrk="1" hangingPunct="1">
              <a:lnSpc>
                <a:spcPct val="100000"/>
              </a:lnSpc>
              <a:spcBef>
                <a:spcPct val="5000"/>
              </a:spcBef>
              <a:buClr>
                <a:srgbClr val="00B85C"/>
              </a:buClr>
              <a:buFont typeface="Wingdings" panose="05000000000000000000" pitchFamily="2" charset="2"/>
              <a:buNone/>
            </a:pPr>
            <a:r>
              <a:rPr lang="en-US" altLang="en-US" sz="2500" b="1" i="1">
                <a:cs typeface="Arial" panose="020B0604020202020204" pitchFamily="34" charset="0"/>
              </a:rPr>
              <a:t>Q</a:t>
            </a:r>
            <a:r>
              <a:rPr lang="en-US" altLang="en-US" sz="2500">
                <a:cs typeface="Arial" panose="020B0604020202020204" pitchFamily="34" charset="0"/>
              </a:rPr>
              <a:t> rises, but effect </a:t>
            </a:r>
            <a:br>
              <a:rPr lang="en-US" altLang="en-US" sz="2500">
                <a:cs typeface="Arial" panose="020B0604020202020204" pitchFamily="34" charset="0"/>
              </a:rPr>
            </a:br>
            <a:r>
              <a:rPr lang="en-US" altLang="en-US" sz="2500">
                <a:cs typeface="Arial" panose="020B0604020202020204" pitchFamily="34" charset="0"/>
              </a:rPr>
              <a:t>on </a:t>
            </a:r>
            <a:r>
              <a:rPr lang="en-US" altLang="en-US" sz="2500" b="1" i="1">
                <a:cs typeface="Arial" panose="020B0604020202020204" pitchFamily="34" charset="0"/>
              </a:rPr>
              <a:t>P</a:t>
            </a:r>
            <a:r>
              <a:rPr lang="en-US" altLang="en-US" sz="2500">
                <a:cs typeface="Arial" panose="020B0604020202020204" pitchFamily="34" charset="0"/>
              </a:rPr>
              <a:t> is ambiguous: </a:t>
            </a:r>
          </a:p>
          <a:p>
            <a:pPr eaLnBrk="1" hangingPunct="1">
              <a:lnSpc>
                <a:spcPct val="100000"/>
              </a:lnSpc>
              <a:spcBef>
                <a:spcPct val="5000"/>
              </a:spcBef>
              <a:buClr>
                <a:srgbClr val="00B85C"/>
              </a:buClr>
              <a:buFont typeface="Wingdings" panose="05000000000000000000" pitchFamily="2" charset="2"/>
              <a:buNone/>
            </a:pPr>
            <a:r>
              <a:rPr lang="en-US" altLang="en-US" sz="2500">
                <a:cs typeface="Arial" panose="020B0604020202020204" pitchFamily="34" charset="0"/>
              </a:rPr>
              <a:t>If demand increases more than supply, </a:t>
            </a:r>
            <a:r>
              <a:rPr lang="en-US" altLang="en-US" sz="2500" b="1" i="1">
                <a:cs typeface="Arial" panose="020B0604020202020204" pitchFamily="34" charset="0"/>
              </a:rPr>
              <a:t>P</a:t>
            </a:r>
            <a:r>
              <a:rPr lang="en-US" altLang="en-US" sz="2500">
                <a:cs typeface="Arial" panose="020B0604020202020204" pitchFamily="34" charset="0"/>
              </a:rPr>
              <a:t> rises.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2012">
                                            <p:txEl>
                                              <p:pRg st="0" end="0"/>
                                            </p:txEl>
                                          </p:spTgt>
                                        </p:tgtEl>
                                        <p:attrNameLst>
                                          <p:attrName>style.visibility</p:attrName>
                                        </p:attrNameLst>
                                      </p:cBhvr>
                                      <p:to>
                                        <p:strVal val="visible"/>
                                      </p:to>
                                    </p:set>
                                    <p:animEffect transition="in" filter="wipe(left)">
                                      <p:cBhvr>
                                        <p:cTn id="7" dur="500"/>
                                        <p:tgtEl>
                                          <p:spTgt spid="2120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2013">
                                            <p:txEl>
                                              <p:pRg st="0" end="0"/>
                                            </p:txEl>
                                          </p:spTgt>
                                        </p:tgtEl>
                                        <p:attrNameLst>
                                          <p:attrName>style.visibility</p:attrName>
                                        </p:attrNameLst>
                                      </p:cBhvr>
                                      <p:to>
                                        <p:strVal val="visible"/>
                                      </p:to>
                                    </p:set>
                                    <p:animEffect transition="in" filter="wipe(left)">
                                      <p:cBhvr>
                                        <p:cTn id="12" dur="500"/>
                                        <p:tgtEl>
                                          <p:spTgt spid="21201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2013">
                                            <p:txEl>
                                              <p:pRg st="1" end="1"/>
                                            </p:txEl>
                                          </p:spTgt>
                                        </p:tgtEl>
                                        <p:attrNameLst>
                                          <p:attrName>style.visibility</p:attrName>
                                        </p:attrNameLst>
                                      </p:cBhvr>
                                      <p:to>
                                        <p:strVal val="visible"/>
                                      </p:to>
                                    </p:set>
                                    <p:animEffect transition="in" filter="wipe(left)">
                                      <p:cBhvr>
                                        <p:cTn id="17" dur="500"/>
                                        <p:tgtEl>
                                          <p:spTgt spid="21201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2014"/>
                                        </p:tgtEl>
                                        <p:attrNameLst>
                                          <p:attrName>style.visibility</p:attrName>
                                        </p:attrNameLst>
                                      </p:cBhvr>
                                      <p:to>
                                        <p:strVal val="visible"/>
                                      </p:to>
                                    </p:set>
                                    <p:animEffect transition="in" filter="wipe(left)">
                                      <p:cBhvr>
                                        <p:cTn id="22" dur="500"/>
                                        <p:tgtEl>
                                          <p:spTgt spid="2120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nodeType="clickEffect">
                                  <p:stCondLst>
                                    <p:cond delay="0"/>
                                  </p:stCondLst>
                                  <p:childTnLst>
                                    <p:set>
                                      <p:cBhvr>
                                        <p:cTn id="26" dur="1" fill="hold">
                                          <p:stCondLst>
                                            <p:cond delay="0"/>
                                          </p:stCondLst>
                                        </p:cTn>
                                        <p:tgtEl>
                                          <p:spTgt spid="212002"/>
                                        </p:tgtEl>
                                        <p:attrNameLst>
                                          <p:attrName>style.visibility</p:attrName>
                                        </p:attrNameLst>
                                      </p:cBhvr>
                                      <p:to>
                                        <p:strVal val="visible"/>
                                      </p:to>
                                    </p:set>
                                    <p:anim calcmode="lin" valueType="num">
                                      <p:cBhvr>
                                        <p:cTn id="27" dur="500" fill="hold"/>
                                        <p:tgtEl>
                                          <p:spTgt spid="212002"/>
                                        </p:tgtEl>
                                        <p:attrNameLst>
                                          <p:attrName>ppt_x</p:attrName>
                                        </p:attrNameLst>
                                      </p:cBhvr>
                                      <p:tavLst>
                                        <p:tav tm="0">
                                          <p:val>
                                            <p:strVal val="#ppt_x-#ppt_w/2"/>
                                          </p:val>
                                        </p:tav>
                                        <p:tav tm="100000">
                                          <p:val>
                                            <p:strVal val="#ppt_x"/>
                                          </p:val>
                                        </p:tav>
                                      </p:tavLst>
                                    </p:anim>
                                    <p:anim calcmode="lin" valueType="num">
                                      <p:cBhvr>
                                        <p:cTn id="28" dur="500" fill="hold"/>
                                        <p:tgtEl>
                                          <p:spTgt spid="212002"/>
                                        </p:tgtEl>
                                        <p:attrNameLst>
                                          <p:attrName>ppt_y</p:attrName>
                                        </p:attrNameLst>
                                      </p:cBhvr>
                                      <p:tavLst>
                                        <p:tav tm="0">
                                          <p:val>
                                            <p:strVal val="#ppt_y"/>
                                          </p:val>
                                        </p:tav>
                                        <p:tav tm="100000">
                                          <p:val>
                                            <p:strVal val="#ppt_y"/>
                                          </p:val>
                                        </p:tav>
                                      </p:tavLst>
                                    </p:anim>
                                    <p:anim calcmode="lin" valueType="num">
                                      <p:cBhvr>
                                        <p:cTn id="29" dur="500" fill="hold"/>
                                        <p:tgtEl>
                                          <p:spTgt spid="212002"/>
                                        </p:tgtEl>
                                        <p:attrNameLst>
                                          <p:attrName>ppt_w</p:attrName>
                                        </p:attrNameLst>
                                      </p:cBhvr>
                                      <p:tavLst>
                                        <p:tav tm="0">
                                          <p:val>
                                            <p:fltVal val="0"/>
                                          </p:val>
                                        </p:tav>
                                        <p:tav tm="100000">
                                          <p:val>
                                            <p:strVal val="#ppt_w"/>
                                          </p:val>
                                        </p:tav>
                                      </p:tavLst>
                                    </p:anim>
                                    <p:anim calcmode="lin" valueType="num">
                                      <p:cBhvr>
                                        <p:cTn id="30" dur="500" fill="hold"/>
                                        <p:tgtEl>
                                          <p:spTgt spid="212002"/>
                                        </p:tgtEl>
                                        <p:attrNameLst>
                                          <p:attrName>ppt_h</p:attrName>
                                        </p:attrNameLst>
                                      </p:cBhvr>
                                      <p:tavLst>
                                        <p:tav tm="0">
                                          <p:val>
                                            <p:strVal val="#ppt_h"/>
                                          </p:val>
                                        </p:tav>
                                        <p:tav tm="100000">
                                          <p:val>
                                            <p:strVal val="#ppt_h"/>
                                          </p:val>
                                        </p:tav>
                                      </p:tavLst>
                                    </p:anim>
                                  </p:childTnLst>
                                </p:cTn>
                              </p:par>
                            </p:childTnLst>
                          </p:cTn>
                        </p:par>
                        <p:par>
                          <p:cTn id="31" fill="hold" nodeType="afterGroup">
                            <p:stCondLst>
                              <p:cond delay="500"/>
                            </p:stCondLst>
                            <p:childTnLst>
                              <p:par>
                                <p:cTn id="32" presetID="18" presetClass="entr" presetSubtype="6"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trips(downRight)">
                                      <p:cBhvr>
                                        <p:cTn id="34" dur="500"/>
                                        <p:tgtEl>
                                          <p:spTgt spid="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nodeType="clickEffect">
                                  <p:stCondLst>
                                    <p:cond delay="0"/>
                                  </p:stCondLst>
                                  <p:childTnLst>
                                    <p:set>
                                      <p:cBhvr>
                                        <p:cTn id="38" dur="1" fill="hold">
                                          <p:stCondLst>
                                            <p:cond delay="0"/>
                                          </p:stCondLst>
                                        </p:cTn>
                                        <p:tgtEl>
                                          <p:spTgt spid="212003"/>
                                        </p:tgtEl>
                                        <p:attrNameLst>
                                          <p:attrName>style.visibility</p:attrName>
                                        </p:attrNameLst>
                                      </p:cBhvr>
                                      <p:to>
                                        <p:strVal val="visible"/>
                                      </p:to>
                                    </p:set>
                                    <p:anim calcmode="lin" valueType="num">
                                      <p:cBhvr>
                                        <p:cTn id="39" dur="500" fill="hold"/>
                                        <p:tgtEl>
                                          <p:spTgt spid="212003"/>
                                        </p:tgtEl>
                                        <p:attrNameLst>
                                          <p:attrName>ppt_x</p:attrName>
                                        </p:attrNameLst>
                                      </p:cBhvr>
                                      <p:tavLst>
                                        <p:tav tm="0">
                                          <p:val>
                                            <p:strVal val="#ppt_x-#ppt_w/2"/>
                                          </p:val>
                                        </p:tav>
                                        <p:tav tm="100000">
                                          <p:val>
                                            <p:strVal val="#ppt_x"/>
                                          </p:val>
                                        </p:tav>
                                      </p:tavLst>
                                    </p:anim>
                                    <p:anim calcmode="lin" valueType="num">
                                      <p:cBhvr>
                                        <p:cTn id="40" dur="500" fill="hold"/>
                                        <p:tgtEl>
                                          <p:spTgt spid="212003"/>
                                        </p:tgtEl>
                                        <p:attrNameLst>
                                          <p:attrName>ppt_y</p:attrName>
                                        </p:attrNameLst>
                                      </p:cBhvr>
                                      <p:tavLst>
                                        <p:tav tm="0">
                                          <p:val>
                                            <p:strVal val="#ppt_y"/>
                                          </p:val>
                                        </p:tav>
                                        <p:tav tm="100000">
                                          <p:val>
                                            <p:strVal val="#ppt_y"/>
                                          </p:val>
                                        </p:tav>
                                      </p:tavLst>
                                    </p:anim>
                                    <p:anim calcmode="lin" valueType="num">
                                      <p:cBhvr>
                                        <p:cTn id="41" dur="500" fill="hold"/>
                                        <p:tgtEl>
                                          <p:spTgt spid="212003"/>
                                        </p:tgtEl>
                                        <p:attrNameLst>
                                          <p:attrName>ppt_w</p:attrName>
                                        </p:attrNameLst>
                                      </p:cBhvr>
                                      <p:tavLst>
                                        <p:tav tm="0">
                                          <p:val>
                                            <p:fltVal val="0"/>
                                          </p:val>
                                        </p:tav>
                                        <p:tav tm="100000">
                                          <p:val>
                                            <p:strVal val="#ppt_w"/>
                                          </p:val>
                                        </p:tav>
                                      </p:tavLst>
                                    </p:anim>
                                    <p:anim calcmode="lin" valueType="num">
                                      <p:cBhvr>
                                        <p:cTn id="42" dur="500" fill="hold"/>
                                        <p:tgtEl>
                                          <p:spTgt spid="212003"/>
                                        </p:tgtEl>
                                        <p:attrNameLst>
                                          <p:attrName>ppt_h</p:attrName>
                                        </p:attrNameLst>
                                      </p:cBhvr>
                                      <p:tavLst>
                                        <p:tav tm="0">
                                          <p:val>
                                            <p:strVal val="#ppt_h"/>
                                          </p:val>
                                        </p:tav>
                                        <p:tav tm="100000">
                                          <p:val>
                                            <p:strVal val="#ppt_h"/>
                                          </p:val>
                                        </p:tav>
                                      </p:tavLst>
                                    </p:anim>
                                  </p:childTnLst>
                                </p:cTn>
                              </p:par>
                            </p:childTnLst>
                          </p:cTn>
                        </p:par>
                        <p:par>
                          <p:cTn id="43" fill="hold" nodeType="afterGroup">
                            <p:stCondLst>
                              <p:cond delay="500"/>
                            </p:stCondLst>
                            <p:childTnLst>
                              <p:par>
                                <p:cTn id="44" presetID="18" presetClass="entr" presetSubtype="12"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strips(downLeft)">
                                      <p:cBhvr>
                                        <p:cTn id="46" dur="500"/>
                                        <p:tgtEl>
                                          <p:spTgt spid="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12015">
                                            <p:txEl>
                                              <p:pRg st="0" end="0"/>
                                            </p:txEl>
                                          </p:spTgt>
                                        </p:tgtEl>
                                        <p:attrNameLst>
                                          <p:attrName>style.visibility</p:attrName>
                                        </p:attrNameLst>
                                      </p:cBhvr>
                                      <p:to>
                                        <p:strVal val="visible"/>
                                      </p:to>
                                    </p:set>
                                    <p:animEffect transition="in" filter="wipe(left)">
                                      <p:cBhvr>
                                        <p:cTn id="51" dur="500"/>
                                        <p:tgtEl>
                                          <p:spTgt spid="212015">
                                            <p:txEl>
                                              <p:pRg st="0" end="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12015">
                                            <p:txEl>
                                              <p:pRg st="1" end="1"/>
                                            </p:txEl>
                                          </p:spTgt>
                                        </p:tgtEl>
                                        <p:attrNameLst>
                                          <p:attrName>style.visibility</p:attrName>
                                        </p:attrNameLst>
                                      </p:cBhvr>
                                      <p:to>
                                        <p:strVal val="visible"/>
                                      </p:to>
                                    </p:set>
                                    <p:animEffect transition="in" filter="wipe(left)">
                                      <p:cBhvr>
                                        <p:cTn id="56" dur="500"/>
                                        <p:tgtEl>
                                          <p:spTgt spid="212015">
                                            <p:txEl>
                                              <p:pRg st="1" end="1"/>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12015">
                                            <p:txEl>
                                              <p:pRg st="2" end="2"/>
                                            </p:txEl>
                                          </p:spTgt>
                                        </p:tgtEl>
                                        <p:attrNameLst>
                                          <p:attrName>style.visibility</p:attrName>
                                        </p:attrNameLst>
                                      </p:cBhvr>
                                      <p:to>
                                        <p:strVal val="visible"/>
                                      </p:to>
                                    </p:set>
                                    <p:animEffect transition="in" filter="wipe(left)">
                                      <p:cBhvr>
                                        <p:cTn id="61" dur="500"/>
                                        <p:tgtEl>
                                          <p:spTgt spid="212015">
                                            <p:txEl>
                                              <p:pRg st="2" end="2"/>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8" presetClass="entr" presetSubtype="12"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strips(downLeft)">
                                      <p:cBhvr>
                                        <p:cTn id="6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012" grpId="0" build="p" bldLvl="5"/>
      <p:bldP spid="212013" grpId="0" build="p"/>
      <p:bldP spid="212014" grpId="0"/>
      <p:bldP spid="212015"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Footer Placeholder 1">
            <a:extLst>
              <a:ext uri="{FF2B5EF4-FFF2-40B4-BE49-F238E27FC236}">
                <a16:creationId xmlns:a16="http://schemas.microsoft.com/office/drawing/2014/main" id="{A8D781D1-78AF-46A9-AF73-F285FE0DA6F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12643" name="Slide Number Placeholder 2">
            <a:extLst>
              <a:ext uri="{FF2B5EF4-FFF2-40B4-BE49-F238E27FC236}">
                <a16:creationId xmlns:a16="http://schemas.microsoft.com/office/drawing/2014/main" id="{98EFA427-8695-4D8E-B659-080404E93378}"/>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9B7653-191E-4C33-889B-6259FACB8273}" type="slidenum">
              <a:rPr lang="en-US" altLang="en-US">
                <a:solidFill>
                  <a:srgbClr val="777777"/>
                </a:solidFill>
                <a:latin typeface="Tahoma" panose="020B0604030504040204" pitchFamily="34" charset="0"/>
              </a:rPr>
              <a:pPr/>
              <a:t>53</a:t>
            </a:fld>
            <a:endParaRPr lang="en-US" altLang="en-US">
              <a:solidFill>
                <a:srgbClr val="777777"/>
              </a:solidFill>
              <a:latin typeface="Tahoma" panose="020B0604030504040204" pitchFamily="34" charset="0"/>
            </a:endParaRPr>
          </a:p>
        </p:txBody>
      </p:sp>
      <p:sp>
        <p:nvSpPr>
          <p:cNvPr id="112644" name="Rectangle 2">
            <a:extLst>
              <a:ext uri="{FF2B5EF4-FFF2-40B4-BE49-F238E27FC236}">
                <a16:creationId xmlns:a16="http://schemas.microsoft.com/office/drawing/2014/main" id="{0ED14F16-E002-4013-AD69-B3564A172DB4}"/>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3:  </a:t>
            </a:r>
            <a:r>
              <a:rPr lang="en-US" altLang="en-US" sz="3200"/>
              <a:t>	</a:t>
            </a:r>
            <a:r>
              <a:rPr lang="en-US" altLang="en-US" sz="3400"/>
              <a:t>A Shift in Both Supply </a:t>
            </a:r>
            <a:br>
              <a:rPr lang="en-US" altLang="en-US" sz="3400"/>
            </a:br>
            <a:r>
              <a:rPr lang="en-US" altLang="en-US" sz="3400"/>
              <a:t>    and Demand</a:t>
            </a:r>
          </a:p>
        </p:txBody>
      </p:sp>
      <p:sp>
        <p:nvSpPr>
          <p:cNvPr id="112645" name="Rectangle 3">
            <a:extLst>
              <a:ext uri="{FF2B5EF4-FFF2-40B4-BE49-F238E27FC236}">
                <a16:creationId xmlns:a16="http://schemas.microsoft.com/office/drawing/2014/main" id="{943DC3BA-BBAE-4802-BB0D-5F0B64B8DF4A}"/>
              </a:ext>
            </a:extLst>
          </p:cNvPr>
          <p:cNvSpPr>
            <a:spLocks noGrp="1" noChangeArrowheads="1"/>
          </p:cNvSpPr>
          <p:nvPr>
            <p:ph type="body" idx="4294967295"/>
          </p:nvPr>
        </p:nvSpPr>
        <p:spPr>
          <a:xfrm>
            <a:off x="441325" y="2798763"/>
            <a:ext cx="2570163" cy="506412"/>
          </a:xfrm>
        </p:spPr>
        <p:txBody>
          <a:bodyPr/>
          <a:lstStyle/>
          <a:p>
            <a:pPr marL="0" indent="0" eaLnBrk="1" hangingPunct="1">
              <a:buFont typeface="Wingdings" panose="05000000000000000000" pitchFamily="2" charset="2"/>
              <a:buNone/>
            </a:pPr>
            <a:r>
              <a:rPr lang="en-US" altLang="en-US" sz="2300" b="1"/>
              <a:t>STEP 3</a:t>
            </a:r>
            <a:r>
              <a:rPr lang="en-US" altLang="en-US" sz="2500"/>
              <a:t>, cont.</a:t>
            </a:r>
          </a:p>
        </p:txBody>
      </p:sp>
      <p:grpSp>
        <p:nvGrpSpPr>
          <p:cNvPr id="112646" name="Group 4">
            <a:extLst>
              <a:ext uri="{FF2B5EF4-FFF2-40B4-BE49-F238E27FC236}">
                <a16:creationId xmlns:a16="http://schemas.microsoft.com/office/drawing/2014/main" id="{6CF68903-C93D-411F-A9AC-D1275650CA4A}"/>
              </a:ext>
            </a:extLst>
          </p:cNvPr>
          <p:cNvGrpSpPr>
            <a:grpSpLocks/>
          </p:cNvGrpSpPr>
          <p:nvPr/>
        </p:nvGrpSpPr>
        <p:grpSpPr bwMode="auto">
          <a:xfrm>
            <a:off x="4094163" y="1179513"/>
            <a:ext cx="4422775" cy="4106862"/>
            <a:chOff x="2579" y="785"/>
            <a:chExt cx="2786" cy="2420"/>
          </a:xfrm>
        </p:grpSpPr>
        <p:grpSp>
          <p:nvGrpSpPr>
            <p:cNvPr id="112676" name="Group 5">
              <a:extLst>
                <a:ext uri="{FF2B5EF4-FFF2-40B4-BE49-F238E27FC236}">
                  <a16:creationId xmlns:a16="http://schemas.microsoft.com/office/drawing/2014/main" id="{070E614B-FB96-4610-B732-D7B2E9795275}"/>
                </a:ext>
              </a:extLst>
            </p:cNvPr>
            <p:cNvGrpSpPr>
              <a:grpSpLocks/>
            </p:cNvGrpSpPr>
            <p:nvPr/>
          </p:nvGrpSpPr>
          <p:grpSpPr bwMode="auto">
            <a:xfrm>
              <a:off x="2697" y="1037"/>
              <a:ext cx="2409" cy="2049"/>
              <a:chOff x="1098" y="1361"/>
              <a:chExt cx="2116" cy="2027"/>
            </a:xfrm>
          </p:grpSpPr>
          <p:sp>
            <p:nvSpPr>
              <p:cNvPr id="112679" name="Line 6">
                <a:extLst>
                  <a:ext uri="{FF2B5EF4-FFF2-40B4-BE49-F238E27FC236}">
                    <a16:creationId xmlns:a16="http://schemas.microsoft.com/office/drawing/2014/main" id="{D983623B-641B-4044-9B50-0D395C973677}"/>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0" name="Line 7">
                <a:extLst>
                  <a:ext uri="{FF2B5EF4-FFF2-40B4-BE49-F238E27FC236}">
                    <a16:creationId xmlns:a16="http://schemas.microsoft.com/office/drawing/2014/main" id="{A42FE1DA-3EDB-45B7-BE92-AF16C65DFFCF}"/>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677" name="Text Box 8">
              <a:extLst>
                <a:ext uri="{FF2B5EF4-FFF2-40B4-BE49-F238E27FC236}">
                  <a16:creationId xmlns:a16="http://schemas.microsoft.com/office/drawing/2014/main" id="{F3C847C5-D513-4763-8566-CBC286F7E6D8}"/>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12678" name="Text Box 9">
              <a:extLst>
                <a:ext uri="{FF2B5EF4-FFF2-40B4-BE49-F238E27FC236}">
                  <a16:creationId xmlns:a16="http://schemas.microsoft.com/office/drawing/2014/main" id="{2FC88BEC-6725-4B03-9766-DCF19A9B8C6E}"/>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12647" name="Group 10">
            <a:extLst>
              <a:ext uri="{FF2B5EF4-FFF2-40B4-BE49-F238E27FC236}">
                <a16:creationId xmlns:a16="http://schemas.microsoft.com/office/drawing/2014/main" id="{FC85EE5E-5F73-4614-9CDA-9F61511A238D}"/>
              </a:ext>
            </a:extLst>
          </p:cNvPr>
          <p:cNvGrpSpPr>
            <a:grpSpLocks/>
          </p:cNvGrpSpPr>
          <p:nvPr/>
        </p:nvGrpSpPr>
        <p:grpSpPr bwMode="auto">
          <a:xfrm>
            <a:off x="4524375" y="1957388"/>
            <a:ext cx="2486025" cy="2901950"/>
            <a:chOff x="2850" y="1233"/>
            <a:chExt cx="1566" cy="1828"/>
          </a:xfrm>
        </p:grpSpPr>
        <p:sp>
          <p:nvSpPr>
            <p:cNvPr id="112674" name="Line 11">
              <a:extLst>
                <a:ext uri="{FF2B5EF4-FFF2-40B4-BE49-F238E27FC236}">
                  <a16:creationId xmlns:a16="http://schemas.microsoft.com/office/drawing/2014/main" id="{FD84D5C9-5FAE-4BBB-81CF-8D19783A42BD}"/>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5" name="Text Box 12">
              <a:extLst>
                <a:ext uri="{FF2B5EF4-FFF2-40B4-BE49-F238E27FC236}">
                  <a16:creationId xmlns:a16="http://schemas.microsoft.com/office/drawing/2014/main" id="{BE1D4D2F-5BFA-4BB7-A27F-7BB9BE53A5B4}"/>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12648" name="Group 13">
            <a:extLst>
              <a:ext uri="{FF2B5EF4-FFF2-40B4-BE49-F238E27FC236}">
                <a16:creationId xmlns:a16="http://schemas.microsoft.com/office/drawing/2014/main" id="{7EF61503-4682-41EF-9832-E703549A71AB}"/>
              </a:ext>
            </a:extLst>
          </p:cNvPr>
          <p:cNvGrpSpPr>
            <a:grpSpLocks/>
          </p:cNvGrpSpPr>
          <p:nvPr/>
        </p:nvGrpSpPr>
        <p:grpSpPr bwMode="auto">
          <a:xfrm>
            <a:off x="4868863" y="1625600"/>
            <a:ext cx="1933575" cy="2901950"/>
            <a:chOff x="3067" y="1024"/>
            <a:chExt cx="1218" cy="1828"/>
          </a:xfrm>
        </p:grpSpPr>
        <p:sp>
          <p:nvSpPr>
            <p:cNvPr id="112672" name="Line 14">
              <a:extLst>
                <a:ext uri="{FF2B5EF4-FFF2-40B4-BE49-F238E27FC236}">
                  <a16:creationId xmlns:a16="http://schemas.microsoft.com/office/drawing/2014/main" id="{FBCBBE63-6408-4C31-A58D-6E85776AC479}"/>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3" name="Text Box 15">
              <a:extLst>
                <a:ext uri="{FF2B5EF4-FFF2-40B4-BE49-F238E27FC236}">
                  <a16:creationId xmlns:a16="http://schemas.microsoft.com/office/drawing/2014/main" id="{5638CDE8-F5B6-44FF-81F9-4E0EA49387E3}"/>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12649" name="Group 16">
            <a:extLst>
              <a:ext uri="{FF2B5EF4-FFF2-40B4-BE49-F238E27FC236}">
                <a16:creationId xmlns:a16="http://schemas.microsoft.com/office/drawing/2014/main" id="{A9C6A9D1-CE41-43E1-85AE-6FD686B96355}"/>
              </a:ext>
            </a:extLst>
          </p:cNvPr>
          <p:cNvGrpSpPr>
            <a:grpSpLocks/>
          </p:cNvGrpSpPr>
          <p:nvPr/>
        </p:nvGrpSpPr>
        <p:grpSpPr bwMode="auto">
          <a:xfrm>
            <a:off x="3783013" y="3136900"/>
            <a:ext cx="2060575" cy="2327275"/>
            <a:chOff x="2383" y="1976"/>
            <a:chExt cx="1298" cy="1466"/>
          </a:xfrm>
        </p:grpSpPr>
        <p:sp>
          <p:nvSpPr>
            <p:cNvPr id="112667" name="Text Box 17">
              <a:extLst>
                <a:ext uri="{FF2B5EF4-FFF2-40B4-BE49-F238E27FC236}">
                  <a16:creationId xmlns:a16="http://schemas.microsoft.com/office/drawing/2014/main" id="{41FA0D11-312B-49A4-BB66-0AB9EF09F687}"/>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12668" name="Oval 18">
              <a:extLst>
                <a:ext uri="{FF2B5EF4-FFF2-40B4-BE49-F238E27FC236}">
                  <a16:creationId xmlns:a16="http://schemas.microsoft.com/office/drawing/2014/main" id="{3FD9FE48-3527-492F-BF35-19C57485E3DB}"/>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2669" name="Line 19">
              <a:extLst>
                <a:ext uri="{FF2B5EF4-FFF2-40B4-BE49-F238E27FC236}">
                  <a16:creationId xmlns:a16="http://schemas.microsoft.com/office/drawing/2014/main" id="{985ED3E0-496A-49A3-983E-B2144E555AF5}"/>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2670" name="Line 20">
              <a:extLst>
                <a:ext uri="{FF2B5EF4-FFF2-40B4-BE49-F238E27FC236}">
                  <a16:creationId xmlns:a16="http://schemas.microsoft.com/office/drawing/2014/main" id="{68242D66-8C8C-46F0-AB3F-881D67B62A45}"/>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2671" name="Text Box 21">
              <a:extLst>
                <a:ext uri="{FF2B5EF4-FFF2-40B4-BE49-F238E27FC236}">
                  <a16:creationId xmlns:a16="http://schemas.microsoft.com/office/drawing/2014/main" id="{2A690CEA-92D4-4B72-B633-1C81DE2D024D}"/>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2">
            <a:extLst>
              <a:ext uri="{FF2B5EF4-FFF2-40B4-BE49-F238E27FC236}">
                <a16:creationId xmlns:a16="http://schemas.microsoft.com/office/drawing/2014/main" id="{EF915619-9A9F-498D-AC7E-2B3410A49C8B}"/>
              </a:ext>
            </a:extLst>
          </p:cNvPr>
          <p:cNvGrpSpPr>
            <a:grpSpLocks/>
          </p:cNvGrpSpPr>
          <p:nvPr/>
        </p:nvGrpSpPr>
        <p:grpSpPr bwMode="auto">
          <a:xfrm>
            <a:off x="6043613" y="1633538"/>
            <a:ext cx="1933575" cy="2901950"/>
            <a:chOff x="3520" y="1029"/>
            <a:chExt cx="1218" cy="1828"/>
          </a:xfrm>
        </p:grpSpPr>
        <p:sp>
          <p:nvSpPr>
            <p:cNvPr id="112665" name="Line 23">
              <a:extLst>
                <a:ext uri="{FF2B5EF4-FFF2-40B4-BE49-F238E27FC236}">
                  <a16:creationId xmlns:a16="http://schemas.microsoft.com/office/drawing/2014/main" id="{122743CC-6290-4863-A06E-0A9C74F54BF2}"/>
                </a:ext>
              </a:extLst>
            </p:cNvPr>
            <p:cNvSpPr>
              <a:spLocks noChangeShapeType="1"/>
            </p:cNvSpPr>
            <p:nvPr/>
          </p:nvSpPr>
          <p:spPr bwMode="auto">
            <a:xfrm flipV="1">
              <a:off x="3520" y="1283"/>
              <a:ext cx="949" cy="15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6" name="Text Box 24">
              <a:extLst>
                <a:ext uri="{FF2B5EF4-FFF2-40B4-BE49-F238E27FC236}">
                  <a16:creationId xmlns:a16="http://schemas.microsoft.com/office/drawing/2014/main" id="{F817154D-D187-460D-95E2-E57C5A75C512}"/>
                </a:ext>
              </a:extLst>
            </p:cNvPr>
            <p:cNvSpPr txBox="1">
              <a:spLocks noChangeArrowheads="1"/>
            </p:cNvSpPr>
            <p:nvPr/>
          </p:nvSpPr>
          <p:spPr bwMode="auto">
            <a:xfrm>
              <a:off x="4373" y="1029"/>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2</a:t>
              </a:r>
            </a:p>
          </p:txBody>
        </p:sp>
      </p:grpSp>
      <p:grpSp>
        <p:nvGrpSpPr>
          <p:cNvPr id="8" name="Group 25">
            <a:extLst>
              <a:ext uri="{FF2B5EF4-FFF2-40B4-BE49-F238E27FC236}">
                <a16:creationId xmlns:a16="http://schemas.microsoft.com/office/drawing/2014/main" id="{8600098D-8409-42CA-8585-3A3F008B1B78}"/>
              </a:ext>
            </a:extLst>
          </p:cNvPr>
          <p:cNvGrpSpPr>
            <a:grpSpLocks/>
          </p:cNvGrpSpPr>
          <p:nvPr/>
        </p:nvGrpSpPr>
        <p:grpSpPr bwMode="auto">
          <a:xfrm>
            <a:off x="5210175" y="1854200"/>
            <a:ext cx="2486025" cy="2901950"/>
            <a:chOff x="3569" y="1168"/>
            <a:chExt cx="1566" cy="1828"/>
          </a:xfrm>
        </p:grpSpPr>
        <p:sp>
          <p:nvSpPr>
            <p:cNvPr id="112663" name="Line 26">
              <a:extLst>
                <a:ext uri="{FF2B5EF4-FFF2-40B4-BE49-F238E27FC236}">
                  <a16:creationId xmlns:a16="http://schemas.microsoft.com/office/drawing/2014/main" id="{59D97C0D-6B0D-44B7-83D8-70EBA375B354}"/>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4" name="Text Box 27">
              <a:extLst>
                <a:ext uri="{FF2B5EF4-FFF2-40B4-BE49-F238E27FC236}">
                  <a16:creationId xmlns:a16="http://schemas.microsoft.com/office/drawing/2014/main" id="{4099325C-C64A-4742-B38D-BA80AA43D5CB}"/>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216092" name="Line 28">
            <a:extLst>
              <a:ext uri="{FF2B5EF4-FFF2-40B4-BE49-F238E27FC236}">
                <a16:creationId xmlns:a16="http://schemas.microsoft.com/office/drawing/2014/main" id="{E5FFB125-9D93-49A1-A01D-5DBD92126EAC}"/>
              </a:ext>
            </a:extLst>
          </p:cNvPr>
          <p:cNvSpPr>
            <a:spLocks noChangeShapeType="1"/>
          </p:cNvSpPr>
          <p:nvPr/>
        </p:nvSpPr>
        <p:spPr bwMode="auto">
          <a:xfrm>
            <a:off x="6332538" y="2192338"/>
            <a:ext cx="1068387"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16093" name="Line 29">
            <a:extLst>
              <a:ext uri="{FF2B5EF4-FFF2-40B4-BE49-F238E27FC236}">
                <a16:creationId xmlns:a16="http://schemas.microsoft.com/office/drawing/2014/main" id="{8C8F44D0-B9D1-48F3-A38C-209C950FA8AB}"/>
              </a:ext>
            </a:extLst>
          </p:cNvPr>
          <p:cNvSpPr>
            <a:spLocks noChangeShapeType="1"/>
          </p:cNvSpPr>
          <p:nvPr/>
        </p:nvSpPr>
        <p:spPr bwMode="auto">
          <a:xfrm>
            <a:off x="4781550" y="2190750"/>
            <a:ext cx="646113"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nvGrpSpPr>
          <p:cNvPr id="9" name="Group 38">
            <a:extLst>
              <a:ext uri="{FF2B5EF4-FFF2-40B4-BE49-F238E27FC236}">
                <a16:creationId xmlns:a16="http://schemas.microsoft.com/office/drawing/2014/main" id="{E124D7FA-A69C-404F-BD7B-116C1A53162E}"/>
              </a:ext>
            </a:extLst>
          </p:cNvPr>
          <p:cNvGrpSpPr>
            <a:grpSpLocks/>
          </p:cNvGrpSpPr>
          <p:nvPr/>
        </p:nvGrpSpPr>
        <p:grpSpPr bwMode="auto">
          <a:xfrm>
            <a:off x="3654425" y="3532188"/>
            <a:ext cx="3197225" cy="1939925"/>
            <a:chOff x="2302" y="2225"/>
            <a:chExt cx="2014" cy="1222"/>
          </a:xfrm>
        </p:grpSpPr>
        <p:sp>
          <p:nvSpPr>
            <p:cNvPr id="112657" name="Text Box 31">
              <a:extLst>
                <a:ext uri="{FF2B5EF4-FFF2-40B4-BE49-F238E27FC236}">
                  <a16:creationId xmlns:a16="http://schemas.microsoft.com/office/drawing/2014/main" id="{8CBBC1A7-E72A-45B1-A814-0DDD244C2BCF}"/>
                </a:ext>
              </a:extLst>
            </p:cNvPr>
            <p:cNvSpPr txBox="1">
              <a:spLocks noChangeArrowheads="1"/>
            </p:cNvSpPr>
            <p:nvPr/>
          </p:nvSpPr>
          <p:spPr bwMode="auto">
            <a:xfrm>
              <a:off x="2302" y="2280"/>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12658" name="Oval 32">
              <a:extLst>
                <a:ext uri="{FF2B5EF4-FFF2-40B4-BE49-F238E27FC236}">
                  <a16:creationId xmlns:a16="http://schemas.microsoft.com/office/drawing/2014/main" id="{DCFBECCC-F313-4182-8931-102F82D19878}"/>
                </a:ext>
              </a:extLst>
            </p:cNvPr>
            <p:cNvSpPr>
              <a:spLocks noChangeArrowheads="1"/>
            </p:cNvSpPr>
            <p:nvPr/>
          </p:nvSpPr>
          <p:spPr bwMode="auto">
            <a:xfrm>
              <a:off x="4116" y="222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2659" name="Line 33">
              <a:extLst>
                <a:ext uri="{FF2B5EF4-FFF2-40B4-BE49-F238E27FC236}">
                  <a16:creationId xmlns:a16="http://schemas.microsoft.com/office/drawing/2014/main" id="{C58A72DC-C9EB-4210-A71C-28835C44E858}"/>
                </a:ext>
              </a:extLst>
            </p:cNvPr>
            <p:cNvSpPr>
              <a:spLocks noChangeShapeType="1"/>
            </p:cNvSpPr>
            <p:nvPr/>
          </p:nvSpPr>
          <p:spPr bwMode="auto">
            <a:xfrm>
              <a:off x="2699" y="2274"/>
              <a:ext cx="1459"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2660" name="Line 34">
              <a:extLst>
                <a:ext uri="{FF2B5EF4-FFF2-40B4-BE49-F238E27FC236}">
                  <a16:creationId xmlns:a16="http://schemas.microsoft.com/office/drawing/2014/main" id="{E5E14942-808D-496B-8A86-551ECB5C86F2}"/>
                </a:ext>
              </a:extLst>
            </p:cNvPr>
            <p:cNvSpPr>
              <a:spLocks noChangeShapeType="1"/>
            </p:cNvSpPr>
            <p:nvPr/>
          </p:nvSpPr>
          <p:spPr bwMode="auto">
            <a:xfrm flipH="1">
              <a:off x="4163" y="2274"/>
              <a:ext cx="0" cy="926"/>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2661" name="Text Box 35">
              <a:extLst>
                <a:ext uri="{FF2B5EF4-FFF2-40B4-BE49-F238E27FC236}">
                  <a16:creationId xmlns:a16="http://schemas.microsoft.com/office/drawing/2014/main" id="{4F4BC11D-3D4F-4D23-B452-5FFE52452CA7}"/>
                </a:ext>
              </a:extLst>
            </p:cNvPr>
            <p:cNvSpPr txBox="1">
              <a:spLocks noChangeArrowheads="1"/>
            </p:cNvSpPr>
            <p:nvPr/>
          </p:nvSpPr>
          <p:spPr bwMode="auto">
            <a:xfrm>
              <a:off x="4008" y="3217"/>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12662" name="Line 36">
              <a:extLst>
                <a:ext uri="{FF2B5EF4-FFF2-40B4-BE49-F238E27FC236}">
                  <a16:creationId xmlns:a16="http://schemas.microsoft.com/office/drawing/2014/main" id="{9EDA13A6-38D5-45CF-AC09-B772E912B3EE}"/>
                </a:ext>
              </a:extLst>
            </p:cNvPr>
            <p:cNvSpPr>
              <a:spLocks noChangeShapeType="1"/>
            </p:cNvSpPr>
            <p:nvPr/>
          </p:nvSpPr>
          <p:spPr bwMode="auto">
            <a:xfrm flipH="1">
              <a:off x="2519" y="2278"/>
              <a:ext cx="155" cy="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655" name="Rectangle 37">
            <a:extLst>
              <a:ext uri="{FF2B5EF4-FFF2-40B4-BE49-F238E27FC236}">
                <a16:creationId xmlns:a16="http://schemas.microsoft.com/office/drawing/2014/main" id="{27ABC5FD-2E0C-43DE-8D93-0889D463D670}"/>
              </a:ext>
            </a:extLst>
          </p:cNvPr>
          <p:cNvSpPr>
            <a:spLocks noChangeArrowheads="1"/>
          </p:cNvSpPr>
          <p:nvPr/>
        </p:nvSpPr>
        <p:spPr bwMode="auto">
          <a:xfrm>
            <a:off x="433388" y="944563"/>
            <a:ext cx="3714750"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buClr>
                <a:srgbClr val="00B85C"/>
              </a:buClr>
              <a:buFont typeface="Wingdings" panose="05000000000000000000" pitchFamily="2" charset="2"/>
              <a:buNone/>
            </a:pPr>
            <a:r>
              <a:rPr lang="en-US" altLang="en-US" sz="2400" b="1">
                <a:cs typeface="Arial" panose="020B0604020202020204" pitchFamily="34" charset="0"/>
              </a:rPr>
              <a:t>EVENTS:</a:t>
            </a:r>
            <a:r>
              <a:rPr lang="en-US" altLang="en-US" sz="2400">
                <a:cs typeface="Arial" panose="020B0604020202020204" pitchFamily="34" charset="0"/>
              </a:rPr>
              <a:t>  </a:t>
            </a:r>
            <a:br>
              <a:rPr lang="en-US" altLang="en-US" sz="2400">
                <a:cs typeface="Arial" panose="020B0604020202020204" pitchFamily="34" charset="0"/>
              </a:rPr>
            </a:br>
            <a:r>
              <a:rPr lang="en-US" altLang="en-US" sz="2400">
                <a:cs typeface="Arial" panose="020B0604020202020204" pitchFamily="34" charset="0"/>
              </a:rPr>
              <a:t>price of gas rises AND </a:t>
            </a:r>
            <a:br>
              <a:rPr lang="en-US" altLang="en-US" sz="2400">
                <a:cs typeface="Arial" panose="020B0604020202020204" pitchFamily="34" charset="0"/>
              </a:rPr>
            </a:br>
            <a:r>
              <a:rPr lang="en-US" altLang="en-US" sz="2400">
                <a:cs typeface="Arial" panose="020B0604020202020204" pitchFamily="34" charset="0"/>
              </a:rPr>
              <a:t>new technology reduces production costs</a:t>
            </a:r>
          </a:p>
        </p:txBody>
      </p:sp>
      <p:sp>
        <p:nvSpPr>
          <p:cNvPr id="216103" name="Rectangle 39">
            <a:extLst>
              <a:ext uri="{FF2B5EF4-FFF2-40B4-BE49-F238E27FC236}">
                <a16:creationId xmlns:a16="http://schemas.microsoft.com/office/drawing/2014/main" id="{B649C9D4-37FC-4DC6-B0E2-595B4A6A740E}"/>
              </a:ext>
            </a:extLst>
          </p:cNvPr>
          <p:cNvSpPr>
            <a:spLocks noChangeArrowheads="1"/>
          </p:cNvSpPr>
          <p:nvPr/>
        </p:nvSpPr>
        <p:spPr bwMode="auto">
          <a:xfrm>
            <a:off x="544513" y="3279775"/>
            <a:ext cx="254317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rgbClr val="00B85C"/>
              </a:buClr>
              <a:buFont typeface="Wingdings" panose="05000000000000000000" pitchFamily="2" charset="2"/>
              <a:buNone/>
            </a:pPr>
            <a:r>
              <a:rPr lang="en-US" altLang="en-US" sz="2500">
                <a:cs typeface="Arial" panose="020B0604020202020204" pitchFamily="34" charset="0"/>
              </a:rPr>
              <a:t>But if supply increases more than demand, </a:t>
            </a:r>
            <a:br>
              <a:rPr lang="en-US" altLang="en-US" sz="2500">
                <a:cs typeface="Arial" panose="020B0604020202020204" pitchFamily="34" charset="0"/>
              </a:rPr>
            </a:br>
            <a:r>
              <a:rPr lang="en-US" altLang="en-US" sz="2500" b="1" i="1">
                <a:cs typeface="Arial" panose="020B0604020202020204" pitchFamily="34" charset="0"/>
              </a:rPr>
              <a:t>P</a:t>
            </a:r>
            <a:r>
              <a:rPr lang="en-US" altLang="en-US" sz="2500">
                <a:cs typeface="Arial" panose="020B0604020202020204" pitchFamily="34" charset="0"/>
              </a:rPr>
              <a:t>  falls. </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103">
                                            <p:txEl>
                                              <p:pRg st="0" end="0"/>
                                            </p:txEl>
                                          </p:spTgt>
                                        </p:tgtEl>
                                        <p:attrNameLst>
                                          <p:attrName>style.visibility</p:attrName>
                                        </p:attrNameLst>
                                      </p:cBhvr>
                                      <p:to>
                                        <p:strVal val="visible"/>
                                      </p:to>
                                    </p:set>
                                    <p:animEffect transition="in" filter="wipe(left)">
                                      <p:cBhvr>
                                        <p:cTn id="7" dur="500"/>
                                        <p:tgtEl>
                                          <p:spTgt spid="2161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nodeType="clickEffect">
                                  <p:stCondLst>
                                    <p:cond delay="0"/>
                                  </p:stCondLst>
                                  <p:childTnLst>
                                    <p:set>
                                      <p:cBhvr>
                                        <p:cTn id="11" dur="1" fill="hold">
                                          <p:stCondLst>
                                            <p:cond delay="0"/>
                                          </p:stCondLst>
                                        </p:cTn>
                                        <p:tgtEl>
                                          <p:spTgt spid="216092"/>
                                        </p:tgtEl>
                                        <p:attrNameLst>
                                          <p:attrName>style.visibility</p:attrName>
                                        </p:attrNameLst>
                                      </p:cBhvr>
                                      <p:to>
                                        <p:strVal val="visible"/>
                                      </p:to>
                                    </p:set>
                                    <p:anim calcmode="lin" valueType="num">
                                      <p:cBhvr>
                                        <p:cTn id="12" dur="500" fill="hold"/>
                                        <p:tgtEl>
                                          <p:spTgt spid="216092"/>
                                        </p:tgtEl>
                                        <p:attrNameLst>
                                          <p:attrName>ppt_x</p:attrName>
                                        </p:attrNameLst>
                                      </p:cBhvr>
                                      <p:tavLst>
                                        <p:tav tm="0">
                                          <p:val>
                                            <p:strVal val="#ppt_x-#ppt_w/2"/>
                                          </p:val>
                                        </p:tav>
                                        <p:tav tm="100000">
                                          <p:val>
                                            <p:strVal val="#ppt_x"/>
                                          </p:val>
                                        </p:tav>
                                      </p:tavLst>
                                    </p:anim>
                                    <p:anim calcmode="lin" valueType="num">
                                      <p:cBhvr>
                                        <p:cTn id="13" dur="500" fill="hold"/>
                                        <p:tgtEl>
                                          <p:spTgt spid="216092"/>
                                        </p:tgtEl>
                                        <p:attrNameLst>
                                          <p:attrName>ppt_y</p:attrName>
                                        </p:attrNameLst>
                                      </p:cBhvr>
                                      <p:tavLst>
                                        <p:tav tm="0">
                                          <p:val>
                                            <p:strVal val="#ppt_y"/>
                                          </p:val>
                                        </p:tav>
                                        <p:tav tm="100000">
                                          <p:val>
                                            <p:strVal val="#ppt_y"/>
                                          </p:val>
                                        </p:tav>
                                      </p:tavLst>
                                    </p:anim>
                                    <p:anim calcmode="lin" valueType="num">
                                      <p:cBhvr>
                                        <p:cTn id="14" dur="500" fill="hold"/>
                                        <p:tgtEl>
                                          <p:spTgt spid="216092"/>
                                        </p:tgtEl>
                                        <p:attrNameLst>
                                          <p:attrName>ppt_w</p:attrName>
                                        </p:attrNameLst>
                                      </p:cBhvr>
                                      <p:tavLst>
                                        <p:tav tm="0">
                                          <p:val>
                                            <p:fltVal val="0"/>
                                          </p:val>
                                        </p:tav>
                                        <p:tav tm="100000">
                                          <p:val>
                                            <p:strVal val="#ppt_w"/>
                                          </p:val>
                                        </p:tav>
                                      </p:tavLst>
                                    </p:anim>
                                    <p:anim calcmode="lin" valueType="num">
                                      <p:cBhvr>
                                        <p:cTn id="15" dur="500" fill="hold"/>
                                        <p:tgtEl>
                                          <p:spTgt spid="216092"/>
                                        </p:tgtEl>
                                        <p:attrNameLst>
                                          <p:attrName>ppt_h</p:attrName>
                                        </p:attrNameLst>
                                      </p:cBhvr>
                                      <p:tavLst>
                                        <p:tav tm="0">
                                          <p:val>
                                            <p:strVal val="#ppt_h"/>
                                          </p:val>
                                        </p:tav>
                                        <p:tav tm="100000">
                                          <p:val>
                                            <p:strVal val="#ppt_h"/>
                                          </p:val>
                                        </p:tav>
                                      </p:tavLst>
                                    </p:anim>
                                  </p:childTnLst>
                                </p:cTn>
                              </p:par>
                            </p:childTnLst>
                          </p:cTn>
                        </p:par>
                        <p:par>
                          <p:cTn id="16" fill="hold" nodeType="afterGroup">
                            <p:stCondLst>
                              <p:cond delay="500"/>
                            </p:stCondLst>
                            <p:childTnLst>
                              <p:par>
                                <p:cTn id="17" presetID="18" presetClass="entr" presetSubtype="12"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strips(downLeft)">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8" fill="hold" nodeType="clickEffect">
                                  <p:stCondLst>
                                    <p:cond delay="0"/>
                                  </p:stCondLst>
                                  <p:childTnLst>
                                    <p:set>
                                      <p:cBhvr>
                                        <p:cTn id="23" dur="1" fill="hold">
                                          <p:stCondLst>
                                            <p:cond delay="0"/>
                                          </p:stCondLst>
                                        </p:cTn>
                                        <p:tgtEl>
                                          <p:spTgt spid="216093"/>
                                        </p:tgtEl>
                                        <p:attrNameLst>
                                          <p:attrName>style.visibility</p:attrName>
                                        </p:attrNameLst>
                                      </p:cBhvr>
                                      <p:to>
                                        <p:strVal val="visible"/>
                                      </p:to>
                                    </p:set>
                                    <p:anim calcmode="lin" valueType="num">
                                      <p:cBhvr>
                                        <p:cTn id="24" dur="500" fill="hold"/>
                                        <p:tgtEl>
                                          <p:spTgt spid="216093"/>
                                        </p:tgtEl>
                                        <p:attrNameLst>
                                          <p:attrName>ppt_x</p:attrName>
                                        </p:attrNameLst>
                                      </p:cBhvr>
                                      <p:tavLst>
                                        <p:tav tm="0">
                                          <p:val>
                                            <p:strVal val="#ppt_x-#ppt_w/2"/>
                                          </p:val>
                                        </p:tav>
                                        <p:tav tm="100000">
                                          <p:val>
                                            <p:strVal val="#ppt_x"/>
                                          </p:val>
                                        </p:tav>
                                      </p:tavLst>
                                    </p:anim>
                                    <p:anim calcmode="lin" valueType="num">
                                      <p:cBhvr>
                                        <p:cTn id="25" dur="500" fill="hold"/>
                                        <p:tgtEl>
                                          <p:spTgt spid="216093"/>
                                        </p:tgtEl>
                                        <p:attrNameLst>
                                          <p:attrName>ppt_y</p:attrName>
                                        </p:attrNameLst>
                                      </p:cBhvr>
                                      <p:tavLst>
                                        <p:tav tm="0">
                                          <p:val>
                                            <p:strVal val="#ppt_y"/>
                                          </p:val>
                                        </p:tav>
                                        <p:tav tm="100000">
                                          <p:val>
                                            <p:strVal val="#ppt_y"/>
                                          </p:val>
                                        </p:tav>
                                      </p:tavLst>
                                    </p:anim>
                                    <p:anim calcmode="lin" valueType="num">
                                      <p:cBhvr>
                                        <p:cTn id="26" dur="500" fill="hold"/>
                                        <p:tgtEl>
                                          <p:spTgt spid="216093"/>
                                        </p:tgtEl>
                                        <p:attrNameLst>
                                          <p:attrName>ppt_w</p:attrName>
                                        </p:attrNameLst>
                                      </p:cBhvr>
                                      <p:tavLst>
                                        <p:tav tm="0">
                                          <p:val>
                                            <p:fltVal val="0"/>
                                          </p:val>
                                        </p:tav>
                                        <p:tav tm="100000">
                                          <p:val>
                                            <p:strVal val="#ppt_w"/>
                                          </p:val>
                                        </p:tav>
                                      </p:tavLst>
                                    </p:anim>
                                    <p:anim calcmode="lin" valueType="num">
                                      <p:cBhvr>
                                        <p:cTn id="27" dur="500" fill="hold"/>
                                        <p:tgtEl>
                                          <p:spTgt spid="216093"/>
                                        </p:tgtEl>
                                        <p:attrNameLst>
                                          <p:attrName>ppt_h</p:attrName>
                                        </p:attrNameLst>
                                      </p:cBhvr>
                                      <p:tavLst>
                                        <p:tav tm="0">
                                          <p:val>
                                            <p:strVal val="#ppt_h"/>
                                          </p:val>
                                        </p:tav>
                                        <p:tav tm="100000">
                                          <p:val>
                                            <p:strVal val="#ppt_h"/>
                                          </p:val>
                                        </p:tav>
                                      </p:tavLst>
                                    </p:anim>
                                  </p:childTnLst>
                                </p:cTn>
                              </p:par>
                            </p:childTnLst>
                          </p:cTn>
                        </p:par>
                        <p:par>
                          <p:cTn id="28" fill="hold" nodeType="afterGroup">
                            <p:stCondLst>
                              <p:cond delay="500"/>
                            </p:stCondLst>
                            <p:childTnLst>
                              <p:par>
                                <p:cTn id="29" presetID="18" presetClass="entr" presetSubtype="6"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trips(downRight)">
                                      <p:cBhvr>
                                        <p:cTn id="31" dur="500"/>
                                        <p:tgtEl>
                                          <p:spTgt spid="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12"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strips(downLeft)">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03" grpId="0" build="p" bldLvl="5"/>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114690" name="Rectangle 8">
            <a:extLst>
              <a:ext uri="{FF2B5EF4-FFF2-40B4-BE49-F238E27FC236}">
                <a16:creationId xmlns:a16="http://schemas.microsoft.com/office/drawing/2014/main" id="{681F1301-162C-4191-9EF2-022D8387F4AE}"/>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2A05693C-6C95-4C0D-87DB-1C3E1CFFB576}"/>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Shifts in supply and demand</a:t>
            </a:r>
          </a:p>
        </p:txBody>
      </p:sp>
      <p:grpSp>
        <p:nvGrpSpPr>
          <p:cNvPr id="114692" name="Group 11">
            <a:extLst>
              <a:ext uri="{FF2B5EF4-FFF2-40B4-BE49-F238E27FC236}">
                <a16:creationId xmlns:a16="http://schemas.microsoft.com/office/drawing/2014/main" id="{DF4188D1-AB56-4284-8190-312EE8264A99}"/>
              </a:ext>
            </a:extLst>
          </p:cNvPr>
          <p:cNvGrpSpPr>
            <a:grpSpLocks/>
          </p:cNvGrpSpPr>
          <p:nvPr/>
        </p:nvGrpSpPr>
        <p:grpSpPr bwMode="auto">
          <a:xfrm>
            <a:off x="593725" y="290513"/>
            <a:ext cx="8210550" cy="1049337"/>
            <a:chOff x="374" y="183"/>
            <a:chExt cx="5000" cy="661"/>
          </a:xfrm>
        </p:grpSpPr>
        <p:sp>
          <p:nvSpPr>
            <p:cNvPr id="114695" name="Line 9">
              <a:extLst>
                <a:ext uri="{FF2B5EF4-FFF2-40B4-BE49-F238E27FC236}">
                  <a16:creationId xmlns:a16="http://schemas.microsoft.com/office/drawing/2014/main" id="{B65A04C6-EECE-4106-8FFB-A7D6F10B75CC}"/>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6" name="Line 10">
              <a:extLst>
                <a:ext uri="{FF2B5EF4-FFF2-40B4-BE49-F238E27FC236}">
                  <a16:creationId xmlns:a16="http://schemas.microsoft.com/office/drawing/2014/main" id="{F829056B-6004-4BF8-9A93-FCDC82FFEDF9}"/>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4693" name="Rectangle 8">
            <a:extLst>
              <a:ext uri="{FF2B5EF4-FFF2-40B4-BE49-F238E27FC236}">
                <a16:creationId xmlns:a16="http://schemas.microsoft.com/office/drawing/2014/main" id="{F98DBB81-B3EF-4B88-AB58-0CDC5A110070}"/>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ACFAE01-485F-4799-9301-45EC775591F8}" type="slidenum">
              <a:rPr lang="en-US" altLang="en-US" sz="1700">
                <a:solidFill>
                  <a:srgbClr val="777777"/>
                </a:solidFill>
                <a:latin typeface="Tahoma" panose="020B0604030504040204" pitchFamily="34" charset="0"/>
              </a:rPr>
              <a:pPr algn="r" eaLnBrk="1" hangingPunct="1"/>
              <a:t>54</a:t>
            </a:fld>
            <a:endParaRPr lang="en-US" altLang="en-US" sz="1700">
              <a:solidFill>
                <a:srgbClr val="777777"/>
              </a:solidFill>
              <a:latin typeface="Tahoma" panose="020B0604030504040204" pitchFamily="34" charset="0"/>
            </a:endParaRPr>
          </a:p>
        </p:txBody>
      </p:sp>
      <p:sp>
        <p:nvSpPr>
          <p:cNvPr id="272394" name="Rectangle 10">
            <a:extLst>
              <a:ext uri="{FF2B5EF4-FFF2-40B4-BE49-F238E27FC236}">
                <a16:creationId xmlns:a16="http://schemas.microsoft.com/office/drawing/2014/main" id="{896AA97A-07E2-4318-9C01-5EAA2AB02B10}"/>
              </a:ext>
            </a:extLst>
          </p:cNvPr>
          <p:cNvSpPr>
            <a:spLocks noChangeArrowheads="1"/>
          </p:cNvSpPr>
          <p:nvPr/>
        </p:nvSpPr>
        <p:spPr bwMode="auto">
          <a:xfrm>
            <a:off x="633413" y="1462088"/>
            <a:ext cx="8229600" cy="453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1720850" indent="-16065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
                <a:srgbClr val="003399"/>
              </a:buClr>
              <a:buFont typeface="Wingdings" panose="05000000000000000000" pitchFamily="2" charset="2"/>
              <a:buNone/>
            </a:pPr>
            <a:r>
              <a:rPr lang="en-US" altLang="en-US" sz="2700"/>
              <a:t>Use the three-step method to analyze the effects of each event on the equilibrium price and quantity of music downloads.  </a:t>
            </a:r>
          </a:p>
          <a:p>
            <a:pPr lvl="1" eaLnBrk="1" hangingPunct="1">
              <a:lnSpc>
                <a:spcPct val="105000"/>
              </a:lnSpc>
              <a:spcBef>
                <a:spcPct val="50000"/>
              </a:spcBef>
              <a:buClr>
                <a:srgbClr val="003399"/>
              </a:buClr>
              <a:buFont typeface="Wingdings" panose="05000000000000000000" pitchFamily="2" charset="2"/>
              <a:buNone/>
            </a:pPr>
            <a:r>
              <a:rPr lang="en-US" altLang="en-US"/>
              <a:t>Event A:  	A fall in the price of CDs</a:t>
            </a:r>
          </a:p>
          <a:p>
            <a:pPr lvl="1" eaLnBrk="1" hangingPunct="1">
              <a:lnSpc>
                <a:spcPct val="105000"/>
              </a:lnSpc>
              <a:spcBef>
                <a:spcPct val="50000"/>
              </a:spcBef>
              <a:buClr>
                <a:srgbClr val="003399"/>
              </a:buClr>
              <a:buFont typeface="Wingdings" panose="05000000000000000000" pitchFamily="2" charset="2"/>
              <a:buNone/>
            </a:pPr>
            <a:r>
              <a:rPr lang="en-US" altLang="en-US"/>
              <a:t>Event B:  	Sellers of music downloads negotiate a reduction in the royalties they must pay for each song they sell.  </a:t>
            </a:r>
          </a:p>
          <a:p>
            <a:pPr lvl="1" eaLnBrk="1" hangingPunct="1">
              <a:lnSpc>
                <a:spcPct val="105000"/>
              </a:lnSpc>
              <a:spcBef>
                <a:spcPct val="50000"/>
              </a:spcBef>
              <a:buClr>
                <a:srgbClr val="003399"/>
              </a:buClr>
              <a:buFont typeface="Wingdings" panose="05000000000000000000" pitchFamily="2" charset="2"/>
              <a:buNone/>
            </a:pPr>
            <a:r>
              <a:rPr lang="en-US" altLang="en-US"/>
              <a:t>Event C:  	Events A and B both occur.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2394">
                                            <p:txEl>
                                              <p:pRg st="1" end="1"/>
                                            </p:txEl>
                                          </p:spTgt>
                                        </p:tgtEl>
                                        <p:attrNameLst>
                                          <p:attrName>style.visibility</p:attrName>
                                        </p:attrNameLst>
                                      </p:cBhvr>
                                      <p:to>
                                        <p:strVal val="visible"/>
                                      </p:to>
                                    </p:set>
                                    <p:animEffect transition="in" filter="wipe(left)">
                                      <p:cBhvr>
                                        <p:cTn id="7" dur="500"/>
                                        <p:tgtEl>
                                          <p:spTgt spid="27239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2394">
                                            <p:txEl>
                                              <p:pRg st="2" end="2"/>
                                            </p:txEl>
                                          </p:spTgt>
                                        </p:tgtEl>
                                        <p:attrNameLst>
                                          <p:attrName>style.visibility</p:attrName>
                                        </p:attrNameLst>
                                      </p:cBhvr>
                                      <p:to>
                                        <p:strVal val="visible"/>
                                      </p:to>
                                    </p:set>
                                    <p:animEffect transition="in" filter="wipe(left)">
                                      <p:cBhvr>
                                        <p:cTn id="12" dur="500"/>
                                        <p:tgtEl>
                                          <p:spTgt spid="27239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2394">
                                            <p:txEl>
                                              <p:pRg st="3" end="3"/>
                                            </p:txEl>
                                          </p:spTgt>
                                        </p:tgtEl>
                                        <p:attrNameLst>
                                          <p:attrName>style.visibility</p:attrName>
                                        </p:attrNameLst>
                                      </p:cBhvr>
                                      <p:to>
                                        <p:strVal val="visible"/>
                                      </p:to>
                                    </p:set>
                                    <p:animEffect transition="in" filter="wipe(left)">
                                      <p:cBhvr>
                                        <p:cTn id="17" dur="500"/>
                                        <p:tgtEl>
                                          <p:spTgt spid="27239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4" grpId="0" build="p" bldLvl="5"/>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116738" name="Rectangle 8">
            <a:extLst>
              <a:ext uri="{FF2B5EF4-FFF2-40B4-BE49-F238E27FC236}">
                <a16:creationId xmlns:a16="http://schemas.microsoft.com/office/drawing/2014/main" id="{97A2EF00-2185-4BB3-A40E-353FC438921F}"/>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E579CE8D-28CA-4B69-9433-C789CD1068CA}"/>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A.  Fall in price of CDs</a:t>
            </a:r>
          </a:p>
        </p:txBody>
      </p:sp>
      <p:grpSp>
        <p:nvGrpSpPr>
          <p:cNvPr id="116740" name="Group 11">
            <a:extLst>
              <a:ext uri="{FF2B5EF4-FFF2-40B4-BE49-F238E27FC236}">
                <a16:creationId xmlns:a16="http://schemas.microsoft.com/office/drawing/2014/main" id="{E4AD3011-4177-4DE1-BD82-D56AFE04D4EF}"/>
              </a:ext>
            </a:extLst>
          </p:cNvPr>
          <p:cNvGrpSpPr>
            <a:grpSpLocks/>
          </p:cNvGrpSpPr>
          <p:nvPr/>
        </p:nvGrpSpPr>
        <p:grpSpPr bwMode="auto">
          <a:xfrm>
            <a:off x="593725" y="290513"/>
            <a:ext cx="8210550" cy="1049337"/>
            <a:chOff x="374" y="183"/>
            <a:chExt cx="5000" cy="661"/>
          </a:xfrm>
        </p:grpSpPr>
        <p:sp>
          <p:nvSpPr>
            <p:cNvPr id="116777" name="Line 9">
              <a:extLst>
                <a:ext uri="{FF2B5EF4-FFF2-40B4-BE49-F238E27FC236}">
                  <a16:creationId xmlns:a16="http://schemas.microsoft.com/office/drawing/2014/main" id="{B632EE7A-8169-4754-82CF-91AB7C17D002}"/>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8" name="Line 10">
              <a:extLst>
                <a:ext uri="{FF2B5EF4-FFF2-40B4-BE49-F238E27FC236}">
                  <a16:creationId xmlns:a16="http://schemas.microsoft.com/office/drawing/2014/main" id="{E044EAB3-DE0F-4ABB-800F-45B6B0C8AB51}"/>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741" name="Rectangle 8">
            <a:extLst>
              <a:ext uri="{FF2B5EF4-FFF2-40B4-BE49-F238E27FC236}">
                <a16:creationId xmlns:a16="http://schemas.microsoft.com/office/drawing/2014/main" id="{9DD177F7-DCB7-4596-BCE2-1C4B0A24C506}"/>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C19CE1E-8616-40C4-AAEB-E68B77A80964}" type="slidenum">
              <a:rPr lang="en-US" altLang="en-US" sz="1700">
                <a:solidFill>
                  <a:srgbClr val="777777"/>
                </a:solidFill>
                <a:latin typeface="Tahoma" panose="020B0604030504040204" pitchFamily="34" charset="0"/>
              </a:rPr>
              <a:pPr algn="r" eaLnBrk="1" hangingPunct="1"/>
              <a:t>55</a:t>
            </a:fld>
            <a:endParaRPr lang="en-US" altLang="en-US" sz="1700">
              <a:solidFill>
                <a:srgbClr val="777777"/>
              </a:solidFill>
              <a:latin typeface="Tahoma" panose="020B0604030504040204" pitchFamily="34" charset="0"/>
            </a:endParaRPr>
          </a:p>
        </p:txBody>
      </p:sp>
      <p:sp>
        <p:nvSpPr>
          <p:cNvPr id="274474" name="Rectangle 42">
            <a:extLst>
              <a:ext uri="{FF2B5EF4-FFF2-40B4-BE49-F238E27FC236}">
                <a16:creationId xmlns:a16="http://schemas.microsoft.com/office/drawing/2014/main" id="{2D8E78EC-9B62-4472-B135-125F3E51699E}"/>
              </a:ext>
            </a:extLst>
          </p:cNvPr>
          <p:cNvSpPr>
            <a:spLocks noChangeArrowheads="1"/>
          </p:cNvSpPr>
          <p:nvPr/>
        </p:nvSpPr>
        <p:spPr bwMode="auto">
          <a:xfrm>
            <a:off x="636588" y="2973388"/>
            <a:ext cx="25161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2.	</a:t>
            </a:r>
            <a:r>
              <a:rPr lang="en-US" altLang="en-US" sz="2600" b="1" i="1">
                <a:cs typeface="Arial" panose="020B0604020202020204" pitchFamily="34" charset="0"/>
              </a:rPr>
              <a:t>D</a:t>
            </a:r>
            <a:r>
              <a:rPr lang="en-US" altLang="en-US" sz="2600">
                <a:cs typeface="Arial" panose="020B0604020202020204" pitchFamily="34" charset="0"/>
              </a:rPr>
              <a:t> shifts </a:t>
            </a:r>
            <a:r>
              <a:rPr lang="en-US" altLang="en-US" sz="2600" u="sng">
                <a:cs typeface="Arial" panose="020B0604020202020204" pitchFamily="34" charset="0"/>
              </a:rPr>
              <a:t>left</a:t>
            </a:r>
          </a:p>
        </p:txBody>
      </p:sp>
      <p:grpSp>
        <p:nvGrpSpPr>
          <p:cNvPr id="116743" name="Group 9">
            <a:extLst>
              <a:ext uri="{FF2B5EF4-FFF2-40B4-BE49-F238E27FC236}">
                <a16:creationId xmlns:a16="http://schemas.microsoft.com/office/drawing/2014/main" id="{4F560111-66E2-4157-97C8-8BC2045B6935}"/>
              </a:ext>
            </a:extLst>
          </p:cNvPr>
          <p:cNvGrpSpPr>
            <a:grpSpLocks/>
          </p:cNvGrpSpPr>
          <p:nvPr/>
        </p:nvGrpSpPr>
        <p:grpSpPr bwMode="auto">
          <a:xfrm>
            <a:off x="4110038" y="2073275"/>
            <a:ext cx="4422775" cy="4106863"/>
            <a:chOff x="2579" y="785"/>
            <a:chExt cx="2786" cy="2420"/>
          </a:xfrm>
        </p:grpSpPr>
        <p:grpSp>
          <p:nvGrpSpPr>
            <p:cNvPr id="116772" name="Group 10">
              <a:extLst>
                <a:ext uri="{FF2B5EF4-FFF2-40B4-BE49-F238E27FC236}">
                  <a16:creationId xmlns:a16="http://schemas.microsoft.com/office/drawing/2014/main" id="{6CFE47D7-3288-4FC4-9968-DA2091056530}"/>
                </a:ext>
              </a:extLst>
            </p:cNvPr>
            <p:cNvGrpSpPr>
              <a:grpSpLocks/>
            </p:cNvGrpSpPr>
            <p:nvPr/>
          </p:nvGrpSpPr>
          <p:grpSpPr bwMode="auto">
            <a:xfrm>
              <a:off x="2697" y="1037"/>
              <a:ext cx="2409" cy="2049"/>
              <a:chOff x="1098" y="1361"/>
              <a:chExt cx="2116" cy="2027"/>
            </a:xfrm>
          </p:grpSpPr>
          <p:sp>
            <p:nvSpPr>
              <p:cNvPr id="116775" name="Line 11">
                <a:extLst>
                  <a:ext uri="{FF2B5EF4-FFF2-40B4-BE49-F238E27FC236}">
                    <a16:creationId xmlns:a16="http://schemas.microsoft.com/office/drawing/2014/main" id="{4B4A0E71-9D1A-4A53-B238-F010CA969195}"/>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6" name="Line 12">
                <a:extLst>
                  <a:ext uri="{FF2B5EF4-FFF2-40B4-BE49-F238E27FC236}">
                    <a16:creationId xmlns:a16="http://schemas.microsoft.com/office/drawing/2014/main" id="{CDE63AD4-F1AC-4103-AF99-6998AE606064}"/>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773" name="Text Box 13">
              <a:extLst>
                <a:ext uri="{FF2B5EF4-FFF2-40B4-BE49-F238E27FC236}">
                  <a16:creationId xmlns:a16="http://schemas.microsoft.com/office/drawing/2014/main" id="{543F2EE5-821B-4279-AFC6-367A6ECAC1FD}"/>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16774" name="Text Box 14">
              <a:extLst>
                <a:ext uri="{FF2B5EF4-FFF2-40B4-BE49-F238E27FC236}">
                  <a16:creationId xmlns:a16="http://schemas.microsoft.com/office/drawing/2014/main" id="{4128DFAE-19D0-436F-A776-5C422564FFD6}"/>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16744" name="Group 15">
            <a:extLst>
              <a:ext uri="{FF2B5EF4-FFF2-40B4-BE49-F238E27FC236}">
                <a16:creationId xmlns:a16="http://schemas.microsoft.com/office/drawing/2014/main" id="{760A5476-6CAB-4A78-A2E9-5DFDA9ED5C6F}"/>
              </a:ext>
            </a:extLst>
          </p:cNvPr>
          <p:cNvGrpSpPr>
            <a:grpSpLocks/>
          </p:cNvGrpSpPr>
          <p:nvPr/>
        </p:nvGrpSpPr>
        <p:grpSpPr bwMode="auto">
          <a:xfrm>
            <a:off x="5565775" y="2906713"/>
            <a:ext cx="2486025" cy="2901950"/>
            <a:chOff x="2850" y="1233"/>
            <a:chExt cx="1566" cy="1828"/>
          </a:xfrm>
        </p:grpSpPr>
        <p:sp>
          <p:nvSpPr>
            <p:cNvPr id="116770" name="Line 16">
              <a:extLst>
                <a:ext uri="{FF2B5EF4-FFF2-40B4-BE49-F238E27FC236}">
                  <a16:creationId xmlns:a16="http://schemas.microsoft.com/office/drawing/2014/main" id="{F5F136E2-72C0-49A1-B5E8-656F7CB03943}"/>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1" name="Text Box 17">
              <a:extLst>
                <a:ext uri="{FF2B5EF4-FFF2-40B4-BE49-F238E27FC236}">
                  <a16:creationId xmlns:a16="http://schemas.microsoft.com/office/drawing/2014/main" id="{E5C5EE42-9758-4DC9-82A8-FB4D9581CFA5}"/>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16745" name="Group 18">
            <a:extLst>
              <a:ext uri="{FF2B5EF4-FFF2-40B4-BE49-F238E27FC236}">
                <a16:creationId xmlns:a16="http://schemas.microsoft.com/office/drawing/2014/main" id="{C9BB48CB-AAEA-4913-9BF7-3447E68ACC00}"/>
              </a:ext>
            </a:extLst>
          </p:cNvPr>
          <p:cNvGrpSpPr>
            <a:grpSpLocks/>
          </p:cNvGrpSpPr>
          <p:nvPr/>
        </p:nvGrpSpPr>
        <p:grpSpPr bwMode="auto">
          <a:xfrm>
            <a:off x="4884738" y="2519363"/>
            <a:ext cx="1933575" cy="2901950"/>
            <a:chOff x="3067" y="1024"/>
            <a:chExt cx="1218" cy="1828"/>
          </a:xfrm>
        </p:grpSpPr>
        <p:sp>
          <p:nvSpPr>
            <p:cNvPr id="116768" name="Line 19">
              <a:extLst>
                <a:ext uri="{FF2B5EF4-FFF2-40B4-BE49-F238E27FC236}">
                  <a16:creationId xmlns:a16="http://schemas.microsoft.com/office/drawing/2014/main" id="{B7F3F4B3-5199-4FF5-BC9D-D959B371AA73}"/>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9" name="Text Box 20">
              <a:extLst>
                <a:ext uri="{FF2B5EF4-FFF2-40B4-BE49-F238E27FC236}">
                  <a16:creationId xmlns:a16="http://schemas.microsoft.com/office/drawing/2014/main" id="{75D66611-518E-400F-8199-3BA662AA67FE}"/>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16746" name="Group 21">
            <a:extLst>
              <a:ext uri="{FF2B5EF4-FFF2-40B4-BE49-F238E27FC236}">
                <a16:creationId xmlns:a16="http://schemas.microsoft.com/office/drawing/2014/main" id="{515C3381-49E4-4DEC-8819-07B658AC5F1E}"/>
              </a:ext>
            </a:extLst>
          </p:cNvPr>
          <p:cNvGrpSpPr>
            <a:grpSpLocks/>
          </p:cNvGrpSpPr>
          <p:nvPr/>
        </p:nvGrpSpPr>
        <p:grpSpPr bwMode="auto">
          <a:xfrm>
            <a:off x="3800475" y="3321050"/>
            <a:ext cx="2489200" cy="3036888"/>
            <a:chOff x="2480" y="1625"/>
            <a:chExt cx="1568" cy="1913"/>
          </a:xfrm>
        </p:grpSpPr>
        <p:sp>
          <p:nvSpPr>
            <p:cNvPr id="116762" name="Text Box 22">
              <a:extLst>
                <a:ext uri="{FF2B5EF4-FFF2-40B4-BE49-F238E27FC236}">
                  <a16:creationId xmlns:a16="http://schemas.microsoft.com/office/drawing/2014/main" id="{D7BBEAA0-150C-4331-B0D9-0A99930A2751}"/>
                </a:ext>
              </a:extLst>
            </p:cNvPr>
            <p:cNvSpPr txBox="1">
              <a:spLocks noChangeArrowheads="1"/>
            </p:cNvSpPr>
            <p:nvPr/>
          </p:nvSpPr>
          <p:spPr bwMode="auto">
            <a:xfrm>
              <a:off x="2480" y="1625"/>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16763" name="Oval 23">
              <a:extLst>
                <a:ext uri="{FF2B5EF4-FFF2-40B4-BE49-F238E27FC236}">
                  <a16:creationId xmlns:a16="http://schemas.microsoft.com/office/drawing/2014/main" id="{A18E7008-D822-4DCF-8473-305D55C92343}"/>
                </a:ext>
              </a:extLst>
            </p:cNvPr>
            <p:cNvSpPr>
              <a:spLocks noChangeArrowheads="1"/>
            </p:cNvSpPr>
            <p:nvPr/>
          </p:nvSpPr>
          <p:spPr bwMode="auto">
            <a:xfrm>
              <a:off x="3848" y="169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16764" name="Group 24">
              <a:extLst>
                <a:ext uri="{FF2B5EF4-FFF2-40B4-BE49-F238E27FC236}">
                  <a16:creationId xmlns:a16="http://schemas.microsoft.com/office/drawing/2014/main" id="{965D7801-DFDA-4E3B-9EB5-10DB770233AC}"/>
                </a:ext>
              </a:extLst>
            </p:cNvPr>
            <p:cNvGrpSpPr>
              <a:grpSpLocks/>
            </p:cNvGrpSpPr>
            <p:nvPr/>
          </p:nvGrpSpPr>
          <p:grpSpPr bwMode="auto">
            <a:xfrm>
              <a:off x="2796" y="1737"/>
              <a:ext cx="1098" cy="1562"/>
              <a:chOff x="3068" y="1737"/>
              <a:chExt cx="826" cy="1117"/>
            </a:xfrm>
          </p:grpSpPr>
          <p:sp>
            <p:nvSpPr>
              <p:cNvPr id="116766" name="Line 25">
                <a:extLst>
                  <a:ext uri="{FF2B5EF4-FFF2-40B4-BE49-F238E27FC236}">
                    <a16:creationId xmlns:a16="http://schemas.microsoft.com/office/drawing/2014/main" id="{F8BDAB9E-DD2E-4524-8E56-02F95D6E0DBB}"/>
                  </a:ext>
                </a:extLst>
              </p:cNvPr>
              <p:cNvSpPr>
                <a:spLocks noChangeShapeType="1"/>
              </p:cNvSpPr>
              <p:nvPr/>
            </p:nvSpPr>
            <p:spPr bwMode="auto">
              <a:xfrm>
                <a:off x="3068" y="1739"/>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767" name="Line 26">
                <a:extLst>
                  <a:ext uri="{FF2B5EF4-FFF2-40B4-BE49-F238E27FC236}">
                    <a16:creationId xmlns:a16="http://schemas.microsoft.com/office/drawing/2014/main" id="{7ED701AF-4845-4376-B043-CCFA54F16D55}"/>
                  </a:ext>
                </a:extLst>
              </p:cNvPr>
              <p:cNvSpPr>
                <a:spLocks noChangeShapeType="1"/>
              </p:cNvSpPr>
              <p:nvPr/>
            </p:nvSpPr>
            <p:spPr bwMode="auto">
              <a:xfrm>
                <a:off x="3894" y="1737"/>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765" name="Text Box 27">
              <a:extLst>
                <a:ext uri="{FF2B5EF4-FFF2-40B4-BE49-F238E27FC236}">
                  <a16:creationId xmlns:a16="http://schemas.microsoft.com/office/drawing/2014/main" id="{0218E215-F83D-434B-99C7-5D86DEB4CE3F}"/>
                </a:ext>
              </a:extLst>
            </p:cNvPr>
            <p:cNvSpPr txBox="1">
              <a:spLocks noChangeArrowheads="1"/>
            </p:cNvSpPr>
            <p:nvPr/>
          </p:nvSpPr>
          <p:spPr bwMode="auto">
            <a:xfrm>
              <a:off x="3740" y="3308"/>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9" name="Group 28">
            <a:extLst>
              <a:ext uri="{FF2B5EF4-FFF2-40B4-BE49-F238E27FC236}">
                <a16:creationId xmlns:a16="http://schemas.microsoft.com/office/drawing/2014/main" id="{207A7319-2CD7-494B-BC3D-A45AC3215A63}"/>
              </a:ext>
            </a:extLst>
          </p:cNvPr>
          <p:cNvGrpSpPr>
            <a:grpSpLocks/>
          </p:cNvGrpSpPr>
          <p:nvPr/>
        </p:nvGrpSpPr>
        <p:grpSpPr bwMode="auto">
          <a:xfrm>
            <a:off x="4722813" y="2959100"/>
            <a:ext cx="2486025" cy="2901950"/>
            <a:chOff x="3569" y="1168"/>
            <a:chExt cx="1566" cy="1828"/>
          </a:xfrm>
        </p:grpSpPr>
        <p:sp>
          <p:nvSpPr>
            <p:cNvPr id="116760" name="Line 29">
              <a:extLst>
                <a:ext uri="{FF2B5EF4-FFF2-40B4-BE49-F238E27FC236}">
                  <a16:creationId xmlns:a16="http://schemas.microsoft.com/office/drawing/2014/main" id="{AFEF85B2-47CF-4A92-AD56-7B23BDCDEB55}"/>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1" name="Text Box 30">
              <a:extLst>
                <a:ext uri="{FF2B5EF4-FFF2-40B4-BE49-F238E27FC236}">
                  <a16:creationId xmlns:a16="http://schemas.microsoft.com/office/drawing/2014/main" id="{6D121A8B-9908-416C-AAF9-B61380169272}"/>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274463" name="Line 31">
            <a:extLst>
              <a:ext uri="{FF2B5EF4-FFF2-40B4-BE49-F238E27FC236}">
                <a16:creationId xmlns:a16="http://schemas.microsoft.com/office/drawing/2014/main" id="{83519BF9-4E73-4422-9D0C-D2D7C805E5B7}"/>
              </a:ext>
            </a:extLst>
          </p:cNvPr>
          <p:cNvSpPr>
            <a:spLocks noChangeShapeType="1"/>
          </p:cNvSpPr>
          <p:nvPr/>
        </p:nvSpPr>
        <p:spPr bwMode="auto">
          <a:xfrm rot="10800000">
            <a:off x="5008563" y="3259138"/>
            <a:ext cx="782637"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6749" name="Text Box 32">
            <a:extLst>
              <a:ext uri="{FF2B5EF4-FFF2-40B4-BE49-F238E27FC236}">
                <a16:creationId xmlns:a16="http://schemas.microsoft.com/office/drawing/2014/main" id="{18095AD0-2FA2-4CE1-9CC3-71FF78208C33}"/>
              </a:ext>
            </a:extLst>
          </p:cNvPr>
          <p:cNvSpPr txBox="1">
            <a:spLocks noChangeArrowheads="1"/>
          </p:cNvSpPr>
          <p:nvPr/>
        </p:nvSpPr>
        <p:spPr bwMode="auto">
          <a:xfrm>
            <a:off x="4905375" y="1530350"/>
            <a:ext cx="2754313" cy="863600"/>
          </a:xfrm>
          <a:prstGeom prst="rect">
            <a:avLst/>
          </a:prstGeom>
          <a:solidFill>
            <a:schemeClr val="bg1"/>
          </a:solidFill>
          <a:ln w="9525">
            <a:solidFill>
              <a:schemeClr val="tx1"/>
            </a:solidFill>
            <a:miter lim="800000"/>
            <a:headEnd/>
            <a:tailEnd/>
          </a:ln>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a:cs typeface="Arial" panose="020B0604020202020204" pitchFamily="34" charset="0"/>
              </a:rPr>
              <a:t>The market for music downloads</a:t>
            </a:r>
          </a:p>
        </p:txBody>
      </p:sp>
      <p:grpSp>
        <p:nvGrpSpPr>
          <p:cNvPr id="10" name="Group 33">
            <a:extLst>
              <a:ext uri="{FF2B5EF4-FFF2-40B4-BE49-F238E27FC236}">
                <a16:creationId xmlns:a16="http://schemas.microsoft.com/office/drawing/2014/main" id="{60DB5177-EA6B-4FBF-8EEC-E883D27CD009}"/>
              </a:ext>
            </a:extLst>
          </p:cNvPr>
          <p:cNvGrpSpPr>
            <a:grpSpLocks/>
          </p:cNvGrpSpPr>
          <p:nvPr/>
        </p:nvGrpSpPr>
        <p:grpSpPr bwMode="auto">
          <a:xfrm>
            <a:off x="3789363" y="3949700"/>
            <a:ext cx="2089150" cy="2414588"/>
            <a:chOff x="2473" y="2021"/>
            <a:chExt cx="1316" cy="1521"/>
          </a:xfrm>
        </p:grpSpPr>
        <p:grpSp>
          <p:nvGrpSpPr>
            <p:cNvPr id="116754" name="Group 34">
              <a:extLst>
                <a:ext uri="{FF2B5EF4-FFF2-40B4-BE49-F238E27FC236}">
                  <a16:creationId xmlns:a16="http://schemas.microsoft.com/office/drawing/2014/main" id="{36EDB8D3-B4BD-463B-9B3C-43F461243E3E}"/>
                </a:ext>
              </a:extLst>
            </p:cNvPr>
            <p:cNvGrpSpPr>
              <a:grpSpLocks/>
            </p:cNvGrpSpPr>
            <p:nvPr/>
          </p:nvGrpSpPr>
          <p:grpSpPr bwMode="auto">
            <a:xfrm>
              <a:off x="2793" y="2135"/>
              <a:ext cx="862" cy="1166"/>
              <a:chOff x="3068" y="1737"/>
              <a:chExt cx="826" cy="1117"/>
            </a:xfrm>
          </p:grpSpPr>
          <p:sp>
            <p:nvSpPr>
              <p:cNvPr id="116758" name="Line 35">
                <a:extLst>
                  <a:ext uri="{FF2B5EF4-FFF2-40B4-BE49-F238E27FC236}">
                    <a16:creationId xmlns:a16="http://schemas.microsoft.com/office/drawing/2014/main" id="{401788AD-8D2D-490E-A863-1EEF2FF11695}"/>
                  </a:ext>
                </a:extLst>
              </p:cNvPr>
              <p:cNvSpPr>
                <a:spLocks noChangeShapeType="1"/>
              </p:cNvSpPr>
              <p:nvPr/>
            </p:nvSpPr>
            <p:spPr bwMode="auto">
              <a:xfrm>
                <a:off x="3068" y="1739"/>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759" name="Line 36">
                <a:extLst>
                  <a:ext uri="{FF2B5EF4-FFF2-40B4-BE49-F238E27FC236}">
                    <a16:creationId xmlns:a16="http://schemas.microsoft.com/office/drawing/2014/main" id="{1597B004-DCAB-4229-A9E7-A3F4FD41F97B}"/>
                  </a:ext>
                </a:extLst>
              </p:cNvPr>
              <p:cNvSpPr>
                <a:spLocks noChangeShapeType="1"/>
              </p:cNvSpPr>
              <p:nvPr/>
            </p:nvSpPr>
            <p:spPr bwMode="auto">
              <a:xfrm>
                <a:off x="3894" y="1737"/>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755" name="Oval 37">
              <a:extLst>
                <a:ext uri="{FF2B5EF4-FFF2-40B4-BE49-F238E27FC236}">
                  <a16:creationId xmlns:a16="http://schemas.microsoft.com/office/drawing/2014/main" id="{F7C0ABC2-9B38-456F-841F-A20BD768AE79}"/>
                </a:ext>
              </a:extLst>
            </p:cNvPr>
            <p:cNvSpPr>
              <a:spLocks noChangeArrowheads="1"/>
            </p:cNvSpPr>
            <p:nvPr/>
          </p:nvSpPr>
          <p:spPr bwMode="auto">
            <a:xfrm>
              <a:off x="3605" y="209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6756" name="Text Box 38">
              <a:extLst>
                <a:ext uri="{FF2B5EF4-FFF2-40B4-BE49-F238E27FC236}">
                  <a16:creationId xmlns:a16="http://schemas.microsoft.com/office/drawing/2014/main" id="{B5E0A381-EA24-47BB-BD05-BA12EB33AFA3}"/>
                </a:ext>
              </a:extLst>
            </p:cNvPr>
            <p:cNvSpPr txBox="1">
              <a:spLocks noChangeArrowheads="1"/>
            </p:cNvSpPr>
            <p:nvPr/>
          </p:nvSpPr>
          <p:spPr bwMode="auto">
            <a:xfrm>
              <a:off x="2473" y="2021"/>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16757" name="Text Box 39">
              <a:extLst>
                <a:ext uri="{FF2B5EF4-FFF2-40B4-BE49-F238E27FC236}">
                  <a16:creationId xmlns:a16="http://schemas.microsoft.com/office/drawing/2014/main" id="{CE953798-BC40-4E8C-A54F-0221D0BF392F}"/>
                </a:ext>
              </a:extLst>
            </p:cNvPr>
            <p:cNvSpPr txBox="1">
              <a:spLocks noChangeArrowheads="1"/>
            </p:cNvSpPr>
            <p:nvPr/>
          </p:nvSpPr>
          <p:spPr bwMode="auto">
            <a:xfrm>
              <a:off x="3481" y="33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grpSp>
      <p:sp>
        <p:nvSpPr>
          <p:cNvPr id="274472" name="Rectangle 40">
            <a:extLst>
              <a:ext uri="{FF2B5EF4-FFF2-40B4-BE49-F238E27FC236}">
                <a16:creationId xmlns:a16="http://schemas.microsoft.com/office/drawing/2014/main" id="{C2522585-721E-4ADD-B417-83C72A19F510}"/>
              </a:ext>
            </a:extLst>
          </p:cNvPr>
          <p:cNvSpPr>
            <a:spLocks noChangeArrowheads="1"/>
          </p:cNvSpPr>
          <p:nvPr/>
        </p:nvSpPr>
        <p:spPr bwMode="auto">
          <a:xfrm>
            <a:off x="639763" y="2309813"/>
            <a:ext cx="30845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1.	</a:t>
            </a:r>
            <a:r>
              <a:rPr lang="en-US" altLang="en-US" sz="2600" b="1" i="1">
                <a:cs typeface="Arial" panose="020B0604020202020204" pitchFamily="34" charset="0"/>
              </a:rPr>
              <a:t>D</a:t>
            </a:r>
            <a:r>
              <a:rPr lang="en-US" altLang="en-US" sz="2600">
                <a:cs typeface="Arial" panose="020B0604020202020204" pitchFamily="34" charset="0"/>
              </a:rPr>
              <a:t> curve shifts</a:t>
            </a:r>
          </a:p>
        </p:txBody>
      </p:sp>
      <p:sp>
        <p:nvSpPr>
          <p:cNvPr id="274476" name="Rectangle 44">
            <a:extLst>
              <a:ext uri="{FF2B5EF4-FFF2-40B4-BE49-F238E27FC236}">
                <a16:creationId xmlns:a16="http://schemas.microsoft.com/office/drawing/2014/main" id="{5F39D9B5-9372-4404-B102-ED05AAE16BE8}"/>
              </a:ext>
            </a:extLst>
          </p:cNvPr>
          <p:cNvSpPr>
            <a:spLocks noChangeArrowheads="1"/>
          </p:cNvSpPr>
          <p:nvPr/>
        </p:nvSpPr>
        <p:spPr bwMode="auto">
          <a:xfrm>
            <a:off x="642938" y="3616325"/>
            <a:ext cx="3084512"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3.	</a:t>
            </a:r>
            <a:r>
              <a:rPr lang="en-US" altLang="en-US" sz="2600" b="1" i="1">
                <a:cs typeface="Arial" panose="020B0604020202020204" pitchFamily="34" charset="0"/>
              </a:rPr>
              <a:t>P</a:t>
            </a:r>
            <a:r>
              <a:rPr lang="en-US" altLang="en-US" sz="2600">
                <a:cs typeface="Arial" panose="020B0604020202020204" pitchFamily="34" charset="0"/>
              </a:rPr>
              <a:t> and </a:t>
            </a:r>
            <a:r>
              <a:rPr lang="en-US" altLang="en-US" sz="2600" b="1" i="1">
                <a:cs typeface="Arial" panose="020B0604020202020204" pitchFamily="34" charset="0"/>
              </a:rPr>
              <a:t>Q</a:t>
            </a:r>
            <a:r>
              <a:rPr lang="en-US" altLang="en-US" sz="2600">
                <a:cs typeface="Arial" panose="020B0604020202020204" pitchFamily="34" charset="0"/>
              </a:rPr>
              <a:t> both fall.</a:t>
            </a:r>
            <a:endParaRPr lang="en-US" altLang="en-US" sz="2600" u="sng">
              <a:cs typeface="Arial" panose="020B0604020202020204" pitchFamily="34" charset="0"/>
            </a:endParaRPr>
          </a:p>
        </p:txBody>
      </p:sp>
      <p:sp>
        <p:nvSpPr>
          <p:cNvPr id="116753" name="Rectangle 45">
            <a:extLst>
              <a:ext uri="{FF2B5EF4-FFF2-40B4-BE49-F238E27FC236}">
                <a16:creationId xmlns:a16="http://schemas.microsoft.com/office/drawing/2014/main" id="{735106C6-D1C8-42A4-82E6-D0C62B0785B7}"/>
              </a:ext>
            </a:extLst>
          </p:cNvPr>
          <p:cNvSpPr>
            <a:spLocks noChangeArrowheads="1"/>
          </p:cNvSpPr>
          <p:nvPr/>
        </p:nvSpPr>
        <p:spPr bwMode="auto">
          <a:xfrm>
            <a:off x="661988" y="1711325"/>
            <a:ext cx="137636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500" b="1" u="sng">
                <a:cs typeface="Arial" panose="020B0604020202020204" pitchFamily="34" charset="0"/>
              </a:rPr>
              <a:t>STEPS</a:t>
            </a:r>
            <a:endParaRPr lang="en-US" altLang="en-US" sz="2500" b="1">
              <a:cs typeface="Arial" panose="020B0604020202020204" pitchFamily="34" charset="0"/>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4472"/>
                                        </p:tgtEl>
                                        <p:attrNameLst>
                                          <p:attrName>style.visibility</p:attrName>
                                        </p:attrNameLst>
                                      </p:cBhvr>
                                      <p:to>
                                        <p:strVal val="visible"/>
                                      </p:to>
                                    </p:set>
                                    <p:animEffect transition="in" filter="wipe(left)">
                                      <p:cBhvr>
                                        <p:cTn id="7" dur="500"/>
                                        <p:tgtEl>
                                          <p:spTgt spid="2744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4474"/>
                                        </p:tgtEl>
                                        <p:attrNameLst>
                                          <p:attrName>style.visibility</p:attrName>
                                        </p:attrNameLst>
                                      </p:cBhvr>
                                      <p:to>
                                        <p:strVal val="visible"/>
                                      </p:to>
                                    </p:set>
                                    <p:animEffect transition="in" filter="wipe(left)">
                                      <p:cBhvr>
                                        <p:cTn id="12" dur="500"/>
                                        <p:tgtEl>
                                          <p:spTgt spid="274474"/>
                                        </p:tgtEl>
                                      </p:cBhvr>
                                    </p:animEffect>
                                  </p:childTnLst>
                                </p:cTn>
                              </p:par>
                            </p:childTnLst>
                          </p:cTn>
                        </p:par>
                        <p:par>
                          <p:cTn id="13" fill="hold" nodeType="afterGroup">
                            <p:stCondLst>
                              <p:cond delay="500"/>
                            </p:stCondLst>
                            <p:childTnLst>
                              <p:par>
                                <p:cTn id="14" presetID="17" presetClass="entr" presetSubtype="2" fill="hold" nodeType="afterEffect">
                                  <p:stCondLst>
                                    <p:cond delay="0"/>
                                  </p:stCondLst>
                                  <p:childTnLst>
                                    <p:set>
                                      <p:cBhvr>
                                        <p:cTn id="15" dur="1" fill="hold">
                                          <p:stCondLst>
                                            <p:cond delay="0"/>
                                          </p:stCondLst>
                                        </p:cTn>
                                        <p:tgtEl>
                                          <p:spTgt spid="274463"/>
                                        </p:tgtEl>
                                        <p:attrNameLst>
                                          <p:attrName>style.visibility</p:attrName>
                                        </p:attrNameLst>
                                      </p:cBhvr>
                                      <p:to>
                                        <p:strVal val="visible"/>
                                      </p:to>
                                    </p:set>
                                    <p:anim calcmode="lin" valueType="num">
                                      <p:cBhvr>
                                        <p:cTn id="16" dur="500" fill="hold"/>
                                        <p:tgtEl>
                                          <p:spTgt spid="274463"/>
                                        </p:tgtEl>
                                        <p:attrNameLst>
                                          <p:attrName>ppt_x</p:attrName>
                                        </p:attrNameLst>
                                      </p:cBhvr>
                                      <p:tavLst>
                                        <p:tav tm="0">
                                          <p:val>
                                            <p:strVal val="#ppt_x+#ppt_w/2"/>
                                          </p:val>
                                        </p:tav>
                                        <p:tav tm="100000">
                                          <p:val>
                                            <p:strVal val="#ppt_x"/>
                                          </p:val>
                                        </p:tav>
                                      </p:tavLst>
                                    </p:anim>
                                    <p:anim calcmode="lin" valueType="num">
                                      <p:cBhvr>
                                        <p:cTn id="17" dur="500" fill="hold"/>
                                        <p:tgtEl>
                                          <p:spTgt spid="274463"/>
                                        </p:tgtEl>
                                        <p:attrNameLst>
                                          <p:attrName>ppt_y</p:attrName>
                                        </p:attrNameLst>
                                      </p:cBhvr>
                                      <p:tavLst>
                                        <p:tav tm="0">
                                          <p:val>
                                            <p:strVal val="#ppt_y"/>
                                          </p:val>
                                        </p:tav>
                                        <p:tav tm="100000">
                                          <p:val>
                                            <p:strVal val="#ppt_y"/>
                                          </p:val>
                                        </p:tav>
                                      </p:tavLst>
                                    </p:anim>
                                    <p:anim calcmode="lin" valueType="num">
                                      <p:cBhvr>
                                        <p:cTn id="18" dur="500" fill="hold"/>
                                        <p:tgtEl>
                                          <p:spTgt spid="274463"/>
                                        </p:tgtEl>
                                        <p:attrNameLst>
                                          <p:attrName>ppt_w</p:attrName>
                                        </p:attrNameLst>
                                      </p:cBhvr>
                                      <p:tavLst>
                                        <p:tav tm="0">
                                          <p:val>
                                            <p:fltVal val="0"/>
                                          </p:val>
                                        </p:tav>
                                        <p:tav tm="100000">
                                          <p:val>
                                            <p:strVal val="#ppt_w"/>
                                          </p:val>
                                        </p:tav>
                                      </p:tavLst>
                                    </p:anim>
                                    <p:anim calcmode="lin" valueType="num">
                                      <p:cBhvr>
                                        <p:cTn id="19" dur="500" fill="hold"/>
                                        <p:tgtEl>
                                          <p:spTgt spid="274463"/>
                                        </p:tgtEl>
                                        <p:attrNameLst>
                                          <p:attrName>ppt_h</p:attrName>
                                        </p:attrNameLst>
                                      </p:cBhvr>
                                      <p:tavLst>
                                        <p:tav tm="0">
                                          <p:val>
                                            <p:strVal val="#ppt_h"/>
                                          </p:val>
                                        </p:tav>
                                        <p:tav tm="100000">
                                          <p:val>
                                            <p:strVal val="#ppt_h"/>
                                          </p:val>
                                        </p:tav>
                                      </p:tavLst>
                                    </p:anim>
                                  </p:childTnLst>
                                </p:cTn>
                              </p:par>
                            </p:childTnLst>
                          </p:cTn>
                        </p:par>
                        <p:par>
                          <p:cTn id="20" fill="hold" nodeType="afterGroup">
                            <p:stCondLst>
                              <p:cond delay="1000"/>
                            </p:stCondLst>
                            <p:childTnLst>
                              <p:par>
                                <p:cTn id="21" presetID="18" presetClass="entr" presetSubtype="6"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strips(downRight)">
                                      <p:cBhvr>
                                        <p:cTn id="23" dur="500"/>
                                        <p:tgtEl>
                                          <p:spTgt spid="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74476"/>
                                        </p:tgtEl>
                                        <p:attrNameLst>
                                          <p:attrName>style.visibility</p:attrName>
                                        </p:attrNameLst>
                                      </p:cBhvr>
                                      <p:to>
                                        <p:strVal val="visible"/>
                                      </p:to>
                                    </p:set>
                                    <p:animEffect transition="in" filter="wipe(left)">
                                      <p:cBhvr>
                                        <p:cTn id="28" dur="500"/>
                                        <p:tgtEl>
                                          <p:spTgt spid="274476"/>
                                        </p:tgtEl>
                                      </p:cBhvr>
                                    </p:animEffect>
                                  </p:childTnLst>
                                </p:cTn>
                              </p:par>
                            </p:childTnLst>
                          </p:cTn>
                        </p:par>
                        <p:par>
                          <p:cTn id="29" fill="hold" nodeType="afterGroup">
                            <p:stCondLst>
                              <p:cond delay="500"/>
                            </p:stCondLst>
                            <p:childTnLst>
                              <p:par>
                                <p:cTn id="30" presetID="18" presetClass="entr" presetSubtype="12"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trips(down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74" grpId="0"/>
      <p:bldP spid="274472" grpId="0"/>
      <p:bldP spid="274476" grpId="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118786" name="Rectangle 8">
            <a:extLst>
              <a:ext uri="{FF2B5EF4-FFF2-40B4-BE49-F238E27FC236}">
                <a16:creationId xmlns:a16="http://schemas.microsoft.com/office/drawing/2014/main" id="{D0F6C3FE-3E07-4F1A-AE19-5D3A091D076E}"/>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EA45C5EF-4B5E-498C-853C-D9DA89634D94}"/>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B.  Fall in cost of royalties</a:t>
            </a:r>
          </a:p>
        </p:txBody>
      </p:sp>
      <p:grpSp>
        <p:nvGrpSpPr>
          <p:cNvPr id="118788" name="Group 11">
            <a:extLst>
              <a:ext uri="{FF2B5EF4-FFF2-40B4-BE49-F238E27FC236}">
                <a16:creationId xmlns:a16="http://schemas.microsoft.com/office/drawing/2014/main" id="{47E3B0F6-994E-407F-85FE-9A65A63DB980}"/>
              </a:ext>
            </a:extLst>
          </p:cNvPr>
          <p:cNvGrpSpPr>
            <a:grpSpLocks/>
          </p:cNvGrpSpPr>
          <p:nvPr/>
        </p:nvGrpSpPr>
        <p:grpSpPr bwMode="auto">
          <a:xfrm>
            <a:off x="593725" y="290513"/>
            <a:ext cx="8210550" cy="1049337"/>
            <a:chOff x="374" y="183"/>
            <a:chExt cx="5000" cy="661"/>
          </a:xfrm>
        </p:grpSpPr>
        <p:sp>
          <p:nvSpPr>
            <p:cNvPr id="118826" name="Line 9">
              <a:extLst>
                <a:ext uri="{FF2B5EF4-FFF2-40B4-BE49-F238E27FC236}">
                  <a16:creationId xmlns:a16="http://schemas.microsoft.com/office/drawing/2014/main" id="{15B76654-CB78-48CA-B328-2C8B718A9ABB}"/>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27" name="Line 10">
              <a:extLst>
                <a:ext uri="{FF2B5EF4-FFF2-40B4-BE49-F238E27FC236}">
                  <a16:creationId xmlns:a16="http://schemas.microsoft.com/office/drawing/2014/main" id="{DC83EA3D-5041-469F-83E4-31F9BBA4BB8C}"/>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789" name="Rectangle 8">
            <a:extLst>
              <a:ext uri="{FF2B5EF4-FFF2-40B4-BE49-F238E27FC236}">
                <a16:creationId xmlns:a16="http://schemas.microsoft.com/office/drawing/2014/main" id="{001A621B-43F5-4607-AEA3-CE00F0BFE6FD}"/>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1CF7705-E8AD-4480-B95E-AD3E0DAAD4E8}" type="slidenum">
              <a:rPr lang="en-US" altLang="en-US" sz="1700">
                <a:solidFill>
                  <a:srgbClr val="777777"/>
                </a:solidFill>
                <a:latin typeface="Tahoma" panose="020B0604030504040204" pitchFamily="34" charset="0"/>
              </a:rPr>
              <a:pPr algn="r" eaLnBrk="1" hangingPunct="1"/>
              <a:t>56</a:t>
            </a:fld>
            <a:endParaRPr lang="en-US" altLang="en-US" sz="1700">
              <a:solidFill>
                <a:srgbClr val="777777"/>
              </a:solidFill>
              <a:latin typeface="Tahoma" panose="020B0604030504040204" pitchFamily="34" charset="0"/>
            </a:endParaRPr>
          </a:p>
        </p:txBody>
      </p:sp>
      <p:grpSp>
        <p:nvGrpSpPr>
          <p:cNvPr id="118790" name="Group 9">
            <a:extLst>
              <a:ext uri="{FF2B5EF4-FFF2-40B4-BE49-F238E27FC236}">
                <a16:creationId xmlns:a16="http://schemas.microsoft.com/office/drawing/2014/main" id="{E021B0EF-7E80-4E29-944A-6731E2B3F432}"/>
              </a:ext>
            </a:extLst>
          </p:cNvPr>
          <p:cNvGrpSpPr>
            <a:grpSpLocks/>
          </p:cNvGrpSpPr>
          <p:nvPr/>
        </p:nvGrpSpPr>
        <p:grpSpPr bwMode="auto">
          <a:xfrm>
            <a:off x="4318000" y="2114550"/>
            <a:ext cx="4422775" cy="4106863"/>
            <a:chOff x="2579" y="785"/>
            <a:chExt cx="2786" cy="2420"/>
          </a:xfrm>
        </p:grpSpPr>
        <p:grpSp>
          <p:nvGrpSpPr>
            <p:cNvPr id="118821" name="Group 10">
              <a:extLst>
                <a:ext uri="{FF2B5EF4-FFF2-40B4-BE49-F238E27FC236}">
                  <a16:creationId xmlns:a16="http://schemas.microsoft.com/office/drawing/2014/main" id="{22643D1D-8DA6-4672-98E0-AF93E4D02F31}"/>
                </a:ext>
              </a:extLst>
            </p:cNvPr>
            <p:cNvGrpSpPr>
              <a:grpSpLocks/>
            </p:cNvGrpSpPr>
            <p:nvPr/>
          </p:nvGrpSpPr>
          <p:grpSpPr bwMode="auto">
            <a:xfrm>
              <a:off x="2697" y="1037"/>
              <a:ext cx="2409" cy="2049"/>
              <a:chOff x="1098" y="1361"/>
              <a:chExt cx="2116" cy="2027"/>
            </a:xfrm>
          </p:grpSpPr>
          <p:sp>
            <p:nvSpPr>
              <p:cNvPr id="118824" name="Line 11">
                <a:extLst>
                  <a:ext uri="{FF2B5EF4-FFF2-40B4-BE49-F238E27FC236}">
                    <a16:creationId xmlns:a16="http://schemas.microsoft.com/office/drawing/2014/main" id="{822CC61F-2E4E-4331-9496-E41DA2175E48}"/>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25" name="Line 12">
                <a:extLst>
                  <a:ext uri="{FF2B5EF4-FFF2-40B4-BE49-F238E27FC236}">
                    <a16:creationId xmlns:a16="http://schemas.microsoft.com/office/drawing/2014/main" id="{EB939389-2F83-4D31-B77E-1487A26244B8}"/>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822" name="Text Box 13">
              <a:extLst>
                <a:ext uri="{FF2B5EF4-FFF2-40B4-BE49-F238E27FC236}">
                  <a16:creationId xmlns:a16="http://schemas.microsoft.com/office/drawing/2014/main" id="{C2C7F03E-0B82-49FC-95C3-E26CDCD5F517}"/>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18823" name="Text Box 14">
              <a:extLst>
                <a:ext uri="{FF2B5EF4-FFF2-40B4-BE49-F238E27FC236}">
                  <a16:creationId xmlns:a16="http://schemas.microsoft.com/office/drawing/2014/main" id="{FCDFC929-CEB9-4C36-AB65-4754409C2BF2}"/>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18791" name="Group 15">
            <a:extLst>
              <a:ext uri="{FF2B5EF4-FFF2-40B4-BE49-F238E27FC236}">
                <a16:creationId xmlns:a16="http://schemas.microsoft.com/office/drawing/2014/main" id="{BD8DF23A-680A-413A-AE3A-84030F1FD9B9}"/>
              </a:ext>
            </a:extLst>
          </p:cNvPr>
          <p:cNvGrpSpPr>
            <a:grpSpLocks/>
          </p:cNvGrpSpPr>
          <p:nvPr/>
        </p:nvGrpSpPr>
        <p:grpSpPr bwMode="auto">
          <a:xfrm>
            <a:off x="5773738" y="2947988"/>
            <a:ext cx="2486025" cy="2901950"/>
            <a:chOff x="2850" y="1233"/>
            <a:chExt cx="1566" cy="1828"/>
          </a:xfrm>
        </p:grpSpPr>
        <p:sp>
          <p:nvSpPr>
            <p:cNvPr id="118819" name="Line 16">
              <a:extLst>
                <a:ext uri="{FF2B5EF4-FFF2-40B4-BE49-F238E27FC236}">
                  <a16:creationId xmlns:a16="http://schemas.microsoft.com/office/drawing/2014/main" id="{C88AF610-4FD9-4AB1-B779-E02D778DBD69}"/>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20" name="Text Box 17">
              <a:extLst>
                <a:ext uri="{FF2B5EF4-FFF2-40B4-BE49-F238E27FC236}">
                  <a16:creationId xmlns:a16="http://schemas.microsoft.com/office/drawing/2014/main" id="{57C6C92D-2D78-447B-9CC1-7AA135EA8ABF}"/>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18792" name="Group 18">
            <a:extLst>
              <a:ext uri="{FF2B5EF4-FFF2-40B4-BE49-F238E27FC236}">
                <a16:creationId xmlns:a16="http://schemas.microsoft.com/office/drawing/2014/main" id="{A36CBA6E-F60D-4F0E-8DEF-B2E870F5973B}"/>
              </a:ext>
            </a:extLst>
          </p:cNvPr>
          <p:cNvGrpSpPr>
            <a:grpSpLocks/>
          </p:cNvGrpSpPr>
          <p:nvPr/>
        </p:nvGrpSpPr>
        <p:grpSpPr bwMode="auto">
          <a:xfrm>
            <a:off x="5092700" y="2560638"/>
            <a:ext cx="1933575" cy="2901950"/>
            <a:chOff x="3067" y="1024"/>
            <a:chExt cx="1218" cy="1828"/>
          </a:xfrm>
        </p:grpSpPr>
        <p:sp>
          <p:nvSpPr>
            <p:cNvPr id="118817" name="Line 19">
              <a:extLst>
                <a:ext uri="{FF2B5EF4-FFF2-40B4-BE49-F238E27FC236}">
                  <a16:creationId xmlns:a16="http://schemas.microsoft.com/office/drawing/2014/main" id="{9F3285C5-A844-4BC4-9DC1-29262D336D53}"/>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18" name="Text Box 20">
              <a:extLst>
                <a:ext uri="{FF2B5EF4-FFF2-40B4-BE49-F238E27FC236}">
                  <a16:creationId xmlns:a16="http://schemas.microsoft.com/office/drawing/2014/main" id="{09A6CEDD-59AF-42A9-8B69-CFC6D08BB2B6}"/>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18793" name="Group 21">
            <a:extLst>
              <a:ext uri="{FF2B5EF4-FFF2-40B4-BE49-F238E27FC236}">
                <a16:creationId xmlns:a16="http://schemas.microsoft.com/office/drawing/2014/main" id="{F2207A61-23FF-4867-B9A2-881F85F6BB00}"/>
              </a:ext>
            </a:extLst>
          </p:cNvPr>
          <p:cNvGrpSpPr>
            <a:grpSpLocks/>
          </p:cNvGrpSpPr>
          <p:nvPr/>
        </p:nvGrpSpPr>
        <p:grpSpPr bwMode="auto">
          <a:xfrm>
            <a:off x="4008438" y="3362325"/>
            <a:ext cx="2489200" cy="3036888"/>
            <a:chOff x="2480" y="1625"/>
            <a:chExt cx="1568" cy="1913"/>
          </a:xfrm>
        </p:grpSpPr>
        <p:sp>
          <p:nvSpPr>
            <p:cNvPr id="118811" name="Text Box 22">
              <a:extLst>
                <a:ext uri="{FF2B5EF4-FFF2-40B4-BE49-F238E27FC236}">
                  <a16:creationId xmlns:a16="http://schemas.microsoft.com/office/drawing/2014/main" id="{E83F31DD-A00F-4B76-BBD2-A706D3CCAE80}"/>
                </a:ext>
              </a:extLst>
            </p:cNvPr>
            <p:cNvSpPr txBox="1">
              <a:spLocks noChangeArrowheads="1"/>
            </p:cNvSpPr>
            <p:nvPr/>
          </p:nvSpPr>
          <p:spPr bwMode="auto">
            <a:xfrm>
              <a:off x="2480" y="1625"/>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18812" name="Oval 23">
              <a:extLst>
                <a:ext uri="{FF2B5EF4-FFF2-40B4-BE49-F238E27FC236}">
                  <a16:creationId xmlns:a16="http://schemas.microsoft.com/office/drawing/2014/main" id="{A8C964EF-6048-42FE-AE86-313562BB66D3}"/>
                </a:ext>
              </a:extLst>
            </p:cNvPr>
            <p:cNvSpPr>
              <a:spLocks noChangeArrowheads="1"/>
            </p:cNvSpPr>
            <p:nvPr/>
          </p:nvSpPr>
          <p:spPr bwMode="auto">
            <a:xfrm>
              <a:off x="3848" y="169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18813" name="Group 24">
              <a:extLst>
                <a:ext uri="{FF2B5EF4-FFF2-40B4-BE49-F238E27FC236}">
                  <a16:creationId xmlns:a16="http://schemas.microsoft.com/office/drawing/2014/main" id="{CCDE9134-9705-4411-B4FF-DA2116FCEAF1}"/>
                </a:ext>
              </a:extLst>
            </p:cNvPr>
            <p:cNvGrpSpPr>
              <a:grpSpLocks/>
            </p:cNvGrpSpPr>
            <p:nvPr/>
          </p:nvGrpSpPr>
          <p:grpSpPr bwMode="auto">
            <a:xfrm>
              <a:off x="2796" y="1737"/>
              <a:ext cx="1098" cy="1562"/>
              <a:chOff x="3068" y="1737"/>
              <a:chExt cx="826" cy="1117"/>
            </a:xfrm>
          </p:grpSpPr>
          <p:sp>
            <p:nvSpPr>
              <p:cNvPr id="118815" name="Line 25">
                <a:extLst>
                  <a:ext uri="{FF2B5EF4-FFF2-40B4-BE49-F238E27FC236}">
                    <a16:creationId xmlns:a16="http://schemas.microsoft.com/office/drawing/2014/main" id="{796973BC-0DC0-44E8-ABC4-8E318B2B4CE5}"/>
                  </a:ext>
                </a:extLst>
              </p:cNvPr>
              <p:cNvSpPr>
                <a:spLocks noChangeShapeType="1"/>
              </p:cNvSpPr>
              <p:nvPr/>
            </p:nvSpPr>
            <p:spPr bwMode="auto">
              <a:xfrm>
                <a:off x="3068" y="1739"/>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816" name="Line 26">
                <a:extLst>
                  <a:ext uri="{FF2B5EF4-FFF2-40B4-BE49-F238E27FC236}">
                    <a16:creationId xmlns:a16="http://schemas.microsoft.com/office/drawing/2014/main" id="{AFDA6BB1-8489-4723-8AA3-A92902D37208}"/>
                  </a:ext>
                </a:extLst>
              </p:cNvPr>
              <p:cNvSpPr>
                <a:spLocks noChangeShapeType="1"/>
              </p:cNvSpPr>
              <p:nvPr/>
            </p:nvSpPr>
            <p:spPr bwMode="auto">
              <a:xfrm>
                <a:off x="3894" y="1737"/>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814" name="Text Box 27">
              <a:extLst>
                <a:ext uri="{FF2B5EF4-FFF2-40B4-BE49-F238E27FC236}">
                  <a16:creationId xmlns:a16="http://schemas.microsoft.com/office/drawing/2014/main" id="{0462AB39-2E53-4F7D-9513-00C4F9B3E16E}"/>
                </a:ext>
              </a:extLst>
            </p:cNvPr>
            <p:cNvSpPr txBox="1">
              <a:spLocks noChangeArrowheads="1"/>
            </p:cNvSpPr>
            <p:nvPr/>
          </p:nvSpPr>
          <p:spPr bwMode="auto">
            <a:xfrm>
              <a:off x="3740" y="3308"/>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9" name="Group 28">
            <a:extLst>
              <a:ext uri="{FF2B5EF4-FFF2-40B4-BE49-F238E27FC236}">
                <a16:creationId xmlns:a16="http://schemas.microsoft.com/office/drawing/2014/main" id="{C9EDB1FE-7928-4348-AD50-3E802ADBA44F}"/>
              </a:ext>
            </a:extLst>
          </p:cNvPr>
          <p:cNvGrpSpPr>
            <a:grpSpLocks/>
          </p:cNvGrpSpPr>
          <p:nvPr/>
        </p:nvGrpSpPr>
        <p:grpSpPr bwMode="auto">
          <a:xfrm>
            <a:off x="5989638" y="2568575"/>
            <a:ext cx="1933575" cy="2901950"/>
            <a:chOff x="3520" y="1029"/>
            <a:chExt cx="1218" cy="1828"/>
          </a:xfrm>
        </p:grpSpPr>
        <p:sp>
          <p:nvSpPr>
            <p:cNvPr id="118809" name="Line 29">
              <a:extLst>
                <a:ext uri="{FF2B5EF4-FFF2-40B4-BE49-F238E27FC236}">
                  <a16:creationId xmlns:a16="http://schemas.microsoft.com/office/drawing/2014/main" id="{E20F934B-B94E-40B2-AE8C-E3F84510F7DB}"/>
                </a:ext>
              </a:extLst>
            </p:cNvPr>
            <p:cNvSpPr>
              <a:spLocks noChangeShapeType="1"/>
            </p:cNvSpPr>
            <p:nvPr/>
          </p:nvSpPr>
          <p:spPr bwMode="auto">
            <a:xfrm flipV="1">
              <a:off x="3520" y="1283"/>
              <a:ext cx="949" cy="15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10" name="Text Box 30">
              <a:extLst>
                <a:ext uri="{FF2B5EF4-FFF2-40B4-BE49-F238E27FC236}">
                  <a16:creationId xmlns:a16="http://schemas.microsoft.com/office/drawing/2014/main" id="{AD3BB432-2816-4D17-B2DE-743219D2D0F9}"/>
                </a:ext>
              </a:extLst>
            </p:cNvPr>
            <p:cNvSpPr txBox="1">
              <a:spLocks noChangeArrowheads="1"/>
            </p:cNvSpPr>
            <p:nvPr/>
          </p:nvSpPr>
          <p:spPr bwMode="auto">
            <a:xfrm>
              <a:off x="4373" y="1029"/>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2</a:t>
              </a:r>
            </a:p>
          </p:txBody>
        </p:sp>
      </p:grpSp>
      <p:sp>
        <p:nvSpPr>
          <p:cNvPr id="276511" name="Line 31">
            <a:extLst>
              <a:ext uri="{FF2B5EF4-FFF2-40B4-BE49-F238E27FC236}">
                <a16:creationId xmlns:a16="http://schemas.microsoft.com/office/drawing/2014/main" id="{24D4209C-CC4B-45E6-82D7-16846A3FD4E1}"/>
              </a:ext>
            </a:extLst>
          </p:cNvPr>
          <p:cNvSpPr>
            <a:spLocks noChangeShapeType="1"/>
          </p:cNvSpPr>
          <p:nvPr/>
        </p:nvSpPr>
        <p:spPr bwMode="auto">
          <a:xfrm>
            <a:off x="6453188" y="3305175"/>
            <a:ext cx="790575"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8796" name="Text Box 32">
            <a:extLst>
              <a:ext uri="{FF2B5EF4-FFF2-40B4-BE49-F238E27FC236}">
                <a16:creationId xmlns:a16="http://schemas.microsoft.com/office/drawing/2014/main" id="{2B6C4143-4978-468C-8902-7E7FD358E32C}"/>
              </a:ext>
            </a:extLst>
          </p:cNvPr>
          <p:cNvSpPr txBox="1">
            <a:spLocks noChangeArrowheads="1"/>
          </p:cNvSpPr>
          <p:nvPr/>
        </p:nvSpPr>
        <p:spPr bwMode="auto">
          <a:xfrm>
            <a:off x="5113338" y="1571625"/>
            <a:ext cx="2754312" cy="863600"/>
          </a:xfrm>
          <a:prstGeom prst="rect">
            <a:avLst/>
          </a:prstGeom>
          <a:solidFill>
            <a:schemeClr val="bg1"/>
          </a:solidFill>
          <a:ln w="9525">
            <a:solidFill>
              <a:schemeClr val="tx1"/>
            </a:solidFill>
            <a:miter lim="800000"/>
            <a:headEnd/>
            <a:tailEnd/>
          </a:ln>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a:cs typeface="Arial" panose="020B0604020202020204" pitchFamily="34" charset="0"/>
              </a:rPr>
              <a:t>The market for music downloads</a:t>
            </a:r>
          </a:p>
        </p:txBody>
      </p:sp>
      <p:grpSp>
        <p:nvGrpSpPr>
          <p:cNvPr id="10" name="Group 33">
            <a:extLst>
              <a:ext uri="{FF2B5EF4-FFF2-40B4-BE49-F238E27FC236}">
                <a16:creationId xmlns:a16="http://schemas.microsoft.com/office/drawing/2014/main" id="{C3DA1688-3808-40BC-BD60-CACC912D0D3E}"/>
              </a:ext>
            </a:extLst>
          </p:cNvPr>
          <p:cNvGrpSpPr>
            <a:grpSpLocks/>
          </p:cNvGrpSpPr>
          <p:nvPr/>
        </p:nvGrpSpPr>
        <p:grpSpPr bwMode="auto">
          <a:xfrm>
            <a:off x="3998913" y="4003675"/>
            <a:ext cx="3022600" cy="2403475"/>
            <a:chOff x="2474" y="2029"/>
            <a:chExt cx="1904" cy="1514"/>
          </a:xfrm>
        </p:grpSpPr>
        <p:grpSp>
          <p:nvGrpSpPr>
            <p:cNvPr id="118803" name="Group 34">
              <a:extLst>
                <a:ext uri="{FF2B5EF4-FFF2-40B4-BE49-F238E27FC236}">
                  <a16:creationId xmlns:a16="http://schemas.microsoft.com/office/drawing/2014/main" id="{C52E3A66-B75D-4937-B61B-3AC21D7F379D}"/>
                </a:ext>
              </a:extLst>
            </p:cNvPr>
            <p:cNvGrpSpPr>
              <a:grpSpLocks/>
            </p:cNvGrpSpPr>
            <p:nvPr/>
          </p:nvGrpSpPr>
          <p:grpSpPr bwMode="auto">
            <a:xfrm>
              <a:off x="2796" y="2147"/>
              <a:ext cx="1417" cy="1150"/>
              <a:chOff x="3068" y="1737"/>
              <a:chExt cx="826" cy="1117"/>
            </a:xfrm>
          </p:grpSpPr>
          <p:sp>
            <p:nvSpPr>
              <p:cNvPr id="118807" name="Line 35">
                <a:extLst>
                  <a:ext uri="{FF2B5EF4-FFF2-40B4-BE49-F238E27FC236}">
                    <a16:creationId xmlns:a16="http://schemas.microsoft.com/office/drawing/2014/main" id="{5DD9B426-28BC-4050-9128-4B285A12FD2D}"/>
                  </a:ext>
                </a:extLst>
              </p:cNvPr>
              <p:cNvSpPr>
                <a:spLocks noChangeShapeType="1"/>
              </p:cNvSpPr>
              <p:nvPr/>
            </p:nvSpPr>
            <p:spPr bwMode="auto">
              <a:xfrm>
                <a:off x="3068" y="1739"/>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808" name="Line 36">
                <a:extLst>
                  <a:ext uri="{FF2B5EF4-FFF2-40B4-BE49-F238E27FC236}">
                    <a16:creationId xmlns:a16="http://schemas.microsoft.com/office/drawing/2014/main" id="{3A598CF7-7E05-48E2-AB9B-6EAAEC0A0CC3}"/>
                  </a:ext>
                </a:extLst>
              </p:cNvPr>
              <p:cNvSpPr>
                <a:spLocks noChangeShapeType="1"/>
              </p:cNvSpPr>
              <p:nvPr/>
            </p:nvSpPr>
            <p:spPr bwMode="auto">
              <a:xfrm>
                <a:off x="3894" y="1737"/>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804" name="Text Box 37">
              <a:extLst>
                <a:ext uri="{FF2B5EF4-FFF2-40B4-BE49-F238E27FC236}">
                  <a16:creationId xmlns:a16="http://schemas.microsoft.com/office/drawing/2014/main" id="{D42206A8-1384-43E0-AB8C-1840DCED80BA}"/>
                </a:ext>
              </a:extLst>
            </p:cNvPr>
            <p:cNvSpPr txBox="1">
              <a:spLocks noChangeArrowheads="1"/>
            </p:cNvSpPr>
            <p:nvPr/>
          </p:nvSpPr>
          <p:spPr bwMode="auto">
            <a:xfrm>
              <a:off x="4070" y="3313"/>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18805" name="Text Box 38">
              <a:extLst>
                <a:ext uri="{FF2B5EF4-FFF2-40B4-BE49-F238E27FC236}">
                  <a16:creationId xmlns:a16="http://schemas.microsoft.com/office/drawing/2014/main" id="{7BAB0C7C-945A-409C-B954-7DF8C32D9ACD}"/>
                </a:ext>
              </a:extLst>
            </p:cNvPr>
            <p:cNvSpPr txBox="1">
              <a:spLocks noChangeArrowheads="1"/>
            </p:cNvSpPr>
            <p:nvPr/>
          </p:nvSpPr>
          <p:spPr bwMode="auto">
            <a:xfrm>
              <a:off x="2474" y="2029"/>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18806" name="Oval 39">
              <a:extLst>
                <a:ext uri="{FF2B5EF4-FFF2-40B4-BE49-F238E27FC236}">
                  <a16:creationId xmlns:a16="http://schemas.microsoft.com/office/drawing/2014/main" id="{0B943422-2BC1-4EE0-930C-FADACAE4F393}"/>
                </a:ext>
              </a:extLst>
            </p:cNvPr>
            <p:cNvSpPr>
              <a:spLocks noChangeArrowheads="1"/>
            </p:cNvSpPr>
            <p:nvPr/>
          </p:nvSpPr>
          <p:spPr bwMode="auto">
            <a:xfrm>
              <a:off x="4168" y="210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276520" name="Rectangle 40">
            <a:extLst>
              <a:ext uri="{FF2B5EF4-FFF2-40B4-BE49-F238E27FC236}">
                <a16:creationId xmlns:a16="http://schemas.microsoft.com/office/drawing/2014/main" id="{A1A65B16-4ECB-4218-AFF4-4C9A035A40B4}"/>
              </a:ext>
            </a:extLst>
          </p:cNvPr>
          <p:cNvSpPr>
            <a:spLocks noChangeArrowheads="1"/>
          </p:cNvSpPr>
          <p:nvPr/>
        </p:nvSpPr>
        <p:spPr bwMode="auto">
          <a:xfrm>
            <a:off x="681038" y="2295525"/>
            <a:ext cx="30845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1.	</a:t>
            </a:r>
            <a:r>
              <a:rPr lang="en-US" altLang="en-US" sz="2600" b="1" i="1">
                <a:cs typeface="Arial" panose="020B0604020202020204" pitchFamily="34" charset="0"/>
              </a:rPr>
              <a:t>S</a:t>
            </a:r>
            <a:r>
              <a:rPr lang="en-US" altLang="en-US" sz="2600">
                <a:cs typeface="Arial" panose="020B0604020202020204" pitchFamily="34" charset="0"/>
              </a:rPr>
              <a:t> curve shifts</a:t>
            </a:r>
          </a:p>
        </p:txBody>
      </p:sp>
      <p:sp>
        <p:nvSpPr>
          <p:cNvPr id="276521" name="Rectangle 41">
            <a:extLst>
              <a:ext uri="{FF2B5EF4-FFF2-40B4-BE49-F238E27FC236}">
                <a16:creationId xmlns:a16="http://schemas.microsoft.com/office/drawing/2014/main" id="{7A01C1A7-CF07-4C6A-85BD-592B909DABC4}"/>
              </a:ext>
            </a:extLst>
          </p:cNvPr>
          <p:cNvSpPr>
            <a:spLocks noChangeArrowheads="1"/>
          </p:cNvSpPr>
          <p:nvPr/>
        </p:nvSpPr>
        <p:spPr bwMode="auto">
          <a:xfrm>
            <a:off x="677863" y="2959100"/>
            <a:ext cx="25161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2.	</a:t>
            </a:r>
            <a:r>
              <a:rPr lang="en-US" altLang="en-US" sz="2600" b="1" i="1">
                <a:cs typeface="Arial" panose="020B0604020202020204" pitchFamily="34" charset="0"/>
              </a:rPr>
              <a:t>S</a:t>
            </a:r>
            <a:r>
              <a:rPr lang="en-US" altLang="en-US" sz="2600">
                <a:cs typeface="Arial" panose="020B0604020202020204" pitchFamily="34" charset="0"/>
              </a:rPr>
              <a:t> shifts </a:t>
            </a:r>
            <a:r>
              <a:rPr lang="en-US" altLang="en-US" sz="2600" u="sng">
                <a:cs typeface="Arial" panose="020B0604020202020204" pitchFamily="34" charset="0"/>
              </a:rPr>
              <a:t>right</a:t>
            </a:r>
          </a:p>
        </p:txBody>
      </p:sp>
      <p:sp>
        <p:nvSpPr>
          <p:cNvPr id="276522" name="Rectangle 42">
            <a:extLst>
              <a:ext uri="{FF2B5EF4-FFF2-40B4-BE49-F238E27FC236}">
                <a16:creationId xmlns:a16="http://schemas.microsoft.com/office/drawing/2014/main" id="{D98BA796-C80E-4313-B5EC-0D5ED551181F}"/>
              </a:ext>
            </a:extLst>
          </p:cNvPr>
          <p:cNvSpPr>
            <a:spLocks noChangeArrowheads="1"/>
          </p:cNvSpPr>
          <p:nvPr/>
        </p:nvSpPr>
        <p:spPr bwMode="auto">
          <a:xfrm>
            <a:off x="684213" y="3602038"/>
            <a:ext cx="3084512"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3.	</a:t>
            </a:r>
            <a:r>
              <a:rPr lang="en-US" altLang="en-US" sz="2600" b="1" i="1">
                <a:cs typeface="Arial" panose="020B0604020202020204" pitchFamily="34" charset="0"/>
              </a:rPr>
              <a:t>P</a:t>
            </a:r>
            <a:r>
              <a:rPr lang="en-US" altLang="en-US" sz="2600">
                <a:cs typeface="Arial" panose="020B0604020202020204" pitchFamily="34" charset="0"/>
              </a:rPr>
              <a:t> falls, </a:t>
            </a:r>
            <a:br>
              <a:rPr lang="en-US" altLang="en-US" sz="2600">
                <a:cs typeface="Arial" panose="020B0604020202020204" pitchFamily="34" charset="0"/>
              </a:rPr>
            </a:br>
            <a:r>
              <a:rPr lang="en-US" altLang="en-US" sz="2600" b="1" i="1">
                <a:cs typeface="Arial" panose="020B0604020202020204" pitchFamily="34" charset="0"/>
              </a:rPr>
              <a:t>Q</a:t>
            </a:r>
            <a:r>
              <a:rPr lang="en-US" altLang="en-US" sz="2600">
                <a:cs typeface="Arial" panose="020B0604020202020204" pitchFamily="34" charset="0"/>
              </a:rPr>
              <a:t> rises.</a:t>
            </a:r>
            <a:endParaRPr lang="en-US" altLang="en-US" sz="2600" u="sng">
              <a:cs typeface="Arial" panose="020B0604020202020204" pitchFamily="34" charset="0"/>
            </a:endParaRPr>
          </a:p>
        </p:txBody>
      </p:sp>
      <p:sp>
        <p:nvSpPr>
          <p:cNvPr id="118801" name="Rectangle 43">
            <a:extLst>
              <a:ext uri="{FF2B5EF4-FFF2-40B4-BE49-F238E27FC236}">
                <a16:creationId xmlns:a16="http://schemas.microsoft.com/office/drawing/2014/main" id="{E25B34C5-A710-4A18-9F54-FF3E336B4568}"/>
              </a:ext>
            </a:extLst>
          </p:cNvPr>
          <p:cNvSpPr>
            <a:spLocks noChangeArrowheads="1"/>
          </p:cNvSpPr>
          <p:nvPr/>
        </p:nvSpPr>
        <p:spPr bwMode="auto">
          <a:xfrm>
            <a:off x="703263" y="1697038"/>
            <a:ext cx="1376362"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500" b="1" u="sng">
                <a:cs typeface="Arial" panose="020B0604020202020204" pitchFamily="34" charset="0"/>
              </a:rPr>
              <a:t>STEPS</a:t>
            </a:r>
            <a:endParaRPr lang="en-US" altLang="en-US" sz="2500" b="1">
              <a:cs typeface="Arial" panose="020B0604020202020204" pitchFamily="34" charset="0"/>
            </a:endParaRPr>
          </a:p>
        </p:txBody>
      </p:sp>
      <p:sp>
        <p:nvSpPr>
          <p:cNvPr id="276524" name="Rectangle 44">
            <a:extLst>
              <a:ext uri="{FF2B5EF4-FFF2-40B4-BE49-F238E27FC236}">
                <a16:creationId xmlns:a16="http://schemas.microsoft.com/office/drawing/2014/main" id="{38DA9EEA-0E0C-48AD-9CA0-32B063EB6A00}"/>
              </a:ext>
            </a:extLst>
          </p:cNvPr>
          <p:cNvSpPr>
            <a:spLocks noChangeArrowheads="1"/>
          </p:cNvSpPr>
          <p:nvPr/>
        </p:nvSpPr>
        <p:spPr bwMode="auto">
          <a:xfrm>
            <a:off x="1120775" y="2732088"/>
            <a:ext cx="2989263"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(Royalties are part of sellers’ costs)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20"/>
                                        </p:tgtEl>
                                        <p:attrNameLst>
                                          <p:attrName>style.visibility</p:attrName>
                                        </p:attrNameLst>
                                      </p:cBhvr>
                                      <p:to>
                                        <p:strVal val="visible"/>
                                      </p:to>
                                    </p:set>
                                    <p:animEffect transition="in" filter="wipe(left)">
                                      <p:cBhvr>
                                        <p:cTn id="7" dur="500"/>
                                        <p:tgtEl>
                                          <p:spTgt spid="2765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6524"/>
                                        </p:tgtEl>
                                        <p:attrNameLst>
                                          <p:attrName>style.visibility</p:attrName>
                                        </p:attrNameLst>
                                      </p:cBhvr>
                                      <p:to>
                                        <p:strVal val="visible"/>
                                      </p:to>
                                    </p:set>
                                    <p:animEffect transition="in" filter="wipe(left)">
                                      <p:cBhvr>
                                        <p:cTn id="10" dur="500"/>
                                        <p:tgtEl>
                                          <p:spTgt spid="27652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xit" presetSubtype="0" fill="hold" grpId="1" nodeType="clickEffect">
                                  <p:stCondLst>
                                    <p:cond delay="0"/>
                                  </p:stCondLst>
                                  <p:childTnLst>
                                    <p:animEffect transition="out" filter="dissolve">
                                      <p:cBhvr>
                                        <p:cTn id="14" dur="500"/>
                                        <p:tgtEl>
                                          <p:spTgt spid="276524"/>
                                        </p:tgtEl>
                                      </p:cBhvr>
                                    </p:animEffect>
                                    <p:set>
                                      <p:cBhvr>
                                        <p:cTn id="15" dur="1" fill="hold">
                                          <p:stCondLst>
                                            <p:cond delay="499"/>
                                          </p:stCondLst>
                                        </p:cTn>
                                        <p:tgtEl>
                                          <p:spTgt spid="276524"/>
                                        </p:tgtEl>
                                        <p:attrNameLst>
                                          <p:attrName>style.visibility</p:attrName>
                                        </p:attrNameLst>
                                      </p:cBhvr>
                                      <p:to>
                                        <p:strVal val="hidden"/>
                                      </p:to>
                                    </p:set>
                                  </p:childTnLst>
                                </p:cTn>
                              </p:par>
                            </p:childTnLst>
                          </p:cTn>
                        </p:par>
                        <p:par>
                          <p:cTn id="16" fill="hold" nodeType="afterGroup">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76521"/>
                                        </p:tgtEl>
                                        <p:attrNameLst>
                                          <p:attrName>style.visibility</p:attrName>
                                        </p:attrNameLst>
                                      </p:cBhvr>
                                      <p:to>
                                        <p:strVal val="visible"/>
                                      </p:to>
                                    </p:set>
                                    <p:animEffect transition="in" filter="wipe(left)">
                                      <p:cBhvr>
                                        <p:cTn id="19" dur="500"/>
                                        <p:tgtEl>
                                          <p:spTgt spid="276521"/>
                                        </p:tgtEl>
                                      </p:cBhvr>
                                    </p:animEffect>
                                  </p:childTnLst>
                                </p:cTn>
                              </p:par>
                            </p:childTnLst>
                          </p:cTn>
                        </p:par>
                        <p:par>
                          <p:cTn id="20" fill="hold" nodeType="afterGroup">
                            <p:stCondLst>
                              <p:cond delay="1000"/>
                            </p:stCondLst>
                            <p:childTnLst>
                              <p:par>
                                <p:cTn id="21" presetID="17" presetClass="entr" presetSubtype="8" fill="hold" nodeType="afterEffect">
                                  <p:stCondLst>
                                    <p:cond delay="0"/>
                                  </p:stCondLst>
                                  <p:childTnLst>
                                    <p:set>
                                      <p:cBhvr>
                                        <p:cTn id="22" dur="1" fill="hold">
                                          <p:stCondLst>
                                            <p:cond delay="0"/>
                                          </p:stCondLst>
                                        </p:cTn>
                                        <p:tgtEl>
                                          <p:spTgt spid="276511"/>
                                        </p:tgtEl>
                                        <p:attrNameLst>
                                          <p:attrName>style.visibility</p:attrName>
                                        </p:attrNameLst>
                                      </p:cBhvr>
                                      <p:to>
                                        <p:strVal val="visible"/>
                                      </p:to>
                                    </p:set>
                                    <p:anim calcmode="lin" valueType="num">
                                      <p:cBhvr>
                                        <p:cTn id="23" dur="500" fill="hold"/>
                                        <p:tgtEl>
                                          <p:spTgt spid="276511"/>
                                        </p:tgtEl>
                                        <p:attrNameLst>
                                          <p:attrName>ppt_x</p:attrName>
                                        </p:attrNameLst>
                                      </p:cBhvr>
                                      <p:tavLst>
                                        <p:tav tm="0">
                                          <p:val>
                                            <p:strVal val="#ppt_x-#ppt_w/2"/>
                                          </p:val>
                                        </p:tav>
                                        <p:tav tm="100000">
                                          <p:val>
                                            <p:strVal val="#ppt_x"/>
                                          </p:val>
                                        </p:tav>
                                      </p:tavLst>
                                    </p:anim>
                                    <p:anim calcmode="lin" valueType="num">
                                      <p:cBhvr>
                                        <p:cTn id="24" dur="500" fill="hold"/>
                                        <p:tgtEl>
                                          <p:spTgt spid="276511"/>
                                        </p:tgtEl>
                                        <p:attrNameLst>
                                          <p:attrName>ppt_y</p:attrName>
                                        </p:attrNameLst>
                                      </p:cBhvr>
                                      <p:tavLst>
                                        <p:tav tm="0">
                                          <p:val>
                                            <p:strVal val="#ppt_y"/>
                                          </p:val>
                                        </p:tav>
                                        <p:tav tm="100000">
                                          <p:val>
                                            <p:strVal val="#ppt_y"/>
                                          </p:val>
                                        </p:tav>
                                      </p:tavLst>
                                    </p:anim>
                                    <p:anim calcmode="lin" valueType="num">
                                      <p:cBhvr>
                                        <p:cTn id="25" dur="500" fill="hold"/>
                                        <p:tgtEl>
                                          <p:spTgt spid="276511"/>
                                        </p:tgtEl>
                                        <p:attrNameLst>
                                          <p:attrName>ppt_w</p:attrName>
                                        </p:attrNameLst>
                                      </p:cBhvr>
                                      <p:tavLst>
                                        <p:tav tm="0">
                                          <p:val>
                                            <p:fltVal val="0"/>
                                          </p:val>
                                        </p:tav>
                                        <p:tav tm="100000">
                                          <p:val>
                                            <p:strVal val="#ppt_w"/>
                                          </p:val>
                                        </p:tav>
                                      </p:tavLst>
                                    </p:anim>
                                    <p:anim calcmode="lin" valueType="num">
                                      <p:cBhvr>
                                        <p:cTn id="26" dur="500" fill="hold"/>
                                        <p:tgtEl>
                                          <p:spTgt spid="276511"/>
                                        </p:tgtEl>
                                        <p:attrNameLst>
                                          <p:attrName>ppt_h</p:attrName>
                                        </p:attrNameLst>
                                      </p:cBhvr>
                                      <p:tavLst>
                                        <p:tav tm="0">
                                          <p:val>
                                            <p:strVal val="#ppt_h"/>
                                          </p:val>
                                        </p:tav>
                                        <p:tav tm="100000">
                                          <p:val>
                                            <p:strVal val="#ppt_h"/>
                                          </p:val>
                                        </p:tav>
                                      </p:tavLst>
                                    </p:anim>
                                  </p:childTnLst>
                                </p:cTn>
                              </p:par>
                            </p:childTnLst>
                          </p:cTn>
                        </p:par>
                        <p:par>
                          <p:cTn id="27" fill="hold" nodeType="afterGroup">
                            <p:stCondLst>
                              <p:cond delay="1500"/>
                            </p:stCondLst>
                            <p:childTnLst>
                              <p:par>
                                <p:cTn id="28" presetID="18" presetClass="entr" presetSubtype="12"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strips(downLeft)">
                                      <p:cBhvr>
                                        <p:cTn id="30" dur="5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76522"/>
                                        </p:tgtEl>
                                        <p:attrNameLst>
                                          <p:attrName>style.visibility</p:attrName>
                                        </p:attrNameLst>
                                      </p:cBhvr>
                                      <p:to>
                                        <p:strVal val="visible"/>
                                      </p:to>
                                    </p:set>
                                    <p:animEffect transition="in" filter="wipe(left)">
                                      <p:cBhvr>
                                        <p:cTn id="35" dur="500"/>
                                        <p:tgtEl>
                                          <p:spTgt spid="276522"/>
                                        </p:tgtEl>
                                      </p:cBhvr>
                                    </p:animEffect>
                                  </p:childTnLst>
                                </p:cTn>
                              </p:par>
                            </p:childTnLst>
                          </p:cTn>
                        </p:par>
                        <p:par>
                          <p:cTn id="36" fill="hold" nodeType="afterGroup">
                            <p:stCondLst>
                              <p:cond delay="500"/>
                            </p:stCondLst>
                            <p:childTnLst>
                              <p:par>
                                <p:cTn id="37" presetID="18" presetClass="entr" presetSubtype="12"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strips(downLeft)">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0" grpId="0"/>
      <p:bldP spid="276521" grpId="0"/>
      <p:bldP spid="276522" grpId="0"/>
      <p:bldP spid="276524" grpId="0"/>
      <p:bldP spid="276524" grpId="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120834" name="Rectangle 8">
            <a:extLst>
              <a:ext uri="{FF2B5EF4-FFF2-40B4-BE49-F238E27FC236}">
                <a16:creationId xmlns:a16="http://schemas.microsoft.com/office/drawing/2014/main" id="{37790383-918B-4BCC-8C1F-8953E13C7CE4}"/>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57C4ECE0-30AA-4723-9799-172A58E3E1DF}"/>
              </a:ext>
            </a:extLst>
          </p:cNvPr>
          <p:cNvSpPr>
            <a:spLocks noGrp="1" noChangeArrowheads="1"/>
          </p:cNvSpPr>
          <p:nvPr>
            <p:ph type="title"/>
          </p:nvPr>
        </p:nvSpPr>
        <p:spPr>
          <a:xfrm>
            <a:off x="587375" y="288925"/>
            <a:ext cx="8208963" cy="16033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C.  Fall in price of CDs </a:t>
            </a:r>
            <a:r>
              <a:rPr lang="en-US" sz="3600" u="sng">
                <a:solidFill>
                  <a:srgbClr val="339966"/>
                </a:solidFill>
                <a:effectLst>
                  <a:outerShdw blurRad="38100" dist="38100" dir="2700000" algn="tl">
                    <a:srgbClr val="C0C0C0"/>
                  </a:outerShdw>
                </a:effectLst>
                <a:cs typeface="Arial" panose="020B0604020202020204" pitchFamily="34" charset="0"/>
              </a:rPr>
              <a:t>and</a:t>
            </a:r>
            <a:r>
              <a:rPr lang="en-US" sz="3600">
                <a:solidFill>
                  <a:srgbClr val="339966"/>
                </a:solidFill>
                <a:effectLst>
                  <a:outerShdw blurRad="38100" dist="38100" dir="2700000" algn="tl">
                    <a:srgbClr val="C0C0C0"/>
                  </a:outerShdw>
                </a:effectLst>
                <a:cs typeface="Arial" panose="020B0604020202020204" pitchFamily="34" charset="0"/>
              </a:rPr>
              <a:t> </a:t>
            </a:r>
            <a:br>
              <a:rPr lang="en-US" sz="3600">
                <a:solidFill>
                  <a:srgbClr val="339966"/>
                </a:solidFill>
                <a:effectLst>
                  <a:outerShdw blurRad="38100" dist="38100" dir="2700000" algn="tl">
                    <a:srgbClr val="C0C0C0"/>
                  </a:outerShdw>
                </a:effectLst>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      fall in cost of royalties</a:t>
            </a:r>
          </a:p>
        </p:txBody>
      </p:sp>
      <p:sp>
        <p:nvSpPr>
          <p:cNvPr id="120836" name="Line 10">
            <a:extLst>
              <a:ext uri="{FF2B5EF4-FFF2-40B4-BE49-F238E27FC236}">
                <a16:creationId xmlns:a16="http://schemas.microsoft.com/office/drawing/2014/main" id="{DB92A85D-0DCF-4B96-9DF3-93EA50276962}"/>
              </a:ext>
            </a:extLst>
          </p:cNvPr>
          <p:cNvSpPr>
            <a:spLocks noChangeShapeType="1"/>
          </p:cNvSpPr>
          <p:nvPr/>
        </p:nvSpPr>
        <p:spPr bwMode="auto">
          <a:xfrm>
            <a:off x="593725" y="290513"/>
            <a:ext cx="820737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37" name="Rectangle 8">
            <a:extLst>
              <a:ext uri="{FF2B5EF4-FFF2-40B4-BE49-F238E27FC236}">
                <a16:creationId xmlns:a16="http://schemas.microsoft.com/office/drawing/2014/main" id="{091C1950-5404-4E49-A67F-2C5D6E1AAA53}"/>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1D80B2B-662E-45E4-A429-7995FE0571A4}" type="slidenum">
              <a:rPr lang="en-US" altLang="en-US" sz="1700">
                <a:solidFill>
                  <a:srgbClr val="777777"/>
                </a:solidFill>
                <a:latin typeface="Tahoma" panose="020B0604030504040204" pitchFamily="34" charset="0"/>
              </a:rPr>
              <a:pPr algn="r" eaLnBrk="1" hangingPunct="1"/>
              <a:t>57</a:t>
            </a:fld>
            <a:endParaRPr lang="en-US" altLang="en-US" sz="1700">
              <a:solidFill>
                <a:srgbClr val="777777"/>
              </a:solidFill>
              <a:latin typeface="Tahoma" panose="020B0604030504040204" pitchFamily="34" charset="0"/>
            </a:endParaRPr>
          </a:p>
        </p:txBody>
      </p:sp>
      <p:sp>
        <p:nvSpPr>
          <p:cNvPr id="278537" name="Text Box 9">
            <a:extLst>
              <a:ext uri="{FF2B5EF4-FFF2-40B4-BE49-F238E27FC236}">
                <a16:creationId xmlns:a16="http://schemas.microsoft.com/office/drawing/2014/main" id="{DF4DC8E0-32E5-4DCE-A891-4D1EE71EF75C}"/>
              </a:ext>
            </a:extLst>
          </p:cNvPr>
          <p:cNvSpPr txBox="1">
            <a:spLocks noChangeArrowheads="1"/>
          </p:cNvSpPr>
          <p:nvPr/>
        </p:nvSpPr>
        <p:spPr bwMode="auto">
          <a:xfrm>
            <a:off x="1017588" y="2236788"/>
            <a:ext cx="7497762" cy="3925887"/>
          </a:xfrm>
          <a:prstGeom prst="rect">
            <a:avLst/>
          </a:prstGeom>
          <a:solidFill>
            <a:schemeClr val="bg1"/>
          </a:solidFill>
          <a:ln w="9525">
            <a:solidFill>
              <a:schemeClr val="tx1"/>
            </a:solidFill>
            <a:miter lim="800000"/>
            <a:headEnd/>
            <a:tailEnd/>
          </a:ln>
          <a:effectLst>
            <a:outerShdw dist="89803" dir="2700000" algn="ctr" rotWithShape="0">
              <a:schemeClr val="bg2"/>
            </a:outerShdw>
          </a:effectLst>
        </p:spPr>
        <p:txBody>
          <a:bodyPr lIns="137160" tIns="91440"/>
          <a:lstStyle>
            <a:lvl1pPr marL="568325" indent="-5683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50000"/>
              </a:spcBef>
            </a:pPr>
            <a:r>
              <a:rPr lang="en-US" altLang="en-US" sz="2600" b="1" u="sng">
                <a:cs typeface="Arial" panose="020B0604020202020204" pitchFamily="34" charset="0"/>
              </a:rPr>
              <a:t>STEPS</a:t>
            </a:r>
            <a:endParaRPr lang="en-US" altLang="en-US" sz="2600" b="1">
              <a:cs typeface="Arial" panose="020B0604020202020204" pitchFamily="34" charset="0"/>
            </a:endParaRPr>
          </a:p>
          <a:p>
            <a:pPr eaLnBrk="1" hangingPunct="1">
              <a:lnSpc>
                <a:spcPct val="105000"/>
              </a:lnSpc>
              <a:spcBef>
                <a:spcPct val="50000"/>
              </a:spcBef>
            </a:pPr>
            <a:r>
              <a:rPr lang="en-US" altLang="en-US" sz="2600">
                <a:cs typeface="Arial" panose="020B0604020202020204" pitchFamily="34" charset="0"/>
              </a:rPr>
              <a:t>1.	Both curves shift (see parts A &amp; B).</a:t>
            </a:r>
          </a:p>
          <a:p>
            <a:pPr eaLnBrk="1" hangingPunct="1">
              <a:lnSpc>
                <a:spcPct val="105000"/>
              </a:lnSpc>
              <a:spcBef>
                <a:spcPct val="50000"/>
              </a:spcBef>
            </a:pPr>
            <a:r>
              <a:rPr lang="en-US" altLang="en-US" sz="2600">
                <a:cs typeface="Arial" panose="020B0604020202020204" pitchFamily="34" charset="0"/>
              </a:rPr>
              <a:t>2.	</a:t>
            </a:r>
            <a:r>
              <a:rPr lang="en-US" altLang="en-US" sz="2600" b="1" i="1">
                <a:cs typeface="Arial" panose="020B0604020202020204" pitchFamily="34" charset="0"/>
              </a:rPr>
              <a:t>D</a:t>
            </a:r>
            <a:r>
              <a:rPr lang="en-US" altLang="en-US" sz="2600">
                <a:cs typeface="Arial" panose="020B0604020202020204" pitchFamily="34" charset="0"/>
              </a:rPr>
              <a:t> shifts left, </a:t>
            </a:r>
            <a:r>
              <a:rPr lang="en-US" altLang="en-US" sz="2600" b="1" i="1">
                <a:cs typeface="Arial" panose="020B0604020202020204" pitchFamily="34" charset="0"/>
              </a:rPr>
              <a:t>S</a:t>
            </a:r>
            <a:r>
              <a:rPr lang="en-US" altLang="en-US" sz="2600">
                <a:cs typeface="Arial" panose="020B0604020202020204" pitchFamily="34" charset="0"/>
              </a:rPr>
              <a:t> shifts right. </a:t>
            </a:r>
          </a:p>
          <a:p>
            <a:pPr eaLnBrk="1" hangingPunct="1">
              <a:lnSpc>
                <a:spcPct val="105000"/>
              </a:lnSpc>
              <a:spcBef>
                <a:spcPct val="50000"/>
              </a:spcBef>
            </a:pPr>
            <a:r>
              <a:rPr lang="en-US" altLang="en-US" sz="2600">
                <a:cs typeface="Arial" panose="020B0604020202020204" pitchFamily="34" charset="0"/>
              </a:rPr>
              <a:t>3.	</a:t>
            </a:r>
            <a:r>
              <a:rPr lang="en-US" altLang="en-US" sz="2600" b="1" i="1">
                <a:cs typeface="Arial" panose="020B0604020202020204" pitchFamily="34" charset="0"/>
              </a:rPr>
              <a:t>P</a:t>
            </a:r>
            <a:r>
              <a:rPr lang="en-US" altLang="en-US" sz="2600">
                <a:cs typeface="Arial" panose="020B0604020202020204" pitchFamily="34" charset="0"/>
              </a:rPr>
              <a:t> unambiguously falls.</a:t>
            </a:r>
          </a:p>
          <a:p>
            <a:pPr eaLnBrk="1" hangingPunct="1">
              <a:lnSpc>
                <a:spcPct val="105000"/>
              </a:lnSpc>
              <a:spcBef>
                <a:spcPct val="20000"/>
              </a:spcBef>
            </a:pPr>
            <a:r>
              <a:rPr lang="en-US" altLang="en-US" sz="2600">
                <a:cs typeface="Arial" panose="020B0604020202020204" pitchFamily="34" charset="0"/>
              </a:rPr>
              <a:t>	Effect on </a:t>
            </a:r>
            <a:r>
              <a:rPr lang="en-US" altLang="en-US" sz="2600" b="1" i="1">
                <a:cs typeface="Arial" panose="020B0604020202020204" pitchFamily="34" charset="0"/>
              </a:rPr>
              <a:t>Q</a:t>
            </a:r>
            <a:r>
              <a:rPr lang="en-US" altLang="en-US" sz="2600">
                <a:cs typeface="Arial" panose="020B0604020202020204" pitchFamily="34" charset="0"/>
              </a:rPr>
              <a:t> is ambiguous:  </a:t>
            </a:r>
            <a:br>
              <a:rPr lang="en-US" altLang="en-US" sz="2600">
                <a:cs typeface="Arial" panose="020B0604020202020204" pitchFamily="34" charset="0"/>
              </a:rPr>
            </a:br>
            <a:r>
              <a:rPr lang="en-US" altLang="en-US" sz="2600">
                <a:cs typeface="Arial" panose="020B0604020202020204" pitchFamily="34" charset="0"/>
              </a:rPr>
              <a:t>The fall in demand reduces </a:t>
            </a:r>
            <a:r>
              <a:rPr lang="en-US" altLang="en-US" sz="2600" b="1" i="1">
                <a:cs typeface="Arial" panose="020B0604020202020204" pitchFamily="34" charset="0"/>
              </a:rPr>
              <a:t>Q</a:t>
            </a:r>
            <a:r>
              <a:rPr lang="en-US" altLang="en-US" sz="2600">
                <a:cs typeface="Arial" panose="020B0604020202020204" pitchFamily="34" charset="0"/>
              </a:rPr>
              <a:t>, </a:t>
            </a:r>
            <a:br>
              <a:rPr lang="en-US" altLang="en-US" sz="2600">
                <a:cs typeface="Arial" panose="020B0604020202020204" pitchFamily="34" charset="0"/>
              </a:rPr>
            </a:br>
            <a:r>
              <a:rPr lang="en-US" altLang="en-US" sz="2600">
                <a:cs typeface="Arial" panose="020B0604020202020204" pitchFamily="34" charset="0"/>
              </a:rPr>
              <a:t>the increase in supply increases </a:t>
            </a:r>
            <a:r>
              <a:rPr lang="en-US" altLang="en-US" sz="2600" b="1" i="1">
                <a:cs typeface="Arial" panose="020B0604020202020204" pitchFamily="34" charset="0"/>
              </a:rPr>
              <a:t>Q</a:t>
            </a:r>
            <a:r>
              <a:rPr lang="en-US" altLang="en-US" sz="2600">
                <a:cs typeface="Arial" panose="020B0604020202020204" pitchFamily="34" charset="0"/>
              </a:rPr>
              <a:t>.  </a:t>
            </a:r>
            <a:endParaRPr lang="en-US" altLang="en-US" sz="2600" u="sng">
              <a:cs typeface="Arial" panose="020B0604020202020204" pitchFamily="34" charset="0"/>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8537">
                                            <p:txEl>
                                              <p:pRg st="1" end="1"/>
                                            </p:txEl>
                                          </p:spTgt>
                                        </p:tgtEl>
                                        <p:attrNameLst>
                                          <p:attrName>style.visibility</p:attrName>
                                        </p:attrNameLst>
                                      </p:cBhvr>
                                      <p:to>
                                        <p:strVal val="visible"/>
                                      </p:to>
                                    </p:set>
                                    <p:animEffect transition="in" filter="wipe(left)">
                                      <p:cBhvr>
                                        <p:cTn id="7" dur="500"/>
                                        <p:tgtEl>
                                          <p:spTgt spid="27853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8537">
                                            <p:txEl>
                                              <p:pRg st="2" end="2"/>
                                            </p:txEl>
                                          </p:spTgt>
                                        </p:tgtEl>
                                        <p:attrNameLst>
                                          <p:attrName>style.visibility</p:attrName>
                                        </p:attrNameLst>
                                      </p:cBhvr>
                                      <p:to>
                                        <p:strVal val="visible"/>
                                      </p:to>
                                    </p:set>
                                    <p:animEffect transition="in" filter="wipe(left)">
                                      <p:cBhvr>
                                        <p:cTn id="12" dur="500"/>
                                        <p:tgtEl>
                                          <p:spTgt spid="27853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8537">
                                            <p:txEl>
                                              <p:pRg st="3" end="3"/>
                                            </p:txEl>
                                          </p:spTgt>
                                        </p:tgtEl>
                                        <p:attrNameLst>
                                          <p:attrName>style.visibility</p:attrName>
                                        </p:attrNameLst>
                                      </p:cBhvr>
                                      <p:to>
                                        <p:strVal val="visible"/>
                                      </p:to>
                                    </p:set>
                                    <p:animEffect transition="in" filter="wipe(left)">
                                      <p:cBhvr>
                                        <p:cTn id="17" dur="500"/>
                                        <p:tgtEl>
                                          <p:spTgt spid="27853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8537">
                                            <p:txEl>
                                              <p:pRg st="4" end="4"/>
                                            </p:txEl>
                                          </p:spTgt>
                                        </p:tgtEl>
                                        <p:attrNameLst>
                                          <p:attrName>style.visibility</p:attrName>
                                        </p:attrNameLst>
                                      </p:cBhvr>
                                      <p:to>
                                        <p:strVal val="visible"/>
                                      </p:to>
                                    </p:set>
                                    <p:animEffect transition="in" filter="wipe(left)">
                                      <p:cBhvr>
                                        <p:cTn id="22" dur="500"/>
                                        <p:tgtEl>
                                          <p:spTgt spid="27853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7"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Footer Placeholder 1">
            <a:extLst>
              <a:ext uri="{FF2B5EF4-FFF2-40B4-BE49-F238E27FC236}">
                <a16:creationId xmlns:a16="http://schemas.microsoft.com/office/drawing/2014/main" id="{3FAC85AD-55D6-496F-88DB-8D73C00FFBE8}"/>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22883" name="Slide Number Placeholder 2">
            <a:extLst>
              <a:ext uri="{FF2B5EF4-FFF2-40B4-BE49-F238E27FC236}">
                <a16:creationId xmlns:a16="http://schemas.microsoft.com/office/drawing/2014/main" id="{4EB57D19-F212-4FD7-B754-D3463C40288D}"/>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5CA64E-F656-459A-82F7-78F5FEFA516C}" type="slidenum">
              <a:rPr lang="en-US" altLang="en-US">
                <a:solidFill>
                  <a:srgbClr val="777777"/>
                </a:solidFill>
                <a:latin typeface="Tahoma" panose="020B0604030504040204" pitchFamily="34" charset="0"/>
              </a:rPr>
              <a:pPr/>
              <a:t>58</a:t>
            </a:fld>
            <a:endParaRPr lang="en-US" altLang="en-US">
              <a:solidFill>
                <a:srgbClr val="777777"/>
              </a:solidFill>
              <a:latin typeface="Tahoma" panose="020B0604030504040204" pitchFamily="34" charset="0"/>
            </a:endParaRPr>
          </a:p>
        </p:txBody>
      </p:sp>
      <p:sp>
        <p:nvSpPr>
          <p:cNvPr id="122884" name="Rectangle 2">
            <a:extLst>
              <a:ext uri="{FF2B5EF4-FFF2-40B4-BE49-F238E27FC236}">
                <a16:creationId xmlns:a16="http://schemas.microsoft.com/office/drawing/2014/main" id="{DEDF9980-1CE3-4185-8CB1-ED52CE409C5B}"/>
              </a:ext>
            </a:extLst>
          </p:cNvPr>
          <p:cNvSpPr>
            <a:spLocks noGrp="1" noChangeArrowheads="1"/>
          </p:cNvSpPr>
          <p:nvPr>
            <p:ph type="title" idx="4294967295"/>
          </p:nvPr>
        </p:nvSpPr>
        <p:spPr>
          <a:xfrm>
            <a:off x="457200" y="363538"/>
            <a:ext cx="8229600" cy="649287"/>
          </a:xfrm>
        </p:spPr>
        <p:txBody>
          <a:bodyPr/>
          <a:lstStyle/>
          <a:p>
            <a:pPr eaLnBrk="1" hangingPunct="1"/>
            <a:r>
              <a:rPr lang="en-US" altLang="en-US" sz="3400"/>
              <a:t>CONCLUSION:  </a:t>
            </a:r>
            <a:br>
              <a:rPr lang="en-US" altLang="en-US" sz="3400"/>
            </a:br>
            <a:r>
              <a:rPr lang="en-US" altLang="en-US" sz="3600"/>
              <a:t>How Prices Allocate Resources</a:t>
            </a:r>
          </a:p>
        </p:txBody>
      </p:sp>
      <p:sp>
        <p:nvSpPr>
          <p:cNvPr id="164867" name="Rectangle 3">
            <a:extLst>
              <a:ext uri="{FF2B5EF4-FFF2-40B4-BE49-F238E27FC236}">
                <a16:creationId xmlns:a16="http://schemas.microsoft.com/office/drawing/2014/main" id="{97926BCE-1201-40C7-AEDC-8846D4DE5B40}"/>
              </a:ext>
            </a:extLst>
          </p:cNvPr>
          <p:cNvSpPr>
            <a:spLocks noGrp="1" noChangeArrowheads="1"/>
          </p:cNvSpPr>
          <p:nvPr>
            <p:ph type="body" idx="4294967295"/>
          </p:nvPr>
        </p:nvSpPr>
        <p:spPr>
          <a:xfrm>
            <a:off x="373063" y="1316038"/>
            <a:ext cx="8313737" cy="1584325"/>
          </a:xfrm>
        </p:spPr>
        <p:txBody>
          <a:bodyPr/>
          <a:lstStyle/>
          <a:p>
            <a:pPr eaLnBrk="1" hangingPunct="1"/>
            <a:r>
              <a:rPr lang="en-US" altLang="en-US"/>
              <a:t>One of the Ten Principles from Chapter 1:</a:t>
            </a:r>
            <a:br>
              <a:rPr lang="en-US" altLang="en-US"/>
            </a:br>
            <a:r>
              <a:rPr lang="en-US" altLang="en-US"/>
              <a:t>    </a:t>
            </a:r>
            <a:r>
              <a:rPr lang="en-US" altLang="en-US">
                <a:solidFill>
                  <a:srgbClr val="996633"/>
                </a:solidFill>
              </a:rPr>
              <a:t> </a:t>
            </a:r>
            <a:r>
              <a:rPr lang="en-US" altLang="en-US" b="1" i="1">
                <a:solidFill>
                  <a:srgbClr val="996633"/>
                </a:solidFill>
              </a:rPr>
              <a:t>Markets are usually a good way </a:t>
            </a:r>
            <a:br>
              <a:rPr lang="en-US" altLang="en-US" b="1" i="1">
                <a:solidFill>
                  <a:srgbClr val="996633"/>
                </a:solidFill>
              </a:rPr>
            </a:br>
            <a:r>
              <a:rPr lang="en-US" altLang="en-US" b="1" i="1">
                <a:solidFill>
                  <a:srgbClr val="996633"/>
                </a:solidFill>
              </a:rPr>
              <a:t>     to organize economic activity.</a:t>
            </a:r>
            <a:r>
              <a:rPr lang="en-US" altLang="en-US" i="1">
                <a:solidFill>
                  <a:srgbClr val="996633"/>
                </a:solidFill>
              </a:rPr>
              <a:t> </a:t>
            </a:r>
          </a:p>
        </p:txBody>
      </p:sp>
      <p:sp>
        <p:nvSpPr>
          <p:cNvPr id="164868" name="Rectangle 4">
            <a:extLst>
              <a:ext uri="{FF2B5EF4-FFF2-40B4-BE49-F238E27FC236}">
                <a16:creationId xmlns:a16="http://schemas.microsoft.com/office/drawing/2014/main" id="{B6EF8324-9CB7-459D-87C4-188049614AD2}"/>
              </a:ext>
            </a:extLst>
          </p:cNvPr>
          <p:cNvSpPr>
            <a:spLocks noChangeArrowheads="1"/>
          </p:cNvSpPr>
          <p:nvPr/>
        </p:nvSpPr>
        <p:spPr bwMode="auto">
          <a:xfrm>
            <a:off x="395288" y="2886075"/>
            <a:ext cx="8229600" cy="305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a:cs typeface="Arial" panose="020B0604020202020204" pitchFamily="34" charset="0"/>
              </a:rPr>
              <a:t>In market economies, prices adjust to balance supply and demand.  These equilibrium prices are the signals that guide economic decisions and thereby allocate scarce resources.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wipe(left)">
                                      <p:cBhvr>
                                        <p:cTn id="7" dur="500"/>
                                        <p:tgtEl>
                                          <p:spTgt spid="164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868"/>
                                        </p:tgtEl>
                                        <p:attrNameLst>
                                          <p:attrName>style.visibility</p:attrName>
                                        </p:attrNameLst>
                                      </p:cBhvr>
                                      <p:to>
                                        <p:strVal val="visible"/>
                                      </p:to>
                                    </p:set>
                                    <p:animEffect transition="in" filter="wipe(left)">
                                      <p:cBhvr>
                                        <p:cTn id="12" dur="500"/>
                                        <p:tgtEl>
                                          <p:spTgt spid="164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bldLvl="5"/>
      <p:bldP spid="164868" grpId="0"/>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4930" name="Content Placeholder 8" descr="Mankiw_PaintingArt.jpg">
            <a:extLst>
              <a:ext uri="{FF2B5EF4-FFF2-40B4-BE49-F238E27FC236}">
                <a16:creationId xmlns:a16="http://schemas.microsoft.com/office/drawing/2014/main" id="{532E1441-506C-42AE-B2E9-7C596C65FBA4}"/>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3">
            <a:extLst>
              <a:ext uri="{FF2B5EF4-FFF2-40B4-BE49-F238E27FC236}">
                <a16:creationId xmlns:a16="http://schemas.microsoft.com/office/drawing/2014/main" id="{9C0F759D-A663-437B-B4ED-90B1B85E9FC4}"/>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CHAPTER SUMMARY</a:t>
            </a:r>
          </a:p>
        </p:txBody>
      </p:sp>
      <p:sp>
        <p:nvSpPr>
          <p:cNvPr id="124932" name="Rectangle 4">
            <a:extLst>
              <a:ext uri="{FF2B5EF4-FFF2-40B4-BE49-F238E27FC236}">
                <a16:creationId xmlns:a16="http://schemas.microsoft.com/office/drawing/2014/main" id="{F72745CC-2FEF-4C68-A70F-1D57B34B2475}"/>
              </a:ext>
            </a:extLst>
          </p:cNvPr>
          <p:cNvSpPr>
            <a:spLocks noGrp="1" noChangeArrowheads="1"/>
          </p:cNvSpPr>
          <p:nvPr>
            <p:ph type="body" idx="1"/>
          </p:nvPr>
        </p:nvSpPr>
        <p:spPr>
          <a:xfrm>
            <a:off x="373063" y="1863725"/>
            <a:ext cx="8313737" cy="4648200"/>
          </a:xfrm>
        </p:spPr>
        <p:txBody>
          <a:bodyPr/>
          <a:lstStyle/>
          <a:p>
            <a:pPr eaLnBrk="1" hangingPunct="1">
              <a:buClr>
                <a:srgbClr val="996633"/>
              </a:buClr>
            </a:pPr>
            <a:r>
              <a:rPr lang="en-US" altLang="en-US" sz="2700"/>
              <a:t>A competitive market has many buyers and sellers, each of whom has little or no influence </a:t>
            </a:r>
            <a:br>
              <a:rPr lang="en-US" altLang="en-US" sz="2700"/>
            </a:br>
            <a:r>
              <a:rPr lang="en-US" altLang="en-US" sz="2700"/>
              <a:t>on the market price. </a:t>
            </a:r>
          </a:p>
          <a:p>
            <a:pPr eaLnBrk="1" hangingPunct="1">
              <a:buClr>
                <a:srgbClr val="996633"/>
              </a:buClr>
            </a:pPr>
            <a:r>
              <a:rPr lang="en-US" altLang="en-US" sz="2700"/>
              <a:t>Economists use the supply and demand model to analyze competitive markets.  </a:t>
            </a:r>
          </a:p>
          <a:p>
            <a:pPr eaLnBrk="1" hangingPunct="1">
              <a:buClr>
                <a:srgbClr val="996633"/>
              </a:buClr>
            </a:pPr>
            <a:r>
              <a:rPr lang="en-US" altLang="en-US" sz="2700"/>
              <a:t>The downward-sloping demand curve reflects the Law of Demand, which states that the quantity buyers demand of a good depends negatively on the good’s price. </a:t>
            </a:r>
          </a:p>
        </p:txBody>
      </p:sp>
      <p:sp>
        <p:nvSpPr>
          <p:cNvPr id="124933" name="Rectangle 5">
            <a:extLst>
              <a:ext uri="{FF2B5EF4-FFF2-40B4-BE49-F238E27FC236}">
                <a16:creationId xmlns:a16="http://schemas.microsoft.com/office/drawing/2014/main" id="{03E74733-886D-40D3-8AC7-368C89161010}"/>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9805461-86BB-4743-A262-BF1670554E31}" type="slidenum">
              <a:rPr lang="en-US" altLang="en-US" sz="1700">
                <a:solidFill>
                  <a:srgbClr val="777777"/>
                </a:solidFill>
                <a:latin typeface="Tahoma" panose="020B0604030504040204" pitchFamily="34" charset="0"/>
              </a:rPr>
              <a:pPr algn="r" eaLnBrk="1" hangingPunct="1"/>
              <a:t>59</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6978" name="Content Placeholder 8" descr="Mankiw_PaintingArt.jpg">
            <a:extLst>
              <a:ext uri="{FF2B5EF4-FFF2-40B4-BE49-F238E27FC236}">
                <a16:creationId xmlns:a16="http://schemas.microsoft.com/office/drawing/2014/main" id="{B688622C-5DF2-421E-89FC-763833DB92A7}"/>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27" name="Rectangle 3">
            <a:extLst>
              <a:ext uri="{FF2B5EF4-FFF2-40B4-BE49-F238E27FC236}">
                <a16:creationId xmlns:a16="http://schemas.microsoft.com/office/drawing/2014/main" id="{621C3024-5B6D-4711-8A3F-B129B37EEF1B}"/>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CHAPTER SUMMARY</a:t>
            </a:r>
          </a:p>
        </p:txBody>
      </p:sp>
      <p:sp>
        <p:nvSpPr>
          <p:cNvPr id="126980" name="Rectangle 4">
            <a:extLst>
              <a:ext uri="{FF2B5EF4-FFF2-40B4-BE49-F238E27FC236}">
                <a16:creationId xmlns:a16="http://schemas.microsoft.com/office/drawing/2014/main" id="{5A63DDE2-6D9E-46C5-AE70-1CDF537AEE9C}"/>
              </a:ext>
            </a:extLst>
          </p:cNvPr>
          <p:cNvSpPr>
            <a:spLocks noGrp="1" noChangeArrowheads="1"/>
          </p:cNvSpPr>
          <p:nvPr>
            <p:ph type="body" idx="1"/>
          </p:nvPr>
        </p:nvSpPr>
        <p:spPr>
          <a:xfrm>
            <a:off x="309563" y="1863725"/>
            <a:ext cx="8566150" cy="4640263"/>
          </a:xfrm>
        </p:spPr>
        <p:txBody>
          <a:bodyPr/>
          <a:lstStyle/>
          <a:p>
            <a:pPr eaLnBrk="1" hangingPunct="1">
              <a:lnSpc>
                <a:spcPct val="100000"/>
              </a:lnSpc>
              <a:spcBef>
                <a:spcPct val="40000"/>
              </a:spcBef>
              <a:buClr>
                <a:srgbClr val="996633"/>
              </a:buClr>
            </a:pPr>
            <a:r>
              <a:rPr lang="en-US" altLang="en-US" sz="2700"/>
              <a:t>Besides price, demand depends on buyers’ incomes, tastes, expectations, the prices of substitutes and complements, and number of buyers.  </a:t>
            </a:r>
            <a:br>
              <a:rPr lang="en-US" altLang="en-US" sz="2700"/>
            </a:br>
            <a:r>
              <a:rPr lang="en-US" altLang="en-US" sz="2700"/>
              <a:t>If one of these factors changes, the </a:t>
            </a:r>
            <a:r>
              <a:rPr lang="en-US" altLang="en-US" sz="2700" b="1" i="1"/>
              <a:t>D</a:t>
            </a:r>
            <a:r>
              <a:rPr lang="en-US" altLang="en-US" sz="2700"/>
              <a:t> curve shifts. </a:t>
            </a:r>
          </a:p>
          <a:p>
            <a:pPr eaLnBrk="1" hangingPunct="1">
              <a:lnSpc>
                <a:spcPct val="100000"/>
              </a:lnSpc>
              <a:spcBef>
                <a:spcPct val="40000"/>
              </a:spcBef>
              <a:buClr>
                <a:srgbClr val="996633"/>
              </a:buClr>
            </a:pPr>
            <a:r>
              <a:rPr lang="en-US" altLang="en-US" sz="2700"/>
              <a:t>The upward-sloping supply curve reflects the Law of Supply, which states that the quantity sellers supply depends positively on the good’s price. </a:t>
            </a:r>
          </a:p>
          <a:p>
            <a:pPr eaLnBrk="1" hangingPunct="1">
              <a:lnSpc>
                <a:spcPct val="100000"/>
              </a:lnSpc>
              <a:spcBef>
                <a:spcPct val="40000"/>
              </a:spcBef>
              <a:buClr>
                <a:srgbClr val="996633"/>
              </a:buClr>
            </a:pPr>
            <a:r>
              <a:rPr lang="en-US" altLang="en-US" sz="2700"/>
              <a:t>Other determinants of supply include input prices, technology, expectations, and the # of sellers.  Changes in these factors shift the </a:t>
            </a:r>
            <a:r>
              <a:rPr lang="en-US" altLang="en-US" sz="2700" b="1" i="1"/>
              <a:t>S</a:t>
            </a:r>
            <a:r>
              <a:rPr lang="en-US" altLang="en-US" sz="2700"/>
              <a:t> curve. </a:t>
            </a:r>
          </a:p>
        </p:txBody>
      </p:sp>
      <p:sp>
        <p:nvSpPr>
          <p:cNvPr id="126981" name="Rectangle 5">
            <a:extLst>
              <a:ext uri="{FF2B5EF4-FFF2-40B4-BE49-F238E27FC236}">
                <a16:creationId xmlns:a16="http://schemas.microsoft.com/office/drawing/2014/main" id="{528510CA-AC5B-4FF2-9ED0-B73298DD4BB8}"/>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E8A691-6D98-4FDF-9942-356F9EFEF9A1}" type="slidenum">
              <a:rPr lang="en-US" altLang="en-US" sz="1700">
                <a:solidFill>
                  <a:srgbClr val="777777"/>
                </a:solidFill>
                <a:latin typeface="Tahoma" panose="020B0604030504040204" pitchFamily="34" charset="0"/>
              </a:rPr>
              <a:pPr algn="r" eaLnBrk="1" hangingPunct="1"/>
              <a:t>60</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9026" name="Content Placeholder 8" descr="Mankiw_PaintingArt.jpg">
            <a:extLst>
              <a:ext uri="{FF2B5EF4-FFF2-40B4-BE49-F238E27FC236}">
                <a16:creationId xmlns:a16="http://schemas.microsoft.com/office/drawing/2014/main" id="{6399CA95-5B96-4A03-AAD1-E91869441805}"/>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899" name="Rectangle 3">
            <a:extLst>
              <a:ext uri="{FF2B5EF4-FFF2-40B4-BE49-F238E27FC236}">
                <a16:creationId xmlns:a16="http://schemas.microsoft.com/office/drawing/2014/main" id="{C4C4F80B-C959-42C2-A753-310FB01B1D41}"/>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CHAPTER SUMMARY</a:t>
            </a:r>
          </a:p>
        </p:txBody>
      </p:sp>
      <p:sp>
        <p:nvSpPr>
          <p:cNvPr id="129028" name="Rectangle 4">
            <a:extLst>
              <a:ext uri="{FF2B5EF4-FFF2-40B4-BE49-F238E27FC236}">
                <a16:creationId xmlns:a16="http://schemas.microsoft.com/office/drawing/2014/main" id="{0ADFFF2C-FBE4-4C11-B8A9-D60185A4C61B}"/>
              </a:ext>
            </a:extLst>
          </p:cNvPr>
          <p:cNvSpPr>
            <a:spLocks noGrp="1" noChangeArrowheads="1"/>
          </p:cNvSpPr>
          <p:nvPr>
            <p:ph type="body" idx="1"/>
          </p:nvPr>
        </p:nvSpPr>
        <p:spPr>
          <a:xfrm>
            <a:off x="373063" y="1982788"/>
            <a:ext cx="8313737" cy="4130675"/>
          </a:xfrm>
        </p:spPr>
        <p:txBody>
          <a:bodyPr/>
          <a:lstStyle/>
          <a:p>
            <a:pPr eaLnBrk="1" hangingPunct="1">
              <a:buClr>
                <a:srgbClr val="996633"/>
              </a:buClr>
            </a:pPr>
            <a:r>
              <a:rPr lang="en-US" altLang="en-US" sz="2700"/>
              <a:t>The intersection of </a:t>
            </a:r>
            <a:r>
              <a:rPr lang="en-US" altLang="en-US" sz="2700" b="1" i="1"/>
              <a:t>S</a:t>
            </a:r>
            <a:r>
              <a:rPr lang="en-US" altLang="en-US" sz="2700"/>
              <a:t> and </a:t>
            </a:r>
            <a:r>
              <a:rPr lang="en-US" altLang="en-US" sz="2700" b="1" i="1"/>
              <a:t>D</a:t>
            </a:r>
            <a:r>
              <a:rPr lang="en-US" altLang="en-US" sz="2700"/>
              <a:t> curves determines the market equilibrium.  At the equilibrium price, quantity supplied equals quantity demanded.  </a:t>
            </a:r>
          </a:p>
          <a:p>
            <a:pPr eaLnBrk="1" hangingPunct="1">
              <a:buClr>
                <a:srgbClr val="996633"/>
              </a:buClr>
            </a:pPr>
            <a:r>
              <a:rPr lang="en-US" altLang="en-US" sz="2700"/>
              <a:t>If the market price is above equilibrium, </a:t>
            </a:r>
            <a:br>
              <a:rPr lang="en-US" altLang="en-US" sz="2700"/>
            </a:br>
            <a:r>
              <a:rPr lang="en-US" altLang="en-US" sz="2700"/>
              <a:t>a surplus results, which causes the price to fall.  </a:t>
            </a:r>
            <a:br>
              <a:rPr lang="en-US" altLang="en-US" sz="2700"/>
            </a:br>
            <a:r>
              <a:rPr lang="en-US" altLang="en-US" sz="2700"/>
              <a:t>If the market price is below equilibrium, </a:t>
            </a:r>
            <a:br>
              <a:rPr lang="en-US" altLang="en-US" sz="2700"/>
            </a:br>
            <a:r>
              <a:rPr lang="en-US" altLang="en-US" sz="2700"/>
              <a:t>a shortage results, causing the price to rise.</a:t>
            </a:r>
          </a:p>
        </p:txBody>
      </p:sp>
      <p:sp>
        <p:nvSpPr>
          <p:cNvPr id="129029" name="Rectangle 5">
            <a:extLst>
              <a:ext uri="{FF2B5EF4-FFF2-40B4-BE49-F238E27FC236}">
                <a16:creationId xmlns:a16="http://schemas.microsoft.com/office/drawing/2014/main" id="{E9C39F32-CA95-423B-BDC2-492E06157F00}"/>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5B246CF-23A3-4D2C-B29A-3F6F6BBC2385}" type="slidenum">
              <a:rPr lang="en-US" altLang="en-US" sz="1700">
                <a:solidFill>
                  <a:srgbClr val="777777"/>
                </a:solidFill>
                <a:latin typeface="Tahoma" panose="020B0604030504040204" pitchFamily="34" charset="0"/>
              </a:rPr>
              <a:pPr algn="r" eaLnBrk="1" hangingPunct="1"/>
              <a:t>61</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1074" name="Content Placeholder 8" descr="Mankiw_PaintingArt.jpg">
            <a:extLst>
              <a:ext uri="{FF2B5EF4-FFF2-40B4-BE49-F238E27FC236}">
                <a16:creationId xmlns:a16="http://schemas.microsoft.com/office/drawing/2014/main" id="{5AE17321-344B-4476-A52E-9602F82E6EA7}"/>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9923" name="Rectangle 3">
            <a:extLst>
              <a:ext uri="{FF2B5EF4-FFF2-40B4-BE49-F238E27FC236}">
                <a16:creationId xmlns:a16="http://schemas.microsoft.com/office/drawing/2014/main" id="{BA910522-E606-47DF-851C-B5E36F3D1E5B}"/>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CHAPTER SUMMARY</a:t>
            </a:r>
          </a:p>
        </p:txBody>
      </p:sp>
      <p:sp>
        <p:nvSpPr>
          <p:cNvPr id="131076" name="Rectangle 4">
            <a:extLst>
              <a:ext uri="{FF2B5EF4-FFF2-40B4-BE49-F238E27FC236}">
                <a16:creationId xmlns:a16="http://schemas.microsoft.com/office/drawing/2014/main" id="{395AF37A-742F-4671-9EA3-C3380F1D4DAB}"/>
              </a:ext>
            </a:extLst>
          </p:cNvPr>
          <p:cNvSpPr>
            <a:spLocks noGrp="1" noChangeArrowheads="1"/>
          </p:cNvSpPr>
          <p:nvPr>
            <p:ph type="body" idx="1"/>
          </p:nvPr>
        </p:nvSpPr>
        <p:spPr>
          <a:xfrm>
            <a:off x="373063" y="1939925"/>
            <a:ext cx="8313737" cy="4408488"/>
          </a:xfrm>
        </p:spPr>
        <p:txBody>
          <a:bodyPr/>
          <a:lstStyle/>
          <a:p>
            <a:pPr eaLnBrk="1" hangingPunct="1">
              <a:buClr>
                <a:srgbClr val="996633"/>
              </a:buClr>
            </a:pPr>
            <a:r>
              <a:rPr lang="en-US" altLang="en-US" sz="2700"/>
              <a:t>We can use the supply-demand diagram to analyze the effects of any event on a market:</a:t>
            </a:r>
            <a:br>
              <a:rPr lang="en-US" altLang="en-US" sz="2700"/>
            </a:br>
            <a:r>
              <a:rPr lang="en-US" altLang="en-US" sz="2700"/>
              <a:t>First, determine whether the event shifts one or both curves.  Second, determine the direction of the shifts.  Third, compare the new equilibrium to the initial one.  </a:t>
            </a:r>
          </a:p>
          <a:p>
            <a:pPr eaLnBrk="1" hangingPunct="1">
              <a:buClr>
                <a:srgbClr val="996633"/>
              </a:buClr>
            </a:pPr>
            <a:r>
              <a:rPr lang="en-US" altLang="en-US" sz="2700"/>
              <a:t>In market economies, prices are the signals that guide economic decisions and allocate scarce resources. </a:t>
            </a:r>
          </a:p>
        </p:txBody>
      </p:sp>
      <p:sp>
        <p:nvSpPr>
          <p:cNvPr id="131077" name="Rectangle 5">
            <a:extLst>
              <a:ext uri="{FF2B5EF4-FFF2-40B4-BE49-F238E27FC236}">
                <a16:creationId xmlns:a16="http://schemas.microsoft.com/office/drawing/2014/main" id="{FE6F02C6-B605-45AA-BD95-EF1E5FC9ED03}"/>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4CD982A-EC14-4F33-9CF9-C503809112A5}" type="slidenum">
              <a:rPr lang="en-US" altLang="en-US" sz="1700">
                <a:solidFill>
                  <a:srgbClr val="777777"/>
                </a:solidFill>
                <a:latin typeface="Tahoma" panose="020B0604030504040204" pitchFamily="34" charset="0"/>
              </a:rPr>
              <a:pPr algn="r" eaLnBrk="1" hangingPunct="1"/>
              <a:t>62</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279c20c3caf3300dae6b438536eb8c56">
  <xsd:schema xmlns:xsd="http://www.w3.org/2001/XMLSchema" xmlns:p="http://schemas.microsoft.com/office/2006/metadata/properties" targetNamespace="http://schemas.microsoft.com/office/2006/metadata/properties" ma:root="true" ma:fieldsID="0d2e1ca116041f9e11471c52c4c9d60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B741F3D6-E9ED-4E05-80C9-FE67B6FABD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882</TotalTime>
  <Words>6193</Words>
  <Application>Microsoft Office PowerPoint</Application>
  <PresentationFormat>On-screen Show (4:3)</PresentationFormat>
  <Paragraphs>985</Paragraphs>
  <Slides>63</Slides>
  <Notes>63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1" baseType="lpstr">
      <vt:lpstr>Arial</vt:lpstr>
      <vt:lpstr>Arial Unicode MS</vt:lpstr>
      <vt:lpstr>Book Antiqua</vt:lpstr>
      <vt:lpstr>Tahoma</vt:lpstr>
      <vt:lpstr>Times New Roman</vt:lpstr>
      <vt:lpstr>Wingdings</vt:lpstr>
      <vt:lpstr>Custom Design</vt:lpstr>
      <vt:lpstr>Chart</vt:lpstr>
      <vt:lpstr>The Market Forces of  Supply and Demand</vt:lpstr>
      <vt:lpstr>In this chapter,  look for the answers to these questions:</vt:lpstr>
      <vt:lpstr>Markets and Competition</vt:lpstr>
      <vt:lpstr>Demand</vt:lpstr>
      <vt:lpstr>The Demand Schedule</vt:lpstr>
      <vt:lpstr>Helen’s Demand Schedule &amp; Curve</vt:lpstr>
      <vt:lpstr>Market Demand versus Individual Demand</vt:lpstr>
      <vt:lpstr>The Market Demand Curve for Lattes</vt:lpstr>
      <vt:lpstr>Demand Curve Shifters</vt:lpstr>
      <vt:lpstr>Demand Curve Shifters:  # of Buyers</vt:lpstr>
      <vt:lpstr>Demand Curve Shifters:  # of Buyers</vt:lpstr>
      <vt:lpstr>Demand Curve Shifters:  Income</vt:lpstr>
      <vt:lpstr>Demand Curve Shifters:  Prices of  Related Goods</vt:lpstr>
      <vt:lpstr>Demand Curve Shifters:  Prices of  Related Goods</vt:lpstr>
      <vt:lpstr>Demand Curve Shifters:  Tastes</vt:lpstr>
      <vt:lpstr>Demand Curve Shifters:  Expectations</vt:lpstr>
      <vt:lpstr>Summary:  Variables That Influence Buyers</vt:lpstr>
      <vt:lpstr>A C T I V E  L E A R N I N G  1    Demand Curve</vt:lpstr>
      <vt:lpstr>A C T I V E  L E A R N I N G  1    A.  Price of iPods falls</vt:lpstr>
      <vt:lpstr>A C T I V E  L E A R N I N G  1    B.  Price of music downloads falls</vt:lpstr>
      <vt:lpstr>A C T I V E  L E A R N I N G  1    C.  Price of CDs falls</vt:lpstr>
      <vt:lpstr>Supply</vt:lpstr>
      <vt:lpstr>The Supply Schedule</vt:lpstr>
      <vt:lpstr>Starbucks’ Supply Schedule &amp; Curve</vt:lpstr>
      <vt:lpstr>Market Supply versus Individual Supply</vt:lpstr>
      <vt:lpstr>PowerPoint Presentation</vt:lpstr>
      <vt:lpstr>Supply Curve Shifters</vt:lpstr>
      <vt:lpstr>Supply Curve Shifters:  Input Prices</vt:lpstr>
      <vt:lpstr>PowerPoint Presentation</vt:lpstr>
      <vt:lpstr>Supply Curve Shifters:  Technology</vt:lpstr>
      <vt:lpstr>Supply Curve Shifters:  # of Sellers  </vt:lpstr>
      <vt:lpstr>Supply Curve Shifters:  Expectations </vt:lpstr>
      <vt:lpstr>Summary:  Variables that Influence Sellers</vt:lpstr>
      <vt:lpstr>A C T I V E  L E A R N I N G  2    Supply Curve</vt:lpstr>
      <vt:lpstr>A C T I V E  L E A R N I N G  2    A.  Fall in price of tax return software</vt:lpstr>
      <vt:lpstr>A C T I V E  L E A R N I N G  2    B.  Fall in cost of producing the software</vt:lpstr>
      <vt:lpstr>A C T I V E  L E A R N I N G  3    C.  Professional preparers raise their price</vt:lpstr>
      <vt:lpstr>Supply and Demand Together</vt:lpstr>
      <vt:lpstr>Equilibrium price:</vt:lpstr>
      <vt:lpstr>Equilibrium quantity:</vt:lpstr>
      <vt:lpstr>Surplus (a.k.a. excess supply):</vt:lpstr>
      <vt:lpstr>Surplus (a.k.a. excess supply):</vt:lpstr>
      <vt:lpstr>Surplus (a.k.a. excess supply):</vt:lpstr>
      <vt:lpstr>Shortage (a.k.a. excess demand):</vt:lpstr>
      <vt:lpstr>Shortage (a.k.a. excess demand):</vt:lpstr>
      <vt:lpstr>Shortage (a.k.a. excess demand):</vt:lpstr>
      <vt:lpstr>Three Steps to Analyzing Changes in Eq’m</vt:lpstr>
      <vt:lpstr>EXAMPLE:   The Market for Hybrid Cars </vt:lpstr>
      <vt:lpstr>EXAMPLE 1:   A Shift in Demand </vt:lpstr>
      <vt:lpstr>EXAMPLE 1:   A Shift in Demand </vt:lpstr>
      <vt:lpstr>Terms for Shift vs. Movement Along Curve</vt:lpstr>
      <vt:lpstr>EXAMPLE 2:   A Shift in Supply </vt:lpstr>
      <vt:lpstr>EXAMPLE 3:   A Shift in Both Supply      and Demand</vt:lpstr>
      <vt:lpstr>EXAMPLE 3:   A Shift in Both Supply      and Demand</vt:lpstr>
      <vt:lpstr>A C T I V E  L E A R N I N G  3    Shifts in supply and demand</vt:lpstr>
      <vt:lpstr>A C T I V E  L E A R N I N G  3    A.  Fall in price of CDs</vt:lpstr>
      <vt:lpstr>A C T I V E  L E A R N I N G  3    B.  Fall in cost of royalties</vt:lpstr>
      <vt:lpstr>A C T I V E  L E A R N I N G  3    C.  Fall in price of CDs and        fall in cost of royalties</vt:lpstr>
      <vt:lpstr>CONCLUSION:   How Prices Allocate Resources</vt:lpstr>
      <vt:lpstr>CHAPTER SUMMARY</vt:lpstr>
      <vt:lpstr>CHAPTER SUMMARY</vt:lpstr>
      <vt:lpstr>CHAPTER SUMMARY</vt:lpstr>
      <vt:lpstr>CHAPTER SUMMARY</vt:lpstr>
    </vt:vector>
  </TitlesOfParts>
  <Company>UNLV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Ron Cronovich</dc:creator>
  <cp:lastModifiedBy>L1F24BSCS0937 - Hussain  Durrani</cp:lastModifiedBy>
  <cp:revision>69</cp:revision>
  <dcterms:created xsi:type="dcterms:W3CDTF">2008-06-02T21:33:56Z</dcterms:created>
  <dcterms:modified xsi:type="dcterms:W3CDTF">2026-04-23T06:05:18Z</dcterms:modified>
</cp:coreProperties>
</file>