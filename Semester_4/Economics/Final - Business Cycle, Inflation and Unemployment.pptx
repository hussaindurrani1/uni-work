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F3F5DA-0FD9-4C81-91B4-E60D7CD261A3}"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3603720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F3F5DA-0FD9-4C81-91B4-E60D7CD261A3}"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4288312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6F3F5DA-0FD9-4C81-91B4-E60D7CD261A3}"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547024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6F3F5DA-0FD9-4C81-91B4-E60D7CD261A3}"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2278153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6F3F5DA-0FD9-4C81-91B4-E60D7CD261A3}"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4118997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6F3F5DA-0FD9-4C81-91B4-E60D7CD261A3}"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100807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F3F5DA-0FD9-4C81-91B4-E60D7CD261A3}"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421942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F3F5DA-0FD9-4C81-91B4-E60D7CD261A3}"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1291149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F3F5DA-0FD9-4C81-91B4-E60D7CD261A3}"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3989636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F3F5DA-0FD9-4C81-91B4-E60D7CD261A3}"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3371925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6F3F5DA-0FD9-4C81-91B4-E60D7CD261A3}"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013629-E004-4523-A01A-A0F868D271B9}" type="slidenum">
              <a:rPr lang="en-US" smtClean="0"/>
              <a:t>‹#›</a:t>
            </a:fld>
            <a:endParaRPr lang="en-US"/>
          </a:p>
        </p:txBody>
      </p:sp>
    </p:spTree>
    <p:extLst>
      <p:ext uri="{BB962C8B-B14F-4D97-AF65-F5344CB8AC3E}">
        <p14:creationId xmlns:p14="http://schemas.microsoft.com/office/powerpoint/2010/main" val="893259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F3F5DA-0FD9-4C81-91B4-E60D7CD261A3}" type="datetimeFigureOut">
              <a:rPr lang="en-US" smtClean="0"/>
              <a:t>12/31/2025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013629-E004-4523-A01A-A0F868D271B9}" type="slidenum">
              <a:rPr lang="en-US" smtClean="0"/>
              <a:t>‹#›</a:t>
            </a:fld>
            <a:endParaRPr lang="en-US"/>
          </a:p>
        </p:txBody>
      </p:sp>
    </p:spTree>
    <p:extLst>
      <p:ext uri="{BB962C8B-B14F-4D97-AF65-F5344CB8AC3E}">
        <p14:creationId xmlns:p14="http://schemas.microsoft.com/office/powerpoint/2010/main" val="2923902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t>Business Cycle, Unemployment and Inflation</a:t>
            </a:r>
            <a:endParaRPr lang="en-US" b="1"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700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Business Cycle</a:t>
            </a:r>
            <a:endParaRPr lang="en-US" b="1" dirty="0"/>
          </a:p>
        </p:txBody>
      </p:sp>
      <p:sp>
        <p:nvSpPr>
          <p:cNvPr id="3" name="Content Placeholder 2"/>
          <p:cNvSpPr>
            <a:spLocks noGrp="1"/>
          </p:cNvSpPr>
          <p:nvPr>
            <p:ph idx="1"/>
          </p:nvPr>
        </p:nvSpPr>
        <p:spPr/>
        <p:txBody>
          <a:bodyPr/>
          <a:lstStyle/>
          <a:p>
            <a:pPr algn="just"/>
            <a:r>
              <a:rPr lang="en-US" dirty="0" smtClean="0"/>
              <a:t>Alternating rises and declines in the level of economic activity, sometime over several years.</a:t>
            </a:r>
          </a:p>
          <a:p>
            <a:pPr algn="just"/>
            <a:r>
              <a:rPr lang="en-US" dirty="0" smtClean="0"/>
              <a:t>Individual cycles(one up followed by one down) vary substantially in duration and intensity</a:t>
            </a:r>
          </a:p>
          <a:p>
            <a:pPr algn="just"/>
            <a:r>
              <a:rPr lang="en-US" dirty="0" smtClean="0"/>
              <a:t>Economic growth is interrupted by periods of economic instability usually associated with business cycles </a:t>
            </a:r>
            <a:endParaRPr lang="en-US" dirty="0"/>
          </a:p>
        </p:txBody>
      </p:sp>
    </p:spTree>
    <p:extLst>
      <p:ext uri="{BB962C8B-B14F-4D97-AF65-F5344CB8AC3E}">
        <p14:creationId xmlns:p14="http://schemas.microsoft.com/office/powerpoint/2010/main" val="162754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Phases of </a:t>
            </a:r>
            <a:r>
              <a:rPr lang="en-US" b="1" dirty="0"/>
              <a:t>B</a:t>
            </a:r>
            <a:r>
              <a:rPr lang="en-US" b="1" dirty="0" smtClean="0"/>
              <a:t>usiness </a:t>
            </a:r>
            <a:r>
              <a:rPr lang="en-US" b="1" dirty="0"/>
              <a:t>C</a:t>
            </a:r>
            <a:r>
              <a:rPr lang="en-US" b="1" dirty="0" smtClean="0"/>
              <a:t>ycle</a:t>
            </a:r>
            <a:endParaRPr lang="en-US" b="1" dirty="0"/>
          </a:p>
        </p:txBody>
      </p:sp>
      <p:sp>
        <p:nvSpPr>
          <p:cNvPr id="3" name="Content Placeholder 2"/>
          <p:cNvSpPr>
            <a:spLocks noGrp="1"/>
          </p:cNvSpPr>
          <p:nvPr>
            <p:ph idx="1"/>
          </p:nvPr>
        </p:nvSpPr>
        <p:spPr/>
        <p:txBody>
          <a:bodyPr/>
          <a:lstStyle/>
          <a:p>
            <a:pPr marL="0" indent="0">
              <a:buNone/>
            </a:pPr>
            <a:r>
              <a:rPr lang="en-US" dirty="0" smtClean="0"/>
              <a:t>Four phases of business cycle are given below</a:t>
            </a:r>
          </a:p>
          <a:p>
            <a:pPr marL="514350" indent="-514350" algn="just">
              <a:buAutoNum type="arabicParenR"/>
            </a:pPr>
            <a:r>
              <a:rPr lang="en-US" b="1" dirty="0" smtClean="0"/>
              <a:t>Peak</a:t>
            </a:r>
            <a:r>
              <a:rPr lang="en-US" dirty="0" smtClean="0"/>
              <a:t>- business activity reach a temporary maximum. Economy is at near full employment level and real output level is close to economy’s capacity. Price level tends to rise</a:t>
            </a:r>
          </a:p>
          <a:p>
            <a:pPr marL="514350" indent="-514350" algn="just">
              <a:buAutoNum type="arabicParenR"/>
            </a:pPr>
            <a:r>
              <a:rPr lang="en-US" b="1" dirty="0" smtClean="0"/>
              <a:t>Recession</a:t>
            </a:r>
            <a:r>
              <a:rPr lang="en-US" dirty="0" smtClean="0"/>
              <a:t>- period of decline in total output, income and employment.</a:t>
            </a:r>
            <a:r>
              <a:rPr lang="en-US" dirty="0"/>
              <a:t> </a:t>
            </a:r>
            <a:r>
              <a:rPr lang="en-US" dirty="0" smtClean="0"/>
              <a:t>Downturn lasts for 6 months or more is marked with contraction of business activity in many sectors of the economy</a:t>
            </a:r>
          </a:p>
          <a:p>
            <a:pPr marL="514350" indent="-514350" algn="just">
              <a:buAutoNum type="arabicParenR"/>
            </a:pPr>
            <a:r>
              <a:rPr lang="en-US" b="1" dirty="0" smtClean="0"/>
              <a:t>Trough</a:t>
            </a:r>
            <a:r>
              <a:rPr lang="en-US" dirty="0" smtClean="0"/>
              <a:t>- in trough of recession or depression, output and employment bottom out at their lowest levels. This phase could be short lived or quite long</a:t>
            </a:r>
          </a:p>
          <a:p>
            <a:pPr marL="514350" indent="-514350">
              <a:buAutoNum type="arabicParenR"/>
            </a:pPr>
            <a:endParaRPr lang="en-US" dirty="0" smtClean="0"/>
          </a:p>
        </p:txBody>
      </p:sp>
    </p:spTree>
    <p:extLst>
      <p:ext uri="{BB962C8B-B14F-4D97-AF65-F5344CB8AC3E}">
        <p14:creationId xmlns:p14="http://schemas.microsoft.com/office/powerpoint/2010/main" val="1118368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buNone/>
            </a:pPr>
            <a:r>
              <a:rPr lang="en-US" b="1" dirty="0" smtClean="0"/>
              <a:t>4) Expansion</a:t>
            </a:r>
            <a:r>
              <a:rPr lang="en-US" dirty="0" smtClean="0"/>
              <a:t>- recession is usually followed by recovery and expansion. Real GDP, income and employment rises. At some point, economy again reaches full employment level. If spending expands more rapidly than production capacity, prices of nearly all goods and services will rise. Inflation will occur.</a:t>
            </a:r>
          </a:p>
          <a:p>
            <a:pPr marL="0" indent="0" algn="just">
              <a:buNone/>
            </a:pPr>
            <a:r>
              <a:rPr lang="en-US" dirty="0" smtClean="0"/>
              <a:t>Example; Great depression of 1930</a:t>
            </a:r>
          </a:p>
          <a:p>
            <a:pPr algn="just"/>
            <a:r>
              <a:rPr lang="en-US" dirty="0" smtClean="0"/>
              <a:t>Two problems arise during the course of business cycles; inflation and unemployment</a:t>
            </a:r>
          </a:p>
        </p:txBody>
      </p:sp>
    </p:spTree>
    <p:extLst>
      <p:ext uri="{BB962C8B-B14F-4D97-AF65-F5344CB8AC3E}">
        <p14:creationId xmlns:p14="http://schemas.microsoft.com/office/powerpoint/2010/main" val="2461046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Cyclic Impact: Durables and </a:t>
            </a:r>
            <a:r>
              <a:rPr lang="en-US" b="1" dirty="0" smtClean="0"/>
              <a:t>Non-Durables</a:t>
            </a:r>
            <a:endParaRPr lang="en-US" b="1" dirty="0"/>
          </a:p>
        </p:txBody>
      </p:sp>
      <p:sp>
        <p:nvSpPr>
          <p:cNvPr id="3" name="Content Placeholder 2"/>
          <p:cNvSpPr>
            <a:spLocks noGrp="1"/>
          </p:cNvSpPr>
          <p:nvPr>
            <p:ph idx="1"/>
          </p:nvPr>
        </p:nvSpPr>
        <p:spPr/>
        <p:txBody>
          <a:bodyPr>
            <a:normAutofit lnSpcReduction="10000"/>
          </a:bodyPr>
          <a:lstStyle/>
          <a:p>
            <a:pPr algn="just"/>
            <a:r>
              <a:rPr lang="en-US" dirty="0" smtClean="0"/>
              <a:t>Although business cycles are felt everywhere in the economy, it affects different sectors differently.</a:t>
            </a:r>
          </a:p>
          <a:p>
            <a:pPr algn="just"/>
            <a:r>
              <a:rPr lang="en-US" dirty="0" smtClean="0"/>
              <a:t>Firms and industries producing </a:t>
            </a:r>
            <a:r>
              <a:rPr lang="en-US" b="1" dirty="0" smtClean="0"/>
              <a:t>capital goods </a:t>
            </a:r>
            <a:r>
              <a:rPr lang="en-US" dirty="0" smtClean="0"/>
              <a:t>(housing, commercial buildings, heavy equipment etc.) and </a:t>
            </a:r>
            <a:r>
              <a:rPr lang="en-US" b="1" dirty="0" smtClean="0"/>
              <a:t>consumer durables </a:t>
            </a:r>
            <a:r>
              <a:rPr lang="en-US" dirty="0" smtClean="0"/>
              <a:t>(automobiles, personal computers, appliances) are affected most by the business cycles.</a:t>
            </a:r>
          </a:p>
          <a:p>
            <a:pPr algn="just"/>
            <a:r>
              <a:rPr lang="en-US" dirty="0" smtClean="0"/>
              <a:t>When economy goes into recession, firms can postpone the purchase of new capital goods.</a:t>
            </a:r>
          </a:p>
          <a:p>
            <a:pPr algn="just"/>
            <a:r>
              <a:rPr lang="en-US" dirty="0" smtClean="0"/>
              <a:t>Same goes for consumer durables. During recession, families may repair their old cars or appliances rather than buying new ones and firms producing these goods also suffer. </a:t>
            </a:r>
            <a:endParaRPr lang="en-US" dirty="0"/>
          </a:p>
        </p:txBody>
      </p:sp>
    </p:spTree>
    <p:extLst>
      <p:ext uri="{BB962C8B-B14F-4D97-AF65-F5344CB8AC3E}">
        <p14:creationId xmlns:p14="http://schemas.microsoft.com/office/powerpoint/2010/main" val="1684237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In contrast, service industries or the firms producing </a:t>
            </a:r>
            <a:r>
              <a:rPr lang="en-US" b="1" dirty="0" smtClean="0"/>
              <a:t>non-durable consumer goods </a:t>
            </a:r>
            <a:r>
              <a:rPr lang="en-US" dirty="0" smtClean="0"/>
              <a:t>are somewhat insulated from the severe effects of recession.</a:t>
            </a:r>
          </a:p>
          <a:p>
            <a:pPr algn="just"/>
            <a:r>
              <a:rPr lang="en-US" dirty="0" smtClean="0"/>
              <a:t>People find it difficult to cut back needed medical and legal services.</a:t>
            </a:r>
          </a:p>
          <a:p>
            <a:pPr algn="just"/>
            <a:r>
              <a:rPr lang="en-US" dirty="0" smtClean="0"/>
              <a:t>Nor are the purchases of food and clothing easy to postpone.</a:t>
            </a:r>
          </a:p>
          <a:p>
            <a:pPr algn="just"/>
            <a:r>
              <a:rPr lang="en-US" dirty="0" smtClean="0"/>
              <a:t>The quantity and quality of purchases can decline but not so much as will purchases of capital goods and consumer durables.</a:t>
            </a:r>
            <a:endParaRPr lang="en-US" dirty="0"/>
          </a:p>
        </p:txBody>
      </p:sp>
    </p:spTree>
    <p:extLst>
      <p:ext uri="{BB962C8B-B14F-4D97-AF65-F5344CB8AC3E}">
        <p14:creationId xmlns:p14="http://schemas.microsoft.com/office/powerpoint/2010/main" val="1343951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Unemployment</a:t>
            </a:r>
            <a:endParaRPr lang="en-US" b="1" dirty="0"/>
          </a:p>
        </p:txBody>
      </p:sp>
      <p:sp>
        <p:nvSpPr>
          <p:cNvPr id="3" name="Content Placeholder 2"/>
          <p:cNvSpPr>
            <a:spLocks noGrp="1"/>
          </p:cNvSpPr>
          <p:nvPr>
            <p:ph idx="1"/>
          </p:nvPr>
        </p:nvSpPr>
        <p:spPr/>
        <p:txBody>
          <a:bodyPr/>
          <a:lstStyle/>
          <a:p>
            <a:pPr marL="0" indent="0">
              <a:buNone/>
            </a:pPr>
            <a:r>
              <a:rPr lang="en-US" b="1" dirty="0" smtClean="0"/>
              <a:t>Measurement of unemployment</a:t>
            </a:r>
          </a:p>
          <a:p>
            <a:r>
              <a:rPr lang="en-US" dirty="0" smtClean="0"/>
              <a:t>To measure </a:t>
            </a:r>
            <a:r>
              <a:rPr lang="en-US" dirty="0" smtClean="0"/>
              <a:t>unemployment rate, US bureau of statistics(BLS)  conducts a survey of 60000 households each to determine who is employed and who is unemployed.</a:t>
            </a:r>
          </a:p>
          <a:p>
            <a:pPr algn="just"/>
            <a:r>
              <a:rPr lang="en-US" dirty="0" smtClean="0"/>
              <a:t>The BLS divides the total population into three groups</a:t>
            </a:r>
          </a:p>
          <a:p>
            <a:pPr algn="just"/>
            <a:r>
              <a:rPr lang="en-US" b="1" dirty="0" smtClean="0"/>
              <a:t>One group- </a:t>
            </a:r>
            <a:r>
              <a:rPr lang="en-US" dirty="0" smtClean="0"/>
              <a:t>includes people under 16 years of age and people who are institutionalized, for example people in hospitals or correctional institutions. Such people are not considered potential members of labor force</a:t>
            </a:r>
          </a:p>
          <a:p>
            <a:endParaRPr lang="en-US" dirty="0" smtClean="0"/>
          </a:p>
          <a:p>
            <a:pPr marL="0" indent="0">
              <a:buNone/>
            </a:pPr>
            <a:endParaRPr lang="en-US" dirty="0"/>
          </a:p>
        </p:txBody>
      </p:sp>
    </p:spTree>
    <p:extLst>
      <p:ext uri="{BB962C8B-B14F-4D97-AF65-F5344CB8AC3E}">
        <p14:creationId xmlns:p14="http://schemas.microsoft.com/office/powerpoint/2010/main" val="1207165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b="1" dirty="0" smtClean="0"/>
              <a:t>2</a:t>
            </a:r>
            <a:r>
              <a:rPr lang="en-US" b="1" baseline="30000" dirty="0" smtClean="0"/>
              <a:t>nd</a:t>
            </a:r>
            <a:r>
              <a:rPr lang="en-US" b="1" dirty="0" smtClean="0"/>
              <a:t> group </a:t>
            </a:r>
            <a:r>
              <a:rPr lang="en-US" dirty="0" smtClean="0"/>
              <a:t>labeled as “NOT IN LABOR FORCE”- includes adults who are potential workers but not employed and are not seeking work</a:t>
            </a:r>
          </a:p>
          <a:p>
            <a:pPr algn="just"/>
            <a:r>
              <a:rPr lang="en-US" dirty="0" smtClean="0"/>
              <a:t>For example; homemakers, full time students or retirees</a:t>
            </a:r>
          </a:p>
          <a:p>
            <a:pPr algn="just"/>
            <a:r>
              <a:rPr lang="en-US" b="1" dirty="0" smtClean="0"/>
              <a:t>3</a:t>
            </a:r>
            <a:r>
              <a:rPr lang="en-US" b="1" baseline="30000" dirty="0" smtClean="0"/>
              <a:t>rd</a:t>
            </a:r>
            <a:r>
              <a:rPr lang="en-US" b="1" dirty="0" smtClean="0"/>
              <a:t> group </a:t>
            </a:r>
            <a:r>
              <a:rPr lang="en-US" dirty="0" smtClean="0"/>
              <a:t>is “LABOR FORCE”- consists of people who are able and willing to work. Both those who are employed and those who are unemployed but actively seeking work.</a:t>
            </a:r>
          </a:p>
          <a:p>
            <a:pPr algn="just"/>
            <a:r>
              <a:rPr lang="en-US" dirty="0" smtClean="0"/>
              <a:t>The unemployed rate is the percentage of the labor force unemployed</a:t>
            </a:r>
          </a:p>
          <a:p>
            <a:pPr marL="0" indent="0" algn="ctr">
              <a:buNone/>
            </a:pPr>
            <a:r>
              <a:rPr lang="en-US" sz="2400" b="1" i="1" dirty="0" smtClean="0"/>
              <a:t>The unemployment rate = unemployed /labor force x100</a:t>
            </a:r>
          </a:p>
          <a:p>
            <a:endParaRPr lang="en-US" dirty="0" smtClean="0"/>
          </a:p>
          <a:p>
            <a:endParaRPr lang="en-US" dirty="0"/>
          </a:p>
        </p:txBody>
      </p:sp>
    </p:spTree>
    <p:extLst>
      <p:ext uri="{BB962C8B-B14F-4D97-AF65-F5344CB8AC3E}">
        <p14:creationId xmlns:p14="http://schemas.microsoft.com/office/powerpoint/2010/main" val="1784443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a:t>
            </a:r>
            <a:r>
              <a:rPr lang="en-US" b="1" dirty="0" smtClean="0"/>
              <a:t>xample</a:t>
            </a:r>
            <a:endParaRPr lang="en-US" b="1" dirty="0"/>
          </a:p>
        </p:txBody>
      </p:sp>
      <p:sp>
        <p:nvSpPr>
          <p:cNvPr id="3" name="Content Placeholder 2"/>
          <p:cNvSpPr>
            <a:spLocks noGrp="1"/>
          </p:cNvSpPr>
          <p:nvPr>
            <p:ph idx="1"/>
          </p:nvPr>
        </p:nvSpPr>
        <p:spPr/>
        <p:txBody>
          <a:bodyPr/>
          <a:lstStyle/>
          <a:p>
            <a:pPr marL="0" indent="0">
              <a:buNone/>
            </a:pPr>
            <a:r>
              <a:rPr lang="en-US" dirty="0" smtClean="0"/>
              <a:t>In 2007, US has labor force of 153124000 and has 7078000 unemployed people. </a:t>
            </a:r>
          </a:p>
          <a:p>
            <a:pPr marL="0" indent="0">
              <a:buNone/>
            </a:pPr>
            <a:r>
              <a:rPr lang="en-US" b="1" dirty="0" smtClean="0"/>
              <a:t>Unemployment rate </a:t>
            </a:r>
            <a:r>
              <a:rPr lang="en-US" dirty="0" smtClean="0"/>
              <a:t>will be;</a:t>
            </a:r>
          </a:p>
          <a:p>
            <a:pPr marL="0" indent="0" algn="ctr">
              <a:buNone/>
            </a:pPr>
            <a:r>
              <a:rPr lang="en-US" i="1" dirty="0"/>
              <a:t>=</a:t>
            </a:r>
            <a:r>
              <a:rPr lang="en-US" i="1" dirty="0" smtClean="0"/>
              <a:t>(7078000/153124000)x100= 4.6%</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208725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Unemployment</a:t>
            </a:r>
            <a:endParaRPr lang="en-US" b="1" dirty="0"/>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t>There are 3 types of unemployment</a:t>
            </a:r>
          </a:p>
          <a:p>
            <a:pPr marL="514350" indent="-514350" algn="just">
              <a:buAutoNum type="arabicParenR"/>
            </a:pPr>
            <a:r>
              <a:rPr lang="en-US" b="1" dirty="0" smtClean="0"/>
              <a:t>Frictional Unemployment</a:t>
            </a:r>
          </a:p>
          <a:p>
            <a:pPr algn="just"/>
            <a:r>
              <a:rPr lang="en-US" dirty="0" smtClean="0"/>
              <a:t>It is also known as </a:t>
            </a:r>
            <a:r>
              <a:rPr lang="en-US" b="1" dirty="0" smtClean="0"/>
              <a:t>search unemployment </a:t>
            </a:r>
            <a:r>
              <a:rPr lang="en-US" dirty="0" smtClean="0"/>
              <a:t>and </a:t>
            </a:r>
            <a:r>
              <a:rPr lang="en-US" b="1" dirty="0" smtClean="0"/>
              <a:t>wait unemployment</a:t>
            </a:r>
          </a:p>
          <a:p>
            <a:pPr algn="just"/>
            <a:r>
              <a:rPr lang="en-US" dirty="0" smtClean="0"/>
              <a:t>At any given time, some workers are “between jobs”</a:t>
            </a:r>
          </a:p>
          <a:p>
            <a:pPr algn="just"/>
            <a:r>
              <a:rPr lang="en-US" dirty="0" smtClean="0"/>
              <a:t>Some will be moving voluntarily from one job to another</a:t>
            </a:r>
          </a:p>
          <a:p>
            <a:pPr algn="just"/>
            <a:r>
              <a:rPr lang="en-US" dirty="0" smtClean="0"/>
              <a:t>Others have been fired or seeking for re-employment</a:t>
            </a:r>
          </a:p>
          <a:p>
            <a:pPr algn="just"/>
            <a:r>
              <a:rPr lang="en-US" dirty="0" smtClean="0"/>
              <a:t>In addition, many young workers will be looking for their first jobs</a:t>
            </a:r>
          </a:p>
          <a:p>
            <a:pPr algn="just"/>
            <a:r>
              <a:rPr lang="en-US" dirty="0" smtClean="0"/>
              <a:t>So, frictional unemployment includes the workers who are either searching for jobs or waiting to take new jobs in future</a:t>
            </a:r>
            <a:endParaRPr lang="en-US" dirty="0"/>
          </a:p>
        </p:txBody>
      </p:sp>
    </p:spTree>
    <p:extLst>
      <p:ext uri="{BB962C8B-B14F-4D97-AF65-F5344CB8AC3E}">
        <p14:creationId xmlns:p14="http://schemas.microsoft.com/office/powerpoint/2010/main" val="1554564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The word FRICTION implies that the labor market does not operate perfectly or instantaneously in matching jobs and workers</a:t>
            </a:r>
          </a:p>
          <a:p>
            <a:pPr algn="just"/>
            <a:r>
              <a:rPr lang="en-US" dirty="0" smtClean="0"/>
              <a:t>Frictional unemployment is inevitable and desirable</a:t>
            </a:r>
          </a:p>
          <a:p>
            <a:pPr algn="just"/>
            <a:r>
              <a:rPr lang="en-US" dirty="0" smtClean="0"/>
              <a:t>Many workers who are voluntarily between jobs are moving from low paying, low productivity jobs to high paying, higher productivity positions</a:t>
            </a:r>
          </a:p>
          <a:p>
            <a:pPr algn="just"/>
            <a:r>
              <a:rPr lang="en-US" dirty="0" smtClean="0"/>
              <a:t>That means greater income for workers, a better allocation of labor resources and a larger GDP for the economy</a:t>
            </a:r>
            <a:endParaRPr lang="en-US" dirty="0"/>
          </a:p>
        </p:txBody>
      </p:sp>
    </p:spTree>
    <p:extLst>
      <p:ext uri="{BB962C8B-B14F-4D97-AF65-F5344CB8AC3E}">
        <p14:creationId xmlns:p14="http://schemas.microsoft.com/office/powerpoint/2010/main" val="1617610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Structural Unemployment</a:t>
            </a:r>
            <a:endParaRPr lang="en-US" b="1" dirty="0"/>
          </a:p>
        </p:txBody>
      </p:sp>
      <p:sp>
        <p:nvSpPr>
          <p:cNvPr id="3" name="Content Placeholder 2"/>
          <p:cNvSpPr>
            <a:spLocks noGrp="1"/>
          </p:cNvSpPr>
          <p:nvPr>
            <p:ph idx="1"/>
          </p:nvPr>
        </p:nvSpPr>
        <p:spPr/>
        <p:txBody>
          <a:bodyPr>
            <a:normAutofit lnSpcReduction="10000"/>
          </a:bodyPr>
          <a:lstStyle/>
          <a:p>
            <a:pPr algn="just"/>
            <a:r>
              <a:rPr lang="en-US" dirty="0" smtClean="0"/>
              <a:t>Frictional unemployment blurs into a category called structural unemployment</a:t>
            </a:r>
          </a:p>
          <a:p>
            <a:pPr algn="just"/>
            <a:r>
              <a:rPr lang="en-US" dirty="0" smtClean="0"/>
              <a:t>Here the word structural means compositional</a:t>
            </a:r>
          </a:p>
          <a:p>
            <a:pPr algn="just"/>
            <a:r>
              <a:rPr lang="en-US" dirty="0" smtClean="0"/>
              <a:t>Changes over time in consumer demand and in technology alter the structure of total demand of labor both geographically and occupationally  </a:t>
            </a:r>
          </a:p>
          <a:p>
            <a:pPr algn="just"/>
            <a:r>
              <a:rPr lang="en-US" b="1" dirty="0" smtClean="0"/>
              <a:t>Occupationally</a:t>
            </a:r>
            <a:r>
              <a:rPr lang="en-US" dirty="0" smtClean="0"/>
              <a:t>, demand for some skills (sewing clothes or working on farms) may decline or vanish</a:t>
            </a:r>
          </a:p>
          <a:p>
            <a:pPr algn="just"/>
            <a:r>
              <a:rPr lang="en-US" dirty="0" smtClean="0"/>
              <a:t>While demand for others skills (designing software or maintaining computer systems) will intensify</a:t>
            </a:r>
            <a:endParaRPr lang="en-US" dirty="0"/>
          </a:p>
        </p:txBody>
      </p:sp>
    </p:spTree>
    <p:extLst>
      <p:ext uri="{BB962C8B-B14F-4D97-AF65-F5344CB8AC3E}">
        <p14:creationId xmlns:p14="http://schemas.microsoft.com/office/powerpoint/2010/main" val="838896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just"/>
            <a:r>
              <a:rPr lang="en-US" dirty="0" smtClean="0"/>
              <a:t>Unemployment occurs because composition of labor force does not respond immediately or completely to new structure of job opportunities</a:t>
            </a:r>
          </a:p>
          <a:p>
            <a:pPr algn="just"/>
            <a:r>
              <a:rPr lang="en-US" dirty="0" smtClean="0"/>
              <a:t>Workers who find that their skills and experiences have become obsolete or unneeded thus find that they don’t have marketable value</a:t>
            </a:r>
          </a:p>
          <a:p>
            <a:pPr algn="just"/>
            <a:r>
              <a:rPr lang="en-US" dirty="0" smtClean="0"/>
              <a:t>They are structurally unemployed until they adapt or develop skills that employers want</a:t>
            </a:r>
            <a:endParaRPr lang="en-US" dirty="0"/>
          </a:p>
        </p:txBody>
      </p:sp>
    </p:spTree>
    <p:extLst>
      <p:ext uri="{BB962C8B-B14F-4D97-AF65-F5344CB8AC3E}">
        <p14:creationId xmlns:p14="http://schemas.microsoft.com/office/powerpoint/2010/main" val="2298086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Geographically, the demand for labor changes over time</a:t>
            </a:r>
          </a:p>
          <a:p>
            <a:pPr algn="just"/>
            <a:r>
              <a:rPr lang="en-US" dirty="0" smtClean="0"/>
              <a:t>For example, the migration of industry from snow belt to sun belt over past few decades</a:t>
            </a:r>
          </a:p>
          <a:p>
            <a:pPr algn="just"/>
            <a:r>
              <a:rPr lang="en-US" dirty="0" smtClean="0"/>
              <a:t>Or the movement of jobs from inner city to suburban industrial parks</a:t>
            </a:r>
          </a:p>
          <a:p>
            <a:pPr algn="just"/>
            <a:r>
              <a:rPr lang="en-US" dirty="0" smtClean="0"/>
              <a:t>As job opportunities move from one place to another, some workers become structurally unemployed</a:t>
            </a:r>
          </a:p>
          <a:p>
            <a:endParaRPr lang="en-US" dirty="0"/>
          </a:p>
        </p:txBody>
      </p:sp>
    </p:spTree>
    <p:extLst>
      <p:ext uri="{BB962C8B-B14F-4D97-AF65-F5344CB8AC3E}">
        <p14:creationId xmlns:p14="http://schemas.microsoft.com/office/powerpoint/2010/main" val="1292872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just"/>
            <a:r>
              <a:rPr lang="en-US" dirty="0" smtClean="0"/>
              <a:t>The </a:t>
            </a:r>
            <a:r>
              <a:rPr lang="en-US" b="1" dirty="0" smtClean="0"/>
              <a:t>distinction between structural and frictional unemployment </a:t>
            </a:r>
            <a:r>
              <a:rPr lang="en-US" dirty="0" smtClean="0"/>
              <a:t>is that frictionally unemployed workers have marketable skills and either live in areas where jobs exist or are able to move where they do</a:t>
            </a:r>
          </a:p>
          <a:p>
            <a:pPr algn="just"/>
            <a:r>
              <a:rPr lang="en-US" dirty="0" smtClean="0"/>
              <a:t>While, structurally unemployed people find it hard to obtain new jobs without retraining, gaining education or relocating</a:t>
            </a:r>
          </a:p>
          <a:p>
            <a:pPr algn="just"/>
            <a:r>
              <a:rPr lang="en-US" dirty="0" smtClean="0"/>
              <a:t>Frictional unemployment is short term while structural unemployment is long run and more serious</a:t>
            </a:r>
            <a:endParaRPr lang="en-US" dirty="0"/>
          </a:p>
        </p:txBody>
      </p:sp>
    </p:spTree>
    <p:extLst>
      <p:ext uri="{BB962C8B-B14F-4D97-AF65-F5344CB8AC3E}">
        <p14:creationId xmlns:p14="http://schemas.microsoft.com/office/powerpoint/2010/main" val="2513664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Cyclic Unemployment</a:t>
            </a:r>
            <a:endParaRPr lang="en-US" b="1" dirty="0"/>
          </a:p>
        </p:txBody>
      </p:sp>
      <p:sp>
        <p:nvSpPr>
          <p:cNvPr id="3" name="Content Placeholder 2"/>
          <p:cNvSpPr>
            <a:spLocks noGrp="1"/>
          </p:cNvSpPr>
          <p:nvPr>
            <p:ph idx="1"/>
          </p:nvPr>
        </p:nvSpPr>
        <p:spPr/>
        <p:txBody>
          <a:bodyPr/>
          <a:lstStyle/>
          <a:p>
            <a:pPr algn="just"/>
            <a:r>
              <a:rPr lang="en-US" dirty="0" smtClean="0"/>
              <a:t>It is caused by a decline in total spending and typically begins in recession phase of the business cycle</a:t>
            </a:r>
          </a:p>
          <a:p>
            <a:pPr algn="just"/>
            <a:r>
              <a:rPr lang="en-US" dirty="0" smtClean="0"/>
              <a:t>As demand for goods and services decrease, employment falls and unemployment rises</a:t>
            </a:r>
          </a:p>
          <a:p>
            <a:pPr algn="just"/>
            <a:r>
              <a:rPr lang="en-US" dirty="0" smtClean="0"/>
              <a:t>It results from insufficient demand for goods and services</a:t>
            </a:r>
          </a:p>
          <a:p>
            <a:pPr algn="just"/>
            <a:r>
              <a:rPr lang="en-US" dirty="0" smtClean="0"/>
              <a:t>The 25 % unemployment during the great depression of 1933 was cyclic unemployment</a:t>
            </a:r>
          </a:p>
          <a:p>
            <a:pPr marL="0" indent="0">
              <a:buNone/>
            </a:pPr>
            <a:endParaRPr lang="en-US" dirty="0" smtClean="0"/>
          </a:p>
          <a:p>
            <a:endParaRPr lang="en-US" dirty="0"/>
          </a:p>
        </p:txBody>
      </p:sp>
    </p:spTree>
    <p:extLst>
      <p:ext uri="{BB962C8B-B14F-4D97-AF65-F5344CB8AC3E}">
        <p14:creationId xmlns:p14="http://schemas.microsoft.com/office/powerpoint/2010/main" val="3585199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of Full Employment</a:t>
            </a:r>
            <a:endParaRPr lang="en-US" b="1" dirty="0"/>
          </a:p>
        </p:txBody>
      </p:sp>
      <p:sp>
        <p:nvSpPr>
          <p:cNvPr id="3" name="Content Placeholder 2"/>
          <p:cNvSpPr>
            <a:spLocks noGrp="1"/>
          </p:cNvSpPr>
          <p:nvPr>
            <p:ph idx="1"/>
          </p:nvPr>
        </p:nvSpPr>
        <p:spPr/>
        <p:txBody>
          <a:bodyPr>
            <a:normAutofit fontScale="92500" lnSpcReduction="10000"/>
          </a:bodyPr>
          <a:lstStyle/>
          <a:p>
            <a:pPr algn="just"/>
            <a:r>
              <a:rPr lang="en-US" dirty="0" smtClean="0"/>
              <a:t>Because frictional and structural unemployment are unavoidable in a dynamic economy, full employment is something less than 100% employment of labor force</a:t>
            </a:r>
          </a:p>
          <a:p>
            <a:pPr algn="just"/>
            <a:r>
              <a:rPr lang="en-US" dirty="0" smtClean="0"/>
              <a:t>Economists say that economy is fully employed when it is only experiencing frictional and structural unemployment </a:t>
            </a:r>
          </a:p>
          <a:p>
            <a:pPr algn="just"/>
            <a:r>
              <a:rPr lang="en-US" dirty="0" smtClean="0"/>
              <a:t>Full employment occurs when there is no cyclic unemployment</a:t>
            </a:r>
          </a:p>
          <a:p>
            <a:pPr algn="just"/>
            <a:r>
              <a:rPr lang="en-US" dirty="0" smtClean="0"/>
              <a:t>The unemployment rate that is consistent with full employment is known as </a:t>
            </a:r>
            <a:r>
              <a:rPr lang="en-US" b="1" dirty="0" smtClean="0"/>
              <a:t>full employment rate or natural rate of unemployment</a:t>
            </a:r>
          </a:p>
          <a:p>
            <a:pPr algn="just"/>
            <a:r>
              <a:rPr lang="en-US" dirty="0" smtClean="0"/>
              <a:t>At NRU, economy is said to be producing its potential output</a:t>
            </a:r>
          </a:p>
          <a:p>
            <a:pPr algn="just"/>
            <a:r>
              <a:rPr lang="en-US" dirty="0" smtClean="0"/>
              <a:t>Potential output is the real GDP that occurs when economy is fully employed</a:t>
            </a:r>
            <a:endParaRPr lang="en-US" dirty="0"/>
          </a:p>
        </p:txBody>
      </p:sp>
    </p:spTree>
    <p:extLst>
      <p:ext uri="{BB962C8B-B14F-4D97-AF65-F5344CB8AC3E}">
        <p14:creationId xmlns:p14="http://schemas.microsoft.com/office/powerpoint/2010/main" val="1250926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a:t>
            </a:r>
            <a:r>
              <a:rPr lang="en-US" b="1" dirty="0" smtClean="0"/>
              <a:t>nflation</a:t>
            </a:r>
            <a:endParaRPr lang="en-US" b="1" dirty="0"/>
          </a:p>
        </p:txBody>
      </p:sp>
      <p:sp>
        <p:nvSpPr>
          <p:cNvPr id="3" name="Content Placeholder 2"/>
          <p:cNvSpPr>
            <a:spLocks noGrp="1"/>
          </p:cNvSpPr>
          <p:nvPr>
            <p:ph idx="1"/>
          </p:nvPr>
        </p:nvSpPr>
        <p:spPr/>
        <p:txBody>
          <a:bodyPr/>
          <a:lstStyle/>
          <a:p>
            <a:pPr algn="just"/>
            <a:r>
              <a:rPr lang="en-US" dirty="0" smtClean="0"/>
              <a:t>Rise in the general level of prices is called inflation</a:t>
            </a:r>
          </a:p>
          <a:p>
            <a:pPr algn="just"/>
            <a:r>
              <a:rPr lang="en-US" dirty="0" smtClean="0"/>
              <a:t>When inflation occurs, each dollar of income will buy fewer goods and services than before</a:t>
            </a:r>
          </a:p>
          <a:p>
            <a:pPr algn="just"/>
            <a:r>
              <a:rPr lang="en-US" dirty="0" smtClean="0"/>
              <a:t>It reduces the purchasing power of money</a:t>
            </a:r>
          </a:p>
          <a:p>
            <a:pPr algn="just"/>
            <a:r>
              <a:rPr lang="en-US" dirty="0" smtClean="0"/>
              <a:t>But inflation does not mean that all prices are rising</a:t>
            </a:r>
          </a:p>
          <a:p>
            <a:pPr algn="just"/>
            <a:r>
              <a:rPr lang="en-US" dirty="0" smtClean="0"/>
              <a:t>Even during rapid inflation, some prices may be relatively constant and others may even fall </a:t>
            </a:r>
            <a:endParaRPr lang="en-US" dirty="0"/>
          </a:p>
        </p:txBody>
      </p:sp>
    </p:spTree>
    <p:extLst>
      <p:ext uri="{BB962C8B-B14F-4D97-AF65-F5344CB8AC3E}">
        <p14:creationId xmlns:p14="http://schemas.microsoft.com/office/powerpoint/2010/main" val="3540155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Measurement of Inflation</a:t>
            </a:r>
            <a:endParaRPr lang="en-US" b="1" dirty="0"/>
          </a:p>
        </p:txBody>
      </p:sp>
      <p:sp>
        <p:nvSpPr>
          <p:cNvPr id="3" name="Content Placeholder 2"/>
          <p:cNvSpPr>
            <a:spLocks noGrp="1"/>
          </p:cNvSpPr>
          <p:nvPr>
            <p:ph idx="1"/>
          </p:nvPr>
        </p:nvSpPr>
        <p:spPr/>
        <p:txBody>
          <a:bodyPr>
            <a:normAutofit lnSpcReduction="10000"/>
          </a:bodyPr>
          <a:lstStyle/>
          <a:p>
            <a:pPr algn="just"/>
            <a:r>
              <a:rPr lang="en-US" dirty="0" smtClean="0"/>
              <a:t>The main measure of inflation is “Consumer Price Index (CPI)” compiled by the Bureau of Labor Statistics</a:t>
            </a:r>
          </a:p>
          <a:p>
            <a:pPr algn="just"/>
            <a:r>
              <a:rPr lang="en-US" dirty="0" smtClean="0"/>
              <a:t>Government uses this index to report inflation rates each month and each year</a:t>
            </a:r>
          </a:p>
          <a:p>
            <a:pPr algn="just"/>
            <a:r>
              <a:rPr lang="en-US" dirty="0" smtClean="0"/>
              <a:t>CPI reports the price of market basket of some 300 consumer goods and services that are purchased by a typical urban consumer </a:t>
            </a:r>
          </a:p>
          <a:p>
            <a:pPr algn="just"/>
            <a:r>
              <a:rPr lang="en-US" dirty="0" smtClean="0"/>
              <a:t>Composition of market basket is based on the spending patterns of urban consumers in a specific time period</a:t>
            </a:r>
          </a:p>
          <a:p>
            <a:pPr algn="just"/>
            <a:r>
              <a:rPr lang="en-US" dirty="0" smtClean="0"/>
              <a:t>The rate of inflation is equal to the percentage growth of CPI from one year to the next </a:t>
            </a:r>
          </a:p>
        </p:txBody>
      </p:sp>
    </p:spTree>
    <p:extLst>
      <p:ext uri="{BB962C8B-B14F-4D97-AF65-F5344CB8AC3E}">
        <p14:creationId xmlns:p14="http://schemas.microsoft.com/office/powerpoint/2010/main" val="1481465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Inflation</a:t>
            </a:r>
            <a:endParaRPr lang="en-US" b="1"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1) Demand-Pull Inflation</a:t>
            </a:r>
          </a:p>
          <a:p>
            <a:pPr algn="just"/>
            <a:r>
              <a:rPr lang="en-US" dirty="0" smtClean="0"/>
              <a:t>Increase in price level is usually caused by an excess of total spending beyond economy’s capacity to produce</a:t>
            </a:r>
          </a:p>
          <a:p>
            <a:pPr algn="just"/>
            <a:r>
              <a:rPr lang="en-US" dirty="0" smtClean="0"/>
              <a:t>Where inflation is rapid and sustained, the cause is over-issuance of money by the Central Bank</a:t>
            </a:r>
          </a:p>
          <a:p>
            <a:pPr algn="just"/>
            <a:r>
              <a:rPr lang="en-US" dirty="0" smtClean="0"/>
              <a:t>When resources are already fully employed, the business sector cannot respond to excess demand by expanding output</a:t>
            </a:r>
          </a:p>
          <a:p>
            <a:pPr algn="just"/>
            <a:r>
              <a:rPr lang="en-US" dirty="0" smtClean="0"/>
              <a:t>Excess demand bids up prices of the limited output causing demand pull inflation</a:t>
            </a:r>
          </a:p>
          <a:p>
            <a:pPr algn="just"/>
            <a:r>
              <a:rPr lang="en-US" dirty="0" smtClean="0"/>
              <a:t>It means too much spending chasing too few goods</a:t>
            </a:r>
          </a:p>
        </p:txBody>
      </p:sp>
    </p:spTree>
    <p:extLst>
      <p:ext uri="{BB962C8B-B14F-4D97-AF65-F5344CB8AC3E}">
        <p14:creationId xmlns:p14="http://schemas.microsoft.com/office/powerpoint/2010/main" val="3391141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Cost-Push Inflation</a:t>
            </a:r>
            <a:endParaRPr lang="en-US" b="1" dirty="0"/>
          </a:p>
        </p:txBody>
      </p:sp>
      <p:sp>
        <p:nvSpPr>
          <p:cNvPr id="3" name="Content Placeholder 2"/>
          <p:cNvSpPr>
            <a:spLocks noGrp="1"/>
          </p:cNvSpPr>
          <p:nvPr>
            <p:ph idx="1"/>
          </p:nvPr>
        </p:nvSpPr>
        <p:spPr/>
        <p:txBody>
          <a:bodyPr/>
          <a:lstStyle/>
          <a:p>
            <a:pPr algn="just"/>
            <a:r>
              <a:rPr lang="en-US" dirty="0" smtClean="0"/>
              <a:t>Inflation may also arise on supply side or cost side of economy</a:t>
            </a:r>
          </a:p>
          <a:p>
            <a:pPr algn="just"/>
            <a:r>
              <a:rPr lang="en-US" dirty="0" smtClean="0"/>
              <a:t>During some periods in US economic history, in mid 1970s,  the price level increased even though total spending was not excessive</a:t>
            </a:r>
          </a:p>
          <a:p>
            <a:pPr algn="just"/>
            <a:r>
              <a:rPr lang="en-US" dirty="0" smtClean="0"/>
              <a:t>During that time, output and employment both declined while general prices were rising</a:t>
            </a:r>
          </a:p>
          <a:p>
            <a:pPr algn="just"/>
            <a:r>
              <a:rPr lang="en-US" dirty="0" smtClean="0"/>
              <a:t>The theory of cost push inflation explains rising prices in terms of factors that raise per unit production cost at each level of spending</a:t>
            </a:r>
          </a:p>
          <a:p>
            <a:pPr algn="just"/>
            <a:r>
              <a:rPr lang="en-US" dirty="0" smtClean="0"/>
              <a:t>Per unit cost is the average cost of particular level of output calculated as total input cost/units of output</a:t>
            </a:r>
            <a:endParaRPr lang="en-US" dirty="0"/>
          </a:p>
        </p:txBody>
      </p:sp>
    </p:spTree>
    <p:extLst>
      <p:ext uri="{BB962C8B-B14F-4D97-AF65-F5344CB8AC3E}">
        <p14:creationId xmlns:p14="http://schemas.microsoft.com/office/powerpoint/2010/main" val="2289377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just"/>
            <a:r>
              <a:rPr lang="en-US" dirty="0" smtClean="0"/>
              <a:t>Rising per unit production costs squeeze profits and reduce the amount of output firms are willing to supply at the existing price level</a:t>
            </a:r>
          </a:p>
          <a:p>
            <a:pPr algn="just"/>
            <a:r>
              <a:rPr lang="en-US" dirty="0" smtClean="0"/>
              <a:t>As a result, the economy’s supply of goods and services declines and price level rises</a:t>
            </a:r>
          </a:p>
          <a:p>
            <a:pPr algn="just"/>
            <a:r>
              <a:rPr lang="en-US" dirty="0" smtClean="0"/>
              <a:t>Costs are pushing the price level upwards in this case while in demand pull inflation, demand was pulling it upwards</a:t>
            </a:r>
          </a:p>
          <a:p>
            <a:pPr algn="just"/>
            <a:r>
              <a:rPr lang="en-US" dirty="0" smtClean="0"/>
              <a:t>The major source of cost push inflation has been so called </a:t>
            </a:r>
            <a:r>
              <a:rPr lang="en-US" b="1" dirty="0" smtClean="0"/>
              <a:t>supply shocks.</a:t>
            </a:r>
          </a:p>
          <a:p>
            <a:pPr algn="just"/>
            <a:r>
              <a:rPr lang="en-US" dirty="0" smtClean="0"/>
              <a:t>Abrupt increases in the costs of raw material or energy inputs have driven up per unit production costs and thus product prices</a:t>
            </a:r>
          </a:p>
          <a:p>
            <a:pPr algn="just"/>
            <a:r>
              <a:rPr lang="en-US" dirty="0" smtClean="0"/>
              <a:t>Example, rocketing prices of imported oil</a:t>
            </a:r>
          </a:p>
        </p:txBody>
      </p:sp>
    </p:spTree>
    <p:extLst>
      <p:ext uri="{BB962C8B-B14F-4D97-AF65-F5344CB8AC3E}">
        <p14:creationId xmlns:p14="http://schemas.microsoft.com/office/powerpoint/2010/main" val="1250543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a:t>
            </a:r>
            <a:r>
              <a:rPr lang="en-US" b="1" dirty="0" smtClean="0"/>
              <a:t>yperinflation</a:t>
            </a:r>
            <a:endParaRPr lang="en-US" b="1" dirty="0"/>
          </a:p>
        </p:txBody>
      </p:sp>
      <p:sp>
        <p:nvSpPr>
          <p:cNvPr id="3" name="Content Placeholder 2"/>
          <p:cNvSpPr>
            <a:spLocks noGrp="1"/>
          </p:cNvSpPr>
          <p:nvPr>
            <p:ph idx="1"/>
          </p:nvPr>
        </p:nvSpPr>
        <p:spPr/>
        <p:txBody>
          <a:bodyPr/>
          <a:lstStyle/>
          <a:p>
            <a:pPr algn="just"/>
            <a:r>
              <a:rPr lang="en-US" dirty="0" smtClean="0"/>
              <a:t>Extraordinary rapid inflation is called hyperinflation</a:t>
            </a:r>
          </a:p>
          <a:p>
            <a:pPr algn="just"/>
            <a:r>
              <a:rPr lang="en-US" dirty="0" smtClean="0"/>
              <a:t>It has devastating impact on real output and employment</a:t>
            </a:r>
          </a:p>
          <a:p>
            <a:pPr algn="just"/>
            <a:r>
              <a:rPr lang="en-US" dirty="0" smtClean="0"/>
              <a:t>All prices shoot up sharply and unevenly during hyperinflation</a:t>
            </a:r>
          </a:p>
          <a:p>
            <a:pPr algn="just"/>
            <a:r>
              <a:rPr lang="en-US" dirty="0" smtClean="0"/>
              <a:t>People begin to anticipate even more rapid inflation and normal economic relationships are disrupted</a:t>
            </a:r>
          </a:p>
          <a:p>
            <a:pPr algn="just"/>
            <a:r>
              <a:rPr lang="en-US" dirty="0" smtClean="0"/>
              <a:t>Business owners do not know what to charge for their products</a:t>
            </a:r>
          </a:p>
          <a:p>
            <a:pPr algn="just"/>
            <a:r>
              <a:rPr lang="en-US" dirty="0" smtClean="0"/>
              <a:t>Consumers do not know what to pay</a:t>
            </a:r>
          </a:p>
          <a:p>
            <a:pPr algn="just"/>
            <a:r>
              <a:rPr lang="en-US" dirty="0" smtClean="0"/>
              <a:t>Money eventually becomes worthless</a:t>
            </a:r>
            <a:r>
              <a:rPr lang="en-US" dirty="0"/>
              <a:t> </a:t>
            </a:r>
            <a:r>
              <a:rPr lang="en-US" dirty="0" smtClean="0"/>
              <a:t>and ceases to do its job as medium of exchange</a:t>
            </a:r>
          </a:p>
        </p:txBody>
      </p:sp>
    </p:spTree>
    <p:extLst>
      <p:ext uri="{BB962C8B-B14F-4D97-AF65-F5344CB8AC3E}">
        <p14:creationId xmlns:p14="http://schemas.microsoft.com/office/powerpoint/2010/main" val="1498157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Businesses start hoarding products and individual savers may decide to buy non productive wealth such gold rather than investing in capital goods</a:t>
            </a:r>
          </a:p>
          <a:p>
            <a:pPr algn="just"/>
            <a:r>
              <a:rPr lang="en-US" dirty="0" smtClean="0"/>
              <a:t>The economy may be thrown into barter system </a:t>
            </a:r>
          </a:p>
          <a:p>
            <a:pPr algn="just"/>
            <a:r>
              <a:rPr lang="en-US" dirty="0" smtClean="0"/>
              <a:t>The net result is economic collapse and often political chaos</a:t>
            </a:r>
          </a:p>
          <a:p>
            <a:pPr algn="just"/>
            <a:r>
              <a:rPr lang="en-US" dirty="0" smtClean="0"/>
              <a:t>Example- hyperinflation in Germany after World War I and Japan after the second World War</a:t>
            </a:r>
            <a:endParaRPr lang="en-US" dirty="0"/>
          </a:p>
        </p:txBody>
      </p:sp>
    </p:spTree>
    <p:extLst>
      <p:ext uri="{BB962C8B-B14F-4D97-AF65-F5344CB8AC3E}">
        <p14:creationId xmlns:p14="http://schemas.microsoft.com/office/powerpoint/2010/main" val="2435308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1699</Words>
  <Application>Microsoft Office PowerPoint</Application>
  <PresentationFormat>Widescreen</PresentationFormat>
  <Paragraphs>120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Business Cycle, Unemployment and Inflation</vt:lpstr>
      <vt:lpstr>The Business Cycle</vt:lpstr>
      <vt:lpstr>Phases of Business Cycle</vt:lpstr>
      <vt:lpstr>PowerPoint Presentation</vt:lpstr>
      <vt:lpstr>Cyclic Impact: Durables and Non-Durables</vt:lpstr>
      <vt:lpstr>PowerPoint Presentation</vt:lpstr>
      <vt:lpstr>Unemployment</vt:lpstr>
      <vt:lpstr>PowerPoint Presentation</vt:lpstr>
      <vt:lpstr>Example</vt:lpstr>
      <vt:lpstr>Types of Unemployment</vt:lpstr>
      <vt:lpstr>PowerPoint Presentation</vt:lpstr>
      <vt:lpstr>2) Structural Unemployment</vt:lpstr>
      <vt:lpstr>PowerPoint Presentation</vt:lpstr>
      <vt:lpstr>PowerPoint Presentation</vt:lpstr>
      <vt:lpstr>PowerPoint Presentation</vt:lpstr>
      <vt:lpstr>3) Cyclic Unemployment</vt:lpstr>
      <vt:lpstr>Definition of Full Employment</vt:lpstr>
      <vt:lpstr>Inflation</vt:lpstr>
      <vt:lpstr>Measurement of Inflation</vt:lpstr>
      <vt:lpstr>Types of Inflation</vt:lpstr>
      <vt:lpstr>2) Cost-Push Inflation</vt:lpstr>
      <vt:lpstr>PowerPoint Presentation</vt:lpstr>
      <vt:lpstr>Hyperinflation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Cycle, Unemployment and Inflation</dc:title>
  <dc:creator>HP</dc:creator>
  <cp:lastModifiedBy>HP</cp:lastModifiedBy>
  <cp:revision>25</cp:revision>
  <dcterms:created xsi:type="dcterms:W3CDTF">2025-12-28T18:10:17Z</dcterms:created>
  <dcterms:modified xsi:type="dcterms:W3CDTF">2025-12-31T13:11:54Z</dcterms:modified>
</cp:coreProperties>
</file>