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48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39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4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95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8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03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13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7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5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69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69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56C68-13BC-46A3-A01C-EEF5DF48B655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0EED4-EB42-4E26-A2D5-D5055007D5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77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Economic Growth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6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 of Economic Growth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An increase in real GDP occurring over some time period</a:t>
            </a:r>
          </a:p>
          <a:p>
            <a:pPr marL="0" indent="0" algn="ctr">
              <a:buNone/>
            </a:pPr>
            <a:r>
              <a:rPr lang="en-US" dirty="0" smtClean="0"/>
              <a:t>OR</a:t>
            </a:r>
          </a:p>
          <a:p>
            <a:pPr marL="0" indent="0">
              <a:buNone/>
            </a:pPr>
            <a:r>
              <a:rPr lang="en-US" dirty="0"/>
              <a:t>A</a:t>
            </a:r>
            <a:r>
              <a:rPr lang="en-US" dirty="0" smtClean="0"/>
              <a:t>n increase in real GDP per capita occurring over some time period</a:t>
            </a:r>
          </a:p>
          <a:p>
            <a:r>
              <a:rPr lang="en-US" dirty="0" smtClean="0"/>
              <a:t>It is calculated as percentage rate of growth per quarter or per year</a:t>
            </a:r>
          </a:p>
          <a:p>
            <a:r>
              <a:rPr lang="en-US" dirty="0" smtClean="0"/>
              <a:t>For first definition; growth is calculated as</a:t>
            </a:r>
          </a:p>
          <a:p>
            <a:r>
              <a:rPr lang="en-US" dirty="0" smtClean="0"/>
              <a:t>Real GDP in current year-real GDP in previous year/ real GDP in previous yearx100</a:t>
            </a:r>
          </a:p>
          <a:p>
            <a:r>
              <a:rPr lang="en-US" dirty="0" smtClean="0"/>
              <a:t>For example GDP growth for US in 2007 is</a:t>
            </a:r>
          </a:p>
          <a:p>
            <a:pPr marL="0" indent="0">
              <a:buNone/>
            </a:pPr>
            <a:r>
              <a:rPr lang="en-US" b="1" i="1" dirty="0" smtClean="0"/>
              <a:t>(11566.8billion$-11319.4billion$/11319.4billion$)x100 =2.2 billion$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52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second definition; population is used for calculation</a:t>
            </a:r>
          </a:p>
          <a:p>
            <a:r>
              <a:rPr lang="en-US" dirty="0" smtClean="0"/>
              <a:t>Real GDP per capita is found by dividing real GDP with the size of population</a:t>
            </a:r>
          </a:p>
          <a:p>
            <a:r>
              <a:rPr lang="en-US" dirty="0" smtClean="0"/>
              <a:t>For example; US real GDP was 11319.4 billion in 2006 and population was 299.8 million. So in this year GDP per capita was </a:t>
            </a:r>
            <a:r>
              <a:rPr lang="en-US" dirty="0" smtClean="0"/>
              <a:t>37757</a:t>
            </a:r>
            <a:r>
              <a:rPr lang="en-US" dirty="0" smtClean="0"/>
              <a:t>$.</a:t>
            </a:r>
          </a:p>
          <a:p>
            <a:r>
              <a:rPr lang="en-US" dirty="0" smtClean="0"/>
              <a:t>In 2007 real GDP per capita rose to 38301$</a:t>
            </a:r>
          </a:p>
          <a:p>
            <a:pPr marL="0" indent="0">
              <a:buNone/>
            </a:pPr>
            <a:r>
              <a:rPr lang="en-US" b="1" i="1" dirty="0" smtClean="0"/>
              <a:t>Rate of growth = (38301-37757/37757)x100=1.4% </a:t>
            </a:r>
            <a:endParaRPr lang="en-US" b="1" i="1" dirty="0"/>
          </a:p>
        </p:txBody>
      </p:sp>
    </p:spTree>
    <p:extLst>
      <p:ext uri="{BB962C8B-B14F-4D97-AF65-F5344CB8AC3E}">
        <p14:creationId xmlns:p14="http://schemas.microsoft.com/office/powerpoint/2010/main" val="513740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Growth as a goal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Growth is widely held economic phenomena</a:t>
            </a:r>
          </a:p>
          <a:p>
            <a:r>
              <a:rPr lang="en-US" dirty="0" smtClean="0"/>
              <a:t>Expansion of total output relative to population results in rising real wages and higher standards of living</a:t>
            </a:r>
          </a:p>
          <a:p>
            <a:r>
              <a:rPr lang="en-US" dirty="0" smtClean="0"/>
              <a:t>Economy experiencing growth is better able to people’s wants and resolve socioeconomic problems</a:t>
            </a:r>
          </a:p>
          <a:p>
            <a:r>
              <a:rPr lang="en-US" dirty="0" smtClean="0"/>
              <a:t>A growing economy can undertake programs to alleviate poverty, embrace diversity, cultivate the arts and protect the environment </a:t>
            </a:r>
          </a:p>
          <a:p>
            <a:r>
              <a:rPr lang="en-US" dirty="0" smtClean="0"/>
              <a:t>Growth lessens the burden of scarcity by relaxing society’s constraint on production</a:t>
            </a:r>
          </a:p>
          <a:p>
            <a:r>
              <a:rPr lang="en-US" dirty="0" smtClean="0"/>
              <a:t>Growing economy can consume more today while increasing its capacity to produce more in future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510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Arithmetic of growth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Rule of 70 is used to find the number of years it take for some measure to double</a:t>
            </a:r>
          </a:p>
          <a:p>
            <a:pPr marL="0" indent="0">
              <a:buNone/>
            </a:pPr>
            <a:r>
              <a:rPr lang="en-US" sz="2000" b="1" dirty="0" smtClean="0"/>
              <a:t>Approximate number of years required to double real GDP=70/annual percentage rate of growth</a:t>
            </a:r>
          </a:p>
          <a:p>
            <a:r>
              <a:rPr lang="en-US" dirty="0" smtClean="0"/>
              <a:t>For Example</a:t>
            </a:r>
          </a:p>
          <a:p>
            <a:pPr marL="0" indent="0">
              <a:buNone/>
            </a:pPr>
            <a:r>
              <a:rPr lang="en-US" dirty="0" smtClean="0"/>
              <a:t>A 3% annual rate of growth will double real GDP in about 23 years</a:t>
            </a:r>
          </a:p>
          <a:p>
            <a:pPr marL="0" indent="0">
              <a:buNone/>
            </a:pPr>
            <a:r>
              <a:rPr lang="en-US" dirty="0" smtClean="0"/>
              <a:t>That is 70/3=23</a:t>
            </a:r>
          </a:p>
          <a:p>
            <a:r>
              <a:rPr lang="en-US" dirty="0" smtClean="0"/>
              <a:t>Suppose China and Italy start with identical GDPs but the China grows at the rate of 8% per year and Italy grows at 2% rate yearly. China’s GDP would double </a:t>
            </a:r>
            <a:r>
              <a:rPr lang="en-US" smtClean="0"/>
              <a:t>in about </a:t>
            </a:r>
            <a:r>
              <a:rPr lang="en-US" dirty="0" smtClean="0"/>
              <a:t>9 years but </a:t>
            </a:r>
            <a:r>
              <a:rPr lang="en-US" dirty="0" err="1" smtClean="0"/>
              <a:t>Itlay’s</a:t>
            </a:r>
            <a:r>
              <a:rPr lang="en-US" dirty="0" smtClean="0"/>
              <a:t> GDP would double in 35 years. 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43678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341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Economic Growth</vt:lpstr>
      <vt:lpstr>Definition of Economic Growth</vt:lpstr>
      <vt:lpstr>PowerPoint Presentation</vt:lpstr>
      <vt:lpstr>Growth as a goal</vt:lpstr>
      <vt:lpstr>Arithmetic of growth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Growth</dc:title>
  <dc:creator>HP</dc:creator>
  <cp:lastModifiedBy>HP</cp:lastModifiedBy>
  <cp:revision>7</cp:revision>
  <dcterms:created xsi:type="dcterms:W3CDTF">2025-12-28T08:42:38Z</dcterms:created>
  <dcterms:modified xsi:type="dcterms:W3CDTF">2026-01-11T17:27:13Z</dcterms:modified>
</cp:coreProperties>
</file>