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 id="260" r:id="rId3"/>
    <p:sldId id="261" r:id="rId4"/>
    <p:sldId id="262" r:id="rId5"/>
    <p:sldId id="263" r:id="rId6"/>
    <p:sldId id="277" r:id="rId7"/>
    <p:sldId id="264" r:id="rId8"/>
    <p:sldId id="265" r:id="rId9"/>
    <p:sldId id="266" r:id="rId10"/>
    <p:sldId id="267" r:id="rId11"/>
    <p:sldId id="268" r:id="rId12"/>
    <p:sldId id="269" r:id="rId13"/>
    <p:sldId id="270" r:id="rId14"/>
    <p:sldId id="271" r:id="rId15"/>
    <p:sldId id="272" r:id="rId16"/>
    <p:sldId id="273" r:id="rId17"/>
    <p:sldId id="304" r:id="rId18"/>
  </p:sldIdLst>
  <p:sldSz cx="9118600" cy="6819900"/>
  <p:notesSz cx="9118600" cy="68199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22"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77761" y="2527299"/>
            <a:ext cx="438150" cy="474980"/>
          </a:xfrm>
          <a:custGeom>
            <a:avLst/>
            <a:gdLst/>
            <a:ahLst/>
            <a:cxnLst/>
            <a:rect l="l" t="t" r="r" b="b"/>
            <a:pathLst>
              <a:path w="438150" h="474980">
                <a:moveTo>
                  <a:pt x="438150" y="0"/>
                </a:moveTo>
                <a:lnTo>
                  <a:pt x="0" y="0"/>
                </a:lnTo>
                <a:lnTo>
                  <a:pt x="0" y="422148"/>
                </a:lnTo>
                <a:lnTo>
                  <a:pt x="0" y="474726"/>
                </a:lnTo>
                <a:lnTo>
                  <a:pt x="438150" y="474726"/>
                </a:lnTo>
                <a:lnTo>
                  <a:pt x="438150" y="422148"/>
                </a:lnTo>
                <a:lnTo>
                  <a:pt x="438150" y="0"/>
                </a:lnTo>
                <a:close/>
              </a:path>
            </a:pathLst>
          </a:custGeom>
          <a:solidFill>
            <a:srgbClr val="3333CC"/>
          </a:solidFill>
        </p:spPr>
        <p:txBody>
          <a:bodyPr wrap="square" lIns="0" tIns="0" rIns="0" bIns="0" rtlCol="0"/>
          <a:lstStyle/>
          <a:p>
            <a:endParaRPr/>
          </a:p>
        </p:txBody>
      </p:sp>
      <p:sp>
        <p:nvSpPr>
          <p:cNvPr id="17" name="bg object 17"/>
          <p:cNvSpPr/>
          <p:nvPr/>
        </p:nvSpPr>
        <p:spPr>
          <a:xfrm>
            <a:off x="660285" y="2527299"/>
            <a:ext cx="329184" cy="474725"/>
          </a:xfrm>
          <a:prstGeom prst="rect">
            <a:avLst/>
          </a:prstGeom>
          <a:blipFill>
            <a:blip r:embed="rId2" cstate="print"/>
            <a:stretch>
              <a:fillRect/>
            </a:stretch>
          </a:blipFill>
        </p:spPr>
        <p:txBody>
          <a:bodyPr wrap="square" lIns="0" tIns="0" rIns="0" bIns="0" rtlCol="0"/>
          <a:lstStyle/>
          <a:p>
            <a:endParaRPr/>
          </a:p>
        </p:txBody>
      </p:sp>
      <p:sp>
        <p:nvSpPr>
          <p:cNvPr id="18" name="bg object 18"/>
          <p:cNvSpPr/>
          <p:nvPr/>
        </p:nvSpPr>
        <p:spPr>
          <a:xfrm>
            <a:off x="401967" y="2949447"/>
            <a:ext cx="422275" cy="474980"/>
          </a:xfrm>
          <a:custGeom>
            <a:avLst/>
            <a:gdLst/>
            <a:ahLst/>
            <a:cxnLst/>
            <a:rect l="l" t="t" r="r" b="b"/>
            <a:pathLst>
              <a:path w="422275" h="474979">
                <a:moveTo>
                  <a:pt x="422147" y="474725"/>
                </a:moveTo>
                <a:lnTo>
                  <a:pt x="422147" y="0"/>
                </a:lnTo>
                <a:lnTo>
                  <a:pt x="0" y="0"/>
                </a:lnTo>
                <a:lnTo>
                  <a:pt x="0" y="474725"/>
                </a:lnTo>
                <a:lnTo>
                  <a:pt x="422147" y="474725"/>
                </a:lnTo>
                <a:close/>
              </a:path>
            </a:pathLst>
          </a:custGeom>
          <a:solidFill>
            <a:srgbClr val="FFCF01"/>
          </a:solidFill>
        </p:spPr>
        <p:txBody>
          <a:bodyPr wrap="square" lIns="0" tIns="0" rIns="0" bIns="0" rtlCol="0"/>
          <a:lstStyle/>
          <a:p>
            <a:endParaRPr/>
          </a:p>
        </p:txBody>
      </p:sp>
      <p:sp>
        <p:nvSpPr>
          <p:cNvPr id="19" name="bg object 19"/>
          <p:cNvSpPr/>
          <p:nvPr/>
        </p:nvSpPr>
        <p:spPr>
          <a:xfrm>
            <a:off x="0" y="2876295"/>
            <a:ext cx="8996565" cy="547877"/>
          </a:xfrm>
          <a:prstGeom prst="rect">
            <a:avLst/>
          </a:prstGeom>
          <a:blipFill>
            <a:blip r:embed="rId3" cstate="print"/>
            <a:stretch>
              <a:fillRect/>
            </a:stretch>
          </a:blipFill>
        </p:spPr>
        <p:txBody>
          <a:bodyPr wrap="square" lIns="0" tIns="0" rIns="0" bIns="0" rtlCol="0"/>
          <a:lstStyle/>
          <a:p>
            <a:endParaRPr/>
          </a:p>
        </p:txBody>
      </p:sp>
      <p:sp>
        <p:nvSpPr>
          <p:cNvPr id="20" name="bg object 20"/>
          <p:cNvSpPr/>
          <p:nvPr/>
        </p:nvSpPr>
        <p:spPr>
          <a:xfrm>
            <a:off x="622185" y="2419095"/>
            <a:ext cx="32384" cy="1052830"/>
          </a:xfrm>
          <a:custGeom>
            <a:avLst/>
            <a:gdLst/>
            <a:ahLst/>
            <a:cxnLst/>
            <a:rect l="l" t="t" r="r" b="b"/>
            <a:pathLst>
              <a:path w="32384" h="1052829">
                <a:moveTo>
                  <a:pt x="32003" y="1052321"/>
                </a:moveTo>
                <a:lnTo>
                  <a:pt x="32003" y="0"/>
                </a:lnTo>
                <a:lnTo>
                  <a:pt x="0" y="0"/>
                </a:lnTo>
                <a:lnTo>
                  <a:pt x="0" y="1052321"/>
                </a:lnTo>
                <a:lnTo>
                  <a:pt x="32003" y="1052321"/>
                </a:lnTo>
                <a:close/>
              </a:path>
            </a:pathLst>
          </a:custGeom>
          <a:solidFill>
            <a:srgbClr val="1C1C1C"/>
          </a:solidFill>
        </p:spPr>
        <p:txBody>
          <a:bodyPr wrap="square" lIns="0" tIns="0" rIns="0" bIns="0" rtlCol="0"/>
          <a:lstStyle/>
          <a:p>
            <a:endParaRPr/>
          </a:p>
        </p:txBody>
      </p:sp>
      <p:sp>
        <p:nvSpPr>
          <p:cNvPr id="2" name="Holder 2"/>
          <p:cNvSpPr>
            <a:spLocks noGrp="1"/>
          </p:cNvSpPr>
          <p:nvPr>
            <p:ph type="ctrTitle"/>
          </p:nvPr>
        </p:nvSpPr>
        <p:spPr>
          <a:xfrm>
            <a:off x="959358" y="1793747"/>
            <a:ext cx="7199883" cy="1123950"/>
          </a:xfrm>
          <a:prstGeom prst="rect">
            <a:avLst/>
          </a:prstGeom>
        </p:spPr>
        <p:txBody>
          <a:bodyPr wrap="square" lIns="0" tIns="0" rIns="0" bIns="0">
            <a:spAutoFit/>
          </a:bodyPr>
          <a:lstStyle>
            <a:lvl1pPr>
              <a:defRPr sz="3600" b="0" i="0">
                <a:solidFill>
                  <a:srgbClr val="33339A"/>
                </a:solidFill>
                <a:latin typeface="Tahoma"/>
                <a:cs typeface="Tahoma"/>
              </a:defRPr>
            </a:lvl1pPr>
          </a:lstStyle>
          <a:p>
            <a:endParaRPr/>
          </a:p>
        </p:txBody>
      </p:sp>
      <p:sp>
        <p:nvSpPr>
          <p:cNvPr id="3" name="Holder 3"/>
          <p:cNvSpPr>
            <a:spLocks noGrp="1"/>
          </p:cNvSpPr>
          <p:nvPr>
            <p:ph type="subTitle" idx="4"/>
          </p:nvPr>
        </p:nvSpPr>
        <p:spPr>
          <a:xfrm>
            <a:off x="1367790" y="3819144"/>
            <a:ext cx="6383020" cy="17049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ahoma"/>
                <a:cs typeface="Tahoma"/>
              </a:defRPr>
            </a:lvl1pPr>
          </a:lstStyle>
          <a:p>
            <a:pPr marL="12700">
              <a:lnSpc>
                <a:spcPct val="100000"/>
              </a:lnSpc>
              <a:spcBef>
                <a:spcPts val="100"/>
              </a:spcBef>
            </a:pPr>
            <a:r>
              <a:rPr spc="-5" dirty="0"/>
              <a:t>ADBS:</a:t>
            </a:r>
            <a:r>
              <a:rPr spc="-65" dirty="0"/>
              <a:t> </a:t>
            </a:r>
            <a:r>
              <a:rPr spc="-5" dirty="0"/>
              <a:t>Transactions</a:t>
            </a:r>
          </a:p>
        </p:txBody>
      </p:sp>
      <p:sp>
        <p:nvSpPr>
          <p:cNvPr id="5" name="Holder 5"/>
          <p:cNvSpPr>
            <a:spLocks noGrp="1"/>
          </p:cNvSpPr>
          <p:nvPr>
            <p:ph type="dt" sz="half" idx="6"/>
          </p:nvPr>
        </p:nvSpPr>
        <p:spPr/>
        <p:txBody>
          <a:bodyPr lIns="0" tIns="0" rIns="0" bIns="0"/>
          <a:lstStyle>
            <a:lvl1pPr>
              <a:defRPr sz="1200" b="0" i="0">
                <a:solidFill>
                  <a:schemeClr val="tx1"/>
                </a:solidFill>
                <a:latin typeface="Tahoma"/>
                <a:cs typeface="Tahoma"/>
              </a:defRPr>
            </a:lvl1pPr>
          </a:lstStyle>
          <a:p>
            <a:pPr marL="12700">
              <a:lnSpc>
                <a:spcPct val="100000"/>
              </a:lnSpc>
              <a:spcBef>
                <a:spcPts val="100"/>
              </a:spcBef>
            </a:pPr>
            <a:r>
              <a:rPr spc="-5" dirty="0"/>
              <a:t>March 24,</a:t>
            </a:r>
            <a:r>
              <a:rPr spc="-75" dirty="0"/>
              <a:t> </a:t>
            </a:r>
            <a:r>
              <a:rPr spc="-5" dirty="0"/>
              <a:t>2008</a:t>
            </a:r>
          </a:p>
        </p:txBody>
      </p:sp>
      <p:sp>
        <p:nvSpPr>
          <p:cNvPr id="6" name="Holder 6"/>
          <p:cNvSpPr>
            <a:spLocks noGrp="1"/>
          </p:cNvSpPr>
          <p:nvPr>
            <p:ph type="sldNum" sz="quarter" idx="7"/>
          </p:nvPr>
        </p:nvSpPr>
        <p:spPr/>
        <p:txBody>
          <a:bodyPr lIns="0" tIns="0" rIns="0" bIns="0"/>
          <a:lstStyle>
            <a:lvl1pPr>
              <a:defRPr sz="1200" b="0" i="0">
                <a:solidFill>
                  <a:schemeClr val="tx1"/>
                </a:solidFill>
                <a:latin typeface="Tahoma"/>
                <a:cs typeface="Tahoma"/>
              </a:defRPr>
            </a:lvl1pPr>
          </a:lstStyle>
          <a:p>
            <a:pPr marL="38100">
              <a:lnSpc>
                <a:spcPct val="100000"/>
              </a:lnSpc>
              <a:spcBef>
                <a:spcPts val="100"/>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33339A"/>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000" b="1"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ahoma"/>
                <a:cs typeface="Tahoma"/>
              </a:defRPr>
            </a:lvl1pPr>
          </a:lstStyle>
          <a:p>
            <a:pPr marL="12700">
              <a:lnSpc>
                <a:spcPct val="100000"/>
              </a:lnSpc>
              <a:spcBef>
                <a:spcPts val="100"/>
              </a:spcBef>
            </a:pPr>
            <a:r>
              <a:rPr spc="-5" dirty="0"/>
              <a:t>ADBS:</a:t>
            </a:r>
            <a:r>
              <a:rPr spc="-65" dirty="0"/>
              <a:t> </a:t>
            </a:r>
            <a:r>
              <a:rPr spc="-5" dirty="0"/>
              <a:t>Transactions</a:t>
            </a:r>
          </a:p>
        </p:txBody>
      </p:sp>
      <p:sp>
        <p:nvSpPr>
          <p:cNvPr id="5" name="Holder 5"/>
          <p:cNvSpPr>
            <a:spLocks noGrp="1"/>
          </p:cNvSpPr>
          <p:nvPr>
            <p:ph type="dt" sz="half" idx="6"/>
          </p:nvPr>
        </p:nvSpPr>
        <p:spPr/>
        <p:txBody>
          <a:bodyPr lIns="0" tIns="0" rIns="0" bIns="0"/>
          <a:lstStyle>
            <a:lvl1pPr>
              <a:defRPr sz="1200" b="0" i="0">
                <a:solidFill>
                  <a:schemeClr val="tx1"/>
                </a:solidFill>
                <a:latin typeface="Tahoma"/>
                <a:cs typeface="Tahoma"/>
              </a:defRPr>
            </a:lvl1pPr>
          </a:lstStyle>
          <a:p>
            <a:pPr marL="12700">
              <a:lnSpc>
                <a:spcPct val="100000"/>
              </a:lnSpc>
              <a:spcBef>
                <a:spcPts val="100"/>
              </a:spcBef>
            </a:pPr>
            <a:r>
              <a:rPr spc="-5" dirty="0"/>
              <a:t>March 24,</a:t>
            </a:r>
            <a:r>
              <a:rPr spc="-75" dirty="0"/>
              <a:t> </a:t>
            </a:r>
            <a:r>
              <a:rPr spc="-5" dirty="0"/>
              <a:t>2008</a:t>
            </a:r>
          </a:p>
        </p:txBody>
      </p:sp>
      <p:sp>
        <p:nvSpPr>
          <p:cNvPr id="6" name="Holder 6"/>
          <p:cNvSpPr>
            <a:spLocks noGrp="1"/>
          </p:cNvSpPr>
          <p:nvPr>
            <p:ph type="sldNum" sz="quarter" idx="7"/>
          </p:nvPr>
        </p:nvSpPr>
        <p:spPr/>
        <p:txBody>
          <a:bodyPr lIns="0" tIns="0" rIns="0" bIns="0"/>
          <a:lstStyle>
            <a:lvl1pPr>
              <a:defRPr sz="1200" b="0" i="0">
                <a:solidFill>
                  <a:schemeClr val="tx1"/>
                </a:solidFill>
                <a:latin typeface="Tahoma"/>
                <a:cs typeface="Tahoma"/>
              </a:defRPr>
            </a:lvl1pPr>
          </a:lstStyle>
          <a:p>
            <a:pPr marL="38100">
              <a:lnSpc>
                <a:spcPct val="100000"/>
              </a:lnSpc>
              <a:spcBef>
                <a:spcPts val="100"/>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33339A"/>
                </a:solidFill>
                <a:latin typeface="Tahoma"/>
                <a:cs typeface="Tahoma"/>
              </a:defRPr>
            </a:lvl1pPr>
          </a:lstStyle>
          <a:p>
            <a:endParaRPr/>
          </a:p>
        </p:txBody>
      </p:sp>
      <p:sp>
        <p:nvSpPr>
          <p:cNvPr id="3" name="Holder 3"/>
          <p:cNvSpPr>
            <a:spLocks noGrp="1"/>
          </p:cNvSpPr>
          <p:nvPr>
            <p:ph sz="half" idx="2"/>
          </p:nvPr>
        </p:nvSpPr>
        <p:spPr>
          <a:xfrm>
            <a:off x="455930" y="1568577"/>
            <a:ext cx="3966591" cy="450113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696079" y="1568577"/>
            <a:ext cx="3966591" cy="450113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Tahoma"/>
                <a:cs typeface="Tahoma"/>
              </a:defRPr>
            </a:lvl1pPr>
          </a:lstStyle>
          <a:p>
            <a:pPr marL="12700">
              <a:lnSpc>
                <a:spcPct val="100000"/>
              </a:lnSpc>
              <a:spcBef>
                <a:spcPts val="100"/>
              </a:spcBef>
            </a:pPr>
            <a:r>
              <a:rPr spc="-5" dirty="0"/>
              <a:t>ADBS:</a:t>
            </a:r>
            <a:r>
              <a:rPr spc="-65" dirty="0"/>
              <a:t> </a:t>
            </a:r>
            <a:r>
              <a:rPr spc="-5" dirty="0"/>
              <a:t>Transactions</a:t>
            </a:r>
          </a:p>
        </p:txBody>
      </p:sp>
      <p:sp>
        <p:nvSpPr>
          <p:cNvPr id="6" name="Holder 6"/>
          <p:cNvSpPr>
            <a:spLocks noGrp="1"/>
          </p:cNvSpPr>
          <p:nvPr>
            <p:ph type="dt" sz="half" idx="6"/>
          </p:nvPr>
        </p:nvSpPr>
        <p:spPr/>
        <p:txBody>
          <a:bodyPr lIns="0" tIns="0" rIns="0" bIns="0"/>
          <a:lstStyle>
            <a:lvl1pPr>
              <a:defRPr sz="1200" b="0" i="0">
                <a:solidFill>
                  <a:schemeClr val="tx1"/>
                </a:solidFill>
                <a:latin typeface="Tahoma"/>
                <a:cs typeface="Tahoma"/>
              </a:defRPr>
            </a:lvl1pPr>
          </a:lstStyle>
          <a:p>
            <a:pPr marL="12700">
              <a:lnSpc>
                <a:spcPct val="100000"/>
              </a:lnSpc>
              <a:spcBef>
                <a:spcPts val="100"/>
              </a:spcBef>
            </a:pPr>
            <a:r>
              <a:rPr spc="-5" dirty="0"/>
              <a:t>March 24,</a:t>
            </a:r>
            <a:r>
              <a:rPr spc="-75" dirty="0"/>
              <a:t> </a:t>
            </a:r>
            <a:r>
              <a:rPr spc="-5" dirty="0"/>
              <a:t>2008</a:t>
            </a:r>
          </a:p>
        </p:txBody>
      </p:sp>
      <p:sp>
        <p:nvSpPr>
          <p:cNvPr id="7" name="Holder 7"/>
          <p:cNvSpPr>
            <a:spLocks noGrp="1"/>
          </p:cNvSpPr>
          <p:nvPr>
            <p:ph type="sldNum" sz="quarter" idx="7"/>
          </p:nvPr>
        </p:nvSpPr>
        <p:spPr/>
        <p:txBody>
          <a:bodyPr lIns="0" tIns="0" rIns="0" bIns="0"/>
          <a:lstStyle>
            <a:lvl1pPr>
              <a:defRPr sz="1200" b="0" i="0">
                <a:solidFill>
                  <a:schemeClr val="tx1"/>
                </a:solidFill>
                <a:latin typeface="Tahoma"/>
                <a:cs typeface="Tahoma"/>
              </a:defRPr>
            </a:lvl1pPr>
          </a:lstStyle>
          <a:p>
            <a:pPr marL="38100">
              <a:lnSpc>
                <a:spcPct val="100000"/>
              </a:lnSpc>
              <a:spcBef>
                <a:spcPts val="100"/>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33339A"/>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Tahoma"/>
                <a:cs typeface="Tahoma"/>
              </a:defRPr>
            </a:lvl1pPr>
          </a:lstStyle>
          <a:p>
            <a:pPr marL="12700">
              <a:lnSpc>
                <a:spcPct val="100000"/>
              </a:lnSpc>
              <a:spcBef>
                <a:spcPts val="100"/>
              </a:spcBef>
            </a:pPr>
            <a:r>
              <a:rPr spc="-5" dirty="0"/>
              <a:t>ADBS:</a:t>
            </a:r>
            <a:r>
              <a:rPr spc="-65" dirty="0"/>
              <a:t> </a:t>
            </a:r>
            <a:r>
              <a:rPr spc="-5" dirty="0"/>
              <a:t>Transactions</a:t>
            </a:r>
          </a:p>
        </p:txBody>
      </p:sp>
      <p:sp>
        <p:nvSpPr>
          <p:cNvPr id="4" name="Holder 4"/>
          <p:cNvSpPr>
            <a:spLocks noGrp="1"/>
          </p:cNvSpPr>
          <p:nvPr>
            <p:ph type="dt" sz="half" idx="6"/>
          </p:nvPr>
        </p:nvSpPr>
        <p:spPr/>
        <p:txBody>
          <a:bodyPr lIns="0" tIns="0" rIns="0" bIns="0"/>
          <a:lstStyle>
            <a:lvl1pPr>
              <a:defRPr sz="1200" b="0" i="0">
                <a:solidFill>
                  <a:schemeClr val="tx1"/>
                </a:solidFill>
                <a:latin typeface="Tahoma"/>
                <a:cs typeface="Tahoma"/>
              </a:defRPr>
            </a:lvl1pPr>
          </a:lstStyle>
          <a:p>
            <a:pPr marL="12700">
              <a:lnSpc>
                <a:spcPct val="100000"/>
              </a:lnSpc>
              <a:spcBef>
                <a:spcPts val="100"/>
              </a:spcBef>
            </a:pPr>
            <a:r>
              <a:rPr spc="-5" dirty="0"/>
              <a:t>March 24,</a:t>
            </a:r>
            <a:r>
              <a:rPr spc="-75" dirty="0"/>
              <a:t> </a:t>
            </a:r>
            <a:r>
              <a:rPr spc="-5" dirty="0"/>
              <a:t>2008</a:t>
            </a:r>
          </a:p>
        </p:txBody>
      </p:sp>
      <p:sp>
        <p:nvSpPr>
          <p:cNvPr id="5" name="Holder 5"/>
          <p:cNvSpPr>
            <a:spLocks noGrp="1"/>
          </p:cNvSpPr>
          <p:nvPr>
            <p:ph type="sldNum" sz="quarter" idx="7"/>
          </p:nvPr>
        </p:nvSpPr>
        <p:spPr/>
        <p:txBody>
          <a:bodyPr lIns="0" tIns="0" rIns="0" bIns="0"/>
          <a:lstStyle>
            <a:lvl1pPr>
              <a:defRPr sz="1200" b="0" i="0">
                <a:solidFill>
                  <a:schemeClr val="tx1"/>
                </a:solidFill>
                <a:latin typeface="Tahoma"/>
                <a:cs typeface="Tahoma"/>
              </a:defRPr>
            </a:lvl1pPr>
          </a:lstStyle>
          <a:p>
            <a:pPr marL="38100">
              <a:lnSpc>
                <a:spcPct val="100000"/>
              </a:lnSpc>
              <a:spcBef>
                <a:spcPts val="100"/>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Tahoma"/>
                <a:cs typeface="Tahoma"/>
              </a:defRPr>
            </a:lvl1pPr>
          </a:lstStyle>
          <a:p>
            <a:pPr marL="12700">
              <a:lnSpc>
                <a:spcPct val="100000"/>
              </a:lnSpc>
              <a:spcBef>
                <a:spcPts val="100"/>
              </a:spcBef>
            </a:pPr>
            <a:r>
              <a:rPr spc="-5" dirty="0"/>
              <a:t>ADBS:</a:t>
            </a:r>
            <a:r>
              <a:rPr spc="-65" dirty="0"/>
              <a:t> </a:t>
            </a:r>
            <a:r>
              <a:rPr spc="-5" dirty="0"/>
              <a:t>Transactions</a:t>
            </a:r>
          </a:p>
        </p:txBody>
      </p:sp>
      <p:sp>
        <p:nvSpPr>
          <p:cNvPr id="3" name="Holder 3"/>
          <p:cNvSpPr>
            <a:spLocks noGrp="1"/>
          </p:cNvSpPr>
          <p:nvPr>
            <p:ph type="dt" sz="half" idx="6"/>
          </p:nvPr>
        </p:nvSpPr>
        <p:spPr/>
        <p:txBody>
          <a:bodyPr lIns="0" tIns="0" rIns="0" bIns="0"/>
          <a:lstStyle>
            <a:lvl1pPr>
              <a:defRPr sz="1200" b="0" i="0">
                <a:solidFill>
                  <a:schemeClr val="tx1"/>
                </a:solidFill>
                <a:latin typeface="Tahoma"/>
                <a:cs typeface="Tahoma"/>
              </a:defRPr>
            </a:lvl1pPr>
          </a:lstStyle>
          <a:p>
            <a:pPr marL="12700">
              <a:lnSpc>
                <a:spcPct val="100000"/>
              </a:lnSpc>
              <a:spcBef>
                <a:spcPts val="100"/>
              </a:spcBef>
            </a:pPr>
            <a:r>
              <a:rPr spc="-5" dirty="0"/>
              <a:t>March 24,</a:t>
            </a:r>
            <a:r>
              <a:rPr spc="-75" dirty="0"/>
              <a:t> </a:t>
            </a:r>
            <a:r>
              <a:rPr spc="-5" dirty="0"/>
              <a:t>2008</a:t>
            </a:r>
          </a:p>
        </p:txBody>
      </p:sp>
      <p:sp>
        <p:nvSpPr>
          <p:cNvPr id="4" name="Holder 4"/>
          <p:cNvSpPr>
            <a:spLocks noGrp="1"/>
          </p:cNvSpPr>
          <p:nvPr>
            <p:ph type="sldNum" sz="quarter" idx="7"/>
          </p:nvPr>
        </p:nvSpPr>
        <p:spPr/>
        <p:txBody>
          <a:bodyPr lIns="0" tIns="0" rIns="0" bIns="0"/>
          <a:lstStyle>
            <a:lvl1pPr>
              <a:defRPr sz="1200" b="0" i="0">
                <a:solidFill>
                  <a:schemeClr val="tx1"/>
                </a:solidFill>
                <a:latin typeface="Tahoma"/>
                <a:cs typeface="Tahoma"/>
              </a:defRPr>
            </a:lvl1pPr>
          </a:lstStyle>
          <a:p>
            <a:pPr marL="38100">
              <a:lnSpc>
                <a:spcPct val="100000"/>
              </a:lnSpc>
              <a:spcBef>
                <a:spcPts val="100"/>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21183" y="701547"/>
            <a:ext cx="438784" cy="474980"/>
          </a:xfrm>
          <a:custGeom>
            <a:avLst/>
            <a:gdLst/>
            <a:ahLst/>
            <a:cxnLst/>
            <a:rect l="l" t="t" r="r" b="b"/>
            <a:pathLst>
              <a:path w="438784" h="474980">
                <a:moveTo>
                  <a:pt x="438162" y="0"/>
                </a:moveTo>
                <a:lnTo>
                  <a:pt x="0" y="0"/>
                </a:lnTo>
                <a:lnTo>
                  <a:pt x="0" y="422148"/>
                </a:lnTo>
                <a:lnTo>
                  <a:pt x="0" y="474726"/>
                </a:lnTo>
                <a:lnTo>
                  <a:pt x="438162" y="474726"/>
                </a:lnTo>
                <a:lnTo>
                  <a:pt x="438162" y="422148"/>
                </a:lnTo>
                <a:lnTo>
                  <a:pt x="438162" y="0"/>
                </a:lnTo>
                <a:close/>
              </a:path>
            </a:pathLst>
          </a:custGeom>
          <a:solidFill>
            <a:srgbClr val="FFCF01"/>
          </a:solidFill>
        </p:spPr>
        <p:txBody>
          <a:bodyPr wrap="square" lIns="0" tIns="0" rIns="0" bIns="0" rtlCol="0"/>
          <a:lstStyle/>
          <a:p>
            <a:endParaRPr/>
          </a:p>
        </p:txBody>
      </p:sp>
      <p:sp>
        <p:nvSpPr>
          <p:cNvPr id="17" name="bg object 17"/>
          <p:cNvSpPr/>
          <p:nvPr/>
        </p:nvSpPr>
        <p:spPr>
          <a:xfrm>
            <a:off x="703719" y="701548"/>
            <a:ext cx="328422" cy="474725"/>
          </a:xfrm>
          <a:prstGeom prst="rect">
            <a:avLst/>
          </a:prstGeom>
          <a:blipFill>
            <a:blip r:embed="rId7" cstate="print"/>
            <a:stretch>
              <a:fillRect/>
            </a:stretch>
          </a:blipFill>
        </p:spPr>
        <p:txBody>
          <a:bodyPr wrap="square" lIns="0" tIns="0" rIns="0" bIns="0" rtlCol="0"/>
          <a:lstStyle/>
          <a:p>
            <a:endParaRPr/>
          </a:p>
        </p:txBody>
      </p:sp>
      <p:sp>
        <p:nvSpPr>
          <p:cNvPr id="18" name="bg object 18"/>
          <p:cNvSpPr/>
          <p:nvPr/>
        </p:nvSpPr>
        <p:spPr>
          <a:xfrm>
            <a:off x="444639" y="1123695"/>
            <a:ext cx="422275" cy="474980"/>
          </a:xfrm>
          <a:custGeom>
            <a:avLst/>
            <a:gdLst/>
            <a:ahLst/>
            <a:cxnLst/>
            <a:rect l="l" t="t" r="r" b="b"/>
            <a:pathLst>
              <a:path w="422275" h="474980">
                <a:moveTo>
                  <a:pt x="422147" y="474725"/>
                </a:moveTo>
                <a:lnTo>
                  <a:pt x="422147" y="0"/>
                </a:lnTo>
                <a:lnTo>
                  <a:pt x="0" y="0"/>
                </a:lnTo>
                <a:lnTo>
                  <a:pt x="0" y="474725"/>
                </a:lnTo>
                <a:lnTo>
                  <a:pt x="422147" y="474725"/>
                </a:lnTo>
                <a:close/>
              </a:path>
            </a:pathLst>
          </a:custGeom>
          <a:solidFill>
            <a:srgbClr val="3333CC"/>
          </a:solidFill>
        </p:spPr>
        <p:txBody>
          <a:bodyPr wrap="square" lIns="0" tIns="0" rIns="0" bIns="0" rtlCol="0"/>
          <a:lstStyle/>
          <a:p>
            <a:endParaRPr/>
          </a:p>
        </p:txBody>
      </p:sp>
      <p:sp>
        <p:nvSpPr>
          <p:cNvPr id="19" name="bg object 19"/>
          <p:cNvSpPr/>
          <p:nvPr/>
        </p:nvSpPr>
        <p:spPr>
          <a:xfrm>
            <a:off x="144411" y="1234948"/>
            <a:ext cx="560832" cy="422148"/>
          </a:xfrm>
          <a:prstGeom prst="rect">
            <a:avLst/>
          </a:prstGeom>
          <a:blipFill>
            <a:blip r:embed="rId8" cstate="print"/>
            <a:stretch>
              <a:fillRect/>
            </a:stretch>
          </a:blipFill>
        </p:spPr>
        <p:txBody>
          <a:bodyPr wrap="square" lIns="0" tIns="0" rIns="0" bIns="0" rtlCol="0"/>
          <a:lstStyle/>
          <a:p>
            <a:endParaRPr/>
          </a:p>
        </p:txBody>
      </p:sp>
      <p:sp>
        <p:nvSpPr>
          <p:cNvPr id="20" name="bg object 20"/>
          <p:cNvSpPr/>
          <p:nvPr/>
        </p:nvSpPr>
        <p:spPr>
          <a:xfrm>
            <a:off x="346341" y="1123695"/>
            <a:ext cx="8226552" cy="474725"/>
          </a:xfrm>
          <a:prstGeom prst="rect">
            <a:avLst/>
          </a:prstGeom>
          <a:blipFill>
            <a:blip r:embed="rId9" cstate="print"/>
            <a:stretch>
              <a:fillRect/>
            </a:stretch>
          </a:blipFill>
        </p:spPr>
        <p:txBody>
          <a:bodyPr wrap="square" lIns="0" tIns="0" rIns="0" bIns="0" rtlCol="0"/>
          <a:lstStyle/>
          <a:p>
            <a:endParaRPr/>
          </a:p>
        </p:txBody>
      </p:sp>
      <p:sp>
        <p:nvSpPr>
          <p:cNvPr id="21" name="bg object 21"/>
          <p:cNvSpPr/>
          <p:nvPr/>
        </p:nvSpPr>
        <p:spPr>
          <a:xfrm>
            <a:off x="665619" y="593344"/>
            <a:ext cx="31750" cy="1052830"/>
          </a:xfrm>
          <a:custGeom>
            <a:avLst/>
            <a:gdLst/>
            <a:ahLst/>
            <a:cxnLst/>
            <a:rect l="l" t="t" r="r" b="b"/>
            <a:pathLst>
              <a:path w="31750" h="1052830">
                <a:moveTo>
                  <a:pt x="31242" y="1052322"/>
                </a:moveTo>
                <a:lnTo>
                  <a:pt x="31242" y="0"/>
                </a:lnTo>
                <a:lnTo>
                  <a:pt x="0" y="0"/>
                </a:lnTo>
                <a:lnTo>
                  <a:pt x="0" y="1052322"/>
                </a:lnTo>
                <a:lnTo>
                  <a:pt x="31242" y="1052322"/>
                </a:lnTo>
                <a:close/>
              </a:path>
            </a:pathLst>
          </a:custGeom>
          <a:solidFill>
            <a:srgbClr val="1C1C1C"/>
          </a:solidFill>
        </p:spPr>
        <p:txBody>
          <a:bodyPr wrap="square" lIns="0" tIns="0" rIns="0" bIns="0" rtlCol="0"/>
          <a:lstStyle/>
          <a:p>
            <a:endParaRPr/>
          </a:p>
        </p:txBody>
      </p:sp>
      <p:sp>
        <p:nvSpPr>
          <p:cNvPr id="22" name="bg object 22"/>
          <p:cNvSpPr/>
          <p:nvPr/>
        </p:nvSpPr>
        <p:spPr>
          <a:xfrm>
            <a:off x="0" y="0"/>
            <a:ext cx="115449" cy="107950"/>
          </a:xfrm>
          <a:prstGeom prst="rect">
            <a:avLst/>
          </a:prstGeom>
          <a:blipFill>
            <a:blip r:embed="rId10" cstate="print"/>
            <a:stretch>
              <a:fillRect/>
            </a:stretch>
          </a:blipFill>
        </p:spPr>
        <p:txBody>
          <a:bodyPr wrap="square" lIns="0" tIns="0" rIns="0" bIns="0" rtlCol="0"/>
          <a:lstStyle/>
          <a:p>
            <a:endParaRPr/>
          </a:p>
        </p:txBody>
      </p:sp>
      <p:sp>
        <p:nvSpPr>
          <p:cNvPr id="2" name="Holder 2"/>
          <p:cNvSpPr>
            <a:spLocks noGrp="1"/>
          </p:cNvSpPr>
          <p:nvPr>
            <p:ph type="title"/>
          </p:nvPr>
        </p:nvSpPr>
        <p:spPr>
          <a:xfrm>
            <a:off x="684276" y="769619"/>
            <a:ext cx="7750047" cy="452755"/>
          </a:xfrm>
          <a:prstGeom prst="rect">
            <a:avLst/>
          </a:prstGeom>
        </p:spPr>
        <p:txBody>
          <a:bodyPr wrap="square" lIns="0" tIns="0" rIns="0" bIns="0">
            <a:spAutoFit/>
          </a:bodyPr>
          <a:lstStyle>
            <a:lvl1pPr>
              <a:defRPr sz="2800" b="0" i="0">
                <a:solidFill>
                  <a:srgbClr val="33339A"/>
                </a:solidFill>
                <a:latin typeface="Tahoma"/>
                <a:cs typeface="Tahoma"/>
              </a:defRPr>
            </a:lvl1pPr>
          </a:lstStyle>
          <a:p>
            <a:endParaRPr/>
          </a:p>
        </p:txBody>
      </p:sp>
      <p:sp>
        <p:nvSpPr>
          <p:cNvPr id="3" name="Holder 3"/>
          <p:cNvSpPr>
            <a:spLocks noGrp="1"/>
          </p:cNvSpPr>
          <p:nvPr>
            <p:ph type="body" idx="1"/>
          </p:nvPr>
        </p:nvSpPr>
        <p:spPr>
          <a:xfrm>
            <a:off x="398513" y="1637995"/>
            <a:ext cx="8321573" cy="4023360"/>
          </a:xfrm>
          <a:prstGeom prst="rect">
            <a:avLst/>
          </a:prstGeom>
        </p:spPr>
        <p:txBody>
          <a:bodyPr wrap="square" lIns="0" tIns="0" rIns="0" bIns="0">
            <a:spAutoFit/>
          </a:bodyPr>
          <a:lstStyle>
            <a:lvl1pPr>
              <a:defRPr sz="2000" b="1" i="0">
                <a:solidFill>
                  <a:schemeClr val="tx1"/>
                </a:solidFill>
                <a:latin typeface="Tahoma"/>
                <a:cs typeface="Tahoma"/>
              </a:defRPr>
            </a:lvl1pPr>
          </a:lstStyle>
          <a:p>
            <a:endParaRPr/>
          </a:p>
        </p:txBody>
      </p:sp>
      <p:sp>
        <p:nvSpPr>
          <p:cNvPr id="4" name="Holder 4"/>
          <p:cNvSpPr>
            <a:spLocks noGrp="1"/>
          </p:cNvSpPr>
          <p:nvPr>
            <p:ph type="ftr" sz="quarter" idx="5"/>
          </p:nvPr>
        </p:nvSpPr>
        <p:spPr>
          <a:xfrm>
            <a:off x="3964997" y="6595797"/>
            <a:ext cx="1344929" cy="209550"/>
          </a:xfrm>
          <a:prstGeom prst="rect">
            <a:avLst/>
          </a:prstGeom>
        </p:spPr>
        <p:txBody>
          <a:bodyPr wrap="square" lIns="0" tIns="0" rIns="0" bIns="0">
            <a:spAutoFit/>
          </a:bodyPr>
          <a:lstStyle>
            <a:lvl1pPr>
              <a:defRPr sz="1200" b="0" i="0">
                <a:solidFill>
                  <a:schemeClr val="tx1"/>
                </a:solidFill>
                <a:latin typeface="Tahoma"/>
                <a:cs typeface="Tahoma"/>
              </a:defRPr>
            </a:lvl1pPr>
          </a:lstStyle>
          <a:p>
            <a:pPr marL="12700">
              <a:lnSpc>
                <a:spcPct val="100000"/>
              </a:lnSpc>
              <a:spcBef>
                <a:spcPts val="100"/>
              </a:spcBef>
            </a:pPr>
            <a:r>
              <a:rPr spc="-5" dirty="0"/>
              <a:t>ADBS:</a:t>
            </a:r>
            <a:r>
              <a:rPr spc="-65" dirty="0"/>
              <a:t> </a:t>
            </a:r>
            <a:r>
              <a:rPr spc="-5" dirty="0"/>
              <a:t>Transactions</a:t>
            </a:r>
          </a:p>
        </p:txBody>
      </p:sp>
      <p:sp>
        <p:nvSpPr>
          <p:cNvPr id="5" name="Holder 5"/>
          <p:cNvSpPr>
            <a:spLocks noGrp="1"/>
          </p:cNvSpPr>
          <p:nvPr>
            <p:ph type="dt" sz="half" idx="6"/>
          </p:nvPr>
        </p:nvSpPr>
        <p:spPr>
          <a:xfrm>
            <a:off x="219335" y="6595797"/>
            <a:ext cx="1073785" cy="209550"/>
          </a:xfrm>
          <a:prstGeom prst="rect">
            <a:avLst/>
          </a:prstGeom>
        </p:spPr>
        <p:txBody>
          <a:bodyPr wrap="square" lIns="0" tIns="0" rIns="0" bIns="0">
            <a:spAutoFit/>
          </a:bodyPr>
          <a:lstStyle>
            <a:lvl1pPr>
              <a:defRPr sz="1200" b="0" i="0">
                <a:solidFill>
                  <a:schemeClr val="tx1"/>
                </a:solidFill>
                <a:latin typeface="Tahoma"/>
                <a:cs typeface="Tahoma"/>
              </a:defRPr>
            </a:lvl1pPr>
          </a:lstStyle>
          <a:p>
            <a:pPr marL="12700">
              <a:lnSpc>
                <a:spcPct val="100000"/>
              </a:lnSpc>
              <a:spcBef>
                <a:spcPts val="100"/>
              </a:spcBef>
            </a:pPr>
            <a:r>
              <a:rPr spc="-5" dirty="0"/>
              <a:t>March 24,</a:t>
            </a:r>
            <a:r>
              <a:rPr spc="-75" dirty="0"/>
              <a:t> </a:t>
            </a:r>
            <a:r>
              <a:rPr spc="-5" dirty="0"/>
              <a:t>2008</a:t>
            </a:r>
          </a:p>
        </p:txBody>
      </p:sp>
      <p:sp>
        <p:nvSpPr>
          <p:cNvPr id="6" name="Holder 6"/>
          <p:cNvSpPr>
            <a:spLocks noGrp="1"/>
          </p:cNvSpPr>
          <p:nvPr>
            <p:ph type="sldNum" sz="quarter" idx="7"/>
          </p:nvPr>
        </p:nvSpPr>
        <p:spPr>
          <a:xfrm>
            <a:off x="8835526" y="6595797"/>
            <a:ext cx="242570" cy="209550"/>
          </a:xfrm>
          <a:prstGeom prst="rect">
            <a:avLst/>
          </a:prstGeom>
        </p:spPr>
        <p:txBody>
          <a:bodyPr wrap="square" lIns="0" tIns="0" rIns="0" bIns="0">
            <a:spAutoFit/>
          </a:bodyPr>
          <a:lstStyle>
            <a:lvl1pPr>
              <a:defRPr sz="1200" b="0" i="0">
                <a:solidFill>
                  <a:schemeClr val="tx1"/>
                </a:solidFill>
                <a:latin typeface="Tahoma"/>
                <a:cs typeface="Tahoma"/>
              </a:defRPr>
            </a:lvl1pPr>
          </a:lstStyle>
          <a:p>
            <a:pPr marL="38100">
              <a:lnSpc>
                <a:spcPct val="100000"/>
              </a:lnSpc>
              <a:spcBef>
                <a:spcPts val="100"/>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7528" y="788669"/>
            <a:ext cx="7127240" cy="452755"/>
          </a:xfrm>
          <a:prstGeom prst="rect">
            <a:avLst/>
          </a:prstGeom>
        </p:spPr>
        <p:txBody>
          <a:bodyPr vert="horz" wrap="square" lIns="0" tIns="12700" rIns="0" bIns="0" rtlCol="0">
            <a:spAutoFit/>
          </a:bodyPr>
          <a:lstStyle/>
          <a:p>
            <a:pPr marL="12700">
              <a:lnSpc>
                <a:spcPct val="100000"/>
              </a:lnSpc>
              <a:spcBef>
                <a:spcPts val="100"/>
              </a:spcBef>
            </a:pPr>
            <a:r>
              <a:rPr dirty="0"/>
              <a:t>… - Introduction to Transaction Processing</a:t>
            </a:r>
            <a:r>
              <a:rPr spc="-50" dirty="0"/>
              <a:t> </a:t>
            </a:r>
            <a:r>
              <a:rPr dirty="0"/>
              <a:t>…</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1</a:t>
            </a:fld>
            <a:endParaRPr dirty="0"/>
          </a:p>
        </p:txBody>
      </p:sp>
      <p:sp>
        <p:nvSpPr>
          <p:cNvPr id="3" name="object 3"/>
          <p:cNvSpPr txBox="1"/>
          <p:nvPr/>
        </p:nvSpPr>
        <p:spPr>
          <a:xfrm>
            <a:off x="752741" y="1892045"/>
            <a:ext cx="7561580" cy="3605529"/>
          </a:xfrm>
          <a:prstGeom prst="rect">
            <a:avLst/>
          </a:prstGeom>
        </p:spPr>
        <p:txBody>
          <a:bodyPr vert="horz" wrap="square" lIns="0" tIns="41275" rIns="0" bIns="0" rtlCol="0">
            <a:spAutoFit/>
          </a:bodyPr>
          <a:lstStyle/>
          <a:p>
            <a:pPr marL="354965" marR="5080" indent="-342900">
              <a:lnSpc>
                <a:spcPct val="90400"/>
              </a:lnSpc>
              <a:spcBef>
                <a:spcPts val="325"/>
              </a:spcBef>
              <a:buClr>
                <a:srgbClr val="3333CC"/>
              </a:buClr>
              <a:buSzPct val="60000"/>
              <a:buFont typeface="Wingdings"/>
              <a:buChar char=""/>
              <a:tabLst>
                <a:tab pos="354965" algn="l"/>
                <a:tab pos="355600" algn="l"/>
              </a:tabLst>
            </a:pPr>
            <a:r>
              <a:rPr sz="2000" b="1" spc="-5" dirty="0">
                <a:latin typeface="Tahoma"/>
                <a:cs typeface="Tahoma"/>
              </a:rPr>
              <a:t>A </a:t>
            </a:r>
            <a:r>
              <a:rPr sz="2000" b="1" spc="-10" dirty="0">
                <a:latin typeface="Tahoma"/>
                <a:cs typeface="Tahoma"/>
              </a:rPr>
              <a:t>Transaction: </a:t>
            </a:r>
            <a:r>
              <a:rPr sz="1800" dirty="0">
                <a:latin typeface="Tahoma"/>
                <a:cs typeface="Tahoma"/>
              </a:rPr>
              <a:t>logical </a:t>
            </a:r>
            <a:r>
              <a:rPr sz="1800" spc="-5" dirty="0">
                <a:latin typeface="Tahoma"/>
                <a:cs typeface="Tahoma"/>
              </a:rPr>
              <a:t>unit </a:t>
            </a:r>
            <a:r>
              <a:rPr sz="1800" dirty="0">
                <a:latin typeface="Tahoma"/>
                <a:cs typeface="Tahoma"/>
              </a:rPr>
              <a:t>of </a:t>
            </a:r>
            <a:r>
              <a:rPr sz="1800" spc="-5" dirty="0">
                <a:latin typeface="Tahoma"/>
                <a:cs typeface="Tahoma"/>
              </a:rPr>
              <a:t>database processing </a:t>
            </a:r>
            <a:r>
              <a:rPr sz="1800" dirty="0">
                <a:latin typeface="Tahoma"/>
                <a:cs typeface="Tahoma"/>
              </a:rPr>
              <a:t>that </a:t>
            </a:r>
            <a:r>
              <a:rPr sz="1800" spc="-5" dirty="0">
                <a:latin typeface="Tahoma"/>
                <a:cs typeface="Tahoma"/>
              </a:rPr>
              <a:t>includes </a:t>
            </a:r>
            <a:r>
              <a:rPr sz="1800" dirty="0">
                <a:latin typeface="Tahoma"/>
                <a:cs typeface="Tahoma"/>
              </a:rPr>
              <a:t>one  or more access operations (read -retrieval, write - </a:t>
            </a:r>
            <a:r>
              <a:rPr sz="1800" spc="-5" dirty="0">
                <a:latin typeface="Tahoma"/>
                <a:cs typeface="Tahoma"/>
              </a:rPr>
              <a:t>insert </a:t>
            </a:r>
            <a:r>
              <a:rPr sz="1800" dirty="0">
                <a:latin typeface="Tahoma"/>
                <a:cs typeface="Tahoma"/>
              </a:rPr>
              <a:t>or </a:t>
            </a:r>
            <a:r>
              <a:rPr sz="1800" spc="-5" dirty="0">
                <a:latin typeface="Tahoma"/>
                <a:cs typeface="Tahoma"/>
              </a:rPr>
              <a:t>update,  delete).</a:t>
            </a:r>
            <a:endParaRPr sz="1800">
              <a:latin typeface="Tahoma"/>
              <a:cs typeface="Tahoma"/>
            </a:endParaRPr>
          </a:p>
          <a:p>
            <a:pPr>
              <a:lnSpc>
                <a:spcPct val="100000"/>
              </a:lnSpc>
              <a:spcBef>
                <a:spcPts val="25"/>
              </a:spcBef>
              <a:buClr>
                <a:srgbClr val="3333CC"/>
              </a:buClr>
              <a:buFont typeface="Wingdings"/>
              <a:buChar char=""/>
            </a:pPr>
            <a:endParaRPr sz="2550">
              <a:latin typeface="Tahoma"/>
              <a:cs typeface="Tahoma"/>
            </a:endParaRPr>
          </a:p>
          <a:p>
            <a:pPr marL="354965" marR="24765" indent="-342900">
              <a:lnSpc>
                <a:spcPct val="90400"/>
              </a:lnSpc>
              <a:buClr>
                <a:srgbClr val="3333CC"/>
              </a:buClr>
              <a:buSzPct val="60000"/>
              <a:buFont typeface="Wingdings"/>
              <a:buChar char=""/>
              <a:tabLst>
                <a:tab pos="354965" algn="l"/>
                <a:tab pos="355600" algn="l"/>
              </a:tabLst>
            </a:pPr>
            <a:r>
              <a:rPr sz="2000" b="1" spc="-5" dirty="0">
                <a:latin typeface="Tahoma"/>
                <a:cs typeface="Tahoma"/>
              </a:rPr>
              <a:t>A transaction (set of operations) </a:t>
            </a:r>
            <a:r>
              <a:rPr sz="1800" dirty="0">
                <a:latin typeface="Tahoma"/>
                <a:cs typeface="Tahoma"/>
              </a:rPr>
              <a:t>may </a:t>
            </a:r>
            <a:r>
              <a:rPr sz="1800" spc="-5" dirty="0">
                <a:latin typeface="Tahoma"/>
                <a:cs typeface="Tahoma"/>
              </a:rPr>
              <a:t>be </a:t>
            </a:r>
            <a:r>
              <a:rPr sz="1800" dirty="0">
                <a:latin typeface="Tahoma"/>
                <a:cs typeface="Tahoma"/>
              </a:rPr>
              <a:t>stand-alone </a:t>
            </a:r>
            <a:r>
              <a:rPr sz="1800" spc="-5" dirty="0">
                <a:latin typeface="Tahoma"/>
                <a:cs typeface="Tahoma"/>
              </a:rPr>
              <a:t>specified  in </a:t>
            </a:r>
            <a:r>
              <a:rPr sz="1800" dirty="0">
                <a:latin typeface="Tahoma"/>
                <a:cs typeface="Tahoma"/>
              </a:rPr>
              <a:t>a </a:t>
            </a:r>
            <a:r>
              <a:rPr sz="1800" spc="-5" dirty="0">
                <a:latin typeface="Tahoma"/>
                <a:cs typeface="Tahoma"/>
              </a:rPr>
              <a:t>high </a:t>
            </a:r>
            <a:r>
              <a:rPr sz="1800" dirty="0">
                <a:latin typeface="Tahoma"/>
                <a:cs typeface="Tahoma"/>
              </a:rPr>
              <a:t>level </a:t>
            </a:r>
            <a:r>
              <a:rPr sz="1800" spc="-5" dirty="0">
                <a:latin typeface="Tahoma"/>
                <a:cs typeface="Tahoma"/>
              </a:rPr>
              <a:t>language </a:t>
            </a:r>
            <a:r>
              <a:rPr sz="1800" dirty="0">
                <a:latin typeface="Tahoma"/>
                <a:cs typeface="Tahoma"/>
              </a:rPr>
              <a:t>like </a:t>
            </a:r>
            <a:r>
              <a:rPr sz="1800" spc="-5" dirty="0">
                <a:latin typeface="Tahoma"/>
                <a:cs typeface="Tahoma"/>
              </a:rPr>
              <a:t>SQL submitted </a:t>
            </a:r>
            <a:r>
              <a:rPr sz="1800" dirty="0">
                <a:latin typeface="Tahoma"/>
                <a:cs typeface="Tahoma"/>
              </a:rPr>
              <a:t>interactively, or may </a:t>
            </a:r>
            <a:r>
              <a:rPr sz="1800" spc="-5" dirty="0">
                <a:latin typeface="Tahoma"/>
                <a:cs typeface="Tahoma"/>
              </a:rPr>
              <a:t>be  embedded within </a:t>
            </a:r>
            <a:r>
              <a:rPr sz="1800" dirty="0">
                <a:latin typeface="Tahoma"/>
                <a:cs typeface="Tahoma"/>
              </a:rPr>
              <a:t>a</a:t>
            </a:r>
            <a:r>
              <a:rPr sz="1800" spc="25" dirty="0">
                <a:latin typeface="Tahoma"/>
                <a:cs typeface="Tahoma"/>
              </a:rPr>
              <a:t> </a:t>
            </a:r>
            <a:r>
              <a:rPr sz="1800" spc="-5" dirty="0">
                <a:latin typeface="Tahoma"/>
                <a:cs typeface="Tahoma"/>
              </a:rPr>
              <a:t>program.</a:t>
            </a:r>
            <a:endParaRPr sz="1800">
              <a:latin typeface="Tahoma"/>
              <a:cs typeface="Tahoma"/>
            </a:endParaRPr>
          </a:p>
          <a:p>
            <a:pPr>
              <a:lnSpc>
                <a:spcPct val="100000"/>
              </a:lnSpc>
              <a:spcBef>
                <a:spcPts val="35"/>
              </a:spcBef>
              <a:buClr>
                <a:srgbClr val="3333CC"/>
              </a:buClr>
              <a:buFont typeface="Wingdings"/>
              <a:buChar char=""/>
            </a:pPr>
            <a:endParaRPr sz="2350">
              <a:latin typeface="Tahoma"/>
              <a:cs typeface="Tahoma"/>
            </a:endParaRPr>
          </a:p>
          <a:p>
            <a:pPr marL="354965" indent="-342900">
              <a:lnSpc>
                <a:spcPct val="100000"/>
              </a:lnSpc>
              <a:buClr>
                <a:srgbClr val="3333CC"/>
              </a:buClr>
              <a:buSzPct val="60000"/>
              <a:buFont typeface="Wingdings"/>
              <a:buChar char=""/>
              <a:tabLst>
                <a:tab pos="354965" algn="l"/>
                <a:tab pos="355600" algn="l"/>
              </a:tabLst>
            </a:pPr>
            <a:r>
              <a:rPr sz="2000" b="1" spc="-10" dirty="0">
                <a:latin typeface="Tahoma"/>
                <a:cs typeface="Tahoma"/>
              </a:rPr>
              <a:t>Transaction boundaries</a:t>
            </a:r>
            <a:r>
              <a:rPr sz="2000" spc="-10" dirty="0">
                <a:latin typeface="Tahoma"/>
                <a:cs typeface="Tahoma"/>
              </a:rPr>
              <a:t>: </a:t>
            </a:r>
            <a:r>
              <a:rPr sz="1800" spc="-5" dirty="0">
                <a:latin typeface="Tahoma"/>
                <a:cs typeface="Tahoma"/>
              </a:rPr>
              <a:t>Begin and End</a:t>
            </a:r>
            <a:r>
              <a:rPr sz="1800" spc="35" dirty="0">
                <a:latin typeface="Tahoma"/>
                <a:cs typeface="Tahoma"/>
              </a:rPr>
              <a:t> </a:t>
            </a:r>
            <a:r>
              <a:rPr sz="1800" dirty="0">
                <a:latin typeface="Tahoma"/>
                <a:cs typeface="Tahoma"/>
              </a:rPr>
              <a:t>transaction.</a:t>
            </a:r>
            <a:endParaRPr sz="1800">
              <a:latin typeface="Tahoma"/>
              <a:cs typeface="Tahoma"/>
            </a:endParaRPr>
          </a:p>
          <a:p>
            <a:pPr>
              <a:lnSpc>
                <a:spcPct val="100000"/>
              </a:lnSpc>
              <a:buClr>
                <a:srgbClr val="3333CC"/>
              </a:buClr>
              <a:buFont typeface="Wingdings"/>
              <a:buChar char=""/>
            </a:pPr>
            <a:endParaRPr sz="2600">
              <a:latin typeface="Tahoma"/>
              <a:cs typeface="Tahoma"/>
            </a:endParaRPr>
          </a:p>
          <a:p>
            <a:pPr marL="355600" marR="497205" indent="-343535">
              <a:lnSpc>
                <a:spcPts val="2170"/>
              </a:lnSpc>
              <a:buClr>
                <a:srgbClr val="3333CC"/>
              </a:buClr>
              <a:buSzPct val="60000"/>
              <a:buFont typeface="Wingdings"/>
              <a:buChar char=""/>
              <a:tabLst>
                <a:tab pos="354965" algn="l"/>
                <a:tab pos="355600" algn="l"/>
              </a:tabLst>
            </a:pPr>
            <a:r>
              <a:rPr sz="2000" spc="-5" dirty="0">
                <a:latin typeface="Tahoma"/>
                <a:cs typeface="Tahoma"/>
              </a:rPr>
              <a:t>An </a:t>
            </a:r>
            <a:r>
              <a:rPr sz="2000" b="1" spc="-5" dirty="0">
                <a:latin typeface="Tahoma"/>
                <a:cs typeface="Tahoma"/>
              </a:rPr>
              <a:t>application </a:t>
            </a:r>
            <a:r>
              <a:rPr sz="2000" b="1" spc="-10" dirty="0">
                <a:latin typeface="Tahoma"/>
                <a:cs typeface="Tahoma"/>
              </a:rPr>
              <a:t>program </a:t>
            </a:r>
            <a:r>
              <a:rPr sz="2000" spc="-5" dirty="0">
                <a:latin typeface="Tahoma"/>
                <a:cs typeface="Tahoma"/>
              </a:rPr>
              <a:t>may contain several transactions  separated by the Begin and End transaction</a:t>
            </a:r>
            <a:r>
              <a:rPr sz="2000" spc="75" dirty="0">
                <a:latin typeface="Tahoma"/>
                <a:cs typeface="Tahoma"/>
              </a:rPr>
              <a:t> </a:t>
            </a:r>
            <a:r>
              <a:rPr sz="2000" spc="-5" dirty="0">
                <a:latin typeface="Tahoma"/>
                <a:cs typeface="Tahoma"/>
              </a:rPr>
              <a:t>boundaries.</a:t>
            </a:r>
            <a:endParaRPr sz="2000">
              <a:latin typeface="Tahoma"/>
              <a:cs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1328" y="788669"/>
            <a:ext cx="7127240" cy="452755"/>
          </a:xfrm>
          <a:prstGeom prst="rect">
            <a:avLst/>
          </a:prstGeom>
        </p:spPr>
        <p:txBody>
          <a:bodyPr vert="horz" wrap="square" lIns="0" tIns="12700" rIns="0" bIns="0" rtlCol="0">
            <a:spAutoFit/>
          </a:bodyPr>
          <a:lstStyle/>
          <a:p>
            <a:pPr marL="12700">
              <a:lnSpc>
                <a:spcPct val="100000"/>
              </a:lnSpc>
              <a:spcBef>
                <a:spcPts val="100"/>
              </a:spcBef>
            </a:pPr>
            <a:r>
              <a:rPr dirty="0"/>
              <a:t>… - Introduction to Transaction Processing</a:t>
            </a:r>
            <a:r>
              <a:rPr spc="-50" dirty="0"/>
              <a:t> </a:t>
            </a:r>
            <a:r>
              <a:rPr dirty="0"/>
              <a:t>…</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2</a:t>
            </a:fld>
            <a:endParaRPr dirty="0"/>
          </a:p>
        </p:txBody>
      </p:sp>
      <p:sp>
        <p:nvSpPr>
          <p:cNvPr id="3" name="object 3"/>
          <p:cNvSpPr txBox="1"/>
          <p:nvPr/>
        </p:nvSpPr>
        <p:spPr>
          <a:xfrm>
            <a:off x="752741" y="1892045"/>
            <a:ext cx="7613650" cy="4109720"/>
          </a:xfrm>
          <a:prstGeom prst="rect">
            <a:avLst/>
          </a:prstGeom>
        </p:spPr>
        <p:txBody>
          <a:bodyPr vert="horz" wrap="square" lIns="0" tIns="46990" rIns="0" bIns="0" rtlCol="0">
            <a:spAutoFit/>
          </a:bodyPr>
          <a:lstStyle/>
          <a:p>
            <a:pPr marL="355600" marR="5080" indent="-343535">
              <a:lnSpc>
                <a:spcPts val="2160"/>
              </a:lnSpc>
              <a:spcBef>
                <a:spcPts val="370"/>
              </a:spcBef>
            </a:pPr>
            <a:r>
              <a:rPr sz="2000" b="1" spc="-5" dirty="0">
                <a:latin typeface="Tahoma"/>
                <a:cs typeface="Tahoma"/>
              </a:rPr>
              <a:t>SIMPLE MODEL OF A DATABASE (for purposes of discussing  </a:t>
            </a:r>
            <a:r>
              <a:rPr sz="2000" b="1" spc="-10" dirty="0">
                <a:latin typeface="Tahoma"/>
                <a:cs typeface="Tahoma"/>
              </a:rPr>
              <a:t>transactions):</a:t>
            </a:r>
            <a:endParaRPr sz="2000">
              <a:latin typeface="Tahoma"/>
              <a:cs typeface="Tahoma"/>
            </a:endParaRPr>
          </a:p>
          <a:p>
            <a:pPr marL="354965" indent="-342900">
              <a:lnSpc>
                <a:spcPct val="100000"/>
              </a:lnSpc>
              <a:spcBef>
                <a:spcPts val="1789"/>
              </a:spcBef>
              <a:buClr>
                <a:srgbClr val="3333CC"/>
              </a:buClr>
              <a:buSzPct val="60000"/>
              <a:buFont typeface="Wingdings"/>
              <a:buChar char=""/>
              <a:tabLst>
                <a:tab pos="354965" algn="l"/>
                <a:tab pos="355600" algn="l"/>
              </a:tabLst>
            </a:pPr>
            <a:r>
              <a:rPr sz="2000" b="1" spc="-5" dirty="0">
                <a:latin typeface="Tahoma"/>
                <a:cs typeface="Tahoma"/>
              </a:rPr>
              <a:t>A database - </a:t>
            </a:r>
            <a:r>
              <a:rPr sz="1800" dirty="0">
                <a:latin typeface="Tahoma"/>
                <a:cs typeface="Tahoma"/>
              </a:rPr>
              <a:t>collection of </a:t>
            </a:r>
            <a:r>
              <a:rPr sz="1800" spc="-5" dirty="0">
                <a:latin typeface="Tahoma"/>
                <a:cs typeface="Tahoma"/>
              </a:rPr>
              <a:t>named data</a:t>
            </a:r>
            <a:r>
              <a:rPr sz="1800" spc="20" dirty="0">
                <a:latin typeface="Tahoma"/>
                <a:cs typeface="Tahoma"/>
              </a:rPr>
              <a:t> </a:t>
            </a:r>
            <a:r>
              <a:rPr sz="1800" dirty="0">
                <a:latin typeface="Tahoma"/>
                <a:cs typeface="Tahoma"/>
              </a:rPr>
              <a:t>items</a:t>
            </a:r>
            <a:endParaRPr sz="1800">
              <a:latin typeface="Tahoma"/>
              <a:cs typeface="Tahoma"/>
            </a:endParaRPr>
          </a:p>
          <a:p>
            <a:pPr>
              <a:lnSpc>
                <a:spcPct val="100000"/>
              </a:lnSpc>
              <a:spcBef>
                <a:spcPts val="5"/>
              </a:spcBef>
              <a:buClr>
                <a:srgbClr val="3333CC"/>
              </a:buClr>
              <a:buFont typeface="Wingdings"/>
              <a:buChar char=""/>
            </a:pPr>
            <a:endParaRPr sz="1850">
              <a:latin typeface="Tahoma"/>
              <a:cs typeface="Tahoma"/>
            </a:endParaRPr>
          </a:p>
          <a:p>
            <a:pPr marL="354965" marR="680085" indent="-342900">
              <a:lnSpc>
                <a:spcPts val="1989"/>
              </a:lnSpc>
              <a:buClr>
                <a:srgbClr val="3333CC"/>
              </a:buClr>
              <a:buSzPct val="60000"/>
              <a:buFont typeface="Wingdings"/>
              <a:buChar char=""/>
              <a:tabLst>
                <a:tab pos="354965" algn="l"/>
                <a:tab pos="355600" algn="l"/>
              </a:tabLst>
            </a:pPr>
            <a:r>
              <a:rPr sz="2000" b="1" spc="-10" dirty="0">
                <a:latin typeface="Tahoma"/>
                <a:cs typeface="Tahoma"/>
              </a:rPr>
              <a:t>Granularity </a:t>
            </a:r>
            <a:r>
              <a:rPr sz="2000" b="1" spc="-5" dirty="0">
                <a:latin typeface="Tahoma"/>
                <a:cs typeface="Tahoma"/>
              </a:rPr>
              <a:t>of </a:t>
            </a:r>
            <a:r>
              <a:rPr sz="2000" b="1" spc="-10" dirty="0">
                <a:latin typeface="Tahoma"/>
                <a:cs typeface="Tahoma"/>
              </a:rPr>
              <a:t>data </a:t>
            </a:r>
            <a:r>
              <a:rPr sz="1800" dirty="0">
                <a:latin typeface="Tahoma"/>
                <a:cs typeface="Tahoma"/>
              </a:rPr>
              <a:t>- a </a:t>
            </a:r>
            <a:r>
              <a:rPr sz="1800" spc="-5" dirty="0">
                <a:latin typeface="Tahoma"/>
                <a:cs typeface="Tahoma"/>
              </a:rPr>
              <a:t>field, </a:t>
            </a:r>
            <a:r>
              <a:rPr sz="1800" dirty="0">
                <a:latin typeface="Tahoma"/>
                <a:cs typeface="Tahoma"/>
              </a:rPr>
              <a:t>a record </a:t>
            </a:r>
            <a:r>
              <a:rPr sz="1800" spc="-5" dirty="0">
                <a:latin typeface="Tahoma"/>
                <a:cs typeface="Tahoma"/>
              </a:rPr>
              <a:t>, </a:t>
            </a:r>
            <a:r>
              <a:rPr sz="1800" dirty="0">
                <a:latin typeface="Tahoma"/>
                <a:cs typeface="Tahoma"/>
              </a:rPr>
              <a:t>or a </a:t>
            </a:r>
            <a:r>
              <a:rPr sz="1800" spc="-5" dirty="0">
                <a:latin typeface="Tahoma"/>
                <a:cs typeface="Tahoma"/>
              </a:rPr>
              <a:t>whole disk block  (Concepts </a:t>
            </a:r>
            <a:r>
              <a:rPr sz="1800" dirty="0">
                <a:latin typeface="Tahoma"/>
                <a:cs typeface="Tahoma"/>
              </a:rPr>
              <a:t>are </a:t>
            </a:r>
            <a:r>
              <a:rPr sz="1800" spc="-5" dirty="0">
                <a:latin typeface="Tahoma"/>
                <a:cs typeface="Tahoma"/>
              </a:rPr>
              <a:t>independent </a:t>
            </a:r>
            <a:r>
              <a:rPr sz="1800" dirty="0">
                <a:latin typeface="Tahoma"/>
                <a:cs typeface="Tahoma"/>
              </a:rPr>
              <a:t>of</a:t>
            </a:r>
            <a:r>
              <a:rPr sz="1800" spc="10" dirty="0">
                <a:latin typeface="Tahoma"/>
                <a:cs typeface="Tahoma"/>
              </a:rPr>
              <a:t> </a:t>
            </a:r>
            <a:r>
              <a:rPr sz="1800" dirty="0">
                <a:latin typeface="Tahoma"/>
                <a:cs typeface="Tahoma"/>
              </a:rPr>
              <a:t>granularity)</a:t>
            </a:r>
            <a:endParaRPr sz="1800">
              <a:latin typeface="Tahoma"/>
              <a:cs typeface="Tahoma"/>
            </a:endParaRPr>
          </a:p>
          <a:p>
            <a:pPr marL="354965" indent="-342900">
              <a:lnSpc>
                <a:spcPct val="100000"/>
              </a:lnSpc>
              <a:spcBef>
                <a:spcPts val="1510"/>
              </a:spcBef>
              <a:buClr>
                <a:srgbClr val="3333CC"/>
              </a:buClr>
              <a:buSzPct val="60000"/>
              <a:buFont typeface="Wingdings"/>
              <a:buChar char=""/>
              <a:tabLst>
                <a:tab pos="354965" algn="l"/>
                <a:tab pos="355600" algn="l"/>
              </a:tabLst>
            </a:pPr>
            <a:r>
              <a:rPr sz="2000" spc="-5" dirty="0">
                <a:latin typeface="Tahoma"/>
                <a:cs typeface="Tahoma"/>
              </a:rPr>
              <a:t>Basic operations are </a:t>
            </a:r>
            <a:r>
              <a:rPr sz="2000" b="1" spc="-5" dirty="0">
                <a:latin typeface="Tahoma"/>
                <a:cs typeface="Tahoma"/>
              </a:rPr>
              <a:t>read </a:t>
            </a:r>
            <a:r>
              <a:rPr sz="2000" spc="-5" dirty="0">
                <a:latin typeface="Tahoma"/>
                <a:cs typeface="Tahoma"/>
              </a:rPr>
              <a:t>and</a:t>
            </a:r>
            <a:r>
              <a:rPr sz="2000" spc="-60" dirty="0">
                <a:latin typeface="Tahoma"/>
                <a:cs typeface="Tahoma"/>
              </a:rPr>
              <a:t> </a:t>
            </a:r>
            <a:r>
              <a:rPr sz="2000" b="1" spc="-10" dirty="0">
                <a:latin typeface="Tahoma"/>
                <a:cs typeface="Tahoma"/>
              </a:rPr>
              <a:t>write</a:t>
            </a:r>
            <a:endParaRPr sz="2000">
              <a:latin typeface="Tahoma"/>
              <a:cs typeface="Tahoma"/>
            </a:endParaRPr>
          </a:p>
          <a:p>
            <a:pPr marL="755015" marR="320040" lvl="1" indent="-285750">
              <a:lnSpc>
                <a:spcPts val="1950"/>
              </a:lnSpc>
              <a:spcBef>
                <a:spcPts val="1785"/>
              </a:spcBef>
              <a:buClr>
                <a:srgbClr val="FF0000"/>
              </a:buClr>
              <a:buSzPct val="55555"/>
              <a:buFont typeface="Wingdings"/>
              <a:buChar char=""/>
              <a:tabLst>
                <a:tab pos="755015" algn="l"/>
                <a:tab pos="755650" algn="l"/>
              </a:tabLst>
            </a:pPr>
            <a:r>
              <a:rPr sz="1800" b="1" spc="-5" dirty="0">
                <a:latin typeface="Tahoma"/>
                <a:cs typeface="Tahoma"/>
              </a:rPr>
              <a:t>read_item(X)</a:t>
            </a:r>
            <a:r>
              <a:rPr sz="1800" spc="-5" dirty="0">
                <a:latin typeface="Tahoma"/>
                <a:cs typeface="Tahoma"/>
              </a:rPr>
              <a:t>: </a:t>
            </a:r>
            <a:r>
              <a:rPr sz="1800" dirty="0">
                <a:latin typeface="Tahoma"/>
                <a:cs typeface="Tahoma"/>
              </a:rPr>
              <a:t>Reads a </a:t>
            </a:r>
            <a:r>
              <a:rPr sz="1800" spc="-5" dirty="0">
                <a:latin typeface="Tahoma"/>
                <a:cs typeface="Tahoma"/>
              </a:rPr>
              <a:t>database </a:t>
            </a:r>
            <a:r>
              <a:rPr sz="1800" dirty="0">
                <a:latin typeface="Tahoma"/>
                <a:cs typeface="Tahoma"/>
              </a:rPr>
              <a:t>item </a:t>
            </a:r>
            <a:r>
              <a:rPr sz="1800" spc="-5" dirty="0">
                <a:latin typeface="Tahoma"/>
                <a:cs typeface="Tahoma"/>
              </a:rPr>
              <a:t>named </a:t>
            </a:r>
            <a:r>
              <a:rPr sz="1800" dirty="0">
                <a:latin typeface="Tahoma"/>
                <a:cs typeface="Tahoma"/>
              </a:rPr>
              <a:t>X into a </a:t>
            </a:r>
            <a:r>
              <a:rPr sz="1800" spc="-5" dirty="0">
                <a:latin typeface="Tahoma"/>
                <a:cs typeface="Tahoma"/>
              </a:rPr>
              <a:t>program  variable. </a:t>
            </a:r>
            <a:r>
              <a:rPr sz="1800" dirty="0">
                <a:latin typeface="Tahoma"/>
                <a:cs typeface="Tahoma"/>
              </a:rPr>
              <a:t>To simplify our </a:t>
            </a:r>
            <a:r>
              <a:rPr sz="1800" spc="-5" dirty="0">
                <a:latin typeface="Tahoma"/>
                <a:cs typeface="Tahoma"/>
              </a:rPr>
              <a:t>notation, we </a:t>
            </a:r>
            <a:r>
              <a:rPr sz="1800" dirty="0">
                <a:latin typeface="Tahoma"/>
                <a:cs typeface="Tahoma"/>
              </a:rPr>
              <a:t>assume that </a:t>
            </a:r>
            <a:r>
              <a:rPr sz="1900" i="1" spc="-50" dirty="0">
                <a:latin typeface="Tahoma"/>
                <a:cs typeface="Tahoma"/>
              </a:rPr>
              <a:t>the </a:t>
            </a:r>
            <a:r>
              <a:rPr sz="1900" i="1" spc="-55" dirty="0">
                <a:latin typeface="Tahoma"/>
                <a:cs typeface="Tahoma"/>
              </a:rPr>
              <a:t>program  </a:t>
            </a:r>
            <a:r>
              <a:rPr sz="1900" i="1" spc="-45" dirty="0">
                <a:latin typeface="Tahoma"/>
                <a:cs typeface="Tahoma"/>
              </a:rPr>
              <a:t>variable </a:t>
            </a:r>
            <a:r>
              <a:rPr sz="1900" i="1" spc="-35" dirty="0">
                <a:latin typeface="Tahoma"/>
                <a:cs typeface="Tahoma"/>
              </a:rPr>
              <a:t>is </a:t>
            </a:r>
            <a:r>
              <a:rPr sz="1900" i="1" spc="-45" dirty="0">
                <a:latin typeface="Tahoma"/>
                <a:cs typeface="Tahoma"/>
              </a:rPr>
              <a:t>also </a:t>
            </a:r>
            <a:r>
              <a:rPr sz="1900" i="1" spc="-60" dirty="0">
                <a:latin typeface="Tahoma"/>
                <a:cs typeface="Tahoma"/>
              </a:rPr>
              <a:t>named</a:t>
            </a:r>
            <a:r>
              <a:rPr sz="1900" i="1" dirty="0">
                <a:latin typeface="Tahoma"/>
                <a:cs typeface="Tahoma"/>
              </a:rPr>
              <a:t> </a:t>
            </a:r>
            <a:r>
              <a:rPr sz="1900" i="1" spc="-45" dirty="0">
                <a:latin typeface="Tahoma"/>
                <a:cs typeface="Tahoma"/>
              </a:rPr>
              <a:t>X.</a:t>
            </a:r>
            <a:endParaRPr sz="1900">
              <a:latin typeface="Tahoma"/>
              <a:cs typeface="Tahoma"/>
            </a:endParaRPr>
          </a:p>
          <a:p>
            <a:pPr marL="755015" marR="318770" lvl="1" indent="-285750">
              <a:lnSpc>
                <a:spcPts val="1950"/>
              </a:lnSpc>
              <a:spcBef>
                <a:spcPts val="1745"/>
              </a:spcBef>
              <a:buClr>
                <a:srgbClr val="FF0000"/>
              </a:buClr>
              <a:buSzPct val="55555"/>
              <a:buFont typeface="Wingdings"/>
              <a:buChar char=""/>
              <a:tabLst>
                <a:tab pos="755015" algn="l"/>
                <a:tab pos="755650" algn="l"/>
              </a:tabLst>
            </a:pPr>
            <a:r>
              <a:rPr sz="1800" b="1" spc="-5" dirty="0">
                <a:latin typeface="Tahoma"/>
                <a:cs typeface="Tahoma"/>
              </a:rPr>
              <a:t>write_item(X)</a:t>
            </a:r>
            <a:r>
              <a:rPr sz="1800" spc="-5" dirty="0">
                <a:latin typeface="Tahoma"/>
                <a:cs typeface="Tahoma"/>
              </a:rPr>
              <a:t>: Writes </a:t>
            </a:r>
            <a:r>
              <a:rPr sz="1800" dirty="0">
                <a:latin typeface="Tahoma"/>
                <a:cs typeface="Tahoma"/>
              </a:rPr>
              <a:t>the value of </a:t>
            </a:r>
            <a:r>
              <a:rPr sz="1800" spc="-5" dirty="0">
                <a:latin typeface="Tahoma"/>
                <a:cs typeface="Tahoma"/>
              </a:rPr>
              <a:t>program </a:t>
            </a:r>
            <a:r>
              <a:rPr sz="1800" dirty="0">
                <a:latin typeface="Tahoma"/>
                <a:cs typeface="Tahoma"/>
              </a:rPr>
              <a:t>variable X into the  </a:t>
            </a:r>
            <a:r>
              <a:rPr sz="1800" spc="-5" dirty="0">
                <a:latin typeface="Tahoma"/>
                <a:cs typeface="Tahoma"/>
              </a:rPr>
              <a:t>database item named</a:t>
            </a:r>
            <a:r>
              <a:rPr sz="1800" spc="20" dirty="0">
                <a:latin typeface="Tahoma"/>
                <a:cs typeface="Tahoma"/>
              </a:rPr>
              <a:t> </a:t>
            </a:r>
            <a:r>
              <a:rPr sz="1800" spc="-5" dirty="0">
                <a:latin typeface="Tahoma"/>
                <a:cs typeface="Tahoma"/>
              </a:rPr>
              <a:t>X.</a:t>
            </a:r>
            <a:endParaRPr sz="1800">
              <a:latin typeface="Tahoma"/>
              <a:cs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5128" y="864869"/>
            <a:ext cx="2840355" cy="452755"/>
          </a:xfrm>
          <a:prstGeom prst="rect">
            <a:avLst/>
          </a:prstGeom>
        </p:spPr>
        <p:txBody>
          <a:bodyPr vert="horz" wrap="square" lIns="0" tIns="12700" rIns="0" bIns="0" rtlCol="0">
            <a:spAutoFit/>
          </a:bodyPr>
          <a:lstStyle/>
          <a:p>
            <a:pPr marL="12700">
              <a:lnSpc>
                <a:spcPct val="100000"/>
              </a:lnSpc>
              <a:spcBef>
                <a:spcPts val="100"/>
              </a:spcBef>
            </a:pPr>
            <a:r>
              <a:rPr dirty="0"/>
              <a:t>-- </a:t>
            </a:r>
            <a:r>
              <a:rPr spc="-5" dirty="0"/>
              <a:t>Read</a:t>
            </a:r>
            <a:r>
              <a:rPr spc="-80" dirty="0"/>
              <a:t> </a:t>
            </a:r>
            <a:r>
              <a:rPr spc="-5" dirty="0"/>
              <a:t>Operation</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3</a:t>
            </a:fld>
            <a:endParaRPr dirty="0"/>
          </a:p>
        </p:txBody>
      </p:sp>
      <p:sp>
        <p:nvSpPr>
          <p:cNvPr id="3" name="object 3"/>
          <p:cNvSpPr txBox="1"/>
          <p:nvPr/>
        </p:nvSpPr>
        <p:spPr>
          <a:xfrm>
            <a:off x="752741" y="1892045"/>
            <a:ext cx="7915909" cy="3614420"/>
          </a:xfrm>
          <a:prstGeom prst="rect">
            <a:avLst/>
          </a:prstGeom>
        </p:spPr>
        <p:txBody>
          <a:bodyPr vert="horz" wrap="square" lIns="0" tIns="42545" rIns="0" bIns="0" rtlCol="0">
            <a:spAutoFit/>
          </a:bodyPr>
          <a:lstStyle/>
          <a:p>
            <a:pPr marL="545465" marR="5080" indent="-533400">
              <a:lnSpc>
                <a:spcPct val="90100"/>
              </a:lnSpc>
              <a:spcBef>
                <a:spcPts val="335"/>
              </a:spcBef>
              <a:buClr>
                <a:srgbClr val="3333CC"/>
              </a:buClr>
              <a:buSzPct val="60000"/>
              <a:buFont typeface="Wingdings"/>
              <a:buChar char=""/>
              <a:tabLst>
                <a:tab pos="545465" algn="l"/>
                <a:tab pos="546100" algn="l"/>
              </a:tabLst>
            </a:pPr>
            <a:r>
              <a:rPr sz="2000" spc="-5" dirty="0">
                <a:latin typeface="Tahoma"/>
                <a:cs typeface="Tahoma"/>
              </a:rPr>
              <a:t>Basic unit of data transfer from the disk to the computer main  memory is </a:t>
            </a:r>
            <a:r>
              <a:rPr sz="2000" u="heavy" spc="-5" dirty="0">
                <a:uFill>
                  <a:solidFill>
                    <a:srgbClr val="000000"/>
                  </a:solidFill>
                </a:uFill>
                <a:latin typeface="Tahoma"/>
                <a:cs typeface="Tahoma"/>
              </a:rPr>
              <a:t>one block</a:t>
            </a:r>
            <a:r>
              <a:rPr sz="2000" spc="-5" dirty="0">
                <a:latin typeface="Tahoma"/>
                <a:cs typeface="Tahoma"/>
              </a:rPr>
              <a:t>. In general, a data item (what is read or  written) will be the field of some record in the database,  although it may be a larger unit such as a record or even a whole  block.</a:t>
            </a:r>
            <a:endParaRPr sz="2000">
              <a:latin typeface="Tahoma"/>
              <a:cs typeface="Tahoma"/>
            </a:endParaRPr>
          </a:p>
          <a:p>
            <a:pPr marL="545465" indent="-533400">
              <a:lnSpc>
                <a:spcPct val="100000"/>
              </a:lnSpc>
              <a:spcBef>
                <a:spcPts val="1545"/>
              </a:spcBef>
              <a:buClr>
                <a:srgbClr val="3333CC"/>
              </a:buClr>
              <a:buSzPct val="60000"/>
              <a:buFont typeface="Wingdings"/>
              <a:buChar char=""/>
              <a:tabLst>
                <a:tab pos="545465" algn="l"/>
                <a:tab pos="546100" algn="l"/>
              </a:tabLst>
            </a:pPr>
            <a:r>
              <a:rPr sz="2000" b="1" spc="-5" dirty="0">
                <a:latin typeface="Tahoma"/>
                <a:cs typeface="Tahoma"/>
              </a:rPr>
              <a:t>read_item(X) command includes the following</a:t>
            </a:r>
            <a:r>
              <a:rPr sz="2000" b="1" spc="50" dirty="0">
                <a:latin typeface="Tahoma"/>
                <a:cs typeface="Tahoma"/>
              </a:rPr>
              <a:t> </a:t>
            </a:r>
            <a:r>
              <a:rPr sz="2000" b="1" spc="-5" dirty="0">
                <a:latin typeface="Tahoma"/>
                <a:cs typeface="Tahoma"/>
              </a:rPr>
              <a:t>steps:</a:t>
            </a:r>
            <a:endParaRPr sz="2000">
              <a:latin typeface="Tahoma"/>
              <a:cs typeface="Tahoma"/>
            </a:endParaRPr>
          </a:p>
          <a:p>
            <a:pPr marL="926465" lvl="1" indent="-457834">
              <a:lnSpc>
                <a:spcPct val="100000"/>
              </a:lnSpc>
              <a:spcBef>
                <a:spcPts val="1545"/>
              </a:spcBef>
              <a:buClr>
                <a:srgbClr val="FF0000"/>
              </a:buClr>
              <a:buSzPct val="83333"/>
              <a:buAutoNum type="arabicPeriod"/>
              <a:tabLst>
                <a:tab pos="926465" algn="l"/>
                <a:tab pos="927100" algn="l"/>
              </a:tabLst>
            </a:pPr>
            <a:r>
              <a:rPr sz="1800" spc="-5" dirty="0">
                <a:latin typeface="Tahoma"/>
                <a:cs typeface="Tahoma"/>
              </a:rPr>
              <a:t>Find </a:t>
            </a:r>
            <a:r>
              <a:rPr sz="1800" dirty="0">
                <a:latin typeface="Tahoma"/>
                <a:cs typeface="Tahoma"/>
              </a:rPr>
              <a:t>the </a:t>
            </a:r>
            <a:r>
              <a:rPr sz="1800" spc="-5" dirty="0">
                <a:latin typeface="Tahoma"/>
                <a:cs typeface="Tahoma"/>
              </a:rPr>
              <a:t>address </a:t>
            </a:r>
            <a:r>
              <a:rPr sz="1800" dirty="0">
                <a:latin typeface="Tahoma"/>
                <a:cs typeface="Tahoma"/>
              </a:rPr>
              <a:t>of </a:t>
            </a:r>
            <a:r>
              <a:rPr sz="1800" spc="-10" dirty="0">
                <a:latin typeface="Tahoma"/>
                <a:cs typeface="Tahoma"/>
              </a:rPr>
              <a:t>the </a:t>
            </a:r>
            <a:r>
              <a:rPr sz="1800" spc="-5" dirty="0">
                <a:latin typeface="Tahoma"/>
                <a:cs typeface="Tahoma"/>
              </a:rPr>
              <a:t>disk block </a:t>
            </a:r>
            <a:r>
              <a:rPr sz="1800" dirty="0">
                <a:latin typeface="Tahoma"/>
                <a:cs typeface="Tahoma"/>
              </a:rPr>
              <a:t>that contains item</a:t>
            </a:r>
            <a:r>
              <a:rPr sz="1800" spc="35" dirty="0">
                <a:latin typeface="Tahoma"/>
                <a:cs typeface="Tahoma"/>
              </a:rPr>
              <a:t> </a:t>
            </a:r>
            <a:r>
              <a:rPr sz="1800" spc="-5" dirty="0">
                <a:latin typeface="Tahoma"/>
                <a:cs typeface="Tahoma"/>
              </a:rPr>
              <a:t>X.</a:t>
            </a:r>
            <a:endParaRPr sz="1800">
              <a:latin typeface="Tahoma"/>
              <a:cs typeface="Tahoma"/>
            </a:endParaRPr>
          </a:p>
          <a:p>
            <a:pPr marL="926465" marR="99060" lvl="1" indent="-457200">
              <a:lnSpc>
                <a:spcPts val="1950"/>
              </a:lnSpc>
              <a:spcBef>
                <a:spcPts val="1775"/>
              </a:spcBef>
              <a:buClr>
                <a:srgbClr val="FF0000"/>
              </a:buClr>
              <a:buSzPct val="83333"/>
              <a:buAutoNum type="arabicPeriod"/>
              <a:tabLst>
                <a:tab pos="926465" algn="l"/>
                <a:tab pos="927100" algn="l"/>
              </a:tabLst>
            </a:pPr>
            <a:r>
              <a:rPr sz="1800" spc="-5" dirty="0">
                <a:latin typeface="Tahoma"/>
                <a:cs typeface="Tahoma"/>
              </a:rPr>
              <a:t>Copy </a:t>
            </a:r>
            <a:r>
              <a:rPr sz="1800" dirty="0">
                <a:latin typeface="Tahoma"/>
                <a:cs typeface="Tahoma"/>
              </a:rPr>
              <a:t>that </a:t>
            </a:r>
            <a:r>
              <a:rPr sz="1800" spc="-5" dirty="0">
                <a:latin typeface="Tahoma"/>
                <a:cs typeface="Tahoma"/>
              </a:rPr>
              <a:t>disk block </a:t>
            </a:r>
            <a:r>
              <a:rPr sz="1800" dirty="0">
                <a:latin typeface="Tahoma"/>
                <a:cs typeface="Tahoma"/>
              </a:rPr>
              <a:t>into a </a:t>
            </a:r>
            <a:r>
              <a:rPr sz="1800" spc="-5" dirty="0">
                <a:latin typeface="Tahoma"/>
                <a:cs typeface="Tahoma"/>
              </a:rPr>
              <a:t>buffer in </a:t>
            </a:r>
            <a:r>
              <a:rPr sz="1800" dirty="0">
                <a:latin typeface="Tahoma"/>
                <a:cs typeface="Tahoma"/>
              </a:rPr>
              <a:t>main memory (if that </a:t>
            </a:r>
            <a:r>
              <a:rPr sz="1800" spc="-5" dirty="0">
                <a:latin typeface="Tahoma"/>
                <a:cs typeface="Tahoma"/>
              </a:rPr>
              <a:t>disk block  </a:t>
            </a:r>
            <a:r>
              <a:rPr sz="1800" dirty="0">
                <a:latin typeface="Tahoma"/>
                <a:cs typeface="Tahoma"/>
              </a:rPr>
              <a:t>is not already </a:t>
            </a:r>
            <a:r>
              <a:rPr sz="1800" spc="-5" dirty="0">
                <a:latin typeface="Tahoma"/>
                <a:cs typeface="Tahoma"/>
              </a:rPr>
              <a:t>in </a:t>
            </a:r>
            <a:r>
              <a:rPr sz="1800" dirty="0">
                <a:latin typeface="Tahoma"/>
                <a:cs typeface="Tahoma"/>
              </a:rPr>
              <a:t>some main memory</a:t>
            </a:r>
            <a:r>
              <a:rPr sz="1800" spc="-5" dirty="0">
                <a:latin typeface="Tahoma"/>
                <a:cs typeface="Tahoma"/>
              </a:rPr>
              <a:t> buffer).</a:t>
            </a:r>
            <a:endParaRPr sz="1800">
              <a:latin typeface="Tahoma"/>
              <a:cs typeface="Tahoma"/>
            </a:endParaRPr>
          </a:p>
          <a:p>
            <a:pPr marL="926465" lvl="1" indent="-457834">
              <a:lnSpc>
                <a:spcPct val="100000"/>
              </a:lnSpc>
              <a:spcBef>
                <a:spcPts val="1725"/>
              </a:spcBef>
              <a:buClr>
                <a:srgbClr val="FF0000"/>
              </a:buClr>
              <a:buSzPct val="83333"/>
              <a:buAutoNum type="arabicPeriod"/>
              <a:tabLst>
                <a:tab pos="926465" algn="l"/>
                <a:tab pos="927100" algn="l"/>
              </a:tabLst>
            </a:pPr>
            <a:r>
              <a:rPr sz="1800" spc="-5" dirty="0">
                <a:latin typeface="Tahoma"/>
                <a:cs typeface="Tahoma"/>
              </a:rPr>
              <a:t>Copy </a:t>
            </a:r>
            <a:r>
              <a:rPr sz="1800" dirty="0">
                <a:latin typeface="Tahoma"/>
                <a:cs typeface="Tahoma"/>
              </a:rPr>
              <a:t>item X from the </a:t>
            </a:r>
            <a:r>
              <a:rPr sz="1800" spc="-5" dirty="0">
                <a:latin typeface="Tahoma"/>
                <a:cs typeface="Tahoma"/>
              </a:rPr>
              <a:t>buffer </a:t>
            </a:r>
            <a:r>
              <a:rPr sz="1800" dirty="0">
                <a:latin typeface="Tahoma"/>
                <a:cs typeface="Tahoma"/>
              </a:rPr>
              <a:t>to the </a:t>
            </a:r>
            <a:r>
              <a:rPr sz="1800" spc="-5" dirty="0">
                <a:latin typeface="Tahoma"/>
                <a:cs typeface="Tahoma"/>
              </a:rPr>
              <a:t>program </a:t>
            </a:r>
            <a:r>
              <a:rPr sz="1800" dirty="0">
                <a:latin typeface="Tahoma"/>
                <a:cs typeface="Tahoma"/>
              </a:rPr>
              <a:t>variable </a:t>
            </a:r>
            <a:r>
              <a:rPr sz="1800" spc="-5" dirty="0">
                <a:latin typeface="Tahoma"/>
                <a:cs typeface="Tahoma"/>
              </a:rPr>
              <a:t>named</a:t>
            </a:r>
            <a:r>
              <a:rPr sz="1800" spc="20" dirty="0">
                <a:latin typeface="Tahoma"/>
                <a:cs typeface="Tahoma"/>
              </a:rPr>
              <a:t> </a:t>
            </a:r>
            <a:r>
              <a:rPr sz="1800" spc="-5" dirty="0">
                <a:latin typeface="Tahoma"/>
                <a:cs typeface="Tahoma"/>
              </a:rPr>
              <a:t>X.</a:t>
            </a:r>
            <a:endParaRPr sz="1800">
              <a:latin typeface="Tahoma"/>
              <a:cs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5128" y="818387"/>
            <a:ext cx="2884170" cy="452755"/>
          </a:xfrm>
          <a:prstGeom prst="rect">
            <a:avLst/>
          </a:prstGeom>
        </p:spPr>
        <p:txBody>
          <a:bodyPr vert="horz" wrap="square" lIns="0" tIns="12700" rIns="0" bIns="0" rtlCol="0">
            <a:spAutoFit/>
          </a:bodyPr>
          <a:lstStyle/>
          <a:p>
            <a:pPr marL="12700">
              <a:lnSpc>
                <a:spcPct val="100000"/>
              </a:lnSpc>
              <a:spcBef>
                <a:spcPts val="100"/>
              </a:spcBef>
            </a:pPr>
            <a:r>
              <a:rPr spc="-5" dirty="0"/>
              <a:t>-- Write</a:t>
            </a:r>
            <a:r>
              <a:rPr spc="-70" dirty="0"/>
              <a:t> </a:t>
            </a:r>
            <a:r>
              <a:rPr spc="-5" dirty="0"/>
              <a:t>Operation</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4</a:t>
            </a:fld>
            <a:endParaRPr dirty="0"/>
          </a:p>
        </p:txBody>
      </p:sp>
      <p:sp>
        <p:nvSpPr>
          <p:cNvPr id="3" name="object 3"/>
          <p:cNvSpPr txBox="1"/>
          <p:nvPr/>
        </p:nvSpPr>
        <p:spPr>
          <a:xfrm>
            <a:off x="752741" y="1968245"/>
            <a:ext cx="7919720" cy="2987675"/>
          </a:xfrm>
          <a:prstGeom prst="rect">
            <a:avLst/>
          </a:prstGeom>
        </p:spPr>
        <p:txBody>
          <a:bodyPr vert="horz" wrap="square" lIns="0" tIns="12065" rIns="0" bIns="0" rtlCol="0">
            <a:spAutoFit/>
          </a:bodyPr>
          <a:lstStyle/>
          <a:p>
            <a:pPr marL="621665" indent="-609600">
              <a:lnSpc>
                <a:spcPct val="100000"/>
              </a:lnSpc>
              <a:spcBef>
                <a:spcPts val="95"/>
              </a:spcBef>
              <a:buClr>
                <a:srgbClr val="3333CC"/>
              </a:buClr>
              <a:buSzPct val="60000"/>
              <a:buFont typeface="Wingdings"/>
              <a:buChar char=""/>
              <a:tabLst>
                <a:tab pos="621665" algn="l"/>
                <a:tab pos="622300" algn="l"/>
              </a:tabLst>
            </a:pPr>
            <a:r>
              <a:rPr sz="2000" b="1" spc="-5" dirty="0">
                <a:latin typeface="Tahoma"/>
                <a:cs typeface="Tahoma"/>
              </a:rPr>
              <a:t>write_item(X) command includes the </a:t>
            </a:r>
            <a:r>
              <a:rPr sz="2000" b="1" spc="-10" dirty="0">
                <a:latin typeface="Tahoma"/>
                <a:cs typeface="Tahoma"/>
              </a:rPr>
              <a:t>following</a:t>
            </a:r>
            <a:r>
              <a:rPr sz="2000" b="1" spc="55" dirty="0">
                <a:latin typeface="Tahoma"/>
                <a:cs typeface="Tahoma"/>
              </a:rPr>
              <a:t> </a:t>
            </a:r>
            <a:r>
              <a:rPr sz="2000" b="1" spc="-5" dirty="0">
                <a:latin typeface="Tahoma"/>
                <a:cs typeface="Tahoma"/>
              </a:rPr>
              <a:t>steps:</a:t>
            </a:r>
            <a:endParaRPr sz="2000">
              <a:latin typeface="Tahoma"/>
              <a:cs typeface="Tahoma"/>
            </a:endParaRPr>
          </a:p>
          <a:p>
            <a:pPr marL="1002665" lvl="1" indent="-534035">
              <a:lnSpc>
                <a:spcPct val="100000"/>
              </a:lnSpc>
              <a:spcBef>
                <a:spcPts val="1814"/>
              </a:spcBef>
              <a:buClr>
                <a:srgbClr val="FF0000"/>
              </a:buClr>
              <a:buSzPct val="83333"/>
              <a:buAutoNum type="arabicPeriod"/>
              <a:tabLst>
                <a:tab pos="1002665" algn="l"/>
                <a:tab pos="1003300" algn="l"/>
              </a:tabLst>
            </a:pPr>
            <a:r>
              <a:rPr sz="1800" spc="-5" dirty="0">
                <a:latin typeface="Tahoma"/>
                <a:cs typeface="Tahoma"/>
              </a:rPr>
              <a:t>Find </a:t>
            </a:r>
            <a:r>
              <a:rPr sz="1800" dirty="0">
                <a:latin typeface="Tahoma"/>
                <a:cs typeface="Tahoma"/>
              </a:rPr>
              <a:t>the </a:t>
            </a:r>
            <a:r>
              <a:rPr sz="1800" spc="-5" dirty="0">
                <a:latin typeface="Tahoma"/>
                <a:cs typeface="Tahoma"/>
              </a:rPr>
              <a:t>address </a:t>
            </a:r>
            <a:r>
              <a:rPr sz="1800" dirty="0">
                <a:latin typeface="Tahoma"/>
                <a:cs typeface="Tahoma"/>
              </a:rPr>
              <a:t>of </a:t>
            </a:r>
            <a:r>
              <a:rPr sz="1800" spc="-10" dirty="0">
                <a:latin typeface="Tahoma"/>
                <a:cs typeface="Tahoma"/>
              </a:rPr>
              <a:t>the </a:t>
            </a:r>
            <a:r>
              <a:rPr sz="1800" spc="-5" dirty="0">
                <a:latin typeface="Tahoma"/>
                <a:cs typeface="Tahoma"/>
              </a:rPr>
              <a:t>disk block </a:t>
            </a:r>
            <a:r>
              <a:rPr sz="1800" dirty="0">
                <a:latin typeface="Tahoma"/>
                <a:cs typeface="Tahoma"/>
              </a:rPr>
              <a:t>that contains item</a:t>
            </a:r>
            <a:r>
              <a:rPr sz="1800" spc="35" dirty="0">
                <a:latin typeface="Tahoma"/>
                <a:cs typeface="Tahoma"/>
              </a:rPr>
              <a:t> </a:t>
            </a:r>
            <a:r>
              <a:rPr sz="1800" spc="-5" dirty="0">
                <a:latin typeface="Tahoma"/>
                <a:cs typeface="Tahoma"/>
              </a:rPr>
              <a:t>X.</a:t>
            </a:r>
            <a:endParaRPr sz="1800">
              <a:latin typeface="Tahoma"/>
              <a:cs typeface="Tahoma"/>
            </a:endParaRPr>
          </a:p>
          <a:p>
            <a:pPr marL="1002665" marR="5080" lvl="1" indent="-534035">
              <a:lnSpc>
                <a:spcPts val="1950"/>
              </a:lnSpc>
              <a:spcBef>
                <a:spcPts val="1785"/>
              </a:spcBef>
              <a:buClr>
                <a:srgbClr val="FF0000"/>
              </a:buClr>
              <a:buSzPct val="83333"/>
              <a:buAutoNum type="arabicPeriod"/>
              <a:tabLst>
                <a:tab pos="1002665" algn="l"/>
                <a:tab pos="1003300" algn="l"/>
              </a:tabLst>
            </a:pPr>
            <a:r>
              <a:rPr sz="1800" spc="-5" dirty="0">
                <a:latin typeface="Tahoma"/>
                <a:cs typeface="Tahoma"/>
              </a:rPr>
              <a:t>Copy </a:t>
            </a:r>
            <a:r>
              <a:rPr sz="1800" dirty="0">
                <a:latin typeface="Tahoma"/>
                <a:cs typeface="Tahoma"/>
              </a:rPr>
              <a:t>that </a:t>
            </a:r>
            <a:r>
              <a:rPr sz="1800" spc="-5" dirty="0">
                <a:latin typeface="Tahoma"/>
                <a:cs typeface="Tahoma"/>
              </a:rPr>
              <a:t>disk block </a:t>
            </a:r>
            <a:r>
              <a:rPr sz="1800" dirty="0">
                <a:latin typeface="Tahoma"/>
                <a:cs typeface="Tahoma"/>
              </a:rPr>
              <a:t>into a </a:t>
            </a:r>
            <a:r>
              <a:rPr sz="1800" spc="-5" dirty="0">
                <a:latin typeface="Tahoma"/>
                <a:cs typeface="Tahoma"/>
              </a:rPr>
              <a:t>buffer in </a:t>
            </a:r>
            <a:r>
              <a:rPr sz="1800" dirty="0">
                <a:latin typeface="Tahoma"/>
                <a:cs typeface="Tahoma"/>
              </a:rPr>
              <a:t>main memory (if that </a:t>
            </a:r>
            <a:r>
              <a:rPr sz="1800" spc="-5" dirty="0">
                <a:latin typeface="Tahoma"/>
                <a:cs typeface="Tahoma"/>
              </a:rPr>
              <a:t>disk block  </a:t>
            </a:r>
            <a:r>
              <a:rPr sz="1800" dirty="0">
                <a:latin typeface="Tahoma"/>
                <a:cs typeface="Tahoma"/>
              </a:rPr>
              <a:t>is not already </a:t>
            </a:r>
            <a:r>
              <a:rPr sz="1800" spc="-5" dirty="0">
                <a:latin typeface="Tahoma"/>
                <a:cs typeface="Tahoma"/>
              </a:rPr>
              <a:t>in </a:t>
            </a:r>
            <a:r>
              <a:rPr sz="1800" dirty="0">
                <a:latin typeface="Tahoma"/>
                <a:cs typeface="Tahoma"/>
              </a:rPr>
              <a:t>some main memory</a:t>
            </a:r>
            <a:r>
              <a:rPr sz="1800" spc="-5" dirty="0">
                <a:latin typeface="Tahoma"/>
                <a:cs typeface="Tahoma"/>
              </a:rPr>
              <a:t> buffer).</a:t>
            </a:r>
            <a:endParaRPr sz="1800">
              <a:latin typeface="Tahoma"/>
              <a:cs typeface="Tahoma"/>
            </a:endParaRPr>
          </a:p>
          <a:p>
            <a:pPr marL="1002665" marR="5080" lvl="1" indent="-533400">
              <a:lnSpc>
                <a:spcPts val="1950"/>
              </a:lnSpc>
              <a:spcBef>
                <a:spcPts val="1750"/>
              </a:spcBef>
              <a:buClr>
                <a:srgbClr val="FF0000"/>
              </a:buClr>
              <a:buSzPct val="83333"/>
              <a:buAutoNum type="arabicPeriod"/>
              <a:tabLst>
                <a:tab pos="1002665" algn="l"/>
                <a:tab pos="1003300" algn="l"/>
              </a:tabLst>
            </a:pPr>
            <a:r>
              <a:rPr sz="1800" spc="-5" dirty="0">
                <a:latin typeface="Tahoma"/>
                <a:cs typeface="Tahoma"/>
              </a:rPr>
              <a:t>Copy </a:t>
            </a:r>
            <a:r>
              <a:rPr sz="1800" dirty="0">
                <a:latin typeface="Tahoma"/>
                <a:cs typeface="Tahoma"/>
              </a:rPr>
              <a:t>item X from the </a:t>
            </a:r>
            <a:r>
              <a:rPr sz="1800" spc="-5" dirty="0">
                <a:latin typeface="Tahoma"/>
                <a:cs typeface="Tahoma"/>
              </a:rPr>
              <a:t>program </a:t>
            </a:r>
            <a:r>
              <a:rPr sz="1800" dirty="0">
                <a:latin typeface="Tahoma"/>
                <a:cs typeface="Tahoma"/>
              </a:rPr>
              <a:t>variable </a:t>
            </a:r>
            <a:r>
              <a:rPr sz="1800" spc="-5" dirty="0">
                <a:latin typeface="Tahoma"/>
                <a:cs typeface="Tahoma"/>
              </a:rPr>
              <a:t>named </a:t>
            </a:r>
            <a:r>
              <a:rPr sz="1800" dirty="0">
                <a:latin typeface="Tahoma"/>
                <a:cs typeface="Tahoma"/>
              </a:rPr>
              <a:t>X into its </a:t>
            </a:r>
            <a:r>
              <a:rPr sz="1800" spc="-5" dirty="0">
                <a:latin typeface="Tahoma"/>
                <a:cs typeface="Tahoma"/>
              </a:rPr>
              <a:t>correct  </a:t>
            </a:r>
            <a:r>
              <a:rPr sz="1800" dirty="0">
                <a:latin typeface="Tahoma"/>
                <a:cs typeface="Tahoma"/>
              </a:rPr>
              <a:t>location </a:t>
            </a:r>
            <a:r>
              <a:rPr sz="1800" spc="-5" dirty="0">
                <a:latin typeface="Tahoma"/>
                <a:cs typeface="Tahoma"/>
              </a:rPr>
              <a:t>in </a:t>
            </a:r>
            <a:r>
              <a:rPr sz="1800" spc="-10" dirty="0">
                <a:latin typeface="Tahoma"/>
                <a:cs typeface="Tahoma"/>
              </a:rPr>
              <a:t>the</a:t>
            </a:r>
            <a:r>
              <a:rPr sz="1800" dirty="0">
                <a:latin typeface="Tahoma"/>
                <a:cs typeface="Tahoma"/>
              </a:rPr>
              <a:t> </a:t>
            </a:r>
            <a:r>
              <a:rPr sz="1800" spc="-5" dirty="0">
                <a:latin typeface="Tahoma"/>
                <a:cs typeface="Tahoma"/>
              </a:rPr>
              <a:t>buffer.</a:t>
            </a:r>
            <a:endParaRPr sz="1800">
              <a:latin typeface="Tahoma"/>
              <a:cs typeface="Tahoma"/>
            </a:endParaRPr>
          </a:p>
          <a:p>
            <a:pPr marL="1002665" marR="6985" lvl="1" indent="-533400">
              <a:lnSpc>
                <a:spcPts val="1950"/>
              </a:lnSpc>
              <a:spcBef>
                <a:spcPts val="1745"/>
              </a:spcBef>
              <a:buClr>
                <a:srgbClr val="FF0000"/>
              </a:buClr>
              <a:buSzPct val="83333"/>
              <a:buAutoNum type="arabicPeriod"/>
              <a:tabLst>
                <a:tab pos="1002665" algn="l"/>
                <a:tab pos="1003300" algn="l"/>
                <a:tab pos="1692275" algn="l"/>
                <a:tab pos="2172970" algn="l"/>
                <a:tab pos="3154045" algn="l"/>
                <a:tab pos="3834129" algn="l"/>
                <a:tab pos="4462780" algn="l"/>
                <a:tab pos="4944745" algn="l"/>
                <a:tab pos="5704205" algn="l"/>
                <a:tab pos="6327775" algn="l"/>
                <a:tab pos="6685915" algn="l"/>
                <a:tab pos="7238365" algn="l"/>
              </a:tabLst>
            </a:pPr>
            <a:r>
              <a:rPr sz="1800" spc="-5" dirty="0">
                <a:latin typeface="Tahoma"/>
                <a:cs typeface="Tahoma"/>
              </a:rPr>
              <a:t>Stor</a:t>
            </a:r>
            <a:r>
              <a:rPr sz="1800" dirty="0">
                <a:latin typeface="Tahoma"/>
                <a:cs typeface="Tahoma"/>
              </a:rPr>
              <a:t>e	</a:t>
            </a:r>
            <a:r>
              <a:rPr sz="1800" spc="-10" dirty="0">
                <a:latin typeface="Tahoma"/>
                <a:cs typeface="Tahoma"/>
              </a:rPr>
              <a:t>th</a:t>
            </a:r>
            <a:r>
              <a:rPr sz="1800" dirty="0">
                <a:latin typeface="Tahoma"/>
                <a:cs typeface="Tahoma"/>
              </a:rPr>
              <a:t>e	</a:t>
            </a:r>
            <a:r>
              <a:rPr sz="1800" spc="-10" dirty="0">
                <a:latin typeface="Tahoma"/>
                <a:cs typeface="Tahoma"/>
              </a:rPr>
              <a:t>update</a:t>
            </a:r>
            <a:r>
              <a:rPr sz="1800" spc="-5" dirty="0">
                <a:latin typeface="Tahoma"/>
                <a:cs typeface="Tahoma"/>
              </a:rPr>
              <a:t>d</a:t>
            </a:r>
            <a:r>
              <a:rPr sz="1800" dirty="0">
                <a:latin typeface="Tahoma"/>
                <a:cs typeface="Tahoma"/>
              </a:rPr>
              <a:t>	</a:t>
            </a:r>
            <a:r>
              <a:rPr sz="1800" spc="-10" dirty="0">
                <a:latin typeface="Tahoma"/>
                <a:cs typeface="Tahoma"/>
              </a:rPr>
              <a:t>bloc</a:t>
            </a:r>
            <a:r>
              <a:rPr sz="1800" spc="-5" dirty="0">
                <a:latin typeface="Tahoma"/>
                <a:cs typeface="Tahoma"/>
              </a:rPr>
              <a:t>k</a:t>
            </a:r>
            <a:r>
              <a:rPr sz="1800" dirty="0">
                <a:latin typeface="Tahoma"/>
                <a:cs typeface="Tahoma"/>
              </a:rPr>
              <a:t>	from	</a:t>
            </a:r>
            <a:r>
              <a:rPr sz="1800" spc="-5" dirty="0">
                <a:latin typeface="Tahoma"/>
                <a:cs typeface="Tahoma"/>
              </a:rPr>
              <a:t>th</a:t>
            </a:r>
            <a:r>
              <a:rPr sz="1800" dirty="0">
                <a:latin typeface="Tahoma"/>
                <a:cs typeface="Tahoma"/>
              </a:rPr>
              <a:t>e	</a:t>
            </a:r>
            <a:r>
              <a:rPr sz="1800" spc="-10" dirty="0">
                <a:latin typeface="Tahoma"/>
                <a:cs typeface="Tahoma"/>
              </a:rPr>
              <a:t>buffe</a:t>
            </a:r>
            <a:r>
              <a:rPr sz="1800" spc="-5" dirty="0">
                <a:latin typeface="Tahoma"/>
                <a:cs typeface="Tahoma"/>
              </a:rPr>
              <a:t>r</a:t>
            </a:r>
            <a:r>
              <a:rPr sz="1800" dirty="0">
                <a:latin typeface="Tahoma"/>
                <a:cs typeface="Tahoma"/>
              </a:rPr>
              <a:t>	</a:t>
            </a:r>
            <a:r>
              <a:rPr sz="1800" spc="-10" dirty="0">
                <a:latin typeface="Tahoma"/>
                <a:cs typeface="Tahoma"/>
              </a:rPr>
              <a:t>bac</a:t>
            </a:r>
            <a:r>
              <a:rPr sz="1800" spc="-5" dirty="0">
                <a:latin typeface="Tahoma"/>
                <a:cs typeface="Tahoma"/>
              </a:rPr>
              <a:t>k</a:t>
            </a:r>
            <a:r>
              <a:rPr sz="1800" dirty="0">
                <a:latin typeface="Tahoma"/>
                <a:cs typeface="Tahoma"/>
              </a:rPr>
              <a:t>	</a:t>
            </a:r>
            <a:r>
              <a:rPr sz="1800" spc="-5" dirty="0">
                <a:latin typeface="Tahoma"/>
                <a:cs typeface="Tahoma"/>
              </a:rPr>
              <a:t>t</a:t>
            </a:r>
            <a:r>
              <a:rPr sz="1800" dirty="0">
                <a:latin typeface="Tahoma"/>
                <a:cs typeface="Tahoma"/>
              </a:rPr>
              <a:t>o	</a:t>
            </a:r>
            <a:r>
              <a:rPr sz="1800" spc="-10" dirty="0">
                <a:latin typeface="Tahoma"/>
                <a:cs typeface="Tahoma"/>
              </a:rPr>
              <a:t>dis</a:t>
            </a:r>
            <a:r>
              <a:rPr sz="1800" spc="-5" dirty="0">
                <a:latin typeface="Tahoma"/>
                <a:cs typeface="Tahoma"/>
              </a:rPr>
              <a:t>k</a:t>
            </a:r>
            <a:r>
              <a:rPr sz="1800" dirty="0">
                <a:latin typeface="Tahoma"/>
                <a:cs typeface="Tahoma"/>
              </a:rPr>
              <a:t>	(ei</a:t>
            </a:r>
            <a:r>
              <a:rPr sz="1800" spc="-10" dirty="0">
                <a:latin typeface="Tahoma"/>
                <a:cs typeface="Tahoma"/>
              </a:rPr>
              <a:t>t</a:t>
            </a:r>
            <a:r>
              <a:rPr sz="1800" spc="-5" dirty="0">
                <a:latin typeface="Tahoma"/>
                <a:cs typeface="Tahoma"/>
              </a:rPr>
              <a:t>her  </a:t>
            </a:r>
            <a:r>
              <a:rPr sz="1800" dirty="0">
                <a:latin typeface="Tahoma"/>
                <a:cs typeface="Tahoma"/>
              </a:rPr>
              <a:t>immediately or at some later </a:t>
            </a:r>
            <a:r>
              <a:rPr sz="1800" spc="-5" dirty="0">
                <a:latin typeface="Tahoma"/>
                <a:cs typeface="Tahoma"/>
              </a:rPr>
              <a:t>point in</a:t>
            </a:r>
            <a:r>
              <a:rPr sz="1800" spc="-10" dirty="0">
                <a:latin typeface="Tahoma"/>
                <a:cs typeface="Tahoma"/>
              </a:rPr>
              <a:t> </a:t>
            </a:r>
            <a:r>
              <a:rPr sz="1800" dirty="0">
                <a:latin typeface="Tahoma"/>
                <a:cs typeface="Tahoma"/>
              </a:rPr>
              <a:t>time).</a:t>
            </a:r>
            <a:endParaRPr sz="1800">
              <a:latin typeface="Tahoma"/>
              <a:cs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5128" y="742187"/>
            <a:ext cx="3712210" cy="452755"/>
          </a:xfrm>
          <a:prstGeom prst="rect">
            <a:avLst/>
          </a:prstGeom>
        </p:spPr>
        <p:txBody>
          <a:bodyPr vert="horz" wrap="square" lIns="0" tIns="12700" rIns="0" bIns="0" rtlCol="0">
            <a:spAutoFit/>
          </a:bodyPr>
          <a:lstStyle/>
          <a:p>
            <a:pPr marL="12700">
              <a:lnSpc>
                <a:spcPct val="100000"/>
              </a:lnSpc>
              <a:spcBef>
                <a:spcPts val="100"/>
              </a:spcBef>
            </a:pPr>
            <a:r>
              <a:rPr spc="-5" dirty="0"/>
              <a:t>-- </a:t>
            </a:r>
            <a:r>
              <a:rPr dirty="0"/>
              <a:t>A </a:t>
            </a:r>
            <a:r>
              <a:rPr spc="-5" dirty="0"/>
              <a:t>Sample</a:t>
            </a:r>
            <a:r>
              <a:rPr spc="-70" dirty="0"/>
              <a:t> </a:t>
            </a:r>
            <a:r>
              <a:rPr spc="-5" dirty="0"/>
              <a:t>transaction</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5</a:t>
            </a:fld>
            <a:endParaRPr dirty="0"/>
          </a:p>
        </p:txBody>
      </p:sp>
      <p:sp>
        <p:nvSpPr>
          <p:cNvPr id="3" name="object 3"/>
          <p:cNvSpPr txBox="1"/>
          <p:nvPr/>
        </p:nvSpPr>
        <p:spPr>
          <a:xfrm>
            <a:off x="752741" y="1977488"/>
            <a:ext cx="7421880" cy="2961005"/>
          </a:xfrm>
          <a:prstGeom prst="rect">
            <a:avLst/>
          </a:prstGeom>
        </p:spPr>
        <p:txBody>
          <a:bodyPr vert="horz" wrap="square" lIns="0" tIns="15875" rIns="0" bIns="0" rtlCol="0">
            <a:spAutoFit/>
          </a:bodyPr>
          <a:lstStyle/>
          <a:p>
            <a:pPr marL="354965" indent="-342900">
              <a:lnSpc>
                <a:spcPct val="100000"/>
              </a:lnSpc>
              <a:spcBef>
                <a:spcPts val="125"/>
              </a:spcBef>
              <a:buClr>
                <a:srgbClr val="3333CC"/>
              </a:buClr>
              <a:buSzPct val="59090"/>
              <a:buFont typeface="Wingdings"/>
              <a:buChar char=""/>
              <a:tabLst>
                <a:tab pos="354965" algn="l"/>
                <a:tab pos="355600" algn="l"/>
              </a:tabLst>
            </a:pPr>
            <a:r>
              <a:rPr sz="2200" spc="-5" dirty="0">
                <a:latin typeface="Tahoma"/>
                <a:cs typeface="Tahoma"/>
              </a:rPr>
              <a:t>Transaction to transfer $50 from account </a:t>
            </a:r>
            <a:r>
              <a:rPr sz="2300" i="1" spc="-60" dirty="0">
                <a:latin typeface="Tahoma"/>
                <a:cs typeface="Tahoma"/>
              </a:rPr>
              <a:t>A </a:t>
            </a:r>
            <a:r>
              <a:rPr sz="2200" dirty="0">
                <a:latin typeface="Tahoma"/>
                <a:cs typeface="Tahoma"/>
              </a:rPr>
              <a:t>to account</a:t>
            </a:r>
            <a:r>
              <a:rPr sz="2200" spc="30" dirty="0">
                <a:latin typeface="Tahoma"/>
                <a:cs typeface="Tahoma"/>
              </a:rPr>
              <a:t> </a:t>
            </a:r>
            <a:r>
              <a:rPr sz="2300" i="1" spc="-35" dirty="0">
                <a:latin typeface="Tahoma"/>
                <a:cs typeface="Tahoma"/>
              </a:rPr>
              <a:t>B</a:t>
            </a:r>
            <a:r>
              <a:rPr sz="2200" spc="-35" dirty="0">
                <a:latin typeface="Tahoma"/>
                <a:cs typeface="Tahoma"/>
              </a:rPr>
              <a:t>:</a:t>
            </a:r>
            <a:endParaRPr sz="2200">
              <a:latin typeface="Tahoma"/>
              <a:cs typeface="Tahoma"/>
            </a:endParaRPr>
          </a:p>
          <a:p>
            <a:pPr>
              <a:lnSpc>
                <a:spcPct val="100000"/>
              </a:lnSpc>
              <a:spcBef>
                <a:spcPts val="50"/>
              </a:spcBef>
            </a:pPr>
            <a:endParaRPr sz="2800">
              <a:latin typeface="Tahoma"/>
              <a:cs typeface="Tahoma"/>
            </a:endParaRPr>
          </a:p>
          <a:p>
            <a:pPr marL="1383665">
              <a:lnSpc>
                <a:spcPct val="100000"/>
              </a:lnSpc>
            </a:pPr>
            <a:r>
              <a:rPr sz="2000" b="1" spc="-15" dirty="0">
                <a:latin typeface="Comic Sans MS"/>
                <a:cs typeface="Comic Sans MS"/>
              </a:rPr>
              <a:t>read</a:t>
            </a:r>
            <a:r>
              <a:rPr sz="2000" spc="-15" dirty="0">
                <a:latin typeface="Comic Sans MS"/>
                <a:cs typeface="Comic Sans MS"/>
              </a:rPr>
              <a:t>(</a:t>
            </a:r>
            <a:r>
              <a:rPr sz="2100" i="1" spc="-15" dirty="0">
                <a:latin typeface="Comic Sans MS"/>
                <a:cs typeface="Comic Sans MS"/>
              </a:rPr>
              <a:t>A</a:t>
            </a:r>
            <a:r>
              <a:rPr sz="2000" spc="-15" dirty="0">
                <a:latin typeface="Comic Sans MS"/>
                <a:cs typeface="Comic Sans MS"/>
              </a:rPr>
              <a:t>)</a:t>
            </a:r>
            <a:endParaRPr sz="2000">
              <a:latin typeface="Comic Sans MS"/>
              <a:cs typeface="Comic Sans MS"/>
            </a:endParaRPr>
          </a:p>
          <a:p>
            <a:pPr marL="1383665">
              <a:lnSpc>
                <a:spcPct val="100000"/>
              </a:lnSpc>
              <a:spcBef>
                <a:spcPts val="355"/>
              </a:spcBef>
            </a:pPr>
            <a:r>
              <a:rPr sz="2100" i="1" spc="-75" dirty="0">
                <a:latin typeface="Comic Sans MS"/>
                <a:cs typeface="Comic Sans MS"/>
              </a:rPr>
              <a:t>A </a:t>
            </a:r>
            <a:r>
              <a:rPr sz="2000" spc="-5" dirty="0">
                <a:latin typeface="Comic Sans MS"/>
                <a:cs typeface="Comic Sans MS"/>
              </a:rPr>
              <a:t>:= </a:t>
            </a:r>
            <a:r>
              <a:rPr sz="2100" i="1" spc="-75" dirty="0">
                <a:latin typeface="Comic Sans MS"/>
                <a:cs typeface="Comic Sans MS"/>
              </a:rPr>
              <a:t>A </a:t>
            </a:r>
            <a:r>
              <a:rPr sz="2100" i="1" spc="-45" dirty="0">
                <a:latin typeface="Comic Sans MS"/>
                <a:cs typeface="Comic Sans MS"/>
              </a:rPr>
              <a:t>–</a:t>
            </a:r>
            <a:r>
              <a:rPr sz="2100" i="1" spc="70" dirty="0">
                <a:latin typeface="Comic Sans MS"/>
                <a:cs typeface="Comic Sans MS"/>
              </a:rPr>
              <a:t> </a:t>
            </a:r>
            <a:r>
              <a:rPr sz="2000" spc="-5" dirty="0">
                <a:latin typeface="Comic Sans MS"/>
                <a:cs typeface="Comic Sans MS"/>
              </a:rPr>
              <a:t>50</a:t>
            </a:r>
            <a:endParaRPr sz="2000">
              <a:latin typeface="Comic Sans MS"/>
              <a:cs typeface="Comic Sans MS"/>
            </a:endParaRPr>
          </a:p>
          <a:p>
            <a:pPr marL="1383665" marR="5029200">
              <a:lnSpc>
                <a:spcPct val="113999"/>
              </a:lnSpc>
              <a:spcBef>
                <a:spcPts val="5"/>
              </a:spcBef>
            </a:pPr>
            <a:r>
              <a:rPr sz="2000" b="1" spc="-10" dirty="0">
                <a:latin typeface="Comic Sans MS"/>
                <a:cs typeface="Comic Sans MS"/>
              </a:rPr>
              <a:t>write</a:t>
            </a:r>
            <a:r>
              <a:rPr sz="2000" spc="-5" dirty="0">
                <a:latin typeface="Comic Sans MS"/>
                <a:cs typeface="Comic Sans MS"/>
              </a:rPr>
              <a:t>(</a:t>
            </a:r>
            <a:r>
              <a:rPr sz="2100" i="1" spc="-75" dirty="0">
                <a:latin typeface="Comic Sans MS"/>
                <a:cs typeface="Comic Sans MS"/>
              </a:rPr>
              <a:t>A</a:t>
            </a:r>
            <a:r>
              <a:rPr sz="2000" spc="-5" dirty="0">
                <a:latin typeface="Comic Sans MS"/>
                <a:cs typeface="Comic Sans MS"/>
              </a:rPr>
              <a:t>)  </a:t>
            </a:r>
            <a:r>
              <a:rPr sz="2000" b="1" spc="-15" dirty="0">
                <a:latin typeface="Comic Sans MS"/>
                <a:cs typeface="Comic Sans MS"/>
              </a:rPr>
              <a:t>read</a:t>
            </a:r>
            <a:r>
              <a:rPr sz="2000" spc="-15" dirty="0">
                <a:latin typeface="Comic Sans MS"/>
                <a:cs typeface="Comic Sans MS"/>
              </a:rPr>
              <a:t>(</a:t>
            </a:r>
            <a:r>
              <a:rPr sz="2100" i="1" spc="-15" dirty="0">
                <a:latin typeface="Comic Sans MS"/>
                <a:cs typeface="Comic Sans MS"/>
              </a:rPr>
              <a:t>B</a:t>
            </a:r>
            <a:r>
              <a:rPr sz="2000" spc="-15" dirty="0">
                <a:latin typeface="Comic Sans MS"/>
                <a:cs typeface="Comic Sans MS"/>
              </a:rPr>
              <a:t>)</a:t>
            </a:r>
            <a:endParaRPr sz="2000">
              <a:latin typeface="Comic Sans MS"/>
              <a:cs typeface="Comic Sans MS"/>
            </a:endParaRPr>
          </a:p>
          <a:p>
            <a:pPr marL="1383665">
              <a:lnSpc>
                <a:spcPct val="100000"/>
              </a:lnSpc>
              <a:spcBef>
                <a:spcPts val="355"/>
              </a:spcBef>
            </a:pPr>
            <a:r>
              <a:rPr sz="2100" i="1" spc="-65" dirty="0">
                <a:latin typeface="Comic Sans MS"/>
                <a:cs typeface="Comic Sans MS"/>
              </a:rPr>
              <a:t>B </a:t>
            </a:r>
            <a:r>
              <a:rPr sz="2000" spc="-5" dirty="0">
                <a:latin typeface="Comic Sans MS"/>
                <a:cs typeface="Comic Sans MS"/>
              </a:rPr>
              <a:t>:= </a:t>
            </a:r>
            <a:r>
              <a:rPr sz="2100" i="1" spc="-65" dirty="0">
                <a:latin typeface="Comic Sans MS"/>
                <a:cs typeface="Comic Sans MS"/>
              </a:rPr>
              <a:t>B </a:t>
            </a:r>
            <a:r>
              <a:rPr sz="2100" i="1" spc="-50" dirty="0">
                <a:latin typeface="Comic Sans MS"/>
                <a:cs typeface="Comic Sans MS"/>
              </a:rPr>
              <a:t>+</a:t>
            </a:r>
            <a:r>
              <a:rPr sz="2100" i="1" spc="55" dirty="0">
                <a:latin typeface="Comic Sans MS"/>
                <a:cs typeface="Comic Sans MS"/>
              </a:rPr>
              <a:t> </a:t>
            </a:r>
            <a:r>
              <a:rPr sz="2000" spc="-5" dirty="0">
                <a:latin typeface="Comic Sans MS"/>
                <a:cs typeface="Comic Sans MS"/>
              </a:rPr>
              <a:t>50</a:t>
            </a:r>
            <a:endParaRPr sz="2000">
              <a:latin typeface="Comic Sans MS"/>
              <a:cs typeface="Comic Sans MS"/>
            </a:endParaRPr>
          </a:p>
          <a:p>
            <a:pPr marL="1383665">
              <a:lnSpc>
                <a:spcPct val="100000"/>
              </a:lnSpc>
              <a:spcBef>
                <a:spcPts val="355"/>
              </a:spcBef>
            </a:pPr>
            <a:r>
              <a:rPr sz="2000" b="1" spc="-20" dirty="0">
                <a:latin typeface="Comic Sans MS"/>
                <a:cs typeface="Comic Sans MS"/>
              </a:rPr>
              <a:t>write</a:t>
            </a:r>
            <a:r>
              <a:rPr sz="2000" spc="-20" dirty="0">
                <a:latin typeface="Comic Sans MS"/>
                <a:cs typeface="Comic Sans MS"/>
              </a:rPr>
              <a:t>(</a:t>
            </a:r>
            <a:r>
              <a:rPr sz="2100" i="1" spc="-20" dirty="0">
                <a:latin typeface="Comic Sans MS"/>
                <a:cs typeface="Comic Sans MS"/>
              </a:rPr>
              <a:t>B)</a:t>
            </a:r>
            <a:endParaRPr sz="2100">
              <a:latin typeface="Comic Sans MS"/>
              <a:cs typeface="Comic Sans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3228" y="788669"/>
            <a:ext cx="5915025" cy="452755"/>
          </a:xfrm>
          <a:prstGeom prst="rect">
            <a:avLst/>
          </a:prstGeom>
        </p:spPr>
        <p:txBody>
          <a:bodyPr vert="horz" wrap="square" lIns="0" tIns="12700" rIns="0" bIns="0" rtlCol="0">
            <a:spAutoFit/>
          </a:bodyPr>
          <a:lstStyle/>
          <a:p>
            <a:pPr marL="12700">
              <a:lnSpc>
                <a:spcPct val="100000"/>
              </a:lnSpc>
              <a:spcBef>
                <a:spcPts val="100"/>
              </a:spcBef>
            </a:pPr>
            <a:r>
              <a:rPr dirty="0"/>
              <a:t>- Desirable Properties of</a:t>
            </a:r>
            <a:r>
              <a:rPr spc="-75" dirty="0"/>
              <a:t> </a:t>
            </a:r>
            <a:r>
              <a:rPr dirty="0"/>
              <a:t>Transactions</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6</a:t>
            </a:fld>
            <a:endParaRPr dirty="0"/>
          </a:p>
        </p:txBody>
      </p:sp>
      <p:sp>
        <p:nvSpPr>
          <p:cNvPr id="3" name="object 3"/>
          <p:cNvSpPr txBox="1">
            <a:spLocks noGrp="1"/>
          </p:cNvSpPr>
          <p:nvPr>
            <p:ph type="body" idx="1"/>
          </p:nvPr>
        </p:nvSpPr>
        <p:spPr>
          <a:prstGeom prst="rect">
            <a:avLst/>
          </a:prstGeom>
        </p:spPr>
        <p:txBody>
          <a:bodyPr vert="horz" wrap="square" lIns="0" tIns="165100" rIns="0" bIns="0" rtlCol="0">
            <a:spAutoFit/>
          </a:bodyPr>
          <a:lstStyle/>
          <a:p>
            <a:pPr marL="366395">
              <a:lnSpc>
                <a:spcPct val="100000"/>
              </a:lnSpc>
              <a:spcBef>
                <a:spcPts val="1300"/>
              </a:spcBef>
            </a:pPr>
            <a:r>
              <a:rPr spc="-5" dirty="0"/>
              <a:t>ACID</a:t>
            </a:r>
            <a:r>
              <a:rPr spc="5" dirty="0"/>
              <a:t> </a:t>
            </a:r>
            <a:r>
              <a:rPr spc="-5" dirty="0"/>
              <a:t>properties:</a:t>
            </a:r>
          </a:p>
          <a:p>
            <a:pPr marL="708660" marR="680085" indent="-342900">
              <a:lnSpc>
                <a:spcPts val="1930"/>
              </a:lnSpc>
              <a:spcBef>
                <a:spcPts val="1655"/>
              </a:spcBef>
              <a:buClr>
                <a:srgbClr val="3333CC"/>
              </a:buClr>
              <a:buSzPct val="60000"/>
              <a:buFont typeface="Wingdings"/>
              <a:buChar char=""/>
              <a:tabLst>
                <a:tab pos="709295" algn="l"/>
                <a:tab pos="709930" algn="l"/>
              </a:tabLst>
            </a:pPr>
            <a:r>
              <a:rPr spc="-5" dirty="0"/>
              <a:t>Atomicity</a:t>
            </a:r>
            <a:r>
              <a:rPr b="0" spc="-5" dirty="0">
                <a:latin typeface="Tahoma"/>
                <a:cs typeface="Tahoma"/>
              </a:rPr>
              <a:t>: A transaction is an atomic unit of processing; it is  either performed in its entirety or not performed at</a:t>
            </a:r>
            <a:r>
              <a:rPr b="0" spc="95" dirty="0">
                <a:latin typeface="Tahoma"/>
                <a:cs typeface="Tahoma"/>
              </a:rPr>
              <a:t> </a:t>
            </a:r>
            <a:r>
              <a:rPr b="0" spc="-5" dirty="0">
                <a:latin typeface="Tahoma"/>
                <a:cs typeface="Tahoma"/>
              </a:rPr>
              <a:t>all.</a:t>
            </a:r>
          </a:p>
          <a:p>
            <a:pPr marL="708660" marR="5080" indent="-342900">
              <a:lnSpc>
                <a:spcPts val="1930"/>
              </a:lnSpc>
              <a:spcBef>
                <a:spcPts val="1664"/>
              </a:spcBef>
              <a:buClr>
                <a:srgbClr val="3333CC"/>
              </a:buClr>
              <a:buSzPct val="60000"/>
              <a:buFont typeface="Wingdings"/>
              <a:buChar char=""/>
              <a:tabLst>
                <a:tab pos="709295" algn="l"/>
                <a:tab pos="709930" algn="l"/>
              </a:tabLst>
            </a:pPr>
            <a:r>
              <a:rPr spc="-10" dirty="0"/>
              <a:t>Consistency preservation</a:t>
            </a:r>
            <a:r>
              <a:rPr b="0" spc="-10" dirty="0">
                <a:latin typeface="Tahoma"/>
                <a:cs typeface="Tahoma"/>
              </a:rPr>
              <a:t>: </a:t>
            </a:r>
            <a:r>
              <a:rPr b="0" spc="-5" dirty="0">
                <a:latin typeface="Tahoma"/>
                <a:cs typeface="Tahoma"/>
              </a:rPr>
              <a:t>A correct execution of the transaction  must take the database from </a:t>
            </a:r>
            <a:r>
              <a:rPr b="0" spc="-10" dirty="0">
                <a:latin typeface="Tahoma"/>
                <a:cs typeface="Tahoma"/>
              </a:rPr>
              <a:t>one </a:t>
            </a:r>
            <a:r>
              <a:rPr b="0" spc="-5" dirty="0">
                <a:latin typeface="Tahoma"/>
                <a:cs typeface="Tahoma"/>
              </a:rPr>
              <a:t>consistent state to</a:t>
            </a:r>
            <a:r>
              <a:rPr b="0" spc="114" dirty="0">
                <a:latin typeface="Tahoma"/>
                <a:cs typeface="Tahoma"/>
              </a:rPr>
              <a:t> </a:t>
            </a:r>
            <a:r>
              <a:rPr b="0" spc="-5" dirty="0">
                <a:latin typeface="Tahoma"/>
                <a:cs typeface="Tahoma"/>
              </a:rPr>
              <a:t>another.</a:t>
            </a:r>
          </a:p>
          <a:p>
            <a:pPr marL="708660" marR="135255" indent="-342900">
              <a:lnSpc>
                <a:spcPct val="80200"/>
              </a:lnSpc>
              <a:spcBef>
                <a:spcPts val="1685"/>
              </a:spcBef>
              <a:buClr>
                <a:srgbClr val="3333CC"/>
              </a:buClr>
              <a:buSzPct val="60000"/>
              <a:buFont typeface="Wingdings"/>
              <a:buChar char=""/>
              <a:tabLst>
                <a:tab pos="709295" algn="l"/>
                <a:tab pos="709930" algn="l"/>
                <a:tab pos="4749800" algn="l"/>
              </a:tabLst>
            </a:pPr>
            <a:r>
              <a:rPr spc="-10" dirty="0"/>
              <a:t>Isolation</a:t>
            </a:r>
            <a:r>
              <a:rPr b="0" spc="-10" dirty="0">
                <a:latin typeface="Tahoma"/>
                <a:cs typeface="Tahoma"/>
              </a:rPr>
              <a:t>: </a:t>
            </a:r>
            <a:r>
              <a:rPr b="0" spc="-5" dirty="0">
                <a:latin typeface="Tahoma"/>
                <a:cs typeface="Tahoma"/>
              </a:rPr>
              <a:t>A transaction should not make its updates visible to  other transactions until it is committed; this property, when  enforced strictly, solves the </a:t>
            </a:r>
            <a:r>
              <a:rPr b="0" dirty="0">
                <a:latin typeface="Tahoma"/>
                <a:cs typeface="Tahoma"/>
              </a:rPr>
              <a:t>temporary </a:t>
            </a:r>
            <a:r>
              <a:rPr b="0" spc="-5" dirty="0">
                <a:latin typeface="Tahoma"/>
                <a:cs typeface="Tahoma"/>
              </a:rPr>
              <a:t>update problem and makes  cascading rollbacks</a:t>
            </a:r>
            <a:r>
              <a:rPr b="0" spc="90" dirty="0">
                <a:latin typeface="Tahoma"/>
                <a:cs typeface="Tahoma"/>
              </a:rPr>
              <a:t> </a:t>
            </a:r>
            <a:r>
              <a:rPr b="0" spc="-5" dirty="0">
                <a:latin typeface="Tahoma"/>
                <a:cs typeface="Tahoma"/>
              </a:rPr>
              <a:t>of</a:t>
            </a:r>
            <a:r>
              <a:rPr b="0" spc="45" dirty="0">
                <a:latin typeface="Tahoma"/>
                <a:cs typeface="Tahoma"/>
              </a:rPr>
              <a:t> </a:t>
            </a:r>
            <a:r>
              <a:rPr b="0" spc="-5" dirty="0">
                <a:latin typeface="Tahoma"/>
                <a:cs typeface="Tahoma"/>
              </a:rPr>
              <a:t>transactions	</a:t>
            </a:r>
            <a:r>
              <a:rPr b="0" spc="-10" dirty="0">
                <a:latin typeface="Tahoma"/>
                <a:cs typeface="Tahoma"/>
              </a:rPr>
              <a:t>unnecessary </a:t>
            </a:r>
            <a:r>
              <a:rPr b="0" spc="-5" dirty="0">
                <a:latin typeface="Tahoma"/>
                <a:cs typeface="Tahoma"/>
              </a:rPr>
              <a:t>(see </a:t>
            </a:r>
            <a:r>
              <a:rPr b="0" spc="-10" dirty="0">
                <a:latin typeface="Tahoma"/>
                <a:cs typeface="Tahoma"/>
              </a:rPr>
              <a:t>Chapter</a:t>
            </a:r>
            <a:r>
              <a:rPr b="0" spc="30" dirty="0">
                <a:latin typeface="Tahoma"/>
                <a:cs typeface="Tahoma"/>
              </a:rPr>
              <a:t> </a:t>
            </a:r>
            <a:r>
              <a:rPr b="0" spc="-10" dirty="0">
                <a:latin typeface="Tahoma"/>
                <a:cs typeface="Tahoma"/>
              </a:rPr>
              <a:t>21).</a:t>
            </a:r>
          </a:p>
          <a:p>
            <a:pPr marL="708660" marR="566420" indent="-342900">
              <a:lnSpc>
                <a:spcPts val="1930"/>
              </a:lnSpc>
              <a:spcBef>
                <a:spcPts val="1655"/>
              </a:spcBef>
              <a:buClr>
                <a:srgbClr val="3333CC"/>
              </a:buClr>
              <a:buSzPct val="60000"/>
              <a:buFont typeface="Wingdings"/>
              <a:buChar char=""/>
              <a:tabLst>
                <a:tab pos="709295" algn="l"/>
                <a:tab pos="709930" algn="l"/>
              </a:tabLst>
            </a:pPr>
            <a:r>
              <a:rPr spc="-10" dirty="0"/>
              <a:t>Durability </a:t>
            </a:r>
            <a:r>
              <a:rPr spc="-5" dirty="0"/>
              <a:t>or permanency</a:t>
            </a:r>
            <a:r>
              <a:rPr b="0" spc="-5" dirty="0">
                <a:latin typeface="Tahoma"/>
                <a:cs typeface="Tahoma"/>
              </a:rPr>
              <a:t>: Once a transaction changes the  </a:t>
            </a:r>
            <a:r>
              <a:rPr b="0" spc="-10" dirty="0">
                <a:latin typeface="Tahoma"/>
                <a:cs typeface="Tahoma"/>
              </a:rPr>
              <a:t>database </a:t>
            </a:r>
            <a:r>
              <a:rPr b="0" spc="-5" dirty="0">
                <a:latin typeface="Tahoma"/>
                <a:cs typeface="Tahoma"/>
              </a:rPr>
              <a:t>and the </a:t>
            </a:r>
            <a:r>
              <a:rPr b="0" spc="-10" dirty="0">
                <a:latin typeface="Tahoma"/>
                <a:cs typeface="Tahoma"/>
              </a:rPr>
              <a:t>changes </a:t>
            </a:r>
            <a:r>
              <a:rPr b="0" spc="-5" dirty="0">
                <a:latin typeface="Tahoma"/>
                <a:cs typeface="Tahoma"/>
              </a:rPr>
              <a:t>are committed, these </a:t>
            </a:r>
            <a:r>
              <a:rPr b="0" spc="-10" dirty="0">
                <a:latin typeface="Tahoma"/>
                <a:cs typeface="Tahoma"/>
              </a:rPr>
              <a:t>changes </a:t>
            </a:r>
            <a:r>
              <a:rPr b="0" spc="-5" dirty="0">
                <a:latin typeface="Tahoma"/>
                <a:cs typeface="Tahoma"/>
              </a:rPr>
              <a:t>must  never be lost </a:t>
            </a:r>
            <a:r>
              <a:rPr b="0" spc="-10" dirty="0">
                <a:latin typeface="Tahoma"/>
                <a:cs typeface="Tahoma"/>
              </a:rPr>
              <a:t>because </a:t>
            </a:r>
            <a:r>
              <a:rPr b="0" spc="-5" dirty="0">
                <a:latin typeface="Tahoma"/>
                <a:cs typeface="Tahoma"/>
              </a:rPr>
              <a:t>of subsequent</a:t>
            </a:r>
            <a:r>
              <a:rPr b="0" spc="30" dirty="0">
                <a:latin typeface="Tahoma"/>
                <a:cs typeface="Tahoma"/>
              </a:rPr>
              <a:t> </a:t>
            </a:r>
            <a:r>
              <a:rPr b="0" spc="-10" dirty="0">
                <a:latin typeface="Tahoma"/>
                <a:cs typeface="Tahoma"/>
              </a:rPr>
              <a:t>failure.</a:t>
            </a:r>
          </a:p>
        </p:txBody>
      </p:sp>
    </p:spTree>
    <p:extLst>
      <p:ext uri="{BB962C8B-B14F-4D97-AF65-F5344CB8AC3E}">
        <p14:creationId xmlns:p14="http://schemas.microsoft.com/office/powerpoint/2010/main" val="3694367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7528" y="856487"/>
            <a:ext cx="4435475" cy="452755"/>
          </a:xfrm>
          <a:prstGeom prst="rect">
            <a:avLst/>
          </a:prstGeom>
        </p:spPr>
        <p:txBody>
          <a:bodyPr vert="horz" wrap="square" lIns="0" tIns="12700" rIns="0" bIns="0" rtlCol="0">
            <a:spAutoFit/>
          </a:bodyPr>
          <a:lstStyle/>
          <a:p>
            <a:pPr marL="12700">
              <a:lnSpc>
                <a:spcPct val="100000"/>
              </a:lnSpc>
              <a:spcBef>
                <a:spcPts val="100"/>
              </a:spcBef>
            </a:pPr>
            <a:r>
              <a:rPr dirty="0"/>
              <a:t>- </a:t>
            </a:r>
            <a:r>
              <a:rPr spc="-5" dirty="0"/>
              <a:t>Why </a:t>
            </a:r>
            <a:r>
              <a:rPr dirty="0"/>
              <a:t>recovery is needed</a:t>
            </a:r>
            <a:r>
              <a:rPr spc="-70" dirty="0"/>
              <a:t> </a:t>
            </a:r>
            <a:r>
              <a:rPr dirty="0"/>
              <a:t>…</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7</a:t>
            </a:fld>
            <a:endParaRPr dirty="0"/>
          </a:p>
        </p:txBody>
      </p:sp>
      <p:sp>
        <p:nvSpPr>
          <p:cNvPr id="3" name="object 3"/>
          <p:cNvSpPr txBox="1"/>
          <p:nvPr/>
        </p:nvSpPr>
        <p:spPr>
          <a:xfrm>
            <a:off x="752741" y="1892045"/>
            <a:ext cx="7894320" cy="3196590"/>
          </a:xfrm>
          <a:prstGeom prst="rect">
            <a:avLst/>
          </a:prstGeom>
        </p:spPr>
        <p:txBody>
          <a:bodyPr vert="horz" wrap="square" lIns="0" tIns="42545" rIns="0" bIns="0" rtlCol="0">
            <a:spAutoFit/>
          </a:bodyPr>
          <a:lstStyle/>
          <a:p>
            <a:pPr marL="469265" marR="5080" indent="-457200">
              <a:lnSpc>
                <a:spcPct val="90100"/>
              </a:lnSpc>
              <a:spcBef>
                <a:spcPts val="335"/>
              </a:spcBef>
              <a:buClr>
                <a:srgbClr val="33339A"/>
              </a:buClr>
              <a:buSzPct val="85000"/>
              <a:buAutoNum type="arabicPeriod"/>
              <a:tabLst>
                <a:tab pos="469265" algn="l"/>
                <a:tab pos="469900" algn="l"/>
              </a:tabLst>
            </a:pPr>
            <a:r>
              <a:rPr sz="2000" b="1" spc="-5" dirty="0">
                <a:latin typeface="Tahoma"/>
                <a:cs typeface="Tahoma"/>
              </a:rPr>
              <a:t>A </a:t>
            </a:r>
            <a:r>
              <a:rPr sz="2000" b="1" spc="-10" dirty="0">
                <a:latin typeface="Tahoma"/>
                <a:cs typeface="Tahoma"/>
              </a:rPr>
              <a:t>computer failure (system crash): </a:t>
            </a:r>
            <a:r>
              <a:rPr sz="2000" spc="-5" dirty="0">
                <a:latin typeface="Tahoma"/>
                <a:cs typeface="Tahoma"/>
              </a:rPr>
              <a:t>A hardware or software  error occurs in the computer </a:t>
            </a:r>
            <a:r>
              <a:rPr sz="2000" dirty="0">
                <a:latin typeface="Tahoma"/>
                <a:cs typeface="Tahoma"/>
              </a:rPr>
              <a:t>system </a:t>
            </a:r>
            <a:r>
              <a:rPr sz="2000" spc="-5" dirty="0">
                <a:latin typeface="Tahoma"/>
                <a:cs typeface="Tahoma"/>
              </a:rPr>
              <a:t>during transaction execution.  If the hardware crashes, the contents of the computer’s internal  memory may be</a:t>
            </a:r>
            <a:r>
              <a:rPr sz="2000" spc="5" dirty="0">
                <a:latin typeface="Tahoma"/>
                <a:cs typeface="Tahoma"/>
              </a:rPr>
              <a:t> </a:t>
            </a:r>
            <a:r>
              <a:rPr sz="2000" spc="-5" dirty="0">
                <a:latin typeface="Tahoma"/>
                <a:cs typeface="Tahoma"/>
              </a:rPr>
              <a:t>lost.</a:t>
            </a:r>
            <a:endParaRPr sz="2000">
              <a:latin typeface="Tahoma"/>
              <a:cs typeface="Tahoma"/>
            </a:endParaRPr>
          </a:p>
          <a:p>
            <a:pPr>
              <a:lnSpc>
                <a:spcPct val="100000"/>
              </a:lnSpc>
              <a:spcBef>
                <a:spcPts val="30"/>
              </a:spcBef>
              <a:buClr>
                <a:srgbClr val="33339A"/>
              </a:buClr>
              <a:buFont typeface="Tahoma"/>
              <a:buAutoNum type="arabicPeriod"/>
            </a:pPr>
            <a:endParaRPr sz="2550">
              <a:latin typeface="Tahoma"/>
              <a:cs typeface="Tahoma"/>
            </a:endParaRPr>
          </a:p>
          <a:p>
            <a:pPr marL="469265" marR="99060" indent="-457200">
              <a:lnSpc>
                <a:spcPct val="90100"/>
              </a:lnSpc>
              <a:spcBef>
                <a:spcPts val="5"/>
              </a:spcBef>
              <a:buClr>
                <a:srgbClr val="33339A"/>
              </a:buClr>
              <a:buSzPct val="85000"/>
              <a:buAutoNum type="arabicPeriod"/>
              <a:tabLst>
                <a:tab pos="469265" algn="l"/>
                <a:tab pos="469900" algn="l"/>
              </a:tabLst>
            </a:pPr>
            <a:r>
              <a:rPr sz="2000" b="1" spc="-5" dirty="0">
                <a:latin typeface="Tahoma"/>
                <a:cs typeface="Tahoma"/>
              </a:rPr>
              <a:t>A transaction or </a:t>
            </a:r>
            <a:r>
              <a:rPr sz="2000" b="1" spc="-10" dirty="0">
                <a:latin typeface="Tahoma"/>
                <a:cs typeface="Tahoma"/>
              </a:rPr>
              <a:t>system error </a:t>
            </a:r>
            <a:r>
              <a:rPr sz="2000" b="1" spc="-5" dirty="0">
                <a:latin typeface="Tahoma"/>
                <a:cs typeface="Tahoma"/>
              </a:rPr>
              <a:t>: </a:t>
            </a:r>
            <a:r>
              <a:rPr sz="2000" spc="-5" dirty="0">
                <a:latin typeface="Tahoma"/>
                <a:cs typeface="Tahoma"/>
              </a:rPr>
              <a:t>Some operation in the  transaction may cause it to </a:t>
            </a:r>
            <a:r>
              <a:rPr sz="2000" dirty="0">
                <a:latin typeface="Tahoma"/>
                <a:cs typeface="Tahoma"/>
              </a:rPr>
              <a:t>fail, </a:t>
            </a:r>
            <a:r>
              <a:rPr sz="2000" spc="-5" dirty="0">
                <a:latin typeface="Tahoma"/>
                <a:cs typeface="Tahoma"/>
              </a:rPr>
              <a:t>such as integer overflow or  division by zero. Transaction failure may also occur because of  erroneous parameter values or because of a logical programming  error. In addition, the user may interrupt the </a:t>
            </a:r>
            <a:r>
              <a:rPr sz="2000" dirty="0">
                <a:latin typeface="Tahoma"/>
                <a:cs typeface="Tahoma"/>
              </a:rPr>
              <a:t>transaction </a:t>
            </a:r>
            <a:r>
              <a:rPr sz="2000" spc="-5" dirty="0">
                <a:latin typeface="Tahoma"/>
                <a:cs typeface="Tahoma"/>
              </a:rPr>
              <a:t>during  its execution.</a:t>
            </a:r>
            <a:endParaRPr sz="2000">
              <a:latin typeface="Tahoma"/>
              <a:cs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5128" y="742187"/>
            <a:ext cx="4839335" cy="452755"/>
          </a:xfrm>
          <a:prstGeom prst="rect">
            <a:avLst/>
          </a:prstGeom>
        </p:spPr>
        <p:txBody>
          <a:bodyPr vert="horz" wrap="square" lIns="0" tIns="12700" rIns="0" bIns="0" rtlCol="0">
            <a:spAutoFit/>
          </a:bodyPr>
          <a:lstStyle/>
          <a:p>
            <a:pPr marL="12700">
              <a:lnSpc>
                <a:spcPct val="100000"/>
              </a:lnSpc>
              <a:spcBef>
                <a:spcPts val="100"/>
              </a:spcBef>
            </a:pPr>
            <a:r>
              <a:rPr dirty="0"/>
              <a:t>… - Why recovery is needed</a:t>
            </a:r>
            <a:r>
              <a:rPr spc="-70" dirty="0"/>
              <a:t> </a:t>
            </a:r>
            <a:r>
              <a:rPr dirty="0"/>
              <a:t>…</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8</a:t>
            </a:fld>
            <a:endParaRPr dirty="0"/>
          </a:p>
        </p:txBody>
      </p:sp>
      <p:sp>
        <p:nvSpPr>
          <p:cNvPr id="3" name="object 3"/>
          <p:cNvSpPr txBox="1"/>
          <p:nvPr/>
        </p:nvSpPr>
        <p:spPr>
          <a:xfrm>
            <a:off x="676541" y="1739645"/>
            <a:ext cx="7886700" cy="3860800"/>
          </a:xfrm>
          <a:prstGeom prst="rect">
            <a:avLst/>
          </a:prstGeom>
        </p:spPr>
        <p:txBody>
          <a:bodyPr vert="horz" wrap="square" lIns="0" tIns="46990" rIns="0" bIns="0" rtlCol="0">
            <a:spAutoFit/>
          </a:bodyPr>
          <a:lstStyle/>
          <a:p>
            <a:pPr marL="545465" marR="932815" indent="-533400">
              <a:lnSpc>
                <a:spcPts val="2160"/>
              </a:lnSpc>
              <a:spcBef>
                <a:spcPts val="370"/>
              </a:spcBef>
              <a:buClr>
                <a:srgbClr val="3333CC"/>
              </a:buClr>
              <a:buSzPct val="85000"/>
              <a:buAutoNum type="arabicPeriod" startAt="3"/>
              <a:tabLst>
                <a:tab pos="545465" algn="l"/>
                <a:tab pos="546100" algn="l"/>
              </a:tabLst>
            </a:pPr>
            <a:r>
              <a:rPr sz="2000" b="1" spc="-5" dirty="0">
                <a:latin typeface="Tahoma"/>
                <a:cs typeface="Tahoma"/>
              </a:rPr>
              <a:t>Local errors or exception conditions </a:t>
            </a:r>
            <a:r>
              <a:rPr sz="2000" spc="-5" dirty="0">
                <a:latin typeface="Tahoma"/>
                <a:cs typeface="Tahoma"/>
              </a:rPr>
              <a:t>detected by the  transaction:</a:t>
            </a:r>
            <a:endParaRPr sz="2000">
              <a:latin typeface="Tahoma"/>
              <a:cs typeface="Tahoma"/>
            </a:endParaRPr>
          </a:p>
          <a:p>
            <a:pPr marL="926465" marR="5080" lvl="1" indent="-457200">
              <a:lnSpc>
                <a:spcPts val="1950"/>
              </a:lnSpc>
              <a:spcBef>
                <a:spcPts val="1750"/>
              </a:spcBef>
              <a:buClr>
                <a:srgbClr val="FF0000"/>
              </a:buClr>
              <a:buFont typeface="Wingdings"/>
              <a:buChar char=""/>
              <a:tabLst>
                <a:tab pos="926465" algn="l"/>
                <a:tab pos="927100" algn="l"/>
              </a:tabLst>
            </a:pPr>
            <a:r>
              <a:rPr sz="1800" spc="-5" dirty="0">
                <a:latin typeface="Tahoma"/>
                <a:cs typeface="Tahoma"/>
              </a:rPr>
              <a:t>certain conditions necessitate cancellation of the transaction. For  example, data </a:t>
            </a:r>
            <a:r>
              <a:rPr sz="1800" dirty="0">
                <a:latin typeface="Tahoma"/>
                <a:cs typeface="Tahoma"/>
              </a:rPr>
              <a:t>for the transaction may not </a:t>
            </a:r>
            <a:r>
              <a:rPr sz="1800" spc="-5" dirty="0">
                <a:latin typeface="Tahoma"/>
                <a:cs typeface="Tahoma"/>
              </a:rPr>
              <a:t>be found. A condition,  such as insufficient account balance in </a:t>
            </a:r>
            <a:r>
              <a:rPr sz="1800" dirty="0">
                <a:latin typeface="Tahoma"/>
                <a:cs typeface="Tahoma"/>
              </a:rPr>
              <a:t>a </a:t>
            </a:r>
            <a:r>
              <a:rPr sz="1800" spc="-5" dirty="0">
                <a:latin typeface="Tahoma"/>
                <a:cs typeface="Tahoma"/>
              </a:rPr>
              <a:t>banking database, </a:t>
            </a:r>
            <a:r>
              <a:rPr sz="1800" dirty="0">
                <a:latin typeface="Tahoma"/>
                <a:cs typeface="Tahoma"/>
              </a:rPr>
              <a:t>may  </a:t>
            </a:r>
            <a:r>
              <a:rPr sz="1800" spc="-5" dirty="0">
                <a:latin typeface="Tahoma"/>
                <a:cs typeface="Tahoma"/>
              </a:rPr>
              <a:t>cause </a:t>
            </a:r>
            <a:r>
              <a:rPr sz="1800" dirty="0">
                <a:latin typeface="Tahoma"/>
                <a:cs typeface="Tahoma"/>
              </a:rPr>
              <a:t>a </a:t>
            </a:r>
            <a:r>
              <a:rPr sz="1800" spc="-5" dirty="0">
                <a:latin typeface="Tahoma"/>
                <a:cs typeface="Tahoma"/>
              </a:rPr>
              <a:t>transaction, such as </a:t>
            </a:r>
            <a:r>
              <a:rPr sz="1800" dirty="0">
                <a:latin typeface="Tahoma"/>
                <a:cs typeface="Tahoma"/>
              </a:rPr>
              <a:t>a </a:t>
            </a:r>
            <a:r>
              <a:rPr sz="1800" spc="-5" dirty="0">
                <a:latin typeface="Tahoma"/>
                <a:cs typeface="Tahoma"/>
              </a:rPr>
              <a:t>fund withdrawal </a:t>
            </a:r>
            <a:r>
              <a:rPr sz="1800" dirty="0">
                <a:latin typeface="Tahoma"/>
                <a:cs typeface="Tahoma"/>
              </a:rPr>
              <a:t>from </a:t>
            </a:r>
            <a:r>
              <a:rPr sz="1800" spc="-5" dirty="0">
                <a:latin typeface="Tahoma"/>
                <a:cs typeface="Tahoma"/>
              </a:rPr>
              <a:t>that account, to  be canceled.</a:t>
            </a:r>
            <a:endParaRPr sz="1800">
              <a:latin typeface="Tahoma"/>
              <a:cs typeface="Tahoma"/>
            </a:endParaRPr>
          </a:p>
          <a:p>
            <a:pPr marL="926465" lvl="1" indent="-457834">
              <a:lnSpc>
                <a:spcPct val="100000"/>
              </a:lnSpc>
              <a:spcBef>
                <a:spcPts val="1510"/>
              </a:spcBef>
              <a:buClr>
                <a:srgbClr val="FF0000"/>
              </a:buClr>
              <a:buFont typeface="Wingdings"/>
              <a:buChar char=""/>
              <a:tabLst>
                <a:tab pos="926465" algn="l"/>
                <a:tab pos="927100" algn="l"/>
              </a:tabLst>
            </a:pPr>
            <a:r>
              <a:rPr sz="1800" dirty="0">
                <a:latin typeface="Tahoma"/>
                <a:cs typeface="Tahoma"/>
              </a:rPr>
              <a:t>a </a:t>
            </a:r>
            <a:r>
              <a:rPr sz="1800" spc="-5" dirty="0">
                <a:latin typeface="Tahoma"/>
                <a:cs typeface="Tahoma"/>
              </a:rPr>
              <a:t>programmed </a:t>
            </a:r>
            <a:r>
              <a:rPr sz="1800" dirty="0">
                <a:latin typeface="Tahoma"/>
                <a:cs typeface="Tahoma"/>
              </a:rPr>
              <a:t>abort </a:t>
            </a:r>
            <a:r>
              <a:rPr sz="1800" spc="-5" dirty="0">
                <a:latin typeface="Tahoma"/>
                <a:cs typeface="Tahoma"/>
              </a:rPr>
              <a:t>in </a:t>
            </a:r>
            <a:r>
              <a:rPr sz="1800" dirty="0">
                <a:latin typeface="Tahoma"/>
                <a:cs typeface="Tahoma"/>
              </a:rPr>
              <a:t>the transaction </a:t>
            </a:r>
            <a:r>
              <a:rPr sz="1800" spc="-5" dirty="0">
                <a:latin typeface="Tahoma"/>
                <a:cs typeface="Tahoma"/>
              </a:rPr>
              <a:t>causes it to</a:t>
            </a:r>
            <a:r>
              <a:rPr sz="1800" spc="40" dirty="0">
                <a:latin typeface="Tahoma"/>
                <a:cs typeface="Tahoma"/>
              </a:rPr>
              <a:t> </a:t>
            </a:r>
            <a:r>
              <a:rPr sz="1800" spc="-10" dirty="0">
                <a:latin typeface="Tahoma"/>
                <a:cs typeface="Tahoma"/>
              </a:rPr>
              <a:t>fail.</a:t>
            </a:r>
            <a:endParaRPr sz="1800">
              <a:latin typeface="Tahoma"/>
              <a:cs typeface="Tahoma"/>
            </a:endParaRPr>
          </a:p>
          <a:p>
            <a:pPr marL="545465" marR="185420" indent="-533400">
              <a:lnSpc>
                <a:spcPct val="90100"/>
              </a:lnSpc>
              <a:spcBef>
                <a:spcPts val="1785"/>
              </a:spcBef>
              <a:buClr>
                <a:srgbClr val="3333CC"/>
              </a:buClr>
              <a:buSzPct val="85000"/>
              <a:buAutoNum type="arabicPeriod" startAt="3"/>
              <a:tabLst>
                <a:tab pos="545465" algn="l"/>
                <a:tab pos="546100" algn="l"/>
              </a:tabLst>
            </a:pPr>
            <a:r>
              <a:rPr sz="2000" b="1" spc="-10" dirty="0">
                <a:latin typeface="Tahoma"/>
                <a:cs typeface="Tahoma"/>
              </a:rPr>
              <a:t>Concurrency control enforcement: </a:t>
            </a:r>
            <a:r>
              <a:rPr sz="2000" spc="-10" dirty="0">
                <a:latin typeface="Tahoma"/>
                <a:cs typeface="Tahoma"/>
              </a:rPr>
              <a:t>The </a:t>
            </a:r>
            <a:r>
              <a:rPr sz="2000" spc="-5" dirty="0">
                <a:latin typeface="Tahoma"/>
                <a:cs typeface="Tahoma"/>
              </a:rPr>
              <a:t>concurrency control  method may decide to abort the transaction, to be restarted  later, because it violates serializability or because several  transactions are in a state of deadlock (see Chapter</a:t>
            </a:r>
            <a:r>
              <a:rPr sz="2000" spc="80" dirty="0">
                <a:latin typeface="Tahoma"/>
                <a:cs typeface="Tahoma"/>
              </a:rPr>
              <a:t> </a:t>
            </a:r>
            <a:r>
              <a:rPr sz="2000" spc="-5" dirty="0">
                <a:latin typeface="Tahoma"/>
                <a:cs typeface="Tahoma"/>
              </a:rPr>
              <a:t>18).</a:t>
            </a:r>
            <a:endParaRPr sz="2000">
              <a:latin typeface="Tahoma"/>
              <a:cs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1328" y="780287"/>
            <a:ext cx="4838700" cy="452755"/>
          </a:xfrm>
          <a:prstGeom prst="rect">
            <a:avLst/>
          </a:prstGeom>
        </p:spPr>
        <p:txBody>
          <a:bodyPr vert="horz" wrap="square" lIns="0" tIns="12700" rIns="0" bIns="0" rtlCol="0">
            <a:spAutoFit/>
          </a:bodyPr>
          <a:lstStyle/>
          <a:p>
            <a:pPr marL="12700">
              <a:lnSpc>
                <a:spcPct val="100000"/>
              </a:lnSpc>
              <a:spcBef>
                <a:spcPts val="100"/>
              </a:spcBef>
            </a:pPr>
            <a:r>
              <a:rPr dirty="0"/>
              <a:t>… - Why recovery is needed</a:t>
            </a:r>
            <a:r>
              <a:rPr spc="-80" dirty="0"/>
              <a:t> </a:t>
            </a:r>
            <a:r>
              <a:rPr dirty="0"/>
              <a:t>…</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9</a:t>
            </a:fld>
            <a:endParaRPr dirty="0"/>
          </a:p>
        </p:txBody>
      </p:sp>
      <p:sp>
        <p:nvSpPr>
          <p:cNvPr id="3" name="object 3"/>
          <p:cNvSpPr txBox="1"/>
          <p:nvPr/>
        </p:nvSpPr>
        <p:spPr>
          <a:xfrm>
            <a:off x="752741" y="1840992"/>
            <a:ext cx="7931784" cy="2889885"/>
          </a:xfrm>
          <a:prstGeom prst="rect">
            <a:avLst/>
          </a:prstGeom>
        </p:spPr>
        <p:txBody>
          <a:bodyPr vert="horz" wrap="square" lIns="0" tIns="12065" rIns="0" bIns="0" rtlCol="0">
            <a:spAutoFit/>
          </a:bodyPr>
          <a:lstStyle/>
          <a:p>
            <a:pPr marL="621665" marR="5080" indent="-609600">
              <a:lnSpc>
                <a:spcPct val="100000"/>
              </a:lnSpc>
              <a:spcBef>
                <a:spcPts val="95"/>
              </a:spcBef>
              <a:buClr>
                <a:srgbClr val="33339A"/>
              </a:buClr>
              <a:buSzPct val="85000"/>
              <a:buAutoNum type="arabicPeriod" startAt="5"/>
              <a:tabLst>
                <a:tab pos="621665" algn="l"/>
                <a:tab pos="622300" algn="l"/>
              </a:tabLst>
            </a:pPr>
            <a:r>
              <a:rPr sz="2000" b="1" spc="-5" dirty="0">
                <a:latin typeface="Tahoma"/>
                <a:cs typeface="Tahoma"/>
              </a:rPr>
              <a:t>Disk </a:t>
            </a:r>
            <a:r>
              <a:rPr sz="2000" b="1" spc="-10" dirty="0">
                <a:latin typeface="Tahoma"/>
                <a:cs typeface="Tahoma"/>
              </a:rPr>
              <a:t>failure: </a:t>
            </a:r>
            <a:r>
              <a:rPr sz="2000" spc="-5" dirty="0">
                <a:latin typeface="Tahoma"/>
                <a:cs typeface="Tahoma"/>
              </a:rPr>
              <a:t>Some disk blocks may lose their data because of a  read or write malfunction or because of a disk read/write head  crash. This may happen during a read or a write operation of the  transaction.</a:t>
            </a:r>
            <a:endParaRPr sz="2000">
              <a:latin typeface="Tahoma"/>
              <a:cs typeface="Tahoma"/>
            </a:endParaRPr>
          </a:p>
          <a:p>
            <a:pPr>
              <a:lnSpc>
                <a:spcPct val="100000"/>
              </a:lnSpc>
              <a:spcBef>
                <a:spcPts val="35"/>
              </a:spcBef>
              <a:buClr>
                <a:srgbClr val="33339A"/>
              </a:buClr>
              <a:buFont typeface="Tahoma"/>
              <a:buAutoNum type="arabicPeriod" startAt="5"/>
            </a:pPr>
            <a:endParaRPr sz="2750">
              <a:latin typeface="Tahoma"/>
              <a:cs typeface="Tahoma"/>
            </a:endParaRPr>
          </a:p>
          <a:p>
            <a:pPr marL="621665" marR="265430" indent="-609600">
              <a:lnSpc>
                <a:spcPct val="100000"/>
              </a:lnSpc>
              <a:buClr>
                <a:srgbClr val="33339A"/>
              </a:buClr>
              <a:buSzPct val="85000"/>
              <a:buAutoNum type="arabicPeriod" startAt="5"/>
              <a:tabLst>
                <a:tab pos="621665" algn="l"/>
                <a:tab pos="622300" algn="l"/>
              </a:tabLst>
            </a:pPr>
            <a:r>
              <a:rPr sz="2000" b="1" spc="-10" dirty="0">
                <a:latin typeface="Tahoma"/>
                <a:cs typeface="Tahoma"/>
              </a:rPr>
              <a:t>Physical problems </a:t>
            </a:r>
            <a:r>
              <a:rPr sz="2000" b="1" spc="-5" dirty="0">
                <a:latin typeface="Tahoma"/>
                <a:cs typeface="Tahoma"/>
              </a:rPr>
              <a:t>and </a:t>
            </a:r>
            <a:r>
              <a:rPr sz="2000" b="1" spc="-10" dirty="0">
                <a:latin typeface="Tahoma"/>
                <a:cs typeface="Tahoma"/>
              </a:rPr>
              <a:t>catastrophes: </a:t>
            </a:r>
            <a:r>
              <a:rPr sz="2000" spc="-5" dirty="0">
                <a:latin typeface="Tahoma"/>
                <a:cs typeface="Tahoma"/>
              </a:rPr>
              <a:t>This refers to an  endless list of problems that includes power or air-conditioning  failure, fire, theft, sabotage, overwriting disks or tapes by  mistake, and mounting of a wrong tape by the</a:t>
            </a:r>
            <a:r>
              <a:rPr sz="2000" spc="75" dirty="0">
                <a:latin typeface="Tahoma"/>
                <a:cs typeface="Tahoma"/>
              </a:rPr>
              <a:t> </a:t>
            </a:r>
            <a:r>
              <a:rPr sz="2000" spc="-5" dirty="0">
                <a:latin typeface="Tahoma"/>
                <a:cs typeface="Tahoma"/>
              </a:rPr>
              <a:t>operator.</a:t>
            </a:r>
            <a:endParaRPr sz="2000">
              <a:latin typeface="Tahoma"/>
              <a:cs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2675" y="788669"/>
            <a:ext cx="5978525" cy="452755"/>
          </a:xfrm>
          <a:prstGeom prst="rect">
            <a:avLst/>
          </a:prstGeom>
        </p:spPr>
        <p:txBody>
          <a:bodyPr vert="horz" wrap="square" lIns="0" tIns="12700" rIns="0" bIns="0" rtlCol="0">
            <a:spAutoFit/>
          </a:bodyPr>
          <a:lstStyle/>
          <a:p>
            <a:pPr marL="12700">
              <a:lnSpc>
                <a:spcPct val="100000"/>
              </a:lnSpc>
              <a:spcBef>
                <a:spcPts val="100"/>
              </a:spcBef>
            </a:pPr>
            <a:r>
              <a:rPr dirty="0"/>
              <a:t>- Transaction and System Concepts</a:t>
            </a:r>
            <a:r>
              <a:rPr spc="-70" dirty="0"/>
              <a:t> </a:t>
            </a:r>
            <a:r>
              <a:rPr dirty="0"/>
              <a:t>…</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10</a:t>
            </a:fld>
            <a:endParaRPr dirty="0"/>
          </a:p>
        </p:txBody>
      </p:sp>
      <p:sp>
        <p:nvSpPr>
          <p:cNvPr id="3" name="object 3"/>
          <p:cNvSpPr txBox="1"/>
          <p:nvPr/>
        </p:nvSpPr>
        <p:spPr>
          <a:xfrm>
            <a:off x="752741" y="1892045"/>
            <a:ext cx="7882255" cy="4006850"/>
          </a:xfrm>
          <a:prstGeom prst="rect">
            <a:avLst/>
          </a:prstGeom>
        </p:spPr>
        <p:txBody>
          <a:bodyPr vert="horz" wrap="square" lIns="0" tIns="42545" rIns="0" bIns="0" rtlCol="0">
            <a:spAutoFit/>
          </a:bodyPr>
          <a:lstStyle/>
          <a:p>
            <a:pPr marL="354965" marR="5080" indent="-342900">
              <a:lnSpc>
                <a:spcPct val="90100"/>
              </a:lnSpc>
              <a:spcBef>
                <a:spcPts val="335"/>
              </a:spcBef>
              <a:buClr>
                <a:srgbClr val="3333CC"/>
              </a:buClr>
              <a:buSzPct val="60000"/>
              <a:buFont typeface="Wingdings"/>
              <a:buChar char=""/>
              <a:tabLst>
                <a:tab pos="354965" algn="l"/>
                <a:tab pos="355600" algn="l"/>
              </a:tabLst>
            </a:pPr>
            <a:r>
              <a:rPr sz="2000" spc="-5" dirty="0">
                <a:latin typeface="Tahoma"/>
                <a:cs typeface="Tahoma"/>
              </a:rPr>
              <a:t>A </a:t>
            </a:r>
            <a:r>
              <a:rPr sz="2000" b="1" spc="-10" dirty="0">
                <a:latin typeface="Tahoma"/>
                <a:cs typeface="Tahoma"/>
              </a:rPr>
              <a:t>transaction </a:t>
            </a:r>
            <a:r>
              <a:rPr sz="2000" spc="-5" dirty="0">
                <a:latin typeface="Tahoma"/>
                <a:cs typeface="Tahoma"/>
              </a:rPr>
              <a:t>is an atomic unit of work that is either completed  in its entirety or not done at all. For recovery purposes, the system  needs to keep track of when the transaction starts, terminates,  and commits or</a:t>
            </a:r>
            <a:r>
              <a:rPr sz="2000" spc="5" dirty="0">
                <a:latin typeface="Tahoma"/>
                <a:cs typeface="Tahoma"/>
              </a:rPr>
              <a:t> </a:t>
            </a:r>
            <a:r>
              <a:rPr sz="2000" spc="-5" dirty="0">
                <a:latin typeface="Tahoma"/>
                <a:cs typeface="Tahoma"/>
              </a:rPr>
              <a:t>aborts.</a:t>
            </a:r>
            <a:endParaRPr sz="2000">
              <a:latin typeface="Tahoma"/>
              <a:cs typeface="Tahoma"/>
            </a:endParaRPr>
          </a:p>
          <a:p>
            <a:pPr>
              <a:lnSpc>
                <a:spcPct val="100000"/>
              </a:lnSpc>
              <a:spcBef>
                <a:spcPts val="35"/>
              </a:spcBef>
              <a:buClr>
                <a:srgbClr val="3333CC"/>
              </a:buClr>
              <a:buFont typeface="Wingdings"/>
              <a:buChar char=""/>
            </a:pPr>
            <a:endParaRPr sz="2350">
              <a:latin typeface="Tahoma"/>
              <a:cs typeface="Tahoma"/>
            </a:endParaRPr>
          </a:p>
          <a:p>
            <a:pPr marL="354965" indent="-342900">
              <a:lnSpc>
                <a:spcPct val="100000"/>
              </a:lnSpc>
              <a:buClr>
                <a:srgbClr val="3333CC"/>
              </a:buClr>
              <a:buSzPct val="60000"/>
              <a:buFont typeface="Wingdings"/>
              <a:buChar char=""/>
              <a:tabLst>
                <a:tab pos="354965" algn="l"/>
                <a:tab pos="355600" algn="l"/>
              </a:tabLst>
            </a:pPr>
            <a:r>
              <a:rPr sz="2000" b="1" spc="-10" dirty="0">
                <a:latin typeface="Tahoma"/>
                <a:cs typeface="Tahoma"/>
              </a:rPr>
              <a:t>Transaction</a:t>
            </a:r>
            <a:r>
              <a:rPr sz="2000" b="1" spc="-5" dirty="0">
                <a:latin typeface="Tahoma"/>
                <a:cs typeface="Tahoma"/>
              </a:rPr>
              <a:t> </a:t>
            </a:r>
            <a:r>
              <a:rPr sz="2000" b="1" spc="-10" dirty="0">
                <a:latin typeface="Tahoma"/>
                <a:cs typeface="Tahoma"/>
              </a:rPr>
              <a:t>states</a:t>
            </a:r>
            <a:r>
              <a:rPr sz="2000" spc="-10" dirty="0">
                <a:latin typeface="Tahoma"/>
                <a:cs typeface="Tahoma"/>
              </a:rPr>
              <a:t>:</a:t>
            </a:r>
            <a:endParaRPr sz="2000">
              <a:latin typeface="Tahoma"/>
              <a:cs typeface="Tahoma"/>
            </a:endParaRPr>
          </a:p>
          <a:p>
            <a:pPr marL="755015" lvl="1" indent="-286385">
              <a:lnSpc>
                <a:spcPct val="100000"/>
              </a:lnSpc>
              <a:spcBef>
                <a:spcPts val="1280"/>
              </a:spcBef>
              <a:buClr>
                <a:srgbClr val="FF0000"/>
              </a:buClr>
              <a:buSzPct val="55555"/>
              <a:buFont typeface="Wingdings"/>
              <a:buChar char=""/>
              <a:tabLst>
                <a:tab pos="755015" algn="l"/>
                <a:tab pos="755650" algn="l"/>
              </a:tabLst>
            </a:pPr>
            <a:r>
              <a:rPr sz="1800" spc="-5" dirty="0">
                <a:latin typeface="Tahoma"/>
                <a:cs typeface="Tahoma"/>
              </a:rPr>
              <a:t>Active state</a:t>
            </a:r>
            <a:endParaRPr sz="1800">
              <a:latin typeface="Tahoma"/>
              <a:cs typeface="Tahoma"/>
            </a:endParaRPr>
          </a:p>
          <a:p>
            <a:pPr marL="755015" lvl="1" indent="-286385">
              <a:lnSpc>
                <a:spcPct val="100000"/>
              </a:lnSpc>
              <a:spcBef>
                <a:spcPts val="1280"/>
              </a:spcBef>
              <a:buClr>
                <a:srgbClr val="FF0000"/>
              </a:buClr>
              <a:buSzPct val="55555"/>
              <a:buFont typeface="Wingdings"/>
              <a:buChar char=""/>
              <a:tabLst>
                <a:tab pos="755015" algn="l"/>
                <a:tab pos="755650" algn="l"/>
              </a:tabLst>
            </a:pPr>
            <a:r>
              <a:rPr sz="1800" spc="-5" dirty="0">
                <a:latin typeface="Tahoma"/>
                <a:cs typeface="Tahoma"/>
              </a:rPr>
              <a:t>Partially committed</a:t>
            </a:r>
            <a:r>
              <a:rPr sz="1800" spc="10" dirty="0">
                <a:latin typeface="Tahoma"/>
                <a:cs typeface="Tahoma"/>
              </a:rPr>
              <a:t> </a:t>
            </a:r>
            <a:r>
              <a:rPr sz="1800" spc="-5" dirty="0">
                <a:latin typeface="Tahoma"/>
                <a:cs typeface="Tahoma"/>
              </a:rPr>
              <a:t>state</a:t>
            </a:r>
            <a:endParaRPr sz="1800">
              <a:latin typeface="Tahoma"/>
              <a:cs typeface="Tahoma"/>
            </a:endParaRPr>
          </a:p>
          <a:p>
            <a:pPr marL="755015" lvl="1" indent="-286385">
              <a:lnSpc>
                <a:spcPct val="100000"/>
              </a:lnSpc>
              <a:spcBef>
                <a:spcPts val="1275"/>
              </a:spcBef>
              <a:buClr>
                <a:srgbClr val="FF0000"/>
              </a:buClr>
              <a:buSzPct val="55555"/>
              <a:buFont typeface="Wingdings"/>
              <a:buChar char=""/>
              <a:tabLst>
                <a:tab pos="755015" algn="l"/>
                <a:tab pos="755650" algn="l"/>
              </a:tabLst>
            </a:pPr>
            <a:r>
              <a:rPr sz="1800" spc="-5" dirty="0">
                <a:latin typeface="Tahoma"/>
                <a:cs typeface="Tahoma"/>
              </a:rPr>
              <a:t>Committed state</a:t>
            </a:r>
            <a:endParaRPr sz="1800">
              <a:latin typeface="Tahoma"/>
              <a:cs typeface="Tahoma"/>
            </a:endParaRPr>
          </a:p>
          <a:p>
            <a:pPr marL="755015" lvl="1" indent="-286385">
              <a:lnSpc>
                <a:spcPct val="100000"/>
              </a:lnSpc>
              <a:spcBef>
                <a:spcPts val="1280"/>
              </a:spcBef>
              <a:buClr>
                <a:srgbClr val="FF0000"/>
              </a:buClr>
              <a:buSzPct val="55555"/>
              <a:buFont typeface="Wingdings"/>
              <a:buChar char=""/>
              <a:tabLst>
                <a:tab pos="755015" algn="l"/>
                <a:tab pos="755650" algn="l"/>
              </a:tabLst>
            </a:pPr>
            <a:r>
              <a:rPr sz="1800" dirty="0">
                <a:latin typeface="Tahoma"/>
                <a:cs typeface="Tahoma"/>
              </a:rPr>
              <a:t>Failed</a:t>
            </a:r>
            <a:r>
              <a:rPr sz="1800" spc="-5" dirty="0">
                <a:latin typeface="Tahoma"/>
                <a:cs typeface="Tahoma"/>
              </a:rPr>
              <a:t> </a:t>
            </a:r>
            <a:r>
              <a:rPr sz="1800" dirty="0">
                <a:latin typeface="Tahoma"/>
                <a:cs typeface="Tahoma"/>
              </a:rPr>
              <a:t>state</a:t>
            </a:r>
            <a:endParaRPr sz="1800">
              <a:latin typeface="Tahoma"/>
              <a:cs typeface="Tahoma"/>
            </a:endParaRPr>
          </a:p>
          <a:p>
            <a:pPr marL="755015" lvl="1" indent="-286385">
              <a:lnSpc>
                <a:spcPct val="100000"/>
              </a:lnSpc>
              <a:spcBef>
                <a:spcPts val="1280"/>
              </a:spcBef>
              <a:buClr>
                <a:srgbClr val="FF0000"/>
              </a:buClr>
              <a:buSzPct val="55555"/>
              <a:buFont typeface="Wingdings"/>
              <a:buChar char=""/>
              <a:tabLst>
                <a:tab pos="755015" algn="l"/>
                <a:tab pos="755650" algn="l"/>
              </a:tabLst>
            </a:pPr>
            <a:r>
              <a:rPr sz="1800" dirty="0">
                <a:latin typeface="Tahoma"/>
                <a:cs typeface="Tahoma"/>
              </a:rPr>
              <a:t>Terminated</a:t>
            </a:r>
            <a:r>
              <a:rPr sz="1800" spc="-5" dirty="0">
                <a:latin typeface="Tahoma"/>
                <a:cs typeface="Tahoma"/>
              </a:rPr>
              <a:t> </a:t>
            </a:r>
            <a:r>
              <a:rPr sz="1800" dirty="0">
                <a:latin typeface="Tahoma"/>
                <a:cs typeface="Tahoma"/>
              </a:rPr>
              <a:t>State</a:t>
            </a:r>
            <a:endParaRPr sz="1800">
              <a:latin typeface="Tahoma"/>
              <a:cs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09928" y="788669"/>
            <a:ext cx="6381115" cy="452755"/>
          </a:xfrm>
          <a:prstGeom prst="rect">
            <a:avLst/>
          </a:prstGeom>
        </p:spPr>
        <p:txBody>
          <a:bodyPr vert="horz" wrap="square" lIns="0" tIns="12700" rIns="0" bIns="0" rtlCol="0">
            <a:spAutoFit/>
          </a:bodyPr>
          <a:lstStyle/>
          <a:p>
            <a:pPr marL="12700">
              <a:lnSpc>
                <a:spcPct val="100000"/>
              </a:lnSpc>
              <a:spcBef>
                <a:spcPts val="100"/>
              </a:spcBef>
            </a:pPr>
            <a:r>
              <a:rPr dirty="0"/>
              <a:t>… - Transaction and System Concepts</a:t>
            </a:r>
            <a:r>
              <a:rPr spc="-60" dirty="0"/>
              <a:t> </a:t>
            </a:r>
            <a:r>
              <a:rPr dirty="0"/>
              <a:t>…</a:t>
            </a:r>
          </a:p>
        </p:txBody>
      </p:sp>
      <p:grpSp>
        <p:nvGrpSpPr>
          <p:cNvPr id="3" name="object 3"/>
          <p:cNvGrpSpPr/>
          <p:nvPr/>
        </p:nvGrpSpPr>
        <p:grpSpPr>
          <a:xfrm>
            <a:off x="1054100" y="1885695"/>
            <a:ext cx="6629400" cy="4343400"/>
            <a:chOff x="1054100" y="1885695"/>
            <a:chExt cx="6629400" cy="4343400"/>
          </a:xfrm>
        </p:grpSpPr>
        <p:sp>
          <p:nvSpPr>
            <p:cNvPr id="4" name="object 4"/>
            <p:cNvSpPr/>
            <p:nvPr/>
          </p:nvSpPr>
          <p:spPr>
            <a:xfrm>
              <a:off x="1202727" y="1961895"/>
              <a:ext cx="6404712" cy="419100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054100" y="1885695"/>
              <a:ext cx="6629400" cy="4343400"/>
            </a:xfrm>
            <a:custGeom>
              <a:avLst/>
              <a:gdLst/>
              <a:ahLst/>
              <a:cxnLst/>
              <a:rect l="l" t="t" r="r" b="b"/>
              <a:pathLst>
                <a:path w="6629400" h="4343400">
                  <a:moveTo>
                    <a:pt x="6565900" y="63246"/>
                  </a:moveTo>
                  <a:lnTo>
                    <a:pt x="6553200" y="63246"/>
                  </a:lnTo>
                  <a:lnTo>
                    <a:pt x="76200" y="63246"/>
                  </a:lnTo>
                  <a:lnTo>
                    <a:pt x="63500" y="63246"/>
                  </a:lnTo>
                  <a:lnTo>
                    <a:pt x="63500" y="4280154"/>
                  </a:lnTo>
                  <a:lnTo>
                    <a:pt x="76200" y="4280154"/>
                  </a:lnTo>
                  <a:lnTo>
                    <a:pt x="76200" y="76200"/>
                  </a:lnTo>
                  <a:lnTo>
                    <a:pt x="6553200" y="76200"/>
                  </a:lnTo>
                  <a:lnTo>
                    <a:pt x="6553200" y="4267200"/>
                  </a:lnTo>
                  <a:lnTo>
                    <a:pt x="76339" y="4267200"/>
                  </a:lnTo>
                  <a:lnTo>
                    <a:pt x="76339" y="4280154"/>
                  </a:lnTo>
                  <a:lnTo>
                    <a:pt x="6553200" y="4280154"/>
                  </a:lnTo>
                  <a:lnTo>
                    <a:pt x="6553340" y="4280154"/>
                  </a:lnTo>
                  <a:lnTo>
                    <a:pt x="6565900" y="4280154"/>
                  </a:lnTo>
                  <a:lnTo>
                    <a:pt x="6565900" y="63246"/>
                  </a:lnTo>
                  <a:close/>
                </a:path>
                <a:path w="6629400" h="4343400">
                  <a:moveTo>
                    <a:pt x="6578486" y="4292346"/>
                  </a:moveTo>
                  <a:lnTo>
                    <a:pt x="51193" y="4292358"/>
                  </a:lnTo>
                  <a:lnTo>
                    <a:pt x="51181" y="4318254"/>
                  </a:lnTo>
                  <a:lnTo>
                    <a:pt x="6578486" y="4318254"/>
                  </a:lnTo>
                  <a:lnTo>
                    <a:pt x="6578486" y="4292346"/>
                  </a:lnTo>
                  <a:close/>
                </a:path>
                <a:path w="6629400" h="4343400">
                  <a:moveTo>
                    <a:pt x="6604000" y="25146"/>
                  </a:moveTo>
                  <a:lnTo>
                    <a:pt x="6578600" y="25146"/>
                  </a:lnTo>
                  <a:lnTo>
                    <a:pt x="50800" y="25146"/>
                  </a:lnTo>
                  <a:lnTo>
                    <a:pt x="25400" y="25146"/>
                  </a:lnTo>
                  <a:lnTo>
                    <a:pt x="25400" y="4318254"/>
                  </a:lnTo>
                  <a:lnTo>
                    <a:pt x="50800" y="4318254"/>
                  </a:lnTo>
                  <a:lnTo>
                    <a:pt x="50800" y="51054"/>
                  </a:lnTo>
                  <a:lnTo>
                    <a:pt x="6578600" y="51054"/>
                  </a:lnTo>
                  <a:lnTo>
                    <a:pt x="6578600" y="4318254"/>
                  </a:lnTo>
                  <a:lnTo>
                    <a:pt x="6604000" y="4318254"/>
                  </a:lnTo>
                  <a:lnTo>
                    <a:pt x="6604000" y="25146"/>
                  </a:lnTo>
                  <a:close/>
                </a:path>
                <a:path w="6629400" h="4343400">
                  <a:moveTo>
                    <a:pt x="6616586" y="4330446"/>
                  </a:moveTo>
                  <a:lnTo>
                    <a:pt x="13093" y="4330458"/>
                  </a:lnTo>
                  <a:lnTo>
                    <a:pt x="13081" y="4343400"/>
                  </a:lnTo>
                  <a:lnTo>
                    <a:pt x="6616586" y="4343400"/>
                  </a:lnTo>
                  <a:lnTo>
                    <a:pt x="6616586" y="4330446"/>
                  </a:lnTo>
                  <a:close/>
                </a:path>
                <a:path w="6629400" h="4343400">
                  <a:moveTo>
                    <a:pt x="6629400" y="0"/>
                  </a:moveTo>
                  <a:lnTo>
                    <a:pt x="6616700" y="0"/>
                  </a:lnTo>
                  <a:lnTo>
                    <a:pt x="12700" y="0"/>
                  </a:lnTo>
                  <a:lnTo>
                    <a:pt x="0" y="0"/>
                  </a:lnTo>
                  <a:lnTo>
                    <a:pt x="0" y="4343400"/>
                  </a:lnTo>
                  <a:lnTo>
                    <a:pt x="12700" y="4343400"/>
                  </a:lnTo>
                  <a:lnTo>
                    <a:pt x="12700" y="12954"/>
                  </a:lnTo>
                  <a:lnTo>
                    <a:pt x="6616700" y="12954"/>
                  </a:lnTo>
                  <a:lnTo>
                    <a:pt x="6616700" y="4343400"/>
                  </a:lnTo>
                  <a:lnTo>
                    <a:pt x="6629400" y="4343400"/>
                  </a:lnTo>
                  <a:lnTo>
                    <a:pt x="6629400" y="0"/>
                  </a:lnTo>
                  <a:close/>
                </a:path>
              </a:pathLst>
            </a:custGeom>
            <a:solidFill>
              <a:srgbClr val="333399"/>
            </a:solidFill>
          </p:spPr>
          <p:txBody>
            <a:bodyPr wrap="square" lIns="0" tIns="0" rIns="0" bIns="0" rtlCol="0"/>
            <a:lstStyle/>
            <a:p>
              <a:endParaRPr/>
            </a:p>
          </p:txBody>
        </p:sp>
      </p:grpSp>
      <p:sp>
        <p:nvSpPr>
          <p:cNvPr id="6" name="object 6"/>
          <p:cNvSpPr txBox="1">
            <a:spLocks noGrp="1"/>
          </p:cNvSpPr>
          <p:nvPr>
            <p:ph type="dt" sz="half" idx="6"/>
          </p:nvPr>
        </p:nvSpPr>
        <p:spPr>
          <a:prstGeom prst="rect">
            <a:avLst/>
          </a:prstGeom>
        </p:spPr>
        <p:txBody>
          <a:bodyPr vert="horz" wrap="square" lIns="0" tIns="12700" rIns="0" bIns="0" rtlCol="0">
            <a:spAutoFit/>
          </a:bodyPr>
          <a:lstStyle/>
          <a:p>
            <a:pPr marL="12700">
              <a:lnSpc>
                <a:spcPct val="100000"/>
              </a:lnSpc>
              <a:spcBef>
                <a:spcPts val="100"/>
              </a:spcBef>
            </a:pPr>
            <a:r>
              <a:rPr spc="-5" dirty="0"/>
              <a:t>March 24,</a:t>
            </a:r>
            <a:r>
              <a:rPr spc="-75" dirty="0"/>
              <a:t> </a:t>
            </a:r>
            <a:r>
              <a:rPr spc="-5" dirty="0"/>
              <a:t>2008</a:t>
            </a:r>
          </a:p>
        </p:txBody>
      </p:sp>
      <p:sp>
        <p:nvSpPr>
          <p:cNvPr id="7" name="object 7"/>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8" name="object 8"/>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11</a:t>
            </a:fld>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2675" y="788669"/>
            <a:ext cx="6381115" cy="452755"/>
          </a:xfrm>
          <a:prstGeom prst="rect">
            <a:avLst/>
          </a:prstGeom>
        </p:spPr>
        <p:txBody>
          <a:bodyPr vert="horz" wrap="square" lIns="0" tIns="12700" rIns="0" bIns="0" rtlCol="0">
            <a:spAutoFit/>
          </a:bodyPr>
          <a:lstStyle/>
          <a:p>
            <a:pPr marL="12700">
              <a:lnSpc>
                <a:spcPct val="100000"/>
              </a:lnSpc>
              <a:spcBef>
                <a:spcPts val="100"/>
              </a:spcBef>
            </a:pPr>
            <a:r>
              <a:rPr dirty="0"/>
              <a:t>… - Transaction and System Concepts</a:t>
            </a:r>
            <a:r>
              <a:rPr spc="-60" dirty="0"/>
              <a:t> </a:t>
            </a:r>
            <a:r>
              <a:rPr dirty="0"/>
              <a:t>…</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12</a:t>
            </a:fld>
            <a:endParaRPr dirty="0"/>
          </a:p>
        </p:txBody>
      </p:sp>
      <p:sp>
        <p:nvSpPr>
          <p:cNvPr id="3" name="object 3"/>
          <p:cNvSpPr txBox="1"/>
          <p:nvPr/>
        </p:nvSpPr>
        <p:spPr>
          <a:xfrm>
            <a:off x="524141" y="1834895"/>
            <a:ext cx="7699375" cy="4295775"/>
          </a:xfrm>
          <a:prstGeom prst="rect">
            <a:avLst/>
          </a:prstGeom>
        </p:spPr>
        <p:txBody>
          <a:bodyPr vert="horz" wrap="square" lIns="0" tIns="12700" rIns="0" bIns="0" rtlCol="0">
            <a:spAutoFit/>
          </a:bodyPr>
          <a:lstStyle/>
          <a:p>
            <a:pPr marL="354965" indent="-342900">
              <a:lnSpc>
                <a:spcPts val="2515"/>
              </a:lnSpc>
              <a:spcBef>
                <a:spcPts val="100"/>
              </a:spcBef>
              <a:buClr>
                <a:srgbClr val="3333CC"/>
              </a:buClr>
              <a:buSzPct val="59090"/>
              <a:buFont typeface="Wingdings"/>
              <a:buChar char=""/>
              <a:tabLst>
                <a:tab pos="354965" algn="l"/>
                <a:tab pos="355600" algn="l"/>
              </a:tabLst>
            </a:pPr>
            <a:r>
              <a:rPr sz="2200" spc="-5" dirty="0">
                <a:latin typeface="Tahoma"/>
                <a:cs typeface="Tahoma"/>
              </a:rPr>
              <a:t>Recovery manager keeps track of the following</a:t>
            </a:r>
            <a:r>
              <a:rPr sz="2200" spc="10" dirty="0">
                <a:latin typeface="Tahoma"/>
                <a:cs typeface="Tahoma"/>
              </a:rPr>
              <a:t> </a:t>
            </a:r>
            <a:r>
              <a:rPr sz="2200" spc="-5" dirty="0">
                <a:latin typeface="Tahoma"/>
                <a:cs typeface="Tahoma"/>
              </a:rPr>
              <a:t>operations</a:t>
            </a:r>
            <a:endParaRPr sz="2200">
              <a:latin typeface="Tahoma"/>
              <a:cs typeface="Tahoma"/>
            </a:endParaRPr>
          </a:p>
          <a:p>
            <a:pPr marL="354965">
              <a:lnSpc>
                <a:spcPts val="2755"/>
              </a:lnSpc>
            </a:pPr>
            <a:r>
              <a:rPr sz="2400" dirty="0">
                <a:latin typeface="Tahoma"/>
                <a:cs typeface="Tahoma"/>
              </a:rPr>
              <a:t>…</a:t>
            </a:r>
            <a:endParaRPr sz="2400">
              <a:latin typeface="Tahoma"/>
              <a:cs typeface="Tahoma"/>
            </a:endParaRPr>
          </a:p>
          <a:p>
            <a:pPr marL="755015" marR="5080" lvl="1" indent="-285750">
              <a:lnSpc>
                <a:spcPts val="2160"/>
              </a:lnSpc>
              <a:spcBef>
                <a:spcPts val="1555"/>
              </a:spcBef>
              <a:buClr>
                <a:srgbClr val="FF0000"/>
              </a:buClr>
              <a:buSzPct val="55000"/>
              <a:buFont typeface="Wingdings"/>
              <a:buChar char=""/>
              <a:tabLst>
                <a:tab pos="755015" algn="l"/>
                <a:tab pos="755650" algn="l"/>
              </a:tabLst>
            </a:pPr>
            <a:r>
              <a:rPr sz="2000" b="1" spc="-10" dirty="0">
                <a:latin typeface="Tahoma"/>
                <a:cs typeface="Tahoma"/>
              </a:rPr>
              <a:t>begin_transaction: </a:t>
            </a:r>
            <a:r>
              <a:rPr sz="2000" spc="-5" dirty="0">
                <a:latin typeface="Tahoma"/>
                <a:cs typeface="Tahoma"/>
              </a:rPr>
              <a:t>This marks the beginning of transaction  execution.</a:t>
            </a:r>
            <a:endParaRPr sz="2000">
              <a:latin typeface="Tahoma"/>
              <a:cs typeface="Tahoma"/>
            </a:endParaRPr>
          </a:p>
          <a:p>
            <a:pPr marL="755015" marR="15240" lvl="1" indent="-285750">
              <a:lnSpc>
                <a:spcPts val="2160"/>
              </a:lnSpc>
              <a:spcBef>
                <a:spcPts val="1530"/>
              </a:spcBef>
              <a:buClr>
                <a:srgbClr val="FF0000"/>
              </a:buClr>
              <a:buSzPct val="55000"/>
              <a:buFont typeface="Wingdings"/>
              <a:buChar char=""/>
              <a:tabLst>
                <a:tab pos="755015" algn="l"/>
                <a:tab pos="755650" algn="l"/>
              </a:tabLst>
            </a:pPr>
            <a:r>
              <a:rPr sz="2000" b="1" spc="-5" dirty="0">
                <a:latin typeface="Tahoma"/>
                <a:cs typeface="Tahoma"/>
              </a:rPr>
              <a:t>read or write: </a:t>
            </a:r>
            <a:r>
              <a:rPr sz="2000" spc="-5" dirty="0">
                <a:latin typeface="Tahoma"/>
                <a:cs typeface="Tahoma"/>
              </a:rPr>
              <a:t>These specify read or write operations on the  database items that are executed as part of a</a:t>
            </a:r>
            <a:r>
              <a:rPr sz="2000" spc="100" dirty="0">
                <a:latin typeface="Tahoma"/>
                <a:cs typeface="Tahoma"/>
              </a:rPr>
              <a:t> </a:t>
            </a:r>
            <a:r>
              <a:rPr sz="2000" spc="-5" dirty="0">
                <a:latin typeface="Tahoma"/>
                <a:cs typeface="Tahoma"/>
              </a:rPr>
              <a:t>transaction.</a:t>
            </a:r>
            <a:endParaRPr sz="2000">
              <a:latin typeface="Tahoma"/>
              <a:cs typeface="Tahoma"/>
            </a:endParaRPr>
          </a:p>
          <a:p>
            <a:pPr marL="755015" marR="23495" lvl="1" indent="-285750">
              <a:lnSpc>
                <a:spcPct val="90100"/>
              </a:lnSpc>
              <a:spcBef>
                <a:spcPts val="1495"/>
              </a:spcBef>
              <a:buClr>
                <a:srgbClr val="FF0000"/>
              </a:buClr>
              <a:buSzPct val="55000"/>
              <a:buFont typeface="Wingdings"/>
              <a:buChar char=""/>
              <a:tabLst>
                <a:tab pos="755015" algn="l"/>
                <a:tab pos="755650" algn="l"/>
              </a:tabLst>
            </a:pPr>
            <a:r>
              <a:rPr sz="2000" b="1" spc="-10" dirty="0">
                <a:latin typeface="Tahoma"/>
                <a:cs typeface="Tahoma"/>
              </a:rPr>
              <a:t>end_transaction: </a:t>
            </a:r>
            <a:r>
              <a:rPr sz="2000" spc="-5" dirty="0">
                <a:latin typeface="Tahoma"/>
                <a:cs typeface="Tahoma"/>
              </a:rPr>
              <a:t>This specifies that read and write  transaction operations have ended and marks the end limit of  transaction execution. At this point it may be necessary to  check whether the changes introduced by the transaction can  be permanently applied to the database or whether the  transaction has to be aborted because it violates concurrency  control or for some other</a:t>
            </a:r>
            <a:r>
              <a:rPr sz="2000" spc="55" dirty="0">
                <a:latin typeface="Tahoma"/>
                <a:cs typeface="Tahoma"/>
              </a:rPr>
              <a:t> </a:t>
            </a:r>
            <a:r>
              <a:rPr sz="2000" spc="-5" dirty="0">
                <a:latin typeface="Tahoma"/>
                <a:cs typeface="Tahoma"/>
              </a:rPr>
              <a:t>reason.</a:t>
            </a:r>
            <a:endParaRPr sz="2000">
              <a:latin typeface="Tahoma"/>
              <a:cs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2675" y="864869"/>
            <a:ext cx="6381115" cy="452755"/>
          </a:xfrm>
          <a:prstGeom prst="rect">
            <a:avLst/>
          </a:prstGeom>
        </p:spPr>
        <p:txBody>
          <a:bodyPr vert="horz" wrap="square" lIns="0" tIns="12700" rIns="0" bIns="0" rtlCol="0">
            <a:spAutoFit/>
          </a:bodyPr>
          <a:lstStyle/>
          <a:p>
            <a:pPr marL="12700">
              <a:lnSpc>
                <a:spcPct val="100000"/>
              </a:lnSpc>
              <a:spcBef>
                <a:spcPts val="100"/>
              </a:spcBef>
            </a:pPr>
            <a:r>
              <a:rPr dirty="0"/>
              <a:t>… - Transaction and System Concepts</a:t>
            </a:r>
            <a:r>
              <a:rPr spc="-60" dirty="0"/>
              <a:t> </a:t>
            </a:r>
            <a:r>
              <a:rPr dirty="0"/>
              <a:t>…</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13</a:t>
            </a:fld>
            <a:endParaRPr dirty="0"/>
          </a:p>
        </p:txBody>
      </p:sp>
      <p:sp>
        <p:nvSpPr>
          <p:cNvPr id="3" name="object 3"/>
          <p:cNvSpPr txBox="1"/>
          <p:nvPr/>
        </p:nvSpPr>
        <p:spPr>
          <a:xfrm>
            <a:off x="600341" y="1993392"/>
            <a:ext cx="7867015" cy="2983230"/>
          </a:xfrm>
          <a:prstGeom prst="rect">
            <a:avLst/>
          </a:prstGeom>
        </p:spPr>
        <p:txBody>
          <a:bodyPr vert="horz" wrap="square" lIns="0" tIns="12700" rIns="0" bIns="0" rtlCol="0">
            <a:spAutoFit/>
          </a:bodyPr>
          <a:lstStyle/>
          <a:p>
            <a:pPr marL="354965" indent="-342900">
              <a:lnSpc>
                <a:spcPct val="100000"/>
              </a:lnSpc>
              <a:spcBef>
                <a:spcPts val="100"/>
              </a:spcBef>
              <a:buClr>
                <a:srgbClr val="3333CC"/>
              </a:buClr>
              <a:buSzPct val="59090"/>
              <a:buFont typeface="Wingdings"/>
              <a:buChar char=""/>
              <a:tabLst>
                <a:tab pos="354965" algn="l"/>
                <a:tab pos="355600" algn="l"/>
              </a:tabLst>
            </a:pPr>
            <a:r>
              <a:rPr sz="2200" dirty="0">
                <a:latin typeface="Tahoma"/>
                <a:cs typeface="Tahoma"/>
              </a:rPr>
              <a:t>… </a:t>
            </a:r>
            <a:r>
              <a:rPr sz="2200" spc="-5" dirty="0">
                <a:latin typeface="Tahoma"/>
                <a:cs typeface="Tahoma"/>
              </a:rPr>
              <a:t>Recovery manager keeps track of the following</a:t>
            </a:r>
            <a:r>
              <a:rPr sz="2200" spc="15" dirty="0">
                <a:latin typeface="Tahoma"/>
                <a:cs typeface="Tahoma"/>
              </a:rPr>
              <a:t> </a:t>
            </a:r>
            <a:r>
              <a:rPr sz="2200" spc="-5" dirty="0">
                <a:latin typeface="Tahoma"/>
                <a:cs typeface="Tahoma"/>
              </a:rPr>
              <a:t>operations</a:t>
            </a:r>
            <a:endParaRPr sz="2200">
              <a:latin typeface="Tahoma"/>
              <a:cs typeface="Tahoma"/>
            </a:endParaRPr>
          </a:p>
          <a:p>
            <a:pPr marL="755650" marR="88265" lvl="1" indent="-286385">
              <a:lnSpc>
                <a:spcPts val="2400"/>
              </a:lnSpc>
              <a:spcBef>
                <a:spcPts val="1989"/>
              </a:spcBef>
              <a:buClr>
                <a:srgbClr val="FF0000"/>
              </a:buClr>
              <a:buSzPct val="55000"/>
              <a:buFont typeface="Wingdings"/>
              <a:buChar char=""/>
              <a:tabLst>
                <a:tab pos="755015" algn="l"/>
                <a:tab pos="755650" algn="l"/>
              </a:tabLst>
            </a:pPr>
            <a:r>
              <a:rPr sz="2000" b="1" spc="-5" dirty="0">
                <a:latin typeface="Tahoma"/>
                <a:cs typeface="Tahoma"/>
              </a:rPr>
              <a:t>commit_transaction: </a:t>
            </a:r>
            <a:r>
              <a:rPr sz="2000" spc="-5" dirty="0">
                <a:latin typeface="Tahoma"/>
                <a:cs typeface="Tahoma"/>
              </a:rPr>
              <a:t>This signals a </a:t>
            </a:r>
            <a:r>
              <a:rPr sz="2100" i="1" spc="-50" dirty="0">
                <a:latin typeface="Tahoma"/>
                <a:cs typeface="Tahoma"/>
              </a:rPr>
              <a:t>successful </a:t>
            </a:r>
            <a:r>
              <a:rPr sz="2100" i="1" spc="-60" dirty="0">
                <a:latin typeface="Tahoma"/>
                <a:cs typeface="Tahoma"/>
              </a:rPr>
              <a:t>end </a:t>
            </a:r>
            <a:r>
              <a:rPr sz="2000" spc="-5" dirty="0">
                <a:latin typeface="Tahoma"/>
                <a:cs typeface="Tahoma"/>
              </a:rPr>
              <a:t>of the  transaction so that any changes (updates) executed by the  transaction can be safely </a:t>
            </a:r>
            <a:r>
              <a:rPr sz="2000" b="1" spc="-5" dirty="0">
                <a:latin typeface="Tahoma"/>
                <a:cs typeface="Tahoma"/>
              </a:rPr>
              <a:t>committed </a:t>
            </a:r>
            <a:r>
              <a:rPr sz="2000" spc="-5" dirty="0">
                <a:latin typeface="Tahoma"/>
                <a:cs typeface="Tahoma"/>
              </a:rPr>
              <a:t>to the database and will  not be</a:t>
            </a:r>
            <a:r>
              <a:rPr sz="2000" dirty="0">
                <a:latin typeface="Tahoma"/>
                <a:cs typeface="Tahoma"/>
              </a:rPr>
              <a:t> </a:t>
            </a:r>
            <a:r>
              <a:rPr sz="2000" spc="-10" dirty="0">
                <a:latin typeface="Tahoma"/>
                <a:cs typeface="Tahoma"/>
              </a:rPr>
              <a:t>undone.</a:t>
            </a:r>
            <a:endParaRPr sz="2000">
              <a:latin typeface="Tahoma"/>
              <a:cs typeface="Tahoma"/>
            </a:endParaRPr>
          </a:p>
          <a:p>
            <a:pPr marL="755015" marR="5080" lvl="1" indent="-285750">
              <a:lnSpc>
                <a:spcPts val="2400"/>
              </a:lnSpc>
              <a:spcBef>
                <a:spcPts val="1914"/>
              </a:spcBef>
              <a:buClr>
                <a:srgbClr val="FF0000"/>
              </a:buClr>
              <a:buSzPct val="55000"/>
              <a:buFont typeface="Wingdings"/>
              <a:buChar char=""/>
              <a:tabLst>
                <a:tab pos="755015" algn="l"/>
                <a:tab pos="755650" algn="l"/>
              </a:tabLst>
            </a:pPr>
            <a:r>
              <a:rPr sz="2000" b="1" spc="-5" dirty="0">
                <a:latin typeface="Tahoma"/>
                <a:cs typeface="Tahoma"/>
              </a:rPr>
              <a:t>rollback (or abort): </a:t>
            </a:r>
            <a:r>
              <a:rPr sz="2000" spc="-5" dirty="0">
                <a:latin typeface="Tahoma"/>
                <a:cs typeface="Tahoma"/>
              </a:rPr>
              <a:t>This signals that the transaction has  </a:t>
            </a:r>
            <a:r>
              <a:rPr sz="2100" i="1" spc="-60" dirty="0">
                <a:latin typeface="Tahoma"/>
                <a:cs typeface="Tahoma"/>
              </a:rPr>
              <a:t>ended </a:t>
            </a:r>
            <a:r>
              <a:rPr sz="2100" i="1" spc="-50" dirty="0">
                <a:latin typeface="Tahoma"/>
                <a:cs typeface="Tahoma"/>
              </a:rPr>
              <a:t>unsuccessfully, </a:t>
            </a:r>
            <a:r>
              <a:rPr sz="2000" spc="-5" dirty="0">
                <a:latin typeface="Tahoma"/>
                <a:cs typeface="Tahoma"/>
              </a:rPr>
              <a:t>so that any changes or effects that the  transaction may have applied to the database must be</a:t>
            </a:r>
            <a:r>
              <a:rPr sz="2000" spc="145" dirty="0">
                <a:latin typeface="Tahoma"/>
                <a:cs typeface="Tahoma"/>
              </a:rPr>
              <a:t> </a:t>
            </a:r>
            <a:r>
              <a:rPr sz="2100" i="1" spc="-60" dirty="0">
                <a:latin typeface="Tahoma"/>
                <a:cs typeface="Tahoma"/>
              </a:rPr>
              <a:t>undone.</a:t>
            </a:r>
            <a:endParaRPr sz="2100">
              <a:latin typeface="Tahoma"/>
              <a:cs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2675" y="864869"/>
            <a:ext cx="6381115" cy="452755"/>
          </a:xfrm>
          <a:prstGeom prst="rect">
            <a:avLst/>
          </a:prstGeom>
        </p:spPr>
        <p:txBody>
          <a:bodyPr vert="horz" wrap="square" lIns="0" tIns="12700" rIns="0" bIns="0" rtlCol="0">
            <a:spAutoFit/>
          </a:bodyPr>
          <a:lstStyle/>
          <a:p>
            <a:pPr marL="12700">
              <a:lnSpc>
                <a:spcPct val="100000"/>
              </a:lnSpc>
              <a:spcBef>
                <a:spcPts val="100"/>
              </a:spcBef>
            </a:pPr>
            <a:r>
              <a:rPr dirty="0"/>
              <a:t>… - Transaction and System Concepts</a:t>
            </a:r>
            <a:r>
              <a:rPr spc="-60" dirty="0"/>
              <a:t> </a:t>
            </a:r>
            <a:r>
              <a:rPr dirty="0"/>
              <a:t>…</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14</a:t>
            </a:fld>
            <a:endParaRPr dirty="0"/>
          </a:p>
        </p:txBody>
      </p:sp>
      <p:sp>
        <p:nvSpPr>
          <p:cNvPr id="3" name="object 3"/>
          <p:cNvSpPr txBox="1"/>
          <p:nvPr/>
        </p:nvSpPr>
        <p:spPr>
          <a:xfrm>
            <a:off x="752741" y="1993392"/>
            <a:ext cx="7982584" cy="2209800"/>
          </a:xfrm>
          <a:prstGeom prst="rect">
            <a:avLst/>
          </a:prstGeom>
        </p:spPr>
        <p:txBody>
          <a:bodyPr vert="horz" wrap="square" lIns="0" tIns="12700" rIns="0" bIns="0" rtlCol="0">
            <a:spAutoFit/>
          </a:bodyPr>
          <a:lstStyle/>
          <a:p>
            <a:pPr marL="354965" indent="-342900">
              <a:lnSpc>
                <a:spcPct val="100000"/>
              </a:lnSpc>
              <a:spcBef>
                <a:spcPts val="100"/>
              </a:spcBef>
              <a:buClr>
                <a:srgbClr val="3333CC"/>
              </a:buClr>
              <a:buSzPct val="59090"/>
              <a:buFont typeface="Wingdings"/>
              <a:buChar char=""/>
              <a:tabLst>
                <a:tab pos="354965" algn="l"/>
                <a:tab pos="355600" algn="l"/>
              </a:tabLst>
            </a:pPr>
            <a:r>
              <a:rPr sz="2200" spc="-5" dirty="0">
                <a:latin typeface="Tahoma"/>
                <a:cs typeface="Tahoma"/>
              </a:rPr>
              <a:t>Recovery techniques use the </a:t>
            </a:r>
            <a:r>
              <a:rPr sz="2200" dirty="0">
                <a:latin typeface="Tahoma"/>
                <a:cs typeface="Tahoma"/>
              </a:rPr>
              <a:t>following</a:t>
            </a:r>
            <a:r>
              <a:rPr sz="2200" spc="10" dirty="0">
                <a:latin typeface="Tahoma"/>
                <a:cs typeface="Tahoma"/>
              </a:rPr>
              <a:t> </a:t>
            </a:r>
            <a:r>
              <a:rPr sz="2200" spc="-5" dirty="0">
                <a:latin typeface="Tahoma"/>
                <a:cs typeface="Tahoma"/>
              </a:rPr>
              <a:t>operators:</a:t>
            </a:r>
            <a:endParaRPr sz="2200">
              <a:latin typeface="Tahoma"/>
              <a:cs typeface="Tahoma"/>
            </a:endParaRPr>
          </a:p>
          <a:p>
            <a:pPr marL="755015" marR="366395" lvl="1" indent="-285750">
              <a:lnSpc>
                <a:spcPct val="100000"/>
              </a:lnSpc>
              <a:spcBef>
                <a:spcPts val="1870"/>
              </a:spcBef>
              <a:buClr>
                <a:srgbClr val="FF0000"/>
              </a:buClr>
              <a:buSzPct val="55555"/>
              <a:buFont typeface="Wingdings"/>
              <a:buChar char=""/>
              <a:tabLst>
                <a:tab pos="755015" algn="l"/>
                <a:tab pos="755650" algn="l"/>
              </a:tabLst>
            </a:pPr>
            <a:r>
              <a:rPr sz="1800" b="1" spc="-5" dirty="0">
                <a:latin typeface="Tahoma"/>
                <a:cs typeface="Tahoma"/>
              </a:rPr>
              <a:t>undo: </a:t>
            </a:r>
            <a:r>
              <a:rPr sz="1800" dirty="0">
                <a:latin typeface="Tahoma"/>
                <a:cs typeface="Tahoma"/>
              </a:rPr>
              <a:t>Similar to rollback </a:t>
            </a:r>
            <a:r>
              <a:rPr sz="1800" spc="-5" dirty="0">
                <a:latin typeface="Tahoma"/>
                <a:cs typeface="Tahoma"/>
              </a:rPr>
              <a:t>except </a:t>
            </a:r>
            <a:r>
              <a:rPr sz="1800" dirty="0">
                <a:latin typeface="Tahoma"/>
                <a:cs typeface="Tahoma"/>
              </a:rPr>
              <a:t>that it </a:t>
            </a:r>
            <a:r>
              <a:rPr sz="1800" spc="-5" dirty="0">
                <a:latin typeface="Tahoma"/>
                <a:cs typeface="Tahoma"/>
              </a:rPr>
              <a:t>applies </a:t>
            </a:r>
            <a:r>
              <a:rPr sz="1800" dirty="0">
                <a:latin typeface="Tahoma"/>
                <a:cs typeface="Tahoma"/>
              </a:rPr>
              <a:t>to a </a:t>
            </a:r>
            <a:r>
              <a:rPr sz="1800" spc="-5" dirty="0">
                <a:latin typeface="Tahoma"/>
                <a:cs typeface="Tahoma"/>
              </a:rPr>
              <a:t>single </a:t>
            </a:r>
            <a:r>
              <a:rPr sz="1800" dirty="0">
                <a:latin typeface="Tahoma"/>
                <a:cs typeface="Tahoma"/>
              </a:rPr>
              <a:t>operation  rather </a:t>
            </a:r>
            <a:r>
              <a:rPr sz="1800" spc="-5" dirty="0">
                <a:latin typeface="Tahoma"/>
                <a:cs typeface="Tahoma"/>
              </a:rPr>
              <a:t>than to </a:t>
            </a:r>
            <a:r>
              <a:rPr sz="1800" dirty="0">
                <a:latin typeface="Tahoma"/>
                <a:cs typeface="Tahoma"/>
              </a:rPr>
              <a:t>a </a:t>
            </a:r>
            <a:r>
              <a:rPr sz="1800" spc="-5" dirty="0">
                <a:latin typeface="Tahoma"/>
                <a:cs typeface="Tahoma"/>
              </a:rPr>
              <a:t>whole</a:t>
            </a:r>
            <a:r>
              <a:rPr sz="1800" dirty="0">
                <a:latin typeface="Tahoma"/>
                <a:cs typeface="Tahoma"/>
              </a:rPr>
              <a:t> </a:t>
            </a:r>
            <a:r>
              <a:rPr sz="1800" spc="-5" dirty="0">
                <a:latin typeface="Tahoma"/>
                <a:cs typeface="Tahoma"/>
              </a:rPr>
              <a:t>transaction.</a:t>
            </a:r>
            <a:endParaRPr sz="1800">
              <a:latin typeface="Tahoma"/>
              <a:cs typeface="Tahoma"/>
            </a:endParaRPr>
          </a:p>
          <a:p>
            <a:pPr marL="755015" marR="5080" lvl="1" indent="-285750">
              <a:lnSpc>
                <a:spcPct val="99700"/>
              </a:lnSpc>
              <a:spcBef>
                <a:spcPts val="1785"/>
              </a:spcBef>
              <a:buClr>
                <a:srgbClr val="FF0000"/>
              </a:buClr>
              <a:buSzPct val="55555"/>
              <a:buFont typeface="Wingdings"/>
              <a:buChar char=""/>
              <a:tabLst>
                <a:tab pos="755015" algn="l"/>
                <a:tab pos="755650" algn="l"/>
              </a:tabLst>
            </a:pPr>
            <a:r>
              <a:rPr sz="1800" b="1" spc="-5" dirty="0">
                <a:latin typeface="Tahoma"/>
                <a:cs typeface="Tahoma"/>
              </a:rPr>
              <a:t>redo: </a:t>
            </a:r>
            <a:r>
              <a:rPr sz="1800" dirty="0">
                <a:latin typeface="Tahoma"/>
                <a:cs typeface="Tahoma"/>
              </a:rPr>
              <a:t>This specifies </a:t>
            </a:r>
            <a:r>
              <a:rPr sz="1800" spc="-5" dirty="0">
                <a:latin typeface="Tahoma"/>
                <a:cs typeface="Tahoma"/>
              </a:rPr>
              <a:t>that </a:t>
            </a:r>
            <a:r>
              <a:rPr sz="1800" dirty="0">
                <a:latin typeface="Tahoma"/>
                <a:cs typeface="Tahoma"/>
              </a:rPr>
              <a:t>certain </a:t>
            </a:r>
            <a:r>
              <a:rPr sz="1900" i="1" spc="-45" dirty="0">
                <a:latin typeface="Tahoma"/>
                <a:cs typeface="Tahoma"/>
              </a:rPr>
              <a:t>transaction </a:t>
            </a:r>
            <a:r>
              <a:rPr sz="1900" i="1" spc="-50" dirty="0">
                <a:latin typeface="Tahoma"/>
                <a:cs typeface="Tahoma"/>
              </a:rPr>
              <a:t>operations </a:t>
            </a:r>
            <a:r>
              <a:rPr sz="1800" spc="-5" dirty="0">
                <a:latin typeface="Tahoma"/>
                <a:cs typeface="Tahoma"/>
              </a:rPr>
              <a:t>must be </a:t>
            </a:r>
            <a:r>
              <a:rPr sz="1900" i="1" spc="-55" dirty="0">
                <a:latin typeface="Tahoma"/>
                <a:cs typeface="Tahoma"/>
              </a:rPr>
              <a:t>redone  </a:t>
            </a:r>
            <a:r>
              <a:rPr sz="1800" spc="-5" dirty="0">
                <a:latin typeface="Tahoma"/>
                <a:cs typeface="Tahoma"/>
              </a:rPr>
              <a:t>to ensure that all the operations of </a:t>
            </a:r>
            <a:r>
              <a:rPr sz="1800" dirty="0">
                <a:latin typeface="Tahoma"/>
                <a:cs typeface="Tahoma"/>
              </a:rPr>
              <a:t>a </a:t>
            </a:r>
            <a:r>
              <a:rPr sz="1800" spc="-5" dirty="0">
                <a:latin typeface="Tahoma"/>
                <a:cs typeface="Tahoma"/>
              </a:rPr>
              <a:t>committed transaction have </a:t>
            </a:r>
            <a:r>
              <a:rPr sz="1800" spc="-10" dirty="0">
                <a:latin typeface="Tahoma"/>
                <a:cs typeface="Tahoma"/>
              </a:rPr>
              <a:t>been  </a:t>
            </a:r>
            <a:r>
              <a:rPr sz="1800" spc="-5" dirty="0">
                <a:latin typeface="Tahoma"/>
                <a:cs typeface="Tahoma"/>
              </a:rPr>
              <a:t>applied </a:t>
            </a:r>
            <a:r>
              <a:rPr sz="1800" dirty="0">
                <a:latin typeface="Tahoma"/>
                <a:cs typeface="Tahoma"/>
              </a:rPr>
              <a:t>successfully to the </a:t>
            </a:r>
            <a:r>
              <a:rPr sz="1800" spc="-5" dirty="0">
                <a:latin typeface="Tahoma"/>
                <a:cs typeface="Tahoma"/>
              </a:rPr>
              <a:t>database.</a:t>
            </a:r>
            <a:endParaRPr sz="1800">
              <a:latin typeface="Tahoma"/>
              <a:cs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2675" y="712469"/>
            <a:ext cx="6381115" cy="452755"/>
          </a:xfrm>
          <a:prstGeom prst="rect">
            <a:avLst/>
          </a:prstGeom>
        </p:spPr>
        <p:txBody>
          <a:bodyPr vert="horz" wrap="square" lIns="0" tIns="12700" rIns="0" bIns="0" rtlCol="0">
            <a:spAutoFit/>
          </a:bodyPr>
          <a:lstStyle/>
          <a:p>
            <a:pPr marL="12700">
              <a:lnSpc>
                <a:spcPct val="100000"/>
              </a:lnSpc>
              <a:spcBef>
                <a:spcPts val="100"/>
              </a:spcBef>
            </a:pPr>
            <a:r>
              <a:rPr dirty="0"/>
              <a:t>… - Transaction and System Concepts</a:t>
            </a:r>
            <a:r>
              <a:rPr spc="-60" dirty="0"/>
              <a:t> </a:t>
            </a:r>
            <a:r>
              <a:rPr dirty="0"/>
              <a:t>…</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15</a:t>
            </a:fld>
            <a:endParaRPr dirty="0"/>
          </a:p>
        </p:txBody>
      </p:sp>
      <p:sp>
        <p:nvSpPr>
          <p:cNvPr id="3" name="object 3"/>
          <p:cNvSpPr txBox="1">
            <a:spLocks noGrp="1"/>
          </p:cNvSpPr>
          <p:nvPr>
            <p:ph type="body" idx="1"/>
          </p:nvPr>
        </p:nvSpPr>
        <p:spPr>
          <a:prstGeom prst="rect">
            <a:avLst/>
          </a:prstGeom>
        </p:spPr>
        <p:txBody>
          <a:bodyPr vert="horz" wrap="square" lIns="0" tIns="266115" rIns="0" bIns="0" rtlCol="0">
            <a:spAutoFit/>
          </a:bodyPr>
          <a:lstStyle/>
          <a:p>
            <a:pPr marL="708660" indent="-342900">
              <a:lnSpc>
                <a:spcPct val="100000"/>
              </a:lnSpc>
              <a:spcBef>
                <a:spcPts val="95"/>
              </a:spcBef>
              <a:buClr>
                <a:srgbClr val="3333CC"/>
              </a:buClr>
              <a:buSzPct val="60000"/>
              <a:buFont typeface="Wingdings"/>
              <a:buChar char=""/>
              <a:tabLst>
                <a:tab pos="709295" algn="l"/>
                <a:tab pos="709930" algn="l"/>
              </a:tabLst>
            </a:pPr>
            <a:r>
              <a:rPr spc="-5" dirty="0"/>
              <a:t>The System Log</a:t>
            </a:r>
            <a:r>
              <a:rPr spc="5" dirty="0"/>
              <a:t> </a:t>
            </a:r>
            <a:r>
              <a:rPr spc="-5" dirty="0"/>
              <a:t>…</a:t>
            </a:r>
          </a:p>
          <a:p>
            <a:pPr marL="1108710" marR="5080" lvl="1" indent="-285750">
              <a:lnSpc>
                <a:spcPct val="90100"/>
              </a:lnSpc>
              <a:spcBef>
                <a:spcPts val="1785"/>
              </a:spcBef>
              <a:buClr>
                <a:srgbClr val="FF0000"/>
              </a:buClr>
              <a:buSzPct val="55000"/>
              <a:buFont typeface="Wingdings"/>
              <a:buChar char=""/>
              <a:tabLst>
                <a:tab pos="1109345" algn="l"/>
                <a:tab pos="1109980" algn="l"/>
              </a:tabLst>
            </a:pPr>
            <a:r>
              <a:rPr sz="2000" b="1" spc="-5" dirty="0">
                <a:latin typeface="Tahoma"/>
                <a:cs typeface="Tahoma"/>
              </a:rPr>
              <a:t>Log or Journal </a:t>
            </a:r>
            <a:r>
              <a:rPr sz="2000" spc="-5" dirty="0">
                <a:latin typeface="Tahoma"/>
                <a:cs typeface="Tahoma"/>
              </a:rPr>
              <a:t>: The log keeps track of all transaction  operations that affect the values of database items. This  information may be needed to permit recovery from transaction  failures. The log is kept on disk, so it is not affected by any type  of failure except for disk or catastrophic failure. In addition, the  log is periodically backed up to archival storage (tape) to guard  against such catastrophic</a:t>
            </a:r>
            <a:r>
              <a:rPr sz="2000" spc="10" dirty="0">
                <a:latin typeface="Tahoma"/>
                <a:cs typeface="Tahoma"/>
              </a:rPr>
              <a:t> </a:t>
            </a:r>
            <a:r>
              <a:rPr sz="2000" spc="-5" dirty="0">
                <a:latin typeface="Tahoma"/>
                <a:cs typeface="Tahoma"/>
              </a:rPr>
              <a:t>failures.</a:t>
            </a:r>
            <a:endParaRPr sz="2000">
              <a:latin typeface="Tahoma"/>
              <a:cs typeface="Tahoma"/>
            </a:endParaRPr>
          </a:p>
          <a:p>
            <a:pPr marL="1108710" marR="95885" lvl="1" indent="-285750">
              <a:lnSpc>
                <a:spcPct val="90100"/>
              </a:lnSpc>
              <a:spcBef>
                <a:spcPts val="1785"/>
              </a:spcBef>
              <a:buClr>
                <a:srgbClr val="FF0000"/>
              </a:buClr>
              <a:buSzPct val="55000"/>
              <a:buFont typeface="Wingdings"/>
              <a:buChar char=""/>
              <a:tabLst>
                <a:tab pos="1109345" algn="l"/>
                <a:tab pos="1109980" algn="l"/>
              </a:tabLst>
            </a:pPr>
            <a:r>
              <a:rPr sz="2000" spc="-5" dirty="0">
                <a:latin typeface="Tahoma"/>
                <a:cs typeface="Tahoma"/>
              </a:rPr>
              <a:t>T in the following discussion refers to a unique </a:t>
            </a:r>
            <a:r>
              <a:rPr sz="2000" b="1" spc="-10" dirty="0">
                <a:latin typeface="Tahoma"/>
                <a:cs typeface="Tahoma"/>
              </a:rPr>
              <a:t>transaction-id  </a:t>
            </a:r>
            <a:r>
              <a:rPr sz="2000" spc="-5" dirty="0">
                <a:latin typeface="Tahoma"/>
                <a:cs typeface="Tahoma"/>
              </a:rPr>
              <a:t>that is generated automatically by the system and is used to  identify each</a:t>
            </a:r>
            <a:r>
              <a:rPr sz="2000" spc="10" dirty="0">
                <a:latin typeface="Tahoma"/>
                <a:cs typeface="Tahoma"/>
              </a:rPr>
              <a:t> </a:t>
            </a:r>
            <a:r>
              <a:rPr sz="2000" spc="-5" dirty="0">
                <a:latin typeface="Tahoma"/>
                <a:cs typeface="Tahoma"/>
              </a:rPr>
              <a:t>transaction:</a:t>
            </a:r>
            <a:endParaRPr sz="2000">
              <a:latin typeface="Tahoma"/>
              <a:cs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2675" y="813816"/>
            <a:ext cx="6381115" cy="452755"/>
          </a:xfrm>
          <a:prstGeom prst="rect">
            <a:avLst/>
          </a:prstGeom>
        </p:spPr>
        <p:txBody>
          <a:bodyPr vert="horz" wrap="square" lIns="0" tIns="12700" rIns="0" bIns="0" rtlCol="0">
            <a:spAutoFit/>
          </a:bodyPr>
          <a:lstStyle/>
          <a:p>
            <a:pPr marL="12700">
              <a:lnSpc>
                <a:spcPct val="100000"/>
              </a:lnSpc>
              <a:spcBef>
                <a:spcPts val="100"/>
              </a:spcBef>
            </a:pPr>
            <a:r>
              <a:rPr dirty="0"/>
              <a:t>… - Transaction and System Concepts</a:t>
            </a:r>
            <a:r>
              <a:rPr spc="-60" dirty="0"/>
              <a:t> </a:t>
            </a:r>
            <a:r>
              <a:rPr dirty="0"/>
              <a:t>…</a:t>
            </a:r>
          </a:p>
        </p:txBody>
      </p:sp>
      <p:sp>
        <p:nvSpPr>
          <p:cNvPr id="5" name="object 5"/>
          <p:cNvSpPr txBox="1">
            <a:spLocks noGrp="1"/>
          </p:cNvSpPr>
          <p:nvPr>
            <p:ph type="ftr" sz="quarter" idx="5"/>
          </p:nvPr>
        </p:nvSpPr>
        <p:spPr>
          <a:prstGeom prst="rect">
            <a:avLst/>
          </a:prstGeom>
        </p:spPr>
        <p:txBody>
          <a:bodyPr vert="horz" wrap="square" lIns="0" tIns="12700" rIns="0" bIns="0" rtlCol="0">
            <a:spAutoFit/>
          </a:bodyPr>
          <a:lstStyle/>
          <a:p>
            <a:pPr marL="12700">
              <a:lnSpc>
                <a:spcPct val="100000"/>
              </a:lnSpc>
              <a:spcBef>
                <a:spcPts val="100"/>
              </a:spcBef>
            </a:pPr>
            <a:r>
              <a:rPr spc="-5" dirty="0"/>
              <a:t>ADBS:</a:t>
            </a:r>
            <a:r>
              <a:rPr spc="-65" dirty="0"/>
              <a:t> </a:t>
            </a:r>
            <a:r>
              <a:rPr spc="-5" dirty="0"/>
              <a:t>Transactions</a:t>
            </a:r>
          </a:p>
        </p:txBody>
      </p:sp>
      <p:sp>
        <p:nvSpPr>
          <p:cNvPr id="6" name="object 6"/>
          <p:cNvSpPr txBox="1">
            <a:spLocks noGrp="1"/>
          </p:cNvSpPr>
          <p:nvPr>
            <p:ph type="sldNum" sz="quarter" idx="7"/>
          </p:nvPr>
        </p:nvSpPr>
        <p:spPr>
          <a:prstGeom prst="rect">
            <a:avLst/>
          </a:prstGeom>
        </p:spPr>
        <p:txBody>
          <a:bodyPr vert="horz" wrap="square" lIns="0" tIns="12700" rIns="0" bIns="0" rtlCol="0">
            <a:spAutoFit/>
          </a:bodyPr>
          <a:lstStyle/>
          <a:p>
            <a:pPr marL="38100">
              <a:lnSpc>
                <a:spcPct val="100000"/>
              </a:lnSpc>
              <a:spcBef>
                <a:spcPts val="100"/>
              </a:spcBef>
            </a:pPr>
            <a:fld id="{81D60167-4931-47E6-BA6A-407CBD079E47}" type="slidenum">
              <a:rPr dirty="0"/>
              <a:t>16</a:t>
            </a:fld>
            <a:endParaRPr dirty="0"/>
          </a:p>
        </p:txBody>
      </p:sp>
      <p:sp>
        <p:nvSpPr>
          <p:cNvPr id="3" name="object 3"/>
          <p:cNvSpPr txBox="1"/>
          <p:nvPr/>
        </p:nvSpPr>
        <p:spPr>
          <a:xfrm>
            <a:off x="676541" y="1733550"/>
            <a:ext cx="7800975" cy="4533900"/>
          </a:xfrm>
          <a:prstGeom prst="rect">
            <a:avLst/>
          </a:prstGeom>
        </p:spPr>
        <p:txBody>
          <a:bodyPr vert="horz" wrap="square" lIns="0" tIns="12700" rIns="0" bIns="0" rtlCol="0">
            <a:spAutoFit/>
          </a:bodyPr>
          <a:lstStyle/>
          <a:p>
            <a:pPr marL="545465" indent="-533400">
              <a:lnSpc>
                <a:spcPct val="100000"/>
              </a:lnSpc>
              <a:spcBef>
                <a:spcPts val="100"/>
              </a:spcBef>
              <a:buClr>
                <a:srgbClr val="3333CC"/>
              </a:buClr>
              <a:buSzPct val="59090"/>
              <a:buFont typeface="Wingdings"/>
              <a:buChar char=""/>
              <a:tabLst>
                <a:tab pos="545465" algn="l"/>
                <a:tab pos="546100" algn="l"/>
                <a:tab pos="3377565" algn="l"/>
              </a:tabLst>
            </a:pPr>
            <a:r>
              <a:rPr sz="2200" b="1" dirty="0">
                <a:latin typeface="Tahoma"/>
                <a:cs typeface="Tahoma"/>
              </a:rPr>
              <a:t>… The</a:t>
            </a:r>
            <a:r>
              <a:rPr sz="2200" b="1" spc="10" dirty="0">
                <a:latin typeface="Tahoma"/>
                <a:cs typeface="Tahoma"/>
              </a:rPr>
              <a:t> </a:t>
            </a:r>
            <a:r>
              <a:rPr sz="2200" b="1" dirty="0">
                <a:latin typeface="Tahoma"/>
                <a:cs typeface="Tahoma"/>
              </a:rPr>
              <a:t>System</a:t>
            </a:r>
            <a:r>
              <a:rPr sz="2200" b="1" spc="10" dirty="0">
                <a:latin typeface="Tahoma"/>
                <a:cs typeface="Tahoma"/>
              </a:rPr>
              <a:t> </a:t>
            </a:r>
            <a:r>
              <a:rPr sz="2200" b="1" dirty="0">
                <a:latin typeface="Tahoma"/>
                <a:cs typeface="Tahoma"/>
              </a:rPr>
              <a:t>Log	</a:t>
            </a:r>
            <a:r>
              <a:rPr sz="2200" dirty="0">
                <a:latin typeface="Tahoma"/>
                <a:cs typeface="Tahoma"/>
              </a:rPr>
              <a:t>- </a:t>
            </a:r>
            <a:r>
              <a:rPr sz="2400" b="1" spc="-5" dirty="0">
                <a:latin typeface="Tahoma"/>
                <a:cs typeface="Tahoma"/>
              </a:rPr>
              <a:t>Types of log record:</a:t>
            </a:r>
            <a:endParaRPr sz="2400">
              <a:latin typeface="Tahoma"/>
              <a:cs typeface="Tahoma"/>
            </a:endParaRPr>
          </a:p>
          <a:p>
            <a:pPr marL="926465" marR="588010" lvl="1" indent="-457200">
              <a:lnSpc>
                <a:spcPts val="2160"/>
              </a:lnSpc>
              <a:spcBef>
                <a:spcPts val="1810"/>
              </a:spcBef>
              <a:buSzPct val="85000"/>
              <a:buAutoNum type="arabicPeriod"/>
              <a:tabLst>
                <a:tab pos="926465" algn="l"/>
                <a:tab pos="927100" algn="l"/>
              </a:tabLst>
            </a:pPr>
            <a:r>
              <a:rPr sz="2000" b="1" spc="-10" dirty="0">
                <a:solidFill>
                  <a:srgbClr val="FF0000"/>
                </a:solidFill>
                <a:latin typeface="Tahoma"/>
                <a:cs typeface="Tahoma"/>
              </a:rPr>
              <a:t>[start_transaction,T]: </a:t>
            </a:r>
            <a:r>
              <a:rPr sz="2000" spc="-5" dirty="0">
                <a:latin typeface="Tahoma"/>
                <a:cs typeface="Tahoma"/>
              </a:rPr>
              <a:t>Records that transaction T has  started execution.</a:t>
            </a:r>
            <a:endParaRPr sz="2000">
              <a:latin typeface="Tahoma"/>
              <a:cs typeface="Tahoma"/>
            </a:endParaRPr>
          </a:p>
          <a:p>
            <a:pPr marL="926465" marR="5080" lvl="1" indent="-457200">
              <a:lnSpc>
                <a:spcPct val="90100"/>
              </a:lnSpc>
              <a:spcBef>
                <a:spcPts val="1620"/>
              </a:spcBef>
              <a:buSzPct val="85000"/>
              <a:buAutoNum type="arabicPeriod"/>
              <a:tabLst>
                <a:tab pos="926465" algn="l"/>
                <a:tab pos="927100" algn="l"/>
              </a:tabLst>
            </a:pPr>
            <a:r>
              <a:rPr sz="2000" b="1" spc="-5" dirty="0">
                <a:solidFill>
                  <a:srgbClr val="FF0000"/>
                </a:solidFill>
                <a:latin typeface="Tahoma"/>
                <a:cs typeface="Tahoma"/>
              </a:rPr>
              <a:t>[write_item,T,X,old_value,new_value]: </a:t>
            </a:r>
            <a:r>
              <a:rPr sz="2000" spc="-5" dirty="0">
                <a:latin typeface="Tahoma"/>
                <a:cs typeface="Tahoma"/>
              </a:rPr>
              <a:t>Records that  transaction T has changed the value of database item X from  old_value to</a:t>
            </a:r>
            <a:r>
              <a:rPr sz="2000" spc="10" dirty="0">
                <a:latin typeface="Tahoma"/>
                <a:cs typeface="Tahoma"/>
              </a:rPr>
              <a:t> </a:t>
            </a:r>
            <a:r>
              <a:rPr sz="2000" spc="-5" dirty="0">
                <a:latin typeface="Tahoma"/>
                <a:cs typeface="Tahoma"/>
              </a:rPr>
              <a:t>new_value.</a:t>
            </a:r>
            <a:endParaRPr sz="2000">
              <a:latin typeface="Tahoma"/>
              <a:cs typeface="Tahoma"/>
            </a:endParaRPr>
          </a:p>
          <a:p>
            <a:pPr marL="926465" marR="137795" lvl="1" indent="-457200">
              <a:lnSpc>
                <a:spcPts val="2170"/>
              </a:lnSpc>
              <a:spcBef>
                <a:spcPts val="1675"/>
              </a:spcBef>
              <a:buSzPct val="85000"/>
              <a:buAutoNum type="arabicPeriod"/>
              <a:tabLst>
                <a:tab pos="926465" algn="l"/>
                <a:tab pos="927100" algn="l"/>
                <a:tab pos="6248400" algn="l"/>
              </a:tabLst>
            </a:pPr>
            <a:r>
              <a:rPr sz="2000" b="1" spc="-5" dirty="0">
                <a:solidFill>
                  <a:srgbClr val="FF0000"/>
                </a:solidFill>
                <a:latin typeface="Tahoma"/>
                <a:cs typeface="Tahoma"/>
              </a:rPr>
              <a:t>[read_item,T,X]: </a:t>
            </a:r>
            <a:r>
              <a:rPr sz="2000" spc="-5" dirty="0">
                <a:latin typeface="Tahoma"/>
                <a:cs typeface="Tahoma"/>
              </a:rPr>
              <a:t>Records that</a:t>
            </a:r>
            <a:r>
              <a:rPr sz="2000" spc="170" dirty="0">
                <a:latin typeface="Tahoma"/>
                <a:cs typeface="Tahoma"/>
              </a:rPr>
              <a:t> </a:t>
            </a:r>
            <a:r>
              <a:rPr sz="2000" spc="-5" dirty="0">
                <a:latin typeface="Tahoma"/>
                <a:cs typeface="Tahoma"/>
              </a:rPr>
              <a:t>transaction</a:t>
            </a:r>
            <a:r>
              <a:rPr sz="2000" spc="35" dirty="0">
                <a:latin typeface="Tahoma"/>
                <a:cs typeface="Tahoma"/>
              </a:rPr>
              <a:t> </a:t>
            </a:r>
            <a:r>
              <a:rPr sz="2000" spc="-5" dirty="0">
                <a:latin typeface="Tahoma"/>
                <a:cs typeface="Tahoma"/>
              </a:rPr>
              <a:t>T	has read</a:t>
            </a:r>
            <a:r>
              <a:rPr sz="2000" spc="-55" dirty="0">
                <a:latin typeface="Tahoma"/>
                <a:cs typeface="Tahoma"/>
              </a:rPr>
              <a:t> </a:t>
            </a:r>
            <a:r>
              <a:rPr sz="2000" spc="-5" dirty="0">
                <a:latin typeface="Tahoma"/>
                <a:cs typeface="Tahoma"/>
              </a:rPr>
              <a:t>the  value of database item</a:t>
            </a:r>
            <a:r>
              <a:rPr sz="2000" spc="10" dirty="0">
                <a:latin typeface="Tahoma"/>
                <a:cs typeface="Tahoma"/>
              </a:rPr>
              <a:t> </a:t>
            </a:r>
            <a:r>
              <a:rPr sz="2000" spc="-5" dirty="0">
                <a:latin typeface="Tahoma"/>
                <a:cs typeface="Tahoma"/>
              </a:rPr>
              <a:t>X.</a:t>
            </a:r>
            <a:endParaRPr sz="2000">
              <a:latin typeface="Tahoma"/>
              <a:cs typeface="Tahoma"/>
            </a:endParaRPr>
          </a:p>
          <a:p>
            <a:pPr marL="926465" marR="469265" lvl="1" indent="-457200">
              <a:lnSpc>
                <a:spcPct val="90100"/>
              </a:lnSpc>
              <a:spcBef>
                <a:spcPts val="1610"/>
              </a:spcBef>
              <a:buSzPct val="85000"/>
              <a:buAutoNum type="arabicPeriod"/>
              <a:tabLst>
                <a:tab pos="926465" algn="l"/>
                <a:tab pos="927100" algn="l"/>
              </a:tabLst>
            </a:pPr>
            <a:r>
              <a:rPr sz="2000" b="1" spc="-5" dirty="0">
                <a:solidFill>
                  <a:srgbClr val="FF0000"/>
                </a:solidFill>
                <a:latin typeface="Tahoma"/>
                <a:cs typeface="Tahoma"/>
              </a:rPr>
              <a:t>[commit,T]: </a:t>
            </a:r>
            <a:r>
              <a:rPr sz="2000" spc="-5" dirty="0">
                <a:latin typeface="Tahoma"/>
                <a:cs typeface="Tahoma"/>
              </a:rPr>
              <a:t>Records that transaction T has completed  successfully, and affirms that its effect can be committed  (recorded permanently) to the</a:t>
            </a:r>
            <a:r>
              <a:rPr sz="2000" spc="25" dirty="0">
                <a:latin typeface="Tahoma"/>
                <a:cs typeface="Tahoma"/>
              </a:rPr>
              <a:t> </a:t>
            </a:r>
            <a:r>
              <a:rPr sz="2000" spc="-5" dirty="0">
                <a:latin typeface="Tahoma"/>
                <a:cs typeface="Tahoma"/>
              </a:rPr>
              <a:t>database.</a:t>
            </a:r>
            <a:endParaRPr sz="2000">
              <a:latin typeface="Tahoma"/>
              <a:cs typeface="Tahoma"/>
            </a:endParaRPr>
          </a:p>
          <a:p>
            <a:pPr marL="926465" lvl="1" indent="-457834">
              <a:lnSpc>
                <a:spcPct val="100000"/>
              </a:lnSpc>
              <a:spcBef>
                <a:spcPts val="1864"/>
              </a:spcBef>
              <a:buSzPct val="85000"/>
              <a:buAutoNum type="arabicPeriod"/>
              <a:tabLst>
                <a:tab pos="926465" algn="l"/>
                <a:tab pos="927100" algn="l"/>
              </a:tabLst>
            </a:pPr>
            <a:r>
              <a:rPr sz="2000" b="1" spc="-5" dirty="0">
                <a:solidFill>
                  <a:srgbClr val="FF0000"/>
                </a:solidFill>
                <a:latin typeface="Tahoma"/>
                <a:cs typeface="Tahoma"/>
              </a:rPr>
              <a:t>[abort,T]: </a:t>
            </a:r>
            <a:r>
              <a:rPr sz="2000" spc="-5" dirty="0">
                <a:latin typeface="Tahoma"/>
                <a:cs typeface="Tahoma"/>
              </a:rPr>
              <a:t>Records that transaction T has been</a:t>
            </a:r>
            <a:r>
              <a:rPr sz="2000" spc="120" dirty="0">
                <a:latin typeface="Tahoma"/>
                <a:cs typeface="Tahoma"/>
              </a:rPr>
              <a:t> </a:t>
            </a:r>
            <a:r>
              <a:rPr sz="2000" spc="-5" dirty="0">
                <a:latin typeface="Tahoma"/>
                <a:cs typeface="Tahoma"/>
              </a:rPr>
              <a:t>aborted.</a:t>
            </a:r>
            <a:endParaRPr sz="2000">
              <a:latin typeface="Tahoma"/>
              <a:cs typeface="Tahom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2419095"/>
            <a:ext cx="8996680" cy="1052830"/>
            <a:chOff x="0" y="2419095"/>
            <a:chExt cx="8996680" cy="1052830"/>
          </a:xfrm>
        </p:grpSpPr>
        <p:sp>
          <p:nvSpPr>
            <p:cNvPr id="3" name="object 3"/>
            <p:cNvSpPr/>
            <p:nvPr/>
          </p:nvSpPr>
          <p:spPr>
            <a:xfrm>
              <a:off x="277761" y="2527299"/>
              <a:ext cx="438150" cy="474980"/>
            </a:xfrm>
            <a:custGeom>
              <a:avLst/>
              <a:gdLst/>
              <a:ahLst/>
              <a:cxnLst/>
              <a:rect l="l" t="t" r="r" b="b"/>
              <a:pathLst>
                <a:path w="438150" h="474980">
                  <a:moveTo>
                    <a:pt x="438150" y="0"/>
                  </a:moveTo>
                  <a:lnTo>
                    <a:pt x="0" y="0"/>
                  </a:lnTo>
                  <a:lnTo>
                    <a:pt x="0" y="422148"/>
                  </a:lnTo>
                  <a:lnTo>
                    <a:pt x="0" y="474726"/>
                  </a:lnTo>
                  <a:lnTo>
                    <a:pt x="438150" y="474726"/>
                  </a:lnTo>
                  <a:lnTo>
                    <a:pt x="438150" y="422148"/>
                  </a:lnTo>
                  <a:lnTo>
                    <a:pt x="438150" y="0"/>
                  </a:lnTo>
                  <a:close/>
                </a:path>
              </a:pathLst>
            </a:custGeom>
            <a:solidFill>
              <a:srgbClr val="3333CC"/>
            </a:solidFill>
          </p:spPr>
          <p:txBody>
            <a:bodyPr wrap="square" lIns="0" tIns="0" rIns="0" bIns="0" rtlCol="0"/>
            <a:lstStyle/>
            <a:p>
              <a:endParaRPr/>
            </a:p>
          </p:txBody>
        </p:sp>
        <p:sp>
          <p:nvSpPr>
            <p:cNvPr id="4" name="object 4"/>
            <p:cNvSpPr/>
            <p:nvPr/>
          </p:nvSpPr>
          <p:spPr>
            <a:xfrm>
              <a:off x="660285" y="2527299"/>
              <a:ext cx="329184" cy="47472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401967" y="2949447"/>
              <a:ext cx="422275" cy="474980"/>
            </a:xfrm>
            <a:custGeom>
              <a:avLst/>
              <a:gdLst/>
              <a:ahLst/>
              <a:cxnLst/>
              <a:rect l="l" t="t" r="r" b="b"/>
              <a:pathLst>
                <a:path w="422275" h="474979">
                  <a:moveTo>
                    <a:pt x="422147" y="474725"/>
                  </a:moveTo>
                  <a:lnTo>
                    <a:pt x="422147" y="0"/>
                  </a:lnTo>
                  <a:lnTo>
                    <a:pt x="0" y="0"/>
                  </a:lnTo>
                  <a:lnTo>
                    <a:pt x="0" y="474725"/>
                  </a:lnTo>
                  <a:lnTo>
                    <a:pt x="422147" y="474725"/>
                  </a:lnTo>
                  <a:close/>
                </a:path>
              </a:pathLst>
            </a:custGeom>
            <a:solidFill>
              <a:srgbClr val="FFCF01"/>
            </a:solidFill>
          </p:spPr>
          <p:txBody>
            <a:bodyPr wrap="square" lIns="0" tIns="0" rIns="0" bIns="0" rtlCol="0"/>
            <a:lstStyle/>
            <a:p>
              <a:endParaRPr/>
            </a:p>
          </p:txBody>
        </p:sp>
        <p:sp>
          <p:nvSpPr>
            <p:cNvPr id="6" name="object 6"/>
            <p:cNvSpPr/>
            <p:nvPr/>
          </p:nvSpPr>
          <p:spPr>
            <a:xfrm>
              <a:off x="0" y="2876295"/>
              <a:ext cx="8996565" cy="547877"/>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622185" y="2419095"/>
              <a:ext cx="32384" cy="1052830"/>
            </a:xfrm>
            <a:custGeom>
              <a:avLst/>
              <a:gdLst/>
              <a:ahLst/>
              <a:cxnLst/>
              <a:rect l="l" t="t" r="r" b="b"/>
              <a:pathLst>
                <a:path w="32384" h="1052829">
                  <a:moveTo>
                    <a:pt x="32003" y="1052321"/>
                  </a:moveTo>
                  <a:lnTo>
                    <a:pt x="32003" y="0"/>
                  </a:lnTo>
                  <a:lnTo>
                    <a:pt x="0" y="0"/>
                  </a:lnTo>
                  <a:lnTo>
                    <a:pt x="0" y="1052321"/>
                  </a:lnTo>
                  <a:lnTo>
                    <a:pt x="32003" y="1052321"/>
                  </a:lnTo>
                  <a:close/>
                </a:path>
              </a:pathLst>
            </a:custGeom>
            <a:solidFill>
              <a:srgbClr val="1C1C1C"/>
            </a:solidFill>
          </p:spPr>
          <p:txBody>
            <a:bodyPr wrap="square" lIns="0" tIns="0" rIns="0" bIns="0" rtlCol="0"/>
            <a:lstStyle/>
            <a:p>
              <a:endParaRPr/>
            </a:p>
          </p:txBody>
        </p:sp>
      </p:grpSp>
      <p:sp>
        <p:nvSpPr>
          <p:cNvPr id="9" name="object 9"/>
          <p:cNvSpPr txBox="1"/>
          <p:nvPr/>
        </p:nvSpPr>
        <p:spPr>
          <a:xfrm>
            <a:off x="4082770" y="6413753"/>
            <a:ext cx="1563370" cy="238760"/>
          </a:xfrm>
          <a:prstGeom prst="rect">
            <a:avLst/>
          </a:prstGeom>
        </p:spPr>
        <p:txBody>
          <a:bodyPr vert="horz" wrap="square" lIns="0" tIns="12065" rIns="0" bIns="0" rtlCol="0">
            <a:spAutoFit/>
          </a:bodyPr>
          <a:lstStyle/>
          <a:p>
            <a:pPr marL="12700">
              <a:lnSpc>
                <a:spcPct val="100000"/>
              </a:lnSpc>
              <a:spcBef>
                <a:spcPts val="95"/>
              </a:spcBef>
            </a:pPr>
            <a:r>
              <a:rPr sz="1400" spc="-5" dirty="0">
                <a:solidFill>
                  <a:srgbClr val="1B1B1B"/>
                </a:solidFill>
                <a:latin typeface="Tahoma"/>
                <a:cs typeface="Tahoma"/>
              </a:rPr>
              <a:t>ADBS:</a:t>
            </a:r>
            <a:r>
              <a:rPr sz="1400" spc="-30" dirty="0">
                <a:solidFill>
                  <a:srgbClr val="1B1B1B"/>
                </a:solidFill>
                <a:latin typeface="Tahoma"/>
                <a:cs typeface="Tahoma"/>
              </a:rPr>
              <a:t> </a:t>
            </a:r>
            <a:r>
              <a:rPr sz="1400" spc="-5" dirty="0">
                <a:solidFill>
                  <a:srgbClr val="1B1B1B"/>
                </a:solidFill>
                <a:latin typeface="Tahoma"/>
                <a:cs typeface="Tahoma"/>
              </a:rPr>
              <a:t>Transactions</a:t>
            </a:r>
            <a:endParaRPr sz="1400">
              <a:latin typeface="Tahoma"/>
              <a:cs typeface="Tahoma"/>
            </a:endParaRPr>
          </a:p>
        </p:txBody>
      </p:sp>
      <p:sp>
        <p:nvSpPr>
          <p:cNvPr id="10" name="object 10"/>
          <p:cNvSpPr txBox="1"/>
          <p:nvPr/>
        </p:nvSpPr>
        <p:spPr>
          <a:xfrm>
            <a:off x="8451981" y="6413753"/>
            <a:ext cx="219710" cy="238760"/>
          </a:xfrm>
          <a:prstGeom prst="rect">
            <a:avLst/>
          </a:prstGeom>
        </p:spPr>
        <p:txBody>
          <a:bodyPr vert="horz" wrap="square" lIns="0" tIns="12065" rIns="0" bIns="0" rtlCol="0">
            <a:spAutoFit/>
          </a:bodyPr>
          <a:lstStyle/>
          <a:p>
            <a:pPr marL="12700">
              <a:lnSpc>
                <a:spcPct val="100000"/>
              </a:lnSpc>
              <a:spcBef>
                <a:spcPts val="95"/>
              </a:spcBef>
            </a:pPr>
            <a:r>
              <a:rPr sz="1400" spc="-5" dirty="0">
                <a:solidFill>
                  <a:srgbClr val="1B1B1B"/>
                </a:solidFill>
                <a:latin typeface="Tahoma"/>
                <a:cs typeface="Tahoma"/>
              </a:rPr>
              <a:t>49</a:t>
            </a:r>
            <a:endParaRPr sz="1400">
              <a:latin typeface="Tahoma"/>
              <a:cs typeface="Tahoma"/>
            </a:endParaRPr>
          </a:p>
        </p:txBody>
      </p:sp>
      <p:sp>
        <p:nvSpPr>
          <p:cNvPr id="11" name="object 11"/>
          <p:cNvSpPr/>
          <p:nvPr/>
        </p:nvSpPr>
        <p:spPr>
          <a:xfrm>
            <a:off x="0" y="0"/>
            <a:ext cx="115449" cy="107950"/>
          </a:xfrm>
          <a:prstGeom prst="rect">
            <a:avLst/>
          </a:prstGeom>
          <a:blipFill>
            <a:blip r:embed="rId4" cstate="print"/>
            <a:stretch>
              <a:fillRect/>
            </a:stretch>
          </a:blipFill>
        </p:spPr>
        <p:txBody>
          <a:bodyPr wrap="square" lIns="0" tIns="0" rIns="0" bIns="0" rtlCol="0"/>
          <a:lstStyle/>
          <a:p>
            <a:endParaRPr/>
          </a:p>
        </p:txBody>
      </p:sp>
      <p:sp>
        <p:nvSpPr>
          <p:cNvPr id="12" name="object 12"/>
          <p:cNvSpPr txBox="1">
            <a:spLocks noGrp="1"/>
          </p:cNvSpPr>
          <p:nvPr>
            <p:ph type="title"/>
          </p:nvPr>
        </p:nvSpPr>
        <p:spPr>
          <a:xfrm>
            <a:off x="4003421" y="2221230"/>
            <a:ext cx="958215" cy="695960"/>
          </a:xfrm>
          <a:prstGeom prst="rect">
            <a:avLst/>
          </a:prstGeom>
        </p:spPr>
        <p:txBody>
          <a:bodyPr vert="horz" wrap="square" lIns="0" tIns="12065" rIns="0" bIns="0" rtlCol="0">
            <a:spAutoFit/>
          </a:bodyPr>
          <a:lstStyle/>
          <a:p>
            <a:pPr marL="12700">
              <a:lnSpc>
                <a:spcPct val="100000"/>
              </a:lnSpc>
              <a:spcBef>
                <a:spcPts val="95"/>
              </a:spcBef>
            </a:pPr>
            <a:r>
              <a:rPr sz="4400" spc="-10" dirty="0"/>
              <a:t>End</a:t>
            </a:r>
            <a:endParaRPr sz="4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TotalTime>
  <Words>1549</Words>
  <Application>Microsoft Office PowerPoint</Application>
  <PresentationFormat>Custom</PresentationFormat>
  <Paragraphs>126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Comic Sans MS</vt:lpstr>
      <vt:lpstr>Tahoma</vt:lpstr>
      <vt:lpstr>Wingdings</vt:lpstr>
      <vt:lpstr>Office Theme</vt:lpstr>
      <vt:lpstr>… - Introduction to Transaction Processing …</vt:lpstr>
      <vt:lpstr>… - Introduction to Transaction Processing …</vt:lpstr>
      <vt:lpstr>-- Read Operation</vt:lpstr>
      <vt:lpstr>-- Write Operation</vt:lpstr>
      <vt:lpstr>-- A Sample transaction</vt:lpstr>
      <vt:lpstr>- Desirable Properties of Transactions</vt:lpstr>
      <vt:lpstr>- Why recovery is needed …</vt:lpstr>
      <vt:lpstr>… - Why recovery is needed …</vt:lpstr>
      <vt:lpstr>… - Why recovery is needed …</vt:lpstr>
      <vt:lpstr>- Transaction and System Concepts …</vt:lpstr>
      <vt:lpstr>… - Transaction and System Concepts …</vt:lpstr>
      <vt:lpstr>… - Transaction and System Concepts …</vt:lpstr>
      <vt:lpstr>… - Transaction and System Concepts …</vt:lpstr>
      <vt:lpstr>… - Transaction and System Concepts …</vt:lpstr>
      <vt:lpstr>… - Transaction and System Concepts …</vt:lpstr>
      <vt:lpstr>… - Transaction and System Concepts …</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Jiawei Han</dc:creator>
  <cp:lastModifiedBy>Dr Anam Mustaqeem</cp:lastModifiedBy>
  <cp:revision>3</cp:revision>
  <dcterms:created xsi:type="dcterms:W3CDTF">2023-01-19T11:17:42Z</dcterms:created>
  <dcterms:modified xsi:type="dcterms:W3CDTF">2025-02-03T04:49:59Z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2008-03-24T00:00:00Z</vt:filetime>
  </property>
  <property fmtid="{D5CDD505-2E9C-101B-9397-08002B2CF9AE}" pid="3" name="Creator">
    <vt:lpwstr>Acrobat PDFMaker 6.0 for PowerPoint</vt:lpwstr>
  </property>
  <property fmtid="{D5CDD505-2E9C-101B-9397-08002B2CF9AE}" pid="4" name="LastSaved">
    <vt:filetime>2023-01-19T00:00:00Z</vt:filetime>
  </property>
</Properties>
</file>