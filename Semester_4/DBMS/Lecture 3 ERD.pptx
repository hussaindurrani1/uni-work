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422" r:id="rId3"/>
    <p:sldId id="259" r:id="rId4"/>
    <p:sldId id="263" r:id="rId5"/>
    <p:sldId id="262" r:id="rId6"/>
    <p:sldId id="423" r:id="rId7"/>
    <p:sldId id="430" r:id="rId8"/>
    <p:sldId id="431" r:id="rId9"/>
    <p:sldId id="266" r:id="rId10"/>
    <p:sldId id="432" r:id="rId11"/>
    <p:sldId id="433" r:id="rId12"/>
    <p:sldId id="437" r:id="rId13"/>
    <p:sldId id="438" r:id="rId14"/>
    <p:sldId id="439" r:id="rId15"/>
    <p:sldId id="265" r:id="rId16"/>
    <p:sldId id="424" r:id="rId17"/>
    <p:sldId id="425" r:id="rId18"/>
    <p:sldId id="267" r:id="rId19"/>
    <p:sldId id="435" r:id="rId20"/>
    <p:sldId id="434" r:id="rId21"/>
    <p:sldId id="441" r:id="rId22"/>
    <p:sldId id="268" r:id="rId23"/>
    <p:sldId id="442" r:id="rId24"/>
    <p:sldId id="271" r:id="rId25"/>
    <p:sldId id="272" r:id="rId26"/>
    <p:sldId id="427" r:id="rId27"/>
    <p:sldId id="274" r:id="rId28"/>
    <p:sldId id="273" r:id="rId29"/>
    <p:sldId id="426" r:id="rId30"/>
    <p:sldId id="429" r:id="rId31"/>
    <p:sldId id="44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5226" autoAdjust="0"/>
  </p:normalViewPr>
  <p:slideViewPr>
    <p:cSldViewPr snapToGrid="0">
      <p:cViewPr varScale="1">
        <p:scale>
          <a:sx n="85" d="100"/>
          <a:sy n="85" d="100"/>
        </p:scale>
        <p:origin x="36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73C013-5223-4213-AAF4-545614E3E8C3}"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360AC3-0A38-4A57-9A5F-24B3F089DF6F}" type="slidenum">
              <a:rPr lang="en-US" smtClean="0"/>
              <a:t>‹#›</a:t>
            </a:fld>
            <a:endParaRPr lang="en-US"/>
          </a:p>
        </p:txBody>
      </p:sp>
    </p:spTree>
    <p:extLst>
      <p:ext uri="{BB962C8B-B14F-4D97-AF65-F5344CB8AC3E}">
        <p14:creationId xmlns:p14="http://schemas.microsoft.com/office/powerpoint/2010/main" val="713611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616"/>
                </a:solidFill>
                <a:effectLst/>
                <a:latin typeface="IBM Plex Sans" panose="020B0604020202020204" pitchFamily="34" charset="0"/>
              </a:rPr>
              <a:t>Physical design is the time when you abbreviate the names that you chose during logical design. For example, you can abbreviate the column name that identifies employees, EMPLOYEE_NUMBER, to EMPNO.</a:t>
            </a:r>
            <a:endParaRPr lang="en-US" dirty="0"/>
          </a:p>
        </p:txBody>
      </p:sp>
      <p:sp>
        <p:nvSpPr>
          <p:cNvPr id="4" name="Slide Number Placeholder 3"/>
          <p:cNvSpPr>
            <a:spLocks noGrp="1"/>
          </p:cNvSpPr>
          <p:nvPr>
            <p:ph type="sldNum" sz="quarter" idx="5"/>
          </p:nvPr>
        </p:nvSpPr>
        <p:spPr/>
        <p:txBody>
          <a:bodyPr/>
          <a:lstStyle/>
          <a:p>
            <a:fld id="{04360AC3-0A38-4A57-9A5F-24B3F089DF6F}" type="slidenum">
              <a:rPr lang="en-US" smtClean="0"/>
              <a:t>2</a:t>
            </a:fld>
            <a:endParaRPr lang="en-US"/>
          </a:p>
        </p:txBody>
      </p:sp>
    </p:spTree>
    <p:extLst>
      <p:ext uri="{BB962C8B-B14F-4D97-AF65-F5344CB8AC3E}">
        <p14:creationId xmlns:p14="http://schemas.microsoft.com/office/powerpoint/2010/main" val="3105268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 needs to be updated after every year separately for every individual. So we keep </a:t>
            </a:r>
            <a:r>
              <a:rPr lang="en-US"/>
              <a:t>it derived. </a:t>
            </a:r>
          </a:p>
        </p:txBody>
      </p:sp>
      <p:sp>
        <p:nvSpPr>
          <p:cNvPr id="4" name="Slide Number Placeholder 3"/>
          <p:cNvSpPr>
            <a:spLocks noGrp="1"/>
          </p:cNvSpPr>
          <p:nvPr>
            <p:ph type="sldNum" sz="quarter" idx="5"/>
          </p:nvPr>
        </p:nvSpPr>
        <p:spPr/>
        <p:txBody>
          <a:bodyPr/>
          <a:lstStyle/>
          <a:p>
            <a:fld id="{04360AC3-0A38-4A57-9A5F-24B3F089DF6F}" type="slidenum">
              <a:rPr lang="en-US" smtClean="0"/>
              <a:t>15</a:t>
            </a:fld>
            <a:endParaRPr lang="en-US"/>
          </a:p>
        </p:txBody>
      </p:sp>
    </p:spTree>
    <p:extLst>
      <p:ext uri="{BB962C8B-B14F-4D97-AF65-F5344CB8AC3E}">
        <p14:creationId xmlns:p14="http://schemas.microsoft.com/office/powerpoint/2010/main" val="822841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60AC3-0A38-4A57-9A5F-24B3F089DF6F}" type="slidenum">
              <a:rPr lang="en-US" smtClean="0"/>
              <a:t>30</a:t>
            </a:fld>
            <a:endParaRPr lang="en-US"/>
          </a:p>
        </p:txBody>
      </p:sp>
    </p:spTree>
    <p:extLst>
      <p:ext uri="{BB962C8B-B14F-4D97-AF65-F5344CB8AC3E}">
        <p14:creationId xmlns:p14="http://schemas.microsoft.com/office/powerpoint/2010/main" val="3237055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cs typeface="Calibri Light"/>
              </a:rPr>
            </a:br>
            <a:br>
              <a:rPr lang="en-US" dirty="0">
                <a:cs typeface="Calibri Light"/>
              </a:rPr>
            </a:br>
            <a:r>
              <a:rPr lang="en-US" dirty="0">
                <a:cs typeface="Calibri Light"/>
              </a:rPr>
              <a:t> </a:t>
            </a:r>
            <a:br>
              <a:rPr lang="en-US" dirty="0">
                <a:cs typeface="Calibri Light"/>
              </a:rPr>
            </a:br>
            <a:r>
              <a:rPr lang="en-US" dirty="0">
                <a:cs typeface="Calibri Light"/>
              </a:rPr>
              <a:t>Lecture 3: ER Diagram</a:t>
            </a:r>
            <a:endParaRPr lang="en-US" dirty="0"/>
          </a:p>
        </p:txBody>
      </p:sp>
      <p:sp>
        <p:nvSpPr>
          <p:cNvPr id="5" name="Subtitle 4">
            <a:extLst>
              <a:ext uri="{FF2B5EF4-FFF2-40B4-BE49-F238E27FC236}">
                <a16:creationId xmlns:a16="http://schemas.microsoft.com/office/drawing/2014/main" id="{4BE25330-D3CA-4C37-9D8B-0C406D5EB016}"/>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2">
            <a:extLst>
              <a:ext uri="{FF2B5EF4-FFF2-40B4-BE49-F238E27FC236}">
                <a16:creationId xmlns:a16="http://schemas.microsoft.com/office/drawing/2014/main" id="{CDE1211D-2735-4E80-9E7A-F2184F155495}"/>
              </a:ext>
            </a:extLst>
          </p:cNvPr>
          <p:cNvSpPr>
            <a:spLocks noGrp="1" noChangeArrowheads="1"/>
          </p:cNvSpPr>
          <p:nvPr>
            <p:ph type="title"/>
          </p:nvPr>
        </p:nvSpPr>
        <p:spPr/>
        <p:txBody>
          <a:bodyPr/>
          <a:lstStyle/>
          <a:p>
            <a:r>
              <a:rPr lang="en-US" altLang="en-US"/>
              <a:t>Designing a Database</a:t>
            </a:r>
          </a:p>
        </p:txBody>
      </p:sp>
      <p:sp>
        <p:nvSpPr>
          <p:cNvPr id="7171" name="Content Placeholder 3">
            <a:extLst>
              <a:ext uri="{FF2B5EF4-FFF2-40B4-BE49-F238E27FC236}">
                <a16:creationId xmlns:a16="http://schemas.microsoft.com/office/drawing/2014/main" id="{84E5A7F5-CEEA-4DDE-8AA8-66B372DDA445}"/>
              </a:ext>
            </a:extLst>
          </p:cNvPr>
          <p:cNvSpPr>
            <a:spLocks noGrp="1" noChangeArrowheads="1"/>
          </p:cNvSpPr>
          <p:nvPr>
            <p:ph idx="1"/>
          </p:nvPr>
        </p:nvSpPr>
        <p:spPr/>
        <p:txBody>
          <a:bodyPr>
            <a:normAutofit fontScale="92500" lnSpcReduction="20000"/>
          </a:bodyPr>
          <a:lstStyle/>
          <a:p>
            <a:r>
              <a:rPr lang="en-US" altLang="en-US" dirty="0"/>
              <a:t>Requirement Gathering</a:t>
            </a:r>
          </a:p>
          <a:p>
            <a:r>
              <a:rPr lang="en-US" altLang="en-US" dirty="0"/>
              <a:t>Conceptual Design  </a:t>
            </a:r>
            <a:r>
              <a:rPr lang="en-US" altLang="en-US" dirty="0">
                <a:sym typeface="Wingdings" panose="05000000000000000000" pitchFamily="2" charset="2"/>
              </a:rPr>
              <a:t> Conceptual Model</a:t>
            </a:r>
            <a:endParaRPr lang="en-US" altLang="en-US" dirty="0"/>
          </a:p>
          <a:p>
            <a:pPr lvl="1"/>
            <a:r>
              <a:rPr lang="en-US" altLang="en-US" dirty="0"/>
              <a:t>Entity Relationship Diagram (ERD)</a:t>
            </a:r>
          </a:p>
          <a:p>
            <a:r>
              <a:rPr lang="en-US" altLang="en-US" dirty="0"/>
              <a:t>Logical Design </a:t>
            </a:r>
            <a:r>
              <a:rPr lang="en-US" altLang="en-US" dirty="0">
                <a:sym typeface="Wingdings" panose="05000000000000000000" pitchFamily="2" charset="2"/>
              </a:rPr>
              <a:t> Logical Model</a:t>
            </a:r>
            <a:endParaRPr lang="en-US" altLang="en-US" dirty="0"/>
          </a:p>
          <a:p>
            <a:pPr lvl="1"/>
            <a:r>
              <a:rPr lang="en-US" altLang="en-US" dirty="0"/>
              <a:t>Relational Schema</a:t>
            </a:r>
          </a:p>
          <a:p>
            <a:r>
              <a:rPr lang="en-US" altLang="en-US" dirty="0"/>
              <a:t>Physical Design </a:t>
            </a:r>
            <a:r>
              <a:rPr lang="en-US" altLang="en-US" dirty="0">
                <a:sym typeface="Wingdings" panose="05000000000000000000" pitchFamily="2" charset="2"/>
              </a:rPr>
              <a:t> Physical Model</a:t>
            </a:r>
            <a:endParaRPr lang="en-US" altLang="en-US" dirty="0"/>
          </a:p>
          <a:p>
            <a:pPr lvl="1"/>
            <a:r>
              <a:rPr lang="en-US" altLang="en-US" dirty="0"/>
              <a:t>Actual implementation on a DBMS</a:t>
            </a:r>
          </a:p>
          <a:p>
            <a:pPr lvl="1"/>
            <a:r>
              <a:rPr lang="en-US" altLang="en-US" dirty="0"/>
              <a:t>Indexes</a:t>
            </a:r>
          </a:p>
          <a:p>
            <a:pPr lvl="1"/>
            <a:r>
              <a:rPr lang="en-US" altLang="en-US" dirty="0"/>
              <a:t>Views</a:t>
            </a:r>
          </a:p>
          <a:p>
            <a:pPr lvl="1"/>
            <a:r>
              <a:rPr lang="en-US" altLang="en-US" dirty="0"/>
              <a:t>Normalize or de-Normalize</a:t>
            </a:r>
          </a:p>
          <a:p>
            <a:pPr lvl="1"/>
            <a:r>
              <a:rPr lang="en-US" altLang="en-US" dirty="0"/>
              <a:t>Security</a:t>
            </a:r>
          </a:p>
          <a:p>
            <a:pPr lvl="1"/>
            <a:r>
              <a:rPr lang="en-US" altLang="en-US" dirty="0"/>
              <a:t>Access rights</a:t>
            </a:r>
          </a:p>
          <a:p>
            <a:pPr lvl="1"/>
            <a:endParaRPr lang="en-US" altLang="en-US" dirty="0"/>
          </a:p>
          <a:p>
            <a:pPr marL="457200" lvl="1" indent="0">
              <a:buNone/>
            </a:pPr>
            <a:endParaRPr lang="en-US" altLang="en-US" dirty="0"/>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FC76C-6408-4834-904B-59EC31AECE53}"/>
              </a:ext>
            </a:extLst>
          </p:cNvPr>
          <p:cNvSpPr>
            <a:spLocks noGrp="1"/>
          </p:cNvSpPr>
          <p:nvPr>
            <p:ph type="title"/>
          </p:nvPr>
        </p:nvSpPr>
        <p:spPr/>
        <p:txBody>
          <a:bodyPr/>
          <a:lstStyle/>
          <a:p>
            <a:r>
              <a:rPr lang="en-US" dirty="0">
                <a:cs typeface="Calibri Light"/>
              </a:rPr>
              <a:t>Conceptual design </a:t>
            </a:r>
            <a:endParaRPr lang="en-US" dirty="0"/>
          </a:p>
        </p:txBody>
      </p:sp>
      <p:sp>
        <p:nvSpPr>
          <p:cNvPr id="3" name="Content Placeholder 2">
            <a:extLst>
              <a:ext uri="{FF2B5EF4-FFF2-40B4-BE49-F238E27FC236}">
                <a16:creationId xmlns:a16="http://schemas.microsoft.com/office/drawing/2014/main" id="{2F008EBA-E711-48BC-B06B-52C2C55F2945}"/>
              </a:ext>
            </a:extLst>
          </p:cNvPr>
          <p:cNvSpPr>
            <a:spLocks noGrp="1"/>
          </p:cNvSpPr>
          <p:nvPr>
            <p:ph idx="1"/>
          </p:nvPr>
        </p:nvSpPr>
        <p:spPr/>
        <p:txBody>
          <a:bodyPr vert="horz" lIns="91440" tIns="45720" rIns="91440" bIns="45720" rtlCol="0" anchor="t">
            <a:normAutofit/>
          </a:bodyPr>
          <a:lstStyle/>
          <a:p>
            <a:pPr marL="0" indent="0">
              <a:buNone/>
            </a:pPr>
            <a:r>
              <a:rPr lang="en-US" dirty="0">
                <a:cs typeface="Calibri"/>
              </a:rPr>
              <a:t>Pictorial Form / Flow chart </a:t>
            </a:r>
          </a:p>
          <a:p>
            <a:pPr lvl="1"/>
            <a:r>
              <a:rPr lang="en-US" dirty="0">
                <a:cs typeface="Calibri"/>
              </a:rPr>
              <a:t>Made for client </a:t>
            </a:r>
          </a:p>
          <a:p>
            <a:pPr lvl="1"/>
            <a:r>
              <a:rPr lang="en-US" dirty="0">
                <a:cs typeface="Calibri"/>
              </a:rPr>
              <a:t>Easy to understand </a:t>
            </a:r>
          </a:p>
          <a:p>
            <a:pPr lvl="1"/>
            <a:r>
              <a:rPr lang="en-US" dirty="0">
                <a:cs typeface="Calibri"/>
              </a:rPr>
              <a:t>Inexpensive to change </a:t>
            </a:r>
          </a:p>
        </p:txBody>
      </p:sp>
      <p:pic>
        <p:nvPicPr>
          <p:cNvPr id="4" name="Picture 4" descr="A close up of a logo&#10;&#10;Description generated with very high confidence">
            <a:extLst>
              <a:ext uri="{FF2B5EF4-FFF2-40B4-BE49-F238E27FC236}">
                <a16:creationId xmlns:a16="http://schemas.microsoft.com/office/drawing/2014/main" id="{10F727B5-ECE3-47AB-9C63-6A31550AFFFA}"/>
              </a:ext>
            </a:extLst>
          </p:cNvPr>
          <p:cNvPicPr>
            <a:picLocks noChangeAspect="1"/>
          </p:cNvPicPr>
          <p:nvPr/>
        </p:nvPicPr>
        <p:blipFill>
          <a:blip r:embed="rId2"/>
          <a:stretch>
            <a:fillRect/>
          </a:stretch>
        </p:blipFill>
        <p:spPr>
          <a:xfrm>
            <a:off x="7272488" y="2025908"/>
            <a:ext cx="3835020" cy="3352093"/>
          </a:xfrm>
          <a:prstGeom prst="rect">
            <a:avLst/>
          </a:prstGeom>
        </p:spPr>
      </p:pic>
    </p:spTree>
    <p:extLst>
      <p:ext uri="{BB962C8B-B14F-4D97-AF65-F5344CB8AC3E}">
        <p14:creationId xmlns:p14="http://schemas.microsoft.com/office/powerpoint/2010/main" val="2074458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41355-4BF2-4AE1-94EA-79F477EFA37B}"/>
              </a:ext>
            </a:extLst>
          </p:cNvPr>
          <p:cNvSpPr>
            <a:spLocks noGrp="1"/>
          </p:cNvSpPr>
          <p:nvPr>
            <p:ph type="title"/>
          </p:nvPr>
        </p:nvSpPr>
        <p:spPr>
          <a:xfrm>
            <a:off x="838200" y="365125"/>
            <a:ext cx="10515600" cy="4778375"/>
          </a:xfrm>
        </p:spPr>
        <p:txBody>
          <a:bodyPr/>
          <a:lstStyle/>
          <a:p>
            <a:pPr algn="ctr"/>
            <a:r>
              <a:rPr lang="en-US" dirty="0">
                <a:cs typeface="Calibri Light"/>
              </a:rPr>
              <a:t>We will start with Conceptual design </a:t>
            </a:r>
          </a:p>
        </p:txBody>
      </p:sp>
    </p:spTree>
    <p:extLst>
      <p:ext uri="{BB962C8B-B14F-4D97-AF65-F5344CB8AC3E}">
        <p14:creationId xmlns:p14="http://schemas.microsoft.com/office/powerpoint/2010/main" val="2400472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55B3E-D8AE-44D8-9212-E8CFED610899}"/>
              </a:ext>
            </a:extLst>
          </p:cNvPr>
          <p:cNvSpPr>
            <a:spLocks noGrp="1"/>
          </p:cNvSpPr>
          <p:nvPr>
            <p:ph type="title"/>
          </p:nvPr>
        </p:nvSpPr>
        <p:spPr/>
        <p:txBody>
          <a:bodyPr/>
          <a:lstStyle/>
          <a:p>
            <a:r>
              <a:rPr lang="en-US" dirty="0">
                <a:cs typeface="Calibri Light"/>
              </a:rPr>
              <a:t>ER diagram </a:t>
            </a:r>
            <a:endParaRPr lang="en-US" dirty="0"/>
          </a:p>
        </p:txBody>
      </p:sp>
      <p:sp>
        <p:nvSpPr>
          <p:cNvPr id="3" name="Content Placeholder 2">
            <a:extLst>
              <a:ext uri="{FF2B5EF4-FFF2-40B4-BE49-F238E27FC236}">
                <a16:creationId xmlns:a16="http://schemas.microsoft.com/office/drawing/2014/main" id="{CDAAC884-E9B6-45D6-9B40-637967215FFE}"/>
              </a:ext>
            </a:extLst>
          </p:cNvPr>
          <p:cNvSpPr>
            <a:spLocks noGrp="1"/>
          </p:cNvSpPr>
          <p:nvPr>
            <p:ph idx="1"/>
          </p:nvPr>
        </p:nvSpPr>
        <p:spPr/>
        <p:txBody>
          <a:bodyPr vert="horz" lIns="91440" tIns="45720" rIns="91440" bIns="45720" rtlCol="0" anchor="t">
            <a:normAutofit/>
          </a:bodyPr>
          <a:lstStyle/>
          <a:p>
            <a:r>
              <a:rPr lang="en-US" dirty="0">
                <a:ea typeface="+mn-lt"/>
                <a:cs typeface="+mn-lt"/>
              </a:rPr>
              <a:t>An entity relationship diagram (ERD) shows the relationships of </a:t>
            </a:r>
            <a:r>
              <a:rPr lang="en-US" dirty="0">
                <a:highlight>
                  <a:srgbClr val="FFFF00"/>
                </a:highlight>
                <a:ea typeface="+mn-lt"/>
                <a:cs typeface="+mn-lt"/>
              </a:rPr>
              <a:t>entity sets</a:t>
            </a:r>
            <a:r>
              <a:rPr lang="en-US" dirty="0">
                <a:ea typeface="+mn-lt"/>
                <a:cs typeface="+mn-lt"/>
              </a:rPr>
              <a:t> stored in a database. </a:t>
            </a:r>
          </a:p>
          <a:p>
            <a:endParaRPr lang="en-US" dirty="0">
              <a:ea typeface="+mn-lt"/>
              <a:cs typeface="+mn-lt"/>
            </a:endParaRPr>
          </a:p>
          <a:p>
            <a:pPr marL="0" indent="0">
              <a:buNone/>
            </a:pPr>
            <a:endParaRPr lang="en-US" dirty="0">
              <a:cs typeface="Calibri" panose="020F0502020204030204"/>
            </a:endParaRPr>
          </a:p>
          <a:p>
            <a:r>
              <a:rPr lang="en-US" dirty="0">
                <a:ea typeface="+mn-lt"/>
                <a:cs typeface="+mn-lt"/>
              </a:rPr>
              <a:t>ER diagrams are used to sketch out the design of a database.</a:t>
            </a:r>
            <a:endParaRPr lang="en-US" dirty="0"/>
          </a:p>
          <a:p>
            <a:endParaRPr lang="en-US" dirty="0">
              <a:cs typeface="Calibri"/>
            </a:endParaRPr>
          </a:p>
        </p:txBody>
      </p:sp>
    </p:spTree>
    <p:extLst>
      <p:ext uri="{BB962C8B-B14F-4D97-AF65-F5344CB8AC3E}">
        <p14:creationId xmlns:p14="http://schemas.microsoft.com/office/powerpoint/2010/main" val="1144704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25E3CF0F-941C-464D-80D0-2BAB61C8AAF6}"/>
              </a:ext>
            </a:extLst>
          </p:cNvPr>
          <p:cNvSpPr>
            <a:spLocks noGrp="1" noChangeArrowheads="1"/>
          </p:cNvSpPr>
          <p:nvPr>
            <p:ph type="title"/>
          </p:nvPr>
        </p:nvSpPr>
        <p:spPr/>
        <p:txBody>
          <a:bodyPr/>
          <a:lstStyle/>
          <a:p>
            <a:r>
              <a:rPr lang="en-US" altLang="en-US" dirty="0"/>
              <a:t>ER Concepts</a:t>
            </a:r>
          </a:p>
        </p:txBody>
      </p:sp>
      <p:sp>
        <p:nvSpPr>
          <p:cNvPr id="12291" name="Content Placeholder 2">
            <a:extLst>
              <a:ext uri="{FF2B5EF4-FFF2-40B4-BE49-F238E27FC236}">
                <a16:creationId xmlns:a16="http://schemas.microsoft.com/office/drawing/2014/main" id="{DDAE21F5-B776-4436-B94E-53587501DA28}"/>
              </a:ext>
            </a:extLst>
          </p:cNvPr>
          <p:cNvSpPr>
            <a:spLocks noGrp="1" noChangeArrowheads="1"/>
          </p:cNvSpPr>
          <p:nvPr>
            <p:ph idx="1"/>
          </p:nvPr>
        </p:nvSpPr>
        <p:spPr/>
        <p:txBody>
          <a:bodyPr/>
          <a:lstStyle/>
          <a:p>
            <a:r>
              <a:rPr lang="en-US" altLang="en-US" dirty="0"/>
              <a:t>Entity  (Nouns in the text )</a:t>
            </a:r>
          </a:p>
          <a:p>
            <a:r>
              <a:rPr lang="en-US" altLang="en-US" dirty="0"/>
              <a:t>Attributes  (Properties of the Entity)</a:t>
            </a:r>
          </a:p>
          <a:p>
            <a:r>
              <a:rPr lang="en-US" altLang="en-US" dirty="0"/>
              <a:t>Relationship (Verb, relationship between the entities)</a:t>
            </a:r>
          </a:p>
          <a:p>
            <a:endParaRPr lang="en-US" altLang="en-US" dirty="0"/>
          </a:p>
          <a:p>
            <a:endParaRPr lang="en-US" altLang="en-US" dirty="0"/>
          </a:p>
          <a:p>
            <a:r>
              <a:rPr lang="en-US" altLang="en-US" dirty="0"/>
              <a:t>Example: </a:t>
            </a:r>
          </a:p>
          <a:p>
            <a:endParaRPr lang="en-US" altLang="en-US" dirty="0"/>
          </a:p>
          <a:p>
            <a:r>
              <a:rPr lang="en-US" altLang="en-US" dirty="0"/>
              <a:t>A student ‘Ali’ with id ‘1100’ takes a course of ‘Database Systems’. </a:t>
            </a:r>
          </a:p>
          <a:p>
            <a:pPr marL="0" indent="0">
              <a:buNone/>
            </a:pPr>
            <a:endParaRPr lang="en-US" altLang="en-US" dirty="0"/>
          </a:p>
          <a:p>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1811D-5A0C-415D-BBD1-2D6313A93C5D}"/>
              </a:ext>
            </a:extLst>
          </p:cNvPr>
          <p:cNvSpPr>
            <a:spLocks noGrp="1"/>
          </p:cNvSpPr>
          <p:nvPr>
            <p:ph type="title"/>
          </p:nvPr>
        </p:nvSpPr>
        <p:spPr/>
        <p:txBody>
          <a:bodyPr/>
          <a:lstStyle/>
          <a:p>
            <a:r>
              <a:rPr lang="en-US" dirty="0"/>
              <a:t>Entity representation in ER Diagram</a:t>
            </a:r>
            <a:br>
              <a:rPr lang="en-US" dirty="0"/>
            </a:br>
            <a:r>
              <a:rPr lang="en-US" dirty="0"/>
              <a:t>(Rectangle)</a:t>
            </a:r>
          </a:p>
        </p:txBody>
      </p:sp>
      <p:sp>
        <p:nvSpPr>
          <p:cNvPr id="4" name="Content Placeholder 3">
            <a:extLst>
              <a:ext uri="{FF2B5EF4-FFF2-40B4-BE49-F238E27FC236}">
                <a16:creationId xmlns:a16="http://schemas.microsoft.com/office/drawing/2014/main" id="{1941198F-8D49-414D-A1D1-C7FFB2B46521}"/>
              </a:ext>
            </a:extLst>
          </p:cNvPr>
          <p:cNvSpPr>
            <a:spLocks noGrp="1"/>
          </p:cNvSpPr>
          <p:nvPr>
            <p:ph idx="1"/>
          </p:nvPr>
        </p:nvSpPr>
        <p:spPr>
          <a:xfrm>
            <a:off x="8297332" y="2926292"/>
            <a:ext cx="3208867" cy="1325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indent="0" algn="ctr">
              <a:buNone/>
            </a:pPr>
            <a:r>
              <a:rPr lang="en-US" dirty="0">
                <a:cs typeface="Calibri"/>
              </a:rPr>
              <a:t>Course </a:t>
            </a:r>
            <a:endParaRPr lang="en-US" dirty="0"/>
          </a:p>
        </p:txBody>
      </p:sp>
      <p:sp>
        <p:nvSpPr>
          <p:cNvPr id="5" name="Content Placeholder 3">
            <a:extLst>
              <a:ext uri="{FF2B5EF4-FFF2-40B4-BE49-F238E27FC236}">
                <a16:creationId xmlns:a16="http://schemas.microsoft.com/office/drawing/2014/main" id="{422840A7-5CE4-4459-AA3F-3ED74A0F92CF}"/>
              </a:ext>
            </a:extLst>
          </p:cNvPr>
          <p:cNvSpPr txBox="1">
            <a:spLocks/>
          </p:cNvSpPr>
          <p:nvPr/>
        </p:nvSpPr>
        <p:spPr>
          <a:xfrm>
            <a:off x="685801" y="2926292"/>
            <a:ext cx="3208867" cy="13255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dirty="0">
                <a:cs typeface="Calibri"/>
              </a:rPr>
              <a:t>Student </a:t>
            </a:r>
            <a:endParaRPr lang="en-US" dirty="0"/>
          </a:p>
        </p:txBody>
      </p:sp>
    </p:spTree>
    <p:extLst>
      <p:ext uri="{BB962C8B-B14F-4D97-AF65-F5344CB8AC3E}">
        <p14:creationId xmlns:p14="http://schemas.microsoft.com/office/powerpoint/2010/main" val="4272368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80D13-B84A-4DE7-8DB4-C142CB276AE4}"/>
              </a:ext>
            </a:extLst>
          </p:cNvPr>
          <p:cNvSpPr>
            <a:spLocks noGrp="1"/>
          </p:cNvSpPr>
          <p:nvPr>
            <p:ph type="title"/>
          </p:nvPr>
        </p:nvSpPr>
        <p:spPr/>
        <p:txBody>
          <a:bodyPr/>
          <a:lstStyle/>
          <a:p>
            <a:r>
              <a:rPr lang="en-US" dirty="0"/>
              <a:t>Strong Entity vs Weak Entity </a:t>
            </a:r>
          </a:p>
        </p:txBody>
      </p:sp>
      <p:sp>
        <p:nvSpPr>
          <p:cNvPr id="3" name="Content Placeholder 2">
            <a:extLst>
              <a:ext uri="{FF2B5EF4-FFF2-40B4-BE49-F238E27FC236}">
                <a16:creationId xmlns:a16="http://schemas.microsoft.com/office/drawing/2014/main" id="{A57B0099-734C-4808-9D82-5DE97421A059}"/>
              </a:ext>
            </a:extLst>
          </p:cNvPr>
          <p:cNvSpPr>
            <a:spLocks noGrp="1"/>
          </p:cNvSpPr>
          <p:nvPr>
            <p:ph idx="1"/>
          </p:nvPr>
        </p:nvSpPr>
        <p:spPr/>
        <p:txBody>
          <a:bodyPr/>
          <a:lstStyle/>
          <a:p>
            <a:r>
              <a:rPr lang="en-US" dirty="0">
                <a:solidFill>
                  <a:srgbClr val="111111"/>
                </a:solidFill>
                <a:latin typeface="Helvetica Neue"/>
              </a:rPr>
              <a:t>An entity is strong if it can independently exist</a:t>
            </a:r>
            <a:endParaRPr lang="en-US" b="0" i="0" dirty="0">
              <a:solidFill>
                <a:srgbClr val="111111"/>
              </a:solidFill>
              <a:effectLst/>
              <a:latin typeface="Helvetica Neue"/>
            </a:endParaRPr>
          </a:p>
          <a:p>
            <a:pPr marL="0" indent="0" algn="l">
              <a:buNone/>
            </a:pPr>
            <a:endParaRPr lang="en-US" b="0" i="0" dirty="0">
              <a:solidFill>
                <a:srgbClr val="111111"/>
              </a:solidFill>
              <a:effectLst/>
              <a:latin typeface="Helvetica Neue"/>
            </a:endParaRPr>
          </a:p>
          <a:p>
            <a:pPr marL="0" indent="0" algn="l">
              <a:buNone/>
            </a:pPr>
            <a:endParaRPr lang="en-US" b="0" i="0" dirty="0">
              <a:solidFill>
                <a:srgbClr val="111111"/>
              </a:solidFill>
              <a:effectLst/>
              <a:latin typeface="Helvetica Neue"/>
            </a:endParaRPr>
          </a:p>
          <a:p>
            <a:pPr algn="l"/>
            <a:r>
              <a:rPr lang="en-US" b="0" i="0" dirty="0">
                <a:solidFill>
                  <a:srgbClr val="111111"/>
                </a:solidFill>
                <a:effectLst/>
                <a:latin typeface="Helvetica Neue"/>
              </a:rPr>
              <a:t>An entity is weak when its existence depends on another entity. </a:t>
            </a:r>
          </a:p>
          <a:p>
            <a:pPr marL="0" indent="0">
              <a:buNone/>
            </a:pPr>
            <a:endParaRPr lang="en-US" dirty="0"/>
          </a:p>
        </p:txBody>
      </p:sp>
    </p:spTree>
    <p:extLst>
      <p:ext uri="{BB962C8B-B14F-4D97-AF65-F5344CB8AC3E}">
        <p14:creationId xmlns:p14="http://schemas.microsoft.com/office/powerpoint/2010/main" val="2818173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73F7-B13A-4521-9E90-EAFB8983EFD9}"/>
              </a:ext>
            </a:extLst>
          </p:cNvPr>
          <p:cNvSpPr>
            <a:spLocks noGrp="1"/>
          </p:cNvSpPr>
          <p:nvPr>
            <p:ph type="title"/>
          </p:nvPr>
        </p:nvSpPr>
        <p:spPr/>
        <p:txBody>
          <a:bodyPr/>
          <a:lstStyle/>
          <a:p>
            <a:r>
              <a:rPr lang="en-US" dirty="0">
                <a:cs typeface="Calibri Light"/>
              </a:rPr>
              <a:t>Example of weak entity </a:t>
            </a:r>
            <a:endParaRPr lang="en-US" dirty="0"/>
          </a:p>
        </p:txBody>
      </p:sp>
      <p:sp>
        <p:nvSpPr>
          <p:cNvPr id="5" name="Content Placeholder 4">
            <a:extLst>
              <a:ext uri="{FF2B5EF4-FFF2-40B4-BE49-F238E27FC236}">
                <a16:creationId xmlns:a16="http://schemas.microsoft.com/office/drawing/2014/main" id="{50D51DDE-805A-4F3B-9A9C-73B2BC61A519}"/>
              </a:ext>
            </a:extLst>
          </p:cNvPr>
          <p:cNvSpPr>
            <a:spLocks noGrp="1"/>
          </p:cNvSpPr>
          <p:nvPr>
            <p:ph idx="1"/>
          </p:nvPr>
        </p:nvSpPr>
        <p:spPr/>
        <p:txBody>
          <a:bodyPr/>
          <a:lstStyle/>
          <a:p>
            <a:r>
              <a:rPr lang="en-US" dirty="0"/>
              <a:t>Child can't exist without parent </a:t>
            </a:r>
          </a:p>
          <a:p>
            <a:r>
              <a:rPr lang="en-US" dirty="0"/>
              <a:t>Section can't exist without class</a:t>
            </a:r>
          </a:p>
          <a:p>
            <a:r>
              <a:rPr lang="en-US" dirty="0"/>
              <a:t>Account can't exist without bank </a:t>
            </a:r>
          </a:p>
          <a:p>
            <a:endParaRPr lang="en-US" dirty="0"/>
          </a:p>
          <a:p>
            <a:r>
              <a:rPr lang="en-US" dirty="0"/>
              <a:t>Representation </a:t>
            </a:r>
          </a:p>
          <a:p>
            <a:endParaRPr lang="en-US" dirty="0"/>
          </a:p>
          <a:p>
            <a:endParaRPr lang="en-US" dirty="0"/>
          </a:p>
          <a:p>
            <a:endParaRPr lang="en-US" dirty="0"/>
          </a:p>
          <a:p>
            <a:endParaRPr lang="en-US" dirty="0"/>
          </a:p>
        </p:txBody>
      </p:sp>
      <p:sp>
        <p:nvSpPr>
          <p:cNvPr id="4" name="Rectangle 3">
            <a:extLst>
              <a:ext uri="{FF2B5EF4-FFF2-40B4-BE49-F238E27FC236}">
                <a16:creationId xmlns:a16="http://schemas.microsoft.com/office/drawing/2014/main" id="{E2D0F959-9DE9-4C77-AF70-11E317D05444}"/>
              </a:ext>
            </a:extLst>
          </p:cNvPr>
          <p:cNvSpPr/>
          <p:nvPr/>
        </p:nvSpPr>
        <p:spPr>
          <a:xfrm>
            <a:off x="3255577" y="4708431"/>
            <a:ext cx="2061490" cy="9134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908A5EBB-DF0B-42E2-B819-2878A3E65962}"/>
              </a:ext>
            </a:extLst>
          </p:cNvPr>
          <p:cNvSpPr/>
          <p:nvPr/>
        </p:nvSpPr>
        <p:spPr>
          <a:xfrm>
            <a:off x="3410180" y="4818606"/>
            <a:ext cx="1779223" cy="7111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cs typeface="Calibri"/>
              </a:rPr>
              <a:t>Section</a:t>
            </a:r>
            <a:endParaRPr lang="en-US" dirty="0"/>
          </a:p>
        </p:txBody>
      </p:sp>
    </p:spTree>
    <p:extLst>
      <p:ext uri="{BB962C8B-B14F-4D97-AF65-F5344CB8AC3E}">
        <p14:creationId xmlns:p14="http://schemas.microsoft.com/office/powerpoint/2010/main" val="2736488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6F566-8ABC-4B85-97BA-B07F769426F3}"/>
              </a:ext>
            </a:extLst>
          </p:cNvPr>
          <p:cNvSpPr>
            <a:spLocks noGrp="1"/>
          </p:cNvSpPr>
          <p:nvPr>
            <p:ph type="title"/>
          </p:nvPr>
        </p:nvSpPr>
        <p:spPr/>
        <p:txBody>
          <a:bodyPr/>
          <a:lstStyle/>
          <a:p>
            <a:r>
              <a:rPr lang="en-US" dirty="0"/>
              <a:t>Attributes representation in ERD</a:t>
            </a:r>
            <a:br>
              <a:rPr lang="en-US" dirty="0"/>
            </a:br>
            <a:r>
              <a:rPr lang="en-US" dirty="0"/>
              <a:t>(Oval)</a:t>
            </a:r>
          </a:p>
        </p:txBody>
      </p:sp>
      <p:sp>
        <p:nvSpPr>
          <p:cNvPr id="3" name="Content Placeholder 2">
            <a:extLst>
              <a:ext uri="{FF2B5EF4-FFF2-40B4-BE49-F238E27FC236}">
                <a16:creationId xmlns:a16="http://schemas.microsoft.com/office/drawing/2014/main" id="{82773A84-A511-4F7F-BDCB-AB7C658A969F}"/>
              </a:ext>
            </a:extLst>
          </p:cNvPr>
          <p:cNvSpPr>
            <a:spLocks noGrp="1"/>
          </p:cNvSpPr>
          <p:nvPr>
            <p:ph idx="1"/>
          </p:nvPr>
        </p:nvSpPr>
        <p:spPr/>
        <p:txBody>
          <a:bodyPr/>
          <a:lstStyle/>
          <a:p>
            <a:r>
              <a:rPr lang="en-US" dirty="0">
                <a:cs typeface="Calibri"/>
              </a:rPr>
              <a:t>Properties of an entity</a:t>
            </a:r>
          </a:p>
          <a:p>
            <a:endParaRPr lang="en-US" dirty="0">
              <a:cs typeface="Calibri"/>
            </a:endParaRPr>
          </a:p>
          <a:p>
            <a:endParaRPr lang="en-US" dirty="0"/>
          </a:p>
        </p:txBody>
      </p:sp>
      <p:sp>
        <p:nvSpPr>
          <p:cNvPr id="4" name="Oval 3">
            <a:extLst>
              <a:ext uri="{FF2B5EF4-FFF2-40B4-BE49-F238E27FC236}">
                <a16:creationId xmlns:a16="http://schemas.microsoft.com/office/drawing/2014/main" id="{4CA2DF2D-C894-4FC8-968A-2EE2BEC08919}"/>
              </a:ext>
            </a:extLst>
          </p:cNvPr>
          <p:cNvSpPr/>
          <p:nvPr/>
        </p:nvSpPr>
        <p:spPr>
          <a:xfrm>
            <a:off x="6485466" y="2040467"/>
            <a:ext cx="3064933" cy="885825"/>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dirty="0"/>
              <a:t>id</a:t>
            </a:r>
            <a:r>
              <a:rPr lang="en-US" dirty="0"/>
              <a:t> </a:t>
            </a:r>
          </a:p>
        </p:txBody>
      </p:sp>
      <p:sp>
        <p:nvSpPr>
          <p:cNvPr id="5" name="Content Placeholder 3">
            <a:extLst>
              <a:ext uri="{FF2B5EF4-FFF2-40B4-BE49-F238E27FC236}">
                <a16:creationId xmlns:a16="http://schemas.microsoft.com/office/drawing/2014/main" id="{FC92F368-3D8E-49D4-A13F-BDB0B8D3C54B}"/>
              </a:ext>
            </a:extLst>
          </p:cNvPr>
          <p:cNvSpPr txBox="1">
            <a:spLocks/>
          </p:cNvSpPr>
          <p:nvPr/>
        </p:nvSpPr>
        <p:spPr>
          <a:xfrm>
            <a:off x="685801" y="2926292"/>
            <a:ext cx="3208867" cy="13255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dirty="0">
                <a:cs typeface="Calibri"/>
              </a:rPr>
              <a:t>Student </a:t>
            </a:r>
            <a:endParaRPr lang="en-US" dirty="0"/>
          </a:p>
        </p:txBody>
      </p:sp>
      <p:cxnSp>
        <p:nvCxnSpPr>
          <p:cNvPr id="7" name="Straight Connector 6">
            <a:extLst>
              <a:ext uri="{FF2B5EF4-FFF2-40B4-BE49-F238E27FC236}">
                <a16:creationId xmlns:a16="http://schemas.microsoft.com/office/drawing/2014/main" id="{AA4573B8-2499-4064-8DA0-3EE4E07DB5B8}"/>
              </a:ext>
            </a:extLst>
          </p:cNvPr>
          <p:cNvCxnSpPr>
            <a:endCxn id="4" idx="2"/>
          </p:cNvCxnSpPr>
          <p:nvPr/>
        </p:nvCxnSpPr>
        <p:spPr>
          <a:xfrm flipV="1">
            <a:off x="3894668" y="2483380"/>
            <a:ext cx="2590798" cy="945620"/>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55C2A995-A2A5-4B6D-A32E-73EDA422CF90}"/>
              </a:ext>
            </a:extLst>
          </p:cNvPr>
          <p:cNvSpPr/>
          <p:nvPr/>
        </p:nvSpPr>
        <p:spPr>
          <a:xfrm>
            <a:off x="6603999" y="3808942"/>
            <a:ext cx="3064933" cy="885825"/>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dirty="0"/>
              <a:t>name</a:t>
            </a:r>
            <a:r>
              <a:rPr lang="en-US" dirty="0"/>
              <a:t> </a:t>
            </a:r>
          </a:p>
        </p:txBody>
      </p:sp>
      <p:cxnSp>
        <p:nvCxnSpPr>
          <p:cNvPr id="9" name="Straight Connector 8">
            <a:extLst>
              <a:ext uri="{FF2B5EF4-FFF2-40B4-BE49-F238E27FC236}">
                <a16:creationId xmlns:a16="http://schemas.microsoft.com/office/drawing/2014/main" id="{09F2FC23-1B31-4925-9145-34F916558E91}"/>
              </a:ext>
            </a:extLst>
          </p:cNvPr>
          <p:cNvCxnSpPr>
            <a:cxnSpLocks/>
            <a:endCxn id="8" idx="2"/>
          </p:cNvCxnSpPr>
          <p:nvPr/>
        </p:nvCxnSpPr>
        <p:spPr>
          <a:xfrm>
            <a:off x="3881971" y="4218518"/>
            <a:ext cx="2722028" cy="333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276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E35E9-E849-4434-A63A-C35E227EFA3B}"/>
              </a:ext>
            </a:extLst>
          </p:cNvPr>
          <p:cNvSpPr>
            <a:spLocks noGrp="1"/>
          </p:cNvSpPr>
          <p:nvPr>
            <p:ph type="title"/>
          </p:nvPr>
        </p:nvSpPr>
        <p:spPr/>
        <p:txBody>
          <a:bodyPr/>
          <a:lstStyle/>
          <a:p>
            <a:r>
              <a:rPr lang="en-US" dirty="0"/>
              <a:t>Types of an attribute</a:t>
            </a:r>
          </a:p>
        </p:txBody>
      </p:sp>
      <p:sp>
        <p:nvSpPr>
          <p:cNvPr id="3" name="Content Placeholder 2">
            <a:extLst>
              <a:ext uri="{FF2B5EF4-FFF2-40B4-BE49-F238E27FC236}">
                <a16:creationId xmlns:a16="http://schemas.microsoft.com/office/drawing/2014/main" id="{AF1CFF28-06C4-48DB-BA6B-5CB248AD7842}"/>
              </a:ext>
            </a:extLst>
          </p:cNvPr>
          <p:cNvSpPr>
            <a:spLocks noGrp="1"/>
          </p:cNvSpPr>
          <p:nvPr>
            <p:ph idx="1"/>
          </p:nvPr>
        </p:nvSpPr>
        <p:spPr/>
        <p:txBody>
          <a:bodyPr/>
          <a:lstStyle/>
          <a:p>
            <a:r>
              <a:rPr lang="en-US" dirty="0">
                <a:cs typeface="Calibri"/>
              </a:rPr>
              <a:t>Types of attributes</a:t>
            </a:r>
          </a:p>
          <a:p>
            <a:pPr lvl="1"/>
            <a:r>
              <a:rPr lang="en-US" dirty="0">
                <a:cs typeface="Calibri"/>
              </a:rPr>
              <a:t>Simple attribute</a:t>
            </a:r>
          </a:p>
          <a:p>
            <a:pPr lvl="1"/>
            <a:r>
              <a:rPr lang="en-US" dirty="0">
                <a:cs typeface="Calibri"/>
              </a:rPr>
              <a:t>Composite attribute </a:t>
            </a:r>
          </a:p>
          <a:p>
            <a:pPr lvl="1"/>
            <a:r>
              <a:rPr lang="en-US" dirty="0">
                <a:cs typeface="Calibri"/>
              </a:rPr>
              <a:t>Derived attribute</a:t>
            </a:r>
          </a:p>
          <a:p>
            <a:pPr lvl="1"/>
            <a:r>
              <a:rPr lang="en-US" dirty="0">
                <a:cs typeface="Calibri"/>
              </a:rPr>
              <a:t>Single-valued attributes</a:t>
            </a:r>
          </a:p>
          <a:p>
            <a:pPr lvl="1"/>
            <a:r>
              <a:rPr lang="en-US" dirty="0">
                <a:cs typeface="Calibri"/>
              </a:rPr>
              <a:t>Multivalued attribute </a:t>
            </a:r>
          </a:p>
          <a:p>
            <a:pPr lvl="1"/>
            <a:r>
              <a:rPr lang="en-US" dirty="0">
                <a:cs typeface="Calibri"/>
              </a:rPr>
              <a:t>Key attribute </a:t>
            </a:r>
          </a:p>
          <a:p>
            <a:pPr lvl="1"/>
            <a:endParaRPr lang="en-US" dirty="0">
              <a:cs typeface="Calibri"/>
            </a:endParaRPr>
          </a:p>
          <a:p>
            <a:endParaRPr lang="en-US" dirty="0"/>
          </a:p>
        </p:txBody>
      </p:sp>
    </p:spTree>
    <p:extLst>
      <p:ext uri="{BB962C8B-B14F-4D97-AF65-F5344CB8AC3E}">
        <p14:creationId xmlns:p14="http://schemas.microsoft.com/office/powerpoint/2010/main" val="484991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78F1-9724-7BB5-C895-361F78B3BD4B}"/>
              </a:ext>
            </a:extLst>
          </p:cNvPr>
          <p:cNvSpPr>
            <a:spLocks noGrp="1"/>
          </p:cNvSpPr>
          <p:nvPr>
            <p:ph type="title"/>
          </p:nvPr>
        </p:nvSpPr>
        <p:spPr/>
        <p:txBody>
          <a:bodyPr/>
          <a:lstStyle/>
          <a:p>
            <a:r>
              <a:rPr lang="en-US" dirty="0"/>
              <a:t>Types of Attributes</a:t>
            </a:r>
          </a:p>
        </p:txBody>
      </p:sp>
      <p:sp>
        <p:nvSpPr>
          <p:cNvPr id="3" name="Content Placeholder 2">
            <a:extLst>
              <a:ext uri="{FF2B5EF4-FFF2-40B4-BE49-F238E27FC236}">
                <a16:creationId xmlns:a16="http://schemas.microsoft.com/office/drawing/2014/main" id="{130F6097-1C1E-FCFC-854C-10325D9FCC18}"/>
              </a:ext>
            </a:extLst>
          </p:cNvPr>
          <p:cNvSpPr>
            <a:spLocks noGrp="1"/>
          </p:cNvSpPr>
          <p:nvPr>
            <p:ph idx="1"/>
          </p:nvPr>
        </p:nvSpPr>
        <p:spPr/>
        <p:txBody>
          <a:bodyPr>
            <a:normAutofit fontScale="92500" lnSpcReduction="10000"/>
          </a:bodyPr>
          <a:lstStyle/>
          <a:p>
            <a:pPr marL="0" indent="0" algn="l">
              <a:buNone/>
            </a:pPr>
            <a:r>
              <a:rPr lang="en-US" sz="2600" b="1" i="0" dirty="0">
                <a:solidFill>
                  <a:srgbClr val="000000"/>
                </a:solidFill>
                <a:effectLst/>
                <a:latin typeface="Titillium Web" panose="020B0604020202020204" pitchFamily="2" charset="0"/>
              </a:rPr>
              <a:t>Simple Attributes</a:t>
            </a:r>
            <a:endParaRPr lang="en-US" sz="2600" b="0" i="0" dirty="0">
              <a:solidFill>
                <a:srgbClr val="000000"/>
              </a:solidFill>
              <a:effectLst/>
              <a:latin typeface="Titillium Web" panose="020B0604020202020204" pitchFamily="2" charset="0"/>
            </a:endParaRPr>
          </a:p>
          <a:p>
            <a:pPr algn="l"/>
            <a:r>
              <a:rPr lang="en-US" b="0" i="0" dirty="0">
                <a:solidFill>
                  <a:srgbClr val="000000"/>
                </a:solidFill>
                <a:effectLst/>
              </a:rPr>
              <a:t>Simple Attributes are independent attributes that cannot be classified further. </a:t>
            </a:r>
          </a:p>
          <a:p>
            <a:pPr algn="l"/>
            <a:r>
              <a:rPr lang="en-US" b="0" i="0" dirty="0">
                <a:solidFill>
                  <a:srgbClr val="000000"/>
                </a:solidFill>
                <a:effectLst/>
              </a:rPr>
              <a:t>A Student is an entity that consists of attributes Roll No, Age, Class. </a:t>
            </a:r>
          </a:p>
          <a:p>
            <a:pPr algn="l"/>
            <a:r>
              <a:rPr lang="en-US" b="0" i="0" dirty="0">
                <a:solidFill>
                  <a:srgbClr val="000000"/>
                </a:solidFill>
                <a:effectLst/>
              </a:rPr>
              <a:t>Here, we cannot divide the Roll no attribute into sub-attributes. </a:t>
            </a:r>
          </a:p>
          <a:p>
            <a:pPr marL="0" indent="0" algn="l">
              <a:buNone/>
            </a:pPr>
            <a:r>
              <a:rPr lang="en-US" sz="2600" b="1" i="0" dirty="0">
                <a:solidFill>
                  <a:srgbClr val="000000"/>
                </a:solidFill>
                <a:effectLst/>
                <a:latin typeface="Titillium Web" panose="020B0604020202020204" pitchFamily="2" charset="0"/>
              </a:rPr>
              <a:t>Composite Attribute</a:t>
            </a:r>
            <a:endParaRPr lang="en-US" sz="2600" b="0" i="0" dirty="0">
              <a:solidFill>
                <a:srgbClr val="000000"/>
              </a:solidFill>
              <a:effectLst/>
              <a:latin typeface="Titillium Web" panose="020B0604020202020204" pitchFamily="2" charset="0"/>
            </a:endParaRPr>
          </a:p>
          <a:p>
            <a:pPr algn="l"/>
            <a:r>
              <a:rPr lang="en-US" dirty="0">
                <a:solidFill>
                  <a:srgbClr val="000000"/>
                </a:solidFill>
              </a:rPr>
              <a:t>We can divide it into different components. </a:t>
            </a:r>
          </a:p>
          <a:p>
            <a:pPr algn="l"/>
            <a:r>
              <a:rPr lang="en-US" dirty="0">
                <a:solidFill>
                  <a:srgbClr val="000000"/>
                </a:solidFill>
              </a:rPr>
              <a:t>We divide Composite Attribute into sub-parts that form simple attributes.</a:t>
            </a:r>
          </a:p>
          <a:p>
            <a:pPr algn="l"/>
            <a:r>
              <a:rPr lang="en-US" dirty="0">
                <a:solidFill>
                  <a:srgbClr val="000000"/>
                </a:solidFill>
              </a:rPr>
              <a:t>If Name is an attribute for Student entity. We can divide the Name attribute into first name, middle name, last name attributes. </a:t>
            </a:r>
          </a:p>
        </p:txBody>
      </p:sp>
    </p:spTree>
    <p:extLst>
      <p:ext uri="{BB962C8B-B14F-4D97-AF65-F5344CB8AC3E}">
        <p14:creationId xmlns:p14="http://schemas.microsoft.com/office/powerpoint/2010/main" val="4217571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78F1-9724-7BB5-C895-361F78B3BD4B}"/>
              </a:ext>
            </a:extLst>
          </p:cNvPr>
          <p:cNvSpPr>
            <a:spLocks noGrp="1"/>
          </p:cNvSpPr>
          <p:nvPr>
            <p:ph type="title"/>
          </p:nvPr>
        </p:nvSpPr>
        <p:spPr/>
        <p:txBody>
          <a:bodyPr/>
          <a:lstStyle/>
          <a:p>
            <a:r>
              <a:rPr lang="en-US" dirty="0"/>
              <a:t>Types of Attributes</a:t>
            </a:r>
          </a:p>
        </p:txBody>
      </p:sp>
      <p:sp>
        <p:nvSpPr>
          <p:cNvPr id="3" name="Content Placeholder 2">
            <a:extLst>
              <a:ext uri="{FF2B5EF4-FFF2-40B4-BE49-F238E27FC236}">
                <a16:creationId xmlns:a16="http://schemas.microsoft.com/office/drawing/2014/main" id="{130F6097-1C1E-FCFC-854C-10325D9FCC18}"/>
              </a:ext>
            </a:extLst>
          </p:cNvPr>
          <p:cNvSpPr>
            <a:spLocks noGrp="1"/>
          </p:cNvSpPr>
          <p:nvPr>
            <p:ph idx="1"/>
          </p:nvPr>
        </p:nvSpPr>
        <p:spPr/>
        <p:txBody>
          <a:bodyPr>
            <a:normAutofit fontScale="92500" lnSpcReduction="10000"/>
          </a:bodyPr>
          <a:lstStyle/>
          <a:p>
            <a:pPr marL="0" indent="0" algn="l">
              <a:buNone/>
            </a:pPr>
            <a:r>
              <a:rPr lang="en-US" sz="2600" b="1" i="0" dirty="0">
                <a:solidFill>
                  <a:srgbClr val="000000"/>
                </a:solidFill>
                <a:effectLst/>
                <a:latin typeface="Titillium Web" panose="020B0604020202020204" pitchFamily="2" charset="0"/>
              </a:rPr>
              <a:t>Single Valued Attributes</a:t>
            </a:r>
            <a:endParaRPr lang="en-US" sz="2600" b="0" i="0" dirty="0">
              <a:solidFill>
                <a:srgbClr val="000000"/>
              </a:solidFill>
              <a:effectLst/>
              <a:latin typeface="Titillium Web" panose="020B0604020202020204" pitchFamily="2" charset="0"/>
            </a:endParaRPr>
          </a:p>
          <a:p>
            <a:pPr algn="l"/>
            <a:r>
              <a:rPr lang="en-US" dirty="0">
                <a:solidFill>
                  <a:srgbClr val="000000"/>
                </a:solidFill>
              </a:rPr>
              <a:t>The attributes which can store only one value are known as Single Valued Attributes. These attributes cannot store more than one value.</a:t>
            </a:r>
          </a:p>
          <a:p>
            <a:pPr algn="l"/>
            <a:r>
              <a:rPr lang="en-US" dirty="0">
                <a:solidFill>
                  <a:srgbClr val="000000"/>
                </a:solidFill>
              </a:rPr>
              <a:t>The attributes of an Employee entity are Employee id, DOB, Gender. An employee has only one employee id which is unique, and it also has a single date of birth. </a:t>
            </a:r>
          </a:p>
          <a:p>
            <a:pPr marL="0" indent="0" algn="l">
              <a:buNone/>
            </a:pPr>
            <a:r>
              <a:rPr lang="en-US" sz="2600" b="1" i="0" dirty="0">
                <a:solidFill>
                  <a:srgbClr val="000000"/>
                </a:solidFill>
                <a:effectLst/>
                <a:latin typeface="Titillium Web" panose="020B0604020202020204" pitchFamily="2" charset="0"/>
              </a:rPr>
              <a:t>Multi-Valued Attributes</a:t>
            </a:r>
            <a:endParaRPr lang="en-US" sz="2600" b="0" i="0" dirty="0">
              <a:solidFill>
                <a:srgbClr val="000000"/>
              </a:solidFill>
              <a:effectLst/>
              <a:latin typeface="Titillium Web" panose="020B0604020202020204" pitchFamily="2" charset="0"/>
            </a:endParaRPr>
          </a:p>
          <a:p>
            <a:pPr algn="l"/>
            <a:r>
              <a:rPr lang="en-US" dirty="0">
                <a:solidFill>
                  <a:srgbClr val="000000"/>
                </a:solidFill>
              </a:rPr>
              <a:t>The attributes which can store more than one value.</a:t>
            </a:r>
          </a:p>
          <a:p>
            <a:pPr algn="l"/>
            <a:r>
              <a:rPr lang="en-US" dirty="0">
                <a:solidFill>
                  <a:srgbClr val="000000"/>
                </a:solidFill>
              </a:rPr>
              <a:t>An Email id and Contact No are the attributes of the Employee entity. An employee can provide more than one email id and contact no. </a:t>
            </a:r>
          </a:p>
          <a:p>
            <a:pPr algn="l"/>
            <a:r>
              <a:rPr lang="en-US" i="0" dirty="0">
                <a:solidFill>
                  <a:srgbClr val="000000"/>
                </a:solidFill>
                <a:effectLst/>
                <a:latin typeface="Nunito" pitchFamily="2" charset="0"/>
              </a:rPr>
              <a:t>Multivalued</a:t>
            </a:r>
            <a:r>
              <a:rPr lang="en-US" b="0" i="0" dirty="0">
                <a:solidFill>
                  <a:srgbClr val="000000"/>
                </a:solidFill>
                <a:effectLst/>
                <a:latin typeface="Nunito" pitchFamily="2" charset="0"/>
              </a:rPr>
              <a:t> attributes are depicted by double ellipse</a:t>
            </a:r>
            <a:endParaRPr lang="en-US" dirty="0">
              <a:solidFill>
                <a:srgbClr val="000000"/>
              </a:solidFill>
            </a:endParaRPr>
          </a:p>
        </p:txBody>
      </p:sp>
    </p:spTree>
    <p:extLst>
      <p:ext uri="{BB962C8B-B14F-4D97-AF65-F5344CB8AC3E}">
        <p14:creationId xmlns:p14="http://schemas.microsoft.com/office/powerpoint/2010/main" val="2444560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78F1-9724-7BB5-C895-361F78B3BD4B}"/>
              </a:ext>
            </a:extLst>
          </p:cNvPr>
          <p:cNvSpPr>
            <a:spLocks noGrp="1"/>
          </p:cNvSpPr>
          <p:nvPr>
            <p:ph type="title"/>
          </p:nvPr>
        </p:nvSpPr>
        <p:spPr/>
        <p:txBody>
          <a:bodyPr/>
          <a:lstStyle/>
          <a:p>
            <a:r>
              <a:rPr lang="en-US" dirty="0"/>
              <a:t>Types of Attributes</a:t>
            </a:r>
          </a:p>
        </p:txBody>
      </p:sp>
      <p:sp>
        <p:nvSpPr>
          <p:cNvPr id="3" name="Content Placeholder 2">
            <a:extLst>
              <a:ext uri="{FF2B5EF4-FFF2-40B4-BE49-F238E27FC236}">
                <a16:creationId xmlns:a16="http://schemas.microsoft.com/office/drawing/2014/main" id="{130F6097-1C1E-FCFC-854C-10325D9FCC18}"/>
              </a:ext>
            </a:extLst>
          </p:cNvPr>
          <p:cNvSpPr>
            <a:spLocks noGrp="1"/>
          </p:cNvSpPr>
          <p:nvPr>
            <p:ph idx="1"/>
          </p:nvPr>
        </p:nvSpPr>
        <p:spPr/>
        <p:txBody>
          <a:bodyPr>
            <a:normAutofit fontScale="92500" lnSpcReduction="10000"/>
          </a:bodyPr>
          <a:lstStyle/>
          <a:p>
            <a:pPr marL="0" indent="0" algn="l">
              <a:buNone/>
            </a:pPr>
            <a:r>
              <a:rPr lang="en-US" b="1" i="0" dirty="0">
                <a:solidFill>
                  <a:srgbClr val="000000"/>
                </a:solidFill>
                <a:effectLst/>
                <a:latin typeface="Titillium Web" panose="020B0604020202020204" pitchFamily="2" charset="0"/>
              </a:rPr>
              <a:t>Derived Attributes</a:t>
            </a:r>
            <a:endParaRPr lang="en-US" b="0" i="0" dirty="0">
              <a:solidFill>
                <a:srgbClr val="000000"/>
              </a:solidFill>
              <a:effectLst/>
              <a:latin typeface="Titillium Web" panose="020B0604020202020204" pitchFamily="2" charset="0"/>
            </a:endParaRPr>
          </a:p>
          <a:p>
            <a:pPr algn="l"/>
            <a:r>
              <a:rPr lang="en-US" dirty="0">
                <a:solidFill>
                  <a:srgbClr val="000000"/>
                </a:solidFill>
              </a:rPr>
              <a:t>Those attributes that are derived from the value of another attribute.</a:t>
            </a:r>
          </a:p>
          <a:p>
            <a:pPr algn="l"/>
            <a:r>
              <a:rPr lang="en-US" dirty="0">
                <a:solidFill>
                  <a:srgbClr val="000000"/>
                </a:solidFill>
              </a:rPr>
              <a:t>For example, We can calculate the age from the date of birth value. Therefore, Age attribute can be derived from the DOB attribute.</a:t>
            </a:r>
          </a:p>
          <a:p>
            <a:pPr algn="just"/>
            <a:r>
              <a:rPr lang="en-US" i="0" dirty="0">
                <a:solidFill>
                  <a:srgbClr val="000000"/>
                </a:solidFill>
                <a:effectLst/>
                <a:latin typeface="Nunito" pitchFamily="2" charset="0"/>
              </a:rPr>
              <a:t>Derived</a:t>
            </a:r>
            <a:r>
              <a:rPr lang="en-US" b="0" i="0" dirty="0">
                <a:solidFill>
                  <a:srgbClr val="000000"/>
                </a:solidFill>
                <a:effectLst/>
                <a:latin typeface="Nunito" pitchFamily="2" charset="0"/>
              </a:rPr>
              <a:t> attributes are depicted by dashed ellipse.</a:t>
            </a:r>
            <a:endParaRPr lang="en-US" dirty="0">
              <a:solidFill>
                <a:srgbClr val="000000"/>
              </a:solidFill>
            </a:endParaRPr>
          </a:p>
          <a:p>
            <a:pPr marL="0" indent="0" algn="l">
              <a:buNone/>
            </a:pPr>
            <a:r>
              <a:rPr lang="en-US" b="1" i="0" dirty="0">
                <a:solidFill>
                  <a:srgbClr val="000000"/>
                </a:solidFill>
                <a:effectLst/>
                <a:latin typeface="Titillium Web" panose="020B0604020202020204" pitchFamily="2" charset="0"/>
              </a:rPr>
              <a:t>Key Attributes</a:t>
            </a:r>
            <a:endParaRPr lang="en-US" b="0" i="0" dirty="0">
              <a:solidFill>
                <a:srgbClr val="000000"/>
              </a:solidFill>
              <a:effectLst/>
              <a:latin typeface="Titillium Web" panose="020B0604020202020204" pitchFamily="2" charset="0"/>
            </a:endParaRPr>
          </a:p>
          <a:p>
            <a:pPr algn="l"/>
            <a:r>
              <a:rPr lang="en-US" b="0" i="0" dirty="0">
                <a:solidFill>
                  <a:srgbClr val="000000"/>
                </a:solidFill>
                <a:effectLst/>
                <a:latin typeface="Titillium Web" panose="020B0604020202020204" pitchFamily="2" charset="0"/>
              </a:rPr>
              <a:t>Every entity has a special attribute that holds a unique value to identify the entity in the entity set. The value of key attributes must be unique and cannot be used again.</a:t>
            </a:r>
          </a:p>
          <a:p>
            <a:pPr algn="l"/>
            <a:r>
              <a:rPr lang="en-US" b="0" i="0" dirty="0">
                <a:solidFill>
                  <a:srgbClr val="000000"/>
                </a:solidFill>
                <a:effectLst/>
                <a:latin typeface="Titillium Web" panose="020B0604020202020204" pitchFamily="2" charset="0"/>
              </a:rPr>
              <a:t>Employee id of an employee entity, Roll No of a Student entity.</a:t>
            </a:r>
          </a:p>
        </p:txBody>
      </p:sp>
    </p:spTree>
    <p:extLst>
      <p:ext uri="{BB962C8B-B14F-4D97-AF65-F5344CB8AC3E}">
        <p14:creationId xmlns:p14="http://schemas.microsoft.com/office/powerpoint/2010/main" val="2077274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Oval 35">
            <a:extLst>
              <a:ext uri="{FF2B5EF4-FFF2-40B4-BE49-F238E27FC236}">
                <a16:creationId xmlns:a16="http://schemas.microsoft.com/office/drawing/2014/main" id="{F9EAD42C-DA97-4E6B-A48C-89494DE994FC}"/>
              </a:ext>
            </a:extLst>
          </p:cNvPr>
          <p:cNvSpPr/>
          <p:nvPr/>
        </p:nvSpPr>
        <p:spPr>
          <a:xfrm>
            <a:off x="10197153" y="4806958"/>
            <a:ext cx="1878486" cy="66959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 name="Title 1">
            <a:extLst>
              <a:ext uri="{FF2B5EF4-FFF2-40B4-BE49-F238E27FC236}">
                <a16:creationId xmlns:a16="http://schemas.microsoft.com/office/drawing/2014/main" id="{8D85E1C9-75AD-4E75-A603-6E41030E6DAD}"/>
              </a:ext>
            </a:extLst>
          </p:cNvPr>
          <p:cNvSpPr>
            <a:spLocks noGrp="1"/>
          </p:cNvSpPr>
          <p:nvPr>
            <p:ph type="title"/>
          </p:nvPr>
        </p:nvSpPr>
        <p:spPr/>
        <p:txBody>
          <a:bodyPr/>
          <a:lstStyle/>
          <a:p>
            <a:r>
              <a:rPr lang="en-US" dirty="0">
                <a:cs typeface="Calibri Light"/>
              </a:rPr>
              <a:t> Attributes </a:t>
            </a:r>
            <a:endParaRPr lang="en-US" dirty="0"/>
          </a:p>
        </p:txBody>
      </p:sp>
      <p:sp>
        <p:nvSpPr>
          <p:cNvPr id="3" name="Content Placeholder 2">
            <a:extLst>
              <a:ext uri="{FF2B5EF4-FFF2-40B4-BE49-F238E27FC236}">
                <a16:creationId xmlns:a16="http://schemas.microsoft.com/office/drawing/2014/main" id="{AD3CFB4E-AA3B-48E8-B2FF-1D674DB7FD8E}"/>
              </a:ext>
            </a:extLst>
          </p:cNvPr>
          <p:cNvSpPr>
            <a:spLocks noGrp="1"/>
          </p:cNvSpPr>
          <p:nvPr>
            <p:ph idx="1"/>
          </p:nvPr>
        </p:nvSpPr>
        <p:spPr/>
        <p:txBody>
          <a:bodyPr vert="horz" lIns="91440" tIns="45720" rIns="91440" bIns="45720" rtlCol="0" anchor="t">
            <a:normAutofit/>
          </a:bodyPr>
          <a:lstStyle/>
          <a:p>
            <a:endParaRPr lang="en-US" dirty="0">
              <a:cs typeface="Calibri"/>
            </a:endParaRPr>
          </a:p>
        </p:txBody>
      </p:sp>
      <p:sp>
        <p:nvSpPr>
          <p:cNvPr id="18" name="Oval 17">
            <a:extLst>
              <a:ext uri="{FF2B5EF4-FFF2-40B4-BE49-F238E27FC236}">
                <a16:creationId xmlns:a16="http://schemas.microsoft.com/office/drawing/2014/main" id="{69A0C2D1-B837-4B9A-8E99-AA6B6A23E4F0}"/>
              </a:ext>
            </a:extLst>
          </p:cNvPr>
          <p:cNvSpPr/>
          <p:nvPr/>
        </p:nvSpPr>
        <p:spPr>
          <a:xfrm>
            <a:off x="9458040" y="3927497"/>
            <a:ext cx="1762125" cy="45243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cs typeface="Calibri"/>
              </a:rPr>
              <a:t>CGPA</a:t>
            </a:r>
            <a:endParaRPr lang="en-US" dirty="0"/>
          </a:p>
        </p:txBody>
      </p:sp>
      <p:sp>
        <p:nvSpPr>
          <p:cNvPr id="20" name="Oval 19">
            <a:extLst>
              <a:ext uri="{FF2B5EF4-FFF2-40B4-BE49-F238E27FC236}">
                <a16:creationId xmlns:a16="http://schemas.microsoft.com/office/drawing/2014/main" id="{F7AA0807-0E1F-41A0-8B9D-0468397984C7}"/>
              </a:ext>
            </a:extLst>
          </p:cNvPr>
          <p:cNvSpPr/>
          <p:nvPr/>
        </p:nvSpPr>
        <p:spPr>
          <a:xfrm>
            <a:off x="3742685" y="5307555"/>
            <a:ext cx="1762125" cy="45243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cs typeface="Calibri"/>
              </a:rPr>
              <a:t>Roll No</a:t>
            </a:r>
            <a:endParaRPr lang="en-US" dirty="0"/>
          </a:p>
        </p:txBody>
      </p:sp>
      <p:cxnSp>
        <p:nvCxnSpPr>
          <p:cNvPr id="21" name="Straight Arrow Connector 20">
            <a:extLst>
              <a:ext uri="{FF2B5EF4-FFF2-40B4-BE49-F238E27FC236}">
                <a16:creationId xmlns:a16="http://schemas.microsoft.com/office/drawing/2014/main" id="{540C78D9-B10F-486C-8ED0-B719FF24B8B4}"/>
              </a:ext>
            </a:extLst>
          </p:cNvPr>
          <p:cNvCxnSpPr/>
          <p:nvPr/>
        </p:nvCxnSpPr>
        <p:spPr>
          <a:xfrm flipV="1">
            <a:off x="3933186" y="5593305"/>
            <a:ext cx="1369217" cy="35718"/>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A18C7CF-3890-46FD-A8C2-DA025FEC2AD6}"/>
              </a:ext>
            </a:extLst>
          </p:cNvPr>
          <p:cNvCxnSpPr/>
          <p:nvPr/>
        </p:nvCxnSpPr>
        <p:spPr>
          <a:xfrm flipH="1" flipV="1">
            <a:off x="6557356" y="3459955"/>
            <a:ext cx="563860" cy="1683757"/>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23" name="Straight Arrow Connector 22">
            <a:extLst>
              <a:ext uri="{FF2B5EF4-FFF2-40B4-BE49-F238E27FC236}">
                <a16:creationId xmlns:a16="http://schemas.microsoft.com/office/drawing/2014/main" id="{8C2DFDC8-B6CE-4A79-9158-68346E0144C2}"/>
              </a:ext>
            </a:extLst>
          </p:cNvPr>
          <p:cNvCxnSpPr>
            <a:cxnSpLocks/>
          </p:cNvCxnSpPr>
          <p:nvPr/>
        </p:nvCxnSpPr>
        <p:spPr>
          <a:xfrm flipH="1" flipV="1">
            <a:off x="5519025" y="5534309"/>
            <a:ext cx="984666" cy="216621"/>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24" name="Oval 23">
            <a:extLst>
              <a:ext uri="{FF2B5EF4-FFF2-40B4-BE49-F238E27FC236}">
                <a16:creationId xmlns:a16="http://schemas.microsoft.com/office/drawing/2014/main" id="{8D670BCF-899C-4556-ADB7-D732BABF7DB8}"/>
              </a:ext>
            </a:extLst>
          </p:cNvPr>
          <p:cNvSpPr/>
          <p:nvPr/>
        </p:nvSpPr>
        <p:spPr>
          <a:xfrm>
            <a:off x="5317330" y="2947985"/>
            <a:ext cx="1762125" cy="45243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cs typeface="Calibri"/>
              </a:rPr>
              <a:t>DOB</a:t>
            </a:r>
            <a:endParaRPr lang="en-US"/>
          </a:p>
        </p:txBody>
      </p:sp>
      <p:cxnSp>
        <p:nvCxnSpPr>
          <p:cNvPr id="25" name="Straight Arrow Connector 24">
            <a:extLst>
              <a:ext uri="{FF2B5EF4-FFF2-40B4-BE49-F238E27FC236}">
                <a16:creationId xmlns:a16="http://schemas.microsoft.com/office/drawing/2014/main" id="{EE964CF1-3F30-4962-9D26-CE58797FFD68}"/>
              </a:ext>
            </a:extLst>
          </p:cNvPr>
          <p:cNvCxnSpPr>
            <a:cxnSpLocks/>
          </p:cNvCxnSpPr>
          <p:nvPr/>
        </p:nvCxnSpPr>
        <p:spPr>
          <a:xfrm flipV="1">
            <a:off x="7848208" y="4413344"/>
            <a:ext cx="2165692" cy="72841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26" name="Oval 25">
            <a:extLst>
              <a:ext uri="{FF2B5EF4-FFF2-40B4-BE49-F238E27FC236}">
                <a16:creationId xmlns:a16="http://schemas.microsoft.com/office/drawing/2014/main" id="{BED221B5-4C34-4B58-A32B-CABD13197D47}"/>
              </a:ext>
            </a:extLst>
          </p:cNvPr>
          <p:cNvSpPr/>
          <p:nvPr/>
        </p:nvSpPr>
        <p:spPr>
          <a:xfrm>
            <a:off x="7496174" y="2793737"/>
            <a:ext cx="2271250" cy="4399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cs typeface="Calibri"/>
              </a:rPr>
              <a:t>date</a:t>
            </a:r>
            <a:endParaRPr lang="en-US"/>
          </a:p>
        </p:txBody>
      </p:sp>
      <p:cxnSp>
        <p:nvCxnSpPr>
          <p:cNvPr id="27" name="Straight Arrow Connector 26">
            <a:extLst>
              <a:ext uri="{FF2B5EF4-FFF2-40B4-BE49-F238E27FC236}">
                <a16:creationId xmlns:a16="http://schemas.microsoft.com/office/drawing/2014/main" id="{FCFA2C61-40AD-430D-9F3B-30D6C6A99819}"/>
              </a:ext>
            </a:extLst>
          </p:cNvPr>
          <p:cNvCxnSpPr>
            <a:cxnSpLocks/>
          </p:cNvCxnSpPr>
          <p:nvPr/>
        </p:nvCxnSpPr>
        <p:spPr>
          <a:xfrm flipV="1">
            <a:off x="7031831" y="3043238"/>
            <a:ext cx="464343" cy="35718"/>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28" name="Oval 27">
            <a:extLst>
              <a:ext uri="{FF2B5EF4-FFF2-40B4-BE49-F238E27FC236}">
                <a16:creationId xmlns:a16="http://schemas.microsoft.com/office/drawing/2014/main" id="{2B860E70-361F-4595-9DE4-AAA04C2CE44A}"/>
              </a:ext>
            </a:extLst>
          </p:cNvPr>
          <p:cNvSpPr/>
          <p:nvPr/>
        </p:nvSpPr>
        <p:spPr>
          <a:xfrm>
            <a:off x="7342459" y="2269328"/>
            <a:ext cx="1315907" cy="417253"/>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cs typeface="Calibri"/>
              </a:rPr>
              <a:t>Month</a:t>
            </a:r>
            <a:endParaRPr lang="en-US" dirty="0">
              <a:cs typeface="Calibri"/>
            </a:endParaRPr>
          </a:p>
        </p:txBody>
      </p:sp>
      <p:cxnSp>
        <p:nvCxnSpPr>
          <p:cNvPr id="29" name="Straight Arrow Connector 28">
            <a:extLst>
              <a:ext uri="{FF2B5EF4-FFF2-40B4-BE49-F238E27FC236}">
                <a16:creationId xmlns:a16="http://schemas.microsoft.com/office/drawing/2014/main" id="{C50A23B1-7133-4B00-8B1E-7AF0A3847402}"/>
              </a:ext>
            </a:extLst>
          </p:cNvPr>
          <p:cNvCxnSpPr>
            <a:cxnSpLocks/>
          </p:cNvCxnSpPr>
          <p:nvPr/>
        </p:nvCxnSpPr>
        <p:spPr>
          <a:xfrm flipV="1">
            <a:off x="6888956" y="2578894"/>
            <a:ext cx="583404" cy="428622"/>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043C6BFC-CA31-4F13-A71E-475C4D03AB30}"/>
              </a:ext>
            </a:extLst>
          </p:cNvPr>
          <p:cNvSpPr/>
          <p:nvPr/>
        </p:nvSpPr>
        <p:spPr>
          <a:xfrm>
            <a:off x="7603330" y="3364703"/>
            <a:ext cx="940594" cy="428626"/>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cs typeface="Calibri"/>
              </a:rPr>
              <a:t>year</a:t>
            </a:r>
            <a:endParaRPr lang="en-US"/>
          </a:p>
        </p:txBody>
      </p:sp>
      <p:cxnSp>
        <p:nvCxnSpPr>
          <p:cNvPr id="31" name="Straight Arrow Connector 30">
            <a:extLst>
              <a:ext uri="{FF2B5EF4-FFF2-40B4-BE49-F238E27FC236}">
                <a16:creationId xmlns:a16="http://schemas.microsoft.com/office/drawing/2014/main" id="{73AD83DE-F840-4B3D-8E0B-646445F83077}"/>
              </a:ext>
            </a:extLst>
          </p:cNvPr>
          <p:cNvCxnSpPr>
            <a:cxnSpLocks/>
          </p:cNvCxnSpPr>
          <p:nvPr/>
        </p:nvCxnSpPr>
        <p:spPr>
          <a:xfrm>
            <a:off x="6996113" y="3281362"/>
            <a:ext cx="654842" cy="392907"/>
          </a:xfrm>
          <a:prstGeom prst="straightConnector1">
            <a:avLst/>
          </a:prstGeom>
        </p:spPr>
        <p:style>
          <a:lnRef idx="3">
            <a:schemeClr val="accent1"/>
          </a:lnRef>
          <a:fillRef idx="0">
            <a:schemeClr val="accent1"/>
          </a:fillRef>
          <a:effectRef idx="2">
            <a:schemeClr val="accent1"/>
          </a:effectRef>
          <a:fontRef idx="minor">
            <a:schemeClr val="tx1"/>
          </a:fontRef>
        </p:style>
      </p:cxnSp>
      <p:pic>
        <p:nvPicPr>
          <p:cNvPr id="32" name="Picture 32" descr="A close up of a logo&#10;&#10;Description generated with high confidence">
            <a:extLst>
              <a:ext uri="{FF2B5EF4-FFF2-40B4-BE49-F238E27FC236}">
                <a16:creationId xmlns:a16="http://schemas.microsoft.com/office/drawing/2014/main" id="{9A94D366-37CE-4900-BD44-6B68743E8584}"/>
              </a:ext>
            </a:extLst>
          </p:cNvPr>
          <p:cNvPicPr>
            <a:picLocks noChangeAspect="1"/>
          </p:cNvPicPr>
          <p:nvPr/>
        </p:nvPicPr>
        <p:blipFill>
          <a:blip r:embed="rId3"/>
          <a:stretch>
            <a:fillRect/>
          </a:stretch>
        </p:blipFill>
        <p:spPr>
          <a:xfrm>
            <a:off x="4200525" y="3359944"/>
            <a:ext cx="1552575" cy="590550"/>
          </a:xfrm>
          <a:prstGeom prst="rect">
            <a:avLst/>
          </a:prstGeom>
        </p:spPr>
      </p:pic>
      <p:cxnSp>
        <p:nvCxnSpPr>
          <p:cNvPr id="33" name="Straight Arrow Connector 32">
            <a:extLst>
              <a:ext uri="{FF2B5EF4-FFF2-40B4-BE49-F238E27FC236}">
                <a16:creationId xmlns:a16="http://schemas.microsoft.com/office/drawing/2014/main" id="{A7BA680E-8C94-4A3E-8F02-DC315ED38656}"/>
              </a:ext>
            </a:extLst>
          </p:cNvPr>
          <p:cNvCxnSpPr>
            <a:cxnSpLocks/>
          </p:cNvCxnSpPr>
          <p:nvPr/>
        </p:nvCxnSpPr>
        <p:spPr>
          <a:xfrm flipH="1" flipV="1">
            <a:off x="4887994" y="3833494"/>
            <a:ext cx="1669540" cy="1684822"/>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6" name="TextBox 5">
            <a:extLst>
              <a:ext uri="{FF2B5EF4-FFF2-40B4-BE49-F238E27FC236}">
                <a16:creationId xmlns:a16="http://schemas.microsoft.com/office/drawing/2014/main" id="{A60CDFC7-4931-49B7-B457-68102CAA7877}"/>
              </a:ext>
            </a:extLst>
          </p:cNvPr>
          <p:cNvSpPr txBox="1"/>
          <p:nvPr/>
        </p:nvSpPr>
        <p:spPr>
          <a:xfrm>
            <a:off x="4588671" y="346525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Age</a:t>
            </a:r>
          </a:p>
        </p:txBody>
      </p:sp>
      <p:sp>
        <p:nvSpPr>
          <p:cNvPr id="7" name="Rectangle 6">
            <a:extLst>
              <a:ext uri="{FF2B5EF4-FFF2-40B4-BE49-F238E27FC236}">
                <a16:creationId xmlns:a16="http://schemas.microsoft.com/office/drawing/2014/main" id="{A99CFA39-0DB0-456B-AA35-DE74A73DBD8B}"/>
              </a:ext>
            </a:extLst>
          </p:cNvPr>
          <p:cNvSpPr/>
          <p:nvPr/>
        </p:nvSpPr>
        <p:spPr>
          <a:xfrm>
            <a:off x="6509556" y="5082227"/>
            <a:ext cx="3400566" cy="9098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dirty="0">
                <a:cs typeface="Calibri"/>
              </a:rPr>
              <a:t>Student</a:t>
            </a:r>
          </a:p>
        </p:txBody>
      </p:sp>
      <p:sp>
        <p:nvSpPr>
          <p:cNvPr id="34" name="Oval 33">
            <a:extLst>
              <a:ext uri="{FF2B5EF4-FFF2-40B4-BE49-F238E27FC236}">
                <a16:creationId xmlns:a16="http://schemas.microsoft.com/office/drawing/2014/main" id="{CB7A135C-B807-4CFD-9877-052E65938A14}"/>
              </a:ext>
            </a:extLst>
          </p:cNvPr>
          <p:cNvSpPr/>
          <p:nvPr/>
        </p:nvSpPr>
        <p:spPr>
          <a:xfrm>
            <a:off x="10237012" y="4915537"/>
            <a:ext cx="1762125" cy="45243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cs typeface="Calibri"/>
              </a:rPr>
              <a:t>Hobby</a:t>
            </a:r>
            <a:endParaRPr lang="en-US" dirty="0"/>
          </a:p>
        </p:txBody>
      </p:sp>
      <p:cxnSp>
        <p:nvCxnSpPr>
          <p:cNvPr id="35" name="Straight Arrow Connector 34">
            <a:extLst>
              <a:ext uri="{FF2B5EF4-FFF2-40B4-BE49-F238E27FC236}">
                <a16:creationId xmlns:a16="http://schemas.microsoft.com/office/drawing/2014/main" id="{F9CF60FE-0876-4227-92C9-BA603E58B72E}"/>
              </a:ext>
            </a:extLst>
          </p:cNvPr>
          <p:cNvCxnSpPr>
            <a:cxnSpLocks/>
          </p:cNvCxnSpPr>
          <p:nvPr/>
        </p:nvCxnSpPr>
        <p:spPr>
          <a:xfrm flipV="1">
            <a:off x="9910122" y="5201288"/>
            <a:ext cx="448490" cy="166688"/>
          </a:xfrm>
          <a:prstGeom prst="straightConnector1">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62634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5A5D3-3A41-401E-941A-3F6F74EF6213}"/>
              </a:ext>
            </a:extLst>
          </p:cNvPr>
          <p:cNvSpPr>
            <a:spLocks noGrp="1"/>
          </p:cNvSpPr>
          <p:nvPr>
            <p:ph type="title"/>
          </p:nvPr>
        </p:nvSpPr>
        <p:spPr/>
        <p:txBody>
          <a:bodyPr/>
          <a:lstStyle/>
          <a:p>
            <a:r>
              <a:rPr lang="en-US" dirty="0"/>
              <a:t>Complex attribute</a:t>
            </a:r>
          </a:p>
        </p:txBody>
      </p:sp>
      <p:sp>
        <p:nvSpPr>
          <p:cNvPr id="3" name="Content Placeholder 2">
            <a:extLst>
              <a:ext uri="{FF2B5EF4-FFF2-40B4-BE49-F238E27FC236}">
                <a16:creationId xmlns:a16="http://schemas.microsoft.com/office/drawing/2014/main" id="{FC7B8315-30B7-4D8D-B7CF-1888A4C2C137}"/>
              </a:ext>
            </a:extLst>
          </p:cNvPr>
          <p:cNvSpPr>
            <a:spLocks noGrp="1"/>
          </p:cNvSpPr>
          <p:nvPr>
            <p:ph idx="1"/>
          </p:nvPr>
        </p:nvSpPr>
        <p:spPr/>
        <p:txBody>
          <a:bodyPr/>
          <a:lstStyle/>
          <a:p>
            <a:r>
              <a:rPr lang="en-US" dirty="0"/>
              <a:t>Nesting multi-valued and composite attributes together form a complex attribute. </a:t>
            </a:r>
          </a:p>
          <a:p>
            <a:endParaRPr lang="en-US" dirty="0"/>
          </a:p>
          <a:p>
            <a:endParaRPr lang="en-US" dirty="0"/>
          </a:p>
        </p:txBody>
      </p:sp>
      <p:pic>
        <p:nvPicPr>
          <p:cNvPr id="6" name="Picture 5">
            <a:extLst>
              <a:ext uri="{FF2B5EF4-FFF2-40B4-BE49-F238E27FC236}">
                <a16:creationId xmlns:a16="http://schemas.microsoft.com/office/drawing/2014/main" id="{7BAA569E-08F3-6667-FF92-8FA4350405D1}"/>
              </a:ext>
            </a:extLst>
          </p:cNvPr>
          <p:cNvPicPr>
            <a:picLocks noChangeAspect="1"/>
          </p:cNvPicPr>
          <p:nvPr/>
        </p:nvPicPr>
        <p:blipFill>
          <a:blip r:embed="rId2"/>
          <a:stretch>
            <a:fillRect/>
          </a:stretch>
        </p:blipFill>
        <p:spPr>
          <a:xfrm>
            <a:off x="2140859" y="3177697"/>
            <a:ext cx="7058025" cy="2562225"/>
          </a:xfrm>
          <a:prstGeom prst="rect">
            <a:avLst/>
          </a:prstGeom>
        </p:spPr>
      </p:pic>
    </p:spTree>
    <p:extLst>
      <p:ext uri="{BB962C8B-B14F-4D97-AF65-F5344CB8AC3E}">
        <p14:creationId xmlns:p14="http://schemas.microsoft.com/office/powerpoint/2010/main" val="2274055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AB903-FB32-4F7E-BC96-917614C7C99D}"/>
              </a:ext>
            </a:extLst>
          </p:cNvPr>
          <p:cNvSpPr>
            <a:spLocks noGrp="1"/>
          </p:cNvSpPr>
          <p:nvPr>
            <p:ph type="title"/>
          </p:nvPr>
        </p:nvSpPr>
        <p:spPr/>
        <p:txBody>
          <a:bodyPr/>
          <a:lstStyle/>
          <a:p>
            <a:r>
              <a:rPr lang="en-US" dirty="0"/>
              <a:t>Types of keys </a:t>
            </a:r>
          </a:p>
        </p:txBody>
      </p:sp>
      <p:pic>
        <p:nvPicPr>
          <p:cNvPr id="4" name="Picture 1028" descr="fig03_07">
            <a:extLst>
              <a:ext uri="{FF2B5EF4-FFF2-40B4-BE49-F238E27FC236}">
                <a16:creationId xmlns:a16="http://schemas.microsoft.com/office/drawing/2014/main" id="{8FEF738D-C658-4E11-8B08-4214D4AC6D17}"/>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1614" r="30862" b="62307"/>
          <a:stretch/>
        </p:blipFill>
        <p:spPr bwMode="auto">
          <a:xfrm>
            <a:off x="1184223" y="2050477"/>
            <a:ext cx="8608459" cy="4335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7737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CCADA-BD2B-4C5D-A4BA-5555BD46EA80}"/>
              </a:ext>
            </a:extLst>
          </p:cNvPr>
          <p:cNvSpPr>
            <a:spLocks noGrp="1"/>
          </p:cNvSpPr>
          <p:nvPr>
            <p:ph type="title"/>
          </p:nvPr>
        </p:nvSpPr>
        <p:spPr/>
        <p:txBody>
          <a:bodyPr/>
          <a:lstStyle/>
          <a:p>
            <a:r>
              <a:rPr lang="en-US" dirty="0">
                <a:cs typeface="Calibri Light"/>
              </a:rPr>
              <a:t>Relationship representation in ERD</a:t>
            </a:r>
            <a:br>
              <a:rPr lang="en-US" dirty="0">
                <a:cs typeface="Calibri Light"/>
              </a:rPr>
            </a:br>
            <a:r>
              <a:rPr lang="en-US" dirty="0">
                <a:cs typeface="Calibri Light"/>
              </a:rPr>
              <a:t>(Diamond)</a:t>
            </a:r>
            <a:endParaRPr lang="en-US" dirty="0"/>
          </a:p>
        </p:txBody>
      </p:sp>
      <p:sp>
        <p:nvSpPr>
          <p:cNvPr id="3" name="Content Placeholder 2">
            <a:extLst>
              <a:ext uri="{FF2B5EF4-FFF2-40B4-BE49-F238E27FC236}">
                <a16:creationId xmlns:a16="http://schemas.microsoft.com/office/drawing/2014/main" id="{6EEC8BF9-7880-4359-B855-A39AE55128D5}"/>
              </a:ext>
            </a:extLst>
          </p:cNvPr>
          <p:cNvSpPr>
            <a:spLocks noGrp="1"/>
          </p:cNvSpPr>
          <p:nvPr>
            <p:ph idx="1"/>
          </p:nvPr>
        </p:nvSpPr>
        <p:spPr>
          <a:xfrm>
            <a:off x="838200" y="1597713"/>
            <a:ext cx="10515600" cy="4579250"/>
          </a:xfrm>
        </p:spPr>
        <p:txBody>
          <a:bodyPr vert="horz" lIns="91440" tIns="45720" rIns="91440" bIns="45720" rtlCol="0" anchor="t">
            <a:normAutofit/>
          </a:bodyPr>
          <a:lstStyle/>
          <a:p>
            <a:endParaRPr lang="en-US" dirty="0"/>
          </a:p>
          <a:p>
            <a:pPr marL="0" indent="0">
              <a:buNone/>
            </a:pPr>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r>
              <a:rPr lang="en-US" dirty="0">
                <a:cs typeface="Calibri"/>
              </a:rPr>
              <a:t>Please note: Readability is Left to Right &amp; Top to bottom</a:t>
            </a:r>
          </a:p>
          <a:p>
            <a:endParaRPr lang="en-US" dirty="0">
              <a:cs typeface="Calibri"/>
            </a:endParaRPr>
          </a:p>
        </p:txBody>
      </p:sp>
      <p:sp>
        <p:nvSpPr>
          <p:cNvPr id="4" name="Rectangle 3">
            <a:extLst>
              <a:ext uri="{FF2B5EF4-FFF2-40B4-BE49-F238E27FC236}">
                <a16:creationId xmlns:a16="http://schemas.microsoft.com/office/drawing/2014/main" id="{04481DBB-0544-4940-88AE-1F537399CCF5}"/>
              </a:ext>
            </a:extLst>
          </p:cNvPr>
          <p:cNvSpPr/>
          <p:nvPr/>
        </p:nvSpPr>
        <p:spPr>
          <a:xfrm>
            <a:off x="1626393" y="1828799"/>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Student </a:t>
            </a:r>
            <a:endParaRPr lang="en-US" dirty="0"/>
          </a:p>
        </p:txBody>
      </p:sp>
      <p:cxnSp>
        <p:nvCxnSpPr>
          <p:cNvPr id="6" name="Straight Arrow Connector 5">
            <a:extLst>
              <a:ext uri="{FF2B5EF4-FFF2-40B4-BE49-F238E27FC236}">
                <a16:creationId xmlns:a16="http://schemas.microsoft.com/office/drawing/2014/main" id="{563D8BFA-57BE-4C73-98A0-5E3A1A4B22A7}"/>
              </a:ext>
            </a:extLst>
          </p:cNvPr>
          <p:cNvCxnSpPr>
            <a:cxnSpLocks/>
          </p:cNvCxnSpPr>
          <p:nvPr/>
        </p:nvCxnSpPr>
        <p:spPr>
          <a:xfrm>
            <a:off x="6686550" y="2174081"/>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7" name="Rectangle 6">
            <a:extLst>
              <a:ext uri="{FF2B5EF4-FFF2-40B4-BE49-F238E27FC236}">
                <a16:creationId xmlns:a16="http://schemas.microsoft.com/office/drawing/2014/main" id="{E271BD90-94F2-4A52-BFC9-9E4E343EA348}"/>
              </a:ext>
            </a:extLst>
          </p:cNvPr>
          <p:cNvSpPr/>
          <p:nvPr/>
        </p:nvSpPr>
        <p:spPr>
          <a:xfrm>
            <a:off x="7412831" y="1828799"/>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Course</a:t>
            </a:r>
            <a:endParaRPr lang="en-US" dirty="0"/>
          </a:p>
        </p:txBody>
      </p:sp>
      <p:sp>
        <p:nvSpPr>
          <p:cNvPr id="8" name="Diamond 7">
            <a:extLst>
              <a:ext uri="{FF2B5EF4-FFF2-40B4-BE49-F238E27FC236}">
                <a16:creationId xmlns:a16="http://schemas.microsoft.com/office/drawing/2014/main" id="{4D841ABE-B231-44E5-B043-420F31A76868}"/>
              </a:ext>
            </a:extLst>
          </p:cNvPr>
          <p:cNvSpPr/>
          <p:nvPr/>
        </p:nvSpPr>
        <p:spPr>
          <a:xfrm>
            <a:off x="4841080" y="1721643"/>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a:p>
            <a:pPr algn="ctr"/>
            <a:r>
              <a:rPr lang="en-US" dirty="0">
                <a:cs typeface="Calibri"/>
              </a:rPr>
              <a:t>Enrolls in  </a:t>
            </a:r>
          </a:p>
        </p:txBody>
      </p:sp>
      <p:cxnSp>
        <p:nvCxnSpPr>
          <p:cNvPr id="9" name="Straight Arrow Connector 8">
            <a:extLst>
              <a:ext uri="{FF2B5EF4-FFF2-40B4-BE49-F238E27FC236}">
                <a16:creationId xmlns:a16="http://schemas.microsoft.com/office/drawing/2014/main" id="{E1FFFEAF-0B88-4D92-8907-9AB98DB4C717}"/>
              </a:ext>
            </a:extLst>
          </p:cNvPr>
          <p:cNvCxnSpPr/>
          <p:nvPr/>
        </p:nvCxnSpPr>
        <p:spPr>
          <a:xfrm>
            <a:off x="3960018" y="2174080"/>
            <a:ext cx="881062" cy="23813"/>
          </a:xfrm>
          <a:prstGeom prst="straightConnector1">
            <a:avLst/>
          </a:prstGeom>
        </p:spPr>
        <p:style>
          <a:lnRef idx="3">
            <a:schemeClr val="dk1"/>
          </a:lnRef>
          <a:fillRef idx="0">
            <a:schemeClr val="dk1"/>
          </a:fillRef>
          <a:effectRef idx="2">
            <a:schemeClr val="dk1"/>
          </a:effectRef>
          <a:fontRef idx="minor">
            <a:schemeClr val="tx1"/>
          </a:fontRef>
        </p:style>
      </p:cxnSp>
      <p:sp>
        <p:nvSpPr>
          <p:cNvPr id="10" name="Rectangle 9">
            <a:extLst>
              <a:ext uri="{FF2B5EF4-FFF2-40B4-BE49-F238E27FC236}">
                <a16:creationId xmlns:a16="http://schemas.microsoft.com/office/drawing/2014/main" id="{33A5E99C-2678-403E-B70F-DA9D4CC1D7C4}"/>
              </a:ext>
            </a:extLst>
          </p:cNvPr>
          <p:cNvSpPr/>
          <p:nvPr/>
        </p:nvSpPr>
        <p:spPr>
          <a:xfrm>
            <a:off x="7481069" y="4569724"/>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cs typeface="Calibri"/>
              </a:rPr>
              <a:t>Teacher</a:t>
            </a:r>
            <a:endParaRPr lang="en-US" dirty="0"/>
          </a:p>
        </p:txBody>
      </p:sp>
      <p:sp>
        <p:nvSpPr>
          <p:cNvPr id="5" name="Diamond 4">
            <a:extLst>
              <a:ext uri="{FF2B5EF4-FFF2-40B4-BE49-F238E27FC236}">
                <a16:creationId xmlns:a16="http://schemas.microsoft.com/office/drawing/2014/main" id="{7D391CBB-DEA4-4503-AD01-63CED3474403}"/>
              </a:ext>
            </a:extLst>
          </p:cNvPr>
          <p:cNvSpPr/>
          <p:nvPr/>
        </p:nvSpPr>
        <p:spPr>
          <a:xfrm>
            <a:off x="7560860" y="3267501"/>
            <a:ext cx="2160894" cy="90985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Is taught by </a:t>
            </a:r>
            <a:endParaRPr lang="en-US" dirty="0"/>
          </a:p>
        </p:txBody>
      </p:sp>
      <p:cxnSp>
        <p:nvCxnSpPr>
          <p:cNvPr id="11" name="Straight Arrow Connector 10">
            <a:extLst>
              <a:ext uri="{FF2B5EF4-FFF2-40B4-BE49-F238E27FC236}">
                <a16:creationId xmlns:a16="http://schemas.microsoft.com/office/drawing/2014/main" id="{C4849C77-9879-4650-B491-C9CACA4C2316}"/>
              </a:ext>
            </a:extLst>
          </p:cNvPr>
          <p:cNvCxnSpPr/>
          <p:nvPr/>
        </p:nvCxnSpPr>
        <p:spPr>
          <a:xfrm>
            <a:off x="8624958" y="2523273"/>
            <a:ext cx="22746" cy="693760"/>
          </a:xfrm>
          <a:prstGeom prst="straightConnector1">
            <a:avLst/>
          </a:prstGeom>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8146375A-A1CD-4EDE-AA79-CB1A293370A4}"/>
              </a:ext>
            </a:extLst>
          </p:cNvPr>
          <p:cNvCxnSpPr>
            <a:cxnSpLocks/>
          </p:cNvCxnSpPr>
          <p:nvPr/>
        </p:nvCxnSpPr>
        <p:spPr>
          <a:xfrm>
            <a:off x="8704569" y="4126884"/>
            <a:ext cx="11373" cy="489045"/>
          </a:xfrm>
          <a:prstGeom prst="straightConnector1">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448266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CCADA-BD2B-4C5D-A4BA-5555BD46EA80}"/>
              </a:ext>
            </a:extLst>
          </p:cNvPr>
          <p:cNvSpPr>
            <a:spLocks noGrp="1"/>
          </p:cNvSpPr>
          <p:nvPr>
            <p:ph type="title"/>
          </p:nvPr>
        </p:nvSpPr>
        <p:spPr>
          <a:xfrm>
            <a:off x="3641458" y="222811"/>
            <a:ext cx="10515600" cy="1325563"/>
          </a:xfrm>
        </p:spPr>
        <p:txBody>
          <a:bodyPr/>
          <a:lstStyle/>
          <a:p>
            <a:r>
              <a:rPr lang="en-US" dirty="0">
                <a:cs typeface="Calibri Light"/>
              </a:rPr>
              <a:t>Wrong structure</a:t>
            </a:r>
            <a:endParaRPr lang="en-US" dirty="0"/>
          </a:p>
        </p:txBody>
      </p:sp>
      <p:sp>
        <p:nvSpPr>
          <p:cNvPr id="3" name="Content Placeholder 2">
            <a:extLst>
              <a:ext uri="{FF2B5EF4-FFF2-40B4-BE49-F238E27FC236}">
                <a16:creationId xmlns:a16="http://schemas.microsoft.com/office/drawing/2014/main" id="{6EEC8BF9-7880-4359-B855-A39AE55128D5}"/>
              </a:ext>
            </a:extLst>
          </p:cNvPr>
          <p:cNvSpPr>
            <a:spLocks noGrp="1"/>
          </p:cNvSpPr>
          <p:nvPr>
            <p:ph idx="1"/>
          </p:nvPr>
        </p:nvSpPr>
        <p:spPr>
          <a:xfrm>
            <a:off x="838200" y="1597713"/>
            <a:ext cx="10515600" cy="4579250"/>
          </a:xfrm>
        </p:spPr>
        <p:txBody>
          <a:bodyPr vert="horz" lIns="91440" tIns="45720" rIns="91440" bIns="45720" rtlCol="0" anchor="t">
            <a:normAutofit fontScale="92500" lnSpcReduction="10000"/>
          </a:bodyPr>
          <a:lstStyle/>
          <a:p>
            <a:endParaRPr lang="en-US" dirty="0"/>
          </a:p>
          <a:p>
            <a:pPr marL="0" indent="0">
              <a:buNone/>
            </a:pPr>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r>
              <a:rPr lang="en-US" dirty="0">
                <a:cs typeface="Calibri"/>
              </a:rPr>
              <a:t>Please note: Readability is Left to Right &amp; Top to bottom</a:t>
            </a:r>
          </a:p>
          <a:p>
            <a:r>
              <a:rPr lang="en-US" dirty="0">
                <a:cs typeface="Calibri"/>
              </a:rPr>
              <a:t>Correct it.</a:t>
            </a:r>
          </a:p>
          <a:p>
            <a:endParaRPr lang="en-US" dirty="0">
              <a:cs typeface="Calibri"/>
            </a:endParaRPr>
          </a:p>
        </p:txBody>
      </p:sp>
      <p:sp>
        <p:nvSpPr>
          <p:cNvPr id="4" name="Rectangle 3">
            <a:extLst>
              <a:ext uri="{FF2B5EF4-FFF2-40B4-BE49-F238E27FC236}">
                <a16:creationId xmlns:a16="http://schemas.microsoft.com/office/drawing/2014/main" id="{04481DBB-0544-4940-88AE-1F537399CCF5}"/>
              </a:ext>
            </a:extLst>
          </p:cNvPr>
          <p:cNvSpPr/>
          <p:nvPr/>
        </p:nvSpPr>
        <p:spPr>
          <a:xfrm>
            <a:off x="852751" y="3155922"/>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Course </a:t>
            </a:r>
            <a:endParaRPr lang="en-US" dirty="0"/>
          </a:p>
        </p:txBody>
      </p:sp>
      <p:cxnSp>
        <p:nvCxnSpPr>
          <p:cNvPr id="6" name="Straight Arrow Connector 5">
            <a:extLst>
              <a:ext uri="{FF2B5EF4-FFF2-40B4-BE49-F238E27FC236}">
                <a16:creationId xmlns:a16="http://schemas.microsoft.com/office/drawing/2014/main" id="{563D8BFA-57BE-4C73-98A0-5E3A1A4B22A7}"/>
              </a:ext>
            </a:extLst>
          </p:cNvPr>
          <p:cNvCxnSpPr>
            <a:cxnSpLocks/>
          </p:cNvCxnSpPr>
          <p:nvPr/>
        </p:nvCxnSpPr>
        <p:spPr>
          <a:xfrm>
            <a:off x="6025353" y="3495910"/>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7" name="Rectangle 6">
            <a:extLst>
              <a:ext uri="{FF2B5EF4-FFF2-40B4-BE49-F238E27FC236}">
                <a16:creationId xmlns:a16="http://schemas.microsoft.com/office/drawing/2014/main" id="{E271BD90-94F2-4A52-BFC9-9E4E343EA348}"/>
              </a:ext>
            </a:extLst>
          </p:cNvPr>
          <p:cNvSpPr/>
          <p:nvPr/>
        </p:nvSpPr>
        <p:spPr>
          <a:xfrm>
            <a:off x="6823071" y="3132375"/>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Student</a:t>
            </a:r>
            <a:endParaRPr lang="en-US" dirty="0"/>
          </a:p>
        </p:txBody>
      </p:sp>
      <p:sp>
        <p:nvSpPr>
          <p:cNvPr id="8" name="Diamond 7">
            <a:extLst>
              <a:ext uri="{FF2B5EF4-FFF2-40B4-BE49-F238E27FC236}">
                <a16:creationId xmlns:a16="http://schemas.microsoft.com/office/drawing/2014/main" id="{4D841ABE-B231-44E5-B043-420F31A76868}"/>
              </a:ext>
            </a:extLst>
          </p:cNvPr>
          <p:cNvSpPr/>
          <p:nvPr/>
        </p:nvSpPr>
        <p:spPr>
          <a:xfrm>
            <a:off x="4096540" y="3048765"/>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a:p>
            <a:pPr algn="ctr"/>
            <a:r>
              <a:rPr lang="en-US" dirty="0">
                <a:cs typeface="Calibri"/>
              </a:rPr>
              <a:t>Enrolls </a:t>
            </a:r>
          </a:p>
        </p:txBody>
      </p:sp>
      <p:cxnSp>
        <p:nvCxnSpPr>
          <p:cNvPr id="9" name="Straight Arrow Connector 8">
            <a:extLst>
              <a:ext uri="{FF2B5EF4-FFF2-40B4-BE49-F238E27FC236}">
                <a16:creationId xmlns:a16="http://schemas.microsoft.com/office/drawing/2014/main" id="{E1FFFEAF-0B88-4D92-8907-9AB98DB4C717}"/>
              </a:ext>
            </a:extLst>
          </p:cNvPr>
          <p:cNvCxnSpPr/>
          <p:nvPr/>
        </p:nvCxnSpPr>
        <p:spPr>
          <a:xfrm>
            <a:off x="3200927" y="3501203"/>
            <a:ext cx="881062" cy="23813"/>
          </a:xfrm>
          <a:prstGeom prst="straightConnector1">
            <a:avLst/>
          </a:prstGeom>
        </p:spPr>
        <p:style>
          <a:lnRef idx="3">
            <a:schemeClr val="dk1"/>
          </a:lnRef>
          <a:fillRef idx="0">
            <a:schemeClr val="dk1"/>
          </a:fillRef>
          <a:effectRef idx="2">
            <a:schemeClr val="dk1"/>
          </a:effectRef>
          <a:fontRef idx="minor">
            <a:schemeClr val="tx1"/>
          </a:fontRef>
        </p:style>
      </p:cxnSp>
      <p:sp>
        <p:nvSpPr>
          <p:cNvPr id="10" name="Rectangle 9">
            <a:extLst>
              <a:ext uri="{FF2B5EF4-FFF2-40B4-BE49-F238E27FC236}">
                <a16:creationId xmlns:a16="http://schemas.microsoft.com/office/drawing/2014/main" id="{33A5E99C-2678-403E-B70F-DA9D4CC1D7C4}"/>
              </a:ext>
            </a:extLst>
          </p:cNvPr>
          <p:cNvSpPr/>
          <p:nvPr/>
        </p:nvSpPr>
        <p:spPr>
          <a:xfrm>
            <a:off x="800602" y="596292"/>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Teacher</a:t>
            </a:r>
            <a:endParaRPr lang="en-US" dirty="0"/>
          </a:p>
        </p:txBody>
      </p:sp>
      <p:sp>
        <p:nvSpPr>
          <p:cNvPr id="5" name="Diamond 4">
            <a:extLst>
              <a:ext uri="{FF2B5EF4-FFF2-40B4-BE49-F238E27FC236}">
                <a16:creationId xmlns:a16="http://schemas.microsoft.com/office/drawing/2014/main" id="{7D391CBB-DEA4-4503-AD01-63CED3474403}"/>
              </a:ext>
            </a:extLst>
          </p:cNvPr>
          <p:cNvSpPr/>
          <p:nvPr/>
        </p:nvSpPr>
        <p:spPr>
          <a:xfrm>
            <a:off x="852751" y="1683449"/>
            <a:ext cx="2160894" cy="90985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Is taught by </a:t>
            </a:r>
            <a:endParaRPr lang="en-US" dirty="0"/>
          </a:p>
        </p:txBody>
      </p:sp>
      <p:cxnSp>
        <p:nvCxnSpPr>
          <p:cNvPr id="11" name="Straight Arrow Connector 10">
            <a:extLst>
              <a:ext uri="{FF2B5EF4-FFF2-40B4-BE49-F238E27FC236}">
                <a16:creationId xmlns:a16="http://schemas.microsoft.com/office/drawing/2014/main" id="{C4849C77-9879-4650-B491-C9CACA4C2316}"/>
              </a:ext>
            </a:extLst>
          </p:cNvPr>
          <p:cNvCxnSpPr>
            <a:cxnSpLocks/>
          </p:cNvCxnSpPr>
          <p:nvPr/>
        </p:nvCxnSpPr>
        <p:spPr>
          <a:xfrm>
            <a:off x="1945841" y="2639707"/>
            <a:ext cx="0" cy="492668"/>
          </a:xfrm>
          <a:prstGeom prst="straightConnector1">
            <a:avLst/>
          </a:prstGeom>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8146375A-A1CD-4EDE-AA79-CB1A293370A4}"/>
              </a:ext>
            </a:extLst>
          </p:cNvPr>
          <p:cNvCxnSpPr>
            <a:cxnSpLocks/>
            <a:endCxn id="5" idx="0"/>
          </p:cNvCxnSpPr>
          <p:nvPr/>
        </p:nvCxnSpPr>
        <p:spPr>
          <a:xfrm flipH="1">
            <a:off x="1933198" y="1336194"/>
            <a:ext cx="12644" cy="347255"/>
          </a:xfrm>
          <a:prstGeom prst="straightConnector1">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14612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628DB-20BB-4391-9CD6-962F7EACAAD0}"/>
              </a:ext>
            </a:extLst>
          </p:cNvPr>
          <p:cNvSpPr>
            <a:spLocks noGrp="1"/>
          </p:cNvSpPr>
          <p:nvPr>
            <p:ph type="title"/>
          </p:nvPr>
        </p:nvSpPr>
        <p:spPr/>
        <p:txBody>
          <a:bodyPr>
            <a:normAutofit fontScale="90000"/>
          </a:bodyPr>
          <a:lstStyle/>
          <a:p>
            <a:br>
              <a:rPr lang="en-US" dirty="0">
                <a:cs typeface="Calibri"/>
              </a:rPr>
            </a:br>
            <a:r>
              <a:rPr lang="en-US" dirty="0">
                <a:highlight>
                  <a:srgbClr val="FFFF00"/>
                </a:highlight>
                <a:cs typeface="Calibri"/>
              </a:rPr>
              <a:t>Constraints</a:t>
            </a:r>
            <a:r>
              <a:rPr lang="en-US" dirty="0">
                <a:cs typeface="Calibri"/>
              </a:rPr>
              <a:t> on Relationship </a:t>
            </a:r>
            <a:br>
              <a:rPr lang="en-US" dirty="0">
                <a:cs typeface="Calibri"/>
              </a:rPr>
            </a:br>
            <a:br>
              <a:rPr lang="en-US" dirty="0">
                <a:cs typeface="Calibri"/>
              </a:rPr>
            </a:br>
            <a:endParaRPr lang="en-US" dirty="0"/>
          </a:p>
        </p:txBody>
      </p:sp>
      <p:sp>
        <p:nvSpPr>
          <p:cNvPr id="4" name="Text Placeholder 3">
            <a:extLst>
              <a:ext uri="{FF2B5EF4-FFF2-40B4-BE49-F238E27FC236}">
                <a16:creationId xmlns:a16="http://schemas.microsoft.com/office/drawing/2014/main" id="{9FC0BC93-439B-4AB2-8ACA-11BDAFAF5E1F}"/>
              </a:ext>
            </a:extLst>
          </p:cNvPr>
          <p:cNvSpPr>
            <a:spLocks noGrp="1"/>
          </p:cNvSpPr>
          <p:nvPr>
            <p:ph type="body" idx="1"/>
          </p:nvPr>
        </p:nvSpPr>
        <p:spPr/>
        <p:txBody>
          <a:bodyPr/>
          <a:lstStyle/>
          <a:p>
            <a:r>
              <a:rPr lang="en-US" sz="3200" dirty="0">
                <a:cs typeface="Calibri"/>
              </a:rPr>
              <a:t>Cardinality</a:t>
            </a:r>
            <a:endParaRPr lang="en-US" dirty="0"/>
          </a:p>
        </p:txBody>
      </p:sp>
      <p:sp>
        <p:nvSpPr>
          <p:cNvPr id="3" name="Content Placeholder 2">
            <a:extLst>
              <a:ext uri="{FF2B5EF4-FFF2-40B4-BE49-F238E27FC236}">
                <a16:creationId xmlns:a16="http://schemas.microsoft.com/office/drawing/2014/main" id="{EE89D61C-7E76-434F-85B9-0B87E066CF80}"/>
              </a:ext>
            </a:extLst>
          </p:cNvPr>
          <p:cNvSpPr>
            <a:spLocks noGrp="1"/>
          </p:cNvSpPr>
          <p:nvPr>
            <p:ph sz="half" idx="2"/>
          </p:nvPr>
        </p:nvSpPr>
        <p:spPr/>
        <p:txBody>
          <a:bodyPr/>
          <a:lstStyle/>
          <a:p>
            <a:r>
              <a:rPr lang="en-US" dirty="0">
                <a:cs typeface="Calibri"/>
              </a:rPr>
              <a:t>One to many   (1:N)</a:t>
            </a:r>
          </a:p>
          <a:p>
            <a:r>
              <a:rPr lang="en-US" dirty="0">
                <a:cs typeface="Calibri"/>
              </a:rPr>
              <a:t>One to one       (1:1)</a:t>
            </a:r>
          </a:p>
          <a:p>
            <a:r>
              <a:rPr lang="en-US" dirty="0">
                <a:cs typeface="Calibri"/>
              </a:rPr>
              <a:t>Many to many  (M:N)</a:t>
            </a:r>
          </a:p>
          <a:p>
            <a:pPr marL="0" indent="0">
              <a:buNone/>
            </a:pPr>
            <a:endParaRPr lang="en-US" dirty="0"/>
          </a:p>
        </p:txBody>
      </p:sp>
      <p:sp>
        <p:nvSpPr>
          <p:cNvPr id="5" name="Text Placeholder 4">
            <a:extLst>
              <a:ext uri="{FF2B5EF4-FFF2-40B4-BE49-F238E27FC236}">
                <a16:creationId xmlns:a16="http://schemas.microsoft.com/office/drawing/2014/main" id="{479E2619-8B24-4991-B7EF-01D8BAC507D9}"/>
              </a:ext>
            </a:extLst>
          </p:cNvPr>
          <p:cNvSpPr>
            <a:spLocks noGrp="1"/>
          </p:cNvSpPr>
          <p:nvPr>
            <p:ph type="body" sz="quarter" idx="3"/>
          </p:nvPr>
        </p:nvSpPr>
        <p:spPr/>
        <p:txBody>
          <a:bodyPr/>
          <a:lstStyle/>
          <a:p>
            <a:r>
              <a:rPr lang="en-US" sz="3200" dirty="0">
                <a:cs typeface="Calibri"/>
              </a:rPr>
              <a:t>Participation</a:t>
            </a:r>
            <a:endParaRPr lang="en-US" dirty="0"/>
          </a:p>
        </p:txBody>
      </p:sp>
      <p:sp>
        <p:nvSpPr>
          <p:cNvPr id="6" name="Content Placeholder 5">
            <a:extLst>
              <a:ext uri="{FF2B5EF4-FFF2-40B4-BE49-F238E27FC236}">
                <a16:creationId xmlns:a16="http://schemas.microsoft.com/office/drawing/2014/main" id="{13E2BBE1-D243-4943-B58B-D1BD5543000D}"/>
              </a:ext>
            </a:extLst>
          </p:cNvPr>
          <p:cNvSpPr>
            <a:spLocks noGrp="1"/>
          </p:cNvSpPr>
          <p:nvPr>
            <p:ph sz="quarter" idx="4"/>
          </p:nvPr>
        </p:nvSpPr>
        <p:spPr/>
        <p:txBody>
          <a:bodyPr/>
          <a:lstStyle/>
          <a:p>
            <a:r>
              <a:rPr lang="en-US" dirty="0"/>
              <a:t>Total  Participation    </a:t>
            </a:r>
          </a:p>
          <a:p>
            <a:r>
              <a:rPr lang="en-US" dirty="0"/>
              <a:t>Partial participation</a:t>
            </a:r>
          </a:p>
        </p:txBody>
      </p:sp>
      <p:cxnSp>
        <p:nvCxnSpPr>
          <p:cNvPr id="8" name="Straight Connector 7">
            <a:extLst>
              <a:ext uri="{FF2B5EF4-FFF2-40B4-BE49-F238E27FC236}">
                <a16:creationId xmlns:a16="http://schemas.microsoft.com/office/drawing/2014/main" id="{DEF39149-6BD8-4BDE-84ED-D69A29956B8F}"/>
              </a:ext>
            </a:extLst>
          </p:cNvPr>
          <p:cNvCxnSpPr/>
          <p:nvPr/>
        </p:nvCxnSpPr>
        <p:spPr>
          <a:xfrm>
            <a:off x="9381067" y="2658533"/>
            <a:ext cx="16594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0E7A261-BC7F-4DC5-8CC0-85999CA8BF4B}"/>
              </a:ext>
            </a:extLst>
          </p:cNvPr>
          <p:cNvCxnSpPr/>
          <p:nvPr/>
        </p:nvCxnSpPr>
        <p:spPr>
          <a:xfrm>
            <a:off x="9381067" y="2709334"/>
            <a:ext cx="16594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5590125-87C6-4B00-89C5-A3B999CF17FF}"/>
              </a:ext>
            </a:extLst>
          </p:cNvPr>
          <p:cNvCxnSpPr/>
          <p:nvPr/>
        </p:nvCxnSpPr>
        <p:spPr>
          <a:xfrm>
            <a:off x="9533467" y="3234266"/>
            <a:ext cx="165946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3970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78F1-9724-7BB5-C895-361F78B3BD4B}"/>
              </a:ext>
            </a:extLst>
          </p:cNvPr>
          <p:cNvSpPr>
            <a:spLocks noGrp="1"/>
          </p:cNvSpPr>
          <p:nvPr>
            <p:ph type="title"/>
          </p:nvPr>
        </p:nvSpPr>
        <p:spPr/>
        <p:txBody>
          <a:bodyPr/>
          <a:lstStyle/>
          <a:p>
            <a:r>
              <a:rPr lang="en-US" dirty="0"/>
              <a:t>Cardinality</a:t>
            </a:r>
          </a:p>
        </p:txBody>
      </p:sp>
      <p:sp>
        <p:nvSpPr>
          <p:cNvPr id="3" name="Content Placeholder 2">
            <a:extLst>
              <a:ext uri="{FF2B5EF4-FFF2-40B4-BE49-F238E27FC236}">
                <a16:creationId xmlns:a16="http://schemas.microsoft.com/office/drawing/2014/main" id="{130F6097-1C1E-FCFC-854C-10325D9FCC18}"/>
              </a:ext>
            </a:extLst>
          </p:cNvPr>
          <p:cNvSpPr>
            <a:spLocks noGrp="1"/>
          </p:cNvSpPr>
          <p:nvPr>
            <p:ph idx="1"/>
          </p:nvPr>
        </p:nvSpPr>
        <p:spPr/>
        <p:txBody>
          <a:bodyPr>
            <a:normAutofit fontScale="92500" lnSpcReduction="20000"/>
          </a:bodyPr>
          <a:lstStyle/>
          <a:p>
            <a:pPr marL="0" indent="0" algn="l">
              <a:buNone/>
            </a:pPr>
            <a:r>
              <a:rPr lang="en-US" sz="2600" b="1" i="0" dirty="0">
                <a:solidFill>
                  <a:srgbClr val="000000"/>
                </a:solidFill>
                <a:effectLst/>
                <a:latin typeface="Titillium Web" panose="020B0604020202020204" pitchFamily="2" charset="0"/>
              </a:rPr>
              <a:t>Cardinality: </a:t>
            </a:r>
            <a:r>
              <a:rPr lang="en-US" b="0" i="0" dirty="0">
                <a:solidFill>
                  <a:srgbClr val="273239"/>
                </a:solidFill>
                <a:effectLst/>
                <a:latin typeface="urw-din"/>
              </a:rPr>
              <a:t>represents the number of times an entity of an entity set participates in a relationship set.</a:t>
            </a:r>
            <a:endParaRPr lang="en-US" b="1" i="0" dirty="0">
              <a:solidFill>
                <a:srgbClr val="000000"/>
              </a:solidFill>
              <a:effectLst/>
              <a:latin typeface="Titillium Web" panose="020B0604020202020204" pitchFamily="2" charset="0"/>
            </a:endParaRPr>
          </a:p>
          <a:p>
            <a:pPr marL="0" indent="0" algn="l">
              <a:buNone/>
            </a:pPr>
            <a:r>
              <a:rPr lang="en-US" sz="2600" b="1" i="0" dirty="0">
                <a:solidFill>
                  <a:srgbClr val="000000"/>
                </a:solidFill>
                <a:effectLst/>
                <a:latin typeface="Titillium Web" panose="020B0604020202020204" pitchFamily="2" charset="0"/>
              </a:rPr>
              <a:t>One to many (1:N)</a:t>
            </a:r>
            <a:endParaRPr lang="en-US" sz="2600" b="0" i="0" dirty="0">
              <a:solidFill>
                <a:srgbClr val="000000"/>
              </a:solidFill>
              <a:effectLst/>
              <a:latin typeface="Titillium Web" panose="020B0604020202020204" pitchFamily="2" charset="0"/>
            </a:endParaRPr>
          </a:p>
          <a:p>
            <a:pPr algn="l"/>
            <a:r>
              <a:rPr lang="en-US" dirty="0">
                <a:solidFill>
                  <a:srgbClr val="000000"/>
                </a:solidFill>
              </a:rPr>
              <a:t>When each entity in each entity set can take part only once in the relationship, the cardinality is one to one. </a:t>
            </a:r>
          </a:p>
          <a:p>
            <a:pPr marL="0" indent="0" algn="l">
              <a:buNone/>
            </a:pPr>
            <a:r>
              <a:rPr lang="en-US" sz="2600" b="1" i="0" dirty="0">
                <a:solidFill>
                  <a:srgbClr val="000000"/>
                </a:solidFill>
                <a:effectLst/>
                <a:latin typeface="Titillium Web" panose="020B0604020202020204" pitchFamily="2" charset="0"/>
              </a:rPr>
              <a:t>Many to one (N:1)</a:t>
            </a:r>
            <a:endParaRPr lang="en-US" sz="2600" b="0" i="0" dirty="0">
              <a:solidFill>
                <a:srgbClr val="000000"/>
              </a:solidFill>
              <a:effectLst/>
              <a:latin typeface="Titillium Web" panose="020B0604020202020204" pitchFamily="2" charset="0"/>
            </a:endParaRPr>
          </a:p>
          <a:p>
            <a:pPr algn="l"/>
            <a:r>
              <a:rPr lang="en-US" b="0" i="0" dirty="0">
                <a:solidFill>
                  <a:srgbClr val="000000"/>
                </a:solidFill>
                <a:effectLst/>
                <a:latin typeface="Titillium Web" panose="020B0604020202020204" pitchFamily="2" charset="0"/>
              </a:rPr>
              <a:t>When entities in one entity set can take part only once in the relationship set and entities in other entity set can take part more than once in the relationship set, cardinality is many to one. </a:t>
            </a:r>
          </a:p>
          <a:p>
            <a:pPr marL="0" indent="0" algn="l">
              <a:buNone/>
            </a:pPr>
            <a:r>
              <a:rPr lang="en-US" sz="2600" b="1" dirty="0">
                <a:solidFill>
                  <a:srgbClr val="000000"/>
                </a:solidFill>
                <a:latin typeface="Titillium Web" panose="020B0604020202020204" pitchFamily="2" charset="0"/>
              </a:rPr>
              <a:t>Many to Many (M:N)</a:t>
            </a:r>
          </a:p>
          <a:p>
            <a:r>
              <a:rPr lang="en-US" b="0" i="0" dirty="0">
                <a:solidFill>
                  <a:srgbClr val="273239"/>
                </a:solidFill>
                <a:effectLst/>
                <a:latin typeface="urw-din"/>
              </a:rPr>
              <a:t>When entities in all entity sets can </a:t>
            </a:r>
            <a:r>
              <a:rPr lang="en-US" i="0" dirty="0">
                <a:solidFill>
                  <a:srgbClr val="273239"/>
                </a:solidFill>
                <a:effectLst/>
                <a:latin typeface="urw-din"/>
              </a:rPr>
              <a:t>take part more than once in the relationship </a:t>
            </a:r>
            <a:endParaRPr lang="en-US" i="0" dirty="0">
              <a:solidFill>
                <a:srgbClr val="000000"/>
              </a:solidFill>
              <a:effectLst/>
              <a:latin typeface="Titillium Web" panose="020B0604020202020204" pitchFamily="2" charset="0"/>
            </a:endParaRPr>
          </a:p>
        </p:txBody>
      </p:sp>
    </p:spTree>
    <p:extLst>
      <p:ext uri="{BB962C8B-B14F-4D97-AF65-F5344CB8AC3E}">
        <p14:creationId xmlns:p14="http://schemas.microsoft.com/office/powerpoint/2010/main" val="206658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F879C-6FF8-4DB6-9643-73E27A39B03B}"/>
              </a:ext>
            </a:extLst>
          </p:cNvPr>
          <p:cNvSpPr>
            <a:spLocks noGrp="1"/>
          </p:cNvSpPr>
          <p:nvPr>
            <p:ph type="title"/>
          </p:nvPr>
        </p:nvSpPr>
        <p:spPr/>
        <p:txBody>
          <a:bodyPr/>
          <a:lstStyle/>
          <a:p>
            <a:r>
              <a:rPr lang="en-US">
                <a:cs typeface="Calibri Light"/>
              </a:rPr>
              <a:t>Relationship: cardinality </a:t>
            </a:r>
            <a:endParaRPr lang="en-US"/>
          </a:p>
        </p:txBody>
      </p:sp>
      <p:sp>
        <p:nvSpPr>
          <p:cNvPr id="3" name="Content Placeholder 2">
            <a:extLst>
              <a:ext uri="{FF2B5EF4-FFF2-40B4-BE49-F238E27FC236}">
                <a16:creationId xmlns:a16="http://schemas.microsoft.com/office/drawing/2014/main" id="{344ABC9E-551C-4D50-9BD1-0EDE0DE288A8}"/>
              </a:ext>
            </a:extLst>
          </p:cNvPr>
          <p:cNvSpPr>
            <a:spLocks noGrp="1"/>
          </p:cNvSpPr>
          <p:nvPr>
            <p:ph idx="1"/>
          </p:nvPr>
        </p:nvSpPr>
        <p:spPr/>
        <p:txBody>
          <a:bodyPr vert="horz" lIns="91440" tIns="45720" rIns="91440" bIns="45720" rtlCol="0" anchor="t">
            <a:normAutofit/>
          </a:bodyPr>
          <a:lstStyle/>
          <a:p>
            <a:r>
              <a:rPr lang="en-US" dirty="0">
                <a:cs typeface="Calibri"/>
              </a:rPr>
              <a:t>1 : M </a:t>
            </a:r>
          </a:p>
          <a:p>
            <a:pPr marL="0" indent="0">
              <a:buNone/>
            </a:pPr>
            <a:endParaRPr lang="en-US" dirty="0">
              <a:cs typeface="Calibri"/>
            </a:endParaRPr>
          </a:p>
          <a:p>
            <a:pPr marL="0" indent="0">
              <a:buNone/>
            </a:pPr>
            <a:endParaRPr lang="en-US" dirty="0">
              <a:cs typeface="Calibri"/>
            </a:endParaRPr>
          </a:p>
          <a:p>
            <a:r>
              <a:rPr lang="en-US" dirty="0">
                <a:cs typeface="Calibri"/>
              </a:rPr>
              <a:t>M : N </a:t>
            </a:r>
          </a:p>
          <a:p>
            <a:pPr marL="0" indent="0">
              <a:buNone/>
            </a:pPr>
            <a:endParaRPr lang="en-US" dirty="0">
              <a:cs typeface="Calibri"/>
            </a:endParaRPr>
          </a:p>
          <a:p>
            <a:pPr marL="0" indent="0">
              <a:buNone/>
            </a:pPr>
            <a:endParaRPr lang="en-US" dirty="0">
              <a:cs typeface="Calibri"/>
            </a:endParaRPr>
          </a:p>
          <a:p>
            <a:r>
              <a:rPr lang="en-US" dirty="0">
                <a:cs typeface="Calibri"/>
              </a:rPr>
              <a:t>1 : 1 </a:t>
            </a:r>
          </a:p>
          <a:p>
            <a:pPr marL="0" indent="0">
              <a:buNone/>
            </a:pPr>
            <a:endParaRPr lang="en-US" dirty="0">
              <a:cs typeface="Calibri"/>
            </a:endParaRPr>
          </a:p>
        </p:txBody>
      </p:sp>
      <p:sp>
        <p:nvSpPr>
          <p:cNvPr id="5" name="Rectangle 4">
            <a:extLst>
              <a:ext uri="{FF2B5EF4-FFF2-40B4-BE49-F238E27FC236}">
                <a16:creationId xmlns:a16="http://schemas.microsoft.com/office/drawing/2014/main" id="{D81F5FA0-4A49-4AC6-B3BB-983EC86C17C5}"/>
              </a:ext>
            </a:extLst>
          </p:cNvPr>
          <p:cNvSpPr/>
          <p:nvPr/>
        </p:nvSpPr>
        <p:spPr>
          <a:xfrm>
            <a:off x="1400174" y="2436018"/>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cs typeface="Calibri"/>
              </a:rPr>
              <a:t>Faculty </a:t>
            </a:r>
            <a:endParaRPr lang="en-US"/>
          </a:p>
        </p:txBody>
      </p:sp>
      <p:cxnSp>
        <p:nvCxnSpPr>
          <p:cNvPr id="7" name="Straight Arrow Connector 6">
            <a:extLst>
              <a:ext uri="{FF2B5EF4-FFF2-40B4-BE49-F238E27FC236}">
                <a16:creationId xmlns:a16="http://schemas.microsoft.com/office/drawing/2014/main" id="{DF1093D6-05B3-4F30-88B8-1721937890D7}"/>
              </a:ext>
            </a:extLst>
          </p:cNvPr>
          <p:cNvCxnSpPr>
            <a:cxnSpLocks/>
          </p:cNvCxnSpPr>
          <p:nvPr/>
        </p:nvCxnSpPr>
        <p:spPr>
          <a:xfrm>
            <a:off x="6460331" y="2781300"/>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9" name="Rectangle 8">
            <a:extLst>
              <a:ext uri="{FF2B5EF4-FFF2-40B4-BE49-F238E27FC236}">
                <a16:creationId xmlns:a16="http://schemas.microsoft.com/office/drawing/2014/main" id="{644FB2F0-8B17-4F44-A1C6-E29DB39902F3}"/>
              </a:ext>
            </a:extLst>
          </p:cNvPr>
          <p:cNvSpPr/>
          <p:nvPr/>
        </p:nvSpPr>
        <p:spPr>
          <a:xfrm>
            <a:off x="7186612" y="2436018"/>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Department</a:t>
            </a:r>
            <a:endParaRPr lang="en-US" dirty="0"/>
          </a:p>
        </p:txBody>
      </p:sp>
      <p:sp>
        <p:nvSpPr>
          <p:cNvPr id="11" name="Diamond 10">
            <a:extLst>
              <a:ext uri="{FF2B5EF4-FFF2-40B4-BE49-F238E27FC236}">
                <a16:creationId xmlns:a16="http://schemas.microsoft.com/office/drawing/2014/main" id="{B95337CB-3A58-470D-A7AD-D00AE3D23483}"/>
              </a:ext>
            </a:extLst>
          </p:cNvPr>
          <p:cNvSpPr/>
          <p:nvPr/>
        </p:nvSpPr>
        <p:spPr>
          <a:xfrm>
            <a:off x="4614861" y="2328862"/>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a:p>
            <a:pPr algn="ctr"/>
            <a:r>
              <a:rPr lang="en-US" dirty="0">
                <a:cs typeface="Calibri"/>
              </a:rPr>
              <a:t>Works for</a:t>
            </a:r>
            <a:endParaRPr lang="en-US" dirty="0"/>
          </a:p>
        </p:txBody>
      </p:sp>
      <p:cxnSp>
        <p:nvCxnSpPr>
          <p:cNvPr id="13" name="Straight Arrow Connector 12">
            <a:extLst>
              <a:ext uri="{FF2B5EF4-FFF2-40B4-BE49-F238E27FC236}">
                <a16:creationId xmlns:a16="http://schemas.microsoft.com/office/drawing/2014/main" id="{175430B9-2A05-4DA3-B83C-29F82BECFF17}"/>
              </a:ext>
            </a:extLst>
          </p:cNvPr>
          <p:cNvCxnSpPr/>
          <p:nvPr/>
        </p:nvCxnSpPr>
        <p:spPr>
          <a:xfrm>
            <a:off x="3733799" y="2781299"/>
            <a:ext cx="881062" cy="23813"/>
          </a:xfrm>
          <a:prstGeom prst="straightConnector1">
            <a:avLst/>
          </a:prstGeom>
        </p:spPr>
        <p:style>
          <a:lnRef idx="3">
            <a:schemeClr val="dk1"/>
          </a:lnRef>
          <a:fillRef idx="0">
            <a:schemeClr val="dk1"/>
          </a:fillRef>
          <a:effectRef idx="2">
            <a:schemeClr val="dk1"/>
          </a:effectRef>
          <a:fontRef idx="minor">
            <a:schemeClr val="tx1"/>
          </a:fontRef>
        </p:style>
      </p:cxnSp>
      <p:sp>
        <p:nvSpPr>
          <p:cNvPr id="15" name="Rectangle 14">
            <a:extLst>
              <a:ext uri="{FF2B5EF4-FFF2-40B4-BE49-F238E27FC236}">
                <a16:creationId xmlns:a16="http://schemas.microsoft.com/office/drawing/2014/main" id="{72CD61B8-ADD3-4926-BABD-F8D8343F8A25}"/>
              </a:ext>
            </a:extLst>
          </p:cNvPr>
          <p:cNvSpPr/>
          <p:nvPr/>
        </p:nvSpPr>
        <p:spPr>
          <a:xfrm>
            <a:off x="1197768" y="4031455"/>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Faculty</a:t>
            </a:r>
            <a:endParaRPr lang="en-US" dirty="0"/>
          </a:p>
        </p:txBody>
      </p:sp>
      <p:cxnSp>
        <p:nvCxnSpPr>
          <p:cNvPr id="17" name="Straight Arrow Connector 16">
            <a:extLst>
              <a:ext uri="{FF2B5EF4-FFF2-40B4-BE49-F238E27FC236}">
                <a16:creationId xmlns:a16="http://schemas.microsoft.com/office/drawing/2014/main" id="{8EB18534-4DE5-43A3-B4CC-29FA5288B553}"/>
              </a:ext>
            </a:extLst>
          </p:cNvPr>
          <p:cNvCxnSpPr>
            <a:cxnSpLocks/>
          </p:cNvCxnSpPr>
          <p:nvPr/>
        </p:nvCxnSpPr>
        <p:spPr>
          <a:xfrm>
            <a:off x="6257925" y="4376737"/>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19" name="Rectangle 18">
            <a:extLst>
              <a:ext uri="{FF2B5EF4-FFF2-40B4-BE49-F238E27FC236}">
                <a16:creationId xmlns:a16="http://schemas.microsoft.com/office/drawing/2014/main" id="{AF1F8309-A4E5-4D9A-A702-55F3EB4E4E45}"/>
              </a:ext>
            </a:extLst>
          </p:cNvPr>
          <p:cNvSpPr/>
          <p:nvPr/>
        </p:nvSpPr>
        <p:spPr>
          <a:xfrm>
            <a:off x="6984206" y="4031455"/>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Courses</a:t>
            </a:r>
            <a:endParaRPr lang="en-US" dirty="0"/>
          </a:p>
        </p:txBody>
      </p:sp>
      <p:sp>
        <p:nvSpPr>
          <p:cNvPr id="21" name="Diamond 20">
            <a:extLst>
              <a:ext uri="{FF2B5EF4-FFF2-40B4-BE49-F238E27FC236}">
                <a16:creationId xmlns:a16="http://schemas.microsoft.com/office/drawing/2014/main" id="{1881F132-F5BE-4F75-AC66-678106150110}"/>
              </a:ext>
            </a:extLst>
          </p:cNvPr>
          <p:cNvSpPr/>
          <p:nvPr/>
        </p:nvSpPr>
        <p:spPr>
          <a:xfrm>
            <a:off x="4412455" y="3924299"/>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dirty="0">
                <a:cs typeface="Calibri"/>
              </a:rPr>
              <a:t>Teaches</a:t>
            </a:r>
            <a:endParaRPr lang="en-US" dirty="0"/>
          </a:p>
        </p:txBody>
      </p:sp>
      <p:cxnSp>
        <p:nvCxnSpPr>
          <p:cNvPr id="23" name="Straight Arrow Connector 22">
            <a:extLst>
              <a:ext uri="{FF2B5EF4-FFF2-40B4-BE49-F238E27FC236}">
                <a16:creationId xmlns:a16="http://schemas.microsoft.com/office/drawing/2014/main" id="{DC288AA4-3D2B-4C70-B746-E5BCF7CB5B94}"/>
              </a:ext>
            </a:extLst>
          </p:cNvPr>
          <p:cNvCxnSpPr/>
          <p:nvPr/>
        </p:nvCxnSpPr>
        <p:spPr>
          <a:xfrm>
            <a:off x="3531393" y="4376736"/>
            <a:ext cx="881062" cy="23813"/>
          </a:xfrm>
          <a:prstGeom prst="straightConnector1">
            <a:avLst/>
          </a:prstGeom>
        </p:spPr>
        <p:style>
          <a:lnRef idx="3">
            <a:schemeClr val="dk1"/>
          </a:lnRef>
          <a:fillRef idx="0">
            <a:schemeClr val="dk1"/>
          </a:fillRef>
          <a:effectRef idx="2">
            <a:schemeClr val="dk1"/>
          </a:effectRef>
          <a:fontRef idx="minor">
            <a:schemeClr val="tx1"/>
          </a:fontRef>
        </p:style>
      </p:cxnSp>
      <p:sp>
        <p:nvSpPr>
          <p:cNvPr id="25" name="Rectangle 24">
            <a:extLst>
              <a:ext uri="{FF2B5EF4-FFF2-40B4-BE49-F238E27FC236}">
                <a16:creationId xmlns:a16="http://schemas.microsoft.com/office/drawing/2014/main" id="{BE657D33-F260-497E-8272-7FEBE21DA373}"/>
              </a:ext>
            </a:extLst>
          </p:cNvPr>
          <p:cNvSpPr/>
          <p:nvPr/>
        </p:nvSpPr>
        <p:spPr>
          <a:xfrm>
            <a:off x="1162049" y="5829299"/>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Faculty </a:t>
            </a:r>
            <a:endParaRPr lang="en-US" dirty="0"/>
          </a:p>
        </p:txBody>
      </p:sp>
      <p:cxnSp>
        <p:nvCxnSpPr>
          <p:cNvPr id="27" name="Straight Arrow Connector 26">
            <a:extLst>
              <a:ext uri="{FF2B5EF4-FFF2-40B4-BE49-F238E27FC236}">
                <a16:creationId xmlns:a16="http://schemas.microsoft.com/office/drawing/2014/main" id="{E150476E-2686-4065-B5A1-175F1C86C152}"/>
              </a:ext>
            </a:extLst>
          </p:cNvPr>
          <p:cNvCxnSpPr>
            <a:cxnSpLocks/>
          </p:cNvCxnSpPr>
          <p:nvPr/>
        </p:nvCxnSpPr>
        <p:spPr>
          <a:xfrm>
            <a:off x="6222206" y="6174581"/>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29" name="Rectangle 28">
            <a:extLst>
              <a:ext uri="{FF2B5EF4-FFF2-40B4-BE49-F238E27FC236}">
                <a16:creationId xmlns:a16="http://schemas.microsoft.com/office/drawing/2014/main" id="{812FB36F-0378-4A0A-9016-D9C2D10CE902}"/>
              </a:ext>
            </a:extLst>
          </p:cNvPr>
          <p:cNvSpPr/>
          <p:nvPr/>
        </p:nvSpPr>
        <p:spPr>
          <a:xfrm>
            <a:off x="6948487" y="5829299"/>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Department</a:t>
            </a:r>
            <a:endParaRPr lang="en-US" dirty="0"/>
          </a:p>
        </p:txBody>
      </p:sp>
      <p:sp>
        <p:nvSpPr>
          <p:cNvPr id="31" name="Diamond 30">
            <a:extLst>
              <a:ext uri="{FF2B5EF4-FFF2-40B4-BE49-F238E27FC236}">
                <a16:creationId xmlns:a16="http://schemas.microsoft.com/office/drawing/2014/main" id="{8359C1EC-2F5C-4DAF-A571-2F3E9E95AB4E}"/>
              </a:ext>
            </a:extLst>
          </p:cNvPr>
          <p:cNvSpPr/>
          <p:nvPr/>
        </p:nvSpPr>
        <p:spPr>
          <a:xfrm>
            <a:off x="4376736" y="5722143"/>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dirty="0">
                <a:cs typeface="Calibri"/>
              </a:rPr>
              <a:t>Is head of </a:t>
            </a:r>
            <a:endParaRPr lang="en-US" dirty="0"/>
          </a:p>
        </p:txBody>
      </p:sp>
      <p:cxnSp>
        <p:nvCxnSpPr>
          <p:cNvPr id="33" name="Straight Arrow Connector 32">
            <a:extLst>
              <a:ext uri="{FF2B5EF4-FFF2-40B4-BE49-F238E27FC236}">
                <a16:creationId xmlns:a16="http://schemas.microsoft.com/office/drawing/2014/main" id="{3B9C4330-278A-4C35-AF30-DF1CDD88E2D7}"/>
              </a:ext>
            </a:extLst>
          </p:cNvPr>
          <p:cNvCxnSpPr/>
          <p:nvPr/>
        </p:nvCxnSpPr>
        <p:spPr>
          <a:xfrm>
            <a:off x="3495674" y="6174580"/>
            <a:ext cx="881062" cy="23813"/>
          </a:xfrm>
          <a:prstGeom prst="straightConnector1">
            <a:avLst/>
          </a:prstGeom>
        </p:spPr>
        <p:style>
          <a:lnRef idx="3">
            <a:schemeClr val="dk1"/>
          </a:lnRef>
          <a:fillRef idx="0">
            <a:schemeClr val="dk1"/>
          </a:fillRef>
          <a:effectRef idx="2">
            <a:schemeClr val="dk1"/>
          </a:effectRef>
          <a:fontRef idx="minor">
            <a:schemeClr val="tx1"/>
          </a:fontRef>
        </p:style>
      </p:cxnSp>
      <p:sp>
        <p:nvSpPr>
          <p:cNvPr id="4" name="TextBox 3">
            <a:extLst>
              <a:ext uri="{FF2B5EF4-FFF2-40B4-BE49-F238E27FC236}">
                <a16:creationId xmlns:a16="http://schemas.microsoft.com/office/drawing/2014/main" id="{DC1249B4-FAA4-4993-9D4F-94F91F338044}"/>
              </a:ext>
            </a:extLst>
          </p:cNvPr>
          <p:cNvSpPr txBox="1"/>
          <p:nvPr/>
        </p:nvSpPr>
        <p:spPr>
          <a:xfrm>
            <a:off x="6157415" y="224505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        1</a:t>
            </a:r>
            <a:endParaRPr lang="en-US" dirty="0">
              <a:cs typeface="Calibri"/>
            </a:endParaRPr>
          </a:p>
        </p:txBody>
      </p:sp>
      <p:sp>
        <p:nvSpPr>
          <p:cNvPr id="6" name="TextBox 5">
            <a:extLst>
              <a:ext uri="{FF2B5EF4-FFF2-40B4-BE49-F238E27FC236}">
                <a16:creationId xmlns:a16="http://schemas.microsoft.com/office/drawing/2014/main" id="{DDD3A3F5-E7F6-4FE2-AD24-3D8BF33E5221}"/>
              </a:ext>
            </a:extLst>
          </p:cNvPr>
          <p:cNvSpPr txBox="1"/>
          <p:nvPr/>
        </p:nvSpPr>
        <p:spPr>
          <a:xfrm>
            <a:off x="3718588" y="241067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M</a:t>
            </a:r>
          </a:p>
        </p:txBody>
      </p:sp>
      <p:sp>
        <p:nvSpPr>
          <p:cNvPr id="8" name="TextBox 7">
            <a:extLst>
              <a:ext uri="{FF2B5EF4-FFF2-40B4-BE49-F238E27FC236}">
                <a16:creationId xmlns:a16="http://schemas.microsoft.com/office/drawing/2014/main" id="{386AEEEA-7F64-4D95-9E55-3824ECA2955D}"/>
              </a:ext>
            </a:extLst>
          </p:cNvPr>
          <p:cNvSpPr txBox="1"/>
          <p:nvPr/>
        </p:nvSpPr>
        <p:spPr>
          <a:xfrm>
            <a:off x="6090598" y="402068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M</a:t>
            </a:r>
          </a:p>
        </p:txBody>
      </p:sp>
      <p:sp>
        <p:nvSpPr>
          <p:cNvPr id="10" name="TextBox 9">
            <a:extLst>
              <a:ext uri="{FF2B5EF4-FFF2-40B4-BE49-F238E27FC236}">
                <a16:creationId xmlns:a16="http://schemas.microsoft.com/office/drawing/2014/main" id="{694C5952-1E04-4BFE-889C-1087ACF4D139}"/>
              </a:ext>
            </a:extLst>
          </p:cNvPr>
          <p:cNvSpPr txBox="1"/>
          <p:nvPr/>
        </p:nvSpPr>
        <p:spPr>
          <a:xfrm>
            <a:off x="3412935" y="402708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    N</a:t>
            </a:r>
            <a:endParaRPr lang="en-US" dirty="0">
              <a:cs typeface="Calibri"/>
            </a:endParaRPr>
          </a:p>
        </p:txBody>
      </p:sp>
      <p:sp>
        <p:nvSpPr>
          <p:cNvPr id="12" name="TextBox 11">
            <a:extLst>
              <a:ext uri="{FF2B5EF4-FFF2-40B4-BE49-F238E27FC236}">
                <a16:creationId xmlns:a16="http://schemas.microsoft.com/office/drawing/2014/main" id="{13AAC9F1-804E-4516-A214-6220742922D9}"/>
              </a:ext>
            </a:extLst>
          </p:cNvPr>
          <p:cNvSpPr txBox="1"/>
          <p:nvPr/>
        </p:nvSpPr>
        <p:spPr>
          <a:xfrm>
            <a:off x="6217124" y="571670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a:t>
            </a:r>
          </a:p>
        </p:txBody>
      </p:sp>
      <p:sp>
        <p:nvSpPr>
          <p:cNvPr id="14" name="TextBox 13">
            <a:extLst>
              <a:ext uri="{FF2B5EF4-FFF2-40B4-BE49-F238E27FC236}">
                <a16:creationId xmlns:a16="http://schemas.microsoft.com/office/drawing/2014/main" id="{9CC3522A-C901-4FB3-89AE-067E9FF20A27}"/>
              </a:ext>
            </a:extLst>
          </p:cNvPr>
          <p:cNvSpPr txBox="1"/>
          <p:nvPr/>
        </p:nvSpPr>
        <p:spPr>
          <a:xfrm>
            <a:off x="3414357" y="570035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a:t>
            </a:r>
          </a:p>
        </p:txBody>
      </p:sp>
    </p:spTree>
    <p:extLst>
      <p:ext uri="{BB962C8B-B14F-4D97-AF65-F5344CB8AC3E}">
        <p14:creationId xmlns:p14="http://schemas.microsoft.com/office/powerpoint/2010/main" val="2910011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78F1-9724-7BB5-C895-361F78B3BD4B}"/>
              </a:ext>
            </a:extLst>
          </p:cNvPr>
          <p:cNvSpPr>
            <a:spLocks noGrp="1"/>
          </p:cNvSpPr>
          <p:nvPr>
            <p:ph type="title"/>
          </p:nvPr>
        </p:nvSpPr>
        <p:spPr/>
        <p:txBody>
          <a:bodyPr/>
          <a:lstStyle/>
          <a:p>
            <a:r>
              <a:rPr lang="en-US" dirty="0"/>
              <a:t>Participation constraint</a:t>
            </a:r>
          </a:p>
        </p:txBody>
      </p:sp>
      <p:sp>
        <p:nvSpPr>
          <p:cNvPr id="3" name="Content Placeholder 2">
            <a:extLst>
              <a:ext uri="{FF2B5EF4-FFF2-40B4-BE49-F238E27FC236}">
                <a16:creationId xmlns:a16="http://schemas.microsoft.com/office/drawing/2014/main" id="{130F6097-1C1E-FCFC-854C-10325D9FCC18}"/>
              </a:ext>
            </a:extLst>
          </p:cNvPr>
          <p:cNvSpPr>
            <a:spLocks noGrp="1"/>
          </p:cNvSpPr>
          <p:nvPr>
            <p:ph idx="1"/>
          </p:nvPr>
        </p:nvSpPr>
        <p:spPr/>
        <p:txBody>
          <a:bodyPr>
            <a:normAutofit fontScale="92500"/>
          </a:bodyPr>
          <a:lstStyle/>
          <a:p>
            <a:pPr marL="0" indent="0" algn="l">
              <a:buNone/>
            </a:pPr>
            <a:r>
              <a:rPr lang="en-US" sz="2600" b="1" dirty="0">
                <a:solidFill>
                  <a:srgbClr val="000000"/>
                </a:solidFill>
                <a:latin typeface="Titillium Web" panose="020B0604020202020204" pitchFamily="2" charset="0"/>
              </a:rPr>
              <a:t>Total Participation </a:t>
            </a:r>
          </a:p>
          <a:p>
            <a:r>
              <a:rPr lang="en-US" dirty="0">
                <a:solidFill>
                  <a:srgbClr val="273239"/>
                </a:solidFill>
                <a:latin typeface="urw-din"/>
              </a:rPr>
              <a:t>Each entity in the entity set must participate in the relationship. </a:t>
            </a:r>
          </a:p>
          <a:p>
            <a:r>
              <a:rPr lang="en-US" dirty="0">
                <a:solidFill>
                  <a:srgbClr val="273239"/>
                </a:solidFill>
                <a:latin typeface="urw-din"/>
              </a:rPr>
              <a:t>If each student must enroll in a course, the participation of student </a:t>
            </a:r>
          </a:p>
          <a:p>
            <a:pPr marL="0" indent="0">
              <a:buNone/>
            </a:pPr>
            <a:r>
              <a:rPr lang="en-US" dirty="0">
                <a:solidFill>
                  <a:srgbClr val="273239"/>
                </a:solidFill>
                <a:latin typeface="urw-din"/>
              </a:rPr>
              <a:t>   will be total. </a:t>
            </a:r>
          </a:p>
          <a:p>
            <a:r>
              <a:rPr lang="en-US" dirty="0">
                <a:solidFill>
                  <a:srgbClr val="273239"/>
                </a:solidFill>
                <a:latin typeface="urw-din"/>
              </a:rPr>
              <a:t>Total participation is shown by double line in ER diagram. </a:t>
            </a:r>
          </a:p>
          <a:p>
            <a:pPr marL="0" indent="0" algn="l">
              <a:buNone/>
            </a:pPr>
            <a:r>
              <a:rPr lang="en-US" sz="2600" b="1" i="0" dirty="0">
                <a:solidFill>
                  <a:srgbClr val="000000"/>
                </a:solidFill>
                <a:effectLst/>
                <a:latin typeface="Titillium Web" panose="020B0604020202020204" pitchFamily="2" charset="0"/>
              </a:rPr>
              <a:t>Partial Participation </a:t>
            </a:r>
          </a:p>
          <a:p>
            <a:r>
              <a:rPr lang="en-US" dirty="0">
                <a:solidFill>
                  <a:srgbClr val="273239"/>
                </a:solidFill>
                <a:latin typeface="urw-din"/>
              </a:rPr>
              <a:t>The entity in the entity set may or may NOT participate in the relationship. </a:t>
            </a:r>
          </a:p>
          <a:p>
            <a:r>
              <a:rPr lang="en-US" dirty="0">
                <a:solidFill>
                  <a:srgbClr val="273239"/>
                </a:solidFill>
                <a:latin typeface="urw-din"/>
              </a:rPr>
              <a:t>If some courses are not enrolled by any of the student, the participation of course will be partial</a:t>
            </a:r>
          </a:p>
        </p:txBody>
      </p:sp>
    </p:spTree>
    <p:extLst>
      <p:ext uri="{BB962C8B-B14F-4D97-AF65-F5344CB8AC3E}">
        <p14:creationId xmlns:p14="http://schemas.microsoft.com/office/powerpoint/2010/main" val="228028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F879C-6FF8-4DB6-9643-73E27A39B03B}"/>
              </a:ext>
            </a:extLst>
          </p:cNvPr>
          <p:cNvSpPr>
            <a:spLocks noGrp="1"/>
          </p:cNvSpPr>
          <p:nvPr>
            <p:ph type="title"/>
          </p:nvPr>
        </p:nvSpPr>
        <p:spPr/>
        <p:txBody>
          <a:bodyPr/>
          <a:lstStyle/>
          <a:p>
            <a:r>
              <a:rPr lang="en-US">
                <a:cs typeface="Calibri Light"/>
              </a:rPr>
              <a:t>Relationship: Particitaion </a:t>
            </a:r>
            <a:endParaRPr lang="en-US"/>
          </a:p>
        </p:txBody>
      </p:sp>
      <p:sp>
        <p:nvSpPr>
          <p:cNvPr id="3" name="Content Placeholder 2">
            <a:extLst>
              <a:ext uri="{FF2B5EF4-FFF2-40B4-BE49-F238E27FC236}">
                <a16:creationId xmlns:a16="http://schemas.microsoft.com/office/drawing/2014/main" id="{344ABC9E-551C-4D50-9BD1-0EDE0DE288A8}"/>
              </a:ext>
            </a:extLst>
          </p:cNvPr>
          <p:cNvSpPr>
            <a:spLocks noGrp="1"/>
          </p:cNvSpPr>
          <p:nvPr>
            <p:ph idx="1"/>
          </p:nvPr>
        </p:nvSpPr>
        <p:spPr/>
        <p:txBody>
          <a:bodyPr vert="horz" lIns="91440" tIns="45720" rIns="91440" bIns="45720" rtlCol="0" anchor="t">
            <a:normAutofit/>
          </a:bodyPr>
          <a:lstStyle/>
          <a:p>
            <a:r>
              <a:rPr lang="en-US">
                <a:cs typeface="Calibri"/>
              </a:rPr>
              <a:t>Total or partial</a:t>
            </a:r>
            <a:endParaRPr lang="en-US"/>
          </a:p>
          <a:p>
            <a:pPr marL="0" indent="0">
              <a:buNone/>
            </a:pPr>
            <a:endParaRPr lang="en-US" dirty="0">
              <a:cs typeface="Calibri"/>
            </a:endParaRPr>
          </a:p>
          <a:p>
            <a:pPr marL="0" indent="0">
              <a:buNone/>
            </a:pPr>
            <a:endParaRPr lang="en-US" dirty="0">
              <a:cs typeface="Calibri"/>
            </a:endParaRPr>
          </a:p>
        </p:txBody>
      </p:sp>
      <p:sp>
        <p:nvSpPr>
          <p:cNvPr id="5" name="Rectangle 4">
            <a:extLst>
              <a:ext uri="{FF2B5EF4-FFF2-40B4-BE49-F238E27FC236}">
                <a16:creationId xmlns:a16="http://schemas.microsoft.com/office/drawing/2014/main" id="{D81F5FA0-4A49-4AC6-B3BB-983EC86C17C5}"/>
              </a:ext>
            </a:extLst>
          </p:cNvPr>
          <p:cNvSpPr/>
          <p:nvPr/>
        </p:nvSpPr>
        <p:spPr>
          <a:xfrm>
            <a:off x="1400174" y="2436018"/>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cs typeface="Calibri"/>
            </a:endParaRPr>
          </a:p>
          <a:p>
            <a:pPr algn="ctr"/>
            <a:r>
              <a:rPr lang="en-US" dirty="0">
                <a:cs typeface="Calibri"/>
              </a:rPr>
              <a:t>Faculty </a:t>
            </a:r>
          </a:p>
        </p:txBody>
      </p:sp>
      <p:cxnSp>
        <p:nvCxnSpPr>
          <p:cNvPr id="7" name="Straight Arrow Connector 6">
            <a:extLst>
              <a:ext uri="{FF2B5EF4-FFF2-40B4-BE49-F238E27FC236}">
                <a16:creationId xmlns:a16="http://schemas.microsoft.com/office/drawing/2014/main" id="{DF1093D6-05B3-4F30-88B8-1721937890D7}"/>
              </a:ext>
            </a:extLst>
          </p:cNvPr>
          <p:cNvCxnSpPr>
            <a:cxnSpLocks/>
          </p:cNvCxnSpPr>
          <p:nvPr/>
        </p:nvCxnSpPr>
        <p:spPr>
          <a:xfrm>
            <a:off x="6460331" y="2781300"/>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9" name="Rectangle 8">
            <a:extLst>
              <a:ext uri="{FF2B5EF4-FFF2-40B4-BE49-F238E27FC236}">
                <a16:creationId xmlns:a16="http://schemas.microsoft.com/office/drawing/2014/main" id="{644FB2F0-8B17-4F44-A1C6-E29DB39902F3}"/>
              </a:ext>
            </a:extLst>
          </p:cNvPr>
          <p:cNvSpPr/>
          <p:nvPr/>
        </p:nvSpPr>
        <p:spPr>
          <a:xfrm>
            <a:off x="7186612" y="2436018"/>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Department</a:t>
            </a:r>
            <a:endParaRPr lang="en-US" dirty="0"/>
          </a:p>
        </p:txBody>
      </p:sp>
      <p:sp>
        <p:nvSpPr>
          <p:cNvPr id="11" name="Diamond 10">
            <a:extLst>
              <a:ext uri="{FF2B5EF4-FFF2-40B4-BE49-F238E27FC236}">
                <a16:creationId xmlns:a16="http://schemas.microsoft.com/office/drawing/2014/main" id="{B95337CB-3A58-470D-A7AD-D00AE3D23483}"/>
              </a:ext>
            </a:extLst>
          </p:cNvPr>
          <p:cNvSpPr/>
          <p:nvPr/>
        </p:nvSpPr>
        <p:spPr>
          <a:xfrm>
            <a:off x="4614861" y="2328862"/>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a:p>
            <a:pPr algn="ctr"/>
            <a:r>
              <a:rPr lang="en-US" dirty="0">
                <a:cs typeface="Calibri"/>
              </a:rPr>
              <a:t>works</a:t>
            </a:r>
            <a:endParaRPr lang="en-US" dirty="0"/>
          </a:p>
        </p:txBody>
      </p:sp>
      <p:cxnSp>
        <p:nvCxnSpPr>
          <p:cNvPr id="13" name="Straight Arrow Connector 12">
            <a:extLst>
              <a:ext uri="{FF2B5EF4-FFF2-40B4-BE49-F238E27FC236}">
                <a16:creationId xmlns:a16="http://schemas.microsoft.com/office/drawing/2014/main" id="{175430B9-2A05-4DA3-B83C-29F82BECFF17}"/>
              </a:ext>
            </a:extLst>
          </p:cNvPr>
          <p:cNvCxnSpPr/>
          <p:nvPr/>
        </p:nvCxnSpPr>
        <p:spPr>
          <a:xfrm>
            <a:off x="3733799" y="2781299"/>
            <a:ext cx="881062" cy="23813"/>
          </a:xfrm>
          <a:prstGeom prst="straightConnector1">
            <a:avLst/>
          </a:prstGeom>
        </p:spPr>
        <p:style>
          <a:lnRef idx="3">
            <a:schemeClr val="dk1"/>
          </a:lnRef>
          <a:fillRef idx="0">
            <a:schemeClr val="dk1"/>
          </a:fillRef>
          <a:effectRef idx="2">
            <a:schemeClr val="dk1"/>
          </a:effectRef>
          <a:fontRef idx="minor">
            <a:schemeClr val="tx1"/>
          </a:fontRef>
        </p:style>
      </p:cxnSp>
      <p:sp>
        <p:nvSpPr>
          <p:cNvPr id="15" name="Rectangle 14">
            <a:extLst>
              <a:ext uri="{FF2B5EF4-FFF2-40B4-BE49-F238E27FC236}">
                <a16:creationId xmlns:a16="http://schemas.microsoft.com/office/drawing/2014/main" id="{72CD61B8-ADD3-4926-BABD-F8D8343F8A25}"/>
              </a:ext>
            </a:extLst>
          </p:cNvPr>
          <p:cNvSpPr/>
          <p:nvPr/>
        </p:nvSpPr>
        <p:spPr>
          <a:xfrm>
            <a:off x="1197768" y="4031455"/>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Faculty</a:t>
            </a:r>
            <a:endParaRPr lang="en-US" dirty="0"/>
          </a:p>
        </p:txBody>
      </p:sp>
      <p:cxnSp>
        <p:nvCxnSpPr>
          <p:cNvPr id="17" name="Straight Arrow Connector 16">
            <a:extLst>
              <a:ext uri="{FF2B5EF4-FFF2-40B4-BE49-F238E27FC236}">
                <a16:creationId xmlns:a16="http://schemas.microsoft.com/office/drawing/2014/main" id="{8EB18534-4DE5-43A3-B4CC-29FA5288B553}"/>
              </a:ext>
            </a:extLst>
          </p:cNvPr>
          <p:cNvCxnSpPr>
            <a:cxnSpLocks/>
          </p:cNvCxnSpPr>
          <p:nvPr/>
        </p:nvCxnSpPr>
        <p:spPr>
          <a:xfrm>
            <a:off x="6257925" y="4376737"/>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19" name="Rectangle 18">
            <a:extLst>
              <a:ext uri="{FF2B5EF4-FFF2-40B4-BE49-F238E27FC236}">
                <a16:creationId xmlns:a16="http://schemas.microsoft.com/office/drawing/2014/main" id="{AF1F8309-A4E5-4D9A-A702-55F3EB4E4E45}"/>
              </a:ext>
            </a:extLst>
          </p:cNvPr>
          <p:cNvSpPr/>
          <p:nvPr/>
        </p:nvSpPr>
        <p:spPr>
          <a:xfrm>
            <a:off x="6984206" y="4031455"/>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Courses</a:t>
            </a:r>
            <a:endParaRPr lang="en-US" dirty="0"/>
          </a:p>
        </p:txBody>
      </p:sp>
      <p:sp>
        <p:nvSpPr>
          <p:cNvPr id="21" name="Diamond 20">
            <a:extLst>
              <a:ext uri="{FF2B5EF4-FFF2-40B4-BE49-F238E27FC236}">
                <a16:creationId xmlns:a16="http://schemas.microsoft.com/office/drawing/2014/main" id="{1881F132-F5BE-4F75-AC66-678106150110}"/>
              </a:ext>
            </a:extLst>
          </p:cNvPr>
          <p:cNvSpPr/>
          <p:nvPr/>
        </p:nvSpPr>
        <p:spPr>
          <a:xfrm>
            <a:off x="4412455" y="3924299"/>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dirty="0">
                <a:cs typeface="Calibri"/>
              </a:rPr>
              <a:t>Teaches</a:t>
            </a:r>
            <a:endParaRPr lang="en-US" dirty="0"/>
          </a:p>
        </p:txBody>
      </p:sp>
      <p:cxnSp>
        <p:nvCxnSpPr>
          <p:cNvPr id="23" name="Straight Arrow Connector 22">
            <a:extLst>
              <a:ext uri="{FF2B5EF4-FFF2-40B4-BE49-F238E27FC236}">
                <a16:creationId xmlns:a16="http://schemas.microsoft.com/office/drawing/2014/main" id="{DC288AA4-3D2B-4C70-B746-E5BCF7CB5B94}"/>
              </a:ext>
            </a:extLst>
          </p:cNvPr>
          <p:cNvCxnSpPr/>
          <p:nvPr/>
        </p:nvCxnSpPr>
        <p:spPr>
          <a:xfrm>
            <a:off x="3531393" y="4376736"/>
            <a:ext cx="881062" cy="23813"/>
          </a:xfrm>
          <a:prstGeom prst="straightConnector1">
            <a:avLst/>
          </a:prstGeom>
        </p:spPr>
        <p:style>
          <a:lnRef idx="3">
            <a:schemeClr val="dk1"/>
          </a:lnRef>
          <a:fillRef idx="0">
            <a:schemeClr val="dk1"/>
          </a:fillRef>
          <a:effectRef idx="2">
            <a:schemeClr val="dk1"/>
          </a:effectRef>
          <a:fontRef idx="minor">
            <a:schemeClr val="tx1"/>
          </a:fontRef>
        </p:style>
      </p:cxnSp>
      <p:sp>
        <p:nvSpPr>
          <p:cNvPr id="25" name="Rectangle 24">
            <a:extLst>
              <a:ext uri="{FF2B5EF4-FFF2-40B4-BE49-F238E27FC236}">
                <a16:creationId xmlns:a16="http://schemas.microsoft.com/office/drawing/2014/main" id="{BE657D33-F260-497E-8272-7FEBE21DA373}"/>
              </a:ext>
            </a:extLst>
          </p:cNvPr>
          <p:cNvSpPr/>
          <p:nvPr/>
        </p:nvSpPr>
        <p:spPr>
          <a:xfrm>
            <a:off x="1162049" y="5829299"/>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Faculty </a:t>
            </a:r>
            <a:endParaRPr lang="en-US" dirty="0"/>
          </a:p>
        </p:txBody>
      </p:sp>
      <p:cxnSp>
        <p:nvCxnSpPr>
          <p:cNvPr id="27" name="Straight Arrow Connector 26">
            <a:extLst>
              <a:ext uri="{FF2B5EF4-FFF2-40B4-BE49-F238E27FC236}">
                <a16:creationId xmlns:a16="http://schemas.microsoft.com/office/drawing/2014/main" id="{E150476E-2686-4065-B5A1-175F1C86C152}"/>
              </a:ext>
            </a:extLst>
          </p:cNvPr>
          <p:cNvCxnSpPr>
            <a:cxnSpLocks/>
          </p:cNvCxnSpPr>
          <p:nvPr/>
        </p:nvCxnSpPr>
        <p:spPr>
          <a:xfrm>
            <a:off x="6222206" y="6174581"/>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29" name="Rectangle 28">
            <a:extLst>
              <a:ext uri="{FF2B5EF4-FFF2-40B4-BE49-F238E27FC236}">
                <a16:creationId xmlns:a16="http://schemas.microsoft.com/office/drawing/2014/main" id="{812FB36F-0378-4A0A-9016-D9C2D10CE902}"/>
              </a:ext>
            </a:extLst>
          </p:cNvPr>
          <p:cNvSpPr/>
          <p:nvPr/>
        </p:nvSpPr>
        <p:spPr>
          <a:xfrm>
            <a:off x="6948487" y="5829299"/>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Department</a:t>
            </a:r>
            <a:endParaRPr lang="en-US" dirty="0"/>
          </a:p>
        </p:txBody>
      </p:sp>
      <p:sp>
        <p:nvSpPr>
          <p:cNvPr id="31" name="Diamond 30">
            <a:extLst>
              <a:ext uri="{FF2B5EF4-FFF2-40B4-BE49-F238E27FC236}">
                <a16:creationId xmlns:a16="http://schemas.microsoft.com/office/drawing/2014/main" id="{8359C1EC-2F5C-4DAF-A571-2F3E9E95AB4E}"/>
              </a:ext>
            </a:extLst>
          </p:cNvPr>
          <p:cNvSpPr/>
          <p:nvPr/>
        </p:nvSpPr>
        <p:spPr>
          <a:xfrm>
            <a:off x="4376736" y="5722143"/>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dirty="0">
                <a:cs typeface="Calibri"/>
              </a:rPr>
              <a:t>Is head of </a:t>
            </a:r>
            <a:endParaRPr lang="en-US" dirty="0"/>
          </a:p>
        </p:txBody>
      </p:sp>
      <p:cxnSp>
        <p:nvCxnSpPr>
          <p:cNvPr id="33" name="Straight Arrow Connector 32">
            <a:extLst>
              <a:ext uri="{FF2B5EF4-FFF2-40B4-BE49-F238E27FC236}">
                <a16:creationId xmlns:a16="http://schemas.microsoft.com/office/drawing/2014/main" id="{3B9C4330-278A-4C35-AF30-DF1CDD88E2D7}"/>
              </a:ext>
            </a:extLst>
          </p:cNvPr>
          <p:cNvCxnSpPr/>
          <p:nvPr/>
        </p:nvCxnSpPr>
        <p:spPr>
          <a:xfrm>
            <a:off x="3495674" y="6174580"/>
            <a:ext cx="881062" cy="23813"/>
          </a:xfrm>
          <a:prstGeom prst="straightConnector1">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82653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F879C-6FF8-4DB6-9643-73E27A39B03B}"/>
              </a:ext>
            </a:extLst>
          </p:cNvPr>
          <p:cNvSpPr>
            <a:spLocks noGrp="1"/>
          </p:cNvSpPr>
          <p:nvPr>
            <p:ph type="title"/>
          </p:nvPr>
        </p:nvSpPr>
        <p:spPr/>
        <p:txBody>
          <a:bodyPr/>
          <a:lstStyle/>
          <a:p>
            <a:r>
              <a:rPr lang="en-US">
                <a:cs typeface="Calibri Light"/>
              </a:rPr>
              <a:t>Relationship: cardinality and Participation  </a:t>
            </a:r>
            <a:endParaRPr lang="en-US"/>
          </a:p>
        </p:txBody>
      </p:sp>
      <p:sp>
        <p:nvSpPr>
          <p:cNvPr id="3" name="Content Placeholder 2">
            <a:extLst>
              <a:ext uri="{FF2B5EF4-FFF2-40B4-BE49-F238E27FC236}">
                <a16:creationId xmlns:a16="http://schemas.microsoft.com/office/drawing/2014/main" id="{344ABC9E-551C-4D50-9BD1-0EDE0DE288A8}"/>
              </a:ext>
            </a:extLst>
          </p:cNvPr>
          <p:cNvSpPr>
            <a:spLocks noGrp="1"/>
          </p:cNvSpPr>
          <p:nvPr>
            <p:ph idx="1"/>
          </p:nvPr>
        </p:nvSpPr>
        <p:spPr/>
        <p:txBody>
          <a:bodyPr vert="horz" lIns="91440" tIns="45720" rIns="91440" bIns="45720" rtlCol="0" anchor="t">
            <a:normAutofit/>
          </a:bodyPr>
          <a:lstStyle/>
          <a:p>
            <a:r>
              <a:rPr lang="en-US" dirty="0">
                <a:cs typeface="Calibri"/>
              </a:rPr>
              <a:t>1 : M </a:t>
            </a:r>
          </a:p>
          <a:p>
            <a:pPr marL="0" indent="0">
              <a:buNone/>
            </a:pPr>
            <a:endParaRPr lang="en-US" dirty="0">
              <a:cs typeface="Calibri"/>
            </a:endParaRPr>
          </a:p>
          <a:p>
            <a:pPr marL="0" indent="0">
              <a:buNone/>
            </a:pPr>
            <a:endParaRPr lang="en-US" dirty="0">
              <a:cs typeface="Calibri"/>
            </a:endParaRPr>
          </a:p>
          <a:p>
            <a:r>
              <a:rPr lang="en-US" dirty="0">
                <a:cs typeface="Calibri"/>
              </a:rPr>
              <a:t>M : N </a:t>
            </a:r>
          </a:p>
          <a:p>
            <a:pPr marL="0" indent="0">
              <a:buNone/>
            </a:pPr>
            <a:endParaRPr lang="en-US" dirty="0">
              <a:cs typeface="Calibri"/>
            </a:endParaRPr>
          </a:p>
          <a:p>
            <a:pPr marL="0" indent="0">
              <a:buNone/>
            </a:pPr>
            <a:endParaRPr lang="en-US" dirty="0">
              <a:cs typeface="Calibri"/>
            </a:endParaRPr>
          </a:p>
          <a:p>
            <a:r>
              <a:rPr lang="en-US" dirty="0">
                <a:cs typeface="Calibri"/>
              </a:rPr>
              <a:t>1 : 1 </a:t>
            </a:r>
          </a:p>
          <a:p>
            <a:pPr marL="0" indent="0">
              <a:buNone/>
            </a:pPr>
            <a:endParaRPr lang="en-US" dirty="0">
              <a:cs typeface="Calibri"/>
            </a:endParaRPr>
          </a:p>
        </p:txBody>
      </p:sp>
      <p:sp>
        <p:nvSpPr>
          <p:cNvPr id="5" name="Rectangle 4">
            <a:extLst>
              <a:ext uri="{FF2B5EF4-FFF2-40B4-BE49-F238E27FC236}">
                <a16:creationId xmlns:a16="http://schemas.microsoft.com/office/drawing/2014/main" id="{D81F5FA0-4A49-4AC6-B3BB-983EC86C17C5}"/>
              </a:ext>
            </a:extLst>
          </p:cNvPr>
          <p:cNvSpPr/>
          <p:nvPr/>
        </p:nvSpPr>
        <p:spPr>
          <a:xfrm>
            <a:off x="1400174" y="2436018"/>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cs typeface="Calibri"/>
            </a:endParaRPr>
          </a:p>
          <a:p>
            <a:pPr algn="ctr"/>
            <a:r>
              <a:rPr lang="en-US" dirty="0">
                <a:cs typeface="Calibri"/>
              </a:rPr>
              <a:t>Faculty </a:t>
            </a:r>
          </a:p>
        </p:txBody>
      </p:sp>
      <p:cxnSp>
        <p:nvCxnSpPr>
          <p:cNvPr id="7" name="Straight Arrow Connector 6">
            <a:extLst>
              <a:ext uri="{FF2B5EF4-FFF2-40B4-BE49-F238E27FC236}">
                <a16:creationId xmlns:a16="http://schemas.microsoft.com/office/drawing/2014/main" id="{DF1093D6-05B3-4F30-88B8-1721937890D7}"/>
              </a:ext>
            </a:extLst>
          </p:cNvPr>
          <p:cNvCxnSpPr>
            <a:cxnSpLocks/>
          </p:cNvCxnSpPr>
          <p:nvPr/>
        </p:nvCxnSpPr>
        <p:spPr>
          <a:xfrm>
            <a:off x="6460331" y="2781300"/>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9" name="Rectangle 8">
            <a:extLst>
              <a:ext uri="{FF2B5EF4-FFF2-40B4-BE49-F238E27FC236}">
                <a16:creationId xmlns:a16="http://schemas.microsoft.com/office/drawing/2014/main" id="{644FB2F0-8B17-4F44-A1C6-E29DB39902F3}"/>
              </a:ext>
            </a:extLst>
          </p:cNvPr>
          <p:cNvSpPr/>
          <p:nvPr/>
        </p:nvSpPr>
        <p:spPr>
          <a:xfrm>
            <a:off x="7186612" y="2436018"/>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Department</a:t>
            </a:r>
            <a:endParaRPr lang="en-US" dirty="0"/>
          </a:p>
        </p:txBody>
      </p:sp>
      <p:sp>
        <p:nvSpPr>
          <p:cNvPr id="11" name="Diamond 10">
            <a:extLst>
              <a:ext uri="{FF2B5EF4-FFF2-40B4-BE49-F238E27FC236}">
                <a16:creationId xmlns:a16="http://schemas.microsoft.com/office/drawing/2014/main" id="{B95337CB-3A58-470D-A7AD-D00AE3D23483}"/>
              </a:ext>
            </a:extLst>
          </p:cNvPr>
          <p:cNvSpPr/>
          <p:nvPr/>
        </p:nvSpPr>
        <p:spPr>
          <a:xfrm>
            <a:off x="4614861" y="2328862"/>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dirty="0">
                <a:cs typeface="Calibri"/>
              </a:rPr>
              <a:t>works</a:t>
            </a:r>
            <a:endParaRPr lang="en-US" dirty="0"/>
          </a:p>
        </p:txBody>
      </p:sp>
      <p:cxnSp>
        <p:nvCxnSpPr>
          <p:cNvPr id="13" name="Straight Arrow Connector 12">
            <a:extLst>
              <a:ext uri="{FF2B5EF4-FFF2-40B4-BE49-F238E27FC236}">
                <a16:creationId xmlns:a16="http://schemas.microsoft.com/office/drawing/2014/main" id="{175430B9-2A05-4DA3-B83C-29F82BECFF17}"/>
              </a:ext>
            </a:extLst>
          </p:cNvPr>
          <p:cNvCxnSpPr/>
          <p:nvPr/>
        </p:nvCxnSpPr>
        <p:spPr>
          <a:xfrm>
            <a:off x="3733799" y="2781299"/>
            <a:ext cx="881062" cy="23813"/>
          </a:xfrm>
          <a:prstGeom prst="straightConnector1">
            <a:avLst/>
          </a:prstGeom>
        </p:spPr>
        <p:style>
          <a:lnRef idx="3">
            <a:schemeClr val="dk1"/>
          </a:lnRef>
          <a:fillRef idx="0">
            <a:schemeClr val="dk1"/>
          </a:fillRef>
          <a:effectRef idx="2">
            <a:schemeClr val="dk1"/>
          </a:effectRef>
          <a:fontRef idx="minor">
            <a:schemeClr val="tx1"/>
          </a:fontRef>
        </p:style>
      </p:cxnSp>
      <p:sp>
        <p:nvSpPr>
          <p:cNvPr id="15" name="Rectangle 14">
            <a:extLst>
              <a:ext uri="{FF2B5EF4-FFF2-40B4-BE49-F238E27FC236}">
                <a16:creationId xmlns:a16="http://schemas.microsoft.com/office/drawing/2014/main" id="{72CD61B8-ADD3-4926-BABD-F8D8343F8A25}"/>
              </a:ext>
            </a:extLst>
          </p:cNvPr>
          <p:cNvSpPr/>
          <p:nvPr/>
        </p:nvSpPr>
        <p:spPr>
          <a:xfrm>
            <a:off x="1197768" y="4031455"/>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Faculty</a:t>
            </a:r>
            <a:endParaRPr lang="en-US" dirty="0"/>
          </a:p>
        </p:txBody>
      </p:sp>
      <p:cxnSp>
        <p:nvCxnSpPr>
          <p:cNvPr id="17" name="Straight Arrow Connector 16">
            <a:extLst>
              <a:ext uri="{FF2B5EF4-FFF2-40B4-BE49-F238E27FC236}">
                <a16:creationId xmlns:a16="http://schemas.microsoft.com/office/drawing/2014/main" id="{8EB18534-4DE5-43A3-B4CC-29FA5288B553}"/>
              </a:ext>
            </a:extLst>
          </p:cNvPr>
          <p:cNvCxnSpPr>
            <a:cxnSpLocks/>
          </p:cNvCxnSpPr>
          <p:nvPr/>
        </p:nvCxnSpPr>
        <p:spPr>
          <a:xfrm>
            <a:off x="6257925" y="4376737"/>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19" name="Rectangle 18">
            <a:extLst>
              <a:ext uri="{FF2B5EF4-FFF2-40B4-BE49-F238E27FC236}">
                <a16:creationId xmlns:a16="http://schemas.microsoft.com/office/drawing/2014/main" id="{AF1F8309-A4E5-4D9A-A702-55F3EB4E4E45}"/>
              </a:ext>
            </a:extLst>
          </p:cNvPr>
          <p:cNvSpPr/>
          <p:nvPr/>
        </p:nvSpPr>
        <p:spPr>
          <a:xfrm>
            <a:off x="6984206" y="4031455"/>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Courses</a:t>
            </a:r>
            <a:endParaRPr lang="en-US" dirty="0"/>
          </a:p>
        </p:txBody>
      </p:sp>
      <p:sp>
        <p:nvSpPr>
          <p:cNvPr id="21" name="Diamond 20">
            <a:extLst>
              <a:ext uri="{FF2B5EF4-FFF2-40B4-BE49-F238E27FC236}">
                <a16:creationId xmlns:a16="http://schemas.microsoft.com/office/drawing/2014/main" id="{1881F132-F5BE-4F75-AC66-678106150110}"/>
              </a:ext>
            </a:extLst>
          </p:cNvPr>
          <p:cNvSpPr/>
          <p:nvPr/>
        </p:nvSpPr>
        <p:spPr>
          <a:xfrm>
            <a:off x="4412455" y="3924299"/>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dirty="0">
                <a:cs typeface="Calibri"/>
              </a:rPr>
              <a:t>Teaches</a:t>
            </a:r>
            <a:endParaRPr lang="en-US" dirty="0"/>
          </a:p>
        </p:txBody>
      </p:sp>
      <p:cxnSp>
        <p:nvCxnSpPr>
          <p:cNvPr id="23" name="Straight Arrow Connector 22">
            <a:extLst>
              <a:ext uri="{FF2B5EF4-FFF2-40B4-BE49-F238E27FC236}">
                <a16:creationId xmlns:a16="http://schemas.microsoft.com/office/drawing/2014/main" id="{DC288AA4-3D2B-4C70-B746-E5BCF7CB5B94}"/>
              </a:ext>
            </a:extLst>
          </p:cNvPr>
          <p:cNvCxnSpPr/>
          <p:nvPr/>
        </p:nvCxnSpPr>
        <p:spPr>
          <a:xfrm>
            <a:off x="3531393" y="4376736"/>
            <a:ext cx="881062" cy="23813"/>
          </a:xfrm>
          <a:prstGeom prst="straightConnector1">
            <a:avLst/>
          </a:prstGeom>
        </p:spPr>
        <p:style>
          <a:lnRef idx="3">
            <a:schemeClr val="dk1"/>
          </a:lnRef>
          <a:fillRef idx="0">
            <a:schemeClr val="dk1"/>
          </a:fillRef>
          <a:effectRef idx="2">
            <a:schemeClr val="dk1"/>
          </a:effectRef>
          <a:fontRef idx="minor">
            <a:schemeClr val="tx1"/>
          </a:fontRef>
        </p:style>
      </p:cxnSp>
      <p:sp>
        <p:nvSpPr>
          <p:cNvPr id="25" name="Rectangle 24">
            <a:extLst>
              <a:ext uri="{FF2B5EF4-FFF2-40B4-BE49-F238E27FC236}">
                <a16:creationId xmlns:a16="http://schemas.microsoft.com/office/drawing/2014/main" id="{BE657D33-F260-497E-8272-7FEBE21DA373}"/>
              </a:ext>
            </a:extLst>
          </p:cNvPr>
          <p:cNvSpPr/>
          <p:nvPr/>
        </p:nvSpPr>
        <p:spPr>
          <a:xfrm>
            <a:off x="1162049" y="5829299"/>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Faculty </a:t>
            </a:r>
            <a:endParaRPr lang="en-US" dirty="0"/>
          </a:p>
        </p:txBody>
      </p:sp>
      <p:cxnSp>
        <p:nvCxnSpPr>
          <p:cNvPr id="27" name="Straight Arrow Connector 26">
            <a:extLst>
              <a:ext uri="{FF2B5EF4-FFF2-40B4-BE49-F238E27FC236}">
                <a16:creationId xmlns:a16="http://schemas.microsoft.com/office/drawing/2014/main" id="{E150476E-2686-4065-B5A1-175F1C86C152}"/>
              </a:ext>
            </a:extLst>
          </p:cNvPr>
          <p:cNvCxnSpPr>
            <a:cxnSpLocks/>
          </p:cNvCxnSpPr>
          <p:nvPr/>
        </p:nvCxnSpPr>
        <p:spPr>
          <a:xfrm>
            <a:off x="6222206" y="6174581"/>
            <a:ext cx="797718" cy="23812"/>
          </a:xfrm>
          <a:prstGeom prst="straightConnector1">
            <a:avLst/>
          </a:prstGeom>
        </p:spPr>
        <p:style>
          <a:lnRef idx="3">
            <a:schemeClr val="dk1"/>
          </a:lnRef>
          <a:fillRef idx="0">
            <a:schemeClr val="dk1"/>
          </a:fillRef>
          <a:effectRef idx="2">
            <a:schemeClr val="dk1"/>
          </a:effectRef>
          <a:fontRef idx="minor">
            <a:schemeClr val="tx1"/>
          </a:fontRef>
        </p:style>
      </p:cxnSp>
      <p:sp>
        <p:nvSpPr>
          <p:cNvPr id="29" name="Rectangle 28">
            <a:extLst>
              <a:ext uri="{FF2B5EF4-FFF2-40B4-BE49-F238E27FC236}">
                <a16:creationId xmlns:a16="http://schemas.microsoft.com/office/drawing/2014/main" id="{812FB36F-0378-4A0A-9016-D9C2D10CE902}"/>
              </a:ext>
            </a:extLst>
          </p:cNvPr>
          <p:cNvSpPr/>
          <p:nvPr/>
        </p:nvSpPr>
        <p:spPr>
          <a:xfrm>
            <a:off x="6948487" y="5829299"/>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Department</a:t>
            </a:r>
            <a:endParaRPr lang="en-US" dirty="0"/>
          </a:p>
        </p:txBody>
      </p:sp>
      <p:sp>
        <p:nvSpPr>
          <p:cNvPr id="31" name="Diamond 30">
            <a:extLst>
              <a:ext uri="{FF2B5EF4-FFF2-40B4-BE49-F238E27FC236}">
                <a16:creationId xmlns:a16="http://schemas.microsoft.com/office/drawing/2014/main" id="{8359C1EC-2F5C-4DAF-A571-2F3E9E95AB4E}"/>
              </a:ext>
            </a:extLst>
          </p:cNvPr>
          <p:cNvSpPr/>
          <p:nvPr/>
        </p:nvSpPr>
        <p:spPr>
          <a:xfrm>
            <a:off x="4376736" y="5722143"/>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dirty="0">
                <a:cs typeface="Calibri"/>
              </a:rPr>
              <a:t>Is head of </a:t>
            </a:r>
            <a:endParaRPr lang="en-US" dirty="0"/>
          </a:p>
        </p:txBody>
      </p:sp>
      <p:cxnSp>
        <p:nvCxnSpPr>
          <p:cNvPr id="33" name="Straight Arrow Connector 32">
            <a:extLst>
              <a:ext uri="{FF2B5EF4-FFF2-40B4-BE49-F238E27FC236}">
                <a16:creationId xmlns:a16="http://schemas.microsoft.com/office/drawing/2014/main" id="{3B9C4330-278A-4C35-AF30-DF1CDD88E2D7}"/>
              </a:ext>
            </a:extLst>
          </p:cNvPr>
          <p:cNvCxnSpPr/>
          <p:nvPr/>
        </p:nvCxnSpPr>
        <p:spPr>
          <a:xfrm>
            <a:off x="3495674" y="6174580"/>
            <a:ext cx="881062" cy="23813"/>
          </a:xfrm>
          <a:prstGeom prst="straightConnector1">
            <a:avLst/>
          </a:prstGeom>
        </p:spPr>
        <p:style>
          <a:lnRef idx="3">
            <a:schemeClr val="dk1"/>
          </a:lnRef>
          <a:fillRef idx="0">
            <a:schemeClr val="dk1"/>
          </a:fillRef>
          <a:effectRef idx="2">
            <a:schemeClr val="dk1"/>
          </a:effectRef>
          <a:fontRef idx="minor">
            <a:schemeClr val="tx1"/>
          </a:fontRef>
        </p:style>
      </p:cxnSp>
      <p:sp>
        <p:nvSpPr>
          <p:cNvPr id="4" name="TextBox 3">
            <a:extLst>
              <a:ext uri="{FF2B5EF4-FFF2-40B4-BE49-F238E27FC236}">
                <a16:creationId xmlns:a16="http://schemas.microsoft.com/office/drawing/2014/main" id="{8B62B54C-CD7C-443F-8A86-13F2F68C3FFC}"/>
              </a:ext>
            </a:extLst>
          </p:cNvPr>
          <p:cNvSpPr txBox="1"/>
          <p:nvPr/>
        </p:nvSpPr>
        <p:spPr>
          <a:xfrm>
            <a:off x="6462712" y="2331243"/>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cs typeface="Calibri"/>
              </a:rPr>
              <a:t>1</a:t>
            </a:r>
          </a:p>
        </p:txBody>
      </p:sp>
      <p:sp>
        <p:nvSpPr>
          <p:cNvPr id="20" name="TextBox 19">
            <a:extLst>
              <a:ext uri="{FF2B5EF4-FFF2-40B4-BE49-F238E27FC236}">
                <a16:creationId xmlns:a16="http://schemas.microsoft.com/office/drawing/2014/main" id="{BF11A06D-38EC-4B9F-A9C6-ACD9F6463F07}"/>
              </a:ext>
            </a:extLst>
          </p:cNvPr>
          <p:cNvSpPr txBox="1"/>
          <p:nvPr/>
        </p:nvSpPr>
        <p:spPr>
          <a:xfrm>
            <a:off x="3879056" y="2426493"/>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cs typeface="Calibri"/>
              </a:rPr>
              <a:t>M</a:t>
            </a:r>
            <a:endParaRPr lang="en-US" dirty="0"/>
          </a:p>
        </p:txBody>
      </p:sp>
      <p:sp>
        <p:nvSpPr>
          <p:cNvPr id="6" name="TextBox 5">
            <a:extLst>
              <a:ext uri="{FF2B5EF4-FFF2-40B4-BE49-F238E27FC236}">
                <a16:creationId xmlns:a16="http://schemas.microsoft.com/office/drawing/2014/main" id="{FB030ECF-D2F4-4319-B2D4-849374B95630}"/>
              </a:ext>
            </a:extLst>
          </p:cNvPr>
          <p:cNvSpPr txBox="1"/>
          <p:nvPr/>
        </p:nvSpPr>
        <p:spPr>
          <a:xfrm>
            <a:off x="3604857" y="392330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M</a:t>
            </a:r>
          </a:p>
        </p:txBody>
      </p:sp>
      <p:sp>
        <p:nvSpPr>
          <p:cNvPr id="22" name="TextBox 21">
            <a:extLst>
              <a:ext uri="{FF2B5EF4-FFF2-40B4-BE49-F238E27FC236}">
                <a16:creationId xmlns:a16="http://schemas.microsoft.com/office/drawing/2014/main" id="{79103F9A-227B-4A12-A662-84464C783409}"/>
              </a:ext>
            </a:extLst>
          </p:cNvPr>
          <p:cNvSpPr txBox="1"/>
          <p:nvPr/>
        </p:nvSpPr>
        <p:spPr>
          <a:xfrm>
            <a:off x="5936349" y="565202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a:t>
            </a:r>
          </a:p>
        </p:txBody>
      </p:sp>
      <p:sp>
        <p:nvSpPr>
          <p:cNvPr id="24" name="TextBox 23">
            <a:extLst>
              <a:ext uri="{FF2B5EF4-FFF2-40B4-BE49-F238E27FC236}">
                <a16:creationId xmlns:a16="http://schemas.microsoft.com/office/drawing/2014/main" id="{E59BB1C1-BED3-4F74-95CA-F88C17E8F8FA}"/>
              </a:ext>
            </a:extLst>
          </p:cNvPr>
          <p:cNvSpPr txBox="1"/>
          <p:nvPr/>
        </p:nvSpPr>
        <p:spPr>
          <a:xfrm>
            <a:off x="6015961" y="392330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N</a:t>
            </a:r>
          </a:p>
        </p:txBody>
      </p:sp>
      <p:sp>
        <p:nvSpPr>
          <p:cNvPr id="26" name="TextBox 25">
            <a:extLst>
              <a:ext uri="{FF2B5EF4-FFF2-40B4-BE49-F238E27FC236}">
                <a16:creationId xmlns:a16="http://schemas.microsoft.com/office/drawing/2014/main" id="{0B4C5379-AEC8-4AB1-B9FC-3330D5A488C7}"/>
              </a:ext>
            </a:extLst>
          </p:cNvPr>
          <p:cNvSpPr txBox="1"/>
          <p:nvPr/>
        </p:nvSpPr>
        <p:spPr>
          <a:xfrm>
            <a:off x="3479752" y="58112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a:t>
            </a:r>
          </a:p>
        </p:txBody>
      </p:sp>
      <p:cxnSp>
        <p:nvCxnSpPr>
          <p:cNvPr id="28" name="Straight Arrow Connector 27">
            <a:extLst>
              <a:ext uri="{FF2B5EF4-FFF2-40B4-BE49-F238E27FC236}">
                <a16:creationId xmlns:a16="http://schemas.microsoft.com/office/drawing/2014/main" id="{216788ED-5481-484A-AE57-3FFE00F532FB}"/>
              </a:ext>
            </a:extLst>
          </p:cNvPr>
          <p:cNvCxnSpPr>
            <a:cxnSpLocks/>
          </p:cNvCxnSpPr>
          <p:nvPr/>
        </p:nvCxnSpPr>
        <p:spPr>
          <a:xfrm>
            <a:off x="6460330" y="2860911"/>
            <a:ext cx="797718" cy="23812"/>
          </a:xfrm>
          <a:prstGeom prst="straightConnector1">
            <a:avLst/>
          </a:prstGeom>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106129B4-01FE-460C-85F2-6870279D9B1C}"/>
              </a:ext>
            </a:extLst>
          </p:cNvPr>
          <p:cNvCxnSpPr>
            <a:cxnSpLocks/>
          </p:cNvCxnSpPr>
          <p:nvPr/>
        </p:nvCxnSpPr>
        <p:spPr>
          <a:xfrm flipV="1">
            <a:off x="3719406" y="2873350"/>
            <a:ext cx="956941" cy="10307"/>
          </a:xfrm>
          <a:prstGeom prst="straightConnector1">
            <a:avLst/>
          </a:prstGeom>
        </p:spPr>
        <p:style>
          <a:lnRef idx="3">
            <a:schemeClr val="dk1"/>
          </a:lnRef>
          <a:fillRef idx="0">
            <a:schemeClr val="dk1"/>
          </a:fillRef>
          <a:effectRef idx="2">
            <a:schemeClr val="dk1"/>
          </a:effectRef>
          <a:fontRef idx="minor">
            <a:schemeClr val="tx1"/>
          </a:fontRef>
        </p:style>
      </p:cxnSp>
      <p:cxnSp>
        <p:nvCxnSpPr>
          <p:cNvPr id="32" name="Straight Arrow Connector 31">
            <a:extLst>
              <a:ext uri="{FF2B5EF4-FFF2-40B4-BE49-F238E27FC236}">
                <a16:creationId xmlns:a16="http://schemas.microsoft.com/office/drawing/2014/main" id="{A27EC5CF-A78A-486D-AAE9-3FE6EC673C80}"/>
              </a:ext>
            </a:extLst>
          </p:cNvPr>
          <p:cNvCxnSpPr>
            <a:cxnSpLocks/>
          </p:cNvCxnSpPr>
          <p:nvPr/>
        </p:nvCxnSpPr>
        <p:spPr>
          <a:xfrm>
            <a:off x="6210122" y="4447844"/>
            <a:ext cx="809091" cy="12439"/>
          </a:xfrm>
          <a:prstGeom prst="straightConnector1">
            <a:avLst/>
          </a:prstGeom>
        </p:spPr>
        <p:style>
          <a:lnRef idx="3">
            <a:schemeClr val="dk1"/>
          </a:lnRef>
          <a:fillRef idx="0">
            <a:schemeClr val="dk1"/>
          </a:fillRef>
          <a:effectRef idx="2">
            <a:schemeClr val="dk1"/>
          </a:effectRef>
          <a:fontRef idx="minor">
            <a:schemeClr val="tx1"/>
          </a:fontRef>
        </p:style>
      </p:cxnSp>
      <p:cxnSp>
        <p:nvCxnSpPr>
          <p:cNvPr id="34" name="Straight Arrow Connector 33">
            <a:extLst>
              <a:ext uri="{FF2B5EF4-FFF2-40B4-BE49-F238E27FC236}">
                <a16:creationId xmlns:a16="http://schemas.microsoft.com/office/drawing/2014/main" id="{2A3F07EA-988A-4991-A06D-46601F1EEEE5}"/>
              </a:ext>
            </a:extLst>
          </p:cNvPr>
          <p:cNvCxnSpPr>
            <a:cxnSpLocks/>
          </p:cNvCxnSpPr>
          <p:nvPr/>
        </p:nvCxnSpPr>
        <p:spPr>
          <a:xfrm>
            <a:off x="3526061" y="4430403"/>
            <a:ext cx="1036553" cy="23812"/>
          </a:xfrm>
          <a:prstGeom prst="straightConnector1">
            <a:avLst/>
          </a:prstGeom>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4890D78B-BCE1-49E7-847B-2C510F33E4C1}"/>
              </a:ext>
            </a:extLst>
          </p:cNvPr>
          <p:cNvCxnSpPr>
            <a:cxnSpLocks/>
          </p:cNvCxnSpPr>
          <p:nvPr/>
        </p:nvCxnSpPr>
        <p:spPr>
          <a:xfrm>
            <a:off x="6141883" y="6068135"/>
            <a:ext cx="797718" cy="23812"/>
          </a:xfrm>
          <a:prstGeom prst="straightConnector1">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048261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B512D-4B57-40E2-9F12-564769C3E338}"/>
              </a:ext>
            </a:extLst>
          </p:cNvPr>
          <p:cNvSpPr>
            <a:spLocks noGrp="1"/>
          </p:cNvSpPr>
          <p:nvPr>
            <p:ph type="title"/>
          </p:nvPr>
        </p:nvSpPr>
        <p:spPr/>
        <p:txBody>
          <a:bodyPr/>
          <a:lstStyle/>
          <a:p>
            <a:r>
              <a:rPr lang="en-US" dirty="0"/>
              <a:t>Attributes of relationship</a:t>
            </a:r>
          </a:p>
        </p:txBody>
      </p:sp>
      <p:sp>
        <p:nvSpPr>
          <p:cNvPr id="3" name="Content Placeholder 2">
            <a:extLst>
              <a:ext uri="{FF2B5EF4-FFF2-40B4-BE49-F238E27FC236}">
                <a16:creationId xmlns:a16="http://schemas.microsoft.com/office/drawing/2014/main" id="{CDFF5AEC-34D7-4AF8-954F-9AA2504D48E2}"/>
              </a:ext>
            </a:extLst>
          </p:cNvPr>
          <p:cNvSpPr>
            <a:spLocks noGrp="1"/>
          </p:cNvSpPr>
          <p:nvPr>
            <p:ph idx="1"/>
          </p:nvPr>
        </p:nvSpPr>
        <p:spPr/>
        <p:txBody>
          <a:bodyPr/>
          <a:lstStyle/>
          <a:p>
            <a:pPr eaLnBrk="1" hangingPunct="1">
              <a:lnSpc>
                <a:spcPct val="90000"/>
              </a:lnSpc>
            </a:pPr>
            <a:r>
              <a:rPr lang="en-US" altLang="en-US" dirty="0"/>
              <a:t>A relationship can have attributes:</a:t>
            </a:r>
          </a:p>
          <a:p>
            <a:pPr lvl="1" eaLnBrk="1" hangingPunct="1">
              <a:lnSpc>
                <a:spcPct val="90000"/>
              </a:lnSpc>
            </a:pPr>
            <a:r>
              <a:rPr lang="en-US" altLang="en-US" dirty="0"/>
              <a:t>For example, grade of enrolls</a:t>
            </a:r>
          </a:p>
          <a:p>
            <a:pPr lvl="1" eaLnBrk="1" hangingPunct="1">
              <a:lnSpc>
                <a:spcPct val="90000"/>
              </a:lnSpc>
            </a:pPr>
            <a:r>
              <a:rPr lang="en-US" altLang="en-US" dirty="0"/>
              <a:t>Its value for each relationship instance describes the grade a student takes when he/she is enrolled in a course.</a:t>
            </a:r>
          </a:p>
          <a:p>
            <a:pPr lvl="2" eaLnBrk="1" hangingPunct="1">
              <a:lnSpc>
                <a:spcPct val="90000"/>
              </a:lnSpc>
            </a:pPr>
            <a:r>
              <a:rPr lang="en-US" altLang="en-US" dirty="0"/>
              <a:t>A value of  Grade depends on a particular (Student, Course) combination</a:t>
            </a:r>
          </a:p>
          <a:p>
            <a:endParaRPr lang="en-US" dirty="0"/>
          </a:p>
        </p:txBody>
      </p:sp>
      <p:sp>
        <p:nvSpPr>
          <p:cNvPr id="4" name="Rectangle 3">
            <a:extLst>
              <a:ext uri="{FF2B5EF4-FFF2-40B4-BE49-F238E27FC236}">
                <a16:creationId xmlns:a16="http://schemas.microsoft.com/office/drawing/2014/main" id="{AAB6628A-8496-4BFD-B723-5953520D95D7}"/>
              </a:ext>
            </a:extLst>
          </p:cNvPr>
          <p:cNvSpPr/>
          <p:nvPr/>
        </p:nvSpPr>
        <p:spPr>
          <a:xfrm>
            <a:off x="1454114" y="4293703"/>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Students </a:t>
            </a:r>
            <a:endParaRPr lang="en-US" dirty="0"/>
          </a:p>
        </p:txBody>
      </p:sp>
      <p:sp>
        <p:nvSpPr>
          <p:cNvPr id="5" name="Rectangle 4">
            <a:extLst>
              <a:ext uri="{FF2B5EF4-FFF2-40B4-BE49-F238E27FC236}">
                <a16:creationId xmlns:a16="http://schemas.microsoft.com/office/drawing/2014/main" id="{BBDAC457-9197-4FF7-AEE1-F219E1E4EB32}"/>
              </a:ext>
            </a:extLst>
          </p:cNvPr>
          <p:cNvSpPr/>
          <p:nvPr/>
        </p:nvSpPr>
        <p:spPr>
          <a:xfrm>
            <a:off x="7240552" y="4293703"/>
            <a:ext cx="2333625" cy="69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Course</a:t>
            </a:r>
            <a:endParaRPr lang="en-US" dirty="0"/>
          </a:p>
        </p:txBody>
      </p:sp>
      <p:sp>
        <p:nvSpPr>
          <p:cNvPr id="6" name="Diamond 5">
            <a:extLst>
              <a:ext uri="{FF2B5EF4-FFF2-40B4-BE49-F238E27FC236}">
                <a16:creationId xmlns:a16="http://schemas.microsoft.com/office/drawing/2014/main" id="{E459A34D-9B0C-4FCF-BD93-B13977C4D1EA}"/>
              </a:ext>
            </a:extLst>
          </p:cNvPr>
          <p:cNvSpPr/>
          <p:nvPr/>
        </p:nvSpPr>
        <p:spPr>
          <a:xfrm>
            <a:off x="4668801" y="4186547"/>
            <a:ext cx="1928813" cy="90487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a:p>
            <a:pPr algn="ctr"/>
            <a:r>
              <a:rPr lang="en-US" dirty="0">
                <a:cs typeface="Calibri"/>
              </a:rPr>
              <a:t>Enrolls</a:t>
            </a:r>
          </a:p>
        </p:txBody>
      </p:sp>
      <p:cxnSp>
        <p:nvCxnSpPr>
          <p:cNvPr id="8" name="Straight Connector 7">
            <a:extLst>
              <a:ext uri="{FF2B5EF4-FFF2-40B4-BE49-F238E27FC236}">
                <a16:creationId xmlns:a16="http://schemas.microsoft.com/office/drawing/2014/main" id="{9B18D7E3-CDF4-49DC-967D-A1C4FAFC0607}"/>
              </a:ext>
            </a:extLst>
          </p:cNvPr>
          <p:cNvCxnSpPr>
            <a:stCxn id="4" idx="3"/>
            <a:endCxn id="6" idx="1"/>
          </p:cNvCxnSpPr>
          <p:nvPr/>
        </p:nvCxnSpPr>
        <p:spPr>
          <a:xfrm>
            <a:off x="3787739" y="4638985"/>
            <a:ext cx="8810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6FE6A8-1BAE-4E85-912C-CE5EA2DB679A}"/>
              </a:ext>
            </a:extLst>
          </p:cNvPr>
          <p:cNvCxnSpPr>
            <a:cxnSpLocks/>
            <a:endCxn id="5" idx="1"/>
          </p:cNvCxnSpPr>
          <p:nvPr/>
        </p:nvCxnSpPr>
        <p:spPr>
          <a:xfrm>
            <a:off x="6497809" y="4638985"/>
            <a:ext cx="7427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FAC185-2C6C-42F8-BF86-99F7C1ED85DA}"/>
              </a:ext>
            </a:extLst>
          </p:cNvPr>
          <p:cNvCxnSpPr>
            <a:cxnSpLocks/>
          </p:cNvCxnSpPr>
          <p:nvPr/>
        </p:nvCxnSpPr>
        <p:spPr>
          <a:xfrm>
            <a:off x="5655469" y="5091422"/>
            <a:ext cx="440531" cy="567256"/>
          </a:xfrm>
          <a:prstGeom prst="line">
            <a:avLst/>
          </a:prstGeom>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80399C7F-858B-4C7F-9A14-E412F18DF39D}"/>
              </a:ext>
            </a:extLst>
          </p:cNvPr>
          <p:cNvSpPr/>
          <p:nvPr/>
        </p:nvSpPr>
        <p:spPr>
          <a:xfrm>
            <a:off x="5607481" y="5618921"/>
            <a:ext cx="1780656" cy="70622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Grade</a:t>
            </a:r>
          </a:p>
        </p:txBody>
      </p:sp>
    </p:spTree>
    <p:extLst>
      <p:ext uri="{BB962C8B-B14F-4D97-AF65-F5344CB8AC3E}">
        <p14:creationId xmlns:p14="http://schemas.microsoft.com/office/powerpoint/2010/main" val="419314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CB698-6DF2-40CC-8A25-CB229485F51E}"/>
              </a:ext>
            </a:extLst>
          </p:cNvPr>
          <p:cNvSpPr>
            <a:spLocks noGrp="1"/>
          </p:cNvSpPr>
          <p:nvPr>
            <p:ph type="title"/>
          </p:nvPr>
        </p:nvSpPr>
        <p:spPr/>
        <p:txBody>
          <a:bodyPr/>
          <a:lstStyle/>
          <a:p>
            <a:r>
              <a:rPr lang="en-US">
                <a:cs typeface="Calibri Light"/>
              </a:rPr>
              <a:t>Recursive Relationship: Rolenames </a:t>
            </a:r>
            <a:endParaRPr lang="en-US"/>
          </a:p>
        </p:txBody>
      </p:sp>
      <p:sp>
        <p:nvSpPr>
          <p:cNvPr id="3" name="Content Placeholder 2">
            <a:extLst>
              <a:ext uri="{FF2B5EF4-FFF2-40B4-BE49-F238E27FC236}">
                <a16:creationId xmlns:a16="http://schemas.microsoft.com/office/drawing/2014/main" id="{47D687C1-6C06-40DA-8ED5-51F73B970A0C}"/>
              </a:ext>
            </a:extLst>
          </p:cNvPr>
          <p:cNvSpPr>
            <a:spLocks noGrp="1"/>
          </p:cNvSpPr>
          <p:nvPr>
            <p:ph idx="1"/>
          </p:nvPr>
        </p:nvSpPr>
        <p:spPr/>
        <p:txBody>
          <a:bodyPr vert="horz" lIns="91440" tIns="45720" rIns="91440" bIns="45720" rtlCol="0" anchor="t">
            <a:normAutofit/>
          </a:bodyPr>
          <a:lstStyle/>
          <a:p>
            <a:r>
              <a:rPr lang="en-US" dirty="0">
                <a:cs typeface="Calibri"/>
              </a:rPr>
              <a:t>Employee is supervisor of other employees </a:t>
            </a:r>
            <a:endParaRPr lang="en-US" dirty="0"/>
          </a:p>
        </p:txBody>
      </p:sp>
      <p:sp>
        <p:nvSpPr>
          <p:cNvPr id="4" name="Rectangle 3">
            <a:extLst>
              <a:ext uri="{FF2B5EF4-FFF2-40B4-BE49-F238E27FC236}">
                <a16:creationId xmlns:a16="http://schemas.microsoft.com/office/drawing/2014/main" id="{08EFFF13-5A63-4A7E-BFFB-B7CAFEC35B01}"/>
              </a:ext>
            </a:extLst>
          </p:cNvPr>
          <p:cNvSpPr/>
          <p:nvPr/>
        </p:nvSpPr>
        <p:spPr>
          <a:xfrm>
            <a:off x="3693995" y="2971800"/>
            <a:ext cx="2854655" cy="9098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cs typeface="Calibri"/>
              </a:rPr>
              <a:t>Employee</a:t>
            </a:r>
            <a:endParaRPr lang="en-US"/>
          </a:p>
        </p:txBody>
      </p:sp>
      <p:sp>
        <p:nvSpPr>
          <p:cNvPr id="5" name="Diamond 4">
            <a:extLst>
              <a:ext uri="{FF2B5EF4-FFF2-40B4-BE49-F238E27FC236}">
                <a16:creationId xmlns:a16="http://schemas.microsoft.com/office/drawing/2014/main" id="{4B7E502B-7BFF-4AD7-8BFF-20FCAC01A49C}"/>
              </a:ext>
            </a:extLst>
          </p:cNvPr>
          <p:cNvSpPr/>
          <p:nvPr/>
        </p:nvSpPr>
        <p:spPr>
          <a:xfrm>
            <a:off x="5565585" y="5025362"/>
            <a:ext cx="2342864" cy="135340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Calibri"/>
              </a:rPr>
              <a:t>is supervisor of </a:t>
            </a:r>
            <a:endParaRPr lang="en-US" dirty="0"/>
          </a:p>
        </p:txBody>
      </p:sp>
      <p:cxnSp>
        <p:nvCxnSpPr>
          <p:cNvPr id="6" name="Straight Arrow Connector 5">
            <a:extLst>
              <a:ext uri="{FF2B5EF4-FFF2-40B4-BE49-F238E27FC236}">
                <a16:creationId xmlns:a16="http://schemas.microsoft.com/office/drawing/2014/main" id="{AE6F1AF2-450C-4845-B27A-5B7BA495A624}"/>
              </a:ext>
            </a:extLst>
          </p:cNvPr>
          <p:cNvCxnSpPr/>
          <p:nvPr/>
        </p:nvCxnSpPr>
        <p:spPr>
          <a:xfrm flipV="1">
            <a:off x="6561446" y="3519131"/>
            <a:ext cx="2024416" cy="1"/>
          </a:xfrm>
          <a:prstGeom prst="straightConnector1">
            <a:avLst/>
          </a:prstGeom>
        </p:spPr>
        <p:style>
          <a:lnRef idx="3">
            <a:schemeClr val="dk1"/>
          </a:lnRef>
          <a:fillRef idx="0">
            <a:schemeClr val="dk1"/>
          </a:fillRef>
          <a:effectRef idx="2">
            <a:schemeClr val="dk1"/>
          </a:effectRef>
          <a:fontRef idx="minor">
            <a:schemeClr val="tx1"/>
          </a:fontRef>
        </p:style>
      </p:cxnSp>
      <p:cxnSp>
        <p:nvCxnSpPr>
          <p:cNvPr id="7" name="Straight Arrow Connector 6">
            <a:extLst>
              <a:ext uri="{FF2B5EF4-FFF2-40B4-BE49-F238E27FC236}">
                <a16:creationId xmlns:a16="http://schemas.microsoft.com/office/drawing/2014/main" id="{EEDD4C8C-0E2A-4330-A895-D19EF23F14D5}"/>
              </a:ext>
            </a:extLst>
          </p:cNvPr>
          <p:cNvCxnSpPr/>
          <p:nvPr/>
        </p:nvCxnSpPr>
        <p:spPr>
          <a:xfrm>
            <a:off x="8546768" y="3514156"/>
            <a:ext cx="45492" cy="2251879"/>
          </a:xfrm>
          <a:prstGeom prst="straightConnector1">
            <a:avLst/>
          </a:prstGeom>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A949BFDE-B630-4555-B515-FEA1972EF47F}"/>
              </a:ext>
            </a:extLst>
          </p:cNvPr>
          <p:cNvCxnSpPr/>
          <p:nvPr/>
        </p:nvCxnSpPr>
        <p:spPr>
          <a:xfrm>
            <a:off x="7874636" y="5723184"/>
            <a:ext cx="716507" cy="11373"/>
          </a:xfrm>
          <a:prstGeom prst="straightConnector1">
            <a:avLst/>
          </a:prstGeom>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507F83FB-588F-405F-B365-E4C8B762A5B3}"/>
              </a:ext>
            </a:extLst>
          </p:cNvPr>
          <p:cNvCxnSpPr>
            <a:cxnSpLocks/>
          </p:cNvCxnSpPr>
          <p:nvPr/>
        </p:nvCxnSpPr>
        <p:spPr>
          <a:xfrm>
            <a:off x="4520678" y="3878096"/>
            <a:ext cx="45492" cy="1808327"/>
          </a:xfrm>
          <a:prstGeom prst="straightConnector1">
            <a:avLst/>
          </a:prstGeom>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B9B03DA2-B587-4FAF-BF26-B4E380F8F595}"/>
              </a:ext>
            </a:extLst>
          </p:cNvPr>
          <p:cNvCxnSpPr>
            <a:cxnSpLocks/>
          </p:cNvCxnSpPr>
          <p:nvPr/>
        </p:nvCxnSpPr>
        <p:spPr>
          <a:xfrm>
            <a:off x="4538450" y="5670076"/>
            <a:ext cx="1023581" cy="45492"/>
          </a:xfrm>
          <a:prstGeom prst="straightConnector1">
            <a:avLst/>
          </a:prstGeom>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4B1CA98D-3528-48D3-94FD-C4733012E32B}"/>
              </a:ext>
            </a:extLst>
          </p:cNvPr>
          <p:cNvSpPr txBox="1"/>
          <p:nvPr/>
        </p:nvSpPr>
        <p:spPr>
          <a:xfrm>
            <a:off x="4462818" y="44514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   Supervisor</a:t>
            </a:r>
            <a:endParaRPr lang="en-US" dirty="0">
              <a:cs typeface="Calibri"/>
            </a:endParaRPr>
          </a:p>
        </p:txBody>
      </p:sp>
      <p:sp>
        <p:nvSpPr>
          <p:cNvPr id="12" name="TextBox 11">
            <a:extLst>
              <a:ext uri="{FF2B5EF4-FFF2-40B4-BE49-F238E27FC236}">
                <a16:creationId xmlns:a16="http://schemas.microsoft.com/office/drawing/2014/main" id="{E02F9980-C771-47CA-B864-6754F137B774}"/>
              </a:ext>
            </a:extLst>
          </p:cNvPr>
          <p:cNvSpPr txBox="1"/>
          <p:nvPr/>
        </p:nvSpPr>
        <p:spPr>
          <a:xfrm>
            <a:off x="7278379" y="307031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supervisee</a:t>
            </a:r>
          </a:p>
        </p:txBody>
      </p:sp>
      <p:sp>
        <p:nvSpPr>
          <p:cNvPr id="13" name="TextBox 12">
            <a:extLst>
              <a:ext uri="{FF2B5EF4-FFF2-40B4-BE49-F238E27FC236}">
                <a16:creationId xmlns:a16="http://schemas.microsoft.com/office/drawing/2014/main" id="{7AAE8D01-FE08-46DE-875D-479765763898}"/>
              </a:ext>
            </a:extLst>
          </p:cNvPr>
          <p:cNvSpPr txBox="1"/>
          <p:nvPr/>
        </p:nvSpPr>
        <p:spPr>
          <a:xfrm>
            <a:off x="7569105" y="532859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M</a:t>
            </a:r>
          </a:p>
        </p:txBody>
      </p:sp>
      <p:sp>
        <p:nvSpPr>
          <p:cNvPr id="14" name="TextBox 13">
            <a:extLst>
              <a:ext uri="{FF2B5EF4-FFF2-40B4-BE49-F238E27FC236}">
                <a16:creationId xmlns:a16="http://schemas.microsoft.com/office/drawing/2014/main" id="{1A53EC40-08D0-45FB-9CA4-3E65B006D9AE}"/>
              </a:ext>
            </a:extLst>
          </p:cNvPr>
          <p:cNvSpPr txBox="1"/>
          <p:nvPr/>
        </p:nvSpPr>
        <p:spPr>
          <a:xfrm>
            <a:off x="4720846" y="523263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a:t>
            </a:r>
          </a:p>
        </p:txBody>
      </p:sp>
      <p:cxnSp>
        <p:nvCxnSpPr>
          <p:cNvPr id="15" name="Straight Arrow Connector 14">
            <a:extLst>
              <a:ext uri="{FF2B5EF4-FFF2-40B4-BE49-F238E27FC236}">
                <a16:creationId xmlns:a16="http://schemas.microsoft.com/office/drawing/2014/main" id="{B021ECE1-553D-45D4-88C8-1F4DF11E1228}"/>
              </a:ext>
            </a:extLst>
          </p:cNvPr>
          <p:cNvCxnSpPr>
            <a:cxnSpLocks/>
          </p:cNvCxnSpPr>
          <p:nvPr/>
        </p:nvCxnSpPr>
        <p:spPr>
          <a:xfrm>
            <a:off x="8649126" y="3423171"/>
            <a:ext cx="4974" cy="2419480"/>
          </a:xfrm>
          <a:prstGeom prst="straightConnector1">
            <a:avLst/>
          </a:prstGeom>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1677922D-002E-4F80-A75F-992330CB774E}"/>
              </a:ext>
            </a:extLst>
          </p:cNvPr>
          <p:cNvCxnSpPr>
            <a:cxnSpLocks/>
          </p:cNvCxnSpPr>
          <p:nvPr/>
        </p:nvCxnSpPr>
        <p:spPr>
          <a:xfrm>
            <a:off x="6481834" y="3439520"/>
            <a:ext cx="2172266" cy="22745"/>
          </a:xfrm>
          <a:prstGeom prst="straightConnector1">
            <a:avLst/>
          </a:prstGeom>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7BA6CE63-581A-4271-892D-DFEA58DC2E00}"/>
              </a:ext>
            </a:extLst>
          </p:cNvPr>
          <p:cNvCxnSpPr>
            <a:cxnSpLocks/>
          </p:cNvCxnSpPr>
          <p:nvPr/>
        </p:nvCxnSpPr>
        <p:spPr>
          <a:xfrm>
            <a:off x="7711554" y="5819905"/>
            <a:ext cx="937572" cy="0"/>
          </a:xfrm>
          <a:prstGeom prst="straightConnector1">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67455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D68B8-AC1B-417D-9DE6-52B9DEDF4DB4}"/>
              </a:ext>
            </a:extLst>
          </p:cNvPr>
          <p:cNvSpPr>
            <a:spLocks noGrp="1"/>
          </p:cNvSpPr>
          <p:nvPr>
            <p:ph type="title"/>
          </p:nvPr>
        </p:nvSpPr>
        <p:spPr/>
        <p:txBody>
          <a:bodyPr/>
          <a:lstStyle/>
          <a:p>
            <a:r>
              <a:rPr lang="en-US" dirty="0">
                <a:cs typeface="Calibri Light"/>
              </a:rPr>
              <a:t>Identifying relationship</a:t>
            </a:r>
            <a:endParaRPr lang="en-US" dirty="0"/>
          </a:p>
        </p:txBody>
      </p:sp>
      <p:sp>
        <p:nvSpPr>
          <p:cNvPr id="3" name="Content Placeholder 2">
            <a:extLst>
              <a:ext uri="{FF2B5EF4-FFF2-40B4-BE49-F238E27FC236}">
                <a16:creationId xmlns:a16="http://schemas.microsoft.com/office/drawing/2014/main" id="{D73BA116-1AF9-47CA-8863-4270D9DC8C26}"/>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r>
              <a:rPr lang="en-US" dirty="0"/>
              <a:t>Relationship between a strong and weak entity is called </a:t>
            </a:r>
            <a:r>
              <a:rPr lang="en-US" b="1" dirty="0"/>
              <a:t>identifying</a:t>
            </a:r>
            <a:r>
              <a:rPr lang="en-US" dirty="0"/>
              <a:t>.</a:t>
            </a:r>
          </a:p>
          <a:p>
            <a:r>
              <a:rPr lang="en-US" dirty="0"/>
              <a:t>Strong entity may have total or partial participation while weak entity must have total participation</a:t>
            </a:r>
          </a:p>
        </p:txBody>
      </p:sp>
      <p:pic>
        <p:nvPicPr>
          <p:cNvPr id="6" name="Picture 5">
            <a:extLst>
              <a:ext uri="{FF2B5EF4-FFF2-40B4-BE49-F238E27FC236}">
                <a16:creationId xmlns:a16="http://schemas.microsoft.com/office/drawing/2014/main" id="{99C54763-32F2-1A84-8715-BA7FBDC8F3F5}"/>
              </a:ext>
            </a:extLst>
          </p:cNvPr>
          <p:cNvPicPr>
            <a:picLocks noChangeAspect="1"/>
          </p:cNvPicPr>
          <p:nvPr/>
        </p:nvPicPr>
        <p:blipFill>
          <a:blip r:embed="rId2"/>
          <a:stretch>
            <a:fillRect/>
          </a:stretch>
        </p:blipFill>
        <p:spPr>
          <a:xfrm>
            <a:off x="2414726" y="1468746"/>
            <a:ext cx="6754057" cy="2633793"/>
          </a:xfrm>
          <a:prstGeom prst="rect">
            <a:avLst/>
          </a:prstGeom>
        </p:spPr>
      </p:pic>
    </p:spTree>
    <p:extLst>
      <p:ext uri="{BB962C8B-B14F-4D97-AF65-F5344CB8AC3E}">
        <p14:creationId xmlns:p14="http://schemas.microsoft.com/office/powerpoint/2010/main" val="198443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29C16-0734-4FC4-81E2-28F1390E60EC}"/>
              </a:ext>
            </a:extLst>
          </p:cNvPr>
          <p:cNvSpPr>
            <a:spLocks noGrp="1"/>
          </p:cNvSpPr>
          <p:nvPr>
            <p:ph type="title"/>
          </p:nvPr>
        </p:nvSpPr>
        <p:spPr/>
        <p:txBody>
          <a:bodyPr/>
          <a:lstStyle/>
          <a:p>
            <a:r>
              <a:rPr lang="en-US" dirty="0"/>
              <a:t>Ternary relationship</a:t>
            </a:r>
          </a:p>
        </p:txBody>
      </p:sp>
      <p:pic>
        <p:nvPicPr>
          <p:cNvPr id="5" name="Picture 1029" descr="fig03_17">
            <a:extLst>
              <a:ext uri="{FF2B5EF4-FFF2-40B4-BE49-F238E27FC236}">
                <a16:creationId xmlns:a16="http://schemas.microsoft.com/office/drawing/2014/main" id="{340090FD-9D1A-4948-ACCC-5F4B3F01211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1944" b="77190"/>
          <a:stretch/>
        </p:blipFill>
        <p:spPr bwMode="auto">
          <a:xfrm>
            <a:off x="1123720" y="2425230"/>
            <a:ext cx="9944560" cy="3480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86475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C9976274-9A63-4A39-AF26-C941993B4006}"/>
              </a:ext>
            </a:extLst>
          </p:cNvPr>
          <p:cNvSpPr>
            <a:spLocks noGrp="1" noChangeArrowheads="1"/>
          </p:cNvSpPr>
          <p:nvPr>
            <p:ph type="title"/>
          </p:nvPr>
        </p:nvSpPr>
        <p:spPr>
          <a:xfrm>
            <a:off x="838200" y="156104"/>
            <a:ext cx="10515600" cy="1325563"/>
          </a:xfrm>
        </p:spPr>
        <p:txBody>
          <a:bodyPr>
            <a:normAutofit fontScale="90000"/>
          </a:bodyPr>
          <a:lstStyle/>
          <a:p>
            <a:r>
              <a:rPr lang="en-US" altLang="en-US" dirty="0"/>
              <a:t> </a:t>
            </a:r>
            <a:br>
              <a:rPr lang="en-US" altLang="en-US" dirty="0"/>
            </a:br>
            <a:r>
              <a:rPr lang="en-US" altLang="en-US" dirty="0">
                <a:solidFill>
                  <a:schemeClr val="accent2"/>
                </a:solidFill>
              </a:rPr>
              <a:t>Mention cardinality &amp;  participation</a:t>
            </a:r>
            <a:br>
              <a:rPr lang="en-US" altLang="en-US" dirty="0">
                <a:solidFill>
                  <a:schemeClr val="accent2"/>
                </a:solidFill>
              </a:rPr>
            </a:br>
            <a:r>
              <a:rPr lang="en-US" altLang="en-US" dirty="0">
                <a:solidFill>
                  <a:schemeClr val="accent2"/>
                </a:solidFill>
              </a:rPr>
              <a:t>Identify Weak entities</a:t>
            </a:r>
            <a:br>
              <a:rPr lang="en-US" altLang="en-US" dirty="0">
                <a:solidFill>
                  <a:schemeClr val="accent2"/>
                </a:solidFill>
              </a:rPr>
            </a:br>
            <a:r>
              <a:rPr lang="en-US" altLang="en-US" dirty="0">
                <a:solidFill>
                  <a:schemeClr val="accent2"/>
                </a:solidFill>
              </a:rPr>
              <a:t>Identify relationship attributes</a:t>
            </a:r>
            <a:br>
              <a:rPr lang="en-US" altLang="en-US" dirty="0"/>
            </a:br>
            <a:endParaRPr lang="en-US" altLang="en-US" dirty="0"/>
          </a:p>
        </p:txBody>
      </p:sp>
      <p:sp>
        <p:nvSpPr>
          <p:cNvPr id="3" name="Content Placeholder 2">
            <a:extLst>
              <a:ext uri="{FF2B5EF4-FFF2-40B4-BE49-F238E27FC236}">
                <a16:creationId xmlns:a16="http://schemas.microsoft.com/office/drawing/2014/main" id="{D9449ACA-9B76-430A-B44F-96DCDFEFF3FE}"/>
              </a:ext>
            </a:extLst>
          </p:cNvPr>
          <p:cNvSpPr>
            <a:spLocks noGrp="1"/>
          </p:cNvSpPr>
          <p:nvPr>
            <p:ph idx="1"/>
          </p:nvPr>
        </p:nvSpPr>
        <p:spPr>
          <a:xfrm>
            <a:off x="677333" y="1625600"/>
            <a:ext cx="11023600" cy="5232399"/>
          </a:xfrm>
        </p:spPr>
        <p:txBody>
          <a:bodyPr>
            <a:normAutofit fontScale="25000" lnSpcReduction="20000"/>
          </a:bodyPr>
          <a:lstStyle/>
          <a:p>
            <a:r>
              <a:rPr lang="en-US" sz="10800" dirty="0">
                <a:ea typeface="+mn-lt"/>
                <a:cs typeface="+mn-lt"/>
              </a:rPr>
              <a:t>The company is organized into departments. Each department has a unique name, a unique number, and a particular employee who manages the department. We keep track of the start date when that employee began managing the department. A department may have several locations. </a:t>
            </a:r>
          </a:p>
          <a:p>
            <a:r>
              <a:rPr lang="en-US" sz="10800" dirty="0">
                <a:ea typeface="+mn-lt"/>
                <a:cs typeface="+mn-lt"/>
              </a:rPr>
              <a:t>A department controls a number of projects, each of which has a unique name, a unique number, and a single location. </a:t>
            </a:r>
          </a:p>
          <a:p>
            <a:r>
              <a:rPr lang="en-US" sz="10800" dirty="0">
                <a:ea typeface="+mn-lt"/>
                <a:cs typeface="+mn-lt"/>
              </a:rPr>
              <a:t>We store each employee’s name, Social Security number,2 address, salary, gender , and birth date. An employee is assigned to one department, but may work on several projects, which are not necessarily controlled by the same department. We keep track of the current number of hours per week that an employee works on each project. We also keep track of the direct supervisor of each employee (who is another employee). </a:t>
            </a:r>
          </a:p>
          <a:p>
            <a:r>
              <a:rPr lang="en-US" sz="10800" dirty="0">
                <a:ea typeface="+mn-lt"/>
                <a:cs typeface="+mn-lt"/>
              </a:rPr>
              <a:t> We want to keep track of the dependents of each employee for insurance purposes. We keep each dependent’s first name, gender, birth date, and relationship to the employee.</a:t>
            </a:r>
            <a:endParaRPr lang="en-US" sz="10800" dirty="0">
              <a:cs typeface="Calibri"/>
            </a:endParaRPr>
          </a:p>
          <a:p>
            <a:pPr marL="0" indent="0">
              <a:buNone/>
              <a:defRPr/>
            </a:pPr>
            <a:endParaRPr lang="en-US" dirty="0"/>
          </a:p>
        </p:txBody>
      </p:sp>
    </p:spTree>
    <p:extLst>
      <p:ext uri="{BB962C8B-B14F-4D97-AF65-F5344CB8AC3E}">
        <p14:creationId xmlns:p14="http://schemas.microsoft.com/office/powerpoint/2010/main" val="674327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687DEF8-1F27-B69C-58FA-53AAA327CDAE}"/>
              </a:ext>
            </a:extLst>
          </p:cNvPr>
          <p:cNvPicPr>
            <a:picLocks noGrp="1" noChangeAspect="1"/>
          </p:cNvPicPr>
          <p:nvPr>
            <p:ph idx="1"/>
          </p:nvPr>
        </p:nvPicPr>
        <p:blipFill>
          <a:blip r:embed="rId2"/>
          <a:stretch>
            <a:fillRect/>
          </a:stretch>
        </p:blipFill>
        <p:spPr>
          <a:xfrm>
            <a:off x="967449" y="630316"/>
            <a:ext cx="9241871" cy="5818956"/>
          </a:xfrm>
        </p:spPr>
      </p:pic>
    </p:spTree>
    <p:extLst>
      <p:ext uri="{BB962C8B-B14F-4D97-AF65-F5344CB8AC3E}">
        <p14:creationId xmlns:p14="http://schemas.microsoft.com/office/powerpoint/2010/main" val="38850536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877</TotalTime>
  <Words>1376</Words>
  <Application>Microsoft Office PowerPoint</Application>
  <PresentationFormat>Widescreen</PresentationFormat>
  <Paragraphs>266</Paragraphs>
  <Slides>31</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Arial</vt:lpstr>
      <vt:lpstr>Calibri</vt:lpstr>
      <vt:lpstr>Calibri Light</vt:lpstr>
      <vt:lpstr>Helvetica Neue</vt:lpstr>
      <vt:lpstr>IBM Plex Sans</vt:lpstr>
      <vt:lpstr>Nunito</vt:lpstr>
      <vt:lpstr>Titillium Web</vt:lpstr>
      <vt:lpstr>urw-din</vt:lpstr>
      <vt:lpstr>Wingdings</vt:lpstr>
      <vt:lpstr>office theme</vt:lpstr>
      <vt:lpstr>    Lecture 3: ER Diagram</vt:lpstr>
      <vt:lpstr>Designing a Database</vt:lpstr>
      <vt:lpstr>Conceptual design </vt:lpstr>
      <vt:lpstr>We will start with Conceptual design </vt:lpstr>
      <vt:lpstr>ER diagram </vt:lpstr>
      <vt:lpstr>ER Concepts</vt:lpstr>
      <vt:lpstr>Entity representation in ER Diagram (Rectangle)</vt:lpstr>
      <vt:lpstr>Strong Entity vs Weak Entity </vt:lpstr>
      <vt:lpstr>Example of weak entity </vt:lpstr>
      <vt:lpstr>Attributes representation in ERD (Oval)</vt:lpstr>
      <vt:lpstr>Types of an attribute</vt:lpstr>
      <vt:lpstr>Types of Attributes</vt:lpstr>
      <vt:lpstr>Types of Attributes</vt:lpstr>
      <vt:lpstr>Types of Attributes</vt:lpstr>
      <vt:lpstr> Attributes </vt:lpstr>
      <vt:lpstr>Complex attribute</vt:lpstr>
      <vt:lpstr>Types of keys </vt:lpstr>
      <vt:lpstr>Relationship representation in ERD (Diamond)</vt:lpstr>
      <vt:lpstr>Wrong structure</vt:lpstr>
      <vt:lpstr> Constraints on Relationship   </vt:lpstr>
      <vt:lpstr>Cardinality</vt:lpstr>
      <vt:lpstr>Relationship: cardinality </vt:lpstr>
      <vt:lpstr>Participation constraint</vt:lpstr>
      <vt:lpstr>Relationship: Particitaion </vt:lpstr>
      <vt:lpstr>Relationship: cardinality and Participation  </vt:lpstr>
      <vt:lpstr>Attributes of relationship</vt:lpstr>
      <vt:lpstr>Recursive Relationship: Rolenames </vt:lpstr>
      <vt:lpstr>Identifying relationship</vt:lpstr>
      <vt:lpstr>Ternary relationship</vt:lpstr>
      <vt:lpstr>  Mention cardinality &amp;  participation Identify Weak entities Identify relationship attributes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Zafar Ali</dc:creator>
  <cp:lastModifiedBy>Sadia Aslam</cp:lastModifiedBy>
  <cp:revision>720</cp:revision>
  <dcterms:created xsi:type="dcterms:W3CDTF">2020-05-28T16:17:07Z</dcterms:created>
  <dcterms:modified xsi:type="dcterms:W3CDTF">2026-03-04T05:44:16Z</dcterms:modified>
</cp:coreProperties>
</file>