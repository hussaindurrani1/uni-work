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858" r:id="rId1"/>
  </p:sldMasterIdLst>
  <p:notesMasterIdLst>
    <p:notesMasterId r:id="rId56"/>
  </p:notesMasterIdLst>
  <p:handoutMasterIdLst>
    <p:handoutMasterId r:id="rId57"/>
  </p:handoutMasterIdLst>
  <p:sldIdLst>
    <p:sldId id="256" r:id="rId2"/>
    <p:sldId id="430" r:id="rId3"/>
    <p:sldId id="429" r:id="rId4"/>
    <p:sldId id="402" r:id="rId5"/>
    <p:sldId id="403" r:id="rId6"/>
    <p:sldId id="422" r:id="rId7"/>
    <p:sldId id="423" r:id="rId8"/>
    <p:sldId id="424" r:id="rId9"/>
    <p:sldId id="425" r:id="rId10"/>
    <p:sldId id="426" r:id="rId11"/>
    <p:sldId id="427" r:id="rId12"/>
    <p:sldId id="404" r:id="rId13"/>
    <p:sldId id="377" r:id="rId14"/>
    <p:sldId id="392" r:id="rId15"/>
    <p:sldId id="417" r:id="rId16"/>
    <p:sldId id="431" r:id="rId17"/>
    <p:sldId id="293" r:id="rId18"/>
    <p:sldId id="294" r:id="rId19"/>
    <p:sldId id="264" r:id="rId20"/>
    <p:sldId id="265" r:id="rId21"/>
    <p:sldId id="266" r:id="rId22"/>
    <p:sldId id="267" r:id="rId23"/>
    <p:sldId id="268" r:id="rId24"/>
    <p:sldId id="269" r:id="rId25"/>
    <p:sldId id="295" r:id="rId26"/>
    <p:sldId id="296" r:id="rId27"/>
    <p:sldId id="297" r:id="rId28"/>
    <p:sldId id="270" r:id="rId29"/>
    <p:sldId id="271" r:id="rId30"/>
    <p:sldId id="272" r:id="rId31"/>
    <p:sldId id="274" r:id="rId32"/>
    <p:sldId id="298" r:id="rId33"/>
    <p:sldId id="439" r:id="rId34"/>
    <p:sldId id="432" r:id="rId35"/>
    <p:sldId id="433" r:id="rId36"/>
    <p:sldId id="434" r:id="rId37"/>
    <p:sldId id="409" r:id="rId38"/>
    <p:sldId id="410" r:id="rId39"/>
    <p:sldId id="411" r:id="rId40"/>
    <p:sldId id="435" r:id="rId41"/>
    <p:sldId id="436" r:id="rId42"/>
    <p:sldId id="394" r:id="rId43"/>
    <p:sldId id="395" r:id="rId44"/>
    <p:sldId id="408" r:id="rId45"/>
    <p:sldId id="396" r:id="rId46"/>
    <p:sldId id="397" r:id="rId47"/>
    <p:sldId id="398" r:id="rId48"/>
    <p:sldId id="399" r:id="rId49"/>
    <p:sldId id="437" r:id="rId50"/>
    <p:sldId id="412" r:id="rId51"/>
    <p:sldId id="438" r:id="rId52"/>
    <p:sldId id="414" r:id="rId53"/>
    <p:sldId id="415" r:id="rId54"/>
    <p:sldId id="413" r:id="rId55"/>
  </p:sldIdLst>
  <p:sldSz cx="9144000" cy="6858000" type="screen4x3"/>
  <p:notesSz cx="9296400" cy="6881813"/>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Arial" charset="0"/>
        <a:ea typeface="+mn-ea"/>
        <a:cs typeface="+mn-cs"/>
      </a:defRPr>
    </a:lvl1pPr>
    <a:lvl2pPr marL="457200" algn="l" rtl="0" eaLnBrk="0" fontAlgn="base" hangingPunct="0">
      <a:spcBef>
        <a:spcPct val="0"/>
      </a:spcBef>
      <a:spcAft>
        <a:spcPct val="0"/>
      </a:spcAft>
      <a:defRPr b="1" kern="1200">
        <a:solidFill>
          <a:schemeClr val="tx1"/>
        </a:solidFill>
        <a:latin typeface="Arial" charset="0"/>
        <a:ea typeface="+mn-ea"/>
        <a:cs typeface="+mn-cs"/>
      </a:defRPr>
    </a:lvl2pPr>
    <a:lvl3pPr marL="914400" algn="l" rtl="0" eaLnBrk="0" fontAlgn="base" hangingPunct="0">
      <a:spcBef>
        <a:spcPct val="0"/>
      </a:spcBef>
      <a:spcAft>
        <a:spcPct val="0"/>
      </a:spcAft>
      <a:defRPr b="1" kern="1200">
        <a:solidFill>
          <a:schemeClr val="tx1"/>
        </a:solidFill>
        <a:latin typeface="Arial" charset="0"/>
        <a:ea typeface="+mn-ea"/>
        <a:cs typeface="+mn-cs"/>
      </a:defRPr>
    </a:lvl3pPr>
    <a:lvl4pPr marL="1371600" algn="l" rtl="0" eaLnBrk="0" fontAlgn="base" hangingPunct="0">
      <a:spcBef>
        <a:spcPct val="0"/>
      </a:spcBef>
      <a:spcAft>
        <a:spcPct val="0"/>
      </a:spcAft>
      <a:defRPr b="1" kern="1200">
        <a:solidFill>
          <a:schemeClr val="tx1"/>
        </a:solidFill>
        <a:latin typeface="Arial" charset="0"/>
        <a:ea typeface="+mn-ea"/>
        <a:cs typeface="+mn-cs"/>
      </a:defRPr>
    </a:lvl4pPr>
    <a:lvl5pPr marL="1828800" algn="l" rtl="0" eaLnBrk="0" fontAlgn="base" hangingPunct="0">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CC"/>
    <a:srgbClr val="00FF9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84" autoAdjust="0"/>
    <p:restoredTop sz="90929"/>
  </p:normalViewPr>
  <p:slideViewPr>
    <p:cSldViewPr snapToGrid="0" snapToObjects="1">
      <p:cViewPr varScale="1">
        <p:scale>
          <a:sx n="54" d="100"/>
          <a:sy n="54" d="100"/>
        </p:scale>
        <p:origin x="145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9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1864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41674" y="3287803"/>
            <a:ext cx="6813056" cy="3058708"/>
          </a:xfrm>
          <a:prstGeom prst="rect">
            <a:avLst/>
          </a:prstGeom>
          <a:noFill/>
          <a:ln>
            <a:noFill/>
          </a:ln>
          <a:effectLst/>
        </p:spPr>
        <p:txBody>
          <a:bodyPr vert="horz" wrap="square" lIns="90488" tIns="44450" rIns="90488" bIns="4445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5059" name="Rectangle 3"/>
          <p:cNvSpPr>
            <a:spLocks noGrp="1" noRot="1" noChangeAspect="1" noChangeArrowheads="1" noTextEdit="1"/>
          </p:cNvSpPr>
          <p:nvPr>
            <p:ph type="sldImg" idx="2"/>
          </p:nvPr>
        </p:nvSpPr>
        <p:spPr bwMode="auto">
          <a:xfrm>
            <a:off x="3040063" y="619125"/>
            <a:ext cx="3216275" cy="24114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962459879"/>
      </p:ext>
    </p:extLst>
  </p:cSld>
  <p:clrMap bg1="lt1" tx1="dk1" bg2="lt2" tx2="dk2" accent1="accent1" accent2="accent2" accent3="accent3" accent4="accent4" accent5="accent5" accent6="accent6" hlink="hlink" folHlink="folHlink"/>
  <p:notesStyle>
    <a:lvl1pPr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sp>
        <p:nvSpPr>
          <p:cNvPr id="46083"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r>
              <a:rPr lang="en-US"/>
              <a:t>5/18/2023</a:t>
            </a:r>
            <a:endParaRPr lang="en-US" sz="1600" dirty="0"/>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B72BD9CB-7F4B-4EF3-9494-E1E4D9D36A1F}" type="slidenum">
              <a:rPr lang="en-US" smtClean="0"/>
              <a:pPr>
                <a:defRPr/>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5/18/2023</a:t>
            </a:r>
            <a:endParaRPr lang="en-US" dirty="0"/>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C07FC5DA-4482-4AD7-A23A-324B93506508}"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5/18/2023</a:t>
            </a:r>
            <a:endParaRPr lang="en-US" dirty="0"/>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139896CC-B6AE-4752-95F7-B18BFAD10C81}" type="slidenum">
              <a:rPr lang="en-US" smtClean="0"/>
              <a:pPr>
                <a:defRPr/>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5/18/2023</a:t>
            </a:r>
          </a:p>
        </p:txBody>
      </p:sp>
      <p:sp>
        <p:nvSpPr>
          <p:cNvPr id="6" name="Footer Placeholder 5"/>
          <p:cNvSpPr>
            <a:spLocks noGrp="1"/>
          </p:cNvSpPr>
          <p:nvPr>
            <p:ph type="ftr" sz="quarter" idx="11"/>
          </p:nvPr>
        </p:nvSpPr>
        <p:spPr/>
        <p:txBody>
          <a:bodyPr/>
          <a:lstStyle/>
          <a:p>
            <a:pPr>
              <a:defRPr/>
            </a:pPr>
            <a:r>
              <a:rPr lang="en-US"/>
              <a:t>CSC291 - Software Engineering Concepts</a:t>
            </a:r>
          </a:p>
        </p:txBody>
      </p:sp>
      <p:sp>
        <p:nvSpPr>
          <p:cNvPr id="7" name="Slide Number Placeholder 6"/>
          <p:cNvSpPr>
            <a:spLocks noGrp="1"/>
          </p:cNvSpPr>
          <p:nvPr>
            <p:ph type="sldNum" sz="quarter" idx="12"/>
          </p:nvPr>
        </p:nvSpPr>
        <p:spPr/>
        <p:txBody>
          <a:bodyPr/>
          <a:lstStyle/>
          <a:p>
            <a:pPr>
              <a:defRPr/>
            </a:pPr>
            <a:fld id="{534530F3-8B6C-4BA9-9B5F-D45F7B13D36F}"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5/18/2023</a:t>
            </a:r>
          </a:p>
        </p:txBody>
      </p:sp>
      <p:sp>
        <p:nvSpPr>
          <p:cNvPr id="8" name="Footer Placeholder 7"/>
          <p:cNvSpPr>
            <a:spLocks noGrp="1"/>
          </p:cNvSpPr>
          <p:nvPr>
            <p:ph type="ftr" sz="quarter" idx="11"/>
          </p:nvPr>
        </p:nvSpPr>
        <p:spPr/>
        <p:txBody>
          <a:bodyPr/>
          <a:lstStyle/>
          <a:p>
            <a:pPr>
              <a:defRPr/>
            </a:pPr>
            <a:r>
              <a:rPr lang="en-US"/>
              <a:t>CSC291 - Software Engineering Concepts</a:t>
            </a:r>
          </a:p>
        </p:txBody>
      </p:sp>
      <p:sp>
        <p:nvSpPr>
          <p:cNvPr id="9" name="Slide Number Placeholder 8"/>
          <p:cNvSpPr>
            <a:spLocks noGrp="1"/>
          </p:cNvSpPr>
          <p:nvPr>
            <p:ph type="sldNum" sz="quarter" idx="12"/>
          </p:nvPr>
        </p:nvSpPr>
        <p:spPr/>
        <p:txBody>
          <a:bodyPr/>
          <a:lstStyle/>
          <a:p>
            <a:pPr>
              <a:defRPr/>
            </a:pPr>
            <a:fld id="{9B65ABFF-E18F-442C-8EC2-40C0C3E8F9A8}" type="slidenum">
              <a:rPr lang="en-US" smtClean="0"/>
              <a:pPr>
                <a:defRPr/>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5/18/2023</a:t>
            </a:r>
          </a:p>
        </p:txBody>
      </p:sp>
      <p:sp>
        <p:nvSpPr>
          <p:cNvPr id="4" name="Footer Placeholder 3"/>
          <p:cNvSpPr>
            <a:spLocks noGrp="1"/>
          </p:cNvSpPr>
          <p:nvPr>
            <p:ph type="ftr" sz="quarter" idx="11"/>
          </p:nvPr>
        </p:nvSpPr>
        <p:spPr/>
        <p:txBody>
          <a:bodyPr/>
          <a:lstStyle/>
          <a:p>
            <a:pPr>
              <a:defRPr/>
            </a:pPr>
            <a:r>
              <a:rPr lang="en-US"/>
              <a:t>CSC291 - Software Engineering Concepts</a:t>
            </a:r>
          </a:p>
        </p:txBody>
      </p:sp>
      <p:sp>
        <p:nvSpPr>
          <p:cNvPr id="5" name="Slide Number Placeholder 4"/>
          <p:cNvSpPr>
            <a:spLocks noGrp="1"/>
          </p:cNvSpPr>
          <p:nvPr>
            <p:ph type="sldNum" sz="quarter" idx="12"/>
          </p:nvPr>
        </p:nvSpPr>
        <p:spPr/>
        <p:txBody>
          <a:bodyPr/>
          <a:lstStyle/>
          <a:p>
            <a:pPr>
              <a:defRPr/>
            </a:pPr>
            <a:fld id="{5984B1E9-F293-43F0-AC6B-13CB47FC238E}"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5/18/2023</a:t>
            </a:r>
          </a:p>
        </p:txBody>
      </p:sp>
      <p:sp>
        <p:nvSpPr>
          <p:cNvPr id="3" name="Footer Placeholder 2"/>
          <p:cNvSpPr>
            <a:spLocks noGrp="1"/>
          </p:cNvSpPr>
          <p:nvPr>
            <p:ph type="ftr" sz="quarter" idx="11"/>
          </p:nvPr>
        </p:nvSpPr>
        <p:spPr/>
        <p:txBody>
          <a:bodyPr/>
          <a:lstStyle/>
          <a:p>
            <a:pPr>
              <a:defRPr/>
            </a:pPr>
            <a:r>
              <a:rPr lang="en-US"/>
              <a:t>CSC291 - Software Engineering Concepts</a:t>
            </a:r>
          </a:p>
        </p:txBody>
      </p:sp>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5/18/2023</a:t>
            </a:r>
          </a:p>
        </p:txBody>
      </p:sp>
      <p:sp>
        <p:nvSpPr>
          <p:cNvPr id="6" name="Footer Placeholder 5"/>
          <p:cNvSpPr>
            <a:spLocks noGrp="1"/>
          </p:cNvSpPr>
          <p:nvPr>
            <p:ph type="ftr" sz="quarter" idx="11"/>
          </p:nvPr>
        </p:nvSpPr>
        <p:spPr/>
        <p:txBody>
          <a:bodyPr/>
          <a:lstStyle/>
          <a:p>
            <a:pPr>
              <a:defRPr/>
            </a:pPr>
            <a:r>
              <a:rPr lang="en-US"/>
              <a:t>CSC291 - Software Engineering Concepts</a:t>
            </a:r>
          </a:p>
        </p:txBody>
      </p:sp>
      <p:sp>
        <p:nvSpPr>
          <p:cNvPr id="7" name="Slide Number Placeholder 6"/>
          <p:cNvSpPr>
            <a:spLocks noGrp="1"/>
          </p:cNvSpPr>
          <p:nvPr>
            <p:ph type="sldNum" sz="quarter" idx="12"/>
          </p:nvPr>
        </p:nvSpPr>
        <p:spPr/>
        <p:txBody>
          <a:bodyPr/>
          <a:lstStyle/>
          <a:p>
            <a:pPr>
              <a:defRPr/>
            </a:pPr>
            <a:fld id="{8CEA2C0A-9D55-4C91-BED5-A0583F79D07D}" type="slidenum">
              <a:rPr lang="en-US" smtClean="0"/>
              <a:pPr>
                <a:defRPr/>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5/18/2023</a:t>
            </a:r>
          </a:p>
        </p:txBody>
      </p:sp>
      <p:sp>
        <p:nvSpPr>
          <p:cNvPr id="6" name="Footer Placeholder 5"/>
          <p:cNvSpPr>
            <a:spLocks noGrp="1"/>
          </p:cNvSpPr>
          <p:nvPr>
            <p:ph type="ftr" sz="quarter" idx="11"/>
          </p:nvPr>
        </p:nvSpPr>
        <p:spPr/>
        <p:txBody>
          <a:bodyPr/>
          <a:lstStyle/>
          <a:p>
            <a:pPr>
              <a:defRPr/>
            </a:pPr>
            <a:r>
              <a:rPr lang="en-US"/>
              <a:t>CSC291 - Software Engineering Concepts</a:t>
            </a:r>
          </a:p>
        </p:txBody>
      </p:sp>
      <p:sp>
        <p:nvSpPr>
          <p:cNvPr id="7" name="Slide Number Placeholder 6"/>
          <p:cNvSpPr>
            <a:spLocks noGrp="1"/>
          </p:cNvSpPr>
          <p:nvPr>
            <p:ph type="sldNum" sz="quarter" idx="12"/>
          </p:nvPr>
        </p:nvSpPr>
        <p:spPr/>
        <p:txBody>
          <a:bodyPr/>
          <a:lstStyle/>
          <a:p>
            <a:pPr>
              <a:defRPr/>
            </a:pPr>
            <a:fld id="{1A722E9D-4661-4B53-ADB3-5E62D8D6E070}"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5/18/2023</a:t>
            </a:r>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C604C0B5-B090-428A-9449-5AB010358B26}"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5/18/2023</a:t>
            </a:r>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25E78CCB-BB08-4942-B79C-41A977A156D1}"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r>
              <a:rPr lang="en-US"/>
              <a:t>5/18/2023</a:t>
            </a:r>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a:t>CSC291 - Software Engineering Concepts</a:t>
            </a:r>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AC64B13B-2154-4D0F-941C-4EA01AB53C11}" type="slidenum">
              <a:rPr lang="en-US" smtClean="0"/>
              <a:pPr>
                <a:defRPr/>
              </a:pPr>
              <a:t>‹#›</a:t>
            </a:fld>
            <a:endParaRPr lang="en-US" sz="1600" dirty="0"/>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103454"/>
            <a:ext cx="9144000" cy="1927225"/>
          </a:xfrm>
          <a:prstGeom prst="rect">
            <a:avLst/>
          </a:prstGeom>
        </p:spPr>
        <p:txBody>
          <a:bodyPr vert="horz" lIns="91440" tIns="45720" rIns="91440" bIns="45720" rtlCol="0" anchor="b">
            <a:noAutofit/>
          </a:bodyPr>
          <a:lstStyle>
            <a:lvl1pPr algn="l" defTabSz="914400" rtl="0" eaLnBrk="1" latinLnBrk="0" hangingPunct="1">
              <a:spcBef>
                <a:spcPct val="0"/>
              </a:spcBef>
              <a:buNone/>
              <a:defRPr sz="5400" kern="1200" cap="all" spc="-100" baseline="0">
                <a:solidFill>
                  <a:schemeClr val="tx2"/>
                </a:solidFill>
                <a:latin typeface="+mj-lt"/>
                <a:ea typeface="+mj-ea"/>
                <a:cs typeface="+mj-cs"/>
              </a:defRPr>
            </a:lvl1pPr>
          </a:lstStyle>
          <a:p>
            <a:pPr algn="ctr"/>
            <a:r>
              <a:rPr lang="en-US" sz="3200" b="0" cap="none" dirty="0">
                <a:solidFill>
                  <a:srgbClr val="C00000"/>
                </a:solidFill>
                <a:cs typeface="Times New Roman" pitchFamily="18" charset="0"/>
              </a:rPr>
              <a:t>CSSE3113 – Introduction To Software Engineering</a:t>
            </a:r>
            <a:r>
              <a:rPr lang="en-US" sz="3200" b="0" dirty="0">
                <a:solidFill>
                  <a:srgbClr val="C00000"/>
                </a:solidFill>
                <a:cs typeface="Times New Roman" pitchFamily="18" charset="0"/>
              </a:rPr>
              <a:t> </a:t>
            </a:r>
            <a:endParaRPr lang="en-US" sz="3200" b="0" dirty="0"/>
          </a:p>
        </p:txBody>
      </p:sp>
      <p:sp>
        <p:nvSpPr>
          <p:cNvPr id="6" name="Rectangle 3"/>
          <p:cNvSpPr>
            <a:spLocks noGrp="1" noChangeArrowheads="1"/>
          </p:cNvSpPr>
          <p:nvPr>
            <p:ph type="subTitle" idx="1"/>
          </p:nvPr>
        </p:nvSpPr>
        <p:spPr>
          <a:xfrm>
            <a:off x="2209800" y="3581400"/>
            <a:ext cx="47244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a:r>
              <a:rPr lang="en-AU" altLang="en-AU" sz="2800" b="1" dirty="0">
                <a:solidFill>
                  <a:schemeClr val="tx1"/>
                </a:solidFill>
                <a:latin typeface="+mj-lt"/>
                <a:cs typeface="Times New Roman" pitchFamily="18" charset="0"/>
              </a:rPr>
              <a:t>UML Diagrams</a:t>
            </a:r>
            <a:endParaRPr lang="en-US" sz="2800" b="1" dirty="0">
              <a:solidFill>
                <a:schemeClr val="tx1"/>
              </a:solidFill>
              <a:latin typeface="+mj-lt"/>
              <a:cs typeface="Times New Roman"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p:txBody>
          <a:bodyPr/>
          <a:lstStyle/>
          <a:p>
            <a:r>
              <a:rPr lang="en-GB" dirty="0"/>
              <a:t>Beginnings of a Method</a:t>
            </a:r>
          </a:p>
        </p:txBody>
      </p:sp>
      <p:pic>
        <p:nvPicPr>
          <p:cNvPr id="143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1412875"/>
            <a:ext cx="161290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6"/>
          <p:cNvSpPr/>
          <p:nvPr/>
        </p:nvSpPr>
        <p:spPr>
          <a:xfrm>
            <a:off x="323850" y="1700213"/>
            <a:ext cx="1800225" cy="144145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Systems Model</a:t>
            </a:r>
          </a:p>
        </p:txBody>
      </p:sp>
      <p:pic>
        <p:nvPicPr>
          <p:cNvPr id="1434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060575"/>
            <a:ext cx="1079500"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7708823">
            <a:off x="2809081" y="3250407"/>
            <a:ext cx="113347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860800"/>
            <a:ext cx="2051050" cy="242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871913"/>
            <a:ext cx="4414838"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4581525"/>
            <a:ext cx="1081088"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normAutofit fontScale="90000"/>
          </a:bodyPr>
          <a:lstStyle/>
          <a:p>
            <a:pPr>
              <a:defRPr/>
            </a:pPr>
            <a:br>
              <a:rPr lang="en-US" b="1" dirty="0"/>
            </a:br>
            <a:r>
              <a:rPr lang="en-US" sz="4400" dirty="0"/>
              <a:t>Interaction Models</a:t>
            </a:r>
            <a:br>
              <a:rPr lang="en-US" b="1" dirty="0"/>
            </a:br>
            <a:endParaRPr lang="en-US" dirty="0"/>
          </a:p>
        </p:txBody>
      </p:sp>
      <p:sp>
        <p:nvSpPr>
          <p:cNvPr id="3" name="Content Placeholder 2"/>
          <p:cNvSpPr>
            <a:spLocks noGrp="1"/>
          </p:cNvSpPr>
          <p:nvPr>
            <p:ph idx="1"/>
          </p:nvPr>
        </p:nvSpPr>
        <p:spPr>
          <a:xfrm>
            <a:off x="457200" y="1447800"/>
            <a:ext cx="8229600" cy="4973638"/>
          </a:xfrm>
        </p:spPr>
        <p:txBody>
          <a:bodyPr>
            <a:noAutofit/>
          </a:bodyPr>
          <a:lstStyle/>
          <a:p>
            <a:pPr algn="just">
              <a:buFont typeface="Wingdings 3" pitchFamily="18" charset="2"/>
              <a:buNone/>
              <a:defRPr/>
            </a:pPr>
            <a:endParaRPr lang="en-US" sz="2000" dirty="0"/>
          </a:p>
          <a:p>
            <a:pPr algn="just">
              <a:buFont typeface="Wingdings 3" pitchFamily="18" charset="2"/>
              <a:buNone/>
              <a:defRPr/>
            </a:pPr>
            <a:r>
              <a:rPr lang="en-US" sz="2000" dirty="0"/>
              <a:t>All systems involve interaction of some kind…</a:t>
            </a:r>
          </a:p>
          <a:p>
            <a:pPr algn="just">
              <a:defRPr/>
            </a:pPr>
            <a:endParaRPr lang="en-US" sz="2000" dirty="0"/>
          </a:p>
          <a:p>
            <a:pPr algn="just">
              <a:defRPr/>
            </a:pPr>
            <a:r>
              <a:rPr lang="en-US" sz="2000" dirty="0"/>
              <a:t>This can be user interaction, which involves user inputs and outputs</a:t>
            </a:r>
          </a:p>
          <a:p>
            <a:pPr algn="just">
              <a:defRPr/>
            </a:pPr>
            <a:r>
              <a:rPr lang="en-US" sz="2000" dirty="0"/>
              <a:t> Interaction between the system being developed and other systems</a:t>
            </a:r>
          </a:p>
          <a:p>
            <a:pPr algn="just">
              <a:defRPr/>
            </a:pPr>
            <a:r>
              <a:rPr lang="en-US" sz="2000" dirty="0"/>
              <a:t> Or interaction between the components of the system</a:t>
            </a:r>
          </a:p>
          <a:p>
            <a:pPr algn="just">
              <a:defRPr/>
            </a:pPr>
            <a:endParaRPr lang="en-US" sz="2000" dirty="0"/>
          </a:p>
          <a:p>
            <a:pPr algn="just">
              <a:buFont typeface="Wingdings 3" pitchFamily="18" charset="2"/>
              <a:buNone/>
              <a:defRPr/>
            </a:pPr>
            <a:r>
              <a:rPr lang="en-US" sz="2000" b="1" dirty="0"/>
              <a:t>Use case modeling</a:t>
            </a:r>
            <a:r>
              <a:rPr lang="en-US" sz="2000" dirty="0"/>
              <a:t>, which is mostly used to model interactions between a system and external actors (users or other systems).</a:t>
            </a:r>
          </a:p>
          <a:p>
            <a:pPr algn="just">
              <a:buFont typeface="Wingdings 3" pitchFamily="18" charset="2"/>
              <a:buNone/>
              <a:defRPr/>
            </a:pPr>
            <a:endParaRPr lang="en-US" sz="2000" dirty="0">
              <a:solidFill>
                <a:srgbClr val="FF0000"/>
              </a:solidFill>
            </a:endParaRPr>
          </a:p>
          <a:p>
            <a:pPr algn="just">
              <a:buFont typeface="Wingdings 3" pitchFamily="18" charset="2"/>
              <a:buNone/>
              <a:defRPr/>
            </a:pPr>
            <a:r>
              <a:rPr lang="en-US" sz="2000" b="1" dirty="0">
                <a:solidFill>
                  <a:srgbClr val="C00000"/>
                </a:solidFill>
              </a:rPr>
              <a:t>Sequence diagrams</a:t>
            </a:r>
            <a:r>
              <a:rPr lang="en-US" sz="2000" dirty="0">
                <a:solidFill>
                  <a:srgbClr val="C00000"/>
                </a:solidFill>
              </a:rPr>
              <a:t>, which are used to model interactions between system components, although external agents may also be included.</a:t>
            </a:r>
          </a:p>
          <a:p>
            <a:pPr algn="just">
              <a:buFont typeface="Wingdings 3" pitchFamily="18" charset="2"/>
              <a:buNone/>
              <a:defRPr/>
            </a:pPr>
            <a:endParaRPr lang="en-US" dirty="0"/>
          </a:p>
        </p:txBody>
      </p:sp>
      <p:sp>
        <p:nvSpPr>
          <p:cNvPr id="6" name="Slide Number Placeholder 5"/>
          <p:cNvSpPr>
            <a:spLocks noGrp="1"/>
          </p:cNvSpPr>
          <p:nvPr>
            <p:ph type="sldNum" sz="quarter" idx="12"/>
          </p:nvPr>
        </p:nvSpPr>
        <p:spPr/>
        <p:txBody>
          <a:bodyPr/>
          <a:lstStyle/>
          <a:p>
            <a:pPr>
              <a:defRPr/>
            </a:pPr>
            <a:fld id="{C07FC5DA-4482-4AD7-A23A-324B93506508}"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t>UML Sequence Diagrams </a:t>
            </a:r>
          </a:p>
        </p:txBody>
      </p:sp>
      <p:sp>
        <p:nvSpPr>
          <p:cNvPr id="16387" name="Content Placeholder 2"/>
          <p:cNvSpPr>
            <a:spLocks noGrp="1"/>
          </p:cNvSpPr>
          <p:nvPr>
            <p:ph idx="1"/>
          </p:nvPr>
        </p:nvSpPr>
        <p:spPr/>
        <p:txBody>
          <a:bodyPr/>
          <a:lstStyle/>
          <a:p>
            <a:pPr eaLnBrk="1" hangingPunct="1"/>
            <a:endParaRPr lang="en-US" sz="2200" dirty="0"/>
          </a:p>
          <a:p>
            <a:pPr algn="just" eaLnBrk="1" hangingPunct="1"/>
            <a:r>
              <a:rPr lang="en-US" sz="2200" dirty="0"/>
              <a:t>Describe the flow of </a:t>
            </a:r>
            <a:r>
              <a:rPr lang="en-US" sz="2200" dirty="0">
                <a:solidFill>
                  <a:srgbClr val="C00000"/>
                </a:solidFill>
              </a:rPr>
              <a:t>messages, events, actions </a:t>
            </a:r>
            <a:r>
              <a:rPr lang="en-US" sz="2200" dirty="0"/>
              <a:t>between objects </a:t>
            </a:r>
          </a:p>
          <a:p>
            <a:pPr algn="just" eaLnBrk="1" hangingPunct="1">
              <a:buFont typeface="Wingdings 3" pitchFamily="18" charset="2"/>
              <a:buNone/>
            </a:pPr>
            <a:endParaRPr lang="en-US" sz="2200" dirty="0"/>
          </a:p>
          <a:p>
            <a:pPr algn="just" eaLnBrk="1" hangingPunct="1"/>
            <a:r>
              <a:rPr lang="en-US" sz="2200" dirty="0"/>
              <a:t>Show </a:t>
            </a:r>
            <a:r>
              <a:rPr lang="en-US" sz="2200" dirty="0">
                <a:solidFill>
                  <a:srgbClr val="C00000"/>
                </a:solidFill>
              </a:rPr>
              <a:t>time sequences </a:t>
            </a:r>
            <a:r>
              <a:rPr lang="en-US" sz="2200" dirty="0"/>
              <a:t>that are not easily depicted in other diagrams </a:t>
            </a:r>
          </a:p>
          <a:p>
            <a:pPr algn="just" eaLnBrk="1" hangingPunct="1">
              <a:buFont typeface="Wingdings 3" pitchFamily="18" charset="2"/>
              <a:buNone/>
            </a:pPr>
            <a:endParaRPr lang="en-US" sz="2200" dirty="0"/>
          </a:p>
          <a:p>
            <a:pPr algn="just" eaLnBrk="1" hangingPunct="1"/>
            <a:r>
              <a:rPr lang="en-US" sz="2200" dirty="0"/>
              <a:t>Typically used to understand the </a:t>
            </a:r>
            <a:r>
              <a:rPr lang="en-US" sz="2200" dirty="0">
                <a:solidFill>
                  <a:srgbClr val="C00000"/>
                </a:solidFill>
              </a:rPr>
              <a:t>logical flow of system </a:t>
            </a:r>
          </a:p>
          <a:p>
            <a:pPr algn="just" eaLnBrk="1" hangingPunct="1">
              <a:buFont typeface="Wingdings 3" pitchFamily="18" charset="2"/>
              <a:buNone/>
            </a:pPr>
            <a:endParaRPr lang="en-US" sz="2200" dirty="0"/>
          </a:p>
          <a:p>
            <a:pPr algn="just" eaLnBrk="1" hangingPunct="1"/>
            <a:r>
              <a:rPr lang="en-US" sz="2200" b="1" dirty="0"/>
              <a:t>Emphasis on time ordering! </a:t>
            </a:r>
            <a:endParaRPr lang="en-US" sz="2200" dirty="0"/>
          </a:p>
        </p:txBody>
      </p:sp>
      <p:sp>
        <p:nvSpPr>
          <p:cNvPr id="5" name="Slide Number Placeholder 4"/>
          <p:cNvSpPr>
            <a:spLocks noGrp="1"/>
          </p:cNvSpPr>
          <p:nvPr>
            <p:ph type="sldNum" sz="quarter" idx="12"/>
          </p:nvPr>
        </p:nvSpPr>
        <p:spPr/>
        <p:txBody>
          <a:bodyPr/>
          <a:lstStyle/>
          <a:p>
            <a:pPr>
              <a:defRPr/>
            </a:pPr>
            <a:fld id="{C07FC5DA-4482-4AD7-A23A-324B93506508}"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t>Sequence Diagram Key Parts </a:t>
            </a:r>
          </a:p>
        </p:txBody>
      </p:sp>
      <p:sp>
        <p:nvSpPr>
          <p:cNvPr id="17411" name="Content Placeholder 2"/>
          <p:cNvSpPr>
            <a:spLocks noGrp="1"/>
          </p:cNvSpPr>
          <p:nvPr>
            <p:ph idx="1"/>
          </p:nvPr>
        </p:nvSpPr>
        <p:spPr/>
        <p:txBody>
          <a:bodyPr/>
          <a:lstStyle/>
          <a:p>
            <a:pPr algn="just" eaLnBrk="1" hangingPunct="1"/>
            <a:endParaRPr lang="en-US" dirty="0"/>
          </a:p>
          <a:p>
            <a:pPr algn="just"/>
            <a:r>
              <a:rPr lang="en-US" sz="2200" dirty="0"/>
              <a:t>In a sequence diagram, </a:t>
            </a:r>
            <a:r>
              <a:rPr lang="en-US" sz="2200" dirty="0">
                <a:solidFill>
                  <a:srgbClr val="C00000"/>
                </a:solidFill>
              </a:rPr>
              <a:t>objects and actors </a:t>
            </a:r>
            <a:r>
              <a:rPr lang="en-US" sz="2200" dirty="0"/>
              <a:t>are aligned along the top of the diagram.</a:t>
            </a:r>
          </a:p>
          <a:p>
            <a:pPr algn="just"/>
            <a:endParaRPr lang="en-US" sz="2200" dirty="0"/>
          </a:p>
          <a:p>
            <a:pPr algn="just"/>
            <a:r>
              <a:rPr lang="en-US" sz="2200" dirty="0">
                <a:solidFill>
                  <a:srgbClr val="C00000"/>
                </a:solidFill>
              </a:rPr>
              <a:t>Labeled arrows </a:t>
            </a:r>
            <a:r>
              <a:rPr lang="en-US" sz="2200" dirty="0"/>
              <a:t>indicate </a:t>
            </a:r>
            <a:r>
              <a:rPr lang="en-US" sz="2200" dirty="0">
                <a:solidFill>
                  <a:srgbClr val="C00000"/>
                </a:solidFill>
              </a:rPr>
              <a:t>operations</a:t>
            </a:r>
            <a:r>
              <a:rPr lang="en-US" sz="2200" dirty="0"/>
              <a:t>; the sequence of operations is from top to bottom.</a:t>
            </a:r>
          </a:p>
          <a:p>
            <a:pPr algn="just" eaLnBrk="1" hangingPunct="1">
              <a:buFont typeface="Wingdings 3" pitchFamily="18" charset="2"/>
              <a:buNone/>
            </a:pPr>
            <a:endParaRPr lang="en-US" sz="2200" dirty="0"/>
          </a:p>
          <a:p>
            <a:pPr algn="just" eaLnBrk="1" hangingPunct="1"/>
            <a:r>
              <a:rPr lang="en-US" sz="2200" dirty="0"/>
              <a:t>The </a:t>
            </a:r>
            <a:r>
              <a:rPr lang="en-US" sz="2200" dirty="0">
                <a:solidFill>
                  <a:srgbClr val="C00000"/>
                </a:solidFill>
              </a:rPr>
              <a:t>axes</a:t>
            </a:r>
            <a:r>
              <a:rPr lang="en-US" sz="2200" dirty="0"/>
              <a:t> in a sequence diagram: </a:t>
            </a:r>
          </a:p>
          <a:p>
            <a:pPr lvl="3" algn="just">
              <a:buNone/>
            </a:pPr>
            <a:r>
              <a:rPr lang="en-US" sz="2000" dirty="0"/>
              <a:t>– </a:t>
            </a:r>
            <a:r>
              <a:rPr lang="en-US" sz="2000" dirty="0">
                <a:solidFill>
                  <a:srgbClr val="C00000"/>
                </a:solidFill>
              </a:rPr>
              <a:t>horizontal: </a:t>
            </a:r>
            <a:r>
              <a:rPr lang="en-US" sz="2000" dirty="0"/>
              <a:t>which object/participant is acting </a:t>
            </a:r>
          </a:p>
          <a:p>
            <a:pPr lvl="3" algn="just">
              <a:buNone/>
            </a:pPr>
            <a:r>
              <a:rPr lang="en-US" sz="2000" dirty="0"/>
              <a:t>– </a:t>
            </a:r>
            <a:r>
              <a:rPr lang="en-US" sz="2000" dirty="0">
                <a:solidFill>
                  <a:srgbClr val="C00000"/>
                </a:solidFill>
              </a:rPr>
              <a:t>vertical: </a:t>
            </a:r>
            <a:r>
              <a:rPr lang="en-US" sz="2000" dirty="0"/>
              <a:t>time</a:t>
            </a:r>
          </a:p>
        </p:txBody>
      </p:sp>
      <p:sp>
        <p:nvSpPr>
          <p:cNvPr id="5" name="Slide Number Placeholder 4"/>
          <p:cNvSpPr>
            <a:spLocks noGrp="1"/>
          </p:cNvSpPr>
          <p:nvPr>
            <p:ph type="sldNum" sz="quarter" idx="12"/>
          </p:nvPr>
        </p:nvSpPr>
        <p:spPr/>
        <p:txBody>
          <a:bodyPr/>
          <a:lstStyle/>
          <a:p>
            <a:pPr>
              <a:defRPr/>
            </a:pPr>
            <a:fld id="{C07FC5DA-4482-4AD7-A23A-324B93506508}"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81000" y="457200"/>
            <a:ext cx="8382000" cy="990600"/>
          </a:xfrm>
        </p:spPr>
        <p:txBody>
          <a:bodyPr>
            <a:normAutofit/>
          </a:bodyPr>
          <a:lstStyle/>
          <a:p>
            <a:pPr eaLnBrk="1" hangingPunct="1"/>
            <a:r>
              <a:rPr lang="en-GB" dirty="0"/>
              <a:t>Developing Sequence Diagrams</a:t>
            </a:r>
          </a:p>
        </p:txBody>
      </p:sp>
      <p:sp>
        <p:nvSpPr>
          <p:cNvPr id="18435" name="Rectangle 3"/>
          <p:cNvSpPr>
            <a:spLocks noGrp="1" noChangeArrowheads="1"/>
          </p:cNvSpPr>
          <p:nvPr>
            <p:ph idx="1"/>
          </p:nvPr>
        </p:nvSpPr>
        <p:spPr>
          <a:xfrm>
            <a:off x="381000" y="1447800"/>
            <a:ext cx="8382000" cy="4725988"/>
          </a:xfrm>
        </p:spPr>
        <p:txBody>
          <a:bodyPr/>
          <a:lstStyle/>
          <a:p>
            <a:pPr algn="just" eaLnBrk="1" hangingPunct="1">
              <a:buFont typeface="Wingdings 3" pitchFamily="18" charset="2"/>
              <a:buNone/>
            </a:pPr>
            <a:endParaRPr lang="en-GB" dirty="0"/>
          </a:p>
          <a:p>
            <a:pPr algn="just" eaLnBrk="1" hangingPunct="1">
              <a:lnSpc>
                <a:spcPct val="200000"/>
              </a:lnSpc>
            </a:pPr>
            <a:r>
              <a:rPr lang="en-GB" sz="2200" dirty="0"/>
              <a:t>Identify the relevant </a:t>
            </a:r>
            <a:r>
              <a:rPr lang="en-GB" sz="2200" dirty="0">
                <a:solidFill>
                  <a:srgbClr val="C00000"/>
                </a:solidFill>
              </a:rPr>
              <a:t>objects</a:t>
            </a:r>
            <a:r>
              <a:rPr lang="en-GB" sz="2200" dirty="0"/>
              <a:t> involved in the computation</a:t>
            </a:r>
          </a:p>
          <a:p>
            <a:pPr algn="just" eaLnBrk="1" hangingPunct="1">
              <a:lnSpc>
                <a:spcPct val="200000"/>
              </a:lnSpc>
            </a:pPr>
            <a:r>
              <a:rPr lang="en-GB" sz="2200" dirty="0"/>
              <a:t>Establish the </a:t>
            </a:r>
            <a:r>
              <a:rPr lang="en-GB" sz="2200" dirty="0">
                <a:solidFill>
                  <a:srgbClr val="C00000"/>
                </a:solidFill>
              </a:rPr>
              <a:t>role of each object</a:t>
            </a:r>
          </a:p>
          <a:p>
            <a:pPr algn="just" eaLnBrk="1" hangingPunct="1">
              <a:lnSpc>
                <a:spcPct val="200000"/>
              </a:lnSpc>
            </a:pPr>
            <a:r>
              <a:rPr lang="en-GB" sz="2200" dirty="0"/>
              <a:t>Identify the </a:t>
            </a:r>
            <a:r>
              <a:rPr lang="en-GB" sz="2200" dirty="0">
                <a:solidFill>
                  <a:srgbClr val="C00000"/>
                </a:solidFill>
              </a:rPr>
              <a:t>controller</a:t>
            </a:r>
          </a:p>
          <a:p>
            <a:pPr algn="just" eaLnBrk="1" hangingPunct="1">
              <a:lnSpc>
                <a:spcPct val="200000"/>
              </a:lnSpc>
            </a:pPr>
            <a:r>
              <a:rPr lang="en-GB" sz="2200" dirty="0"/>
              <a:t>Decide </a:t>
            </a:r>
            <a:r>
              <a:rPr lang="en-GB" sz="2200" dirty="0">
                <a:solidFill>
                  <a:srgbClr val="C00000"/>
                </a:solidFill>
              </a:rPr>
              <a:t>messages</a:t>
            </a:r>
            <a:r>
              <a:rPr lang="en-GB" sz="2200" dirty="0"/>
              <a:t> between objects</a:t>
            </a:r>
          </a:p>
          <a:p>
            <a:pPr algn="just" eaLnBrk="1" hangingPunct="1">
              <a:buFontTx/>
              <a:buNone/>
            </a:pPr>
            <a:endParaRPr lang="en-GB" dirty="0"/>
          </a:p>
        </p:txBody>
      </p:sp>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55600" y="381000"/>
            <a:ext cx="8382000" cy="914400"/>
          </a:xfrm>
        </p:spPr>
        <p:txBody>
          <a:bodyPr>
            <a:normAutofit/>
          </a:bodyPr>
          <a:lstStyle/>
          <a:p>
            <a:pPr eaLnBrk="1" hangingPunct="1"/>
            <a:r>
              <a:rPr lang="en-GB" dirty="0"/>
              <a:t>Sequence Diagram Notation</a:t>
            </a:r>
          </a:p>
        </p:txBody>
      </p:sp>
      <p:grpSp>
        <p:nvGrpSpPr>
          <p:cNvPr id="2" name="Group 15"/>
          <p:cNvGrpSpPr>
            <a:grpSpLocks/>
          </p:cNvGrpSpPr>
          <p:nvPr/>
        </p:nvGrpSpPr>
        <p:grpSpPr bwMode="auto">
          <a:xfrm>
            <a:off x="1219200" y="2454275"/>
            <a:ext cx="1247775" cy="1363663"/>
            <a:chOff x="768" y="687"/>
            <a:chExt cx="786" cy="859"/>
          </a:xfrm>
        </p:grpSpPr>
        <p:grpSp>
          <p:nvGrpSpPr>
            <p:cNvPr id="19465" name="Group 10"/>
            <p:cNvGrpSpPr>
              <a:grpSpLocks/>
            </p:cNvGrpSpPr>
            <p:nvPr/>
          </p:nvGrpSpPr>
          <p:grpSpPr bwMode="auto">
            <a:xfrm>
              <a:off x="951" y="687"/>
              <a:ext cx="186" cy="456"/>
              <a:chOff x="951" y="1083"/>
              <a:chExt cx="186" cy="456"/>
            </a:xfrm>
          </p:grpSpPr>
          <p:sp>
            <p:nvSpPr>
              <p:cNvPr id="19467" name="Oval 5"/>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19468" name="Line 6"/>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19469" name="Line 7"/>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19470" name="Line 8"/>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19471" name="Line 9"/>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19466" name="Text Box 11"/>
            <p:cNvSpPr txBox="1">
              <a:spLocks noChangeArrowheads="1"/>
            </p:cNvSpPr>
            <p:nvPr/>
          </p:nvSpPr>
          <p:spPr bwMode="auto">
            <a:xfrm>
              <a:off x="768" y="1317"/>
              <a:ext cx="7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Actors</a:t>
              </a:r>
            </a:p>
          </p:txBody>
        </p:sp>
      </p:grpSp>
      <p:grpSp>
        <p:nvGrpSpPr>
          <p:cNvPr id="4" name="Group 16"/>
          <p:cNvGrpSpPr>
            <a:grpSpLocks/>
          </p:cNvGrpSpPr>
          <p:nvPr/>
        </p:nvGrpSpPr>
        <p:grpSpPr bwMode="auto">
          <a:xfrm>
            <a:off x="2657475" y="2425700"/>
            <a:ext cx="6334125" cy="1504950"/>
            <a:chOff x="1527" y="845"/>
            <a:chExt cx="3990" cy="948"/>
          </a:xfrm>
        </p:grpSpPr>
        <p:sp>
          <p:nvSpPr>
            <p:cNvPr id="19461" name="Rectangle 3"/>
            <p:cNvSpPr>
              <a:spLocks noChangeArrowheads="1"/>
            </p:cNvSpPr>
            <p:nvPr/>
          </p:nvSpPr>
          <p:spPr bwMode="auto">
            <a:xfrm>
              <a:off x="1527" y="845"/>
              <a:ext cx="1860" cy="231"/>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u="sng"/>
                <a:t>Object1 name:classname</a:t>
              </a:r>
              <a:endParaRPr lang="en-GB"/>
            </a:p>
          </p:txBody>
        </p:sp>
        <p:sp>
          <p:nvSpPr>
            <p:cNvPr id="19462" name="Rectangle 4"/>
            <p:cNvSpPr>
              <a:spLocks noChangeArrowheads="1"/>
            </p:cNvSpPr>
            <p:nvPr/>
          </p:nvSpPr>
          <p:spPr bwMode="auto">
            <a:xfrm>
              <a:off x="3657" y="855"/>
              <a:ext cx="1860" cy="231"/>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u="sng"/>
                <a:t>Object 2name:classname</a:t>
              </a:r>
              <a:endParaRPr lang="en-GB"/>
            </a:p>
          </p:txBody>
        </p:sp>
        <p:sp>
          <p:nvSpPr>
            <p:cNvPr id="19463" name="AutoShape 13"/>
            <p:cNvSpPr>
              <a:spLocks/>
            </p:cNvSpPr>
            <p:nvPr/>
          </p:nvSpPr>
          <p:spPr bwMode="auto">
            <a:xfrm rot="5385991">
              <a:off x="3230" y="850"/>
              <a:ext cx="412" cy="1015"/>
            </a:xfrm>
            <a:prstGeom prst="rightBrace">
              <a:avLst>
                <a:gd name="adj1" fmla="val 20530"/>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19464" name="Text Box 14"/>
            <p:cNvSpPr txBox="1">
              <a:spLocks noChangeArrowheads="1"/>
            </p:cNvSpPr>
            <p:nvPr/>
          </p:nvSpPr>
          <p:spPr bwMode="auto">
            <a:xfrm>
              <a:off x="3197" y="1564"/>
              <a:ext cx="85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Objects</a:t>
              </a:r>
            </a:p>
          </p:txBody>
        </p:sp>
      </p:grpSp>
      <p:sp>
        <p:nvSpPr>
          <p:cNvPr id="6" name="Slide Number Placeholder 5"/>
          <p:cNvSpPr>
            <a:spLocks noGrp="1"/>
          </p:cNvSpPr>
          <p:nvPr>
            <p:ph type="sldNum" sz="quarter" idx="12"/>
          </p:nvPr>
        </p:nvSpPr>
        <p:spPr/>
        <p:txBody>
          <a:bodyPr/>
          <a:lstStyle/>
          <a:p>
            <a:pPr>
              <a:defRPr/>
            </a:pPr>
            <a:fld id="{5984B1E9-F293-43F0-AC6B-13CB47FC238E}" type="slidenum">
              <a:rPr lang="en-US" smtClean="0"/>
              <a:pPr>
                <a:defRPr/>
              </a:pPr>
              <a:t>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347471"/>
            <a:ext cx="8229600" cy="743141"/>
          </a:xfrm>
        </p:spPr>
        <p:txBody>
          <a:bodyPr/>
          <a:lstStyle/>
          <a:p>
            <a:pPr eaLnBrk="1" hangingPunct="1"/>
            <a:r>
              <a:rPr lang="en-GB" dirty="0"/>
              <a:t>Sequence Diagram Notation</a:t>
            </a:r>
          </a:p>
        </p:txBody>
      </p:sp>
      <p:sp>
        <p:nvSpPr>
          <p:cNvPr id="20483" name="Rectangle 3"/>
          <p:cNvSpPr>
            <a:spLocks noChangeArrowheads="1"/>
          </p:cNvSpPr>
          <p:nvPr/>
        </p:nvSpPr>
        <p:spPr bwMode="auto">
          <a:xfrm>
            <a:off x="3543300" y="1343025"/>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1</a:t>
            </a:r>
            <a:endParaRPr lang="en-GB"/>
          </a:p>
        </p:txBody>
      </p:sp>
      <p:sp>
        <p:nvSpPr>
          <p:cNvPr id="20484" name="Rectangle 4"/>
          <p:cNvSpPr>
            <a:spLocks noChangeArrowheads="1"/>
          </p:cNvSpPr>
          <p:nvPr/>
        </p:nvSpPr>
        <p:spPr bwMode="auto">
          <a:xfrm>
            <a:off x="6053138" y="1352550"/>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2</a:t>
            </a:r>
            <a:endParaRPr lang="en-GB"/>
          </a:p>
        </p:txBody>
      </p:sp>
      <p:grpSp>
        <p:nvGrpSpPr>
          <p:cNvPr id="20485" name="Group 5"/>
          <p:cNvGrpSpPr>
            <a:grpSpLocks/>
          </p:cNvGrpSpPr>
          <p:nvPr/>
        </p:nvGrpSpPr>
        <p:grpSpPr bwMode="auto">
          <a:xfrm>
            <a:off x="1509713" y="1090613"/>
            <a:ext cx="295275" cy="723900"/>
            <a:chOff x="951" y="1083"/>
            <a:chExt cx="186" cy="456"/>
          </a:xfrm>
        </p:grpSpPr>
        <p:sp>
          <p:nvSpPr>
            <p:cNvPr id="20492" name="Oval 6"/>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20493" name="Line 7"/>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0494" name="Line 8"/>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95" name="Line 9"/>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96" name="Line 10"/>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20486" name="Line 14"/>
          <p:cNvSpPr>
            <a:spLocks noChangeShapeType="1"/>
          </p:cNvSpPr>
          <p:nvPr/>
        </p:nvSpPr>
        <p:spPr bwMode="auto">
          <a:xfrm>
            <a:off x="4165600" y="17192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87" name="Line 15"/>
          <p:cNvSpPr>
            <a:spLocks noChangeShapeType="1"/>
          </p:cNvSpPr>
          <p:nvPr/>
        </p:nvSpPr>
        <p:spPr bwMode="auto">
          <a:xfrm>
            <a:off x="1646238" y="17573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88" name="Line 16"/>
          <p:cNvSpPr>
            <a:spLocks noChangeShapeType="1"/>
          </p:cNvSpPr>
          <p:nvPr/>
        </p:nvSpPr>
        <p:spPr bwMode="auto">
          <a:xfrm>
            <a:off x="6699250" y="1752600"/>
            <a:ext cx="0" cy="32591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89" name="Text Box 17"/>
          <p:cNvSpPr txBox="1">
            <a:spLocks noChangeArrowheads="1"/>
          </p:cNvSpPr>
          <p:nvPr/>
        </p:nvSpPr>
        <p:spPr bwMode="auto">
          <a:xfrm>
            <a:off x="1804988" y="5016500"/>
            <a:ext cx="5419725"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lgn="ctr">
              <a:spcBef>
                <a:spcPct val="50000"/>
              </a:spcBef>
            </a:pPr>
            <a:r>
              <a:rPr lang="en-GB"/>
              <a:t>Lifelines</a:t>
            </a:r>
          </a:p>
          <a:p>
            <a:pPr algn="ctr">
              <a:spcBef>
                <a:spcPct val="50000"/>
              </a:spcBef>
            </a:pPr>
            <a:r>
              <a:rPr lang="en-GB"/>
              <a:t>Identify the existence of the object over time.</a:t>
            </a:r>
          </a:p>
        </p:txBody>
      </p:sp>
      <p:sp>
        <p:nvSpPr>
          <p:cNvPr id="20490" name="Line 18"/>
          <p:cNvSpPr>
            <a:spLocks noChangeShapeType="1"/>
          </p:cNvSpPr>
          <p:nvPr/>
        </p:nvSpPr>
        <p:spPr bwMode="auto">
          <a:xfrm flipH="1" flipV="1">
            <a:off x="1804988" y="4760913"/>
            <a:ext cx="1344612" cy="508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91" name="Line 19"/>
          <p:cNvSpPr>
            <a:spLocks noChangeShapeType="1"/>
          </p:cNvSpPr>
          <p:nvPr/>
        </p:nvSpPr>
        <p:spPr bwMode="auto">
          <a:xfrm flipV="1">
            <a:off x="5311775" y="4760913"/>
            <a:ext cx="1162050" cy="508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326644"/>
            <a:ext cx="8229600" cy="696913"/>
          </a:xfrm>
        </p:spPr>
        <p:txBody>
          <a:bodyPr>
            <a:normAutofit fontScale="90000"/>
          </a:bodyPr>
          <a:lstStyle/>
          <a:p>
            <a:pPr eaLnBrk="1" hangingPunct="1"/>
            <a:r>
              <a:rPr lang="en-GB" dirty="0"/>
              <a:t>Sequence Diagram Notation</a:t>
            </a:r>
          </a:p>
        </p:txBody>
      </p:sp>
      <p:sp>
        <p:nvSpPr>
          <p:cNvPr id="21507" name="Rectangle 3"/>
          <p:cNvSpPr>
            <a:spLocks noChangeArrowheads="1"/>
          </p:cNvSpPr>
          <p:nvPr/>
        </p:nvSpPr>
        <p:spPr bwMode="auto">
          <a:xfrm>
            <a:off x="3543300" y="1343025"/>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1</a:t>
            </a:r>
            <a:endParaRPr lang="en-GB"/>
          </a:p>
        </p:txBody>
      </p:sp>
      <p:sp>
        <p:nvSpPr>
          <p:cNvPr id="21508" name="Rectangle 4"/>
          <p:cNvSpPr>
            <a:spLocks noChangeArrowheads="1"/>
          </p:cNvSpPr>
          <p:nvPr/>
        </p:nvSpPr>
        <p:spPr bwMode="auto">
          <a:xfrm>
            <a:off x="6053138" y="1352550"/>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2</a:t>
            </a:r>
            <a:endParaRPr lang="en-GB"/>
          </a:p>
        </p:txBody>
      </p:sp>
      <p:grpSp>
        <p:nvGrpSpPr>
          <p:cNvPr id="21509" name="Group 5"/>
          <p:cNvGrpSpPr>
            <a:grpSpLocks/>
          </p:cNvGrpSpPr>
          <p:nvPr/>
        </p:nvGrpSpPr>
        <p:grpSpPr bwMode="auto">
          <a:xfrm>
            <a:off x="1509713" y="1090613"/>
            <a:ext cx="295275" cy="723900"/>
            <a:chOff x="951" y="1083"/>
            <a:chExt cx="186" cy="456"/>
          </a:xfrm>
        </p:grpSpPr>
        <p:sp>
          <p:nvSpPr>
            <p:cNvPr id="21516" name="Oval 6"/>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21517" name="Line 7"/>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1518" name="Line 8"/>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19" name="Line 9"/>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20" name="Line 10"/>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21510" name="Line 11"/>
          <p:cNvSpPr>
            <a:spLocks noChangeShapeType="1"/>
          </p:cNvSpPr>
          <p:nvPr/>
        </p:nvSpPr>
        <p:spPr bwMode="auto">
          <a:xfrm>
            <a:off x="4165600" y="17192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11" name="Line 12"/>
          <p:cNvSpPr>
            <a:spLocks noChangeShapeType="1"/>
          </p:cNvSpPr>
          <p:nvPr/>
        </p:nvSpPr>
        <p:spPr bwMode="auto">
          <a:xfrm>
            <a:off x="1646238" y="17573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12" name="Line 13"/>
          <p:cNvSpPr>
            <a:spLocks noChangeShapeType="1"/>
          </p:cNvSpPr>
          <p:nvPr/>
        </p:nvSpPr>
        <p:spPr bwMode="auto">
          <a:xfrm>
            <a:off x="6699250" y="1752600"/>
            <a:ext cx="0" cy="32591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13" name="Rectangle 17"/>
          <p:cNvSpPr>
            <a:spLocks noChangeArrowheads="1"/>
          </p:cNvSpPr>
          <p:nvPr/>
        </p:nvSpPr>
        <p:spPr bwMode="auto">
          <a:xfrm>
            <a:off x="1509713" y="2497138"/>
            <a:ext cx="231775" cy="884237"/>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21514" name="Text Box 18"/>
          <p:cNvSpPr txBox="1">
            <a:spLocks noChangeArrowheads="1"/>
          </p:cNvSpPr>
          <p:nvPr/>
        </p:nvSpPr>
        <p:spPr bwMode="auto">
          <a:xfrm>
            <a:off x="1857375" y="5016500"/>
            <a:ext cx="5715000"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Activations</a:t>
            </a:r>
          </a:p>
          <a:p>
            <a:pPr>
              <a:spcBef>
                <a:spcPct val="50000"/>
              </a:spcBef>
            </a:pPr>
            <a:r>
              <a:rPr lang="en-GB"/>
              <a:t>Indicate when an object is performing an action</a:t>
            </a:r>
          </a:p>
        </p:txBody>
      </p:sp>
      <p:sp>
        <p:nvSpPr>
          <p:cNvPr id="21515" name="Line 19"/>
          <p:cNvSpPr>
            <a:spLocks noChangeShapeType="1"/>
          </p:cNvSpPr>
          <p:nvPr/>
        </p:nvSpPr>
        <p:spPr bwMode="auto">
          <a:xfrm flipH="1" flipV="1">
            <a:off x="1857375" y="3381375"/>
            <a:ext cx="857250" cy="15970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381000"/>
            <a:ext cx="8229600" cy="609600"/>
          </a:xfrm>
        </p:spPr>
        <p:txBody>
          <a:bodyPr>
            <a:normAutofit fontScale="90000"/>
          </a:bodyPr>
          <a:lstStyle/>
          <a:p>
            <a:pPr eaLnBrk="1" hangingPunct="1"/>
            <a:r>
              <a:rPr lang="en-GB" dirty="0"/>
              <a:t>Sequence Diagram Notation</a:t>
            </a:r>
          </a:p>
        </p:txBody>
      </p:sp>
      <p:sp>
        <p:nvSpPr>
          <p:cNvPr id="22531" name="Rectangle 3"/>
          <p:cNvSpPr>
            <a:spLocks noChangeArrowheads="1"/>
          </p:cNvSpPr>
          <p:nvPr/>
        </p:nvSpPr>
        <p:spPr bwMode="auto">
          <a:xfrm>
            <a:off x="3543300" y="1343025"/>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1</a:t>
            </a:r>
            <a:endParaRPr lang="en-GB"/>
          </a:p>
        </p:txBody>
      </p:sp>
      <p:sp>
        <p:nvSpPr>
          <p:cNvPr id="22532" name="Rectangle 4"/>
          <p:cNvSpPr>
            <a:spLocks noChangeArrowheads="1"/>
          </p:cNvSpPr>
          <p:nvPr/>
        </p:nvSpPr>
        <p:spPr bwMode="auto">
          <a:xfrm>
            <a:off x="6053138" y="1352550"/>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2</a:t>
            </a:r>
            <a:endParaRPr lang="en-GB"/>
          </a:p>
        </p:txBody>
      </p:sp>
      <p:grpSp>
        <p:nvGrpSpPr>
          <p:cNvPr id="22533" name="Group 5"/>
          <p:cNvGrpSpPr>
            <a:grpSpLocks/>
          </p:cNvGrpSpPr>
          <p:nvPr/>
        </p:nvGrpSpPr>
        <p:grpSpPr bwMode="auto">
          <a:xfrm>
            <a:off x="1509713" y="1090613"/>
            <a:ext cx="295275" cy="723900"/>
            <a:chOff x="951" y="1083"/>
            <a:chExt cx="186" cy="456"/>
          </a:xfrm>
        </p:grpSpPr>
        <p:sp>
          <p:nvSpPr>
            <p:cNvPr id="22542" name="Oval 6"/>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22543" name="Line 7"/>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2544" name="Line 8"/>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45" name="Line 9"/>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46" name="Line 10"/>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22534" name="Line 11"/>
          <p:cNvSpPr>
            <a:spLocks noChangeShapeType="1"/>
          </p:cNvSpPr>
          <p:nvPr/>
        </p:nvSpPr>
        <p:spPr bwMode="auto">
          <a:xfrm>
            <a:off x="4165600" y="17192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35" name="Line 12"/>
          <p:cNvSpPr>
            <a:spLocks noChangeShapeType="1"/>
          </p:cNvSpPr>
          <p:nvPr/>
        </p:nvSpPr>
        <p:spPr bwMode="auto">
          <a:xfrm>
            <a:off x="1646238" y="17573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36" name="Line 13"/>
          <p:cNvSpPr>
            <a:spLocks noChangeShapeType="1"/>
          </p:cNvSpPr>
          <p:nvPr/>
        </p:nvSpPr>
        <p:spPr bwMode="auto">
          <a:xfrm>
            <a:off x="6699250" y="1752600"/>
            <a:ext cx="0" cy="32591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37" name="Rectangle 14"/>
          <p:cNvSpPr>
            <a:spLocks noChangeArrowheads="1"/>
          </p:cNvSpPr>
          <p:nvPr/>
        </p:nvSpPr>
        <p:spPr bwMode="auto">
          <a:xfrm>
            <a:off x="1509713" y="2497138"/>
            <a:ext cx="231775" cy="884237"/>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22538" name="Line 17"/>
          <p:cNvSpPr>
            <a:spLocks noChangeShapeType="1"/>
          </p:cNvSpPr>
          <p:nvPr/>
        </p:nvSpPr>
        <p:spPr bwMode="auto">
          <a:xfrm>
            <a:off x="1741488" y="2873375"/>
            <a:ext cx="2424112" cy="0"/>
          </a:xfrm>
          <a:prstGeom prst="line">
            <a:avLst/>
          </a:prstGeom>
          <a:noFill/>
          <a:ln w="12700">
            <a:solidFill>
              <a:schemeClr val="tx1"/>
            </a:solidFill>
            <a:round/>
            <a:headEnd/>
            <a:tailEnd type="arrow" w="med" len="lg"/>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39" name="Text Box 18"/>
          <p:cNvSpPr txBox="1">
            <a:spLocks noChangeArrowheads="1"/>
          </p:cNvSpPr>
          <p:nvPr/>
        </p:nvSpPr>
        <p:spPr bwMode="auto">
          <a:xfrm>
            <a:off x="2032000" y="2497138"/>
            <a:ext cx="18002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message</a:t>
            </a:r>
          </a:p>
        </p:txBody>
      </p:sp>
      <p:sp>
        <p:nvSpPr>
          <p:cNvPr id="22540" name="Text Box 19"/>
          <p:cNvSpPr txBox="1">
            <a:spLocks noChangeArrowheads="1"/>
          </p:cNvSpPr>
          <p:nvPr/>
        </p:nvSpPr>
        <p:spPr bwMode="auto">
          <a:xfrm>
            <a:off x="1857375" y="5016500"/>
            <a:ext cx="5715000"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Messages</a:t>
            </a:r>
          </a:p>
          <a:p>
            <a:pPr>
              <a:spcBef>
                <a:spcPct val="50000"/>
              </a:spcBef>
            </a:pPr>
            <a:r>
              <a:rPr lang="en-GB"/>
              <a:t>Indicate the communications between objects</a:t>
            </a:r>
          </a:p>
        </p:txBody>
      </p:sp>
      <p:sp>
        <p:nvSpPr>
          <p:cNvPr id="22541" name="Line 20"/>
          <p:cNvSpPr>
            <a:spLocks noChangeShapeType="1"/>
          </p:cNvSpPr>
          <p:nvPr/>
        </p:nvSpPr>
        <p:spPr bwMode="auto">
          <a:xfrm flipH="1" flipV="1">
            <a:off x="2308225" y="2873375"/>
            <a:ext cx="290513" cy="21431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393700"/>
            <a:ext cx="8229600" cy="696913"/>
          </a:xfrm>
        </p:spPr>
        <p:txBody>
          <a:bodyPr>
            <a:normAutofit fontScale="90000"/>
          </a:bodyPr>
          <a:lstStyle/>
          <a:p>
            <a:pPr eaLnBrk="1" hangingPunct="1"/>
            <a:r>
              <a:rPr lang="en-GB" dirty="0"/>
              <a:t>Sequence Diagram Notation</a:t>
            </a:r>
          </a:p>
        </p:txBody>
      </p:sp>
      <p:sp>
        <p:nvSpPr>
          <p:cNvPr id="23555" name="Rectangle 3"/>
          <p:cNvSpPr>
            <a:spLocks noChangeArrowheads="1"/>
          </p:cNvSpPr>
          <p:nvPr/>
        </p:nvSpPr>
        <p:spPr bwMode="auto">
          <a:xfrm>
            <a:off x="3543300" y="1343025"/>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1</a:t>
            </a:r>
            <a:endParaRPr lang="en-GB"/>
          </a:p>
        </p:txBody>
      </p:sp>
      <p:sp>
        <p:nvSpPr>
          <p:cNvPr id="23556" name="Rectangle 4"/>
          <p:cNvSpPr>
            <a:spLocks noChangeArrowheads="1"/>
          </p:cNvSpPr>
          <p:nvPr/>
        </p:nvSpPr>
        <p:spPr bwMode="auto">
          <a:xfrm>
            <a:off x="6053138" y="1352550"/>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2</a:t>
            </a:r>
            <a:endParaRPr lang="en-GB"/>
          </a:p>
        </p:txBody>
      </p:sp>
      <p:grpSp>
        <p:nvGrpSpPr>
          <p:cNvPr id="23557" name="Group 5"/>
          <p:cNvGrpSpPr>
            <a:grpSpLocks/>
          </p:cNvGrpSpPr>
          <p:nvPr/>
        </p:nvGrpSpPr>
        <p:grpSpPr bwMode="auto">
          <a:xfrm>
            <a:off x="1509713" y="1090613"/>
            <a:ext cx="295275" cy="723900"/>
            <a:chOff x="951" y="1083"/>
            <a:chExt cx="186" cy="456"/>
          </a:xfrm>
        </p:grpSpPr>
        <p:sp>
          <p:nvSpPr>
            <p:cNvPr id="23569" name="Oval 6"/>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23570" name="Line 7"/>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3571" name="Line 8"/>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72" name="Line 9"/>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73" name="Line 10"/>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23558" name="Line 11"/>
          <p:cNvSpPr>
            <a:spLocks noChangeShapeType="1"/>
          </p:cNvSpPr>
          <p:nvPr/>
        </p:nvSpPr>
        <p:spPr bwMode="auto">
          <a:xfrm>
            <a:off x="4165600" y="17192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59" name="Line 12"/>
          <p:cNvSpPr>
            <a:spLocks noChangeShapeType="1"/>
          </p:cNvSpPr>
          <p:nvPr/>
        </p:nvSpPr>
        <p:spPr bwMode="auto">
          <a:xfrm>
            <a:off x="1646238" y="17573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60" name="Line 13"/>
          <p:cNvSpPr>
            <a:spLocks noChangeShapeType="1"/>
          </p:cNvSpPr>
          <p:nvPr/>
        </p:nvSpPr>
        <p:spPr bwMode="auto">
          <a:xfrm>
            <a:off x="6699250" y="1752600"/>
            <a:ext cx="0" cy="32591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61" name="Rectangle 14"/>
          <p:cNvSpPr>
            <a:spLocks noChangeArrowheads="1"/>
          </p:cNvSpPr>
          <p:nvPr/>
        </p:nvSpPr>
        <p:spPr bwMode="auto">
          <a:xfrm>
            <a:off x="1509713" y="2497138"/>
            <a:ext cx="231775" cy="884237"/>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23562" name="Line 15"/>
          <p:cNvSpPr>
            <a:spLocks noChangeShapeType="1"/>
          </p:cNvSpPr>
          <p:nvPr/>
        </p:nvSpPr>
        <p:spPr bwMode="auto">
          <a:xfrm>
            <a:off x="1741488" y="2873375"/>
            <a:ext cx="2306637" cy="4763"/>
          </a:xfrm>
          <a:prstGeom prst="line">
            <a:avLst/>
          </a:prstGeom>
          <a:noFill/>
          <a:ln w="12700">
            <a:solidFill>
              <a:schemeClr val="tx1"/>
            </a:solidFill>
            <a:round/>
            <a:headEnd/>
            <a:tailEnd type="arrow" w="med" len="lg"/>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3563" name="Text Box 16"/>
          <p:cNvSpPr txBox="1">
            <a:spLocks noChangeArrowheads="1"/>
          </p:cNvSpPr>
          <p:nvPr/>
        </p:nvSpPr>
        <p:spPr bwMode="auto">
          <a:xfrm>
            <a:off x="2032000" y="2497138"/>
            <a:ext cx="18002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message</a:t>
            </a:r>
          </a:p>
        </p:txBody>
      </p:sp>
      <p:sp>
        <p:nvSpPr>
          <p:cNvPr id="23564" name="Text Box 17"/>
          <p:cNvSpPr txBox="1">
            <a:spLocks noChangeArrowheads="1"/>
          </p:cNvSpPr>
          <p:nvPr/>
        </p:nvSpPr>
        <p:spPr bwMode="auto">
          <a:xfrm>
            <a:off x="1857375" y="5016500"/>
            <a:ext cx="57150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Sequence</a:t>
            </a:r>
          </a:p>
          <a:p>
            <a:pPr>
              <a:spcBef>
                <a:spcPct val="50000"/>
              </a:spcBef>
            </a:pPr>
            <a:r>
              <a:rPr lang="en-GB"/>
              <a:t>Vertical position signifies sequence – earlier messages appear nearer the top.</a:t>
            </a:r>
          </a:p>
        </p:txBody>
      </p:sp>
      <p:sp>
        <p:nvSpPr>
          <p:cNvPr id="23565" name="Rectangle 19"/>
          <p:cNvSpPr>
            <a:spLocks noChangeArrowheads="1"/>
          </p:cNvSpPr>
          <p:nvPr/>
        </p:nvSpPr>
        <p:spPr bwMode="auto">
          <a:xfrm>
            <a:off x="4048125" y="2878138"/>
            <a:ext cx="231775" cy="884237"/>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23566" name="Line 20"/>
          <p:cNvSpPr>
            <a:spLocks noChangeShapeType="1"/>
          </p:cNvSpPr>
          <p:nvPr/>
        </p:nvSpPr>
        <p:spPr bwMode="auto">
          <a:xfrm>
            <a:off x="4279900" y="3440113"/>
            <a:ext cx="2306638" cy="4762"/>
          </a:xfrm>
          <a:prstGeom prst="line">
            <a:avLst/>
          </a:prstGeom>
          <a:noFill/>
          <a:ln w="12700">
            <a:solidFill>
              <a:schemeClr val="tx1"/>
            </a:solidFill>
            <a:round/>
            <a:headEnd/>
            <a:tailEnd type="arrow" w="med" len="lg"/>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3567" name="Text Box 21"/>
          <p:cNvSpPr txBox="1">
            <a:spLocks noChangeArrowheads="1"/>
          </p:cNvSpPr>
          <p:nvPr/>
        </p:nvSpPr>
        <p:spPr bwMode="auto">
          <a:xfrm>
            <a:off x="4570413" y="3063875"/>
            <a:ext cx="18002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message</a:t>
            </a:r>
          </a:p>
        </p:txBody>
      </p:sp>
      <p:sp>
        <p:nvSpPr>
          <p:cNvPr id="23568" name="Rectangle 22"/>
          <p:cNvSpPr>
            <a:spLocks noChangeArrowheads="1"/>
          </p:cNvSpPr>
          <p:nvPr/>
        </p:nvSpPr>
        <p:spPr bwMode="auto">
          <a:xfrm>
            <a:off x="6586538" y="3381375"/>
            <a:ext cx="112712" cy="711200"/>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6400"/>
            <a:ext cx="8229600" cy="990600"/>
          </a:xfrm>
        </p:spPr>
        <p:txBody>
          <a:bodyPr>
            <a:normAutofit/>
          </a:bodyPr>
          <a:lstStyle/>
          <a:p>
            <a:pPr>
              <a:defRPr/>
            </a:pPr>
            <a:r>
              <a:rPr lang="en-US" dirty="0"/>
              <a:t>Case Study: Ride Booking System</a:t>
            </a:r>
          </a:p>
        </p:txBody>
      </p:sp>
      <p:sp>
        <p:nvSpPr>
          <p:cNvPr id="5" name="Slide Number Placeholder 4"/>
          <p:cNvSpPr>
            <a:spLocks noGrp="1"/>
          </p:cNvSpPr>
          <p:nvPr>
            <p:ph type="sldNum" sz="quarter" idx="12"/>
          </p:nvPr>
        </p:nvSpPr>
        <p:spPr/>
        <p:txBody>
          <a:bodyPr/>
          <a:lstStyle/>
          <a:p>
            <a:pPr>
              <a:defRPr/>
            </a:pPr>
            <a:fld id="{C07FC5DA-4482-4AD7-A23A-324B93506508}" type="slidenum">
              <a:rPr lang="en-US" smtClean="0"/>
              <a:pPr>
                <a:defRPr/>
              </a:pPr>
              <a:t>12</a:t>
            </a:fld>
            <a:endParaRPr lang="en-US" dirty="0"/>
          </a:p>
        </p:txBody>
      </p:sp>
      <p:sp>
        <p:nvSpPr>
          <p:cNvPr id="4" name="Content Placeholder 3">
            <a:extLst>
              <a:ext uri="{FF2B5EF4-FFF2-40B4-BE49-F238E27FC236}">
                <a16:creationId xmlns:a16="http://schemas.microsoft.com/office/drawing/2014/main" id="{6BD8B3A8-D9D4-C3E4-27B2-93ACEB793ACB}"/>
              </a:ext>
            </a:extLst>
          </p:cNvPr>
          <p:cNvSpPr>
            <a:spLocks noGrp="1"/>
          </p:cNvSpPr>
          <p:nvPr>
            <p:ph idx="1"/>
          </p:nvPr>
        </p:nvSpPr>
        <p:spPr>
          <a:xfrm>
            <a:off x="457200" y="1600200"/>
            <a:ext cx="8686800" cy="5239512"/>
          </a:xfrm>
        </p:spPr>
        <p:txBody>
          <a:bodyPr/>
          <a:lstStyle/>
          <a:p>
            <a:r>
              <a:rPr lang="en-US" b="1" dirty="0"/>
              <a:t>Scenario</a:t>
            </a:r>
          </a:p>
          <a:p>
            <a:r>
              <a:rPr lang="en-US" dirty="0"/>
              <a:t>A user wants to book a ride using a mobile app. The system connects the user with nearby drivers, processes the request, and completes the ride.</a:t>
            </a:r>
          </a:p>
          <a:p>
            <a:endParaRPr lang="en-US" dirty="0"/>
          </a:p>
          <a:p>
            <a:r>
              <a:rPr lang="en-US" b="1" dirty="0"/>
              <a:t>Main Actors</a:t>
            </a:r>
          </a:p>
          <a:p>
            <a:r>
              <a:rPr lang="en-US" b="1" dirty="0"/>
              <a:t>Customer (User)</a:t>
            </a:r>
            <a:r>
              <a:rPr lang="en-US" dirty="0"/>
              <a:t> </a:t>
            </a:r>
          </a:p>
          <a:p>
            <a:r>
              <a:rPr lang="en-US" b="1" dirty="0"/>
              <a:t>Mobile App</a:t>
            </a:r>
            <a:r>
              <a:rPr lang="en-US" dirty="0"/>
              <a:t> </a:t>
            </a:r>
          </a:p>
          <a:p>
            <a:r>
              <a:rPr lang="en-US" b="1" dirty="0"/>
              <a:t>Driver</a:t>
            </a:r>
            <a:r>
              <a:rPr lang="en-US" dirty="0"/>
              <a:t> </a:t>
            </a:r>
          </a:p>
          <a:p>
            <a:r>
              <a:rPr lang="en-US" b="1" dirty="0"/>
              <a:t>Payment System</a:t>
            </a:r>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406400"/>
            <a:ext cx="8229600" cy="579252"/>
          </a:xfrm>
        </p:spPr>
        <p:txBody>
          <a:bodyPr>
            <a:normAutofit fontScale="90000"/>
          </a:bodyPr>
          <a:lstStyle/>
          <a:p>
            <a:r>
              <a:rPr lang="en-US" sz="3600" dirty="0"/>
              <a:t>Step-by-Step Interaction</a:t>
            </a:r>
            <a:endParaRPr lang="en-GB" sz="3600" dirty="0"/>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13</a:t>
            </a:fld>
            <a:endParaRPr lang="en-US"/>
          </a:p>
        </p:txBody>
      </p:sp>
      <p:graphicFrame>
        <p:nvGraphicFramePr>
          <p:cNvPr id="5" name="Table 4">
            <a:extLst>
              <a:ext uri="{FF2B5EF4-FFF2-40B4-BE49-F238E27FC236}">
                <a16:creationId xmlns:a16="http://schemas.microsoft.com/office/drawing/2014/main" id="{07163A99-7BEB-B5C5-00D0-8CFBDD0B235F}"/>
              </a:ext>
            </a:extLst>
          </p:cNvPr>
          <p:cNvGraphicFramePr>
            <a:graphicFrameLocks noGrp="1"/>
          </p:cNvGraphicFramePr>
          <p:nvPr>
            <p:extLst>
              <p:ext uri="{D42A27DB-BD31-4B8C-83A1-F6EECF244321}">
                <p14:modId xmlns:p14="http://schemas.microsoft.com/office/powerpoint/2010/main" val="3311727786"/>
              </p:ext>
            </p:extLst>
          </p:nvPr>
        </p:nvGraphicFramePr>
        <p:xfrm>
          <a:off x="457199" y="1044580"/>
          <a:ext cx="8425544" cy="5967520"/>
        </p:xfrm>
        <a:graphic>
          <a:graphicData uri="http://schemas.openxmlformats.org/drawingml/2006/table">
            <a:tbl>
              <a:tblPr firstRow="1" bandRow="1">
                <a:tableStyleId>{5940675A-B579-460E-94D1-54222C63F5DA}</a:tableStyleId>
              </a:tblPr>
              <a:tblGrid>
                <a:gridCol w="4212772">
                  <a:extLst>
                    <a:ext uri="{9D8B030D-6E8A-4147-A177-3AD203B41FA5}">
                      <a16:colId xmlns:a16="http://schemas.microsoft.com/office/drawing/2014/main" val="4116061828"/>
                    </a:ext>
                  </a:extLst>
                </a:gridCol>
                <a:gridCol w="4212772">
                  <a:extLst>
                    <a:ext uri="{9D8B030D-6E8A-4147-A177-3AD203B41FA5}">
                      <a16:colId xmlns:a16="http://schemas.microsoft.com/office/drawing/2014/main" val="3206203527"/>
                    </a:ext>
                  </a:extLst>
                </a:gridCol>
              </a:tblGrid>
              <a:tr h="1084330">
                <a:tc>
                  <a:txBody>
                    <a:bodyPr/>
                    <a:lstStyle/>
                    <a:p>
                      <a:r>
                        <a:rPr lang="en-US" sz="2200" dirty="0"/>
                        <a:t>Step 1: Request Ride</a:t>
                      </a:r>
                    </a:p>
                    <a:p>
                      <a:r>
                        <a:rPr lang="en-US" sz="2200" dirty="0"/>
                        <a:t>Customer → App</a:t>
                      </a:r>
                    </a:p>
                    <a:p>
                      <a:r>
                        <a:rPr lang="en-US" sz="2200" dirty="0"/>
                        <a:t>“Request Ride (Location, Destination)”</a:t>
                      </a:r>
                    </a:p>
                  </a:txBody>
                  <a:tcPr/>
                </a:tc>
                <a:tc>
                  <a:txBody>
                    <a:bodyPr/>
                    <a:lstStyle/>
                    <a:p>
                      <a:r>
                        <a:rPr lang="en-US" sz="2200" dirty="0"/>
                        <a:t>Step 4: Notify Customer</a:t>
                      </a:r>
                    </a:p>
                    <a:p>
                      <a:r>
                        <a:rPr lang="en-US" sz="2200" dirty="0"/>
                        <a:t>App → Customer</a:t>
                      </a:r>
                    </a:p>
                    <a:p>
                      <a:r>
                        <a:rPr lang="en-US" sz="2200" dirty="0"/>
                        <a:t>“Driver Assigned”</a:t>
                      </a:r>
                    </a:p>
                  </a:txBody>
                  <a:tcPr/>
                </a:tc>
                <a:extLst>
                  <a:ext uri="{0D108BD9-81ED-4DB2-BD59-A6C34878D82A}">
                    <a16:rowId xmlns:a16="http://schemas.microsoft.com/office/drawing/2014/main" val="2861656697"/>
                  </a:ext>
                </a:extLst>
              </a:tr>
              <a:tr h="1084330">
                <a:tc>
                  <a:txBody>
                    <a:bodyPr/>
                    <a:lstStyle/>
                    <a:p>
                      <a:r>
                        <a:rPr lang="en-US" sz="2200" dirty="0"/>
                        <a:t>Step 2: Find Driver</a:t>
                      </a:r>
                    </a:p>
                    <a:p>
                      <a:r>
                        <a:rPr lang="en-US" sz="2200" dirty="0"/>
                        <a:t>App → Driver</a:t>
                      </a:r>
                    </a:p>
                    <a:p>
                      <a:r>
                        <a:rPr lang="en-US" sz="2200" dirty="0"/>
                        <a:t>“Ride Request”</a:t>
                      </a:r>
                    </a:p>
                  </a:txBody>
                  <a:tcPr/>
                </a:tc>
                <a:tc>
                  <a:txBody>
                    <a:bodyPr/>
                    <a:lstStyle/>
                    <a:p>
                      <a:r>
                        <a:rPr lang="en-US" sz="2200" dirty="0"/>
                        <a:t>Step 5: Start Ride</a:t>
                      </a:r>
                    </a:p>
                    <a:p>
                      <a:r>
                        <a:rPr lang="en-US" sz="2200" dirty="0"/>
                        <a:t>Customer → Driver</a:t>
                      </a:r>
                    </a:p>
                    <a:p>
                      <a:r>
                        <a:rPr lang="en-US" sz="2200" dirty="0"/>
                        <a:t>“Start Ride”</a:t>
                      </a:r>
                    </a:p>
                  </a:txBody>
                  <a:tcPr/>
                </a:tc>
                <a:extLst>
                  <a:ext uri="{0D108BD9-81ED-4DB2-BD59-A6C34878D82A}">
                    <a16:rowId xmlns:a16="http://schemas.microsoft.com/office/drawing/2014/main" val="2481078793"/>
                  </a:ext>
                </a:extLst>
              </a:tr>
              <a:tr h="1334560">
                <a:tc>
                  <a:txBody>
                    <a:bodyPr/>
                    <a:lstStyle/>
                    <a:p>
                      <a:r>
                        <a:rPr lang="en-US" sz="2200" dirty="0"/>
                        <a:t>Step 3: Accept Ride</a:t>
                      </a:r>
                    </a:p>
                    <a:p>
                      <a:r>
                        <a:rPr lang="en-US" sz="2200" dirty="0"/>
                        <a:t>Driver → App</a:t>
                      </a:r>
                    </a:p>
                    <a:p>
                      <a:r>
                        <a:rPr lang="en-US" sz="2200" dirty="0"/>
                        <a:t>“Accept Ride”</a:t>
                      </a:r>
                    </a:p>
                  </a:txBody>
                  <a:tcPr/>
                </a:tc>
                <a:tc>
                  <a:txBody>
                    <a:bodyPr/>
                    <a:lstStyle/>
                    <a:p>
                      <a:r>
                        <a:rPr lang="en-US" sz="2200" dirty="0"/>
                        <a:t>Step 6: Complete Ride</a:t>
                      </a:r>
                    </a:p>
                    <a:p>
                      <a:r>
                        <a:rPr lang="en-US" sz="2200" dirty="0"/>
                        <a:t>Driver → App</a:t>
                      </a:r>
                    </a:p>
                    <a:p>
                      <a:r>
                        <a:rPr lang="en-US" sz="2200" dirty="0"/>
                        <a:t>“Ride Completed”</a:t>
                      </a:r>
                    </a:p>
                  </a:txBody>
                  <a:tcPr/>
                </a:tc>
                <a:extLst>
                  <a:ext uri="{0D108BD9-81ED-4DB2-BD59-A6C34878D82A}">
                    <a16:rowId xmlns:a16="http://schemas.microsoft.com/office/drawing/2014/main" val="3982041667"/>
                  </a:ext>
                </a:extLst>
              </a:tr>
              <a:tr h="1334560">
                <a:tc gridSpan="2">
                  <a:txBody>
                    <a:bodyPr/>
                    <a:lstStyle/>
                    <a:p>
                      <a:pPr algn="ctr"/>
                      <a:r>
                        <a:rPr lang="en-US" sz="2200" dirty="0"/>
                        <a:t>Step 7: Payment Processing</a:t>
                      </a:r>
                    </a:p>
                    <a:p>
                      <a:pPr algn="ctr"/>
                      <a:r>
                        <a:rPr lang="en-US" sz="2200" dirty="0"/>
                        <a:t>App → Payment System</a:t>
                      </a:r>
                    </a:p>
                    <a:p>
                      <a:pPr algn="ctr"/>
                      <a:r>
                        <a:rPr lang="en-US" sz="2200" dirty="0"/>
                        <a:t>“Process Payment”</a:t>
                      </a:r>
                    </a:p>
                    <a:p>
                      <a:pPr algn="ctr"/>
                      <a:r>
                        <a:rPr lang="en-US" sz="2200" dirty="0"/>
                        <a:t>Payment System → App</a:t>
                      </a:r>
                    </a:p>
                    <a:p>
                      <a:pPr algn="ctr"/>
                      <a:r>
                        <a:rPr lang="en-US" sz="2200" dirty="0"/>
                        <a:t>“Payment Successful”</a:t>
                      </a:r>
                    </a:p>
                    <a:p>
                      <a:endParaRPr lang="en-US" sz="2200" dirty="0"/>
                    </a:p>
                  </a:txBody>
                  <a:tcPr/>
                </a:tc>
                <a:tc hMerge="1">
                  <a:txBody>
                    <a:bodyPr/>
                    <a:lstStyle/>
                    <a:p>
                      <a:endParaRPr lang="en-US" dirty="0"/>
                    </a:p>
                  </a:txBody>
                  <a:tcPr/>
                </a:tc>
                <a:extLst>
                  <a:ext uri="{0D108BD9-81ED-4DB2-BD59-A6C34878D82A}">
                    <a16:rowId xmlns:a16="http://schemas.microsoft.com/office/drawing/2014/main" val="224836541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14</a:t>
            </a:fld>
            <a:endParaRPr lang="en-US"/>
          </a:p>
        </p:txBody>
      </p:sp>
      <p:pic>
        <p:nvPicPr>
          <p:cNvPr id="6" name="Picture 5">
            <a:extLst>
              <a:ext uri="{FF2B5EF4-FFF2-40B4-BE49-F238E27FC236}">
                <a16:creationId xmlns:a16="http://schemas.microsoft.com/office/drawing/2014/main" id="{3B396061-B032-E6A7-04FD-68AAD54C2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92" y="347472"/>
            <a:ext cx="8205108" cy="65640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552203" y="719328"/>
            <a:ext cx="8229600" cy="476003"/>
          </a:xfrm>
        </p:spPr>
        <p:txBody>
          <a:bodyPr>
            <a:normAutofit fontScale="90000"/>
          </a:bodyPr>
          <a:lstStyle/>
          <a:p>
            <a:r>
              <a:rPr lang="en-US" dirty="0"/>
              <a:t>Exercise - </a:t>
            </a:r>
            <a:r>
              <a:rPr lang="en-US" dirty="0" err="1"/>
              <a:t>MediConnect</a:t>
            </a:r>
            <a:br>
              <a:rPr lang="en-US" dirty="0"/>
            </a:br>
            <a:endParaRPr lang="en-US" dirty="0"/>
          </a:p>
        </p:txBody>
      </p:sp>
      <p:sp>
        <p:nvSpPr>
          <p:cNvPr id="44035" name="Content Placeholder 2"/>
          <p:cNvSpPr>
            <a:spLocks noGrp="1"/>
          </p:cNvSpPr>
          <p:nvPr>
            <p:ph idx="1"/>
          </p:nvPr>
        </p:nvSpPr>
        <p:spPr>
          <a:xfrm>
            <a:off x="249382" y="1100331"/>
            <a:ext cx="8835241" cy="5281669"/>
          </a:xfrm>
        </p:spPr>
        <p:txBody>
          <a:bodyPr>
            <a:noAutofit/>
          </a:bodyPr>
          <a:lstStyle/>
          <a:p>
            <a:pPr algn="just">
              <a:buFont typeface="Wingdings 3" pitchFamily="18" charset="2"/>
              <a:buNone/>
            </a:pPr>
            <a:r>
              <a:rPr lang="en-US" sz="2000" dirty="0"/>
              <a:t>   </a:t>
            </a:r>
            <a:r>
              <a:rPr lang="en-US" sz="2000" dirty="0" err="1"/>
              <a:t>MediConnect</a:t>
            </a:r>
            <a:r>
              <a:rPr lang="en-US" sz="2000" dirty="0"/>
              <a:t> is a mobile social platform where patients with similar chronic conditions share experiences, access verified medical resources, and receive emotional support. After logging in, a user (patient) navigates the “Community Feed” to view posts from peers and healthcare moderators. To ask a question, the user selects “New Post,” enters symptoms or concerns, and attaches relevant tags (e.g., #Diabetes, #Fatigue). The app routes the post to a content moderator bot, which scans for medical misinformation or distressing language; if flagged, the post is held for human review. Once approved, the post appears in real-time on the feeds of users following that tag. Another user can reply by selecting “Comment,” triggering a notification to the original author. To escalate a serious symptom, the user taps “Ask a Clinician,” which sends an anonymized message to an on-call volunteer doctor via an integrated secure chat. The doctor’s response is saved to the user’s private “Health Journal” for future reference. Moderators also have a “Pin Verified Resource” action to highlight trustworthy articles or local support groups at the top of the feed. No purchase or payment occurs; all features rely on reputation-based trust scores and voluntary moderation. 	  </a:t>
            </a:r>
          </a:p>
          <a:p>
            <a:pPr>
              <a:buFont typeface="Wingdings 3" pitchFamily="18" charset="2"/>
              <a:buNone/>
            </a:pPr>
            <a:endParaRPr lang="en-US" sz="2000" dirty="0"/>
          </a:p>
        </p:txBody>
      </p:sp>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A1FA9-3953-4A1E-92AD-DCA247AD8841}"/>
              </a:ext>
            </a:extLst>
          </p:cNvPr>
          <p:cNvSpPr>
            <a:spLocks noGrp="1"/>
          </p:cNvSpPr>
          <p:nvPr>
            <p:ph type="title"/>
          </p:nvPr>
        </p:nvSpPr>
        <p:spPr/>
        <p:txBody>
          <a:bodyPr/>
          <a:lstStyle/>
          <a:p>
            <a:endParaRPr lang="en-US" dirty="0"/>
          </a:p>
        </p:txBody>
      </p:sp>
      <p:sp>
        <p:nvSpPr>
          <p:cNvPr id="5" name="Slide Number Placeholder 4">
            <a:extLst>
              <a:ext uri="{FF2B5EF4-FFF2-40B4-BE49-F238E27FC236}">
                <a16:creationId xmlns:a16="http://schemas.microsoft.com/office/drawing/2014/main" id="{E6606C06-9E2E-48A4-81E6-E4E0AC8C61D2}"/>
              </a:ext>
            </a:extLst>
          </p:cNvPr>
          <p:cNvSpPr>
            <a:spLocks noGrp="1"/>
          </p:cNvSpPr>
          <p:nvPr>
            <p:ph type="sldNum" sz="quarter" idx="12"/>
          </p:nvPr>
        </p:nvSpPr>
        <p:spPr/>
        <p:txBody>
          <a:bodyPr/>
          <a:lstStyle/>
          <a:p>
            <a:pPr>
              <a:defRPr/>
            </a:pPr>
            <a:fld id="{5984B1E9-F293-43F0-AC6B-13CB47FC238E}" type="slidenum">
              <a:rPr lang="en-US" smtClean="0"/>
              <a:pPr>
                <a:defRPr/>
              </a:pPr>
              <a:t>16</a:t>
            </a:fld>
            <a:endParaRPr lang="en-US"/>
          </a:p>
        </p:txBody>
      </p:sp>
      <p:pic>
        <p:nvPicPr>
          <p:cNvPr id="6" name="Picture 5">
            <a:extLst>
              <a:ext uri="{FF2B5EF4-FFF2-40B4-BE49-F238E27FC236}">
                <a16:creationId xmlns:a16="http://schemas.microsoft.com/office/drawing/2014/main" id="{CA9F76ED-855F-61EC-995D-3F1FA553EA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9144000" cy="6096000"/>
          </a:xfrm>
          <a:prstGeom prst="rect">
            <a:avLst/>
          </a:prstGeom>
        </p:spPr>
      </p:pic>
    </p:spTree>
    <p:extLst>
      <p:ext uri="{BB962C8B-B14F-4D97-AF65-F5344CB8AC3E}">
        <p14:creationId xmlns:p14="http://schemas.microsoft.com/office/powerpoint/2010/main" val="1708828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95536" y="422176"/>
            <a:ext cx="8229600" cy="990600"/>
          </a:xfrm>
        </p:spPr>
        <p:txBody>
          <a:bodyPr/>
          <a:lstStyle/>
          <a:p>
            <a:r>
              <a:rPr lang="en-GB" altLang="en-US" dirty="0"/>
              <a:t>Entity/Relationship Modelling</a:t>
            </a:r>
            <a:endParaRPr lang="en-US" altLang="en-US" dirty="0"/>
          </a:p>
        </p:txBody>
      </p:sp>
      <p:sp>
        <p:nvSpPr>
          <p:cNvPr id="17411" name="Content Placeholder 2"/>
          <p:cNvSpPr>
            <a:spLocks noGrp="1"/>
          </p:cNvSpPr>
          <p:nvPr>
            <p:ph sz="quarter" idx="1"/>
          </p:nvPr>
        </p:nvSpPr>
        <p:spPr>
          <a:xfrm>
            <a:off x="457200" y="1219200"/>
            <a:ext cx="8229600" cy="4937125"/>
          </a:xfrm>
        </p:spPr>
        <p:txBody>
          <a:bodyPr/>
          <a:lstStyle/>
          <a:p>
            <a:pPr algn="just">
              <a:defRPr/>
            </a:pPr>
            <a:endParaRPr lang="en-US" altLang="en-US" sz="2400" dirty="0"/>
          </a:p>
          <a:p>
            <a:pPr algn="just">
              <a:defRPr/>
            </a:pPr>
            <a:r>
              <a:rPr lang="en-US" altLang="en-US" sz="2400" dirty="0"/>
              <a:t>ERD is a data modeling technique used in software engineering to produce a conceptual data model of an information system. </a:t>
            </a:r>
          </a:p>
          <a:p>
            <a:pPr marL="0" indent="0" algn="just">
              <a:buFont typeface="Wingdings 3" panose="05040102010807070707" pitchFamily="18" charset="2"/>
              <a:buNone/>
              <a:defRPr/>
            </a:pPr>
            <a:endParaRPr lang="en-US" altLang="en-US" sz="2400" dirty="0"/>
          </a:p>
          <a:p>
            <a:pPr algn="just">
              <a:defRPr/>
            </a:pPr>
            <a:r>
              <a:rPr lang="en-US" altLang="en-US" sz="2400" dirty="0"/>
              <a:t>Illustrate the logical structure of database.</a:t>
            </a:r>
          </a:p>
          <a:p>
            <a:pPr algn="just">
              <a:defRPr/>
            </a:pPr>
            <a:endParaRPr lang="en-US" altLang="en-US" sz="2400" dirty="0"/>
          </a:p>
          <a:p>
            <a:pPr algn="just">
              <a:defRPr/>
            </a:pPr>
            <a:r>
              <a:rPr lang="en-GB" altLang="en-US" sz="2400" dirty="0"/>
              <a:t>It describe how these data are related to each other. </a:t>
            </a:r>
          </a:p>
          <a:p>
            <a:pPr marL="0" indent="0" algn="just">
              <a:buFont typeface="Wingdings 3" panose="05040102010807070707" pitchFamily="18" charset="2"/>
              <a:buNone/>
              <a:defRPr/>
            </a:pPr>
            <a:endParaRPr lang="en-GB" altLang="en-US" sz="2400" dirty="0"/>
          </a:p>
          <a:p>
            <a:pPr algn="just">
              <a:defRPr/>
            </a:pPr>
            <a:r>
              <a:rPr lang="en-GB" altLang="en-US" sz="2400" dirty="0"/>
              <a:t>For example, the entities writer, novel, and consumer may be described using ER diagrams this way: </a:t>
            </a:r>
            <a:endParaRPr lang="en-US" altLang="en-US" sz="2400" dirty="0"/>
          </a:p>
          <a:p>
            <a:pPr marL="0" indent="0" algn="just">
              <a:buFont typeface="Wingdings 3" panose="05040102010807070707" pitchFamily="18" charset="2"/>
              <a:buNone/>
              <a:defRPr/>
            </a:pPr>
            <a:endParaRPr lang="en-US" altLang="en-US" dirty="0"/>
          </a:p>
        </p:txBody>
      </p:sp>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17</a:t>
            </a:fld>
            <a:endParaRPr lang="en-US" dirty="0"/>
          </a:p>
        </p:txBody>
      </p:sp>
    </p:spTree>
    <p:extLst>
      <p:ext uri="{BB962C8B-B14F-4D97-AF65-F5344CB8AC3E}">
        <p14:creationId xmlns:p14="http://schemas.microsoft.com/office/powerpoint/2010/main" val="680312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2" descr="https://creately.com/blog/wp-content/uploads/2012/03/ER-Diagram-Example.jpe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55875" y="2039938"/>
            <a:ext cx="3959225" cy="3149600"/>
          </a:xfrm>
          <a:noFill/>
        </p:spPr>
      </p:pic>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18</a:t>
            </a:fld>
            <a:endParaRPr lang="en-US" dirty="0"/>
          </a:p>
        </p:txBody>
      </p:sp>
      <p:sp>
        <p:nvSpPr>
          <p:cNvPr id="7" name="Title 1"/>
          <p:cNvSpPr>
            <a:spLocks noGrp="1"/>
          </p:cNvSpPr>
          <p:nvPr>
            <p:ph type="title"/>
          </p:nvPr>
        </p:nvSpPr>
        <p:spPr>
          <a:xfrm>
            <a:off x="395536" y="422176"/>
            <a:ext cx="8229600" cy="990600"/>
          </a:xfrm>
        </p:spPr>
        <p:txBody>
          <a:bodyPr/>
          <a:lstStyle/>
          <a:p>
            <a:r>
              <a:rPr lang="en-GB" altLang="en-US" dirty="0"/>
              <a:t>Entity/Relationship Modelling</a:t>
            </a:r>
            <a:endParaRPr lang="en-US" altLang="en-US" dirty="0"/>
          </a:p>
        </p:txBody>
      </p:sp>
    </p:spTree>
    <p:extLst>
      <p:ext uri="{BB962C8B-B14F-4D97-AF65-F5344CB8AC3E}">
        <p14:creationId xmlns:p14="http://schemas.microsoft.com/office/powerpoint/2010/main" val="4228196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a:t>Entity/Relationship Modelling</a:t>
            </a:r>
          </a:p>
        </p:txBody>
      </p:sp>
      <p:sp>
        <p:nvSpPr>
          <p:cNvPr id="15363" name="Rectangle 3"/>
          <p:cNvSpPr>
            <a:spLocks noGrp="1" noChangeArrowheads="1"/>
          </p:cNvSpPr>
          <p:nvPr>
            <p:ph sz="half" idx="1"/>
          </p:nvPr>
        </p:nvSpPr>
        <p:spPr/>
        <p:txBody>
          <a:bodyPr/>
          <a:lstStyle/>
          <a:p>
            <a:pPr algn="just" eaLnBrk="1" hangingPunct="1"/>
            <a:endParaRPr lang="en-GB" sz="2400" dirty="0"/>
          </a:p>
          <a:p>
            <a:pPr algn="just" eaLnBrk="1" hangingPunct="1"/>
            <a:r>
              <a:rPr lang="en-GB" sz="2400" dirty="0"/>
              <a:t>E/R Modelling is used for conceptual design</a:t>
            </a:r>
          </a:p>
          <a:p>
            <a:pPr lvl="1" algn="just" eaLnBrk="1" hangingPunct="1"/>
            <a:r>
              <a:rPr lang="en-GB" sz="2000" dirty="0"/>
              <a:t>Entities - objects or items of interest</a:t>
            </a:r>
          </a:p>
          <a:p>
            <a:pPr lvl="1" algn="just" eaLnBrk="1" hangingPunct="1"/>
            <a:r>
              <a:rPr lang="en-GB" sz="2000" dirty="0"/>
              <a:t>Attributes - Properties of an entity</a:t>
            </a:r>
          </a:p>
          <a:p>
            <a:pPr lvl="1" algn="just" eaLnBrk="1" hangingPunct="1"/>
            <a:r>
              <a:rPr lang="en-GB" sz="2000" dirty="0"/>
              <a:t>Relationships - links between entities</a:t>
            </a:r>
          </a:p>
        </p:txBody>
      </p:sp>
      <p:sp>
        <p:nvSpPr>
          <p:cNvPr id="15364" name="Rectangle 4"/>
          <p:cNvSpPr>
            <a:spLocks noGrp="1" noChangeArrowheads="1"/>
          </p:cNvSpPr>
          <p:nvPr>
            <p:ph sz="half" idx="2"/>
          </p:nvPr>
        </p:nvSpPr>
        <p:spPr>
          <a:xfrm>
            <a:off x="4648200" y="1981200"/>
            <a:ext cx="3962400" cy="4191000"/>
          </a:xfrm>
        </p:spPr>
        <p:txBody>
          <a:bodyPr/>
          <a:lstStyle/>
          <a:p>
            <a:pPr algn="just" eaLnBrk="1" hangingPunct="1">
              <a:lnSpc>
                <a:spcPct val="90000"/>
              </a:lnSpc>
            </a:pPr>
            <a:r>
              <a:rPr lang="en-GB" dirty="0"/>
              <a:t>Example</a:t>
            </a:r>
          </a:p>
          <a:p>
            <a:pPr lvl="1" algn="just" eaLnBrk="1" hangingPunct="1">
              <a:lnSpc>
                <a:spcPct val="90000"/>
              </a:lnSpc>
            </a:pPr>
            <a:r>
              <a:rPr lang="en-GB" sz="2000" dirty="0"/>
              <a:t>In a University database we might have entities for Students, Modules and Lecturers. Students might have attributes such as their ID, Name, and Course, and could have relationships with Modules (enrolment) and Lecturers.</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GB" dirty="0"/>
              <a:t>Entity/Relationship Diagrams</a:t>
            </a:r>
          </a:p>
        </p:txBody>
      </p:sp>
      <p:sp>
        <p:nvSpPr>
          <p:cNvPr id="16387" name="Rectangle 3"/>
          <p:cNvSpPr>
            <a:spLocks noGrp="1" noChangeArrowheads="1"/>
          </p:cNvSpPr>
          <p:nvPr>
            <p:ph sz="half" idx="1"/>
          </p:nvPr>
        </p:nvSpPr>
        <p:spPr/>
        <p:txBody>
          <a:bodyPr/>
          <a:lstStyle/>
          <a:p>
            <a:pPr algn="just" eaLnBrk="1" hangingPunct="1">
              <a:buFont typeface="Wingdings 3" pitchFamily="18" charset="2"/>
              <a:buNone/>
            </a:pPr>
            <a:r>
              <a:rPr lang="en-GB" sz="2400" dirty="0"/>
              <a:t>	E/R Models are often represented as E/R diagrams </a:t>
            </a:r>
          </a:p>
        </p:txBody>
      </p:sp>
      <p:sp>
        <p:nvSpPr>
          <p:cNvPr id="16388" name="AutoShape 4"/>
          <p:cNvSpPr>
            <a:spLocks noChangeArrowheads="1"/>
          </p:cNvSpPr>
          <p:nvPr/>
        </p:nvSpPr>
        <p:spPr bwMode="auto">
          <a:xfrm>
            <a:off x="6858000" y="32766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Student</a:t>
            </a:r>
          </a:p>
        </p:txBody>
      </p:sp>
      <p:sp>
        <p:nvSpPr>
          <p:cNvPr id="16389" name="AutoShape 5"/>
          <p:cNvSpPr>
            <a:spLocks noChangeArrowheads="1"/>
          </p:cNvSpPr>
          <p:nvPr/>
        </p:nvSpPr>
        <p:spPr bwMode="auto">
          <a:xfrm>
            <a:off x="4876800" y="19050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Lecturer</a:t>
            </a:r>
          </a:p>
        </p:txBody>
      </p:sp>
      <p:sp>
        <p:nvSpPr>
          <p:cNvPr id="16390" name="AutoShape 6"/>
          <p:cNvSpPr>
            <a:spLocks noChangeArrowheads="1"/>
          </p:cNvSpPr>
          <p:nvPr/>
        </p:nvSpPr>
        <p:spPr bwMode="auto">
          <a:xfrm>
            <a:off x="4876800" y="46482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Course</a:t>
            </a:r>
          </a:p>
        </p:txBody>
      </p:sp>
      <p:sp>
        <p:nvSpPr>
          <p:cNvPr id="16391" name="AutoShape 7"/>
          <p:cNvSpPr>
            <a:spLocks noChangeArrowheads="1"/>
          </p:cNvSpPr>
          <p:nvPr/>
        </p:nvSpPr>
        <p:spPr bwMode="auto">
          <a:xfrm>
            <a:off x="4876800" y="3200400"/>
            <a:ext cx="12192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teaches</a:t>
            </a:r>
          </a:p>
        </p:txBody>
      </p:sp>
      <p:sp>
        <p:nvSpPr>
          <p:cNvPr id="16392" name="AutoShape 8"/>
          <p:cNvSpPr>
            <a:spLocks noChangeArrowheads="1"/>
          </p:cNvSpPr>
          <p:nvPr/>
        </p:nvSpPr>
        <p:spPr bwMode="auto">
          <a:xfrm>
            <a:off x="6858000" y="4572000"/>
            <a:ext cx="12192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Register</a:t>
            </a:r>
          </a:p>
        </p:txBody>
      </p:sp>
      <p:cxnSp>
        <p:nvCxnSpPr>
          <p:cNvPr id="16393" name="AutoShape 9"/>
          <p:cNvCxnSpPr>
            <a:cxnSpLocks noChangeShapeType="1"/>
            <a:stCxn id="16389" idx="2"/>
            <a:endCxn id="16391" idx="0"/>
          </p:cNvCxnSpPr>
          <p:nvPr/>
        </p:nvCxnSpPr>
        <p:spPr bwMode="auto">
          <a:xfrm>
            <a:off x="5486400" y="2524125"/>
            <a:ext cx="0" cy="6667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4" name="AutoShape 10"/>
          <p:cNvCxnSpPr>
            <a:cxnSpLocks noChangeShapeType="1"/>
            <a:stCxn id="16391" idx="3"/>
            <a:endCxn id="16388" idx="1"/>
          </p:cNvCxnSpPr>
          <p:nvPr/>
        </p:nvCxnSpPr>
        <p:spPr bwMode="auto">
          <a:xfrm>
            <a:off x="6105525" y="3581400"/>
            <a:ext cx="742950"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5" name="AutoShape 11"/>
          <p:cNvCxnSpPr>
            <a:cxnSpLocks noChangeShapeType="1"/>
            <a:stCxn id="16388" idx="2"/>
            <a:endCxn id="16392" idx="0"/>
          </p:cNvCxnSpPr>
          <p:nvPr/>
        </p:nvCxnSpPr>
        <p:spPr bwMode="auto">
          <a:xfrm>
            <a:off x="7467600" y="3895725"/>
            <a:ext cx="0" cy="6667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6" name="AutoShape 12"/>
          <p:cNvCxnSpPr>
            <a:cxnSpLocks noChangeShapeType="1"/>
            <a:stCxn id="16390" idx="3"/>
            <a:endCxn id="16392" idx="1"/>
          </p:cNvCxnSpPr>
          <p:nvPr/>
        </p:nvCxnSpPr>
        <p:spPr bwMode="auto">
          <a:xfrm>
            <a:off x="6105525" y="4953000"/>
            <a:ext cx="742950"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16397" name="Arc 13"/>
          <p:cNvSpPr>
            <a:spLocks/>
          </p:cNvSpPr>
          <p:nvPr/>
        </p:nvSpPr>
        <p:spPr bwMode="auto">
          <a:xfrm>
            <a:off x="6096000" y="48006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8" name="Arc 14"/>
          <p:cNvSpPr>
            <a:spLocks/>
          </p:cNvSpPr>
          <p:nvPr/>
        </p:nvSpPr>
        <p:spPr bwMode="auto">
          <a:xfrm flipH="1">
            <a:off x="6705600" y="34290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9" name="Arc 15"/>
          <p:cNvSpPr>
            <a:spLocks/>
          </p:cNvSpPr>
          <p:nvPr/>
        </p:nvSpPr>
        <p:spPr bwMode="auto">
          <a:xfrm rot="5400000">
            <a:off x="7389019" y="3812381"/>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00" name="Oval 16"/>
          <p:cNvSpPr>
            <a:spLocks noChangeArrowheads="1"/>
          </p:cNvSpPr>
          <p:nvPr/>
        </p:nvSpPr>
        <p:spPr bwMode="auto">
          <a:xfrm>
            <a:off x="7010400" y="19812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ID</a:t>
            </a:r>
          </a:p>
        </p:txBody>
      </p:sp>
      <p:sp>
        <p:nvSpPr>
          <p:cNvPr id="16401" name="Oval 17"/>
          <p:cNvSpPr>
            <a:spLocks noChangeArrowheads="1"/>
          </p:cNvSpPr>
          <p:nvPr/>
        </p:nvSpPr>
        <p:spPr bwMode="auto">
          <a:xfrm>
            <a:off x="7543800" y="25146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Ph#</a:t>
            </a:r>
          </a:p>
        </p:txBody>
      </p:sp>
      <p:sp>
        <p:nvSpPr>
          <p:cNvPr id="16402" name="Oval 18"/>
          <p:cNvSpPr>
            <a:spLocks noChangeArrowheads="1"/>
          </p:cNvSpPr>
          <p:nvPr/>
        </p:nvSpPr>
        <p:spPr bwMode="auto">
          <a:xfrm>
            <a:off x="6477000" y="25146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Name</a:t>
            </a:r>
          </a:p>
        </p:txBody>
      </p:sp>
      <p:cxnSp>
        <p:nvCxnSpPr>
          <p:cNvPr id="16403" name="AutoShape 19"/>
          <p:cNvCxnSpPr>
            <a:cxnSpLocks noChangeShapeType="1"/>
            <a:stCxn id="16388" idx="0"/>
            <a:endCxn id="16401" idx="4"/>
          </p:cNvCxnSpPr>
          <p:nvPr/>
        </p:nvCxnSpPr>
        <p:spPr bwMode="auto">
          <a:xfrm flipV="1">
            <a:off x="7467600" y="2905125"/>
            <a:ext cx="533400" cy="3619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4" name="AutoShape 20"/>
          <p:cNvCxnSpPr>
            <a:cxnSpLocks noChangeShapeType="1"/>
            <a:stCxn id="16388" idx="0"/>
            <a:endCxn id="16400" idx="4"/>
          </p:cNvCxnSpPr>
          <p:nvPr/>
        </p:nvCxnSpPr>
        <p:spPr bwMode="auto">
          <a:xfrm flipV="1">
            <a:off x="7467600" y="2371725"/>
            <a:ext cx="0" cy="8953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5" name="AutoShape 21"/>
          <p:cNvCxnSpPr>
            <a:cxnSpLocks noChangeShapeType="1"/>
            <a:stCxn id="16388" idx="0"/>
            <a:endCxn id="16402" idx="4"/>
          </p:cNvCxnSpPr>
          <p:nvPr/>
        </p:nvCxnSpPr>
        <p:spPr bwMode="auto">
          <a:xfrm flipH="1" flipV="1">
            <a:off x="6934200" y="2905125"/>
            <a:ext cx="533400" cy="3619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GB"/>
              <a:t>Entities</a:t>
            </a:r>
          </a:p>
        </p:txBody>
      </p:sp>
      <p:sp>
        <p:nvSpPr>
          <p:cNvPr id="17411" name="Rectangle 3"/>
          <p:cNvSpPr>
            <a:spLocks noGrp="1" noChangeArrowheads="1"/>
          </p:cNvSpPr>
          <p:nvPr>
            <p:ph sz="half" idx="1"/>
          </p:nvPr>
        </p:nvSpPr>
        <p:spPr/>
        <p:txBody>
          <a:bodyPr/>
          <a:lstStyle/>
          <a:p>
            <a:pPr algn="just" eaLnBrk="1" hangingPunct="1"/>
            <a:r>
              <a:rPr lang="en-GB" sz="2400" dirty="0"/>
              <a:t>Entities represent objects or things of interest</a:t>
            </a:r>
          </a:p>
          <a:p>
            <a:pPr lvl="1" algn="just" eaLnBrk="1" hangingPunct="1"/>
            <a:endParaRPr lang="en-GB" sz="2000" dirty="0"/>
          </a:p>
          <a:p>
            <a:pPr lvl="1" algn="just" eaLnBrk="1" hangingPunct="1"/>
            <a:r>
              <a:rPr lang="en-GB" sz="2000" dirty="0"/>
              <a:t>Physical things like students, lecturers, employees..</a:t>
            </a:r>
          </a:p>
          <a:p>
            <a:pPr lvl="1" algn="just" eaLnBrk="1" hangingPunct="1"/>
            <a:r>
              <a:rPr lang="en-GB" sz="2000" dirty="0"/>
              <a:t>More abstract things like modules, orders, courses, projects</a:t>
            </a:r>
          </a:p>
        </p:txBody>
      </p:sp>
      <p:sp>
        <p:nvSpPr>
          <p:cNvPr id="17412" name="Rectangle 4"/>
          <p:cNvSpPr>
            <a:spLocks noGrp="1" noChangeArrowheads="1"/>
          </p:cNvSpPr>
          <p:nvPr>
            <p:ph sz="half" idx="2"/>
          </p:nvPr>
        </p:nvSpPr>
        <p:spPr/>
        <p:txBody>
          <a:bodyPr/>
          <a:lstStyle/>
          <a:p>
            <a:pPr algn="just" eaLnBrk="1" hangingPunct="1"/>
            <a:r>
              <a:rPr lang="en-GB" sz="2400" dirty="0"/>
              <a:t>Entities have</a:t>
            </a:r>
          </a:p>
          <a:p>
            <a:pPr lvl="1" algn="just" eaLnBrk="1" hangingPunct="1"/>
            <a:r>
              <a:rPr lang="en-GB" sz="2000" dirty="0"/>
              <a:t>A general type or class, such as Lecturer or Module</a:t>
            </a:r>
          </a:p>
          <a:p>
            <a:pPr lvl="1" algn="just" eaLnBrk="1" hangingPunct="1"/>
            <a:endParaRPr lang="en-GB" sz="2000" dirty="0"/>
          </a:p>
          <a:p>
            <a:pPr lvl="1" algn="just" eaLnBrk="1" hangingPunct="1"/>
            <a:r>
              <a:rPr lang="en-GB" sz="2000" dirty="0"/>
              <a:t>Instances of that particular type, such as Steve Mills, Natasha  are  instances of Lecturer</a:t>
            </a:r>
          </a:p>
          <a:p>
            <a:pPr lvl="1" algn="just" eaLnBrk="1" hangingPunct="1">
              <a:buFont typeface="Wingdings 3" pitchFamily="18" charset="2"/>
              <a:buNone/>
            </a:pPr>
            <a:endParaRPr lang="en-GB" sz="2000" dirty="0"/>
          </a:p>
          <a:p>
            <a:pPr lvl="1" algn="just" eaLnBrk="1" hangingPunct="1"/>
            <a:r>
              <a:rPr lang="en-GB" sz="2000" dirty="0"/>
              <a:t>Attributes (such as name, email address)</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a:t>Entities</a:t>
            </a:r>
          </a:p>
        </p:txBody>
      </p:sp>
      <p:sp>
        <p:nvSpPr>
          <p:cNvPr id="18435" name="Rectangle 3"/>
          <p:cNvSpPr>
            <a:spLocks noGrp="1" noChangeArrowheads="1"/>
          </p:cNvSpPr>
          <p:nvPr>
            <p:ph sz="half" idx="1"/>
          </p:nvPr>
        </p:nvSpPr>
        <p:spPr/>
        <p:txBody>
          <a:bodyPr/>
          <a:lstStyle/>
          <a:p>
            <a:pPr eaLnBrk="1" hangingPunct="1"/>
            <a:endParaRPr lang="en-GB" sz="2400" dirty="0"/>
          </a:p>
          <a:p>
            <a:pPr algn="just" eaLnBrk="1" hangingPunct="1"/>
            <a:r>
              <a:rPr lang="en-GB" sz="2400" dirty="0"/>
              <a:t>In an E/R Diagram, an entity is usually drawn as a box with rounded corners or Rectangle</a:t>
            </a:r>
          </a:p>
          <a:p>
            <a:pPr algn="just" eaLnBrk="1" hangingPunct="1">
              <a:buFont typeface="Wingdings 3" pitchFamily="18" charset="2"/>
              <a:buNone/>
            </a:pPr>
            <a:endParaRPr lang="en-GB" sz="2400" dirty="0"/>
          </a:p>
          <a:p>
            <a:pPr algn="just" eaLnBrk="1" hangingPunct="1"/>
            <a:r>
              <a:rPr lang="en-GB" sz="2400" dirty="0"/>
              <a:t>The box is labelled with the name of that entity</a:t>
            </a:r>
          </a:p>
        </p:txBody>
      </p:sp>
      <p:sp>
        <p:nvSpPr>
          <p:cNvPr id="18436" name="AutoShape 4"/>
          <p:cNvSpPr>
            <a:spLocks noChangeArrowheads="1"/>
          </p:cNvSpPr>
          <p:nvPr/>
        </p:nvSpPr>
        <p:spPr bwMode="auto">
          <a:xfrm>
            <a:off x="6858000" y="32766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Student</a:t>
            </a:r>
          </a:p>
        </p:txBody>
      </p:sp>
      <p:sp>
        <p:nvSpPr>
          <p:cNvPr id="18437" name="AutoShape 5"/>
          <p:cNvSpPr>
            <a:spLocks noChangeArrowheads="1"/>
          </p:cNvSpPr>
          <p:nvPr/>
        </p:nvSpPr>
        <p:spPr bwMode="auto">
          <a:xfrm>
            <a:off x="4876800" y="19050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Lecturer</a:t>
            </a:r>
          </a:p>
        </p:txBody>
      </p:sp>
      <p:sp>
        <p:nvSpPr>
          <p:cNvPr id="18438" name="AutoShape 6"/>
          <p:cNvSpPr>
            <a:spLocks noChangeArrowheads="1"/>
          </p:cNvSpPr>
          <p:nvPr/>
        </p:nvSpPr>
        <p:spPr bwMode="auto">
          <a:xfrm>
            <a:off x="4876800" y="46482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course</a:t>
            </a:r>
          </a:p>
        </p:txBody>
      </p:sp>
      <p:sp>
        <p:nvSpPr>
          <p:cNvPr id="18439" name="AutoShape 7"/>
          <p:cNvSpPr>
            <a:spLocks noChangeArrowheads="1"/>
          </p:cNvSpPr>
          <p:nvPr/>
        </p:nvSpPr>
        <p:spPr bwMode="auto">
          <a:xfrm>
            <a:off x="4876800" y="3200400"/>
            <a:ext cx="1219200" cy="762000"/>
          </a:xfrm>
          <a:prstGeom prst="diamond">
            <a:avLst/>
          </a:prstGeom>
          <a:noFill/>
          <a:ln w="6350">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teaches</a:t>
            </a:r>
          </a:p>
        </p:txBody>
      </p:sp>
      <p:sp>
        <p:nvSpPr>
          <p:cNvPr id="18440" name="AutoShape 8"/>
          <p:cNvSpPr>
            <a:spLocks noChangeArrowheads="1"/>
          </p:cNvSpPr>
          <p:nvPr/>
        </p:nvSpPr>
        <p:spPr bwMode="auto">
          <a:xfrm>
            <a:off x="6858000" y="4572000"/>
            <a:ext cx="1219200" cy="762000"/>
          </a:xfrm>
          <a:prstGeom prst="diamond">
            <a:avLst/>
          </a:prstGeom>
          <a:noFill/>
          <a:ln w="6350">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Register</a:t>
            </a:r>
          </a:p>
        </p:txBody>
      </p:sp>
      <p:cxnSp>
        <p:nvCxnSpPr>
          <p:cNvPr id="18441" name="AutoShape 9"/>
          <p:cNvCxnSpPr>
            <a:cxnSpLocks noChangeShapeType="1"/>
            <a:stCxn id="18437" idx="2"/>
            <a:endCxn id="18439" idx="0"/>
          </p:cNvCxnSpPr>
          <p:nvPr/>
        </p:nvCxnSpPr>
        <p:spPr bwMode="auto">
          <a:xfrm>
            <a:off x="5486400" y="2524125"/>
            <a:ext cx="0" cy="6762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42" name="AutoShape 10"/>
          <p:cNvCxnSpPr>
            <a:cxnSpLocks noChangeShapeType="1"/>
            <a:stCxn id="18439" idx="3"/>
            <a:endCxn id="18436" idx="1"/>
          </p:cNvCxnSpPr>
          <p:nvPr/>
        </p:nvCxnSpPr>
        <p:spPr bwMode="auto">
          <a:xfrm>
            <a:off x="6096000" y="3581400"/>
            <a:ext cx="752475" cy="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43" name="AutoShape 11"/>
          <p:cNvCxnSpPr>
            <a:cxnSpLocks noChangeShapeType="1"/>
            <a:stCxn id="18436" idx="2"/>
            <a:endCxn id="18440" idx="0"/>
          </p:cNvCxnSpPr>
          <p:nvPr/>
        </p:nvCxnSpPr>
        <p:spPr bwMode="auto">
          <a:xfrm>
            <a:off x="7467600" y="3895725"/>
            <a:ext cx="0" cy="6762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44" name="AutoShape 12"/>
          <p:cNvCxnSpPr>
            <a:cxnSpLocks noChangeShapeType="1"/>
            <a:stCxn id="18438" idx="3"/>
            <a:endCxn id="18440" idx="1"/>
          </p:cNvCxnSpPr>
          <p:nvPr/>
        </p:nvCxnSpPr>
        <p:spPr bwMode="auto">
          <a:xfrm>
            <a:off x="6105525" y="4953000"/>
            <a:ext cx="752475" cy="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sp>
        <p:nvSpPr>
          <p:cNvPr id="18445" name="Arc 13"/>
          <p:cNvSpPr>
            <a:spLocks/>
          </p:cNvSpPr>
          <p:nvPr/>
        </p:nvSpPr>
        <p:spPr bwMode="auto">
          <a:xfrm>
            <a:off x="6096000" y="48006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Arc 14"/>
          <p:cNvSpPr>
            <a:spLocks/>
          </p:cNvSpPr>
          <p:nvPr/>
        </p:nvSpPr>
        <p:spPr bwMode="auto">
          <a:xfrm flipH="1">
            <a:off x="6705600" y="34290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7" name="Arc 15"/>
          <p:cNvSpPr>
            <a:spLocks/>
          </p:cNvSpPr>
          <p:nvPr/>
        </p:nvSpPr>
        <p:spPr bwMode="auto">
          <a:xfrm rot="5400000">
            <a:off x="7389019" y="3812381"/>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Oval 16"/>
          <p:cNvSpPr>
            <a:spLocks noChangeArrowheads="1"/>
          </p:cNvSpPr>
          <p:nvPr/>
        </p:nvSpPr>
        <p:spPr bwMode="auto">
          <a:xfrm>
            <a:off x="7010400" y="19812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ID</a:t>
            </a:r>
          </a:p>
        </p:txBody>
      </p:sp>
      <p:sp>
        <p:nvSpPr>
          <p:cNvPr id="18449" name="Oval 17"/>
          <p:cNvSpPr>
            <a:spLocks noChangeArrowheads="1"/>
          </p:cNvSpPr>
          <p:nvPr/>
        </p:nvSpPr>
        <p:spPr bwMode="auto">
          <a:xfrm>
            <a:off x="7543800" y="25146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PH#</a:t>
            </a:r>
          </a:p>
        </p:txBody>
      </p:sp>
      <p:sp>
        <p:nvSpPr>
          <p:cNvPr id="18450" name="Oval 18"/>
          <p:cNvSpPr>
            <a:spLocks noChangeArrowheads="1"/>
          </p:cNvSpPr>
          <p:nvPr/>
        </p:nvSpPr>
        <p:spPr bwMode="auto">
          <a:xfrm>
            <a:off x="6477000" y="25146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Name</a:t>
            </a:r>
          </a:p>
        </p:txBody>
      </p:sp>
      <p:cxnSp>
        <p:nvCxnSpPr>
          <p:cNvPr id="18451" name="AutoShape 19"/>
          <p:cNvCxnSpPr>
            <a:cxnSpLocks noChangeShapeType="1"/>
            <a:stCxn id="18436" idx="0"/>
            <a:endCxn id="18449" idx="4"/>
          </p:cNvCxnSpPr>
          <p:nvPr/>
        </p:nvCxnSpPr>
        <p:spPr bwMode="auto">
          <a:xfrm flipV="1">
            <a:off x="7467600" y="2895600"/>
            <a:ext cx="533400" cy="3714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52" name="AutoShape 20"/>
          <p:cNvCxnSpPr>
            <a:cxnSpLocks noChangeShapeType="1"/>
            <a:stCxn id="18436" idx="0"/>
            <a:endCxn id="18448" idx="4"/>
          </p:cNvCxnSpPr>
          <p:nvPr/>
        </p:nvCxnSpPr>
        <p:spPr bwMode="auto">
          <a:xfrm flipV="1">
            <a:off x="7467600" y="2362200"/>
            <a:ext cx="0" cy="9048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53" name="AutoShape 21"/>
          <p:cNvCxnSpPr>
            <a:cxnSpLocks noChangeShapeType="1"/>
            <a:stCxn id="18436" idx="0"/>
            <a:endCxn id="18450" idx="4"/>
          </p:cNvCxnSpPr>
          <p:nvPr/>
        </p:nvCxnSpPr>
        <p:spPr bwMode="auto">
          <a:xfrm flipH="1" flipV="1">
            <a:off x="6934200" y="2895600"/>
            <a:ext cx="533400" cy="3714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GB" dirty="0"/>
              <a:t>Attributes</a:t>
            </a:r>
          </a:p>
        </p:txBody>
      </p:sp>
      <p:sp>
        <p:nvSpPr>
          <p:cNvPr id="19459" name="Rectangle 3"/>
          <p:cNvSpPr>
            <a:spLocks noGrp="1" noChangeArrowheads="1"/>
          </p:cNvSpPr>
          <p:nvPr>
            <p:ph sz="half" idx="1"/>
          </p:nvPr>
        </p:nvSpPr>
        <p:spPr>
          <a:xfrm>
            <a:off x="539552" y="1628800"/>
            <a:ext cx="8136904" cy="4505300"/>
          </a:xfrm>
        </p:spPr>
        <p:txBody>
          <a:bodyPr/>
          <a:lstStyle/>
          <a:p>
            <a:pPr eaLnBrk="1" hangingPunct="1"/>
            <a:endParaRPr lang="en-GB" sz="2400" dirty="0"/>
          </a:p>
          <a:p>
            <a:pPr algn="just" eaLnBrk="1" hangingPunct="1"/>
            <a:r>
              <a:rPr lang="en-GB" sz="2400" dirty="0"/>
              <a:t>Attributes are properties, or details about an entity</a:t>
            </a:r>
          </a:p>
          <a:p>
            <a:pPr algn="just" eaLnBrk="1" hangingPunct="1"/>
            <a:endParaRPr lang="en-GB" sz="2400" dirty="0"/>
          </a:p>
          <a:p>
            <a:pPr lvl="1" algn="just" eaLnBrk="1" hangingPunct="1"/>
            <a:r>
              <a:rPr lang="en-GB" sz="2400" dirty="0"/>
              <a:t>Students have IDs, names, courses, addresses, … </a:t>
            </a:r>
          </a:p>
          <a:p>
            <a:pPr lvl="1" algn="just" eaLnBrk="1" hangingPunct="1"/>
            <a:r>
              <a:rPr lang="en-GB" sz="2400" dirty="0"/>
              <a:t>Courses have codes, titles, credit weights. .… </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GB" dirty="0"/>
              <a:t>Diagramming Attributes</a:t>
            </a:r>
          </a:p>
        </p:txBody>
      </p:sp>
      <p:sp>
        <p:nvSpPr>
          <p:cNvPr id="20483" name="Rectangle 3"/>
          <p:cNvSpPr>
            <a:spLocks noGrp="1" noChangeArrowheads="1"/>
          </p:cNvSpPr>
          <p:nvPr>
            <p:ph sz="half" idx="1"/>
          </p:nvPr>
        </p:nvSpPr>
        <p:spPr/>
        <p:txBody>
          <a:bodyPr/>
          <a:lstStyle/>
          <a:p>
            <a:pPr algn="just" eaLnBrk="1" hangingPunct="1"/>
            <a:r>
              <a:rPr lang="en-GB" sz="2400" dirty="0"/>
              <a:t>In an E/R Diagram attributes may be drawn as ovals</a:t>
            </a:r>
          </a:p>
          <a:p>
            <a:pPr algn="just" eaLnBrk="1" hangingPunct="1">
              <a:buFont typeface="Wingdings 3" pitchFamily="18" charset="2"/>
              <a:buNone/>
            </a:pPr>
            <a:endParaRPr lang="en-GB" sz="2400" dirty="0"/>
          </a:p>
          <a:p>
            <a:pPr algn="just" eaLnBrk="1" hangingPunct="1"/>
            <a:r>
              <a:rPr lang="en-GB" sz="2400" dirty="0"/>
              <a:t>Each attribute is linked to its entity by a line</a:t>
            </a:r>
          </a:p>
          <a:p>
            <a:pPr algn="just" eaLnBrk="1" hangingPunct="1">
              <a:buFont typeface="Wingdings 3" pitchFamily="18" charset="2"/>
              <a:buNone/>
            </a:pPr>
            <a:endParaRPr lang="en-GB" sz="2400" dirty="0"/>
          </a:p>
          <a:p>
            <a:pPr algn="just" eaLnBrk="1" hangingPunct="1"/>
            <a:r>
              <a:rPr lang="en-GB" sz="2400" dirty="0"/>
              <a:t>The name of the attribute is written in the oval</a:t>
            </a:r>
          </a:p>
        </p:txBody>
      </p:sp>
      <p:sp>
        <p:nvSpPr>
          <p:cNvPr id="20484" name="AutoShape 4"/>
          <p:cNvSpPr>
            <a:spLocks noChangeArrowheads="1"/>
          </p:cNvSpPr>
          <p:nvPr/>
        </p:nvSpPr>
        <p:spPr bwMode="auto">
          <a:xfrm>
            <a:off x="6858000" y="32766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Student</a:t>
            </a:r>
          </a:p>
        </p:txBody>
      </p:sp>
      <p:sp>
        <p:nvSpPr>
          <p:cNvPr id="20485" name="AutoShape 5"/>
          <p:cNvSpPr>
            <a:spLocks noChangeArrowheads="1"/>
          </p:cNvSpPr>
          <p:nvPr/>
        </p:nvSpPr>
        <p:spPr bwMode="auto">
          <a:xfrm>
            <a:off x="4876800" y="19050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Lecturer</a:t>
            </a:r>
          </a:p>
        </p:txBody>
      </p:sp>
      <p:sp>
        <p:nvSpPr>
          <p:cNvPr id="20486" name="AutoShape 6"/>
          <p:cNvSpPr>
            <a:spLocks noChangeArrowheads="1"/>
          </p:cNvSpPr>
          <p:nvPr/>
        </p:nvSpPr>
        <p:spPr bwMode="auto">
          <a:xfrm>
            <a:off x="4876800" y="46482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Course</a:t>
            </a:r>
          </a:p>
        </p:txBody>
      </p:sp>
      <p:sp>
        <p:nvSpPr>
          <p:cNvPr id="20487" name="AutoShape 7"/>
          <p:cNvSpPr>
            <a:spLocks noChangeArrowheads="1"/>
          </p:cNvSpPr>
          <p:nvPr/>
        </p:nvSpPr>
        <p:spPr bwMode="auto">
          <a:xfrm>
            <a:off x="4876800" y="3200400"/>
            <a:ext cx="1219200" cy="762000"/>
          </a:xfrm>
          <a:prstGeom prst="diamond">
            <a:avLst/>
          </a:prstGeom>
          <a:noFill/>
          <a:ln w="6350">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dirty="0">
                <a:solidFill>
                  <a:schemeClr val="folHlink"/>
                </a:solidFill>
                <a:latin typeface="Arial" charset="0"/>
              </a:rPr>
              <a:t>Teaches</a:t>
            </a:r>
          </a:p>
        </p:txBody>
      </p:sp>
      <p:sp>
        <p:nvSpPr>
          <p:cNvPr id="20488" name="AutoShape 8"/>
          <p:cNvSpPr>
            <a:spLocks noChangeArrowheads="1"/>
          </p:cNvSpPr>
          <p:nvPr/>
        </p:nvSpPr>
        <p:spPr bwMode="auto">
          <a:xfrm>
            <a:off x="6858000" y="4572000"/>
            <a:ext cx="1219200" cy="762000"/>
          </a:xfrm>
          <a:prstGeom prst="diamond">
            <a:avLst/>
          </a:prstGeom>
          <a:noFill/>
          <a:ln w="6350">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Register</a:t>
            </a:r>
          </a:p>
        </p:txBody>
      </p:sp>
      <p:cxnSp>
        <p:nvCxnSpPr>
          <p:cNvPr id="20489" name="AutoShape 9"/>
          <p:cNvCxnSpPr>
            <a:cxnSpLocks noChangeShapeType="1"/>
            <a:stCxn id="20485" idx="2"/>
            <a:endCxn id="20487" idx="0"/>
          </p:cNvCxnSpPr>
          <p:nvPr/>
        </p:nvCxnSpPr>
        <p:spPr bwMode="auto">
          <a:xfrm>
            <a:off x="5486400" y="2514600"/>
            <a:ext cx="0" cy="6858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0490" name="AutoShape 10"/>
          <p:cNvCxnSpPr>
            <a:cxnSpLocks noChangeShapeType="1"/>
            <a:stCxn id="20487" idx="3"/>
            <a:endCxn id="20484" idx="1"/>
          </p:cNvCxnSpPr>
          <p:nvPr/>
        </p:nvCxnSpPr>
        <p:spPr bwMode="auto">
          <a:xfrm>
            <a:off x="6096000" y="3581400"/>
            <a:ext cx="762000" cy="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0491" name="AutoShape 11"/>
          <p:cNvCxnSpPr>
            <a:cxnSpLocks noChangeShapeType="1"/>
            <a:stCxn id="20484" idx="2"/>
            <a:endCxn id="20488" idx="0"/>
          </p:cNvCxnSpPr>
          <p:nvPr/>
        </p:nvCxnSpPr>
        <p:spPr bwMode="auto">
          <a:xfrm>
            <a:off x="7467600" y="3886200"/>
            <a:ext cx="0" cy="6858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0492" name="AutoShape 12"/>
          <p:cNvCxnSpPr>
            <a:cxnSpLocks noChangeShapeType="1"/>
            <a:stCxn id="20486" idx="3"/>
            <a:endCxn id="20488" idx="1"/>
          </p:cNvCxnSpPr>
          <p:nvPr/>
        </p:nvCxnSpPr>
        <p:spPr bwMode="auto">
          <a:xfrm>
            <a:off x="6096000" y="4953000"/>
            <a:ext cx="762000" cy="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sp>
        <p:nvSpPr>
          <p:cNvPr id="20493" name="Arc 13"/>
          <p:cNvSpPr>
            <a:spLocks/>
          </p:cNvSpPr>
          <p:nvPr/>
        </p:nvSpPr>
        <p:spPr bwMode="auto">
          <a:xfrm>
            <a:off x="6096000" y="48006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94" name="Arc 14"/>
          <p:cNvSpPr>
            <a:spLocks/>
          </p:cNvSpPr>
          <p:nvPr/>
        </p:nvSpPr>
        <p:spPr bwMode="auto">
          <a:xfrm flipH="1">
            <a:off x="6705600" y="34290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95" name="Arc 15"/>
          <p:cNvSpPr>
            <a:spLocks/>
          </p:cNvSpPr>
          <p:nvPr/>
        </p:nvSpPr>
        <p:spPr bwMode="auto">
          <a:xfrm rot="5400000">
            <a:off x="7389019" y="3812381"/>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96" name="Oval 16"/>
          <p:cNvSpPr>
            <a:spLocks noChangeArrowheads="1"/>
          </p:cNvSpPr>
          <p:nvPr/>
        </p:nvSpPr>
        <p:spPr bwMode="auto">
          <a:xfrm>
            <a:off x="7010400" y="19812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ID</a:t>
            </a:r>
          </a:p>
        </p:txBody>
      </p:sp>
      <p:sp>
        <p:nvSpPr>
          <p:cNvPr id="20497" name="Oval 17"/>
          <p:cNvSpPr>
            <a:spLocks noChangeArrowheads="1"/>
          </p:cNvSpPr>
          <p:nvPr/>
        </p:nvSpPr>
        <p:spPr bwMode="auto">
          <a:xfrm>
            <a:off x="7543800" y="25146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Ph#</a:t>
            </a:r>
          </a:p>
        </p:txBody>
      </p:sp>
      <p:sp>
        <p:nvSpPr>
          <p:cNvPr id="20498" name="Oval 18"/>
          <p:cNvSpPr>
            <a:spLocks noChangeArrowheads="1"/>
          </p:cNvSpPr>
          <p:nvPr/>
        </p:nvSpPr>
        <p:spPr bwMode="auto">
          <a:xfrm>
            <a:off x="6477000" y="25146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Name</a:t>
            </a:r>
          </a:p>
        </p:txBody>
      </p:sp>
      <p:cxnSp>
        <p:nvCxnSpPr>
          <p:cNvPr id="20499" name="AutoShape 19"/>
          <p:cNvCxnSpPr>
            <a:cxnSpLocks noChangeShapeType="1"/>
            <a:stCxn id="20484" idx="0"/>
            <a:endCxn id="20497" idx="4"/>
          </p:cNvCxnSpPr>
          <p:nvPr/>
        </p:nvCxnSpPr>
        <p:spPr bwMode="auto">
          <a:xfrm flipV="1">
            <a:off x="7467600" y="2905125"/>
            <a:ext cx="533400" cy="3714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0500" name="AutoShape 20"/>
          <p:cNvCxnSpPr>
            <a:cxnSpLocks noChangeShapeType="1"/>
            <a:stCxn id="20484" idx="0"/>
            <a:endCxn id="20496" idx="4"/>
          </p:cNvCxnSpPr>
          <p:nvPr/>
        </p:nvCxnSpPr>
        <p:spPr bwMode="auto">
          <a:xfrm flipV="1">
            <a:off x="7467600" y="2371725"/>
            <a:ext cx="0" cy="9048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0501" name="AutoShape 21"/>
          <p:cNvCxnSpPr>
            <a:cxnSpLocks noChangeShapeType="1"/>
            <a:stCxn id="20484" idx="0"/>
            <a:endCxn id="20498" idx="4"/>
          </p:cNvCxnSpPr>
          <p:nvPr/>
        </p:nvCxnSpPr>
        <p:spPr bwMode="auto">
          <a:xfrm flipH="1" flipV="1">
            <a:off x="6934200" y="2905125"/>
            <a:ext cx="533400" cy="3714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5"/>
          <p:cNvSpPr>
            <a:spLocks noGrp="1"/>
          </p:cNvSpPr>
          <p:nvPr>
            <p:ph type="title"/>
          </p:nvPr>
        </p:nvSpPr>
        <p:spPr>
          <a:xfrm>
            <a:off x="457200" y="350168"/>
            <a:ext cx="8229600" cy="990600"/>
          </a:xfrm>
        </p:spPr>
        <p:txBody>
          <a:bodyPr/>
          <a:lstStyle/>
          <a:p>
            <a:r>
              <a:rPr lang="en-GB" altLang="en-US" dirty="0"/>
              <a:t> Types of Attributes</a:t>
            </a:r>
            <a:endParaRPr lang="en-US" altLang="en-US" dirty="0"/>
          </a:p>
        </p:txBody>
      </p:sp>
      <p:sp>
        <p:nvSpPr>
          <p:cNvPr id="25603" name="Content Placeholder 6"/>
          <p:cNvSpPr>
            <a:spLocks noGrp="1"/>
          </p:cNvSpPr>
          <p:nvPr>
            <p:ph sz="quarter" idx="1"/>
          </p:nvPr>
        </p:nvSpPr>
        <p:spPr>
          <a:xfrm>
            <a:off x="457200" y="1219200"/>
            <a:ext cx="8229600" cy="1704975"/>
          </a:xfrm>
        </p:spPr>
        <p:txBody>
          <a:bodyPr>
            <a:normAutofit/>
          </a:bodyPr>
          <a:lstStyle/>
          <a:p>
            <a:pPr algn="just"/>
            <a:r>
              <a:rPr lang="en-GB" altLang="en-US" dirty="0"/>
              <a:t> </a:t>
            </a:r>
            <a:r>
              <a:rPr lang="en-GB" altLang="en-US" b="1" dirty="0"/>
              <a:t>Composite attributes</a:t>
            </a:r>
            <a:endParaRPr lang="en-GB" altLang="en-US" dirty="0"/>
          </a:p>
          <a:p>
            <a:pPr marL="274320" lvl="1" indent="0" algn="just">
              <a:buNone/>
            </a:pPr>
            <a:r>
              <a:rPr lang="en-GB" altLang="en-US" sz="2400" dirty="0"/>
              <a:t>Attributes can also have their own specific attributes. For example, the attribute “customer address” can have the attributes “number, street, city, and state”.</a:t>
            </a:r>
            <a:r>
              <a:rPr lang="en-GB" altLang="en-US" dirty="0"/>
              <a:t> </a:t>
            </a:r>
            <a:endParaRPr lang="en-US" altLang="en-US" b="1" dirty="0"/>
          </a:p>
        </p:txBody>
      </p:sp>
      <p:pic>
        <p:nvPicPr>
          <p:cNvPr id="25605" name="Picture 8"/>
          <p:cNvPicPr>
            <a:picLocks noChangeAspect="1" noChangeArrowheads="1"/>
          </p:cNvPicPr>
          <p:nvPr/>
        </p:nvPicPr>
        <p:blipFill>
          <a:blip r:embed="rId2">
            <a:extLst>
              <a:ext uri="{28A0092B-C50C-407E-A947-70E740481C1C}">
                <a14:useLocalDpi xmlns:a14="http://schemas.microsoft.com/office/drawing/2010/main" val="0"/>
              </a:ext>
            </a:extLst>
          </a:blip>
          <a:srcRect l="26923" t="23755" r="39745" b="40993"/>
          <a:stretch>
            <a:fillRect/>
          </a:stretch>
        </p:blipFill>
        <p:spPr bwMode="auto">
          <a:xfrm>
            <a:off x="1835150" y="3284538"/>
            <a:ext cx="5689600"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25</a:t>
            </a:fld>
            <a:endParaRPr lang="en-US" dirty="0"/>
          </a:p>
        </p:txBody>
      </p:sp>
    </p:spTree>
    <p:extLst>
      <p:ext uri="{BB962C8B-B14F-4D97-AF65-F5344CB8AC3E}">
        <p14:creationId xmlns:p14="http://schemas.microsoft.com/office/powerpoint/2010/main" val="2914372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332656"/>
            <a:ext cx="8229600" cy="990600"/>
          </a:xfrm>
        </p:spPr>
        <p:txBody>
          <a:bodyPr/>
          <a:lstStyle/>
          <a:p>
            <a:r>
              <a:rPr lang="en-GB" altLang="en-US" dirty="0"/>
              <a:t>Types of Attributes</a:t>
            </a:r>
            <a:endParaRPr lang="en-US" altLang="en-US" dirty="0"/>
          </a:p>
        </p:txBody>
      </p:sp>
      <p:sp>
        <p:nvSpPr>
          <p:cNvPr id="26627" name="Content Placeholder 2"/>
          <p:cNvSpPr>
            <a:spLocks noGrp="1"/>
          </p:cNvSpPr>
          <p:nvPr>
            <p:ph sz="quarter" idx="1"/>
          </p:nvPr>
        </p:nvSpPr>
        <p:spPr>
          <a:xfrm>
            <a:off x="323850" y="1162050"/>
            <a:ext cx="8229600" cy="4938713"/>
          </a:xfrm>
        </p:spPr>
        <p:txBody>
          <a:bodyPr/>
          <a:lstStyle/>
          <a:p>
            <a:pPr algn="just"/>
            <a:r>
              <a:rPr lang="en-GB" altLang="en-US" b="1" dirty="0"/>
              <a:t>Multivalued Attribute </a:t>
            </a:r>
          </a:p>
          <a:p>
            <a:pPr marL="274638" lvl="1" indent="0" algn="just">
              <a:buFont typeface="Wingdings 3" panose="05040102010807070707" pitchFamily="18" charset="2"/>
              <a:buNone/>
            </a:pPr>
            <a:r>
              <a:rPr lang="en-GB" altLang="en-US" sz="2400" dirty="0">
                <a:solidFill>
                  <a:schemeClr val="tx1"/>
                </a:solidFill>
              </a:rPr>
              <a:t>If an attribute can have more than one value it is called an multivalued attribute. </a:t>
            </a:r>
          </a:p>
          <a:p>
            <a:pPr marL="274638" lvl="1" indent="0" algn="just">
              <a:buFont typeface="Wingdings 3" panose="05040102010807070707" pitchFamily="18" charset="2"/>
              <a:buNone/>
            </a:pPr>
            <a:r>
              <a:rPr lang="en-GB" altLang="en-US" sz="2400" dirty="0">
                <a:solidFill>
                  <a:schemeClr val="tx1"/>
                </a:solidFill>
              </a:rPr>
              <a:t>For  example a teacher entity can have multiple subject values.</a:t>
            </a:r>
          </a:p>
          <a:p>
            <a:pPr marL="274638" lvl="1" indent="0" algn="just">
              <a:buFont typeface="Wingdings 3" panose="05040102010807070707" pitchFamily="18" charset="2"/>
              <a:buNone/>
            </a:pPr>
            <a:endParaRPr lang="en-US" altLang="en-US" dirty="0">
              <a:solidFill>
                <a:schemeClr val="tx1"/>
              </a:solidFill>
            </a:endParaRPr>
          </a:p>
        </p:txBody>
      </p:sp>
      <p:pic>
        <p:nvPicPr>
          <p:cNvPr id="26629" name="Picture 4"/>
          <p:cNvPicPr>
            <a:picLocks noChangeAspect="1" noChangeArrowheads="1"/>
          </p:cNvPicPr>
          <p:nvPr/>
        </p:nvPicPr>
        <p:blipFill>
          <a:blip r:embed="rId2">
            <a:extLst>
              <a:ext uri="{28A0092B-C50C-407E-A947-70E740481C1C}">
                <a14:useLocalDpi xmlns:a14="http://schemas.microsoft.com/office/drawing/2010/main" val="0"/>
              </a:ext>
            </a:extLst>
          </a:blip>
          <a:srcRect l="26756" t="36096" r="47903" b="53130"/>
          <a:stretch>
            <a:fillRect/>
          </a:stretch>
        </p:blipFill>
        <p:spPr bwMode="auto">
          <a:xfrm>
            <a:off x="4427538" y="3933825"/>
            <a:ext cx="3395662"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5"/>
          <p:cNvPicPr>
            <a:picLocks noChangeAspect="1" noChangeArrowheads="1"/>
          </p:cNvPicPr>
          <p:nvPr/>
        </p:nvPicPr>
        <p:blipFill>
          <a:blip r:embed="rId3">
            <a:extLst>
              <a:ext uri="{28A0092B-C50C-407E-A947-70E740481C1C}">
                <a14:useLocalDpi xmlns:a14="http://schemas.microsoft.com/office/drawing/2010/main" val="0"/>
              </a:ext>
            </a:extLst>
          </a:blip>
          <a:srcRect l="36217" t="12828" r="34937" b="55530"/>
          <a:stretch>
            <a:fillRect/>
          </a:stretch>
        </p:blipFill>
        <p:spPr bwMode="auto">
          <a:xfrm>
            <a:off x="827088" y="3273425"/>
            <a:ext cx="3384550" cy="25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26</a:t>
            </a:fld>
            <a:endParaRPr lang="en-US" dirty="0"/>
          </a:p>
        </p:txBody>
      </p:sp>
    </p:spTree>
    <p:extLst>
      <p:ext uri="{BB962C8B-B14F-4D97-AF65-F5344CB8AC3E}">
        <p14:creationId xmlns:p14="http://schemas.microsoft.com/office/powerpoint/2010/main" val="4073080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57200" y="350168"/>
            <a:ext cx="8229600" cy="846584"/>
          </a:xfrm>
        </p:spPr>
        <p:txBody>
          <a:bodyPr/>
          <a:lstStyle/>
          <a:p>
            <a:r>
              <a:rPr lang="en-GB" altLang="en-US" dirty="0"/>
              <a:t>Types of Attributes</a:t>
            </a:r>
            <a:endParaRPr lang="en-US" altLang="en-US" dirty="0"/>
          </a:p>
        </p:txBody>
      </p:sp>
      <p:sp>
        <p:nvSpPr>
          <p:cNvPr id="27651" name="Content Placeholder 2"/>
          <p:cNvSpPr>
            <a:spLocks noGrp="1"/>
          </p:cNvSpPr>
          <p:nvPr>
            <p:ph sz="quarter" idx="1"/>
          </p:nvPr>
        </p:nvSpPr>
        <p:spPr>
          <a:xfrm>
            <a:off x="323850" y="1263650"/>
            <a:ext cx="8229600" cy="4938713"/>
          </a:xfrm>
        </p:spPr>
        <p:txBody>
          <a:bodyPr/>
          <a:lstStyle/>
          <a:p>
            <a:r>
              <a:rPr lang="en-GB" altLang="en-US" b="1" dirty="0"/>
              <a:t>Derived Attribute </a:t>
            </a:r>
          </a:p>
          <a:p>
            <a:pPr marL="274638" lvl="1" indent="0" algn="just">
              <a:buFont typeface="Wingdings 3" panose="05040102010807070707" pitchFamily="18" charset="2"/>
              <a:buNone/>
            </a:pPr>
            <a:r>
              <a:rPr lang="en-GB" altLang="en-US" sz="2400" dirty="0">
                <a:solidFill>
                  <a:schemeClr val="tx1"/>
                </a:solidFill>
              </a:rPr>
              <a:t>An attribute based on another attribute. This is found rarely in ER diagrams. For example for a circle the area can be derived from the radius. </a:t>
            </a:r>
          </a:p>
          <a:p>
            <a:pPr marL="274638" lvl="1" indent="0">
              <a:buFont typeface="Wingdings 3" panose="05040102010807070707" pitchFamily="18" charset="2"/>
              <a:buNone/>
            </a:pPr>
            <a:endParaRPr lang="en-GB" altLang="en-US" dirty="0">
              <a:solidFill>
                <a:schemeClr val="tx1"/>
              </a:solidFill>
            </a:endParaRPr>
          </a:p>
          <a:p>
            <a:pPr marL="274638" lvl="1" indent="0">
              <a:buFont typeface="Wingdings 3" panose="05040102010807070707" pitchFamily="18" charset="2"/>
              <a:buNone/>
            </a:pPr>
            <a:endParaRPr lang="en-GB" altLang="en-US" dirty="0">
              <a:solidFill>
                <a:schemeClr val="tx1"/>
              </a:solidFill>
            </a:endParaRPr>
          </a:p>
          <a:p>
            <a:pPr marL="0" indent="0">
              <a:buFont typeface="Wingdings 3" panose="05040102010807070707" pitchFamily="18" charset="2"/>
              <a:buNone/>
            </a:pPr>
            <a:r>
              <a:rPr lang="en-GB" altLang="en-US" dirty="0"/>
              <a:t> </a:t>
            </a:r>
            <a:endParaRPr lang="en-US" altLang="en-US" dirty="0"/>
          </a:p>
        </p:txBody>
      </p:sp>
      <p:pic>
        <p:nvPicPr>
          <p:cNvPr id="27653" name="Picture 4"/>
          <p:cNvPicPr>
            <a:picLocks noChangeAspect="1" noChangeArrowheads="1"/>
          </p:cNvPicPr>
          <p:nvPr/>
        </p:nvPicPr>
        <p:blipFill>
          <a:blip r:embed="rId2">
            <a:extLst>
              <a:ext uri="{28A0092B-C50C-407E-A947-70E740481C1C}">
                <a14:useLocalDpi xmlns:a14="http://schemas.microsoft.com/office/drawing/2010/main" val="0"/>
              </a:ext>
            </a:extLst>
          </a:blip>
          <a:srcRect l="27792" t="60718" r="52403" b="18472"/>
          <a:stretch>
            <a:fillRect/>
          </a:stretch>
        </p:blipFill>
        <p:spPr bwMode="auto">
          <a:xfrm>
            <a:off x="3924300" y="3573463"/>
            <a:ext cx="4319588"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5"/>
          <p:cNvPicPr>
            <a:picLocks noChangeAspect="1" noChangeArrowheads="1"/>
          </p:cNvPicPr>
          <p:nvPr/>
        </p:nvPicPr>
        <p:blipFill>
          <a:blip r:embed="rId3">
            <a:extLst>
              <a:ext uri="{28A0092B-C50C-407E-A947-70E740481C1C}">
                <a14:useLocalDpi xmlns:a14="http://schemas.microsoft.com/office/drawing/2010/main" val="0"/>
              </a:ext>
            </a:extLst>
          </a:blip>
          <a:srcRect l="36217" t="47037" r="34937" b="20467"/>
          <a:stretch>
            <a:fillRect/>
          </a:stretch>
        </p:blipFill>
        <p:spPr bwMode="auto">
          <a:xfrm>
            <a:off x="457200" y="3213100"/>
            <a:ext cx="339407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27</a:t>
            </a:fld>
            <a:endParaRPr lang="en-US" dirty="0"/>
          </a:p>
        </p:txBody>
      </p:sp>
    </p:spTree>
    <p:extLst>
      <p:ext uri="{BB962C8B-B14F-4D97-AF65-F5344CB8AC3E}">
        <p14:creationId xmlns:p14="http://schemas.microsoft.com/office/powerpoint/2010/main" val="2208014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a:t>Relationships</a:t>
            </a:r>
          </a:p>
        </p:txBody>
      </p:sp>
      <p:sp>
        <p:nvSpPr>
          <p:cNvPr id="21507" name="Rectangle 3"/>
          <p:cNvSpPr>
            <a:spLocks noGrp="1" noChangeArrowheads="1"/>
          </p:cNvSpPr>
          <p:nvPr>
            <p:ph sz="half" idx="1"/>
          </p:nvPr>
        </p:nvSpPr>
        <p:spPr/>
        <p:txBody>
          <a:bodyPr>
            <a:normAutofit lnSpcReduction="10000"/>
          </a:bodyPr>
          <a:lstStyle/>
          <a:p>
            <a:pPr eaLnBrk="1" hangingPunct="1"/>
            <a:endParaRPr lang="en-GB" sz="2400" dirty="0"/>
          </a:p>
          <a:p>
            <a:pPr algn="just" eaLnBrk="1" hangingPunct="1"/>
            <a:r>
              <a:rPr lang="en-GB" sz="2400" dirty="0"/>
              <a:t>Relationships are an association between two or more entities</a:t>
            </a:r>
          </a:p>
          <a:p>
            <a:pPr algn="just" eaLnBrk="1" hangingPunct="1"/>
            <a:endParaRPr lang="en-GB" sz="2400" dirty="0"/>
          </a:p>
          <a:p>
            <a:pPr lvl="1" algn="just" eaLnBrk="1" hangingPunct="1"/>
            <a:r>
              <a:rPr lang="en-GB" sz="2000" dirty="0"/>
              <a:t>Each Student takes several Courses</a:t>
            </a:r>
          </a:p>
          <a:p>
            <a:pPr lvl="1" algn="just" eaLnBrk="1" hangingPunct="1"/>
            <a:endParaRPr lang="en-GB" sz="2000" dirty="0"/>
          </a:p>
          <a:p>
            <a:pPr lvl="1" algn="just" eaLnBrk="1" hangingPunct="1"/>
            <a:r>
              <a:rPr lang="en-GB" sz="2000" dirty="0"/>
              <a:t>Each Course is taught by a Lecturer</a:t>
            </a:r>
          </a:p>
          <a:p>
            <a:pPr lvl="1" algn="just" eaLnBrk="1" hangingPunct="1"/>
            <a:endParaRPr lang="en-GB" sz="2000" dirty="0"/>
          </a:p>
          <a:p>
            <a:pPr lvl="1" algn="just" eaLnBrk="1" hangingPunct="1"/>
            <a:r>
              <a:rPr lang="en-GB" sz="2000" dirty="0"/>
              <a:t>Each Employee works for a single Department</a:t>
            </a:r>
          </a:p>
          <a:p>
            <a:pPr eaLnBrk="1" hangingPunct="1"/>
            <a:endParaRPr lang="en-GB" sz="2400" dirty="0"/>
          </a:p>
        </p:txBody>
      </p:sp>
      <p:sp>
        <p:nvSpPr>
          <p:cNvPr id="21508" name="Rectangle 4"/>
          <p:cNvSpPr>
            <a:spLocks noGrp="1" noChangeArrowheads="1"/>
          </p:cNvSpPr>
          <p:nvPr>
            <p:ph sz="half" idx="2"/>
          </p:nvPr>
        </p:nvSpPr>
        <p:spPr/>
        <p:txBody>
          <a:bodyPr>
            <a:normAutofit lnSpcReduction="10000"/>
          </a:bodyPr>
          <a:lstStyle/>
          <a:p>
            <a:pPr eaLnBrk="1" hangingPunct="1"/>
            <a:endParaRPr lang="en-GB" sz="2400" dirty="0"/>
          </a:p>
          <a:p>
            <a:pPr eaLnBrk="1" hangingPunct="1"/>
            <a:endParaRPr lang="en-GB" sz="2400" dirty="0"/>
          </a:p>
          <a:p>
            <a:pPr algn="just" eaLnBrk="1" hangingPunct="1"/>
            <a:r>
              <a:rPr lang="en-GB" sz="2400" dirty="0"/>
              <a:t>Relationships have</a:t>
            </a:r>
          </a:p>
          <a:p>
            <a:pPr lvl="1" algn="just" eaLnBrk="1" hangingPunct="1"/>
            <a:r>
              <a:rPr lang="en-GB" sz="2000" dirty="0"/>
              <a:t>A name</a:t>
            </a:r>
          </a:p>
          <a:p>
            <a:pPr lvl="1" algn="just" eaLnBrk="1" hangingPunct="1"/>
            <a:r>
              <a:rPr lang="en-GB" sz="2000" dirty="0"/>
              <a:t>A set of entities that participate in them</a:t>
            </a:r>
          </a:p>
          <a:p>
            <a:pPr lvl="1" algn="just" eaLnBrk="1" hangingPunct="1"/>
            <a:r>
              <a:rPr lang="en-GB" sz="2000" dirty="0"/>
              <a:t>A degree - the number of entities that participate (most have degree 2)</a:t>
            </a:r>
          </a:p>
          <a:p>
            <a:pPr lvl="1" algn="just" eaLnBrk="1" hangingPunct="1"/>
            <a:r>
              <a:rPr lang="en-GB" sz="2000" dirty="0"/>
              <a:t>A cardinality ratio</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GB"/>
              <a:t>Cardinality Ratios</a:t>
            </a:r>
          </a:p>
        </p:txBody>
      </p:sp>
      <p:sp>
        <p:nvSpPr>
          <p:cNvPr id="22531" name="Rectangle 3"/>
          <p:cNvSpPr>
            <a:spLocks noGrp="1" noChangeArrowheads="1"/>
          </p:cNvSpPr>
          <p:nvPr>
            <p:ph sz="half" idx="1"/>
          </p:nvPr>
        </p:nvSpPr>
        <p:spPr/>
        <p:txBody>
          <a:bodyPr/>
          <a:lstStyle/>
          <a:p>
            <a:pPr algn="just" eaLnBrk="1" hangingPunct="1"/>
            <a:endParaRPr lang="en-GB" sz="2400" dirty="0"/>
          </a:p>
          <a:p>
            <a:pPr algn="just" eaLnBrk="1" hangingPunct="1"/>
            <a:r>
              <a:rPr lang="en-GB" sz="2400" dirty="0"/>
              <a:t>Each entity in a relationship can participate in zero, one, or more than one instances of that relationship</a:t>
            </a:r>
          </a:p>
          <a:p>
            <a:pPr algn="just" eaLnBrk="1" hangingPunct="1">
              <a:buFont typeface="Wingdings 3" pitchFamily="18" charset="2"/>
              <a:buNone/>
            </a:pPr>
            <a:endParaRPr lang="en-GB" sz="2400" dirty="0"/>
          </a:p>
          <a:p>
            <a:pPr algn="just" eaLnBrk="1" hangingPunct="1"/>
            <a:r>
              <a:rPr lang="en-GB" sz="2400" dirty="0"/>
              <a:t>This leads to 3 types of relationship… </a:t>
            </a:r>
          </a:p>
        </p:txBody>
      </p:sp>
      <p:sp>
        <p:nvSpPr>
          <p:cNvPr id="22532" name="Rectangle 4"/>
          <p:cNvSpPr>
            <a:spLocks noGrp="1" noChangeArrowheads="1"/>
          </p:cNvSpPr>
          <p:nvPr>
            <p:ph sz="half" idx="2"/>
          </p:nvPr>
        </p:nvSpPr>
        <p:spPr/>
        <p:txBody>
          <a:bodyPr/>
          <a:lstStyle/>
          <a:p>
            <a:pPr eaLnBrk="1" hangingPunct="1">
              <a:lnSpc>
                <a:spcPct val="90000"/>
              </a:lnSpc>
            </a:pPr>
            <a:endParaRPr lang="en-GB" sz="2400" dirty="0"/>
          </a:p>
          <a:p>
            <a:pPr algn="just" eaLnBrk="1" hangingPunct="1">
              <a:lnSpc>
                <a:spcPct val="90000"/>
              </a:lnSpc>
            </a:pPr>
            <a:r>
              <a:rPr lang="en-GB" sz="2400" dirty="0"/>
              <a:t>One to one (1:1)</a:t>
            </a:r>
          </a:p>
          <a:p>
            <a:pPr lvl="1" algn="just" eaLnBrk="1" hangingPunct="1">
              <a:lnSpc>
                <a:spcPct val="90000"/>
              </a:lnSpc>
            </a:pPr>
            <a:r>
              <a:rPr lang="en-GB" sz="1800" dirty="0"/>
              <a:t>Each lecturer has a unique office</a:t>
            </a:r>
            <a:endParaRPr lang="en-GB" sz="2000" dirty="0"/>
          </a:p>
          <a:p>
            <a:pPr algn="just" eaLnBrk="1" hangingPunct="1">
              <a:lnSpc>
                <a:spcPct val="90000"/>
              </a:lnSpc>
            </a:pPr>
            <a:r>
              <a:rPr lang="en-GB" sz="2400" dirty="0"/>
              <a:t>One to many (1:M)</a:t>
            </a:r>
          </a:p>
          <a:p>
            <a:pPr lvl="1" algn="just" eaLnBrk="1" hangingPunct="1">
              <a:lnSpc>
                <a:spcPct val="90000"/>
              </a:lnSpc>
            </a:pPr>
            <a:r>
              <a:rPr lang="en-GB" sz="1800" dirty="0"/>
              <a:t>A lecturer may teaches many students, but each student has just one tutor for specific course</a:t>
            </a:r>
          </a:p>
          <a:p>
            <a:pPr algn="just" eaLnBrk="1" hangingPunct="1">
              <a:lnSpc>
                <a:spcPct val="90000"/>
              </a:lnSpc>
            </a:pPr>
            <a:r>
              <a:rPr lang="en-GB" sz="2400" dirty="0"/>
              <a:t>Many to many (M:M)</a:t>
            </a:r>
          </a:p>
          <a:p>
            <a:pPr lvl="1" algn="just" eaLnBrk="1" hangingPunct="1">
              <a:lnSpc>
                <a:spcPct val="90000"/>
              </a:lnSpc>
            </a:pPr>
            <a:r>
              <a:rPr lang="en-GB" sz="1800" dirty="0"/>
              <a:t>Each student takes several courses and each course is taken by several students</a:t>
            </a:r>
            <a:endParaRPr lang="en-GB" sz="2000" dirty="0"/>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GB"/>
              <a:t>Diagramming Relationships</a:t>
            </a:r>
          </a:p>
        </p:txBody>
      </p:sp>
      <p:sp>
        <p:nvSpPr>
          <p:cNvPr id="23555" name="Rectangle 3"/>
          <p:cNvSpPr>
            <a:spLocks noGrp="1" noChangeArrowheads="1"/>
          </p:cNvSpPr>
          <p:nvPr>
            <p:ph sz="half" idx="1"/>
          </p:nvPr>
        </p:nvSpPr>
        <p:spPr/>
        <p:txBody>
          <a:bodyPr/>
          <a:lstStyle/>
          <a:p>
            <a:pPr eaLnBrk="1" hangingPunct="1"/>
            <a:endParaRPr lang="en-GB" sz="2400" dirty="0"/>
          </a:p>
          <a:p>
            <a:pPr algn="just" eaLnBrk="1" hangingPunct="1"/>
            <a:r>
              <a:rPr lang="en-GB" sz="2400" dirty="0"/>
              <a:t>Relationships are links between two entities</a:t>
            </a:r>
          </a:p>
          <a:p>
            <a:pPr algn="just" eaLnBrk="1" hangingPunct="1"/>
            <a:endParaRPr lang="en-GB" sz="2400" dirty="0"/>
          </a:p>
          <a:p>
            <a:pPr algn="just" eaLnBrk="1" hangingPunct="1"/>
            <a:r>
              <a:rPr lang="en-GB" sz="2400" dirty="0"/>
              <a:t>The name is given in a diamond box</a:t>
            </a:r>
          </a:p>
          <a:p>
            <a:pPr algn="just" eaLnBrk="1" hangingPunct="1"/>
            <a:endParaRPr lang="en-GB" sz="2400" dirty="0"/>
          </a:p>
          <a:p>
            <a:pPr algn="just" eaLnBrk="1" hangingPunct="1"/>
            <a:r>
              <a:rPr lang="en-GB" sz="2400" dirty="0"/>
              <a:t>The ends of the link show cardinality</a:t>
            </a:r>
          </a:p>
        </p:txBody>
      </p:sp>
      <p:sp>
        <p:nvSpPr>
          <p:cNvPr id="23556" name="AutoShape 4"/>
          <p:cNvSpPr>
            <a:spLocks noChangeArrowheads="1"/>
          </p:cNvSpPr>
          <p:nvPr/>
        </p:nvSpPr>
        <p:spPr bwMode="auto">
          <a:xfrm>
            <a:off x="6858000" y="32766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Student</a:t>
            </a:r>
          </a:p>
        </p:txBody>
      </p:sp>
      <p:sp>
        <p:nvSpPr>
          <p:cNvPr id="23557" name="AutoShape 5"/>
          <p:cNvSpPr>
            <a:spLocks noChangeArrowheads="1"/>
          </p:cNvSpPr>
          <p:nvPr/>
        </p:nvSpPr>
        <p:spPr bwMode="auto">
          <a:xfrm>
            <a:off x="4876800" y="19050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Lecturer</a:t>
            </a:r>
          </a:p>
        </p:txBody>
      </p:sp>
      <p:sp>
        <p:nvSpPr>
          <p:cNvPr id="23558" name="AutoShape 6"/>
          <p:cNvSpPr>
            <a:spLocks noChangeArrowheads="1"/>
          </p:cNvSpPr>
          <p:nvPr/>
        </p:nvSpPr>
        <p:spPr bwMode="auto">
          <a:xfrm>
            <a:off x="4876800" y="46482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Course</a:t>
            </a:r>
          </a:p>
        </p:txBody>
      </p:sp>
      <p:sp>
        <p:nvSpPr>
          <p:cNvPr id="23559" name="AutoShape 7"/>
          <p:cNvSpPr>
            <a:spLocks noChangeArrowheads="1"/>
          </p:cNvSpPr>
          <p:nvPr/>
        </p:nvSpPr>
        <p:spPr bwMode="auto">
          <a:xfrm>
            <a:off x="4876800" y="3200400"/>
            <a:ext cx="12192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Teaches</a:t>
            </a:r>
          </a:p>
        </p:txBody>
      </p:sp>
      <p:sp>
        <p:nvSpPr>
          <p:cNvPr id="23560" name="AutoShape 8"/>
          <p:cNvSpPr>
            <a:spLocks noChangeArrowheads="1"/>
          </p:cNvSpPr>
          <p:nvPr/>
        </p:nvSpPr>
        <p:spPr bwMode="auto">
          <a:xfrm>
            <a:off x="6858000" y="4572000"/>
            <a:ext cx="12192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Register</a:t>
            </a:r>
          </a:p>
        </p:txBody>
      </p:sp>
      <p:cxnSp>
        <p:nvCxnSpPr>
          <p:cNvPr id="23561" name="AutoShape 9"/>
          <p:cNvCxnSpPr>
            <a:cxnSpLocks noChangeShapeType="1"/>
            <a:stCxn id="23557" idx="2"/>
            <a:endCxn id="23559" idx="0"/>
          </p:cNvCxnSpPr>
          <p:nvPr/>
        </p:nvCxnSpPr>
        <p:spPr bwMode="auto">
          <a:xfrm>
            <a:off x="5486400" y="2514600"/>
            <a:ext cx="0" cy="6762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2" name="AutoShape 10"/>
          <p:cNvCxnSpPr>
            <a:cxnSpLocks noChangeShapeType="1"/>
            <a:stCxn id="23559" idx="3"/>
            <a:endCxn id="23556" idx="1"/>
          </p:cNvCxnSpPr>
          <p:nvPr/>
        </p:nvCxnSpPr>
        <p:spPr bwMode="auto">
          <a:xfrm>
            <a:off x="6105525" y="3581400"/>
            <a:ext cx="752475"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3" name="AutoShape 11"/>
          <p:cNvCxnSpPr>
            <a:cxnSpLocks noChangeShapeType="1"/>
            <a:stCxn id="23556" idx="2"/>
            <a:endCxn id="23560" idx="0"/>
          </p:cNvCxnSpPr>
          <p:nvPr/>
        </p:nvCxnSpPr>
        <p:spPr bwMode="auto">
          <a:xfrm>
            <a:off x="7467600" y="3886200"/>
            <a:ext cx="0" cy="6762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4" name="AutoShape 12"/>
          <p:cNvCxnSpPr>
            <a:cxnSpLocks noChangeShapeType="1"/>
            <a:stCxn id="23558" idx="3"/>
            <a:endCxn id="23560" idx="1"/>
          </p:cNvCxnSpPr>
          <p:nvPr/>
        </p:nvCxnSpPr>
        <p:spPr bwMode="auto">
          <a:xfrm>
            <a:off x="6096000" y="4953000"/>
            <a:ext cx="752475"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23565" name="Arc 13"/>
          <p:cNvSpPr>
            <a:spLocks/>
          </p:cNvSpPr>
          <p:nvPr/>
        </p:nvSpPr>
        <p:spPr bwMode="auto">
          <a:xfrm>
            <a:off x="6096000" y="48006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66" name="Arc 14"/>
          <p:cNvSpPr>
            <a:spLocks/>
          </p:cNvSpPr>
          <p:nvPr/>
        </p:nvSpPr>
        <p:spPr bwMode="auto">
          <a:xfrm flipH="1">
            <a:off x="6705600" y="34290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67" name="Arc 15"/>
          <p:cNvSpPr>
            <a:spLocks/>
          </p:cNvSpPr>
          <p:nvPr/>
        </p:nvSpPr>
        <p:spPr bwMode="auto">
          <a:xfrm rot="5400000">
            <a:off x="7389019" y="3812381"/>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68" name="Oval 16"/>
          <p:cNvSpPr>
            <a:spLocks noChangeArrowheads="1"/>
          </p:cNvSpPr>
          <p:nvPr/>
        </p:nvSpPr>
        <p:spPr bwMode="auto">
          <a:xfrm>
            <a:off x="7010400" y="19812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ID</a:t>
            </a:r>
          </a:p>
        </p:txBody>
      </p:sp>
      <p:sp>
        <p:nvSpPr>
          <p:cNvPr id="23569" name="Oval 17"/>
          <p:cNvSpPr>
            <a:spLocks noChangeArrowheads="1"/>
          </p:cNvSpPr>
          <p:nvPr/>
        </p:nvSpPr>
        <p:spPr bwMode="auto">
          <a:xfrm>
            <a:off x="7543800" y="25146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Ph#</a:t>
            </a:r>
          </a:p>
        </p:txBody>
      </p:sp>
      <p:sp>
        <p:nvSpPr>
          <p:cNvPr id="23570" name="Oval 18"/>
          <p:cNvSpPr>
            <a:spLocks noChangeArrowheads="1"/>
          </p:cNvSpPr>
          <p:nvPr/>
        </p:nvSpPr>
        <p:spPr bwMode="auto">
          <a:xfrm>
            <a:off x="6477000" y="25146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Name</a:t>
            </a:r>
          </a:p>
        </p:txBody>
      </p:sp>
      <p:cxnSp>
        <p:nvCxnSpPr>
          <p:cNvPr id="23571" name="AutoShape 19"/>
          <p:cNvCxnSpPr>
            <a:cxnSpLocks noChangeShapeType="1"/>
            <a:stCxn id="23556" idx="0"/>
            <a:endCxn id="23569" idx="4"/>
          </p:cNvCxnSpPr>
          <p:nvPr/>
        </p:nvCxnSpPr>
        <p:spPr bwMode="auto">
          <a:xfrm flipV="1">
            <a:off x="7467600" y="2895600"/>
            <a:ext cx="533400" cy="3810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3572" name="AutoShape 20"/>
          <p:cNvCxnSpPr>
            <a:cxnSpLocks noChangeShapeType="1"/>
            <a:stCxn id="23556" idx="0"/>
            <a:endCxn id="23568" idx="4"/>
          </p:cNvCxnSpPr>
          <p:nvPr/>
        </p:nvCxnSpPr>
        <p:spPr bwMode="auto">
          <a:xfrm flipV="1">
            <a:off x="7467600" y="2362200"/>
            <a:ext cx="0" cy="9144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3573" name="AutoShape 21"/>
          <p:cNvCxnSpPr>
            <a:cxnSpLocks noChangeShapeType="1"/>
            <a:stCxn id="23556" idx="0"/>
            <a:endCxn id="23570" idx="4"/>
          </p:cNvCxnSpPr>
          <p:nvPr/>
        </p:nvCxnSpPr>
        <p:spPr bwMode="auto">
          <a:xfrm flipH="1" flipV="1">
            <a:off x="6934200" y="2895600"/>
            <a:ext cx="533400" cy="3810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sp>
        <p:nvSpPr>
          <p:cNvPr id="23574" name="Line 22"/>
          <p:cNvSpPr>
            <a:spLocks noChangeShapeType="1"/>
          </p:cNvSpPr>
          <p:nvPr/>
        </p:nvSpPr>
        <p:spPr bwMode="auto">
          <a:xfrm>
            <a:off x="1371600" y="5638800"/>
            <a:ext cx="685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5" name="AutoShape 23"/>
          <p:cNvSpPr>
            <a:spLocks noChangeArrowheads="1"/>
          </p:cNvSpPr>
          <p:nvPr/>
        </p:nvSpPr>
        <p:spPr bwMode="auto">
          <a:xfrm>
            <a:off x="2057400" y="5257800"/>
            <a:ext cx="7620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6" name="Line 24"/>
          <p:cNvSpPr>
            <a:spLocks noChangeShapeType="1"/>
          </p:cNvSpPr>
          <p:nvPr/>
        </p:nvSpPr>
        <p:spPr bwMode="auto">
          <a:xfrm>
            <a:off x="2819400" y="5638800"/>
            <a:ext cx="685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7" name="Arc 25"/>
          <p:cNvSpPr>
            <a:spLocks/>
          </p:cNvSpPr>
          <p:nvPr/>
        </p:nvSpPr>
        <p:spPr bwMode="auto">
          <a:xfrm flipH="1">
            <a:off x="3352800" y="54864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8" name="Text Box 26"/>
          <p:cNvSpPr txBox="1">
            <a:spLocks noChangeArrowheads="1"/>
          </p:cNvSpPr>
          <p:nvPr/>
        </p:nvSpPr>
        <p:spPr bwMode="auto">
          <a:xfrm>
            <a:off x="3505200" y="5410200"/>
            <a:ext cx="804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000099"/>
                </a:solidFill>
                <a:latin typeface="Times New Roman" charset="0"/>
              </a:defRPr>
            </a:lvl1pPr>
            <a:lvl2pPr marL="742950" indent="-285750">
              <a:defRPr sz="2400">
                <a:solidFill>
                  <a:srgbClr val="000099"/>
                </a:solidFill>
                <a:latin typeface="Times New Roman" charset="0"/>
              </a:defRPr>
            </a:lvl2pPr>
            <a:lvl3pPr marL="1143000" indent="-228600">
              <a:defRPr sz="2400">
                <a:solidFill>
                  <a:srgbClr val="000099"/>
                </a:solidFill>
                <a:latin typeface="Times New Roman" charset="0"/>
              </a:defRPr>
            </a:lvl3pPr>
            <a:lvl4pPr marL="1600200" indent="-228600">
              <a:defRPr sz="2400">
                <a:solidFill>
                  <a:srgbClr val="000099"/>
                </a:solidFill>
                <a:latin typeface="Times New Roman" charset="0"/>
              </a:defRPr>
            </a:lvl4pPr>
            <a:lvl5pPr marL="2057400" indent="-228600">
              <a:defRPr sz="2400">
                <a:solidFill>
                  <a:srgbClr val="000099"/>
                </a:solidFill>
                <a:latin typeface="Times New Roman" charset="0"/>
              </a:defRPr>
            </a:lvl5pPr>
            <a:lvl6pPr marL="2514600" indent="-228600" eaLnBrk="0" fontAlgn="base" hangingPunct="0">
              <a:spcBef>
                <a:spcPct val="0"/>
              </a:spcBef>
              <a:spcAft>
                <a:spcPct val="0"/>
              </a:spcAft>
              <a:defRPr sz="2400">
                <a:solidFill>
                  <a:srgbClr val="000099"/>
                </a:solidFill>
                <a:latin typeface="Times New Roman" charset="0"/>
              </a:defRPr>
            </a:lvl6pPr>
            <a:lvl7pPr marL="2971800" indent="-228600" eaLnBrk="0" fontAlgn="base" hangingPunct="0">
              <a:spcBef>
                <a:spcPct val="0"/>
              </a:spcBef>
              <a:spcAft>
                <a:spcPct val="0"/>
              </a:spcAft>
              <a:defRPr sz="2400">
                <a:solidFill>
                  <a:srgbClr val="000099"/>
                </a:solidFill>
                <a:latin typeface="Times New Roman" charset="0"/>
              </a:defRPr>
            </a:lvl7pPr>
            <a:lvl8pPr marL="3429000" indent="-228600" eaLnBrk="0" fontAlgn="base" hangingPunct="0">
              <a:spcBef>
                <a:spcPct val="0"/>
              </a:spcBef>
              <a:spcAft>
                <a:spcPct val="0"/>
              </a:spcAft>
              <a:defRPr sz="2400">
                <a:solidFill>
                  <a:srgbClr val="000099"/>
                </a:solidFill>
                <a:latin typeface="Times New Roman" charset="0"/>
              </a:defRPr>
            </a:lvl8pPr>
            <a:lvl9pPr marL="3886200" indent="-228600" eaLnBrk="0" fontAlgn="base" hangingPunct="0">
              <a:spcBef>
                <a:spcPct val="0"/>
              </a:spcBef>
              <a:spcAft>
                <a:spcPct val="0"/>
              </a:spcAft>
              <a:defRPr sz="2400">
                <a:solidFill>
                  <a:srgbClr val="000099"/>
                </a:solidFill>
                <a:latin typeface="Times New Roman" charset="0"/>
              </a:defRPr>
            </a:lvl9pPr>
          </a:lstStyle>
          <a:p>
            <a:r>
              <a:rPr lang="en-GB" sz="2000" dirty="0">
                <a:solidFill>
                  <a:schemeClr val="tx1"/>
                </a:solidFill>
                <a:latin typeface="Arial" charset="0"/>
              </a:rPr>
              <a:t>Many</a:t>
            </a:r>
          </a:p>
        </p:txBody>
      </p:sp>
      <p:sp>
        <p:nvSpPr>
          <p:cNvPr id="23579" name="Text Box 27"/>
          <p:cNvSpPr txBox="1">
            <a:spLocks noChangeArrowheads="1"/>
          </p:cNvSpPr>
          <p:nvPr/>
        </p:nvSpPr>
        <p:spPr bwMode="auto">
          <a:xfrm>
            <a:off x="685800" y="5410200"/>
            <a:ext cx="66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000099"/>
                </a:solidFill>
                <a:latin typeface="Times New Roman" charset="0"/>
              </a:defRPr>
            </a:lvl1pPr>
            <a:lvl2pPr marL="742950" indent="-285750">
              <a:defRPr sz="2400">
                <a:solidFill>
                  <a:srgbClr val="000099"/>
                </a:solidFill>
                <a:latin typeface="Times New Roman" charset="0"/>
              </a:defRPr>
            </a:lvl2pPr>
            <a:lvl3pPr marL="1143000" indent="-228600">
              <a:defRPr sz="2400">
                <a:solidFill>
                  <a:srgbClr val="000099"/>
                </a:solidFill>
                <a:latin typeface="Times New Roman" charset="0"/>
              </a:defRPr>
            </a:lvl3pPr>
            <a:lvl4pPr marL="1600200" indent="-228600">
              <a:defRPr sz="2400">
                <a:solidFill>
                  <a:srgbClr val="000099"/>
                </a:solidFill>
                <a:latin typeface="Times New Roman" charset="0"/>
              </a:defRPr>
            </a:lvl4pPr>
            <a:lvl5pPr marL="2057400" indent="-228600">
              <a:defRPr sz="2400">
                <a:solidFill>
                  <a:srgbClr val="000099"/>
                </a:solidFill>
                <a:latin typeface="Times New Roman" charset="0"/>
              </a:defRPr>
            </a:lvl5pPr>
            <a:lvl6pPr marL="2514600" indent="-228600" eaLnBrk="0" fontAlgn="base" hangingPunct="0">
              <a:spcBef>
                <a:spcPct val="0"/>
              </a:spcBef>
              <a:spcAft>
                <a:spcPct val="0"/>
              </a:spcAft>
              <a:defRPr sz="2400">
                <a:solidFill>
                  <a:srgbClr val="000099"/>
                </a:solidFill>
                <a:latin typeface="Times New Roman" charset="0"/>
              </a:defRPr>
            </a:lvl6pPr>
            <a:lvl7pPr marL="2971800" indent="-228600" eaLnBrk="0" fontAlgn="base" hangingPunct="0">
              <a:spcBef>
                <a:spcPct val="0"/>
              </a:spcBef>
              <a:spcAft>
                <a:spcPct val="0"/>
              </a:spcAft>
              <a:defRPr sz="2400">
                <a:solidFill>
                  <a:srgbClr val="000099"/>
                </a:solidFill>
                <a:latin typeface="Times New Roman" charset="0"/>
              </a:defRPr>
            </a:lvl7pPr>
            <a:lvl8pPr marL="3429000" indent="-228600" eaLnBrk="0" fontAlgn="base" hangingPunct="0">
              <a:spcBef>
                <a:spcPct val="0"/>
              </a:spcBef>
              <a:spcAft>
                <a:spcPct val="0"/>
              </a:spcAft>
              <a:defRPr sz="2400">
                <a:solidFill>
                  <a:srgbClr val="000099"/>
                </a:solidFill>
                <a:latin typeface="Times New Roman" charset="0"/>
              </a:defRPr>
            </a:lvl8pPr>
            <a:lvl9pPr marL="3886200" indent="-228600" eaLnBrk="0" fontAlgn="base" hangingPunct="0">
              <a:spcBef>
                <a:spcPct val="0"/>
              </a:spcBef>
              <a:spcAft>
                <a:spcPct val="0"/>
              </a:spcAft>
              <a:defRPr sz="2400">
                <a:solidFill>
                  <a:srgbClr val="000099"/>
                </a:solidFill>
                <a:latin typeface="Times New Roman" charset="0"/>
              </a:defRPr>
            </a:lvl9pPr>
          </a:lstStyle>
          <a:p>
            <a:pPr algn="r"/>
            <a:r>
              <a:rPr lang="en-GB" sz="2000">
                <a:solidFill>
                  <a:schemeClr val="tx1"/>
                </a:solidFill>
                <a:latin typeface="Arial" charset="0"/>
              </a:rPr>
              <a:t>One</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GB"/>
              <a:t>Making E/R Models</a:t>
            </a:r>
          </a:p>
        </p:txBody>
      </p:sp>
      <p:sp>
        <p:nvSpPr>
          <p:cNvPr id="24579" name="Rectangle 3"/>
          <p:cNvSpPr>
            <a:spLocks noGrp="1" noChangeArrowheads="1"/>
          </p:cNvSpPr>
          <p:nvPr>
            <p:ph sz="half" idx="1"/>
          </p:nvPr>
        </p:nvSpPr>
        <p:spPr/>
        <p:txBody>
          <a:bodyPr/>
          <a:lstStyle/>
          <a:p>
            <a:pPr eaLnBrk="1" hangingPunct="1"/>
            <a:endParaRPr lang="en-GB" sz="2400" dirty="0"/>
          </a:p>
          <a:p>
            <a:pPr algn="just" eaLnBrk="1" hangingPunct="1"/>
            <a:r>
              <a:rPr lang="en-GB" sz="2400" dirty="0"/>
              <a:t>To make an E/R model you need to identify</a:t>
            </a:r>
          </a:p>
          <a:p>
            <a:pPr lvl="1" algn="just" eaLnBrk="1" hangingPunct="1"/>
            <a:r>
              <a:rPr lang="en-GB" sz="2000" dirty="0"/>
              <a:t>Entities</a:t>
            </a:r>
          </a:p>
          <a:p>
            <a:pPr lvl="1" algn="just" eaLnBrk="1" hangingPunct="1"/>
            <a:r>
              <a:rPr lang="en-GB" sz="2000" dirty="0"/>
              <a:t>Attributes</a:t>
            </a:r>
          </a:p>
          <a:p>
            <a:pPr lvl="1" algn="just" eaLnBrk="1" hangingPunct="1"/>
            <a:r>
              <a:rPr lang="en-GB" sz="2000" dirty="0"/>
              <a:t>Relationships</a:t>
            </a:r>
          </a:p>
          <a:p>
            <a:pPr lvl="1" algn="just" eaLnBrk="1" hangingPunct="1"/>
            <a:r>
              <a:rPr lang="en-GB" sz="2000" dirty="0"/>
              <a:t>Cardinality ratios</a:t>
            </a:r>
          </a:p>
          <a:p>
            <a:pPr algn="just" eaLnBrk="1" hangingPunct="1"/>
            <a:endParaRPr lang="en-GB" sz="2400" dirty="0"/>
          </a:p>
          <a:p>
            <a:pPr algn="just" eaLnBrk="1" hangingPunct="1"/>
            <a:r>
              <a:rPr lang="en-GB" sz="2400" dirty="0"/>
              <a:t>from a description</a:t>
            </a:r>
          </a:p>
        </p:txBody>
      </p:sp>
      <p:sp>
        <p:nvSpPr>
          <p:cNvPr id="24580" name="Rectangle 4"/>
          <p:cNvSpPr>
            <a:spLocks noGrp="1" noChangeArrowheads="1"/>
          </p:cNvSpPr>
          <p:nvPr>
            <p:ph sz="half" idx="2"/>
          </p:nvPr>
        </p:nvSpPr>
        <p:spPr/>
        <p:txBody>
          <a:bodyPr/>
          <a:lstStyle/>
          <a:p>
            <a:pPr eaLnBrk="1" hangingPunct="1"/>
            <a:endParaRPr lang="en-GB" sz="2400" dirty="0"/>
          </a:p>
          <a:p>
            <a:pPr algn="just" eaLnBrk="1" hangingPunct="1"/>
            <a:r>
              <a:rPr lang="en-GB" sz="2400" dirty="0"/>
              <a:t>General guidelines</a:t>
            </a:r>
          </a:p>
          <a:p>
            <a:pPr lvl="1" algn="just" eaLnBrk="1" hangingPunct="1"/>
            <a:r>
              <a:rPr lang="en-GB" sz="2000" dirty="0"/>
              <a:t>Since entities are things or objects they are often nouns in the description</a:t>
            </a:r>
          </a:p>
          <a:p>
            <a:pPr lvl="1" algn="just" eaLnBrk="1" hangingPunct="1"/>
            <a:endParaRPr lang="en-GB" sz="2000" dirty="0"/>
          </a:p>
          <a:p>
            <a:pPr lvl="1" algn="just" eaLnBrk="1" hangingPunct="1"/>
            <a:r>
              <a:rPr lang="en-GB" sz="2000" dirty="0"/>
              <a:t>Attributes are properties, and  often nouns</a:t>
            </a:r>
          </a:p>
          <a:p>
            <a:pPr lvl="1" algn="just" eaLnBrk="1" hangingPunct="1">
              <a:buFont typeface="Wingdings 3" pitchFamily="18" charset="2"/>
              <a:buNone/>
            </a:pPr>
            <a:r>
              <a:rPr lang="en-GB" sz="2000" dirty="0"/>
              <a:t> </a:t>
            </a:r>
          </a:p>
          <a:p>
            <a:pPr lvl="1" algn="just" eaLnBrk="1" hangingPunct="1"/>
            <a:r>
              <a:rPr lang="en-GB" sz="2000" dirty="0"/>
              <a:t>Verbs often describe relationships between entities</a:t>
            </a:r>
          </a:p>
          <a:p>
            <a:pPr lvl="1" eaLnBrk="1" hangingPunct="1"/>
            <a:endParaRPr lang="en-GB" sz="2000" dirty="0"/>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533400"/>
            <a:ext cx="8229600" cy="464127"/>
          </a:xfrm>
        </p:spPr>
        <p:txBody>
          <a:bodyPr>
            <a:normAutofit fontScale="90000"/>
          </a:bodyPr>
          <a:lstStyle/>
          <a:p>
            <a:pPr eaLnBrk="1" hangingPunct="1"/>
            <a:r>
              <a:rPr lang="en-GB" altLang="en-US" dirty="0"/>
              <a:t>Example</a:t>
            </a:r>
          </a:p>
        </p:txBody>
      </p:sp>
      <p:sp>
        <p:nvSpPr>
          <p:cNvPr id="32771" name="Rectangle 3"/>
          <p:cNvSpPr>
            <a:spLocks noGrp="1" noChangeArrowheads="1"/>
          </p:cNvSpPr>
          <p:nvPr>
            <p:ph sz="quarter" idx="1"/>
          </p:nvPr>
        </p:nvSpPr>
        <p:spPr>
          <a:xfrm>
            <a:off x="305789" y="826324"/>
            <a:ext cx="8532421" cy="5498276"/>
          </a:xfrm>
        </p:spPr>
        <p:txBody>
          <a:bodyPr>
            <a:normAutofit fontScale="77500" lnSpcReduction="20000"/>
          </a:bodyPr>
          <a:lstStyle/>
          <a:p>
            <a:pPr algn="just" eaLnBrk="1" hangingPunct="1">
              <a:buFontTx/>
              <a:buNone/>
            </a:pPr>
            <a:r>
              <a:rPr lang="en-GB" altLang="en-US" dirty="0"/>
              <a:t>	</a:t>
            </a:r>
          </a:p>
          <a:p>
            <a:pPr algn="just">
              <a:buNone/>
            </a:pPr>
            <a:r>
              <a:rPr lang="en-GB" altLang="en-US" dirty="0"/>
              <a:t>	</a:t>
            </a:r>
            <a:r>
              <a:rPr lang="en-US" altLang="en-US" sz="2800" dirty="0" err="1"/>
              <a:t>RideShare</a:t>
            </a:r>
            <a:r>
              <a:rPr lang="en-US" altLang="en-US" sz="2800" dirty="0"/>
              <a:t> Connect is a ride-sharing and carpooling platform designed to connect drivers with available seats to passengers traveling in the same direction, with the goal of reducing traffic congestion and lowering carbon emissions. The system must manage comprehensive user profiles for both drivers and passengers, maintain detailed ride listings including departure times, routes, and available seat capacity, and facilitate a seamless booking process where passengers can search for and reserve rides that match their travel needs. Additionally, the platform must track payment transactions for completed rides, handle the financial settlement between passengers and drivers, and enable users to leave and view reviews and ratings to ensure accountability and quality of service. Behind the scenes, the database must support complex relational operations such as matching passengers to suitable rides based on location, time, and seat availability, maintaining accurate booking statuses, and ensuring proper transaction records that link payments to specific completed rides, thereby creating a reliable, scalable, and user-friendly ecosystem for sustainable urban mobility.</a:t>
            </a:r>
            <a:endParaRPr lang="en-GB" altLang="en-US" dirty="0"/>
          </a:p>
        </p:txBody>
      </p:sp>
      <p:sp>
        <p:nvSpPr>
          <p:cNvPr id="4" name="Slide Number Placeholder 3"/>
          <p:cNvSpPr>
            <a:spLocks noGrp="1"/>
          </p:cNvSpPr>
          <p:nvPr>
            <p:ph type="sldNum" sz="quarter" idx="12"/>
          </p:nvPr>
        </p:nvSpPr>
        <p:spPr/>
        <p:txBody>
          <a:bodyPr/>
          <a:lstStyle/>
          <a:p>
            <a:pPr>
              <a:defRPr/>
            </a:pPr>
            <a:fld id="{F101297D-9EF7-469E-B2A9-10FD8F57EF6F}" type="slidenum">
              <a:rPr lang="en-US" smtClean="0"/>
              <a:pPr>
                <a:defRPr/>
              </a:pPr>
              <a:t>32</a:t>
            </a:fld>
            <a:endParaRPr lang="en-US" dirty="0"/>
          </a:p>
        </p:txBody>
      </p:sp>
    </p:spTree>
    <p:extLst>
      <p:ext uri="{BB962C8B-B14F-4D97-AF65-F5344CB8AC3E}">
        <p14:creationId xmlns:p14="http://schemas.microsoft.com/office/powerpoint/2010/main" val="1217766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2EF8E-D600-B2C6-2958-521FE627D5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DA4992-6A11-B6D7-7DCB-82167FE1534B}"/>
              </a:ext>
            </a:extLst>
          </p:cNvPr>
          <p:cNvSpPr>
            <a:spLocks noGrp="1"/>
          </p:cNvSpPr>
          <p:nvPr>
            <p:ph type="sldNum" sz="quarter" idx="12"/>
          </p:nvPr>
        </p:nvSpPr>
        <p:spPr/>
        <p:txBody>
          <a:bodyPr/>
          <a:lstStyle/>
          <a:p>
            <a:pPr>
              <a:defRPr/>
            </a:pPr>
            <a:fld id="{F101297D-9EF7-469E-B2A9-10FD8F57EF6F}" type="slidenum">
              <a:rPr lang="en-US" smtClean="0"/>
              <a:pPr>
                <a:defRPr/>
              </a:pPr>
              <a:t>33</a:t>
            </a:fld>
            <a:endParaRPr lang="en-US" dirty="0"/>
          </a:p>
        </p:txBody>
      </p:sp>
      <p:pic>
        <p:nvPicPr>
          <p:cNvPr id="1026" name="Picture 2" descr="RideSharingER">
            <a:extLst>
              <a:ext uri="{FF2B5EF4-FFF2-40B4-BE49-F238E27FC236}">
                <a16:creationId xmlns:a16="http://schemas.microsoft.com/office/drawing/2014/main" id="{BA2673E2-8649-32C0-5B55-5E5860BA652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5013" y="491267"/>
            <a:ext cx="8211787" cy="6423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75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 (DFD)</a:t>
            </a:r>
          </a:p>
        </p:txBody>
      </p:sp>
      <p:sp>
        <p:nvSpPr>
          <p:cNvPr id="3" name="Content Placeholder 2"/>
          <p:cNvSpPr>
            <a:spLocks noGrp="1"/>
          </p:cNvSpPr>
          <p:nvPr>
            <p:ph idx="1"/>
          </p:nvPr>
        </p:nvSpPr>
        <p:spPr/>
        <p:txBody>
          <a:bodyPr/>
          <a:lstStyle/>
          <a:p>
            <a:pPr algn="just"/>
            <a:endParaRPr lang="en-US" dirty="0"/>
          </a:p>
          <a:p>
            <a:pPr algn="just"/>
            <a:r>
              <a:rPr lang="en-US" dirty="0"/>
              <a:t>The distinguishing features of  DFDs are as follows:</a:t>
            </a:r>
          </a:p>
          <a:p>
            <a:pPr algn="just"/>
            <a:endParaRPr lang="en-US" dirty="0"/>
          </a:p>
          <a:p>
            <a:pPr marL="457200" lvl="0" indent="-457200" algn="just">
              <a:buFont typeface="+mj-lt"/>
              <a:buAutoNum type="arabicPeriod"/>
            </a:pPr>
            <a:r>
              <a:rPr lang="en-US" dirty="0"/>
              <a:t>Data flow diagrams capture the flow of data in a system.</a:t>
            </a:r>
          </a:p>
          <a:p>
            <a:pPr marL="457200" lvl="0" indent="-457200" algn="just">
              <a:buFont typeface="+mj-lt"/>
              <a:buAutoNum type="arabicPeriod"/>
            </a:pPr>
            <a:endParaRPr lang="en-US" dirty="0"/>
          </a:p>
          <a:p>
            <a:pPr marL="457200" lvl="0" indent="-457200" algn="just">
              <a:buFont typeface="+mj-lt"/>
              <a:buAutoNum type="arabicPeriod"/>
            </a:pPr>
            <a:r>
              <a:rPr lang="en-US" dirty="0"/>
              <a:t>It describes data origination, transformations and consumption in a system.</a:t>
            </a:r>
          </a:p>
          <a:p>
            <a:pPr algn="just"/>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34</a:t>
            </a:fld>
            <a:endParaRPr lang="en-US" dirty="0"/>
          </a:p>
        </p:txBody>
      </p:sp>
    </p:spTree>
    <p:extLst>
      <p:ext uri="{BB962C8B-B14F-4D97-AF65-F5344CB8AC3E}">
        <p14:creationId xmlns:p14="http://schemas.microsoft.com/office/powerpoint/2010/main" val="16326044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DFD Notation</a:t>
            </a:r>
          </a:p>
        </p:txBody>
      </p:sp>
      <p:sp>
        <p:nvSpPr>
          <p:cNvPr id="6" name="Slide Number Placeholder 5"/>
          <p:cNvSpPr>
            <a:spLocks noGrp="1"/>
          </p:cNvSpPr>
          <p:nvPr>
            <p:ph type="sldNum" sz="quarter" idx="12"/>
          </p:nvPr>
        </p:nvSpPr>
        <p:spPr/>
        <p:txBody>
          <a:bodyPr/>
          <a:lstStyle/>
          <a:p>
            <a:fld id="{0A68DB68-8052-4758-A647-54338E95D837}" type="slidenum">
              <a:rPr lang="en-US" smtClean="0"/>
              <a:pPr/>
              <a:t>35</a:t>
            </a:fld>
            <a:endParaRPr lang="en-US" dirty="0"/>
          </a:p>
        </p:txBody>
      </p:sp>
      <p:pic>
        <p:nvPicPr>
          <p:cNvPr id="7" name="Content Placeholder 6" descr="FIG07_02"/>
          <p:cNvPicPr>
            <a:picLocks noGrp="1" noChangeAspect="1" noChangeArrowheads="1"/>
          </p:cNvPicPr>
          <p:nvPr>
            <p:ph idx="1"/>
          </p:nvPr>
        </p:nvPicPr>
        <p:blipFill>
          <a:blip r:embed="rId2" cstate="print"/>
          <a:srcRect l="43774" t="8762" r="2817" b="14362"/>
          <a:stretch>
            <a:fillRect/>
          </a:stretch>
        </p:blipFill>
        <p:spPr bwMode="auto">
          <a:xfrm>
            <a:off x="1219200" y="1944382"/>
            <a:ext cx="7162800" cy="4188435"/>
          </a:xfrm>
          <a:prstGeom prst="rect">
            <a:avLst/>
          </a:prstGeom>
          <a:noFill/>
          <a:ln w="9525">
            <a:noFill/>
            <a:miter lim="800000"/>
            <a:headEnd/>
            <a:tailEnd/>
          </a:ln>
        </p:spPr>
      </p:pic>
    </p:spTree>
    <p:extLst>
      <p:ext uri="{BB962C8B-B14F-4D97-AF65-F5344CB8AC3E}">
        <p14:creationId xmlns:p14="http://schemas.microsoft.com/office/powerpoint/2010/main" val="3428168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Components</a:t>
            </a:r>
          </a:p>
        </p:txBody>
      </p:sp>
      <p:sp>
        <p:nvSpPr>
          <p:cNvPr id="3" name="Content Placeholder 2"/>
          <p:cNvSpPr>
            <a:spLocks noGrp="1"/>
          </p:cNvSpPr>
          <p:nvPr>
            <p:ph idx="1"/>
          </p:nvPr>
        </p:nvSpPr>
        <p:spPr/>
        <p:txBody>
          <a:bodyPr>
            <a:normAutofit fontScale="92500"/>
          </a:bodyPr>
          <a:lstStyle/>
          <a:p>
            <a:pPr marL="0" indent="0" algn="just">
              <a:lnSpc>
                <a:spcPct val="150000"/>
              </a:lnSpc>
              <a:buClr>
                <a:schemeClr val="tx1">
                  <a:lumMod val="65000"/>
                  <a:lumOff val="35000"/>
                </a:schemeClr>
              </a:buClr>
              <a:buSzPct val="70000"/>
              <a:buNone/>
              <a:defRPr/>
            </a:pPr>
            <a:r>
              <a:rPr lang="en-GB" dirty="0"/>
              <a:t>DFDs consist of four basic components that illustrate how data flows in a system: entity, process, data store, and data flow.</a:t>
            </a:r>
            <a:endParaRPr lang="en-US" altLang="en-US" b="1" dirty="0">
              <a:solidFill>
                <a:schemeClr val="tx2"/>
              </a:solidFill>
            </a:endParaRPr>
          </a:p>
          <a:p>
            <a:pPr algn="just">
              <a:lnSpc>
                <a:spcPct val="150000"/>
              </a:lnSpc>
              <a:buClr>
                <a:schemeClr val="tx1">
                  <a:lumMod val="65000"/>
                  <a:lumOff val="35000"/>
                </a:schemeClr>
              </a:buClr>
              <a:buSzPct val="70000"/>
              <a:buFont typeface="Wingdings" pitchFamily="2" charset="2"/>
              <a:buChar char="Ø"/>
              <a:defRPr/>
            </a:pPr>
            <a:r>
              <a:rPr lang="en-US" altLang="en-US" b="1" dirty="0">
                <a:solidFill>
                  <a:schemeClr val="tx2"/>
                </a:solidFill>
              </a:rPr>
              <a:t>Process:  </a:t>
            </a:r>
            <a:r>
              <a:rPr lang="en-US" altLang="en-US" dirty="0">
                <a:solidFill>
                  <a:schemeClr val="tx1">
                    <a:lumMod val="85000"/>
                    <a:lumOff val="15000"/>
                  </a:schemeClr>
                </a:solidFill>
              </a:rPr>
              <a:t>work or actions performed on data (inside the system).</a:t>
            </a:r>
          </a:p>
          <a:p>
            <a:pPr algn="just">
              <a:lnSpc>
                <a:spcPct val="150000"/>
              </a:lnSpc>
              <a:buClr>
                <a:schemeClr val="tx1">
                  <a:lumMod val="65000"/>
                  <a:lumOff val="35000"/>
                </a:schemeClr>
              </a:buClr>
              <a:buSzPct val="70000"/>
              <a:buFont typeface="Wingdings" pitchFamily="2" charset="2"/>
              <a:buChar char="Ø"/>
              <a:defRPr/>
            </a:pPr>
            <a:r>
              <a:rPr lang="en-US" altLang="en-US" b="1" dirty="0">
                <a:solidFill>
                  <a:schemeClr val="tx2"/>
                </a:solidFill>
              </a:rPr>
              <a:t>Data Store:  </a:t>
            </a:r>
            <a:r>
              <a:rPr lang="en-US" altLang="en-US" dirty="0">
                <a:solidFill>
                  <a:schemeClr val="tx1">
                    <a:lumMod val="85000"/>
                    <a:lumOff val="15000"/>
                  </a:schemeClr>
                </a:solidFill>
              </a:rPr>
              <a:t>Data at rest (inside the system).</a:t>
            </a:r>
          </a:p>
          <a:p>
            <a:pPr algn="just">
              <a:lnSpc>
                <a:spcPct val="150000"/>
              </a:lnSpc>
              <a:buClr>
                <a:schemeClr val="tx1">
                  <a:lumMod val="65000"/>
                  <a:lumOff val="35000"/>
                </a:schemeClr>
              </a:buClr>
              <a:buSzPct val="70000"/>
              <a:buFont typeface="Wingdings" pitchFamily="2" charset="2"/>
              <a:buChar char="Ø"/>
              <a:defRPr/>
            </a:pPr>
            <a:r>
              <a:rPr lang="en-US" altLang="en-US" b="1" dirty="0">
                <a:solidFill>
                  <a:schemeClr val="tx2"/>
                </a:solidFill>
              </a:rPr>
              <a:t>Source/ Sink (Entity): </a:t>
            </a:r>
            <a:r>
              <a:rPr lang="en-US" altLang="en-US" dirty="0">
                <a:solidFill>
                  <a:schemeClr val="tx1">
                    <a:lumMod val="85000"/>
                    <a:lumOff val="15000"/>
                  </a:schemeClr>
                </a:solidFill>
              </a:rPr>
              <a:t>External entity that is origin or destination of data (outside the system).</a:t>
            </a:r>
          </a:p>
          <a:p>
            <a:pPr algn="just">
              <a:lnSpc>
                <a:spcPct val="150000"/>
              </a:lnSpc>
              <a:buClr>
                <a:schemeClr val="tx1">
                  <a:lumMod val="65000"/>
                  <a:lumOff val="35000"/>
                </a:schemeClr>
              </a:buClr>
              <a:buSzPct val="70000"/>
              <a:buFont typeface="Wingdings" pitchFamily="2" charset="2"/>
              <a:buChar char="Ø"/>
              <a:defRPr/>
            </a:pPr>
            <a:r>
              <a:rPr lang="en-US" altLang="en-US" b="1" dirty="0">
                <a:solidFill>
                  <a:schemeClr val="tx2"/>
                </a:solidFill>
              </a:rPr>
              <a:t>Data flow: </a:t>
            </a:r>
            <a:r>
              <a:rPr lang="en-US" altLang="en-US" dirty="0">
                <a:solidFill>
                  <a:schemeClr val="tx1">
                    <a:lumMod val="85000"/>
                    <a:lumOff val="15000"/>
                  </a:schemeClr>
                </a:solidFill>
              </a:rPr>
              <a:t>arrows depicting movement of data.</a:t>
            </a:r>
          </a:p>
        </p:txBody>
      </p:sp>
      <p:sp>
        <p:nvSpPr>
          <p:cNvPr id="6" name="Slide Number Placeholder 5"/>
          <p:cNvSpPr>
            <a:spLocks noGrp="1"/>
          </p:cNvSpPr>
          <p:nvPr>
            <p:ph type="sldNum" sz="quarter" idx="12"/>
          </p:nvPr>
        </p:nvSpPr>
        <p:spPr/>
        <p:txBody>
          <a:bodyPr/>
          <a:lstStyle/>
          <a:p>
            <a:fld id="{0A68DB68-8052-4758-A647-54338E95D837}" type="slidenum">
              <a:rPr lang="en-US" smtClean="0"/>
              <a:pPr/>
              <a:t>36</a:t>
            </a:fld>
            <a:endParaRPr lang="en-US" dirty="0"/>
          </a:p>
        </p:txBody>
      </p:sp>
    </p:spTree>
    <p:extLst>
      <p:ext uri="{BB962C8B-B14F-4D97-AF65-F5344CB8AC3E}">
        <p14:creationId xmlns:p14="http://schemas.microsoft.com/office/powerpoint/2010/main" val="2187750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Components</a:t>
            </a:r>
          </a:p>
        </p:txBody>
      </p:sp>
      <p:sp>
        <p:nvSpPr>
          <p:cNvPr id="3" name="Content Placeholder 2"/>
          <p:cNvSpPr>
            <a:spLocks noGrp="1"/>
          </p:cNvSpPr>
          <p:nvPr>
            <p:ph idx="1"/>
          </p:nvPr>
        </p:nvSpPr>
        <p:spPr/>
        <p:txBody>
          <a:bodyPr>
            <a:normAutofit/>
          </a:bodyPr>
          <a:lstStyle/>
          <a:p>
            <a:pPr algn="just"/>
            <a:r>
              <a:rPr lang="en-GB" b="1" dirty="0">
                <a:solidFill>
                  <a:schemeClr val="tx2"/>
                </a:solidFill>
              </a:rPr>
              <a:t>Entity</a:t>
            </a:r>
            <a:r>
              <a:rPr lang="en-GB" dirty="0">
                <a:solidFill>
                  <a:schemeClr val="tx2"/>
                </a:solidFill>
              </a:rPr>
              <a:t>:</a:t>
            </a:r>
          </a:p>
          <a:p>
            <a:pPr marL="274320" lvl="1" indent="0" algn="just">
              <a:buNone/>
            </a:pPr>
            <a:r>
              <a:rPr lang="en-GB" dirty="0"/>
              <a:t>An entity is the source or destination of data. The source in a DFD represents these entities that are outside the context of the system. Entities either provide data to the system (referred to as a source) or receive data from it (referred to as a sink).</a:t>
            </a:r>
          </a:p>
          <a:p>
            <a:pPr algn="just"/>
            <a:endParaRPr lang="en-GB" b="1" dirty="0"/>
          </a:p>
          <a:p>
            <a:pPr algn="just"/>
            <a:r>
              <a:rPr lang="en-GB" b="1" dirty="0">
                <a:solidFill>
                  <a:schemeClr val="tx2"/>
                </a:solidFill>
              </a:rPr>
              <a:t>Process:</a:t>
            </a:r>
          </a:p>
          <a:p>
            <a:pPr marL="274320" lvl="1" indent="0" algn="just">
              <a:buNone/>
            </a:pPr>
            <a:r>
              <a:rPr lang="en-GB" dirty="0"/>
              <a:t>The process is the manipulation or work that transforms data. In other words, a process receives input and generates some output. Process names (simple verbs and dataflow names, such as “Submit Payment” or “Get Invoice”).</a:t>
            </a:r>
          </a:p>
          <a:p>
            <a:pPr marL="274320" lvl="1" indent="0" algn="just">
              <a:buNone/>
            </a:pP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37</a:t>
            </a:fld>
            <a:endParaRPr lang="en-US" dirty="0"/>
          </a:p>
        </p:txBody>
      </p:sp>
    </p:spTree>
    <p:extLst>
      <p:ext uri="{BB962C8B-B14F-4D97-AF65-F5344CB8AC3E}">
        <p14:creationId xmlns:p14="http://schemas.microsoft.com/office/powerpoint/2010/main" val="1179429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Components</a:t>
            </a:r>
          </a:p>
        </p:txBody>
      </p:sp>
      <p:sp>
        <p:nvSpPr>
          <p:cNvPr id="3" name="Content Placeholder 2"/>
          <p:cNvSpPr>
            <a:spLocks noGrp="1"/>
          </p:cNvSpPr>
          <p:nvPr>
            <p:ph idx="1"/>
          </p:nvPr>
        </p:nvSpPr>
        <p:spPr/>
        <p:txBody>
          <a:bodyPr/>
          <a:lstStyle/>
          <a:p>
            <a:pPr marL="0" indent="0" algn="just">
              <a:buNone/>
            </a:pPr>
            <a:r>
              <a:rPr lang="en-GB" b="1" dirty="0">
                <a:solidFill>
                  <a:schemeClr val="tx2"/>
                </a:solidFill>
              </a:rPr>
              <a:t>Data Store:</a:t>
            </a:r>
          </a:p>
          <a:p>
            <a:pPr marL="274320" lvl="1" indent="0" algn="just">
              <a:buNone/>
            </a:pPr>
            <a:r>
              <a:rPr lang="en-GB" b="1" dirty="0"/>
              <a:t> </a:t>
            </a:r>
            <a:r>
              <a:rPr lang="en-GB" dirty="0"/>
              <a:t>A data store is where a process stores data between processes for later retrieval by that same process or another one. Files and tables are considered data stores. Data store names (plural) are simple but meaningful, such as “customers,” “orders,” and “products.”</a:t>
            </a:r>
          </a:p>
          <a:p>
            <a:pPr marL="0" indent="0" algn="just">
              <a:buNone/>
            </a:pPr>
            <a:endParaRPr lang="en-GB" b="1" dirty="0">
              <a:solidFill>
                <a:schemeClr val="tx2"/>
              </a:solidFill>
            </a:endParaRPr>
          </a:p>
          <a:p>
            <a:pPr marL="0" indent="0" algn="just">
              <a:buNone/>
            </a:pPr>
            <a:r>
              <a:rPr lang="en-GB" b="1" dirty="0">
                <a:solidFill>
                  <a:schemeClr val="tx2"/>
                </a:solidFill>
              </a:rPr>
              <a:t>Data Flow: </a:t>
            </a:r>
          </a:p>
          <a:p>
            <a:pPr marL="274320" lvl="1" indent="0" algn="just">
              <a:buNone/>
            </a:pPr>
            <a:r>
              <a:rPr lang="en-GB" dirty="0"/>
              <a:t>Data flow is the movement of data between the entity, the process, and the data store. Data flow portrays the interface between the components of the DFD. The flow of data in a DFD is named to reflect the nature of the data used (these names should also be unique within a specific DFD).</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38</a:t>
            </a:fld>
            <a:endParaRPr lang="en-US" dirty="0"/>
          </a:p>
        </p:txBody>
      </p:sp>
    </p:spTree>
    <p:extLst>
      <p:ext uri="{BB962C8B-B14F-4D97-AF65-F5344CB8AC3E}">
        <p14:creationId xmlns:p14="http://schemas.microsoft.com/office/powerpoint/2010/main" val="813743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Components</a:t>
            </a:r>
          </a:p>
        </p:txBody>
      </p:sp>
      <p:pic>
        <p:nvPicPr>
          <p:cNvPr id="7" name="Content Placeholder 6"/>
          <p:cNvPicPr>
            <a:picLocks noGrp="1" noChangeAspect="1"/>
          </p:cNvPicPr>
          <p:nvPr>
            <p:ph idx="1"/>
          </p:nvPr>
        </p:nvPicPr>
        <p:blipFill rotWithShape="1">
          <a:blip r:embed="rId2"/>
          <a:srcRect l="50926" t="33531" r="25926" b="26944"/>
          <a:stretch/>
        </p:blipFill>
        <p:spPr>
          <a:xfrm>
            <a:off x="685800" y="1709928"/>
            <a:ext cx="8001000" cy="4995671"/>
          </a:xfrm>
          <a:prstGeom prst="rect">
            <a:avLst/>
          </a:prstGeom>
        </p:spPr>
      </p:pic>
      <p:sp>
        <p:nvSpPr>
          <p:cNvPr id="6" name="Slide Number Placeholder 5"/>
          <p:cNvSpPr>
            <a:spLocks noGrp="1"/>
          </p:cNvSpPr>
          <p:nvPr>
            <p:ph type="sldNum" sz="quarter" idx="12"/>
          </p:nvPr>
        </p:nvSpPr>
        <p:spPr/>
        <p:txBody>
          <a:bodyPr/>
          <a:lstStyle/>
          <a:p>
            <a:fld id="{0A68DB68-8052-4758-A647-54338E95D837}" type="slidenum">
              <a:rPr lang="en-US" smtClean="0"/>
              <a:pPr/>
              <a:t>39</a:t>
            </a:fld>
            <a:endParaRPr lang="en-US" dirty="0"/>
          </a:p>
        </p:txBody>
      </p:sp>
    </p:spTree>
    <p:extLst>
      <p:ext uri="{BB962C8B-B14F-4D97-AF65-F5344CB8AC3E}">
        <p14:creationId xmlns:p14="http://schemas.microsoft.com/office/powerpoint/2010/main" val="370417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DFD Diagramming Rules (Process)</a:t>
            </a:r>
          </a:p>
        </p:txBody>
      </p:sp>
      <p:sp>
        <p:nvSpPr>
          <p:cNvPr id="6" name="Slide Number Placeholder 5"/>
          <p:cNvSpPr>
            <a:spLocks noGrp="1"/>
          </p:cNvSpPr>
          <p:nvPr>
            <p:ph type="sldNum" sz="quarter" idx="12"/>
          </p:nvPr>
        </p:nvSpPr>
        <p:spPr/>
        <p:txBody>
          <a:bodyPr/>
          <a:lstStyle/>
          <a:p>
            <a:fld id="{0A68DB68-8052-4758-A647-54338E95D837}" type="slidenum">
              <a:rPr lang="en-US" smtClean="0"/>
              <a:pPr/>
              <a:t>40</a:t>
            </a:fld>
            <a:endParaRPr lang="en-US" dirty="0"/>
          </a:p>
        </p:txBody>
      </p:sp>
      <p:pic>
        <p:nvPicPr>
          <p:cNvPr id="7" name="Picture 4" descr="CAP1"/>
          <p:cNvPicPr>
            <a:picLocks noGrp="1" noChangeAspect="1" noChangeArrowheads="1"/>
          </p:cNvPicPr>
          <p:nvPr>
            <p:ph idx="1"/>
          </p:nvPr>
        </p:nvPicPr>
        <p:blipFill>
          <a:blip r:embed="rId2" cstate="print"/>
          <a:srcRect/>
          <a:stretch>
            <a:fillRect/>
          </a:stretch>
        </p:blipFill>
        <p:spPr bwMode="auto">
          <a:xfrm>
            <a:off x="914400" y="1981200"/>
            <a:ext cx="7543799" cy="4419600"/>
          </a:xfrm>
          <a:prstGeom prst="rect">
            <a:avLst/>
          </a:prstGeom>
          <a:noFill/>
          <a:ln w="9525">
            <a:noFill/>
            <a:miter lim="800000"/>
            <a:headEnd/>
            <a:tailEnd/>
          </a:ln>
        </p:spPr>
      </p:pic>
      <p:sp>
        <p:nvSpPr>
          <p:cNvPr id="8" name="Rectangle 7"/>
          <p:cNvSpPr/>
          <p:nvPr/>
        </p:nvSpPr>
        <p:spPr>
          <a:xfrm>
            <a:off x="1676400" y="3719513"/>
            <a:ext cx="6172199" cy="1107996"/>
          </a:xfrm>
          <a:prstGeom prst="rect">
            <a:avLst/>
          </a:prstGeom>
        </p:spPr>
        <p:txBody>
          <a:bodyPr wrap="square">
            <a:spAutoFit/>
          </a:bodyPr>
          <a:lstStyle/>
          <a:p>
            <a:pPr algn="ctr">
              <a:spcBef>
                <a:spcPct val="20000"/>
              </a:spcBef>
              <a:buClr>
                <a:schemeClr val="hlink"/>
              </a:buClr>
              <a:buSzPct val="110000"/>
              <a:buFont typeface="Wingdings" pitchFamily="2" charset="2"/>
              <a:buNone/>
              <a:defRPr/>
            </a:pPr>
            <a:r>
              <a:rPr lang="en-US" sz="2200" dirty="0">
                <a:latin typeface="+mn-lt"/>
                <a:cs typeface="Arial" charset="0"/>
              </a:rPr>
              <a:t>No process can have only outputs or only inputs. Processes must have both outputs and inputs.</a:t>
            </a:r>
          </a:p>
        </p:txBody>
      </p:sp>
      <p:sp>
        <p:nvSpPr>
          <p:cNvPr id="9" name="Text Box 6"/>
          <p:cNvSpPr txBox="1">
            <a:spLocks noChangeArrowheads="1"/>
          </p:cNvSpPr>
          <p:nvPr/>
        </p:nvSpPr>
        <p:spPr bwMode="auto">
          <a:xfrm>
            <a:off x="2057400" y="5943600"/>
            <a:ext cx="5410200" cy="430887"/>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ctr" eaLnBrk="1" hangingPunct="1">
              <a:spcBef>
                <a:spcPct val="20000"/>
              </a:spcBef>
              <a:buClr>
                <a:schemeClr val="hlink"/>
              </a:buClr>
              <a:buSzPct val="110000"/>
              <a:buFont typeface="Wingdings" pitchFamily="2" charset="2"/>
              <a:buNone/>
              <a:defRPr/>
            </a:pPr>
            <a:r>
              <a:rPr lang="en-US" sz="2200" dirty="0">
                <a:latin typeface="+mn-lt"/>
                <a:cs typeface="Arial" charset="0"/>
              </a:rPr>
              <a:t>Process labels should be verb phrases.</a:t>
            </a:r>
          </a:p>
        </p:txBody>
      </p:sp>
    </p:spTree>
    <p:extLst>
      <p:ext uri="{BB962C8B-B14F-4D97-AF65-F5344CB8AC3E}">
        <p14:creationId xmlns:p14="http://schemas.microsoft.com/office/powerpoint/2010/main" val="38053912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DFD Diagramming Rules (Data Stores)</a:t>
            </a:r>
          </a:p>
        </p:txBody>
      </p:sp>
      <p:sp>
        <p:nvSpPr>
          <p:cNvPr id="6" name="Slide Number Placeholder 5"/>
          <p:cNvSpPr>
            <a:spLocks noGrp="1"/>
          </p:cNvSpPr>
          <p:nvPr>
            <p:ph type="sldNum" sz="quarter" idx="12"/>
          </p:nvPr>
        </p:nvSpPr>
        <p:spPr/>
        <p:txBody>
          <a:bodyPr/>
          <a:lstStyle/>
          <a:p>
            <a:fld id="{0A68DB68-8052-4758-A647-54338E95D837}" type="slidenum">
              <a:rPr lang="en-US" smtClean="0"/>
              <a:pPr/>
              <a:t>41</a:t>
            </a:fld>
            <a:endParaRPr lang="en-US" dirty="0"/>
          </a:p>
        </p:txBody>
      </p:sp>
      <p:grpSp>
        <p:nvGrpSpPr>
          <p:cNvPr id="9" name="Group 6"/>
          <p:cNvGrpSpPr>
            <a:grpSpLocks/>
          </p:cNvGrpSpPr>
          <p:nvPr/>
        </p:nvGrpSpPr>
        <p:grpSpPr bwMode="auto">
          <a:xfrm>
            <a:off x="533400" y="1524801"/>
            <a:ext cx="8229600" cy="5333840"/>
            <a:chOff x="-56" y="873"/>
            <a:chExt cx="5088" cy="3061"/>
          </a:xfrm>
        </p:grpSpPr>
        <p:pic>
          <p:nvPicPr>
            <p:cNvPr id="10" name="Picture 3" descr="CAP2"/>
            <p:cNvPicPr>
              <a:picLocks noChangeAspect="1" noChangeArrowheads="1"/>
            </p:cNvPicPr>
            <p:nvPr/>
          </p:nvPicPr>
          <p:blipFill>
            <a:blip r:embed="rId2" cstate="print"/>
            <a:srcRect/>
            <a:stretch>
              <a:fillRect/>
            </a:stretch>
          </p:blipFill>
          <p:spPr bwMode="auto">
            <a:xfrm>
              <a:off x="-56" y="873"/>
              <a:ext cx="5088" cy="2799"/>
            </a:xfrm>
            <a:prstGeom prst="rect">
              <a:avLst/>
            </a:prstGeom>
            <a:noFill/>
            <a:ln w="9525">
              <a:noFill/>
              <a:miter lim="800000"/>
              <a:headEnd/>
              <a:tailEnd/>
            </a:ln>
          </p:spPr>
        </p:pic>
        <p:sp>
          <p:nvSpPr>
            <p:cNvPr id="11" name="Text Box 4"/>
            <p:cNvSpPr txBox="1">
              <a:spLocks noChangeArrowheads="1"/>
            </p:cNvSpPr>
            <p:nvPr/>
          </p:nvSpPr>
          <p:spPr bwMode="auto">
            <a:xfrm>
              <a:off x="1034" y="3492"/>
              <a:ext cx="3119" cy="442"/>
            </a:xfrm>
            <a:prstGeom prst="rect">
              <a:avLst/>
            </a:prstGeom>
            <a:noFill/>
            <a:ln w="9525">
              <a:noFill/>
              <a:miter lim="800000"/>
              <a:headEnd/>
              <a:tailEnd/>
            </a:ln>
          </p:spPr>
          <p:txBody>
            <a:bodyPr>
              <a:spAutoFit/>
            </a:bodyPr>
            <a:lstStyle/>
            <a:p>
              <a:pPr algn="ctr">
                <a:spcBef>
                  <a:spcPct val="20000"/>
                </a:spcBef>
                <a:buClr>
                  <a:schemeClr val="hlink"/>
                </a:buClr>
                <a:buSzPct val="110000"/>
                <a:buFont typeface="Wingdings" pitchFamily="2" charset="2"/>
                <a:buNone/>
                <a:defRPr/>
              </a:pPr>
              <a:r>
                <a:rPr lang="en-US" sz="2200" dirty="0">
                  <a:latin typeface="+mn-lt"/>
                  <a:cs typeface="Arial" charset="0"/>
                </a:rPr>
                <a:t>Data Store labels should be noun phrases.</a:t>
              </a:r>
            </a:p>
          </p:txBody>
        </p:sp>
        <p:sp>
          <p:nvSpPr>
            <p:cNvPr id="12" name="Text Box 5"/>
            <p:cNvSpPr txBox="1">
              <a:spLocks noChangeArrowheads="1"/>
            </p:cNvSpPr>
            <p:nvPr/>
          </p:nvSpPr>
          <p:spPr bwMode="auto">
            <a:xfrm>
              <a:off x="1034" y="1660"/>
              <a:ext cx="3119" cy="442"/>
            </a:xfrm>
            <a:prstGeom prst="rect">
              <a:avLst/>
            </a:prstGeom>
            <a:noFill/>
            <a:ln w="9525">
              <a:noFill/>
              <a:miter lim="800000"/>
              <a:headEnd/>
              <a:tailEnd/>
            </a:ln>
          </p:spPr>
          <p:txBody>
            <a:bodyPr wrap="square">
              <a:spAutoFit/>
            </a:bodyPr>
            <a:lstStyle/>
            <a:p>
              <a:pPr algn="ctr">
                <a:spcBef>
                  <a:spcPct val="20000"/>
                </a:spcBef>
                <a:buClr>
                  <a:schemeClr val="hlink"/>
                </a:buClr>
                <a:buSzPct val="110000"/>
                <a:buFont typeface="Wingdings" pitchFamily="2" charset="2"/>
                <a:buNone/>
                <a:defRPr/>
              </a:pPr>
              <a:r>
                <a:rPr lang="en-US" sz="2200" dirty="0">
                  <a:latin typeface="+mn-lt"/>
                  <a:cs typeface="Arial" charset="0"/>
                </a:rPr>
                <a:t>All flows to or from a data store must move through a process.</a:t>
              </a:r>
            </a:p>
          </p:txBody>
        </p:sp>
      </p:grpSp>
    </p:spTree>
    <p:extLst>
      <p:ext uri="{BB962C8B-B14F-4D97-AF65-F5344CB8AC3E}">
        <p14:creationId xmlns:p14="http://schemas.microsoft.com/office/powerpoint/2010/main" val="4043715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DFD Diagramming Rules (Source/Sink)</a:t>
            </a:r>
          </a:p>
        </p:txBody>
      </p:sp>
      <p:sp>
        <p:nvSpPr>
          <p:cNvPr id="6" name="Slide Number Placeholder 5"/>
          <p:cNvSpPr>
            <a:spLocks noGrp="1"/>
          </p:cNvSpPr>
          <p:nvPr>
            <p:ph type="sldNum" sz="quarter" idx="12"/>
          </p:nvPr>
        </p:nvSpPr>
        <p:spPr/>
        <p:txBody>
          <a:bodyPr/>
          <a:lstStyle/>
          <a:p>
            <a:fld id="{0A68DB68-8052-4758-A647-54338E95D837}" type="slidenum">
              <a:rPr lang="en-US" smtClean="0"/>
              <a:pPr/>
              <a:t>42</a:t>
            </a:fld>
            <a:endParaRPr lang="en-US" dirty="0"/>
          </a:p>
        </p:txBody>
      </p:sp>
      <p:grpSp>
        <p:nvGrpSpPr>
          <p:cNvPr id="7" name="Group 6"/>
          <p:cNvGrpSpPr>
            <a:grpSpLocks/>
          </p:cNvGrpSpPr>
          <p:nvPr/>
        </p:nvGrpSpPr>
        <p:grpSpPr bwMode="auto">
          <a:xfrm>
            <a:off x="914400" y="1981200"/>
            <a:ext cx="7467600" cy="3676650"/>
            <a:chOff x="96" y="1056"/>
            <a:chExt cx="4800" cy="2316"/>
          </a:xfrm>
        </p:grpSpPr>
        <p:pic>
          <p:nvPicPr>
            <p:cNvPr id="8" name="Picture 3" descr="CAP3"/>
            <p:cNvPicPr>
              <a:picLocks noChangeAspect="1" noChangeArrowheads="1"/>
            </p:cNvPicPr>
            <p:nvPr/>
          </p:nvPicPr>
          <p:blipFill>
            <a:blip r:embed="rId2" cstate="print"/>
            <a:srcRect/>
            <a:stretch>
              <a:fillRect/>
            </a:stretch>
          </p:blipFill>
          <p:spPr bwMode="auto">
            <a:xfrm>
              <a:off x="96" y="1056"/>
              <a:ext cx="4800" cy="1152"/>
            </a:xfrm>
            <a:prstGeom prst="rect">
              <a:avLst/>
            </a:prstGeom>
            <a:noFill/>
            <a:ln w="9525">
              <a:noFill/>
              <a:miter lim="800000"/>
              <a:headEnd/>
              <a:tailEnd/>
            </a:ln>
          </p:spPr>
        </p:pic>
        <p:sp>
          <p:nvSpPr>
            <p:cNvPr id="9" name="Text Box 4"/>
            <p:cNvSpPr txBox="1">
              <a:spLocks noChangeArrowheads="1"/>
            </p:cNvSpPr>
            <p:nvPr/>
          </p:nvSpPr>
          <p:spPr bwMode="auto">
            <a:xfrm>
              <a:off x="537" y="3120"/>
              <a:ext cx="3750" cy="252"/>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ctr" rtl="0" eaLnBrk="1" hangingPunct="1">
                <a:spcBef>
                  <a:spcPct val="20000"/>
                </a:spcBef>
                <a:buClr>
                  <a:schemeClr val="hlink"/>
                </a:buClr>
                <a:buSzPct val="110000"/>
                <a:defRPr/>
              </a:pPr>
              <a:r>
                <a:rPr lang="en-US" sz="2000" dirty="0">
                  <a:latin typeface="+mn-lt"/>
                  <a:cs typeface="Arial" charset="0"/>
                </a:rPr>
                <a:t>Source and Sink labels should be noun phrases</a:t>
              </a:r>
              <a:r>
                <a:rPr lang="en-US" dirty="0">
                  <a:solidFill>
                    <a:schemeClr val="accent3">
                      <a:lumMod val="75000"/>
                    </a:schemeClr>
                  </a:solidFill>
                  <a:latin typeface="+mn-lt"/>
                  <a:cs typeface="Arial" charset="0"/>
                </a:rPr>
                <a:t>.</a:t>
              </a:r>
            </a:p>
          </p:txBody>
        </p:sp>
        <p:sp>
          <p:nvSpPr>
            <p:cNvPr id="10" name="Text Box 5"/>
            <p:cNvSpPr txBox="1">
              <a:spLocks noChangeArrowheads="1"/>
            </p:cNvSpPr>
            <p:nvPr/>
          </p:nvSpPr>
          <p:spPr bwMode="auto">
            <a:xfrm>
              <a:off x="635" y="2400"/>
              <a:ext cx="3798" cy="655"/>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l" rtl="0" eaLnBrk="1" hangingPunct="1">
                <a:spcBef>
                  <a:spcPct val="20000"/>
                </a:spcBef>
                <a:buClr>
                  <a:schemeClr val="hlink"/>
                </a:buClr>
                <a:buSzPct val="110000"/>
                <a:buFont typeface="Wingdings" pitchFamily="2" charset="2"/>
                <a:buNone/>
                <a:defRPr/>
              </a:pPr>
              <a:r>
                <a:rPr lang="en-US" sz="2000" dirty="0">
                  <a:latin typeface="+mn-lt"/>
                  <a:cs typeface="Arial" charset="0"/>
                </a:rPr>
                <a:t>No data moves directly between external entities without going through a process.</a:t>
              </a:r>
            </a:p>
            <a:p>
              <a:pPr algn="l" rtl="0" eaLnBrk="1" hangingPunct="1">
                <a:spcBef>
                  <a:spcPct val="20000"/>
                </a:spcBef>
                <a:buClr>
                  <a:schemeClr val="hlink"/>
                </a:buClr>
                <a:buSzPct val="110000"/>
                <a:buFont typeface="Wingdings" pitchFamily="2" charset="2"/>
                <a:buNone/>
                <a:defRPr/>
              </a:pPr>
              <a:endParaRPr lang="en-US" dirty="0">
                <a:latin typeface="+mn-lt"/>
                <a:cs typeface="Arial" charset="0"/>
              </a:endParaRPr>
            </a:p>
          </p:txBody>
        </p:sp>
      </p:grpSp>
    </p:spTree>
    <p:extLst>
      <p:ext uri="{BB962C8B-B14F-4D97-AF65-F5344CB8AC3E}">
        <p14:creationId xmlns:p14="http://schemas.microsoft.com/office/powerpoint/2010/main" val="19776941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DFD Diagramming Rules (Dataflow)</a:t>
            </a:r>
          </a:p>
        </p:txBody>
      </p:sp>
      <p:sp>
        <p:nvSpPr>
          <p:cNvPr id="6" name="Slide Number Placeholder 5"/>
          <p:cNvSpPr>
            <a:spLocks noGrp="1"/>
          </p:cNvSpPr>
          <p:nvPr>
            <p:ph type="sldNum" sz="quarter" idx="12"/>
          </p:nvPr>
        </p:nvSpPr>
        <p:spPr/>
        <p:txBody>
          <a:bodyPr/>
          <a:lstStyle/>
          <a:p>
            <a:fld id="{0A68DB68-8052-4758-A647-54338E95D837}" type="slidenum">
              <a:rPr lang="en-US" smtClean="0"/>
              <a:pPr/>
              <a:t>43</a:t>
            </a:fld>
            <a:endParaRPr lang="en-US" dirty="0"/>
          </a:p>
        </p:txBody>
      </p:sp>
      <p:pic>
        <p:nvPicPr>
          <p:cNvPr id="8" name="Picture 3" descr="CAP4"/>
          <p:cNvPicPr>
            <a:picLocks noChangeAspect="1" noChangeArrowheads="1"/>
          </p:cNvPicPr>
          <p:nvPr/>
        </p:nvPicPr>
        <p:blipFill>
          <a:blip r:embed="rId2" cstate="print"/>
          <a:srcRect b="60311"/>
          <a:stretch>
            <a:fillRect/>
          </a:stretch>
        </p:blipFill>
        <p:spPr bwMode="auto">
          <a:xfrm>
            <a:off x="293688" y="2101850"/>
            <a:ext cx="8697912" cy="3308350"/>
          </a:xfrm>
          <a:prstGeom prst="rect">
            <a:avLst/>
          </a:prstGeom>
          <a:noFill/>
          <a:ln w="9525">
            <a:noFill/>
            <a:miter lim="800000"/>
            <a:headEnd/>
            <a:tailEnd/>
          </a:ln>
        </p:spPr>
      </p:pic>
      <p:sp>
        <p:nvSpPr>
          <p:cNvPr id="9" name="Text Box 4"/>
          <p:cNvSpPr txBox="1">
            <a:spLocks noChangeArrowheads="1"/>
          </p:cNvSpPr>
          <p:nvPr/>
        </p:nvSpPr>
        <p:spPr bwMode="auto">
          <a:xfrm>
            <a:off x="3505200" y="3429000"/>
            <a:ext cx="2133600" cy="1631216"/>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l" rtl="0" eaLnBrk="1" hangingPunct="1">
              <a:spcBef>
                <a:spcPct val="20000"/>
              </a:spcBef>
              <a:buClr>
                <a:schemeClr val="hlink"/>
              </a:buClr>
              <a:buSzPct val="110000"/>
              <a:buFont typeface="Wingdings" pitchFamily="2" charset="2"/>
              <a:buNone/>
              <a:defRPr/>
            </a:pPr>
            <a:r>
              <a:rPr lang="en-US" sz="2000" dirty="0">
                <a:latin typeface="+mn-lt"/>
                <a:cs typeface="Arial" charset="0"/>
              </a:rPr>
              <a:t>Bidirectional flow between process and data store is represented by two separate arrows.</a:t>
            </a:r>
          </a:p>
        </p:txBody>
      </p:sp>
    </p:spTree>
    <p:extLst>
      <p:ext uri="{BB962C8B-B14F-4D97-AF65-F5344CB8AC3E}">
        <p14:creationId xmlns:p14="http://schemas.microsoft.com/office/powerpoint/2010/main" val="1060406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DFD Diagramming Rules (Dataflow)</a:t>
            </a:r>
          </a:p>
        </p:txBody>
      </p:sp>
      <p:sp>
        <p:nvSpPr>
          <p:cNvPr id="6" name="Slide Number Placeholder 5"/>
          <p:cNvSpPr>
            <a:spLocks noGrp="1"/>
          </p:cNvSpPr>
          <p:nvPr>
            <p:ph type="sldNum" sz="quarter" idx="12"/>
          </p:nvPr>
        </p:nvSpPr>
        <p:spPr/>
        <p:txBody>
          <a:bodyPr/>
          <a:lstStyle/>
          <a:p>
            <a:fld id="{0A68DB68-8052-4758-A647-54338E95D837}" type="slidenum">
              <a:rPr lang="en-US" smtClean="0"/>
              <a:pPr/>
              <a:t>44</a:t>
            </a:fld>
            <a:endParaRPr lang="en-US" dirty="0"/>
          </a:p>
        </p:txBody>
      </p:sp>
      <p:pic>
        <p:nvPicPr>
          <p:cNvPr id="10" name="Picture 4" descr="CAP5"/>
          <p:cNvPicPr>
            <a:picLocks noChangeAspect="1" noChangeArrowheads="1"/>
          </p:cNvPicPr>
          <p:nvPr/>
        </p:nvPicPr>
        <p:blipFill>
          <a:blip r:embed="rId2" cstate="print"/>
          <a:srcRect t="52626" r="47525"/>
          <a:stretch>
            <a:fillRect/>
          </a:stretch>
        </p:blipFill>
        <p:spPr bwMode="auto">
          <a:xfrm>
            <a:off x="1066800" y="1981200"/>
            <a:ext cx="6705600" cy="3733800"/>
          </a:xfrm>
          <a:prstGeom prst="rect">
            <a:avLst/>
          </a:prstGeom>
          <a:noFill/>
          <a:ln w="9525">
            <a:noFill/>
            <a:miter lim="800000"/>
            <a:headEnd/>
            <a:tailEnd/>
          </a:ln>
        </p:spPr>
      </p:pic>
      <p:sp>
        <p:nvSpPr>
          <p:cNvPr id="11" name="Text Box 6"/>
          <p:cNvSpPr txBox="1">
            <a:spLocks noChangeArrowheads="1"/>
          </p:cNvSpPr>
          <p:nvPr/>
        </p:nvSpPr>
        <p:spPr bwMode="auto">
          <a:xfrm>
            <a:off x="4800600" y="3124200"/>
            <a:ext cx="2743200" cy="1631216"/>
          </a:xfrm>
          <a:prstGeom prst="rect">
            <a:avLst/>
          </a:prstGeom>
          <a:noFill/>
          <a:ln w="9525">
            <a:noFill/>
            <a:miter lim="800000"/>
            <a:headEnd/>
            <a:tailEnd/>
          </a:ln>
        </p:spPr>
        <p:txBody>
          <a:bodyPr wrap="square">
            <a:spAutoFit/>
          </a:bodyPr>
          <a:lstStyle/>
          <a:p>
            <a:pPr algn="just" rtl="0">
              <a:spcBef>
                <a:spcPct val="20000"/>
              </a:spcBef>
              <a:buClr>
                <a:schemeClr val="hlink"/>
              </a:buClr>
              <a:buSzPct val="110000"/>
              <a:buFont typeface="Wingdings" pitchFamily="2" charset="2"/>
              <a:buNone/>
              <a:defRPr/>
            </a:pPr>
            <a:r>
              <a:rPr lang="en-US" sz="2000" dirty="0">
                <a:latin typeface="+mj-lt"/>
                <a:cs typeface="Arial" charset="0"/>
              </a:rPr>
              <a:t>Data flow cannot go directly from a process to itself, must go through intervening processes.</a:t>
            </a:r>
          </a:p>
        </p:txBody>
      </p:sp>
    </p:spTree>
    <p:extLst>
      <p:ext uri="{BB962C8B-B14F-4D97-AF65-F5344CB8AC3E}">
        <p14:creationId xmlns:p14="http://schemas.microsoft.com/office/powerpoint/2010/main" val="17837872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Diagramming Rules (Dataflow)</a:t>
            </a:r>
          </a:p>
        </p:txBody>
      </p:sp>
      <p:sp>
        <p:nvSpPr>
          <p:cNvPr id="3" name="Content Placeholder 2"/>
          <p:cNvSpPr>
            <a:spLocks noGrp="1"/>
          </p:cNvSpPr>
          <p:nvPr>
            <p:ph idx="1"/>
          </p:nvPr>
        </p:nvSpPr>
        <p:spPr>
          <a:xfrm>
            <a:off x="457200" y="1600200"/>
            <a:ext cx="8229600" cy="3810000"/>
          </a:xfrm>
        </p:spPr>
        <p:txBody>
          <a:bodyPr/>
          <a:lstStyle/>
          <a:p>
            <a:pPr algn="just">
              <a:buFont typeface="Wingdings" pitchFamily="2" charset="2"/>
              <a:buChar char="Ø"/>
            </a:pPr>
            <a:endParaRPr lang="en-US" dirty="0"/>
          </a:p>
          <a:p>
            <a:pPr algn="just">
              <a:buFont typeface="Wingdings" pitchFamily="2" charset="2"/>
              <a:buChar char="Ø"/>
            </a:pPr>
            <a:r>
              <a:rPr lang="en-US" dirty="0"/>
              <a:t> Data flow from a process to a data store means update (insert, delete or change).</a:t>
            </a:r>
          </a:p>
          <a:p>
            <a:pPr algn="just">
              <a:buFont typeface="Wingdings" pitchFamily="2" charset="2"/>
              <a:buChar char="Ø"/>
            </a:pPr>
            <a:endParaRPr lang="en-US" dirty="0"/>
          </a:p>
          <a:p>
            <a:pPr algn="just">
              <a:buFont typeface="Wingdings" pitchFamily="2" charset="2"/>
              <a:buChar char="Ø"/>
            </a:pPr>
            <a:r>
              <a:rPr lang="en-US" dirty="0"/>
              <a:t> Data flow from a data store to a process means retrieve or use.</a:t>
            </a:r>
          </a:p>
          <a:p>
            <a:pPr algn="just">
              <a:buFont typeface="Wingdings" pitchFamily="2" charset="2"/>
              <a:buChar char="Ø"/>
            </a:pP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45</a:t>
            </a:fld>
            <a:endParaRPr lang="en-US" dirty="0"/>
          </a:p>
        </p:txBody>
      </p:sp>
    </p:spTree>
    <p:extLst>
      <p:ext uri="{BB962C8B-B14F-4D97-AF65-F5344CB8AC3E}">
        <p14:creationId xmlns:p14="http://schemas.microsoft.com/office/powerpoint/2010/main" val="40570330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Levels</a:t>
            </a:r>
          </a:p>
        </p:txBody>
      </p:sp>
      <p:sp>
        <p:nvSpPr>
          <p:cNvPr id="3" name="Content Placeholder 2"/>
          <p:cNvSpPr>
            <a:spLocks noGrp="1"/>
          </p:cNvSpPr>
          <p:nvPr>
            <p:ph idx="1"/>
          </p:nvPr>
        </p:nvSpPr>
        <p:spPr/>
        <p:txBody>
          <a:bodyPr/>
          <a:lstStyle/>
          <a:p>
            <a:endParaRPr lang="en-US" dirty="0"/>
          </a:p>
          <a:p>
            <a:r>
              <a:rPr lang="en-US"/>
              <a:t>Context DFD / Level-0 </a:t>
            </a:r>
            <a:r>
              <a:rPr lang="en-US" dirty="0"/>
              <a:t>DFD</a:t>
            </a:r>
          </a:p>
          <a:p>
            <a:endParaRPr lang="en-US" dirty="0"/>
          </a:p>
          <a:p>
            <a:r>
              <a:rPr lang="en-US" dirty="0"/>
              <a:t>Level-1 DFD</a:t>
            </a:r>
          </a:p>
          <a:p>
            <a:endParaRPr lang="en-US" dirty="0"/>
          </a:p>
          <a:p>
            <a:r>
              <a:rPr lang="en-US" dirty="0"/>
              <a:t>Level-n DFD</a:t>
            </a:r>
          </a:p>
          <a:p>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46</a:t>
            </a:fld>
            <a:endParaRPr lang="en-US" dirty="0"/>
          </a:p>
        </p:txBody>
      </p:sp>
    </p:spTree>
    <p:extLst>
      <p:ext uri="{BB962C8B-B14F-4D97-AF65-F5344CB8AC3E}">
        <p14:creationId xmlns:p14="http://schemas.microsoft.com/office/powerpoint/2010/main" val="3676830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8675"/>
            <a:ext cx="8229600" cy="547600"/>
          </a:xfrm>
        </p:spPr>
        <p:txBody>
          <a:bodyPr>
            <a:noAutofit/>
          </a:bodyPr>
          <a:lstStyle/>
          <a:p>
            <a:pPr algn="just"/>
            <a:r>
              <a:rPr lang="en-US" sz="3000" dirty="0"/>
              <a:t>Context Diagram of Ride Booking App</a:t>
            </a:r>
          </a:p>
        </p:txBody>
      </p:sp>
      <p:sp>
        <p:nvSpPr>
          <p:cNvPr id="6" name="Slide Number Placeholder 5"/>
          <p:cNvSpPr>
            <a:spLocks noGrp="1"/>
          </p:cNvSpPr>
          <p:nvPr>
            <p:ph type="sldNum" sz="quarter" idx="12"/>
          </p:nvPr>
        </p:nvSpPr>
        <p:spPr/>
        <p:txBody>
          <a:bodyPr/>
          <a:lstStyle/>
          <a:p>
            <a:fld id="{0A68DB68-8052-4758-A647-54338E95D837}" type="slidenum">
              <a:rPr lang="en-US" smtClean="0"/>
              <a:pPr/>
              <a:t>47</a:t>
            </a:fld>
            <a:endParaRPr lang="en-US" dirty="0"/>
          </a:p>
        </p:txBody>
      </p:sp>
      <p:pic>
        <p:nvPicPr>
          <p:cNvPr id="13" name="Picture 12">
            <a:extLst>
              <a:ext uri="{FF2B5EF4-FFF2-40B4-BE49-F238E27FC236}">
                <a16:creationId xmlns:a16="http://schemas.microsoft.com/office/drawing/2014/main" id="{FBD1AC65-BF14-CA21-FC79-29473E0B691E}"/>
              </a:ext>
            </a:extLst>
          </p:cNvPr>
          <p:cNvPicPr>
            <a:picLocks noChangeAspect="1"/>
          </p:cNvPicPr>
          <p:nvPr/>
        </p:nvPicPr>
        <p:blipFill>
          <a:blip r:embed="rId2"/>
          <a:stretch>
            <a:fillRect/>
          </a:stretch>
        </p:blipFill>
        <p:spPr>
          <a:xfrm>
            <a:off x="1131998" y="1132461"/>
            <a:ext cx="6919471" cy="5346864"/>
          </a:xfrm>
          <a:prstGeom prst="rect">
            <a:avLst/>
          </a:prstGeom>
        </p:spPr>
      </p:pic>
    </p:spTree>
    <p:extLst>
      <p:ext uri="{BB962C8B-B14F-4D97-AF65-F5344CB8AC3E}">
        <p14:creationId xmlns:p14="http://schemas.microsoft.com/office/powerpoint/2010/main" val="5956049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48155"/>
            <a:ext cx="8229600" cy="487878"/>
          </a:xfrm>
        </p:spPr>
        <p:txBody>
          <a:bodyPr>
            <a:normAutofit fontScale="90000"/>
          </a:bodyPr>
          <a:lstStyle/>
          <a:p>
            <a:r>
              <a:rPr lang="en-US" dirty="0"/>
              <a:t>Level-1 DFD</a:t>
            </a:r>
          </a:p>
        </p:txBody>
      </p:sp>
      <p:sp>
        <p:nvSpPr>
          <p:cNvPr id="6" name="Slide Number Placeholder 5"/>
          <p:cNvSpPr>
            <a:spLocks noGrp="1"/>
          </p:cNvSpPr>
          <p:nvPr>
            <p:ph type="sldNum" sz="quarter" idx="12"/>
          </p:nvPr>
        </p:nvSpPr>
        <p:spPr/>
        <p:txBody>
          <a:bodyPr/>
          <a:lstStyle/>
          <a:p>
            <a:fld id="{0A68DB68-8052-4758-A647-54338E95D837}" type="slidenum">
              <a:rPr lang="en-US" smtClean="0"/>
              <a:pPr/>
              <a:t>48</a:t>
            </a:fld>
            <a:endParaRPr lang="en-US" dirty="0"/>
          </a:p>
        </p:txBody>
      </p:sp>
      <p:pic>
        <p:nvPicPr>
          <p:cNvPr id="16" name="Picture 15">
            <a:extLst>
              <a:ext uri="{FF2B5EF4-FFF2-40B4-BE49-F238E27FC236}">
                <a16:creationId xmlns:a16="http://schemas.microsoft.com/office/drawing/2014/main" id="{4A866660-FBD0-CE76-A062-428EAF6847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774" y="934707"/>
            <a:ext cx="7641772" cy="5905005"/>
          </a:xfrm>
          <a:prstGeom prst="rect">
            <a:avLst/>
          </a:prstGeom>
        </p:spPr>
      </p:pic>
    </p:spTree>
    <p:extLst>
      <p:ext uri="{BB962C8B-B14F-4D97-AF65-F5344CB8AC3E}">
        <p14:creationId xmlns:p14="http://schemas.microsoft.com/office/powerpoint/2010/main" val="26310455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p>
        </p:txBody>
      </p:sp>
      <p:sp>
        <p:nvSpPr>
          <p:cNvPr id="3" name="Content Placeholder 2"/>
          <p:cNvSpPr>
            <a:spLocks noGrp="1"/>
          </p:cNvSpPr>
          <p:nvPr>
            <p:ph idx="1"/>
          </p:nvPr>
        </p:nvSpPr>
        <p:spPr/>
        <p:txBody>
          <a:bodyPr/>
          <a:lstStyle/>
          <a:p>
            <a:pPr algn="just"/>
            <a:r>
              <a:rPr lang="en-GB" dirty="0"/>
              <a:t>Draw a context level data flow diagram for a patient monitoring system.</a:t>
            </a:r>
            <a:endParaRPr lang="en-US" sz="2800" dirty="0"/>
          </a:p>
          <a:p>
            <a:pPr algn="just"/>
            <a:endParaRPr lang="en-US" sz="2800" dirty="0"/>
          </a:p>
          <a:p>
            <a:pPr algn="just">
              <a:buNone/>
            </a:pPr>
            <a:r>
              <a:rPr lang="en-GB" b="1" dirty="0"/>
              <a:t>Process of patient monitoring system: </a:t>
            </a:r>
          </a:p>
          <a:p>
            <a:pPr algn="just">
              <a:buNone/>
            </a:pPr>
            <a:r>
              <a:rPr lang="en-GB" b="1" dirty="0"/>
              <a:t>	</a:t>
            </a:r>
            <a:r>
              <a:rPr lang="en-GB" dirty="0"/>
              <a:t>A patient’s vital signs are transmitted to this system, which may invoke a warning message to the nurse if these signs fall into the critical range. Nurse may request for a report, which the patient monitoring system retrieves from the patient log, and returns it to the nurse again.</a:t>
            </a:r>
            <a:endParaRPr lang="en-US" dirty="0"/>
          </a:p>
          <a:p>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49</a:t>
            </a:fld>
            <a:endParaRPr lang="en-US" dirty="0"/>
          </a:p>
        </p:txBody>
      </p:sp>
    </p:spTree>
    <p:extLst>
      <p:ext uri="{BB962C8B-B14F-4D97-AF65-F5344CB8AC3E}">
        <p14:creationId xmlns:p14="http://schemas.microsoft.com/office/powerpoint/2010/main" val="6966350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rotWithShape="1">
          <a:blip r:embed="rId2">
            <a:extLst>
              <a:ext uri="{28A0092B-C50C-407E-A947-70E740481C1C}">
                <a14:useLocalDpi xmlns:a14="http://schemas.microsoft.com/office/drawing/2010/main" val="0"/>
              </a:ext>
            </a:extLst>
          </a:blip>
          <a:srcRect l="2000" t="33612" r="3000" b="5897"/>
          <a:stretch/>
        </p:blipFill>
        <p:spPr>
          <a:xfrm>
            <a:off x="914400" y="1371599"/>
            <a:ext cx="7239000" cy="4648201"/>
          </a:xfrm>
        </p:spPr>
      </p:pic>
      <p:sp>
        <p:nvSpPr>
          <p:cNvPr id="6" name="Slide Number Placeholder 5"/>
          <p:cNvSpPr>
            <a:spLocks noGrp="1"/>
          </p:cNvSpPr>
          <p:nvPr>
            <p:ph type="sldNum" sz="quarter" idx="12"/>
          </p:nvPr>
        </p:nvSpPr>
        <p:spPr/>
        <p:txBody>
          <a:bodyPr/>
          <a:lstStyle/>
          <a:p>
            <a:fld id="{0A68DB68-8052-4758-A647-54338E95D837}" type="slidenum">
              <a:rPr lang="en-US" smtClean="0"/>
              <a:pPr/>
              <a:t>50</a:t>
            </a:fld>
            <a:endParaRPr lang="en-US" dirty="0"/>
          </a:p>
        </p:txBody>
      </p:sp>
    </p:spTree>
    <p:extLst>
      <p:ext uri="{BB962C8B-B14F-4D97-AF65-F5344CB8AC3E}">
        <p14:creationId xmlns:p14="http://schemas.microsoft.com/office/powerpoint/2010/main" val="2865556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562600"/>
          </a:xfrm>
        </p:spPr>
        <p:txBody>
          <a:bodyPr>
            <a:normAutofit fontScale="92500"/>
          </a:bodyPr>
          <a:lstStyle/>
          <a:p>
            <a:pPr algn="just"/>
            <a:r>
              <a:rPr lang="en-GB" b="1" dirty="0"/>
              <a:t>Consider the following case study and answer the questions written at the end of text.</a:t>
            </a:r>
          </a:p>
          <a:p>
            <a:pPr algn="just"/>
            <a:endParaRPr lang="en-GB" b="1" dirty="0"/>
          </a:p>
          <a:p>
            <a:pPr algn="just">
              <a:buNone/>
            </a:pPr>
            <a:r>
              <a:rPr lang="en-GB" dirty="0"/>
              <a:t>“	Pizza Express wants to install a new software system to record orders for take-away pizza. When customers call Pizza Express on the phone, they are asked about their data and order details. Once the order is taken the total cost (including delivery and any applicable discount) is calculated. A receipt is printed. The order is then given to the chef to make the pizza. Occasionally, special offers (coupons) are printed so that the customer can get a discount. Order details are kept for comparison with last year’s performance.”</a:t>
            </a:r>
            <a:endParaRPr lang="en-US" dirty="0"/>
          </a:p>
          <a:p>
            <a:pPr algn="just">
              <a:buNone/>
            </a:pPr>
            <a:r>
              <a:rPr lang="en-GB" b="1" dirty="0"/>
              <a:t>			</a:t>
            </a:r>
            <a:endParaRPr lang="en-US" dirty="0"/>
          </a:p>
          <a:p>
            <a:pPr algn="just"/>
            <a:r>
              <a:rPr lang="en-GB" dirty="0"/>
              <a:t>Develop the Context Level DFD and DFD Level 1 Diagram for the above scenario. </a:t>
            </a:r>
            <a:endParaRPr lang="en-US" dirty="0"/>
          </a:p>
          <a:p>
            <a:pPr algn="just"/>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51</a:t>
            </a:fld>
            <a:endParaRPr lang="en-US" dirty="0"/>
          </a:p>
        </p:txBody>
      </p:sp>
    </p:spTree>
    <p:extLst>
      <p:ext uri="{BB962C8B-B14F-4D97-AF65-F5344CB8AC3E}">
        <p14:creationId xmlns:p14="http://schemas.microsoft.com/office/powerpoint/2010/main" val="2117333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FA0E-FE1E-42CF-B513-37F2CBA0CF14}"/>
              </a:ext>
            </a:extLst>
          </p:cNvPr>
          <p:cNvSpPr>
            <a:spLocks noGrp="1"/>
          </p:cNvSpPr>
          <p:nvPr>
            <p:ph type="title"/>
          </p:nvPr>
        </p:nvSpPr>
        <p:spPr/>
        <p:txBody>
          <a:bodyPr/>
          <a:lstStyle/>
          <a:p>
            <a:r>
              <a:rPr lang="en-US" dirty="0"/>
              <a:t>Context Diagram</a:t>
            </a:r>
          </a:p>
        </p:txBody>
      </p:sp>
      <p:sp>
        <p:nvSpPr>
          <p:cNvPr id="5" name="Slide Number Placeholder 4">
            <a:extLst>
              <a:ext uri="{FF2B5EF4-FFF2-40B4-BE49-F238E27FC236}">
                <a16:creationId xmlns:a16="http://schemas.microsoft.com/office/drawing/2014/main" id="{261122A6-2384-4762-A4A5-72F8F641ABC8}"/>
              </a:ext>
            </a:extLst>
          </p:cNvPr>
          <p:cNvSpPr>
            <a:spLocks noGrp="1"/>
          </p:cNvSpPr>
          <p:nvPr>
            <p:ph type="sldNum" sz="quarter" idx="12"/>
          </p:nvPr>
        </p:nvSpPr>
        <p:spPr/>
        <p:txBody>
          <a:bodyPr/>
          <a:lstStyle/>
          <a:p>
            <a:fld id="{0A68DB68-8052-4758-A647-54338E95D837}" type="slidenum">
              <a:rPr lang="en-US" smtClean="0"/>
              <a:pPr/>
              <a:t>52</a:t>
            </a:fld>
            <a:endParaRPr lang="en-US" dirty="0"/>
          </a:p>
        </p:txBody>
      </p:sp>
      <p:pic>
        <p:nvPicPr>
          <p:cNvPr id="1028" name="Picture 4" descr="http://4.bp.blogspot.com/-b3C23RGHung/VW8Lw9FEyMI/AAAAAAAAAFY/OPnqR4IweZ4/s640/k.jpg">
            <a:extLst>
              <a:ext uri="{FF2B5EF4-FFF2-40B4-BE49-F238E27FC236}">
                <a16:creationId xmlns:a16="http://schemas.microsoft.com/office/drawing/2014/main" id="{F47FC18D-7144-4D1E-8E1B-0D17177AE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09800"/>
            <a:ext cx="584835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0483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06DE-526C-42B3-AED0-EABC5652E744}"/>
              </a:ext>
            </a:extLst>
          </p:cNvPr>
          <p:cNvSpPr>
            <a:spLocks noGrp="1"/>
          </p:cNvSpPr>
          <p:nvPr>
            <p:ph type="title"/>
          </p:nvPr>
        </p:nvSpPr>
        <p:spPr/>
        <p:txBody>
          <a:bodyPr/>
          <a:lstStyle/>
          <a:p>
            <a:r>
              <a:rPr lang="en-US" dirty="0"/>
              <a:t>Level 1 DFD</a:t>
            </a:r>
          </a:p>
        </p:txBody>
      </p:sp>
      <p:sp>
        <p:nvSpPr>
          <p:cNvPr id="5" name="Slide Number Placeholder 4">
            <a:extLst>
              <a:ext uri="{FF2B5EF4-FFF2-40B4-BE49-F238E27FC236}">
                <a16:creationId xmlns:a16="http://schemas.microsoft.com/office/drawing/2014/main" id="{0000C30B-14E1-488B-8BBB-A0F1B2D3587C}"/>
              </a:ext>
            </a:extLst>
          </p:cNvPr>
          <p:cNvSpPr>
            <a:spLocks noGrp="1"/>
          </p:cNvSpPr>
          <p:nvPr>
            <p:ph type="sldNum" sz="quarter" idx="12"/>
          </p:nvPr>
        </p:nvSpPr>
        <p:spPr/>
        <p:txBody>
          <a:bodyPr/>
          <a:lstStyle/>
          <a:p>
            <a:fld id="{0A68DB68-8052-4758-A647-54338E95D837}" type="slidenum">
              <a:rPr lang="en-US" smtClean="0"/>
              <a:pPr/>
              <a:t>53</a:t>
            </a:fld>
            <a:endParaRPr lang="en-US" dirty="0"/>
          </a:p>
        </p:txBody>
      </p:sp>
      <p:pic>
        <p:nvPicPr>
          <p:cNvPr id="2050" name="Picture 2" descr="http://1.bp.blogspot.com/-bSufNbRjq_Q/VW8OPrXSRbI/AAAAAAAAAFk/8gzACMKPrnQ/s640/m.jpg">
            <a:extLst>
              <a:ext uri="{FF2B5EF4-FFF2-40B4-BE49-F238E27FC236}">
                <a16:creationId xmlns:a16="http://schemas.microsoft.com/office/drawing/2014/main" id="{C014374C-F399-4AB7-8053-828F10AA7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613" y="1709928"/>
            <a:ext cx="6657387" cy="5024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5138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7472"/>
            <a:ext cx="8229600" cy="990600"/>
          </a:xfrm>
        </p:spPr>
        <p:txBody>
          <a:bodyPr/>
          <a:lstStyle/>
          <a:p>
            <a:r>
              <a:rPr lang="en-US" dirty="0"/>
              <a:t>Case Study</a:t>
            </a:r>
          </a:p>
        </p:txBody>
      </p:sp>
      <p:sp>
        <p:nvSpPr>
          <p:cNvPr id="3" name="Content Placeholder 2"/>
          <p:cNvSpPr>
            <a:spLocks noGrp="1"/>
          </p:cNvSpPr>
          <p:nvPr>
            <p:ph idx="1"/>
          </p:nvPr>
        </p:nvSpPr>
        <p:spPr>
          <a:xfrm>
            <a:off x="381000" y="1295400"/>
            <a:ext cx="8229600" cy="5257800"/>
          </a:xfrm>
        </p:spPr>
        <p:txBody>
          <a:bodyPr>
            <a:normAutofit fontScale="85000" lnSpcReduction="20000"/>
          </a:bodyPr>
          <a:lstStyle/>
          <a:p>
            <a:pPr lvl="0" algn="just">
              <a:buClr>
                <a:srgbClr val="7A7A7A"/>
              </a:buClr>
            </a:pPr>
            <a:r>
              <a:rPr lang="en-US" sz="2600" dirty="0">
                <a:solidFill>
                  <a:srgbClr val="000000"/>
                </a:solidFill>
              </a:rPr>
              <a:t>Consider a mail order company that distributes CDs and tapes at discount prices to its members.</a:t>
            </a:r>
          </a:p>
          <a:p>
            <a:pPr lvl="0" algn="just">
              <a:buClr>
                <a:srgbClr val="7A7A7A"/>
              </a:buClr>
            </a:pPr>
            <a:r>
              <a:rPr lang="en-US" sz="2600" dirty="0">
                <a:solidFill>
                  <a:srgbClr val="000000"/>
                </a:solidFill>
              </a:rPr>
              <a:t>When an order processing clerk receives an order form, she verifies that the sender is a member by checking the MEMBER FILE.</a:t>
            </a:r>
          </a:p>
          <a:p>
            <a:pPr lvl="0" algn="just">
              <a:buClr>
                <a:srgbClr val="7A7A7A"/>
              </a:buClr>
            </a:pPr>
            <a:r>
              <a:rPr lang="en-US" sz="2600" dirty="0">
                <a:solidFill>
                  <a:srgbClr val="000000"/>
                </a:solidFill>
              </a:rPr>
              <a:t>If the sender is not a member, the clerk returns the order along with a membership application form.</a:t>
            </a:r>
          </a:p>
          <a:p>
            <a:pPr lvl="0" algn="just">
              <a:buClr>
                <a:srgbClr val="7A7A7A"/>
              </a:buClr>
            </a:pPr>
            <a:r>
              <a:rPr lang="en-US" sz="2600" dirty="0">
                <a:solidFill>
                  <a:srgbClr val="000000"/>
                </a:solidFill>
              </a:rPr>
              <a:t>If the customer is a member, the clerk verifies the order item data by checking the ITEM FILE.</a:t>
            </a:r>
          </a:p>
          <a:p>
            <a:pPr lvl="0" algn="just">
              <a:buClr>
                <a:srgbClr val="7A7A7A"/>
              </a:buClr>
            </a:pPr>
            <a:r>
              <a:rPr lang="en-US" sz="2600" dirty="0">
                <a:solidFill>
                  <a:srgbClr val="000000"/>
                </a:solidFill>
              </a:rPr>
              <a:t>Then the clerk enters the order data and saves it to the DAIILY ORDERS FILE.</a:t>
            </a:r>
          </a:p>
          <a:p>
            <a:pPr lvl="0" algn="just">
              <a:buClr>
                <a:srgbClr val="7A7A7A"/>
              </a:buClr>
            </a:pPr>
            <a:r>
              <a:rPr lang="en-US" sz="2600" dirty="0">
                <a:solidFill>
                  <a:srgbClr val="000000"/>
                </a:solidFill>
              </a:rPr>
              <a:t>At the same time the clerk also prints an invoice and shipping list for each order, which are forwarded to the ORDER FULFILLMENT DEPARTMENT for processing there.</a:t>
            </a:r>
          </a:p>
          <a:p>
            <a:pPr marL="0" lvl="0" indent="0" algn="just">
              <a:buClr>
                <a:srgbClr val="7A7A7A"/>
              </a:buClr>
              <a:buNone/>
            </a:pPr>
            <a:endParaRPr lang="en-US" sz="2600" dirty="0">
              <a:solidFill>
                <a:srgbClr val="000000"/>
              </a:solidFill>
            </a:endParaRPr>
          </a:p>
          <a:p>
            <a:pPr marL="0" lvl="0" indent="0" algn="just">
              <a:buClr>
                <a:srgbClr val="7A7A7A"/>
              </a:buClr>
              <a:buNone/>
            </a:pPr>
            <a:r>
              <a:rPr lang="en-GB" sz="2600" b="1" dirty="0">
                <a:solidFill>
                  <a:srgbClr val="000000"/>
                </a:solidFill>
              </a:rPr>
              <a:t>Develop the Context Level DFD and DFD Level 1 Diagram for the above scenario. </a:t>
            </a:r>
            <a:endParaRPr lang="en-US" sz="2600" b="1" dirty="0">
              <a:solidFill>
                <a:srgbClr val="000000"/>
              </a:solidFill>
            </a:endParaRPr>
          </a:p>
        </p:txBody>
      </p:sp>
      <p:sp>
        <p:nvSpPr>
          <p:cNvPr id="6" name="Slide Number Placeholder 5"/>
          <p:cNvSpPr>
            <a:spLocks noGrp="1"/>
          </p:cNvSpPr>
          <p:nvPr>
            <p:ph type="sldNum" sz="quarter" idx="12"/>
          </p:nvPr>
        </p:nvSpPr>
        <p:spPr/>
        <p:txBody>
          <a:bodyPr/>
          <a:lstStyle/>
          <a:p>
            <a:fld id="{0A68DB68-8052-4758-A647-54338E95D837}" type="slidenum">
              <a:rPr lang="en-US" smtClean="0"/>
              <a:pPr/>
              <a:t>54</a:t>
            </a:fld>
            <a:endParaRPr lang="en-US" dirty="0"/>
          </a:p>
        </p:txBody>
      </p:sp>
    </p:spTree>
    <p:extLst>
      <p:ext uri="{BB962C8B-B14F-4D97-AF65-F5344CB8AC3E}">
        <p14:creationId xmlns:p14="http://schemas.microsoft.com/office/powerpoint/2010/main" val="10040944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1472219324</TotalTime>
  <Pages>34</Pages>
  <Words>2527</Words>
  <Application>Microsoft Office PowerPoint</Application>
  <PresentationFormat>On-screen Show (4:3)</PresentationFormat>
  <Paragraphs>380</Paragraphs>
  <Slides>54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Times New Roman</vt:lpstr>
      <vt:lpstr>Wingdings</vt:lpstr>
      <vt:lpstr>Wingdings 3</vt:lpstr>
      <vt:lpstr>Clarity</vt:lpstr>
      <vt:lpstr>PowerPoint Presentation</vt:lpstr>
      <vt:lpstr>Beginnings of a Method</vt:lpstr>
      <vt:lpstr> Interaction Models </vt:lpstr>
      <vt:lpstr>UML Sequence Diagrams </vt:lpstr>
      <vt:lpstr>Sequence Diagram Key Parts </vt:lpstr>
      <vt:lpstr>Developing Sequence Diagrams</vt:lpstr>
      <vt:lpstr>Sequence Diagram Notation</vt:lpstr>
      <vt:lpstr>Sequence Diagram Notation</vt:lpstr>
      <vt:lpstr>Sequence Diagram Notation</vt:lpstr>
      <vt:lpstr>Sequence Diagram Notation</vt:lpstr>
      <vt:lpstr>Sequence Diagram Notation</vt:lpstr>
      <vt:lpstr>Case Study: Ride Booking System</vt:lpstr>
      <vt:lpstr>Step-by-Step Interaction</vt:lpstr>
      <vt:lpstr>PowerPoint Presentation</vt:lpstr>
      <vt:lpstr>Exercise - MediConnect </vt:lpstr>
      <vt:lpstr>PowerPoint Presentation</vt:lpstr>
      <vt:lpstr>Entity/Relationship Modelling</vt:lpstr>
      <vt:lpstr>Entity/Relationship Modelling</vt:lpstr>
      <vt:lpstr>Entity/Relationship Modelling</vt:lpstr>
      <vt:lpstr>Entity/Relationship Diagrams</vt:lpstr>
      <vt:lpstr>Entities</vt:lpstr>
      <vt:lpstr>Entities</vt:lpstr>
      <vt:lpstr>Attributes</vt:lpstr>
      <vt:lpstr>Diagramming Attributes</vt:lpstr>
      <vt:lpstr> Types of Attributes</vt:lpstr>
      <vt:lpstr>Types of Attributes</vt:lpstr>
      <vt:lpstr>Types of Attributes</vt:lpstr>
      <vt:lpstr>Relationships</vt:lpstr>
      <vt:lpstr>Cardinality Ratios</vt:lpstr>
      <vt:lpstr>Diagramming Relationships</vt:lpstr>
      <vt:lpstr>Making E/R Models</vt:lpstr>
      <vt:lpstr>Example</vt:lpstr>
      <vt:lpstr>PowerPoint Presentation</vt:lpstr>
      <vt:lpstr>Data Flow Diagram (DFD)</vt:lpstr>
      <vt:lpstr>The DFD Notation</vt:lpstr>
      <vt:lpstr>DFD Components</vt:lpstr>
      <vt:lpstr>DFD Components</vt:lpstr>
      <vt:lpstr>DFD Components</vt:lpstr>
      <vt:lpstr>DFD Components</vt:lpstr>
      <vt:lpstr>DFD Diagramming Rules (Process)</vt:lpstr>
      <vt:lpstr>DFD Diagramming Rules (Data Stores)</vt:lpstr>
      <vt:lpstr>DFD Diagramming Rules (Source/Sink)</vt:lpstr>
      <vt:lpstr>DFD Diagramming Rules (Dataflow)</vt:lpstr>
      <vt:lpstr>DFD Diagramming Rules (Dataflow)</vt:lpstr>
      <vt:lpstr>DFD Diagramming Rules (Dataflow)</vt:lpstr>
      <vt:lpstr>DFD Levels</vt:lpstr>
      <vt:lpstr>Context Diagram of Ride Booking App</vt:lpstr>
      <vt:lpstr>Level-1 DFD</vt:lpstr>
      <vt:lpstr>Case Study</vt:lpstr>
      <vt:lpstr>PowerPoint Presentation</vt:lpstr>
      <vt:lpstr>PowerPoint Presentation</vt:lpstr>
      <vt:lpstr>Context Diagram</vt:lpstr>
      <vt:lpstr>Level 1 DFD</vt:lpstr>
      <vt:lpstr>Case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Sequence Diagrams</dc:title>
  <dc:subject>Dynamic Modelling</dc:subject>
  <dc:creator>Ken Lunn</dc:creator>
  <cp:lastModifiedBy>Junaid .</cp:lastModifiedBy>
  <cp:revision>163</cp:revision>
  <cp:lastPrinted>2018-12-05T04:44:23Z</cp:lastPrinted>
  <dcterms:created xsi:type="dcterms:W3CDTF">1996-04-21T10:50:10Z</dcterms:created>
  <dcterms:modified xsi:type="dcterms:W3CDTF">2026-04-01T07:28:43Z</dcterms:modified>
</cp:coreProperties>
</file>