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0" r:id="rId1"/>
  </p:sldMasterIdLst>
  <p:notesMasterIdLst>
    <p:notesMasterId r:id="rId22"/>
  </p:notesMasterIdLst>
  <p:sldIdLst>
    <p:sldId id="292" r:id="rId2"/>
    <p:sldId id="258" r:id="rId3"/>
    <p:sldId id="304" r:id="rId4"/>
    <p:sldId id="264" r:id="rId5"/>
    <p:sldId id="265" r:id="rId6"/>
    <p:sldId id="266" r:id="rId7"/>
    <p:sldId id="268" r:id="rId8"/>
    <p:sldId id="269" r:id="rId9"/>
    <p:sldId id="298" r:id="rId10"/>
    <p:sldId id="271" r:id="rId11"/>
    <p:sldId id="307" r:id="rId12"/>
    <p:sldId id="314" r:id="rId13"/>
    <p:sldId id="274" r:id="rId14"/>
    <p:sldId id="315" r:id="rId15"/>
    <p:sldId id="275" r:id="rId16"/>
    <p:sldId id="276" r:id="rId17"/>
    <p:sldId id="365" r:id="rId18"/>
    <p:sldId id="299" r:id="rId19"/>
    <p:sldId id="278" r:id="rId20"/>
    <p:sldId id="300" r:id="rId21"/>
  </p:sldIdLst>
  <p:sldSz cx="9144000" cy="6858000" type="screen4x3"/>
  <p:notesSz cx="6858000" cy="9144000"/>
  <p:defaultTextStyle>
    <a:defPPr>
      <a:defRPr lang="en-GB"/>
    </a:defPPr>
    <a:lvl1pPr algn="l" defTabSz="457200" rtl="0" fontAlgn="base">
      <a:lnSpc>
        <a:spcPct val="95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57200" rtl="0" fontAlgn="base">
      <a:lnSpc>
        <a:spcPct val="95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57200" rtl="0" fontAlgn="base">
      <a:lnSpc>
        <a:spcPct val="95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57200" rtl="0" fontAlgn="base">
      <a:lnSpc>
        <a:spcPct val="95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57200" rtl="0" fontAlgn="base">
      <a:lnSpc>
        <a:spcPct val="95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42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Times New Roman" pitchFamily="16" charset="0"/>
            </a:endParaRPr>
          </a:p>
        </p:txBody>
      </p:sp>
      <p:sp>
        <p:nvSpPr>
          <p:cNvPr id="2050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en-US">
              <a:latin typeface="Times New Roman" pitchFamily="16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68625" cy="454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 b="1" smtClean="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3886200" y="0"/>
            <a:ext cx="2968625" cy="454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 b="1" smtClean="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8918" name="Rectangle 5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68825" cy="342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054" name="Rectangle 6"/>
          <p:cNvSpPr>
            <a:spLocks noGrp="1" noChangeArrowheads="1"/>
          </p:cNvSpPr>
          <p:nvPr>
            <p:ph type="body"/>
          </p:nvPr>
        </p:nvSpPr>
        <p:spPr bwMode="auto">
          <a:xfrm>
            <a:off x="914400" y="4343400"/>
            <a:ext cx="5026025" cy="411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ftr"/>
          </p:nvPr>
        </p:nvSpPr>
        <p:spPr bwMode="auto">
          <a:xfrm>
            <a:off x="0" y="8686800"/>
            <a:ext cx="2968625" cy="454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 b="1" smtClean="0">
                <a:solidFill>
                  <a:srgbClr val="000000"/>
                </a:solidFill>
                <a:latin typeface="Times New Roman" pitchFamily="16" charset="0"/>
                <a:ea typeface="Lucida Sans Unicode" charset="0"/>
                <a:cs typeface="Lucida Sans Unicode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sldNum"/>
          </p:nvPr>
        </p:nvSpPr>
        <p:spPr bwMode="auto">
          <a:xfrm>
            <a:off x="3886200" y="8686800"/>
            <a:ext cx="2968625" cy="454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 b="1">
                <a:solidFill>
                  <a:srgbClr val="000000"/>
                </a:solidFill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</a:lstStyle>
          <a:p>
            <a:fld id="{98BD38A9-BB31-469A-A0D1-8C7E45AD5A9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72757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98BD38A9-BB31-469A-A0D1-8C7E45AD5A90}" type="slidenum">
              <a:rPr lang="en-GB" altLang="en-US" smtClean="0"/>
              <a:pPr/>
              <a:t>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612610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/>
            <a:fld id="{E1863F17-C643-4B4B-9DF0-80B14C305C9A}" type="slidenum">
              <a:rPr lang="en-GB" altLang="en-US" sz="1200">
                <a:solidFill>
                  <a:srgbClr val="000000"/>
                </a:solidFill>
              </a:rPr>
              <a:pPr eaLnBrk="1" hangingPunct="1"/>
              <a:t>2</a:t>
            </a:fld>
            <a:endParaRPr lang="en-GB" altLang="en-US" sz="1200" dirty="0">
              <a:solidFill>
                <a:srgbClr val="000000"/>
              </a:solidFill>
            </a:endParaRPr>
          </a:p>
        </p:txBody>
      </p:sp>
      <p:sp>
        <p:nvSpPr>
          <p:cNvPr id="4198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335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/>
            <a:fld id="{03E2C0D1-27EB-4AA7-80ED-AF4835165CFB}" type="slidenum">
              <a:rPr lang="en-GB" altLang="en-US" sz="1200">
                <a:solidFill>
                  <a:srgbClr val="000000"/>
                </a:solidFill>
              </a:rPr>
              <a:pPr eaLnBrk="1" hangingPunct="1"/>
              <a:t>4</a:t>
            </a:fld>
            <a:endParaRPr lang="en-GB" altLang="en-US" sz="1200" dirty="0">
              <a:solidFill>
                <a:srgbClr val="000000"/>
              </a:solidFill>
            </a:endParaRPr>
          </a:p>
        </p:txBody>
      </p:sp>
      <p:sp>
        <p:nvSpPr>
          <p:cNvPr id="4813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976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/>
            <a:fld id="{D9F2E2FC-AD25-473E-90EE-B21167540F2C}" type="slidenum">
              <a:rPr lang="en-GB" altLang="en-US" sz="1200">
                <a:solidFill>
                  <a:srgbClr val="000000"/>
                </a:solidFill>
              </a:rPr>
              <a:pPr eaLnBrk="1" hangingPunct="1"/>
              <a:t>5</a:t>
            </a:fld>
            <a:endParaRPr lang="en-GB" altLang="en-US" sz="1200" dirty="0">
              <a:solidFill>
                <a:srgbClr val="000000"/>
              </a:solidFill>
            </a:endParaRPr>
          </a:p>
        </p:txBody>
      </p:sp>
      <p:sp>
        <p:nvSpPr>
          <p:cNvPr id="4915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8087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/>
            <a:fld id="{0E357942-3784-4AAF-87F7-1FEE9297FAB6}" type="slidenum">
              <a:rPr lang="en-GB" altLang="en-US" sz="1200">
                <a:solidFill>
                  <a:srgbClr val="000000"/>
                </a:solidFill>
              </a:rPr>
              <a:pPr eaLnBrk="1" hangingPunct="1"/>
              <a:t>6</a:t>
            </a:fld>
            <a:endParaRPr lang="en-GB" altLang="en-US" sz="1200" dirty="0">
              <a:solidFill>
                <a:srgbClr val="000000"/>
              </a:solidFill>
            </a:endParaRPr>
          </a:p>
        </p:txBody>
      </p:sp>
      <p:sp>
        <p:nvSpPr>
          <p:cNvPr id="5017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6251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/>
            <a:fld id="{4E8EBCCA-76B5-46FA-BF76-76B2B54C3D8E}" type="slidenum">
              <a:rPr lang="en-GB" altLang="en-US" sz="1200">
                <a:solidFill>
                  <a:srgbClr val="000000"/>
                </a:solidFill>
              </a:rPr>
              <a:pPr eaLnBrk="1" hangingPunct="1"/>
              <a:t>7</a:t>
            </a:fld>
            <a:endParaRPr lang="en-GB" altLang="en-US" sz="1200" dirty="0">
              <a:solidFill>
                <a:srgbClr val="000000"/>
              </a:solidFill>
            </a:endParaRPr>
          </a:p>
        </p:txBody>
      </p:sp>
      <p:sp>
        <p:nvSpPr>
          <p:cNvPr id="5222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5368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/>
            <a:fld id="{628FDC16-1B35-4880-AEC7-C1E8E07A761D}" type="slidenum">
              <a:rPr lang="en-GB" altLang="en-US" sz="1200">
                <a:solidFill>
                  <a:srgbClr val="000000"/>
                </a:solidFill>
              </a:rPr>
              <a:pPr eaLnBrk="1" hangingPunct="1"/>
              <a:t>8</a:t>
            </a:fld>
            <a:endParaRPr lang="en-GB" altLang="en-US" sz="1200" dirty="0">
              <a:solidFill>
                <a:srgbClr val="000000"/>
              </a:solidFill>
            </a:endParaRPr>
          </a:p>
        </p:txBody>
      </p:sp>
      <p:sp>
        <p:nvSpPr>
          <p:cNvPr id="5325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163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/>
            <a:fld id="{60B6FBFF-82C8-443D-9741-538F04CD02AB}" type="slidenum">
              <a:rPr lang="en-GB" altLang="en-US" sz="1200">
                <a:solidFill>
                  <a:srgbClr val="000000"/>
                </a:solidFill>
              </a:rPr>
              <a:pPr eaLnBrk="1" hangingPunct="1"/>
              <a:t>10</a:t>
            </a:fld>
            <a:endParaRPr lang="en-GB" altLang="en-US" sz="1200" dirty="0">
              <a:solidFill>
                <a:srgbClr val="000000"/>
              </a:solidFill>
            </a:endParaRPr>
          </a:p>
        </p:txBody>
      </p:sp>
      <p:sp>
        <p:nvSpPr>
          <p:cNvPr id="552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3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610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/>
            <a:fld id="{BA1C7F56-F3E6-47C5-A39B-3787B6DF18FF}" type="slidenum">
              <a:rPr lang="en-GB" altLang="en-US" sz="1200">
                <a:solidFill>
                  <a:srgbClr val="000000"/>
                </a:solidFill>
              </a:rPr>
              <a:pPr eaLnBrk="1" hangingPunct="1"/>
              <a:t>13</a:t>
            </a:fld>
            <a:endParaRPr lang="en-GB" altLang="en-US" sz="1200" dirty="0">
              <a:solidFill>
                <a:srgbClr val="000000"/>
              </a:solidFill>
            </a:endParaRPr>
          </a:p>
        </p:txBody>
      </p:sp>
      <p:sp>
        <p:nvSpPr>
          <p:cNvPr id="5837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747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/>
            <a:fld id="{89F2CCF7-922F-4FCA-AFFA-287E1865E9BE}" type="slidenum">
              <a:rPr lang="en-GB" altLang="en-US" sz="1200">
                <a:solidFill>
                  <a:srgbClr val="000000"/>
                </a:solidFill>
              </a:rPr>
              <a:pPr eaLnBrk="1" hangingPunct="1"/>
              <a:t>15</a:t>
            </a:fld>
            <a:endParaRPr lang="en-GB" altLang="en-US" sz="1200" dirty="0">
              <a:solidFill>
                <a:srgbClr val="000000"/>
              </a:solidFill>
            </a:endParaRPr>
          </a:p>
        </p:txBody>
      </p:sp>
      <p:sp>
        <p:nvSpPr>
          <p:cNvPr id="5939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9013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/>
            <a:fld id="{21DC78D4-2D61-415C-A401-EA5BF93350FD}" type="slidenum">
              <a:rPr lang="en-GB" altLang="en-US" sz="1200">
                <a:solidFill>
                  <a:srgbClr val="000000"/>
                </a:solidFill>
              </a:rPr>
              <a:pPr eaLnBrk="1" hangingPunct="1"/>
              <a:t>16</a:t>
            </a:fld>
            <a:endParaRPr lang="en-GB" altLang="en-US" sz="1200" dirty="0">
              <a:solidFill>
                <a:srgbClr val="000000"/>
              </a:solidFill>
            </a:endParaRPr>
          </a:p>
        </p:txBody>
      </p:sp>
      <p:sp>
        <p:nvSpPr>
          <p:cNvPr id="6041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070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8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/>
            <a:fld id="{74B484FD-1811-4A5B-B07D-C921C0FF4F97}" type="slidenum">
              <a:rPr lang="en-GB" altLang="en-US" sz="1200">
                <a:solidFill>
                  <a:srgbClr val="000000"/>
                </a:solidFill>
              </a:rPr>
              <a:pPr eaLnBrk="1" hangingPunct="1"/>
              <a:t>19</a:t>
            </a:fld>
            <a:endParaRPr lang="en-GB" altLang="en-US" sz="1200" dirty="0">
              <a:solidFill>
                <a:srgbClr val="000000"/>
              </a:solidFill>
            </a:endParaRPr>
          </a:p>
        </p:txBody>
      </p:sp>
      <p:sp>
        <p:nvSpPr>
          <p:cNvPr id="6246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521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0034EDE-DFA3-44E1-AC00-76F8F6951B12}" type="datetime1">
              <a:rPr lang="en-US" smtClean="0"/>
              <a:t>2/19/2026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20FC-8204-4FA5-B171-74B9E9DFA04F}" type="slidenum">
              <a:rPr lang="en-GB" altLang="en-US" smtClean="0"/>
              <a:pPr/>
              <a:t>‹#›</a:t>
            </a:fld>
            <a:endParaRPr lang="en-GB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580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5A5C21-0DB5-40EB-9D22-7E4B27B1A0F9}" type="datetime1">
              <a:rPr lang="en-US" smtClean="0"/>
              <a:t>2/19/2026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EFADE-8B23-4AE5-8EBB-C1DC3BD001A1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2003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330DF5-5915-4AE0-B761-51561A7C19DB}" type="datetime1">
              <a:rPr lang="en-US" smtClean="0"/>
              <a:t>2/19/2026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CD481-0665-4A23-B036-290E86908F8E}" type="slidenum">
              <a:rPr lang="en-GB" altLang="en-US" smtClean="0"/>
              <a:pPr/>
              <a:t>‹#›</a:t>
            </a:fld>
            <a:endParaRPr lang="en-GB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695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AAF7889-072E-4DF4-88ED-4E92EB4930DE}" type="datetime1">
              <a:rPr lang="en-US" smtClean="0"/>
              <a:t>2/19/2026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ACBC-307C-458D-93A9-BDB9D6505680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3719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7E448EA-E3A7-4A4A-BEC4-C84AC7B49A0B}" type="datetime1">
              <a:rPr lang="en-US" smtClean="0"/>
              <a:t>2/19/2026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70DE-EBD0-4D61-84A6-9EC9739A8231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7048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83B877-CD20-45B7-85FC-F884FCE39126}" type="datetime1">
              <a:rPr lang="en-US" smtClean="0"/>
              <a:t>2/19/2026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A46-25EB-42AC-9991-285AA533AAC4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3839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EA9A41-24F0-4494-B4C3-843083306B29}" type="datetime1">
              <a:rPr lang="en-US" smtClean="0"/>
              <a:t>2/19/2026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A554-D278-4C06-8E31-8DC5AFFD02A8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69933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78A204FA-04AB-473D-926B-E180DACA0EC9}" type="datetime1">
              <a:rPr lang="en-US" smtClean="0"/>
              <a:t>2/19/2026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975E6E3-13CF-4164-8CB9-4B116919193C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6520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D9213E3-AF95-43EA-9672-6439740C6C18}" type="datetime1">
              <a:rPr lang="en-US" smtClean="0"/>
              <a:t>2/19/2026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E8CB9-599D-4E17-A96E-22673FA72A30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970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C0A834A-47C3-4E95-8E09-09AFE7C2C0FE}" type="datetime1">
              <a:rPr lang="en-US" smtClean="0"/>
              <a:t>2/19/2026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5E33A-A210-4430-82F4-FE74DF379C1C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8662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289A8A-C6A5-40DD-8A64-2301B4D918E0}" type="datetime1">
              <a:rPr lang="en-US" smtClean="0"/>
              <a:t>2/19/2026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B5A9-1E97-4B6A-96AF-149B5C73ADDD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16622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69225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69225" cy="197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3213"/>
            <a:ext cx="7769225" cy="1979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8CCE1F-0507-4F1C-BD17-4A30219745E2}" type="datetime1">
              <a:rPr lang="en-US" smtClean="0"/>
              <a:t>2/19/2026</a:t>
            </a:fld>
            <a:endParaRPr lang="en-GB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47842B-CC62-45D2-B4C2-761729AB9164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35736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DAB54E6-611F-4BCD-8D4F-89224054472B}" type="datetime1">
              <a:rPr lang="en-US" smtClean="0"/>
              <a:t>2/19/2026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27469CB-904B-4AE9-9C2F-C68ECCCAE628}" type="slidenum">
              <a:rPr lang="en-GB" altLang="en-US" smtClean="0"/>
              <a:pPr/>
              <a:t>‹#›</a:t>
            </a:fld>
            <a:endParaRPr lang="en-GB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24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3" r:id="rId12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" y="758952"/>
            <a:ext cx="9067800" cy="3566160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800" dirty="0">
                <a:latin typeface="Times New Roman" pitchFamily="18" charset="0"/>
                <a:cs typeface="Times New Roman" pitchFamily="18" charset="0"/>
              </a:rPr>
            </a:br>
            <a:br>
              <a:rPr lang="en-US" sz="4800" dirty="0">
                <a:latin typeface="Times New Roman" pitchFamily="18" charset="0"/>
                <a:cs typeface="Times New Roman" pitchFamily="18" charset="0"/>
              </a:rPr>
            </a:br>
            <a:br>
              <a:rPr lang="en-US" sz="4800" dirty="0">
                <a:latin typeface="Times New Roman" pitchFamily="18" charset="0"/>
                <a:cs typeface="Times New Roman" pitchFamily="18" charset="0"/>
              </a:rPr>
            </a:br>
            <a:br>
              <a:rPr lang="en-US" sz="4800" dirty="0">
                <a:latin typeface="Times New Roman" pitchFamily="18" charset="0"/>
                <a:cs typeface="Times New Roman" pitchFamily="18" charset="0"/>
              </a:rPr>
            </a:br>
            <a:br>
              <a:rPr lang="en-US" sz="4800" dirty="0">
                <a:latin typeface="Times New Roman" pitchFamily="18" charset="0"/>
                <a:cs typeface="Times New Roman" pitchFamily="18" charset="0"/>
              </a:rPr>
            </a:br>
            <a:r>
              <a:rPr lang="en-US" sz="4000" dirty="0">
                <a:solidFill>
                  <a:srgbClr val="C00000"/>
                </a:solidFill>
                <a:cs typeface="Times New Roman" pitchFamily="18" charset="0"/>
              </a:rPr>
              <a:t>CSSE3113 – </a:t>
            </a:r>
            <a:r>
              <a:rPr lang="en-US" sz="4000" cap="none" dirty="0">
                <a:solidFill>
                  <a:srgbClr val="C00000"/>
                </a:solidFill>
                <a:cs typeface="Times New Roman" pitchFamily="18" charset="0"/>
              </a:rPr>
              <a:t>Introduction to Software Engineering </a:t>
            </a:r>
            <a:br>
              <a:rPr lang="en-US" sz="4800" cap="none" dirty="0">
                <a:solidFill>
                  <a:srgbClr val="C00000"/>
                </a:solidFill>
                <a:cs typeface="Times New Roman" pitchFamily="18" charset="0"/>
              </a:rPr>
            </a:br>
            <a:br>
              <a:rPr lang="en-US" altLang="en-US" sz="4400" dirty="0">
                <a:latin typeface="Arial" panose="020B0604020202020204" pitchFamily="34" charset="0"/>
              </a:rPr>
            </a:b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altLang="en-US" sz="3600" dirty="0">
                <a:latin typeface="Arial" panose="020B0604020202020204" pitchFamily="34" charset="0"/>
              </a:rPr>
              <a:t>Software Project Scheduling</a:t>
            </a:r>
            <a:endParaRPr lang="en-US" sz="4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A357B6-8324-429C-9465-2AA24822EB51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20FC-8204-4FA5-B171-74B9E9DFA04F}" type="slidenum">
              <a:rPr lang="en-GB" altLang="en-US" smtClean="0"/>
              <a:pPr/>
              <a:t>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7489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CCFF"/>
            </a:gs>
            <a:gs pos="50000">
              <a:srgbClr val="FFFFFF"/>
            </a:gs>
            <a:gs pos="100000">
              <a:srgbClr val="CCCCFF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234950"/>
            <a:ext cx="7772400" cy="14351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 dirty="0"/>
              <a:t>Eight Reasons for Late Software Delivery</a:t>
            </a:r>
          </a:p>
        </p:txBody>
      </p:sp>
      <p:sp>
        <p:nvSpPr>
          <p:cNvPr id="4100" name="Rectangle 2"/>
          <p:cNvSpPr>
            <a:spLocks noGrp="1" noChangeArrowheads="1"/>
          </p:cNvSpPr>
          <p:nvPr>
            <p:ph idx="1"/>
          </p:nvPr>
        </p:nvSpPr>
        <p:spPr>
          <a:xfrm>
            <a:off x="533400" y="1828800"/>
            <a:ext cx="8382000" cy="4495800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720725" algn="l"/>
                <a:tab pos="1177925" algn="l"/>
                <a:tab pos="1635125" algn="l"/>
                <a:tab pos="2092325" algn="l"/>
                <a:tab pos="2549525" algn="l"/>
                <a:tab pos="3006725" algn="l"/>
                <a:tab pos="3463925" algn="l"/>
                <a:tab pos="3921125" algn="l"/>
                <a:tab pos="4378325" algn="l"/>
                <a:tab pos="4835525" algn="l"/>
                <a:tab pos="5292725" algn="l"/>
                <a:tab pos="5749925" algn="l"/>
                <a:tab pos="6207125" algn="l"/>
                <a:tab pos="6664325" algn="l"/>
                <a:tab pos="7121525" algn="l"/>
                <a:tab pos="7578725" algn="l"/>
                <a:tab pos="8035925" algn="l"/>
                <a:tab pos="8493125" algn="l"/>
                <a:tab pos="8950325" algn="l"/>
                <a:tab pos="9407525" algn="l"/>
              </a:tabLst>
            </a:pPr>
            <a:r>
              <a:rPr lang="en-US" altLang="en-US" sz="2400" dirty="0"/>
              <a:t>An </a:t>
            </a:r>
            <a:r>
              <a:rPr lang="en-US" altLang="en-US" sz="2400" u="sng" dirty="0">
                <a:solidFill>
                  <a:schemeClr val="accent2"/>
                </a:solidFill>
              </a:rPr>
              <a:t>unrealistic deadline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established by someone outside the software engineering group and forced on managers and practitioners within the group</a:t>
            </a:r>
          </a:p>
          <a:p>
            <a:pPr algn="just" ea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720725" algn="l"/>
                <a:tab pos="1177925" algn="l"/>
                <a:tab pos="1635125" algn="l"/>
                <a:tab pos="2092325" algn="l"/>
                <a:tab pos="2549525" algn="l"/>
                <a:tab pos="3006725" algn="l"/>
                <a:tab pos="3463925" algn="l"/>
                <a:tab pos="3921125" algn="l"/>
                <a:tab pos="4378325" algn="l"/>
                <a:tab pos="4835525" algn="l"/>
                <a:tab pos="5292725" algn="l"/>
                <a:tab pos="5749925" algn="l"/>
                <a:tab pos="6207125" algn="l"/>
                <a:tab pos="6664325" algn="l"/>
                <a:tab pos="7121525" algn="l"/>
                <a:tab pos="7578725" algn="l"/>
                <a:tab pos="8035925" algn="l"/>
                <a:tab pos="8493125" algn="l"/>
                <a:tab pos="8950325" algn="l"/>
                <a:tab pos="9407525" algn="l"/>
              </a:tabLst>
            </a:pPr>
            <a:r>
              <a:rPr lang="en-US" altLang="en-US" sz="2400" u="sng" dirty="0">
                <a:solidFill>
                  <a:schemeClr val="accent2"/>
                </a:solidFill>
              </a:rPr>
              <a:t>Changing customer requirements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that are not reflected in schedule changes</a:t>
            </a:r>
          </a:p>
          <a:p>
            <a:pPr algn="just" ea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720725" algn="l"/>
                <a:tab pos="1177925" algn="l"/>
                <a:tab pos="1635125" algn="l"/>
                <a:tab pos="2092325" algn="l"/>
                <a:tab pos="2549525" algn="l"/>
                <a:tab pos="3006725" algn="l"/>
                <a:tab pos="3463925" algn="l"/>
                <a:tab pos="3921125" algn="l"/>
                <a:tab pos="4378325" algn="l"/>
                <a:tab pos="4835525" algn="l"/>
                <a:tab pos="5292725" algn="l"/>
                <a:tab pos="5749925" algn="l"/>
                <a:tab pos="6207125" algn="l"/>
                <a:tab pos="6664325" algn="l"/>
                <a:tab pos="7121525" algn="l"/>
                <a:tab pos="7578725" algn="l"/>
                <a:tab pos="8035925" algn="l"/>
                <a:tab pos="8493125" algn="l"/>
                <a:tab pos="8950325" algn="l"/>
                <a:tab pos="9407525" algn="l"/>
              </a:tabLst>
            </a:pPr>
            <a:r>
              <a:rPr lang="en-US" altLang="en-US" sz="2400" dirty="0"/>
              <a:t>An </a:t>
            </a:r>
            <a:r>
              <a:rPr lang="en-US" altLang="en-US" sz="2400" u="sng" dirty="0">
                <a:solidFill>
                  <a:schemeClr val="accent2"/>
                </a:solidFill>
              </a:rPr>
              <a:t>honest underestimate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of the amount of </a:t>
            </a:r>
            <a:r>
              <a:rPr lang="en-US" altLang="en-US" sz="2400" u="sng" dirty="0">
                <a:solidFill>
                  <a:schemeClr val="accent2"/>
                </a:solidFill>
              </a:rPr>
              <a:t>effort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and /or the number of </a:t>
            </a:r>
            <a:r>
              <a:rPr lang="en-US" altLang="en-US" sz="2400" u="sng" dirty="0">
                <a:solidFill>
                  <a:schemeClr val="accent2"/>
                </a:solidFill>
              </a:rPr>
              <a:t>resources</a:t>
            </a:r>
            <a:r>
              <a:rPr lang="en-US" altLang="en-US" sz="2400" dirty="0"/>
              <a:t> that will be required to do the job</a:t>
            </a:r>
          </a:p>
          <a:p>
            <a:pPr algn="just" eaLnBrk="1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720725" algn="l"/>
                <a:tab pos="1177925" algn="l"/>
                <a:tab pos="1635125" algn="l"/>
                <a:tab pos="2092325" algn="l"/>
                <a:tab pos="2549525" algn="l"/>
                <a:tab pos="3006725" algn="l"/>
                <a:tab pos="3463925" algn="l"/>
                <a:tab pos="3921125" algn="l"/>
                <a:tab pos="4378325" algn="l"/>
                <a:tab pos="4835525" algn="l"/>
                <a:tab pos="5292725" algn="l"/>
                <a:tab pos="5749925" algn="l"/>
                <a:tab pos="6207125" algn="l"/>
                <a:tab pos="6664325" algn="l"/>
                <a:tab pos="7121525" algn="l"/>
                <a:tab pos="7578725" algn="l"/>
                <a:tab pos="8035925" algn="l"/>
                <a:tab pos="8493125" algn="l"/>
                <a:tab pos="8950325" algn="l"/>
                <a:tab pos="9407525" algn="l"/>
              </a:tabLst>
            </a:pPr>
            <a:r>
              <a:rPr lang="en-US" altLang="en-US" sz="2400" dirty="0"/>
              <a:t>Predictable and/or unpredictable </a:t>
            </a:r>
            <a:r>
              <a:rPr lang="en-US" altLang="en-US" sz="2400" u="sng" dirty="0">
                <a:solidFill>
                  <a:schemeClr val="accent2"/>
                </a:solidFill>
              </a:rPr>
              <a:t>risks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that were </a:t>
            </a:r>
            <a:r>
              <a:rPr lang="en-US" altLang="en-US" sz="2400" u="sng" dirty="0">
                <a:solidFill>
                  <a:schemeClr val="accent2"/>
                </a:solidFill>
              </a:rPr>
              <a:t>not considered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when the project commenced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A03BF3-0E49-4472-B72A-94FEEDFDC35B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EFADE-8B23-4AE5-8EBB-C1DC3BD001A1}" type="slidenum">
              <a:rPr lang="en-GB" altLang="en-US" smtClean="0"/>
              <a:pPr/>
              <a:t>2</a:t>
            </a:fld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234950"/>
            <a:ext cx="7772400" cy="14351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 dirty="0"/>
              <a:t>Eight Reasons for Late Software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720725" algn="l"/>
                <a:tab pos="1177925" algn="l"/>
                <a:tab pos="1635125" algn="l"/>
                <a:tab pos="2092325" algn="l"/>
                <a:tab pos="2549525" algn="l"/>
                <a:tab pos="3006725" algn="l"/>
                <a:tab pos="3463925" algn="l"/>
                <a:tab pos="3921125" algn="l"/>
                <a:tab pos="4378325" algn="l"/>
                <a:tab pos="4835525" algn="l"/>
                <a:tab pos="5292725" algn="l"/>
                <a:tab pos="5749925" algn="l"/>
                <a:tab pos="6207125" algn="l"/>
                <a:tab pos="6664325" algn="l"/>
                <a:tab pos="7121525" algn="l"/>
                <a:tab pos="7578725" algn="l"/>
                <a:tab pos="8035925" algn="l"/>
                <a:tab pos="8493125" algn="l"/>
                <a:tab pos="8950325" algn="l"/>
                <a:tab pos="9407525" algn="l"/>
              </a:tabLst>
            </a:pPr>
            <a:r>
              <a:rPr lang="en-US" altLang="en-US" sz="2400" u="sng" dirty="0">
                <a:solidFill>
                  <a:schemeClr val="accent2"/>
                </a:solidFill>
              </a:rPr>
              <a:t>Technical difficulties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that could </a:t>
            </a:r>
            <a:r>
              <a:rPr lang="en-US" altLang="en-US" sz="2400" u="sng" dirty="0">
                <a:solidFill>
                  <a:schemeClr val="accent2"/>
                </a:solidFill>
              </a:rPr>
              <a:t>not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have been </a:t>
            </a:r>
            <a:r>
              <a:rPr lang="en-US" altLang="en-US" sz="2400" u="sng" dirty="0">
                <a:solidFill>
                  <a:schemeClr val="accent2"/>
                </a:solidFill>
              </a:rPr>
              <a:t>foreseen</a:t>
            </a:r>
            <a:r>
              <a:rPr lang="en-US" altLang="en-US" sz="2400" dirty="0"/>
              <a:t> in advance</a:t>
            </a:r>
          </a:p>
          <a:p>
            <a:pPr algn="just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720725" algn="l"/>
                <a:tab pos="1177925" algn="l"/>
                <a:tab pos="1635125" algn="l"/>
                <a:tab pos="2092325" algn="l"/>
                <a:tab pos="2549525" algn="l"/>
                <a:tab pos="3006725" algn="l"/>
                <a:tab pos="3463925" algn="l"/>
                <a:tab pos="3921125" algn="l"/>
                <a:tab pos="4378325" algn="l"/>
                <a:tab pos="4835525" algn="l"/>
                <a:tab pos="5292725" algn="l"/>
                <a:tab pos="5749925" algn="l"/>
                <a:tab pos="6207125" algn="l"/>
                <a:tab pos="6664325" algn="l"/>
                <a:tab pos="7121525" algn="l"/>
                <a:tab pos="7578725" algn="l"/>
                <a:tab pos="8035925" algn="l"/>
                <a:tab pos="8493125" algn="l"/>
                <a:tab pos="8950325" algn="l"/>
                <a:tab pos="9407525" algn="l"/>
              </a:tabLst>
            </a:pPr>
            <a:r>
              <a:rPr lang="en-US" altLang="en-US" sz="2400" u="sng" dirty="0">
                <a:solidFill>
                  <a:schemeClr val="accent2"/>
                </a:solidFill>
              </a:rPr>
              <a:t>Human difficulties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that could </a:t>
            </a:r>
            <a:r>
              <a:rPr lang="en-US" altLang="en-US" sz="2400" u="sng" dirty="0">
                <a:solidFill>
                  <a:schemeClr val="accent2"/>
                </a:solidFill>
              </a:rPr>
              <a:t>not</a:t>
            </a:r>
            <a:r>
              <a:rPr lang="en-US" altLang="en-US" sz="2400" dirty="0"/>
              <a:t> have been </a:t>
            </a:r>
            <a:r>
              <a:rPr lang="en-US" altLang="en-US" sz="2400" u="sng" dirty="0">
                <a:solidFill>
                  <a:schemeClr val="accent2"/>
                </a:solidFill>
              </a:rPr>
              <a:t>foreseen</a:t>
            </a:r>
            <a:r>
              <a:rPr lang="en-US" altLang="en-US" sz="2400" dirty="0"/>
              <a:t> in advance</a:t>
            </a:r>
          </a:p>
          <a:p>
            <a:pPr algn="just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720725" algn="l"/>
                <a:tab pos="1177925" algn="l"/>
                <a:tab pos="1635125" algn="l"/>
                <a:tab pos="2092325" algn="l"/>
                <a:tab pos="2549525" algn="l"/>
                <a:tab pos="3006725" algn="l"/>
                <a:tab pos="3463925" algn="l"/>
                <a:tab pos="3921125" algn="l"/>
                <a:tab pos="4378325" algn="l"/>
                <a:tab pos="4835525" algn="l"/>
                <a:tab pos="5292725" algn="l"/>
                <a:tab pos="5749925" algn="l"/>
                <a:tab pos="6207125" algn="l"/>
                <a:tab pos="6664325" algn="l"/>
                <a:tab pos="7121525" algn="l"/>
                <a:tab pos="7578725" algn="l"/>
                <a:tab pos="8035925" algn="l"/>
                <a:tab pos="8493125" algn="l"/>
                <a:tab pos="8950325" algn="l"/>
                <a:tab pos="9407525" algn="l"/>
              </a:tabLst>
            </a:pPr>
            <a:r>
              <a:rPr lang="en-US" altLang="en-US" sz="2400" u="sng" dirty="0">
                <a:solidFill>
                  <a:schemeClr val="accent2"/>
                </a:solidFill>
              </a:rPr>
              <a:t>Miscommunication</a:t>
            </a:r>
            <a:r>
              <a:rPr lang="en-US" altLang="en-US" sz="2400" dirty="0"/>
              <a:t> among project staff that results in delays</a:t>
            </a:r>
          </a:p>
          <a:p>
            <a:pPr algn="just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tabLst>
                <a:tab pos="720725" algn="l"/>
                <a:tab pos="1177925" algn="l"/>
                <a:tab pos="1635125" algn="l"/>
                <a:tab pos="2092325" algn="l"/>
                <a:tab pos="2549525" algn="l"/>
                <a:tab pos="3006725" algn="l"/>
                <a:tab pos="3463925" algn="l"/>
                <a:tab pos="3921125" algn="l"/>
                <a:tab pos="4378325" algn="l"/>
                <a:tab pos="4835525" algn="l"/>
                <a:tab pos="5292725" algn="l"/>
                <a:tab pos="5749925" algn="l"/>
                <a:tab pos="6207125" algn="l"/>
                <a:tab pos="6664325" algn="l"/>
                <a:tab pos="7121525" algn="l"/>
                <a:tab pos="7578725" algn="l"/>
                <a:tab pos="8035925" algn="l"/>
                <a:tab pos="8493125" algn="l"/>
                <a:tab pos="8950325" algn="l"/>
                <a:tab pos="9407525" algn="l"/>
              </a:tabLst>
            </a:pPr>
            <a:r>
              <a:rPr lang="en-US" altLang="en-US" sz="2400" dirty="0"/>
              <a:t>A </a:t>
            </a:r>
            <a:r>
              <a:rPr lang="en-US" altLang="en-US" sz="2400" u="sng" dirty="0">
                <a:solidFill>
                  <a:schemeClr val="accent2"/>
                </a:solidFill>
              </a:rPr>
              <a:t>failure by project management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to recognize that the project is falling behind schedule and a </a:t>
            </a:r>
            <a:r>
              <a:rPr lang="en-US" altLang="en-US" sz="2400" u="sng" dirty="0">
                <a:solidFill>
                  <a:schemeClr val="accent2"/>
                </a:solidFill>
              </a:rPr>
              <a:t>lack of action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to correct the problem</a:t>
            </a:r>
          </a:p>
          <a:p>
            <a:endParaRPr 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963CDF-22FA-4154-A672-B0CD1F9274B8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EFADE-8B23-4AE5-8EBB-C1DC3BD001A1}" type="slidenum">
              <a:rPr lang="en-GB" altLang="en-US" smtClean="0"/>
              <a:pPr/>
              <a:t>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5809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CCFF"/>
            </a:gs>
            <a:gs pos="50000">
              <a:srgbClr val="FFFFFF"/>
            </a:gs>
            <a:gs pos="100000">
              <a:srgbClr val="CCCCFF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241300"/>
            <a:ext cx="7772400" cy="14351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/>
              <a:t>Basic Principles for Project Scheduling</a:t>
            </a:r>
          </a:p>
        </p:txBody>
      </p:sp>
      <p:sp>
        <p:nvSpPr>
          <p:cNvPr id="10244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8229600" cy="4495800"/>
          </a:xfrm>
        </p:spPr>
        <p:txBody>
          <a:bodyPr>
            <a:normAutofit lnSpcReduction="10000"/>
          </a:bodyPr>
          <a:lstStyle/>
          <a:p>
            <a:pPr marL="339725" indent="-339725" algn="just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b="1" dirty="0"/>
              <a:t>Compartmentalization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dirty="0"/>
              <a:t>The project must be compartmentalized into </a:t>
            </a:r>
            <a:r>
              <a:rPr lang="en-US" altLang="en-US" sz="1800" u="sng" dirty="0">
                <a:solidFill>
                  <a:schemeClr val="accent2"/>
                </a:solidFill>
              </a:rPr>
              <a:t>a number of manageable activities, actions, and tasks</a:t>
            </a:r>
            <a:r>
              <a:rPr lang="en-US" altLang="en-US" sz="1800" dirty="0"/>
              <a:t>; both the product and the process are decomposed</a:t>
            </a:r>
          </a:p>
          <a:p>
            <a:pPr marL="339725" indent="-339725" algn="just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b="1" dirty="0"/>
              <a:t>Interdependency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dirty="0"/>
              <a:t>The </a:t>
            </a:r>
            <a:r>
              <a:rPr lang="en-US" altLang="en-US" sz="1800" u="sng" dirty="0">
                <a:solidFill>
                  <a:schemeClr val="accent2"/>
                </a:solidFill>
              </a:rPr>
              <a:t>interdependency</a:t>
            </a:r>
            <a:r>
              <a:rPr lang="en-US" altLang="en-US" sz="1800" dirty="0"/>
              <a:t> of each compartmentalized activity, action, or task must be </a:t>
            </a:r>
            <a:r>
              <a:rPr lang="en-US" altLang="en-US" sz="1800" u="sng" dirty="0">
                <a:solidFill>
                  <a:schemeClr val="accent2"/>
                </a:solidFill>
              </a:rPr>
              <a:t>determined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dirty="0"/>
              <a:t>Some tasks must occur </a:t>
            </a:r>
            <a:r>
              <a:rPr lang="en-US" altLang="en-US" sz="1800" u="sng" dirty="0">
                <a:solidFill>
                  <a:schemeClr val="accent2"/>
                </a:solidFill>
              </a:rPr>
              <a:t>in sequence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while others can occur </a:t>
            </a:r>
            <a:r>
              <a:rPr lang="en-US" altLang="en-US" sz="1800" u="sng" dirty="0">
                <a:solidFill>
                  <a:schemeClr val="accent2"/>
                </a:solidFill>
              </a:rPr>
              <a:t>in parallel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dirty="0"/>
              <a:t>Some actions or activities </a:t>
            </a:r>
            <a:r>
              <a:rPr lang="en-US" altLang="en-US" sz="1800" u="sng" dirty="0">
                <a:solidFill>
                  <a:schemeClr val="accent2"/>
                </a:solidFill>
              </a:rPr>
              <a:t>cannot commence until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the work product produced by another is available</a:t>
            </a:r>
          </a:p>
          <a:p>
            <a:pPr marL="339725" indent="-339725" algn="just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b="1" dirty="0"/>
              <a:t>Time allocation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dirty="0"/>
              <a:t>Each task to be scheduled must be </a:t>
            </a:r>
            <a:r>
              <a:rPr lang="en-US" altLang="en-US" sz="1800" u="sng" dirty="0">
                <a:solidFill>
                  <a:schemeClr val="accent2"/>
                </a:solidFill>
              </a:rPr>
              <a:t>allocated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some number of </a:t>
            </a:r>
            <a:r>
              <a:rPr lang="en-US" altLang="en-US" sz="1800" u="sng" dirty="0">
                <a:solidFill>
                  <a:schemeClr val="accent2"/>
                </a:solidFill>
              </a:rPr>
              <a:t>work units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dirty="0"/>
              <a:t>In addition, </a:t>
            </a:r>
            <a:r>
              <a:rPr lang="en-US" altLang="en-US" sz="1800" u="sng" dirty="0">
                <a:solidFill>
                  <a:schemeClr val="accent2"/>
                </a:solidFill>
              </a:rPr>
              <a:t>each task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must be assigned a </a:t>
            </a:r>
            <a:r>
              <a:rPr lang="en-US" altLang="en-US" sz="1800" u="sng" dirty="0">
                <a:solidFill>
                  <a:schemeClr val="accent2"/>
                </a:solidFill>
              </a:rPr>
              <a:t>start date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and a </a:t>
            </a:r>
            <a:r>
              <a:rPr lang="en-US" altLang="en-US" sz="1800" u="sng" dirty="0">
                <a:solidFill>
                  <a:schemeClr val="accent2"/>
                </a:solidFill>
              </a:rPr>
              <a:t>completion date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that are a function of the interdependencies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dirty="0"/>
              <a:t>Start and stop dates are also established based on whether work will be conducted on a </a:t>
            </a:r>
            <a:r>
              <a:rPr lang="en-US" altLang="en-US" sz="1800" u="sng" dirty="0">
                <a:solidFill>
                  <a:schemeClr val="accent2"/>
                </a:solidFill>
              </a:rPr>
              <a:t>full-time</a:t>
            </a:r>
            <a:r>
              <a:rPr lang="en-US" altLang="en-US" sz="1800" dirty="0"/>
              <a:t> or </a:t>
            </a:r>
            <a:r>
              <a:rPr lang="en-US" altLang="en-US" sz="1800" u="sng" dirty="0">
                <a:solidFill>
                  <a:schemeClr val="accent2"/>
                </a:solidFill>
              </a:rPr>
              <a:t>part-time</a:t>
            </a:r>
            <a:r>
              <a:rPr lang="en-US" altLang="en-US" sz="1800" u="sng" dirty="0"/>
              <a:t> </a:t>
            </a:r>
            <a:r>
              <a:rPr lang="en-US" altLang="en-US" sz="1800" dirty="0"/>
              <a:t>basis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EFFC2F-F2EB-46F9-A2A4-24C302872004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EFADE-8B23-4AE5-8EBB-C1DC3BD001A1}" type="slidenum">
              <a:rPr lang="en-GB" altLang="en-US" smtClean="0"/>
              <a:pPr/>
              <a:t>4</a:t>
            </a:fld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CCFF"/>
            </a:gs>
            <a:gs pos="50000">
              <a:srgbClr val="FFFFFF"/>
            </a:gs>
            <a:gs pos="100000">
              <a:srgbClr val="CCCCFF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241300"/>
            <a:ext cx="7772400" cy="14351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4000" dirty="0"/>
              <a:t>Basic Principles for Project Scheduling </a:t>
            </a:r>
            <a:endParaRPr lang="en-US" altLang="en-US" sz="2400" dirty="0"/>
          </a:p>
        </p:txBody>
      </p:sp>
      <p:sp>
        <p:nvSpPr>
          <p:cNvPr id="11268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831975"/>
            <a:ext cx="7772400" cy="4492625"/>
          </a:xfrm>
        </p:spPr>
        <p:txBody>
          <a:bodyPr>
            <a:normAutofit fontScale="92500" lnSpcReduction="10000"/>
          </a:bodyPr>
          <a:lstStyle/>
          <a:p>
            <a:pPr marL="339725" indent="-339725" algn="just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b="1" dirty="0"/>
              <a:t>Effort validation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dirty="0"/>
              <a:t>Every project has a defined number of people on the team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dirty="0"/>
              <a:t>As time allocation occurs, the project manager must ensure that </a:t>
            </a:r>
            <a:r>
              <a:rPr lang="en-US" altLang="en-US" sz="1800" u="sng" dirty="0">
                <a:solidFill>
                  <a:schemeClr val="accent2"/>
                </a:solidFill>
              </a:rPr>
              <a:t>no more than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the allocated number of </a:t>
            </a:r>
            <a:r>
              <a:rPr lang="en-US" altLang="en-US" sz="1800" u="sng" dirty="0">
                <a:solidFill>
                  <a:schemeClr val="accent2"/>
                </a:solidFill>
              </a:rPr>
              <a:t>people</a:t>
            </a:r>
            <a:r>
              <a:rPr lang="en-US" altLang="en-US" sz="1800" dirty="0"/>
              <a:t> have been scheduled at any given time</a:t>
            </a:r>
          </a:p>
          <a:p>
            <a:pPr marL="339725" indent="-339725" algn="just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b="1" dirty="0"/>
              <a:t>Defined responsibilities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u="sng" dirty="0">
                <a:solidFill>
                  <a:schemeClr val="accent2"/>
                </a:solidFill>
              </a:rPr>
              <a:t>Every task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that is scheduled should be assigned to a specific </a:t>
            </a:r>
            <a:r>
              <a:rPr lang="en-US" altLang="en-US" sz="1800" u="sng" dirty="0">
                <a:solidFill>
                  <a:schemeClr val="accent2"/>
                </a:solidFill>
              </a:rPr>
              <a:t>team member</a:t>
            </a:r>
          </a:p>
          <a:p>
            <a:pPr marL="339725" indent="-339725" algn="just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b="1" dirty="0"/>
              <a:t>Defined outcomes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u="sng" dirty="0">
                <a:solidFill>
                  <a:schemeClr val="accent2"/>
                </a:solidFill>
              </a:rPr>
              <a:t>Every task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that is scheduled should have a </a:t>
            </a:r>
            <a:r>
              <a:rPr lang="en-US" altLang="en-US" sz="1800" u="sng" dirty="0">
                <a:solidFill>
                  <a:schemeClr val="accent2"/>
                </a:solidFill>
              </a:rPr>
              <a:t>defined outcome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for software projects such as a work product or part of a work product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dirty="0"/>
              <a:t>Work products are often </a:t>
            </a:r>
            <a:r>
              <a:rPr lang="en-US" altLang="en-US" sz="1800" u="sng" dirty="0">
                <a:solidFill>
                  <a:schemeClr val="accent2"/>
                </a:solidFill>
              </a:rPr>
              <a:t>combined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in deliverables</a:t>
            </a:r>
          </a:p>
          <a:p>
            <a:pPr marL="339725" indent="-339725" algn="just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b="1" dirty="0"/>
              <a:t>Defined milestones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u="sng" dirty="0">
                <a:solidFill>
                  <a:schemeClr val="accent2"/>
                </a:solidFill>
              </a:rPr>
              <a:t>Every task or group</a:t>
            </a:r>
            <a:r>
              <a:rPr lang="en-US" altLang="en-US" sz="1800" dirty="0">
                <a:solidFill>
                  <a:schemeClr val="accent2"/>
                </a:solidFill>
              </a:rPr>
              <a:t> </a:t>
            </a:r>
            <a:r>
              <a:rPr lang="en-US" altLang="en-US" sz="1800" dirty="0"/>
              <a:t>of tasks should be associated with a </a:t>
            </a:r>
            <a:r>
              <a:rPr lang="en-US" altLang="en-US" sz="1800" u="sng" dirty="0">
                <a:solidFill>
                  <a:schemeClr val="accent2"/>
                </a:solidFill>
              </a:rPr>
              <a:t>project milestone</a:t>
            </a:r>
          </a:p>
          <a:p>
            <a:pPr marL="739775" lvl="1" indent="-282575" algn="just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1800" dirty="0"/>
              <a:t>A milestone is accomplished when one or more work products has been </a:t>
            </a:r>
            <a:r>
              <a:rPr lang="en-US" altLang="en-US" sz="1800" u="sng" dirty="0">
                <a:solidFill>
                  <a:schemeClr val="accent2"/>
                </a:solidFill>
              </a:rPr>
              <a:t>reviewed</a:t>
            </a:r>
            <a:r>
              <a:rPr lang="en-US" altLang="en-US" sz="1800" dirty="0"/>
              <a:t> for quality and has been </a:t>
            </a:r>
            <a:r>
              <a:rPr lang="en-US" altLang="en-US" sz="1800" u="sng" dirty="0">
                <a:solidFill>
                  <a:schemeClr val="accent2"/>
                </a:solidFill>
              </a:rPr>
              <a:t>approved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2A076E-8C8C-4AA3-ADEC-1BE091C4D471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EFADE-8B23-4AE5-8EBB-C1DC3BD001A1}" type="slidenum">
              <a:rPr lang="en-GB" altLang="en-US" smtClean="0"/>
              <a:pPr/>
              <a:t>5</a:t>
            </a:fld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CCFF"/>
            </a:gs>
            <a:gs pos="50000">
              <a:srgbClr val="FFFFFF"/>
            </a:gs>
            <a:gs pos="100000">
              <a:srgbClr val="CCCCFF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241300"/>
            <a:ext cx="7772400" cy="14351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sz="3600" dirty="0"/>
              <a:t>Relationship Between People and Effort</a:t>
            </a:r>
          </a:p>
        </p:txBody>
      </p:sp>
      <p:sp>
        <p:nvSpPr>
          <p:cNvPr id="12292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8077200" cy="4267200"/>
          </a:xfrm>
        </p:spPr>
        <p:txBody>
          <a:bodyPr>
            <a:normAutofit/>
          </a:bodyPr>
          <a:lstStyle/>
          <a:p>
            <a:pPr marL="339725" indent="-339725" algn="just" eaLnBrk="1" hangingPunct="1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400" dirty="0"/>
              <a:t>Common management myth: </a:t>
            </a:r>
          </a:p>
          <a:p>
            <a:pPr marL="0" indent="0" algn="just" eaLnBrk="1" hangingPunct="1">
              <a:lnSpc>
                <a:spcPct val="100000"/>
              </a:lnSpc>
              <a:spcBef>
                <a:spcPts val="50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400" i="1" dirty="0">
                <a:solidFill>
                  <a:schemeClr val="accent2">
                    <a:lumMod val="75000"/>
                  </a:schemeClr>
                </a:solidFill>
              </a:rPr>
              <a:t>If we fall behind schedule, we can always </a:t>
            </a:r>
            <a:r>
              <a:rPr lang="en-US" altLang="en-US" sz="2400" i="1" u="sng" dirty="0">
                <a:solidFill>
                  <a:schemeClr val="accent2">
                    <a:lumMod val="75000"/>
                  </a:schemeClr>
                </a:solidFill>
              </a:rPr>
              <a:t>add more programmers</a:t>
            </a:r>
            <a:r>
              <a:rPr lang="en-US" altLang="en-US" sz="2400" i="1" dirty="0">
                <a:solidFill>
                  <a:schemeClr val="accent2">
                    <a:lumMod val="75000"/>
                  </a:schemeClr>
                </a:solidFill>
              </a:rPr>
              <a:t> and catch up later in the project</a:t>
            </a:r>
          </a:p>
          <a:p>
            <a:pPr marL="739775" lvl="1" indent="-282575" algn="just" eaLnBrk="1" hangingPunct="1">
              <a:lnSpc>
                <a:spcPct val="10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This practice actually has </a:t>
            </a:r>
            <a:r>
              <a:rPr lang="en-US" altLang="en-US" sz="2000" dirty="0">
                <a:solidFill>
                  <a:schemeClr val="accent2"/>
                </a:solidFill>
              </a:rPr>
              <a:t>a </a:t>
            </a:r>
            <a:r>
              <a:rPr lang="en-US" altLang="en-US" sz="2000" u="sng" dirty="0">
                <a:solidFill>
                  <a:schemeClr val="accent2"/>
                </a:solidFill>
              </a:rPr>
              <a:t>disruptive effect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/>
              <a:t>and causes the schedule to slip even further</a:t>
            </a:r>
          </a:p>
          <a:p>
            <a:pPr marL="739775" lvl="1" indent="-282575" algn="just" eaLnBrk="1" hangingPunct="1">
              <a:lnSpc>
                <a:spcPct val="10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The added people </a:t>
            </a:r>
            <a:r>
              <a:rPr lang="en-US" altLang="en-US" sz="2000" u="sng" dirty="0">
                <a:solidFill>
                  <a:schemeClr val="accent2"/>
                </a:solidFill>
              </a:rPr>
              <a:t>must learn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/>
              <a:t>the system</a:t>
            </a:r>
          </a:p>
          <a:p>
            <a:pPr marL="739775" lvl="1" indent="-282575" algn="just" eaLnBrk="1" hangingPunct="1">
              <a:lnSpc>
                <a:spcPct val="10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The people who teach them are the </a:t>
            </a:r>
            <a:r>
              <a:rPr lang="en-US" altLang="en-US" sz="2000" u="sng" dirty="0">
                <a:solidFill>
                  <a:schemeClr val="accent2"/>
                </a:solidFill>
              </a:rPr>
              <a:t>same people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/>
              <a:t>who were earlier doing the work</a:t>
            </a:r>
          </a:p>
          <a:p>
            <a:pPr marL="739775" lvl="1" indent="-282575" algn="just" eaLnBrk="1" hangingPunct="1">
              <a:lnSpc>
                <a:spcPct val="10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During teaching, </a:t>
            </a:r>
            <a:r>
              <a:rPr lang="en-US" altLang="en-US" sz="2000" u="sng" dirty="0">
                <a:solidFill>
                  <a:schemeClr val="accent2"/>
                </a:solidFill>
              </a:rPr>
              <a:t>no work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/>
              <a:t>is being </a:t>
            </a:r>
            <a:r>
              <a:rPr lang="en-US" altLang="en-US" sz="2000" u="sng" dirty="0">
                <a:solidFill>
                  <a:schemeClr val="accent2"/>
                </a:solidFill>
              </a:rPr>
              <a:t>accomplished</a:t>
            </a:r>
          </a:p>
          <a:p>
            <a:pPr marL="739775" lvl="1" indent="-282575" algn="just" eaLnBrk="1" hangingPunct="1">
              <a:lnSpc>
                <a:spcPct val="10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u="sng" dirty="0">
                <a:solidFill>
                  <a:schemeClr val="accent2"/>
                </a:solidFill>
              </a:rPr>
              <a:t>Lines of communication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/>
              <a:t>(and the inherent delays) </a:t>
            </a:r>
            <a:r>
              <a:rPr lang="en-US" altLang="en-US" sz="2000" u="sng" dirty="0">
                <a:solidFill>
                  <a:schemeClr val="accent2"/>
                </a:solidFill>
              </a:rPr>
              <a:t>increase</a:t>
            </a:r>
            <a:r>
              <a:rPr lang="en-US" altLang="en-US" sz="2000" dirty="0"/>
              <a:t> for each new person added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BCBE18-AF18-436B-A156-CF17C0F013C0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EFADE-8B23-4AE5-8EBB-C1DC3BD001A1}" type="slidenum">
              <a:rPr lang="en-GB" altLang="en-US" smtClean="0"/>
              <a:pPr/>
              <a:t>6</a:t>
            </a:fld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CCFF"/>
            </a:gs>
            <a:gs pos="50000">
              <a:srgbClr val="FFFFFF"/>
            </a:gs>
            <a:gs pos="100000">
              <a:srgbClr val="CCCCFF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/>
              <a:t>40-20-40 Distribution of Effort</a:t>
            </a:r>
          </a:p>
        </p:txBody>
      </p:sp>
      <p:sp>
        <p:nvSpPr>
          <p:cNvPr id="14340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828800"/>
            <a:ext cx="8001000" cy="4267200"/>
          </a:xfrm>
        </p:spPr>
        <p:txBody>
          <a:bodyPr>
            <a:noAutofit/>
          </a:bodyPr>
          <a:lstStyle/>
          <a:p>
            <a:pPr marL="339725" indent="-339725" eaLnBrk="1" hangingPunct="1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recommended distribution of effort across the software process is </a:t>
            </a:r>
            <a:r>
              <a:rPr lang="en-US" altLang="en-US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(analysis and design), </a:t>
            </a:r>
            <a:r>
              <a:rPr lang="en-US" altLang="en-US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(coding), and </a:t>
            </a:r>
            <a:r>
              <a:rPr lang="en-US" altLang="en-US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40%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(testing)</a:t>
            </a:r>
            <a:r>
              <a:rPr lang="ar-SA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‏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9725" indent="-339725" eaLnBrk="1" hangingPunct="1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expended on </a:t>
            </a:r>
            <a:r>
              <a:rPr lang="en-US" altLang="en-US" sz="2400" u="sng" dirty="0">
                <a:solidFill>
                  <a:schemeClr val="accent2"/>
                </a:solidFill>
              </a:rPr>
              <a:t>project planning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rarely accounts for more than </a:t>
            </a:r>
            <a:r>
              <a:rPr lang="en-US" altLang="en-US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2 - 3%</a:t>
            </a:r>
            <a:r>
              <a:rPr lang="en-US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total effort</a:t>
            </a:r>
          </a:p>
          <a:p>
            <a:pPr marL="339725" indent="-339725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400" u="sng" dirty="0">
                <a:solidFill>
                  <a:schemeClr val="accent2"/>
                </a:solidFill>
              </a:rPr>
              <a:t>Requirements analysis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may comprise </a:t>
            </a:r>
            <a:r>
              <a:rPr lang="en-US" altLang="en-US" sz="2400" u="sng" dirty="0">
                <a:solidFill>
                  <a:schemeClr val="accent2"/>
                </a:solidFill>
              </a:rPr>
              <a:t>10 - 25%</a:t>
            </a:r>
          </a:p>
          <a:p>
            <a:pPr marL="739775" lvl="1" indent="-282575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Effort spent on prototyping and project complexity may increase this</a:t>
            </a:r>
          </a:p>
          <a:p>
            <a:pPr marL="339725" indent="-339725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400" u="sng" dirty="0">
                <a:solidFill>
                  <a:schemeClr val="accent2"/>
                </a:solidFill>
              </a:rPr>
              <a:t>Software design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normally needs </a:t>
            </a:r>
            <a:r>
              <a:rPr lang="en-US" altLang="en-US" sz="2400" u="sng" dirty="0">
                <a:solidFill>
                  <a:schemeClr val="accent2"/>
                </a:solidFill>
              </a:rPr>
              <a:t>20 – 25%</a:t>
            </a:r>
          </a:p>
          <a:p>
            <a:pPr marL="339725" indent="-339725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400" u="sng" dirty="0">
                <a:solidFill>
                  <a:schemeClr val="accent2"/>
                </a:solidFill>
              </a:rPr>
              <a:t>Coding</a:t>
            </a:r>
            <a:r>
              <a:rPr lang="en-US" altLang="en-US" sz="2400" dirty="0"/>
              <a:t> should need only </a:t>
            </a:r>
            <a:r>
              <a:rPr lang="en-US" altLang="en-US" sz="2400" u="sng" dirty="0">
                <a:solidFill>
                  <a:schemeClr val="accent2"/>
                </a:solidFill>
              </a:rPr>
              <a:t>15 - 20%</a:t>
            </a:r>
            <a:r>
              <a:rPr lang="en-US" altLang="en-US" sz="2400" dirty="0">
                <a:solidFill>
                  <a:schemeClr val="accent2"/>
                </a:solidFill>
              </a:rPr>
              <a:t> </a:t>
            </a:r>
            <a:r>
              <a:rPr lang="en-US" altLang="en-US" sz="2400" dirty="0"/>
              <a:t>based on the effort applied to software design</a:t>
            </a:r>
          </a:p>
          <a:p>
            <a:pPr marL="339725" indent="-339725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400" u="sng" dirty="0">
                <a:solidFill>
                  <a:schemeClr val="accent2"/>
                </a:solidFill>
              </a:rPr>
              <a:t>Testing</a:t>
            </a:r>
            <a:r>
              <a:rPr lang="en-US" altLang="en-US" sz="2400" dirty="0"/>
              <a:t> and subsequent debugging can account for </a:t>
            </a:r>
            <a:r>
              <a:rPr lang="en-US" altLang="en-US" sz="2400" u="sng" dirty="0">
                <a:solidFill>
                  <a:schemeClr val="accent2"/>
                </a:solidFill>
              </a:rPr>
              <a:t>30 - 40%</a:t>
            </a:r>
          </a:p>
          <a:p>
            <a:pPr marL="739775" lvl="1" indent="-282575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Safety or security-related software requires more time for testing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CAB60CA-2ED3-4996-B34F-E878C2233310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EFADE-8B23-4AE5-8EBB-C1DC3BD001A1}" type="slidenum">
              <a:rPr lang="en-GB" altLang="en-US" smtClean="0"/>
              <a:pPr/>
              <a:t>7</a:t>
            </a:fld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3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CCFF"/>
            </a:gs>
            <a:gs pos="50000">
              <a:srgbClr val="FFFFFF"/>
            </a:gs>
            <a:gs pos="100000">
              <a:srgbClr val="CCCCFF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241300"/>
            <a:ext cx="7772400" cy="14351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/>
              <a:t>40-20-40 Distribution of Effort</a:t>
            </a:r>
          </a:p>
        </p:txBody>
      </p:sp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0" y="3322638"/>
            <a:ext cx="9144000" cy="381000"/>
          </a:xfrm>
          <a:prstGeom prst="rect">
            <a:avLst/>
          </a:prstGeom>
          <a:noFill/>
          <a:ln w="381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altLang="en-US" dirty="0"/>
          </a:p>
        </p:txBody>
      </p:sp>
      <p:sp>
        <p:nvSpPr>
          <p:cNvPr id="15365" name="Line 3"/>
          <p:cNvSpPr>
            <a:spLocks noChangeShapeType="1"/>
          </p:cNvSpPr>
          <p:nvPr/>
        </p:nvSpPr>
        <p:spPr bwMode="auto">
          <a:xfrm>
            <a:off x="2057400" y="3322638"/>
            <a:ext cx="1588" cy="381000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66" name="Line 4"/>
          <p:cNvSpPr>
            <a:spLocks noChangeShapeType="1"/>
          </p:cNvSpPr>
          <p:nvPr/>
        </p:nvSpPr>
        <p:spPr bwMode="auto">
          <a:xfrm>
            <a:off x="381000" y="3322638"/>
            <a:ext cx="1588" cy="381000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67" name="Line 5"/>
          <p:cNvSpPr>
            <a:spLocks noChangeShapeType="1"/>
          </p:cNvSpPr>
          <p:nvPr/>
        </p:nvSpPr>
        <p:spPr bwMode="auto">
          <a:xfrm>
            <a:off x="3886200" y="3322638"/>
            <a:ext cx="1588" cy="381000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68" name="Line 6"/>
          <p:cNvSpPr>
            <a:spLocks noChangeShapeType="1"/>
          </p:cNvSpPr>
          <p:nvPr/>
        </p:nvSpPr>
        <p:spPr bwMode="auto">
          <a:xfrm>
            <a:off x="5715000" y="3322638"/>
            <a:ext cx="1588" cy="381000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69" name="Text Box 7"/>
          <p:cNvSpPr txBox="1">
            <a:spLocks noChangeArrowheads="1"/>
          </p:cNvSpPr>
          <p:nvPr/>
        </p:nvSpPr>
        <p:spPr bwMode="auto">
          <a:xfrm>
            <a:off x="6934200" y="3306763"/>
            <a:ext cx="94456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2000" dirty="0">
                <a:solidFill>
                  <a:srgbClr val="000000"/>
                </a:solidFill>
              </a:rPr>
              <a:t>Testing</a:t>
            </a:r>
          </a:p>
        </p:txBody>
      </p:sp>
      <p:sp>
        <p:nvSpPr>
          <p:cNvPr id="15370" name="Text Box 8"/>
          <p:cNvSpPr txBox="1">
            <a:spLocks noChangeArrowheads="1"/>
          </p:cNvSpPr>
          <p:nvPr/>
        </p:nvSpPr>
        <p:spPr bwMode="auto">
          <a:xfrm>
            <a:off x="4243388" y="3306763"/>
            <a:ext cx="931862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2000" dirty="0">
                <a:solidFill>
                  <a:srgbClr val="000000"/>
                </a:solidFill>
              </a:rPr>
              <a:t>Coding</a:t>
            </a:r>
          </a:p>
        </p:txBody>
      </p:sp>
      <p:sp>
        <p:nvSpPr>
          <p:cNvPr id="15371" name="Text Box 9"/>
          <p:cNvSpPr txBox="1">
            <a:spLocks noChangeArrowheads="1"/>
          </p:cNvSpPr>
          <p:nvPr/>
        </p:nvSpPr>
        <p:spPr bwMode="auto">
          <a:xfrm>
            <a:off x="2511425" y="3306763"/>
            <a:ext cx="903288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2000" dirty="0">
                <a:solidFill>
                  <a:srgbClr val="000000"/>
                </a:solidFill>
              </a:rPr>
              <a:t>Design</a:t>
            </a:r>
          </a:p>
        </p:txBody>
      </p:sp>
      <p:sp>
        <p:nvSpPr>
          <p:cNvPr id="15372" name="Text Box 10"/>
          <p:cNvSpPr txBox="1">
            <a:spLocks noChangeArrowheads="1"/>
          </p:cNvSpPr>
          <p:nvPr/>
        </p:nvSpPr>
        <p:spPr bwMode="auto">
          <a:xfrm>
            <a:off x="601663" y="3306763"/>
            <a:ext cx="10699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2000" dirty="0">
                <a:solidFill>
                  <a:srgbClr val="000000"/>
                </a:solidFill>
              </a:rPr>
              <a:t>Analysis</a:t>
            </a:r>
          </a:p>
        </p:txBody>
      </p:sp>
      <p:sp>
        <p:nvSpPr>
          <p:cNvPr id="15373" name="Text Box 11"/>
          <p:cNvSpPr txBox="1">
            <a:spLocks noChangeArrowheads="1"/>
          </p:cNvSpPr>
          <p:nvPr/>
        </p:nvSpPr>
        <p:spPr bwMode="auto">
          <a:xfrm>
            <a:off x="-19050" y="3322638"/>
            <a:ext cx="32226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2000" dirty="0">
                <a:solidFill>
                  <a:srgbClr val="000000"/>
                </a:solidFill>
              </a:rPr>
              <a:t>P</a:t>
            </a:r>
          </a:p>
        </p:txBody>
      </p:sp>
      <p:sp>
        <p:nvSpPr>
          <p:cNvPr id="15374" name="Text Box 12"/>
          <p:cNvSpPr txBox="1">
            <a:spLocks noChangeArrowheads="1"/>
          </p:cNvSpPr>
          <p:nvPr/>
        </p:nvSpPr>
        <p:spPr bwMode="auto">
          <a:xfrm>
            <a:off x="-74613" y="3001963"/>
            <a:ext cx="441326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600" dirty="0">
                <a:solidFill>
                  <a:srgbClr val="000000"/>
                </a:solidFill>
              </a:rPr>
              <a:t>6/1</a:t>
            </a:r>
          </a:p>
        </p:txBody>
      </p:sp>
      <p:sp>
        <p:nvSpPr>
          <p:cNvPr id="15375" name="Text Box 13"/>
          <p:cNvSpPr txBox="1">
            <a:spLocks noChangeArrowheads="1"/>
          </p:cNvSpPr>
          <p:nvPr/>
        </p:nvSpPr>
        <p:spPr bwMode="auto">
          <a:xfrm>
            <a:off x="319088" y="3001963"/>
            <a:ext cx="441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600" dirty="0">
                <a:solidFill>
                  <a:srgbClr val="000000"/>
                </a:solidFill>
              </a:rPr>
              <a:t>6/4</a:t>
            </a:r>
          </a:p>
        </p:txBody>
      </p:sp>
      <p:sp>
        <p:nvSpPr>
          <p:cNvPr id="15376" name="Text Box 14"/>
          <p:cNvSpPr txBox="1">
            <a:spLocks noChangeArrowheads="1"/>
          </p:cNvSpPr>
          <p:nvPr/>
        </p:nvSpPr>
        <p:spPr bwMode="auto">
          <a:xfrm>
            <a:off x="1817688" y="3001963"/>
            <a:ext cx="542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600" dirty="0">
                <a:solidFill>
                  <a:srgbClr val="000000"/>
                </a:solidFill>
              </a:rPr>
              <a:t>6/23</a:t>
            </a:r>
          </a:p>
        </p:txBody>
      </p:sp>
      <p:sp>
        <p:nvSpPr>
          <p:cNvPr id="15377" name="Text Box 15"/>
          <p:cNvSpPr txBox="1">
            <a:spLocks noChangeArrowheads="1"/>
          </p:cNvSpPr>
          <p:nvPr/>
        </p:nvSpPr>
        <p:spPr bwMode="auto">
          <a:xfrm>
            <a:off x="3582988" y="3001963"/>
            <a:ext cx="542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600" dirty="0">
                <a:solidFill>
                  <a:srgbClr val="000000"/>
                </a:solidFill>
              </a:rPr>
              <a:t>7/14</a:t>
            </a:r>
          </a:p>
        </p:txBody>
      </p:sp>
      <p:sp>
        <p:nvSpPr>
          <p:cNvPr id="15378" name="Text Box 16"/>
          <p:cNvSpPr txBox="1">
            <a:spLocks noChangeArrowheads="1"/>
          </p:cNvSpPr>
          <p:nvPr/>
        </p:nvSpPr>
        <p:spPr bwMode="auto">
          <a:xfrm>
            <a:off x="5526088" y="3001963"/>
            <a:ext cx="441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600" dirty="0">
                <a:solidFill>
                  <a:srgbClr val="000000"/>
                </a:solidFill>
              </a:rPr>
              <a:t>8/2</a:t>
            </a:r>
          </a:p>
        </p:txBody>
      </p:sp>
      <p:sp>
        <p:nvSpPr>
          <p:cNvPr id="15379" name="Text Box 17"/>
          <p:cNvSpPr txBox="1">
            <a:spLocks noChangeArrowheads="1"/>
          </p:cNvSpPr>
          <p:nvPr/>
        </p:nvSpPr>
        <p:spPr bwMode="auto">
          <a:xfrm>
            <a:off x="8764588" y="3001963"/>
            <a:ext cx="4413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600" dirty="0">
                <a:solidFill>
                  <a:srgbClr val="000000"/>
                </a:solidFill>
              </a:rPr>
              <a:t>9/5</a:t>
            </a:r>
          </a:p>
        </p:txBody>
      </p:sp>
      <p:sp>
        <p:nvSpPr>
          <p:cNvPr id="15380" name="Text Box 18"/>
          <p:cNvSpPr txBox="1">
            <a:spLocks noChangeArrowheads="1"/>
          </p:cNvSpPr>
          <p:nvPr/>
        </p:nvSpPr>
        <p:spPr bwMode="auto">
          <a:xfrm>
            <a:off x="1677988" y="3824288"/>
            <a:ext cx="53816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2800" dirty="0">
                <a:solidFill>
                  <a:srgbClr val="000000"/>
                </a:solidFill>
              </a:rPr>
              <a:t>40</a:t>
            </a:r>
          </a:p>
        </p:txBody>
      </p:sp>
      <p:sp>
        <p:nvSpPr>
          <p:cNvPr id="15381" name="Text Box 19"/>
          <p:cNvSpPr txBox="1">
            <a:spLocks noChangeArrowheads="1"/>
          </p:cNvSpPr>
          <p:nvPr/>
        </p:nvSpPr>
        <p:spPr bwMode="auto">
          <a:xfrm>
            <a:off x="4491038" y="3810000"/>
            <a:ext cx="53816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2800" dirty="0">
                <a:solidFill>
                  <a:srgbClr val="000000"/>
                </a:solidFill>
              </a:rPr>
              <a:t>20</a:t>
            </a:r>
          </a:p>
        </p:txBody>
      </p:sp>
      <p:sp>
        <p:nvSpPr>
          <p:cNvPr id="15382" name="Text Box 20"/>
          <p:cNvSpPr txBox="1">
            <a:spLocks noChangeArrowheads="1"/>
          </p:cNvSpPr>
          <p:nvPr/>
        </p:nvSpPr>
        <p:spPr bwMode="auto">
          <a:xfrm>
            <a:off x="7081838" y="3795713"/>
            <a:ext cx="538162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2800" dirty="0">
                <a:solidFill>
                  <a:srgbClr val="000000"/>
                </a:solidFill>
              </a:rPr>
              <a:t>40</a:t>
            </a:r>
          </a:p>
        </p:txBody>
      </p:sp>
      <p:sp>
        <p:nvSpPr>
          <p:cNvPr id="15383" name="Line 21"/>
          <p:cNvSpPr>
            <a:spLocks noChangeShapeType="1"/>
          </p:cNvSpPr>
          <p:nvPr/>
        </p:nvSpPr>
        <p:spPr bwMode="auto">
          <a:xfrm>
            <a:off x="228600" y="3962400"/>
            <a:ext cx="1588" cy="1588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84" name="Line 22"/>
          <p:cNvSpPr>
            <a:spLocks noChangeShapeType="1"/>
          </p:cNvSpPr>
          <p:nvPr/>
        </p:nvSpPr>
        <p:spPr bwMode="auto">
          <a:xfrm>
            <a:off x="76200" y="3886200"/>
            <a:ext cx="1588" cy="381000"/>
          </a:xfrm>
          <a:prstGeom prst="line">
            <a:avLst/>
          </a:prstGeom>
          <a:noFill/>
          <a:ln w="1908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85" name="Line 23"/>
          <p:cNvSpPr>
            <a:spLocks noChangeShapeType="1"/>
          </p:cNvSpPr>
          <p:nvPr/>
        </p:nvSpPr>
        <p:spPr bwMode="auto">
          <a:xfrm>
            <a:off x="9067800" y="3886200"/>
            <a:ext cx="1588" cy="381000"/>
          </a:xfrm>
          <a:prstGeom prst="line">
            <a:avLst/>
          </a:prstGeom>
          <a:noFill/>
          <a:ln w="1908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86" name="Line 24"/>
          <p:cNvSpPr>
            <a:spLocks noChangeShapeType="1"/>
          </p:cNvSpPr>
          <p:nvPr/>
        </p:nvSpPr>
        <p:spPr bwMode="auto">
          <a:xfrm>
            <a:off x="5715000" y="3886200"/>
            <a:ext cx="1588" cy="381000"/>
          </a:xfrm>
          <a:prstGeom prst="line">
            <a:avLst/>
          </a:prstGeom>
          <a:noFill/>
          <a:ln w="1908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87" name="Line 25"/>
          <p:cNvSpPr>
            <a:spLocks noChangeShapeType="1"/>
          </p:cNvSpPr>
          <p:nvPr/>
        </p:nvSpPr>
        <p:spPr bwMode="auto">
          <a:xfrm>
            <a:off x="3886200" y="3886200"/>
            <a:ext cx="1588" cy="381000"/>
          </a:xfrm>
          <a:prstGeom prst="line">
            <a:avLst/>
          </a:prstGeom>
          <a:noFill/>
          <a:ln w="1908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88" name="Line 26"/>
          <p:cNvSpPr>
            <a:spLocks noChangeShapeType="1"/>
          </p:cNvSpPr>
          <p:nvPr/>
        </p:nvSpPr>
        <p:spPr bwMode="auto">
          <a:xfrm>
            <a:off x="152400" y="4114800"/>
            <a:ext cx="1600200" cy="1588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89" name="Line 27"/>
          <p:cNvSpPr>
            <a:spLocks noChangeShapeType="1"/>
          </p:cNvSpPr>
          <p:nvPr/>
        </p:nvSpPr>
        <p:spPr bwMode="auto">
          <a:xfrm>
            <a:off x="2209800" y="4114800"/>
            <a:ext cx="1600200" cy="1588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90" name="Line 28"/>
          <p:cNvSpPr>
            <a:spLocks noChangeShapeType="1"/>
          </p:cNvSpPr>
          <p:nvPr/>
        </p:nvSpPr>
        <p:spPr bwMode="auto">
          <a:xfrm>
            <a:off x="3962400" y="4114800"/>
            <a:ext cx="609600" cy="1588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91" name="Line 29"/>
          <p:cNvSpPr>
            <a:spLocks noChangeShapeType="1"/>
          </p:cNvSpPr>
          <p:nvPr/>
        </p:nvSpPr>
        <p:spPr bwMode="auto">
          <a:xfrm>
            <a:off x="5029200" y="4114800"/>
            <a:ext cx="609600" cy="1588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92" name="Line 30"/>
          <p:cNvSpPr>
            <a:spLocks noChangeShapeType="1"/>
          </p:cNvSpPr>
          <p:nvPr/>
        </p:nvSpPr>
        <p:spPr bwMode="auto">
          <a:xfrm>
            <a:off x="5791200" y="4114800"/>
            <a:ext cx="1219200" cy="1588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93" name="Line 31"/>
          <p:cNvSpPr>
            <a:spLocks noChangeShapeType="1"/>
          </p:cNvSpPr>
          <p:nvPr/>
        </p:nvSpPr>
        <p:spPr bwMode="auto">
          <a:xfrm>
            <a:off x="7696200" y="4114800"/>
            <a:ext cx="1219200" cy="1588"/>
          </a:xfrm>
          <a:prstGeom prst="line">
            <a:avLst/>
          </a:prstGeom>
          <a:noFill/>
          <a:ln w="936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394" name="Text Box 32"/>
          <p:cNvSpPr txBox="1">
            <a:spLocks noChangeArrowheads="1"/>
          </p:cNvSpPr>
          <p:nvPr/>
        </p:nvSpPr>
        <p:spPr bwMode="auto">
          <a:xfrm>
            <a:off x="2297113" y="1785938"/>
            <a:ext cx="4418012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3200" u="sng" dirty="0">
                <a:solidFill>
                  <a:srgbClr val="000000"/>
                </a:solidFill>
              </a:rPr>
              <a:t>Example: 100-day project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C4AFA56-AEF9-4E43-A059-74E6E97BC3E0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EFADE-8B23-4AE5-8EBB-C1DC3BD001A1}" type="slidenum">
              <a:rPr lang="en-GB" altLang="en-US" smtClean="0"/>
              <a:pPr/>
              <a:t>8</a:t>
            </a:fld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Task Network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F7A7337-34A6-4D6B-AB3D-F9CF5E105B23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20FC-8204-4FA5-B171-74B9E9DFA04F}" type="slidenum">
              <a:rPr lang="en-GB" altLang="en-US" smtClean="0"/>
              <a:pPr/>
              <a:t>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41456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CCFF"/>
            </a:gs>
            <a:gs pos="50000">
              <a:srgbClr val="FFFFFF"/>
            </a:gs>
            <a:gs pos="100000">
              <a:srgbClr val="CCCCFF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1"/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5438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/>
              <a:t>Defining a Task Set</a:t>
            </a:r>
          </a:p>
        </p:txBody>
      </p:sp>
      <p:sp>
        <p:nvSpPr>
          <p:cNvPr id="17412" name="Rectangle 2"/>
          <p:cNvSpPr>
            <a:spLocks noGrp="1" noChangeArrowheads="1"/>
          </p:cNvSpPr>
          <p:nvPr>
            <p:ph idx="1"/>
          </p:nvPr>
        </p:nvSpPr>
        <p:spPr>
          <a:xfrm>
            <a:off x="822961" y="1828800"/>
            <a:ext cx="7863839" cy="4419600"/>
          </a:xfrm>
        </p:spPr>
        <p:txBody>
          <a:bodyPr>
            <a:noAutofit/>
          </a:bodyPr>
          <a:lstStyle/>
          <a:p>
            <a:pPr marL="339725" indent="-339725" eaLnBrk="1" hangingPunct="1">
              <a:lnSpc>
                <a:spcPct val="15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A task set is the </a:t>
            </a:r>
            <a:r>
              <a:rPr lang="en-US" altLang="en-US" u="sng" dirty="0">
                <a:solidFill>
                  <a:schemeClr val="accent2"/>
                </a:solidFill>
              </a:rPr>
              <a:t>work breakdown structure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/>
              <a:t>for the project</a:t>
            </a:r>
          </a:p>
          <a:p>
            <a:pPr marL="339725" indent="-339725" eaLnBrk="1" hangingPunct="1">
              <a:lnSpc>
                <a:spcPct val="15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u="sng" dirty="0">
                <a:solidFill>
                  <a:schemeClr val="accent2"/>
                </a:solidFill>
              </a:rPr>
              <a:t>No</a:t>
            </a:r>
            <a:r>
              <a:rPr lang="en-US" altLang="en-US" dirty="0"/>
              <a:t> single task set is </a:t>
            </a:r>
            <a:r>
              <a:rPr lang="en-US" altLang="en-US" u="sng" dirty="0">
                <a:solidFill>
                  <a:schemeClr val="accent2"/>
                </a:solidFill>
              </a:rPr>
              <a:t>appropriate for all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/>
              <a:t>projects and process models</a:t>
            </a:r>
          </a:p>
          <a:p>
            <a:pPr marL="739775" lvl="1" indent="-282575" eaLnBrk="1" hangingPunct="1">
              <a:lnSpc>
                <a:spcPct val="15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It varies </a:t>
            </a:r>
            <a:r>
              <a:rPr lang="en-US" altLang="en-US" u="sng" dirty="0">
                <a:solidFill>
                  <a:schemeClr val="accent2"/>
                </a:solidFill>
              </a:rPr>
              <a:t>depending</a:t>
            </a:r>
            <a:r>
              <a:rPr lang="en-US" altLang="en-US" dirty="0"/>
              <a:t> on the </a:t>
            </a:r>
            <a:r>
              <a:rPr lang="en-US" altLang="en-US" u="sng" dirty="0">
                <a:solidFill>
                  <a:schemeClr val="accent2"/>
                </a:solidFill>
              </a:rPr>
              <a:t>project type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/>
              <a:t>and the </a:t>
            </a:r>
            <a:r>
              <a:rPr lang="en-US" altLang="en-US" u="sng" dirty="0">
                <a:solidFill>
                  <a:schemeClr val="accent2"/>
                </a:solidFill>
              </a:rPr>
              <a:t>degree of rigor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/>
              <a:t>(based on influential factors) with which the team plans to work</a:t>
            </a:r>
          </a:p>
          <a:p>
            <a:pPr marL="339725" indent="-339725" eaLnBrk="1" hangingPunct="1">
              <a:lnSpc>
                <a:spcPct val="15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The task set should provide enough </a:t>
            </a:r>
            <a:r>
              <a:rPr lang="en-US" altLang="en-US" u="sng" dirty="0">
                <a:solidFill>
                  <a:schemeClr val="accent2"/>
                </a:solidFill>
              </a:rPr>
              <a:t>discipline</a:t>
            </a:r>
            <a:r>
              <a:rPr lang="en-US" altLang="en-US" dirty="0"/>
              <a:t> to achieve high software </a:t>
            </a:r>
            <a:r>
              <a:rPr lang="en-US" altLang="en-US" u="sng" dirty="0">
                <a:solidFill>
                  <a:schemeClr val="accent2"/>
                </a:solidFill>
              </a:rPr>
              <a:t>quality</a:t>
            </a:r>
          </a:p>
          <a:p>
            <a:pPr marL="739775" lvl="1" indent="-282575" eaLnBrk="1" hangingPunct="1">
              <a:lnSpc>
                <a:spcPct val="15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But it </a:t>
            </a:r>
            <a:r>
              <a:rPr lang="en-US" altLang="en-US" u="sng" dirty="0">
                <a:solidFill>
                  <a:schemeClr val="accent2"/>
                </a:solidFill>
              </a:rPr>
              <a:t>must not burden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/>
              <a:t>the project team with </a:t>
            </a:r>
            <a:r>
              <a:rPr lang="en-US" altLang="en-US" u="sng" dirty="0">
                <a:solidFill>
                  <a:schemeClr val="accent2"/>
                </a:solidFill>
              </a:rPr>
              <a:t>unnecessary</a:t>
            </a:r>
            <a:r>
              <a:rPr lang="en-US" altLang="en-US" dirty="0"/>
              <a:t> work</a:t>
            </a:r>
          </a:p>
          <a:p>
            <a:pPr marL="457200" lvl="1" indent="0" eaLnBrk="1" hangingPunct="1">
              <a:lnSpc>
                <a:spcPct val="150000"/>
              </a:lnSpc>
              <a:spcBef>
                <a:spcPts val="45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altLang="en-US" sz="1050" dirty="0"/>
          </a:p>
          <a:p>
            <a:pPr marL="457200" lvl="1" indent="0" eaLnBrk="1" hangingPunct="1">
              <a:lnSpc>
                <a:spcPct val="150000"/>
              </a:lnSpc>
              <a:spcBef>
                <a:spcPts val="45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i="1" dirty="0">
                <a:solidFill>
                  <a:schemeClr val="accent2"/>
                </a:solidFill>
              </a:rPr>
              <a:t>An example is given in next two slides.</a:t>
            </a:r>
          </a:p>
          <a:p>
            <a:pPr marL="339725" indent="-339725" eaLnBrk="1" hangingPunct="1">
              <a:lnSpc>
                <a:spcPct val="150000"/>
              </a:lnSpc>
              <a:spcBef>
                <a:spcPts val="450"/>
              </a:spcBef>
              <a:buClrTx/>
              <a:buFontTx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altLang="en-US" sz="1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847218-6206-4C7D-93D5-A63A2BBD60BA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EFADE-8B23-4AE5-8EBB-C1DC3BD001A1}" type="slidenum">
              <a:rPr lang="en-GB" altLang="en-US" smtClean="0"/>
              <a:pPr/>
              <a:t>10</a:t>
            </a:fld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15A5C21-0DB5-40EB-9D22-7E4B27B1A0F9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EFADE-8B23-4AE5-8EBB-C1DC3BD001A1}" type="slidenum">
              <a:rPr lang="en-GB" altLang="en-US" smtClean="0"/>
              <a:pPr/>
              <a:t>11</a:t>
            </a:fld>
            <a:endParaRPr lang="en-GB" altLang="en-US" dirty="0"/>
          </a:p>
        </p:txBody>
      </p:sp>
      <p:pic>
        <p:nvPicPr>
          <p:cNvPr id="6" name="Picture 4" descr="wbs-example-pmbo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62" y="685800"/>
            <a:ext cx="7995598" cy="545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1446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EA9A41-24F0-4494-B4C3-843083306B29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A554-D278-4C06-8E31-8DC5AFFD02A8}" type="slidenum">
              <a:rPr lang="en-GB" altLang="en-US" smtClean="0"/>
              <a:pPr/>
              <a:t>12</a:t>
            </a:fld>
            <a:endParaRPr lang="en-GB" altLang="en-US" dirty="0"/>
          </a:p>
        </p:txBody>
      </p:sp>
      <p:pic>
        <p:nvPicPr>
          <p:cNvPr id="1026" name="Picture 2" descr="Image result for work breakdown structure examp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09600"/>
            <a:ext cx="7400260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19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CCFF"/>
            </a:gs>
            <a:gs pos="50000">
              <a:srgbClr val="FFFFFF"/>
            </a:gs>
            <a:gs pos="100000">
              <a:srgbClr val="CCCCFF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/>
              <a:t>Purpose of a Task Network</a:t>
            </a:r>
          </a:p>
        </p:txBody>
      </p:sp>
      <p:sp>
        <p:nvSpPr>
          <p:cNvPr id="20484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marL="339725" indent="-339725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Also called an activity network</a:t>
            </a:r>
          </a:p>
          <a:p>
            <a:pPr marL="339725" indent="-339725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It is a </a:t>
            </a:r>
            <a:r>
              <a:rPr lang="en-US" altLang="en-US" sz="2000" u="sng" dirty="0">
                <a:solidFill>
                  <a:schemeClr val="accent2"/>
                </a:solidFill>
              </a:rPr>
              <a:t>graphic representation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/>
              <a:t>of the </a:t>
            </a:r>
            <a:r>
              <a:rPr lang="en-US" altLang="en-US" sz="2000" u="sng" dirty="0">
                <a:solidFill>
                  <a:schemeClr val="accent2"/>
                </a:solidFill>
              </a:rPr>
              <a:t>task flow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/>
              <a:t>for a project</a:t>
            </a:r>
          </a:p>
          <a:p>
            <a:pPr marL="339725" indent="-339725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It </a:t>
            </a:r>
            <a:r>
              <a:rPr lang="en-US" altLang="en-US" sz="2000" u="sng" dirty="0">
                <a:solidFill>
                  <a:schemeClr val="accent2"/>
                </a:solidFill>
              </a:rPr>
              <a:t>depicts</a:t>
            </a:r>
            <a:r>
              <a:rPr lang="en-US" altLang="en-US" sz="2000" dirty="0"/>
              <a:t> task length, sequence, concurrency, and dependency</a:t>
            </a:r>
          </a:p>
          <a:p>
            <a:pPr marL="339725" indent="-339725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Points out </a:t>
            </a:r>
            <a:r>
              <a:rPr lang="en-US" altLang="en-US" sz="2000" u="sng" dirty="0">
                <a:solidFill>
                  <a:schemeClr val="accent2"/>
                </a:solidFill>
              </a:rPr>
              <a:t>inter-task dependencies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/>
              <a:t>to help the manager ensure continuous progress toward project completion</a:t>
            </a:r>
          </a:p>
          <a:p>
            <a:pPr marL="339725" indent="-339725" eaLnBrk="1" hangingPunct="1">
              <a:lnSpc>
                <a:spcPct val="9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The </a:t>
            </a:r>
            <a:r>
              <a:rPr lang="en-US" altLang="en-US" sz="2000" b="1" u="sng" dirty="0">
                <a:solidFill>
                  <a:schemeClr val="accent2"/>
                </a:solidFill>
              </a:rPr>
              <a:t>critical path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</a:p>
          <a:p>
            <a:pPr marL="739775" lvl="1" indent="-282575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A </a:t>
            </a:r>
            <a:r>
              <a:rPr lang="en-US" altLang="en-US" sz="2000" b="1" u="sng" dirty="0">
                <a:solidFill>
                  <a:schemeClr val="accent2"/>
                </a:solidFill>
              </a:rPr>
              <a:t>single</a:t>
            </a:r>
            <a:r>
              <a:rPr lang="en-US" altLang="en-US" sz="2000" dirty="0"/>
              <a:t> path leading from </a:t>
            </a:r>
            <a:r>
              <a:rPr lang="en-US" altLang="en-US" sz="2000" b="1" u="sng" dirty="0">
                <a:solidFill>
                  <a:schemeClr val="accent2"/>
                </a:solidFill>
              </a:rPr>
              <a:t>start to finish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dirty="0"/>
              <a:t>in a task network</a:t>
            </a:r>
          </a:p>
          <a:p>
            <a:pPr marL="739775" lvl="1" indent="-282575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It contains the sequence of tasks that </a:t>
            </a:r>
            <a:r>
              <a:rPr lang="en-US" altLang="en-US" sz="2000" b="1" u="sng" dirty="0">
                <a:solidFill>
                  <a:schemeClr val="accent2"/>
                </a:solidFill>
              </a:rPr>
              <a:t>must be completed on schedule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dirty="0"/>
              <a:t>if the project as a whole is to be completed on schedule</a:t>
            </a:r>
          </a:p>
          <a:p>
            <a:pPr marL="739775" lvl="1" indent="-282575" eaLnBrk="1" hangingPunct="1">
              <a:lnSpc>
                <a:spcPct val="90000"/>
              </a:lnSpc>
              <a:spcBef>
                <a:spcPts val="450"/>
              </a:spcBef>
              <a:buFont typeface="Times New Roman" panose="02020603050405020304" pitchFamily="18" charset="0"/>
              <a:buChar char="–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/>
              <a:t>It also determines the </a:t>
            </a:r>
            <a:r>
              <a:rPr lang="en-US" altLang="en-US" sz="2000" b="1" u="sng" dirty="0">
                <a:solidFill>
                  <a:schemeClr val="accent2"/>
                </a:solidFill>
              </a:rPr>
              <a:t>minimum duration</a:t>
            </a:r>
            <a:r>
              <a:rPr lang="en-US" altLang="en-US" sz="2000" b="1" dirty="0">
                <a:solidFill>
                  <a:schemeClr val="accent2"/>
                </a:solidFill>
              </a:rPr>
              <a:t> </a:t>
            </a:r>
            <a:r>
              <a:rPr lang="en-US" altLang="en-US" sz="2000" dirty="0"/>
              <a:t>of the project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D9285B-5A1E-4A38-A3F8-7E434C19D5A2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EFADE-8B23-4AE5-8EBB-C1DC3BD001A1}" type="slidenum">
              <a:rPr lang="en-GB" altLang="en-US" smtClean="0"/>
              <a:pPr/>
              <a:t>13</a:t>
            </a:fld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EA9A41-24F0-4494-B4C3-843083306B29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A554-D278-4C06-8E31-8DC5AFFD02A8}" type="slidenum">
              <a:rPr lang="en-GB" altLang="en-US" smtClean="0"/>
              <a:pPr/>
              <a:t>14</a:t>
            </a:fld>
            <a:endParaRPr lang="en-GB" altLang="en-US" dirty="0"/>
          </a:p>
        </p:txBody>
      </p:sp>
      <p:pic>
        <p:nvPicPr>
          <p:cNvPr id="2050" name="Picture 2" descr="Image result for activity network diagram examp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0"/>
            <a:ext cx="8576912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456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CCFF"/>
            </a:gs>
            <a:gs pos="50000">
              <a:srgbClr val="FFFFFF"/>
            </a:gs>
            <a:gs pos="100000">
              <a:srgbClr val="CCCCFF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1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/>
              <a:t>Example Task Network</a:t>
            </a:r>
          </a:p>
        </p:txBody>
      </p:sp>
      <p:sp>
        <p:nvSpPr>
          <p:cNvPr id="21508" name="AutoShape 2"/>
          <p:cNvSpPr>
            <a:spLocks noChangeArrowheads="1"/>
          </p:cNvSpPr>
          <p:nvPr/>
        </p:nvSpPr>
        <p:spPr bwMode="auto">
          <a:xfrm>
            <a:off x="152400" y="3497263"/>
            <a:ext cx="838200" cy="481012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A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1509" name="AutoShape 3"/>
          <p:cNvSpPr>
            <a:spLocks noChangeArrowheads="1"/>
          </p:cNvSpPr>
          <p:nvPr/>
        </p:nvSpPr>
        <p:spPr bwMode="auto">
          <a:xfrm>
            <a:off x="1524000" y="26670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B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1510" name="AutoShape 4"/>
          <p:cNvSpPr>
            <a:spLocks noChangeArrowheads="1"/>
          </p:cNvSpPr>
          <p:nvPr/>
        </p:nvSpPr>
        <p:spPr bwMode="auto">
          <a:xfrm>
            <a:off x="2743200" y="3581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E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21511" name="AutoShape 5"/>
          <p:cNvSpPr>
            <a:spLocks noChangeArrowheads="1"/>
          </p:cNvSpPr>
          <p:nvPr/>
        </p:nvSpPr>
        <p:spPr bwMode="auto">
          <a:xfrm>
            <a:off x="4191000" y="2438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F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1512" name="AutoShape 6"/>
          <p:cNvSpPr>
            <a:spLocks noChangeArrowheads="1"/>
          </p:cNvSpPr>
          <p:nvPr/>
        </p:nvSpPr>
        <p:spPr bwMode="auto">
          <a:xfrm>
            <a:off x="6781800" y="2438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H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5</a:t>
            </a:r>
          </a:p>
        </p:txBody>
      </p:sp>
      <p:cxnSp>
        <p:nvCxnSpPr>
          <p:cNvPr id="21513" name="AutoShape 7"/>
          <p:cNvCxnSpPr>
            <a:cxnSpLocks noChangeShapeType="1"/>
            <a:stCxn id="21517" idx="3"/>
            <a:endCxn id="21510" idx="1"/>
          </p:cNvCxnSpPr>
          <p:nvPr/>
        </p:nvCxnSpPr>
        <p:spPr bwMode="auto">
          <a:xfrm>
            <a:off x="2362200" y="3848100"/>
            <a:ext cx="381000" cy="158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4" name="AutoShape 8"/>
          <p:cNvCxnSpPr>
            <a:cxnSpLocks noChangeShapeType="1"/>
            <a:stCxn id="21510" idx="3"/>
            <a:endCxn id="21511" idx="1"/>
          </p:cNvCxnSpPr>
          <p:nvPr/>
        </p:nvCxnSpPr>
        <p:spPr bwMode="auto">
          <a:xfrm flipV="1">
            <a:off x="3581400" y="2705100"/>
            <a:ext cx="609600" cy="11430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5" name="AutoShape 9"/>
          <p:cNvCxnSpPr>
            <a:cxnSpLocks noChangeShapeType="1"/>
            <a:stCxn id="21511" idx="3"/>
            <a:endCxn id="21530" idx="1"/>
          </p:cNvCxnSpPr>
          <p:nvPr/>
        </p:nvCxnSpPr>
        <p:spPr bwMode="auto">
          <a:xfrm>
            <a:off x="5029200" y="2705100"/>
            <a:ext cx="533400" cy="158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6" name="AutoShape 10"/>
          <p:cNvCxnSpPr>
            <a:cxnSpLocks noChangeShapeType="1"/>
            <a:stCxn id="21508" idx="3"/>
            <a:endCxn id="21509" idx="1"/>
          </p:cNvCxnSpPr>
          <p:nvPr/>
        </p:nvCxnSpPr>
        <p:spPr bwMode="auto">
          <a:xfrm flipV="1">
            <a:off x="990600" y="2933700"/>
            <a:ext cx="533400" cy="80327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7" name="AutoShape 11"/>
          <p:cNvSpPr>
            <a:spLocks noChangeArrowheads="1"/>
          </p:cNvSpPr>
          <p:nvPr/>
        </p:nvSpPr>
        <p:spPr bwMode="auto">
          <a:xfrm>
            <a:off x="1524000" y="3581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C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1518" name="AutoShape 12"/>
          <p:cNvSpPr>
            <a:spLocks noChangeArrowheads="1"/>
          </p:cNvSpPr>
          <p:nvPr/>
        </p:nvSpPr>
        <p:spPr bwMode="auto">
          <a:xfrm>
            <a:off x="1524000" y="44196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D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1519" name="AutoShape 13"/>
          <p:cNvSpPr>
            <a:spLocks noChangeArrowheads="1"/>
          </p:cNvSpPr>
          <p:nvPr/>
        </p:nvSpPr>
        <p:spPr bwMode="auto">
          <a:xfrm>
            <a:off x="4191000" y="3581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I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1520" name="AutoShape 14"/>
          <p:cNvSpPr>
            <a:spLocks noChangeArrowheads="1"/>
          </p:cNvSpPr>
          <p:nvPr/>
        </p:nvSpPr>
        <p:spPr bwMode="auto">
          <a:xfrm>
            <a:off x="6781800" y="3962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M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0</a:t>
            </a:r>
          </a:p>
        </p:txBody>
      </p:sp>
      <p:cxnSp>
        <p:nvCxnSpPr>
          <p:cNvPr id="21521" name="AutoShape 15"/>
          <p:cNvCxnSpPr>
            <a:cxnSpLocks noChangeShapeType="1"/>
            <a:stCxn id="21508" idx="3"/>
            <a:endCxn id="21518" idx="1"/>
          </p:cNvCxnSpPr>
          <p:nvPr/>
        </p:nvCxnSpPr>
        <p:spPr bwMode="auto">
          <a:xfrm>
            <a:off x="990600" y="3738563"/>
            <a:ext cx="533400" cy="94932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2" name="AutoShape 16"/>
          <p:cNvCxnSpPr>
            <a:cxnSpLocks noChangeShapeType="1"/>
            <a:stCxn id="21518" idx="3"/>
            <a:endCxn id="21510" idx="2"/>
          </p:cNvCxnSpPr>
          <p:nvPr/>
        </p:nvCxnSpPr>
        <p:spPr bwMode="auto">
          <a:xfrm flipV="1">
            <a:off x="2362200" y="4114800"/>
            <a:ext cx="800100" cy="5715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3" name="AutoShape 17"/>
          <p:cNvCxnSpPr>
            <a:cxnSpLocks noChangeShapeType="1"/>
            <a:stCxn id="21519" idx="3"/>
            <a:endCxn id="21531" idx="1"/>
          </p:cNvCxnSpPr>
          <p:nvPr/>
        </p:nvCxnSpPr>
        <p:spPr bwMode="auto">
          <a:xfrm>
            <a:off x="5029200" y="3848100"/>
            <a:ext cx="533400" cy="158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24" name="AutoShape 18"/>
          <p:cNvSpPr>
            <a:spLocks noChangeArrowheads="1"/>
          </p:cNvSpPr>
          <p:nvPr/>
        </p:nvSpPr>
        <p:spPr bwMode="auto">
          <a:xfrm>
            <a:off x="7924800" y="3200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N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2</a:t>
            </a:r>
          </a:p>
        </p:txBody>
      </p:sp>
      <p:cxnSp>
        <p:nvCxnSpPr>
          <p:cNvPr id="21525" name="AutoShape 19"/>
          <p:cNvCxnSpPr>
            <a:cxnSpLocks noChangeShapeType="1"/>
            <a:stCxn id="21512" idx="3"/>
            <a:endCxn id="21524" idx="1"/>
          </p:cNvCxnSpPr>
          <p:nvPr/>
        </p:nvCxnSpPr>
        <p:spPr bwMode="auto">
          <a:xfrm>
            <a:off x="7620000" y="2705100"/>
            <a:ext cx="304800" cy="7620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6" name="AutoShape 20"/>
          <p:cNvCxnSpPr>
            <a:cxnSpLocks noChangeShapeType="1"/>
            <a:stCxn id="21520" idx="3"/>
            <a:endCxn id="21524" idx="1"/>
          </p:cNvCxnSpPr>
          <p:nvPr/>
        </p:nvCxnSpPr>
        <p:spPr bwMode="auto">
          <a:xfrm flipV="1">
            <a:off x="7620000" y="3467100"/>
            <a:ext cx="304800" cy="7620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7" name="AutoShape 21"/>
          <p:cNvCxnSpPr>
            <a:cxnSpLocks noChangeShapeType="1"/>
            <a:stCxn id="21509" idx="2"/>
            <a:endCxn id="21517" idx="0"/>
          </p:cNvCxnSpPr>
          <p:nvPr/>
        </p:nvCxnSpPr>
        <p:spPr bwMode="auto">
          <a:xfrm>
            <a:off x="1943100" y="3200400"/>
            <a:ext cx="1588" cy="3810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8" name="AutoShape 22"/>
          <p:cNvCxnSpPr>
            <a:cxnSpLocks noChangeShapeType="1"/>
            <a:stCxn id="21530" idx="3"/>
            <a:endCxn id="21512" idx="1"/>
          </p:cNvCxnSpPr>
          <p:nvPr/>
        </p:nvCxnSpPr>
        <p:spPr bwMode="auto">
          <a:xfrm>
            <a:off x="6400800" y="2705100"/>
            <a:ext cx="381000" cy="158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9" name="AutoShape 23"/>
          <p:cNvCxnSpPr>
            <a:cxnSpLocks noChangeShapeType="1"/>
            <a:stCxn id="21510" idx="3"/>
            <a:endCxn id="21519" idx="1"/>
          </p:cNvCxnSpPr>
          <p:nvPr/>
        </p:nvCxnSpPr>
        <p:spPr bwMode="auto">
          <a:xfrm>
            <a:off x="3581400" y="3848100"/>
            <a:ext cx="609600" cy="158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0" name="AutoShape 24"/>
          <p:cNvSpPr>
            <a:spLocks noChangeArrowheads="1"/>
          </p:cNvSpPr>
          <p:nvPr/>
        </p:nvSpPr>
        <p:spPr bwMode="auto">
          <a:xfrm>
            <a:off x="5562600" y="2438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G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1531" name="AutoShape 25"/>
          <p:cNvSpPr>
            <a:spLocks noChangeArrowheads="1"/>
          </p:cNvSpPr>
          <p:nvPr/>
        </p:nvSpPr>
        <p:spPr bwMode="auto">
          <a:xfrm>
            <a:off x="5562600" y="3581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J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1532" name="AutoShape 26"/>
          <p:cNvSpPr>
            <a:spLocks noChangeArrowheads="1"/>
          </p:cNvSpPr>
          <p:nvPr/>
        </p:nvSpPr>
        <p:spPr bwMode="auto">
          <a:xfrm>
            <a:off x="4191000" y="45720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K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3</a:t>
            </a:r>
          </a:p>
        </p:txBody>
      </p:sp>
      <p:cxnSp>
        <p:nvCxnSpPr>
          <p:cNvPr id="21533" name="AutoShape 27"/>
          <p:cNvCxnSpPr>
            <a:cxnSpLocks noChangeShapeType="1"/>
            <a:stCxn id="21532" idx="3"/>
            <a:endCxn id="21534" idx="1"/>
          </p:cNvCxnSpPr>
          <p:nvPr/>
        </p:nvCxnSpPr>
        <p:spPr bwMode="auto">
          <a:xfrm>
            <a:off x="5029200" y="4838700"/>
            <a:ext cx="533400" cy="158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4" name="AutoShape 28"/>
          <p:cNvSpPr>
            <a:spLocks noChangeArrowheads="1"/>
          </p:cNvSpPr>
          <p:nvPr/>
        </p:nvSpPr>
        <p:spPr bwMode="auto">
          <a:xfrm>
            <a:off x="5562600" y="45720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L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1535" name="AutoShape 29"/>
          <p:cNvCxnSpPr>
            <a:cxnSpLocks noChangeShapeType="1"/>
            <a:stCxn id="21510" idx="3"/>
            <a:endCxn id="21532" idx="1"/>
          </p:cNvCxnSpPr>
          <p:nvPr/>
        </p:nvCxnSpPr>
        <p:spPr bwMode="auto">
          <a:xfrm>
            <a:off x="3581400" y="3848100"/>
            <a:ext cx="609600" cy="9906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6" name="AutoShape 30"/>
          <p:cNvCxnSpPr>
            <a:cxnSpLocks noChangeShapeType="1"/>
            <a:stCxn id="21531" idx="3"/>
            <a:endCxn id="21520" idx="1"/>
          </p:cNvCxnSpPr>
          <p:nvPr/>
        </p:nvCxnSpPr>
        <p:spPr bwMode="auto">
          <a:xfrm>
            <a:off x="6400800" y="3848100"/>
            <a:ext cx="381000" cy="3810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7" name="AutoShape 31"/>
          <p:cNvCxnSpPr>
            <a:cxnSpLocks noChangeShapeType="1"/>
            <a:stCxn id="21534" idx="3"/>
            <a:endCxn id="21520" idx="1"/>
          </p:cNvCxnSpPr>
          <p:nvPr/>
        </p:nvCxnSpPr>
        <p:spPr bwMode="auto">
          <a:xfrm flipV="1">
            <a:off x="6400800" y="4229100"/>
            <a:ext cx="381000" cy="6096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8" name="Text Box 32"/>
          <p:cNvSpPr txBox="1">
            <a:spLocks noChangeArrowheads="1"/>
          </p:cNvSpPr>
          <p:nvPr/>
        </p:nvSpPr>
        <p:spPr bwMode="auto">
          <a:xfrm>
            <a:off x="1190625" y="5770563"/>
            <a:ext cx="6337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dirty="0">
                <a:solidFill>
                  <a:srgbClr val="000000"/>
                </a:solidFill>
              </a:rPr>
              <a:t>Where is the critical path and what tasks are on it?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12869F-0871-42A7-B490-A9737836E230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A46-25EB-42AC-9991-285AA533AAC4}" type="slidenum">
              <a:rPr lang="en-GB" altLang="en-US" smtClean="0"/>
              <a:pPr/>
              <a:t>15</a:t>
            </a:fld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CCFF"/>
            </a:gs>
            <a:gs pos="50000">
              <a:srgbClr val="FFFFFF"/>
            </a:gs>
            <a:gs pos="100000">
              <a:srgbClr val="CCCCFF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1"/>
          <p:cNvSpPr>
            <a:spLocks noGrp="1" noChangeArrowheads="1"/>
          </p:cNvSpPr>
          <p:nvPr>
            <p:ph type="title"/>
          </p:nvPr>
        </p:nvSpPr>
        <p:spPr>
          <a:xfrm>
            <a:off x="838200" y="241300"/>
            <a:ext cx="7772400" cy="1435100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/>
              <a:t>Example Task Network</a:t>
            </a:r>
            <a:br>
              <a:rPr lang="en-US" altLang="en-US" dirty="0"/>
            </a:br>
            <a:r>
              <a:rPr lang="en-US" altLang="en-US" dirty="0"/>
              <a:t>with Critical Path Marked</a:t>
            </a:r>
          </a:p>
        </p:txBody>
      </p:sp>
      <p:sp>
        <p:nvSpPr>
          <p:cNvPr id="22532" name="AutoShape 2"/>
          <p:cNvSpPr>
            <a:spLocks noChangeArrowheads="1"/>
          </p:cNvSpPr>
          <p:nvPr/>
        </p:nvSpPr>
        <p:spPr bwMode="auto">
          <a:xfrm>
            <a:off x="152400" y="3497263"/>
            <a:ext cx="838200" cy="481012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A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2533" name="AutoShape 3"/>
          <p:cNvSpPr>
            <a:spLocks noChangeArrowheads="1"/>
          </p:cNvSpPr>
          <p:nvPr/>
        </p:nvSpPr>
        <p:spPr bwMode="auto">
          <a:xfrm>
            <a:off x="1524000" y="26670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B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2534" name="AutoShape 4"/>
          <p:cNvSpPr>
            <a:spLocks noChangeArrowheads="1"/>
          </p:cNvSpPr>
          <p:nvPr/>
        </p:nvSpPr>
        <p:spPr bwMode="auto">
          <a:xfrm>
            <a:off x="2743200" y="3581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E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22535" name="AutoShape 5"/>
          <p:cNvSpPr>
            <a:spLocks noChangeArrowheads="1"/>
          </p:cNvSpPr>
          <p:nvPr/>
        </p:nvSpPr>
        <p:spPr bwMode="auto">
          <a:xfrm>
            <a:off x="4191000" y="2438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F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22536" name="AutoShape 6"/>
          <p:cNvSpPr>
            <a:spLocks noChangeArrowheads="1"/>
          </p:cNvSpPr>
          <p:nvPr/>
        </p:nvSpPr>
        <p:spPr bwMode="auto">
          <a:xfrm>
            <a:off x="6781800" y="2438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H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5</a:t>
            </a:r>
          </a:p>
        </p:txBody>
      </p:sp>
      <p:cxnSp>
        <p:nvCxnSpPr>
          <p:cNvPr id="22537" name="AutoShape 7"/>
          <p:cNvCxnSpPr>
            <a:cxnSpLocks noChangeShapeType="1"/>
            <a:stCxn id="22541" idx="3"/>
            <a:endCxn id="22534" idx="1"/>
          </p:cNvCxnSpPr>
          <p:nvPr/>
        </p:nvCxnSpPr>
        <p:spPr bwMode="auto">
          <a:xfrm>
            <a:off x="2362200" y="3848100"/>
            <a:ext cx="381000" cy="1588"/>
          </a:xfrm>
          <a:prstGeom prst="straightConnector1">
            <a:avLst/>
          </a:prstGeom>
          <a:noFill/>
          <a:ln w="572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8" name="AutoShape 8"/>
          <p:cNvCxnSpPr>
            <a:cxnSpLocks noChangeShapeType="1"/>
            <a:stCxn id="22534" idx="3"/>
            <a:endCxn id="22535" idx="1"/>
          </p:cNvCxnSpPr>
          <p:nvPr/>
        </p:nvCxnSpPr>
        <p:spPr bwMode="auto">
          <a:xfrm flipV="1">
            <a:off x="3581400" y="2705100"/>
            <a:ext cx="609600" cy="11430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9" name="AutoShape 9"/>
          <p:cNvCxnSpPr>
            <a:cxnSpLocks noChangeShapeType="1"/>
            <a:stCxn id="22535" idx="3"/>
            <a:endCxn id="22554" idx="1"/>
          </p:cNvCxnSpPr>
          <p:nvPr/>
        </p:nvCxnSpPr>
        <p:spPr bwMode="auto">
          <a:xfrm>
            <a:off x="5029200" y="2705100"/>
            <a:ext cx="533400" cy="158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0" name="AutoShape 10"/>
          <p:cNvCxnSpPr>
            <a:cxnSpLocks noChangeShapeType="1"/>
            <a:stCxn id="22532" idx="3"/>
            <a:endCxn id="22533" idx="1"/>
          </p:cNvCxnSpPr>
          <p:nvPr/>
        </p:nvCxnSpPr>
        <p:spPr bwMode="auto">
          <a:xfrm flipV="1">
            <a:off x="990600" y="2933700"/>
            <a:ext cx="533400" cy="803275"/>
          </a:xfrm>
          <a:prstGeom prst="straightConnector1">
            <a:avLst/>
          </a:prstGeom>
          <a:noFill/>
          <a:ln w="572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1" name="AutoShape 11"/>
          <p:cNvSpPr>
            <a:spLocks noChangeArrowheads="1"/>
          </p:cNvSpPr>
          <p:nvPr/>
        </p:nvSpPr>
        <p:spPr bwMode="auto">
          <a:xfrm>
            <a:off x="1524000" y="3581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C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22542" name="AutoShape 12"/>
          <p:cNvSpPr>
            <a:spLocks noChangeArrowheads="1"/>
          </p:cNvSpPr>
          <p:nvPr/>
        </p:nvSpPr>
        <p:spPr bwMode="auto">
          <a:xfrm>
            <a:off x="1524000" y="44196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D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543" name="AutoShape 13"/>
          <p:cNvSpPr>
            <a:spLocks noChangeArrowheads="1"/>
          </p:cNvSpPr>
          <p:nvPr/>
        </p:nvSpPr>
        <p:spPr bwMode="auto">
          <a:xfrm>
            <a:off x="4191000" y="3581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I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22544" name="AutoShape 14"/>
          <p:cNvSpPr>
            <a:spLocks noChangeArrowheads="1"/>
          </p:cNvSpPr>
          <p:nvPr/>
        </p:nvSpPr>
        <p:spPr bwMode="auto">
          <a:xfrm>
            <a:off x="6781800" y="3962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M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0</a:t>
            </a:r>
          </a:p>
        </p:txBody>
      </p:sp>
      <p:cxnSp>
        <p:nvCxnSpPr>
          <p:cNvPr id="22545" name="AutoShape 15"/>
          <p:cNvCxnSpPr>
            <a:cxnSpLocks noChangeShapeType="1"/>
            <a:stCxn id="22532" idx="3"/>
            <a:endCxn id="22542" idx="1"/>
          </p:cNvCxnSpPr>
          <p:nvPr/>
        </p:nvCxnSpPr>
        <p:spPr bwMode="auto">
          <a:xfrm>
            <a:off x="990600" y="3738563"/>
            <a:ext cx="533400" cy="949325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6" name="AutoShape 16"/>
          <p:cNvCxnSpPr>
            <a:cxnSpLocks noChangeShapeType="1"/>
            <a:stCxn id="22542" idx="3"/>
            <a:endCxn id="22534" idx="2"/>
          </p:cNvCxnSpPr>
          <p:nvPr/>
        </p:nvCxnSpPr>
        <p:spPr bwMode="auto">
          <a:xfrm flipV="1">
            <a:off x="2362200" y="4114800"/>
            <a:ext cx="800100" cy="5715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7" name="AutoShape 17"/>
          <p:cNvCxnSpPr>
            <a:cxnSpLocks noChangeShapeType="1"/>
            <a:stCxn id="22543" idx="3"/>
            <a:endCxn id="22555" idx="1"/>
          </p:cNvCxnSpPr>
          <p:nvPr/>
        </p:nvCxnSpPr>
        <p:spPr bwMode="auto">
          <a:xfrm>
            <a:off x="5029200" y="3848100"/>
            <a:ext cx="533400" cy="158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48" name="AutoShape 18"/>
          <p:cNvSpPr>
            <a:spLocks noChangeArrowheads="1"/>
          </p:cNvSpPr>
          <p:nvPr/>
        </p:nvSpPr>
        <p:spPr bwMode="auto">
          <a:xfrm>
            <a:off x="7924800" y="3200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N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2</a:t>
            </a:r>
          </a:p>
        </p:txBody>
      </p:sp>
      <p:cxnSp>
        <p:nvCxnSpPr>
          <p:cNvPr id="22549" name="AutoShape 19"/>
          <p:cNvCxnSpPr>
            <a:cxnSpLocks noChangeShapeType="1"/>
            <a:stCxn id="22536" idx="3"/>
            <a:endCxn id="22548" idx="1"/>
          </p:cNvCxnSpPr>
          <p:nvPr/>
        </p:nvCxnSpPr>
        <p:spPr bwMode="auto">
          <a:xfrm>
            <a:off x="7620000" y="2705100"/>
            <a:ext cx="304800" cy="7620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0" name="AutoShape 20"/>
          <p:cNvCxnSpPr>
            <a:cxnSpLocks noChangeShapeType="1"/>
            <a:stCxn id="22544" idx="3"/>
            <a:endCxn id="22548" idx="1"/>
          </p:cNvCxnSpPr>
          <p:nvPr/>
        </p:nvCxnSpPr>
        <p:spPr bwMode="auto">
          <a:xfrm flipV="1">
            <a:off x="7620000" y="3467100"/>
            <a:ext cx="304800" cy="762000"/>
          </a:xfrm>
          <a:prstGeom prst="straightConnector1">
            <a:avLst/>
          </a:prstGeom>
          <a:noFill/>
          <a:ln w="572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1" name="AutoShape 21"/>
          <p:cNvCxnSpPr>
            <a:cxnSpLocks noChangeShapeType="1"/>
            <a:stCxn id="22533" idx="2"/>
            <a:endCxn id="22541" idx="0"/>
          </p:cNvCxnSpPr>
          <p:nvPr/>
        </p:nvCxnSpPr>
        <p:spPr bwMode="auto">
          <a:xfrm>
            <a:off x="1943100" y="3200400"/>
            <a:ext cx="1588" cy="381000"/>
          </a:xfrm>
          <a:prstGeom prst="straightConnector1">
            <a:avLst/>
          </a:prstGeom>
          <a:noFill/>
          <a:ln w="572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2" name="AutoShape 22"/>
          <p:cNvCxnSpPr>
            <a:cxnSpLocks noChangeShapeType="1"/>
            <a:stCxn id="22554" idx="3"/>
            <a:endCxn id="22536" idx="1"/>
          </p:cNvCxnSpPr>
          <p:nvPr/>
        </p:nvCxnSpPr>
        <p:spPr bwMode="auto">
          <a:xfrm>
            <a:off x="6400800" y="2705100"/>
            <a:ext cx="381000" cy="158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3" name="AutoShape 23"/>
          <p:cNvCxnSpPr>
            <a:cxnSpLocks noChangeShapeType="1"/>
            <a:stCxn id="22534" idx="3"/>
            <a:endCxn id="22543" idx="1"/>
          </p:cNvCxnSpPr>
          <p:nvPr/>
        </p:nvCxnSpPr>
        <p:spPr bwMode="auto">
          <a:xfrm>
            <a:off x="3581400" y="3848100"/>
            <a:ext cx="609600" cy="1588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4" name="AutoShape 24"/>
          <p:cNvSpPr>
            <a:spLocks noChangeArrowheads="1"/>
          </p:cNvSpPr>
          <p:nvPr/>
        </p:nvSpPr>
        <p:spPr bwMode="auto">
          <a:xfrm>
            <a:off x="5562600" y="2438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G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22555" name="AutoShape 25"/>
          <p:cNvSpPr>
            <a:spLocks noChangeArrowheads="1"/>
          </p:cNvSpPr>
          <p:nvPr/>
        </p:nvSpPr>
        <p:spPr bwMode="auto">
          <a:xfrm>
            <a:off x="5562600" y="35814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J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556" name="AutoShape 26"/>
          <p:cNvSpPr>
            <a:spLocks noChangeArrowheads="1"/>
          </p:cNvSpPr>
          <p:nvPr/>
        </p:nvSpPr>
        <p:spPr bwMode="auto">
          <a:xfrm>
            <a:off x="4191000" y="45720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K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3</a:t>
            </a:r>
          </a:p>
        </p:txBody>
      </p:sp>
      <p:cxnSp>
        <p:nvCxnSpPr>
          <p:cNvPr id="22557" name="AutoShape 27"/>
          <p:cNvCxnSpPr>
            <a:cxnSpLocks noChangeShapeType="1"/>
            <a:stCxn id="22556" idx="3"/>
            <a:endCxn id="22558" idx="1"/>
          </p:cNvCxnSpPr>
          <p:nvPr/>
        </p:nvCxnSpPr>
        <p:spPr bwMode="auto">
          <a:xfrm>
            <a:off x="5029200" y="4838700"/>
            <a:ext cx="533400" cy="1588"/>
          </a:xfrm>
          <a:prstGeom prst="straightConnector1">
            <a:avLst/>
          </a:prstGeom>
          <a:noFill/>
          <a:ln w="572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8" name="AutoShape 28"/>
          <p:cNvSpPr>
            <a:spLocks noChangeArrowheads="1"/>
          </p:cNvSpPr>
          <p:nvPr/>
        </p:nvSpPr>
        <p:spPr bwMode="auto">
          <a:xfrm>
            <a:off x="5562600" y="4572000"/>
            <a:ext cx="838200" cy="533400"/>
          </a:xfrm>
          <a:prstGeom prst="roundRect">
            <a:avLst>
              <a:gd name="adj" fmla="val 16667"/>
            </a:avLst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Task L</a:t>
            </a:r>
          </a:p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000" dirty="0">
                <a:solidFill>
                  <a:srgbClr val="000000"/>
                </a:solidFill>
              </a:rPr>
              <a:t>10</a:t>
            </a:r>
          </a:p>
        </p:txBody>
      </p:sp>
      <p:cxnSp>
        <p:nvCxnSpPr>
          <p:cNvPr id="22559" name="AutoShape 29"/>
          <p:cNvCxnSpPr>
            <a:cxnSpLocks noChangeShapeType="1"/>
            <a:stCxn id="22534" idx="3"/>
            <a:endCxn id="22556" idx="1"/>
          </p:cNvCxnSpPr>
          <p:nvPr/>
        </p:nvCxnSpPr>
        <p:spPr bwMode="auto">
          <a:xfrm>
            <a:off x="3581400" y="3848100"/>
            <a:ext cx="609600" cy="990600"/>
          </a:xfrm>
          <a:prstGeom prst="straightConnector1">
            <a:avLst/>
          </a:prstGeom>
          <a:noFill/>
          <a:ln w="572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0" name="AutoShape 30"/>
          <p:cNvCxnSpPr>
            <a:cxnSpLocks noChangeShapeType="1"/>
            <a:stCxn id="22555" idx="3"/>
            <a:endCxn id="22544" idx="1"/>
          </p:cNvCxnSpPr>
          <p:nvPr/>
        </p:nvCxnSpPr>
        <p:spPr bwMode="auto">
          <a:xfrm>
            <a:off x="6400800" y="3848100"/>
            <a:ext cx="381000" cy="381000"/>
          </a:xfrm>
          <a:prstGeom prst="straightConnector1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1" name="AutoShape 31"/>
          <p:cNvCxnSpPr>
            <a:cxnSpLocks noChangeShapeType="1"/>
            <a:stCxn id="22558" idx="3"/>
            <a:endCxn id="22544" idx="1"/>
          </p:cNvCxnSpPr>
          <p:nvPr/>
        </p:nvCxnSpPr>
        <p:spPr bwMode="auto">
          <a:xfrm flipV="1">
            <a:off x="6400800" y="4229100"/>
            <a:ext cx="381000" cy="609600"/>
          </a:xfrm>
          <a:prstGeom prst="straightConnector1">
            <a:avLst/>
          </a:prstGeom>
          <a:noFill/>
          <a:ln w="572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62" name="Text Box 32"/>
          <p:cNvSpPr txBox="1">
            <a:spLocks noChangeArrowheads="1"/>
          </p:cNvSpPr>
          <p:nvPr/>
        </p:nvSpPr>
        <p:spPr bwMode="auto">
          <a:xfrm>
            <a:off x="2228850" y="5770563"/>
            <a:ext cx="4283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dirty="0">
                <a:solidFill>
                  <a:srgbClr val="000000"/>
                </a:solidFill>
              </a:rPr>
              <a:t>Critical path: A-B-C-E-K-L-M-N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C4ABCA9-DD70-42C8-8E8A-CE725964F0A5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6E5A46-25EB-42AC-9991-285AA533AAC4}" type="slidenum">
              <a:rPr lang="en-GB" altLang="en-US" smtClean="0"/>
              <a:pPr/>
              <a:t>16</a:t>
            </a:fld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679D0F5-A0E1-4790-8F7A-E6B62FC32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61400" cy="979488"/>
          </a:xfrm>
        </p:spPr>
        <p:txBody>
          <a:bodyPr/>
          <a:lstStyle/>
          <a:p>
            <a:r>
              <a:rPr lang="en-US" altLang="en-US" sz="3600"/>
              <a:t>Determining the Critical Path for Project X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A5DAD-173F-4338-AA42-95D6E56FE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5CBF871-4E8B-45FF-83DD-00062E749BCB}" type="slidenum">
              <a:rPr lang="en-US" altLang="en-US" sz="1400">
                <a:solidFill>
                  <a:srgbClr val="FFFFFF"/>
                </a:solidFill>
              </a:rPr>
              <a:pPr eaLnBrk="1" hangingPunct="1"/>
              <a:t>17</a:t>
            </a:fld>
            <a:endParaRPr lang="en-US" altLang="en-US" sz="1400">
              <a:solidFill>
                <a:srgbClr val="FFFFFF"/>
              </a:solidFill>
            </a:endParaRPr>
          </a:p>
        </p:txBody>
      </p:sp>
      <p:pic>
        <p:nvPicPr>
          <p:cNvPr id="49155" name="Picture 3">
            <a:extLst>
              <a:ext uri="{FF2B5EF4-FFF2-40B4-BE49-F238E27FC236}">
                <a16:creationId xmlns:a16="http://schemas.microsoft.com/office/drawing/2014/main" id="{E140A646-D3D1-46F3-9C07-40C94D831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1" y="1300481"/>
            <a:ext cx="7711439" cy="5024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F414E-75B0-4912-88CA-427777AC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DB7DA1-579D-4609-A2A3-83FE6808337F}" type="datetime1">
              <a:rPr lang="en-US" smtClean="0"/>
              <a:t>2/19/2026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Timeline Chart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18D4B6-7879-4754-930E-08DB466543C8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120FC-8204-4FA5-B171-74B9E9DFA04F}" type="slidenum">
              <a:rPr lang="en-GB" altLang="en-US" smtClean="0"/>
              <a:pPr/>
              <a:t>18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183017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CCCCFF"/>
            </a:gs>
            <a:gs pos="50000">
              <a:srgbClr val="FFFFFF"/>
            </a:gs>
            <a:gs pos="100000">
              <a:srgbClr val="CCCCFF"/>
            </a:gs>
          </a:gsLst>
          <a:lin ang="135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11430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altLang="en-US" dirty="0"/>
              <a:t>Mechanics of a Timeline Chart</a:t>
            </a: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57375"/>
            <a:ext cx="8458200" cy="4391025"/>
          </a:xfrm>
        </p:spPr>
        <p:txBody>
          <a:bodyPr>
            <a:noAutofit/>
          </a:bodyPr>
          <a:lstStyle/>
          <a:p>
            <a:pPr marL="339725" indent="-339725" eaLnBrk="1" hangingPunct="1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Also called a Gantt chart; invented by Henry Gantt, industrial engineer, 1917</a:t>
            </a:r>
          </a:p>
          <a:p>
            <a:pPr marL="339725" indent="-339725" eaLnBrk="1" hangingPunct="1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All </a:t>
            </a:r>
            <a:r>
              <a:rPr lang="en-US" altLang="en-US" u="sng" dirty="0">
                <a:solidFill>
                  <a:schemeClr val="accent2"/>
                </a:solidFill>
              </a:rPr>
              <a:t>project tasks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/>
              <a:t>are listed in the far left column</a:t>
            </a:r>
          </a:p>
          <a:p>
            <a:pPr marL="339725" indent="-339725" eaLnBrk="1" hangingPunct="1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The next few columns may list the following for each task: </a:t>
            </a:r>
          </a:p>
          <a:p>
            <a:pPr marL="632333" lvl="1" indent="-339725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projected start date</a:t>
            </a:r>
          </a:p>
          <a:p>
            <a:pPr marL="632333" lvl="1" indent="-339725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projected stop date</a:t>
            </a:r>
          </a:p>
          <a:p>
            <a:pPr marL="632333" lvl="1" indent="-339725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projected duration</a:t>
            </a:r>
          </a:p>
          <a:p>
            <a:pPr marL="632333" lvl="1" indent="-339725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actual start date</a:t>
            </a:r>
          </a:p>
          <a:p>
            <a:pPr marL="632333" lvl="1" indent="-339725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actual stop date</a:t>
            </a:r>
          </a:p>
          <a:p>
            <a:pPr marL="632333" lvl="1" indent="-339725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actual duration</a:t>
            </a:r>
          </a:p>
          <a:p>
            <a:pPr marL="632333" lvl="1" indent="-339725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dirty="0"/>
              <a:t>task inter-dependencies (i.e., predecessors)</a:t>
            </a:r>
            <a:r>
              <a:rPr lang="ar-SA" altLang="en-US" dirty="0">
                <a:cs typeface="Times New Roman" panose="02020603050405020304" pitchFamily="18" charset="0"/>
              </a:rPr>
              <a:t>‏</a:t>
            </a:r>
            <a:endParaRPr lang="en-US" altLang="en-US" dirty="0"/>
          </a:p>
          <a:p>
            <a:pPr marL="339725" indent="-339725" eaLnBrk="1" hangingPunct="1">
              <a:lnSpc>
                <a:spcPct val="100000"/>
              </a:lnSpc>
              <a:spcBef>
                <a:spcPts val="500"/>
              </a:spcBef>
              <a:buClrTx/>
              <a:buFontTx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FE590706-2F2D-4ADA-A63C-0BB8911B2352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E47842B-CC62-45D2-B4C2-761729AB9164}" type="slidenum">
              <a:rPr lang="en-GB" altLang="en-US" smtClean="0"/>
              <a:pPr/>
              <a:t>19</a:t>
            </a:fld>
            <a:endParaRPr lang="en-GB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Mechanics of a Timeline 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908050" y="5181600"/>
            <a:ext cx="7773988" cy="1066800"/>
            <a:chOff x="288" y="3264"/>
            <a:chExt cx="4897" cy="672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4740" y="3734"/>
              <a:ext cx="221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4740" y="3504"/>
              <a:ext cx="22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4740" y="3264"/>
              <a:ext cx="22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4512" y="3734"/>
              <a:ext cx="227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4512" y="3504"/>
              <a:ext cx="22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512" y="3264"/>
              <a:ext cx="22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825" y="3734"/>
              <a:ext cx="355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825" y="3504"/>
              <a:ext cx="355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None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825" y="3264"/>
              <a:ext cx="355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Pred.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3181" y="3734"/>
              <a:ext cx="222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3181" y="3504"/>
              <a:ext cx="22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3181" y="3264"/>
              <a:ext cx="222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3404" y="3734"/>
              <a:ext cx="221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3404" y="3504"/>
              <a:ext cx="22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3404" y="3264"/>
              <a:ext cx="22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4294" y="3734"/>
              <a:ext cx="217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4294" y="3504"/>
              <a:ext cx="21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4294" y="3264"/>
              <a:ext cx="217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4962" y="3734"/>
              <a:ext cx="222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4071" y="3734"/>
              <a:ext cx="222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3849" y="3734"/>
              <a:ext cx="221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3626" y="3734"/>
              <a:ext cx="222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2469" y="3734"/>
              <a:ext cx="355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3/1</a:t>
              </a: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2113" y="3734"/>
              <a:ext cx="355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3/1</a:t>
              </a: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623" y="3734"/>
              <a:ext cx="489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677" y="3734"/>
              <a:ext cx="945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 Milestone N</a:t>
              </a:r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288" y="3734"/>
              <a:ext cx="388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4962" y="3504"/>
              <a:ext cx="22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4071" y="3504"/>
              <a:ext cx="22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3849" y="3504"/>
              <a:ext cx="22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3626" y="3504"/>
              <a:ext cx="22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2469" y="3504"/>
              <a:ext cx="355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2/28</a:t>
              </a: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2113" y="3504"/>
              <a:ext cx="355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1/1</a:t>
              </a: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623" y="3504"/>
              <a:ext cx="489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2 months</a:t>
              </a:r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677" y="3504"/>
              <a:ext cx="945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 Task A</a:t>
              </a:r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288" y="3504"/>
              <a:ext cx="388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4962" y="3264"/>
              <a:ext cx="222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4071" y="3264"/>
              <a:ext cx="222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3849" y="3264"/>
              <a:ext cx="22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3626" y="3264"/>
              <a:ext cx="222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altLang="en-US" dirty="0"/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2469" y="3264"/>
              <a:ext cx="355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Finish</a:t>
              </a:r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2113" y="3264"/>
              <a:ext cx="355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Start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1623" y="3264"/>
              <a:ext cx="48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Duration</a:t>
              </a:r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677" y="3264"/>
              <a:ext cx="945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Task Name</a:t>
              </a:r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>
              <a:off x="288" y="3264"/>
              <a:ext cx="388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eaLnBrk="0" hangingPunct="0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300"/>
                </a:spcBef>
                <a:buClrTx/>
                <a:buFontTx/>
                <a:buNone/>
              </a:pPr>
              <a:r>
                <a:rPr lang="en-GB" altLang="en-US" sz="1200" dirty="0">
                  <a:solidFill>
                    <a:srgbClr val="000000"/>
                  </a:solidFill>
                </a:rPr>
                <a:t>Task #</a:t>
              </a:r>
            </a:p>
          </p:txBody>
        </p:sp>
        <p:sp>
          <p:nvSpPr>
            <p:cNvPr id="50" name="Line 49"/>
            <p:cNvSpPr>
              <a:spLocks noChangeShapeType="1"/>
            </p:cNvSpPr>
            <p:nvPr/>
          </p:nvSpPr>
          <p:spPr bwMode="auto">
            <a:xfrm>
              <a:off x="288" y="3264"/>
              <a:ext cx="4896" cy="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" name="Line 50"/>
            <p:cNvSpPr>
              <a:spLocks noChangeShapeType="1"/>
            </p:cNvSpPr>
            <p:nvPr/>
          </p:nvSpPr>
          <p:spPr bwMode="auto">
            <a:xfrm>
              <a:off x="288" y="3504"/>
              <a:ext cx="4896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Line 51"/>
            <p:cNvSpPr>
              <a:spLocks noChangeShapeType="1"/>
            </p:cNvSpPr>
            <p:nvPr/>
          </p:nvSpPr>
          <p:spPr bwMode="auto">
            <a:xfrm>
              <a:off x="288" y="3734"/>
              <a:ext cx="4896" cy="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>
              <a:off x="288" y="3936"/>
              <a:ext cx="4896" cy="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" name="Line 53"/>
            <p:cNvSpPr>
              <a:spLocks noChangeShapeType="1"/>
            </p:cNvSpPr>
            <p:nvPr/>
          </p:nvSpPr>
          <p:spPr bwMode="auto">
            <a:xfrm>
              <a:off x="288" y="3264"/>
              <a:ext cx="0" cy="67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" name="Line 54"/>
            <p:cNvSpPr>
              <a:spLocks noChangeShapeType="1"/>
            </p:cNvSpPr>
            <p:nvPr/>
          </p:nvSpPr>
          <p:spPr bwMode="auto">
            <a:xfrm>
              <a:off x="677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" name="Line 55"/>
            <p:cNvSpPr>
              <a:spLocks noChangeShapeType="1"/>
            </p:cNvSpPr>
            <p:nvPr/>
          </p:nvSpPr>
          <p:spPr bwMode="auto">
            <a:xfrm>
              <a:off x="1623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" name="Line 56"/>
            <p:cNvSpPr>
              <a:spLocks noChangeShapeType="1"/>
            </p:cNvSpPr>
            <p:nvPr/>
          </p:nvSpPr>
          <p:spPr bwMode="auto">
            <a:xfrm>
              <a:off x="2113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>
              <a:off x="2469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" name="Line 58"/>
            <p:cNvSpPr>
              <a:spLocks noChangeShapeType="1"/>
            </p:cNvSpPr>
            <p:nvPr/>
          </p:nvSpPr>
          <p:spPr bwMode="auto">
            <a:xfrm>
              <a:off x="2825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" name="Line 59"/>
            <p:cNvSpPr>
              <a:spLocks noChangeShapeType="1"/>
            </p:cNvSpPr>
            <p:nvPr/>
          </p:nvSpPr>
          <p:spPr bwMode="auto">
            <a:xfrm>
              <a:off x="3849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" name="Line 60"/>
            <p:cNvSpPr>
              <a:spLocks noChangeShapeType="1"/>
            </p:cNvSpPr>
            <p:nvPr/>
          </p:nvSpPr>
          <p:spPr bwMode="auto">
            <a:xfrm>
              <a:off x="4071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" name="Line 61"/>
            <p:cNvSpPr>
              <a:spLocks noChangeShapeType="1"/>
            </p:cNvSpPr>
            <p:nvPr/>
          </p:nvSpPr>
          <p:spPr bwMode="auto">
            <a:xfrm>
              <a:off x="4294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" name="Line 62"/>
            <p:cNvSpPr>
              <a:spLocks noChangeShapeType="1"/>
            </p:cNvSpPr>
            <p:nvPr/>
          </p:nvSpPr>
          <p:spPr bwMode="auto">
            <a:xfrm>
              <a:off x="5185" y="3264"/>
              <a:ext cx="0" cy="67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>
              <a:off x="4512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>
              <a:off x="3626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" name="Line 65"/>
            <p:cNvSpPr>
              <a:spLocks noChangeShapeType="1"/>
            </p:cNvSpPr>
            <p:nvPr/>
          </p:nvSpPr>
          <p:spPr bwMode="auto">
            <a:xfrm>
              <a:off x="3404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" name="Line 66"/>
            <p:cNvSpPr>
              <a:spLocks noChangeShapeType="1"/>
            </p:cNvSpPr>
            <p:nvPr/>
          </p:nvSpPr>
          <p:spPr bwMode="auto">
            <a:xfrm>
              <a:off x="3181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" name="Line 67"/>
            <p:cNvSpPr>
              <a:spLocks noChangeShapeType="1"/>
            </p:cNvSpPr>
            <p:nvPr/>
          </p:nvSpPr>
          <p:spPr bwMode="auto">
            <a:xfrm>
              <a:off x="4740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" name="Line 68"/>
            <p:cNvSpPr>
              <a:spLocks noChangeShapeType="1"/>
            </p:cNvSpPr>
            <p:nvPr/>
          </p:nvSpPr>
          <p:spPr bwMode="auto">
            <a:xfrm>
              <a:off x="4962" y="3264"/>
              <a:ext cx="0" cy="67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0" name="AutoShape 69"/>
          <p:cNvSpPr>
            <a:spLocks noChangeArrowheads="1"/>
          </p:cNvSpPr>
          <p:nvPr/>
        </p:nvSpPr>
        <p:spPr bwMode="auto">
          <a:xfrm>
            <a:off x="6165850" y="5943600"/>
            <a:ext cx="152400" cy="228600"/>
          </a:xfrm>
          <a:prstGeom prst="diamond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dirty="0"/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5480050" y="5638800"/>
            <a:ext cx="685800" cy="152400"/>
          </a:xfrm>
          <a:prstGeom prst="rect">
            <a:avLst/>
          </a:prstGeom>
          <a:solidFill>
            <a:srgbClr val="00CC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 dirty="0"/>
          </a:p>
        </p:txBody>
      </p:sp>
      <p:sp>
        <p:nvSpPr>
          <p:cNvPr id="72" name="Text Box 71"/>
          <p:cNvSpPr txBox="1">
            <a:spLocks noChangeArrowheads="1"/>
          </p:cNvSpPr>
          <p:nvPr/>
        </p:nvSpPr>
        <p:spPr bwMode="auto">
          <a:xfrm>
            <a:off x="5256213" y="4851400"/>
            <a:ext cx="35829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defTabSz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GB" altLang="en-US" sz="1200" dirty="0">
                <a:solidFill>
                  <a:srgbClr val="000000"/>
                </a:solidFill>
              </a:rPr>
              <a:t>Jan    Feb    Mar  Apr   May   Jun   Jul    Aug    Sep  Oct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080" y="1904271"/>
            <a:ext cx="7859079" cy="2439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39725" indent="-339725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>
                <a:solidFill>
                  <a:schemeClr val="tx1"/>
                </a:solidFill>
              </a:rPr>
              <a:t>To the far right are columns representing </a:t>
            </a:r>
            <a:r>
              <a:rPr lang="en-US" altLang="en-US" sz="2000" u="sng" dirty="0">
                <a:solidFill>
                  <a:schemeClr val="accent2"/>
                </a:solidFill>
              </a:rPr>
              <a:t>dates on a calendar</a:t>
            </a:r>
          </a:p>
          <a:p>
            <a:pPr marL="339725" indent="-339725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>
                <a:solidFill>
                  <a:schemeClr val="tx1"/>
                </a:solidFill>
              </a:rPr>
              <a:t>The </a:t>
            </a:r>
            <a:r>
              <a:rPr lang="en-US" altLang="en-US" sz="2000" u="sng" dirty="0">
                <a:solidFill>
                  <a:schemeClr val="accent2"/>
                </a:solidFill>
              </a:rPr>
              <a:t>length of a horizontal bar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on the calendar indicates the duration of the task</a:t>
            </a:r>
          </a:p>
          <a:p>
            <a:pPr marL="339725" indent="-339725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>
                <a:solidFill>
                  <a:schemeClr val="tx1"/>
                </a:solidFill>
              </a:rPr>
              <a:t>When </a:t>
            </a:r>
            <a:r>
              <a:rPr lang="en-US" altLang="en-US" sz="2000" u="sng" dirty="0">
                <a:solidFill>
                  <a:schemeClr val="accent2"/>
                </a:solidFill>
              </a:rPr>
              <a:t>multiple bars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occur at the same time interval on the calendar, this implies task </a:t>
            </a:r>
            <a:r>
              <a:rPr lang="en-US" altLang="en-US" sz="2000" u="sng" dirty="0">
                <a:solidFill>
                  <a:schemeClr val="accent2"/>
                </a:solidFill>
              </a:rPr>
              <a:t>concurrency</a:t>
            </a:r>
          </a:p>
          <a:p>
            <a:pPr marL="339725" indent="-339725">
              <a:lnSpc>
                <a:spcPct val="100000"/>
              </a:lnSpc>
              <a:spcBef>
                <a:spcPts val="500"/>
              </a:spcBef>
              <a:buFont typeface="Times New Roman" panose="02020603050405020304" pitchFamily="18" charset="0"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US" altLang="en-US" sz="2000" dirty="0">
                <a:solidFill>
                  <a:schemeClr val="tx1"/>
                </a:solidFill>
              </a:rPr>
              <a:t>A </a:t>
            </a:r>
            <a:r>
              <a:rPr lang="en-US" altLang="en-US" sz="2000" u="sng" dirty="0">
                <a:solidFill>
                  <a:schemeClr val="accent2"/>
                </a:solidFill>
              </a:rPr>
              <a:t>diamond</a:t>
            </a:r>
            <a:r>
              <a:rPr lang="en-US" altLang="en-US" sz="2000" dirty="0">
                <a:solidFill>
                  <a:schemeClr val="tx1"/>
                </a:solidFill>
              </a:rPr>
              <a:t> in the calendar area of a specific task indicates that the task is a </a:t>
            </a:r>
            <a:r>
              <a:rPr lang="en-US" altLang="en-US" sz="2000" u="sng" dirty="0">
                <a:solidFill>
                  <a:schemeClr val="accent2"/>
                </a:solidFill>
              </a:rPr>
              <a:t>milestone</a:t>
            </a:r>
            <a:r>
              <a:rPr lang="en-US" altLang="en-US" sz="2000" dirty="0">
                <a:solidFill>
                  <a:schemeClr val="accent2"/>
                </a:solidFill>
              </a:rPr>
              <a:t>; </a:t>
            </a:r>
            <a:r>
              <a:rPr lang="en-US" altLang="en-US" sz="2000" dirty="0">
                <a:solidFill>
                  <a:schemeClr val="tx1"/>
                </a:solidFill>
              </a:rPr>
              <a:t>a milestone has a time duration of zero</a:t>
            </a:r>
          </a:p>
        </p:txBody>
      </p:sp>
      <p:sp>
        <p:nvSpPr>
          <p:cNvPr id="74" name="Date Placeholder 7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6D529-CCD4-4DB8-9DF6-3D4371DF8E43}" type="datetime1">
              <a:rPr lang="en-US" smtClean="0"/>
              <a:t>2/19/2026</a:t>
            </a:fld>
            <a:endParaRPr lang="en-GB" dirty="0"/>
          </a:p>
        </p:txBody>
      </p:sp>
      <p:sp>
        <p:nvSpPr>
          <p:cNvPr id="75" name="Slide Number Placeholder 7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EFADE-8B23-4AE5-8EBB-C1DC3BD001A1}" type="slidenum">
              <a:rPr lang="en-GB" altLang="en-US" smtClean="0"/>
              <a:pPr/>
              <a:t>20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9537465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4203</TotalTime>
  <Words>1157</Words>
  <Application>Microsoft Office PowerPoint</Application>
  <PresentationFormat>On-screen Show (4:3)</PresentationFormat>
  <Paragraphs>240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Wingdings</vt:lpstr>
      <vt:lpstr>Retrospect</vt:lpstr>
      <vt:lpstr>     CSSE3113 – Introduction to Software Engineering    Software Project Scheduling</vt:lpstr>
      <vt:lpstr>Eight Reasons for Late Software Delivery</vt:lpstr>
      <vt:lpstr>Eight Reasons for Late Software Delivery</vt:lpstr>
      <vt:lpstr>Basic Principles for Project Scheduling</vt:lpstr>
      <vt:lpstr>Basic Principles for Project Scheduling </vt:lpstr>
      <vt:lpstr>Relationship Between People and Effort</vt:lpstr>
      <vt:lpstr>40-20-40 Distribution of Effort</vt:lpstr>
      <vt:lpstr>40-20-40 Distribution of Effort</vt:lpstr>
      <vt:lpstr>Task Network</vt:lpstr>
      <vt:lpstr>Defining a Task Set</vt:lpstr>
      <vt:lpstr>PowerPoint Presentation</vt:lpstr>
      <vt:lpstr>PowerPoint Presentation</vt:lpstr>
      <vt:lpstr>Purpose of a Task Network</vt:lpstr>
      <vt:lpstr>PowerPoint Presentation</vt:lpstr>
      <vt:lpstr>Example Task Network</vt:lpstr>
      <vt:lpstr>Example Task Network with Critical Path Marked</vt:lpstr>
      <vt:lpstr>Determining the Critical Path for Project X</vt:lpstr>
      <vt:lpstr>Timeline Chart</vt:lpstr>
      <vt:lpstr>Mechanics of a Timeline Chart</vt:lpstr>
      <vt:lpstr>Mechanics of a Timeline Chart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Fareeha</dc:creator>
  <cp:lastModifiedBy>Junaid .</cp:lastModifiedBy>
  <cp:revision>59</cp:revision>
  <cp:lastPrinted>1601-01-01T00:00:00Z</cp:lastPrinted>
  <dcterms:created xsi:type="dcterms:W3CDTF">1601-01-01T00:00:00Z</dcterms:created>
  <dcterms:modified xsi:type="dcterms:W3CDTF">2026-02-19T05:41:33Z</dcterms:modified>
</cp:coreProperties>
</file>