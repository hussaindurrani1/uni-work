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40"/>
  </p:notesMasterIdLst>
  <p:handoutMasterIdLst>
    <p:handoutMasterId r:id="rId41"/>
  </p:handoutMasterIdLst>
  <p:sldIdLst>
    <p:sldId id="256" r:id="rId2"/>
    <p:sldId id="329" r:id="rId3"/>
    <p:sldId id="266" r:id="rId4"/>
    <p:sldId id="320" r:id="rId5"/>
    <p:sldId id="267" r:id="rId6"/>
    <p:sldId id="330" r:id="rId7"/>
    <p:sldId id="327" r:id="rId8"/>
    <p:sldId id="275" r:id="rId9"/>
    <p:sldId id="276" r:id="rId10"/>
    <p:sldId id="331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7" r:id="rId19"/>
    <p:sldId id="296" r:id="rId20"/>
    <p:sldId id="315" r:id="rId21"/>
    <p:sldId id="325" r:id="rId22"/>
    <p:sldId id="326" r:id="rId23"/>
    <p:sldId id="294" r:id="rId24"/>
    <p:sldId id="295" r:id="rId25"/>
    <p:sldId id="332" r:id="rId26"/>
    <p:sldId id="352" r:id="rId27"/>
    <p:sldId id="351" r:id="rId28"/>
    <p:sldId id="353" r:id="rId29"/>
    <p:sldId id="358" r:id="rId30"/>
    <p:sldId id="360" r:id="rId31"/>
    <p:sldId id="361" r:id="rId32"/>
    <p:sldId id="362" r:id="rId33"/>
    <p:sldId id="363" r:id="rId34"/>
    <p:sldId id="364" r:id="rId35"/>
    <p:sldId id="365" r:id="rId36"/>
    <p:sldId id="366" r:id="rId37"/>
    <p:sldId id="367" r:id="rId38"/>
    <p:sldId id="359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47" autoAdjust="0"/>
    <p:restoredTop sz="94660"/>
  </p:normalViewPr>
  <p:slideViewPr>
    <p:cSldViewPr>
      <p:cViewPr varScale="1">
        <p:scale>
          <a:sx n="59" d="100"/>
          <a:sy n="59" d="100"/>
        </p:scale>
        <p:origin x="151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81E59-D615-4C4F-8D08-31342E3A30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5D010B-5E52-4E2A-B76B-559D90D3E6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8084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DAE162-814C-49A9-8700-F2B67208B27A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41DBD6-988F-498E-BD71-6511F23722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895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noFill/>
          <a:ln/>
        </p:spPr>
      </p:sp>
      <p:sp>
        <p:nvSpPr>
          <p:cNvPr id="57347" name="Rectangle 3"/>
          <p:cNvSpPr txBox="1"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460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14B0CE-D587-40E3-BDA0-A069F7A9B279}" type="datetime1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CSE291 - Introduction to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0C2AF-3B6B-44F7-86A4-C6FC21E1E98E}" type="datetime1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CSE291 - Introduction to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A7BE2-FAF0-44E3-946B-332C717C09D0}" type="datetime1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CSE291 - Introduction to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A3A64-6662-4093-BF62-78DBDDDACD19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CSE291 - Introduction to 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D24EC-71F3-465E-B8D0-569D41FDE19B}" type="datetime1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CSE291 - Introduction to Software Engineering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C5CBF-FB73-4D9C-BE78-AAF6A3877022}" type="datetime1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CSE291 - Introduction to Software Engineering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06029-55DF-4C7E-B59F-4383353DB862}" type="datetime1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CSE291 - Introduction to Software Engineering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709FF-E427-47EC-BB57-48E941716F2F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CSE291 - Introduction to 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357BA-030A-422F-BB3D-206A0B8B03B2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CSE291 - Introduction to Software Engineering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BFBC6-F3F6-4CA6-BD45-268D2B70838D}" type="datetime1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CSE291 - Introduction to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62BD9-EE63-455A-BFD4-83D7C5E4E1B5}" type="datetime1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CSE291 - Introduction to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ED5A34F1-C9E8-445A-9DE9-4177C33048B1}" type="datetime1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>CSE291 - Introduction to Software Engineering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A6450239-8D04-497C-835A-E2B24B67E86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eksforgeeks.org/graph-matrices-in-software-testing/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atevidyalay.com/cyclomatic-complexity-calculation-examples/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12750" y="1219200"/>
            <a:ext cx="8623300" cy="2057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5400" kern="1200" cap="all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r>
              <a:rPr lang="en-US" sz="3200" dirty="0">
                <a:solidFill>
                  <a:srgbClr val="C00000"/>
                </a:solidFill>
                <a:cs typeface="Times New Roman" pitchFamily="18" charset="0"/>
              </a:rPr>
              <a:t>CSSE3113 – </a:t>
            </a:r>
            <a:r>
              <a:rPr lang="en-US" sz="3200" cap="none" dirty="0">
                <a:solidFill>
                  <a:srgbClr val="C00000"/>
                </a:solidFill>
                <a:cs typeface="Times New Roman" pitchFamily="18" charset="0"/>
              </a:rPr>
              <a:t>Introduction to Software Engineering </a:t>
            </a:r>
            <a:br>
              <a:rPr lang="en-US" sz="3600" cap="none" dirty="0">
                <a:solidFill>
                  <a:srgbClr val="C00000"/>
                </a:solidFill>
                <a:cs typeface="Times New Roman" pitchFamily="18" charset="0"/>
              </a:rPr>
            </a:br>
            <a:endParaRPr lang="en-US" sz="3200" b="0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09800" y="3581400"/>
            <a:ext cx="4724400" cy="1905000"/>
          </a:xfrm>
        </p:spPr>
        <p:txBody>
          <a:bodyPr>
            <a:normAutofit/>
          </a:bodyPr>
          <a:lstStyle/>
          <a:p>
            <a:pPr marL="63500" algn="ctr" eaLnBrk="1" hangingPunct="1"/>
            <a:endParaRPr lang="en-US" sz="2000" dirty="0">
              <a:solidFill>
                <a:schemeClr val="tx1"/>
              </a:solidFill>
              <a:latin typeface="+mj-lt"/>
              <a:cs typeface="Times New Roman" pitchFamily="18" charset="0"/>
            </a:endParaRPr>
          </a:p>
          <a:p>
            <a:pPr marL="63500" algn="ctr"/>
            <a:r>
              <a:rPr lang="en-AU" altLang="en-AU" sz="2800" b="1" dirty="0">
                <a:solidFill>
                  <a:schemeClr val="tx1"/>
                </a:solidFill>
                <a:latin typeface="+mj-lt"/>
                <a:cs typeface="Times New Roman" pitchFamily="18" charset="0"/>
              </a:rPr>
              <a:t>Software Testing</a:t>
            </a:r>
            <a:endParaRPr lang="en-US" sz="2800" b="1" dirty="0">
              <a:solidFill>
                <a:schemeClr val="tx1"/>
              </a:solidFill>
              <a:latin typeface="+mj-lt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200" dirty="0"/>
          </a:p>
          <a:p>
            <a:pPr marL="0" indent="0" algn="just">
              <a:buNone/>
            </a:pPr>
            <a:endParaRPr lang="en-US" sz="2200" dirty="0"/>
          </a:p>
          <a:p>
            <a:pPr marL="0" indent="0" algn="just">
              <a:buNone/>
            </a:pPr>
            <a:r>
              <a:rPr lang="en-US" sz="2200" i="1" dirty="0"/>
              <a:t>The process of operating a system or component under specified conditions, observing or recording the results, and making an evaluation of some aspect of the system or component. </a:t>
            </a:r>
          </a:p>
          <a:p>
            <a:pPr algn="just">
              <a:buNone/>
            </a:pPr>
            <a:endParaRPr lang="en-US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0F0A-CF60-40B6-B18F-E3F312309FD8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166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	</a:t>
            </a:r>
            <a:br>
              <a:rPr lang="en-US" dirty="0"/>
            </a:br>
            <a:r>
              <a:rPr lang="en-US" sz="4400" dirty="0"/>
              <a:t>Software Testing</a:t>
            </a:r>
            <a:br>
              <a:rPr lang="en-US" dirty="0"/>
            </a:b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Low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Testing can be defined as </a:t>
            </a:r>
          </a:p>
          <a:p>
            <a:pPr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“	A process of analyzing a software item to detect the differences between existing and required conditions and to evaluate the features of the software item”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pPr algn="r">
              <a:buNone/>
            </a:pP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According to IEEE standard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4641B-94BD-4614-8497-DBD8C284F535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Software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97896"/>
            <a:ext cx="8229600" cy="4876800"/>
          </a:xfrm>
        </p:spPr>
        <p:txBody>
          <a:bodyPr>
            <a:normAutofit/>
          </a:bodyPr>
          <a:lstStyle/>
          <a:p>
            <a:endParaRPr lang="en-US" sz="2200" dirty="0"/>
          </a:p>
          <a:p>
            <a:pPr marL="0" indent="0" algn="just">
              <a:buNone/>
            </a:pPr>
            <a:endParaRPr lang="en-US" sz="2200" dirty="0"/>
          </a:p>
          <a:p>
            <a:pPr marL="0" indent="0" algn="just">
              <a:buNone/>
            </a:pPr>
            <a:r>
              <a:rPr lang="en-US" sz="2000" dirty="0">
                <a:cs typeface="Times New Roman" panose="02020603050405020304" pitchFamily="18" charset="0"/>
              </a:rPr>
              <a:t>- Testing is intended to show that a program does what it is intended to do and to discover program defects before it is put into use.</a:t>
            </a:r>
          </a:p>
          <a:p>
            <a:pPr marL="0" indent="0" algn="just">
              <a:buNone/>
            </a:pPr>
            <a:endParaRPr lang="en-US" sz="2000" dirty="0"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000" dirty="0">
                <a:cs typeface="Times New Roman" panose="02020603050405020304" pitchFamily="18" charset="0"/>
              </a:rPr>
              <a:t> - When you test software, you execute a program using artificial data. You check the results of the test run for errors, anomalies, or information about the program’s non-functional attributes</a:t>
            </a:r>
            <a:r>
              <a:rPr lang="en-US" sz="2000" dirty="0"/>
              <a:t>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0F0A-CF60-40B6-B18F-E3F312309FD8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689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33400" y="457200"/>
            <a:ext cx="8229600" cy="990600"/>
          </a:xfrm>
        </p:spPr>
        <p:txBody>
          <a:bodyPr>
            <a:normAutofit fontScale="90000"/>
          </a:bodyPr>
          <a:lstStyle/>
          <a:p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r>
              <a:rPr lang="en-US" sz="4400" dirty="0"/>
              <a:t>Who Does Testing</a:t>
            </a:r>
            <a:r>
              <a:rPr lang="en-US" sz="4400" dirty="0">
                <a:cs typeface="Times New Roman" pitchFamily="18" charset="0"/>
              </a:rPr>
              <a:t>?</a:t>
            </a:r>
            <a:br>
              <a:rPr lang="en-US" sz="4400" dirty="0"/>
            </a:br>
            <a:endParaRPr lang="en-US" sz="44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483291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	</a:t>
            </a:r>
          </a:p>
          <a:p>
            <a:pPr algn="just">
              <a:buNone/>
            </a:pPr>
            <a:r>
              <a:rPr lang="en-US" sz="2200" dirty="0">
                <a:latin typeface="+mj-lt"/>
                <a:cs typeface="Times New Roman" pitchFamily="18" charset="0"/>
              </a:rPr>
              <a:t>In most cases, following professionals are involved in testing of a system within their respective capacities:</a:t>
            </a:r>
          </a:p>
          <a:p>
            <a:pPr algn="just">
              <a:buNone/>
            </a:pPr>
            <a:endParaRPr lang="en-US" sz="2200" dirty="0">
              <a:latin typeface="+mj-lt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US" sz="2200" dirty="0">
                <a:latin typeface="+mj-lt"/>
                <a:cs typeface="Times New Roman" pitchFamily="18" charset="0"/>
              </a:rPr>
              <a:t>Software Tester</a:t>
            </a:r>
          </a:p>
          <a:p>
            <a:pPr algn="just">
              <a:buFont typeface="Arial" pitchFamily="34" charset="0"/>
              <a:buChar char="•"/>
            </a:pPr>
            <a:r>
              <a:rPr lang="en-US" sz="2200" dirty="0">
                <a:latin typeface="+mj-lt"/>
                <a:cs typeface="Times New Roman" pitchFamily="18" charset="0"/>
              </a:rPr>
              <a:t>Software Developer</a:t>
            </a:r>
          </a:p>
          <a:p>
            <a:pPr algn="just">
              <a:buFont typeface="Arial" pitchFamily="34" charset="0"/>
              <a:buChar char="•"/>
            </a:pPr>
            <a:r>
              <a:rPr lang="en-US" sz="2200" dirty="0">
                <a:latin typeface="+mj-lt"/>
                <a:cs typeface="Times New Roman" pitchFamily="18" charset="0"/>
              </a:rPr>
              <a:t>Project Leader/Manager</a:t>
            </a:r>
          </a:p>
          <a:p>
            <a:pPr algn="just">
              <a:buFont typeface="Arial" pitchFamily="34" charset="0"/>
              <a:buChar char="•"/>
            </a:pPr>
            <a:r>
              <a:rPr lang="en-US" sz="2200" dirty="0">
                <a:latin typeface="+mj-lt"/>
                <a:cs typeface="Times New Roman" pitchFamily="18" charset="0"/>
              </a:rPr>
              <a:t>End User</a:t>
            </a:r>
          </a:p>
          <a:p>
            <a:pPr algn="just">
              <a:buNone/>
            </a:pP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98EBC-DBA5-45CD-AEAB-AD5EF92B9F99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AE036-2E72-B75C-A85D-ED65D6209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A model of the software testing process</a:t>
            </a:r>
            <a:endParaRPr lang="en-PK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2F3DD78-7E49-8B00-1B0C-260B5F6C61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514600"/>
            <a:ext cx="8229600" cy="2743199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2BAEF-8CBA-F1E8-56FE-A58670509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0C2AF-3B6B-44F7-86A4-C6FC21E1E98E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2B859-1C91-D60F-2389-ECC25AFB4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743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/>
              <a:t>Levels of Testing</a:t>
            </a:r>
            <a:br>
              <a:rPr lang="en-US" dirty="0"/>
            </a:br>
            <a:r>
              <a:rPr lang="en-US" sz="2100" dirty="0"/>
              <a:t>Testing Organization Illustrated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2292" name="Picture 4" descr="Slide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43100" y="2286000"/>
            <a:ext cx="5486400" cy="359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9142676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Testing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690872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en-US" sz="2200" b="1" dirty="0">
                <a:latin typeface="+mj-lt"/>
                <a:cs typeface="Times New Roman" pitchFamily="18" charset="0"/>
              </a:rPr>
              <a:t>Manual testing</a:t>
            </a:r>
          </a:p>
          <a:p>
            <a:pPr algn="just">
              <a:buNone/>
            </a:pPr>
            <a:endParaRPr lang="en-US" sz="2200" dirty="0">
              <a:latin typeface="+mj-lt"/>
              <a:cs typeface="Times New Roman" pitchFamily="18" charset="0"/>
            </a:endParaRPr>
          </a:p>
          <a:p>
            <a:pPr algn="just"/>
            <a:r>
              <a:rPr lang="en-US" sz="2200" dirty="0">
                <a:latin typeface="+mj-lt"/>
                <a:cs typeface="Times New Roman" pitchFamily="18" charset="0"/>
              </a:rPr>
              <a:t>This type includes the testing of the Software manually i.e. without using any automated tool.</a:t>
            </a:r>
          </a:p>
          <a:p>
            <a:pPr algn="just">
              <a:buNone/>
            </a:pPr>
            <a:endParaRPr lang="en-US" sz="2200" dirty="0">
              <a:latin typeface="+mj-lt"/>
              <a:cs typeface="Times New Roman" pitchFamily="18" charset="0"/>
            </a:endParaRPr>
          </a:p>
          <a:p>
            <a:pPr algn="just"/>
            <a:r>
              <a:rPr lang="en-US" sz="2200" dirty="0">
                <a:latin typeface="+mj-lt"/>
                <a:cs typeface="Times New Roman" pitchFamily="18" charset="0"/>
              </a:rPr>
              <a:t>There are different stages for manual testing like unit testing, Integration testing, System testing and User Acceptance testing.</a:t>
            </a:r>
          </a:p>
          <a:p>
            <a:pPr algn="just"/>
            <a:endParaRPr lang="en-US" sz="2200" dirty="0">
              <a:latin typeface="+mj-lt"/>
              <a:cs typeface="Times New Roman" pitchFamily="18" charset="0"/>
            </a:endParaRPr>
          </a:p>
          <a:p>
            <a:pPr algn="just"/>
            <a:r>
              <a:rPr lang="en-US" sz="2200" dirty="0">
                <a:latin typeface="+mj-lt"/>
                <a:cs typeface="Times New Roman" pitchFamily="18" charset="0"/>
              </a:rPr>
              <a:t>Testers use test plan, test cases or test scenarios to test the Software to ensure the completeness of testing. </a:t>
            </a:r>
            <a:endParaRPr lang="en-US" sz="2200" b="1" dirty="0">
              <a:latin typeface="+mj-lt"/>
              <a:cs typeface="Times New Roman" pitchFamily="18" charset="0"/>
            </a:endParaRPr>
          </a:p>
          <a:p>
            <a:pPr algn="just"/>
            <a:endParaRPr lang="en-US" sz="2200" dirty="0">
              <a:latin typeface="+mj-lt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A5B7D-62AC-4E6C-9BD2-8EC0017E9CD5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990600"/>
          </a:xfrm>
        </p:spPr>
        <p:txBody>
          <a:bodyPr>
            <a:normAutofit fontScale="90000"/>
          </a:bodyPr>
          <a:lstStyle/>
          <a:p>
            <a:br>
              <a:rPr lang="en-US" sz="3600" dirty="0">
                <a:latin typeface="Times New Roman" pitchFamily="18" charset="0"/>
                <a:cs typeface="Times New Roman" pitchFamily="18" charset="0"/>
              </a:rPr>
            </a:br>
            <a:r>
              <a:rPr lang="en-US" sz="4400" dirty="0"/>
              <a:t>Automation Testing</a:t>
            </a:r>
            <a:br>
              <a:rPr lang="en-US" dirty="0"/>
            </a:b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843271"/>
          </a:xfrm>
        </p:spPr>
        <p:txBody>
          <a:bodyPr>
            <a:normAutofit/>
          </a:bodyPr>
          <a:lstStyle/>
          <a:p>
            <a:pPr algn="just"/>
            <a:r>
              <a:rPr lang="en-US" sz="2200" dirty="0">
                <a:latin typeface="+mj-lt"/>
                <a:cs typeface="Times New Roman" pitchFamily="18" charset="0"/>
              </a:rPr>
              <a:t>Automation testing which is also known as </a:t>
            </a:r>
            <a:r>
              <a:rPr lang="en-US" sz="2200" i="1" dirty="0">
                <a:latin typeface="+mj-lt"/>
                <a:cs typeface="Times New Roman" pitchFamily="18" charset="0"/>
              </a:rPr>
              <a:t>Test Automation</a:t>
            </a:r>
            <a:r>
              <a:rPr lang="en-US" sz="2200" dirty="0">
                <a:latin typeface="+mj-lt"/>
                <a:cs typeface="Times New Roman" pitchFamily="18" charset="0"/>
              </a:rPr>
              <a:t>, is when the tester uses another software to test the software. </a:t>
            </a:r>
          </a:p>
          <a:p>
            <a:pPr algn="just">
              <a:buNone/>
            </a:pPr>
            <a:endParaRPr lang="en-US" sz="2200" dirty="0">
              <a:latin typeface="+mj-lt"/>
              <a:cs typeface="Times New Roman" pitchFamily="18" charset="0"/>
            </a:endParaRPr>
          </a:p>
          <a:p>
            <a:pPr algn="just"/>
            <a:r>
              <a:rPr lang="en-US" sz="2200" dirty="0">
                <a:latin typeface="+mj-lt"/>
                <a:cs typeface="Times New Roman" pitchFamily="18" charset="0"/>
              </a:rPr>
              <a:t>This process involves automation of a manual process.</a:t>
            </a:r>
          </a:p>
          <a:p>
            <a:pPr algn="just">
              <a:buNone/>
            </a:pPr>
            <a:endParaRPr lang="en-US" sz="2200" dirty="0">
              <a:latin typeface="+mj-lt"/>
              <a:cs typeface="Times New Roman" pitchFamily="18" charset="0"/>
            </a:endParaRPr>
          </a:p>
          <a:p>
            <a:pPr algn="just"/>
            <a:r>
              <a:rPr lang="en-US" sz="2200" dirty="0">
                <a:latin typeface="+mj-lt"/>
                <a:cs typeface="Times New Roman" pitchFamily="18" charset="0"/>
              </a:rPr>
              <a:t>Integration of computerized tools into the process of software testing.</a:t>
            </a:r>
          </a:p>
          <a:p>
            <a:pPr algn="just">
              <a:buNone/>
            </a:pPr>
            <a:endParaRPr lang="en-US" sz="2200" dirty="0">
              <a:latin typeface="+mj-lt"/>
              <a:cs typeface="Times New Roman" pitchFamily="18" charset="0"/>
            </a:endParaRPr>
          </a:p>
          <a:p>
            <a:pPr algn="just"/>
            <a:r>
              <a:rPr lang="en-US" sz="2200" dirty="0">
                <a:latin typeface="+mj-lt"/>
              </a:rPr>
              <a:t>Code auditing</a:t>
            </a:r>
          </a:p>
          <a:p>
            <a:pPr algn="just"/>
            <a:r>
              <a:rPr lang="en-US" sz="2200" dirty="0">
                <a:latin typeface="+mj-lt"/>
              </a:rPr>
              <a:t>Coverage monitoring</a:t>
            </a:r>
          </a:p>
          <a:p>
            <a:pPr algn="just"/>
            <a:r>
              <a:rPr lang="en-US" sz="2200" dirty="0">
                <a:latin typeface="+mj-lt"/>
              </a:rPr>
              <a:t>Load tests…</a:t>
            </a:r>
            <a:r>
              <a:rPr lang="en-US" sz="2200" dirty="0" err="1">
                <a:latin typeface="+mj-lt"/>
              </a:rPr>
              <a:t>etc</a:t>
            </a:r>
            <a:endParaRPr lang="en-US" sz="2400" dirty="0">
              <a:latin typeface="+mj-lt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7F5DF-7C93-47FF-9D2A-7DFF62776D04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EEFCE-26E2-6FB2-ACB3-2982C13D9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137" y="454473"/>
            <a:ext cx="8229600" cy="990600"/>
          </a:xfrm>
        </p:spPr>
        <p:txBody>
          <a:bodyPr/>
          <a:lstStyle/>
          <a:p>
            <a:r>
              <a:rPr lang="en-US" dirty="0"/>
              <a:t>Software Testing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F673F-06DD-DB6E-2A75-57B8B8ECC4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242" y="1295400"/>
            <a:ext cx="8229600" cy="5257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700" dirty="0"/>
              <a:t>Typically, a commercial software system has to go through three stages of testing:</a:t>
            </a:r>
          </a:p>
          <a:p>
            <a:pPr marL="0" indent="0">
              <a:buNone/>
            </a:pPr>
            <a:endParaRPr lang="en-US" sz="1700" dirty="0"/>
          </a:p>
          <a:p>
            <a:pPr marL="0" indent="0" algn="just">
              <a:buNone/>
            </a:pPr>
            <a:r>
              <a:rPr lang="en-US" sz="1700" b="1" dirty="0"/>
              <a:t>Development testing</a:t>
            </a:r>
            <a:r>
              <a:rPr lang="en-US" sz="1700" dirty="0"/>
              <a:t>, where the system is tested during development to discover bugs and defects. System designers and programmers are likely to be involved in the testing process.</a:t>
            </a:r>
          </a:p>
          <a:p>
            <a:pPr marL="0" indent="0" algn="just">
              <a:buNone/>
            </a:pPr>
            <a:endParaRPr lang="en-US" sz="1700" dirty="0"/>
          </a:p>
          <a:p>
            <a:pPr marL="0" indent="0" algn="just">
              <a:buNone/>
            </a:pPr>
            <a:r>
              <a:rPr lang="en-US" sz="1700" b="1" dirty="0"/>
              <a:t>Release testing</a:t>
            </a:r>
            <a:r>
              <a:rPr lang="en-US" sz="1700" dirty="0"/>
              <a:t>, where a separate testing team tests a complete version of the</a:t>
            </a:r>
          </a:p>
          <a:p>
            <a:pPr marL="0" indent="0" algn="just">
              <a:buNone/>
            </a:pPr>
            <a:r>
              <a:rPr lang="en-US" sz="1700" dirty="0"/>
              <a:t> system before it is released to users. The aim of release testing is to check that</a:t>
            </a:r>
          </a:p>
          <a:p>
            <a:pPr marL="0" indent="0" algn="just">
              <a:buNone/>
            </a:pPr>
            <a:r>
              <a:rPr lang="en-US" sz="1700" dirty="0"/>
              <a:t> the </a:t>
            </a:r>
            <a:r>
              <a:rPr lang="en-US" sz="1700" dirty="0">
                <a:highlight>
                  <a:srgbClr val="FFFF00"/>
                </a:highlight>
              </a:rPr>
              <a:t>system meets the requirements of system stakeholders.</a:t>
            </a:r>
          </a:p>
          <a:p>
            <a:pPr marL="0" indent="0" algn="just">
              <a:buNone/>
            </a:pPr>
            <a:endParaRPr lang="en-US" sz="1700" dirty="0"/>
          </a:p>
          <a:p>
            <a:pPr marL="0" indent="0" algn="just">
              <a:buNone/>
            </a:pPr>
            <a:r>
              <a:rPr lang="en-US" sz="1700" b="1" dirty="0"/>
              <a:t>User testing</a:t>
            </a:r>
            <a:r>
              <a:rPr lang="en-US" sz="1700" dirty="0"/>
              <a:t>, where users or potential users of a system test the system in their</a:t>
            </a:r>
          </a:p>
          <a:p>
            <a:pPr marL="0" indent="0" algn="just">
              <a:buNone/>
            </a:pPr>
            <a:r>
              <a:rPr lang="en-US" sz="1700" dirty="0"/>
              <a:t> own environment. </a:t>
            </a:r>
          </a:p>
          <a:p>
            <a:pPr marL="0" indent="0" algn="just">
              <a:buNone/>
            </a:pPr>
            <a:endParaRPr lang="en-US" sz="1700" dirty="0"/>
          </a:p>
          <a:p>
            <a:pPr marL="274320" lvl="1" indent="0" algn="just">
              <a:buNone/>
            </a:pPr>
            <a:r>
              <a:rPr lang="en-US" sz="1700" dirty="0"/>
              <a:t>For software products, the ‘user’ may be an internal marketing group who decide if the software can be marketed, released, and sold. Acceptance testing is one type of user testing.</a:t>
            </a:r>
            <a:endParaRPr lang="en-PK" sz="17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012BC-B18F-674C-AE85-B3B87462E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0C2AF-3B6B-44F7-86A4-C6FC21E1E98E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A1FCC-509E-ACF8-237F-F5403B111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435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762000"/>
          </a:xfrm>
        </p:spPr>
        <p:txBody>
          <a:bodyPr>
            <a:noAutofit/>
          </a:bodyPr>
          <a:lstStyle/>
          <a:p>
            <a:pPr algn="ctr"/>
            <a:br>
              <a:rPr lang="en-US" sz="3600" dirty="0"/>
            </a:br>
            <a:r>
              <a:rPr lang="en-US" sz="3200" dirty="0"/>
              <a:t>Classification According to Testing Concept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en-US" sz="2400" dirty="0">
              <a:latin typeface="+mj-lt"/>
              <a:cs typeface="Times New Roman" pitchFamily="18" charset="0"/>
            </a:endParaRPr>
          </a:p>
          <a:p>
            <a:pPr algn="just"/>
            <a:r>
              <a:rPr lang="en-US" sz="2400" dirty="0">
                <a:latin typeface="+mj-lt"/>
                <a:cs typeface="Times New Roman" pitchFamily="18" charset="0"/>
              </a:rPr>
              <a:t>Black Box Testing</a:t>
            </a:r>
          </a:p>
          <a:p>
            <a:pPr algn="just"/>
            <a:r>
              <a:rPr lang="en-US" sz="2400" dirty="0">
                <a:latin typeface="+mj-lt"/>
                <a:cs typeface="Times New Roman" pitchFamily="18" charset="0"/>
              </a:rPr>
              <a:t>White Box Testing</a:t>
            </a:r>
          </a:p>
          <a:p>
            <a:pPr algn="just"/>
            <a:r>
              <a:rPr lang="en-US" dirty="0">
                <a:latin typeface="+mj-lt"/>
                <a:cs typeface="Times New Roman" pitchFamily="18" charset="0"/>
              </a:rPr>
              <a:t>Gray Box Testing</a:t>
            </a:r>
            <a:endParaRPr lang="en-US" sz="2400" dirty="0">
              <a:latin typeface="+mj-lt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5A4CA-2C06-457D-B530-21D379F8128C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33400" y="381000"/>
            <a:ext cx="8229600" cy="990600"/>
          </a:xfrm>
        </p:spPr>
        <p:txBody>
          <a:bodyPr>
            <a:normAutofit fontScale="90000"/>
          </a:bodyPr>
          <a:lstStyle/>
          <a:p>
            <a:br>
              <a:rPr lang="en-US" sz="4000" dirty="0"/>
            </a:br>
            <a:r>
              <a:rPr lang="en-US" sz="4400" dirty="0"/>
              <a:t>Black Box Testing</a:t>
            </a:r>
            <a:br>
              <a:rPr lang="en-US" dirty="0"/>
            </a:b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sz="2200" dirty="0"/>
          </a:p>
          <a:p>
            <a:pPr algn="just"/>
            <a:r>
              <a:rPr lang="en-US" sz="2200" dirty="0"/>
              <a:t>The technique of testing without having any knowledge of the interior workings of the application is Black Box testing. </a:t>
            </a:r>
          </a:p>
          <a:p>
            <a:pPr algn="just">
              <a:buNone/>
            </a:pPr>
            <a:endParaRPr lang="en-US" sz="2200" dirty="0"/>
          </a:p>
          <a:p>
            <a:pPr algn="just"/>
            <a:r>
              <a:rPr lang="en-US" sz="2200" dirty="0"/>
              <a:t>The tester does not have access to the source code. </a:t>
            </a:r>
          </a:p>
          <a:p>
            <a:pPr algn="just">
              <a:buNone/>
            </a:pPr>
            <a:endParaRPr lang="en-US" sz="2200" dirty="0"/>
          </a:p>
          <a:p>
            <a:pPr algn="just"/>
            <a:r>
              <a:rPr lang="en-US" sz="2200" dirty="0"/>
              <a:t>A tester will interact with the system's user interface by providing inputs and examining outputs without knowing how and where the inputs are worked upon.</a:t>
            </a:r>
          </a:p>
          <a:p>
            <a:pPr algn="just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AEC804-E42C-4D20-9BEB-EB013CCD2380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sz="4000" dirty="0"/>
            </a:br>
            <a:r>
              <a:rPr lang="en-US" sz="4400" dirty="0"/>
              <a:t>Black Box Testing </a:t>
            </a:r>
            <a:br>
              <a:rPr lang="en-US" dirty="0"/>
            </a:b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81000" y="1557529"/>
            <a:ext cx="8229600" cy="4157471"/>
          </a:xfrm>
        </p:spPr>
        <p:txBody>
          <a:bodyPr/>
          <a:lstStyle/>
          <a:p>
            <a:pPr algn="just">
              <a:buNone/>
            </a:pPr>
            <a:r>
              <a:rPr lang="en-US" sz="2200" b="1" dirty="0"/>
              <a:t>Advantages</a:t>
            </a:r>
          </a:p>
          <a:p>
            <a:pPr algn="just">
              <a:buNone/>
            </a:pPr>
            <a:endParaRPr lang="en-US" sz="2200" dirty="0"/>
          </a:p>
          <a:p>
            <a:pPr algn="just"/>
            <a:r>
              <a:rPr lang="en-US" sz="2200" dirty="0"/>
              <a:t>Well suited and efficient for large code segments.</a:t>
            </a:r>
          </a:p>
          <a:p>
            <a:pPr algn="just"/>
            <a:r>
              <a:rPr lang="en-US" sz="2200" dirty="0"/>
              <a:t>Code Access not required.</a:t>
            </a:r>
          </a:p>
          <a:p>
            <a:pPr algn="just"/>
            <a:r>
              <a:rPr lang="en-US" sz="2200" dirty="0"/>
              <a:t>Clearly separates user's perspective from the developer's perspective.</a:t>
            </a:r>
          </a:p>
          <a:p>
            <a:pPr algn="just"/>
            <a:r>
              <a:rPr lang="en-US" sz="2200" dirty="0"/>
              <a:t>Large numbers of moderately skilled testers can test the application with no knowledge of implementation, programming language or operating systems.</a:t>
            </a:r>
          </a:p>
          <a:p>
            <a:pPr algn="just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12466-4E31-4206-8BFA-BD6310FBD5DD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Black Box Testing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sz="2200" b="1" dirty="0"/>
              <a:t>Disadvantages</a:t>
            </a:r>
          </a:p>
          <a:p>
            <a:pPr algn="just">
              <a:buNone/>
            </a:pPr>
            <a:endParaRPr lang="en-US" sz="2200" b="1" dirty="0"/>
          </a:p>
          <a:p>
            <a:pPr algn="just"/>
            <a:r>
              <a:rPr lang="en-US" sz="2200" dirty="0"/>
              <a:t>Inefficient testing, due to the fact that the tester only has limited knowledge about an application.</a:t>
            </a:r>
          </a:p>
          <a:p>
            <a:pPr algn="just">
              <a:buNone/>
            </a:pPr>
            <a:endParaRPr lang="en-US" sz="2200" dirty="0"/>
          </a:p>
          <a:p>
            <a:pPr algn="just"/>
            <a:r>
              <a:rPr lang="en-US" sz="2200" dirty="0"/>
              <a:t>Blind Coverage, since the tester cannot target specific code segments or error prone areas.</a:t>
            </a:r>
          </a:p>
          <a:p>
            <a:pPr algn="just">
              <a:buNone/>
            </a:pPr>
            <a:endParaRPr lang="en-US" sz="2200" dirty="0"/>
          </a:p>
          <a:p>
            <a:pPr algn="just"/>
            <a:r>
              <a:rPr lang="en-US" sz="2200" dirty="0"/>
              <a:t>The test cases are difficult to design.</a:t>
            </a:r>
          </a:p>
          <a:p>
            <a:pPr algn="just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19B8A-7D87-4535-AB9D-57E16B6857C7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33400" y="457200"/>
            <a:ext cx="8229600" cy="990600"/>
          </a:xfrm>
        </p:spPr>
        <p:txBody>
          <a:bodyPr>
            <a:normAutofit/>
          </a:bodyPr>
          <a:lstStyle/>
          <a:p>
            <a:r>
              <a:rPr lang="en-US" dirty="0"/>
              <a:t>White Box Testing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200" dirty="0"/>
              <a:t>White box testing is the detailed investigation of internal logic and structure of the code.</a:t>
            </a:r>
          </a:p>
          <a:p>
            <a:pPr algn="just">
              <a:buNone/>
            </a:pPr>
            <a:endParaRPr lang="en-US" sz="2200" dirty="0"/>
          </a:p>
          <a:p>
            <a:pPr algn="just"/>
            <a:r>
              <a:rPr lang="en-US" sz="2200" dirty="0"/>
              <a:t> White box testing is also called glass testing or open box testing. </a:t>
            </a:r>
          </a:p>
          <a:p>
            <a:pPr algn="just">
              <a:buNone/>
            </a:pPr>
            <a:endParaRPr lang="en-US" sz="2200" dirty="0"/>
          </a:p>
          <a:p>
            <a:pPr algn="just"/>
            <a:r>
              <a:rPr lang="en-US" sz="2200" dirty="0"/>
              <a:t>In order to perform white box testing on an application, the tester needs to have knowledge of the internal working of the code.</a:t>
            </a:r>
          </a:p>
          <a:p>
            <a:pPr algn="just">
              <a:buNone/>
            </a:pPr>
            <a:endParaRPr lang="en-US" sz="2200" dirty="0"/>
          </a:p>
          <a:p>
            <a:pPr algn="just"/>
            <a:r>
              <a:rPr lang="en-US" sz="2200" dirty="0"/>
              <a:t>The tester needs to have a look inside the source code and find out which unit/chunk of the code is behaving inappropriately.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30C3D-B40E-4EC9-819B-90DAAF1E47B5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White Box Testing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200" b="1" dirty="0"/>
              <a:t>Advantages</a:t>
            </a:r>
          </a:p>
          <a:p>
            <a:pPr algn="just"/>
            <a:endParaRPr lang="en-US" sz="2200" dirty="0"/>
          </a:p>
          <a:p>
            <a:pPr algn="just"/>
            <a:r>
              <a:rPr lang="en-US" sz="2200" dirty="0"/>
              <a:t>As the tester has knowledge of the source code, it becomes very easy to find out which type of data can help in testing the application effectively.</a:t>
            </a:r>
          </a:p>
          <a:p>
            <a:pPr algn="just">
              <a:buNone/>
            </a:pPr>
            <a:endParaRPr lang="en-US" sz="2200" dirty="0"/>
          </a:p>
          <a:p>
            <a:pPr algn="just"/>
            <a:r>
              <a:rPr lang="en-US" sz="2200" dirty="0"/>
              <a:t>Extra lines of code can be removed which can bring in hidden defects.</a:t>
            </a:r>
          </a:p>
          <a:p>
            <a:pPr algn="just">
              <a:buNone/>
            </a:pPr>
            <a:endParaRPr lang="en-US" sz="2200" dirty="0"/>
          </a:p>
          <a:p>
            <a:pPr algn="just"/>
            <a:r>
              <a:rPr lang="en-US" sz="2200" dirty="0"/>
              <a:t>Due to the tester's knowledge about the code, maximum coverage is attained during test scenario writing.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D71A8-D2ED-4823-9F3A-047CB2150B8B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White Box Testing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en-US" sz="2200" b="1" dirty="0"/>
              <a:t>Disadvantages</a:t>
            </a:r>
          </a:p>
          <a:p>
            <a:pPr algn="just">
              <a:buNone/>
            </a:pPr>
            <a:endParaRPr lang="en-US" sz="2200" b="1" dirty="0"/>
          </a:p>
          <a:p>
            <a:pPr algn="just"/>
            <a:r>
              <a:rPr lang="en-US" sz="2200" dirty="0"/>
              <a:t>Due to the fact that a skilled tester is needed to perform white box testing, the costs are increased.</a:t>
            </a:r>
          </a:p>
          <a:p>
            <a:pPr algn="just">
              <a:buNone/>
            </a:pPr>
            <a:endParaRPr lang="en-US" sz="2200" dirty="0"/>
          </a:p>
          <a:p>
            <a:pPr algn="just"/>
            <a:r>
              <a:rPr lang="en-US" sz="2200" dirty="0"/>
              <a:t>Sometimes it is impossible to look into every nook and corner to find out hidden errors.</a:t>
            </a:r>
          </a:p>
          <a:p>
            <a:pPr algn="just">
              <a:buNone/>
            </a:pPr>
            <a:endParaRPr lang="en-US" sz="2200" dirty="0"/>
          </a:p>
          <a:p>
            <a:pPr algn="just"/>
            <a:r>
              <a:rPr lang="en-US" sz="2200" dirty="0"/>
              <a:t>It is difficult to maintain white box testing as the use of specialized tools like code analyzers and debugging tools are required.</a:t>
            </a:r>
          </a:p>
          <a:p>
            <a:pPr algn="just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6DE63B-5CD6-49DD-8AF5-F83E8E0434B6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" y="381000"/>
            <a:ext cx="8458200" cy="868362"/>
          </a:xfrm>
        </p:spPr>
        <p:txBody>
          <a:bodyPr>
            <a:noAutofit/>
          </a:bodyPr>
          <a:lstStyle/>
          <a:p>
            <a:r>
              <a:rPr lang="en-US" dirty="0"/>
              <a:t>Black Box  </a:t>
            </a:r>
            <a:r>
              <a:rPr lang="en-US" dirty="0" err="1"/>
              <a:t>vs</a:t>
            </a:r>
            <a:r>
              <a:rPr lang="en-US" dirty="0"/>
              <a:t> White Box</a:t>
            </a:r>
            <a:endParaRPr lang="en-US" sz="36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8002558"/>
              </p:ext>
            </p:extLst>
          </p:nvPr>
        </p:nvGraphicFramePr>
        <p:xfrm>
          <a:off x="152400" y="1371601"/>
          <a:ext cx="8839200" cy="5333999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73224">
                <a:tc>
                  <a:txBody>
                    <a:bodyPr/>
                    <a:lstStyle/>
                    <a:p>
                      <a:r>
                        <a:rPr lang="en-US" sz="1600" b="1" dirty="0"/>
                        <a:t>Black Box Testing</a:t>
                      </a:r>
                    </a:p>
                  </a:txBody>
                  <a:tcPr marL="5625" marR="5625" marT="2812" marB="2812"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White Box Testing</a:t>
                      </a:r>
                    </a:p>
                  </a:txBody>
                  <a:tcPr marL="5625" marR="5625" marT="2812" marB="281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8581">
                <a:tc>
                  <a:txBody>
                    <a:bodyPr/>
                    <a:lstStyle/>
                    <a:p>
                      <a:r>
                        <a:rPr lang="en-US" sz="1600" dirty="0"/>
                        <a:t>The Internal Workings of an application are not required to be known</a:t>
                      </a:r>
                    </a:p>
                  </a:txBody>
                  <a:tcPr marL="5625" marR="5625" marT="2812" marB="2812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Tester has full knowledge of the Internal workings of the application</a:t>
                      </a:r>
                    </a:p>
                  </a:txBody>
                  <a:tcPr marL="5625" marR="5625" marT="2812" marB="281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39298">
                <a:tc>
                  <a:txBody>
                    <a:bodyPr/>
                    <a:lstStyle/>
                    <a:p>
                      <a:r>
                        <a:rPr lang="en-US" sz="1600" dirty="0"/>
                        <a:t>Also known as closed box testing, data driven testing and functional testing</a:t>
                      </a:r>
                    </a:p>
                  </a:txBody>
                  <a:tcPr marL="5625" marR="5625" marT="2812" marB="2812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Also known as clear box testing, structural testing or code based testing</a:t>
                      </a:r>
                    </a:p>
                  </a:txBody>
                  <a:tcPr marL="5625" marR="5625" marT="2812" marB="281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3224">
                <a:tc>
                  <a:txBody>
                    <a:bodyPr/>
                    <a:lstStyle/>
                    <a:p>
                      <a:r>
                        <a:rPr lang="en-US" sz="1600" dirty="0"/>
                        <a:t>Performed by end users and also by testers and developers</a:t>
                      </a:r>
                    </a:p>
                  </a:txBody>
                  <a:tcPr marL="5625" marR="5625" marT="2812" marB="2812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Normally done by testers and developers</a:t>
                      </a:r>
                    </a:p>
                  </a:txBody>
                  <a:tcPr marL="5625" marR="5625" marT="2812" marB="281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83941">
                <a:tc>
                  <a:txBody>
                    <a:bodyPr/>
                    <a:lstStyle/>
                    <a:p>
                      <a:r>
                        <a:rPr lang="en-US" sz="1600"/>
                        <a:t>Testing is based on external expectations - Internal behavior of the application is unknown</a:t>
                      </a:r>
                    </a:p>
                  </a:txBody>
                  <a:tcPr marL="5625" marR="5625" marT="2812" marB="2812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Internal workings are fully known and the tester can design test data accordingly</a:t>
                      </a:r>
                    </a:p>
                  </a:txBody>
                  <a:tcPr marL="5625" marR="5625" marT="2812" marB="281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3224">
                <a:tc>
                  <a:txBody>
                    <a:bodyPr/>
                    <a:lstStyle/>
                    <a:p>
                      <a:r>
                        <a:rPr lang="en-US" sz="1600"/>
                        <a:t>This is the least time consuming and exhaustive</a:t>
                      </a:r>
                    </a:p>
                  </a:txBody>
                  <a:tcPr marL="5625" marR="5625" marT="2812" marB="2812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The most exhaustive and time consuming type of testing</a:t>
                      </a:r>
                    </a:p>
                  </a:txBody>
                  <a:tcPr marL="5625" marR="5625" marT="2812" marB="281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2507">
                <a:tc>
                  <a:txBody>
                    <a:bodyPr/>
                    <a:lstStyle/>
                    <a:p>
                      <a:r>
                        <a:rPr lang="en-US" sz="1600" dirty="0"/>
                        <a:t>Not suited to algorithm testing</a:t>
                      </a:r>
                    </a:p>
                  </a:txBody>
                  <a:tcPr marL="5625" marR="5625" marT="2812" marB="2812" anchor="ctr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Suited for algorithm testing</a:t>
                      </a:r>
                    </a:p>
                  </a:txBody>
                  <a:tcPr marL="5625" marR="5625" marT="2812" marB="281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C632E-DFB1-472C-83C1-FD8E5340E261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5800" y="533400"/>
            <a:ext cx="7696200" cy="5867400"/>
          </a:xfrm>
          <a:prstGeom prst="rect">
            <a:avLst/>
          </a:prstGeom>
        </p:spPr>
      </p:pic>
      <p:sp>
        <p:nvSpPr>
          <p:cNvPr id="8" name="TextBox 2"/>
          <p:cNvSpPr txBox="1"/>
          <p:nvPr/>
        </p:nvSpPr>
        <p:spPr>
          <a:xfrm>
            <a:off x="1219200" y="621287"/>
            <a:ext cx="2890343" cy="974626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3795"/>
              </a:lnSpc>
            </a:pPr>
            <a:r>
              <a:rPr lang="en-CA" sz="3305" dirty="0">
                <a:solidFill>
                  <a:srgbClr val="FF0000"/>
                </a:solidFill>
                <a:latin typeface="Tw Cen MT"/>
                <a:cs typeface="Tw Cen MT"/>
              </a:rPr>
              <a:t>Gray Box Testing</a:t>
            </a:r>
          </a:p>
          <a:p>
            <a:pPr>
              <a:lnSpc>
                <a:spcPts val="3795"/>
              </a:lnSpc>
            </a:pPr>
            <a:endParaRPr lang="en-CA" sz="3305" dirty="0">
              <a:solidFill>
                <a:srgbClr val="FF0000"/>
              </a:solidFill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666876" y="2085976"/>
            <a:ext cx="5915081" cy="538609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425"/>
              </a:lnSpc>
              <a:tabLst>
                <a:tab pos="342900" algn="l"/>
              </a:tabLst>
            </a:pPr>
            <a:r>
              <a:rPr lang="en-CA" sz="720" dirty="0">
                <a:solidFill>
                  <a:srgbClr val="CC8E5F"/>
                </a:solidFill>
                <a:latin typeface="Arial Unicode MS"/>
                <a:cs typeface="Arial Unicode MS"/>
              </a:rPr>
              <a:t></a:t>
            </a:r>
            <a:r>
              <a:rPr lang="en-CA" sz="1197" dirty="0">
                <a:solidFill>
                  <a:srgbClr val="000000"/>
                </a:solidFill>
                <a:latin typeface="Tw Cen MT"/>
                <a:cs typeface="Tw Cen MT"/>
              </a:rPr>
              <a:t>      Gray box testing is a software testing technique that uses a combination of black box testing</a:t>
            </a:r>
            <a:br>
              <a:rPr lang="en-CA" sz="1197" dirty="0">
                <a:solidFill>
                  <a:srgbClr val="000000"/>
                </a:solidFill>
                <a:latin typeface="Times New Roman"/>
              </a:rPr>
            </a:br>
            <a:r>
              <a:rPr lang="en-CA" sz="1197" dirty="0">
                <a:solidFill>
                  <a:srgbClr val="000000"/>
                </a:solidFill>
                <a:latin typeface="Tw Cen MT"/>
                <a:cs typeface="Tw Cen MT"/>
              </a:rPr>
              <a:t>	and white box testing. Gray box testing is not black box testing, because the tester does</a:t>
            </a:r>
          </a:p>
          <a:p>
            <a:pPr>
              <a:lnSpc>
                <a:spcPts val="1425"/>
              </a:lnSpc>
            </a:pPr>
            <a:endParaRPr lang="en-CA" sz="1197" dirty="0">
              <a:solidFill>
                <a:srgbClr val="000000"/>
              </a:solidFill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009776" y="2447926"/>
            <a:ext cx="3789499" cy="35907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380"/>
              </a:lnSpc>
            </a:pPr>
            <a:r>
              <a:rPr lang="en-CA" sz="1199">
                <a:solidFill>
                  <a:srgbClr val="000000"/>
                </a:solidFill>
                <a:latin typeface="Tw Cen MT"/>
                <a:cs typeface="Tw Cen MT"/>
              </a:rPr>
              <a:t>know some of the internal workings of the software under test.</a:t>
            </a:r>
          </a:p>
          <a:p>
            <a:pPr>
              <a:lnSpc>
                <a:spcPts val="1380"/>
              </a:lnSpc>
            </a:pPr>
            <a:endParaRPr lang="en-CA" sz="1199">
              <a:solidFill>
                <a:srgbClr val="000000"/>
              </a:solidFill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666876" y="2838451"/>
            <a:ext cx="5892639" cy="75629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463"/>
              </a:lnSpc>
              <a:tabLst>
                <a:tab pos="342900" algn="l"/>
                <a:tab pos="342900" algn="l"/>
              </a:tabLst>
            </a:pPr>
            <a:r>
              <a:rPr lang="en-CA" sz="720">
                <a:solidFill>
                  <a:srgbClr val="CC8E5F"/>
                </a:solidFill>
                <a:latin typeface="Arial Unicode MS"/>
                <a:cs typeface="Arial Unicode MS"/>
              </a:rPr>
              <a:t></a:t>
            </a:r>
            <a:r>
              <a:rPr lang="en-CA" sz="1197">
                <a:solidFill>
                  <a:srgbClr val="000000"/>
                </a:solidFill>
                <a:latin typeface="Tw Cen MT"/>
                <a:cs typeface="Tw Cen MT"/>
              </a:rPr>
              <a:t>      In gray box testing, the tester applies a limited number of test cases to the internal workings</a:t>
            </a:r>
            <a:br>
              <a:rPr lang="en-CA" sz="1197">
                <a:solidFill>
                  <a:srgbClr val="000000"/>
                </a:solidFill>
                <a:latin typeface="Times New Roman"/>
              </a:rPr>
            </a:br>
            <a:r>
              <a:rPr lang="en-CA" sz="1197">
                <a:solidFill>
                  <a:srgbClr val="000000"/>
                </a:solidFill>
                <a:latin typeface="Tw Cen MT"/>
                <a:cs typeface="Tw Cen MT"/>
              </a:rPr>
              <a:t>	of the software under test. In the remaining part of the gray box testing, one takes a black</a:t>
            </a:r>
            <a:br>
              <a:rPr lang="en-CA" sz="1197">
                <a:solidFill>
                  <a:srgbClr val="000000"/>
                </a:solidFill>
                <a:latin typeface="Times New Roman"/>
              </a:rPr>
            </a:br>
            <a:r>
              <a:rPr lang="en-CA" sz="1197">
                <a:solidFill>
                  <a:srgbClr val="000000"/>
                </a:solidFill>
                <a:latin typeface="Tw Cen MT"/>
                <a:cs typeface="Tw Cen MT"/>
              </a:rPr>
              <a:t>	box approach in applying inputs to the software under test and observing the outputs.</a:t>
            </a:r>
          </a:p>
          <a:p>
            <a:pPr>
              <a:lnSpc>
                <a:spcPts val="1463"/>
              </a:lnSpc>
            </a:pPr>
            <a:endParaRPr lang="en-CA" sz="1197">
              <a:solidFill>
                <a:srgbClr val="000000"/>
              </a:solidFill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666875" y="3609976"/>
            <a:ext cx="5812489" cy="563937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>
              <a:lnSpc>
                <a:spcPts val="1500"/>
              </a:lnSpc>
              <a:tabLst>
                <a:tab pos="342900" algn="l"/>
              </a:tabLst>
            </a:pPr>
            <a:r>
              <a:rPr lang="en-CA" sz="720" dirty="0">
                <a:solidFill>
                  <a:srgbClr val="CC8E5F"/>
                </a:solidFill>
                <a:latin typeface="Arial Unicode MS"/>
                <a:cs typeface="Arial Unicode MS"/>
              </a:rPr>
              <a:t></a:t>
            </a:r>
            <a:r>
              <a:rPr lang="en-CA" sz="1197" dirty="0">
                <a:solidFill>
                  <a:srgbClr val="000000"/>
                </a:solidFill>
                <a:latin typeface="Tw Cen MT"/>
                <a:cs typeface="Tw Cen MT"/>
              </a:rPr>
              <a:t>      This is particularly important when conducting </a:t>
            </a:r>
            <a:r>
              <a:rPr lang="en-CA" sz="1197" dirty="0">
                <a:solidFill>
                  <a:srgbClr val="FF0000"/>
                </a:solidFill>
                <a:latin typeface="Tw Cen MT"/>
                <a:cs typeface="Tw Cen MT"/>
              </a:rPr>
              <a:t>integration testing </a:t>
            </a:r>
            <a:r>
              <a:rPr lang="en-CA" sz="1197" dirty="0">
                <a:solidFill>
                  <a:srgbClr val="000000"/>
                </a:solidFill>
                <a:latin typeface="Tw Cen MT"/>
                <a:cs typeface="Tw Cen MT"/>
              </a:rPr>
              <a:t>between two modules of</a:t>
            </a:r>
            <a:br>
              <a:rPr lang="en-CA" sz="1197" dirty="0">
                <a:solidFill>
                  <a:srgbClr val="000000"/>
                </a:solidFill>
                <a:latin typeface="Times New Roman"/>
              </a:rPr>
            </a:br>
            <a:r>
              <a:rPr lang="en-CA" sz="1197" dirty="0">
                <a:solidFill>
                  <a:srgbClr val="000000"/>
                </a:solidFill>
                <a:latin typeface="Tw Cen MT"/>
                <a:cs typeface="Tw Cen MT"/>
              </a:rPr>
              <a:t>	code written by two different developers, where only the </a:t>
            </a:r>
            <a:r>
              <a:rPr lang="en-CA" sz="1197" dirty="0">
                <a:solidFill>
                  <a:srgbClr val="FF0000"/>
                </a:solidFill>
                <a:latin typeface="Tw Cen MT"/>
                <a:cs typeface="Tw Cen MT"/>
              </a:rPr>
              <a:t>interfaces are exposed for test</a:t>
            </a:r>
            <a:r>
              <a:rPr lang="en-CA" sz="1197" dirty="0">
                <a:solidFill>
                  <a:srgbClr val="000000"/>
                </a:solidFill>
                <a:latin typeface="Tw Cen MT"/>
                <a:cs typeface="Tw Cen MT"/>
              </a:rPr>
              <a:t>.</a:t>
            </a:r>
          </a:p>
          <a:p>
            <a:pPr>
              <a:lnSpc>
                <a:spcPts val="1500"/>
              </a:lnSpc>
            </a:pPr>
            <a:endParaRPr lang="en-CA" sz="1197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Testing strategies/ Development testing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200" dirty="0"/>
              <a:t>There are basically two testing strategies:</a:t>
            </a:r>
          </a:p>
          <a:p>
            <a:pPr algn="just"/>
            <a:endParaRPr lang="en-US" sz="2200" dirty="0"/>
          </a:p>
          <a:p>
            <a:pPr algn="just">
              <a:buNone/>
            </a:pPr>
            <a:r>
              <a:rPr lang="en-US" sz="2200" b="1" dirty="0"/>
              <a:t>Big bang testing</a:t>
            </a:r>
            <a:r>
              <a:rPr lang="en-US" sz="2200" dirty="0"/>
              <a:t>: tests the software as a whole, once the completed package is available.</a:t>
            </a:r>
          </a:p>
          <a:p>
            <a:pPr algn="just">
              <a:buNone/>
            </a:pPr>
            <a:endParaRPr lang="en-US" sz="2200" dirty="0"/>
          </a:p>
          <a:p>
            <a:pPr algn="just">
              <a:buNone/>
            </a:pPr>
            <a:r>
              <a:rPr lang="en-US" sz="2200" b="1" dirty="0"/>
              <a:t>Incremental testing</a:t>
            </a:r>
            <a:r>
              <a:rPr lang="en-US" sz="2200" dirty="0"/>
              <a:t>: </a:t>
            </a:r>
          </a:p>
          <a:p>
            <a:pPr algn="just"/>
            <a:r>
              <a:rPr lang="en-US" sz="2200" dirty="0"/>
              <a:t>Tests the software piecemeal – software modules are tested as they are completed </a:t>
            </a:r>
            <a:r>
              <a:rPr lang="en-US" sz="2200" dirty="0">
                <a:highlight>
                  <a:srgbClr val="FFFF00"/>
                </a:highlight>
              </a:rPr>
              <a:t>(unit tests)</a:t>
            </a:r>
          </a:p>
          <a:p>
            <a:pPr algn="just"/>
            <a:r>
              <a:rPr lang="en-US" sz="2200" dirty="0"/>
              <a:t>followed by groups of modules composed of tested modules integrated with newly completed modules </a:t>
            </a:r>
            <a:r>
              <a:rPr lang="en-US" sz="2200" dirty="0">
                <a:highlight>
                  <a:srgbClr val="FFFF00"/>
                </a:highlight>
              </a:rPr>
              <a:t>(integration tests).</a:t>
            </a:r>
          </a:p>
          <a:p>
            <a:pPr algn="just"/>
            <a:r>
              <a:rPr lang="en-US" sz="2200" dirty="0"/>
              <a:t>Once the entire package is completed, it is tested as a whole </a:t>
            </a:r>
            <a:r>
              <a:rPr lang="en-US" sz="2200" dirty="0">
                <a:highlight>
                  <a:srgbClr val="FFFF00"/>
                </a:highlight>
              </a:rPr>
              <a:t>(system test).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C1108-FEC7-4D75-81DC-0E3ECF9D87E0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</p:spPr>
        <p:txBody>
          <a:bodyPr>
            <a:normAutofit fontScale="90000"/>
          </a:bodyPr>
          <a:lstStyle/>
          <a:p>
            <a:br>
              <a:rPr lang="en-US" sz="4000" dirty="0"/>
            </a:br>
            <a:r>
              <a:rPr lang="en-US" sz="4400" dirty="0"/>
              <a:t>Unit Testing</a:t>
            </a:r>
            <a:br>
              <a:rPr lang="en-US" dirty="0"/>
            </a:b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endParaRPr lang="en-US" sz="2200" dirty="0"/>
          </a:p>
          <a:p>
            <a:pPr algn="just"/>
            <a:r>
              <a:rPr lang="en-US" sz="2200" dirty="0"/>
              <a:t>Unit testing is performed by the respective developers on the individual units of source code assigned areas. </a:t>
            </a:r>
          </a:p>
          <a:p>
            <a:pPr algn="just">
              <a:buNone/>
            </a:pPr>
            <a:endParaRPr lang="en-US" sz="2200" dirty="0"/>
          </a:p>
          <a:p>
            <a:pPr algn="just"/>
            <a:r>
              <a:rPr lang="en-US" sz="2200" dirty="0"/>
              <a:t>The goal of unit testing is to isolate each part of the program and show that individual parts are correct in terms of requirements and functionality.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7EDBB-9116-4B0B-9296-A44144EB8541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33400" y="457200"/>
            <a:ext cx="8229600" cy="990600"/>
          </a:xfrm>
        </p:spPr>
        <p:txBody>
          <a:bodyPr>
            <a:noAutofit/>
          </a:bodyPr>
          <a:lstStyle/>
          <a:p>
            <a:r>
              <a:rPr lang="en-US" dirty="0"/>
              <a:t>Integration Testing /System testing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329"/>
            <a:ext cx="8229600" cy="4309871"/>
          </a:xfrm>
        </p:spPr>
        <p:txBody>
          <a:bodyPr>
            <a:normAutofit fontScale="92500" lnSpcReduction="20000"/>
          </a:bodyPr>
          <a:lstStyle/>
          <a:p>
            <a:pPr algn="justLow"/>
            <a:endParaRPr lang="en-US" sz="2200" dirty="0"/>
          </a:p>
          <a:p>
            <a:pPr marL="0" indent="0" algn="just">
              <a:buNone/>
            </a:pPr>
            <a:r>
              <a:rPr lang="en-US" dirty="0"/>
              <a:t>The testing of combined parts of an application to determine if they function correctly together is Integration testing. </a:t>
            </a:r>
          </a:p>
          <a:p>
            <a:pPr algn="justLow"/>
            <a:endParaRPr lang="en-US" dirty="0"/>
          </a:p>
          <a:p>
            <a:pPr>
              <a:buNone/>
            </a:pPr>
            <a:r>
              <a:rPr lang="en-US" b="1" dirty="0"/>
              <a:t>System Testing</a:t>
            </a:r>
            <a:br>
              <a:rPr lang="en-US" dirty="0"/>
            </a:br>
            <a:endParaRPr lang="en-US" dirty="0"/>
          </a:p>
          <a:p>
            <a:pPr algn="just"/>
            <a:r>
              <a:rPr lang="en-US" dirty="0"/>
              <a:t>This is the next level in the testing and tests the system as a whole. </a:t>
            </a:r>
          </a:p>
          <a:p>
            <a:pPr algn="just">
              <a:buNone/>
            </a:pPr>
            <a:endParaRPr lang="en-US" dirty="0"/>
          </a:p>
          <a:p>
            <a:pPr algn="just"/>
            <a:r>
              <a:rPr lang="en-US" dirty="0"/>
              <a:t>Once all the components are integrated, the application as a whole is tested to see that it meets Quality Standards. </a:t>
            </a:r>
          </a:p>
          <a:p>
            <a:pPr algn="just">
              <a:buNone/>
            </a:pPr>
            <a:endParaRPr lang="en-US" dirty="0"/>
          </a:p>
          <a:p>
            <a:pPr algn="just"/>
            <a:r>
              <a:rPr lang="en-US" dirty="0"/>
              <a:t>This type of testing is performed by a specialized testing team.</a:t>
            </a:r>
          </a:p>
          <a:p>
            <a:pPr algn="just"/>
            <a:endParaRPr lang="en-US" sz="2200" dirty="0"/>
          </a:p>
          <a:p>
            <a:pPr algn="justLow"/>
            <a:endParaRPr lang="en-US" sz="2200" dirty="0"/>
          </a:p>
          <a:p>
            <a:endParaRPr lang="en-US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DA84F-79A9-4700-A65D-BA00155D68C6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90600"/>
          </a:xfrm>
        </p:spPr>
        <p:txBody>
          <a:bodyPr>
            <a:noAutofit/>
          </a:bodyPr>
          <a:lstStyle/>
          <a:p>
            <a:r>
              <a:rPr lang="en-US" dirty="0"/>
              <a:t>Regression Testing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endParaRPr lang="en-US" sz="2200" dirty="0"/>
          </a:p>
          <a:p>
            <a:pPr algn="just"/>
            <a:r>
              <a:rPr lang="en-US" sz="2200" dirty="0"/>
              <a:t>Whenever a change in a software application is made it is quite possible that other areas within the application have been affected by this change.</a:t>
            </a:r>
          </a:p>
          <a:p>
            <a:pPr algn="just">
              <a:buNone/>
            </a:pPr>
            <a:endParaRPr lang="en-US" sz="2200" dirty="0"/>
          </a:p>
          <a:p>
            <a:pPr algn="just"/>
            <a:r>
              <a:rPr lang="en-US" sz="2200" dirty="0"/>
              <a:t>The intent of Regression testing is to ensure that a change, such as a bug fix did not result in another fault being uncovered in the application.</a:t>
            </a:r>
          </a:p>
          <a:p>
            <a:pPr algn="just">
              <a:buNone/>
            </a:pPr>
            <a:endParaRPr lang="en-US" dirty="0"/>
          </a:p>
          <a:p>
            <a:pPr algn="just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57DB1-ABC8-4F2F-9F89-45003D2245D2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33400" y="381000"/>
            <a:ext cx="8229600" cy="944562"/>
          </a:xfrm>
        </p:spPr>
        <p:txBody>
          <a:bodyPr>
            <a:noAutofit/>
          </a:bodyPr>
          <a:lstStyle/>
          <a:p>
            <a:r>
              <a:rPr lang="en-US" dirty="0"/>
              <a:t>User Testing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054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200" dirty="0"/>
              <a:t>In practice, there are three different types of user testing:</a:t>
            </a:r>
          </a:p>
          <a:p>
            <a:pPr marL="0" indent="0" algn="just">
              <a:buNone/>
            </a:pPr>
            <a:endParaRPr lang="en-US" sz="2200" dirty="0"/>
          </a:p>
          <a:p>
            <a:pPr marL="0" indent="0" algn="just">
              <a:buNone/>
            </a:pPr>
            <a:r>
              <a:rPr lang="en-US" sz="2200" b="1" dirty="0"/>
              <a:t>Alpha testing, </a:t>
            </a:r>
            <a:r>
              <a:rPr lang="en-US" sz="2200" dirty="0"/>
              <a:t>where users of the software work with the development team to test the software at the developer’s site.</a:t>
            </a:r>
          </a:p>
          <a:p>
            <a:pPr marL="0" indent="0" algn="just">
              <a:buNone/>
            </a:pPr>
            <a:endParaRPr lang="en-US" sz="2200" dirty="0"/>
          </a:p>
          <a:p>
            <a:pPr marL="0" indent="0" algn="just">
              <a:buNone/>
            </a:pPr>
            <a:r>
              <a:rPr lang="en-US" sz="2200" b="1" dirty="0"/>
              <a:t>Beta testing, </a:t>
            </a:r>
            <a:r>
              <a:rPr lang="en-US" sz="2200" dirty="0"/>
              <a:t>where a release of the software is made    available to users to allow them to experiment and to raise problems that they discover with the system developers.</a:t>
            </a:r>
          </a:p>
          <a:p>
            <a:pPr marL="0" indent="0" algn="just">
              <a:buNone/>
            </a:pPr>
            <a:endParaRPr lang="en-US" sz="2200" dirty="0"/>
          </a:p>
          <a:p>
            <a:pPr marL="0" indent="0" algn="just">
              <a:buNone/>
            </a:pPr>
            <a:r>
              <a:rPr lang="en-US" sz="2200" b="1" dirty="0"/>
              <a:t>Acceptance testing, </a:t>
            </a:r>
            <a:r>
              <a:rPr lang="en-US" sz="2200" dirty="0"/>
              <a:t>where customers test a system to decide whether or not it is ready to be accepted from the system developers and deployed in the customer environment.</a:t>
            </a:r>
            <a:endParaRPr lang="en-US" sz="2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5A63B9-B19C-47EA-885F-BDDAFD1B2137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Whitebox Testing</a:t>
            </a:r>
            <a:br>
              <a:rPr lang="en-US" dirty="0"/>
            </a:br>
            <a:r>
              <a:rPr lang="en-US" dirty="0"/>
              <a:t>Control Flow Graph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902494" y="2365773"/>
          <a:ext cx="7338588" cy="136112"/>
        </p:xfrm>
        <a:graphic>
          <a:graphicData uri="http://schemas.openxmlformats.org/drawingml/2006/table">
            <a:tbl>
              <a:tblPr/>
              <a:tblGrid>
                <a:gridCol w="36692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9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61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82766" marR="82766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82766" marR="82766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2534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008110"/>
            <a:ext cx="3065327" cy="290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3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29250" y="1624064"/>
            <a:ext cx="1809749" cy="30193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6" name="Rectangle 3"/>
          <p:cNvSpPr>
            <a:spLocks noChangeArrowheads="1"/>
          </p:cNvSpPr>
          <p:nvPr/>
        </p:nvSpPr>
        <p:spPr bwMode="auto">
          <a:xfrm>
            <a:off x="543912" y="5040102"/>
            <a:ext cx="8371488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sz="1500" dirty="0"/>
              <a:t>Cyclomatic Complexity is defined as:</a:t>
            </a:r>
          </a:p>
          <a:p>
            <a:r>
              <a:rPr lang="en-US" sz="1500" dirty="0"/>
              <a:t>CC=E−N+2P   Where: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b="1" dirty="0"/>
              <a:t>E</a:t>
            </a:r>
            <a:r>
              <a:rPr lang="en-US" sz="1500" dirty="0"/>
              <a:t> = Number of edges (transitions or connections between nodes in the flow graph)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b="1" dirty="0"/>
              <a:t>N</a:t>
            </a:r>
            <a:r>
              <a:rPr lang="en-US" sz="1500" dirty="0"/>
              <a:t> = Number of nodes (decision points or statements in the flow graph)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 b="1" dirty="0"/>
              <a:t>P</a:t>
            </a:r>
            <a:r>
              <a:rPr lang="en-US" sz="1500" dirty="0"/>
              <a:t> = Number of connected components or exits (typically P=1 for a single program)</a:t>
            </a:r>
          </a:p>
          <a:p>
            <a:r>
              <a:rPr lang="en-US" sz="150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Cyclomatic Complexity = E – N + 2 = 9 – 9 + 2 = 2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9842172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Whitebox Testing</a:t>
            </a:r>
            <a:br>
              <a:rPr lang="en-US" dirty="0"/>
            </a:br>
            <a:r>
              <a:rPr lang="en-US" dirty="0"/>
              <a:t>graph (Adjacency) matrices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902494" y="2365773"/>
          <a:ext cx="7338588" cy="136112"/>
        </p:xfrm>
        <a:graphic>
          <a:graphicData uri="http://schemas.openxmlformats.org/drawingml/2006/table">
            <a:tbl>
              <a:tblPr/>
              <a:tblGrid>
                <a:gridCol w="36692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9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61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82766" marR="82766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82766" marR="82766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2534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1" y="2400300"/>
            <a:ext cx="2093119" cy="198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721AE4F9-E1E8-4FA8-B63A-B023DF556D90}"/>
              </a:ext>
            </a:extLst>
          </p:cNvPr>
          <p:cNvGraphicFramePr>
            <a:graphicFrameLocks noGrp="1"/>
          </p:cNvGraphicFramePr>
          <p:nvPr/>
        </p:nvGraphicFramePr>
        <p:xfrm>
          <a:off x="4831910" y="2328459"/>
          <a:ext cx="3414686" cy="3032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8261">
                  <a:extLst>
                    <a:ext uri="{9D8B030D-6E8A-4147-A177-3AD203B41FA5}">
                      <a16:colId xmlns:a16="http://schemas.microsoft.com/office/drawing/2014/main" val="2324405776"/>
                    </a:ext>
                  </a:extLst>
                </a:gridCol>
                <a:gridCol w="259795">
                  <a:extLst>
                    <a:ext uri="{9D8B030D-6E8A-4147-A177-3AD203B41FA5}">
                      <a16:colId xmlns:a16="http://schemas.microsoft.com/office/drawing/2014/main" val="158770726"/>
                    </a:ext>
                  </a:extLst>
                </a:gridCol>
                <a:gridCol w="284028">
                  <a:extLst>
                    <a:ext uri="{9D8B030D-6E8A-4147-A177-3AD203B41FA5}">
                      <a16:colId xmlns:a16="http://schemas.microsoft.com/office/drawing/2014/main" val="1390405315"/>
                    </a:ext>
                  </a:extLst>
                </a:gridCol>
                <a:gridCol w="284028">
                  <a:extLst>
                    <a:ext uri="{9D8B030D-6E8A-4147-A177-3AD203B41FA5}">
                      <a16:colId xmlns:a16="http://schemas.microsoft.com/office/drawing/2014/main" val="127486097"/>
                    </a:ext>
                  </a:extLst>
                </a:gridCol>
                <a:gridCol w="284028">
                  <a:extLst>
                    <a:ext uri="{9D8B030D-6E8A-4147-A177-3AD203B41FA5}">
                      <a16:colId xmlns:a16="http://schemas.microsoft.com/office/drawing/2014/main" val="4022280651"/>
                    </a:ext>
                  </a:extLst>
                </a:gridCol>
                <a:gridCol w="284028">
                  <a:extLst>
                    <a:ext uri="{9D8B030D-6E8A-4147-A177-3AD203B41FA5}">
                      <a16:colId xmlns:a16="http://schemas.microsoft.com/office/drawing/2014/main" val="3575678200"/>
                    </a:ext>
                  </a:extLst>
                </a:gridCol>
                <a:gridCol w="284028">
                  <a:extLst>
                    <a:ext uri="{9D8B030D-6E8A-4147-A177-3AD203B41FA5}">
                      <a16:colId xmlns:a16="http://schemas.microsoft.com/office/drawing/2014/main" val="2478669695"/>
                    </a:ext>
                  </a:extLst>
                </a:gridCol>
                <a:gridCol w="284028">
                  <a:extLst>
                    <a:ext uri="{9D8B030D-6E8A-4147-A177-3AD203B41FA5}">
                      <a16:colId xmlns:a16="http://schemas.microsoft.com/office/drawing/2014/main" val="186782826"/>
                    </a:ext>
                  </a:extLst>
                </a:gridCol>
                <a:gridCol w="284028">
                  <a:extLst>
                    <a:ext uri="{9D8B030D-6E8A-4147-A177-3AD203B41FA5}">
                      <a16:colId xmlns:a16="http://schemas.microsoft.com/office/drawing/2014/main" val="370719244"/>
                    </a:ext>
                  </a:extLst>
                </a:gridCol>
                <a:gridCol w="335411">
                  <a:extLst>
                    <a:ext uri="{9D8B030D-6E8A-4147-A177-3AD203B41FA5}">
                      <a16:colId xmlns:a16="http://schemas.microsoft.com/office/drawing/2014/main" val="2142093058"/>
                    </a:ext>
                  </a:extLst>
                </a:gridCol>
                <a:gridCol w="360463">
                  <a:extLst>
                    <a:ext uri="{9D8B030D-6E8A-4147-A177-3AD203B41FA5}">
                      <a16:colId xmlns:a16="http://schemas.microsoft.com/office/drawing/2014/main" val="3591546674"/>
                    </a:ext>
                  </a:extLst>
                </a:gridCol>
                <a:gridCol w="162560">
                  <a:extLst>
                    <a:ext uri="{9D8B030D-6E8A-4147-A177-3AD203B41FA5}">
                      <a16:colId xmlns:a16="http://schemas.microsoft.com/office/drawing/2014/main" val="137011853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781116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195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b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5028692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813245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0093309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395461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g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45413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h</a:t>
                      </a:r>
                      <a:endParaRPr lang="en-PK" sz="1400" dirty="0"/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401642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i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479198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6110713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3DEA076-F2ED-4EF9-977F-608596E6AA8D}"/>
              </a:ext>
            </a:extLst>
          </p:cNvPr>
          <p:cNvSpPr txBox="1"/>
          <p:nvPr/>
        </p:nvSpPr>
        <p:spPr>
          <a:xfrm rot="16200000">
            <a:off x="4465762" y="3412734"/>
            <a:ext cx="59824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Node</a:t>
            </a:r>
            <a:endParaRPr lang="en-PK" sz="13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D90CEF-D33E-4025-A050-58717C02EAB5}"/>
              </a:ext>
            </a:extLst>
          </p:cNvPr>
          <p:cNvSpPr txBox="1"/>
          <p:nvPr/>
        </p:nvSpPr>
        <p:spPr>
          <a:xfrm>
            <a:off x="5513256" y="2189959"/>
            <a:ext cx="167545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Connected to Node</a:t>
            </a:r>
            <a:endParaRPr lang="en-PK" sz="135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44D89C8-C8CE-4158-A510-9D82D7B563F4}"/>
              </a:ext>
            </a:extLst>
          </p:cNvPr>
          <p:cNvGrpSpPr/>
          <p:nvPr/>
        </p:nvGrpSpPr>
        <p:grpSpPr>
          <a:xfrm>
            <a:off x="364946" y="2328459"/>
            <a:ext cx="1378744" cy="2400731"/>
            <a:chOff x="129815" y="1917438"/>
            <a:chExt cx="1838325" cy="3200974"/>
          </a:xfrm>
        </p:grpSpPr>
        <p:pic>
          <p:nvPicPr>
            <p:cNvPr id="22535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29815" y="2051362"/>
              <a:ext cx="1838325" cy="3067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1E1349D-B10C-47E2-A01B-498D8E1D7FA4}"/>
                </a:ext>
              </a:extLst>
            </p:cNvPr>
            <p:cNvSpPr txBox="1"/>
            <p:nvPr/>
          </p:nvSpPr>
          <p:spPr>
            <a:xfrm>
              <a:off x="528554" y="1917438"/>
              <a:ext cx="267855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a</a:t>
              </a:r>
              <a:endParaRPr lang="en-PK" sz="135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DB0F073-2C7B-4E71-A53A-C96767EE25C9}"/>
                </a:ext>
              </a:extLst>
            </p:cNvPr>
            <p:cNvSpPr txBox="1"/>
            <p:nvPr/>
          </p:nvSpPr>
          <p:spPr>
            <a:xfrm>
              <a:off x="1247433" y="1959303"/>
              <a:ext cx="267855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b</a:t>
              </a:r>
              <a:endParaRPr lang="en-PK" sz="1350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1D5C37D-ACF1-46FC-B7A3-80C81E3C5601}"/>
                </a:ext>
              </a:extLst>
            </p:cNvPr>
            <p:cNvSpPr txBox="1"/>
            <p:nvPr/>
          </p:nvSpPr>
          <p:spPr>
            <a:xfrm>
              <a:off x="1202919" y="2325733"/>
              <a:ext cx="267855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c</a:t>
              </a:r>
              <a:endParaRPr lang="en-PK" sz="135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04547B7-D14A-47DC-A779-E2C9D0E11AFA}"/>
                </a:ext>
              </a:extLst>
            </p:cNvPr>
            <p:cNvSpPr txBox="1"/>
            <p:nvPr/>
          </p:nvSpPr>
          <p:spPr>
            <a:xfrm>
              <a:off x="486594" y="2745674"/>
              <a:ext cx="267855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d</a:t>
              </a:r>
              <a:endParaRPr lang="en-PK" sz="1350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06A5A2F-6328-4644-AC54-FF75C3AD6425}"/>
                </a:ext>
              </a:extLst>
            </p:cNvPr>
            <p:cNvSpPr txBox="1"/>
            <p:nvPr/>
          </p:nvSpPr>
          <p:spPr>
            <a:xfrm>
              <a:off x="1244039" y="2725643"/>
              <a:ext cx="267855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e</a:t>
              </a:r>
              <a:endParaRPr lang="en-PK" sz="135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60E9784B-310B-4FB5-86FF-F5BD0A84CC94}"/>
                </a:ext>
              </a:extLst>
            </p:cNvPr>
            <p:cNvSpPr txBox="1"/>
            <p:nvPr/>
          </p:nvSpPr>
          <p:spPr>
            <a:xfrm>
              <a:off x="491214" y="3507671"/>
              <a:ext cx="267855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f</a:t>
              </a:r>
              <a:endParaRPr lang="en-PK" sz="1350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93F92A8-7EEE-4977-8572-B6CED56C6A00}"/>
                </a:ext>
              </a:extLst>
            </p:cNvPr>
            <p:cNvSpPr txBox="1"/>
            <p:nvPr/>
          </p:nvSpPr>
          <p:spPr>
            <a:xfrm>
              <a:off x="1248659" y="3487640"/>
              <a:ext cx="267855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g</a:t>
              </a:r>
              <a:endParaRPr lang="en-PK" sz="135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5993432-DA7E-4F32-9EC3-3A253BA8B592}"/>
                </a:ext>
              </a:extLst>
            </p:cNvPr>
            <p:cNvSpPr txBox="1"/>
            <p:nvPr/>
          </p:nvSpPr>
          <p:spPr>
            <a:xfrm>
              <a:off x="1045398" y="3877127"/>
              <a:ext cx="267855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h</a:t>
              </a:r>
              <a:endParaRPr lang="en-PK" sz="135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6AE55EF-899A-4463-A5FC-CB6C69408DA9}"/>
                </a:ext>
              </a:extLst>
            </p:cNvPr>
            <p:cNvSpPr txBox="1"/>
            <p:nvPr/>
          </p:nvSpPr>
          <p:spPr>
            <a:xfrm>
              <a:off x="1045398" y="4482107"/>
              <a:ext cx="267855" cy="4001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50" dirty="0"/>
                <a:t>i</a:t>
              </a:r>
              <a:endParaRPr lang="en-PK" sz="1350" dirty="0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B852DB30-C03B-4E27-8874-68E1356FACEA}"/>
              </a:ext>
            </a:extLst>
          </p:cNvPr>
          <p:cNvSpPr txBox="1"/>
          <p:nvPr/>
        </p:nvSpPr>
        <p:spPr>
          <a:xfrm>
            <a:off x="364946" y="4857327"/>
            <a:ext cx="166569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Control Flow Graph</a:t>
            </a:r>
            <a:endParaRPr lang="en-PK" sz="13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A62AAD2-C973-43EE-8A8D-2F646DEBE5C1}"/>
              </a:ext>
            </a:extLst>
          </p:cNvPr>
          <p:cNvSpPr txBox="1"/>
          <p:nvPr/>
        </p:nvSpPr>
        <p:spPr>
          <a:xfrm>
            <a:off x="5706408" y="5385523"/>
            <a:ext cx="166569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Graph Matrix</a:t>
            </a:r>
            <a:endParaRPr lang="en-PK" sz="135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E2B2BE-7EB8-4D32-928B-EC4BC2E9DB54}"/>
              </a:ext>
            </a:extLst>
          </p:cNvPr>
          <p:cNvSpPr txBox="1"/>
          <p:nvPr/>
        </p:nvSpPr>
        <p:spPr>
          <a:xfrm>
            <a:off x="604652" y="5746704"/>
            <a:ext cx="7174460" cy="310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en-US" sz="1350" dirty="0"/>
              <a:t>To this point, the graph matrix is nothing more than a tabular representation of a flow graph. </a:t>
            </a:r>
            <a:endParaRPr lang="en-PK" sz="1350" dirty="0"/>
          </a:p>
        </p:txBody>
      </p:sp>
    </p:spTree>
    <p:extLst>
      <p:ext uri="{BB962C8B-B14F-4D97-AF65-F5344CB8AC3E}">
        <p14:creationId xmlns:p14="http://schemas.microsoft.com/office/powerpoint/2010/main" val="2797625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Whitebox Testing</a:t>
            </a:r>
            <a:br>
              <a:rPr lang="en-US" dirty="0"/>
            </a:br>
            <a:r>
              <a:rPr lang="en-US" dirty="0"/>
              <a:t>graph (Adjacency) matrices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9470390"/>
              </p:ext>
            </p:extLst>
          </p:nvPr>
        </p:nvGraphicFramePr>
        <p:xfrm>
          <a:off x="457200" y="1905000"/>
          <a:ext cx="8271164" cy="4525112"/>
        </p:xfrm>
        <a:graphic>
          <a:graphicData uri="http://schemas.openxmlformats.org/drawingml/2006/table">
            <a:tbl>
              <a:tblPr/>
              <a:tblGrid>
                <a:gridCol w="82711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25112">
                <a:tc>
                  <a:txBody>
                    <a:bodyPr/>
                    <a:lstStyle/>
                    <a:p>
                      <a:pPr marL="342900" marR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By adding a link weight to each matrix entry, the graph matrix can become a powerful tool for evaluating program control structure during testing.</a:t>
                      </a:r>
                    </a:p>
                    <a:p>
                      <a:pPr marL="342900" marR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link weight provides additional information about control flow. In its simplest form, the link weight is 1 (a connection exists) or 0 (a connection does not exist).</a:t>
                      </a:r>
                    </a:p>
                    <a:p>
                      <a:pPr marL="342900" marR="0" indent="-3429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Following are the steps to compute the cyclomatic complexity in Graph Matrices :</a:t>
                      </a:r>
                    </a:p>
                    <a:p>
                      <a:pPr marL="457200" marR="0" lv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7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914400" marR="0" lvl="1" indent="-4572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Count the number of 1s in each row and write it in the end of the row</a:t>
                      </a:r>
                    </a:p>
                    <a:p>
                      <a:pPr marL="914400" marR="0" lvl="1" indent="-4572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Subtract 1 from this count for each row (ignore the row if its count is 0)</a:t>
                      </a:r>
                    </a:p>
                    <a:p>
                      <a:pPr marL="914400" marR="0" lvl="1" indent="-4572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Add the count of each row calculated previously</a:t>
                      </a:r>
                    </a:p>
                    <a:p>
                      <a:pPr marL="914400" marR="0" lvl="1" indent="-4572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Add 1 to this total count</a:t>
                      </a:r>
                    </a:p>
                    <a:p>
                      <a:pPr marL="914400" marR="0" lvl="1" indent="-45720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AutoNum type="arabicPeriod"/>
                      </a:pPr>
                      <a:r>
                        <a:rPr lang="en-US" sz="17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The final sum in Step 4 is the cyclomatic complexity of the control flow graph</a:t>
                      </a:r>
                    </a:p>
                  </a:txBody>
                  <a:tcPr marL="82766" marR="82766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5A826C22-0695-477F-92EB-7468AAF7D4E4}"/>
              </a:ext>
            </a:extLst>
          </p:cNvPr>
          <p:cNvSpPr txBox="1"/>
          <p:nvPr/>
        </p:nvSpPr>
        <p:spPr>
          <a:xfrm>
            <a:off x="304800" y="6535616"/>
            <a:ext cx="5298304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sz="1350" dirty="0">
                <a:hlinkClick r:id="rId2"/>
              </a:rPr>
              <a:t>https://www.geeksforgeeks.org/graph-matrices-in-software-testing/</a:t>
            </a:r>
            <a:endParaRPr lang="en-PK" sz="1350" dirty="0"/>
          </a:p>
        </p:txBody>
      </p:sp>
    </p:spTree>
    <p:extLst>
      <p:ext uri="{BB962C8B-B14F-4D97-AF65-F5344CB8AC3E}">
        <p14:creationId xmlns:p14="http://schemas.microsoft.com/office/powerpoint/2010/main" val="40708811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Whitebox Testing</a:t>
            </a:r>
            <a:br>
              <a:rPr lang="en-US" dirty="0"/>
            </a:br>
            <a:r>
              <a:rPr lang="en-US" dirty="0"/>
              <a:t>graph (Adjacency) matrices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902494" y="2365773"/>
          <a:ext cx="7338588" cy="136112"/>
        </p:xfrm>
        <a:graphic>
          <a:graphicData uri="http://schemas.openxmlformats.org/drawingml/2006/table">
            <a:tbl>
              <a:tblPr/>
              <a:tblGrid>
                <a:gridCol w="36692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692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611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82766" marR="82766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800" dirty="0">
                        <a:latin typeface="Calibri"/>
                        <a:ea typeface="Calibri"/>
                        <a:cs typeface="Arial"/>
                      </a:endParaRPr>
                    </a:p>
                  </a:txBody>
                  <a:tcPr marL="82766" marR="82766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2534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1" y="2400300"/>
            <a:ext cx="2093119" cy="198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3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5991" y="2400300"/>
            <a:ext cx="1378744" cy="2300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6" name="Rectangle 3"/>
          <p:cNvSpPr>
            <a:spLocks noChangeArrowheads="1"/>
          </p:cNvSpPr>
          <p:nvPr/>
        </p:nvSpPr>
        <p:spPr bwMode="auto">
          <a:xfrm>
            <a:off x="95990" y="4615703"/>
            <a:ext cx="1811650" cy="133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sz="135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Cyclomatic Complexity</a:t>
            </a:r>
          </a:p>
          <a:p>
            <a:r>
              <a:rPr lang="en-US" sz="135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(Control Flow graph)</a:t>
            </a:r>
          </a:p>
          <a:p>
            <a:r>
              <a:rPr lang="en-US" sz="135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 </a:t>
            </a:r>
          </a:p>
          <a:p>
            <a:r>
              <a:rPr lang="en-US" sz="135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= E – N + 2 </a:t>
            </a:r>
          </a:p>
          <a:p>
            <a:r>
              <a:rPr lang="en-US" sz="135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= 9 – 9 + 2 </a:t>
            </a:r>
          </a:p>
          <a:p>
            <a:r>
              <a:rPr lang="en-US" sz="135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= 2</a:t>
            </a:r>
            <a:endParaRPr lang="en-US" sz="2400" dirty="0"/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721AE4F9-E1E8-4FA8-B63A-B023DF556D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3602"/>
              </p:ext>
            </p:extLst>
          </p:nvPr>
        </p:nvGraphicFramePr>
        <p:xfrm>
          <a:off x="5084567" y="1814900"/>
          <a:ext cx="3644891" cy="460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1833">
                  <a:extLst>
                    <a:ext uri="{9D8B030D-6E8A-4147-A177-3AD203B41FA5}">
                      <a16:colId xmlns:a16="http://schemas.microsoft.com/office/drawing/2014/main" val="2324405776"/>
                    </a:ext>
                  </a:extLst>
                </a:gridCol>
                <a:gridCol w="204520">
                  <a:extLst>
                    <a:ext uri="{9D8B030D-6E8A-4147-A177-3AD203B41FA5}">
                      <a16:colId xmlns:a16="http://schemas.microsoft.com/office/drawing/2014/main" val="158770726"/>
                    </a:ext>
                  </a:extLst>
                </a:gridCol>
                <a:gridCol w="303176">
                  <a:extLst>
                    <a:ext uri="{9D8B030D-6E8A-4147-A177-3AD203B41FA5}">
                      <a16:colId xmlns:a16="http://schemas.microsoft.com/office/drawing/2014/main" val="1390405315"/>
                    </a:ext>
                  </a:extLst>
                </a:gridCol>
                <a:gridCol w="303176">
                  <a:extLst>
                    <a:ext uri="{9D8B030D-6E8A-4147-A177-3AD203B41FA5}">
                      <a16:colId xmlns:a16="http://schemas.microsoft.com/office/drawing/2014/main" val="127486097"/>
                    </a:ext>
                  </a:extLst>
                </a:gridCol>
                <a:gridCol w="303176">
                  <a:extLst>
                    <a:ext uri="{9D8B030D-6E8A-4147-A177-3AD203B41FA5}">
                      <a16:colId xmlns:a16="http://schemas.microsoft.com/office/drawing/2014/main" val="4022280651"/>
                    </a:ext>
                  </a:extLst>
                </a:gridCol>
                <a:gridCol w="303176">
                  <a:extLst>
                    <a:ext uri="{9D8B030D-6E8A-4147-A177-3AD203B41FA5}">
                      <a16:colId xmlns:a16="http://schemas.microsoft.com/office/drawing/2014/main" val="3575678200"/>
                    </a:ext>
                  </a:extLst>
                </a:gridCol>
                <a:gridCol w="182976">
                  <a:extLst>
                    <a:ext uri="{9D8B030D-6E8A-4147-A177-3AD203B41FA5}">
                      <a16:colId xmlns:a16="http://schemas.microsoft.com/office/drawing/2014/main" val="2478669695"/>
                    </a:ext>
                  </a:extLst>
                </a:gridCol>
                <a:gridCol w="228600">
                  <a:extLst>
                    <a:ext uri="{9D8B030D-6E8A-4147-A177-3AD203B41FA5}">
                      <a16:colId xmlns:a16="http://schemas.microsoft.com/office/drawing/2014/main" val="186782826"/>
                    </a:ext>
                  </a:extLst>
                </a:gridCol>
                <a:gridCol w="238760">
                  <a:extLst>
                    <a:ext uri="{9D8B030D-6E8A-4147-A177-3AD203B41FA5}">
                      <a16:colId xmlns:a16="http://schemas.microsoft.com/office/drawing/2014/main" val="370719244"/>
                    </a:ext>
                  </a:extLst>
                </a:gridCol>
                <a:gridCol w="447040">
                  <a:extLst>
                    <a:ext uri="{9D8B030D-6E8A-4147-A177-3AD203B41FA5}">
                      <a16:colId xmlns:a16="http://schemas.microsoft.com/office/drawing/2014/main" val="2142093058"/>
                    </a:ext>
                  </a:extLst>
                </a:gridCol>
                <a:gridCol w="554939">
                  <a:extLst>
                    <a:ext uri="{9D8B030D-6E8A-4147-A177-3AD203B41FA5}">
                      <a16:colId xmlns:a16="http://schemas.microsoft.com/office/drawing/2014/main" val="3591546674"/>
                    </a:ext>
                  </a:extLst>
                </a:gridCol>
                <a:gridCol w="173519">
                  <a:extLst>
                    <a:ext uri="{9D8B030D-6E8A-4147-A177-3AD203B41FA5}">
                      <a16:colId xmlns:a16="http://schemas.microsoft.com/office/drawing/2014/main" val="1370118536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781116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sz="1400" dirty="0"/>
                        <a:t>2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1-1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19501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sz="1400" dirty="0"/>
                        <a:t>3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1-1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5028692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sz="1400" dirty="0"/>
                        <a:t>4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1-1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813245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sz="1400" dirty="0"/>
                        <a:t>5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2-1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0093309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sz="1400" dirty="0"/>
                        <a:t>6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1-1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93954618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sz="1400" dirty="0"/>
                        <a:t>7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1-1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445413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sz="1400" dirty="0"/>
                        <a:t>8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PK" sz="1400" dirty="0"/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1-1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44016425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sz="1400" dirty="0"/>
                        <a:t>9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1-1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0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7479198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lang="en-US" sz="1400" dirty="0"/>
                        <a:t>10</a:t>
                      </a:r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en-PK" sz="1400"/>
                    </a:p>
                  </a:txBody>
                  <a:tcPr marL="68580" marR="68580" marT="34290" marB="34290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PK" sz="1400" dirty="0"/>
                    </a:p>
                  </a:txBody>
                  <a:tcPr marL="68580" marR="68580" marT="34290" marB="3429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6110713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93DEA076-F2ED-4EF9-977F-608596E6AA8D}"/>
              </a:ext>
            </a:extLst>
          </p:cNvPr>
          <p:cNvSpPr txBox="1"/>
          <p:nvPr/>
        </p:nvSpPr>
        <p:spPr>
          <a:xfrm rot="16200000">
            <a:off x="4718420" y="2899175"/>
            <a:ext cx="59824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Node</a:t>
            </a:r>
            <a:endParaRPr lang="en-PK" sz="13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D90CEF-D33E-4025-A050-58717C02EAB5}"/>
              </a:ext>
            </a:extLst>
          </p:cNvPr>
          <p:cNvSpPr txBox="1"/>
          <p:nvPr/>
        </p:nvSpPr>
        <p:spPr>
          <a:xfrm>
            <a:off x="5791200" y="1519409"/>
            <a:ext cx="167545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Connected to Node</a:t>
            </a:r>
            <a:endParaRPr lang="en-PK" sz="1350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395732C5-3390-4EFA-BC99-0F0171E5CB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6251" y="5492866"/>
            <a:ext cx="2451248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sz="135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               Sum of column =1</a:t>
            </a:r>
          </a:p>
          <a:p>
            <a:endParaRPr lang="en-US" sz="1350" b="1" dirty="0">
              <a:latin typeface="Calibri" pitchFamily="34" charset="0"/>
              <a:ea typeface="Calibri" pitchFamily="34" charset="0"/>
              <a:cs typeface="Calibri" pitchFamily="34" charset="0"/>
            </a:endParaRPr>
          </a:p>
          <a:p>
            <a:r>
              <a:rPr lang="en-US" sz="135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 Cyclomatic Complexity = 1+1=2</a:t>
            </a:r>
          </a:p>
          <a:p>
            <a:r>
              <a:rPr lang="en-US" sz="1350" b="1" dirty="0">
                <a:latin typeface="Calibri" pitchFamily="34" charset="0"/>
                <a:ea typeface="Calibri" pitchFamily="34" charset="0"/>
                <a:cs typeface="Calibri" pitchFamily="34" charset="0"/>
              </a:rPr>
              <a:t>(Graph Matrix)</a:t>
            </a:r>
          </a:p>
        </p:txBody>
      </p:sp>
    </p:spTree>
    <p:extLst>
      <p:ext uri="{BB962C8B-B14F-4D97-AF65-F5344CB8AC3E}">
        <p14:creationId xmlns:p14="http://schemas.microsoft.com/office/powerpoint/2010/main" val="32706489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CA517-564A-4318-85B2-CA3EF5950B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75" dirty="0"/>
              <a:t>Cyclomatic Complexity</a:t>
            </a:r>
            <a:endParaRPr lang="en-PK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D4AD114-1625-4D12-A55D-984BD198F1F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05627" y="2277460"/>
          <a:ext cx="7439998" cy="3403868"/>
        </p:xfrm>
        <a:graphic>
          <a:graphicData uri="http://schemas.openxmlformats.org/drawingml/2006/table">
            <a:tbl>
              <a:tblPr/>
              <a:tblGrid>
                <a:gridCol w="3719999">
                  <a:extLst>
                    <a:ext uri="{9D8B030D-6E8A-4147-A177-3AD203B41FA5}">
                      <a16:colId xmlns:a16="http://schemas.microsoft.com/office/drawing/2014/main" val="792777716"/>
                    </a:ext>
                  </a:extLst>
                </a:gridCol>
                <a:gridCol w="3719999">
                  <a:extLst>
                    <a:ext uri="{9D8B030D-6E8A-4147-A177-3AD203B41FA5}">
                      <a16:colId xmlns:a16="http://schemas.microsoft.com/office/drawing/2014/main" val="4211256428"/>
                    </a:ext>
                  </a:extLst>
                </a:gridCol>
              </a:tblGrid>
              <a:tr h="334482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effectLst/>
                        </a:rPr>
                        <a:t>Cyclomatic Complexity</a:t>
                      </a:r>
                      <a:endParaRPr lang="en-US" sz="3300" dirty="0">
                        <a:effectLst/>
                      </a:endParaRPr>
                    </a:p>
                  </a:txBody>
                  <a:tcPr marL="37601" marR="37601" marT="30081" marB="30081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effectLst/>
                        </a:rPr>
                        <a:t>Meaning</a:t>
                      </a:r>
                      <a:endParaRPr lang="en-US" sz="3300" dirty="0">
                        <a:effectLst/>
                      </a:endParaRPr>
                    </a:p>
                  </a:txBody>
                  <a:tcPr marL="37601" marR="37601" marT="30081" marB="30081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0454947"/>
                  </a:ext>
                </a:extLst>
              </a:tr>
              <a:tr h="745962">
                <a:tc>
                  <a:txBody>
                    <a:bodyPr/>
                    <a:lstStyle/>
                    <a:p>
                      <a:pPr algn="ctr"/>
                      <a:r>
                        <a:rPr lang="en-PK" sz="1500" dirty="0">
                          <a:effectLst/>
                        </a:rPr>
                        <a:t>1 – 10</a:t>
                      </a:r>
                    </a:p>
                  </a:txBody>
                  <a:tcPr marL="37601" marR="37601" marT="30081" marB="30081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>
                          <a:effectLst/>
                        </a:rPr>
                        <a:t>Structured and Well Written Code</a:t>
                      </a:r>
                    </a:p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>
                          <a:effectLst/>
                        </a:rPr>
                        <a:t>High Testability</a:t>
                      </a:r>
                    </a:p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>
                          <a:effectLst/>
                        </a:rPr>
                        <a:t>Less Cost and Effort</a:t>
                      </a:r>
                    </a:p>
                  </a:txBody>
                  <a:tcPr marL="37601" marR="37601" marT="30081" marB="30081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1004576"/>
                  </a:ext>
                </a:extLst>
              </a:tr>
              <a:tr h="745962">
                <a:tc>
                  <a:txBody>
                    <a:bodyPr/>
                    <a:lstStyle/>
                    <a:p>
                      <a:pPr algn="ctr"/>
                      <a:r>
                        <a:rPr lang="en-PK" sz="1500" dirty="0">
                          <a:effectLst/>
                        </a:rPr>
                        <a:t>10 – 20</a:t>
                      </a:r>
                    </a:p>
                  </a:txBody>
                  <a:tcPr marL="37601" marR="37601" marT="30081" marB="30081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>
                          <a:effectLst/>
                        </a:rPr>
                        <a:t>Complex Code</a:t>
                      </a:r>
                    </a:p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>
                          <a:effectLst/>
                        </a:rPr>
                        <a:t>Medium Testability</a:t>
                      </a:r>
                    </a:p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>
                          <a:effectLst/>
                        </a:rPr>
                        <a:t>Medium Cost and Effort</a:t>
                      </a:r>
                    </a:p>
                  </a:txBody>
                  <a:tcPr marL="37601" marR="37601" marT="30081" marB="30081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944646"/>
                  </a:ext>
                </a:extLst>
              </a:tr>
              <a:tr h="745962">
                <a:tc>
                  <a:txBody>
                    <a:bodyPr/>
                    <a:lstStyle/>
                    <a:p>
                      <a:pPr algn="ctr"/>
                      <a:r>
                        <a:rPr lang="en-PK" sz="1500" dirty="0">
                          <a:effectLst/>
                        </a:rPr>
                        <a:t>20 – 40</a:t>
                      </a:r>
                    </a:p>
                  </a:txBody>
                  <a:tcPr marL="37601" marR="37601" marT="30081" marB="30081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>
                          <a:effectLst/>
                        </a:rPr>
                        <a:t>Very Complex Code</a:t>
                      </a:r>
                    </a:p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>
                          <a:effectLst/>
                        </a:rPr>
                        <a:t>Low Testability</a:t>
                      </a:r>
                    </a:p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>
                          <a:effectLst/>
                        </a:rPr>
                        <a:t>High Cost and Effort</a:t>
                      </a:r>
                    </a:p>
                  </a:txBody>
                  <a:tcPr marL="37601" marR="37601" marT="30081" marB="30081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996981"/>
                  </a:ext>
                </a:extLst>
              </a:tr>
              <a:tr h="831500">
                <a:tc>
                  <a:txBody>
                    <a:bodyPr/>
                    <a:lstStyle/>
                    <a:p>
                      <a:pPr algn="ctr"/>
                      <a:r>
                        <a:rPr lang="en-PK" sz="1500" dirty="0">
                          <a:effectLst/>
                        </a:rPr>
                        <a:t>&gt; 40</a:t>
                      </a:r>
                    </a:p>
                  </a:txBody>
                  <a:tcPr marL="37601" marR="37601" marT="30081" marB="30081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>
                          <a:effectLst/>
                        </a:rPr>
                        <a:t>Highly Complex Code</a:t>
                      </a:r>
                    </a:p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>
                          <a:effectLst/>
                        </a:rPr>
                        <a:t>Not at all Testable</a:t>
                      </a:r>
                    </a:p>
                    <a:p>
                      <a:pPr algn="l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1500" dirty="0">
                          <a:effectLst/>
                        </a:rPr>
                        <a:t>Very High Cost and Effort</a:t>
                      </a:r>
                    </a:p>
                  </a:txBody>
                  <a:tcPr marL="37601" marR="37601" marT="30081" marB="30081" anchor="ctr">
                    <a:lnL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803657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4F7409B-BF25-4143-B9E7-6C73B3BB5746}"/>
              </a:ext>
            </a:extLst>
          </p:cNvPr>
          <p:cNvSpPr txBox="1"/>
          <p:nvPr/>
        </p:nvSpPr>
        <p:spPr>
          <a:xfrm>
            <a:off x="228600" y="6284747"/>
            <a:ext cx="6775774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K" sz="1350" dirty="0">
                <a:hlinkClick r:id="rId2"/>
              </a:rPr>
              <a:t>https://www.gatevidyalay.com/cyclomatic-complexity-calculation-examples/</a:t>
            </a:r>
            <a:endParaRPr lang="en-PK" sz="1350" dirty="0"/>
          </a:p>
        </p:txBody>
      </p:sp>
    </p:spTree>
    <p:extLst>
      <p:ext uri="{BB962C8B-B14F-4D97-AF65-F5344CB8AC3E}">
        <p14:creationId xmlns:p14="http://schemas.microsoft.com/office/powerpoint/2010/main" val="15940035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72717-5099-E01B-10B0-AA6658F7C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5DB31-15CD-1ED2-3A3B-4B241212B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will not compute CC for whole project but for per function or per method.</a:t>
            </a:r>
          </a:p>
          <a:p>
            <a:r>
              <a:rPr lang="en-US" dirty="0"/>
              <a:t>Compute CC for each function separately.</a:t>
            </a:r>
          </a:p>
          <a:p>
            <a:r>
              <a:rPr lang="en-US" dirty="0"/>
              <a:t>In CC=E-N+2P:</a:t>
            </a:r>
          </a:p>
          <a:p>
            <a:r>
              <a:rPr lang="en-US" dirty="0"/>
              <a:t>P is number of </a:t>
            </a:r>
            <a:r>
              <a:rPr lang="en-US" b="1" dirty="0"/>
              <a:t>connected components</a:t>
            </a:r>
            <a:r>
              <a:rPr lang="en-US" dirty="0"/>
              <a:t> (normally 1 per function)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7DF37-C703-17C0-261E-48BB04BD2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0C2AF-3B6B-44F7-86A4-C6FC21E1E98E}" type="datetime1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7BE095-F74E-2ED6-7B5E-6D8E3A8E7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CSE291 - Introduction to Software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962D6-0670-B0C1-E789-2C2BB0B6F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3389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75F71-CB6B-C071-ED97-51C457D92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910F1-59C5-2C9C-2E42-F8BC32FE07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int max(int a, int b) {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if (a &gt; b)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return a;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else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return b;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E=5</a:t>
            </a:r>
          </a:p>
          <a:p>
            <a:pPr marL="0" indent="0">
              <a:buNone/>
            </a:pPr>
            <a:r>
              <a:rPr lang="en-US" dirty="0"/>
              <a:t>N=5</a:t>
            </a:r>
          </a:p>
          <a:p>
            <a:pPr marL="0" indent="0">
              <a:buNone/>
            </a:pPr>
            <a:r>
              <a:rPr lang="en-US" dirty="0"/>
              <a:t>P=1</a:t>
            </a:r>
          </a:p>
          <a:p>
            <a:pPr marL="0" indent="0">
              <a:buNone/>
            </a:pPr>
            <a:r>
              <a:rPr lang="en-US" dirty="0"/>
              <a:t>CC=5-5+2(1)=&gt;2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BDAF4CE-1354-BB19-114F-21EA63E331E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4B3F3-BBCE-2F4B-5E20-7D566A61F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0C2AF-3B6B-44F7-86A4-C6FC21E1E98E}" type="datetime1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61B50-77AB-D1AC-C63F-0BEE5C15B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CSE291 - Introduction to Software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F805-456A-CD4A-5BFE-A07CD8C2A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3339274-024F-CC38-4966-4AB99EBA130D}"/>
              </a:ext>
            </a:extLst>
          </p:cNvPr>
          <p:cNvSpPr/>
          <p:nvPr/>
        </p:nvSpPr>
        <p:spPr>
          <a:xfrm>
            <a:off x="6387019" y="1861947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4D45537-0A34-1936-6264-6383B5FF5317}"/>
              </a:ext>
            </a:extLst>
          </p:cNvPr>
          <p:cNvSpPr/>
          <p:nvPr/>
        </p:nvSpPr>
        <p:spPr>
          <a:xfrm>
            <a:off x="6387019" y="2969514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3B3E691-1A5D-A0D1-7618-F78E264D2FF8}"/>
              </a:ext>
            </a:extLst>
          </p:cNvPr>
          <p:cNvSpPr/>
          <p:nvPr/>
        </p:nvSpPr>
        <p:spPr>
          <a:xfrm>
            <a:off x="7277100" y="4110228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89AD7D1-D628-0745-4261-9087DDE04355}"/>
              </a:ext>
            </a:extLst>
          </p:cNvPr>
          <p:cNvSpPr/>
          <p:nvPr/>
        </p:nvSpPr>
        <p:spPr>
          <a:xfrm>
            <a:off x="5701219" y="4110228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FB9CC49-C882-6FAD-8A65-A889AF25229C}"/>
              </a:ext>
            </a:extLst>
          </p:cNvPr>
          <p:cNvSpPr/>
          <p:nvPr/>
        </p:nvSpPr>
        <p:spPr>
          <a:xfrm>
            <a:off x="6477811" y="5184648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4E20E80-314E-2B57-596F-E0C81CB9B43A}"/>
              </a:ext>
            </a:extLst>
          </p:cNvPr>
          <p:cNvCxnSpPr>
            <a:endCxn id="10" idx="0"/>
          </p:cNvCxnSpPr>
          <p:nvPr/>
        </p:nvCxnSpPr>
        <p:spPr>
          <a:xfrm>
            <a:off x="6729919" y="2547747"/>
            <a:ext cx="0" cy="421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02DD997-C42D-E2C1-76D4-27B1955D4E13}"/>
              </a:ext>
            </a:extLst>
          </p:cNvPr>
          <p:cNvCxnSpPr>
            <a:stCxn id="10" idx="3"/>
            <a:endCxn id="12" idx="0"/>
          </p:cNvCxnSpPr>
          <p:nvPr/>
        </p:nvCxnSpPr>
        <p:spPr>
          <a:xfrm flipH="1">
            <a:off x="6044119" y="3554881"/>
            <a:ext cx="443333" cy="5553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40C3604-D0D3-9479-8144-4EFCD7649956}"/>
              </a:ext>
            </a:extLst>
          </p:cNvPr>
          <p:cNvCxnSpPr>
            <a:stCxn id="10" idx="5"/>
          </p:cNvCxnSpPr>
          <p:nvPr/>
        </p:nvCxnSpPr>
        <p:spPr>
          <a:xfrm>
            <a:off x="6972386" y="3554881"/>
            <a:ext cx="647614" cy="5553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0148457-1E33-FEA5-B2E9-8B4B2A20DB88}"/>
              </a:ext>
            </a:extLst>
          </p:cNvPr>
          <p:cNvCxnSpPr>
            <a:endCxn id="13" idx="1"/>
          </p:cNvCxnSpPr>
          <p:nvPr/>
        </p:nvCxnSpPr>
        <p:spPr>
          <a:xfrm>
            <a:off x="6044119" y="4796028"/>
            <a:ext cx="534125" cy="4890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1069EB2-CD35-23EF-36BE-0894B59997AF}"/>
              </a:ext>
            </a:extLst>
          </p:cNvPr>
          <p:cNvCxnSpPr>
            <a:stCxn id="11" idx="4"/>
            <a:endCxn id="13" idx="7"/>
          </p:cNvCxnSpPr>
          <p:nvPr/>
        </p:nvCxnSpPr>
        <p:spPr>
          <a:xfrm flipH="1">
            <a:off x="7072819" y="4796028"/>
            <a:ext cx="547181" cy="461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72098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6EE19-58F2-330E-2E1C-9743B1D52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07163-08C1-596D-EAAB-062EB27F1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with loop +condition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32F89-7FB0-00C6-09F3-5033428CFD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void fun(int x) {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while (x &gt; 0) {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if (x % 2 == 0)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    x--;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else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    x = x - 2;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}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E=7</a:t>
            </a:r>
          </a:p>
          <a:p>
            <a:pPr marL="0" indent="0">
              <a:buNone/>
            </a:pPr>
            <a:r>
              <a:rPr lang="en-US" dirty="0"/>
              <a:t>N=6</a:t>
            </a:r>
          </a:p>
          <a:p>
            <a:pPr marL="0" indent="0">
              <a:buNone/>
            </a:pPr>
            <a:r>
              <a:rPr lang="en-US" dirty="0"/>
              <a:t>P=1</a:t>
            </a:r>
          </a:p>
          <a:p>
            <a:pPr marL="0" indent="0">
              <a:buNone/>
            </a:pPr>
            <a:r>
              <a:rPr lang="en-US" dirty="0"/>
              <a:t>CC=7-6+2(1)=&gt;3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98BF934-5F0A-89A7-5508-A78FEDAC136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6F4E7-E8B4-6664-67FA-994108A37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0C2AF-3B6B-44F7-86A4-C6FC21E1E98E}" type="datetime1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74B7A-BA25-192C-37E1-7E8453F46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CSE291 - Introduction to Software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2674A-C9A8-5946-8D70-B549ACF05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ABA9FA5-52B2-A325-EF22-1C3B4846873C}"/>
              </a:ext>
            </a:extLst>
          </p:cNvPr>
          <p:cNvSpPr/>
          <p:nvPr/>
        </p:nvSpPr>
        <p:spPr>
          <a:xfrm>
            <a:off x="6387019" y="1861947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0095AEA-1558-D1F1-CE98-8F5DC88487DF}"/>
              </a:ext>
            </a:extLst>
          </p:cNvPr>
          <p:cNvSpPr/>
          <p:nvPr/>
        </p:nvSpPr>
        <p:spPr>
          <a:xfrm>
            <a:off x="6387019" y="2969514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1B03B53-289D-7F47-6FD9-B9E770792DFB}"/>
              </a:ext>
            </a:extLst>
          </p:cNvPr>
          <p:cNvSpPr/>
          <p:nvPr/>
        </p:nvSpPr>
        <p:spPr>
          <a:xfrm>
            <a:off x="7543800" y="5012921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E5884D9-E081-0FD2-BB86-3DA0F1BF6C1B}"/>
              </a:ext>
            </a:extLst>
          </p:cNvPr>
          <p:cNvSpPr/>
          <p:nvPr/>
        </p:nvSpPr>
        <p:spPr>
          <a:xfrm>
            <a:off x="5701219" y="4110228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ABB5A64-E69F-635C-6318-7E12018F3762}"/>
              </a:ext>
            </a:extLst>
          </p:cNvPr>
          <p:cNvSpPr/>
          <p:nvPr/>
        </p:nvSpPr>
        <p:spPr>
          <a:xfrm>
            <a:off x="6226982" y="5090275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8720ED1-F719-7E70-D0B8-8805B8A08C3E}"/>
              </a:ext>
            </a:extLst>
          </p:cNvPr>
          <p:cNvCxnSpPr>
            <a:endCxn id="10" idx="0"/>
          </p:cNvCxnSpPr>
          <p:nvPr/>
        </p:nvCxnSpPr>
        <p:spPr>
          <a:xfrm>
            <a:off x="6729919" y="2547747"/>
            <a:ext cx="0" cy="421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2DEC17D-A3FC-8144-A8F6-7B9B58744805}"/>
              </a:ext>
            </a:extLst>
          </p:cNvPr>
          <p:cNvCxnSpPr>
            <a:stCxn id="10" idx="3"/>
            <a:endCxn id="12" idx="0"/>
          </p:cNvCxnSpPr>
          <p:nvPr/>
        </p:nvCxnSpPr>
        <p:spPr>
          <a:xfrm flipH="1">
            <a:off x="6044119" y="3554881"/>
            <a:ext cx="443333" cy="5553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64FFE18-9F75-3F71-EBE7-1D72333C65B9}"/>
              </a:ext>
            </a:extLst>
          </p:cNvPr>
          <p:cNvCxnSpPr>
            <a:cxnSpLocks/>
            <a:stCxn id="10" idx="5"/>
            <a:endCxn id="11" idx="0"/>
          </p:cNvCxnSpPr>
          <p:nvPr/>
        </p:nvCxnSpPr>
        <p:spPr>
          <a:xfrm>
            <a:off x="6972386" y="3554881"/>
            <a:ext cx="914314" cy="1458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A0FC5BD-F856-E60E-A939-5B94E7C22974}"/>
              </a:ext>
            </a:extLst>
          </p:cNvPr>
          <p:cNvCxnSpPr>
            <a:cxnSpLocks/>
          </p:cNvCxnSpPr>
          <p:nvPr/>
        </p:nvCxnSpPr>
        <p:spPr>
          <a:xfrm>
            <a:off x="6044119" y="4796028"/>
            <a:ext cx="365727" cy="3213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B32121D-D152-78B0-5F24-B50478A92330}"/>
              </a:ext>
            </a:extLst>
          </p:cNvPr>
          <p:cNvCxnSpPr>
            <a:cxnSpLocks/>
          </p:cNvCxnSpPr>
          <p:nvPr/>
        </p:nvCxnSpPr>
        <p:spPr>
          <a:xfrm flipH="1">
            <a:off x="5248969" y="4684635"/>
            <a:ext cx="547181" cy="461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351E1DE7-6EB4-7EA7-6F7A-43BCC4FE75BD}"/>
              </a:ext>
            </a:extLst>
          </p:cNvPr>
          <p:cNvSpPr/>
          <p:nvPr/>
        </p:nvSpPr>
        <p:spPr>
          <a:xfrm>
            <a:off x="5178315" y="5064873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70E043A-B3C5-5F45-8A5B-3F77DC153ACC}"/>
              </a:ext>
            </a:extLst>
          </p:cNvPr>
          <p:cNvCxnSpPr>
            <a:endCxn id="10" idx="4"/>
          </p:cNvCxnSpPr>
          <p:nvPr/>
        </p:nvCxnSpPr>
        <p:spPr>
          <a:xfrm flipV="1">
            <a:off x="6729919" y="3655314"/>
            <a:ext cx="0" cy="1434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DA6A60C6-4CC6-885D-9FCE-BDDCC61B3B51}"/>
              </a:ext>
            </a:extLst>
          </p:cNvPr>
          <p:cNvCxnSpPr>
            <a:cxnSpLocks/>
            <a:endCxn id="10" idx="1"/>
          </p:cNvCxnSpPr>
          <p:nvPr/>
        </p:nvCxnSpPr>
        <p:spPr>
          <a:xfrm rot="5400000" flipH="1" flipV="1">
            <a:off x="4700856" y="3547405"/>
            <a:ext cx="2264054" cy="1309138"/>
          </a:xfrm>
          <a:prstGeom prst="bentConnector3">
            <a:avLst>
              <a:gd name="adj1" fmla="val 114533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50192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DC8AA-28CC-DF8F-183D-7B206E4A6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2AB95-0DB9-61D3-F405-9ECED4DAE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Code Example with Multiple Independent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5156E-AD03-93FD-2E68-90DAB184E0D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void </a:t>
            </a:r>
            <a:r>
              <a:rPr lang="en-US" dirty="0" err="1"/>
              <a:t>funcA</a:t>
            </a:r>
            <a:r>
              <a:rPr lang="en-US" dirty="0"/>
              <a:t>(int x) {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while (x &gt; 0) {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if (x % 2 == 0)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    x--;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else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    x = x - 3;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}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}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void </a:t>
            </a:r>
            <a:r>
              <a:rPr lang="en-US" dirty="0" err="1"/>
              <a:t>funcB</a:t>
            </a:r>
            <a:r>
              <a:rPr lang="en-US" dirty="0"/>
              <a:t>(int y) {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y;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if (</a:t>
            </a:r>
            <a:r>
              <a:rPr lang="en-US" dirty="0" err="1"/>
              <a:t>i</a:t>
            </a:r>
            <a:r>
              <a:rPr lang="en-US" dirty="0"/>
              <a:t> == 5)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        break;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   }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}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A06F07E-8ABC-E8A3-19CC-C313630552F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err="1"/>
              <a:t>funcA</a:t>
            </a:r>
            <a:r>
              <a:rPr lang="en-US" dirty="0"/>
              <a:t> and </a:t>
            </a:r>
            <a:r>
              <a:rPr lang="en-US" dirty="0" err="1"/>
              <a:t>funcB</a:t>
            </a:r>
            <a:r>
              <a:rPr lang="en-US" dirty="0"/>
              <a:t> are independent            </a:t>
            </a:r>
          </a:p>
          <a:p>
            <a:r>
              <a:rPr lang="en-US" dirty="0"/>
              <a:t>No function calls between them	 </a:t>
            </a:r>
          </a:p>
          <a:p>
            <a:r>
              <a:rPr lang="en-US" dirty="0"/>
              <a:t>When combined into one flow graph, they form two disconnected components</a:t>
            </a:r>
          </a:p>
          <a:p>
            <a:r>
              <a:rPr lang="en-US" dirty="0"/>
              <a:t>So P=2 not 1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A33B5-9C87-AEA1-965F-61D871CBF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0C2AF-3B6B-44F7-86A4-C6FC21E1E98E}" type="datetime1">
              <a:rPr lang="en-US" smtClean="0"/>
              <a:t>5/20/2026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4C1F3-C8C7-3A99-2751-B1F651CE5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CSE291 - Introduction to Software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435D2-584F-994D-4725-84A70C6BC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6092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F48FD-9CC2-EC30-90EF-829B471AF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99A12-6DC5-9CA5-3F4D-E185123C6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Code Example with Multiple Independent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70A82-B648-27A9-3775-5EBF32E1DC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E=7 N=6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21A3526-CE8F-1907-C1C2-84F337034B9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E=6  N=5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BC2374-24F5-6CC5-57AB-715E5C518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0C2AF-3B6B-44F7-86A4-C6FC21E1E98E}" type="datetime1">
              <a:rPr lang="en-US" smtClean="0"/>
              <a:t>5/20/2026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DF3BB-0023-19B7-AAFB-7AB8B9B32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CSE291 - Introduction to Software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50E6A-C613-B344-400B-91A0091B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6E4A55D-19C6-C63F-2D22-B695DEAB4865}"/>
              </a:ext>
            </a:extLst>
          </p:cNvPr>
          <p:cNvSpPr/>
          <p:nvPr/>
        </p:nvSpPr>
        <p:spPr>
          <a:xfrm>
            <a:off x="2005519" y="2137791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9FA5488-139D-5F26-155D-86C547A4CAF0}"/>
              </a:ext>
            </a:extLst>
          </p:cNvPr>
          <p:cNvSpPr/>
          <p:nvPr/>
        </p:nvSpPr>
        <p:spPr>
          <a:xfrm>
            <a:off x="1981200" y="3241167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6FD0FF0-6149-EC01-BC9B-3E4F6119B3E1}"/>
              </a:ext>
            </a:extLst>
          </p:cNvPr>
          <p:cNvSpPr/>
          <p:nvPr/>
        </p:nvSpPr>
        <p:spPr>
          <a:xfrm>
            <a:off x="3137981" y="5284574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075BB71-D878-194C-E3A4-15A6D381E5E1}"/>
              </a:ext>
            </a:extLst>
          </p:cNvPr>
          <p:cNvSpPr/>
          <p:nvPr/>
        </p:nvSpPr>
        <p:spPr>
          <a:xfrm>
            <a:off x="1295400" y="4381881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5687D228-1310-A581-9F84-8B89E1555ED0}"/>
              </a:ext>
            </a:extLst>
          </p:cNvPr>
          <p:cNvSpPr/>
          <p:nvPr/>
        </p:nvSpPr>
        <p:spPr>
          <a:xfrm>
            <a:off x="1718469" y="5394349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EBC9D3E-CC1C-30B8-0499-331AC05CD192}"/>
              </a:ext>
            </a:extLst>
          </p:cNvPr>
          <p:cNvCxnSpPr>
            <a:endCxn id="30" idx="0"/>
          </p:cNvCxnSpPr>
          <p:nvPr/>
        </p:nvCxnSpPr>
        <p:spPr>
          <a:xfrm>
            <a:off x="2324100" y="2819400"/>
            <a:ext cx="0" cy="4217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702A94B-3120-079C-BDE5-1905E2412071}"/>
              </a:ext>
            </a:extLst>
          </p:cNvPr>
          <p:cNvCxnSpPr>
            <a:stCxn id="30" idx="3"/>
            <a:endCxn id="32" idx="0"/>
          </p:cNvCxnSpPr>
          <p:nvPr/>
        </p:nvCxnSpPr>
        <p:spPr>
          <a:xfrm flipH="1">
            <a:off x="1638300" y="3826534"/>
            <a:ext cx="443333" cy="5553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843EAB9-4809-13D6-4F83-C8DE9C048463}"/>
              </a:ext>
            </a:extLst>
          </p:cNvPr>
          <p:cNvCxnSpPr>
            <a:cxnSpLocks/>
            <a:stCxn id="30" idx="5"/>
            <a:endCxn id="31" idx="0"/>
          </p:cNvCxnSpPr>
          <p:nvPr/>
        </p:nvCxnSpPr>
        <p:spPr>
          <a:xfrm>
            <a:off x="2566567" y="3826534"/>
            <a:ext cx="914314" cy="1458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DEA570B-03F1-BB67-A6BC-3BA85BDA1508}"/>
              </a:ext>
            </a:extLst>
          </p:cNvPr>
          <p:cNvCxnSpPr>
            <a:cxnSpLocks/>
          </p:cNvCxnSpPr>
          <p:nvPr/>
        </p:nvCxnSpPr>
        <p:spPr>
          <a:xfrm>
            <a:off x="1638300" y="5067681"/>
            <a:ext cx="365727" cy="3213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CC0696F5-4411-6AD7-083D-75F1F2593349}"/>
              </a:ext>
            </a:extLst>
          </p:cNvPr>
          <p:cNvSpPr/>
          <p:nvPr/>
        </p:nvSpPr>
        <p:spPr>
          <a:xfrm>
            <a:off x="772496" y="5336526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7DBDF58-6674-E14D-55A3-D46B02242300}"/>
              </a:ext>
            </a:extLst>
          </p:cNvPr>
          <p:cNvCxnSpPr>
            <a:cxnSpLocks/>
            <a:stCxn id="32" idx="3"/>
            <a:endCxn id="38" idx="0"/>
          </p:cNvCxnSpPr>
          <p:nvPr/>
        </p:nvCxnSpPr>
        <p:spPr>
          <a:xfrm flipH="1">
            <a:off x="1115396" y="4967248"/>
            <a:ext cx="280437" cy="3692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C0D8A89-5715-1432-D7A3-8328CEE4A633}"/>
              </a:ext>
            </a:extLst>
          </p:cNvPr>
          <p:cNvCxnSpPr>
            <a:cxnSpLocks/>
          </p:cNvCxnSpPr>
          <p:nvPr/>
        </p:nvCxnSpPr>
        <p:spPr>
          <a:xfrm flipV="1">
            <a:off x="2173321" y="3926967"/>
            <a:ext cx="230948" cy="15678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Oval 44">
            <a:extLst>
              <a:ext uri="{FF2B5EF4-FFF2-40B4-BE49-F238E27FC236}">
                <a16:creationId xmlns:a16="http://schemas.microsoft.com/office/drawing/2014/main" id="{571A35AA-97DC-F2F8-7011-B816E18D3905}"/>
              </a:ext>
            </a:extLst>
          </p:cNvPr>
          <p:cNvSpPr/>
          <p:nvPr/>
        </p:nvSpPr>
        <p:spPr>
          <a:xfrm>
            <a:off x="5981700" y="2194536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5A612AF3-9C82-5CAB-A903-9126ED2AE760}"/>
              </a:ext>
            </a:extLst>
          </p:cNvPr>
          <p:cNvSpPr/>
          <p:nvPr/>
        </p:nvSpPr>
        <p:spPr>
          <a:xfrm>
            <a:off x="6021421" y="3164478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10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C06C54A-471C-57A4-5F07-357A45B13076}"/>
              </a:ext>
            </a:extLst>
          </p:cNvPr>
          <p:cNvSpPr/>
          <p:nvPr/>
        </p:nvSpPr>
        <p:spPr>
          <a:xfrm>
            <a:off x="5381017" y="4118935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3C6F6470-8839-3673-1FBD-189DDCC3DF51}"/>
              </a:ext>
            </a:extLst>
          </p:cNvPr>
          <p:cNvSpPr/>
          <p:nvPr/>
        </p:nvSpPr>
        <p:spPr>
          <a:xfrm>
            <a:off x="6934200" y="5585185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14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6FD5418A-A7BE-AC87-AC05-080A219FD1E7}"/>
              </a:ext>
            </a:extLst>
          </p:cNvPr>
          <p:cNvSpPr/>
          <p:nvPr/>
        </p:nvSpPr>
        <p:spPr>
          <a:xfrm>
            <a:off x="5143500" y="5184648"/>
            <a:ext cx="685800" cy="6858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12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909683C4-9FB4-A613-AB37-8D8DBD07D9F1}"/>
              </a:ext>
            </a:extLst>
          </p:cNvPr>
          <p:cNvCxnSpPr>
            <a:stCxn id="45" idx="4"/>
            <a:endCxn id="46" idx="0"/>
          </p:cNvCxnSpPr>
          <p:nvPr/>
        </p:nvCxnSpPr>
        <p:spPr>
          <a:xfrm>
            <a:off x="6324600" y="2880336"/>
            <a:ext cx="39721" cy="2841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FEECBCF-C735-3AEA-60D5-2883139AD49C}"/>
              </a:ext>
            </a:extLst>
          </p:cNvPr>
          <p:cNvCxnSpPr>
            <a:endCxn id="47" idx="7"/>
          </p:cNvCxnSpPr>
          <p:nvPr/>
        </p:nvCxnSpPr>
        <p:spPr>
          <a:xfrm flipH="1">
            <a:off x="5966384" y="3850278"/>
            <a:ext cx="282016" cy="3690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54AC1459-C660-51B8-A384-6EB6C75BA2D9}"/>
              </a:ext>
            </a:extLst>
          </p:cNvPr>
          <p:cNvCxnSpPr>
            <a:stCxn id="47" idx="4"/>
            <a:endCxn id="50" idx="0"/>
          </p:cNvCxnSpPr>
          <p:nvPr/>
        </p:nvCxnSpPr>
        <p:spPr>
          <a:xfrm flipH="1">
            <a:off x="5486400" y="4804735"/>
            <a:ext cx="237517" cy="379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239425D6-99D6-B56C-1506-C6CD37E36A31}"/>
              </a:ext>
            </a:extLst>
          </p:cNvPr>
          <p:cNvCxnSpPr>
            <a:stCxn id="47" idx="2"/>
            <a:endCxn id="46" idx="2"/>
          </p:cNvCxnSpPr>
          <p:nvPr/>
        </p:nvCxnSpPr>
        <p:spPr>
          <a:xfrm rot="10800000" flipH="1">
            <a:off x="5381017" y="3507379"/>
            <a:ext cx="640404" cy="954457"/>
          </a:xfrm>
          <a:prstGeom prst="bentConnector3">
            <a:avLst>
              <a:gd name="adj1" fmla="val -3569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562ED55D-3C6B-DA5F-8EFD-6B749B142E7E}"/>
              </a:ext>
            </a:extLst>
          </p:cNvPr>
          <p:cNvCxnSpPr>
            <a:stCxn id="46" idx="5"/>
            <a:endCxn id="49" idx="0"/>
          </p:cNvCxnSpPr>
          <p:nvPr/>
        </p:nvCxnSpPr>
        <p:spPr>
          <a:xfrm>
            <a:off x="6606788" y="3749845"/>
            <a:ext cx="670312" cy="1835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7BE37064-9C2F-0506-FD70-39FC459382EE}"/>
              </a:ext>
            </a:extLst>
          </p:cNvPr>
          <p:cNvCxnSpPr>
            <a:cxnSpLocks/>
            <a:endCxn id="49" idx="2"/>
          </p:cNvCxnSpPr>
          <p:nvPr/>
        </p:nvCxnSpPr>
        <p:spPr>
          <a:xfrm>
            <a:off x="5605158" y="5870448"/>
            <a:ext cx="1329042" cy="576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D892E83B-21CF-EA9F-F049-584936040D4F}"/>
              </a:ext>
            </a:extLst>
          </p:cNvPr>
          <p:cNvCxnSpPr>
            <a:cxnSpLocks/>
            <a:stCxn id="38" idx="1"/>
            <a:endCxn id="30" idx="1"/>
          </p:cNvCxnSpPr>
          <p:nvPr/>
        </p:nvCxnSpPr>
        <p:spPr>
          <a:xfrm rot="5400000" flipH="1" flipV="1">
            <a:off x="429602" y="3784928"/>
            <a:ext cx="2095359" cy="1208704"/>
          </a:xfrm>
          <a:prstGeom prst="bentConnector3">
            <a:avLst>
              <a:gd name="adj1" fmla="val 115703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990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CC643-E086-2183-1641-FD7B23B86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Code Example with Multiple Independent Functions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217C73A-DE92-CE95-04A2-AE386F12D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E=7+6=13</a:t>
            </a:r>
          </a:p>
          <a:p>
            <a:r>
              <a:rPr lang="en-US" dirty="0"/>
              <a:t>N=6+5=11</a:t>
            </a:r>
          </a:p>
          <a:p>
            <a:r>
              <a:rPr lang="en-US" dirty="0"/>
              <a:t>P=2</a:t>
            </a:r>
          </a:p>
          <a:p>
            <a:r>
              <a:rPr lang="en-US" dirty="0"/>
              <a:t>CC=13-11+2(2)</a:t>
            </a:r>
          </a:p>
          <a:p>
            <a:r>
              <a:rPr lang="en-US" dirty="0"/>
              <a:t>=2+4</a:t>
            </a:r>
          </a:p>
          <a:p>
            <a:pPr marL="0" indent="0">
              <a:buNone/>
            </a:pPr>
            <a:r>
              <a:rPr lang="en-US" dirty="0"/>
              <a:t>=6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013CD-9074-9C39-F0D6-3C612CD1D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FA3A64-6662-4093-BF62-78DBDDDACD19}" type="datetime1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E61066-E055-2E11-EC48-7C34625F9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CSE291 - Introduction to Software Engineering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344B2-4EC2-DE56-E553-2DFF93442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7275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6D16E-65C4-1BAA-B72A-DB87D3BF9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a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12937-545A-2E1A-5343-0E5743AD988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class Account {</a:t>
            </a:r>
          </a:p>
          <a:p>
            <a:pPr marL="0" indent="0">
              <a:buNone/>
            </a:pPr>
            <a:r>
              <a:rPr lang="en-US" dirty="0"/>
              <a:t>    int balance;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boolean</a:t>
            </a:r>
            <a:r>
              <a:rPr lang="en-US" dirty="0"/>
              <a:t> </a:t>
            </a:r>
            <a:r>
              <a:rPr lang="en-US" dirty="0" err="1"/>
              <a:t>isPositive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      if (balance &gt; 0)</a:t>
            </a:r>
          </a:p>
          <a:p>
            <a:pPr marL="0" indent="0">
              <a:buNone/>
            </a:pPr>
            <a:r>
              <a:rPr lang="en-US" dirty="0"/>
              <a:t>            return true;</a:t>
            </a:r>
          </a:p>
          <a:p>
            <a:pPr marL="0" indent="0">
              <a:buNone/>
            </a:pPr>
            <a:r>
              <a:rPr lang="en-US" dirty="0"/>
              <a:t>        return false;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3EAABAB-17DE-A0AC-2105-566699F7DE2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Nodes: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Start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if (balance &gt; 0) → decision node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return true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return false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End</a:t>
            </a:r>
          </a:p>
          <a:p>
            <a:pPr marL="0" indent="0">
              <a:buNone/>
            </a:pPr>
            <a:r>
              <a:rPr lang="pt-BR" dirty="0"/>
              <a:t>CC = E − N + 2P = 5 − 5 + 2 </a:t>
            </a:r>
          </a:p>
          <a:p>
            <a:pPr marL="0" indent="0">
              <a:buNone/>
            </a:pPr>
            <a:r>
              <a:rPr lang="pt-BR" dirty="0"/>
              <a:t>=2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F84D44-C76A-150E-3DB6-7E0AB7715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0C2AF-3B6B-44F7-86A4-C6FC21E1E98E}" type="datetime1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DF60C-6633-7F24-B20A-449A4D8F7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CSE291 - Introduction to Software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75935-8E3D-6138-DE0E-704864699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2169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240B71-AC51-BFF7-07FE-2556C545B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9E386-BCEC-8772-7AAD-C7716650BE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a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D99A3-B5A1-9C3F-CF59-96B16052C02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class Demo {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void A(int x) {</a:t>
            </a:r>
          </a:p>
          <a:p>
            <a:pPr marL="0" indent="0">
              <a:buNone/>
            </a:pPr>
            <a:r>
              <a:rPr lang="en-US" dirty="0"/>
              <a:t>        if (x &gt; 0)</a:t>
            </a:r>
          </a:p>
          <a:p>
            <a:pPr marL="0" indent="0">
              <a:buNone/>
            </a:pPr>
            <a:r>
              <a:rPr lang="en-US" dirty="0"/>
              <a:t>            x++;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 void B(int y) {</a:t>
            </a:r>
          </a:p>
          <a:p>
            <a:pPr marL="0" indent="0">
              <a:buNone/>
            </a:pPr>
            <a:r>
              <a:rPr lang="en-US" dirty="0"/>
              <a:t>        for (int 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y; </a:t>
            </a:r>
            <a:r>
              <a:rPr lang="en-US" dirty="0" err="1"/>
              <a:t>i</a:t>
            </a:r>
            <a:r>
              <a:rPr lang="en-US" dirty="0"/>
              <a:t>++) {</a:t>
            </a:r>
          </a:p>
          <a:p>
            <a:pPr marL="0" indent="0">
              <a:buNone/>
            </a:pPr>
            <a:r>
              <a:rPr lang="en-US" dirty="0"/>
              <a:t>            if (</a:t>
            </a:r>
            <a:r>
              <a:rPr lang="en-US" dirty="0" err="1"/>
              <a:t>i</a:t>
            </a:r>
            <a:r>
              <a:rPr lang="en-US" dirty="0"/>
              <a:t> == 5)</a:t>
            </a:r>
          </a:p>
          <a:p>
            <a:pPr marL="0" indent="0">
              <a:buNone/>
            </a:pPr>
            <a:r>
              <a:rPr lang="en-US" dirty="0"/>
              <a:t>                break;</a:t>
            </a:r>
          </a:p>
          <a:p>
            <a:pPr marL="0" indent="0">
              <a:buNone/>
            </a:pPr>
            <a:r>
              <a:rPr lang="en-US" dirty="0"/>
              <a:t>        }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5E7714D-AB72-1302-549E-281E0FDC47D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A and B will be treated independently as we discussed previously and P=2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9CA9F-69CB-A2AF-0D97-F1F940645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0C2AF-3B6B-44F7-86A4-C6FC21E1E98E}" type="datetime1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47F2C-2C56-F2C4-FCB7-F35565E1A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CSE291 - Introduction to Software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5863F8-1A25-1DC8-CBFF-95EC8D8D2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2091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40F4C-9455-5F42-908D-A8DD89811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EA065-D99C-411D-CEBF-1B027742A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2797A-AA4D-40A8-0A41-3F12A1878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0C2AF-3B6B-44F7-86A4-C6FC21E1E98E}" type="datetime1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1A6091-9EBC-E0B1-4FED-5194DBFD5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CSE291 - Introduction to Software Engineering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9F141-257D-8F25-2A62-5DA3DE7F2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50239-8D04-497C-835A-E2B24B67E86F}" type="slidenum">
              <a:rPr lang="en-US" smtClean="0"/>
              <a:pPr/>
              <a:t>38</a:t>
            </a:fld>
            <a:endParaRPr lang="en-US"/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EEB4804F-0121-85E5-2190-99E6CD6C512B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709928"/>
            <a:ext cx="8077201" cy="461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8664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Essential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4167</TotalTime>
  <Words>2540</Words>
  <Application>Microsoft Office PowerPoint</Application>
  <PresentationFormat>On-screen Show (4:3)</PresentationFormat>
  <Paragraphs>489</Paragraphs>
  <Slides>38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Arial Unicode MS</vt:lpstr>
      <vt:lpstr>Calibri</vt:lpstr>
      <vt:lpstr>Times New Roman</vt:lpstr>
      <vt:lpstr>Tw Cen MT</vt:lpstr>
      <vt:lpstr>Clarity</vt:lpstr>
      <vt:lpstr>PowerPoint Presentation</vt:lpstr>
      <vt:lpstr>Software Testing</vt:lpstr>
      <vt:lpstr>  Software Testing </vt:lpstr>
      <vt:lpstr>Software Testing</vt:lpstr>
      <vt:lpstr> Who Does Testing? </vt:lpstr>
      <vt:lpstr>A model of the software testing process</vt:lpstr>
      <vt:lpstr>Levels of Testing Testing Organization Illustrated</vt:lpstr>
      <vt:lpstr>Types of Testing</vt:lpstr>
      <vt:lpstr> Automation Testing </vt:lpstr>
      <vt:lpstr>Software Testing</vt:lpstr>
      <vt:lpstr> Classification According to Testing Concept</vt:lpstr>
      <vt:lpstr> Black Box Testing </vt:lpstr>
      <vt:lpstr> Black Box Testing  </vt:lpstr>
      <vt:lpstr>Black Box Testing</vt:lpstr>
      <vt:lpstr>White Box Testing</vt:lpstr>
      <vt:lpstr>White Box Testing</vt:lpstr>
      <vt:lpstr>White Box Testing</vt:lpstr>
      <vt:lpstr>Black Box  vs White Box</vt:lpstr>
      <vt:lpstr>PowerPoint Presentation</vt:lpstr>
      <vt:lpstr>Testing strategies/ Development testing </vt:lpstr>
      <vt:lpstr> Unit Testing </vt:lpstr>
      <vt:lpstr>Integration Testing /System testing</vt:lpstr>
      <vt:lpstr>Regression Testing</vt:lpstr>
      <vt:lpstr>User Testing</vt:lpstr>
      <vt:lpstr>Whitebox Testing Control Flow Graph</vt:lpstr>
      <vt:lpstr>Whitebox Testing graph (Adjacency) matrices</vt:lpstr>
      <vt:lpstr>Whitebox Testing graph (Adjacency) matrices</vt:lpstr>
      <vt:lpstr>Whitebox Testing graph (Adjacency) matrices</vt:lpstr>
      <vt:lpstr>Cyclomatic Complexity</vt:lpstr>
      <vt:lpstr>Rules</vt:lpstr>
      <vt:lpstr>Example</vt:lpstr>
      <vt:lpstr>Example with loop +condition</vt:lpstr>
      <vt:lpstr>Code Example with Multiple Independent Functions</vt:lpstr>
      <vt:lpstr>Code Example with Multiple Independent Functions</vt:lpstr>
      <vt:lpstr>Code Example with Multiple Independent Functions</vt:lpstr>
      <vt:lpstr>In a class</vt:lpstr>
      <vt:lpstr>In a class</vt:lpstr>
      <vt:lpstr>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VERIFICATION AND VALIDATION</dc:title>
  <dc:creator>user</dc:creator>
  <cp:lastModifiedBy>Malik Junaid Aziz</cp:lastModifiedBy>
  <cp:revision>309</cp:revision>
  <cp:lastPrinted>2019-12-10T05:29:45Z</cp:lastPrinted>
  <dcterms:created xsi:type="dcterms:W3CDTF">2014-12-01T19:07:01Z</dcterms:created>
  <dcterms:modified xsi:type="dcterms:W3CDTF">2026-05-20T13:35:09Z</dcterms:modified>
</cp:coreProperties>
</file>