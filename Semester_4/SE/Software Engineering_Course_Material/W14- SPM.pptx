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8"/>
  </p:notesMasterIdLst>
  <p:handoutMasterIdLst>
    <p:handoutMasterId r:id="rId39"/>
  </p:handoutMasterIdLst>
  <p:sldIdLst>
    <p:sldId id="295" r:id="rId2"/>
    <p:sldId id="388" r:id="rId3"/>
    <p:sldId id="522" r:id="rId4"/>
    <p:sldId id="482" r:id="rId5"/>
    <p:sldId id="484" r:id="rId6"/>
    <p:sldId id="526" r:id="rId7"/>
    <p:sldId id="528" r:id="rId8"/>
    <p:sldId id="529" r:id="rId9"/>
    <p:sldId id="531" r:id="rId10"/>
    <p:sldId id="490" r:id="rId11"/>
    <p:sldId id="280" r:id="rId12"/>
    <p:sldId id="281" r:id="rId13"/>
    <p:sldId id="282" r:id="rId14"/>
    <p:sldId id="283" r:id="rId15"/>
    <p:sldId id="284" r:id="rId16"/>
    <p:sldId id="285" r:id="rId17"/>
    <p:sldId id="532" r:id="rId18"/>
    <p:sldId id="362" r:id="rId19"/>
    <p:sldId id="363" r:id="rId20"/>
    <p:sldId id="368" r:id="rId21"/>
    <p:sldId id="369" r:id="rId22"/>
    <p:sldId id="370" r:id="rId23"/>
    <p:sldId id="371" r:id="rId24"/>
    <p:sldId id="372" r:id="rId25"/>
    <p:sldId id="373" r:id="rId26"/>
    <p:sldId id="374" r:id="rId27"/>
    <p:sldId id="375" r:id="rId28"/>
    <p:sldId id="398" r:id="rId29"/>
    <p:sldId id="539" r:id="rId30"/>
    <p:sldId id="405" r:id="rId31"/>
    <p:sldId id="408" r:id="rId32"/>
    <p:sldId id="407" r:id="rId33"/>
    <p:sldId id="409" r:id="rId34"/>
    <p:sldId id="536" r:id="rId35"/>
    <p:sldId id="537" r:id="rId36"/>
    <p:sldId id="538" r:id="rId37"/>
  </p:sldIdLst>
  <p:sldSz cx="9144000" cy="6858000" type="screen4x3"/>
  <p:notesSz cx="9296400"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60"/>
  </p:normalViewPr>
  <p:slideViewPr>
    <p:cSldViewPr>
      <p:cViewPr varScale="1">
        <p:scale>
          <a:sx n="67" d="100"/>
          <a:sy n="67" d="100"/>
        </p:scale>
        <p:origin x="148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443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44326"/>
          </a:xfrm>
          <a:prstGeom prst="rect">
            <a:avLst/>
          </a:prstGeom>
        </p:spPr>
        <p:txBody>
          <a:bodyPr vert="horz" lIns="91440" tIns="45720" rIns="91440" bIns="45720" rtlCol="0"/>
          <a:lstStyle>
            <a:lvl1pPr algn="r">
              <a:defRPr sz="1200"/>
            </a:lvl1pPr>
          </a:lstStyle>
          <a:p>
            <a:fld id="{18413AC2-84B2-43FF-94BB-EB11EFEB6E93}" type="datetimeFigureOut">
              <a:rPr lang="en-US" smtClean="0"/>
              <a:t>6/5/2026</a:t>
            </a:fld>
            <a:endParaRPr lang="en-US"/>
          </a:p>
        </p:txBody>
      </p:sp>
      <p:sp>
        <p:nvSpPr>
          <p:cNvPr id="4" name="Footer Placeholder 3"/>
          <p:cNvSpPr>
            <a:spLocks noGrp="1"/>
          </p:cNvSpPr>
          <p:nvPr>
            <p:ph type="ftr" sz="quarter" idx="2"/>
          </p:nvPr>
        </p:nvSpPr>
        <p:spPr>
          <a:xfrm>
            <a:off x="1" y="6536312"/>
            <a:ext cx="4029282" cy="34432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536312"/>
            <a:ext cx="4029282" cy="344326"/>
          </a:xfrm>
          <a:prstGeom prst="rect">
            <a:avLst/>
          </a:prstGeom>
        </p:spPr>
        <p:txBody>
          <a:bodyPr vert="horz" lIns="91440" tIns="45720" rIns="91440" bIns="45720" rtlCol="0" anchor="b"/>
          <a:lstStyle>
            <a:lvl1pPr algn="r">
              <a:defRPr sz="1200"/>
            </a:lvl1pPr>
          </a:lstStyle>
          <a:p>
            <a:fld id="{0EE5FA1F-BE4C-4B8A-B516-4391A4FD23F3}" type="slidenum">
              <a:rPr lang="en-US" smtClean="0"/>
              <a:t>‹#›</a:t>
            </a:fld>
            <a:endParaRPr lang="en-US"/>
          </a:p>
        </p:txBody>
      </p:sp>
    </p:spTree>
    <p:extLst>
      <p:ext uri="{BB962C8B-B14F-4D97-AF65-F5344CB8AC3E}">
        <p14:creationId xmlns:p14="http://schemas.microsoft.com/office/powerpoint/2010/main" val="2206573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4091"/>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0"/>
            <a:ext cx="4028440" cy="344091"/>
          </a:xfrm>
          <a:prstGeom prst="rect">
            <a:avLst/>
          </a:prstGeom>
        </p:spPr>
        <p:txBody>
          <a:bodyPr vert="horz" lIns="93177" tIns="46589" rIns="93177" bIns="46589" rtlCol="0"/>
          <a:lstStyle>
            <a:lvl1pPr algn="r">
              <a:defRPr sz="1200"/>
            </a:lvl1pPr>
          </a:lstStyle>
          <a:p>
            <a:fld id="{678CA847-4A74-4ED8-B970-DB5660C561A5}" type="datetimeFigureOut">
              <a:rPr lang="en-US" smtClean="0"/>
              <a:pPr/>
              <a:t>6/5/2026</a:t>
            </a:fld>
            <a:endParaRPr lang="en-US" dirty="0"/>
          </a:p>
        </p:txBody>
      </p:sp>
      <p:sp>
        <p:nvSpPr>
          <p:cNvPr id="4" name="Slide Image Placeholder 3"/>
          <p:cNvSpPr>
            <a:spLocks noGrp="1" noRot="1" noChangeAspect="1"/>
          </p:cNvSpPr>
          <p:nvPr>
            <p:ph type="sldImg" idx="2"/>
          </p:nvPr>
        </p:nvSpPr>
        <p:spPr>
          <a:xfrm>
            <a:off x="2927350" y="515938"/>
            <a:ext cx="3441700" cy="25812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268861"/>
            <a:ext cx="7437120" cy="3096816"/>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36528"/>
            <a:ext cx="4028440" cy="344091"/>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09" y="6536528"/>
            <a:ext cx="4028440" cy="344091"/>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CEC54F-17D1-4C02-981A-0A649ED5850B}" type="slidenum">
              <a:rPr lang="en-US" smtClean="0"/>
              <a:t>5</a:t>
            </a:fld>
            <a:endParaRPr lang="en-US"/>
          </a:p>
        </p:txBody>
      </p:sp>
    </p:spTree>
    <p:extLst>
      <p:ext uri="{BB962C8B-B14F-4D97-AF65-F5344CB8AC3E}">
        <p14:creationId xmlns:p14="http://schemas.microsoft.com/office/powerpoint/2010/main" val="2745929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879F579D-9AAB-47AB-9492-419D3DDEBD84}"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82212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5E25D535-4494-47E2-B84C-3AD5D593B027}"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55824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22241E79-5738-4463-8A88-C18B17954A41}"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All these point come one by one as in the previous slide. Line as well as the caption will appear one by one, starting from product quality  then risk assessment.</a:t>
            </a:r>
          </a:p>
        </p:txBody>
      </p:sp>
    </p:spTree>
    <p:extLst>
      <p:ext uri="{BB962C8B-B14F-4D97-AF65-F5344CB8AC3E}">
        <p14:creationId xmlns:p14="http://schemas.microsoft.com/office/powerpoint/2010/main" val="276543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D4BEDC76-6622-48B4-9AFD-DDF9B29B491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74120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CEC54F-17D1-4C02-981A-0A649ED5850B}" type="slidenum">
              <a:rPr lang="en-US" smtClean="0"/>
              <a:t>10</a:t>
            </a:fld>
            <a:endParaRPr lang="en-US"/>
          </a:p>
        </p:txBody>
      </p:sp>
    </p:spTree>
    <p:extLst>
      <p:ext uri="{BB962C8B-B14F-4D97-AF65-F5344CB8AC3E}">
        <p14:creationId xmlns:p14="http://schemas.microsoft.com/office/powerpoint/2010/main" val="3542335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703568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550338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118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580566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600829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716451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571721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41263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329801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076958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347588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B1FB35-2725-EB81-33E5-80A057A8CDF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B95002C-A610-7AB0-0311-129AEF108242}"/>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760554CF-910F-F834-B813-A0DF5B38AB72}"/>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307262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123745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031678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915175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458159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A15EB2-4A0D-D602-CD37-C84A357EEBF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B56CB9F-33AC-792A-FADA-0109D66DF8E8}"/>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1D4A68D9-95F6-7D49-2142-C1F3AB0E5FD8}"/>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280934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1E9AA4A-883F-102A-7F2F-849501F9891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64E4EB9-AD58-80A2-FD3C-5A325C8D4589}"/>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DEB6AF20-EFD4-D3A2-9CB1-84634079546A}"/>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438314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9DE9E8-60CD-01B2-B98D-E4E04B0F71D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CD3DF6D-418E-B281-F1AD-9D07D8706608}"/>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2B5060F5-0322-ED66-0438-DEFF003AB5B5}"/>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221348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6552FB-DC3B-4981-8535-DB3F8D72F0B3}"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3C0F88-1A8C-4E64-94ED-8B49F600FA0F}"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A5803-E659-4924-897D-F0C500B6CD71}"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C529BC-5B0B-458C-B93E-46C6E6DDB962}"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F420E7-D2DC-42DC-B264-FA170ED98FD8}" type="datetime1">
              <a:rPr lang="en-US" smtClean="0"/>
              <a:t>6/5/2026</a:t>
            </a:fld>
            <a:endParaRPr lang="en-US" dirty="0"/>
          </a:p>
        </p:txBody>
      </p:sp>
      <p:sp>
        <p:nvSpPr>
          <p:cNvPr id="8" name="Footer Placeholder 7"/>
          <p:cNvSpPr>
            <a:spLocks noGrp="1"/>
          </p:cNvSpPr>
          <p:nvPr>
            <p:ph type="ftr" sz="quarter" idx="11"/>
          </p:nvPr>
        </p:nvSpPr>
        <p:spPr/>
        <p:txBody>
          <a:bodyPr/>
          <a:lstStyle/>
          <a:p>
            <a:r>
              <a:rPr lang="en-US"/>
              <a:t>CSC291 - Software Engineering</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75FCAD-FA11-4BD5-8579-3884B0636670}" type="datetime1">
              <a:rPr lang="en-US" smtClean="0"/>
              <a:t>6/5/2026</a:t>
            </a:fld>
            <a:endParaRPr lang="en-US" dirty="0"/>
          </a:p>
        </p:txBody>
      </p:sp>
      <p:sp>
        <p:nvSpPr>
          <p:cNvPr id="4" name="Footer Placeholder 3"/>
          <p:cNvSpPr>
            <a:spLocks noGrp="1"/>
          </p:cNvSpPr>
          <p:nvPr>
            <p:ph type="ftr" sz="quarter" idx="11"/>
          </p:nvPr>
        </p:nvSpPr>
        <p:spPr/>
        <p:txBody>
          <a:bodyPr/>
          <a:lstStyle/>
          <a:p>
            <a:r>
              <a:rPr lang="en-US"/>
              <a:t>CSC291 - Software Engineering</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EB41E8-E4A5-41A1-AB2A-E8A854825314}" type="datetime1">
              <a:rPr lang="en-US" smtClean="0"/>
              <a:t>6/5/2026</a:t>
            </a:fld>
            <a:endParaRPr lang="en-US" dirty="0"/>
          </a:p>
        </p:txBody>
      </p:sp>
      <p:sp>
        <p:nvSpPr>
          <p:cNvPr id="3" name="Footer Placeholder 2"/>
          <p:cNvSpPr>
            <a:spLocks noGrp="1"/>
          </p:cNvSpPr>
          <p:nvPr>
            <p:ph type="ftr" sz="quarter" idx="11"/>
          </p:nvPr>
        </p:nvSpPr>
        <p:spPr/>
        <p:txBody>
          <a:bodyPr/>
          <a:lstStyle/>
          <a:p>
            <a:r>
              <a:rPr lang="en-US"/>
              <a:t>CSC291 - Software Engineering</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939F4C-4812-49F9-ACCB-F2482EB8A6DD}"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25C10-7493-42F9-B4A0-EEABA57AE820}"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B574F1-84A9-436B-B063-E317D6B8D60A}"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26D29D-4A14-4AB0-811A-F1833E3101E1}"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5C095BE-A17A-4238-81A5-B084FACDF61D}" type="datetime1">
              <a:rPr lang="en-US" smtClean="0"/>
              <a:t>6/5/2026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1066800" y="3581400"/>
            <a:ext cx="5867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endParaRPr lang="en-US" sz="2000" dirty="0">
              <a:solidFill>
                <a:schemeClr val="tx1"/>
              </a:solidFill>
              <a:latin typeface="+mj-lt"/>
              <a:cs typeface="Times New Roman" pitchFamily="18" charset="0"/>
            </a:endParaRPr>
          </a:p>
          <a:p>
            <a:pPr marL="63500" algn="ctr"/>
            <a:r>
              <a:rPr lang="en-AU" altLang="en-AU" sz="2800" b="1" dirty="0">
                <a:solidFill>
                  <a:schemeClr val="tx1"/>
                </a:solidFill>
                <a:latin typeface="+mj-lt"/>
                <a:cs typeface="Times New Roman" pitchFamily="18" charset="0"/>
              </a:rPr>
              <a:t>Project Management Concepts</a:t>
            </a:r>
            <a:endParaRPr lang="en-US" sz="28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71600"/>
            <a:ext cx="9144000" cy="1927225"/>
          </a:xfrm>
        </p:spPr>
        <p:txBody>
          <a:bodyPr/>
          <a:lstStyle/>
          <a:p>
            <a:pPr algn="ct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600" cap="none"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Software Fails?</a:t>
            </a:r>
            <a:endParaRPr lang="en-US" dirty="0"/>
          </a:p>
        </p:txBody>
      </p:sp>
      <p:sp>
        <p:nvSpPr>
          <p:cNvPr id="3" name="Content Placeholder 2"/>
          <p:cNvSpPr>
            <a:spLocks noGrp="1"/>
          </p:cNvSpPr>
          <p:nvPr>
            <p:ph idx="1"/>
          </p:nvPr>
        </p:nvSpPr>
        <p:spPr>
          <a:xfrm>
            <a:off x="457200" y="1524000"/>
            <a:ext cx="8229600" cy="4876800"/>
          </a:xfrm>
        </p:spPr>
        <p:txBody>
          <a:bodyPr>
            <a:normAutofit/>
          </a:bodyPr>
          <a:lstStyle/>
          <a:p>
            <a:r>
              <a:rPr lang="en-US" sz="2800" dirty="0">
                <a:latin typeface="Baskerville Old Face" panose="02020602080505020303" pitchFamily="18" charset="0"/>
              </a:rPr>
              <a:t>Failures occur because:</a:t>
            </a:r>
          </a:p>
          <a:p>
            <a:pPr lvl="1"/>
            <a:r>
              <a:rPr lang="en-US" sz="2800" dirty="0">
                <a:latin typeface="Baskerville Old Face" panose="02020602080505020303" pitchFamily="18" charset="0"/>
              </a:rPr>
              <a:t>of the size of the project relative to previous efforts</a:t>
            </a:r>
          </a:p>
          <a:p>
            <a:pPr lvl="1"/>
            <a:r>
              <a:rPr lang="en-US" sz="2800" dirty="0">
                <a:latin typeface="Baskerville Old Face" panose="02020602080505020303" pitchFamily="18" charset="0"/>
              </a:rPr>
              <a:t>key personnel have left</a:t>
            </a:r>
          </a:p>
          <a:p>
            <a:pPr lvl="1"/>
            <a:r>
              <a:rPr lang="en-US" sz="2800" dirty="0">
                <a:latin typeface="Baskerville Old Face" panose="02020602080505020303" pitchFamily="18" charset="0"/>
              </a:rPr>
              <a:t>of failure to understand requirements</a:t>
            </a:r>
          </a:p>
          <a:p>
            <a:pPr lvl="1"/>
            <a:r>
              <a:rPr lang="en-US" sz="2800" dirty="0">
                <a:latin typeface="Baskerville Old Face" panose="02020602080505020303" pitchFamily="18" charset="0"/>
              </a:rPr>
              <a:t>the project delivers, but lacks the required quality</a:t>
            </a:r>
          </a:p>
          <a:p>
            <a:pPr lvl="1"/>
            <a:r>
              <a:rPr lang="en-US" sz="2800" dirty="0">
                <a:latin typeface="Baskerville Old Face" panose="02020602080505020303" pitchFamily="18" charset="0"/>
              </a:rPr>
              <a:t>of the introduction of new technology</a:t>
            </a:r>
          </a:p>
          <a:p>
            <a:pPr lvl="1"/>
            <a:r>
              <a:rPr lang="en-US" sz="2800" dirty="0">
                <a:latin typeface="Baskerville Old Face" panose="02020602080505020303" pitchFamily="18" charset="0"/>
              </a:rPr>
              <a:t>of many, many other reasons</a:t>
            </a:r>
          </a:p>
          <a:p>
            <a:pPr algn="just">
              <a:buNone/>
            </a:pPr>
            <a:endParaRPr lang="en-US" sz="2800" dirty="0"/>
          </a:p>
          <a:p>
            <a:pPr algn="just"/>
            <a:endParaRPr lang="en-US" sz="2800" dirty="0"/>
          </a:p>
        </p:txBody>
      </p:sp>
      <p:sp>
        <p:nvSpPr>
          <p:cNvPr id="4" name="Date Placeholder 3"/>
          <p:cNvSpPr>
            <a:spLocks noGrp="1"/>
          </p:cNvSpPr>
          <p:nvPr>
            <p:ph type="dt" sz="half" idx="10"/>
          </p:nvPr>
        </p:nvSpPr>
        <p:spPr/>
        <p:txBody>
          <a:bodyPr/>
          <a:lstStyle/>
          <a:p>
            <a:fld id="{EF59FDE1-09EC-43DE-9F00-3AD04D66ACB8}" type="datetime1">
              <a:rPr lang="en-US" smtClean="0"/>
              <a:t>6/5/2026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a:t>
            </a:fld>
            <a:endParaRPr lang="en-US" dirty="0"/>
          </a:p>
        </p:txBody>
      </p:sp>
    </p:spTree>
    <p:extLst>
      <p:ext uri="{BB962C8B-B14F-4D97-AF65-F5344CB8AC3E}">
        <p14:creationId xmlns:p14="http://schemas.microsoft.com/office/powerpoint/2010/main" val="204739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pPr eaLnBrk="1" fontAlgn="auto" hangingPunct="1">
              <a:spcAft>
                <a:spcPts val="0"/>
              </a:spcAft>
              <a:defRPr/>
            </a:pPr>
            <a:r>
              <a:rPr lang="en-IE" sz="4000" dirty="0"/>
              <a:t>The</a:t>
            </a:r>
            <a:r>
              <a:rPr lang="en-IE" dirty="0"/>
              <a:t> </a:t>
            </a:r>
            <a:r>
              <a:rPr lang="en-IE" sz="4000" dirty="0"/>
              <a:t>dilemma</a:t>
            </a:r>
            <a:r>
              <a:rPr lang="en-IE" dirty="0"/>
              <a:t> </a:t>
            </a:r>
          </a:p>
        </p:txBody>
      </p:sp>
      <p:pic>
        <p:nvPicPr>
          <p:cNvPr id="1229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773238"/>
            <a:ext cx="5767388" cy="43195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pPr>
              <a:defRPr/>
            </a:pPr>
            <a:fld id="{315F0B0F-AB6F-40F2-A14A-06E258D43C7D}" type="datetime1">
              <a:rPr lang="en-US" smtClean="0"/>
              <a:t>6/5/2026</a:t>
            </a:fld>
            <a:endParaRPr lang="en-IE"/>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D37C2A3-7EDC-46E7-8E9B-CA0C8EB9E68B}" type="slidenum">
              <a:rPr lang="en-IE" altLang="en-US">
                <a:solidFill>
                  <a:schemeClr val="tx2"/>
                </a:solidFill>
              </a:rPr>
              <a:pPr eaLnBrk="1" hangingPunct="1"/>
              <a:t>3</a:t>
            </a:fld>
            <a:endParaRPr lang="en-IE" altLang="en-US">
              <a:solidFill>
                <a:schemeClr val="tx2"/>
              </a:solidFill>
            </a:endParaRPr>
          </a:p>
        </p:txBody>
      </p:sp>
    </p:spTree>
    <p:extLst>
      <p:ext uri="{BB962C8B-B14F-4D97-AF65-F5344CB8AC3E}">
        <p14:creationId xmlns:p14="http://schemas.microsoft.com/office/powerpoint/2010/main" val="279329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D28BDC9-673A-42D5-8EA0-F5D4DC8FFA13}" type="datetime1">
              <a:rPr lang="en-US" smtClean="0"/>
              <a:t>6/5/2026</a:t>
            </a:fld>
            <a:endParaRPr lang="en-IE"/>
          </a:p>
        </p:txBody>
      </p:sp>
      <p:sp>
        <p:nvSpPr>
          <p:cNvPr id="3" name="Slide Number Placeholder 2"/>
          <p:cNvSpPr>
            <a:spLocks noGrp="1"/>
          </p:cNvSpPr>
          <p:nvPr>
            <p:ph type="sldNum" sz="quarter" idx="12"/>
          </p:nvPr>
        </p:nvSpPr>
        <p:spPr/>
        <p:txBody>
          <a:bodyPr/>
          <a:lstStyle/>
          <a:p>
            <a:fld id="{48541322-12C0-4AF8-84C9-BC6AB0C5B083}" type="slidenum">
              <a:rPr lang="en-IE" altLang="en-US" smtClean="0"/>
              <a:pPr/>
              <a:t>4</a:t>
            </a:fld>
            <a:endParaRPr lang="en-IE" altLang="en-US"/>
          </a:p>
        </p:txBody>
      </p:sp>
      <p:sp>
        <p:nvSpPr>
          <p:cNvPr id="180226" name="AutoShape 2"/>
          <p:cNvSpPr>
            <a:spLocks noGrp="1" noChangeArrowheads="1"/>
          </p:cNvSpPr>
          <p:nvPr>
            <p:ph type="title" idx="4294967295"/>
          </p:nvPr>
        </p:nvSpPr>
        <p:spPr>
          <a:xfrm>
            <a:off x="1600200" y="69547"/>
            <a:ext cx="7543800" cy="1449387"/>
          </a:xfrm>
        </p:spPr>
        <p:txBody>
          <a:bodyPr>
            <a:normAutofit/>
          </a:bodyPr>
          <a:lstStyle/>
          <a:p>
            <a:r>
              <a:rPr lang="en-US" altLang="en-US" sz="4000" dirty="0"/>
              <a:t>Software</a:t>
            </a:r>
            <a:r>
              <a:rPr lang="en-US" altLang="en-US" dirty="0"/>
              <a:t> </a:t>
            </a:r>
            <a:r>
              <a:rPr lang="en-US" altLang="en-US" sz="4000" dirty="0"/>
              <a:t>Development</a:t>
            </a:r>
          </a:p>
        </p:txBody>
      </p:sp>
      <p:sp>
        <p:nvSpPr>
          <p:cNvPr id="180228" name="Oval 4"/>
          <p:cNvSpPr>
            <a:spLocks noChangeArrowheads="1"/>
          </p:cNvSpPr>
          <p:nvPr/>
        </p:nvSpPr>
        <p:spPr bwMode="auto">
          <a:xfrm>
            <a:off x="345297" y="1802160"/>
            <a:ext cx="3617103" cy="3624247"/>
          </a:xfrm>
          <a:prstGeom prst="ellipse">
            <a:avLst/>
          </a:prstGeom>
          <a:solidFill>
            <a:srgbClr val="CC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b="1">
              <a:latin typeface="Times New Roman" pitchFamily="18" charset="0"/>
              <a:cs typeface="Times New Roman" pitchFamily="18" charset="0"/>
            </a:endParaRPr>
          </a:p>
        </p:txBody>
      </p:sp>
      <p:sp>
        <p:nvSpPr>
          <p:cNvPr id="180229" name="Text Box 5"/>
          <p:cNvSpPr txBox="1">
            <a:spLocks noChangeArrowheads="1"/>
          </p:cNvSpPr>
          <p:nvPr/>
        </p:nvSpPr>
        <p:spPr bwMode="auto">
          <a:xfrm>
            <a:off x="1143000" y="210696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b="1">
                <a:solidFill>
                  <a:schemeClr val="bg1"/>
                </a:solidFill>
                <a:latin typeface="Tahoma" pitchFamily="34" charset="0"/>
              </a:rPr>
              <a:t>Management</a:t>
            </a:r>
          </a:p>
        </p:txBody>
      </p:sp>
      <p:sp>
        <p:nvSpPr>
          <p:cNvPr id="180230" name="Oval 6"/>
          <p:cNvSpPr>
            <a:spLocks noChangeArrowheads="1"/>
          </p:cNvSpPr>
          <p:nvPr/>
        </p:nvSpPr>
        <p:spPr bwMode="auto">
          <a:xfrm>
            <a:off x="1066800" y="2564159"/>
            <a:ext cx="2209800" cy="2286183"/>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400" b="1" dirty="0">
                <a:latin typeface="Tahoma" pitchFamily="34" charset="0"/>
              </a:rPr>
              <a:t>Construction</a:t>
            </a:r>
          </a:p>
        </p:txBody>
      </p:sp>
      <p:sp>
        <p:nvSpPr>
          <p:cNvPr id="180231" name="Text Box 7"/>
          <p:cNvSpPr txBox="1">
            <a:spLocks noChangeArrowheads="1"/>
          </p:cNvSpPr>
          <p:nvPr/>
        </p:nvSpPr>
        <p:spPr bwMode="auto">
          <a:xfrm>
            <a:off x="4267200" y="1268760"/>
            <a:ext cx="4648200" cy="1938992"/>
          </a:xfrm>
          <a:prstGeom prst="rect">
            <a:avLst/>
          </a:prstGeom>
          <a:solidFill>
            <a:srgbClr val="66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1" hangingPunct="1"/>
            <a:r>
              <a:rPr lang="en-US" altLang="en-US" sz="2400" b="1" dirty="0">
                <a:solidFill>
                  <a:srgbClr val="FFFF00"/>
                </a:solidFill>
                <a:latin typeface="Baskerville Old Face" panose="02020602080505020303" pitchFamily="18" charset="0"/>
              </a:rPr>
              <a:t>Project planning and management</a:t>
            </a:r>
          </a:p>
          <a:p>
            <a:pPr lvl="1" eaLnBrk="1" hangingPunct="1"/>
            <a:r>
              <a:rPr lang="en-US" altLang="en-US" sz="2400" b="1" dirty="0">
                <a:solidFill>
                  <a:srgbClr val="FFFF00"/>
                </a:solidFill>
                <a:latin typeface="Baskerville Old Face" panose="02020602080505020303" pitchFamily="18" charset="0"/>
              </a:rPr>
              <a:t>Configuration management</a:t>
            </a:r>
          </a:p>
          <a:p>
            <a:pPr lvl="1" eaLnBrk="1" hangingPunct="1"/>
            <a:r>
              <a:rPr lang="en-US" altLang="en-US" sz="2400" b="1" dirty="0">
                <a:solidFill>
                  <a:srgbClr val="FFFF00"/>
                </a:solidFill>
                <a:latin typeface="Baskerville Old Face" panose="02020602080505020303" pitchFamily="18" charset="0"/>
              </a:rPr>
              <a:t>Quality assurance</a:t>
            </a:r>
          </a:p>
          <a:p>
            <a:pPr lvl="1" eaLnBrk="1" hangingPunct="1"/>
            <a:r>
              <a:rPr lang="en-US" altLang="en-US" sz="2400" b="1" dirty="0">
                <a:solidFill>
                  <a:srgbClr val="FFFF00"/>
                </a:solidFill>
                <a:latin typeface="Baskerville Old Face" panose="02020602080505020303" pitchFamily="18" charset="0"/>
              </a:rPr>
              <a:t>Installation and training    etc.</a:t>
            </a:r>
          </a:p>
        </p:txBody>
      </p:sp>
      <p:sp>
        <p:nvSpPr>
          <p:cNvPr id="180232" name="Line 8"/>
          <p:cNvSpPr>
            <a:spLocks noChangeShapeType="1"/>
          </p:cNvSpPr>
          <p:nvPr/>
        </p:nvSpPr>
        <p:spPr bwMode="auto">
          <a:xfrm flipV="1">
            <a:off x="3352800" y="1954560"/>
            <a:ext cx="914400" cy="3048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0233" name="Text Box 9"/>
          <p:cNvSpPr txBox="1">
            <a:spLocks noChangeArrowheads="1"/>
          </p:cNvSpPr>
          <p:nvPr/>
        </p:nvSpPr>
        <p:spPr bwMode="auto">
          <a:xfrm>
            <a:off x="4267200" y="4319935"/>
            <a:ext cx="4648200" cy="1938992"/>
          </a:xfrm>
          <a:prstGeom prst="rect">
            <a:avLst/>
          </a:prstGeom>
          <a:solidFill>
            <a:srgbClr val="66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1" hangingPunct="1"/>
            <a:r>
              <a:rPr lang="en-US" altLang="en-US" sz="2400" b="1" dirty="0">
                <a:solidFill>
                  <a:srgbClr val="FFFF00"/>
                </a:solidFill>
                <a:latin typeface="Baskerville Old Face" panose="02020602080505020303" pitchFamily="18" charset="0"/>
              </a:rPr>
              <a:t>Requirements</a:t>
            </a:r>
          </a:p>
          <a:p>
            <a:pPr lvl="1" eaLnBrk="1" hangingPunct="1"/>
            <a:r>
              <a:rPr lang="en-US" altLang="en-US" sz="2400" b="1" dirty="0">
                <a:solidFill>
                  <a:srgbClr val="FFFF00"/>
                </a:solidFill>
                <a:latin typeface="Baskerville Old Face" panose="02020602080505020303" pitchFamily="18" charset="0"/>
              </a:rPr>
              <a:t>Design</a:t>
            </a:r>
          </a:p>
          <a:p>
            <a:pPr lvl="1" eaLnBrk="1" hangingPunct="1"/>
            <a:r>
              <a:rPr lang="en-US" altLang="en-US" sz="2400" b="1" dirty="0">
                <a:solidFill>
                  <a:srgbClr val="FFFF00"/>
                </a:solidFill>
                <a:latin typeface="Baskerville Old Face" panose="02020602080505020303" pitchFamily="18" charset="0"/>
              </a:rPr>
              <a:t>Coding</a:t>
            </a:r>
          </a:p>
          <a:p>
            <a:pPr lvl="1" eaLnBrk="1" hangingPunct="1"/>
            <a:r>
              <a:rPr lang="en-US" altLang="en-US" sz="2400" b="1" dirty="0">
                <a:solidFill>
                  <a:srgbClr val="FFFF00"/>
                </a:solidFill>
                <a:latin typeface="Baskerville Old Face" panose="02020602080505020303" pitchFamily="18" charset="0"/>
              </a:rPr>
              <a:t>Testing</a:t>
            </a:r>
          </a:p>
          <a:p>
            <a:pPr lvl="1" eaLnBrk="1" hangingPunct="1"/>
            <a:r>
              <a:rPr lang="en-US" altLang="en-US" sz="2400" b="1" dirty="0">
                <a:solidFill>
                  <a:srgbClr val="FFFF00"/>
                </a:solidFill>
                <a:latin typeface="Baskerville Old Face" panose="02020602080505020303" pitchFamily="18" charset="0"/>
              </a:rPr>
              <a:t>Maintenance       etc.</a:t>
            </a:r>
          </a:p>
        </p:txBody>
      </p:sp>
      <p:sp>
        <p:nvSpPr>
          <p:cNvPr id="180234" name="Line 10"/>
          <p:cNvSpPr>
            <a:spLocks noChangeShapeType="1"/>
          </p:cNvSpPr>
          <p:nvPr/>
        </p:nvSpPr>
        <p:spPr bwMode="auto">
          <a:xfrm>
            <a:off x="3124200" y="4316760"/>
            <a:ext cx="1066800" cy="7620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65499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p:nvPr>
        </p:nvSpPr>
        <p:spPr/>
        <p:txBody>
          <a:bodyPr>
            <a:noAutofit/>
          </a:bodyPr>
          <a:lstStyle/>
          <a:p>
            <a:pPr algn="just"/>
            <a:r>
              <a:rPr lang="en-US" sz="2400" cap="none" dirty="0">
                <a:solidFill>
                  <a:schemeClr val="tx1"/>
                </a:solidFill>
                <a:latin typeface="Times New Roman" panose="02020603050405020304" pitchFamily="18" charset="0"/>
                <a:cs typeface="Times New Roman" panose="02020603050405020304" pitchFamily="18" charset="0"/>
              </a:rPr>
              <a:t>A </a:t>
            </a:r>
            <a:r>
              <a:rPr lang="en-US" sz="2400" b="1" cap="none" dirty="0">
                <a:solidFill>
                  <a:srgbClr val="C00000"/>
                </a:solidFill>
                <a:latin typeface="Times New Roman" panose="02020603050405020304" pitchFamily="18" charset="0"/>
                <a:cs typeface="Times New Roman" panose="02020603050405020304" pitchFamily="18" charset="0"/>
              </a:rPr>
              <a:t>temporary endeavor </a:t>
            </a:r>
            <a:r>
              <a:rPr lang="en-US" sz="2400" cap="none" dirty="0">
                <a:solidFill>
                  <a:schemeClr val="tx1"/>
                </a:solidFill>
                <a:latin typeface="Times New Roman" panose="02020603050405020304" pitchFamily="18" charset="0"/>
                <a:cs typeface="Times New Roman" panose="02020603050405020304" pitchFamily="18" charset="0"/>
              </a:rPr>
              <a:t>undertaken to create a unique product, service or result.</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Definite beginning and a definite end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Does not mean short duration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Produce a product or artifact, quantifiable, an end item or a component item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A capability to perform a service, such as call center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A result, such as research results or documents. </a:t>
            </a:r>
          </a:p>
        </p:txBody>
      </p:sp>
      <p:sp>
        <p:nvSpPr>
          <p:cNvPr id="4" name="Rectangle 1040"/>
          <p:cNvSpPr txBox="1">
            <a:spLocks noChangeArrowheads="1"/>
          </p:cNvSpPr>
          <p:nvPr/>
        </p:nvSpPr>
        <p:spPr>
          <a:xfrm>
            <a:off x="304800" y="381000"/>
            <a:ext cx="8839200" cy="13690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tx2"/>
                </a:solidFill>
                <a:ea typeface="Calibri" panose="020F0502020204030204" pitchFamily="34" charset="0"/>
                <a:cs typeface="Calibri" panose="020F0502020204030204" pitchFamily="34" charset="0"/>
              </a:rPr>
              <a:t>What is a Project? </a:t>
            </a:r>
            <a:endParaRPr lang="en-US" altLang="en-US" sz="4000" dirty="0">
              <a:solidFill>
                <a:schemeClr val="tx2"/>
              </a:solidFill>
              <a:ea typeface="Calibri" panose="020F0502020204030204" pitchFamily="34" charset="0"/>
              <a:cs typeface="Calibri" panose="020F0502020204030204" pitchFamily="34" charset="0"/>
            </a:endParaRPr>
          </a:p>
        </p:txBody>
      </p:sp>
      <p:sp>
        <p:nvSpPr>
          <p:cNvPr id="2" name="Date Placeholder 1"/>
          <p:cNvSpPr>
            <a:spLocks noGrp="1"/>
          </p:cNvSpPr>
          <p:nvPr>
            <p:ph type="dt" sz="half" idx="10"/>
          </p:nvPr>
        </p:nvSpPr>
        <p:spPr/>
        <p:txBody>
          <a:bodyPr/>
          <a:lstStyle/>
          <a:p>
            <a:pPr>
              <a:defRPr/>
            </a:pPr>
            <a:fld id="{784A1BF7-4F83-4918-848E-064768FF3A0A}" type="datetime1">
              <a:rPr lang="en-US" smtClean="0"/>
              <a:t>6/5/2026</a:t>
            </a:fld>
            <a:endParaRPr lang="en-IE"/>
          </a:p>
        </p:txBody>
      </p:sp>
      <p:sp>
        <p:nvSpPr>
          <p:cNvPr id="6" name="Slide Number Placeholder 5"/>
          <p:cNvSpPr>
            <a:spLocks noGrp="1"/>
          </p:cNvSpPr>
          <p:nvPr>
            <p:ph type="sldNum" sz="quarter" idx="12"/>
          </p:nvPr>
        </p:nvSpPr>
        <p:spPr/>
        <p:txBody>
          <a:bodyPr/>
          <a:lstStyle/>
          <a:p>
            <a:fld id="{48541322-12C0-4AF8-84C9-BC6AB0C5B083}" type="slidenum">
              <a:rPr lang="en-IE" altLang="en-US" smtClean="0"/>
              <a:pPr/>
              <a:t>5</a:t>
            </a:fld>
            <a:endParaRPr lang="en-IE" altLang="en-US"/>
          </a:p>
        </p:txBody>
      </p:sp>
    </p:spTree>
    <p:extLst>
      <p:ext uri="{BB962C8B-B14F-4D97-AF65-F5344CB8AC3E}">
        <p14:creationId xmlns:p14="http://schemas.microsoft.com/office/powerpoint/2010/main" val="229708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a:xfrm>
            <a:off x="605220" y="826591"/>
            <a:ext cx="6589199" cy="870992"/>
          </a:xfrm>
        </p:spPr>
        <p:txBody>
          <a:bodyPr>
            <a:normAutofit/>
          </a:bodyPr>
          <a:lstStyle/>
          <a:p>
            <a:pPr eaLnBrk="1" fontAlgn="auto" hangingPunct="1">
              <a:spcAft>
                <a:spcPts val="0"/>
              </a:spcAft>
              <a:defRPr/>
            </a:pPr>
            <a:r>
              <a:rPr lang="en-US" sz="4000" dirty="0"/>
              <a:t>What is Management?</a:t>
            </a:r>
          </a:p>
        </p:txBody>
      </p:sp>
      <p:sp>
        <p:nvSpPr>
          <p:cNvPr id="23555" name="Rectangle 3"/>
          <p:cNvSpPr>
            <a:spLocks noGrp="1" noChangeArrowheads="1"/>
          </p:cNvSpPr>
          <p:nvPr>
            <p:ph idx="1"/>
          </p:nvPr>
        </p:nvSpPr>
        <p:spPr>
          <a:xfrm>
            <a:off x="605220" y="1772816"/>
            <a:ext cx="8215252" cy="4536504"/>
          </a:xfrm>
        </p:spPr>
        <p:txBody>
          <a:bodyPr>
            <a:noAutofit/>
          </a:bodyPr>
          <a:lstStyle/>
          <a:p>
            <a:pPr algn="just" eaLnBrk="1" hangingPunct="1">
              <a:lnSpc>
                <a:spcPct val="150000"/>
              </a:lnSpc>
              <a:buFont typeface="Wingdings" panose="05000000000000000000" pitchFamily="2" charset="2"/>
              <a:buNone/>
            </a:pPr>
            <a:r>
              <a:rPr lang="en-US" altLang="en-US" sz="2000" dirty="0"/>
              <a:t>Management can be defined as </a:t>
            </a:r>
            <a:r>
              <a:rPr lang="en-US" altLang="en-US" sz="2000" b="1" dirty="0">
                <a:solidFill>
                  <a:schemeClr val="tx2"/>
                </a:solidFill>
              </a:rPr>
              <a:t>all activities and tasks undertaken by</a:t>
            </a:r>
            <a:r>
              <a:rPr lang="en-US" altLang="en-US" sz="2000" dirty="0"/>
              <a:t> one or more </a:t>
            </a:r>
            <a:r>
              <a:rPr lang="en-US" altLang="en-US" sz="2000" b="1" dirty="0">
                <a:solidFill>
                  <a:schemeClr val="tx2"/>
                </a:solidFill>
              </a:rPr>
              <a:t>persons</a:t>
            </a:r>
            <a:r>
              <a:rPr lang="en-US" altLang="en-US" sz="2000" dirty="0"/>
              <a:t> for the purpose of </a:t>
            </a:r>
            <a:r>
              <a:rPr lang="en-US" altLang="en-US" sz="2000" b="1" dirty="0">
                <a:solidFill>
                  <a:schemeClr val="tx2"/>
                </a:solidFill>
              </a:rPr>
              <a:t>planning and controlling the activities</a:t>
            </a:r>
            <a:r>
              <a:rPr lang="en-US" altLang="en-US" sz="2000" b="1" dirty="0"/>
              <a:t> </a:t>
            </a:r>
            <a:r>
              <a:rPr lang="en-US" altLang="en-US" sz="2000" dirty="0"/>
              <a:t>of others in order </a:t>
            </a:r>
            <a:r>
              <a:rPr lang="en-US" altLang="en-US" sz="2000" b="1" dirty="0">
                <a:solidFill>
                  <a:schemeClr val="tx2"/>
                </a:solidFill>
              </a:rPr>
              <a:t>to achieve objectives</a:t>
            </a:r>
            <a:r>
              <a:rPr lang="en-US" altLang="en-US" sz="2000" dirty="0">
                <a:solidFill>
                  <a:schemeClr val="tx2"/>
                </a:solidFill>
              </a:rPr>
              <a:t> </a:t>
            </a:r>
            <a:r>
              <a:rPr lang="en-US" altLang="en-US" sz="2000" dirty="0"/>
              <a:t>or complete an activity that could not be achieved by other acting independently.</a:t>
            </a:r>
            <a:endParaRPr lang="en-US" altLang="en-US" sz="100" dirty="0"/>
          </a:p>
          <a:p>
            <a:pPr eaLnBrk="1" hangingPunct="1">
              <a:buFont typeface="Wingdings" panose="05000000000000000000" pitchFamily="2" charset="2"/>
              <a:buNone/>
            </a:pPr>
            <a:r>
              <a:rPr lang="en-US" altLang="en-US" sz="2000" dirty="0"/>
              <a:t>Management functions can be categorized as </a:t>
            </a:r>
          </a:p>
          <a:p>
            <a:pPr marL="457200" indent="-457200" eaLnBrk="1" hangingPunct="1">
              <a:buFont typeface="+mj-lt"/>
              <a:buAutoNum type="arabicPeriod"/>
            </a:pPr>
            <a:r>
              <a:rPr lang="en-US" altLang="en-US" sz="2000" dirty="0"/>
              <a:t>	planning </a:t>
            </a:r>
          </a:p>
          <a:p>
            <a:pPr marL="457200" indent="-457200" eaLnBrk="1" hangingPunct="1">
              <a:buFont typeface="+mj-lt"/>
              <a:buAutoNum type="arabicPeriod"/>
            </a:pPr>
            <a:r>
              <a:rPr lang="en-US" altLang="en-US" sz="2000" dirty="0"/>
              <a:t>	organizing</a:t>
            </a:r>
          </a:p>
          <a:p>
            <a:pPr marL="457200" indent="-457200" eaLnBrk="1" hangingPunct="1">
              <a:buFont typeface="+mj-lt"/>
              <a:buAutoNum type="arabicPeriod"/>
            </a:pPr>
            <a:r>
              <a:rPr lang="en-US" altLang="en-US" sz="2000" dirty="0"/>
              <a:t>	staffing </a:t>
            </a:r>
          </a:p>
          <a:p>
            <a:pPr marL="457200" indent="-457200" eaLnBrk="1" hangingPunct="1">
              <a:buFont typeface="+mj-lt"/>
              <a:buAutoNum type="arabicPeriod"/>
            </a:pPr>
            <a:r>
              <a:rPr lang="en-US" altLang="en-US" sz="2000" dirty="0"/>
              <a:t>	directing</a:t>
            </a:r>
          </a:p>
          <a:p>
            <a:pPr marL="457200" indent="-457200" eaLnBrk="1" hangingPunct="1">
              <a:buFont typeface="+mj-lt"/>
              <a:buAutoNum type="arabicPeriod"/>
            </a:pPr>
            <a:r>
              <a:rPr lang="en-US" altLang="en-US" sz="2000" dirty="0"/>
              <a:t>	controlling </a:t>
            </a:r>
          </a:p>
        </p:txBody>
      </p:sp>
      <p:sp>
        <p:nvSpPr>
          <p:cNvPr id="2" name="Date Placeholder 1"/>
          <p:cNvSpPr>
            <a:spLocks noGrp="1"/>
          </p:cNvSpPr>
          <p:nvPr>
            <p:ph type="dt" sz="half" idx="10"/>
          </p:nvPr>
        </p:nvSpPr>
        <p:spPr>
          <a:xfrm>
            <a:off x="7696200" y="6135089"/>
            <a:ext cx="842580" cy="370171"/>
          </a:xfrm>
        </p:spPr>
        <p:txBody>
          <a:bodyPr/>
          <a:lstStyle/>
          <a:p>
            <a:pPr>
              <a:defRPr/>
            </a:pPr>
            <a:fld id="{71300252-0691-4E7C-B3AD-1E7DE6DA9587}" type="datetime1">
              <a:rPr lang="en-US" smtClean="0"/>
              <a:t>6/5/2026</a:t>
            </a:fld>
            <a:endParaRPr lang="en-US" dirty="0"/>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6</a:t>
            </a:fld>
            <a:endParaRPr lang="en-US" altLang="en-US"/>
          </a:p>
        </p:txBody>
      </p:sp>
    </p:spTree>
    <p:extLst>
      <p:ext uri="{BB962C8B-B14F-4D97-AF65-F5344CB8AC3E}">
        <p14:creationId xmlns:p14="http://schemas.microsoft.com/office/powerpoint/2010/main" val="2029556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457200" y="383698"/>
            <a:ext cx="6589199" cy="1280890"/>
          </a:xfrm>
        </p:spPr>
        <p:txBody>
          <a:bodyPr>
            <a:normAutofit/>
          </a:bodyPr>
          <a:lstStyle/>
          <a:p>
            <a:pPr eaLnBrk="1" fontAlgn="auto" hangingPunct="1">
              <a:spcAft>
                <a:spcPts val="0"/>
              </a:spcAft>
              <a:defRPr/>
            </a:pPr>
            <a:r>
              <a:rPr lang="en-US" sz="4000" dirty="0"/>
              <a:t>Project Management</a:t>
            </a:r>
            <a:r>
              <a:rPr lang="en-US" cap="none" dirty="0"/>
              <a:t>!!</a:t>
            </a:r>
          </a:p>
        </p:txBody>
      </p:sp>
      <p:sp>
        <p:nvSpPr>
          <p:cNvPr id="27651" name="Rectangle 3"/>
          <p:cNvSpPr>
            <a:spLocks noGrp="1" noChangeArrowheads="1"/>
          </p:cNvSpPr>
          <p:nvPr>
            <p:ph idx="1"/>
          </p:nvPr>
        </p:nvSpPr>
        <p:spPr>
          <a:xfrm>
            <a:off x="457201" y="1890490"/>
            <a:ext cx="8245474" cy="4281710"/>
          </a:xfrm>
        </p:spPr>
        <p:txBody>
          <a:bodyPr>
            <a:normAutofit/>
          </a:bodyPr>
          <a:lstStyle/>
          <a:p>
            <a:pPr algn="just" eaLnBrk="1" hangingPunct="1">
              <a:lnSpc>
                <a:spcPct val="150000"/>
              </a:lnSpc>
              <a:buFont typeface="Wingdings" panose="05000000000000000000" pitchFamily="2" charset="2"/>
              <a:buNone/>
            </a:pPr>
            <a:r>
              <a:rPr lang="en-US" altLang="en-US" sz="2400" dirty="0"/>
              <a:t>	Project management is a system of </a:t>
            </a:r>
            <a:r>
              <a:rPr lang="en-US" altLang="en-US" sz="2400" dirty="0">
                <a:solidFill>
                  <a:schemeClr val="tx2"/>
                </a:solidFill>
              </a:rPr>
              <a:t>management procedures, practices, technologies, skills, and experience</a:t>
            </a:r>
            <a:r>
              <a:rPr lang="en-US" altLang="en-US" sz="2400" dirty="0"/>
              <a:t> that are necessary to successfully manage a project.</a:t>
            </a:r>
          </a:p>
        </p:txBody>
      </p:sp>
      <p:sp>
        <p:nvSpPr>
          <p:cNvPr id="2" name="Date Placeholder 1"/>
          <p:cNvSpPr>
            <a:spLocks noGrp="1"/>
          </p:cNvSpPr>
          <p:nvPr>
            <p:ph type="dt" sz="half" idx="10"/>
          </p:nvPr>
        </p:nvSpPr>
        <p:spPr/>
        <p:txBody>
          <a:bodyPr/>
          <a:lstStyle/>
          <a:p>
            <a:pPr>
              <a:defRPr/>
            </a:pPr>
            <a:fld id="{D30E64A8-3619-4A2F-9484-B42C24C4429E}" type="datetime1">
              <a:rPr lang="en-US" smtClean="0"/>
              <a:t>6/5/2026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7</a:t>
            </a:fld>
            <a:endParaRPr lang="en-US" altLang="en-US"/>
          </a:p>
        </p:txBody>
      </p:sp>
    </p:spTree>
    <p:extLst>
      <p:ext uri="{BB962C8B-B14F-4D97-AF65-F5344CB8AC3E}">
        <p14:creationId xmlns:p14="http://schemas.microsoft.com/office/powerpoint/2010/main" val="464209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a:xfrm>
            <a:off x="609600" y="609766"/>
            <a:ext cx="8534400" cy="1143000"/>
          </a:xfrm>
        </p:spPr>
        <p:txBody>
          <a:bodyPr>
            <a:normAutofit/>
          </a:bodyPr>
          <a:lstStyle/>
          <a:p>
            <a:pPr eaLnBrk="1" fontAlgn="auto" hangingPunct="1">
              <a:spcAft>
                <a:spcPts val="0"/>
              </a:spcAft>
              <a:defRPr/>
            </a:pPr>
            <a:r>
              <a:rPr lang="en-US" sz="4000" dirty="0"/>
              <a:t>Project Management Concerns</a:t>
            </a:r>
          </a:p>
        </p:txBody>
      </p:sp>
      <p:sp>
        <p:nvSpPr>
          <p:cNvPr id="2" name="Date Placeholder 1"/>
          <p:cNvSpPr>
            <a:spLocks noGrp="1"/>
          </p:cNvSpPr>
          <p:nvPr>
            <p:ph type="dt" sz="half" idx="10"/>
          </p:nvPr>
        </p:nvSpPr>
        <p:spPr/>
        <p:txBody>
          <a:bodyPr/>
          <a:lstStyle/>
          <a:p>
            <a:pPr>
              <a:defRPr/>
            </a:pPr>
            <a:fld id="{750F43A3-27EF-4830-8636-6B2023F315B6}" type="datetime1">
              <a:rPr lang="en-US" smtClean="0"/>
              <a:t>6/5/2026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8</a:t>
            </a:fld>
            <a:endParaRPr lang="en-US" altLang="en-US"/>
          </a:p>
        </p:txBody>
      </p:sp>
      <p:sp>
        <p:nvSpPr>
          <p:cNvPr id="29699" name="Rectangle 3"/>
          <p:cNvSpPr>
            <a:spLocks noChangeArrowheads="1"/>
          </p:cNvSpPr>
          <p:nvPr/>
        </p:nvSpPr>
        <p:spPr bwMode="auto">
          <a:xfrm>
            <a:off x="609600" y="1752766"/>
            <a:ext cx="8077200" cy="4516437"/>
          </a:xfrm>
          <a:prstGeom prst="rect">
            <a:avLst/>
          </a:prstGeom>
          <a:solidFill>
            <a:schemeClr val="tx2">
              <a:lumMod val="20000"/>
              <a:lumOff val="80000"/>
            </a:schemeClr>
          </a:solidFill>
          <a:ln w="12700">
            <a:solidFill>
              <a:schemeClr val="tx1"/>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pic>
        <p:nvPicPr>
          <p:cNvPr id="2970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09800"/>
            <a:ext cx="7015162"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97692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533400" y="774749"/>
            <a:ext cx="7629525" cy="906462"/>
          </a:xfrm>
        </p:spPr>
        <p:txBody>
          <a:bodyPr>
            <a:normAutofit/>
          </a:bodyPr>
          <a:lstStyle/>
          <a:p>
            <a:pPr eaLnBrk="1" fontAlgn="auto" hangingPunct="1">
              <a:spcAft>
                <a:spcPts val="0"/>
              </a:spcAft>
              <a:defRPr/>
            </a:pPr>
            <a:r>
              <a:rPr lang="en-US" sz="4000" dirty="0"/>
              <a:t>Project Management</a:t>
            </a:r>
          </a:p>
        </p:txBody>
      </p:sp>
      <p:sp>
        <p:nvSpPr>
          <p:cNvPr id="33795" name="Rectangle 3"/>
          <p:cNvSpPr>
            <a:spLocks noGrp="1" noChangeArrowheads="1"/>
          </p:cNvSpPr>
          <p:nvPr>
            <p:ph idx="1"/>
          </p:nvPr>
        </p:nvSpPr>
        <p:spPr>
          <a:xfrm>
            <a:off x="533400" y="1844824"/>
            <a:ext cx="8077200" cy="4343250"/>
          </a:xfrm>
        </p:spPr>
        <p:txBody>
          <a:bodyPr/>
          <a:lstStyle/>
          <a:p>
            <a:pPr eaLnBrk="1" hangingPunct="1">
              <a:lnSpc>
                <a:spcPct val="80000"/>
              </a:lnSpc>
            </a:pPr>
            <a:r>
              <a:rPr lang="en-US" altLang="en-US" sz="2400" dirty="0"/>
              <a:t>Software Projects – factors that influence results:</a:t>
            </a:r>
          </a:p>
        </p:txBody>
      </p:sp>
      <p:sp>
        <p:nvSpPr>
          <p:cNvPr id="2" name="Date Placeholder 1"/>
          <p:cNvSpPr>
            <a:spLocks noGrp="1"/>
          </p:cNvSpPr>
          <p:nvPr>
            <p:ph type="dt" sz="half" idx="10"/>
          </p:nvPr>
        </p:nvSpPr>
        <p:spPr/>
        <p:txBody>
          <a:bodyPr/>
          <a:lstStyle/>
          <a:p>
            <a:pPr>
              <a:defRPr/>
            </a:pPr>
            <a:fld id="{67192BF0-F965-4977-B5DD-F6E86B9865AC}" type="datetime1">
              <a:rPr lang="en-US" smtClean="0"/>
              <a:t>6/5/2026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9</a:t>
            </a:fld>
            <a:endParaRPr lang="en-US" altLang="en-US"/>
          </a:p>
        </p:txBody>
      </p:sp>
      <p:sp>
        <p:nvSpPr>
          <p:cNvPr id="454660" name="Rectangle 4"/>
          <p:cNvSpPr>
            <a:spLocks noChangeArrowheads="1"/>
          </p:cNvSpPr>
          <p:nvPr/>
        </p:nvSpPr>
        <p:spPr bwMode="auto">
          <a:xfrm>
            <a:off x="674427" y="2514600"/>
            <a:ext cx="3886200" cy="4114800"/>
          </a:xfrm>
          <a:prstGeom prst="rect">
            <a:avLst/>
          </a:prstGeom>
          <a:noFill/>
          <a:ln w="9525">
            <a:noFill/>
            <a:miter lim="800000"/>
            <a:headEnd/>
            <a:tailEnd/>
          </a:ln>
          <a:effectLst/>
        </p:spPr>
        <p:txBody>
          <a:bodyPr/>
          <a:lstStyle/>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size</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delivery deadline</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budgets and costs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application domain</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technology to be implemented</a:t>
            </a:r>
          </a:p>
        </p:txBody>
      </p:sp>
      <p:sp>
        <p:nvSpPr>
          <p:cNvPr id="454661" name="Rectangle 5"/>
          <p:cNvSpPr>
            <a:spLocks noChangeArrowheads="1"/>
          </p:cNvSpPr>
          <p:nvPr/>
        </p:nvSpPr>
        <p:spPr bwMode="auto">
          <a:xfrm>
            <a:off x="4865427" y="2438400"/>
            <a:ext cx="3886200" cy="4114800"/>
          </a:xfrm>
          <a:prstGeom prst="rect">
            <a:avLst/>
          </a:prstGeom>
          <a:noFill/>
          <a:ln w="9525">
            <a:noFill/>
            <a:miter lim="800000"/>
            <a:headEnd/>
            <a:tailEnd/>
          </a:ln>
          <a:effectLst/>
        </p:spPr>
        <p:txBody>
          <a:bodyPr/>
          <a:lstStyle/>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system constraints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user requirements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available resources</a:t>
            </a:r>
          </a:p>
        </p:txBody>
      </p:sp>
    </p:spTree>
    <p:extLst>
      <p:ext uri="{BB962C8B-B14F-4D97-AF65-F5344CB8AC3E}">
        <p14:creationId xmlns:p14="http://schemas.microsoft.com/office/powerpoint/2010/main" val="1390768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54660">
                                            <p:txEl>
                                              <p:pRg st="0" end="0"/>
                                            </p:txEl>
                                          </p:spTgt>
                                        </p:tgtEl>
                                        <p:attrNameLst>
                                          <p:attrName>style.visibility</p:attrName>
                                        </p:attrNameLst>
                                      </p:cBhvr>
                                      <p:to>
                                        <p:strVal val="visible"/>
                                      </p:to>
                                    </p:set>
                                    <p:animEffect transition="in" filter="dissolve">
                                      <p:cBhvr>
                                        <p:cTn id="7" dur="500"/>
                                        <p:tgtEl>
                                          <p:spTgt spid="4546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4660">
                                            <p:txEl>
                                              <p:pRg st="1" end="1"/>
                                            </p:txEl>
                                          </p:spTgt>
                                        </p:tgtEl>
                                        <p:attrNameLst>
                                          <p:attrName>style.visibility</p:attrName>
                                        </p:attrNameLst>
                                      </p:cBhvr>
                                      <p:to>
                                        <p:strVal val="visible"/>
                                      </p:to>
                                    </p:set>
                                    <p:animEffect transition="in" filter="dissolve">
                                      <p:cBhvr>
                                        <p:cTn id="12" dur="500"/>
                                        <p:tgtEl>
                                          <p:spTgt spid="45466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54660">
                                            <p:txEl>
                                              <p:pRg st="2" end="2"/>
                                            </p:txEl>
                                          </p:spTgt>
                                        </p:tgtEl>
                                        <p:attrNameLst>
                                          <p:attrName>style.visibility</p:attrName>
                                        </p:attrNameLst>
                                      </p:cBhvr>
                                      <p:to>
                                        <p:strVal val="visible"/>
                                      </p:to>
                                    </p:set>
                                    <p:animEffect transition="in" filter="dissolve">
                                      <p:cBhvr>
                                        <p:cTn id="17" dur="500"/>
                                        <p:tgtEl>
                                          <p:spTgt spid="45466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54660">
                                            <p:txEl>
                                              <p:pRg st="3" end="3"/>
                                            </p:txEl>
                                          </p:spTgt>
                                        </p:tgtEl>
                                        <p:attrNameLst>
                                          <p:attrName>style.visibility</p:attrName>
                                        </p:attrNameLst>
                                      </p:cBhvr>
                                      <p:to>
                                        <p:strVal val="visible"/>
                                      </p:to>
                                    </p:set>
                                    <p:animEffect transition="in" filter="dissolve">
                                      <p:cBhvr>
                                        <p:cTn id="22" dur="500"/>
                                        <p:tgtEl>
                                          <p:spTgt spid="45466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54660">
                                            <p:txEl>
                                              <p:pRg st="4" end="4"/>
                                            </p:txEl>
                                          </p:spTgt>
                                        </p:tgtEl>
                                        <p:attrNameLst>
                                          <p:attrName>style.visibility</p:attrName>
                                        </p:attrNameLst>
                                      </p:cBhvr>
                                      <p:to>
                                        <p:strVal val="visible"/>
                                      </p:to>
                                    </p:set>
                                    <p:animEffect transition="in" filter="dissolve">
                                      <p:cBhvr>
                                        <p:cTn id="27" dur="500"/>
                                        <p:tgtEl>
                                          <p:spTgt spid="45466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54661">
                                            <p:txEl>
                                              <p:pRg st="0" end="0"/>
                                            </p:txEl>
                                          </p:spTgt>
                                        </p:tgtEl>
                                        <p:attrNameLst>
                                          <p:attrName>style.visibility</p:attrName>
                                        </p:attrNameLst>
                                      </p:cBhvr>
                                      <p:to>
                                        <p:strVal val="visible"/>
                                      </p:to>
                                    </p:set>
                                    <p:animEffect transition="in" filter="dissolve">
                                      <p:cBhvr>
                                        <p:cTn id="32" dur="500"/>
                                        <p:tgtEl>
                                          <p:spTgt spid="45466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54661">
                                            <p:txEl>
                                              <p:pRg st="1" end="1"/>
                                            </p:txEl>
                                          </p:spTgt>
                                        </p:tgtEl>
                                        <p:attrNameLst>
                                          <p:attrName>style.visibility</p:attrName>
                                        </p:attrNameLst>
                                      </p:cBhvr>
                                      <p:to>
                                        <p:strVal val="visible"/>
                                      </p:to>
                                    </p:set>
                                    <p:animEffect transition="in" filter="dissolve">
                                      <p:cBhvr>
                                        <p:cTn id="37" dur="500"/>
                                        <p:tgtEl>
                                          <p:spTgt spid="454661">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54661">
                                            <p:txEl>
                                              <p:pRg st="2" end="2"/>
                                            </p:txEl>
                                          </p:spTgt>
                                        </p:tgtEl>
                                        <p:attrNameLst>
                                          <p:attrName>style.visibility</p:attrName>
                                        </p:attrNameLst>
                                      </p:cBhvr>
                                      <p:to>
                                        <p:strVal val="visible"/>
                                      </p:to>
                                    </p:set>
                                    <p:animEffect transition="in" filter="dissolve">
                                      <p:cBhvr>
                                        <p:cTn id="42" dur="500"/>
                                        <p:tgtEl>
                                          <p:spTgt spid="4546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p:nvPr>
        </p:nvSpPr>
        <p:spPr/>
        <p:txBody>
          <a:bodyPr>
            <a:noAutofit/>
          </a:bodyPr>
          <a:lstStyle/>
          <a:p>
            <a:pPr marL="457200" indent="-457200" algn="just">
              <a:buFont typeface="Arial" panose="020B0604020202020204" pitchFamily="34" charset="0"/>
              <a:buChar char="•"/>
            </a:pPr>
            <a:r>
              <a:rPr lang="en-US" sz="2400" cap="none" dirty="0">
                <a:solidFill>
                  <a:schemeClr val="tx1"/>
                </a:solidFill>
                <a:latin typeface="Baskerville Old Face" panose="02020602080505020303" pitchFamily="18" charset="0"/>
              </a:rPr>
              <a:t>Project management is accomplished through the appropriate application and integration of the </a:t>
            </a:r>
            <a:r>
              <a:rPr lang="en-US" sz="2400" cap="none" dirty="0">
                <a:solidFill>
                  <a:srgbClr val="C00000"/>
                </a:solidFill>
                <a:latin typeface="Baskerville Old Face" panose="02020602080505020303" pitchFamily="18" charset="0"/>
              </a:rPr>
              <a:t>47 logically grouped project management processes categorized into 5 process groups</a:t>
            </a:r>
            <a:r>
              <a:rPr lang="en-US" sz="2400" cap="none" dirty="0">
                <a:solidFill>
                  <a:schemeClr val="tx1"/>
                </a:solidFill>
                <a:latin typeface="Baskerville Old Face" panose="02020602080505020303" pitchFamily="18" charset="0"/>
              </a:rPr>
              <a:t>: </a:t>
            </a:r>
          </a:p>
          <a:p>
            <a:pPr lvl="2" algn="just"/>
            <a:r>
              <a:rPr lang="en-US" sz="2800" cap="none" dirty="0">
                <a:solidFill>
                  <a:schemeClr val="tx1"/>
                </a:solidFill>
                <a:latin typeface="Baskerville Old Face" panose="02020602080505020303" pitchFamily="18" charset="0"/>
              </a:rPr>
              <a:t>•Initiation 	</a:t>
            </a:r>
          </a:p>
          <a:p>
            <a:pPr lvl="2" algn="just"/>
            <a:r>
              <a:rPr lang="en-US" sz="2800" cap="none" dirty="0">
                <a:solidFill>
                  <a:schemeClr val="tx1"/>
                </a:solidFill>
                <a:latin typeface="Baskerville Old Face" panose="02020602080505020303" pitchFamily="18" charset="0"/>
              </a:rPr>
              <a:t>•Planning </a:t>
            </a:r>
          </a:p>
          <a:p>
            <a:pPr lvl="2" algn="just"/>
            <a:r>
              <a:rPr lang="en-US" sz="2800" cap="none" dirty="0">
                <a:solidFill>
                  <a:schemeClr val="tx1"/>
                </a:solidFill>
                <a:latin typeface="Baskerville Old Face" panose="02020602080505020303" pitchFamily="18" charset="0"/>
              </a:rPr>
              <a:t>•Execution </a:t>
            </a:r>
          </a:p>
          <a:p>
            <a:pPr lvl="2" algn="just"/>
            <a:r>
              <a:rPr lang="en-US" sz="2800" cap="none" dirty="0">
                <a:solidFill>
                  <a:schemeClr val="tx1"/>
                </a:solidFill>
                <a:latin typeface="Baskerville Old Face" panose="02020602080505020303" pitchFamily="18" charset="0"/>
              </a:rPr>
              <a:t>•Monitoring and control.</a:t>
            </a:r>
          </a:p>
          <a:p>
            <a:pPr lvl="2" algn="just"/>
            <a:r>
              <a:rPr lang="en-US" sz="2800" cap="none" dirty="0">
                <a:solidFill>
                  <a:schemeClr val="tx1"/>
                </a:solidFill>
                <a:latin typeface="Baskerville Old Face" panose="02020602080505020303" pitchFamily="18" charset="0"/>
              </a:rPr>
              <a:t>•</a:t>
            </a:r>
            <a:r>
              <a:rPr lang="en-US" sz="2800" dirty="0">
                <a:solidFill>
                  <a:schemeClr val="tx1"/>
                </a:solidFill>
                <a:latin typeface="Baskerville Old Face" panose="02020602080505020303" pitchFamily="18" charset="0"/>
              </a:rPr>
              <a:t>Cl</a:t>
            </a:r>
            <a:r>
              <a:rPr lang="en-US" sz="2800" cap="none" dirty="0">
                <a:solidFill>
                  <a:schemeClr val="tx1"/>
                </a:solidFill>
                <a:latin typeface="Baskerville Old Face" panose="02020602080505020303" pitchFamily="18" charset="0"/>
              </a:rPr>
              <a:t>osure </a:t>
            </a:r>
          </a:p>
        </p:txBody>
      </p:sp>
      <p:sp>
        <p:nvSpPr>
          <p:cNvPr id="4" name="Rectangle 1040"/>
          <p:cNvSpPr txBox="1">
            <a:spLocks noChangeArrowheads="1"/>
          </p:cNvSpPr>
          <p:nvPr/>
        </p:nvSpPr>
        <p:spPr>
          <a:xfrm>
            <a:off x="457200" y="609600"/>
            <a:ext cx="8532440" cy="10239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tx2"/>
                </a:solidFill>
              </a:rPr>
              <a:t>Project Management</a:t>
            </a:r>
            <a:endParaRPr lang="en-US" altLang="en-US" sz="4000" dirty="0">
              <a:solidFill>
                <a:schemeClr val="tx2"/>
              </a:solidFill>
            </a:endParaRPr>
          </a:p>
        </p:txBody>
      </p:sp>
      <p:sp>
        <p:nvSpPr>
          <p:cNvPr id="2" name="Date Placeholder 1"/>
          <p:cNvSpPr>
            <a:spLocks noGrp="1"/>
          </p:cNvSpPr>
          <p:nvPr>
            <p:ph type="dt" sz="half" idx="10"/>
          </p:nvPr>
        </p:nvSpPr>
        <p:spPr/>
        <p:txBody>
          <a:bodyPr/>
          <a:lstStyle/>
          <a:p>
            <a:pPr>
              <a:defRPr/>
            </a:pPr>
            <a:fld id="{9F992E48-A69B-4B3E-9639-518E7219C985}" type="datetime1">
              <a:rPr lang="en-US" smtClean="0"/>
              <a:t>6/5/2026</a:t>
            </a:fld>
            <a:endParaRPr lang="en-IE"/>
          </a:p>
        </p:txBody>
      </p:sp>
      <p:sp>
        <p:nvSpPr>
          <p:cNvPr id="6" name="Slide Number Placeholder 5"/>
          <p:cNvSpPr>
            <a:spLocks noGrp="1"/>
          </p:cNvSpPr>
          <p:nvPr>
            <p:ph type="sldNum" sz="quarter" idx="12"/>
          </p:nvPr>
        </p:nvSpPr>
        <p:spPr/>
        <p:txBody>
          <a:bodyPr/>
          <a:lstStyle/>
          <a:p>
            <a:fld id="{48541322-12C0-4AF8-84C9-BC6AB0C5B083}" type="slidenum">
              <a:rPr lang="en-IE" altLang="en-US" smtClean="0"/>
              <a:pPr/>
              <a:t>10</a:t>
            </a:fld>
            <a:endParaRPr lang="en-IE" altLang="en-US"/>
          </a:p>
        </p:txBody>
      </p:sp>
    </p:spTree>
    <p:extLst>
      <p:ext uri="{BB962C8B-B14F-4D97-AF65-F5344CB8AC3E}">
        <p14:creationId xmlns:p14="http://schemas.microsoft.com/office/powerpoint/2010/main" val="103442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a:extLst>
              <a:ext uri="{FF2B5EF4-FFF2-40B4-BE49-F238E27FC236}">
                <a16:creationId xmlns:a16="http://schemas.microsoft.com/office/drawing/2014/main" id="{49114525-8425-0F70-D4D8-C96ADFCD52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B03924F9-8078-4ED5-82DC-58003781AA93}" type="slidenum">
              <a:rPr lang="en-US" altLang="en-US" sz="1000"/>
              <a:pPr>
                <a:spcBef>
                  <a:spcPct val="0"/>
                </a:spcBef>
                <a:buClrTx/>
                <a:buSzTx/>
                <a:buFontTx/>
                <a:buNone/>
              </a:pPr>
              <a:t>11</a:t>
            </a:fld>
            <a:endParaRPr lang="en-US" altLang="en-US" sz="1000"/>
          </a:p>
        </p:txBody>
      </p:sp>
      <p:sp>
        <p:nvSpPr>
          <p:cNvPr id="5123" name="Rectangle 2">
            <a:extLst>
              <a:ext uri="{FF2B5EF4-FFF2-40B4-BE49-F238E27FC236}">
                <a16:creationId xmlns:a16="http://schemas.microsoft.com/office/drawing/2014/main" id="{CE85ADE9-BBCD-C7CE-A147-1F039562744B}"/>
              </a:ext>
            </a:extLst>
          </p:cNvPr>
          <p:cNvSpPr>
            <a:spLocks noGrp="1" noChangeArrowheads="1"/>
          </p:cNvSpPr>
          <p:nvPr>
            <p:ph type="title"/>
          </p:nvPr>
        </p:nvSpPr>
        <p:spPr>
          <a:xfrm>
            <a:off x="397272" y="742698"/>
            <a:ext cx="7836694" cy="633413"/>
          </a:xfrm>
        </p:spPr>
        <p:txBody>
          <a:bodyPr>
            <a:normAutofit fontScale="90000"/>
          </a:bodyPr>
          <a:lstStyle/>
          <a:p>
            <a:pPr eaLnBrk="1" hangingPunct="1"/>
            <a:r>
              <a:rPr lang="en-US" altLang="en-US" dirty="0"/>
              <a:t>Management Spectrum - The Four P’s</a:t>
            </a:r>
          </a:p>
        </p:txBody>
      </p:sp>
      <p:sp>
        <p:nvSpPr>
          <p:cNvPr id="5124" name="Rectangle 3">
            <a:extLst>
              <a:ext uri="{FF2B5EF4-FFF2-40B4-BE49-F238E27FC236}">
                <a16:creationId xmlns:a16="http://schemas.microsoft.com/office/drawing/2014/main" id="{5DFDC673-77EA-859A-AC03-3BA0D80FD64E}"/>
              </a:ext>
            </a:extLst>
          </p:cNvPr>
          <p:cNvSpPr>
            <a:spLocks noGrp="1" noChangeArrowheads="1"/>
          </p:cNvSpPr>
          <p:nvPr>
            <p:ph type="body" idx="1"/>
          </p:nvPr>
        </p:nvSpPr>
        <p:spPr>
          <a:xfrm>
            <a:off x="838200" y="1524000"/>
            <a:ext cx="7924800" cy="4803775"/>
          </a:xfrm>
        </p:spPr>
        <p:txBody>
          <a:bodyPr/>
          <a:lstStyle/>
          <a:p>
            <a:pPr eaLnBrk="1" hangingPunct="1">
              <a:lnSpc>
                <a:spcPct val="150000"/>
              </a:lnSpc>
            </a:pPr>
            <a:r>
              <a:rPr lang="en-US" altLang="en-US" dirty="0">
                <a:solidFill>
                  <a:schemeClr val="tx2"/>
                </a:solidFill>
              </a:rPr>
              <a:t>People</a:t>
            </a:r>
            <a:r>
              <a:rPr lang="en-US" altLang="en-US" dirty="0">
                <a:solidFill>
                  <a:schemeClr val="folHlink"/>
                </a:solidFill>
              </a:rPr>
              <a:t> </a:t>
            </a:r>
            <a:r>
              <a:rPr lang="en-US" altLang="en-US" dirty="0"/>
              <a:t>— the most important element of a successful project</a:t>
            </a:r>
          </a:p>
          <a:p>
            <a:pPr eaLnBrk="1" hangingPunct="1">
              <a:lnSpc>
                <a:spcPct val="150000"/>
              </a:lnSpc>
            </a:pPr>
            <a:r>
              <a:rPr lang="en-US" altLang="en-US" dirty="0">
                <a:solidFill>
                  <a:schemeClr val="tx2"/>
                </a:solidFill>
              </a:rPr>
              <a:t>Product</a:t>
            </a:r>
            <a:r>
              <a:rPr lang="en-US" altLang="en-US" dirty="0">
                <a:solidFill>
                  <a:schemeClr val="folHlink"/>
                </a:solidFill>
              </a:rPr>
              <a:t> </a:t>
            </a:r>
            <a:r>
              <a:rPr lang="en-US" altLang="en-US" dirty="0"/>
              <a:t>— the software to be built</a:t>
            </a:r>
          </a:p>
          <a:p>
            <a:pPr eaLnBrk="1" hangingPunct="1">
              <a:lnSpc>
                <a:spcPct val="150000"/>
              </a:lnSpc>
            </a:pPr>
            <a:r>
              <a:rPr lang="en-US" altLang="en-US" dirty="0">
                <a:solidFill>
                  <a:schemeClr val="tx2"/>
                </a:solidFill>
              </a:rPr>
              <a:t>Process</a:t>
            </a:r>
            <a:r>
              <a:rPr lang="en-US" altLang="en-US" dirty="0"/>
              <a:t> — the set of framework activities and software engineering tasks to get the job done</a:t>
            </a:r>
          </a:p>
          <a:p>
            <a:pPr eaLnBrk="1" hangingPunct="1">
              <a:lnSpc>
                <a:spcPct val="150000"/>
              </a:lnSpc>
            </a:pPr>
            <a:r>
              <a:rPr lang="en-US" altLang="en-US" dirty="0">
                <a:solidFill>
                  <a:schemeClr val="tx2"/>
                </a:solidFill>
              </a:rPr>
              <a:t>Project</a:t>
            </a:r>
            <a:r>
              <a:rPr lang="en-US" altLang="en-US" dirty="0">
                <a:solidFill>
                  <a:schemeClr val="folHlink"/>
                </a:solidFill>
              </a:rPr>
              <a:t> </a:t>
            </a:r>
            <a:r>
              <a:rPr lang="en-US" altLang="en-US" dirty="0"/>
              <a:t>— all work required to make the product a reality</a:t>
            </a:r>
          </a:p>
        </p:txBody>
      </p:sp>
      <p:sp>
        <p:nvSpPr>
          <p:cNvPr id="2" name="Date Placeholder 1">
            <a:extLst>
              <a:ext uri="{FF2B5EF4-FFF2-40B4-BE49-F238E27FC236}">
                <a16:creationId xmlns:a16="http://schemas.microsoft.com/office/drawing/2014/main" id="{7B354460-6804-28CE-16A2-E09261A26C98}"/>
              </a:ext>
            </a:extLst>
          </p:cNvPr>
          <p:cNvSpPr>
            <a:spLocks noGrp="1"/>
          </p:cNvSpPr>
          <p:nvPr>
            <p:ph type="dt" sz="half" idx="10"/>
          </p:nvPr>
        </p:nvSpPr>
        <p:spPr/>
        <p:txBody>
          <a:bodyPr/>
          <a:lstStyle/>
          <a:p>
            <a:fld id="{641F763E-3CA6-47BE-8005-03ED526B5BD2}" type="datetime1">
              <a:rPr lang="en-US" smtClean="0"/>
              <a:t>6/5/2026</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532EAEB0-CBB4-91C0-888E-B74CE75CC59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B91500C8-BC07-4D73-866D-93C35A444116}" type="slidenum">
              <a:rPr lang="en-US" altLang="en-US" sz="1000"/>
              <a:pPr>
                <a:spcBef>
                  <a:spcPct val="0"/>
                </a:spcBef>
                <a:buClrTx/>
                <a:buSzTx/>
                <a:buFontTx/>
                <a:buNone/>
              </a:pPr>
              <a:t>12</a:t>
            </a:fld>
            <a:endParaRPr lang="en-US" altLang="en-US" sz="1000"/>
          </a:p>
        </p:txBody>
      </p:sp>
      <p:sp>
        <p:nvSpPr>
          <p:cNvPr id="6147" name="Rectangle 2">
            <a:extLst>
              <a:ext uri="{FF2B5EF4-FFF2-40B4-BE49-F238E27FC236}">
                <a16:creationId xmlns:a16="http://schemas.microsoft.com/office/drawing/2014/main" id="{B00821B7-80D9-9BAC-018D-ADF5E13CFA61}"/>
              </a:ext>
            </a:extLst>
          </p:cNvPr>
          <p:cNvSpPr>
            <a:spLocks noGrp="1" noChangeArrowheads="1"/>
          </p:cNvSpPr>
          <p:nvPr>
            <p:ph type="title"/>
          </p:nvPr>
        </p:nvSpPr>
        <p:spPr>
          <a:xfrm>
            <a:off x="485931" y="442210"/>
            <a:ext cx="6705600" cy="633413"/>
          </a:xfrm>
        </p:spPr>
        <p:txBody>
          <a:bodyPr>
            <a:normAutofit fontScale="90000"/>
          </a:bodyPr>
          <a:lstStyle/>
          <a:p>
            <a:pPr eaLnBrk="1" hangingPunct="1"/>
            <a:r>
              <a:rPr lang="en-US" altLang="en-US" dirty="0"/>
              <a:t>Stakeholders</a:t>
            </a:r>
          </a:p>
        </p:txBody>
      </p:sp>
      <p:sp>
        <p:nvSpPr>
          <p:cNvPr id="6148" name="Rectangle 3">
            <a:extLst>
              <a:ext uri="{FF2B5EF4-FFF2-40B4-BE49-F238E27FC236}">
                <a16:creationId xmlns:a16="http://schemas.microsoft.com/office/drawing/2014/main" id="{A7859FC0-FB77-5BC5-D33E-A0C29B5F4994}"/>
              </a:ext>
            </a:extLst>
          </p:cNvPr>
          <p:cNvSpPr>
            <a:spLocks noGrp="1" noChangeArrowheads="1"/>
          </p:cNvSpPr>
          <p:nvPr>
            <p:ph type="body" idx="1"/>
          </p:nvPr>
        </p:nvSpPr>
        <p:spPr>
          <a:xfrm>
            <a:off x="609600" y="1170361"/>
            <a:ext cx="8249586" cy="5245429"/>
          </a:xfrm>
        </p:spPr>
        <p:txBody>
          <a:bodyPr>
            <a:normAutofit/>
          </a:bodyPr>
          <a:lstStyle/>
          <a:p>
            <a:pPr eaLnBrk="1" hangingPunct="1">
              <a:spcBef>
                <a:spcPts val="600"/>
              </a:spcBef>
            </a:pPr>
            <a:r>
              <a:rPr lang="en-US" altLang="en-US" i="1" dirty="0">
                <a:solidFill>
                  <a:schemeClr val="tx2"/>
                </a:solidFill>
              </a:rPr>
              <a:t>Senior managers</a:t>
            </a:r>
            <a:r>
              <a:rPr lang="en-US" altLang="en-US" dirty="0">
                <a:solidFill>
                  <a:schemeClr val="tx2"/>
                </a:solidFill>
              </a:rPr>
              <a:t> </a:t>
            </a:r>
            <a:r>
              <a:rPr lang="en-US" altLang="en-US" dirty="0"/>
              <a:t>who define the business issues that often have significant influence on the project.</a:t>
            </a:r>
          </a:p>
          <a:p>
            <a:pPr eaLnBrk="1" hangingPunct="1">
              <a:spcBef>
                <a:spcPts val="300"/>
              </a:spcBef>
            </a:pPr>
            <a:r>
              <a:rPr lang="en-US" altLang="en-US" i="1" dirty="0">
                <a:solidFill>
                  <a:schemeClr val="tx2"/>
                </a:solidFill>
              </a:rPr>
              <a:t>Project (technical) managers </a:t>
            </a:r>
            <a:r>
              <a:rPr lang="en-US" altLang="en-US" dirty="0"/>
              <a:t>who must plan, motivate, organize, and control the practitioners who do software work.</a:t>
            </a:r>
          </a:p>
          <a:p>
            <a:pPr eaLnBrk="1" hangingPunct="1"/>
            <a:r>
              <a:rPr lang="en-US" altLang="en-US" i="1" dirty="0">
                <a:solidFill>
                  <a:schemeClr val="tx2"/>
                </a:solidFill>
              </a:rPr>
              <a:t>Practitioners</a:t>
            </a:r>
            <a:r>
              <a:rPr lang="en-US" altLang="en-US" dirty="0">
                <a:solidFill>
                  <a:schemeClr val="folHlink"/>
                </a:solidFill>
              </a:rPr>
              <a:t> </a:t>
            </a:r>
            <a:r>
              <a:rPr lang="en-US" altLang="en-US" dirty="0"/>
              <a:t>who deliver the technical skills that are necessary to engineer a product or application.</a:t>
            </a:r>
          </a:p>
          <a:p>
            <a:pPr eaLnBrk="1" hangingPunct="1"/>
            <a:r>
              <a:rPr lang="en-US" altLang="en-US" i="1" dirty="0">
                <a:solidFill>
                  <a:schemeClr val="tx2"/>
                </a:solidFill>
              </a:rPr>
              <a:t>Customers</a:t>
            </a:r>
            <a:r>
              <a:rPr lang="en-US" altLang="en-US" dirty="0">
                <a:solidFill>
                  <a:schemeClr val="folHlink"/>
                </a:solidFill>
              </a:rPr>
              <a:t> </a:t>
            </a:r>
            <a:r>
              <a:rPr lang="en-US" altLang="en-US" dirty="0"/>
              <a:t>who specify the requirements for the software to be engineered and other stakeholders who have a peripheral interest in the outcome.</a:t>
            </a:r>
          </a:p>
          <a:p>
            <a:pPr eaLnBrk="1" hangingPunct="1"/>
            <a:r>
              <a:rPr lang="en-US" altLang="en-US" i="1" dirty="0">
                <a:solidFill>
                  <a:schemeClr val="tx2"/>
                </a:solidFill>
              </a:rPr>
              <a:t>End-users</a:t>
            </a:r>
            <a:r>
              <a:rPr lang="en-US" altLang="en-US" dirty="0">
                <a:solidFill>
                  <a:schemeClr val="folHlink"/>
                </a:solidFill>
              </a:rPr>
              <a:t> </a:t>
            </a:r>
            <a:r>
              <a:rPr lang="en-US" altLang="en-US" dirty="0"/>
              <a:t>who interact with the software once it is released for production use.</a:t>
            </a:r>
          </a:p>
        </p:txBody>
      </p:sp>
      <p:sp>
        <p:nvSpPr>
          <p:cNvPr id="2" name="Date Placeholder 1">
            <a:extLst>
              <a:ext uri="{FF2B5EF4-FFF2-40B4-BE49-F238E27FC236}">
                <a16:creationId xmlns:a16="http://schemas.microsoft.com/office/drawing/2014/main" id="{BC7F7700-1343-93FD-A9F5-46D6EDB45E0B}"/>
              </a:ext>
            </a:extLst>
          </p:cNvPr>
          <p:cNvSpPr>
            <a:spLocks noGrp="1"/>
          </p:cNvSpPr>
          <p:nvPr>
            <p:ph type="dt" sz="half" idx="10"/>
          </p:nvPr>
        </p:nvSpPr>
        <p:spPr/>
        <p:txBody>
          <a:bodyPr/>
          <a:lstStyle/>
          <a:p>
            <a:fld id="{D6579666-3325-4AD1-92F3-8A32E78B1A42}" type="datetime1">
              <a:rPr lang="en-US" smtClean="0"/>
              <a:t>6/5/2026</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819437BE-31F1-15E5-DA24-7C932079ED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89A68574-8B7D-4D8A-93A9-4257DB89DDF6}" type="slidenum">
              <a:rPr lang="en-US" altLang="en-US" sz="1000"/>
              <a:pPr>
                <a:spcBef>
                  <a:spcPct val="0"/>
                </a:spcBef>
                <a:buClrTx/>
                <a:buSzTx/>
                <a:buFontTx/>
                <a:buNone/>
              </a:pPr>
              <a:t>13</a:t>
            </a:fld>
            <a:endParaRPr lang="en-US" altLang="en-US" sz="1000"/>
          </a:p>
        </p:txBody>
      </p:sp>
      <p:sp>
        <p:nvSpPr>
          <p:cNvPr id="7171" name="Rectangle 2">
            <a:extLst>
              <a:ext uri="{FF2B5EF4-FFF2-40B4-BE49-F238E27FC236}">
                <a16:creationId xmlns:a16="http://schemas.microsoft.com/office/drawing/2014/main" id="{DD50A707-D83D-D6F0-4474-DF1907D73749}"/>
              </a:ext>
            </a:extLst>
          </p:cNvPr>
          <p:cNvSpPr>
            <a:spLocks noGrp="1" noChangeArrowheads="1"/>
          </p:cNvSpPr>
          <p:nvPr>
            <p:ph type="title"/>
          </p:nvPr>
        </p:nvSpPr>
        <p:spPr>
          <a:xfrm>
            <a:off x="2471058" y="616397"/>
            <a:ext cx="6705600" cy="633413"/>
          </a:xfrm>
        </p:spPr>
        <p:txBody>
          <a:bodyPr>
            <a:normAutofit fontScale="90000"/>
          </a:bodyPr>
          <a:lstStyle/>
          <a:p>
            <a:pPr eaLnBrk="1" hangingPunct="1"/>
            <a:r>
              <a:rPr lang="en-US" altLang="en-US" dirty="0"/>
              <a:t>Software Teams</a:t>
            </a:r>
          </a:p>
        </p:txBody>
      </p:sp>
      <p:grpSp>
        <p:nvGrpSpPr>
          <p:cNvPr id="7172" name="Group 9">
            <a:extLst>
              <a:ext uri="{FF2B5EF4-FFF2-40B4-BE49-F238E27FC236}">
                <a16:creationId xmlns:a16="http://schemas.microsoft.com/office/drawing/2014/main" id="{2FBA2D68-E94B-29E6-C447-419A15BEEE06}"/>
              </a:ext>
            </a:extLst>
          </p:cNvPr>
          <p:cNvGrpSpPr>
            <a:grpSpLocks/>
          </p:cNvGrpSpPr>
          <p:nvPr/>
        </p:nvGrpSpPr>
        <p:grpSpPr bwMode="auto">
          <a:xfrm>
            <a:off x="1143000" y="2057400"/>
            <a:ext cx="7543800" cy="4419600"/>
            <a:chOff x="317" y="975"/>
            <a:chExt cx="4922" cy="2449"/>
          </a:xfrm>
        </p:grpSpPr>
        <p:pic>
          <p:nvPicPr>
            <p:cNvPr id="7173" name="Picture 3">
              <a:extLst>
                <a:ext uri="{FF2B5EF4-FFF2-40B4-BE49-F238E27FC236}">
                  <a16:creationId xmlns:a16="http://schemas.microsoft.com/office/drawing/2014/main" id="{9D70386A-7E7A-E904-E8F3-EC4266360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 y="1241"/>
              <a:ext cx="2546" cy="1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 Box 4">
              <a:extLst>
                <a:ext uri="{FF2B5EF4-FFF2-40B4-BE49-F238E27FC236}">
                  <a16:creationId xmlns:a16="http://schemas.microsoft.com/office/drawing/2014/main" id="{378E6C3B-600C-F25D-E4B7-699AB59B4ED6}"/>
                </a:ext>
              </a:extLst>
            </p:cNvPr>
            <p:cNvSpPr txBox="1">
              <a:spLocks noChangeArrowheads="1"/>
            </p:cNvSpPr>
            <p:nvPr/>
          </p:nvSpPr>
          <p:spPr bwMode="auto">
            <a:xfrm>
              <a:off x="1942" y="975"/>
              <a:ext cx="117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lead?</a:t>
              </a:r>
            </a:p>
          </p:txBody>
        </p:sp>
        <p:sp>
          <p:nvSpPr>
            <p:cNvPr id="7175" name="Text Box 5">
              <a:extLst>
                <a:ext uri="{FF2B5EF4-FFF2-40B4-BE49-F238E27FC236}">
                  <a16:creationId xmlns:a16="http://schemas.microsoft.com/office/drawing/2014/main" id="{4C8F3440-43E6-9A95-AFD9-A896EB14EE6F}"/>
                </a:ext>
              </a:extLst>
            </p:cNvPr>
            <p:cNvSpPr txBox="1">
              <a:spLocks noChangeArrowheads="1"/>
            </p:cNvSpPr>
            <p:nvPr/>
          </p:nvSpPr>
          <p:spPr bwMode="auto">
            <a:xfrm>
              <a:off x="3650" y="1230"/>
              <a:ext cx="152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organize?</a:t>
              </a:r>
            </a:p>
          </p:txBody>
        </p:sp>
        <p:sp>
          <p:nvSpPr>
            <p:cNvPr id="7176" name="Text Box 6">
              <a:extLst>
                <a:ext uri="{FF2B5EF4-FFF2-40B4-BE49-F238E27FC236}">
                  <a16:creationId xmlns:a16="http://schemas.microsoft.com/office/drawing/2014/main" id="{3AF7C194-2BA0-5435-B50B-5FC0150221EF}"/>
                </a:ext>
              </a:extLst>
            </p:cNvPr>
            <p:cNvSpPr txBox="1">
              <a:spLocks noChangeArrowheads="1"/>
            </p:cNvSpPr>
            <p:nvPr/>
          </p:nvSpPr>
          <p:spPr bwMode="auto">
            <a:xfrm>
              <a:off x="833" y="3124"/>
              <a:ext cx="152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motivate?</a:t>
              </a:r>
            </a:p>
          </p:txBody>
        </p:sp>
        <p:sp>
          <p:nvSpPr>
            <p:cNvPr id="7177" name="Text Box 7">
              <a:extLst>
                <a:ext uri="{FF2B5EF4-FFF2-40B4-BE49-F238E27FC236}">
                  <a16:creationId xmlns:a16="http://schemas.microsoft.com/office/drawing/2014/main" id="{2810763D-70B9-D935-B724-D6C5700C4275}"/>
                </a:ext>
              </a:extLst>
            </p:cNvPr>
            <p:cNvSpPr txBox="1">
              <a:spLocks noChangeArrowheads="1"/>
            </p:cNvSpPr>
            <p:nvPr/>
          </p:nvSpPr>
          <p:spPr bwMode="auto">
            <a:xfrm>
              <a:off x="317" y="1529"/>
              <a:ext cx="173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collaborate?</a:t>
              </a:r>
            </a:p>
          </p:txBody>
        </p:sp>
        <p:sp>
          <p:nvSpPr>
            <p:cNvPr id="7178" name="Text Box 8">
              <a:extLst>
                <a:ext uri="{FF2B5EF4-FFF2-40B4-BE49-F238E27FC236}">
                  <a16:creationId xmlns:a16="http://schemas.microsoft.com/office/drawing/2014/main" id="{3076D534-7AD6-9304-3FCB-BAEC37711201}"/>
                </a:ext>
              </a:extLst>
            </p:cNvPr>
            <p:cNvSpPr txBox="1">
              <a:spLocks noChangeArrowheads="1"/>
            </p:cNvSpPr>
            <p:nvPr/>
          </p:nvSpPr>
          <p:spPr bwMode="auto">
            <a:xfrm>
              <a:off x="2977" y="3180"/>
              <a:ext cx="226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create good ideas?</a:t>
              </a:r>
            </a:p>
          </p:txBody>
        </p:sp>
      </p:grpSp>
      <p:sp>
        <p:nvSpPr>
          <p:cNvPr id="2" name="Date Placeholder 1">
            <a:extLst>
              <a:ext uri="{FF2B5EF4-FFF2-40B4-BE49-F238E27FC236}">
                <a16:creationId xmlns:a16="http://schemas.microsoft.com/office/drawing/2014/main" id="{965287C3-60DF-A9FB-42F1-31DF8BF216D6}"/>
              </a:ext>
            </a:extLst>
          </p:cNvPr>
          <p:cNvSpPr>
            <a:spLocks noGrp="1"/>
          </p:cNvSpPr>
          <p:nvPr>
            <p:ph type="dt" sz="half" idx="10"/>
          </p:nvPr>
        </p:nvSpPr>
        <p:spPr/>
        <p:txBody>
          <a:bodyPr/>
          <a:lstStyle/>
          <a:p>
            <a:fld id="{E668FBB6-0FEC-4840-BE54-4A5570BD22D2}" type="datetime1">
              <a:rPr lang="en-US" smtClean="0"/>
              <a:t>6/5/2026</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56E516E2-6F6A-8BC0-2FF1-98D46E64266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056A7820-D5BE-44B8-9EC3-4C3A25CB19C1}" type="slidenum">
              <a:rPr lang="en-US" altLang="en-US" sz="1000"/>
              <a:pPr>
                <a:spcBef>
                  <a:spcPct val="0"/>
                </a:spcBef>
                <a:buClrTx/>
                <a:buSzTx/>
                <a:buFontTx/>
                <a:buNone/>
              </a:pPr>
              <a:t>14</a:t>
            </a:fld>
            <a:endParaRPr lang="en-US" altLang="en-US" sz="1000"/>
          </a:p>
        </p:txBody>
      </p:sp>
      <p:sp>
        <p:nvSpPr>
          <p:cNvPr id="8195" name="Rectangle 2">
            <a:extLst>
              <a:ext uri="{FF2B5EF4-FFF2-40B4-BE49-F238E27FC236}">
                <a16:creationId xmlns:a16="http://schemas.microsoft.com/office/drawing/2014/main" id="{8A7902A9-FD02-DB61-5C5F-BEDD64189451}"/>
              </a:ext>
            </a:extLst>
          </p:cNvPr>
          <p:cNvSpPr>
            <a:spLocks noGrp="1" noChangeArrowheads="1"/>
          </p:cNvSpPr>
          <p:nvPr>
            <p:ph type="title"/>
          </p:nvPr>
        </p:nvSpPr>
        <p:spPr>
          <a:xfrm>
            <a:off x="228600" y="521778"/>
            <a:ext cx="7467600" cy="633413"/>
          </a:xfrm>
        </p:spPr>
        <p:txBody>
          <a:bodyPr>
            <a:normAutofit fontScale="90000"/>
          </a:bodyPr>
          <a:lstStyle/>
          <a:p>
            <a:pPr eaLnBrk="1" hangingPunct="1"/>
            <a:r>
              <a:rPr lang="en-US" altLang="en-US" dirty="0"/>
              <a:t>Team Leader</a:t>
            </a:r>
          </a:p>
        </p:txBody>
      </p:sp>
      <p:sp>
        <p:nvSpPr>
          <p:cNvPr id="8196" name="Rectangle 3">
            <a:extLst>
              <a:ext uri="{FF2B5EF4-FFF2-40B4-BE49-F238E27FC236}">
                <a16:creationId xmlns:a16="http://schemas.microsoft.com/office/drawing/2014/main" id="{C81AFDD9-49DB-3328-EAF0-44C718B03ADC}"/>
              </a:ext>
            </a:extLst>
          </p:cNvPr>
          <p:cNvSpPr>
            <a:spLocks noGrp="1" noChangeArrowheads="1"/>
          </p:cNvSpPr>
          <p:nvPr>
            <p:ph type="body" idx="1"/>
          </p:nvPr>
        </p:nvSpPr>
        <p:spPr>
          <a:xfrm>
            <a:off x="489679" y="1314506"/>
            <a:ext cx="8382000" cy="5162493"/>
          </a:xfrm>
        </p:spPr>
        <p:txBody>
          <a:bodyPr>
            <a:normAutofit fontScale="92500" lnSpcReduction="10000"/>
          </a:bodyPr>
          <a:lstStyle/>
          <a:p>
            <a:pPr eaLnBrk="1" hangingPunct="1">
              <a:lnSpc>
                <a:spcPct val="150000"/>
              </a:lnSpc>
            </a:pPr>
            <a:r>
              <a:rPr lang="en-US" altLang="en-US" sz="2800" dirty="0"/>
              <a:t>The MOI Model</a:t>
            </a:r>
          </a:p>
          <a:p>
            <a:pPr lvl="1" eaLnBrk="1" hangingPunct="1">
              <a:lnSpc>
                <a:spcPct val="150000"/>
              </a:lnSpc>
              <a:spcBef>
                <a:spcPts val="600"/>
              </a:spcBef>
            </a:pPr>
            <a:r>
              <a:rPr lang="en-US" altLang="en-US" sz="2400" b="1" dirty="0">
                <a:solidFill>
                  <a:schemeClr val="tx2"/>
                </a:solidFill>
              </a:rPr>
              <a:t>Motivation</a:t>
            </a:r>
            <a:r>
              <a:rPr lang="en-US" altLang="en-US" sz="2400" b="1" dirty="0">
                <a:solidFill>
                  <a:schemeClr val="folHlink"/>
                </a:solidFill>
              </a:rPr>
              <a:t>.</a:t>
            </a:r>
            <a:r>
              <a:rPr lang="en-US" altLang="en-US" sz="2400" dirty="0">
                <a:solidFill>
                  <a:schemeClr val="folHlink"/>
                </a:solidFill>
              </a:rPr>
              <a:t> </a:t>
            </a:r>
            <a:r>
              <a:rPr lang="en-US" altLang="en-US" sz="2400" dirty="0"/>
              <a:t> The ability to encourage (by “push or pull”) technical people to produce to their best ability.</a:t>
            </a:r>
          </a:p>
          <a:p>
            <a:pPr lvl="1" eaLnBrk="1" hangingPunct="1">
              <a:lnSpc>
                <a:spcPct val="150000"/>
              </a:lnSpc>
              <a:spcBef>
                <a:spcPts val="300"/>
              </a:spcBef>
            </a:pPr>
            <a:r>
              <a:rPr lang="en-US" altLang="en-US" sz="2400" b="1" dirty="0">
                <a:solidFill>
                  <a:schemeClr val="tx2"/>
                </a:solidFill>
              </a:rPr>
              <a:t>Organization</a:t>
            </a:r>
            <a:r>
              <a:rPr lang="en-US" altLang="en-US" sz="2400" b="1" dirty="0">
                <a:solidFill>
                  <a:schemeClr val="folHlink"/>
                </a:solidFill>
              </a:rPr>
              <a:t>.</a:t>
            </a:r>
            <a:r>
              <a:rPr lang="en-US" altLang="en-US" sz="2400" dirty="0">
                <a:solidFill>
                  <a:schemeClr val="folHlink"/>
                </a:solidFill>
              </a:rPr>
              <a:t> </a:t>
            </a:r>
            <a:r>
              <a:rPr lang="en-US" altLang="en-US" sz="2400" dirty="0"/>
              <a:t> The ability to mold existing processes (or invent new ones) that will enable the initial concept to be translated into a final product.</a:t>
            </a:r>
          </a:p>
          <a:p>
            <a:pPr lvl="1" eaLnBrk="1" hangingPunct="1">
              <a:lnSpc>
                <a:spcPct val="150000"/>
              </a:lnSpc>
              <a:spcBef>
                <a:spcPts val="300"/>
              </a:spcBef>
            </a:pPr>
            <a:r>
              <a:rPr lang="en-US" altLang="en-US" sz="2400" b="1" dirty="0">
                <a:solidFill>
                  <a:schemeClr val="tx2"/>
                </a:solidFill>
              </a:rPr>
              <a:t>Ideas or innovation</a:t>
            </a:r>
            <a:r>
              <a:rPr lang="en-US" altLang="en-US" sz="2400" b="1" dirty="0">
                <a:solidFill>
                  <a:schemeClr val="folHlink"/>
                </a:solidFill>
              </a:rPr>
              <a:t>.</a:t>
            </a:r>
            <a:r>
              <a:rPr lang="en-US" altLang="en-US" sz="2400" dirty="0">
                <a:solidFill>
                  <a:schemeClr val="folHlink"/>
                </a:solidFill>
              </a:rPr>
              <a:t> </a:t>
            </a:r>
            <a:r>
              <a:rPr lang="en-US" altLang="en-US" sz="2400" dirty="0"/>
              <a:t> The ability to encourage people to create and feel creative even when they must work within bounds established for a particular software product or application.</a:t>
            </a:r>
          </a:p>
        </p:txBody>
      </p:sp>
      <p:sp>
        <p:nvSpPr>
          <p:cNvPr id="2" name="Date Placeholder 1">
            <a:extLst>
              <a:ext uri="{FF2B5EF4-FFF2-40B4-BE49-F238E27FC236}">
                <a16:creationId xmlns:a16="http://schemas.microsoft.com/office/drawing/2014/main" id="{A682B893-5C2D-3A2C-03BD-CC6460860AF9}"/>
              </a:ext>
            </a:extLst>
          </p:cNvPr>
          <p:cNvSpPr>
            <a:spLocks noGrp="1"/>
          </p:cNvSpPr>
          <p:nvPr>
            <p:ph type="dt" sz="half" idx="10"/>
          </p:nvPr>
        </p:nvSpPr>
        <p:spPr/>
        <p:txBody>
          <a:bodyPr/>
          <a:lstStyle/>
          <a:p>
            <a:fld id="{4C508371-7ABF-4C0B-B9AE-D636725CE862}" type="datetime1">
              <a:rPr lang="en-US" smtClean="0"/>
              <a:t>6/5/2026</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6CC63706-E847-86FC-89F4-AA04D6F870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AD029CC5-F662-4853-BB2A-079EEE0A36C2}" type="slidenum">
              <a:rPr lang="en-US" altLang="en-US" sz="1000"/>
              <a:pPr>
                <a:spcBef>
                  <a:spcPct val="0"/>
                </a:spcBef>
                <a:buClrTx/>
                <a:buSzTx/>
                <a:buFontTx/>
                <a:buNone/>
              </a:pPr>
              <a:t>15</a:t>
            </a:fld>
            <a:endParaRPr lang="en-US" altLang="en-US" sz="1000"/>
          </a:p>
        </p:txBody>
      </p:sp>
      <p:sp>
        <p:nvSpPr>
          <p:cNvPr id="9219" name="Rectangle 2">
            <a:extLst>
              <a:ext uri="{FF2B5EF4-FFF2-40B4-BE49-F238E27FC236}">
                <a16:creationId xmlns:a16="http://schemas.microsoft.com/office/drawing/2014/main" id="{3D906A46-24C3-2C3F-C8AA-EC5BFEE83AB4}"/>
              </a:ext>
            </a:extLst>
          </p:cNvPr>
          <p:cNvSpPr>
            <a:spLocks noGrp="1" noChangeArrowheads="1"/>
          </p:cNvSpPr>
          <p:nvPr>
            <p:ph type="title"/>
          </p:nvPr>
        </p:nvSpPr>
        <p:spPr>
          <a:xfrm>
            <a:off x="556952" y="546100"/>
            <a:ext cx="3825875" cy="660400"/>
          </a:xfrm>
          <a:noFill/>
        </p:spPr>
        <p:txBody>
          <a:bodyPr wrap="none" lIns="63500" tIns="25400" rIns="63500" bIns="25400" anchor="t">
            <a:spAutoFit/>
          </a:bodyPr>
          <a:lstStyle/>
          <a:p>
            <a:pPr eaLnBrk="1" hangingPunct="1"/>
            <a:r>
              <a:rPr lang="en-US" altLang="en-US" dirty="0"/>
              <a:t>Software Teams</a:t>
            </a:r>
          </a:p>
        </p:txBody>
      </p:sp>
      <p:sp>
        <p:nvSpPr>
          <p:cNvPr id="9220" name="Rectangle 3">
            <a:extLst>
              <a:ext uri="{FF2B5EF4-FFF2-40B4-BE49-F238E27FC236}">
                <a16:creationId xmlns:a16="http://schemas.microsoft.com/office/drawing/2014/main" id="{221DEE74-7A79-4657-5F09-6684BC4EDB20}"/>
              </a:ext>
            </a:extLst>
          </p:cNvPr>
          <p:cNvSpPr>
            <a:spLocks noGrp="1" noChangeArrowheads="1"/>
          </p:cNvSpPr>
          <p:nvPr>
            <p:ph type="body" idx="1"/>
          </p:nvPr>
        </p:nvSpPr>
        <p:spPr>
          <a:xfrm>
            <a:off x="990600" y="1901444"/>
            <a:ext cx="7696200" cy="4804156"/>
          </a:xfrm>
          <a:noFill/>
        </p:spPr>
        <p:txBody>
          <a:bodyPr lIns="90487" tIns="44450" rIns="90487" bIns="44450">
            <a:normAutofit/>
          </a:bodyPr>
          <a:lstStyle/>
          <a:p>
            <a:pPr eaLnBrk="1" hangingPunct="1"/>
            <a:r>
              <a:rPr lang="en-US" altLang="en-US" dirty="0"/>
              <a:t>the </a:t>
            </a:r>
            <a:r>
              <a:rPr lang="en-US" altLang="en-US" dirty="0">
                <a:solidFill>
                  <a:schemeClr val="tx2"/>
                </a:solidFill>
              </a:rPr>
              <a:t>difficulty of the problem </a:t>
            </a:r>
            <a:r>
              <a:rPr lang="en-US" altLang="en-US" dirty="0"/>
              <a:t>to be solved</a:t>
            </a:r>
          </a:p>
          <a:p>
            <a:pPr eaLnBrk="1" hangingPunct="1"/>
            <a:r>
              <a:rPr lang="en-US" altLang="en-US" dirty="0"/>
              <a:t>the </a:t>
            </a:r>
            <a:r>
              <a:rPr lang="en-US" altLang="en-US" dirty="0">
                <a:solidFill>
                  <a:schemeClr val="tx2"/>
                </a:solidFill>
              </a:rPr>
              <a:t>size of the resultant program</a:t>
            </a:r>
            <a:r>
              <a:rPr lang="en-US" altLang="en-US" dirty="0"/>
              <a:t>(s) in lines of code or function points</a:t>
            </a:r>
          </a:p>
          <a:p>
            <a:pPr eaLnBrk="1" hangingPunct="1"/>
            <a:r>
              <a:rPr lang="en-US" altLang="en-US" dirty="0"/>
              <a:t>the </a:t>
            </a:r>
            <a:r>
              <a:rPr lang="en-US" altLang="en-US" dirty="0">
                <a:solidFill>
                  <a:schemeClr val="tx2"/>
                </a:solidFill>
              </a:rPr>
              <a:t>time that the team will stay together </a:t>
            </a:r>
            <a:r>
              <a:rPr lang="en-US" altLang="en-US" dirty="0"/>
              <a:t>(team lifetime)</a:t>
            </a:r>
          </a:p>
          <a:p>
            <a:pPr eaLnBrk="1" hangingPunct="1"/>
            <a:r>
              <a:rPr lang="en-US" altLang="en-US" dirty="0"/>
              <a:t>the </a:t>
            </a:r>
            <a:r>
              <a:rPr lang="en-US" altLang="en-US" dirty="0">
                <a:solidFill>
                  <a:schemeClr val="tx2"/>
                </a:solidFill>
              </a:rPr>
              <a:t>degree to which the problem can be modularized</a:t>
            </a:r>
          </a:p>
          <a:p>
            <a:pPr eaLnBrk="1" hangingPunct="1"/>
            <a:r>
              <a:rPr lang="en-US" altLang="en-US" dirty="0"/>
              <a:t>the </a:t>
            </a:r>
            <a:r>
              <a:rPr lang="en-US" altLang="en-US" dirty="0">
                <a:solidFill>
                  <a:schemeClr val="tx2"/>
                </a:solidFill>
              </a:rPr>
              <a:t>required quality and reliability </a:t>
            </a:r>
            <a:r>
              <a:rPr lang="en-US" altLang="en-US" dirty="0"/>
              <a:t>of the system to be built</a:t>
            </a:r>
          </a:p>
          <a:p>
            <a:pPr eaLnBrk="1" hangingPunct="1"/>
            <a:r>
              <a:rPr lang="en-US" altLang="en-US" dirty="0"/>
              <a:t>the </a:t>
            </a:r>
            <a:r>
              <a:rPr lang="en-US" altLang="en-US" dirty="0">
                <a:solidFill>
                  <a:schemeClr val="tx2"/>
                </a:solidFill>
              </a:rPr>
              <a:t>rigidity of the delivery date</a:t>
            </a:r>
          </a:p>
          <a:p>
            <a:pPr eaLnBrk="1" hangingPunct="1"/>
            <a:r>
              <a:rPr lang="en-US" altLang="en-US" dirty="0"/>
              <a:t>the </a:t>
            </a:r>
            <a:r>
              <a:rPr lang="en-US" altLang="en-US" dirty="0">
                <a:solidFill>
                  <a:schemeClr val="tx2"/>
                </a:solidFill>
              </a:rPr>
              <a:t>degree of sociability </a:t>
            </a:r>
            <a:r>
              <a:rPr lang="en-US" altLang="en-US" dirty="0"/>
              <a:t>(communication) required for the project</a:t>
            </a:r>
          </a:p>
        </p:txBody>
      </p:sp>
      <p:sp>
        <p:nvSpPr>
          <p:cNvPr id="9221" name="Rectangle 4">
            <a:extLst>
              <a:ext uri="{FF2B5EF4-FFF2-40B4-BE49-F238E27FC236}">
                <a16:creationId xmlns:a16="http://schemas.microsoft.com/office/drawing/2014/main" id="{ADDBDB21-57CA-BE44-AFD9-A6CB78964572}"/>
              </a:ext>
            </a:extLst>
          </p:cNvPr>
          <p:cNvSpPr>
            <a:spLocks noChangeArrowheads="1"/>
          </p:cNvSpPr>
          <p:nvPr/>
        </p:nvSpPr>
        <p:spPr bwMode="auto">
          <a:xfrm>
            <a:off x="723639" y="1232089"/>
            <a:ext cx="7318375"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7" tIns="44450" rIns="90487" bIns="44450">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2000" b="1" i="1" dirty="0"/>
              <a:t>The following factors must be considered when selecting a software project team structure ...</a:t>
            </a:r>
            <a:endParaRPr lang="en-US" altLang="en-US" sz="2000" b="1" dirty="0"/>
          </a:p>
        </p:txBody>
      </p:sp>
      <p:sp>
        <p:nvSpPr>
          <p:cNvPr id="2" name="Date Placeholder 1">
            <a:extLst>
              <a:ext uri="{FF2B5EF4-FFF2-40B4-BE49-F238E27FC236}">
                <a16:creationId xmlns:a16="http://schemas.microsoft.com/office/drawing/2014/main" id="{37F7EDBF-20E1-7D98-AB5E-FD5C34D2BFAC}"/>
              </a:ext>
            </a:extLst>
          </p:cNvPr>
          <p:cNvSpPr>
            <a:spLocks noGrp="1"/>
          </p:cNvSpPr>
          <p:nvPr>
            <p:ph type="dt" sz="half" idx="10"/>
          </p:nvPr>
        </p:nvSpPr>
        <p:spPr/>
        <p:txBody>
          <a:bodyPr/>
          <a:lstStyle/>
          <a:p>
            <a:fld id="{22942119-A342-45DB-A563-7FF3AD45C65C}" type="datetime1">
              <a:rPr lang="en-US" smtClean="0"/>
              <a:t>6/5/2026</a:t>
            </a:fld>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9C1FD45C-2C4F-9045-66C0-F3001A0139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424A91B8-FFA1-46C5-9AB3-B87DF6D6DEDF}" type="slidenum">
              <a:rPr lang="en-US" altLang="en-US" sz="1000"/>
              <a:pPr>
                <a:spcBef>
                  <a:spcPct val="0"/>
                </a:spcBef>
                <a:buClrTx/>
                <a:buSzTx/>
                <a:buFontTx/>
                <a:buNone/>
              </a:pPr>
              <a:t>16</a:t>
            </a:fld>
            <a:endParaRPr lang="en-US" altLang="en-US" sz="1000"/>
          </a:p>
        </p:txBody>
      </p:sp>
      <p:sp>
        <p:nvSpPr>
          <p:cNvPr id="10243" name="Rectangle 2">
            <a:extLst>
              <a:ext uri="{FF2B5EF4-FFF2-40B4-BE49-F238E27FC236}">
                <a16:creationId xmlns:a16="http://schemas.microsoft.com/office/drawing/2014/main" id="{5854B4E0-EB4C-5281-712B-A4487F3BF03A}"/>
              </a:ext>
            </a:extLst>
          </p:cNvPr>
          <p:cNvSpPr>
            <a:spLocks noGrp="1" noChangeArrowheads="1"/>
          </p:cNvSpPr>
          <p:nvPr>
            <p:ph type="body" idx="1"/>
          </p:nvPr>
        </p:nvSpPr>
        <p:spPr>
          <a:xfrm>
            <a:off x="685800" y="1195049"/>
            <a:ext cx="8001000" cy="5129551"/>
          </a:xfrm>
          <a:noFill/>
        </p:spPr>
        <p:txBody>
          <a:bodyPr lIns="90487" tIns="44450" rIns="90487" bIns="44450">
            <a:normAutofit/>
          </a:bodyPr>
          <a:lstStyle/>
          <a:p>
            <a:pPr eaLnBrk="1" hangingPunct="1"/>
            <a:r>
              <a:rPr lang="en-US" altLang="en-US" dirty="0">
                <a:solidFill>
                  <a:schemeClr val="tx2"/>
                </a:solidFill>
              </a:rPr>
              <a:t>closed paradigm</a:t>
            </a:r>
            <a:r>
              <a:rPr lang="en-US" altLang="en-US" dirty="0"/>
              <a:t>—structures a team along  a traditional hierarchy of authority</a:t>
            </a:r>
          </a:p>
          <a:p>
            <a:pPr eaLnBrk="1" hangingPunct="1"/>
            <a:r>
              <a:rPr lang="en-US" altLang="en-US" dirty="0">
                <a:solidFill>
                  <a:schemeClr val="tx2"/>
                </a:solidFill>
              </a:rPr>
              <a:t>random paradigm</a:t>
            </a:r>
            <a:r>
              <a:rPr lang="en-US" altLang="en-US" dirty="0"/>
              <a:t>—structures a team loosely and depends on individual initiative of the team members </a:t>
            </a:r>
          </a:p>
          <a:p>
            <a:pPr eaLnBrk="1" hangingPunct="1"/>
            <a:r>
              <a:rPr lang="en-US" altLang="en-US" dirty="0">
                <a:solidFill>
                  <a:schemeClr val="tx2"/>
                </a:solidFill>
              </a:rPr>
              <a:t>open paradigm</a:t>
            </a:r>
            <a:r>
              <a:rPr lang="en-US" altLang="en-US" dirty="0"/>
              <a:t>—attempts to structure a team in a manner that achieves some of the controls associated with the closed paradigm but also much of the innovation that occurs when using the random paradigm</a:t>
            </a:r>
          </a:p>
          <a:p>
            <a:pPr eaLnBrk="1" hangingPunct="1"/>
            <a:r>
              <a:rPr lang="en-US" altLang="en-US" dirty="0">
                <a:solidFill>
                  <a:schemeClr val="tx2"/>
                </a:solidFill>
              </a:rPr>
              <a:t>synchronous paradigm</a:t>
            </a:r>
            <a:r>
              <a:rPr lang="en-US" altLang="en-US" dirty="0"/>
              <a:t>—relies on the natural compartmentalization of a problem and organizes team members to work on pieces of the problem with little active communication among themselves</a:t>
            </a:r>
          </a:p>
        </p:txBody>
      </p:sp>
      <p:sp>
        <p:nvSpPr>
          <p:cNvPr id="10244" name="Rectangle 3">
            <a:extLst>
              <a:ext uri="{FF2B5EF4-FFF2-40B4-BE49-F238E27FC236}">
                <a16:creationId xmlns:a16="http://schemas.microsoft.com/office/drawing/2014/main" id="{0452EEB8-7B34-B202-BEAE-DE1C47F6AA1B}"/>
              </a:ext>
            </a:extLst>
          </p:cNvPr>
          <p:cNvSpPr>
            <a:spLocks noGrp="1" noChangeArrowheads="1"/>
          </p:cNvSpPr>
          <p:nvPr>
            <p:ph type="title"/>
          </p:nvPr>
        </p:nvSpPr>
        <p:spPr>
          <a:xfrm>
            <a:off x="304800" y="534649"/>
            <a:ext cx="6734175" cy="660400"/>
          </a:xfrm>
          <a:noFill/>
        </p:spPr>
        <p:txBody>
          <a:bodyPr wrap="square" lIns="63500" tIns="25400" rIns="63500" bIns="25400" anchor="t">
            <a:spAutoFit/>
          </a:bodyPr>
          <a:lstStyle/>
          <a:p>
            <a:pPr eaLnBrk="1" hangingPunct="1"/>
            <a:r>
              <a:rPr lang="en-US" altLang="en-US" dirty="0"/>
              <a:t>Organizational Paradigms</a:t>
            </a:r>
          </a:p>
        </p:txBody>
      </p:sp>
      <p:sp>
        <p:nvSpPr>
          <p:cNvPr id="10245" name="Rectangle 4">
            <a:extLst>
              <a:ext uri="{FF2B5EF4-FFF2-40B4-BE49-F238E27FC236}">
                <a16:creationId xmlns:a16="http://schemas.microsoft.com/office/drawing/2014/main" id="{EEF9829E-3902-D130-CEA9-CD4510E70439}"/>
              </a:ext>
            </a:extLst>
          </p:cNvPr>
          <p:cNvSpPr>
            <a:spLocks noChangeArrowheads="1"/>
          </p:cNvSpPr>
          <p:nvPr/>
        </p:nvSpPr>
        <p:spPr bwMode="auto">
          <a:xfrm>
            <a:off x="4343400" y="6118485"/>
            <a:ext cx="3689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i="1" dirty="0"/>
              <a:t>suggested by Constantine [Con93]</a:t>
            </a:r>
          </a:p>
        </p:txBody>
      </p:sp>
      <p:sp>
        <p:nvSpPr>
          <p:cNvPr id="2" name="Date Placeholder 1">
            <a:extLst>
              <a:ext uri="{FF2B5EF4-FFF2-40B4-BE49-F238E27FC236}">
                <a16:creationId xmlns:a16="http://schemas.microsoft.com/office/drawing/2014/main" id="{69819FF6-9B2F-5EC4-585C-E0B12DDEF7C7}"/>
              </a:ext>
            </a:extLst>
          </p:cNvPr>
          <p:cNvSpPr>
            <a:spLocks noGrp="1"/>
          </p:cNvSpPr>
          <p:nvPr>
            <p:ph type="dt" sz="half" idx="10"/>
          </p:nvPr>
        </p:nvSpPr>
        <p:spPr/>
        <p:txBody>
          <a:bodyPr/>
          <a:lstStyle/>
          <a:p>
            <a:fld id="{71450A8D-1193-449E-986E-10E1B9655FEC}" type="datetime1">
              <a:rPr lang="en-US" smtClean="0"/>
              <a:t>6/5/2026</a:t>
            </a:fld>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6756CF78-EFC4-9F8E-873B-D6D5C9E67C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9007FFC3-F12D-4A6D-B434-2A07184B437B}" type="slidenum">
              <a:rPr lang="en-US" altLang="en-US" sz="1000"/>
              <a:pPr>
                <a:spcBef>
                  <a:spcPct val="0"/>
                </a:spcBef>
                <a:buClrTx/>
                <a:buSzTx/>
                <a:buFontTx/>
                <a:buNone/>
              </a:pPr>
              <a:t>17</a:t>
            </a:fld>
            <a:endParaRPr lang="en-US" altLang="en-US" sz="1000"/>
          </a:p>
        </p:txBody>
      </p:sp>
      <p:sp>
        <p:nvSpPr>
          <p:cNvPr id="20483" name="Rectangle 2">
            <a:extLst>
              <a:ext uri="{FF2B5EF4-FFF2-40B4-BE49-F238E27FC236}">
                <a16:creationId xmlns:a16="http://schemas.microsoft.com/office/drawing/2014/main" id="{36ECC0BB-6B2F-ADD3-422A-5CFE41F24592}"/>
              </a:ext>
            </a:extLst>
          </p:cNvPr>
          <p:cNvSpPr>
            <a:spLocks noGrp="1" noChangeArrowheads="1"/>
          </p:cNvSpPr>
          <p:nvPr>
            <p:ph type="title"/>
          </p:nvPr>
        </p:nvSpPr>
        <p:spPr>
          <a:xfrm>
            <a:off x="611187" y="570610"/>
            <a:ext cx="8081963" cy="555625"/>
          </a:xfrm>
        </p:spPr>
        <p:txBody>
          <a:bodyPr>
            <a:normAutofit fontScale="90000"/>
          </a:bodyPr>
          <a:lstStyle/>
          <a:p>
            <a:pPr eaLnBrk="1" hangingPunct="1"/>
            <a:r>
              <a:rPr lang="en-US" altLang="en-US" sz="3600" dirty="0"/>
              <a:t>To Get to the Essence of a Project</a:t>
            </a:r>
            <a:endParaRPr lang="en-US" altLang="en-US" dirty="0"/>
          </a:p>
        </p:txBody>
      </p:sp>
      <p:sp>
        <p:nvSpPr>
          <p:cNvPr id="20484" name="Rectangle 3">
            <a:extLst>
              <a:ext uri="{FF2B5EF4-FFF2-40B4-BE49-F238E27FC236}">
                <a16:creationId xmlns:a16="http://schemas.microsoft.com/office/drawing/2014/main" id="{5EDFC182-2B1D-CAD0-076A-CFA9F35480C1}"/>
              </a:ext>
            </a:extLst>
          </p:cNvPr>
          <p:cNvSpPr>
            <a:spLocks noGrp="1" noChangeArrowheads="1"/>
          </p:cNvSpPr>
          <p:nvPr>
            <p:ph type="body" idx="1"/>
          </p:nvPr>
        </p:nvSpPr>
        <p:spPr>
          <a:xfrm>
            <a:off x="838200" y="1349374"/>
            <a:ext cx="7854950" cy="4699002"/>
          </a:xfrm>
        </p:spPr>
        <p:txBody>
          <a:bodyPr>
            <a:normAutofit lnSpcReduction="10000"/>
          </a:bodyPr>
          <a:lstStyle/>
          <a:p>
            <a:pPr eaLnBrk="1" hangingPunct="1">
              <a:lnSpc>
                <a:spcPct val="150000"/>
              </a:lnSpc>
            </a:pPr>
            <a:r>
              <a:rPr lang="en-US" altLang="en-US" dirty="0">
                <a:solidFill>
                  <a:schemeClr val="tx2"/>
                </a:solidFill>
              </a:rPr>
              <a:t>W</a:t>
            </a:r>
            <a:r>
              <a:rPr lang="en-US" altLang="en-US" dirty="0"/>
              <a:t>hy is the system being developed?</a:t>
            </a:r>
          </a:p>
          <a:p>
            <a:pPr eaLnBrk="1" hangingPunct="1">
              <a:lnSpc>
                <a:spcPct val="150000"/>
              </a:lnSpc>
            </a:pPr>
            <a:r>
              <a:rPr lang="en-US" altLang="en-US" dirty="0">
                <a:solidFill>
                  <a:schemeClr val="tx2"/>
                </a:solidFill>
              </a:rPr>
              <a:t>W</a:t>
            </a:r>
            <a:r>
              <a:rPr lang="en-US" altLang="en-US" dirty="0"/>
              <a:t>hat will be done? </a:t>
            </a:r>
          </a:p>
          <a:p>
            <a:pPr eaLnBrk="1" hangingPunct="1">
              <a:lnSpc>
                <a:spcPct val="150000"/>
              </a:lnSpc>
            </a:pPr>
            <a:r>
              <a:rPr lang="en-US" altLang="en-US" dirty="0">
                <a:solidFill>
                  <a:schemeClr val="tx2"/>
                </a:solidFill>
              </a:rPr>
              <a:t>W</a:t>
            </a:r>
            <a:r>
              <a:rPr lang="en-US" altLang="en-US" dirty="0"/>
              <a:t>hen will it be accomplished?</a:t>
            </a:r>
          </a:p>
          <a:p>
            <a:pPr eaLnBrk="1" hangingPunct="1">
              <a:lnSpc>
                <a:spcPct val="150000"/>
              </a:lnSpc>
            </a:pPr>
            <a:r>
              <a:rPr lang="en-US" altLang="en-US" dirty="0">
                <a:solidFill>
                  <a:schemeClr val="tx2"/>
                </a:solidFill>
              </a:rPr>
              <a:t>W</a:t>
            </a:r>
            <a:r>
              <a:rPr lang="en-US" altLang="en-US" dirty="0"/>
              <a:t>ho is responsible?</a:t>
            </a:r>
          </a:p>
          <a:p>
            <a:pPr eaLnBrk="1" hangingPunct="1">
              <a:lnSpc>
                <a:spcPct val="150000"/>
              </a:lnSpc>
            </a:pPr>
            <a:r>
              <a:rPr lang="en-US" altLang="en-US" dirty="0">
                <a:solidFill>
                  <a:schemeClr val="tx2"/>
                </a:solidFill>
              </a:rPr>
              <a:t>W</a:t>
            </a:r>
            <a:r>
              <a:rPr lang="en-US" altLang="en-US" dirty="0"/>
              <a:t>here are they organizationally located?</a:t>
            </a:r>
          </a:p>
          <a:p>
            <a:pPr eaLnBrk="1" hangingPunct="1">
              <a:lnSpc>
                <a:spcPct val="150000"/>
              </a:lnSpc>
            </a:pPr>
            <a:r>
              <a:rPr lang="en-US" altLang="en-US" dirty="0">
                <a:solidFill>
                  <a:schemeClr val="tx2"/>
                </a:solidFill>
              </a:rPr>
              <a:t>H</a:t>
            </a:r>
            <a:r>
              <a:rPr lang="en-US" altLang="en-US" dirty="0"/>
              <a:t>ow will the job be done technically and managerially?</a:t>
            </a:r>
          </a:p>
          <a:p>
            <a:pPr eaLnBrk="1" hangingPunct="1">
              <a:lnSpc>
                <a:spcPct val="150000"/>
              </a:lnSpc>
            </a:pPr>
            <a:r>
              <a:rPr lang="en-US" altLang="en-US" dirty="0">
                <a:solidFill>
                  <a:schemeClr val="tx2"/>
                </a:solidFill>
              </a:rPr>
              <a:t>H</a:t>
            </a:r>
            <a:r>
              <a:rPr lang="en-US" altLang="en-US" dirty="0"/>
              <a:t>ow much of each resource (e.g., people, software, tools, database) will be needed?</a:t>
            </a:r>
          </a:p>
        </p:txBody>
      </p:sp>
      <p:sp>
        <p:nvSpPr>
          <p:cNvPr id="20485" name="Text Box 4">
            <a:extLst>
              <a:ext uri="{FF2B5EF4-FFF2-40B4-BE49-F238E27FC236}">
                <a16:creationId xmlns:a16="http://schemas.microsoft.com/office/drawing/2014/main" id="{7FF6E128-943E-71B3-6842-191BF9F1ED9C}"/>
              </a:ext>
            </a:extLst>
          </p:cNvPr>
          <p:cNvSpPr txBox="1">
            <a:spLocks noChangeArrowheads="1"/>
          </p:cNvSpPr>
          <p:nvPr/>
        </p:nvSpPr>
        <p:spPr bwMode="auto">
          <a:xfrm>
            <a:off x="5257800" y="5878513"/>
            <a:ext cx="3048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50000"/>
              </a:spcBef>
              <a:buClrTx/>
              <a:buSzTx/>
              <a:buFontTx/>
              <a:buNone/>
            </a:pPr>
            <a:r>
              <a:rPr lang="en-US" altLang="en-US" sz="1800" b="1" i="1" dirty="0"/>
              <a:t>Barry Boehm [Boe96]</a:t>
            </a:r>
            <a:endParaRPr lang="en-US" altLang="en-US" sz="1800" b="1" dirty="0"/>
          </a:p>
        </p:txBody>
      </p:sp>
      <p:sp>
        <p:nvSpPr>
          <p:cNvPr id="2" name="Date Placeholder 1">
            <a:extLst>
              <a:ext uri="{FF2B5EF4-FFF2-40B4-BE49-F238E27FC236}">
                <a16:creationId xmlns:a16="http://schemas.microsoft.com/office/drawing/2014/main" id="{CC866C11-11AC-3239-6F79-834B6CBCCCAE}"/>
              </a:ext>
            </a:extLst>
          </p:cNvPr>
          <p:cNvSpPr>
            <a:spLocks noGrp="1"/>
          </p:cNvSpPr>
          <p:nvPr>
            <p:ph type="dt" sz="half" idx="10"/>
          </p:nvPr>
        </p:nvSpPr>
        <p:spPr/>
        <p:txBody>
          <a:bodyPr/>
          <a:lstStyle/>
          <a:p>
            <a:fld id="{EB3AA202-C2C4-4A85-85E7-2A5005F7D912}" type="datetime1">
              <a:rPr lang="en-US" smtClean="0"/>
              <a:t>6/5/2026</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438613"/>
            <a:ext cx="8229600" cy="990600"/>
          </a:xfrm>
        </p:spPr>
        <p:txBody>
          <a:bodyPr>
            <a:normAutofit/>
          </a:bodyPr>
          <a:lstStyle/>
          <a:p>
            <a:r>
              <a:rPr lang="en-GB" sz="3600" dirty="0"/>
              <a:t>Metrics for the requirements model</a:t>
            </a:r>
          </a:p>
        </p:txBody>
      </p:sp>
      <p:sp>
        <p:nvSpPr>
          <p:cNvPr id="6147" name="Rectangle 3"/>
          <p:cNvSpPr>
            <a:spLocks noGrp="1" noChangeArrowheads="1"/>
          </p:cNvSpPr>
          <p:nvPr>
            <p:ph idx="1"/>
          </p:nvPr>
        </p:nvSpPr>
        <p:spPr>
          <a:xfrm>
            <a:off x="457200" y="1431072"/>
            <a:ext cx="8534400" cy="5274527"/>
          </a:xfrm>
        </p:spPr>
        <p:txBody>
          <a:bodyPr>
            <a:noAutofit/>
          </a:bodyPr>
          <a:lstStyle/>
          <a:p>
            <a:pPr>
              <a:lnSpc>
                <a:spcPct val="100000"/>
              </a:lnSpc>
            </a:pPr>
            <a:r>
              <a:rPr lang="en-US" sz="2200" dirty="0"/>
              <a:t>Technical work in software engineering begins with the creation of the requirements model. </a:t>
            </a:r>
          </a:p>
          <a:p>
            <a:pPr>
              <a:lnSpc>
                <a:spcPct val="100000"/>
              </a:lnSpc>
            </a:pPr>
            <a:r>
              <a:rPr lang="en-US" sz="2200" dirty="0"/>
              <a:t>It is at this stage that requirements are derived and a foundation for design is established. Therefore, product metrics that provide insight into the quality of the analysis model are desirable.</a:t>
            </a:r>
          </a:p>
          <a:p>
            <a:pPr>
              <a:lnSpc>
                <a:spcPct val="100000"/>
              </a:lnSpc>
            </a:pPr>
            <a:r>
              <a:rPr lang="en-US" sz="2200" dirty="0"/>
              <a:t>Although relatively few analysis and specification metrics have appeared in the literature, it is possible to adapt metrics that are often used for project estimation and apply them in this context. </a:t>
            </a:r>
          </a:p>
          <a:p>
            <a:pPr>
              <a:lnSpc>
                <a:spcPct val="100000"/>
              </a:lnSpc>
            </a:pPr>
            <a:r>
              <a:rPr lang="en-US" sz="2200" dirty="0"/>
              <a:t>These metrics examine the requirements model with the intent of predicting the “size” of the resultant system. </a:t>
            </a:r>
          </a:p>
          <a:p>
            <a:pPr>
              <a:lnSpc>
                <a:spcPct val="100000"/>
              </a:lnSpc>
            </a:pPr>
            <a:r>
              <a:rPr lang="en-US" sz="2200" dirty="0"/>
              <a:t>Size is sometimes (but not always) an indicator of design complexity and is almost always an indicator of increased coding, integration, and testing effort.</a:t>
            </a:r>
            <a:endParaRPr lang="en-GB" sz="2200" dirty="0"/>
          </a:p>
        </p:txBody>
      </p:sp>
    </p:spTree>
    <p:extLst>
      <p:ext uri="{BB962C8B-B14F-4D97-AF65-F5344CB8AC3E}">
        <p14:creationId xmlns:p14="http://schemas.microsoft.com/office/powerpoint/2010/main" val="33183065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sz="3600" dirty="0"/>
              <a:t>Function Based metrics</a:t>
            </a:r>
          </a:p>
        </p:txBody>
      </p:sp>
      <p:sp>
        <p:nvSpPr>
          <p:cNvPr id="6147" name="Rectangle 3"/>
          <p:cNvSpPr>
            <a:spLocks noGrp="1" noChangeArrowheads="1"/>
          </p:cNvSpPr>
          <p:nvPr>
            <p:ph idx="1"/>
          </p:nvPr>
        </p:nvSpPr>
        <p:spPr>
          <a:xfrm>
            <a:off x="381001" y="1676400"/>
            <a:ext cx="8077200" cy="4876800"/>
          </a:xfrm>
        </p:spPr>
        <p:txBody>
          <a:bodyPr>
            <a:normAutofit lnSpcReduction="10000"/>
          </a:bodyPr>
          <a:lstStyle/>
          <a:p>
            <a:pPr>
              <a:lnSpc>
                <a:spcPct val="100000"/>
              </a:lnSpc>
            </a:pPr>
            <a:r>
              <a:rPr lang="en-US" sz="2200" dirty="0"/>
              <a:t>The function point (FP) metric can be used effectively as a means for measuring the functionality delivered by a system. </a:t>
            </a:r>
          </a:p>
          <a:p>
            <a:pPr>
              <a:lnSpc>
                <a:spcPct val="100000"/>
              </a:lnSpc>
            </a:pPr>
            <a:r>
              <a:rPr lang="en-US" sz="2200" dirty="0"/>
              <a:t>Using historical data, the FP metric can then be used to </a:t>
            </a:r>
          </a:p>
          <a:p>
            <a:pPr marL="171450" lvl="1" indent="0">
              <a:buNone/>
            </a:pPr>
            <a:r>
              <a:rPr lang="en-US" sz="2200" dirty="0"/>
              <a:t> - estimate the cost or effort required to design, code, and test </a:t>
            </a:r>
          </a:p>
          <a:p>
            <a:pPr marL="171450" lvl="1" indent="0">
              <a:buNone/>
            </a:pPr>
            <a:r>
              <a:rPr lang="en-US" sz="2200" dirty="0"/>
              <a:t>   the software;</a:t>
            </a:r>
          </a:p>
          <a:p>
            <a:pPr marL="171450" lvl="1" indent="0">
              <a:buNone/>
            </a:pPr>
            <a:r>
              <a:rPr lang="en-US" sz="2200" dirty="0"/>
              <a:t>-  predict the number of errors that will be encountered during </a:t>
            </a:r>
          </a:p>
          <a:p>
            <a:pPr marL="171450" lvl="1" indent="0">
              <a:buNone/>
            </a:pPr>
            <a:r>
              <a:rPr lang="en-US" sz="2200" dirty="0"/>
              <a:t>    testing </a:t>
            </a:r>
          </a:p>
          <a:p>
            <a:pPr marL="171450" lvl="1" indent="0">
              <a:buNone/>
            </a:pPr>
            <a:r>
              <a:rPr lang="en-US" sz="2200" dirty="0"/>
              <a:t>-  forecast the number of components and/or the number of </a:t>
            </a:r>
          </a:p>
          <a:p>
            <a:pPr marL="171450" lvl="1" indent="0">
              <a:buNone/>
            </a:pPr>
            <a:r>
              <a:rPr lang="en-US" sz="2200" dirty="0"/>
              <a:t>-  projected source lines in the implemented system.</a:t>
            </a:r>
          </a:p>
          <a:p>
            <a:pPr>
              <a:lnSpc>
                <a:spcPct val="100000"/>
              </a:lnSpc>
            </a:pPr>
            <a:r>
              <a:rPr lang="en-US" sz="2200" dirty="0"/>
              <a:t>Function points are derived using an empirical relationship based on countable (direct) measures of software’s information domain and qualitative assessments of software complexity. </a:t>
            </a:r>
            <a:endParaRPr lang="en-GB" sz="2200" dirty="0"/>
          </a:p>
        </p:txBody>
      </p:sp>
    </p:spTree>
    <p:extLst>
      <p:ext uri="{BB962C8B-B14F-4D97-AF65-F5344CB8AC3E}">
        <p14:creationId xmlns:p14="http://schemas.microsoft.com/office/powerpoint/2010/main" val="4510420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41890" y="228600"/>
            <a:ext cx="8229600" cy="762000"/>
          </a:xfrm>
        </p:spPr>
        <p:txBody>
          <a:bodyPr>
            <a:normAutofit/>
          </a:bodyPr>
          <a:lstStyle/>
          <a:p>
            <a:r>
              <a:rPr lang="en-GB" sz="3600" dirty="0"/>
              <a:t>Function Based metrics</a:t>
            </a:r>
          </a:p>
        </p:txBody>
      </p:sp>
      <p:sp>
        <p:nvSpPr>
          <p:cNvPr id="6147" name="Rectangle 3"/>
          <p:cNvSpPr>
            <a:spLocks noGrp="1" noChangeArrowheads="1"/>
          </p:cNvSpPr>
          <p:nvPr>
            <p:ph idx="1"/>
          </p:nvPr>
        </p:nvSpPr>
        <p:spPr>
          <a:xfrm>
            <a:off x="141890" y="914400"/>
            <a:ext cx="8844455" cy="4644618"/>
          </a:xfrm>
        </p:spPr>
        <p:txBody>
          <a:bodyPr>
            <a:noAutofit/>
          </a:bodyPr>
          <a:lstStyle/>
          <a:p>
            <a:pPr>
              <a:lnSpc>
                <a:spcPct val="100000"/>
              </a:lnSpc>
            </a:pPr>
            <a:r>
              <a:rPr lang="en-US" sz="1900" dirty="0"/>
              <a:t>Information domain values are defined in the following manner:</a:t>
            </a:r>
          </a:p>
          <a:p>
            <a:pPr>
              <a:lnSpc>
                <a:spcPct val="100000"/>
              </a:lnSpc>
            </a:pPr>
            <a:r>
              <a:rPr lang="en-US" sz="1900" b="1" dirty="0"/>
              <a:t>Number of external inputs (EIs).</a:t>
            </a:r>
            <a:r>
              <a:rPr lang="en-US" sz="1900" dirty="0"/>
              <a:t> Each external input originates from a  user or is transmitted from another application and provides distinct application-oriented data or control information. Inputs are often used to  update internal logical files (ILFs). Inputs should be distinguished from inquiries, which are counted separately.</a:t>
            </a:r>
          </a:p>
          <a:p>
            <a:pPr>
              <a:lnSpc>
                <a:spcPct val="100000"/>
              </a:lnSpc>
            </a:pPr>
            <a:r>
              <a:rPr lang="en-US" sz="1900" b="1" dirty="0"/>
              <a:t>Number of external outputs (EOs).</a:t>
            </a:r>
            <a:r>
              <a:rPr lang="en-US" sz="1900" dirty="0"/>
              <a:t> Each external output is derived data within the application that provides information to the user. In this context external output refers to reports, screens, error messages, etc. Individual data items within a report are not counted separately.</a:t>
            </a:r>
          </a:p>
          <a:p>
            <a:pPr>
              <a:lnSpc>
                <a:spcPct val="100000"/>
              </a:lnSpc>
            </a:pPr>
            <a:r>
              <a:rPr lang="en-US" sz="1900" b="1" dirty="0"/>
              <a:t>Number of external inquiries (EQs).</a:t>
            </a:r>
            <a:r>
              <a:rPr lang="en-US" sz="1900" dirty="0"/>
              <a:t> An external inquiry is defined as an online input that results in the generation of some immediate software response in the form of an online output (often retrieved from an ILF).</a:t>
            </a:r>
          </a:p>
          <a:p>
            <a:pPr>
              <a:lnSpc>
                <a:spcPct val="100000"/>
              </a:lnSpc>
            </a:pPr>
            <a:r>
              <a:rPr lang="en-US" sz="1900" b="1" dirty="0"/>
              <a:t>Number of internal logical files (ILFs).</a:t>
            </a:r>
            <a:r>
              <a:rPr lang="en-US" sz="1900" dirty="0"/>
              <a:t> Each internal logical file is a logical grouping of data that resides within the application’s boundary and is maintained via external inputs.</a:t>
            </a:r>
          </a:p>
          <a:p>
            <a:pPr>
              <a:lnSpc>
                <a:spcPct val="100000"/>
              </a:lnSpc>
            </a:pPr>
            <a:r>
              <a:rPr lang="en-US" sz="1900" b="1" dirty="0"/>
              <a:t>Number of external interface files (EIFs).</a:t>
            </a:r>
            <a:r>
              <a:rPr lang="en-US" sz="1900" dirty="0"/>
              <a:t> Each external interface file is a logical grouping of data that resides external to the application but provides information that may be of use to the application.</a:t>
            </a:r>
            <a:endParaRPr lang="en-GB" sz="1900" dirty="0"/>
          </a:p>
        </p:txBody>
      </p:sp>
    </p:spTree>
    <p:extLst>
      <p:ext uri="{BB962C8B-B14F-4D97-AF65-F5344CB8AC3E}">
        <p14:creationId xmlns:p14="http://schemas.microsoft.com/office/powerpoint/2010/main" val="16975261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a:t>Function Based metrics</a:t>
            </a:r>
          </a:p>
        </p:txBody>
      </p:sp>
      <p:sp>
        <p:nvSpPr>
          <p:cNvPr id="6147" name="Rectangle 3"/>
          <p:cNvSpPr>
            <a:spLocks noGrp="1" noChangeArrowheads="1"/>
          </p:cNvSpPr>
          <p:nvPr>
            <p:ph idx="1"/>
          </p:nvPr>
        </p:nvSpPr>
        <p:spPr>
          <a:xfrm>
            <a:off x="453483" y="1533293"/>
            <a:ext cx="7798815" cy="3488825"/>
          </a:xfrm>
        </p:spPr>
        <p:txBody>
          <a:bodyPr>
            <a:noAutofit/>
          </a:bodyPr>
          <a:lstStyle/>
          <a:p>
            <a:pPr>
              <a:lnSpc>
                <a:spcPct val="100000"/>
              </a:lnSpc>
            </a:pPr>
            <a:r>
              <a:rPr lang="en-US" sz="2200" dirty="0"/>
              <a:t>Once these data have been collected, the table in Figure 23.1 is completed and a complexity value is associated with each count. </a:t>
            </a:r>
          </a:p>
          <a:p>
            <a:pPr>
              <a:lnSpc>
                <a:spcPct val="100000"/>
              </a:lnSpc>
            </a:pPr>
            <a:r>
              <a:rPr lang="en-US" sz="2200" dirty="0"/>
              <a:t>Organizations that use function point methods develop criteria for determining whether a particular entry is simple, average, or complex. </a:t>
            </a:r>
          </a:p>
          <a:p>
            <a:pPr>
              <a:lnSpc>
                <a:spcPct val="100000"/>
              </a:lnSpc>
            </a:pPr>
            <a:r>
              <a:rPr lang="en-US" sz="2200" dirty="0"/>
              <a:t>Nonetheless, the determination of complexity is somewhat subjective.</a:t>
            </a:r>
          </a:p>
          <a:p>
            <a:pPr>
              <a:lnSpc>
                <a:spcPct val="100000"/>
              </a:lnSpc>
            </a:pPr>
            <a:r>
              <a:rPr lang="en-US" sz="2200" dirty="0"/>
              <a:t>To compute function points (FP), the following relationship is used:</a:t>
            </a:r>
          </a:p>
          <a:p>
            <a:pPr marL="0" indent="0" algn="ctr">
              <a:buNone/>
            </a:pPr>
            <a:r>
              <a:rPr lang="en-US" sz="2200" dirty="0"/>
              <a:t>FP = count total x [0.65 + 0.01 x ∑(</a:t>
            </a:r>
            <a:r>
              <a:rPr lang="en-US" sz="2200" i="1" dirty="0"/>
              <a:t>Fi</a:t>
            </a:r>
            <a:r>
              <a:rPr lang="en-US" sz="2200" dirty="0"/>
              <a:t>)]</a:t>
            </a:r>
          </a:p>
          <a:p>
            <a:pPr>
              <a:lnSpc>
                <a:spcPct val="100000"/>
              </a:lnSpc>
            </a:pPr>
            <a:r>
              <a:rPr lang="en-US" sz="2200" dirty="0"/>
              <a:t>where count total is the sum of all FP entries obtained from Figure 23.1.</a:t>
            </a:r>
            <a:endParaRPr lang="en-GB" sz="2200" dirty="0"/>
          </a:p>
        </p:txBody>
      </p:sp>
    </p:spTree>
    <p:extLst>
      <p:ext uri="{BB962C8B-B14F-4D97-AF65-F5344CB8AC3E}">
        <p14:creationId xmlns:p14="http://schemas.microsoft.com/office/powerpoint/2010/main" val="16170587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a:t>Function Based metrics</a:t>
            </a:r>
          </a:p>
        </p:txBody>
      </p:sp>
      <p:pic>
        <p:nvPicPr>
          <p:cNvPr id="3" name="Content Placeholder 2">
            <a:extLst>
              <a:ext uri="{FF2B5EF4-FFF2-40B4-BE49-F238E27FC236}">
                <a16:creationId xmlns:a16="http://schemas.microsoft.com/office/drawing/2014/main" id="{4C314B3F-EDF3-4A84-A1AB-74DD460B5DB5}"/>
              </a:ext>
            </a:extLst>
          </p:cNvPr>
          <p:cNvPicPr>
            <a:picLocks noGrp="1" noChangeAspect="1"/>
          </p:cNvPicPr>
          <p:nvPr>
            <p:ph idx="1"/>
          </p:nvPr>
        </p:nvPicPr>
        <p:blipFill>
          <a:blip r:embed="rId3"/>
          <a:stretch>
            <a:fillRect/>
          </a:stretch>
        </p:blipFill>
        <p:spPr>
          <a:xfrm>
            <a:off x="238581" y="1828800"/>
            <a:ext cx="8651386" cy="4648200"/>
          </a:xfrm>
        </p:spPr>
      </p:pic>
    </p:spTree>
    <p:extLst>
      <p:ext uri="{BB962C8B-B14F-4D97-AF65-F5344CB8AC3E}">
        <p14:creationId xmlns:p14="http://schemas.microsoft.com/office/powerpoint/2010/main" val="216771863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36034" y="304800"/>
            <a:ext cx="7338060" cy="648208"/>
          </a:xfrm>
        </p:spPr>
        <p:txBody>
          <a:bodyPr>
            <a:normAutofit fontScale="90000"/>
          </a:bodyPr>
          <a:lstStyle/>
          <a:p>
            <a:r>
              <a:rPr lang="en-GB" dirty="0"/>
              <a:t>Function Based metrics</a:t>
            </a:r>
          </a:p>
        </p:txBody>
      </p:sp>
      <p:sp>
        <p:nvSpPr>
          <p:cNvPr id="6147" name="Rectangle 3"/>
          <p:cNvSpPr>
            <a:spLocks noGrp="1" noChangeArrowheads="1"/>
          </p:cNvSpPr>
          <p:nvPr>
            <p:ph idx="1"/>
          </p:nvPr>
        </p:nvSpPr>
        <p:spPr>
          <a:xfrm>
            <a:off x="66330" y="953008"/>
            <a:ext cx="9088821" cy="4552950"/>
          </a:xfrm>
        </p:spPr>
        <p:txBody>
          <a:bodyPr>
            <a:noAutofit/>
          </a:bodyPr>
          <a:lstStyle/>
          <a:p>
            <a:pPr>
              <a:lnSpc>
                <a:spcPct val="100000"/>
              </a:lnSpc>
            </a:pPr>
            <a:r>
              <a:rPr lang="en-US" sz="1600" dirty="0"/>
              <a:t>The </a:t>
            </a:r>
            <a:r>
              <a:rPr lang="en-US" sz="1600" i="1" dirty="0"/>
              <a:t>Fi</a:t>
            </a:r>
            <a:r>
              <a:rPr lang="en-US" sz="1600" dirty="0"/>
              <a:t> (</a:t>
            </a:r>
            <a:r>
              <a:rPr lang="en-US" sz="1600" dirty="0" err="1"/>
              <a:t>i</a:t>
            </a:r>
            <a:r>
              <a:rPr lang="en-US" sz="1600" dirty="0"/>
              <a:t> = 1 to 14) are value adjustment factors (VAF) based on responses to the following questions [Lon02]:</a:t>
            </a:r>
          </a:p>
          <a:p>
            <a:pPr marL="171450" lvl="1" indent="0">
              <a:buNone/>
            </a:pPr>
            <a:r>
              <a:rPr lang="en-US" sz="1600" dirty="0"/>
              <a:t>1. Does the system require reliable backup and recovery?</a:t>
            </a:r>
          </a:p>
          <a:p>
            <a:pPr marL="171450" lvl="1" indent="0">
              <a:buNone/>
            </a:pPr>
            <a:r>
              <a:rPr lang="en-US" sz="1600" dirty="0"/>
              <a:t>2. Are specialized data communications required to transfer information to or from the application?</a:t>
            </a:r>
          </a:p>
          <a:p>
            <a:pPr marL="171450" lvl="1" indent="0">
              <a:buNone/>
            </a:pPr>
            <a:r>
              <a:rPr lang="en-US" sz="1600" dirty="0"/>
              <a:t>3. Are there distributed processing functions?</a:t>
            </a:r>
          </a:p>
          <a:p>
            <a:pPr marL="171450" lvl="1" indent="0">
              <a:buNone/>
            </a:pPr>
            <a:r>
              <a:rPr lang="en-US" sz="1600" dirty="0"/>
              <a:t>4. Is performance critical?</a:t>
            </a:r>
          </a:p>
          <a:p>
            <a:pPr marL="171450" lvl="1" indent="0">
              <a:buNone/>
            </a:pPr>
            <a:r>
              <a:rPr lang="en-US" sz="1600" dirty="0"/>
              <a:t>5. Will the system run in an existing, heavily utilized operational environment?</a:t>
            </a:r>
          </a:p>
          <a:p>
            <a:pPr marL="171450" lvl="1" indent="0">
              <a:buNone/>
            </a:pPr>
            <a:r>
              <a:rPr lang="en-US" sz="1600" dirty="0"/>
              <a:t>6. Does the system require online data entry?</a:t>
            </a:r>
          </a:p>
          <a:p>
            <a:pPr marL="171450" lvl="1" indent="0">
              <a:buNone/>
            </a:pPr>
            <a:r>
              <a:rPr lang="en-US" sz="1600" dirty="0"/>
              <a:t>7. Does the online data entry require the input transaction to be built over multiple screens or operations?</a:t>
            </a:r>
          </a:p>
          <a:p>
            <a:pPr marL="171450" lvl="1" indent="0">
              <a:buNone/>
            </a:pPr>
            <a:r>
              <a:rPr lang="en-US" sz="1600" dirty="0"/>
              <a:t>8. Are the ILFs updated online?</a:t>
            </a:r>
          </a:p>
          <a:p>
            <a:pPr marL="171450" lvl="1" indent="0">
              <a:buNone/>
            </a:pPr>
            <a:r>
              <a:rPr lang="en-US" sz="1600" dirty="0"/>
              <a:t>9. Are the inputs, outputs, files, or inquiries complex?</a:t>
            </a:r>
          </a:p>
          <a:p>
            <a:pPr marL="171450" lvl="1" indent="0">
              <a:buNone/>
            </a:pPr>
            <a:r>
              <a:rPr lang="en-US" sz="1600" dirty="0"/>
              <a:t>10. Is the internal processing complex?</a:t>
            </a:r>
          </a:p>
          <a:p>
            <a:pPr marL="171450" lvl="1" indent="0">
              <a:buNone/>
            </a:pPr>
            <a:r>
              <a:rPr lang="en-US" sz="1600" dirty="0"/>
              <a:t>11. Is the code designed to be reusable?</a:t>
            </a:r>
          </a:p>
          <a:p>
            <a:pPr marL="171450" lvl="1" indent="0">
              <a:buNone/>
            </a:pPr>
            <a:r>
              <a:rPr lang="en-US" sz="1600" dirty="0"/>
              <a:t>12. Are conversion and installation included in the design?</a:t>
            </a:r>
          </a:p>
          <a:p>
            <a:pPr marL="171450" lvl="1" indent="0">
              <a:buNone/>
            </a:pPr>
            <a:r>
              <a:rPr lang="en-US" sz="1600" dirty="0"/>
              <a:t>13. Is the system designed for multiple installations in different organizations?</a:t>
            </a:r>
          </a:p>
          <a:p>
            <a:pPr marL="171450" lvl="1" indent="0">
              <a:spcBef>
                <a:spcPts val="0"/>
              </a:spcBef>
              <a:buNone/>
            </a:pPr>
            <a:r>
              <a:rPr lang="en-US" sz="1600" dirty="0"/>
              <a:t>14. Is the application designed to facilitate change and ease of use by the user?</a:t>
            </a:r>
          </a:p>
          <a:p>
            <a:pPr>
              <a:spcBef>
                <a:spcPts val="150"/>
              </a:spcBef>
            </a:pPr>
            <a:r>
              <a:rPr lang="en-US" sz="1600" dirty="0"/>
              <a:t>Each of these questions is answered using a scale that ranges from 0 (not important  or applicable) to 5 (absolutely essential). The constant values in Equation (23.1) and  the weighting factors that are applied to information domain counts are determined empirically.</a:t>
            </a:r>
            <a:endParaRPr lang="en-GB" sz="1600" dirty="0"/>
          </a:p>
        </p:txBody>
      </p:sp>
    </p:spTree>
    <p:extLst>
      <p:ext uri="{BB962C8B-B14F-4D97-AF65-F5344CB8AC3E}">
        <p14:creationId xmlns:p14="http://schemas.microsoft.com/office/powerpoint/2010/main" val="32893108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4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47">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47">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47">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47">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4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16899" y="533400"/>
            <a:ext cx="8369901" cy="990600"/>
          </a:xfrm>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pic>
        <p:nvPicPr>
          <p:cNvPr id="3" name="Content Placeholder 2">
            <a:extLst>
              <a:ext uri="{FF2B5EF4-FFF2-40B4-BE49-F238E27FC236}">
                <a16:creationId xmlns:a16="http://schemas.microsoft.com/office/drawing/2014/main" id="{B462067F-8CCF-4F19-ACD7-32691E576781}"/>
              </a:ext>
            </a:extLst>
          </p:cNvPr>
          <p:cNvPicPr>
            <a:picLocks noGrp="1" noChangeAspect="1"/>
          </p:cNvPicPr>
          <p:nvPr>
            <p:ph idx="1"/>
          </p:nvPr>
        </p:nvPicPr>
        <p:blipFill>
          <a:blip r:embed="rId3"/>
          <a:stretch>
            <a:fillRect/>
          </a:stretch>
        </p:blipFill>
        <p:spPr>
          <a:xfrm>
            <a:off x="333093" y="2272624"/>
            <a:ext cx="8369901" cy="4280576"/>
          </a:xfrm>
        </p:spPr>
      </p:pic>
    </p:spTree>
    <p:extLst>
      <p:ext uri="{BB962C8B-B14F-4D97-AF65-F5344CB8AC3E}">
        <p14:creationId xmlns:p14="http://schemas.microsoft.com/office/powerpoint/2010/main" val="326068897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9737" y="471386"/>
            <a:ext cx="8229600" cy="990600"/>
          </a:xfrm>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sp>
        <p:nvSpPr>
          <p:cNvPr id="12" name="Content Placeholder 11">
            <a:extLst>
              <a:ext uri="{FF2B5EF4-FFF2-40B4-BE49-F238E27FC236}">
                <a16:creationId xmlns:a16="http://schemas.microsoft.com/office/drawing/2014/main" id="{41E4DBD0-412B-4E75-9E73-8749A49A606D}"/>
              </a:ext>
            </a:extLst>
          </p:cNvPr>
          <p:cNvSpPr>
            <a:spLocks noGrp="1"/>
          </p:cNvSpPr>
          <p:nvPr>
            <p:ph idx="1"/>
          </p:nvPr>
        </p:nvSpPr>
        <p:spPr>
          <a:xfrm>
            <a:off x="152401" y="1676400"/>
            <a:ext cx="8763000" cy="4214914"/>
          </a:xfrm>
        </p:spPr>
        <p:txBody>
          <a:bodyPr>
            <a:noAutofit/>
          </a:bodyPr>
          <a:lstStyle/>
          <a:p>
            <a:r>
              <a:rPr lang="en-US" sz="2000" dirty="0"/>
              <a:t>The function manages user interaction, accepting a user password to activate or deactivate the system, and allows inquiries on the status of security zones and various security sensors. </a:t>
            </a:r>
          </a:p>
          <a:p>
            <a:r>
              <a:rPr lang="en-US" sz="2000" dirty="0"/>
              <a:t>The function displays a series of prompting messages and sends appropriate control signals to various components of the security system.</a:t>
            </a:r>
          </a:p>
          <a:p>
            <a:pPr algn="l"/>
            <a:r>
              <a:rPr lang="en-US" sz="2000" dirty="0"/>
              <a:t>The data flow diagram is evaluated to determine a set of key information domain measures required for computation of the function point metric. </a:t>
            </a:r>
          </a:p>
          <a:p>
            <a:pPr lvl="1"/>
            <a:r>
              <a:rPr lang="en-US" b="0" i="0" u="none" strike="noStrike" baseline="0" dirty="0">
                <a:latin typeface="Leawood-Book"/>
              </a:rPr>
              <a:t>Three external inputs—</a:t>
            </a:r>
            <a:r>
              <a:rPr lang="en-US" b="1" i="0" u="none" strike="noStrike" baseline="0" dirty="0">
                <a:latin typeface="Leawood-Bold"/>
              </a:rPr>
              <a:t>password, panic button</a:t>
            </a:r>
            <a:r>
              <a:rPr lang="en-US" b="0" i="0" u="none" strike="noStrike" baseline="0" dirty="0">
                <a:latin typeface="Leawood-Book"/>
              </a:rPr>
              <a:t>, and </a:t>
            </a:r>
            <a:r>
              <a:rPr lang="en-US" b="1" i="0" u="none" strike="noStrike" baseline="0" dirty="0">
                <a:latin typeface="Leawood-Bold"/>
              </a:rPr>
              <a:t>activate/deactivate</a:t>
            </a:r>
            <a:r>
              <a:rPr lang="en-US" b="0" i="0" u="none" strike="noStrike" baseline="0" dirty="0">
                <a:latin typeface="Leawood-Book"/>
              </a:rPr>
              <a:t>—are shown in the figure along with </a:t>
            </a:r>
          </a:p>
          <a:p>
            <a:pPr lvl="1"/>
            <a:r>
              <a:rPr lang="en-US" b="0" i="0" u="none" strike="noStrike" baseline="0" dirty="0">
                <a:latin typeface="Leawood-Book"/>
              </a:rPr>
              <a:t>two external inquiries—</a:t>
            </a:r>
            <a:r>
              <a:rPr lang="en-US" b="1" i="0" u="none" strike="noStrike" baseline="0" dirty="0">
                <a:latin typeface="Leawood-Bold"/>
              </a:rPr>
              <a:t>zone inquiry </a:t>
            </a:r>
            <a:r>
              <a:rPr lang="en-US" b="0" i="0" u="none" strike="noStrike" baseline="0" dirty="0">
                <a:latin typeface="Leawood-Book"/>
              </a:rPr>
              <a:t>and </a:t>
            </a:r>
            <a:r>
              <a:rPr lang="en-US" b="1" i="0" u="none" strike="noStrike" baseline="0" dirty="0">
                <a:latin typeface="Leawood-Bold"/>
              </a:rPr>
              <a:t>sensor inquiry</a:t>
            </a:r>
            <a:r>
              <a:rPr lang="en-US" b="0" i="0" u="none" strike="noStrike" baseline="0" dirty="0">
                <a:latin typeface="Leawood-Book"/>
              </a:rPr>
              <a:t>. </a:t>
            </a:r>
          </a:p>
          <a:p>
            <a:pPr lvl="1"/>
            <a:r>
              <a:rPr lang="en-US" b="0" i="0" u="none" strike="noStrike" baseline="0" dirty="0">
                <a:latin typeface="Leawood-Book"/>
              </a:rPr>
              <a:t>One ILF (</a:t>
            </a:r>
            <a:r>
              <a:rPr lang="en-US" b="1" i="0" u="none" strike="noStrike" baseline="0" dirty="0">
                <a:latin typeface="Leawood-Bold"/>
              </a:rPr>
              <a:t>system configuration file</a:t>
            </a:r>
            <a:r>
              <a:rPr lang="en-US" b="0" i="0" u="none" strike="noStrike" baseline="0" dirty="0">
                <a:latin typeface="Leawood-Book"/>
              </a:rPr>
              <a:t>) is shown. </a:t>
            </a:r>
          </a:p>
          <a:p>
            <a:pPr lvl="1"/>
            <a:r>
              <a:rPr lang="en-US" b="0" i="0" u="none" strike="noStrike" baseline="0" dirty="0">
                <a:latin typeface="Leawood-Book"/>
              </a:rPr>
              <a:t>Two external outputs (</a:t>
            </a:r>
            <a:r>
              <a:rPr lang="en-US" b="1" i="0" u="none" strike="noStrike" baseline="0" dirty="0">
                <a:latin typeface="Leawood-Bold"/>
              </a:rPr>
              <a:t>messages </a:t>
            </a:r>
            <a:r>
              <a:rPr lang="en-US" b="0" i="0" u="none" strike="noStrike" baseline="0" dirty="0">
                <a:latin typeface="Leawood-Book"/>
              </a:rPr>
              <a:t>and </a:t>
            </a:r>
            <a:r>
              <a:rPr lang="en-US" b="1" i="0" u="none" strike="noStrike" baseline="0" dirty="0">
                <a:latin typeface="Leawood-Bold"/>
              </a:rPr>
              <a:t>sensor status</a:t>
            </a:r>
            <a:r>
              <a:rPr lang="en-US" b="0" i="0" u="none" strike="noStrike" baseline="0" dirty="0">
                <a:latin typeface="Leawood-Book"/>
              </a:rPr>
              <a:t>) and </a:t>
            </a:r>
          </a:p>
          <a:p>
            <a:pPr lvl="1"/>
            <a:r>
              <a:rPr lang="en-US" b="0" i="0" u="none" strike="noStrike" baseline="0" dirty="0">
                <a:latin typeface="Leawood-Book"/>
              </a:rPr>
              <a:t>four EIFs (</a:t>
            </a:r>
            <a:r>
              <a:rPr lang="en-US" b="1" i="0" u="none" strike="noStrike" baseline="0" dirty="0">
                <a:latin typeface="Leawood-Bold"/>
              </a:rPr>
              <a:t>test sensor, zone setting, activate/deactivate, </a:t>
            </a:r>
            <a:r>
              <a:rPr lang="en-US" b="0" i="0" u="none" strike="noStrike" baseline="0" dirty="0">
                <a:latin typeface="Leawood-Book"/>
              </a:rPr>
              <a:t>and </a:t>
            </a:r>
            <a:r>
              <a:rPr lang="en-US" b="1" i="0" u="none" strike="noStrike" baseline="0" dirty="0">
                <a:latin typeface="Leawood-Bold"/>
              </a:rPr>
              <a:t>alarm alert</a:t>
            </a:r>
            <a:r>
              <a:rPr lang="en-US" b="0" i="0" u="none" strike="noStrike" baseline="0" dirty="0">
                <a:latin typeface="Leawood-Book"/>
              </a:rPr>
              <a:t>) are also present. </a:t>
            </a:r>
          </a:p>
          <a:p>
            <a:pPr algn="l"/>
            <a:r>
              <a:rPr lang="en-US" sz="2000" dirty="0">
                <a:latin typeface="Leawood-Book"/>
              </a:rPr>
              <a:t>These data, along with the appropriate complexity, are shown in Figure 23.3.</a:t>
            </a:r>
            <a:endParaRPr lang="en-US" sz="2000" dirty="0"/>
          </a:p>
          <a:p>
            <a:endParaRPr lang="en-PK" sz="2000" dirty="0"/>
          </a:p>
        </p:txBody>
      </p:sp>
    </p:spTree>
    <p:extLst>
      <p:ext uri="{BB962C8B-B14F-4D97-AF65-F5344CB8AC3E}">
        <p14:creationId xmlns:p14="http://schemas.microsoft.com/office/powerpoint/2010/main" val="16346747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pic>
        <p:nvPicPr>
          <p:cNvPr id="10" name="Content Placeholder 9">
            <a:extLst>
              <a:ext uri="{FF2B5EF4-FFF2-40B4-BE49-F238E27FC236}">
                <a16:creationId xmlns:a16="http://schemas.microsoft.com/office/drawing/2014/main" id="{F3F8C295-3077-43D3-B4CB-5A081D439A97}"/>
              </a:ext>
            </a:extLst>
          </p:cNvPr>
          <p:cNvPicPr>
            <a:picLocks noGrp="1" noChangeAspect="1"/>
          </p:cNvPicPr>
          <p:nvPr>
            <p:ph idx="1"/>
          </p:nvPr>
        </p:nvPicPr>
        <p:blipFill>
          <a:blip r:embed="rId3"/>
          <a:stretch>
            <a:fillRect/>
          </a:stretch>
        </p:blipFill>
        <p:spPr>
          <a:xfrm>
            <a:off x="390727" y="2294510"/>
            <a:ext cx="8493799" cy="4182489"/>
          </a:xfrm>
        </p:spPr>
      </p:pic>
    </p:spTree>
    <p:extLst>
      <p:ext uri="{BB962C8B-B14F-4D97-AF65-F5344CB8AC3E}">
        <p14:creationId xmlns:p14="http://schemas.microsoft.com/office/powerpoint/2010/main" val="199630746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04800" y="361949"/>
            <a:ext cx="8534400" cy="990600"/>
          </a:xfrm>
        </p:spPr>
        <p:txBody>
          <a:bodyPr>
            <a:noAutofit/>
          </a:bodyPr>
          <a:lstStyle/>
          <a:p>
            <a:r>
              <a:rPr lang="en-GB" sz="3600" dirty="0"/>
              <a:t>Function Based metrics</a:t>
            </a:r>
            <a:br>
              <a:rPr lang="en-GB" sz="3600" dirty="0"/>
            </a:br>
            <a:r>
              <a:rPr lang="en-GB" sz="3600" dirty="0"/>
              <a:t>Example: </a:t>
            </a:r>
            <a:r>
              <a:rPr lang="en-GB" sz="3600" dirty="0" err="1"/>
              <a:t>SafeHoME</a:t>
            </a:r>
            <a:r>
              <a:rPr lang="en-GB" sz="3600" dirty="0"/>
              <a:t> Software</a:t>
            </a:r>
          </a:p>
        </p:txBody>
      </p:sp>
      <p:sp>
        <p:nvSpPr>
          <p:cNvPr id="12" name="Content Placeholder 11">
            <a:extLst>
              <a:ext uri="{FF2B5EF4-FFF2-40B4-BE49-F238E27FC236}">
                <a16:creationId xmlns:a16="http://schemas.microsoft.com/office/drawing/2014/main" id="{41E4DBD0-412B-4E75-9E73-8749A49A606D}"/>
              </a:ext>
            </a:extLst>
          </p:cNvPr>
          <p:cNvSpPr>
            <a:spLocks noGrp="1"/>
          </p:cNvSpPr>
          <p:nvPr>
            <p:ph idx="1"/>
          </p:nvPr>
        </p:nvSpPr>
        <p:spPr>
          <a:xfrm>
            <a:off x="315311" y="1447800"/>
            <a:ext cx="8828689" cy="4552951"/>
          </a:xfrm>
        </p:spPr>
        <p:txBody>
          <a:bodyPr>
            <a:noAutofit/>
          </a:bodyPr>
          <a:lstStyle/>
          <a:p>
            <a:r>
              <a:rPr lang="en-US" sz="1800" dirty="0"/>
              <a:t>The count total shown in Figure 23.3 must be adjusted using Equation (23.1). </a:t>
            </a:r>
          </a:p>
          <a:p>
            <a:r>
              <a:rPr lang="en-US" sz="1800" dirty="0"/>
              <a:t>For the purposes of this example, we assume that ∑(</a:t>
            </a:r>
            <a:r>
              <a:rPr lang="en-US" sz="1800" i="1" dirty="0"/>
              <a:t>Fi</a:t>
            </a:r>
            <a:r>
              <a:rPr lang="en-US" sz="1800" dirty="0"/>
              <a:t>) is 46 (a moderately complex product). Therefore,</a:t>
            </a:r>
          </a:p>
          <a:p>
            <a:pPr marL="0" indent="0" algn="ctr">
              <a:buNone/>
            </a:pPr>
            <a:r>
              <a:rPr lang="en-US" sz="1800" dirty="0"/>
              <a:t>FP = 50 x [0.65 + (0.01 x 46)] = 56</a:t>
            </a:r>
          </a:p>
          <a:p>
            <a:r>
              <a:rPr lang="en-US" sz="1800" dirty="0"/>
              <a:t>Based on the projected FP value derived from the requirements model, the project team can estimate the overall implemented size of the </a:t>
            </a:r>
            <a:r>
              <a:rPr lang="en-US" sz="1800" dirty="0" err="1"/>
              <a:t>SafeHome</a:t>
            </a:r>
            <a:r>
              <a:rPr lang="en-US" sz="1800" dirty="0"/>
              <a:t> user interaction function.</a:t>
            </a:r>
          </a:p>
          <a:p>
            <a:r>
              <a:rPr lang="en-US" sz="1800" dirty="0"/>
              <a:t>Assume that past data indicates that one FP translates into 60 lines of code (an object-oriented language is to be used) and that 12 FPs are produced for each person-month of effort. </a:t>
            </a:r>
          </a:p>
          <a:p>
            <a:r>
              <a:rPr lang="en-US" sz="1800" dirty="0"/>
              <a:t>These historical data provide the project manager with important planning information that is based on the requirements model rather than preliminary estimates.</a:t>
            </a:r>
          </a:p>
          <a:p>
            <a:r>
              <a:rPr lang="en-US" sz="1800" dirty="0"/>
              <a:t>Assume further that past projects have found an average of three errors per function point during requirements and design reviews and four errors per function point during unit and integration testing. </a:t>
            </a:r>
          </a:p>
          <a:p>
            <a:r>
              <a:rPr lang="en-US" sz="1800" dirty="0"/>
              <a:t>These data can ultimately help you assess the completeness of your review and testing activities.</a:t>
            </a:r>
            <a:endParaRPr lang="en-PK" sz="1800" dirty="0"/>
          </a:p>
        </p:txBody>
      </p:sp>
    </p:spTree>
    <p:extLst>
      <p:ext uri="{BB962C8B-B14F-4D97-AF65-F5344CB8AC3E}">
        <p14:creationId xmlns:p14="http://schemas.microsoft.com/office/powerpoint/2010/main" val="4048109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err="1"/>
              <a:t>Cocomo</a:t>
            </a:r>
            <a:r>
              <a:rPr lang="en-GB" dirty="0"/>
              <a:t> Model</a:t>
            </a:r>
          </a:p>
        </p:txBody>
      </p:sp>
      <p:sp>
        <p:nvSpPr>
          <p:cNvPr id="6147" name="Rectangle 3"/>
          <p:cNvSpPr>
            <a:spLocks noGrp="1" noChangeArrowheads="1"/>
          </p:cNvSpPr>
          <p:nvPr>
            <p:ph idx="1"/>
          </p:nvPr>
        </p:nvSpPr>
        <p:spPr/>
        <p:txBody>
          <a:bodyPr>
            <a:normAutofit/>
          </a:bodyPr>
          <a:lstStyle/>
          <a:p>
            <a:pPr>
              <a:lnSpc>
                <a:spcPct val="100000"/>
              </a:lnSpc>
            </a:pPr>
            <a:r>
              <a:rPr lang="en-US" sz="2700" dirty="0"/>
              <a:t>In his classic book on “software engineering economics,” Barry Boehm [Boe81] introduced a hierarchy of software estimation models bearing the name COCOMO</a:t>
            </a:r>
          </a:p>
          <a:p>
            <a:pPr lvl="1">
              <a:lnSpc>
                <a:spcPct val="100000"/>
              </a:lnSpc>
            </a:pPr>
            <a:r>
              <a:rPr lang="en-US" sz="2700" dirty="0" err="1"/>
              <a:t>COnstructive</a:t>
            </a:r>
            <a:r>
              <a:rPr lang="en-US" sz="2700" dirty="0"/>
              <a:t> </a:t>
            </a:r>
            <a:r>
              <a:rPr lang="en-US" sz="2700" dirty="0" err="1"/>
              <a:t>COst</a:t>
            </a:r>
            <a:r>
              <a:rPr lang="en-US" sz="2700" dirty="0"/>
              <a:t> </a:t>
            </a:r>
            <a:r>
              <a:rPr lang="en-US" sz="2700" dirty="0" err="1"/>
              <a:t>MOdel</a:t>
            </a:r>
            <a:r>
              <a:rPr lang="en-US" sz="2700" dirty="0"/>
              <a:t>. </a:t>
            </a:r>
          </a:p>
          <a:p>
            <a:pPr>
              <a:lnSpc>
                <a:spcPct val="100000"/>
              </a:lnSpc>
            </a:pPr>
            <a:r>
              <a:rPr lang="en-US" sz="2700" dirty="0"/>
              <a:t>The original COCOMO model became one of the most widely used and discussed software cost estimation models in the industry. </a:t>
            </a:r>
          </a:p>
          <a:p>
            <a:pPr>
              <a:lnSpc>
                <a:spcPct val="100000"/>
              </a:lnSpc>
            </a:pPr>
            <a:r>
              <a:rPr lang="en-US" sz="2700" dirty="0"/>
              <a:t>It has evolved into a more comprehensive estimation model, called COCOMOII [Boe00].</a:t>
            </a:r>
            <a:endParaRPr lang="en-GB" sz="2700" dirty="0"/>
          </a:p>
        </p:txBody>
      </p:sp>
    </p:spTree>
    <p:extLst>
      <p:ext uri="{BB962C8B-B14F-4D97-AF65-F5344CB8AC3E}">
        <p14:creationId xmlns:p14="http://schemas.microsoft.com/office/powerpoint/2010/main" val="41320528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fade">
                                      <p:cBhvr>
                                        <p:cTn id="10" dur="500"/>
                                        <p:tgtEl>
                                          <p:spTgt spid="614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animEffect transition="in" filter="fade">
                                      <p:cBhvr>
                                        <p:cTn id="15" dur="500"/>
                                        <p:tgtEl>
                                          <p:spTgt spid="61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147">
                                            <p:txEl>
                                              <p:pRg st="3" end="3"/>
                                            </p:txEl>
                                          </p:spTgt>
                                        </p:tgtEl>
                                        <p:attrNameLst>
                                          <p:attrName>style.visibility</p:attrName>
                                        </p:attrNameLst>
                                      </p:cBhvr>
                                      <p:to>
                                        <p:strVal val="visible"/>
                                      </p:to>
                                    </p:set>
                                    <p:animEffect transition="in" filter="fade">
                                      <p:cBhvr>
                                        <p:cTn id="20" dur="500"/>
                                        <p:tgtEl>
                                          <p:spTgt spid="6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7210-1E87-9A88-DED9-71F8B81E823F}"/>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420ECC2A-9F2D-45F1-584E-1C775DA193FC}"/>
              </a:ext>
            </a:extLst>
          </p:cNvPr>
          <p:cNvSpPr>
            <a:spLocks noGrp="1" noChangeArrowheads="1"/>
          </p:cNvSpPr>
          <p:nvPr>
            <p:ph type="title"/>
          </p:nvPr>
        </p:nvSpPr>
        <p:spPr>
          <a:xfrm>
            <a:off x="457200" y="381000"/>
            <a:ext cx="8229600" cy="685800"/>
          </a:xfrm>
        </p:spPr>
        <p:txBody>
          <a:bodyPr>
            <a:normAutofit fontScale="90000"/>
          </a:bodyPr>
          <a:lstStyle/>
          <a:p>
            <a:r>
              <a:rPr lang="en-GB" dirty="0" err="1"/>
              <a:t>Cocomo</a:t>
            </a:r>
            <a:r>
              <a:rPr lang="en-GB" dirty="0"/>
              <a:t> Model</a:t>
            </a:r>
          </a:p>
        </p:txBody>
      </p:sp>
      <p:sp>
        <p:nvSpPr>
          <p:cNvPr id="6147" name="Rectangle 3">
            <a:extLst>
              <a:ext uri="{FF2B5EF4-FFF2-40B4-BE49-F238E27FC236}">
                <a16:creationId xmlns:a16="http://schemas.microsoft.com/office/drawing/2014/main" id="{57339193-5606-A67D-CAC9-59513EC7261B}"/>
              </a:ext>
            </a:extLst>
          </p:cNvPr>
          <p:cNvSpPr>
            <a:spLocks noGrp="1" noChangeArrowheads="1"/>
          </p:cNvSpPr>
          <p:nvPr>
            <p:ph idx="1"/>
          </p:nvPr>
        </p:nvSpPr>
        <p:spPr>
          <a:xfrm>
            <a:off x="457200" y="1066800"/>
            <a:ext cx="8534400" cy="5791200"/>
          </a:xfrm>
        </p:spPr>
        <p:txBody>
          <a:bodyPr>
            <a:normAutofit fontScale="92500"/>
          </a:bodyPr>
          <a:lstStyle/>
          <a:p>
            <a:r>
              <a:rPr lang="en-US" sz="2700" dirty="0">
                <a:latin typeface="TimesNewRomanPSMT"/>
              </a:rPr>
              <a:t>COCOMO applies to three classes of software projects:</a:t>
            </a:r>
          </a:p>
          <a:p>
            <a:pPr marL="0" indent="0">
              <a:buNone/>
            </a:pPr>
            <a:r>
              <a:rPr lang="en-US" sz="2700" dirty="0">
                <a:latin typeface="TimesNewRomanPSMT"/>
              </a:rPr>
              <a:t>1. </a:t>
            </a:r>
            <a:r>
              <a:rPr lang="en-US" sz="2700" b="1" dirty="0">
                <a:latin typeface="TimesNewRomanPS-BoldMT"/>
              </a:rPr>
              <a:t>Organic projects </a:t>
            </a:r>
            <a:r>
              <a:rPr lang="en-US" sz="2700" dirty="0">
                <a:latin typeface="TimesNewRomanPSMT"/>
              </a:rPr>
              <a:t>- "small" teams with "good" experience working with "less than rigid“ requirements</a:t>
            </a:r>
          </a:p>
          <a:p>
            <a:pPr marL="0" indent="0">
              <a:buNone/>
            </a:pPr>
            <a:r>
              <a:rPr lang="en-US" sz="2700" dirty="0">
                <a:latin typeface="TimesNewRomanPSMT"/>
              </a:rPr>
              <a:t>2. </a:t>
            </a:r>
            <a:r>
              <a:rPr lang="en-US" sz="2700" b="1" dirty="0">
                <a:latin typeface="TimesNewRomanPS-BoldMT"/>
              </a:rPr>
              <a:t>Semi-detached projects </a:t>
            </a:r>
            <a:r>
              <a:rPr lang="en-US" sz="2700" dirty="0">
                <a:latin typeface="TimesNewRomanPSMT"/>
              </a:rPr>
              <a:t>- "medium" teams with mixed experience working with a mix of rigid and less than rigid requirements</a:t>
            </a:r>
          </a:p>
          <a:p>
            <a:pPr marL="0" indent="0">
              <a:buNone/>
            </a:pPr>
            <a:r>
              <a:rPr lang="en-US" sz="2700" dirty="0">
                <a:latin typeface="TimesNewRomanPSMT"/>
              </a:rPr>
              <a:t>3. </a:t>
            </a:r>
            <a:r>
              <a:rPr lang="en-US" sz="2700" b="1" dirty="0">
                <a:latin typeface="TimesNewRomanPS-BoldMT"/>
              </a:rPr>
              <a:t>Embedded projects </a:t>
            </a:r>
            <a:r>
              <a:rPr lang="en-US" sz="2700" dirty="0">
                <a:latin typeface="TimesNewRomanPSMT"/>
              </a:rPr>
              <a:t>- developed within a set of "tight" constraints (hardware, software, operational, ......)</a:t>
            </a:r>
          </a:p>
          <a:p>
            <a:r>
              <a:rPr lang="en-US" sz="2700" dirty="0">
                <a:latin typeface="TimesNewRomanPSMT"/>
              </a:rPr>
              <a:t>The basic COCOMO equations take the form</a:t>
            </a:r>
          </a:p>
          <a:p>
            <a:pPr lvl="1"/>
            <a:r>
              <a:rPr lang="en-US" sz="2700" b="1" dirty="0">
                <a:latin typeface="TimesNewRomanPS-BoldMT"/>
              </a:rPr>
              <a:t>Effort Applied (E) </a:t>
            </a:r>
            <a:r>
              <a:rPr lang="en-US" sz="2700" dirty="0">
                <a:latin typeface="TimesNewRomanPSMT"/>
              </a:rPr>
              <a:t>= a</a:t>
            </a:r>
            <a:r>
              <a:rPr lang="en-US" sz="2700" baseline="-25000" dirty="0">
                <a:latin typeface="TimesNewRomanPSMT"/>
              </a:rPr>
              <a:t>b</a:t>
            </a:r>
            <a:r>
              <a:rPr lang="en-US" sz="2700" dirty="0">
                <a:latin typeface="TimesNewRomanPSMT"/>
              </a:rPr>
              <a:t>(KLOC)</a:t>
            </a:r>
            <a:r>
              <a:rPr lang="en-US" sz="2700" baseline="30000" dirty="0">
                <a:latin typeface="TimesNewRomanPSMT"/>
              </a:rPr>
              <a:t>b</a:t>
            </a:r>
            <a:r>
              <a:rPr lang="en-US" sz="2700" baseline="15000" dirty="0">
                <a:latin typeface="TimesNewRomanPSMT"/>
              </a:rPr>
              <a:t>b</a:t>
            </a:r>
            <a:r>
              <a:rPr lang="en-US" sz="2700" dirty="0">
                <a:latin typeface="TimesNewRomanPSMT"/>
              </a:rPr>
              <a:t> </a:t>
            </a:r>
            <a:r>
              <a:rPr lang="en-US" sz="2700" b="1" dirty="0">
                <a:latin typeface="TimesNewRomanPS-BoldMT"/>
              </a:rPr>
              <a:t>[ man-months ]</a:t>
            </a:r>
          </a:p>
          <a:p>
            <a:pPr lvl="1"/>
            <a:r>
              <a:rPr lang="en-US" sz="2700" b="1" dirty="0">
                <a:latin typeface="TimesNewRomanPS-BoldMT"/>
              </a:rPr>
              <a:t>Development Time (TDEV) </a:t>
            </a:r>
            <a:r>
              <a:rPr lang="en-US" sz="2700" dirty="0">
                <a:latin typeface="TimesNewRomanPSMT"/>
              </a:rPr>
              <a:t>= </a:t>
            </a:r>
            <a:r>
              <a:rPr lang="en-US" sz="2700" dirty="0" err="1">
                <a:latin typeface="TimesNewRomanPSMT"/>
              </a:rPr>
              <a:t>c</a:t>
            </a:r>
            <a:r>
              <a:rPr lang="en-US" sz="2700" baseline="-25000" dirty="0" err="1">
                <a:latin typeface="TimesNewRomanPSMT"/>
              </a:rPr>
              <a:t>b</a:t>
            </a:r>
            <a:r>
              <a:rPr lang="en-US" sz="2700" dirty="0">
                <a:latin typeface="TimesNewRomanPSMT"/>
              </a:rPr>
              <a:t>(Effort Applied)</a:t>
            </a:r>
            <a:r>
              <a:rPr lang="en-US" sz="2700" baseline="30000" dirty="0" err="1">
                <a:latin typeface="TimesNewRomanPSMT"/>
              </a:rPr>
              <a:t>d</a:t>
            </a:r>
            <a:r>
              <a:rPr lang="en-US" sz="2700" baseline="15000" dirty="0" err="1">
                <a:latin typeface="TimesNewRomanPSMT"/>
              </a:rPr>
              <a:t>b</a:t>
            </a:r>
            <a:r>
              <a:rPr lang="en-US" sz="2700" dirty="0">
                <a:latin typeface="TimesNewRomanPSMT"/>
              </a:rPr>
              <a:t> </a:t>
            </a:r>
            <a:r>
              <a:rPr lang="en-US" sz="2700" b="1" dirty="0">
                <a:latin typeface="TimesNewRomanPS-BoldMT"/>
              </a:rPr>
              <a:t>[months]</a:t>
            </a:r>
          </a:p>
          <a:p>
            <a:pPr lvl="1"/>
            <a:r>
              <a:rPr lang="en-US" sz="2700" b="1" dirty="0">
                <a:latin typeface="TimesNewRomanPS-BoldMT"/>
              </a:rPr>
              <a:t>People required (P) </a:t>
            </a:r>
            <a:r>
              <a:rPr lang="en-US" sz="2700" dirty="0">
                <a:latin typeface="TimesNewRomanPSMT"/>
              </a:rPr>
              <a:t>= Effort Applied / Development Time </a:t>
            </a:r>
            <a:r>
              <a:rPr lang="en-US" sz="2700" b="1" dirty="0">
                <a:latin typeface="TimesNewRomanPS-BoldMT"/>
              </a:rPr>
              <a:t>[count]</a:t>
            </a:r>
          </a:p>
        </p:txBody>
      </p:sp>
    </p:spTree>
    <p:extLst>
      <p:ext uri="{BB962C8B-B14F-4D97-AF65-F5344CB8AC3E}">
        <p14:creationId xmlns:p14="http://schemas.microsoft.com/office/powerpoint/2010/main" val="9706249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500"/>
                                        <p:tgtEl>
                                          <p:spTgt spid="6147">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47">
                                            <p:txEl>
                                              <p:pRg st="5" end="5"/>
                                            </p:txEl>
                                          </p:spTgt>
                                        </p:tgtEl>
                                        <p:attrNameLst>
                                          <p:attrName>style.visibility</p:attrName>
                                        </p:attrNameLst>
                                      </p:cBhvr>
                                      <p:to>
                                        <p:strVal val="visible"/>
                                      </p:to>
                                    </p:set>
                                    <p:animEffect transition="in" filter="fade">
                                      <p:cBhvr>
                                        <p:cTn id="30" dur="500"/>
                                        <p:tgtEl>
                                          <p:spTgt spid="6147">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47">
                                            <p:txEl>
                                              <p:pRg st="6" end="6"/>
                                            </p:txEl>
                                          </p:spTgt>
                                        </p:tgtEl>
                                        <p:attrNameLst>
                                          <p:attrName>style.visibility</p:attrName>
                                        </p:attrNameLst>
                                      </p:cBhvr>
                                      <p:to>
                                        <p:strVal val="visible"/>
                                      </p:to>
                                    </p:set>
                                    <p:animEffect transition="in" filter="fade">
                                      <p:cBhvr>
                                        <p:cTn id="33" dur="500"/>
                                        <p:tgtEl>
                                          <p:spTgt spid="6147">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47">
                                            <p:txEl>
                                              <p:pRg st="7" end="7"/>
                                            </p:txEl>
                                          </p:spTgt>
                                        </p:tgtEl>
                                        <p:attrNameLst>
                                          <p:attrName>style.visibility</p:attrName>
                                        </p:attrNameLst>
                                      </p:cBhvr>
                                      <p:to>
                                        <p:strVal val="visible"/>
                                      </p:to>
                                    </p:set>
                                    <p:animEffect transition="in" filter="fade">
                                      <p:cBhvr>
                                        <p:cTn id="36" dur="5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51029" y="1828800"/>
            <a:ext cx="7338060" cy="3650672"/>
          </a:xfrm>
        </p:spPr>
        <p:txBody>
          <a:bodyPr>
            <a:normAutofit/>
          </a:bodyPr>
          <a:lstStyle/>
          <a:p>
            <a:pPr algn="l"/>
            <a:r>
              <a:rPr lang="en-GB" sz="1800" dirty="0"/>
              <a:t>Another approach that can be adopted using Basic COCOMO is to convert it to Function Point based.</a:t>
            </a:r>
          </a:p>
          <a:p>
            <a:pPr algn="l"/>
            <a:r>
              <a:rPr lang="en-GB" sz="1800" dirty="0"/>
              <a:t>Using following Steps:</a:t>
            </a:r>
          </a:p>
          <a:p>
            <a:pPr algn="l"/>
            <a:endParaRPr lang="en-GB" sz="1800" dirty="0"/>
          </a:p>
          <a:p>
            <a:pPr marL="514350" lvl="1" indent="-342900">
              <a:buFont typeface="+mj-lt"/>
              <a:buAutoNum type="arabicPeriod"/>
            </a:pPr>
            <a:r>
              <a:rPr lang="en-GB" sz="1650" dirty="0"/>
              <a:t>Compute Count total by </a:t>
            </a:r>
          </a:p>
          <a:p>
            <a:pPr marL="171450" lvl="1" indent="0">
              <a:buNone/>
            </a:pPr>
            <a:r>
              <a:rPr lang="en-GB" sz="1650" dirty="0"/>
              <a:t>any one of the methods based on</a:t>
            </a:r>
          </a:p>
          <a:p>
            <a:pPr marL="171450" lvl="1" indent="0">
              <a:buNone/>
            </a:pPr>
            <a:r>
              <a:rPr lang="en-GB" sz="1650" dirty="0"/>
              <a:t>the given data.</a:t>
            </a:r>
          </a:p>
          <a:p>
            <a:pPr marL="171450" lvl="1" indent="0">
              <a:buNone/>
            </a:pPr>
            <a:endParaRPr lang="en-GB" sz="1650" dirty="0"/>
          </a:p>
        </p:txBody>
      </p:sp>
      <p:pic>
        <p:nvPicPr>
          <p:cNvPr id="4" name="Content Placeholder 2">
            <a:extLst>
              <a:ext uri="{FF2B5EF4-FFF2-40B4-BE49-F238E27FC236}">
                <a16:creationId xmlns:a16="http://schemas.microsoft.com/office/drawing/2014/main" id="{D9A2260C-25AB-42EF-A004-2800EFB45598}"/>
              </a:ext>
            </a:extLst>
          </p:cNvPr>
          <p:cNvPicPr>
            <a:picLocks noChangeAspect="1"/>
          </p:cNvPicPr>
          <p:nvPr/>
        </p:nvPicPr>
        <p:blipFill>
          <a:blip r:embed="rId3"/>
          <a:stretch>
            <a:fillRect/>
          </a:stretch>
        </p:blipFill>
        <p:spPr>
          <a:xfrm>
            <a:off x="4104798" y="2575758"/>
            <a:ext cx="4831837" cy="1628371"/>
          </a:xfrm>
          <a:prstGeom prst="rect">
            <a:avLst/>
          </a:prstGeom>
        </p:spPr>
      </p:pic>
    </p:spTree>
    <p:extLst>
      <p:ext uri="{BB962C8B-B14F-4D97-AF65-F5344CB8AC3E}">
        <p14:creationId xmlns:p14="http://schemas.microsoft.com/office/powerpoint/2010/main" val="39540641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fade">
                                      <p:cBhvr>
                                        <p:cTn id="10" dur="500"/>
                                        <p:tgtEl>
                                          <p:spTgt spid="614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animEffect transition="in" filter="fade">
                                      <p:cBhvr>
                                        <p:cTn id="13" dur="500"/>
                                        <p:tgtEl>
                                          <p:spTgt spid="614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47">
                                            <p:txEl>
                                              <p:pRg st="4" end="4"/>
                                            </p:txEl>
                                          </p:spTgt>
                                        </p:tgtEl>
                                        <p:attrNameLst>
                                          <p:attrName>style.visibility</p:attrName>
                                        </p:attrNameLst>
                                      </p:cBhvr>
                                      <p:to>
                                        <p:strVal val="visible"/>
                                      </p:to>
                                    </p:set>
                                    <p:animEffect transition="in" filter="fade">
                                      <p:cBhvr>
                                        <p:cTn id="16" dur="500"/>
                                        <p:tgtEl>
                                          <p:spTgt spid="6147">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animEffect transition="in" filter="fade">
                                      <p:cBhvr>
                                        <p:cTn id="19" dur="500"/>
                                        <p:tgtEl>
                                          <p:spTgt spid="6147">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 y="533400"/>
            <a:ext cx="86106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228600" y="2263487"/>
            <a:ext cx="7338060" cy="3650672"/>
          </a:xfrm>
        </p:spPr>
        <p:txBody>
          <a:bodyPr>
            <a:normAutofit/>
          </a:bodyPr>
          <a:lstStyle/>
          <a:p>
            <a:pPr marL="514350" lvl="1" indent="-342900">
              <a:buFont typeface="+mj-lt"/>
              <a:buAutoNum type="arabicPeriod" startAt="2"/>
            </a:pPr>
            <a:r>
              <a:rPr lang="en-GB" sz="1650" dirty="0"/>
              <a:t>Compute Adjustment Values</a:t>
            </a:r>
          </a:p>
          <a:p>
            <a:pPr marL="514350" lvl="1" indent="-342900">
              <a:buFont typeface="+mj-lt"/>
              <a:buAutoNum type="arabicPeriod" startAt="2"/>
            </a:pPr>
            <a:endParaRPr lang="en-GB" sz="1650" dirty="0"/>
          </a:p>
        </p:txBody>
      </p:sp>
      <p:pic>
        <p:nvPicPr>
          <p:cNvPr id="4" name="Picture 3">
            <a:extLst>
              <a:ext uri="{FF2B5EF4-FFF2-40B4-BE49-F238E27FC236}">
                <a16:creationId xmlns:a16="http://schemas.microsoft.com/office/drawing/2014/main" id="{17C28CC3-A5AA-4F73-9645-34C1D608F394}"/>
              </a:ext>
            </a:extLst>
          </p:cNvPr>
          <p:cNvPicPr>
            <a:picLocks noChangeAspect="1"/>
          </p:cNvPicPr>
          <p:nvPr/>
        </p:nvPicPr>
        <p:blipFill rotWithShape="1">
          <a:blip r:embed="rId3"/>
          <a:srcRect r="36138"/>
          <a:stretch/>
        </p:blipFill>
        <p:spPr>
          <a:xfrm>
            <a:off x="4571220" y="2279809"/>
            <a:ext cx="3831596" cy="3634350"/>
          </a:xfrm>
          <a:prstGeom prst="rect">
            <a:avLst/>
          </a:prstGeom>
        </p:spPr>
      </p:pic>
    </p:spTree>
    <p:extLst>
      <p:ext uri="{BB962C8B-B14F-4D97-AF65-F5344CB8AC3E}">
        <p14:creationId xmlns:p14="http://schemas.microsoft.com/office/powerpoint/2010/main" val="16930610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457200" y="2240974"/>
            <a:ext cx="3669811" cy="3650672"/>
          </a:xfrm>
        </p:spPr>
        <p:txBody>
          <a:bodyPr>
            <a:normAutofit/>
          </a:bodyPr>
          <a:lstStyle/>
          <a:p>
            <a:pPr marL="514350" lvl="1" indent="-342900">
              <a:buFont typeface="+mj-lt"/>
              <a:buAutoNum type="arabicPeriod" startAt="3"/>
            </a:pPr>
            <a:r>
              <a:rPr lang="en-GB" sz="1650" dirty="0"/>
              <a:t>Compute FP</a:t>
            </a:r>
          </a:p>
          <a:p>
            <a:pPr marL="171450" lvl="1" indent="0">
              <a:buNone/>
            </a:pPr>
            <a:endParaRPr lang="en-GB" sz="1650" dirty="0"/>
          </a:p>
          <a:p>
            <a:pPr marL="171450" lvl="1" indent="0" algn="ctr">
              <a:buNone/>
            </a:pPr>
            <a:r>
              <a:rPr lang="en-US" sz="1500" dirty="0" err="1"/>
              <a:t>FP</a:t>
            </a:r>
            <a:r>
              <a:rPr lang="en-US" sz="1500" baseline="-25000" dirty="0" err="1"/>
              <a:t>est</a:t>
            </a:r>
            <a:r>
              <a:rPr lang="en-US" sz="1500" dirty="0"/>
              <a:t> = count total x [0.65 + 0.01 x ∑(Fi)]</a:t>
            </a:r>
            <a:endParaRPr lang="en-GB" sz="1650" dirty="0"/>
          </a:p>
          <a:p>
            <a:pPr marL="514350" lvl="1" indent="-342900">
              <a:buFont typeface="+mj-lt"/>
              <a:buAutoNum type="arabicPeriod" startAt="2"/>
            </a:pPr>
            <a:endParaRPr lang="en-GB" sz="1650" dirty="0"/>
          </a:p>
          <a:p>
            <a:pPr marL="514350" lvl="1" indent="-342900">
              <a:buFont typeface="+mj-lt"/>
              <a:buAutoNum type="arabicPeriod" startAt="2"/>
            </a:pPr>
            <a:endParaRPr lang="en-GB" sz="1650" dirty="0"/>
          </a:p>
          <a:p>
            <a:pPr marL="514350" lvl="1" indent="-342900">
              <a:buFont typeface="+mj-lt"/>
              <a:buAutoNum type="arabicPeriod" startAt="4"/>
            </a:pPr>
            <a:r>
              <a:rPr lang="en-GB" sz="1650" dirty="0"/>
              <a:t>Choose a programming language for calculation of LOC per FP based on historical average no of lines for 01 FP. </a:t>
            </a:r>
          </a:p>
          <a:p>
            <a:pPr lvl="4"/>
            <a:r>
              <a:rPr lang="en-GB" sz="1350" dirty="0"/>
              <a:t>(</a:t>
            </a:r>
            <a:r>
              <a:rPr lang="en-GB" sz="1350" dirty="0" err="1"/>
              <a:t>LOC</a:t>
            </a:r>
            <a:r>
              <a:rPr lang="en-GB" sz="1350" baseline="-25000" dirty="0" err="1"/>
              <a:t>avg</a:t>
            </a:r>
            <a:r>
              <a:rPr lang="en-GB" sz="1350" dirty="0"/>
              <a:t> * FP)</a:t>
            </a:r>
          </a:p>
        </p:txBody>
      </p:sp>
      <p:pic>
        <p:nvPicPr>
          <p:cNvPr id="5" name="Content Placeholder 2">
            <a:extLst>
              <a:ext uri="{FF2B5EF4-FFF2-40B4-BE49-F238E27FC236}">
                <a16:creationId xmlns:a16="http://schemas.microsoft.com/office/drawing/2014/main" id="{D8538BF2-A283-4405-992B-CBDD19641271}"/>
              </a:ext>
            </a:extLst>
          </p:cNvPr>
          <p:cNvPicPr>
            <a:picLocks noChangeAspect="1"/>
          </p:cNvPicPr>
          <p:nvPr/>
        </p:nvPicPr>
        <p:blipFill rotWithShape="1">
          <a:blip r:embed="rId3"/>
          <a:srcRect b="42044"/>
          <a:stretch/>
        </p:blipFill>
        <p:spPr>
          <a:xfrm>
            <a:off x="5028351" y="2229551"/>
            <a:ext cx="4115649" cy="3718544"/>
          </a:xfrm>
          <a:prstGeom prst="rect">
            <a:avLst/>
          </a:prstGeom>
        </p:spPr>
      </p:pic>
    </p:spTree>
    <p:extLst>
      <p:ext uri="{BB962C8B-B14F-4D97-AF65-F5344CB8AC3E}">
        <p14:creationId xmlns:p14="http://schemas.microsoft.com/office/powerpoint/2010/main" val="11712419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2" end="2"/>
                                            </p:txEl>
                                          </p:spTgt>
                                        </p:tgtEl>
                                        <p:attrNameLst>
                                          <p:attrName>style.visibility</p:attrName>
                                        </p:attrNameLst>
                                      </p:cBhvr>
                                      <p:to>
                                        <p:strVal val="visible"/>
                                      </p:to>
                                    </p:set>
                                    <p:animEffect transition="in" filter="fade">
                                      <p:cBhvr>
                                        <p:cTn id="10" dur="500"/>
                                        <p:tgtEl>
                                          <p:spTgt spid="614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47">
                                            <p:txEl>
                                              <p:pRg st="5" end="5"/>
                                            </p:txEl>
                                          </p:spTgt>
                                        </p:tgtEl>
                                        <p:attrNameLst>
                                          <p:attrName>style.visibility</p:attrName>
                                        </p:attrNameLst>
                                      </p:cBhvr>
                                      <p:to>
                                        <p:strVal val="visible"/>
                                      </p:to>
                                    </p:set>
                                    <p:animEffect transition="in" filter="fade">
                                      <p:cBhvr>
                                        <p:cTn id="13" dur="500"/>
                                        <p:tgtEl>
                                          <p:spTgt spid="6147">
                                            <p:txEl>
                                              <p:pRg st="5" end="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47">
                                            <p:txEl>
                                              <p:pRg st="6" end="6"/>
                                            </p:txEl>
                                          </p:spTgt>
                                        </p:tgtEl>
                                        <p:attrNameLst>
                                          <p:attrName>style.visibility</p:attrName>
                                        </p:attrNameLst>
                                      </p:cBhvr>
                                      <p:to>
                                        <p:strVal val="visible"/>
                                      </p:to>
                                    </p:set>
                                    <p:animEffect transition="in" filter="fade">
                                      <p:cBhvr>
                                        <p:cTn id="16" dur="500"/>
                                        <p:tgtEl>
                                          <p:spTgt spid="6147">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304800" y="1828800"/>
            <a:ext cx="7696200" cy="3803072"/>
          </a:xfrm>
        </p:spPr>
        <p:txBody>
          <a:bodyPr>
            <a:normAutofit/>
          </a:bodyPr>
          <a:lstStyle/>
          <a:p>
            <a:pPr marL="514350" lvl="1" indent="-342900">
              <a:buFont typeface="+mj-lt"/>
              <a:buAutoNum type="arabicPeriod" startAt="5"/>
            </a:pPr>
            <a:r>
              <a:rPr lang="en-GB" sz="1650" dirty="0"/>
              <a:t>Calculate  using Basic </a:t>
            </a:r>
            <a:r>
              <a:rPr lang="en-GB" sz="1650" dirty="0" err="1"/>
              <a:t>cocomo</a:t>
            </a:r>
            <a:r>
              <a:rPr lang="en-GB" sz="1650" dirty="0"/>
              <a:t> by using obtained LOC and selecting the class of software project</a:t>
            </a:r>
          </a:p>
          <a:p>
            <a:pPr marL="514350" lvl="1" indent="-342900">
              <a:buFont typeface="+mj-lt"/>
              <a:buAutoNum type="arabicPeriod" startAt="5"/>
            </a:pPr>
            <a:endParaRPr lang="en-GB" sz="1650" dirty="0"/>
          </a:p>
          <a:p>
            <a:pPr marL="514350" lvl="1" indent="-342900">
              <a:buFont typeface="+mj-lt"/>
              <a:buAutoNum type="arabicPeriod" startAt="5"/>
            </a:pPr>
            <a:endParaRPr lang="en-GB" sz="1650" dirty="0"/>
          </a:p>
        </p:txBody>
      </p:sp>
      <p:pic>
        <p:nvPicPr>
          <p:cNvPr id="5" name="Picture 4">
            <a:extLst>
              <a:ext uri="{FF2B5EF4-FFF2-40B4-BE49-F238E27FC236}">
                <a16:creationId xmlns:a16="http://schemas.microsoft.com/office/drawing/2014/main" id="{52872B33-9E7C-4E15-B268-96A3D15338F2}"/>
              </a:ext>
            </a:extLst>
          </p:cNvPr>
          <p:cNvPicPr>
            <a:picLocks noChangeAspect="1"/>
          </p:cNvPicPr>
          <p:nvPr/>
        </p:nvPicPr>
        <p:blipFill>
          <a:blip r:embed="rId3"/>
          <a:stretch>
            <a:fillRect/>
          </a:stretch>
        </p:blipFill>
        <p:spPr>
          <a:xfrm>
            <a:off x="2195067" y="2819363"/>
            <a:ext cx="4752305" cy="2538920"/>
          </a:xfrm>
          <a:prstGeom prst="rect">
            <a:avLst/>
          </a:prstGeom>
        </p:spPr>
      </p:pic>
    </p:spTree>
    <p:extLst>
      <p:ext uri="{BB962C8B-B14F-4D97-AF65-F5344CB8AC3E}">
        <p14:creationId xmlns:p14="http://schemas.microsoft.com/office/powerpoint/2010/main" val="296939920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3D960-04E4-8AF0-F755-24D8168CC4C8}"/>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BC955FE7-D8DC-7361-8761-1E4E43854A77}"/>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8BD64389-65B4-3A3B-DE13-FC277E174704}"/>
              </a:ext>
            </a:extLst>
          </p:cNvPr>
          <p:cNvSpPr>
            <a:spLocks noGrp="1" noChangeArrowheads="1"/>
          </p:cNvSpPr>
          <p:nvPr>
            <p:ph idx="1"/>
          </p:nvPr>
        </p:nvSpPr>
        <p:spPr>
          <a:xfrm>
            <a:off x="228600" y="1371600"/>
            <a:ext cx="8915400" cy="5486400"/>
          </a:xfrm>
        </p:spPr>
        <p:txBody>
          <a:bodyPr>
            <a:normAutofit/>
          </a:bodyPr>
          <a:lstStyle/>
          <a:p>
            <a:pPr marL="171450" lvl="1" indent="0">
              <a:buNone/>
            </a:pPr>
            <a:r>
              <a:rPr lang="en-US" sz="2400" b="1" dirty="0">
                <a:latin typeface="TimesNewRomanPS-BoldMT"/>
              </a:rPr>
              <a:t>Problem: </a:t>
            </a:r>
            <a:r>
              <a:rPr lang="en-US" sz="2400" dirty="0">
                <a:latin typeface="TimesNewRomanPSMT"/>
              </a:rPr>
              <a:t>A software (Free Online Pdf Converter), having an estimated average weighting factor. The software has EIs = 4, EOs=3, EQs=2, ILFs=2, EIFs=4. Supposing that the software is being developed with a set of tight constraints, calculate effort,  development time and average staffing using CoCoMo81.</a:t>
            </a:r>
          </a:p>
          <a:p>
            <a:pPr marL="171450" lvl="1" indent="0">
              <a:buNone/>
            </a:pPr>
            <a:endParaRPr lang="en-GB" sz="1650" dirty="0"/>
          </a:p>
          <a:p>
            <a:pPr marL="171450" lvl="1" indent="0">
              <a:buNone/>
            </a:pPr>
            <a:r>
              <a:rPr lang="en-US" b="1" dirty="0"/>
              <a:t>1. Calculate the Size in Function Points (FP)</a:t>
            </a:r>
            <a:endParaRPr lang="en-US" dirty="0"/>
          </a:p>
          <a:p>
            <a:pPr marL="0" indent="0">
              <a:buNone/>
            </a:pPr>
            <a:endParaRPr lang="en-US" dirty="0"/>
          </a:p>
          <a:p>
            <a:r>
              <a:rPr lang="en-US" i="1" dirty="0"/>
              <a:t>UFP</a:t>
            </a:r>
            <a:r>
              <a:rPr lang="en-US" dirty="0"/>
              <a:t>=(</a:t>
            </a:r>
            <a:r>
              <a:rPr lang="en-US" i="1" dirty="0"/>
              <a:t>EIs</a:t>
            </a:r>
            <a:r>
              <a:rPr lang="en-US" dirty="0"/>
              <a:t>×4)+(</a:t>
            </a:r>
            <a:r>
              <a:rPr lang="en-US" i="1" dirty="0"/>
              <a:t>EOs</a:t>
            </a:r>
            <a:r>
              <a:rPr lang="en-US" dirty="0"/>
              <a:t>×5)+(</a:t>
            </a:r>
            <a:r>
              <a:rPr lang="en-US" i="1" dirty="0"/>
              <a:t>EQs</a:t>
            </a:r>
            <a:r>
              <a:rPr lang="en-US" dirty="0"/>
              <a:t>×4)+(</a:t>
            </a:r>
            <a:r>
              <a:rPr lang="en-US" i="1" dirty="0"/>
              <a:t>ILFs</a:t>
            </a:r>
            <a:r>
              <a:rPr lang="en-US" dirty="0"/>
              <a:t>×10)+(</a:t>
            </a:r>
            <a:r>
              <a:rPr lang="en-US" i="1" dirty="0"/>
              <a:t>EIFs</a:t>
            </a:r>
            <a:r>
              <a:rPr lang="en-US" dirty="0"/>
              <a:t>×7)</a:t>
            </a:r>
          </a:p>
          <a:p>
            <a:r>
              <a:rPr lang="en-US" dirty="0"/>
              <a:t>UFP=(4×4)+(3×5)+(2×4)+(2×10)+(4×7)=16+15+8+20+28=87 FP</a:t>
            </a:r>
          </a:p>
          <a:p>
            <a:r>
              <a:rPr lang="en-US" dirty="0"/>
              <a:t>Assuming a typical </a:t>
            </a:r>
            <a:r>
              <a:rPr lang="en-US" b="1" dirty="0"/>
              <a:t>weighting factor (value adjustment factor)</a:t>
            </a:r>
            <a:r>
              <a:rPr lang="en-US" dirty="0"/>
              <a:t> of 1.0 (since none is provided), the </a:t>
            </a:r>
            <a:r>
              <a:rPr lang="en-US" b="1" dirty="0"/>
              <a:t>Adjusted Function Points (AFP)</a:t>
            </a:r>
            <a:r>
              <a:rPr lang="en-US" dirty="0"/>
              <a:t> = </a:t>
            </a:r>
            <a:r>
              <a:rPr lang="en-US" b="1" dirty="0"/>
              <a:t>87 FP</a:t>
            </a:r>
            <a:r>
              <a:rPr lang="en-US" dirty="0"/>
              <a:t>.</a:t>
            </a:r>
          </a:p>
        </p:txBody>
      </p:sp>
    </p:spTree>
    <p:extLst>
      <p:ext uri="{BB962C8B-B14F-4D97-AF65-F5344CB8AC3E}">
        <p14:creationId xmlns:p14="http://schemas.microsoft.com/office/powerpoint/2010/main" val="4024704983"/>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BF15C-58EE-3117-4AD3-61A22A5AACC2}"/>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87438D4E-E48F-AFE9-A280-F096F50AED69}"/>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C9542D00-ECCD-D980-1EAE-B2FE1B7BBB80}"/>
              </a:ext>
            </a:extLst>
          </p:cNvPr>
          <p:cNvSpPr>
            <a:spLocks noGrp="1" noChangeArrowheads="1"/>
          </p:cNvSpPr>
          <p:nvPr>
            <p:ph idx="1"/>
          </p:nvPr>
        </p:nvSpPr>
        <p:spPr>
          <a:xfrm>
            <a:off x="438614" y="1371600"/>
            <a:ext cx="8705385" cy="5715000"/>
          </a:xfrm>
        </p:spPr>
        <p:txBody>
          <a:bodyPr>
            <a:normAutofit fontScale="92500"/>
          </a:bodyPr>
          <a:lstStyle/>
          <a:p>
            <a:pPr marL="0" indent="0">
              <a:buNone/>
            </a:pPr>
            <a:r>
              <a:rPr lang="en-US" b="1" dirty="0"/>
              <a:t>2. Convert Function Points to Source Lines of Code (SLOC)</a:t>
            </a:r>
            <a:endParaRPr lang="en-US" dirty="0"/>
          </a:p>
          <a:p>
            <a:r>
              <a:rPr lang="en-US" dirty="0"/>
              <a:t>For a </a:t>
            </a:r>
            <a:r>
              <a:rPr lang="en-US" b="1" dirty="0"/>
              <a:t>high-level language like Java or C#</a:t>
            </a:r>
            <a:r>
              <a:rPr lang="en-US" dirty="0"/>
              <a:t>, we can use the conversion factor:</a:t>
            </a:r>
          </a:p>
          <a:p>
            <a:r>
              <a:rPr lang="en-US" dirty="0"/>
              <a:t>1 FP≈46 SLOC (for average complexity) </a:t>
            </a:r>
          </a:p>
          <a:p>
            <a:r>
              <a:rPr lang="en-US" dirty="0"/>
              <a:t>SLOC=87×46=4002 ≈ 4KLOC</a:t>
            </a:r>
          </a:p>
          <a:p>
            <a:pPr marL="0" indent="0">
              <a:buNone/>
            </a:pPr>
            <a:endParaRPr lang="en-US" b="1" dirty="0"/>
          </a:p>
          <a:p>
            <a:pPr marL="0" indent="0">
              <a:buNone/>
            </a:pPr>
            <a:r>
              <a:rPr lang="en-US" b="1" dirty="0"/>
              <a:t>3. Apply COCOMO 81 Effort Equation</a:t>
            </a:r>
            <a:endParaRPr lang="en-US" dirty="0"/>
          </a:p>
          <a:p>
            <a:r>
              <a:rPr lang="en-US" dirty="0"/>
              <a:t>For </a:t>
            </a:r>
            <a:r>
              <a:rPr lang="en-US" b="1" dirty="0"/>
              <a:t>Embedded Mode (small, simple projects with tight constraints)</a:t>
            </a:r>
            <a:r>
              <a:rPr lang="en-US" dirty="0"/>
              <a:t>, the coefficients are:</a:t>
            </a:r>
          </a:p>
          <a:p>
            <a:r>
              <a:rPr lang="en-US" dirty="0"/>
              <a:t>a=3.6 b=1.20</a:t>
            </a:r>
          </a:p>
          <a:p>
            <a:r>
              <a:rPr lang="en-US" dirty="0"/>
              <a:t>The </a:t>
            </a:r>
            <a:r>
              <a:rPr lang="en-US" b="1" dirty="0"/>
              <a:t>Effort (E)</a:t>
            </a:r>
            <a:r>
              <a:rPr lang="en-US" dirty="0"/>
              <a:t> in </a:t>
            </a:r>
            <a:r>
              <a:rPr lang="en-US" b="1" dirty="0"/>
              <a:t>Person-Months (PM)</a:t>
            </a:r>
            <a:r>
              <a:rPr lang="en-US" dirty="0"/>
              <a:t> is:</a:t>
            </a:r>
          </a:p>
          <a:p>
            <a:r>
              <a:rPr lang="en-US" dirty="0"/>
              <a:t>E=a×(KLOC)</a:t>
            </a:r>
            <a:r>
              <a:rPr lang="en-US" baseline="30000" dirty="0"/>
              <a:t>b </a:t>
            </a:r>
          </a:p>
          <a:p>
            <a:r>
              <a:rPr lang="en-US" dirty="0"/>
              <a:t>E=3.6×(4.0)</a:t>
            </a:r>
            <a:r>
              <a:rPr lang="en-US" baseline="30000" dirty="0"/>
              <a:t>1.20</a:t>
            </a:r>
            <a:r>
              <a:rPr lang="en-US" dirty="0"/>
              <a:t>=19 PM ( 19 person-months)</a:t>
            </a:r>
          </a:p>
          <a:p>
            <a:pPr marL="0" indent="0">
              <a:buNone/>
            </a:pPr>
            <a:r>
              <a:rPr lang="en-US" dirty="0"/>
              <a:t> </a:t>
            </a:r>
          </a:p>
        </p:txBody>
      </p:sp>
    </p:spTree>
    <p:extLst>
      <p:ext uri="{BB962C8B-B14F-4D97-AF65-F5344CB8AC3E}">
        <p14:creationId xmlns:p14="http://schemas.microsoft.com/office/powerpoint/2010/main" val="182651705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88929-972F-3019-86BC-F6F8561C59F8}"/>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5892E47D-79D2-A4C7-7EBA-69CFE338A227}"/>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7CC513D5-EF86-AE72-D2D2-8A6035645BD1}"/>
              </a:ext>
            </a:extLst>
          </p:cNvPr>
          <p:cNvSpPr>
            <a:spLocks noGrp="1" noChangeArrowheads="1"/>
          </p:cNvSpPr>
          <p:nvPr>
            <p:ph idx="1"/>
          </p:nvPr>
        </p:nvSpPr>
        <p:spPr>
          <a:xfrm>
            <a:off x="457198" y="1371600"/>
            <a:ext cx="8686801" cy="5715000"/>
          </a:xfrm>
        </p:spPr>
        <p:txBody>
          <a:bodyPr>
            <a:normAutofit/>
          </a:bodyPr>
          <a:lstStyle/>
          <a:p>
            <a:pPr marL="0" indent="0">
              <a:buNone/>
            </a:pPr>
            <a:r>
              <a:rPr lang="en-US" b="1" dirty="0"/>
              <a:t>4. Calculate Development Time (T)</a:t>
            </a:r>
            <a:endParaRPr lang="en-US" dirty="0"/>
          </a:p>
          <a:p>
            <a:r>
              <a:rPr lang="en-US" dirty="0"/>
              <a:t>For </a:t>
            </a:r>
            <a:r>
              <a:rPr lang="en-US" b="1" dirty="0"/>
              <a:t>Embedded Mode</a:t>
            </a:r>
            <a:r>
              <a:rPr lang="en-US" dirty="0"/>
              <a:t>, the coefficients are:</a:t>
            </a:r>
          </a:p>
          <a:p>
            <a:r>
              <a:rPr lang="en-US" dirty="0"/>
              <a:t>c=2.5 d=0.32</a:t>
            </a:r>
          </a:p>
          <a:p>
            <a:r>
              <a:rPr lang="en-US" dirty="0"/>
              <a:t>T=c×(E)</a:t>
            </a:r>
            <a:r>
              <a:rPr lang="en-US" baseline="60000" dirty="0"/>
              <a:t> </a:t>
            </a:r>
            <a:r>
              <a:rPr lang="en-US" baseline="30000" dirty="0"/>
              <a:t>T</a:t>
            </a:r>
            <a:r>
              <a:rPr lang="en-US" dirty="0"/>
              <a:t>=2.5×(19)</a:t>
            </a:r>
            <a:r>
              <a:rPr lang="en-US" baseline="78000" dirty="0"/>
              <a:t>0.32</a:t>
            </a:r>
            <a:r>
              <a:rPr lang="en-US" dirty="0"/>
              <a:t>=6.41 months ( 6.41 months)</a:t>
            </a:r>
          </a:p>
          <a:p>
            <a:pPr marL="0" indent="0">
              <a:buNone/>
            </a:pPr>
            <a:endParaRPr lang="en-US" dirty="0"/>
          </a:p>
          <a:p>
            <a:pPr marL="0" indent="0">
              <a:buNone/>
            </a:pPr>
            <a:r>
              <a:rPr lang="en-US" b="1" dirty="0"/>
              <a:t>5. Compute Average Staffing (</a:t>
            </a:r>
            <a:r>
              <a:rPr lang="en-US" b="1" dirty="0" err="1"/>
              <a:t>AvgStaff</a:t>
            </a:r>
            <a:r>
              <a:rPr lang="en-US" b="1" dirty="0"/>
              <a:t>)</a:t>
            </a:r>
            <a:endParaRPr lang="en-US" dirty="0"/>
          </a:p>
          <a:p>
            <a:r>
              <a:rPr lang="en-US" dirty="0" err="1"/>
              <a:t>AvgStaff</a:t>
            </a:r>
            <a:r>
              <a:rPr lang="en-US" dirty="0"/>
              <a:t>=E/T</a:t>
            </a:r>
          </a:p>
          <a:p>
            <a:r>
              <a:rPr lang="en-US" dirty="0"/>
              <a:t>​</a:t>
            </a:r>
            <a:r>
              <a:rPr lang="en-US" dirty="0" err="1"/>
              <a:t>AvgStaff</a:t>
            </a:r>
            <a:r>
              <a:rPr lang="en-US"/>
              <a:t>=19/6.41=2.96 ( 3 </a:t>
            </a:r>
            <a:r>
              <a:rPr lang="en-US" dirty="0"/>
              <a:t>developers)</a:t>
            </a:r>
          </a:p>
        </p:txBody>
      </p:sp>
    </p:spTree>
    <p:extLst>
      <p:ext uri="{BB962C8B-B14F-4D97-AF65-F5344CB8AC3E}">
        <p14:creationId xmlns:p14="http://schemas.microsoft.com/office/powerpoint/2010/main" val="4250686379"/>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7010</TotalTime>
  <Words>2764</Words>
  <Application>Microsoft Office PowerPoint</Application>
  <PresentationFormat>On-screen Show (4:3)</PresentationFormat>
  <Paragraphs>278</Paragraphs>
  <Slides>36</Slides>
  <Notes>26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Arial</vt:lpstr>
      <vt:lpstr>Baskerville Old Face</vt:lpstr>
      <vt:lpstr>Calibri</vt:lpstr>
      <vt:lpstr>Helvetica</vt:lpstr>
      <vt:lpstr>Leawood-Bold</vt:lpstr>
      <vt:lpstr>Leawood-Book</vt:lpstr>
      <vt:lpstr>Tahoma</vt:lpstr>
      <vt:lpstr>Times New Roman</vt:lpstr>
      <vt:lpstr>TimesNewRomanPS-BoldMT</vt:lpstr>
      <vt:lpstr>TimesNewRomanPSMT</vt:lpstr>
      <vt:lpstr>Verdana</vt:lpstr>
      <vt:lpstr>Wingdings</vt:lpstr>
      <vt:lpstr>Clarity</vt:lpstr>
      <vt:lpstr>     CSSE3113 – Introduction to Software Engineering  </vt:lpstr>
      <vt:lpstr>Why Software Fails?</vt:lpstr>
      <vt:lpstr>The dilemma </vt:lpstr>
      <vt:lpstr>Software Development</vt:lpstr>
      <vt:lpstr>PowerPoint Presentation</vt:lpstr>
      <vt:lpstr>What is Management?</vt:lpstr>
      <vt:lpstr>Project Management!!</vt:lpstr>
      <vt:lpstr>Project Management Concerns</vt:lpstr>
      <vt:lpstr>Project Management</vt:lpstr>
      <vt:lpstr>PowerPoint Presentation</vt:lpstr>
      <vt:lpstr>Management Spectrum - The Four P’s</vt:lpstr>
      <vt:lpstr>Stakeholders</vt:lpstr>
      <vt:lpstr>Software Teams</vt:lpstr>
      <vt:lpstr>Team Leader</vt:lpstr>
      <vt:lpstr>Software Teams</vt:lpstr>
      <vt:lpstr>Organizational Paradigms</vt:lpstr>
      <vt:lpstr>To Get to the Essence of a Project</vt:lpstr>
      <vt:lpstr>Metrics for the requirements model</vt:lpstr>
      <vt:lpstr>Function Based metrics</vt:lpstr>
      <vt:lpstr>Function Based metrics</vt:lpstr>
      <vt:lpstr>Function Based metrics</vt:lpstr>
      <vt:lpstr>Function Based metrics</vt:lpstr>
      <vt:lpstr>Function Based metrics</vt:lpstr>
      <vt:lpstr>Function Based metrics Example: SafeHoME Software</vt:lpstr>
      <vt:lpstr>Function Based metrics Example: SafeHoME Software</vt:lpstr>
      <vt:lpstr>Function Based metrics Example: SafeHoME Software</vt:lpstr>
      <vt:lpstr>Function Based metrics Example: SafeHoME Software</vt:lpstr>
      <vt:lpstr>Cocomo Model</vt:lpstr>
      <vt:lpstr>Cocomo Model</vt:lpstr>
      <vt:lpstr>Cocomo I / Basic Cocomo / Cocomo81 FP based</vt:lpstr>
      <vt:lpstr>Cocomo I / Basic Cocomo / Cocomo81 FP based</vt:lpstr>
      <vt:lpstr>Cocomo I / Basic Cocomo / Cocomo81 FP based</vt:lpstr>
      <vt:lpstr>Cocomo I / Basic Cocomo / Cocomo81 FP based</vt:lpstr>
      <vt:lpstr>Cocomo I / Cocomo81 FP based</vt:lpstr>
      <vt:lpstr>Cocomo I / Cocomo81 FP based</vt:lpstr>
      <vt:lpstr>Cocomo I / Cocomo81 FP based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Aziz</cp:lastModifiedBy>
  <cp:revision>455</cp:revision>
  <cp:lastPrinted>2018-11-22T03:35:54Z</cp:lastPrinted>
  <dcterms:created xsi:type="dcterms:W3CDTF">2014-09-24T14:35:43Z</dcterms:created>
  <dcterms:modified xsi:type="dcterms:W3CDTF">2026-06-05T04:24:18Z</dcterms:modified>
</cp:coreProperties>
</file>