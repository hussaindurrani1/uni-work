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1" d="100"/>
          <a:sy n="61" d="100"/>
        </p:scale>
        <p:origin x="7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A0CDD9-6E01-4C3C-BC8F-A262390ECF5A}" type="datetimeFigureOut">
              <a:rPr lang="en-PK" smtClean="0"/>
              <a:t>03/11/2025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6A37570-C479-4A32-9679-E7FFEE71B8FA}"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320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A0CDD9-6E01-4C3C-BC8F-A262390ECF5A}" type="datetimeFigureOut">
              <a:rPr lang="en-PK" smtClean="0"/>
              <a:t>03/11/2025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66371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A0CDD9-6E01-4C3C-BC8F-A262390ECF5A}" type="datetimeFigureOut">
              <a:rPr lang="en-PK" smtClean="0"/>
              <a:t>03/11/2025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6A37570-C479-4A32-9679-E7FFEE71B8FA}"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995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A0CDD9-6E01-4C3C-BC8F-A262390ECF5A}" type="datetimeFigureOut">
              <a:rPr lang="en-PK" smtClean="0"/>
              <a:t>03/11/2025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4059954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A0CDD9-6E01-4C3C-BC8F-A262390ECF5A}" type="datetimeFigureOut">
              <a:rPr lang="en-PK" smtClean="0"/>
              <a:t>03/11/2025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337070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A0CDD9-6E01-4C3C-BC8F-A262390ECF5A}" type="datetimeFigureOut">
              <a:rPr lang="en-PK" smtClean="0"/>
              <a:t>03/11/2025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3288693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EA0CDD9-6E01-4C3C-BC8F-A262390ECF5A}" type="datetimeFigureOut">
              <a:rPr lang="en-PK" smtClean="0"/>
              <a:t>03/11/2025</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586971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EA0CDD9-6E01-4C3C-BC8F-A262390ECF5A}" type="datetimeFigureOut">
              <a:rPr lang="en-PK" smtClean="0"/>
              <a:t>03/11/2025</a:t>
            </a:fld>
            <a:endParaRPr lang="en-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6A37570-C479-4A32-9679-E7FFEE71B8FA}" type="slidenum">
              <a:rPr lang="en-PK" smtClean="0"/>
              <a:t>‹#›</a:t>
            </a:fld>
            <a:endParaRPr lang="en-PK"/>
          </a:p>
        </p:txBody>
      </p:sp>
    </p:spTree>
    <p:extLst>
      <p:ext uri="{BB962C8B-B14F-4D97-AF65-F5344CB8AC3E}">
        <p14:creationId xmlns:p14="http://schemas.microsoft.com/office/powerpoint/2010/main" val="2100830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A0CDD9-6E01-4C3C-BC8F-A262390ECF5A}" type="datetimeFigureOut">
              <a:rPr lang="en-PK" smtClean="0"/>
              <a:t>03/11/2025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1596228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A0CDD9-6E01-4C3C-BC8F-A262390ECF5A}" type="datetimeFigureOut">
              <a:rPr lang="en-PK" smtClean="0"/>
              <a:t>03/11/2025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3594737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A0CDD9-6E01-4C3C-BC8F-A262390ECF5A}" type="datetimeFigureOut">
              <a:rPr lang="en-PK" smtClean="0"/>
              <a:t>03/11/2025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D6A37570-C479-4A32-9679-E7FFEE71B8FA}" type="slidenum">
              <a:rPr lang="en-PK" smtClean="0"/>
              <a:t>‹#›</a:t>
            </a:fld>
            <a:endParaRPr lang="en-PK"/>
          </a:p>
        </p:txBody>
      </p:sp>
    </p:spTree>
    <p:extLst>
      <p:ext uri="{BB962C8B-B14F-4D97-AF65-F5344CB8AC3E}">
        <p14:creationId xmlns:p14="http://schemas.microsoft.com/office/powerpoint/2010/main" val="4200836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EA0CDD9-6E01-4C3C-BC8F-A262390ECF5A}" type="datetimeFigureOut">
              <a:rPr lang="en-PK" smtClean="0"/>
              <a:t>03/11/2025</a:t>
            </a:fld>
            <a:endParaRPr lang="en-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6A37570-C479-4A32-9679-E7FFEE71B8FA}" type="slidenum">
              <a:rPr lang="en-PK" smtClean="0"/>
              <a:t>‹#›</a:t>
            </a:fld>
            <a:endParaRPr lang="en-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1454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641F3-2B97-5470-D33B-76655D06C616}"/>
              </a:ext>
            </a:extLst>
          </p:cNvPr>
          <p:cNvSpPr>
            <a:spLocks noGrp="1"/>
          </p:cNvSpPr>
          <p:nvPr>
            <p:ph type="ctrTitle"/>
          </p:nvPr>
        </p:nvSpPr>
        <p:spPr/>
        <p:txBody>
          <a:bodyPr/>
          <a:lstStyle/>
          <a:p>
            <a:r>
              <a:rPr lang="en-US" dirty="0"/>
              <a:t>Software Testing</a:t>
            </a:r>
            <a:endParaRPr lang="en-PK" dirty="0"/>
          </a:p>
        </p:txBody>
      </p:sp>
      <p:sp>
        <p:nvSpPr>
          <p:cNvPr id="3" name="Subtitle 2">
            <a:extLst>
              <a:ext uri="{FF2B5EF4-FFF2-40B4-BE49-F238E27FC236}">
                <a16:creationId xmlns:a16="http://schemas.microsoft.com/office/drawing/2014/main" id="{835A47E3-D4CF-47FB-7B40-73069F29CBE5}"/>
              </a:ext>
            </a:extLst>
          </p:cNvPr>
          <p:cNvSpPr>
            <a:spLocks noGrp="1"/>
          </p:cNvSpPr>
          <p:nvPr>
            <p:ph type="subTitle" idx="1"/>
          </p:nvPr>
        </p:nvSpPr>
        <p:spPr/>
        <p:txBody>
          <a:bodyPr/>
          <a:lstStyle/>
          <a:p>
            <a:r>
              <a:rPr lang="en-US" dirty="0"/>
              <a:t>How to write Test Cases</a:t>
            </a:r>
            <a:endParaRPr lang="en-PK" dirty="0"/>
          </a:p>
        </p:txBody>
      </p:sp>
      <p:sp>
        <p:nvSpPr>
          <p:cNvPr id="4" name="Title 1">
            <a:extLst>
              <a:ext uri="{FF2B5EF4-FFF2-40B4-BE49-F238E27FC236}">
                <a16:creationId xmlns:a16="http://schemas.microsoft.com/office/drawing/2014/main" id="{E35FFECA-A0F5-B0A6-8878-E94AC55EC3E4}"/>
              </a:ext>
            </a:extLst>
          </p:cNvPr>
          <p:cNvSpPr txBox="1">
            <a:spLocks/>
          </p:cNvSpPr>
          <p:nvPr/>
        </p:nvSpPr>
        <p:spPr>
          <a:xfrm>
            <a:off x="924910" y="1259380"/>
            <a:ext cx="9144000" cy="192722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br>
              <a:rPr lang="en-US" sz="3600" dirty="0">
                <a:latin typeface="Times New Roman" pitchFamily="18" charset="0"/>
                <a:cs typeface="Times New Roman" pitchFamily="18" charset="0"/>
              </a:rPr>
            </a:br>
            <a:r>
              <a:rPr lang="en-US" sz="3600" dirty="0">
                <a:solidFill>
                  <a:srgbClr val="C00000"/>
                </a:solidFill>
                <a:cs typeface="Times New Roman" pitchFamily="18" charset="0"/>
              </a:rPr>
              <a:t>CSSE3113 – Introduction to Software Engineering </a:t>
            </a:r>
            <a:br>
              <a:rPr lang="en-US" sz="3600" dirty="0">
                <a:solidFill>
                  <a:srgbClr val="C00000"/>
                </a:solidFill>
                <a:cs typeface="Times New Roman" pitchFamily="18" charset="0"/>
              </a:rPr>
            </a:br>
            <a:endParaRPr lang="en-US" sz="3600" dirty="0"/>
          </a:p>
        </p:txBody>
      </p:sp>
    </p:spTree>
    <p:extLst>
      <p:ext uri="{BB962C8B-B14F-4D97-AF65-F5344CB8AC3E}">
        <p14:creationId xmlns:p14="http://schemas.microsoft.com/office/powerpoint/2010/main" val="2746187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11956-1066-4FED-3C6C-2530F2700CBB}"/>
              </a:ext>
            </a:extLst>
          </p:cNvPr>
          <p:cNvSpPr>
            <a:spLocks noGrp="1"/>
          </p:cNvSpPr>
          <p:nvPr>
            <p:ph type="title"/>
          </p:nvPr>
        </p:nvSpPr>
        <p:spPr/>
        <p:txBody>
          <a:bodyPr/>
          <a:lstStyle/>
          <a:p>
            <a:r>
              <a:rPr lang="en-US" b="1" i="0" dirty="0">
                <a:solidFill>
                  <a:srgbClr val="004877"/>
                </a:solidFill>
                <a:effectLst/>
                <a:latin typeface="zeitung"/>
              </a:rPr>
              <a:t>What Is a Test Case in Software?</a:t>
            </a:r>
            <a:br>
              <a:rPr lang="en-US" b="1" i="0" dirty="0">
                <a:solidFill>
                  <a:srgbClr val="004877"/>
                </a:solidFill>
                <a:effectLst/>
                <a:latin typeface="zeitung"/>
              </a:rPr>
            </a:br>
            <a:endParaRPr lang="en-PK" dirty="0"/>
          </a:p>
        </p:txBody>
      </p:sp>
      <p:sp>
        <p:nvSpPr>
          <p:cNvPr id="3" name="Content Placeholder 2">
            <a:extLst>
              <a:ext uri="{FF2B5EF4-FFF2-40B4-BE49-F238E27FC236}">
                <a16:creationId xmlns:a16="http://schemas.microsoft.com/office/drawing/2014/main" id="{64FB8C2F-BAB3-8F16-C1B1-3A7B9115BD49}"/>
              </a:ext>
            </a:extLst>
          </p:cNvPr>
          <p:cNvSpPr>
            <a:spLocks noGrp="1"/>
          </p:cNvSpPr>
          <p:nvPr>
            <p:ph idx="1"/>
          </p:nvPr>
        </p:nvSpPr>
        <p:spPr/>
        <p:txBody>
          <a:bodyPr/>
          <a:lstStyle/>
          <a:p>
            <a:pPr marL="0" indent="0">
              <a:buNone/>
            </a:pPr>
            <a:endParaRPr lang="en-US" dirty="0">
              <a:solidFill>
                <a:schemeClr val="tx1"/>
              </a:solidFill>
              <a:latin typeface="Lato" panose="020F0502020204030203" pitchFamily="34" charset="0"/>
            </a:endParaRPr>
          </a:p>
          <a:p>
            <a:pPr marL="0" indent="0">
              <a:buNone/>
            </a:pPr>
            <a:r>
              <a:rPr lang="en-US" dirty="0">
                <a:solidFill>
                  <a:schemeClr val="tx1"/>
                </a:solidFill>
                <a:latin typeface="Lato" panose="020F0502020204030203" pitchFamily="34" charset="0"/>
              </a:rPr>
              <a:t>A</a:t>
            </a:r>
            <a:r>
              <a:rPr lang="en-US" b="0" i="0" dirty="0">
                <a:solidFill>
                  <a:schemeClr val="tx1"/>
                </a:solidFill>
                <a:effectLst/>
                <a:latin typeface="Lato" panose="020F0502020204030203" pitchFamily="34" charset="0"/>
              </a:rPr>
              <a:t> test case measure functionality across a set of actions or conditions to verify the expected result. They apply to any software application, can use manual testing or an </a:t>
            </a:r>
            <a:r>
              <a:rPr lang="en-US" dirty="0">
                <a:solidFill>
                  <a:schemeClr val="tx1"/>
                </a:solidFill>
                <a:latin typeface="Lato" panose="020F0502020204030203" pitchFamily="34" charset="0"/>
              </a:rPr>
              <a:t>automated test</a:t>
            </a:r>
            <a:r>
              <a:rPr lang="en-US" b="0" i="0" dirty="0">
                <a:solidFill>
                  <a:schemeClr val="tx1"/>
                </a:solidFill>
                <a:effectLst/>
                <a:latin typeface="Lato" panose="020F0502020204030203" pitchFamily="34" charset="0"/>
              </a:rPr>
              <a:t>, and can make use of test case management tools.</a:t>
            </a:r>
            <a:endParaRPr lang="en-PK" dirty="0">
              <a:solidFill>
                <a:schemeClr val="tx1"/>
              </a:solidFill>
            </a:endParaRPr>
          </a:p>
        </p:txBody>
      </p:sp>
    </p:spTree>
    <p:extLst>
      <p:ext uri="{BB962C8B-B14F-4D97-AF65-F5344CB8AC3E}">
        <p14:creationId xmlns:p14="http://schemas.microsoft.com/office/powerpoint/2010/main" val="272489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26203-7BA9-07EE-6A08-387FA1DA70BB}"/>
              </a:ext>
            </a:extLst>
          </p:cNvPr>
          <p:cNvSpPr>
            <a:spLocks noGrp="1"/>
          </p:cNvSpPr>
          <p:nvPr>
            <p:ph type="title"/>
          </p:nvPr>
        </p:nvSpPr>
        <p:spPr>
          <a:xfrm>
            <a:off x="1097280" y="797242"/>
            <a:ext cx="10058400" cy="1450757"/>
          </a:xfrm>
        </p:spPr>
        <p:txBody>
          <a:bodyPr/>
          <a:lstStyle/>
          <a:p>
            <a:r>
              <a:rPr lang="en-US" b="1" i="0" dirty="0">
                <a:solidFill>
                  <a:srgbClr val="004877"/>
                </a:solidFill>
                <a:effectLst/>
                <a:latin typeface="zeitung"/>
              </a:rPr>
              <a:t>Different Types of Test Cases</a:t>
            </a:r>
            <a:br>
              <a:rPr lang="en-US" b="1" i="0" dirty="0">
                <a:solidFill>
                  <a:srgbClr val="004877"/>
                </a:solidFill>
                <a:effectLst/>
                <a:latin typeface="zeitung"/>
              </a:rPr>
            </a:br>
            <a:endParaRPr lang="en-PK" dirty="0"/>
          </a:p>
        </p:txBody>
      </p:sp>
      <p:sp>
        <p:nvSpPr>
          <p:cNvPr id="3" name="Content Placeholder 2">
            <a:extLst>
              <a:ext uri="{FF2B5EF4-FFF2-40B4-BE49-F238E27FC236}">
                <a16:creationId xmlns:a16="http://schemas.microsoft.com/office/drawing/2014/main" id="{39C41C31-954C-FFEB-F9A3-75DB3DCED88A}"/>
              </a:ext>
            </a:extLst>
          </p:cNvPr>
          <p:cNvSpPr>
            <a:spLocks noGrp="1"/>
          </p:cNvSpPr>
          <p:nvPr>
            <p:ph idx="1"/>
          </p:nvPr>
        </p:nvSpPr>
        <p:spPr/>
        <p:txBody>
          <a:bodyPr/>
          <a:lstStyle/>
          <a:p>
            <a:pPr algn="l"/>
            <a:r>
              <a:rPr lang="en-US" b="0" i="0" dirty="0">
                <a:solidFill>
                  <a:srgbClr val="54565A"/>
                </a:solidFill>
                <a:effectLst/>
                <a:latin typeface="Lato" panose="020F0502020204030203" pitchFamily="34" charset="0"/>
              </a:rPr>
              <a:t>Some common test case examples would be the following:</a:t>
            </a:r>
          </a:p>
          <a:p>
            <a:br>
              <a:rPr lang="en-US" dirty="0"/>
            </a:br>
            <a:endParaRPr lang="en-PK" dirty="0"/>
          </a:p>
        </p:txBody>
      </p:sp>
      <p:pic>
        <p:nvPicPr>
          <p:cNvPr id="5" name="Picture 4">
            <a:extLst>
              <a:ext uri="{FF2B5EF4-FFF2-40B4-BE49-F238E27FC236}">
                <a16:creationId xmlns:a16="http://schemas.microsoft.com/office/drawing/2014/main" id="{EF29071A-4B31-7F1B-D921-769F809D7D0D}"/>
              </a:ext>
            </a:extLst>
          </p:cNvPr>
          <p:cNvPicPr>
            <a:picLocks noChangeAspect="1"/>
          </p:cNvPicPr>
          <p:nvPr/>
        </p:nvPicPr>
        <p:blipFill>
          <a:blip r:embed="rId2"/>
          <a:stretch>
            <a:fillRect/>
          </a:stretch>
        </p:blipFill>
        <p:spPr>
          <a:xfrm>
            <a:off x="1983575" y="2373569"/>
            <a:ext cx="8285810" cy="3495525"/>
          </a:xfrm>
          <a:prstGeom prst="rect">
            <a:avLst/>
          </a:prstGeom>
        </p:spPr>
      </p:pic>
    </p:spTree>
    <p:extLst>
      <p:ext uri="{BB962C8B-B14F-4D97-AF65-F5344CB8AC3E}">
        <p14:creationId xmlns:p14="http://schemas.microsoft.com/office/powerpoint/2010/main" val="248804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D8910-6013-732A-4810-20D2F674275C}"/>
              </a:ext>
            </a:extLst>
          </p:cNvPr>
          <p:cNvSpPr>
            <a:spLocks noGrp="1"/>
          </p:cNvSpPr>
          <p:nvPr>
            <p:ph type="title"/>
          </p:nvPr>
        </p:nvSpPr>
        <p:spPr>
          <a:xfrm>
            <a:off x="1097280" y="809117"/>
            <a:ext cx="10058400" cy="1450757"/>
          </a:xfrm>
        </p:spPr>
        <p:txBody>
          <a:bodyPr/>
          <a:lstStyle/>
          <a:p>
            <a:r>
              <a:rPr lang="en-US" b="1" i="0" dirty="0">
                <a:solidFill>
                  <a:srgbClr val="004877"/>
                </a:solidFill>
                <a:effectLst/>
                <a:latin typeface="zeitung"/>
              </a:rPr>
              <a:t>How to Write Software Test Cases</a:t>
            </a:r>
            <a:br>
              <a:rPr lang="en-US" b="1" i="0" dirty="0">
                <a:solidFill>
                  <a:srgbClr val="004877"/>
                </a:solidFill>
                <a:effectLst/>
                <a:latin typeface="zeitung"/>
              </a:rPr>
            </a:br>
            <a:endParaRPr lang="en-PK" dirty="0"/>
          </a:p>
        </p:txBody>
      </p:sp>
      <p:sp>
        <p:nvSpPr>
          <p:cNvPr id="3" name="Content Placeholder 2">
            <a:extLst>
              <a:ext uri="{FF2B5EF4-FFF2-40B4-BE49-F238E27FC236}">
                <a16:creationId xmlns:a16="http://schemas.microsoft.com/office/drawing/2014/main" id="{7DE61FB5-BB7B-EEB7-4AE1-52B7DD84E83D}"/>
              </a:ext>
            </a:extLst>
          </p:cNvPr>
          <p:cNvSpPr>
            <a:spLocks noGrp="1"/>
          </p:cNvSpPr>
          <p:nvPr>
            <p:ph idx="1"/>
          </p:nvPr>
        </p:nvSpPr>
        <p:spPr/>
        <p:txBody>
          <a:bodyPr/>
          <a:lstStyle/>
          <a:p>
            <a:r>
              <a:rPr lang="en-US" dirty="0">
                <a:solidFill>
                  <a:srgbClr val="54565A"/>
                </a:solidFill>
                <a:latin typeface="Lato" panose="020F0502020204030203" pitchFamily="34" charset="0"/>
              </a:rPr>
              <a:t>E</a:t>
            </a:r>
            <a:r>
              <a:rPr lang="en-US" b="0" i="0" dirty="0">
                <a:solidFill>
                  <a:srgbClr val="54565A"/>
                </a:solidFill>
                <a:effectLst/>
                <a:latin typeface="Lato" panose="020F0502020204030203" pitchFamily="34" charset="0"/>
              </a:rPr>
              <a:t>very test case can be broken down into 8 basic steps.</a:t>
            </a:r>
          </a:p>
          <a:p>
            <a:pPr algn="l"/>
            <a:r>
              <a:rPr lang="en-US" b="1" dirty="0">
                <a:solidFill>
                  <a:srgbClr val="54565A"/>
                </a:solidFill>
                <a:latin typeface="Lato" panose="020F0502020204030203" pitchFamily="34" charset="0"/>
              </a:rPr>
              <a:t>S</a:t>
            </a:r>
            <a:r>
              <a:rPr lang="en-US" b="1" i="0" dirty="0">
                <a:solidFill>
                  <a:srgbClr val="54565A"/>
                </a:solidFill>
                <a:effectLst/>
                <a:latin typeface="Lato" panose="020F0502020204030203" pitchFamily="34" charset="0"/>
              </a:rPr>
              <a:t>tep 1:</a:t>
            </a:r>
            <a:r>
              <a:rPr lang="en-US" b="0" i="0" dirty="0">
                <a:solidFill>
                  <a:srgbClr val="54565A"/>
                </a:solidFill>
                <a:effectLst/>
                <a:latin typeface="Lato" panose="020F0502020204030203" pitchFamily="34" charset="0"/>
              </a:rPr>
              <a:t> Test Case ID</a:t>
            </a:r>
          </a:p>
          <a:p>
            <a:pPr algn="l"/>
            <a:r>
              <a:rPr lang="en-US" b="0" i="0" dirty="0">
                <a:solidFill>
                  <a:srgbClr val="54565A"/>
                </a:solidFill>
                <a:effectLst/>
                <a:latin typeface="Lato" panose="020F0502020204030203" pitchFamily="34" charset="0"/>
              </a:rPr>
              <a:t>Test cases should all bear unique IDs to represent them. </a:t>
            </a:r>
          </a:p>
          <a:p>
            <a:pPr algn="l"/>
            <a:r>
              <a:rPr lang="en-US" b="1" i="0" dirty="0">
                <a:solidFill>
                  <a:srgbClr val="54565A"/>
                </a:solidFill>
                <a:effectLst/>
                <a:latin typeface="Lato" panose="020F0502020204030203" pitchFamily="34" charset="0"/>
              </a:rPr>
              <a:t>Step 2:</a:t>
            </a:r>
            <a:r>
              <a:rPr lang="en-US" b="0" i="0" dirty="0">
                <a:solidFill>
                  <a:srgbClr val="54565A"/>
                </a:solidFill>
                <a:effectLst/>
                <a:latin typeface="Lato" panose="020F0502020204030203" pitchFamily="34" charset="0"/>
              </a:rPr>
              <a:t> Test Description</a:t>
            </a:r>
          </a:p>
          <a:p>
            <a:pPr algn="l"/>
            <a:r>
              <a:rPr lang="en-US" b="0" i="0" dirty="0">
                <a:solidFill>
                  <a:srgbClr val="54565A"/>
                </a:solidFill>
                <a:effectLst/>
                <a:latin typeface="Lato" panose="020F0502020204030203" pitchFamily="34" charset="0"/>
              </a:rPr>
              <a:t>This description should detail what unit, feature, or function is being tested or what is being verified.</a:t>
            </a:r>
          </a:p>
          <a:p>
            <a:pPr algn="l"/>
            <a:r>
              <a:rPr lang="en-US" b="1" i="0" dirty="0">
                <a:solidFill>
                  <a:srgbClr val="54565A"/>
                </a:solidFill>
                <a:effectLst/>
                <a:latin typeface="Lato" panose="020F0502020204030203" pitchFamily="34" charset="0"/>
              </a:rPr>
              <a:t>Step 3:</a:t>
            </a:r>
            <a:r>
              <a:rPr lang="en-US" b="0" i="0" dirty="0">
                <a:solidFill>
                  <a:srgbClr val="54565A"/>
                </a:solidFill>
                <a:effectLst/>
                <a:latin typeface="Lato" panose="020F0502020204030203" pitchFamily="34" charset="0"/>
              </a:rPr>
              <a:t> Assumptions and Pre-Conditions</a:t>
            </a:r>
          </a:p>
          <a:p>
            <a:pPr algn="l"/>
            <a:r>
              <a:rPr lang="en-US" b="0" i="0" dirty="0">
                <a:solidFill>
                  <a:srgbClr val="54565A"/>
                </a:solidFill>
                <a:effectLst/>
                <a:latin typeface="Lato" panose="020F0502020204030203" pitchFamily="34" charset="0"/>
              </a:rPr>
              <a:t>This entails any conditions to be met before test case execution. One example would be requiring a valid account for a login.</a:t>
            </a:r>
          </a:p>
          <a:p>
            <a:endParaRPr lang="en-PK" dirty="0"/>
          </a:p>
        </p:txBody>
      </p:sp>
    </p:spTree>
    <p:extLst>
      <p:ext uri="{BB962C8B-B14F-4D97-AF65-F5344CB8AC3E}">
        <p14:creationId xmlns:p14="http://schemas.microsoft.com/office/powerpoint/2010/main" val="623399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58DB8-A382-D68A-B465-0270626A7F6B}"/>
              </a:ext>
            </a:extLst>
          </p:cNvPr>
          <p:cNvSpPr>
            <a:spLocks noGrp="1"/>
          </p:cNvSpPr>
          <p:nvPr>
            <p:ph type="title"/>
          </p:nvPr>
        </p:nvSpPr>
        <p:spPr>
          <a:xfrm>
            <a:off x="1097280" y="868494"/>
            <a:ext cx="10058400" cy="1450757"/>
          </a:xfrm>
        </p:spPr>
        <p:txBody>
          <a:bodyPr/>
          <a:lstStyle/>
          <a:p>
            <a:r>
              <a:rPr lang="en-US" b="1" i="0" dirty="0">
                <a:solidFill>
                  <a:srgbClr val="004877"/>
                </a:solidFill>
                <a:effectLst/>
                <a:latin typeface="zeitung"/>
              </a:rPr>
              <a:t>How to Write Software Test Cases</a:t>
            </a:r>
            <a:br>
              <a:rPr lang="en-US" b="1" i="0" dirty="0">
                <a:solidFill>
                  <a:srgbClr val="004877"/>
                </a:solidFill>
                <a:effectLst/>
                <a:latin typeface="zeitung"/>
              </a:rPr>
            </a:br>
            <a:endParaRPr lang="en-PK" dirty="0"/>
          </a:p>
        </p:txBody>
      </p:sp>
      <p:sp>
        <p:nvSpPr>
          <p:cNvPr id="3" name="Content Placeholder 2">
            <a:extLst>
              <a:ext uri="{FF2B5EF4-FFF2-40B4-BE49-F238E27FC236}">
                <a16:creationId xmlns:a16="http://schemas.microsoft.com/office/drawing/2014/main" id="{052FA640-212F-65FB-43BD-8B5326F47DEA}"/>
              </a:ext>
            </a:extLst>
          </p:cNvPr>
          <p:cNvSpPr>
            <a:spLocks noGrp="1"/>
          </p:cNvSpPr>
          <p:nvPr>
            <p:ph idx="1"/>
          </p:nvPr>
        </p:nvSpPr>
        <p:spPr/>
        <p:txBody>
          <a:bodyPr>
            <a:normAutofit lnSpcReduction="10000"/>
          </a:bodyPr>
          <a:lstStyle/>
          <a:p>
            <a:pPr algn="l"/>
            <a:r>
              <a:rPr lang="en-US" b="1" i="0" dirty="0">
                <a:solidFill>
                  <a:srgbClr val="54565A"/>
                </a:solidFill>
                <a:effectLst/>
                <a:latin typeface="Lato" panose="020F0502020204030203" pitchFamily="34" charset="0"/>
              </a:rPr>
              <a:t>Step 4:</a:t>
            </a:r>
            <a:r>
              <a:rPr lang="en-US" b="0" i="0" dirty="0">
                <a:solidFill>
                  <a:srgbClr val="54565A"/>
                </a:solidFill>
                <a:effectLst/>
                <a:latin typeface="Lato" panose="020F0502020204030203" pitchFamily="34" charset="0"/>
              </a:rPr>
              <a:t> Test Data</a:t>
            </a:r>
          </a:p>
          <a:p>
            <a:pPr algn="l"/>
            <a:r>
              <a:rPr lang="en-US" b="0" i="0" dirty="0">
                <a:solidFill>
                  <a:srgbClr val="54565A"/>
                </a:solidFill>
                <a:effectLst/>
                <a:latin typeface="Lato" panose="020F0502020204030203" pitchFamily="34" charset="0"/>
              </a:rPr>
              <a:t>This relates to the variables and their values in the test case. In the example of an email login, it would be the username and password for the account.</a:t>
            </a:r>
          </a:p>
          <a:p>
            <a:pPr algn="l"/>
            <a:r>
              <a:rPr lang="en-US" b="1" i="0" dirty="0">
                <a:solidFill>
                  <a:srgbClr val="54565A"/>
                </a:solidFill>
                <a:effectLst/>
                <a:latin typeface="Lato" panose="020F0502020204030203" pitchFamily="34" charset="0"/>
              </a:rPr>
              <a:t>Step 5:</a:t>
            </a:r>
            <a:r>
              <a:rPr lang="en-US" b="0" i="0" dirty="0">
                <a:solidFill>
                  <a:srgbClr val="54565A"/>
                </a:solidFill>
                <a:effectLst/>
                <a:latin typeface="Lato" panose="020F0502020204030203" pitchFamily="34" charset="0"/>
              </a:rPr>
              <a:t> Steps to be Executed</a:t>
            </a:r>
          </a:p>
          <a:p>
            <a:pPr algn="l"/>
            <a:r>
              <a:rPr lang="en-US" b="0" i="0" dirty="0">
                <a:solidFill>
                  <a:srgbClr val="54565A"/>
                </a:solidFill>
                <a:effectLst/>
                <a:latin typeface="Lato" panose="020F0502020204030203" pitchFamily="34" charset="0"/>
              </a:rPr>
              <a:t>These should be easily repeatable steps as executed from the end user’s perspective. For instance, a test case for logging into an email server might include these steps:</a:t>
            </a:r>
          </a:p>
          <a:p>
            <a:pPr algn="l"/>
            <a:endParaRPr lang="en-US" b="0" i="0" dirty="0">
              <a:solidFill>
                <a:srgbClr val="54565A"/>
              </a:solidFill>
              <a:effectLst/>
              <a:latin typeface="Lato" panose="020F0502020204030203" pitchFamily="34" charset="0"/>
            </a:endParaRPr>
          </a:p>
          <a:p>
            <a:pPr lvl="1">
              <a:buFont typeface="+mj-lt"/>
              <a:buAutoNum type="arabicPeriod"/>
            </a:pPr>
            <a:r>
              <a:rPr lang="en-US" b="0" i="0" dirty="0">
                <a:solidFill>
                  <a:srgbClr val="54565A"/>
                </a:solidFill>
                <a:effectLst/>
                <a:latin typeface="Lato" panose="020F0502020204030203" pitchFamily="34" charset="0"/>
              </a:rPr>
              <a:t>  Open email server web page.</a:t>
            </a:r>
          </a:p>
          <a:p>
            <a:pPr lvl="1">
              <a:buFont typeface="+mj-lt"/>
              <a:buAutoNum type="arabicPeriod"/>
            </a:pPr>
            <a:r>
              <a:rPr lang="en-US" b="0" i="0" dirty="0">
                <a:solidFill>
                  <a:srgbClr val="54565A"/>
                </a:solidFill>
                <a:effectLst/>
                <a:latin typeface="Lato" panose="020F0502020204030203" pitchFamily="34" charset="0"/>
              </a:rPr>
              <a:t>  Enter username.</a:t>
            </a:r>
          </a:p>
          <a:p>
            <a:pPr lvl="1">
              <a:buFont typeface="+mj-lt"/>
              <a:buAutoNum type="arabicPeriod"/>
            </a:pPr>
            <a:r>
              <a:rPr lang="en-US" b="0" i="0" dirty="0">
                <a:solidFill>
                  <a:srgbClr val="54565A"/>
                </a:solidFill>
                <a:effectLst/>
                <a:latin typeface="Lato" panose="020F0502020204030203" pitchFamily="34" charset="0"/>
              </a:rPr>
              <a:t>  Enter password.</a:t>
            </a:r>
          </a:p>
          <a:p>
            <a:pPr lvl="1">
              <a:buFont typeface="+mj-lt"/>
              <a:buAutoNum type="arabicPeriod"/>
            </a:pPr>
            <a:r>
              <a:rPr lang="en-US" b="0" i="0" dirty="0">
                <a:solidFill>
                  <a:srgbClr val="54565A"/>
                </a:solidFill>
                <a:effectLst/>
                <a:latin typeface="Lato" panose="020F0502020204030203" pitchFamily="34" charset="0"/>
              </a:rPr>
              <a:t>  Click “Enter” or “Login” button.</a:t>
            </a:r>
          </a:p>
          <a:p>
            <a:endParaRPr lang="en-PK" dirty="0"/>
          </a:p>
        </p:txBody>
      </p:sp>
    </p:spTree>
    <p:extLst>
      <p:ext uri="{BB962C8B-B14F-4D97-AF65-F5344CB8AC3E}">
        <p14:creationId xmlns:p14="http://schemas.microsoft.com/office/powerpoint/2010/main" val="757610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5E58D-0E3B-8DF4-D780-B3E5503671CF}"/>
              </a:ext>
            </a:extLst>
          </p:cNvPr>
          <p:cNvSpPr>
            <a:spLocks noGrp="1"/>
          </p:cNvSpPr>
          <p:nvPr>
            <p:ph type="title"/>
          </p:nvPr>
        </p:nvSpPr>
        <p:spPr/>
        <p:txBody>
          <a:bodyPr/>
          <a:lstStyle/>
          <a:p>
            <a:r>
              <a:rPr lang="en-US" b="1" i="0" dirty="0">
                <a:solidFill>
                  <a:srgbClr val="004877"/>
                </a:solidFill>
                <a:effectLst/>
                <a:latin typeface="zeitung"/>
              </a:rPr>
              <a:t>How to Write Software Test Cases</a:t>
            </a:r>
            <a:endParaRPr lang="en-PK" dirty="0"/>
          </a:p>
        </p:txBody>
      </p:sp>
      <p:sp>
        <p:nvSpPr>
          <p:cNvPr id="3" name="Content Placeholder 2">
            <a:extLst>
              <a:ext uri="{FF2B5EF4-FFF2-40B4-BE49-F238E27FC236}">
                <a16:creationId xmlns:a16="http://schemas.microsoft.com/office/drawing/2014/main" id="{FDBAFA40-E34C-24D3-C2D5-F390541254D3}"/>
              </a:ext>
            </a:extLst>
          </p:cNvPr>
          <p:cNvSpPr>
            <a:spLocks noGrp="1"/>
          </p:cNvSpPr>
          <p:nvPr>
            <p:ph idx="1"/>
          </p:nvPr>
        </p:nvSpPr>
        <p:spPr/>
        <p:txBody>
          <a:bodyPr/>
          <a:lstStyle/>
          <a:p>
            <a:pPr algn="l"/>
            <a:r>
              <a:rPr lang="en-US" b="1" i="0" dirty="0">
                <a:solidFill>
                  <a:srgbClr val="54565A"/>
                </a:solidFill>
                <a:effectLst/>
                <a:latin typeface="Lato" panose="020F0502020204030203" pitchFamily="34" charset="0"/>
              </a:rPr>
              <a:t>Step 6:</a:t>
            </a:r>
            <a:r>
              <a:rPr lang="en-US" b="0" i="0" dirty="0">
                <a:solidFill>
                  <a:srgbClr val="54565A"/>
                </a:solidFill>
                <a:effectLst/>
                <a:latin typeface="Lato" panose="020F0502020204030203" pitchFamily="34" charset="0"/>
              </a:rPr>
              <a:t> Expected Result</a:t>
            </a:r>
          </a:p>
          <a:p>
            <a:pPr algn="l"/>
            <a:r>
              <a:rPr lang="en-US" b="0" i="0" dirty="0">
                <a:solidFill>
                  <a:srgbClr val="54565A"/>
                </a:solidFill>
                <a:effectLst/>
                <a:latin typeface="Lato" panose="020F0502020204030203" pitchFamily="34" charset="0"/>
              </a:rPr>
              <a:t>This indicates the result expected after the test case step execution. Upon entering the right login information, the expected result would be a successful login.</a:t>
            </a:r>
          </a:p>
          <a:p>
            <a:pPr algn="l"/>
            <a:r>
              <a:rPr lang="en-US" b="1" i="0" dirty="0">
                <a:solidFill>
                  <a:srgbClr val="54565A"/>
                </a:solidFill>
                <a:effectLst/>
                <a:latin typeface="Lato" panose="020F0502020204030203" pitchFamily="34" charset="0"/>
              </a:rPr>
              <a:t>Step 7:</a:t>
            </a:r>
            <a:r>
              <a:rPr lang="en-US" b="0" i="0" dirty="0">
                <a:solidFill>
                  <a:srgbClr val="54565A"/>
                </a:solidFill>
                <a:effectLst/>
                <a:latin typeface="Lato" panose="020F0502020204030203" pitchFamily="34" charset="0"/>
              </a:rPr>
              <a:t> Actual Result and Post-Conditions</a:t>
            </a:r>
          </a:p>
          <a:p>
            <a:pPr algn="l"/>
            <a:r>
              <a:rPr lang="en-US" b="0" i="0" dirty="0">
                <a:solidFill>
                  <a:srgbClr val="54565A"/>
                </a:solidFill>
                <a:effectLst/>
                <a:latin typeface="Lato" panose="020F0502020204030203" pitchFamily="34" charset="0"/>
              </a:rPr>
              <a:t>As compared to the expected result, we can determine the status of the test case. In the case of the email login, the user would either be successfully logged in or not. The post-condition is what happens as a result of the step execution such as being redirected to the email inbox.</a:t>
            </a:r>
          </a:p>
          <a:p>
            <a:pPr algn="l"/>
            <a:r>
              <a:rPr lang="en-US" b="1" i="0" dirty="0">
                <a:solidFill>
                  <a:srgbClr val="54565A"/>
                </a:solidFill>
                <a:effectLst/>
                <a:latin typeface="Lato" panose="020F0502020204030203" pitchFamily="34" charset="0"/>
              </a:rPr>
              <a:t>Step 8:</a:t>
            </a:r>
            <a:r>
              <a:rPr lang="en-US" b="0" i="0" dirty="0">
                <a:solidFill>
                  <a:srgbClr val="54565A"/>
                </a:solidFill>
                <a:effectLst/>
                <a:latin typeface="Lato" panose="020F0502020204030203" pitchFamily="34" charset="0"/>
              </a:rPr>
              <a:t> Pass/Fail</a:t>
            </a:r>
          </a:p>
          <a:p>
            <a:pPr algn="l"/>
            <a:r>
              <a:rPr lang="en-US" b="0" i="0" dirty="0">
                <a:solidFill>
                  <a:srgbClr val="54565A"/>
                </a:solidFill>
                <a:effectLst/>
                <a:latin typeface="Lato" panose="020F0502020204030203" pitchFamily="34" charset="0"/>
              </a:rPr>
              <a:t>Determining the pass/fail status depends on how the expected result and the actual result compare to each other.</a:t>
            </a:r>
          </a:p>
          <a:p>
            <a:pPr algn="l"/>
            <a:endParaRPr lang="en-US" b="0" i="0" dirty="0">
              <a:solidFill>
                <a:srgbClr val="54565A"/>
              </a:solidFill>
              <a:effectLst/>
              <a:latin typeface="Lato" panose="020F0502020204030203" pitchFamily="34" charset="0"/>
            </a:endParaRPr>
          </a:p>
          <a:p>
            <a:endParaRPr lang="en-PK" dirty="0"/>
          </a:p>
        </p:txBody>
      </p:sp>
    </p:spTree>
    <p:extLst>
      <p:ext uri="{BB962C8B-B14F-4D97-AF65-F5344CB8AC3E}">
        <p14:creationId xmlns:p14="http://schemas.microsoft.com/office/powerpoint/2010/main" val="191053074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79</TotalTime>
  <Words>418</Words>
  <Application>Microsoft Office PowerPoint</Application>
  <PresentationFormat>Widescreen</PresentationFormat>
  <Paragraphs>34</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Calibri</vt:lpstr>
      <vt:lpstr>Calibri Light</vt:lpstr>
      <vt:lpstr>Lato</vt:lpstr>
      <vt:lpstr>Times New Roman</vt:lpstr>
      <vt:lpstr>zeitung</vt:lpstr>
      <vt:lpstr>Retrospect</vt:lpstr>
      <vt:lpstr>Software Testing</vt:lpstr>
      <vt:lpstr>What Is a Test Case in Software? </vt:lpstr>
      <vt:lpstr>Different Types of Test Cases </vt:lpstr>
      <vt:lpstr>How to Write Software Test Cases </vt:lpstr>
      <vt:lpstr>How to Write Software Test Cases </vt:lpstr>
      <vt:lpstr>How to Write Software 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Testing</dc:title>
  <dc:creator>Miss</dc:creator>
  <cp:lastModifiedBy>Junaid .</cp:lastModifiedBy>
  <cp:revision>14</cp:revision>
  <dcterms:created xsi:type="dcterms:W3CDTF">2022-12-26T07:57:47Z</dcterms:created>
  <dcterms:modified xsi:type="dcterms:W3CDTF">2025-03-11T05:24:19Z</dcterms:modified>
</cp:coreProperties>
</file>