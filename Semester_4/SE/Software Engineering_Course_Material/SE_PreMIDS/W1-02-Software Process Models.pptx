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3" r:id="rId1"/>
  </p:sldMasterIdLst>
  <p:notesMasterIdLst>
    <p:notesMasterId r:id="rId40"/>
  </p:notesMasterIdLst>
  <p:sldIdLst>
    <p:sldId id="256" r:id="rId2"/>
    <p:sldId id="356" r:id="rId3"/>
    <p:sldId id="357" r:id="rId4"/>
    <p:sldId id="359" r:id="rId5"/>
    <p:sldId id="360" r:id="rId6"/>
    <p:sldId id="361" r:id="rId7"/>
    <p:sldId id="352" r:id="rId8"/>
    <p:sldId id="353" r:id="rId9"/>
    <p:sldId id="354" r:id="rId10"/>
    <p:sldId id="309" r:id="rId11"/>
    <p:sldId id="310" r:id="rId12"/>
    <p:sldId id="314" r:id="rId13"/>
    <p:sldId id="315" r:id="rId14"/>
    <p:sldId id="316" r:id="rId15"/>
    <p:sldId id="317" r:id="rId16"/>
    <p:sldId id="318" r:id="rId17"/>
    <p:sldId id="36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261" r:id="rId32"/>
    <p:sldId id="341" r:id="rId33"/>
    <p:sldId id="339" r:id="rId34"/>
    <p:sldId id="338" r:id="rId35"/>
    <p:sldId id="345" r:id="rId36"/>
    <p:sldId id="346" r:id="rId37"/>
    <p:sldId id="350" r:id="rId38"/>
    <p:sldId id="351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 autoAdjust="0"/>
    <p:restoredTop sz="89680" autoAdjust="0"/>
  </p:normalViewPr>
  <p:slideViewPr>
    <p:cSldViewPr>
      <p:cViewPr varScale="1">
        <p:scale>
          <a:sx n="54" d="100"/>
          <a:sy n="54" d="100"/>
        </p:scale>
        <p:origin x="131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A4089-EB80-4C00-96ED-EB51D01B424F}" type="doc">
      <dgm:prSet loTypeId="urn:microsoft.com/office/officeart/2005/8/layout/cycle2" loCatId="cycle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5CB5BCFA-E402-4E40-963D-50B88D8C8CA4}">
      <dgm:prSet phldrT="[Text]" custT="1"/>
      <dgm:spPr/>
      <dgm:t>
        <a:bodyPr/>
        <a:lstStyle/>
        <a:p>
          <a:r>
            <a:rPr lang="en-US" sz="1800" b="1" dirty="0"/>
            <a:t>1 / 4</a:t>
          </a:r>
        </a:p>
        <a:p>
          <a:r>
            <a:rPr lang="en-US" sz="1800" dirty="0"/>
            <a:t>Listen to Customer</a:t>
          </a:r>
        </a:p>
      </dgm:t>
    </dgm:pt>
    <dgm:pt modelId="{3337E42A-ABD9-4A28-B61A-A77B58471EB3}" type="parTrans" cxnId="{B11A7C3D-A541-41CF-A6D4-816F77D9499E}">
      <dgm:prSet/>
      <dgm:spPr/>
      <dgm:t>
        <a:bodyPr/>
        <a:lstStyle/>
        <a:p>
          <a:endParaRPr lang="en-US" sz="1800"/>
        </a:p>
      </dgm:t>
    </dgm:pt>
    <dgm:pt modelId="{F8D54FD3-E944-4843-B5C9-682B5E40E819}" type="sibTrans" cxnId="{B11A7C3D-A541-41CF-A6D4-816F77D9499E}">
      <dgm:prSet custT="1"/>
      <dgm:spPr/>
      <dgm:t>
        <a:bodyPr/>
        <a:lstStyle/>
        <a:p>
          <a:endParaRPr lang="en-US" sz="1800"/>
        </a:p>
      </dgm:t>
    </dgm:pt>
    <dgm:pt modelId="{4760321F-CC14-4F98-805F-4B80B2694993}">
      <dgm:prSet phldrT="[Text]" custT="1"/>
      <dgm:spPr/>
      <dgm:t>
        <a:bodyPr/>
        <a:lstStyle/>
        <a:p>
          <a:r>
            <a:rPr lang="en-US" sz="1800" b="1" dirty="0"/>
            <a:t>2</a:t>
          </a:r>
        </a:p>
        <a:p>
          <a:r>
            <a:rPr lang="en-US" sz="1800" dirty="0"/>
            <a:t>Build / Revise prototypes</a:t>
          </a:r>
        </a:p>
      </dgm:t>
    </dgm:pt>
    <dgm:pt modelId="{C9F7B93F-980C-45A0-9B40-A8B1A8620952}" type="parTrans" cxnId="{423B4813-A121-48F9-8DEC-9AC7414411F7}">
      <dgm:prSet/>
      <dgm:spPr/>
      <dgm:t>
        <a:bodyPr/>
        <a:lstStyle/>
        <a:p>
          <a:endParaRPr lang="en-US" sz="1800"/>
        </a:p>
      </dgm:t>
    </dgm:pt>
    <dgm:pt modelId="{B898701E-7F79-4E1E-94A9-A801B7524686}" type="sibTrans" cxnId="{423B4813-A121-48F9-8DEC-9AC7414411F7}">
      <dgm:prSet custT="1"/>
      <dgm:spPr/>
      <dgm:t>
        <a:bodyPr/>
        <a:lstStyle/>
        <a:p>
          <a:endParaRPr lang="en-US" sz="1800"/>
        </a:p>
      </dgm:t>
    </dgm:pt>
    <dgm:pt modelId="{DCC57EA6-C532-4616-A799-D0DB48A91476}">
      <dgm:prSet phldrT="[Text]" custT="1"/>
      <dgm:spPr/>
      <dgm:t>
        <a:bodyPr/>
        <a:lstStyle/>
        <a:p>
          <a:r>
            <a:rPr lang="en-US" sz="1800" b="1" dirty="0"/>
            <a:t>3</a:t>
          </a:r>
        </a:p>
        <a:p>
          <a:r>
            <a:rPr lang="en-US" sz="1800" dirty="0"/>
            <a:t>Customer Test-Drives prototypes</a:t>
          </a:r>
        </a:p>
      </dgm:t>
    </dgm:pt>
    <dgm:pt modelId="{11BD3362-5361-47DE-B0F3-6A9D43DAEAEF}" type="parTrans" cxnId="{7CD9418B-745F-4B3F-A65F-D767BEC94A62}">
      <dgm:prSet/>
      <dgm:spPr/>
      <dgm:t>
        <a:bodyPr/>
        <a:lstStyle/>
        <a:p>
          <a:endParaRPr lang="en-US" sz="1800"/>
        </a:p>
      </dgm:t>
    </dgm:pt>
    <dgm:pt modelId="{5FF5B679-9B31-430A-AB7C-595231080B5B}" type="sibTrans" cxnId="{7CD9418B-745F-4B3F-A65F-D767BEC94A62}">
      <dgm:prSet custT="1"/>
      <dgm:spPr/>
      <dgm:t>
        <a:bodyPr/>
        <a:lstStyle/>
        <a:p>
          <a:endParaRPr lang="en-US" sz="1800"/>
        </a:p>
      </dgm:t>
    </dgm:pt>
    <dgm:pt modelId="{12561789-D27D-41CA-A03D-758B70A5976C}" type="pres">
      <dgm:prSet presAssocID="{566A4089-EB80-4C00-96ED-EB51D01B424F}" presName="cycle" presStyleCnt="0">
        <dgm:presLayoutVars>
          <dgm:dir/>
          <dgm:resizeHandles val="exact"/>
        </dgm:presLayoutVars>
      </dgm:prSet>
      <dgm:spPr/>
    </dgm:pt>
    <dgm:pt modelId="{FF5EE7E0-5D46-4BC3-B157-9314EF8FB781}" type="pres">
      <dgm:prSet presAssocID="{5CB5BCFA-E402-4E40-963D-50B88D8C8CA4}" presName="node" presStyleLbl="node1" presStyleIdx="0" presStyleCnt="3">
        <dgm:presLayoutVars>
          <dgm:bulletEnabled val="1"/>
        </dgm:presLayoutVars>
      </dgm:prSet>
      <dgm:spPr/>
    </dgm:pt>
    <dgm:pt modelId="{23ECFE79-0D2F-46EE-8635-98A17BBF6AAB}" type="pres">
      <dgm:prSet presAssocID="{F8D54FD3-E944-4843-B5C9-682B5E40E819}" presName="sibTrans" presStyleLbl="sibTrans2D1" presStyleIdx="0" presStyleCnt="3"/>
      <dgm:spPr/>
    </dgm:pt>
    <dgm:pt modelId="{48E9BB70-3465-406D-8845-4B6AE3BA7CFD}" type="pres">
      <dgm:prSet presAssocID="{F8D54FD3-E944-4843-B5C9-682B5E40E819}" presName="connectorText" presStyleLbl="sibTrans2D1" presStyleIdx="0" presStyleCnt="3"/>
      <dgm:spPr/>
    </dgm:pt>
    <dgm:pt modelId="{5375E26C-0C66-4582-8599-ECDF237398B3}" type="pres">
      <dgm:prSet presAssocID="{4760321F-CC14-4F98-805F-4B80B2694993}" presName="node" presStyleLbl="node1" presStyleIdx="1" presStyleCnt="3">
        <dgm:presLayoutVars>
          <dgm:bulletEnabled val="1"/>
        </dgm:presLayoutVars>
      </dgm:prSet>
      <dgm:spPr/>
    </dgm:pt>
    <dgm:pt modelId="{60CDF216-4C2E-437D-9D4E-4B452E1DFD41}" type="pres">
      <dgm:prSet presAssocID="{B898701E-7F79-4E1E-94A9-A801B7524686}" presName="sibTrans" presStyleLbl="sibTrans2D1" presStyleIdx="1" presStyleCnt="3"/>
      <dgm:spPr/>
    </dgm:pt>
    <dgm:pt modelId="{F2ACAA5E-E96C-4C54-8272-0ADAD12FB5A6}" type="pres">
      <dgm:prSet presAssocID="{B898701E-7F79-4E1E-94A9-A801B7524686}" presName="connectorText" presStyleLbl="sibTrans2D1" presStyleIdx="1" presStyleCnt="3"/>
      <dgm:spPr/>
    </dgm:pt>
    <dgm:pt modelId="{6215B8DE-CCA5-4B58-BC75-2CDB805870F0}" type="pres">
      <dgm:prSet presAssocID="{DCC57EA6-C532-4616-A799-D0DB48A91476}" presName="node" presStyleLbl="node1" presStyleIdx="2" presStyleCnt="3">
        <dgm:presLayoutVars>
          <dgm:bulletEnabled val="1"/>
        </dgm:presLayoutVars>
      </dgm:prSet>
      <dgm:spPr/>
    </dgm:pt>
    <dgm:pt modelId="{ACD3529C-CD4F-41AD-BBC8-CF9727AA57C4}" type="pres">
      <dgm:prSet presAssocID="{5FF5B679-9B31-430A-AB7C-595231080B5B}" presName="sibTrans" presStyleLbl="sibTrans2D1" presStyleIdx="2" presStyleCnt="3"/>
      <dgm:spPr/>
    </dgm:pt>
    <dgm:pt modelId="{63A4A43E-BDE3-4BC0-9367-74ED48FA699B}" type="pres">
      <dgm:prSet presAssocID="{5FF5B679-9B31-430A-AB7C-595231080B5B}" presName="connectorText" presStyleLbl="sibTrans2D1" presStyleIdx="2" presStyleCnt="3"/>
      <dgm:spPr/>
    </dgm:pt>
  </dgm:ptLst>
  <dgm:cxnLst>
    <dgm:cxn modelId="{423B4813-A121-48F9-8DEC-9AC7414411F7}" srcId="{566A4089-EB80-4C00-96ED-EB51D01B424F}" destId="{4760321F-CC14-4F98-805F-4B80B2694993}" srcOrd="1" destOrd="0" parTransId="{C9F7B93F-980C-45A0-9B40-A8B1A8620952}" sibTransId="{B898701E-7F79-4E1E-94A9-A801B7524686}"/>
    <dgm:cxn modelId="{AD6DD934-9AF2-4046-9BB3-055A6C22A1A5}" type="presOf" srcId="{5FF5B679-9B31-430A-AB7C-595231080B5B}" destId="{63A4A43E-BDE3-4BC0-9367-74ED48FA699B}" srcOrd="1" destOrd="0" presId="urn:microsoft.com/office/officeart/2005/8/layout/cycle2"/>
    <dgm:cxn modelId="{B11A7C3D-A541-41CF-A6D4-816F77D9499E}" srcId="{566A4089-EB80-4C00-96ED-EB51D01B424F}" destId="{5CB5BCFA-E402-4E40-963D-50B88D8C8CA4}" srcOrd="0" destOrd="0" parTransId="{3337E42A-ABD9-4A28-B61A-A77B58471EB3}" sibTransId="{F8D54FD3-E944-4843-B5C9-682B5E40E819}"/>
    <dgm:cxn modelId="{8CAE1A6D-22DB-4A2B-961C-8089E2C345F7}" type="presOf" srcId="{5FF5B679-9B31-430A-AB7C-595231080B5B}" destId="{ACD3529C-CD4F-41AD-BBC8-CF9727AA57C4}" srcOrd="0" destOrd="0" presId="urn:microsoft.com/office/officeart/2005/8/layout/cycle2"/>
    <dgm:cxn modelId="{CD5A3D55-B9C9-47F7-AA76-235785D8EED3}" type="presOf" srcId="{F8D54FD3-E944-4843-B5C9-682B5E40E819}" destId="{23ECFE79-0D2F-46EE-8635-98A17BBF6AAB}" srcOrd="0" destOrd="0" presId="urn:microsoft.com/office/officeart/2005/8/layout/cycle2"/>
    <dgm:cxn modelId="{90116281-B8E0-4627-A2CA-F332C6AD19B6}" type="presOf" srcId="{B898701E-7F79-4E1E-94A9-A801B7524686}" destId="{F2ACAA5E-E96C-4C54-8272-0ADAD12FB5A6}" srcOrd="1" destOrd="0" presId="urn:microsoft.com/office/officeart/2005/8/layout/cycle2"/>
    <dgm:cxn modelId="{7CD9418B-745F-4B3F-A65F-D767BEC94A62}" srcId="{566A4089-EB80-4C00-96ED-EB51D01B424F}" destId="{DCC57EA6-C532-4616-A799-D0DB48A91476}" srcOrd="2" destOrd="0" parTransId="{11BD3362-5361-47DE-B0F3-6A9D43DAEAEF}" sibTransId="{5FF5B679-9B31-430A-AB7C-595231080B5B}"/>
    <dgm:cxn modelId="{D2E82CB2-7083-43FD-B555-B92C1D554472}" type="presOf" srcId="{DCC57EA6-C532-4616-A799-D0DB48A91476}" destId="{6215B8DE-CCA5-4B58-BC75-2CDB805870F0}" srcOrd="0" destOrd="0" presId="urn:microsoft.com/office/officeart/2005/8/layout/cycle2"/>
    <dgm:cxn modelId="{290BB6C9-B952-4D30-8D70-5C6A116A8A0A}" type="presOf" srcId="{5CB5BCFA-E402-4E40-963D-50B88D8C8CA4}" destId="{FF5EE7E0-5D46-4BC3-B157-9314EF8FB781}" srcOrd="0" destOrd="0" presId="urn:microsoft.com/office/officeart/2005/8/layout/cycle2"/>
    <dgm:cxn modelId="{413EF1CD-BE53-4939-922A-D6EAB1DD3249}" type="presOf" srcId="{F8D54FD3-E944-4843-B5C9-682B5E40E819}" destId="{48E9BB70-3465-406D-8845-4B6AE3BA7CFD}" srcOrd="1" destOrd="0" presId="urn:microsoft.com/office/officeart/2005/8/layout/cycle2"/>
    <dgm:cxn modelId="{990AAAD9-F8A3-4EA1-AED8-12C2867B72C7}" type="presOf" srcId="{4760321F-CC14-4F98-805F-4B80B2694993}" destId="{5375E26C-0C66-4582-8599-ECDF237398B3}" srcOrd="0" destOrd="0" presId="urn:microsoft.com/office/officeart/2005/8/layout/cycle2"/>
    <dgm:cxn modelId="{EC1DBDEA-156A-4F61-B9BA-F2BE1FC68A39}" type="presOf" srcId="{566A4089-EB80-4C00-96ED-EB51D01B424F}" destId="{12561789-D27D-41CA-A03D-758B70A5976C}" srcOrd="0" destOrd="0" presId="urn:microsoft.com/office/officeart/2005/8/layout/cycle2"/>
    <dgm:cxn modelId="{969A6FEB-A352-4CAE-AC9E-90D770EB8517}" type="presOf" srcId="{B898701E-7F79-4E1E-94A9-A801B7524686}" destId="{60CDF216-4C2E-437D-9D4E-4B452E1DFD41}" srcOrd="0" destOrd="0" presId="urn:microsoft.com/office/officeart/2005/8/layout/cycle2"/>
    <dgm:cxn modelId="{5AB5F4D4-8AB9-459D-8346-BFFF9A0ADC22}" type="presParOf" srcId="{12561789-D27D-41CA-A03D-758B70A5976C}" destId="{FF5EE7E0-5D46-4BC3-B157-9314EF8FB781}" srcOrd="0" destOrd="0" presId="urn:microsoft.com/office/officeart/2005/8/layout/cycle2"/>
    <dgm:cxn modelId="{91237444-B575-411B-BE93-098840AE613E}" type="presParOf" srcId="{12561789-D27D-41CA-A03D-758B70A5976C}" destId="{23ECFE79-0D2F-46EE-8635-98A17BBF6AAB}" srcOrd="1" destOrd="0" presId="urn:microsoft.com/office/officeart/2005/8/layout/cycle2"/>
    <dgm:cxn modelId="{22F7B3A1-5DC8-4ABA-9960-05D7769C5928}" type="presParOf" srcId="{23ECFE79-0D2F-46EE-8635-98A17BBF6AAB}" destId="{48E9BB70-3465-406D-8845-4B6AE3BA7CFD}" srcOrd="0" destOrd="0" presId="urn:microsoft.com/office/officeart/2005/8/layout/cycle2"/>
    <dgm:cxn modelId="{BC0ABEC4-1AFA-48B0-AF33-82668EF302A5}" type="presParOf" srcId="{12561789-D27D-41CA-A03D-758B70A5976C}" destId="{5375E26C-0C66-4582-8599-ECDF237398B3}" srcOrd="2" destOrd="0" presId="urn:microsoft.com/office/officeart/2005/8/layout/cycle2"/>
    <dgm:cxn modelId="{15FA6305-00BB-44D3-91C8-B763250E3DC1}" type="presParOf" srcId="{12561789-D27D-41CA-A03D-758B70A5976C}" destId="{60CDF216-4C2E-437D-9D4E-4B452E1DFD41}" srcOrd="3" destOrd="0" presId="urn:microsoft.com/office/officeart/2005/8/layout/cycle2"/>
    <dgm:cxn modelId="{D3638642-3148-4CB3-AB20-9700B74FADDF}" type="presParOf" srcId="{60CDF216-4C2E-437D-9D4E-4B452E1DFD41}" destId="{F2ACAA5E-E96C-4C54-8272-0ADAD12FB5A6}" srcOrd="0" destOrd="0" presId="urn:microsoft.com/office/officeart/2005/8/layout/cycle2"/>
    <dgm:cxn modelId="{3560FBED-7D11-48A1-B5C0-2E0B61681564}" type="presParOf" srcId="{12561789-D27D-41CA-A03D-758B70A5976C}" destId="{6215B8DE-CCA5-4B58-BC75-2CDB805870F0}" srcOrd="4" destOrd="0" presId="urn:microsoft.com/office/officeart/2005/8/layout/cycle2"/>
    <dgm:cxn modelId="{23913FAF-E5CE-43EA-AD78-278D89AA8874}" type="presParOf" srcId="{12561789-D27D-41CA-A03D-758B70A5976C}" destId="{ACD3529C-CD4F-41AD-BBC8-CF9727AA57C4}" srcOrd="5" destOrd="0" presId="urn:microsoft.com/office/officeart/2005/8/layout/cycle2"/>
    <dgm:cxn modelId="{687821C2-0C05-4C11-B830-CA79E8D140B5}" type="presParOf" srcId="{ACD3529C-CD4F-41AD-BBC8-CF9727AA57C4}" destId="{63A4A43E-BDE3-4BC0-9367-74ED48FA699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EE7E0-5D46-4BC3-B157-9314EF8FB781}">
      <dsp:nvSpPr>
        <dsp:cNvPr id="0" name=""/>
        <dsp:cNvSpPr/>
      </dsp:nvSpPr>
      <dsp:spPr>
        <a:xfrm>
          <a:off x="2521669" y="1085"/>
          <a:ext cx="2119461" cy="21194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 / 4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Listen to Customer</a:t>
          </a:r>
        </a:p>
      </dsp:txBody>
      <dsp:txXfrm>
        <a:off x="2832057" y="311473"/>
        <a:ext cx="1498685" cy="1498685"/>
      </dsp:txXfrm>
    </dsp:sp>
    <dsp:sp modelId="{23ECFE79-0D2F-46EE-8635-98A17BBF6AAB}">
      <dsp:nvSpPr>
        <dsp:cNvPr id="0" name=""/>
        <dsp:cNvSpPr/>
      </dsp:nvSpPr>
      <dsp:spPr>
        <a:xfrm rot="3600000">
          <a:off x="4087371" y="2066945"/>
          <a:ext cx="562824" cy="715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29583" y="2136896"/>
        <a:ext cx="393977" cy="429190"/>
      </dsp:txXfrm>
    </dsp:sp>
    <dsp:sp modelId="{5375E26C-0C66-4582-8599-ECDF237398B3}">
      <dsp:nvSpPr>
        <dsp:cNvPr id="0" name=""/>
        <dsp:cNvSpPr/>
      </dsp:nvSpPr>
      <dsp:spPr>
        <a:xfrm>
          <a:off x="4112366" y="2756253"/>
          <a:ext cx="2119461" cy="211946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2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 / Revise prototypes</a:t>
          </a:r>
        </a:p>
      </dsp:txBody>
      <dsp:txXfrm>
        <a:off x="4422754" y="3066641"/>
        <a:ext cx="1498685" cy="1498685"/>
      </dsp:txXfrm>
    </dsp:sp>
    <dsp:sp modelId="{60CDF216-4C2E-437D-9D4E-4B452E1DFD41}">
      <dsp:nvSpPr>
        <dsp:cNvPr id="0" name=""/>
        <dsp:cNvSpPr/>
      </dsp:nvSpPr>
      <dsp:spPr>
        <a:xfrm rot="10800000">
          <a:off x="3315916" y="3458324"/>
          <a:ext cx="562824" cy="715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3484763" y="3601388"/>
        <a:ext cx="393977" cy="429190"/>
      </dsp:txXfrm>
    </dsp:sp>
    <dsp:sp modelId="{6215B8DE-CCA5-4B58-BC75-2CDB805870F0}">
      <dsp:nvSpPr>
        <dsp:cNvPr id="0" name=""/>
        <dsp:cNvSpPr/>
      </dsp:nvSpPr>
      <dsp:spPr>
        <a:xfrm>
          <a:off x="930972" y="2756253"/>
          <a:ext cx="2119461" cy="211946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3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Customer Test-Drives prototypes</a:t>
          </a:r>
        </a:p>
      </dsp:txBody>
      <dsp:txXfrm>
        <a:off x="1241360" y="3066641"/>
        <a:ext cx="1498685" cy="1498685"/>
      </dsp:txXfrm>
    </dsp:sp>
    <dsp:sp modelId="{ACD3529C-CD4F-41AD-BBC8-CF9727AA57C4}">
      <dsp:nvSpPr>
        <dsp:cNvPr id="0" name=""/>
        <dsp:cNvSpPr/>
      </dsp:nvSpPr>
      <dsp:spPr>
        <a:xfrm rot="18000000">
          <a:off x="2496675" y="2094535"/>
          <a:ext cx="562824" cy="7153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538887" y="2310712"/>
        <a:ext cx="393977" cy="429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7A62E0A-EBD3-48BD-911D-BA55EA318C0D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4B4D39A-D25D-480D-AB96-A08967E408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2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C1204E-B032-40E1-935F-DBF6836E3275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5AE0D-353C-4AC8-9449-69705DA3A7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9FC17E-CE7D-4135-90EF-31A0B3A270BB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97678A-AA3C-4D05-9AFA-A3BA9451543A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259D8-7B11-4556-B89D-CF5053D970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F9A0E5-E30D-4F51-B473-2E5D8D5CE2DB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E9686-7BB6-4720-BDEC-9ACAC58927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E2A70B-0DF1-452A-8AF7-4A8F07E1AFE6}" type="datetime1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8114E-08A7-4929-BB19-B9B9E884E5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0EB5BC-A4FB-49D0-8607-269C7366F0F5}" type="datetime1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6DFD43-7B17-4839-B016-410BF59C22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0485AA-6C45-434D-A7FC-21E29E38EFBE}" type="datetime1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086910-7AD0-4284-9154-4A6C3219C3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2F9C8C-5691-4724-8152-9AA9B1045E4F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81E411-4FA8-448A-B4B3-8202B5DDED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C0F3B9-7F36-40CB-8F34-A29203F96EA5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4FC4-C37C-4675-8ABA-1AE94FFC39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419EB8-7A43-4CF8-AD52-8C5D29D97514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DBE2E-AB2C-450C-9F80-22E0A2787D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1FC258-9B62-4C63-BB88-8D2D055C983D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0B48F-275F-4B11-9A36-0F3DBAD058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3ED53FB-AD72-4083-90A4-AAB60AB7BA2E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AC40421-925F-4082-BA86-2260C7B648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828800"/>
            <a:ext cx="8915400" cy="1524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600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6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581400"/>
            <a:ext cx="51054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r>
              <a:rPr lang="en-US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Process Models</a:t>
            </a:r>
          </a:p>
          <a:p>
            <a:pPr marL="63500" algn="ctr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>
                <a:cs typeface="Times New Roman" pitchFamily="18" charset="0"/>
              </a:rPr>
              <a:t>Software Development</a:t>
            </a:r>
            <a:endParaRPr lang="en-US" dirty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49838"/>
          </a:xfrm>
        </p:spPr>
        <p:txBody>
          <a:bodyPr>
            <a:normAutofit lnSpcReduction="10000"/>
          </a:bodyPr>
          <a:lstStyle/>
          <a:p>
            <a:pPr eaLnBrk="1" hangingPunct="1">
              <a:buFont typeface="Georgia" pitchFamily="18" charset="0"/>
              <a:buNone/>
            </a:pPr>
            <a:r>
              <a:rPr lang="en-US" sz="2200" b="1" dirty="0">
                <a:latin typeface="+mj-lt"/>
                <a:cs typeface="Times New Roman" pitchFamily="18" charset="0"/>
              </a:rPr>
              <a:t>Construction</a:t>
            </a:r>
          </a:p>
          <a:p>
            <a:pPr eaLnBrk="1" hangingPunct="1">
              <a:buFont typeface="Georgia" pitchFamily="18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Some of the major construction activities are listed below.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Requirement Gathering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Design Development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Coding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Testing</a:t>
            </a:r>
          </a:p>
          <a:p>
            <a:pPr eaLnBrk="1" hangingPunct="1">
              <a:buFont typeface="Georgia" pitchFamily="18" charset="0"/>
              <a:buNone/>
            </a:pPr>
            <a:r>
              <a:rPr lang="en-US" sz="2200" b="1" dirty="0">
                <a:latin typeface="+mj-lt"/>
                <a:cs typeface="Times New Roman" pitchFamily="18" charset="0"/>
              </a:rPr>
              <a:t>Management</a:t>
            </a:r>
          </a:p>
          <a:p>
            <a:pPr eaLnBrk="1" hangingPunct="1">
              <a:buFont typeface="Georgia" pitchFamily="18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Some of the major management activities are listed below.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Project Planning and Management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Configuration Management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Software Quality Assurance</a:t>
            </a:r>
          </a:p>
          <a:p>
            <a:pPr lvl="1"/>
            <a:r>
              <a:rPr lang="en-US" sz="2400" dirty="0">
                <a:latin typeface="+mj-lt"/>
                <a:cs typeface="Times New Roman" pitchFamily="18" charset="0"/>
              </a:rPr>
              <a:t>Installation and Training</a:t>
            </a:r>
          </a:p>
          <a:p>
            <a:pPr eaLnBrk="1" hangingPunct="1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-76200"/>
            <a:ext cx="2895600" cy="329184"/>
          </a:xfrm>
        </p:spPr>
        <p:txBody>
          <a:bodyPr/>
          <a:lstStyle/>
          <a:p>
            <a:pPr>
              <a:defRPr/>
            </a:pPr>
            <a:fld id="{937667D3-61DC-4101-A914-B89E565498B7}" type="datetime1">
              <a:rPr lang="en-US" smtClean="0"/>
              <a:t>10/6/2025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4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5257800"/>
            <a:ext cx="8229600" cy="1066800"/>
          </a:xfrm>
        </p:spPr>
        <p:txBody>
          <a:bodyPr/>
          <a:lstStyle/>
          <a:p>
            <a:pPr eaLnBrk="1" hangingPunct="1"/>
            <a:r>
              <a:rPr lang="en-US" sz="1800" dirty="0">
                <a:cs typeface="Times New Roman" pitchFamily="18" charset="0"/>
              </a:rPr>
              <a:t>Figure 1: Development Activities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6628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68" t="21875" r="34993" b="39583"/>
          <a:stretch>
            <a:fillRect/>
          </a:stretch>
        </p:blipFill>
        <p:spPr bwMode="auto">
          <a:xfrm>
            <a:off x="381000" y="1143000"/>
            <a:ext cx="8153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E6B6D6-6D79-4188-BC7C-293F9EA15DD2}" type="datetime1">
              <a:rPr lang="en-US" smtClean="0"/>
              <a:t>10/6/2025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 hoc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2400"/>
              </a:spcAft>
              <a:buClr>
                <a:schemeClr val="bg1">
                  <a:lumMod val="50000"/>
                </a:schemeClr>
              </a:buClr>
              <a:buSzPct val="70000"/>
              <a:defRPr/>
            </a:pPr>
            <a:endParaRPr lang="en-US" dirty="0"/>
          </a:p>
          <a:p>
            <a:pPr algn="just">
              <a:spcBef>
                <a:spcPts val="0"/>
              </a:spcBef>
              <a:spcAft>
                <a:spcPts val="2400"/>
              </a:spcAft>
              <a:buClr>
                <a:schemeClr val="bg1">
                  <a:lumMod val="50000"/>
                </a:schemeClr>
              </a:buClr>
              <a:buSzPct val="70000"/>
              <a:defRPr/>
            </a:pPr>
            <a:r>
              <a:rPr lang="en-US" dirty="0"/>
              <a:t>Developing software without planning for each phase, and without specifying tasks, deliverables, or time constraints.</a:t>
            </a:r>
          </a:p>
          <a:p>
            <a:pPr algn="just">
              <a:spcBef>
                <a:spcPts val="0"/>
              </a:spcBef>
              <a:spcAft>
                <a:spcPts val="2400"/>
              </a:spcAft>
              <a:buClr>
                <a:schemeClr val="bg1">
                  <a:lumMod val="50000"/>
                </a:schemeClr>
              </a:buClr>
              <a:buSzPct val="70000"/>
              <a:defRPr/>
            </a:pPr>
            <a:r>
              <a:rPr lang="en-US" dirty="0"/>
              <a:t>Relies entirely on the skills and experience of the individuals performing the work.</a:t>
            </a:r>
          </a:p>
          <a:p>
            <a:pPr algn="just">
              <a:spcBef>
                <a:spcPts val="0"/>
              </a:spcBef>
              <a:spcAft>
                <a:spcPts val="2400"/>
              </a:spcAft>
              <a:buClr>
                <a:schemeClr val="bg1">
                  <a:lumMod val="50000"/>
                </a:schemeClr>
              </a:buClr>
              <a:buSzPct val="70000"/>
              <a:defRPr/>
            </a:pPr>
            <a:r>
              <a:rPr lang="en-US" dirty="0"/>
              <a:t> The software process may change as work progresses.</a:t>
            </a:r>
          </a:p>
          <a:p>
            <a:pPr marL="0" indent="0" algn="just" fontAlgn="auto">
              <a:spcBef>
                <a:spcPts val="0"/>
              </a:spcBef>
              <a:spcAft>
                <a:spcPts val="2400"/>
              </a:spcAft>
              <a:buClr>
                <a:schemeClr val="accent3">
                  <a:lumMod val="50000"/>
                </a:schemeClr>
              </a:buClr>
              <a:buSzPct val="70000"/>
              <a:buNone/>
              <a:defRPr/>
            </a:pPr>
            <a:endParaRPr lang="en-GB" sz="2800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ACFD34-6F28-48E7-94C3-18B25D38EEBB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0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: </a:t>
            </a:r>
            <a:r>
              <a:rPr lang="en-US" dirty="0" err="1"/>
              <a:t>SaudiTech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b="1" dirty="0"/>
              <a:t>What could go wrong in a software development project?</a:t>
            </a:r>
            <a:endParaRPr lang="en-US" sz="2200" dirty="0"/>
          </a:p>
          <a:p>
            <a:pPr algn="just">
              <a:buNone/>
            </a:pPr>
            <a:r>
              <a:rPr lang="en-GB" sz="2200" dirty="0"/>
              <a:t>	</a:t>
            </a:r>
            <a:r>
              <a:rPr lang="en-GB" sz="2200" dirty="0" err="1"/>
              <a:t>SaudiTech</a:t>
            </a:r>
            <a:r>
              <a:rPr lang="en-GB" sz="2200" dirty="0"/>
              <a:t> is a software company. It has a team of </a:t>
            </a:r>
            <a:r>
              <a:rPr lang="en-GB" sz="2200" b="1" dirty="0"/>
              <a:t>25 programmers</a:t>
            </a:r>
            <a:r>
              <a:rPr lang="en-GB" sz="2200" dirty="0"/>
              <a:t>. Ali has recently established a dental clinic in Riyadh and asked </a:t>
            </a:r>
            <a:r>
              <a:rPr lang="en-GB" sz="2200" dirty="0" err="1"/>
              <a:t>SaudiTech</a:t>
            </a:r>
            <a:r>
              <a:rPr lang="en-GB" sz="2200" dirty="0"/>
              <a:t> to develop a management system for his dental clinic. </a:t>
            </a:r>
          </a:p>
          <a:p>
            <a:pPr algn="just">
              <a:buNone/>
            </a:pPr>
            <a:r>
              <a:rPr lang="en-GB" sz="2200" dirty="0"/>
              <a:t> 	Ali’s request was to develop a system to electronically manage patient records and perform administrative functions similar to ‘what is being used in other clinics’ but within a budget of </a:t>
            </a:r>
            <a:r>
              <a:rPr lang="en-GB" sz="2200" b="1" dirty="0"/>
              <a:t>500 Saudi riyals</a:t>
            </a:r>
            <a:r>
              <a:rPr lang="en-GB" sz="2200" dirty="0"/>
              <a:t> and delivered within </a:t>
            </a:r>
            <a:r>
              <a:rPr lang="en-GB" sz="2200" b="1" dirty="0"/>
              <a:t>3 months.</a:t>
            </a:r>
            <a:r>
              <a:rPr lang="en-GB" sz="2200" dirty="0"/>
              <a:t> </a:t>
            </a:r>
          </a:p>
          <a:p>
            <a:pPr algn="just">
              <a:buNone/>
            </a:pPr>
            <a:r>
              <a:rPr lang="en-GB" sz="2200" dirty="0"/>
              <a:t>	</a:t>
            </a:r>
            <a:r>
              <a:rPr lang="en-GB" sz="2200" dirty="0" err="1"/>
              <a:t>SaudiTech</a:t>
            </a:r>
            <a:r>
              <a:rPr lang="en-GB" sz="2200" dirty="0"/>
              <a:t> adopts an ad hoc approach </a:t>
            </a:r>
            <a:r>
              <a:rPr lang="en-GB" sz="2200" b="1" dirty="0"/>
              <a:t>(Developing software without planning for each phase, and without specifying tasks, deliverables, or time constraints)</a:t>
            </a:r>
            <a:r>
              <a:rPr lang="en-GB" sz="2200" dirty="0"/>
              <a:t> to software development and has not worked on large scale projects before. </a:t>
            </a:r>
          </a:p>
          <a:p>
            <a:pPr algn="just">
              <a:buNone/>
            </a:pPr>
            <a:r>
              <a:rPr lang="en-GB" sz="2200" b="1" dirty="0">
                <a:solidFill>
                  <a:srgbClr val="000000"/>
                </a:solidFill>
              </a:rPr>
              <a:t>What problems do you anticipate in this project? </a:t>
            </a:r>
            <a:endParaRPr lang="en-US" sz="2200" b="1" dirty="0">
              <a:solidFill>
                <a:srgbClr val="00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9AFA04-62C3-49CD-966C-1AC6CAA51725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2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How can we overcome problems with ad hoc software development?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2000" b="1" dirty="0"/>
              <a:t>Problems:</a:t>
            </a:r>
            <a:r>
              <a:rPr lang="en-US" sz="2000" dirty="0"/>
              <a:t> </a:t>
            </a:r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r>
              <a:rPr lang="en-US" dirty="0"/>
              <a:t>Difficult to distinguish between tasks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 important tasks may be ignored.</a:t>
            </a:r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r>
              <a:rPr lang="en-US" dirty="0"/>
              <a:t>Inconsistent schedules, budgets, functionality and product quality.</a:t>
            </a:r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r>
              <a:rPr lang="en-US" dirty="0"/>
              <a:t>Delayed problem discovery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more costly to fix.</a:t>
            </a:r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 lvl="1"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endParaRPr lang="en-US" sz="1800" dirty="0"/>
          </a:p>
          <a:p>
            <a:pPr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2200" dirty="0"/>
              <a:t>Software Process Models </a:t>
            </a:r>
            <a:r>
              <a:rPr lang="en-GB" sz="2200" dirty="0"/>
              <a:t>provide guidelines to organize </a:t>
            </a:r>
            <a:r>
              <a:rPr lang="en-GB" sz="2200" b="1" dirty="0"/>
              <a:t>how</a:t>
            </a:r>
            <a:r>
              <a:rPr lang="en-GB" sz="2200" dirty="0"/>
              <a:t> software process activities should be performed and </a:t>
            </a:r>
            <a:r>
              <a:rPr lang="en-GB" sz="2200" b="1" dirty="0"/>
              <a:t>in what order</a:t>
            </a:r>
            <a:r>
              <a:rPr lang="en-GB" sz="2200" dirty="0"/>
              <a:t>.</a:t>
            </a:r>
            <a:endParaRPr lang="en-US" sz="2200" dirty="0"/>
          </a:p>
        </p:txBody>
      </p:sp>
      <p:sp>
        <p:nvSpPr>
          <p:cNvPr id="7" name="Rectangle 6"/>
          <p:cNvSpPr/>
          <p:nvPr/>
        </p:nvSpPr>
        <p:spPr>
          <a:xfrm>
            <a:off x="1219200" y="3917430"/>
            <a:ext cx="6057275" cy="65457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Aft>
                <a:spcPts val="1200"/>
              </a:spcAft>
              <a:defRPr/>
            </a:pPr>
            <a:r>
              <a:rPr lang="en-US" b="1" dirty="0">
                <a:solidFill>
                  <a:srgbClr val="C00000"/>
                </a:solidFill>
              </a:rPr>
              <a:t>Solution?     Software Process Model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E792ED-A307-445A-96F8-05E973CD7115}" type="datetime1">
              <a:rPr lang="en-US" smtClean="0"/>
              <a:t>10/6/2025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4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7292975" cy="1144588"/>
          </a:xfrm>
        </p:spPr>
        <p:txBody>
          <a:bodyPr>
            <a:normAutofit/>
          </a:bodyPr>
          <a:lstStyle/>
          <a:p>
            <a:pPr eaLnBrk="1"/>
            <a:r>
              <a:rPr lang="en-US" sz="3600" dirty="0">
                <a:cs typeface="Times New Roman" pitchFamily="18" charset="0"/>
                <a:sym typeface="Arial" panose="020B0604020202020204" pitchFamily="34" charset="0"/>
              </a:rPr>
              <a:t>The Software Process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97025"/>
            <a:ext cx="8534400" cy="4529138"/>
          </a:xfrm>
        </p:spPr>
        <p:txBody>
          <a:bodyPr/>
          <a:lstStyle/>
          <a:p>
            <a:pPr algn="just">
              <a:spcBef>
                <a:spcPts val="600"/>
              </a:spcBef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structured set of activities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required to develop a </a:t>
            </a:r>
            <a:b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software system. </a:t>
            </a:r>
          </a:p>
          <a:p>
            <a:pPr algn="just">
              <a:spcBef>
                <a:spcPts val="600"/>
              </a:spcBef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Many different software processes but all involve: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Specification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– defining what the system should do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and 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implementation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– defining the organization of the system and implementing the system;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Validation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– checking that it does what the customer wants;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Evolution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– changing the system in response to changing customer needs.</a:t>
            </a:r>
          </a:p>
          <a:p>
            <a:pPr algn="just">
              <a:spcBef>
                <a:spcPts val="600"/>
              </a:spcBef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software process model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is an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abstract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representation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of a process. It presents a description of a process from some particular perspective.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9E9C38-F46F-4C2A-8738-5F595E272DA0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8479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7292975" cy="1144588"/>
          </a:xfrm>
        </p:spPr>
        <p:txBody>
          <a:bodyPr>
            <a:normAutofit/>
          </a:bodyPr>
          <a:lstStyle/>
          <a:p>
            <a:r>
              <a:rPr lang="en-US" sz="3600" dirty="0">
                <a:cs typeface="Times New Roman" pitchFamily="18" charset="0"/>
                <a:sym typeface="Arial" panose="020B0604020202020204" pitchFamily="34" charset="0"/>
              </a:rPr>
              <a:t>Software Process Descriptions</a:t>
            </a:r>
            <a:endParaRPr lang="en-US" sz="3600" dirty="0">
              <a:cs typeface="Times New Roman" pitchFamily="18" charset="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7025"/>
            <a:ext cx="8229600" cy="4529138"/>
          </a:xfrm>
        </p:spPr>
        <p:txBody>
          <a:bodyPr/>
          <a:lstStyle/>
          <a:p>
            <a:pPr algn="just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When we describe and discuss processes, we usually talk about the </a:t>
            </a:r>
            <a:r>
              <a:rPr lang="en-US" sz="2400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activities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in these processes such as specifying a data model, designing a user interface, etc. and the ordering of these activities.</a:t>
            </a:r>
          </a:p>
          <a:p>
            <a:pPr algn="just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Process descriptions may also include: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Products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which are the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outcomes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of a process activity; 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Roles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which reflect the responsibilities of the people involved in the process;</a:t>
            </a:r>
          </a:p>
          <a:p>
            <a:pPr marL="800100" lvl="1" indent="-342900" algn="just">
              <a:spcBef>
                <a:spcPts val="300"/>
              </a:spcBef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Pre- and post-conditions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, which are statements that are true before and after a process activity has been enacted or a product produced.   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F5ABAF-8B38-477F-9F9B-489CD7007DEC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494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608887" cy="1144588"/>
          </a:xfrm>
        </p:spPr>
        <p:txBody>
          <a:bodyPr>
            <a:normAutofit fontScale="90000"/>
          </a:bodyPr>
          <a:lstStyle/>
          <a:p>
            <a:br>
              <a:rPr lang="en-US" sz="2400" b="1" dirty="0">
                <a:solidFill>
                  <a:srgbClr val="46424D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br>
            <a:br>
              <a:rPr lang="en-US" sz="2400" b="1" dirty="0">
                <a:solidFill>
                  <a:srgbClr val="46424D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lang="en-US" dirty="0">
                <a:cs typeface="Times New Roman" pitchFamily="18" charset="0"/>
                <a:sym typeface="Arial" panose="020B0604020202020204" pitchFamily="34" charset="0"/>
              </a:rPr>
              <a:t>Plan-driven and Agile Processes</a:t>
            </a:r>
            <a:br>
              <a:rPr lang="en-US" dirty="0">
                <a:cs typeface="Times New Roman" pitchFamily="18" charset="0"/>
                <a:sym typeface="Arial" panose="020B0604020202020204" pitchFamily="34" charset="0"/>
              </a:rPr>
            </a:br>
            <a:endParaRPr lang="en-US" dirty="0">
              <a:cs typeface="Times New Roman" pitchFamily="18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97025"/>
            <a:ext cx="8229600" cy="4529138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Plan-driven processes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are processes where all of the process activities are planned in advance and progress is measured against this plan. </a:t>
            </a:r>
          </a:p>
          <a:p>
            <a:pPr lvl="1" algn="just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Plan drives everything!</a:t>
            </a:r>
          </a:p>
          <a:p>
            <a:pPr algn="just">
              <a:spcBef>
                <a:spcPts val="600"/>
              </a:spcBef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 Agile Processes planning is incremental and it is </a:t>
            </a:r>
            <a:r>
              <a:rPr lang="en-US" sz="2400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easier</a:t>
            </a:r>
            <a:r>
              <a:rPr lang="en-US" sz="2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400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to</a:t>
            </a:r>
            <a:r>
              <a:rPr lang="en-US" sz="2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400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change</a:t>
            </a:r>
            <a:r>
              <a:rPr lang="en-US" sz="2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the process to reflect changing customer requirements. </a:t>
            </a:r>
          </a:p>
          <a:p>
            <a:pPr algn="just">
              <a:spcBef>
                <a:spcPts val="600"/>
              </a:spcBef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In practice, most practical processes include elements of both plan-driven and agile. </a:t>
            </a:r>
          </a:p>
          <a:p>
            <a:pPr algn="just">
              <a:spcBef>
                <a:spcPts val="600"/>
              </a:spcBef>
            </a:pP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There are no right or wrong software processes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947B46-422D-43E5-A53A-84A6ED273517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382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Software Process/SDLC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+mj-lt"/>
                <a:cs typeface="Times New Roman" pitchFamily="18" charset="0"/>
              </a:rPr>
              <a:t>Software Process model:</a:t>
            </a:r>
          </a:p>
          <a:p>
            <a:pPr>
              <a:lnSpc>
                <a:spcPct val="90000"/>
              </a:lnSpc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Times New Roman" pitchFamily="18" charset="0"/>
              </a:rPr>
              <a:t>Abstract representation of a software process</a:t>
            </a:r>
          </a:p>
          <a:p>
            <a:pPr>
              <a:lnSpc>
                <a:spcPct val="90000"/>
              </a:lnSpc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Times New Roman" pitchFamily="18" charset="0"/>
              </a:rPr>
              <a:t>Each Process model represents a process from different perspective</a:t>
            </a:r>
          </a:p>
          <a:p>
            <a:pPr marL="0" indent="0">
              <a:lnSpc>
                <a:spcPct val="90000"/>
              </a:lnSpc>
              <a:buClr>
                <a:schemeClr val="bg1">
                  <a:lumMod val="50000"/>
                </a:schemeClr>
              </a:buClr>
              <a:buNone/>
            </a:pPr>
            <a:r>
              <a:rPr lang="en-US" sz="2000" dirty="0">
                <a:latin typeface="+mj-lt"/>
                <a:cs typeface="Times New Roman" pitchFamily="18" charset="0"/>
              </a:rPr>
              <a:t>	</a:t>
            </a:r>
          </a:p>
          <a:p>
            <a:pPr>
              <a:lnSpc>
                <a:spcPct val="120000"/>
              </a:lnSpc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Times New Roman" pitchFamily="18" charset="0"/>
              </a:rPr>
              <a:t>Following are the most important and popular SDLC models followed in the industry:</a:t>
            </a:r>
          </a:p>
          <a:p>
            <a:pPr lvl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US" sz="1800" dirty="0">
                <a:latin typeface="+mj-lt"/>
              </a:rPr>
              <a:t>Waterfall model.</a:t>
            </a:r>
          </a:p>
          <a:p>
            <a:pPr lvl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US" sz="1800" dirty="0">
                <a:latin typeface="+mj-lt"/>
              </a:rPr>
              <a:t>V Model</a:t>
            </a:r>
          </a:p>
          <a:p>
            <a:pPr lvl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US" sz="1800" dirty="0">
                <a:latin typeface="+mj-lt"/>
              </a:rPr>
              <a:t>Evolutionary development.</a:t>
            </a:r>
          </a:p>
          <a:p>
            <a:pPr lvl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US" sz="1800" dirty="0">
                <a:latin typeface="+mj-lt"/>
              </a:rPr>
              <a:t>Component-Based development model (CBSE).</a:t>
            </a:r>
          </a:p>
          <a:p>
            <a:pPr lvl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1800" dirty="0">
                <a:latin typeface="+mj-lt"/>
              </a:rPr>
              <a:t>Process iteration(incremental and spiral Models)</a:t>
            </a:r>
          </a:p>
          <a:p>
            <a:pPr marL="0" indent="0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70000"/>
              <a:buNone/>
              <a:defRPr/>
            </a:pPr>
            <a:r>
              <a:rPr lang="en-US" sz="2000" dirty="0">
                <a:latin typeface="+mj-lt"/>
                <a:cs typeface="Times New Roman" pitchFamily="18" charset="0"/>
              </a:rPr>
              <a:t>The other related methodologies are Agile and RAD Model – Rapid Application Development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719522-CBF9-44D0-92B7-804C3E748D68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89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+mj-lt"/>
                <a:cs typeface="Times New Roman" pitchFamily="18" charset="0"/>
              </a:rPr>
              <a:t>First published model</a:t>
            </a:r>
          </a:p>
          <a:p>
            <a:pPr algn="just">
              <a:buNone/>
            </a:pPr>
            <a:endParaRPr lang="en-US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dirty="0">
                <a:latin typeface="+mj-lt"/>
                <a:cs typeface="Times New Roman" pitchFamily="18" charset="0"/>
              </a:rPr>
              <a:t>Because of the cascade from one phase to another, this model is known as ‘Waterfall Model’.</a:t>
            </a:r>
          </a:p>
          <a:p>
            <a:pPr algn="just">
              <a:buNone/>
            </a:pPr>
            <a:endParaRPr lang="en-US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dirty="0">
                <a:latin typeface="+mj-lt"/>
                <a:cs typeface="Times New Roman" pitchFamily="18" charset="0"/>
              </a:rPr>
              <a:t>It is also referred to as linear-sequential life cycle model. </a:t>
            </a:r>
          </a:p>
          <a:p>
            <a:pPr algn="just">
              <a:buNone/>
            </a:pPr>
            <a:endParaRPr lang="en-US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dirty="0">
                <a:latin typeface="+mj-lt"/>
                <a:cs typeface="Times New Roman" pitchFamily="18" charset="0"/>
              </a:rPr>
              <a:t>Each phase must be completed before the next phase can begin and there is no overlapping in the phases.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F9A94-3F63-44C6-9789-E8ACA57C996E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8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19200"/>
            <a:ext cx="9144000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E953D3-D82E-4B7C-A982-8D6103CCDB70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73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Applicability:</a:t>
            </a:r>
          </a:p>
          <a:p>
            <a:pPr>
              <a:buNone/>
            </a:pPr>
            <a:r>
              <a:rPr lang="en-US" sz="2800" dirty="0"/>
              <a:t>	</a:t>
            </a:r>
          </a:p>
          <a:p>
            <a:r>
              <a:rPr lang="en-US" sz="2800" dirty="0"/>
              <a:t> </a:t>
            </a:r>
            <a:r>
              <a:rPr lang="en-US" dirty="0"/>
              <a:t>Requirements are very well understood, clear and fixed </a:t>
            </a:r>
          </a:p>
          <a:p>
            <a:endParaRPr lang="en-US" dirty="0"/>
          </a:p>
          <a:p>
            <a:r>
              <a:rPr lang="en-US" dirty="0"/>
              <a:t> Product definition is stable </a:t>
            </a:r>
          </a:p>
          <a:p>
            <a:endParaRPr lang="en-US" dirty="0"/>
          </a:p>
          <a:p>
            <a:r>
              <a:rPr lang="en-US" dirty="0"/>
              <a:t> Technology is understood 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FEC4B3-7A57-4005-A5A3-6F5F58DAB723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0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Advantages:</a:t>
            </a:r>
          </a:p>
          <a:p>
            <a:r>
              <a:rPr lang="en-US" dirty="0"/>
              <a:t>Documentation - at each phase</a:t>
            </a:r>
          </a:p>
          <a:p>
            <a:r>
              <a:rPr lang="en-US" dirty="0"/>
              <a:t>Phases are processed and completed one at a time. </a:t>
            </a:r>
          </a:p>
          <a:p>
            <a:r>
              <a:rPr lang="en-US" dirty="0"/>
              <a:t>Easy to arrange tasks. </a:t>
            </a:r>
          </a:p>
          <a:p>
            <a:pPr>
              <a:buNone/>
            </a:pPr>
            <a:endParaRPr lang="en-US" dirty="0"/>
          </a:p>
          <a:p>
            <a:pPr marL="292100" indent="-292100" algn="just">
              <a:spcAft>
                <a:spcPts val="1200"/>
              </a:spcAft>
              <a:buClr>
                <a:schemeClr val="accent3">
                  <a:lumMod val="75000"/>
                </a:schemeClr>
              </a:buClr>
              <a:buSzPct val="70000"/>
              <a:buNone/>
              <a:defRPr/>
            </a:pPr>
            <a:r>
              <a:rPr lang="en-GB" b="1" dirty="0"/>
              <a:t>Problems:</a:t>
            </a:r>
          </a:p>
          <a:p>
            <a:pPr algn="just">
              <a:spcAft>
                <a:spcPts val="1200"/>
              </a:spcAft>
              <a:buClr>
                <a:schemeClr val="accent3">
                  <a:lumMod val="75000"/>
                </a:schemeClr>
              </a:buClr>
              <a:buSzPct val="70000"/>
              <a:defRPr/>
            </a:pPr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6BBEE4-DB0E-412D-8814-6BA1E2806BDF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69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A variation of the waterfall model</a:t>
            </a:r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Development phases are presented in a V-shaped graph.</a:t>
            </a:r>
          </a:p>
          <a:p>
            <a:pPr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It is also known as </a:t>
            </a:r>
            <a:r>
              <a:rPr lang="en-US" b="1" dirty="0"/>
              <a:t>Verification and Validation model</a:t>
            </a:r>
            <a:r>
              <a:rPr lang="en-US" dirty="0"/>
              <a:t>.</a:t>
            </a:r>
          </a:p>
          <a:p>
            <a:pPr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For every </a:t>
            </a:r>
            <a:r>
              <a:rPr lang="en-US" b="1" dirty="0"/>
              <a:t>single</a:t>
            </a:r>
            <a:r>
              <a:rPr lang="en-US" dirty="0"/>
              <a:t> phase in the development cycle there is a directly associated testing phase.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64ED4E-87A9-4161-B0C2-E883BE8A393A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67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i="1" dirty="0"/>
          </a:p>
          <a:p>
            <a:r>
              <a:rPr lang="en-US" b="1" i="1" dirty="0"/>
              <a:t>Verification</a:t>
            </a:r>
            <a:endParaRPr lang="en-US" b="1" dirty="0"/>
          </a:p>
          <a:p>
            <a:pPr lvl="1"/>
            <a:r>
              <a:rPr lang="en-US" sz="2200" dirty="0"/>
              <a:t>Does the product meet system specifications?</a:t>
            </a:r>
          </a:p>
          <a:p>
            <a:pPr lvl="1"/>
            <a:r>
              <a:rPr lang="en-US" sz="2200" dirty="0"/>
              <a:t>Have you built the product right?</a:t>
            </a:r>
          </a:p>
          <a:p>
            <a:pPr lvl="1"/>
            <a:endParaRPr lang="en-US" sz="2200" dirty="0"/>
          </a:p>
          <a:p>
            <a:r>
              <a:rPr lang="en-US" b="1" i="1" dirty="0"/>
              <a:t>Validation</a:t>
            </a:r>
            <a:r>
              <a:rPr lang="en-US" sz="2200" b="1" i="1" dirty="0"/>
              <a:t> </a:t>
            </a:r>
            <a:endParaRPr lang="en-US" sz="2200" b="1" dirty="0"/>
          </a:p>
          <a:p>
            <a:pPr lvl="1"/>
            <a:r>
              <a:rPr lang="en-US" sz="2200" dirty="0"/>
              <a:t>Does the product meet user expectations?</a:t>
            </a:r>
          </a:p>
          <a:p>
            <a:pPr lvl="1"/>
            <a:r>
              <a:rPr lang="en-US" sz="2200" dirty="0"/>
              <a:t>Have you built the right product?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3880D4-19BE-4D0F-BC22-B6CEACB48807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83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Model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200"/>
            <a:ext cx="8229600" cy="4876800"/>
          </a:xfr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3F228D-0E70-4ABC-BB53-E1989C833EF6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6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b="1" dirty="0"/>
              <a:t>Advantages:</a:t>
            </a:r>
          </a:p>
          <a:p>
            <a:pPr algn="just"/>
            <a:r>
              <a:rPr lang="en-US" dirty="0"/>
              <a:t>Testing activities like planning, test designing, happens well before coding. </a:t>
            </a:r>
          </a:p>
          <a:p>
            <a:pPr algn="just"/>
            <a:r>
              <a:rPr lang="en-US" dirty="0"/>
              <a:t>Higher chances of success over the waterfall model.</a:t>
            </a:r>
          </a:p>
          <a:p>
            <a:pPr algn="just"/>
            <a:r>
              <a:rPr lang="en-US" dirty="0"/>
              <a:t>Works well for projects where requirements are easily understood.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b="1" dirty="0"/>
              <a:t>Problems:</a:t>
            </a:r>
            <a:endParaRPr lang="en-US" dirty="0"/>
          </a:p>
          <a:p>
            <a:pPr algn="just"/>
            <a:r>
              <a:rPr lang="en-US" dirty="0"/>
              <a:t>Difficult to handle changes in requirements throughout the life cycle</a:t>
            </a:r>
          </a:p>
          <a:p>
            <a:pPr algn="just"/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A0444D-E370-4FEB-A095-CC4421E152FA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80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Applicability:</a:t>
            </a:r>
          </a:p>
          <a:p>
            <a:pPr>
              <a:buNone/>
            </a:pPr>
            <a:endParaRPr lang="en-US" b="1" dirty="0"/>
          </a:p>
          <a:p>
            <a:r>
              <a:rPr lang="en-US" dirty="0"/>
              <a:t>The V-shaped model should be used for projects where requirements are clearly defined and fixed.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The V-Shaped model should be chosen when technical resources are available with needed technical expertise.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High confidence of customer is required for choosing the V-Shaped model approach. 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C6A511-9A33-42F5-A99F-EC2DD5E63CFB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55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Evolutionary Development:</a:t>
            </a:r>
          </a:p>
          <a:p>
            <a:pPr algn="just"/>
            <a:r>
              <a:rPr lang="en-US" dirty="0"/>
              <a:t>Includes the activities of  specification, development and validation</a:t>
            </a:r>
          </a:p>
          <a:p>
            <a:pPr algn="just"/>
            <a:r>
              <a:rPr lang="en-US" dirty="0"/>
              <a:t>Initial system is developed from abstract specification</a:t>
            </a:r>
          </a:p>
          <a:p>
            <a:pPr algn="just"/>
            <a:r>
              <a:rPr lang="en-US" dirty="0"/>
              <a:t>Then refined with customer input to produce a system that satisfies the customer’ s needs.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Two types of evolutionary development</a:t>
            </a:r>
          </a:p>
          <a:p>
            <a:pPr marL="566928" indent="-457200" algn="just">
              <a:buAutoNum type="arabicPeriod"/>
            </a:pPr>
            <a:r>
              <a:rPr lang="en-US" dirty="0"/>
              <a:t>Exploratory</a:t>
            </a:r>
          </a:p>
          <a:p>
            <a:pPr marL="566928" indent="-457200" algn="just">
              <a:buAutoNum type="arabicPeriod"/>
            </a:pPr>
            <a:r>
              <a:rPr lang="en-US" dirty="0"/>
              <a:t>Prototyping</a:t>
            </a:r>
          </a:p>
          <a:p>
            <a:pPr algn="just"/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202BF9-EDF8-4A52-8862-C13032918922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72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>
              <a:buNone/>
            </a:pPr>
            <a:r>
              <a:rPr lang="en-US" b="1" dirty="0"/>
              <a:t>Exploratory Model</a:t>
            </a:r>
          </a:p>
          <a:p>
            <a:pPr lvl="0" algn="just">
              <a:buNone/>
            </a:pPr>
            <a:endParaRPr lang="en-US" b="1" dirty="0"/>
          </a:p>
          <a:p>
            <a:pPr algn="just"/>
            <a:r>
              <a:rPr lang="en-GB" dirty="0"/>
              <a:t>Objective of the process is to work with customers to explore their requirements and deliver a final system.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The development starts with the parts of the system that are understood.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The system evolves by adding new features proposed by customer. 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US" dirty="0"/>
              <a:t>This model works best in situations where few, or none, of the system or product requirements are known in detail.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9DCF72-7CBB-4218-8D5C-DD6FBC5C6391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59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57200" y="2516187"/>
            <a:ext cx="8229600" cy="3733800"/>
            <a:chOff x="914400" y="2743200"/>
            <a:chExt cx="7772400" cy="3733800"/>
          </a:xfrm>
        </p:grpSpPr>
        <p:sp>
          <p:nvSpPr>
            <p:cNvPr id="9" name="Rectangle 8"/>
            <p:cNvSpPr/>
            <p:nvPr/>
          </p:nvSpPr>
          <p:spPr>
            <a:xfrm>
              <a:off x="914400" y="3962400"/>
              <a:ext cx="1219200" cy="685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chemeClr val="accent3">
                      <a:lumMod val="50000"/>
                    </a:schemeClr>
                  </a:solidFill>
                </a:rPr>
                <a:t>Outline Description</a:t>
              </a:r>
              <a:endParaRPr lang="en-GB" sz="16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grpSp>
          <p:nvGrpSpPr>
            <p:cNvPr id="10" name="Group 16"/>
            <p:cNvGrpSpPr>
              <a:grpSpLocks/>
            </p:cNvGrpSpPr>
            <p:nvPr/>
          </p:nvGrpSpPr>
          <p:grpSpPr bwMode="auto">
            <a:xfrm>
              <a:off x="6248400" y="2743200"/>
              <a:ext cx="2438400" cy="3733800"/>
              <a:chOff x="6248400" y="2743200"/>
              <a:chExt cx="2438400" cy="373380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6248400" y="2743200"/>
                <a:ext cx="2438400" cy="37338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dirty="0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858000" y="3124200"/>
                <a:ext cx="1295400" cy="685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</a:rPr>
                  <a:t>Initial Version</a:t>
                </a:r>
                <a:endParaRPr lang="en-GB" sz="16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858000" y="5181600"/>
                <a:ext cx="1295400" cy="685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</a:rPr>
                  <a:t>Final</a:t>
                </a:r>
              </a:p>
              <a:p>
                <a:pPr algn="ctr">
                  <a:defRPr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</a:rPr>
                  <a:t>Version</a:t>
                </a:r>
                <a:endParaRPr lang="en-GB" sz="16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27" name="Group 14"/>
              <p:cNvGrpSpPr/>
              <p:nvPr/>
            </p:nvGrpSpPr>
            <p:grpSpPr>
              <a:xfrm>
                <a:off x="6858000" y="4038600"/>
                <a:ext cx="1447800" cy="838200"/>
                <a:chOff x="1752600" y="5638800"/>
                <a:chExt cx="1447800" cy="838200"/>
              </a:xfrm>
              <a:solidFill>
                <a:schemeClr val="bg1"/>
              </a:solidFill>
            </p:grpSpPr>
            <p:sp>
              <p:nvSpPr>
                <p:cNvPr id="28" name="Rectangle 27"/>
                <p:cNvSpPr/>
                <p:nvPr/>
              </p:nvSpPr>
              <p:spPr>
                <a:xfrm>
                  <a:off x="1905000" y="5791200"/>
                  <a:ext cx="1295400" cy="685800"/>
                </a:xfrm>
                <a:prstGeom prst="rect">
                  <a:avLst/>
                </a:prstGeom>
                <a:grpFill/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600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1828800" y="5715000"/>
                  <a:ext cx="1295400" cy="685800"/>
                </a:xfrm>
                <a:prstGeom prst="rect">
                  <a:avLst/>
                </a:prstGeom>
                <a:grpFill/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GB" sz="1600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1752600" y="5638800"/>
                  <a:ext cx="1295400" cy="685800"/>
                </a:xfrm>
                <a:prstGeom prst="rect">
                  <a:avLst/>
                </a:prstGeom>
                <a:grpFill/>
                <a:ln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1600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Intermediate Version</a:t>
                  </a:r>
                  <a:endParaRPr lang="en-GB" sz="1600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1" name="Group 37"/>
            <p:cNvGrpSpPr>
              <a:grpSpLocks/>
            </p:cNvGrpSpPr>
            <p:nvPr/>
          </p:nvGrpSpPr>
          <p:grpSpPr bwMode="auto">
            <a:xfrm>
              <a:off x="3048000" y="2743200"/>
              <a:ext cx="2438400" cy="3733800"/>
              <a:chOff x="3352800" y="2743200"/>
              <a:chExt cx="2438400" cy="37338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352800" y="2743200"/>
                <a:ext cx="2438400" cy="37338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 dirty="0"/>
              </a:p>
            </p:txBody>
          </p:sp>
          <p:sp>
            <p:nvSpPr>
              <p:cNvPr id="17" name="Flowchart: Alternate Process 16"/>
              <p:cNvSpPr/>
              <p:nvPr/>
            </p:nvSpPr>
            <p:spPr>
              <a:xfrm>
                <a:off x="3733800" y="3200400"/>
                <a:ext cx="1676400" cy="5334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</a:rPr>
                  <a:t>Specification</a:t>
                </a:r>
                <a:endParaRPr lang="en-GB" sz="16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" name="Flowchart: Alternate Process 17"/>
              <p:cNvSpPr/>
              <p:nvPr/>
            </p:nvSpPr>
            <p:spPr>
              <a:xfrm>
                <a:off x="3733800" y="4191000"/>
                <a:ext cx="1676400" cy="5334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</a:rPr>
                  <a:t>Development</a:t>
                </a:r>
                <a:endParaRPr lang="en-GB" sz="16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Flowchart: Alternate Process 18"/>
              <p:cNvSpPr/>
              <p:nvPr/>
            </p:nvSpPr>
            <p:spPr>
              <a:xfrm>
                <a:off x="3733800" y="5181600"/>
                <a:ext cx="1676400" cy="53340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accent3">
                        <a:lumMod val="50000"/>
                      </a:schemeClr>
                    </a:solidFill>
                  </a:rPr>
                  <a:t>Validation</a:t>
                </a:r>
                <a:endParaRPr lang="en-GB" sz="16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 rot="5400000">
                <a:off x="4724401" y="3962400"/>
                <a:ext cx="457200" cy="3175"/>
              </a:xfrm>
              <a:prstGeom prst="straightConnector1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 rot="5400000">
                <a:off x="4725194" y="4952206"/>
                <a:ext cx="457200" cy="1588"/>
              </a:xfrm>
              <a:prstGeom prst="straightConnector1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rot="5400000" flipH="1" flipV="1">
                <a:off x="4038601" y="3962400"/>
                <a:ext cx="457200" cy="3175"/>
              </a:xfrm>
              <a:prstGeom prst="straightConnector1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 rot="5400000" flipH="1" flipV="1">
                <a:off x="4039394" y="4952206"/>
                <a:ext cx="457200" cy="1588"/>
              </a:xfrm>
              <a:prstGeom prst="straightConnector1">
                <a:avLst/>
              </a:prstGeom>
              <a:ln>
                <a:solidFill>
                  <a:schemeClr val="accent3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Arrow Connector 11"/>
            <p:cNvCxnSpPr/>
            <p:nvPr/>
          </p:nvCxnSpPr>
          <p:spPr>
            <a:xfrm>
              <a:off x="5486400" y="3276600"/>
              <a:ext cx="762000" cy="1588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486400" y="4343400"/>
              <a:ext cx="762000" cy="1588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24" idx="1"/>
              <a:endCxn id="16" idx="3"/>
            </p:cNvCxnSpPr>
            <p:nvPr/>
          </p:nvCxnSpPr>
          <p:spPr>
            <a:xfrm rot="10800000">
              <a:off x="5486400" y="4610100"/>
              <a:ext cx="762000" cy="1588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0800000">
              <a:off x="5486400" y="3505200"/>
              <a:ext cx="762000" cy="1588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/>
          <p:cNvCxnSpPr/>
          <p:nvPr/>
        </p:nvCxnSpPr>
        <p:spPr>
          <a:xfrm flipV="1">
            <a:off x="1748118" y="4116387"/>
            <a:ext cx="968188" cy="158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EF9FFD-DC1E-47C1-8069-51E3781D2DBD}" type="datetime1">
              <a:rPr lang="en-US" smtClean="0"/>
              <a:t>10/6/2025</a:t>
            </a:fld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15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Exploratory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endParaRPr lang="en-GB" sz="2200" b="1" dirty="0"/>
          </a:p>
          <a:p>
            <a:pPr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2200" b="1" dirty="0"/>
              <a:t>Problems:</a:t>
            </a:r>
          </a:p>
          <a:p>
            <a:pPr marL="800100" lvl="2" indent="-342900"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2200" dirty="0"/>
              <a:t>Lack of process visibility;</a:t>
            </a:r>
          </a:p>
          <a:p>
            <a:pPr marL="800100" lvl="2" indent="-342900"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2200" dirty="0"/>
              <a:t>Systems are often poorly structured</a:t>
            </a:r>
          </a:p>
          <a:p>
            <a:pPr marL="800100" lvl="2" indent="-342900"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endParaRPr lang="en-GB" sz="2200" dirty="0"/>
          </a:p>
          <a:p>
            <a:pPr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2200" b="1" dirty="0"/>
              <a:t>Applicability:</a:t>
            </a:r>
          </a:p>
          <a:p>
            <a:pPr marL="800100" lvl="2" indent="-342900"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2200" dirty="0"/>
              <a:t>For small or medium-size interactive systems</a:t>
            </a:r>
          </a:p>
          <a:p>
            <a:pPr marL="800100" lvl="2" indent="-342900"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70000"/>
              <a:buFont typeface="Wingdings" pitchFamily="2" charset="2"/>
              <a:buChar char="§"/>
              <a:defRPr/>
            </a:pPr>
            <a:r>
              <a:rPr lang="en-GB" sz="2200" dirty="0"/>
              <a:t>For parts of large systems (e.g. the user interface)</a:t>
            </a:r>
          </a:p>
          <a:p>
            <a:pPr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C9EC64-6C87-424D-8EDB-694B9BC3EAF4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06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Prototyping  Model</a:t>
            </a:r>
          </a:p>
          <a:p>
            <a:pPr lvl="0" algn="just"/>
            <a:r>
              <a:rPr lang="en-US" dirty="0"/>
              <a:t>When a customer defines a set of general objectives for a software but does not identify </a:t>
            </a:r>
            <a:r>
              <a:rPr lang="en-US" b="1" dirty="0"/>
              <a:t>detailed I/O </a:t>
            </a:r>
            <a:r>
              <a:rPr lang="en-US" dirty="0"/>
              <a:t>or </a:t>
            </a:r>
            <a:r>
              <a:rPr lang="en-US" b="1" dirty="0"/>
              <a:t>processing requirements.</a:t>
            </a:r>
          </a:p>
          <a:p>
            <a:pPr lvl="0" algn="just"/>
            <a:r>
              <a:rPr lang="en-US" dirty="0"/>
              <a:t>A prototype is built to understand the requirements.</a:t>
            </a:r>
          </a:p>
          <a:p>
            <a:pPr lvl="0" algn="just"/>
            <a:r>
              <a:rPr lang="en-US" dirty="0"/>
              <a:t>By using this prototype, the client can get an “actual feel” of the system</a:t>
            </a:r>
          </a:p>
          <a:p>
            <a:pPr lvl="0" algn="just"/>
            <a:r>
              <a:rPr lang="en-US" dirty="0"/>
              <a:t>The interactions with prototype can enable the client to better understand the requirements of the desired system</a:t>
            </a:r>
          </a:p>
          <a:p>
            <a:pPr lvl="0" algn="just"/>
            <a:r>
              <a:rPr lang="en-US" dirty="0"/>
              <a:t>Prototyping is an attractive idea for complicated and large systems.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8D0CBB-EB12-49D4-B064-CA179DAF51EF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8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200" b="1" dirty="0"/>
              <a:t>Prototyping  Model</a:t>
            </a:r>
          </a:p>
          <a:p>
            <a:pPr algn="just">
              <a:buNone/>
            </a:pPr>
            <a:endParaRPr lang="en-US" sz="2200" b="1" dirty="0"/>
          </a:p>
          <a:p>
            <a:pPr lvl="0" algn="just">
              <a:buNone/>
            </a:pPr>
            <a:r>
              <a:rPr lang="en-US" sz="2200" dirty="0"/>
              <a:t>Consists of 4 iterating phases:</a:t>
            </a:r>
          </a:p>
          <a:p>
            <a:pPr lvl="1" algn="just"/>
            <a:r>
              <a:rPr lang="en-US" sz="2200" dirty="0"/>
              <a:t>Requirements gathering.</a:t>
            </a:r>
          </a:p>
          <a:p>
            <a:pPr lvl="1" algn="just"/>
            <a:r>
              <a:rPr lang="en-US" sz="2200" dirty="0"/>
              <a:t>Design and build prototype.</a:t>
            </a:r>
          </a:p>
          <a:p>
            <a:pPr lvl="1" algn="just"/>
            <a:r>
              <a:rPr lang="en-US" sz="2200" dirty="0"/>
              <a:t>Evaluate prototype with customer.</a:t>
            </a:r>
          </a:p>
          <a:p>
            <a:pPr lvl="1" algn="just"/>
            <a:r>
              <a:rPr lang="en-US" sz="2200" dirty="0"/>
              <a:t>Refine requirements.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584822-1DDB-413A-A680-A9E4F23D39AD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8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pc="0" dirty="0"/>
              <a:t>Prototype Model</a:t>
            </a:r>
            <a:endParaRPr lang="en-US" dirty="0"/>
          </a:p>
        </p:txBody>
      </p:sp>
      <p:graphicFrame>
        <p:nvGraphicFramePr>
          <p:cNvPr id="7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564795"/>
              </p:ext>
            </p:extLst>
          </p:nvPr>
        </p:nvGraphicFramePr>
        <p:xfrm>
          <a:off x="0" y="1447800"/>
          <a:ext cx="7162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5122985" y="1424781"/>
            <a:ext cx="3810000" cy="1570038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  <a:prstDash val="dash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1.  </a:t>
            </a:r>
            <a:r>
              <a:rPr lang="en-US" sz="1600" dirty="0">
                <a:latin typeface="+mj-lt"/>
              </a:rPr>
              <a:t>Requirements gathering.</a:t>
            </a:r>
            <a:endParaRPr lang="en-US" dirty="0">
              <a:latin typeface="+mj-lt"/>
            </a:endParaRPr>
          </a:p>
          <a:p>
            <a:pPr marL="342900" indent="-342900"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2.</a:t>
            </a:r>
            <a:r>
              <a:rPr lang="en-US" sz="1600" dirty="0">
                <a:latin typeface="+mj-lt"/>
              </a:rPr>
              <a:t>  Design and build SW prototype.</a:t>
            </a:r>
          </a:p>
          <a:p>
            <a:pPr marL="342900" indent="-342900"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3.</a:t>
            </a:r>
            <a:r>
              <a:rPr lang="en-US" sz="1600" dirty="0">
                <a:latin typeface="+mj-lt"/>
              </a:rPr>
              <a:t>  Evaluate prototype with customer.</a:t>
            </a:r>
          </a:p>
          <a:p>
            <a:pPr marL="342900" indent="-342900"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4.  </a:t>
            </a:r>
            <a:r>
              <a:rPr lang="en-US" sz="1600" dirty="0">
                <a:latin typeface="+mj-lt"/>
              </a:rPr>
              <a:t>Refine requirements.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548D43-E24E-40E1-86E0-FDC0FF6DB3C1}" type="datetime1">
              <a:rPr lang="en-US" smtClean="0"/>
              <a:t>10/6/2025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76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Prototyping</a:t>
            </a:r>
            <a:endParaRPr lang="en-US" dirty="0"/>
          </a:p>
        </p:txBody>
      </p:sp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4343400" y="1828800"/>
            <a:ext cx="2057400" cy="685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ahoma" pitchFamily="34" charset="0"/>
              </a:rPr>
              <a:t>Requirements</a:t>
            </a:r>
          </a:p>
        </p:txBody>
      </p:sp>
      <p:sp>
        <p:nvSpPr>
          <p:cNvPr id="8" name="AutoShape 3"/>
          <p:cNvSpPr>
            <a:spLocks noChangeArrowheads="1"/>
          </p:cNvSpPr>
          <p:nvPr/>
        </p:nvSpPr>
        <p:spPr bwMode="auto">
          <a:xfrm>
            <a:off x="1143000" y="1905000"/>
            <a:ext cx="205740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Tahoma" pitchFamily="34" charset="0"/>
              </a:rPr>
              <a:t>Engineer</a:t>
            </a:r>
          </a:p>
          <a:p>
            <a:pPr algn="ctr"/>
            <a:r>
              <a:rPr lang="en-US" dirty="0">
                <a:latin typeface="Tahoma" pitchFamily="34" charset="0"/>
              </a:rPr>
              <a:t>Product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5867400" y="2743200"/>
            <a:ext cx="205740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ahoma" pitchFamily="34" charset="0"/>
              </a:rPr>
              <a:t>Quick</a:t>
            </a:r>
          </a:p>
          <a:p>
            <a:pPr algn="ctr"/>
            <a:r>
              <a:rPr lang="en-US">
                <a:latin typeface="Tahoma" pitchFamily="34" charset="0"/>
              </a:rPr>
              <a:t>Design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791200" y="4038600"/>
            <a:ext cx="213360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ahoma" pitchFamily="34" charset="0"/>
              </a:rPr>
              <a:t>Build</a:t>
            </a:r>
          </a:p>
          <a:p>
            <a:pPr algn="ctr"/>
            <a:r>
              <a:rPr lang="en-US">
                <a:latin typeface="Tahoma" pitchFamily="34" charset="0"/>
              </a:rPr>
              <a:t>Prototype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3657600" y="5257800"/>
            <a:ext cx="205740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ahoma" pitchFamily="34" charset="0"/>
              </a:rPr>
              <a:t>Evaluate</a:t>
            </a:r>
          </a:p>
          <a:p>
            <a:pPr algn="ctr"/>
            <a:r>
              <a:rPr lang="en-US">
                <a:latin typeface="Tahoma" pitchFamily="34" charset="0"/>
              </a:rPr>
              <a:t>Prototype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1219200" y="4495800"/>
            <a:ext cx="2057400" cy="76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ahoma" pitchFamily="34" charset="0"/>
              </a:rPr>
              <a:t>Refine</a:t>
            </a:r>
          </a:p>
          <a:p>
            <a:pPr algn="ctr"/>
            <a:r>
              <a:rPr lang="en-US">
                <a:latin typeface="Tahoma" pitchFamily="34" charset="0"/>
              </a:rPr>
              <a:t>Prototype</a:t>
            </a:r>
          </a:p>
        </p:txBody>
      </p:sp>
      <p:cxnSp>
        <p:nvCxnSpPr>
          <p:cNvPr id="13" name="AutoShape 8"/>
          <p:cNvCxnSpPr>
            <a:cxnSpLocks noChangeShapeType="1"/>
            <a:stCxn id="7" idx="3"/>
            <a:endCxn id="9" idx="0"/>
          </p:cNvCxnSpPr>
          <p:nvPr/>
        </p:nvCxnSpPr>
        <p:spPr bwMode="auto">
          <a:xfrm>
            <a:off x="6400800" y="2171700"/>
            <a:ext cx="495300" cy="5715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cxnSp>
        <p:nvCxnSpPr>
          <p:cNvPr id="14" name="AutoShape 9"/>
          <p:cNvCxnSpPr>
            <a:cxnSpLocks noChangeShapeType="1"/>
            <a:stCxn id="9" idx="2"/>
            <a:endCxn id="10" idx="0"/>
          </p:cNvCxnSpPr>
          <p:nvPr/>
        </p:nvCxnSpPr>
        <p:spPr bwMode="auto">
          <a:xfrm flipH="1">
            <a:off x="6858000" y="3505200"/>
            <a:ext cx="381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cxnSp>
        <p:nvCxnSpPr>
          <p:cNvPr id="15" name="AutoShape 10"/>
          <p:cNvCxnSpPr>
            <a:cxnSpLocks noChangeShapeType="1"/>
            <a:stCxn id="10" idx="2"/>
            <a:endCxn id="11" idx="3"/>
          </p:cNvCxnSpPr>
          <p:nvPr/>
        </p:nvCxnSpPr>
        <p:spPr bwMode="auto">
          <a:xfrm rot="5400000">
            <a:off x="5867400" y="4648200"/>
            <a:ext cx="838200" cy="1143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cxnSp>
        <p:nvCxnSpPr>
          <p:cNvPr id="16" name="AutoShape 11"/>
          <p:cNvCxnSpPr>
            <a:cxnSpLocks noChangeShapeType="1"/>
            <a:stCxn id="11" idx="1"/>
            <a:endCxn id="12" idx="2"/>
          </p:cNvCxnSpPr>
          <p:nvPr/>
        </p:nvCxnSpPr>
        <p:spPr bwMode="auto">
          <a:xfrm rot="10800000">
            <a:off x="2247900" y="5257800"/>
            <a:ext cx="1409700" cy="381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sp>
        <p:nvSpPr>
          <p:cNvPr id="17" name="AutoShape 12"/>
          <p:cNvSpPr>
            <a:spLocks noChangeArrowheads="1"/>
          </p:cNvSpPr>
          <p:nvPr/>
        </p:nvSpPr>
        <p:spPr bwMode="auto">
          <a:xfrm>
            <a:off x="1143000" y="3276600"/>
            <a:ext cx="2133600" cy="762000"/>
          </a:xfrm>
          <a:prstGeom prst="flowChartDecision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bg2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sz="2000" dirty="0">
                <a:latin typeface="Tahoma" pitchFamily="34" charset="0"/>
              </a:rPr>
              <a:t>Changes</a:t>
            </a:r>
            <a:r>
              <a:rPr lang="en-US" sz="2800" dirty="0">
                <a:latin typeface="Tahoma" pitchFamily="34" charset="0"/>
              </a:rPr>
              <a:t>?</a:t>
            </a:r>
          </a:p>
        </p:txBody>
      </p:sp>
      <p:cxnSp>
        <p:nvCxnSpPr>
          <p:cNvPr id="18" name="AutoShape 13"/>
          <p:cNvCxnSpPr>
            <a:cxnSpLocks noChangeShapeType="1"/>
            <a:stCxn id="12" idx="0"/>
            <a:endCxn id="17" idx="2"/>
          </p:cNvCxnSpPr>
          <p:nvPr/>
        </p:nvCxnSpPr>
        <p:spPr bwMode="auto">
          <a:xfrm flipH="1" flipV="1">
            <a:off x="2209800" y="4038600"/>
            <a:ext cx="3810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cxnSp>
        <p:nvCxnSpPr>
          <p:cNvPr id="19" name="AutoShape 14"/>
          <p:cNvCxnSpPr>
            <a:cxnSpLocks noChangeShapeType="1"/>
            <a:stCxn id="17" idx="0"/>
            <a:endCxn id="8" idx="2"/>
          </p:cNvCxnSpPr>
          <p:nvPr/>
        </p:nvCxnSpPr>
        <p:spPr bwMode="auto">
          <a:xfrm flipH="1" flipV="1">
            <a:off x="2171700" y="2667000"/>
            <a:ext cx="381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cxnSp>
        <p:nvCxnSpPr>
          <p:cNvPr id="20" name="AutoShape 15"/>
          <p:cNvCxnSpPr>
            <a:cxnSpLocks noChangeShapeType="1"/>
            <a:stCxn id="17" idx="3"/>
            <a:endCxn id="9" idx="1"/>
          </p:cNvCxnSpPr>
          <p:nvPr/>
        </p:nvCxnSpPr>
        <p:spPr bwMode="auto">
          <a:xfrm flipV="1">
            <a:off x="3276600" y="3124200"/>
            <a:ext cx="2590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</p:spPr>
      </p:cxn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3810000" y="3048000"/>
            <a:ext cx="65722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latin typeface="Tahoma" pitchFamily="34" charset="0"/>
              </a:rPr>
              <a:t>Yes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2286000" y="2743200"/>
            <a:ext cx="5524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>
                <a:latin typeface="Tahoma" pitchFamily="34" charset="0"/>
              </a:rPr>
              <a:t>No</a:t>
            </a: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6019800" y="5715000"/>
            <a:ext cx="2163763" cy="396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sz="2000">
                <a:latin typeface="Tahoma" pitchFamily="34" charset="0"/>
              </a:rPr>
              <a:t>(Pressman, 1996)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77296-26CE-4B85-8388-14524DA26B46}" type="datetime1">
              <a:rPr lang="en-US" smtClean="0"/>
              <a:t>10/6/2025</a:t>
            </a:fld>
            <a:endParaRPr lang="en-US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46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b="1" dirty="0"/>
              <a:t>Advantages:</a:t>
            </a:r>
          </a:p>
          <a:p>
            <a:pPr algn="just"/>
            <a:r>
              <a:rPr lang="en-US" dirty="0"/>
              <a:t>Users are actively involved in the development</a:t>
            </a:r>
          </a:p>
          <a:p>
            <a:pPr algn="just"/>
            <a:r>
              <a:rPr lang="en-US" dirty="0"/>
              <a:t>Users get a better understanding of the system being developed.</a:t>
            </a:r>
          </a:p>
          <a:p>
            <a:pPr algn="just"/>
            <a:r>
              <a:rPr lang="en-US" dirty="0"/>
              <a:t>Errors can be detected much earlier.</a:t>
            </a:r>
          </a:p>
          <a:p>
            <a:pPr algn="just"/>
            <a:r>
              <a:rPr lang="en-US" dirty="0"/>
              <a:t>Quicker user feedback is available leading to better solutions.</a:t>
            </a:r>
          </a:p>
          <a:p>
            <a:pPr algn="just">
              <a:buNone/>
            </a:pPr>
            <a:r>
              <a:rPr lang="en-US" b="1" dirty="0"/>
              <a:t>Disadvantages:</a:t>
            </a:r>
          </a:p>
          <a:p>
            <a:pPr algn="just"/>
            <a:r>
              <a:rPr lang="en-US" dirty="0"/>
              <a:t>Practically, this methodology may increase the complexity of the system as scope of the system may expand beyond original plans.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B3E653-4E9F-4193-B94A-AC80AC9A07C6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19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Applicability: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Prototype model should be used when the desired system needs to have a lot of interaction with the end users.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Typically, online systems, web interfaces have a very high amount of interaction with end users, are best suited for Prototype model.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455264-5DE8-4885-901F-67980F7663B7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05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Component-based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90000"/>
              </a:lnSpc>
              <a:buSzPct val="90000"/>
            </a:pPr>
            <a:r>
              <a:rPr lang="en-GB" dirty="0"/>
              <a:t>Based on systematic reuse where systems are integrated from existing components.</a:t>
            </a:r>
          </a:p>
          <a:p>
            <a:pPr algn="just">
              <a:lnSpc>
                <a:spcPct val="90000"/>
              </a:lnSpc>
              <a:buSzPct val="90000"/>
            </a:pPr>
            <a:r>
              <a:rPr lang="en-GB" dirty="0"/>
              <a:t>People working on the project </a:t>
            </a:r>
            <a:r>
              <a:rPr lang="en-GB" dirty="0">
                <a:sym typeface="Wingdings" pitchFamily="2" charset="2"/>
              </a:rPr>
              <a:t> Know of design or code (similar to that required) Modify them as needed  incorporate them into their system</a:t>
            </a:r>
          </a:p>
          <a:p>
            <a:pPr algn="just">
              <a:lnSpc>
                <a:spcPct val="90000"/>
              </a:lnSpc>
              <a:buSzPct val="90000"/>
            </a:pPr>
            <a:r>
              <a:rPr lang="en-GB" dirty="0"/>
              <a:t>Process stages</a:t>
            </a:r>
          </a:p>
          <a:p>
            <a:pPr marL="760730" indent="-455613" algn="just">
              <a:lnSpc>
                <a:spcPct val="90000"/>
              </a:lnSpc>
            </a:pPr>
            <a:r>
              <a:rPr lang="en-GB" dirty="0"/>
              <a:t>Component analysis</a:t>
            </a:r>
          </a:p>
          <a:p>
            <a:pPr marL="760730" indent="-455613" algn="just">
              <a:lnSpc>
                <a:spcPct val="90000"/>
              </a:lnSpc>
            </a:pPr>
            <a:r>
              <a:rPr lang="en-GB" dirty="0"/>
              <a:t>Requirements modification</a:t>
            </a:r>
          </a:p>
          <a:p>
            <a:pPr marL="760730" indent="-455613" algn="just">
              <a:lnSpc>
                <a:spcPct val="90000"/>
              </a:lnSpc>
            </a:pPr>
            <a:r>
              <a:rPr lang="en-GB" dirty="0"/>
              <a:t>System design with reuse</a:t>
            </a:r>
          </a:p>
          <a:p>
            <a:pPr marL="760730" indent="-455613" algn="just">
              <a:lnSpc>
                <a:spcPct val="90000"/>
              </a:lnSpc>
            </a:pPr>
            <a:r>
              <a:rPr lang="en-GB" dirty="0"/>
              <a:t>Development and integration</a:t>
            </a:r>
          </a:p>
          <a:p>
            <a:pPr marL="465138" indent="-465138" algn="just">
              <a:lnSpc>
                <a:spcPct val="90000"/>
              </a:lnSpc>
            </a:pPr>
            <a:endParaRPr lang="en-GB" dirty="0"/>
          </a:p>
          <a:p>
            <a:pPr marL="465138" indent="-465138" algn="just">
              <a:lnSpc>
                <a:spcPct val="90000"/>
              </a:lnSpc>
            </a:pPr>
            <a:r>
              <a:rPr lang="en-GB" dirty="0"/>
              <a:t>This approach is becoming increasingly used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673EB0-9829-4730-BC15-95293B0E185A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99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The CBD/CBSE is the Solution…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45734"/>
            <a:ext cx="7543801" cy="1045104"/>
          </a:xfrm>
        </p:spPr>
        <p:txBody>
          <a:bodyPr>
            <a:normAutofit/>
          </a:bodyPr>
          <a:lstStyle/>
          <a:p>
            <a:r>
              <a:rPr lang="en-US" sz="2400" dirty="0"/>
              <a:t>Systems should be assembled from existing components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31545-FED9-4E1E-B5B5-81027997E95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831" y="2890838"/>
            <a:ext cx="7787969" cy="305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50F4-B47F-47B5-B786-C4818D167C9B}" type="datetime1">
              <a:rPr lang="en-US" smtClean="0"/>
              <a:t>10/6/2025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Component-based Software Engineering</a:t>
            </a:r>
            <a:endParaRPr lang="en-US" dirty="0"/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819400"/>
            <a:ext cx="8686800" cy="19050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57DC88-2255-453D-8763-E6B63C321A28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23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Component-based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5138" indent="-465138">
              <a:lnSpc>
                <a:spcPct val="90000"/>
              </a:lnSpc>
              <a:buNone/>
            </a:pPr>
            <a:r>
              <a:rPr lang="en-GB" b="1" dirty="0"/>
              <a:t>Advantages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Reduce the amount of software to be developed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Reducing cost and risk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Faster delivery of software</a:t>
            </a:r>
          </a:p>
          <a:p>
            <a:pPr marL="465138" indent="-465138">
              <a:lnSpc>
                <a:spcPct val="90000"/>
              </a:lnSpc>
              <a:buNone/>
            </a:pPr>
            <a:endParaRPr lang="en-GB" b="1" dirty="0"/>
          </a:p>
          <a:p>
            <a:pPr marL="465138" indent="-465138">
              <a:lnSpc>
                <a:spcPct val="90000"/>
              </a:lnSpc>
              <a:buNone/>
            </a:pPr>
            <a:r>
              <a:rPr lang="en-GB" b="1" dirty="0"/>
              <a:t>Disadvantages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Requirement changes—may lead to a system that does not meet the real needs of users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Control over the system evolution is lost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AE9FA1-0CAB-4009-916D-D0C5BC17722E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96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50000"/>
              </a:spcAft>
            </a:pPr>
            <a:endParaRPr lang="en-GB" sz="2800" dirty="0"/>
          </a:p>
          <a:p>
            <a:pPr>
              <a:buNone/>
            </a:pPr>
            <a:r>
              <a:rPr lang="en-GB" sz="2800" dirty="0"/>
              <a:t>Two (related) process models</a:t>
            </a:r>
          </a:p>
          <a:p>
            <a:pPr>
              <a:buNone/>
            </a:pPr>
            <a:endParaRPr lang="en-GB" sz="2800" dirty="0"/>
          </a:p>
          <a:p>
            <a:pPr lvl="1"/>
            <a:r>
              <a:rPr lang="en-GB" sz="2800" dirty="0"/>
              <a:t>Incremental delivery</a:t>
            </a:r>
          </a:p>
          <a:p>
            <a:pPr lvl="1"/>
            <a:r>
              <a:rPr lang="en-GB" sz="2800" dirty="0"/>
              <a:t>Spiral development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5D5ED-89F3-49A7-A9DF-0D9101282E65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54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70000"/>
              <a:buNone/>
              <a:defRPr/>
            </a:pPr>
            <a:r>
              <a:rPr lang="en-GB" sz="2300" b="1" dirty="0"/>
              <a:t>Advantages:</a:t>
            </a:r>
          </a:p>
          <a:p>
            <a:pPr marL="525780" indent="-342900" algn="just"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defRPr/>
            </a:pPr>
            <a:r>
              <a:rPr lang="en-GB" dirty="0"/>
              <a:t>Customer value can be delivered with each increment so system functionality is available earlier.</a:t>
            </a:r>
          </a:p>
          <a:p>
            <a:pPr marL="525780" indent="-342900" algn="just"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defRPr/>
            </a:pPr>
            <a:r>
              <a:rPr lang="en-GB" dirty="0"/>
              <a:t>Early increments act as a prototype to help elicit requirements for later increments.</a:t>
            </a:r>
          </a:p>
          <a:p>
            <a:pPr marL="525780" indent="-342900" algn="just"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defRPr/>
            </a:pPr>
            <a:r>
              <a:rPr lang="en-GB" dirty="0"/>
              <a:t>Lower risk of overall project failure.</a:t>
            </a:r>
          </a:p>
          <a:p>
            <a:pPr marL="525780" indent="-342900" algn="just"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defRPr/>
            </a:pPr>
            <a:r>
              <a:rPr lang="en-GB" dirty="0"/>
              <a:t>The highest priority system services tend to receive the most testing.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70000"/>
              <a:buNone/>
              <a:defRPr/>
            </a:pPr>
            <a:r>
              <a:rPr lang="en-GB" sz="2300" b="1" dirty="0"/>
              <a:t>Disadvantages:</a:t>
            </a:r>
          </a:p>
          <a:p>
            <a:pPr marL="525780" indent="-342900" algn="just"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defRPr/>
            </a:pPr>
            <a:r>
              <a:rPr lang="en-GB" dirty="0"/>
              <a:t>Can be difficult to map the customer’s requirements onto increments of the right size.</a:t>
            </a:r>
          </a:p>
          <a:p>
            <a:pPr marL="525780" indent="-342900" algn="just"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SzPct val="80000"/>
              <a:defRPr/>
            </a:pPr>
            <a:r>
              <a:rPr lang="en-GB" dirty="0"/>
              <a:t>Hard to identify common functions.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9BE440-14C1-4B72-A4D3-F681CAFF649B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15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Spiral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software process is represented as spiral, rather than a sequence of activities with some backtracking from one activity to another.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Each loop in spiral represents a phase of the software process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Innermost loop might be concerned with system feasibility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Next loop with requirements definition…next with system designed and so on.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A918BA-C4E3-4419-B502-1E7792AC96F0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93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Spiral Model of the Software Process</a:t>
            </a:r>
            <a:endParaRPr lang="en-US" dirty="0"/>
          </a:p>
        </p:txBody>
      </p:sp>
      <p:pic>
        <p:nvPicPr>
          <p:cNvPr id="7" name="Picture 3"/>
          <p:cNvPicPr>
            <a:picLocks noGrp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8991600" cy="502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E3DC8D-9464-4224-BF70-11A886EBB18B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33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Spiral Model(Example)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evolution of Microsoft Operating System, Compilers and other operating systems.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7C1CFD-7F1A-4E5B-AECB-735EE39563BC}" type="datetime1">
              <a:rPr lang="en-US" smtClean="0"/>
              <a:t>10/6/2025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13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5467</TotalTime>
  <Words>1776</Words>
  <Application>Microsoft Office PowerPoint</Application>
  <PresentationFormat>On-screen Show (4:3)</PresentationFormat>
  <Paragraphs>350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Georgia</vt:lpstr>
      <vt:lpstr>Tahoma</vt:lpstr>
      <vt:lpstr>Times New Roman</vt:lpstr>
      <vt:lpstr>Wingdings</vt:lpstr>
      <vt:lpstr>Clarity</vt:lpstr>
      <vt:lpstr>     CSSE3113 – Introduction to Software Engineering  </vt:lpstr>
      <vt:lpstr>Software Development</vt:lpstr>
      <vt:lpstr>Figure 1: Development Activities</vt:lpstr>
      <vt:lpstr>Ad hoc Software Development</vt:lpstr>
      <vt:lpstr>Case Study : SaudiTech</vt:lpstr>
      <vt:lpstr>How can we overcome problems with ad hoc software development?</vt:lpstr>
      <vt:lpstr>The Software Process</vt:lpstr>
      <vt:lpstr>Software Process Descriptions</vt:lpstr>
      <vt:lpstr>  Plan-driven and Agile Processes </vt:lpstr>
      <vt:lpstr>Software Process/SDLC Models</vt:lpstr>
      <vt:lpstr>Waterfall Model</vt:lpstr>
      <vt:lpstr>Waterfall Model</vt:lpstr>
      <vt:lpstr>Waterfall Model</vt:lpstr>
      <vt:lpstr>Waterfall Model</vt:lpstr>
      <vt:lpstr>V Model</vt:lpstr>
      <vt:lpstr>Verification and Validation</vt:lpstr>
      <vt:lpstr>V Model</vt:lpstr>
      <vt:lpstr>V Model</vt:lpstr>
      <vt:lpstr>V Model</vt:lpstr>
      <vt:lpstr>Evolutionary Models</vt:lpstr>
      <vt:lpstr>Evolutionary Models</vt:lpstr>
      <vt:lpstr>Exploratory Models</vt:lpstr>
      <vt:lpstr>Exploratory Model</vt:lpstr>
      <vt:lpstr>Evolutionary Models</vt:lpstr>
      <vt:lpstr>Evolutionary Models</vt:lpstr>
      <vt:lpstr>Prototype Model</vt:lpstr>
      <vt:lpstr>Prototyping</vt:lpstr>
      <vt:lpstr>Prototype Model</vt:lpstr>
      <vt:lpstr>Prototype Model</vt:lpstr>
      <vt:lpstr>Component-based Software Engineering</vt:lpstr>
      <vt:lpstr> The CBD/CBSE is the Solution…</vt:lpstr>
      <vt:lpstr>Component-based Software Engineering</vt:lpstr>
      <vt:lpstr>Component-based Software Engineering</vt:lpstr>
      <vt:lpstr>Process Iteration</vt:lpstr>
      <vt:lpstr>Incremental Model</vt:lpstr>
      <vt:lpstr>Spiral Model</vt:lpstr>
      <vt:lpstr>Spiral Model of the Software Process</vt:lpstr>
      <vt:lpstr>Spiral Model(Example)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sidra</dc:creator>
  <cp:lastModifiedBy>Junaid .</cp:lastModifiedBy>
  <cp:revision>345</cp:revision>
  <dcterms:created xsi:type="dcterms:W3CDTF">2008-08-13T03:46:03Z</dcterms:created>
  <dcterms:modified xsi:type="dcterms:W3CDTF">2025-10-06T06:07:39Z</dcterms:modified>
</cp:coreProperties>
</file>