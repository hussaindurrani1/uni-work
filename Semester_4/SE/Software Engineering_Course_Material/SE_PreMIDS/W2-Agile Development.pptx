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8" r:id="rId2"/>
  </p:sldMasterIdLst>
  <p:notesMasterIdLst>
    <p:notesMasterId r:id="rId37"/>
  </p:notesMasterIdLst>
  <p:handoutMasterIdLst>
    <p:handoutMasterId r:id="rId38"/>
  </p:handoutMasterIdLst>
  <p:sldIdLst>
    <p:sldId id="295" r:id="rId3"/>
    <p:sldId id="293" r:id="rId4"/>
    <p:sldId id="258" r:id="rId5"/>
    <p:sldId id="277" r:id="rId6"/>
    <p:sldId id="283" r:id="rId7"/>
    <p:sldId id="284" r:id="rId8"/>
    <p:sldId id="280" r:id="rId9"/>
    <p:sldId id="286" r:id="rId10"/>
    <p:sldId id="290" r:id="rId11"/>
    <p:sldId id="288" r:id="rId12"/>
    <p:sldId id="289" r:id="rId13"/>
    <p:sldId id="291" r:id="rId14"/>
    <p:sldId id="296" r:id="rId15"/>
    <p:sldId id="297" r:id="rId16"/>
    <p:sldId id="322" r:id="rId17"/>
    <p:sldId id="323" r:id="rId18"/>
    <p:sldId id="324" r:id="rId19"/>
    <p:sldId id="325" r:id="rId20"/>
    <p:sldId id="334" r:id="rId21"/>
    <p:sldId id="368" r:id="rId22"/>
    <p:sldId id="336" r:id="rId23"/>
    <p:sldId id="333" r:id="rId24"/>
    <p:sldId id="330" r:id="rId25"/>
    <p:sldId id="331" r:id="rId26"/>
    <p:sldId id="329" r:id="rId27"/>
    <p:sldId id="521" r:id="rId28"/>
    <p:sldId id="522" r:id="rId29"/>
    <p:sldId id="523" r:id="rId30"/>
    <p:sldId id="525" r:id="rId31"/>
    <p:sldId id="526" r:id="rId32"/>
    <p:sldId id="527" r:id="rId33"/>
    <p:sldId id="528" r:id="rId34"/>
    <p:sldId id="529" r:id="rId35"/>
    <p:sldId id="524" r:id="rId3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60"/>
  </p:normalViewPr>
  <p:slideViewPr>
    <p:cSldViewPr>
      <p:cViewPr varScale="1">
        <p:scale>
          <a:sx n="57" d="100"/>
          <a:sy n="57" d="100"/>
        </p:scale>
        <p:origin x="1476"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1"/>
            <a:ext cx="3037840" cy="466434"/>
          </a:xfrm>
          <a:prstGeom prst="rect">
            <a:avLst/>
          </a:prstGeom>
        </p:spPr>
        <p:txBody>
          <a:bodyPr vert="horz" lIns="93177" tIns="46589" rIns="93177" bIns="46589" rtlCol="0"/>
          <a:lstStyle>
            <a:lvl1pPr algn="r">
              <a:defRPr sz="1200"/>
            </a:lvl1pPr>
          </a:lstStyle>
          <a:p>
            <a:fld id="{CDD292DF-A89E-487F-A2F8-DB078E13499C}" type="datetimeFigureOut">
              <a:rPr lang="en-US" smtClean="0"/>
              <a:t>3/19/2025</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F9D03435-17A9-4C87-AA6B-811DD7BD1426}" type="slidenum">
              <a:rPr lang="en-US" smtClean="0"/>
              <a:t>‹#›</a:t>
            </a:fld>
            <a:endParaRPr lang="en-US"/>
          </a:p>
        </p:txBody>
      </p:sp>
    </p:spTree>
    <p:extLst>
      <p:ext uri="{BB962C8B-B14F-4D97-AF65-F5344CB8AC3E}">
        <p14:creationId xmlns:p14="http://schemas.microsoft.com/office/powerpoint/2010/main" val="1546041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3/19/2025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256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9E5C4E8-FBB1-4572-848F-2C2060F075E5}" type="slidenum">
              <a:rPr lang="en-US"/>
              <a:pPr fontAlgn="base">
                <a:spcBef>
                  <a:spcPct val="0"/>
                </a:spcBef>
                <a:spcAft>
                  <a:spcPct val="0"/>
                </a:spcAft>
              </a:pPr>
              <a:t>4</a:t>
            </a:fld>
            <a:endParaRPr lang="en-US" dirty="0"/>
          </a:p>
        </p:txBody>
      </p:sp>
    </p:spTree>
    <p:extLst>
      <p:ext uri="{BB962C8B-B14F-4D97-AF65-F5344CB8AC3E}">
        <p14:creationId xmlns:p14="http://schemas.microsoft.com/office/powerpoint/2010/main" val="58545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6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286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B79FF4C-1FB3-4BA0-8E05-FB80E858F391}" type="slidenum">
              <a:rPr lang="en-US"/>
              <a:pPr fontAlgn="base">
                <a:spcBef>
                  <a:spcPct val="0"/>
                </a:spcBef>
                <a:spcAft>
                  <a:spcPct val="0"/>
                </a:spcAft>
              </a:pPr>
              <a:t>7</a:t>
            </a:fld>
            <a:endParaRPr lang="en-US" dirty="0"/>
          </a:p>
        </p:txBody>
      </p:sp>
    </p:spTree>
    <p:extLst>
      <p:ext uri="{BB962C8B-B14F-4D97-AF65-F5344CB8AC3E}">
        <p14:creationId xmlns:p14="http://schemas.microsoft.com/office/powerpoint/2010/main" val="608694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DCCBC51-1A33-4109-B624-E29EEC994E13}" type="slidenum">
              <a:rPr lang="en-CA" altLang="en-US" smtClean="0">
                <a:latin typeface="Arial" panose="020B0604020202020204" pitchFamily="34" charset="0"/>
              </a:rPr>
              <a:pPr>
                <a:spcBef>
                  <a:spcPct val="0"/>
                </a:spcBef>
              </a:pPr>
              <a:t>15</a:t>
            </a:fld>
            <a:endParaRPr lang="en-CA" altLang="en-US">
              <a:latin typeface="Arial" panose="020B0604020202020204" pitchFamily="34" charset="0"/>
            </a:endParaRPr>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1042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16</a:t>
            </a:fld>
            <a:endParaRPr lang="en-CA" altLang="en-US">
              <a:latin typeface="Arial" panose="020B0604020202020204" pitchFamily="34" charset="0"/>
            </a:endParaRPr>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872613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CB9639-A20D-4A9D-A6EE-2DEC73D8BC66}" type="slidenum">
              <a:rPr lang="en-CA" altLang="en-US" smtClean="0">
                <a:latin typeface="Arial" panose="020B0604020202020204" pitchFamily="34" charset="0"/>
              </a:rPr>
              <a:pPr>
                <a:spcBef>
                  <a:spcPct val="0"/>
                </a:spcBef>
              </a:pPr>
              <a:t>17</a:t>
            </a:fld>
            <a:endParaRPr lang="en-CA" altLang="en-US">
              <a:latin typeface="Arial" panose="020B0604020202020204" pitchFamily="34" charset="0"/>
            </a:endParaRPr>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006308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253D0BB-5E15-455C-9560-01C005FA5729}" type="slidenum">
              <a:rPr lang="en-CA" altLang="en-US" smtClean="0">
                <a:latin typeface="Arial" panose="020B0604020202020204" pitchFamily="34" charset="0"/>
              </a:rPr>
              <a:pPr>
                <a:spcBef>
                  <a:spcPct val="0"/>
                </a:spcBef>
              </a:pPr>
              <a:t>18</a:t>
            </a:fld>
            <a:endParaRPr lang="en-CA" altLang="en-US">
              <a:latin typeface="Arial" panose="020B0604020202020204" pitchFamily="34" charset="0"/>
            </a:endParaRPr>
          </a:p>
        </p:txBody>
      </p:sp>
      <p:sp>
        <p:nvSpPr>
          <p:cNvPr id="56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40761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D1406C4-1B90-4E2E-97A0-0538778D535A}" type="slidenum">
              <a:rPr lang="en-CA" altLang="en-US" smtClean="0">
                <a:latin typeface="Arial" panose="020B0604020202020204" pitchFamily="34" charset="0"/>
              </a:rPr>
              <a:pPr>
                <a:spcBef>
                  <a:spcPct val="0"/>
                </a:spcBef>
              </a:pPr>
              <a:t>25</a:t>
            </a:fld>
            <a:endParaRPr lang="en-CA" altLang="en-US">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83431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149A-44A3-C87D-0058-F9B98C92E098}"/>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ABB7B5EB-2BFF-771B-8D29-26D6ED6FD5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29</a:t>
            </a:fld>
            <a:endParaRPr lang="en-CA" altLang="en-US">
              <a:latin typeface="Arial" panose="020B0604020202020204" pitchFamily="34" charset="0"/>
            </a:endParaRPr>
          </a:p>
        </p:txBody>
      </p:sp>
      <p:sp>
        <p:nvSpPr>
          <p:cNvPr id="52227" name="Rectangle 2">
            <a:extLst>
              <a:ext uri="{FF2B5EF4-FFF2-40B4-BE49-F238E27FC236}">
                <a16:creationId xmlns:a16="http://schemas.microsoft.com/office/drawing/2014/main" id="{10C0A3AD-CD47-6844-054F-8D780AF893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81A51D59-8003-B74D-EFFF-53D5516BE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6653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06F8B-4D61-DBF3-F603-1E8227583CA8}"/>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EAE3DD12-F270-B0FB-7883-E37306F561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30</a:t>
            </a:fld>
            <a:endParaRPr lang="en-CA" altLang="en-US">
              <a:latin typeface="Arial" panose="020B0604020202020204" pitchFamily="34" charset="0"/>
            </a:endParaRPr>
          </a:p>
        </p:txBody>
      </p:sp>
      <p:sp>
        <p:nvSpPr>
          <p:cNvPr id="52227" name="Rectangle 2">
            <a:extLst>
              <a:ext uri="{FF2B5EF4-FFF2-40B4-BE49-F238E27FC236}">
                <a16:creationId xmlns:a16="http://schemas.microsoft.com/office/drawing/2014/main" id="{10F0EBBB-A98A-0251-D39F-4FB7315B907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57686F59-33AE-E94C-A740-2A3255FD801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440212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41" name="Shape 34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49C603-E165-4E2D-99E6-9641AE19413B}"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A1E88E-4EC2-45D9-B965-45B652E3EE78}"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7A22B-ADA7-4AC7-A13E-76597E130225}"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031A9D-E803-443A-89D7-60DC2E09122C}"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E70C5A-FA74-4485-8DBA-8086200D0C1C}" type="datetime1">
              <a:rPr lang="en-US" smtClean="0"/>
              <a:t>3/19/2025</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4FC9F-D3ED-41A2-BFD5-E8ACF4CBB5DB}" type="datetime1">
              <a:rPr lang="en-US" smtClean="0"/>
              <a:t>3/19/2025</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0E1E6-7051-44C6-9C15-965D2AB7DDB1}" type="datetime1">
              <a:rPr lang="en-US" smtClean="0"/>
              <a:t>3/19/2025</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CFAE4A-AB9C-4B31-A3AB-044053E3BB21}"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CA319-C805-46D8-B993-3B6A28670449}"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C66707-8C3D-4D5D-AA14-BF07E585654E}"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78776-F775-47C5-9603-693F6BD7EC0B}"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712BFA-1979-474F-8178-16D9FABBA28F}"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047A0C-1825-4102-8CD2-9034967414F9}"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74E57E-82D5-4BB6-A6C8-295E864FA289}"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07D356-DF21-45EE-882E-1C6EA569DC3C}"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45AAAC-FA71-43FC-BE16-660F422DFF75}" type="datetime1">
              <a:rPr lang="en-US" smtClean="0"/>
              <a:t>3/19/2025</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BFC07B-2A7A-4C66-A158-F393CC8B5A4D}" type="datetime1">
              <a:rPr lang="en-US" smtClean="0"/>
              <a:t>3/19/2025</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3F767-2944-42FC-8C13-DFB4A8CEBB34}" type="datetime1">
              <a:rPr lang="en-US" smtClean="0"/>
              <a:t>3/19/2025</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0EFF3-1C69-47A2-AA64-94038D1B2AB7}"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CD7836-FEDA-4261-B363-A06AA40CE9E0}" type="datetime1">
              <a:rPr lang="en-US" smtClean="0"/>
              <a:t>3/19/2025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C87090-8701-4AC9-9173-54240F11615E}"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FB0DE8-9B59-4ABD-AD66-E48DE3E3C731}" type="datetime1">
              <a:rPr lang="en-US" smtClean="0"/>
              <a:t>3/19/2025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9672ADF-5B01-4D63-B25D-8D2DD442D977}" type="datetime1">
              <a:rPr lang="en-US" smtClean="0"/>
              <a:t>3/19/2025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28DC7496-9648-4C8F-80FE-8138C96088C7}" type="datetime1">
              <a:rPr lang="en-US" smtClean="0"/>
              <a:t>3/19/2025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600200"/>
            <a:ext cx="8839200" cy="1676400"/>
          </a:xfrm>
        </p:spPr>
        <p:txBody>
          <a:bodyPr>
            <a:normAutofit fontScale="90000"/>
          </a:bodyPr>
          <a:lstStyle/>
          <a:p>
            <a:pPr algn="ctr">
              <a:defRPr/>
            </a:pP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solidFill>
                  <a:srgbClr val="C00000"/>
                </a:solidFill>
                <a:cs typeface="Times New Roman" pitchFamily="18" charset="0"/>
              </a:rPr>
              <a:t>CSSE3113 – </a:t>
            </a:r>
            <a:r>
              <a:rPr lang="en-US" sz="3600" cap="none" dirty="0">
                <a:solidFill>
                  <a:srgbClr val="C00000"/>
                </a:solidFill>
                <a:cs typeface="Times New Roman" pitchFamily="18" charset="0"/>
              </a:rPr>
              <a:t>Introduction to Software Engineering </a:t>
            </a:r>
            <a:br>
              <a:rPr lang="en-US" sz="3600" dirty="0">
                <a:solidFill>
                  <a:srgbClr val="C00000"/>
                </a:solidFill>
                <a:cs typeface="Times New Roman" pitchFamily="18" charset="0"/>
              </a:rPr>
            </a:br>
            <a:endParaRPr lang="en-US" sz="3600" dirty="0">
              <a:latin typeface="Times New Roman" pitchFamily="18" charset="0"/>
              <a:cs typeface="Times New Roman" pitchFamily="18" charset="0"/>
            </a:endParaRPr>
          </a:p>
        </p:txBody>
      </p:sp>
      <p:sp>
        <p:nvSpPr>
          <p:cNvPr id="6" name="Rectangle 3"/>
          <p:cNvSpPr>
            <a:spLocks noGrp="1" noChangeArrowheads="1"/>
          </p:cNvSpPr>
          <p:nvPr>
            <p:ph type="subTitle" idx="1"/>
          </p:nvPr>
        </p:nvSpPr>
        <p:spPr>
          <a:xfrm>
            <a:off x="1981200" y="3581400"/>
            <a:ext cx="5105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Agile Development</a:t>
            </a:r>
          </a:p>
          <a:p>
            <a:pPr marL="63500" algn="ctr" eaLnBrk="1" hangingPunct="1"/>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Outline</a:t>
            </a:r>
          </a:p>
        </p:txBody>
      </p:sp>
      <p:sp>
        <p:nvSpPr>
          <p:cNvPr id="2" name="Content Placeholder 1"/>
          <p:cNvSpPr>
            <a:spLocks noGrp="1"/>
          </p:cNvSpPr>
          <p:nvPr>
            <p:ph idx="1"/>
          </p:nvPr>
        </p:nvSpPr>
        <p:spPr/>
        <p:txBody>
          <a:bodyPr>
            <a:normAutofit/>
          </a:bodyPr>
          <a:lstStyle/>
          <a:p>
            <a:pPr>
              <a:buNone/>
            </a:pPr>
            <a:endParaRPr lang="en-US" sz="2200" dirty="0"/>
          </a:p>
          <a:p>
            <a:pPr>
              <a:buNone/>
            </a:pPr>
            <a:r>
              <a:rPr lang="en-US" sz="2200" dirty="0"/>
              <a:t>Agile Software Development</a:t>
            </a:r>
          </a:p>
          <a:p>
            <a:r>
              <a:rPr lang="en-US" sz="2200" dirty="0"/>
              <a:t>Extreme Programming</a:t>
            </a:r>
          </a:p>
          <a:p>
            <a:r>
              <a:rPr lang="en-US" sz="2200" dirty="0"/>
              <a:t>Scrum</a:t>
            </a:r>
          </a:p>
          <a:p>
            <a:r>
              <a:rPr lang="en-US" sz="2200" dirty="0"/>
              <a:t>Kanban</a:t>
            </a:r>
          </a:p>
          <a:p>
            <a:r>
              <a:rPr lang="en-US" sz="2200" dirty="0"/>
              <a:t>DevOps</a:t>
            </a:r>
          </a:p>
        </p:txBody>
      </p:sp>
      <p:sp>
        <p:nvSpPr>
          <p:cNvPr id="4" name="Date Placeholder 3"/>
          <p:cNvSpPr>
            <a:spLocks noGrp="1"/>
          </p:cNvSpPr>
          <p:nvPr>
            <p:ph type="dt" sz="half" idx="10"/>
          </p:nvPr>
        </p:nvSpPr>
        <p:spPr/>
        <p:txBody>
          <a:bodyPr/>
          <a:lstStyle/>
          <a:p>
            <a:fld id="{5B68DA87-19DE-4D73-B70C-875734E70EEF}" type="datetime1">
              <a:rPr lang="en-US" smtClean="0"/>
              <a:t>3/19/2025</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Rot="1" noChangeArrowheads="1"/>
          </p:cNvSpPr>
          <p:nvPr>
            <p:ph type="title"/>
          </p:nvPr>
        </p:nvSpPr>
        <p:spPr>
          <a:xfrm>
            <a:off x="533400" y="381000"/>
            <a:ext cx="8077200" cy="944166"/>
          </a:xfrm>
        </p:spPr>
        <p:txBody>
          <a:bodyPr>
            <a:normAutofit/>
          </a:bodyPr>
          <a:lstStyle/>
          <a:p>
            <a:pPr eaLnBrk="1" hangingPunct="1">
              <a:defRPr/>
            </a:pPr>
            <a:r>
              <a:rPr lang="en-US" dirty="0">
                <a:ea typeface="+mj-ea"/>
                <a:cs typeface="+mj-cs"/>
              </a:rPr>
              <a:t>An Agile Process</a:t>
            </a:r>
          </a:p>
        </p:txBody>
      </p:sp>
      <p:sp>
        <p:nvSpPr>
          <p:cNvPr id="831491" name="Rectangle 3"/>
          <p:cNvSpPr>
            <a:spLocks noGrp="1" noRot="1" noChangeArrowheads="1"/>
          </p:cNvSpPr>
          <p:nvPr>
            <p:ph idx="1"/>
          </p:nvPr>
        </p:nvSpPr>
        <p:spPr>
          <a:xfrm>
            <a:off x="457200" y="1295400"/>
            <a:ext cx="8534400" cy="5105400"/>
          </a:xfrm>
        </p:spPr>
        <p:txBody>
          <a:bodyPr>
            <a:normAutofit/>
          </a:bodyPr>
          <a:lstStyle/>
          <a:p>
            <a:pPr algn="just" eaLnBrk="1" hangingPunct="1">
              <a:lnSpc>
                <a:spcPct val="150000"/>
              </a:lnSpc>
              <a:buNone/>
              <a:defRPr/>
            </a:pPr>
            <a:endParaRPr lang="en-US" sz="2200" dirty="0">
              <a:ea typeface="ＭＳ Ｐゴシック" pitchFamily="30" charset="-128"/>
            </a:endParaRPr>
          </a:p>
          <a:p>
            <a:pPr algn="just">
              <a:lnSpc>
                <a:spcPct val="150000"/>
              </a:lnSpc>
            </a:pPr>
            <a:r>
              <a:rPr lang="en-US" sz="2200" dirty="0">
                <a:latin typeface="+mj-lt"/>
              </a:rPr>
              <a:t>Agile means being able to “Deliver quickly. Change quickly. Change often” </a:t>
            </a:r>
          </a:p>
          <a:p>
            <a:pPr algn="just" eaLnBrk="1" hangingPunct="1">
              <a:lnSpc>
                <a:spcPct val="150000"/>
              </a:lnSpc>
              <a:defRPr/>
            </a:pPr>
            <a:r>
              <a:rPr lang="en-US" sz="2200" dirty="0">
                <a:latin typeface="+mj-lt"/>
                <a:ea typeface="ＭＳ Ｐゴシック" pitchFamily="30" charset="-128"/>
                <a:cs typeface="Times New Roman" pitchFamily="18" charset="0"/>
              </a:rPr>
              <a:t>Develops software iteratively</a:t>
            </a:r>
          </a:p>
          <a:p>
            <a:pPr algn="just" eaLnBrk="1" hangingPunct="1">
              <a:lnSpc>
                <a:spcPct val="150000"/>
              </a:lnSpc>
              <a:defRPr/>
            </a:pPr>
            <a:r>
              <a:rPr lang="en-US" sz="2200" dirty="0">
                <a:latin typeface="+mj-lt"/>
                <a:ea typeface="ＭＳ Ｐゴシック" pitchFamily="30" charset="-128"/>
                <a:cs typeface="Times New Roman" pitchFamily="18" charset="0"/>
              </a:rPr>
              <a:t>Delivers multiple ‘software increments’</a:t>
            </a:r>
          </a:p>
          <a:p>
            <a:pPr algn="just" eaLnBrk="1" hangingPunct="1">
              <a:lnSpc>
                <a:spcPct val="150000"/>
              </a:lnSpc>
              <a:defRPr/>
            </a:pPr>
            <a:r>
              <a:rPr lang="en-US" sz="2200" dirty="0">
                <a:latin typeface="+mj-lt"/>
                <a:ea typeface="ＭＳ Ｐゴシック" pitchFamily="30" charset="-128"/>
                <a:cs typeface="Times New Roman" pitchFamily="18" charset="0"/>
              </a:rPr>
              <a:t>Adapts as changes occur</a:t>
            </a:r>
          </a:p>
        </p:txBody>
      </p:sp>
      <p:sp>
        <p:nvSpPr>
          <p:cNvPr id="6147" name="Slide Number Placeholder 4"/>
          <p:cNvSpPr>
            <a:spLocks noGrp="1"/>
          </p:cNvSpPr>
          <p:nvPr>
            <p:ph type="sldNum" sz="quarter" idx="12"/>
          </p:nvPr>
        </p:nvSpPr>
        <p:spPr>
          <a:noFill/>
        </p:spPr>
        <p:txBody>
          <a:bodyPr/>
          <a:lstStyle/>
          <a:p>
            <a:fld id="{496F2E9F-1B8F-411E-8EB0-5C8E62A4066D}" type="slidenum">
              <a:rPr lang="en-US" smtClean="0"/>
              <a:pPr/>
              <a:t>3</a:t>
            </a:fld>
            <a:endParaRPr lang="en-US" dirty="0"/>
          </a:p>
        </p:txBody>
      </p:sp>
      <p:sp>
        <p:nvSpPr>
          <p:cNvPr id="2" name="Date Placeholder 1"/>
          <p:cNvSpPr>
            <a:spLocks noGrp="1"/>
          </p:cNvSpPr>
          <p:nvPr>
            <p:ph type="dt" sz="half" idx="10"/>
          </p:nvPr>
        </p:nvSpPr>
        <p:spPr/>
        <p:txBody>
          <a:bodyPr/>
          <a:lstStyle/>
          <a:p>
            <a:fld id="{18C86B08-0B32-4C26-AD2D-BF67DB8D25EE}" type="datetime1">
              <a:rPr lang="en-US" smtClean="0"/>
              <a:t>3/19/2025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944562"/>
          </a:xfrm>
        </p:spPr>
        <p:txBody>
          <a:bodyPr>
            <a:normAutofit/>
          </a:bodyPr>
          <a:lstStyle/>
          <a:p>
            <a:pPr fontAlgn="auto">
              <a:spcAft>
                <a:spcPts val="0"/>
              </a:spcAft>
              <a:defRPr/>
            </a:pPr>
            <a:r>
              <a:rPr lang="en-US" dirty="0"/>
              <a:t>Agile Software Development</a:t>
            </a:r>
          </a:p>
        </p:txBody>
      </p:sp>
      <p:sp>
        <p:nvSpPr>
          <p:cNvPr id="9219" name="Content Placeholder 2"/>
          <p:cNvSpPr>
            <a:spLocks noGrp="1"/>
          </p:cNvSpPr>
          <p:nvPr>
            <p:ph idx="1"/>
          </p:nvPr>
        </p:nvSpPr>
        <p:spPr/>
        <p:txBody>
          <a:bodyPr/>
          <a:lstStyle/>
          <a:p>
            <a:pPr algn="just">
              <a:buNone/>
            </a:pPr>
            <a:r>
              <a:rPr lang="en-US" sz="2200" dirty="0">
                <a:latin typeface="+mj-lt"/>
                <a:cs typeface="Times New Roman" pitchFamily="18" charset="0"/>
              </a:rPr>
              <a:t>Characteristics of Agile Software Development</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Small to medium sized teams</a:t>
            </a:r>
          </a:p>
          <a:p>
            <a:pPr algn="just"/>
            <a:r>
              <a:rPr lang="en-US" sz="2200" dirty="0">
                <a:latin typeface="+mj-lt"/>
                <a:cs typeface="Times New Roman" pitchFamily="18" charset="0"/>
              </a:rPr>
              <a:t>changing requirements</a:t>
            </a:r>
          </a:p>
          <a:p>
            <a:pPr algn="just"/>
            <a:r>
              <a:rPr lang="en-US" sz="2200" dirty="0">
                <a:latin typeface="+mj-lt"/>
                <a:cs typeface="Times New Roman" pitchFamily="18" charset="0"/>
              </a:rPr>
              <a:t>changing techniques</a:t>
            </a:r>
          </a:p>
          <a:p>
            <a:pPr algn="just"/>
            <a:r>
              <a:rPr lang="en-US" sz="2200" dirty="0">
                <a:latin typeface="+mj-lt"/>
                <a:cs typeface="Times New Roman" pitchFamily="18" charset="0"/>
              </a:rPr>
              <a:t>Simple design</a:t>
            </a:r>
          </a:p>
        </p:txBody>
      </p:sp>
      <p:sp>
        <p:nvSpPr>
          <p:cNvPr id="3" name="Date Placeholder 2"/>
          <p:cNvSpPr>
            <a:spLocks noGrp="1"/>
          </p:cNvSpPr>
          <p:nvPr>
            <p:ph type="dt" sz="half" idx="10"/>
          </p:nvPr>
        </p:nvSpPr>
        <p:spPr/>
        <p:txBody>
          <a:bodyPr/>
          <a:lstStyle/>
          <a:p>
            <a:fld id="{5908FBA5-82FF-4FF0-9AD5-41E6EEA89764}"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p:nvPr>
        </p:nvSpPr>
        <p:spPr/>
        <p:txBody>
          <a:bodyPr>
            <a:normAutofit/>
          </a:bodyPr>
          <a:lstStyle/>
          <a:p>
            <a:r>
              <a:rPr lang="en-US" dirty="0"/>
              <a:t>Agile Methods</a:t>
            </a:r>
          </a:p>
        </p:txBody>
      </p:sp>
      <p:sp>
        <p:nvSpPr>
          <p:cNvPr id="5122" name="Rectangle 3"/>
          <p:cNvSpPr>
            <a:spLocks noGrp="1" noChangeArrowheads="1"/>
          </p:cNvSpPr>
          <p:nvPr>
            <p:ph idx="1"/>
          </p:nvPr>
        </p:nvSpPr>
        <p:spPr/>
        <p:txBody>
          <a:bodyPr>
            <a:normAutofit/>
          </a:bodyPr>
          <a:lstStyle/>
          <a:p>
            <a:pPr algn="just"/>
            <a:r>
              <a:rPr lang="en-US" sz="2200" dirty="0">
                <a:latin typeface="+mj-lt"/>
                <a:cs typeface="Times New Roman" pitchFamily="18" charset="0"/>
              </a:rPr>
              <a:t>These methods</a:t>
            </a:r>
          </a:p>
          <a:p>
            <a:pPr lvl="1" algn="just"/>
            <a:r>
              <a:rPr lang="en-US" sz="2200" dirty="0">
                <a:latin typeface="+mj-lt"/>
                <a:cs typeface="Times New Roman" pitchFamily="18" charset="0"/>
              </a:rPr>
              <a:t>Focus on the code </a:t>
            </a:r>
          </a:p>
          <a:p>
            <a:pPr lvl="1" algn="just"/>
            <a:r>
              <a:rPr lang="en-US" sz="2200" dirty="0">
                <a:latin typeface="+mj-lt"/>
                <a:cs typeface="Times New Roman" pitchFamily="18" charset="0"/>
              </a:rPr>
              <a:t>Are based on an iterative approach to software development</a:t>
            </a:r>
          </a:p>
          <a:p>
            <a:pPr lvl="1" algn="just"/>
            <a:r>
              <a:rPr lang="en-US" sz="2200" dirty="0">
                <a:latin typeface="+mj-lt"/>
                <a:cs typeface="Times New Roman" pitchFamily="18" charset="0"/>
              </a:rPr>
              <a:t>Are intended to deliver working software quickly and evolve this quickly to meet changing requirements.</a:t>
            </a:r>
          </a:p>
          <a:p>
            <a:pPr lvl="1" algn="just">
              <a:buNone/>
            </a:pPr>
            <a:endParaRPr lang="en-US" sz="2200" dirty="0">
              <a:latin typeface="+mj-lt"/>
              <a:cs typeface="Times New Roman" pitchFamily="18" charset="0"/>
            </a:endParaRPr>
          </a:p>
          <a:p>
            <a:pPr algn="just"/>
            <a:r>
              <a:rPr lang="en-US" sz="2200" dirty="0">
                <a:latin typeface="+mj-lt"/>
                <a:cs typeface="Times New Roman" pitchFamily="18" charset="0"/>
              </a:rPr>
              <a:t>The aim of agile methods is to reduce overheads in the software process (e.g. by </a:t>
            </a:r>
            <a:r>
              <a:rPr lang="en-US" sz="2200" b="1" dirty="0">
                <a:latin typeface="+mj-lt"/>
                <a:cs typeface="Times New Roman" pitchFamily="18" charset="0"/>
              </a:rPr>
              <a:t>limiting documentation</a:t>
            </a:r>
            <a:r>
              <a:rPr lang="en-US" sz="2200" dirty="0">
                <a:latin typeface="+mj-lt"/>
                <a:cs typeface="Times New Roman" pitchFamily="18" charset="0"/>
              </a:rPr>
              <a:t>) and to be able to respond quickly to changing requirements without excessive rework.</a:t>
            </a:r>
          </a:p>
        </p:txBody>
      </p:sp>
      <p:sp>
        <p:nvSpPr>
          <p:cNvPr id="4" name="Slide Number Placeholder 3"/>
          <p:cNvSpPr>
            <a:spLocks noGrp="1"/>
          </p:cNvSpPr>
          <p:nvPr>
            <p:ph type="sldNum" sz="quarter" idx="12"/>
          </p:nvPr>
        </p:nvSpPr>
        <p:spPr/>
        <p:txBody>
          <a:bodyPr/>
          <a:lstStyle/>
          <a:p>
            <a:fld id="{AA7416F1-A0F7-4297-BC6D-6295B5A3B481}" type="slidenum">
              <a:rPr lang="en-US"/>
              <a:pPr/>
              <a:t>5</a:t>
            </a:fld>
            <a:endParaRPr lang="en-US" dirty="0"/>
          </a:p>
        </p:txBody>
      </p:sp>
      <p:sp>
        <p:nvSpPr>
          <p:cNvPr id="2" name="Date Placeholder 1"/>
          <p:cNvSpPr>
            <a:spLocks noGrp="1"/>
          </p:cNvSpPr>
          <p:nvPr>
            <p:ph type="dt" sz="half" idx="10"/>
          </p:nvPr>
        </p:nvSpPr>
        <p:spPr/>
        <p:txBody>
          <a:bodyPr/>
          <a:lstStyle/>
          <a:p>
            <a:fld id="{782A8008-C444-4436-87D8-C795BB3AC7C4}" type="datetime1">
              <a:rPr lang="en-US" smtClean="0"/>
              <a:t>3/19/2025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p:nvPr>
        </p:nvSpPr>
        <p:spPr>
          <a:xfrm>
            <a:off x="381000" y="381000"/>
            <a:ext cx="8229600" cy="762000"/>
          </a:xfrm>
        </p:spPr>
        <p:txBody>
          <a:bodyPr>
            <a:normAutofit/>
          </a:bodyPr>
          <a:lstStyle/>
          <a:p>
            <a:r>
              <a:rPr lang="en-US" sz="3600" dirty="0">
                <a:cs typeface="Times New Roman" pitchFamily="18" charset="0"/>
              </a:rPr>
              <a:t>The</a:t>
            </a:r>
            <a:r>
              <a:rPr lang="en-US" sz="3200" dirty="0">
                <a:cs typeface="Times New Roman" pitchFamily="18" charset="0"/>
              </a:rPr>
              <a:t> Principles Of  Agile Methods</a:t>
            </a:r>
            <a:r>
              <a:rPr lang="en-GB" sz="3200" dirty="0">
                <a:cs typeface="Times New Roman" pitchFamily="18" charset="0"/>
              </a:rPr>
              <a:t> </a:t>
            </a:r>
            <a:endParaRPr lang="en-US" sz="3200" dirty="0">
              <a:cs typeface="Times New Roman" pitchFamily="18" charset="0"/>
            </a:endParaRPr>
          </a:p>
        </p:txBody>
      </p:sp>
      <p:sp>
        <p:nvSpPr>
          <p:cNvPr id="5" name="Slide Number Placeholder 4"/>
          <p:cNvSpPr>
            <a:spLocks noGrp="1"/>
          </p:cNvSpPr>
          <p:nvPr>
            <p:ph type="sldNum" sz="quarter" idx="12"/>
          </p:nvPr>
        </p:nvSpPr>
        <p:spPr/>
        <p:txBody>
          <a:bodyPr/>
          <a:lstStyle/>
          <a:p>
            <a:fld id="{64E98267-5C3E-45FD-9041-99A017A44513}" type="slidenum">
              <a:rPr lang="en-US"/>
              <a:pPr/>
              <a:t>6</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33052747"/>
              </p:ext>
            </p:extLst>
          </p:nvPr>
        </p:nvGraphicFramePr>
        <p:xfrm>
          <a:off x="27709" y="1371600"/>
          <a:ext cx="9144001" cy="5170825"/>
        </p:xfrm>
        <a:graphic>
          <a:graphicData uri="http://schemas.openxmlformats.org/drawingml/2006/table">
            <a:tbl>
              <a:tblPr/>
              <a:tblGrid>
                <a:gridCol w="2543121">
                  <a:extLst>
                    <a:ext uri="{9D8B030D-6E8A-4147-A177-3AD203B41FA5}">
                      <a16:colId xmlns:a16="http://schemas.microsoft.com/office/drawing/2014/main" val="20000"/>
                    </a:ext>
                  </a:extLst>
                </a:gridCol>
                <a:gridCol w="6462228">
                  <a:extLst>
                    <a:ext uri="{9D8B030D-6E8A-4147-A177-3AD203B41FA5}">
                      <a16:colId xmlns:a16="http://schemas.microsoft.com/office/drawing/2014/main" val="20001"/>
                    </a:ext>
                  </a:extLst>
                </a:gridCol>
                <a:gridCol w="138652">
                  <a:extLst>
                    <a:ext uri="{9D8B030D-6E8A-4147-A177-3AD203B41FA5}">
                      <a16:colId xmlns:a16="http://schemas.microsoft.com/office/drawing/2014/main" val="20002"/>
                    </a:ext>
                  </a:extLst>
                </a:gridCol>
              </a:tblGrid>
              <a:tr h="5334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pitchFamily="18" charset="0"/>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pitchFamily="18" charset="0"/>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990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83835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101331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The skills of the development team should be recognized. Team members should be left to develop their own ways of working.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7818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Adapt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101331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3A7C6EA4-9F20-427F-B11D-5BEF19D18260}" type="datetime1">
              <a:rPr lang="en-US" smtClean="0"/>
              <a:t>3/19/2025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r>
              <a:rPr lang="en-US" dirty="0"/>
              <a:t>Agile Methodologies</a:t>
            </a:r>
          </a:p>
        </p:txBody>
      </p:sp>
      <p:sp>
        <p:nvSpPr>
          <p:cNvPr id="12291" name="Content Placeholder 2"/>
          <p:cNvSpPr>
            <a:spLocks noGrp="1"/>
          </p:cNvSpPr>
          <p:nvPr>
            <p:ph idx="1"/>
          </p:nvPr>
        </p:nvSpPr>
        <p:spPr/>
        <p:txBody>
          <a:bodyPr/>
          <a:lstStyle/>
          <a:p>
            <a:endParaRPr lang="en-US" dirty="0"/>
          </a:p>
          <a:p>
            <a:pPr marL="514350" indent="-514350" algn="just" eaLnBrk="1" fontAlgn="auto" hangingPunct="1">
              <a:buFont typeface="+mj-lt"/>
              <a:buAutoNum type="arabicPeriod"/>
              <a:defRPr/>
            </a:pPr>
            <a:r>
              <a:rPr lang="en-US" altLang="en-US" sz="2400" dirty="0" err="1"/>
              <a:t>eXtreme</a:t>
            </a:r>
            <a:r>
              <a:rPr lang="en-US" altLang="en-US" sz="2400" dirty="0"/>
              <a:t> Programming (XP)</a:t>
            </a:r>
          </a:p>
          <a:p>
            <a:pPr marL="514350" indent="-514350" algn="just" eaLnBrk="1" fontAlgn="auto" hangingPunct="1">
              <a:buFont typeface="+mj-lt"/>
              <a:buAutoNum type="arabicPeriod"/>
              <a:defRPr/>
            </a:pPr>
            <a:r>
              <a:rPr lang="en-US" altLang="en-US" sz="2400" dirty="0"/>
              <a:t>Scrum</a:t>
            </a:r>
          </a:p>
          <a:p>
            <a:pPr marL="514350" indent="-514350" algn="just" eaLnBrk="1" fontAlgn="auto" hangingPunct="1">
              <a:buFont typeface="+mj-lt"/>
              <a:buAutoNum type="arabicPeriod"/>
              <a:defRPr/>
            </a:pPr>
            <a:r>
              <a:rPr lang="en-US" altLang="en-US" sz="2400" dirty="0"/>
              <a:t>Kanban</a:t>
            </a:r>
          </a:p>
          <a:p>
            <a:pPr marL="514350" indent="-514350" algn="just" eaLnBrk="1" fontAlgn="auto" hangingPunct="1">
              <a:buFont typeface="+mj-lt"/>
              <a:buAutoNum type="arabicPeriod"/>
              <a:defRPr/>
            </a:pPr>
            <a:r>
              <a:rPr lang="en-US" altLang="en-US" sz="2400" dirty="0"/>
              <a:t>DevOps</a:t>
            </a:r>
          </a:p>
          <a:p>
            <a:pPr marL="0" indent="0" algn="just" eaLnBrk="1" fontAlgn="auto" hangingPunct="1">
              <a:buNone/>
              <a:defRPr/>
            </a:pPr>
            <a:endParaRPr lang="en-US" altLang="en-US" sz="2400" dirty="0"/>
          </a:p>
          <a:p>
            <a:pPr>
              <a:buFont typeface="Wingdings 2" pitchFamily="18" charset="2"/>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F31EAEFD-C13B-4920-83C8-62010F1270F1}" type="datetime1">
              <a:rPr lang="en-US" smtClean="0"/>
              <a:t>3/19/2025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normAutofit/>
          </a:bodyPr>
          <a:lstStyle/>
          <a:p>
            <a:r>
              <a:rPr lang="en-US" dirty="0">
                <a:cs typeface="Times New Roman" pitchFamily="18" charset="0"/>
              </a:rPr>
              <a:t>Extreme Programming</a:t>
            </a:r>
          </a:p>
        </p:txBody>
      </p:sp>
      <p:sp>
        <p:nvSpPr>
          <p:cNvPr id="16386" name="Rectangle 3"/>
          <p:cNvSpPr>
            <a:spLocks noGrp="1" noChangeArrowheads="1"/>
          </p:cNvSpPr>
          <p:nvPr>
            <p:ph idx="1"/>
          </p:nvPr>
        </p:nvSpPr>
        <p:spPr/>
        <p:txBody>
          <a:bodyPr>
            <a:normAutofit/>
          </a:bodyPr>
          <a:lstStyle/>
          <a:p>
            <a:pPr algn="just">
              <a:lnSpc>
                <a:spcPct val="90000"/>
              </a:lnSpc>
            </a:pPr>
            <a:endParaRPr lang="en-US" sz="2200" dirty="0">
              <a:latin typeface="Times New Roman" pitchFamily="18" charset="0"/>
              <a:cs typeface="Times New Roman" pitchFamily="18" charset="0"/>
            </a:endParaRPr>
          </a:p>
          <a:p>
            <a:pPr algn="just">
              <a:lnSpc>
                <a:spcPct val="90000"/>
              </a:lnSpc>
            </a:pPr>
            <a:r>
              <a:rPr lang="en-US" sz="2200" dirty="0">
                <a:latin typeface="+mj-lt"/>
                <a:cs typeface="Times New Roman" pitchFamily="18" charset="0"/>
              </a:rPr>
              <a:t>Perhaps the best-known and most widely used agile method.</a:t>
            </a:r>
          </a:p>
          <a:p>
            <a:pPr algn="just">
              <a:lnSpc>
                <a:spcPct val="90000"/>
              </a:lnSpc>
              <a:buNone/>
            </a:pPr>
            <a:endParaRPr lang="en-US" sz="2200" dirty="0">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New versions may be built several times per day</a:t>
            </a:r>
          </a:p>
          <a:p>
            <a:pPr lvl="1" algn="just">
              <a:lnSpc>
                <a:spcPct val="90000"/>
              </a:lnSpc>
              <a:buNone/>
            </a:pPr>
            <a:endParaRPr lang="en-US" sz="2200" dirty="0">
              <a:solidFill>
                <a:schemeClr val="tx1"/>
              </a:solidFill>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Increments are delivered to customers every 2 weeks</a:t>
            </a:r>
          </a:p>
          <a:p>
            <a:pPr lvl="1" algn="just">
              <a:lnSpc>
                <a:spcPct val="90000"/>
              </a:lnSpc>
              <a:buNone/>
            </a:pPr>
            <a:endParaRPr lang="en-US" sz="2200" dirty="0">
              <a:solidFill>
                <a:schemeClr val="tx1"/>
              </a:solidFill>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All tests must be run for every build and the build is only accepted if tests run successfully.</a:t>
            </a:r>
          </a:p>
        </p:txBody>
      </p:sp>
      <p:sp>
        <p:nvSpPr>
          <p:cNvPr id="4" name="Slide Number Placeholder 3"/>
          <p:cNvSpPr>
            <a:spLocks noGrp="1"/>
          </p:cNvSpPr>
          <p:nvPr>
            <p:ph type="sldNum" sz="quarter" idx="12"/>
          </p:nvPr>
        </p:nvSpPr>
        <p:spPr/>
        <p:txBody>
          <a:bodyPr/>
          <a:lstStyle/>
          <a:p>
            <a:fld id="{6213D322-5EFB-4E07-910A-A8BB4DF9F878}" type="slidenum">
              <a:rPr lang="en-US"/>
              <a:pPr/>
              <a:t>8</a:t>
            </a:fld>
            <a:endParaRPr lang="en-US" dirty="0"/>
          </a:p>
        </p:txBody>
      </p:sp>
      <p:sp>
        <p:nvSpPr>
          <p:cNvPr id="2" name="Date Placeholder 1"/>
          <p:cNvSpPr>
            <a:spLocks noGrp="1"/>
          </p:cNvSpPr>
          <p:nvPr>
            <p:ph type="dt" sz="half" idx="10"/>
          </p:nvPr>
        </p:nvSpPr>
        <p:spPr/>
        <p:txBody>
          <a:bodyPr/>
          <a:lstStyle/>
          <a:p>
            <a:fld id="{C3AA39C1-FAED-41EA-BFC1-342440565D0A}" type="datetime1">
              <a:rPr lang="en-US" smtClean="0"/>
              <a:t>3/19/2025</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Rot="1" noChangeArrowheads="1"/>
          </p:cNvSpPr>
          <p:nvPr>
            <p:ph type="title"/>
          </p:nvPr>
        </p:nvSpPr>
        <p:spPr>
          <a:xfrm>
            <a:off x="533400" y="381000"/>
            <a:ext cx="7750175" cy="914400"/>
          </a:xfrm>
        </p:spPr>
        <p:txBody>
          <a:bodyPr>
            <a:normAutofit/>
          </a:bodyPr>
          <a:lstStyle/>
          <a:p>
            <a:pPr eaLnBrk="1" hangingPunct="1">
              <a:defRPr/>
            </a:pPr>
            <a:r>
              <a:rPr lang="en-US" dirty="0">
                <a:cs typeface="Times New Roman" pitchFamily="18" charset="0"/>
              </a:rPr>
              <a:t>Extreme Programming (XP)</a:t>
            </a:r>
          </a:p>
        </p:txBody>
      </p:sp>
      <p:sp>
        <p:nvSpPr>
          <p:cNvPr id="832515" name="Rectangle 3"/>
          <p:cNvSpPr>
            <a:spLocks noGrp="1" noRot="1" noChangeArrowheads="1"/>
          </p:cNvSpPr>
          <p:nvPr>
            <p:ph idx="1"/>
          </p:nvPr>
        </p:nvSpPr>
        <p:spPr>
          <a:xfrm>
            <a:off x="457200" y="1600201"/>
            <a:ext cx="8229600" cy="4825218"/>
          </a:xfrm>
        </p:spPr>
        <p:txBody>
          <a:bodyPr>
            <a:noAutofit/>
          </a:bodyPr>
          <a:lstStyle/>
          <a:p>
            <a:pPr algn="just">
              <a:buNone/>
            </a:pPr>
            <a:r>
              <a:rPr lang="en-US" sz="2200" b="1" dirty="0">
                <a:latin typeface="+mj-lt"/>
                <a:cs typeface="Times New Roman" pitchFamily="18" charset="0"/>
              </a:rPr>
              <a:t>XP Values</a:t>
            </a:r>
          </a:p>
          <a:p>
            <a:pPr algn="just"/>
            <a:r>
              <a:rPr lang="en-US" sz="2200" dirty="0">
                <a:latin typeface="+mj-lt"/>
                <a:cs typeface="Times New Roman" pitchFamily="18" charset="0"/>
              </a:rPr>
              <a:t>Communication(Be together with your customer and fellow programmers, and talk to each other )</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Simplicity (Use simple design and programming practices, and simple methods of planning, tracking, and reporting)</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Feedback(Test your program and your practices, using feedback to steer the project)</a:t>
            </a:r>
          </a:p>
          <a:p>
            <a:pPr>
              <a:buNone/>
            </a:pPr>
            <a:endParaRPr lang="en-US" sz="2200" dirty="0">
              <a:latin typeface="Times New Roman" pitchFamily="18" charset="0"/>
              <a:cs typeface="Times New Roman" pitchFamily="18" charset="0"/>
            </a:endParaRPr>
          </a:p>
        </p:txBody>
      </p:sp>
      <p:sp>
        <p:nvSpPr>
          <p:cNvPr id="7171" name="Slide Number Placeholder 4"/>
          <p:cNvSpPr>
            <a:spLocks noGrp="1"/>
          </p:cNvSpPr>
          <p:nvPr>
            <p:ph type="sldNum" sz="quarter" idx="12"/>
          </p:nvPr>
        </p:nvSpPr>
        <p:spPr>
          <a:noFill/>
        </p:spPr>
        <p:txBody>
          <a:bodyPr/>
          <a:lstStyle/>
          <a:p>
            <a:fld id="{9DB3AF1D-D84A-4E7D-93E9-F00832155C18}" type="slidenum">
              <a:rPr lang="en-US" smtClean="0"/>
              <a:pPr/>
              <a:t>9</a:t>
            </a:fld>
            <a:endParaRPr lang="en-US" dirty="0"/>
          </a:p>
        </p:txBody>
      </p:sp>
      <p:sp>
        <p:nvSpPr>
          <p:cNvPr id="2" name="Date Placeholder 1"/>
          <p:cNvSpPr>
            <a:spLocks noGrp="1"/>
          </p:cNvSpPr>
          <p:nvPr>
            <p:ph type="dt" sz="half" idx="10"/>
          </p:nvPr>
        </p:nvSpPr>
        <p:spPr/>
        <p:txBody>
          <a:bodyPr/>
          <a:lstStyle/>
          <a:p>
            <a:fld id="{FB13DF72-FCA4-4E81-9033-4C6F01E9E7AC}" type="datetime1">
              <a:rPr lang="en-US" smtClean="0"/>
              <a:t>3/19/2025</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457200"/>
            <a:ext cx="8229600" cy="762000"/>
          </a:xfrm>
        </p:spPr>
        <p:txBody>
          <a:bodyPr>
            <a:normAutofit fontScale="90000"/>
          </a:bodyPr>
          <a:lstStyle/>
          <a:p>
            <a:r>
              <a:rPr lang="en-US" dirty="0">
                <a:cs typeface="Times New Roman" pitchFamily="18" charset="0"/>
              </a:rPr>
              <a:t>Extreme Programming Core Practices (A)</a:t>
            </a:r>
            <a:endParaRPr lang="en-US" sz="2800" b="1"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D96D3B5-3BAF-407E-8FA7-0441A0C6B249}"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E1A7BFEF-14F8-4092-A823-5A9F64FBCBBC}" type="slidenum">
              <a:rPr lang="en-US"/>
              <a:pPr/>
              <a:t>10</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22930783"/>
              </p:ext>
            </p:extLst>
          </p:nvPr>
        </p:nvGraphicFramePr>
        <p:xfrm>
          <a:off x="152400" y="1295400"/>
          <a:ext cx="8782050" cy="5164703"/>
        </p:xfrm>
        <a:graphic>
          <a:graphicData uri="http://schemas.openxmlformats.org/drawingml/2006/table">
            <a:tbl>
              <a:tblPr/>
              <a:tblGrid>
                <a:gridCol w="2488582">
                  <a:extLst>
                    <a:ext uri="{9D8B030D-6E8A-4147-A177-3AD203B41FA5}">
                      <a16:colId xmlns:a16="http://schemas.microsoft.com/office/drawing/2014/main" val="20000"/>
                    </a:ext>
                  </a:extLst>
                </a:gridCol>
                <a:gridCol w="6293468">
                  <a:extLst>
                    <a:ext uri="{9D8B030D-6E8A-4147-A177-3AD203B41FA5}">
                      <a16:colId xmlns:a16="http://schemas.microsoft.com/office/drawing/2014/main" val="20001"/>
                    </a:ext>
                  </a:extLst>
                </a:gridCol>
              </a:tblGrid>
              <a:tr h="55096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kern="1200" cap="none" normalizeH="0" baseline="0" dirty="0">
                          <a:ln>
                            <a:noFill/>
                          </a:ln>
                          <a:solidFill>
                            <a:srgbClr val="000000"/>
                          </a:solidFill>
                          <a:effectLst/>
                          <a:latin typeface="Arial" charset="0"/>
                          <a:ea typeface="ＭＳ Ｐゴシック" pitchFamily="30" charset="-128"/>
                          <a:cs typeface="Arial" charset="0"/>
                        </a:rPr>
                        <a:t>Principle or practice</a:t>
                      </a: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kern="1200" cap="none" normalizeH="0" baseline="0" dirty="0">
                          <a:ln>
                            <a:noFill/>
                          </a:ln>
                          <a:solidFill>
                            <a:srgbClr val="000000"/>
                          </a:solidFill>
                          <a:effectLst/>
                          <a:latin typeface="Arial" charset="0"/>
                          <a:ea typeface="ＭＳ Ｐゴシック" pitchFamily="30" charset="-128"/>
                          <a:cs typeface="Arial" charset="0"/>
                        </a:rPr>
                        <a:t>Description</a:t>
                      </a: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9683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Incremental planning</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Requirements are recorded on story cards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The developers break these stories into development </a:t>
                      </a:r>
                      <a:r>
                        <a:rPr kumimoji="0" lang="en-GB" altLang="en-US" sz="1600" b="0" i="0" u="none" strike="noStrike" kern="1200"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Tasks</a:t>
                      </a:r>
                      <a:r>
                        <a:rPr kumimoji="0" lang="en-GB" altLang="en-US" sz="1600" b="0" i="0" u="none" strike="noStrike" kern="1200"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11677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Small releases</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The minimal useful set of functionality that provides business value is developed first.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Releases of the system are frequent and incrementally add functionality to the first release.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767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Simple design </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Enough design is carried out to meet the current requirements and no more.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9616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Test-first development</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9616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Refactoring</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All developers are expected to refactor / restructure the code continuously as soon as possible code improvements are found.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This keeps the code simple and maintainable.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381000"/>
            <a:ext cx="8229600" cy="685800"/>
          </a:xfrm>
        </p:spPr>
        <p:txBody>
          <a:bodyPr>
            <a:normAutofit fontScale="90000"/>
          </a:bodyPr>
          <a:lstStyle/>
          <a:p>
            <a:r>
              <a:rPr lang="en-US" dirty="0">
                <a:cs typeface="Times New Roman" pitchFamily="18" charset="0"/>
              </a:rPr>
              <a:t>Extreme Programming Core Practices (B)</a:t>
            </a:r>
          </a:p>
        </p:txBody>
      </p:sp>
      <p:sp>
        <p:nvSpPr>
          <p:cNvPr id="2" name="Date Placeholder 1"/>
          <p:cNvSpPr>
            <a:spLocks noGrp="1"/>
          </p:cNvSpPr>
          <p:nvPr>
            <p:ph type="dt" sz="half" idx="10"/>
          </p:nvPr>
        </p:nvSpPr>
        <p:spPr/>
        <p:txBody>
          <a:bodyPr/>
          <a:lstStyle/>
          <a:p>
            <a:fld id="{2B5AD053-C8BA-4761-9754-F2121BFECDA9}"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FC250DB7-5DD1-4DBE-92A4-305EEEB06667}" type="slidenum">
              <a:rPr lang="en-US"/>
              <a:pPr/>
              <a:t>11</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90328214"/>
              </p:ext>
            </p:extLst>
          </p:nvPr>
        </p:nvGraphicFramePr>
        <p:xfrm>
          <a:off x="152400" y="1142998"/>
          <a:ext cx="8763000" cy="5410201"/>
        </p:xfrm>
        <a:graphic>
          <a:graphicData uri="http://schemas.openxmlformats.org/drawingml/2006/table">
            <a:tbl>
              <a:tblPr/>
              <a:tblGrid>
                <a:gridCol w="2437929">
                  <a:extLst>
                    <a:ext uri="{9D8B030D-6E8A-4147-A177-3AD203B41FA5}">
                      <a16:colId xmlns:a16="http://schemas.microsoft.com/office/drawing/2014/main" val="20000"/>
                    </a:ext>
                  </a:extLst>
                </a:gridCol>
                <a:gridCol w="6325071">
                  <a:extLst>
                    <a:ext uri="{9D8B030D-6E8A-4147-A177-3AD203B41FA5}">
                      <a16:colId xmlns:a16="http://schemas.microsoft.com/office/drawing/2014/main" val="20001"/>
                    </a:ext>
                  </a:extLst>
                </a:gridCol>
              </a:tblGrid>
              <a:tr h="75103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Pair programming</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Developers work in pairs, checking each other</a:t>
                      </a:r>
                      <a:r>
                        <a:rPr kumimoji="0" lang="en-GB" altLang="en-US" sz="1600" b="0" i="0" u="none" strike="noStrike"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s work and providing the support to always do a good job.</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0"/>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Collective ownership</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The pairs of developers work on all areas of the system, all the developers take responsibility for all of the code. Anyone can change anything.</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Continuous integration</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As soon as the work on a task is complete, it is integrated into the whole system. After any such integration, all the unit tests in the system must pass.</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Sustainable pace</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Large amounts of overtime are not considered acceptable as the net effect is often to reduce code quality and productivity</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160636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On-site customer</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A representative of the end-user of the system (the customer) should be available full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In an extreme programming process, the customer is a member of the development team and is responsible for bringing system requirements to the team for implementation.</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rtlCol="0">
            <a:noAutofit/>
          </a:bodyPr>
          <a:lstStyle/>
          <a:p>
            <a:pPr fontAlgn="auto">
              <a:spcAft>
                <a:spcPts val="0"/>
              </a:spcAft>
              <a:defRPr/>
            </a:pPr>
            <a:r>
              <a:rPr lang="en-US" sz="3200" dirty="0">
                <a:cs typeface="Times New Roman" pitchFamily="18" charset="0"/>
              </a:rPr>
              <a:t>The Extreme Programming Release Cycle</a:t>
            </a:r>
            <a:r>
              <a:rPr lang="en-GB" sz="3200" dirty="0">
                <a:cs typeface="Times New Roman" pitchFamily="18" charset="0"/>
              </a:rPr>
              <a:t> </a:t>
            </a:r>
            <a:endParaRPr lang="en-US" sz="3200" dirty="0">
              <a:cs typeface="Times New Roman" pitchFamily="18" charset="0"/>
            </a:endParaRPr>
          </a:p>
        </p:txBody>
      </p:sp>
      <p:sp>
        <p:nvSpPr>
          <p:cNvPr id="2" name="Date Placeholder 1"/>
          <p:cNvSpPr>
            <a:spLocks noGrp="1"/>
          </p:cNvSpPr>
          <p:nvPr>
            <p:ph type="dt" sz="half" idx="10"/>
          </p:nvPr>
        </p:nvSpPr>
        <p:spPr/>
        <p:txBody>
          <a:bodyPr/>
          <a:lstStyle/>
          <a:p>
            <a:fld id="{293B88E7-410D-4A82-9B1E-E3973F9517E4}"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9DD71C6D-052C-4BE3-88E1-4DE1ABA137C7}" type="slidenum">
              <a:rPr lang="en-US"/>
              <a:pPr/>
              <a:t>12</a:t>
            </a:fld>
            <a:endParaRPr lang="en-US" dirty="0"/>
          </a:p>
        </p:txBody>
      </p:sp>
      <p:pic>
        <p:nvPicPr>
          <p:cNvPr id="18434" name="Picture 3" descr="3.3-XP-ReleaseCycle.eps"/>
          <p:cNvPicPr>
            <a:picLocks noChangeAspect="1"/>
          </p:cNvPicPr>
          <p:nvPr/>
        </p:nvPicPr>
        <p:blipFill>
          <a:blip r:embed="rId2" cstate="print"/>
          <a:srcRect/>
          <a:stretch>
            <a:fillRect/>
          </a:stretch>
        </p:blipFill>
        <p:spPr bwMode="auto">
          <a:xfrm>
            <a:off x="1192213" y="2371725"/>
            <a:ext cx="6557962" cy="285591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 Story Card For Downloading Document</a:t>
            </a:r>
          </a:p>
        </p:txBody>
      </p:sp>
      <p:sp>
        <p:nvSpPr>
          <p:cNvPr id="4" name="Date Placeholder 3"/>
          <p:cNvSpPr>
            <a:spLocks noGrp="1"/>
          </p:cNvSpPr>
          <p:nvPr>
            <p:ph type="dt" sz="half" idx="10"/>
          </p:nvPr>
        </p:nvSpPr>
        <p:spPr/>
        <p:txBody>
          <a:bodyPr/>
          <a:lstStyle/>
          <a:p>
            <a:fld id="{4E3F58A1-7D80-4F7F-A526-46BE96DAFD60}"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13</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05000"/>
            <a:ext cx="6629400" cy="406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562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Cards</a:t>
            </a:r>
          </a:p>
        </p:txBody>
      </p:sp>
      <p:sp>
        <p:nvSpPr>
          <p:cNvPr id="4" name="Date Placeholder 3"/>
          <p:cNvSpPr>
            <a:spLocks noGrp="1"/>
          </p:cNvSpPr>
          <p:nvPr>
            <p:ph type="dt" sz="half" idx="10"/>
          </p:nvPr>
        </p:nvSpPr>
        <p:spPr/>
        <p:txBody>
          <a:bodyPr/>
          <a:lstStyle/>
          <a:p>
            <a:fld id="{67C72549-955D-44E1-A339-0B8A82B3BA84}" type="datetime1">
              <a:rPr lang="en-US" smtClean="0"/>
              <a:t>3/19/2025</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14</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6324600" cy="4011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595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What is Scrum?</a:t>
            </a:r>
          </a:p>
        </p:txBody>
      </p:sp>
      <p:sp>
        <p:nvSpPr>
          <p:cNvPr id="49155" name="Rectangle 3"/>
          <p:cNvSpPr>
            <a:spLocks noGrp="1" noChangeArrowheads="1"/>
          </p:cNvSpPr>
          <p:nvPr>
            <p:ph idx="1"/>
          </p:nvPr>
        </p:nvSpPr>
        <p:spPr/>
        <p:txBody>
          <a:bodyPr/>
          <a:lstStyle/>
          <a:p>
            <a:pPr algn="just" eaLnBrk="1" hangingPunct="1"/>
            <a:r>
              <a:rPr lang="en-US" altLang="en-US" sz="2400"/>
              <a:t>Scrum is light weight, interrelated practices and set of  laws to optimize the development environment and reduce organizational overheads. </a:t>
            </a:r>
          </a:p>
          <a:p>
            <a:pPr algn="just" eaLnBrk="1" hangingPunct="1"/>
            <a:endParaRPr lang="en-US" altLang="en-US" sz="2400"/>
          </a:p>
          <a:p>
            <a:pPr algn="just" eaLnBrk="1" hangingPunct="1"/>
            <a:r>
              <a:rPr lang="en-US" altLang="en-US" sz="2400"/>
              <a:t>A Scrum is just like the eight members of the Rugby team, they all are packed  together and work as a team. Only one goal has to achieve by the entire team at a single time. [Mike Beedle (2001)]</a:t>
            </a:r>
          </a:p>
        </p:txBody>
      </p:sp>
      <p:sp>
        <p:nvSpPr>
          <p:cNvPr id="2" name="Date Placeholder 1">
            <a:extLst>
              <a:ext uri="{FF2B5EF4-FFF2-40B4-BE49-F238E27FC236}">
                <a16:creationId xmlns:a16="http://schemas.microsoft.com/office/drawing/2014/main" id="{5E5C9BA8-AFA1-45D1-A7D9-75D74516CC22}"/>
              </a:ext>
            </a:extLst>
          </p:cNvPr>
          <p:cNvSpPr>
            <a:spLocks noGrp="1"/>
          </p:cNvSpPr>
          <p:nvPr>
            <p:ph type="dt" sz="half" idx="10"/>
          </p:nvPr>
        </p:nvSpPr>
        <p:spPr/>
        <p:txBody>
          <a:bodyPr/>
          <a:lstStyle/>
          <a:p>
            <a:fld id="{D1635B8C-F78D-40A4-B4DC-3105DC537781}" type="datetime1">
              <a:rPr lang="en-US" smtClean="0"/>
              <a:t>3/19/2025</a:t>
            </a:fld>
            <a:endParaRPr lang="en-US"/>
          </a:p>
        </p:txBody>
      </p:sp>
      <p:sp>
        <p:nvSpPr>
          <p:cNvPr id="4" name="Slide Number Placeholder 3">
            <a:extLst>
              <a:ext uri="{FF2B5EF4-FFF2-40B4-BE49-F238E27FC236}">
                <a16:creationId xmlns:a16="http://schemas.microsoft.com/office/drawing/2014/main" id="{A897AC4F-7354-499D-A904-FAFC2CB3BBB8}"/>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15</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Scrum in Detail	</a:t>
            </a:r>
          </a:p>
        </p:txBody>
      </p:sp>
      <p:sp>
        <p:nvSpPr>
          <p:cNvPr id="51203" name="Rectangle 3"/>
          <p:cNvSpPr>
            <a:spLocks noGrp="1" noChangeArrowheads="1"/>
          </p:cNvSpPr>
          <p:nvPr>
            <p:ph idx="1"/>
          </p:nvPr>
        </p:nvSpPr>
        <p:spPr>
          <a:xfrm>
            <a:off x="457200" y="1709929"/>
            <a:ext cx="8229600" cy="4538472"/>
          </a:xfrm>
        </p:spPr>
        <p:txBody>
          <a:bodyPr>
            <a:normAutofit/>
          </a:bodyPr>
          <a:lstStyle/>
          <a:p>
            <a:pPr algn="just" eaLnBrk="1" hangingPunct="1">
              <a:lnSpc>
                <a:spcPct val="80000"/>
              </a:lnSpc>
              <a:buFontTx/>
              <a:buNone/>
            </a:pPr>
            <a:r>
              <a:rPr lang="en-US" altLang="en-US" sz="2800" b="1" dirty="0">
                <a:latin typeface="Calibri (Body)"/>
              </a:rPr>
              <a:t>Scrum Phases</a:t>
            </a:r>
          </a:p>
          <a:p>
            <a:pPr algn="just" eaLnBrk="1" hangingPunct="1">
              <a:lnSpc>
                <a:spcPct val="80000"/>
              </a:lnSpc>
              <a:buFontTx/>
              <a:buNone/>
            </a:pPr>
            <a:r>
              <a:rPr lang="en-US" altLang="en-US" sz="2400" dirty="0">
                <a:latin typeface="Calibri (Body)"/>
              </a:rPr>
              <a:t>There are </a:t>
            </a:r>
            <a:r>
              <a:rPr lang="en-US" altLang="en-US" sz="2400" i="1" dirty="0">
                <a:latin typeface="Calibri (Body)"/>
              </a:rPr>
              <a:t>three phases </a:t>
            </a:r>
            <a:r>
              <a:rPr lang="en-US" altLang="en-US" sz="2400" dirty="0">
                <a:latin typeface="Calibri (Body)"/>
              </a:rPr>
              <a:t>in Scrum given below:-</a:t>
            </a:r>
          </a:p>
          <a:p>
            <a:pPr marL="0" indent="0" algn="just" eaLnBrk="1" hangingPunct="1">
              <a:lnSpc>
                <a:spcPct val="80000"/>
              </a:lnSpc>
              <a:buNone/>
            </a:pPr>
            <a:r>
              <a:rPr lang="en-US" altLang="en-US" sz="2400" b="1" dirty="0">
                <a:latin typeface="Calibri (Body)"/>
              </a:rPr>
              <a:t>Planning - </a:t>
            </a:r>
            <a:r>
              <a:rPr lang="en-US" altLang="en-US" sz="2400" dirty="0">
                <a:latin typeface="Calibri (Body)"/>
              </a:rPr>
              <a:t>In planning phase of Scrum model, the requirements are gathered by the customers by scratching a new system </a:t>
            </a:r>
          </a:p>
          <a:p>
            <a:pPr algn="just" eaLnBrk="1" hangingPunct="1">
              <a:lnSpc>
                <a:spcPct val="80000"/>
              </a:lnSpc>
              <a:buFontTx/>
              <a:buNone/>
            </a:pPr>
            <a:r>
              <a:rPr lang="en-US" altLang="en-US" sz="2400" b="1" dirty="0">
                <a:latin typeface="Calibri (Body)"/>
              </a:rPr>
              <a:t>Development Sprints - </a:t>
            </a:r>
            <a:r>
              <a:rPr lang="en-US" altLang="en-US" sz="2400" dirty="0">
                <a:latin typeface="Calibri (Body)"/>
              </a:rPr>
              <a:t>In this phase of Scrum, the</a:t>
            </a:r>
          </a:p>
          <a:p>
            <a:pPr algn="just" eaLnBrk="1" hangingPunct="1">
              <a:lnSpc>
                <a:spcPct val="80000"/>
              </a:lnSpc>
              <a:buFontTx/>
              <a:buNone/>
            </a:pPr>
            <a:r>
              <a:rPr lang="en-US" altLang="en-US" sz="2400" dirty="0">
                <a:latin typeface="Calibri (Body)"/>
              </a:rPr>
              <a:t>developers start coding and developing the functions or module in sprints iterations </a:t>
            </a:r>
          </a:p>
          <a:p>
            <a:pPr algn="just" eaLnBrk="1" hangingPunct="1">
              <a:lnSpc>
                <a:spcPct val="80000"/>
              </a:lnSpc>
              <a:buFontTx/>
              <a:buNone/>
            </a:pPr>
            <a:r>
              <a:rPr lang="en-US" altLang="en-US" sz="2400" b="1" dirty="0">
                <a:latin typeface="Calibri (Body)"/>
              </a:rPr>
              <a:t>Closure - </a:t>
            </a:r>
            <a:r>
              <a:rPr lang="en-US" altLang="en-US" sz="2400" dirty="0">
                <a:latin typeface="Calibri (Body)"/>
              </a:rPr>
              <a:t>In this phase, the final product is released, and documentation is made. Sprint review meeting conduct to check either the goals are achieved or not</a:t>
            </a:r>
          </a:p>
        </p:txBody>
      </p:sp>
      <p:sp>
        <p:nvSpPr>
          <p:cNvPr id="2" name="Date Placeholder 1">
            <a:extLst>
              <a:ext uri="{FF2B5EF4-FFF2-40B4-BE49-F238E27FC236}">
                <a16:creationId xmlns:a16="http://schemas.microsoft.com/office/drawing/2014/main" id="{C44BD4B3-5066-4B77-BD28-D2E40A2DF87C}"/>
              </a:ext>
            </a:extLst>
          </p:cNvPr>
          <p:cNvSpPr>
            <a:spLocks noGrp="1"/>
          </p:cNvSpPr>
          <p:nvPr>
            <p:ph type="dt" sz="half" idx="10"/>
          </p:nvPr>
        </p:nvSpPr>
        <p:spPr/>
        <p:txBody>
          <a:bodyPr/>
          <a:lstStyle/>
          <a:p>
            <a:fld id="{27014DAC-94EA-4F95-AFD4-4CAEB2F2579A}" type="datetime1">
              <a:rPr lang="en-US" smtClean="0"/>
              <a:t>3/19/2025</a:t>
            </a:fld>
            <a:endParaRPr lang="en-US"/>
          </a:p>
        </p:txBody>
      </p:sp>
      <p:sp>
        <p:nvSpPr>
          <p:cNvPr id="4" name="Slide Number Placeholder 3">
            <a:extLst>
              <a:ext uri="{FF2B5EF4-FFF2-40B4-BE49-F238E27FC236}">
                <a16:creationId xmlns:a16="http://schemas.microsoft.com/office/drawing/2014/main" id="{E018F078-7D86-4185-8E6F-257BFAD1BC89}"/>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16</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Scrum in Detail…..continue</a:t>
            </a:r>
          </a:p>
        </p:txBody>
      </p:sp>
      <p:sp>
        <p:nvSpPr>
          <p:cNvPr id="49155" name="Rectangle 3"/>
          <p:cNvSpPr>
            <a:spLocks noGrp="1" noChangeArrowheads="1"/>
          </p:cNvSpPr>
          <p:nvPr>
            <p:ph idx="1"/>
          </p:nvPr>
        </p:nvSpPr>
        <p:spPr>
          <a:xfrm>
            <a:off x="651322" y="1420118"/>
            <a:ext cx="7841356" cy="5056882"/>
          </a:xfrm>
        </p:spPr>
        <p:txBody>
          <a:bodyPr rtlCol="0">
            <a:noAutofit/>
          </a:bodyPr>
          <a:lstStyle/>
          <a:p>
            <a:pPr marL="0" indent="0" algn="just" eaLnBrk="1" fontAlgn="auto" hangingPunct="1">
              <a:lnSpc>
                <a:spcPct val="80000"/>
              </a:lnSpc>
              <a:spcBef>
                <a:spcPts val="580"/>
              </a:spcBef>
              <a:spcAft>
                <a:spcPts val="0"/>
              </a:spcAft>
              <a:buNone/>
              <a:defRPr/>
            </a:pPr>
            <a:endParaRPr lang="en-US" sz="2800" b="1" dirty="0">
              <a:solidFill>
                <a:schemeClr val="tx1">
                  <a:lumMod val="75000"/>
                  <a:lumOff val="25000"/>
                </a:schemeClr>
              </a:solidFill>
              <a:latin typeface="Calibri (Body)"/>
            </a:endParaRPr>
          </a:p>
          <a:p>
            <a:pPr marL="0" indent="0" algn="just" eaLnBrk="1" fontAlgn="auto" hangingPunct="1">
              <a:lnSpc>
                <a:spcPct val="80000"/>
              </a:lnSpc>
              <a:spcBef>
                <a:spcPts val="580"/>
              </a:spcBef>
              <a:spcAft>
                <a:spcPts val="0"/>
              </a:spcAft>
              <a:buNone/>
              <a:defRPr/>
            </a:pPr>
            <a:r>
              <a:rPr lang="en-US" sz="2800" b="1" dirty="0">
                <a:solidFill>
                  <a:schemeClr val="tx1">
                    <a:lumMod val="75000"/>
                    <a:lumOff val="25000"/>
                  </a:schemeClr>
                </a:solidFill>
                <a:latin typeface="Calibri (Body)"/>
              </a:rPr>
              <a:t>Scrum Roles</a:t>
            </a:r>
            <a:r>
              <a:rPr lang="en-US" sz="2800" dirty="0">
                <a:solidFill>
                  <a:schemeClr val="tx1">
                    <a:lumMod val="75000"/>
                    <a:lumOff val="25000"/>
                  </a:schemeClr>
                </a:solidFill>
                <a:latin typeface="Calibri (Body)"/>
              </a:rPr>
              <a:t>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Product Owner - </a:t>
            </a:r>
            <a:r>
              <a:rPr lang="en-US" dirty="0">
                <a:solidFill>
                  <a:schemeClr val="tx1">
                    <a:lumMod val="75000"/>
                    <a:lumOff val="25000"/>
                  </a:schemeClr>
                </a:solidFill>
                <a:latin typeface="Calibri (Body)"/>
              </a:rPr>
              <a:t>Product owner has different responsibilities. Their main responsibility is to define the features of the product backlog. Product backlog is the lists of features which are required by the customer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Scrum Master - </a:t>
            </a:r>
            <a:r>
              <a:rPr lang="en-US" dirty="0">
                <a:solidFill>
                  <a:schemeClr val="tx1">
                    <a:lumMod val="75000"/>
                    <a:lumOff val="25000"/>
                  </a:schemeClr>
                </a:solidFill>
                <a:latin typeface="Calibri (Body)"/>
              </a:rPr>
              <a:t>Scrum Master is the team lead or project manager of the project. It has close links with product owner. It has responsibility to solve all problems faced by the team members during the life cycle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Team - </a:t>
            </a:r>
            <a:r>
              <a:rPr lang="en-US" dirty="0">
                <a:solidFill>
                  <a:schemeClr val="tx1">
                    <a:lumMod val="75000"/>
                    <a:lumOff val="25000"/>
                  </a:schemeClr>
                </a:solidFill>
                <a:latin typeface="Calibri (Body)"/>
              </a:rPr>
              <a:t>The team members in Scrum consist of seven members. The number can vary from project to project. The main function of the team is to develop the product. The team complete the different tasks assigned by the product owner.</a:t>
            </a:r>
          </a:p>
        </p:txBody>
      </p:sp>
      <p:sp>
        <p:nvSpPr>
          <p:cNvPr id="2" name="Date Placeholder 1">
            <a:extLst>
              <a:ext uri="{FF2B5EF4-FFF2-40B4-BE49-F238E27FC236}">
                <a16:creationId xmlns:a16="http://schemas.microsoft.com/office/drawing/2014/main" id="{A7112CDC-96A5-4431-9427-5DC0F57937BF}"/>
              </a:ext>
            </a:extLst>
          </p:cNvPr>
          <p:cNvSpPr>
            <a:spLocks noGrp="1"/>
          </p:cNvSpPr>
          <p:nvPr>
            <p:ph type="dt" sz="half" idx="10"/>
          </p:nvPr>
        </p:nvSpPr>
        <p:spPr/>
        <p:txBody>
          <a:bodyPr/>
          <a:lstStyle/>
          <a:p>
            <a:fld id="{47E1A7C5-8978-48A0-9D96-5290981D7C3E}" type="datetime1">
              <a:rPr lang="en-US" smtClean="0"/>
              <a:t>3/19/2025</a:t>
            </a:fld>
            <a:endParaRPr lang="en-US"/>
          </a:p>
        </p:txBody>
      </p:sp>
      <p:sp>
        <p:nvSpPr>
          <p:cNvPr id="4" name="Slide Number Placeholder 3">
            <a:extLst>
              <a:ext uri="{FF2B5EF4-FFF2-40B4-BE49-F238E27FC236}">
                <a16:creationId xmlns:a16="http://schemas.microsoft.com/office/drawing/2014/main" id="{B4B5CFAD-B282-4F18-AD1D-E5F89FA977EC}"/>
              </a:ext>
            </a:extLst>
          </p:cNvPr>
          <p:cNvSpPr>
            <a:spLocks noGrp="1"/>
          </p:cNvSpPr>
          <p:nvPr>
            <p:ph type="sldNum" sz="quarter" idx="12"/>
          </p:nvPr>
        </p:nvSpPr>
        <p:spPr>
          <a:xfrm>
            <a:off x="7620000" y="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17</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Scrum in Detail…..continue</a:t>
            </a:r>
          </a:p>
        </p:txBody>
      </p:sp>
      <p:sp>
        <p:nvSpPr>
          <p:cNvPr id="46083" name="Rectangle 3"/>
          <p:cNvSpPr>
            <a:spLocks noGrp="1" noChangeArrowheads="1"/>
          </p:cNvSpPr>
          <p:nvPr>
            <p:ph idx="1"/>
          </p:nvPr>
        </p:nvSpPr>
        <p:spPr>
          <a:xfrm>
            <a:off x="822959" y="1845733"/>
            <a:ext cx="7841355" cy="4495106"/>
          </a:xfrm>
        </p:spPr>
        <p:txBody>
          <a:bodyPr rtlCol="0">
            <a:noAutofit/>
          </a:bodyPr>
          <a:lstStyle/>
          <a:p>
            <a:pPr marL="0" indent="0" eaLnBrk="1" fontAlgn="auto" hangingPunct="1">
              <a:buNone/>
              <a:defRPr/>
            </a:pPr>
            <a:r>
              <a:rPr lang="en-US" altLang="en-US" b="1" dirty="0">
                <a:solidFill>
                  <a:schemeClr val="tx1">
                    <a:lumMod val="75000"/>
                    <a:lumOff val="25000"/>
                  </a:schemeClr>
                </a:solidFill>
              </a:rPr>
              <a:t>Scrum Artifacts</a:t>
            </a:r>
          </a:p>
          <a:p>
            <a:pPr marL="91440" indent="-91440" eaLnBrk="1" fontAlgn="auto" hangingPunct="1">
              <a:buFontTx/>
              <a:buNone/>
              <a:defRPr/>
            </a:pPr>
            <a:r>
              <a:rPr lang="en-US" altLang="en-US" sz="1800" dirty="0">
                <a:solidFill>
                  <a:schemeClr val="tx1">
                    <a:lumMod val="75000"/>
                    <a:lumOff val="25000"/>
                  </a:schemeClr>
                </a:solidFill>
              </a:rPr>
              <a:t>  There are three artifacts in Scrum are Product backlog, Sprint Backlog and Burn down Charts. </a:t>
            </a:r>
          </a:p>
          <a:p>
            <a:pPr marL="91440" indent="-91440" eaLnBrk="1" fontAlgn="auto" hangingPunct="1">
              <a:defRPr/>
            </a:pPr>
            <a:r>
              <a:rPr lang="en-US" altLang="en-US" sz="1800" b="1" dirty="0">
                <a:solidFill>
                  <a:schemeClr val="tx1">
                    <a:lumMod val="75000"/>
                    <a:lumOff val="25000"/>
                  </a:schemeClr>
                </a:solidFill>
              </a:rPr>
              <a:t>Product Backlog - </a:t>
            </a:r>
            <a:r>
              <a:rPr lang="en-US" altLang="en-US" sz="1800" dirty="0">
                <a:solidFill>
                  <a:schemeClr val="tx1">
                    <a:lumMod val="75000"/>
                    <a:lumOff val="25000"/>
                  </a:schemeClr>
                </a:solidFill>
              </a:rPr>
              <a:t>In product backlog, product owner prepares a list of customer requirements and then prioritized them with high return of investment. The higher priority function is made first and lower propriety function develops later in development phase. </a:t>
            </a:r>
          </a:p>
          <a:p>
            <a:pPr marL="91440" indent="-91440" eaLnBrk="1" fontAlgn="auto" hangingPunct="1">
              <a:defRPr/>
            </a:pPr>
            <a:r>
              <a:rPr lang="en-US" altLang="en-US" sz="1800" b="1" dirty="0">
                <a:solidFill>
                  <a:schemeClr val="tx1">
                    <a:lumMod val="75000"/>
                    <a:lumOff val="25000"/>
                  </a:schemeClr>
                </a:solidFill>
              </a:rPr>
              <a:t>Sprint Backlog - </a:t>
            </a:r>
            <a:r>
              <a:rPr lang="en-US" altLang="en-US" sz="1800" dirty="0">
                <a:solidFill>
                  <a:schemeClr val="tx1">
                    <a:lumMod val="75000"/>
                    <a:lumOff val="25000"/>
                  </a:schemeClr>
                </a:solidFill>
              </a:rPr>
              <a:t>In sprint backlog, the team of the Scrum is committed to complete all tasks given by the product owner within the time frame. Sprint backlog are maintained by Scrum Master.</a:t>
            </a:r>
          </a:p>
          <a:p>
            <a:pPr algn="just" eaLnBrk="1" hangingPunct="1"/>
            <a:r>
              <a:rPr lang="en-US" altLang="en-US" sz="1800" b="1" dirty="0"/>
              <a:t>Burn Down Chart - </a:t>
            </a:r>
            <a:r>
              <a:rPr lang="en-US" altLang="en-US" sz="1800" dirty="0"/>
              <a:t>In burn down chart sprint progress, release progress and product progress are maintained through graphs. The estimation of the product list is maintained in it. The estimated time are mentioned in the graph to complete the different task. It is maintained by product owner</a:t>
            </a:r>
          </a:p>
          <a:p>
            <a:pPr marL="91440" indent="-91440" eaLnBrk="1" fontAlgn="auto" hangingPunct="1">
              <a:defRPr/>
            </a:pPr>
            <a:endParaRPr lang="en-US" altLang="en-US" sz="1800" dirty="0">
              <a:solidFill>
                <a:schemeClr val="tx1">
                  <a:lumMod val="75000"/>
                  <a:lumOff val="25000"/>
                </a:schemeClr>
              </a:solidFill>
            </a:endParaRPr>
          </a:p>
          <a:p>
            <a:pPr marL="91440" indent="-91440" algn="ctr" eaLnBrk="1" fontAlgn="auto" hangingPunct="1">
              <a:buFontTx/>
              <a:buNone/>
              <a:defRPr/>
            </a:pPr>
            <a:endParaRPr lang="en-US" altLang="en-US" sz="1800" dirty="0">
              <a:solidFill>
                <a:schemeClr val="tx1">
                  <a:lumMod val="75000"/>
                  <a:lumOff val="25000"/>
                </a:schemeClr>
              </a:solidFill>
            </a:endParaRPr>
          </a:p>
        </p:txBody>
      </p:sp>
      <p:sp>
        <p:nvSpPr>
          <p:cNvPr id="2" name="Date Placeholder 1">
            <a:extLst>
              <a:ext uri="{FF2B5EF4-FFF2-40B4-BE49-F238E27FC236}">
                <a16:creationId xmlns:a16="http://schemas.microsoft.com/office/drawing/2014/main" id="{236900A8-6258-4F7C-A980-BDD202D9F33B}"/>
              </a:ext>
            </a:extLst>
          </p:cNvPr>
          <p:cNvSpPr>
            <a:spLocks noGrp="1"/>
          </p:cNvSpPr>
          <p:nvPr>
            <p:ph type="dt" sz="half" idx="10"/>
          </p:nvPr>
        </p:nvSpPr>
        <p:spPr/>
        <p:txBody>
          <a:bodyPr/>
          <a:lstStyle/>
          <a:p>
            <a:fld id="{D3A69E10-4883-4987-8C39-A9003EFB32A9}" type="datetime1">
              <a:rPr lang="en-US" smtClean="0"/>
              <a:t>3/19/2025</a:t>
            </a:fld>
            <a:endParaRPr lang="en-US"/>
          </a:p>
        </p:txBody>
      </p:sp>
      <p:sp>
        <p:nvSpPr>
          <p:cNvPr id="4" name="Slide Number Placeholder 3">
            <a:extLst>
              <a:ext uri="{FF2B5EF4-FFF2-40B4-BE49-F238E27FC236}">
                <a16:creationId xmlns:a16="http://schemas.microsoft.com/office/drawing/2014/main" id="{4897A894-A339-4A12-A65E-8BD162F89542}"/>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18</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pPr eaLnBrk="1" fontAlgn="auto" hangingPunct="1">
              <a:spcAft>
                <a:spcPts val="0"/>
              </a:spcAft>
              <a:defRPr/>
            </a:pPr>
            <a:r>
              <a:rPr lang="en-US" altLang="en-US" dirty="0">
                <a:solidFill>
                  <a:schemeClr val="tx1">
                    <a:lumMod val="75000"/>
                    <a:lumOff val="25000"/>
                  </a:schemeClr>
                </a:solidFill>
              </a:rPr>
              <a:t>Scrum Process Flow</a:t>
            </a:r>
            <a:br>
              <a:rPr lang="en-US" altLang="en-US" dirty="0">
                <a:solidFill>
                  <a:schemeClr val="tx1">
                    <a:lumMod val="75000"/>
                    <a:lumOff val="25000"/>
                  </a:schemeClr>
                </a:solidFill>
              </a:rPr>
            </a:br>
            <a:endParaRPr lang="en-US" altLang="en-US" dirty="0">
              <a:solidFill>
                <a:schemeClr val="tx1">
                  <a:lumMod val="75000"/>
                  <a:lumOff val="25000"/>
                </a:schemeClr>
              </a:solidFill>
            </a:endParaRPr>
          </a:p>
        </p:txBody>
      </p:sp>
      <p:sp>
        <p:nvSpPr>
          <p:cNvPr id="59395" name="Rectangle 3"/>
          <p:cNvSpPr>
            <a:spLocks noGrp="1" noChangeArrowheads="1"/>
          </p:cNvSpPr>
          <p:nvPr>
            <p:ph idx="1"/>
          </p:nvPr>
        </p:nvSpPr>
        <p:spPr/>
        <p:txBody>
          <a:bodyPr/>
          <a:lstStyle/>
          <a:p>
            <a:pPr eaLnBrk="1" hangingPunct="1"/>
            <a:endParaRPr lang="en-US" altLang="en-US"/>
          </a:p>
        </p:txBody>
      </p:sp>
      <p:pic>
        <p:nvPicPr>
          <p:cNvPr id="59396" name="Picture 5" descr="D:\Documents and Settings\Super_User\Desktop\ScrumFlo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236663"/>
            <a:ext cx="90551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DAE6DE2-22FC-4AB5-9F3D-C5541D022D0E}"/>
              </a:ext>
            </a:extLst>
          </p:cNvPr>
          <p:cNvSpPr>
            <a:spLocks noGrp="1"/>
          </p:cNvSpPr>
          <p:nvPr>
            <p:ph type="dt" sz="half" idx="10"/>
          </p:nvPr>
        </p:nvSpPr>
        <p:spPr/>
        <p:txBody>
          <a:bodyPr/>
          <a:lstStyle/>
          <a:p>
            <a:fld id="{B1BDA9DD-8591-444E-B76F-08EBD24B2030}" type="datetime1">
              <a:rPr lang="en-US" smtClean="0"/>
              <a:t>3/19/2025</a:t>
            </a:fld>
            <a:endParaRPr lang="en-US"/>
          </a:p>
        </p:txBody>
      </p:sp>
      <p:sp>
        <p:nvSpPr>
          <p:cNvPr id="4" name="Slide Number Placeholder 3">
            <a:extLst>
              <a:ext uri="{FF2B5EF4-FFF2-40B4-BE49-F238E27FC236}">
                <a16:creationId xmlns:a16="http://schemas.microsoft.com/office/drawing/2014/main" id="{4B26FB5D-15D7-45A3-8E50-ED611E86351F}"/>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19</a:t>
            </a:fld>
            <a:endParaRPr lang="en-US" sz="1200" b="0" i="0" u="none" strike="noStrike" cap="none" dirty="0">
              <a:solidFill>
                <a:schemeClr val="bg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914400" y="152400"/>
            <a:ext cx="7772400" cy="1143000"/>
          </a:xfrm>
        </p:spPr>
        <p:txBody>
          <a:bodyPr/>
          <a:lstStyle/>
          <a:p>
            <a:pPr eaLnBrk="1" fontAlgn="auto" hangingPunct="1">
              <a:spcAft>
                <a:spcPts val="0"/>
              </a:spcAft>
              <a:defRPr/>
            </a:pPr>
            <a:r>
              <a:rPr lang="en-US" altLang="en-US">
                <a:solidFill>
                  <a:schemeClr val="tx1">
                    <a:lumMod val="75000"/>
                    <a:lumOff val="25000"/>
                  </a:schemeClr>
                </a:solidFill>
              </a:rPr>
              <a:t>Standup meetings</a:t>
            </a:r>
          </a:p>
        </p:txBody>
      </p:sp>
      <p:sp>
        <p:nvSpPr>
          <p:cNvPr id="60419" name="Content Placeholder 2"/>
          <p:cNvSpPr>
            <a:spLocks noGrp="1"/>
          </p:cNvSpPr>
          <p:nvPr>
            <p:ph idx="1"/>
          </p:nvPr>
        </p:nvSpPr>
        <p:spPr/>
        <p:txBody>
          <a:bodyPr/>
          <a:lstStyle/>
          <a:p>
            <a:pPr eaLnBrk="1" hangingPunct="1"/>
            <a:endParaRPr lang="en-US" altLang="en-US"/>
          </a:p>
        </p:txBody>
      </p:sp>
      <p:pic>
        <p:nvPicPr>
          <p:cNvPr id="60420" name="Picture 2" descr="D:\comsats latest\SE2\scrum images\image3.jpeg"/>
          <p:cNvPicPr>
            <a:picLocks noChangeAspect="1" noChangeArrowheads="1"/>
          </p:cNvPicPr>
          <p:nvPr/>
        </p:nvPicPr>
        <p:blipFill>
          <a:blip r:embed="rId2">
            <a:extLst>
              <a:ext uri="{28A0092B-C50C-407E-A947-70E740481C1C}">
                <a14:useLocalDpi xmlns:a14="http://schemas.microsoft.com/office/drawing/2010/main" val="0"/>
              </a:ext>
            </a:extLst>
          </a:blip>
          <a:srcRect r="4167" b="26761"/>
          <a:stretch>
            <a:fillRect/>
          </a:stretch>
        </p:blipFill>
        <p:spPr bwMode="auto">
          <a:xfrm>
            <a:off x="0" y="1600200"/>
            <a:ext cx="8763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54E9810-4A41-4A11-A720-D48FF6B10D96}"/>
              </a:ext>
            </a:extLst>
          </p:cNvPr>
          <p:cNvSpPr>
            <a:spLocks noGrp="1"/>
          </p:cNvSpPr>
          <p:nvPr>
            <p:ph type="dt" sz="half" idx="10"/>
          </p:nvPr>
        </p:nvSpPr>
        <p:spPr/>
        <p:txBody>
          <a:bodyPr/>
          <a:lstStyle/>
          <a:p>
            <a:fld id="{FAB5C569-ADE6-469B-9BBD-57BE94B256BE}" type="datetime1">
              <a:rPr lang="en-US" smtClean="0"/>
              <a:t>3/19/2025</a:t>
            </a:fld>
            <a:endParaRPr lang="en-US"/>
          </a:p>
        </p:txBody>
      </p:sp>
      <p:sp>
        <p:nvSpPr>
          <p:cNvPr id="4" name="Slide Number Placeholder 3">
            <a:extLst>
              <a:ext uri="{FF2B5EF4-FFF2-40B4-BE49-F238E27FC236}">
                <a16:creationId xmlns:a16="http://schemas.microsoft.com/office/drawing/2014/main" id="{F83253EF-9BF9-4B6F-A57A-4C169AF942BD}"/>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20</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Scrum</a:t>
            </a:r>
          </a:p>
        </p:txBody>
      </p:sp>
      <p:sp>
        <p:nvSpPr>
          <p:cNvPr id="63491" name="Rectangle 3"/>
          <p:cNvSpPr>
            <a:spLocks noGrp="1" noChangeArrowheads="1"/>
          </p:cNvSpPr>
          <p:nvPr>
            <p:ph idx="1"/>
          </p:nvPr>
        </p:nvSpPr>
        <p:spPr/>
        <p:txBody>
          <a:bodyPr/>
          <a:lstStyle/>
          <a:p>
            <a:pPr algn="just" eaLnBrk="1" hangingPunct="1">
              <a:buFont typeface="Wingdings" panose="05000000000000000000" pitchFamily="2" charset="2"/>
              <a:buChar char="Ø"/>
            </a:pPr>
            <a:r>
              <a:rPr lang="en-US" altLang="en-US" sz="2400"/>
              <a:t>Scrum says that Repeated/Defined problems, solutions, Developers and organizational environment is not entirely possible because developers change from one project to another.</a:t>
            </a:r>
          </a:p>
          <a:p>
            <a:pPr algn="just" eaLnBrk="1" hangingPunct="1">
              <a:buFont typeface="Wingdings" panose="05000000000000000000" pitchFamily="2" charset="2"/>
              <a:buChar char="Ø"/>
            </a:pPr>
            <a:r>
              <a:rPr lang="en-US" altLang="en-US" sz="2400"/>
              <a:t>Scrum assumes that the development process is always empirical and not defined.</a:t>
            </a:r>
          </a:p>
          <a:p>
            <a:pPr algn="just" eaLnBrk="1" hangingPunct="1">
              <a:buFont typeface="Wingdings" panose="05000000000000000000" pitchFamily="2" charset="2"/>
              <a:buChar char="Ø"/>
            </a:pPr>
            <a:r>
              <a:rPr lang="en-US" altLang="en-US" sz="2400"/>
              <a:t>Scrum says uncertainties are impossible to measure, therefore, looks beyond the repeatable /defined approach</a:t>
            </a:r>
          </a:p>
        </p:txBody>
      </p:sp>
      <p:sp>
        <p:nvSpPr>
          <p:cNvPr id="2" name="Date Placeholder 1">
            <a:extLst>
              <a:ext uri="{FF2B5EF4-FFF2-40B4-BE49-F238E27FC236}">
                <a16:creationId xmlns:a16="http://schemas.microsoft.com/office/drawing/2014/main" id="{C647F622-AB03-4C9B-9011-6160051DE794}"/>
              </a:ext>
            </a:extLst>
          </p:cNvPr>
          <p:cNvSpPr>
            <a:spLocks noGrp="1"/>
          </p:cNvSpPr>
          <p:nvPr>
            <p:ph type="dt" sz="half" idx="10"/>
          </p:nvPr>
        </p:nvSpPr>
        <p:spPr/>
        <p:txBody>
          <a:bodyPr/>
          <a:lstStyle/>
          <a:p>
            <a:fld id="{07DF295D-6C02-40C2-87ED-30673138D7BC}" type="datetime1">
              <a:rPr lang="en-US" smtClean="0"/>
              <a:t>3/19/2025</a:t>
            </a:fld>
            <a:endParaRPr lang="en-US"/>
          </a:p>
        </p:txBody>
      </p:sp>
      <p:sp>
        <p:nvSpPr>
          <p:cNvPr id="4" name="Slide Number Placeholder 3">
            <a:extLst>
              <a:ext uri="{FF2B5EF4-FFF2-40B4-BE49-F238E27FC236}">
                <a16:creationId xmlns:a16="http://schemas.microsoft.com/office/drawing/2014/main" id="{3E7DE6A3-F215-4BB8-BB03-2272096E84F9}"/>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21</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Why Scrum Works</a:t>
            </a:r>
          </a:p>
        </p:txBody>
      </p:sp>
      <p:sp>
        <p:nvSpPr>
          <p:cNvPr id="64515" name="Rectangle 3"/>
          <p:cNvSpPr>
            <a:spLocks noGrp="1" noChangeArrowheads="1"/>
          </p:cNvSpPr>
          <p:nvPr>
            <p:ph idx="1"/>
          </p:nvPr>
        </p:nvSpPr>
        <p:spPr/>
        <p:txBody>
          <a:bodyPr/>
          <a:lstStyle/>
          <a:p>
            <a:pPr algn="just" eaLnBrk="1" hangingPunct="1">
              <a:buFont typeface="Wingdings" panose="05000000000000000000" pitchFamily="2" charset="2"/>
              <a:buChar char="Ø"/>
            </a:pPr>
            <a:r>
              <a:rPr lang="en-US" altLang="en-US" sz="2800" dirty="0"/>
              <a:t>Most of the defined model assumptions are removed</a:t>
            </a:r>
          </a:p>
          <a:p>
            <a:pPr algn="just" eaLnBrk="1" hangingPunct="1">
              <a:buFont typeface="Wingdings" panose="05000000000000000000" pitchFamily="2" charset="2"/>
              <a:buChar char="Ø"/>
            </a:pPr>
            <a:r>
              <a:rPr lang="en-US" altLang="en-US" sz="2800" dirty="0"/>
              <a:t>Constant feedback</a:t>
            </a:r>
          </a:p>
          <a:p>
            <a:pPr algn="just" eaLnBrk="1" hangingPunct="1">
              <a:buFont typeface="Wingdings" panose="05000000000000000000" pitchFamily="2" charset="2"/>
              <a:buChar char="Ø"/>
            </a:pPr>
            <a:r>
              <a:rPr lang="en-US" altLang="en-US" sz="2800" dirty="0"/>
              <a:t>Focused on “What can be done” instead of “Why it can’t be done”</a:t>
            </a:r>
          </a:p>
        </p:txBody>
      </p:sp>
      <p:sp>
        <p:nvSpPr>
          <p:cNvPr id="2" name="Date Placeholder 1">
            <a:extLst>
              <a:ext uri="{FF2B5EF4-FFF2-40B4-BE49-F238E27FC236}">
                <a16:creationId xmlns:a16="http://schemas.microsoft.com/office/drawing/2014/main" id="{B60F41DE-E882-4B42-8768-FF8354C5FF47}"/>
              </a:ext>
            </a:extLst>
          </p:cNvPr>
          <p:cNvSpPr>
            <a:spLocks noGrp="1"/>
          </p:cNvSpPr>
          <p:nvPr>
            <p:ph type="dt" sz="half" idx="10"/>
          </p:nvPr>
        </p:nvSpPr>
        <p:spPr/>
        <p:txBody>
          <a:bodyPr/>
          <a:lstStyle/>
          <a:p>
            <a:fld id="{2FE8FEEF-FBBA-4C20-A02E-FFA7E2D836AF}" type="datetime1">
              <a:rPr lang="en-US" smtClean="0"/>
              <a:t>3/19/2025</a:t>
            </a:fld>
            <a:endParaRPr lang="en-US"/>
          </a:p>
        </p:txBody>
      </p:sp>
      <p:sp>
        <p:nvSpPr>
          <p:cNvPr id="4" name="Slide Number Placeholder 3">
            <a:extLst>
              <a:ext uri="{FF2B5EF4-FFF2-40B4-BE49-F238E27FC236}">
                <a16:creationId xmlns:a16="http://schemas.microsoft.com/office/drawing/2014/main" id="{CC175920-054A-4228-909F-727996FF4593}"/>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22</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fontAlgn="auto" hangingPunct="1">
              <a:spcAft>
                <a:spcPts val="0"/>
              </a:spcAft>
              <a:defRPr/>
            </a:pPr>
            <a:r>
              <a:rPr lang="en-US" altLang="en-US" dirty="0"/>
              <a:t>Advantages</a:t>
            </a:r>
            <a:endParaRPr lang="en-US" altLang="en-US" dirty="0">
              <a:solidFill>
                <a:schemeClr val="tx1">
                  <a:lumMod val="75000"/>
                  <a:lumOff val="25000"/>
                </a:schemeClr>
              </a:solidFill>
            </a:endParaRPr>
          </a:p>
        </p:txBody>
      </p:sp>
      <p:sp>
        <p:nvSpPr>
          <p:cNvPr id="65539" name="Rectangle 3"/>
          <p:cNvSpPr>
            <a:spLocks noGrp="1" noChangeArrowheads="1"/>
          </p:cNvSpPr>
          <p:nvPr>
            <p:ph idx="1"/>
          </p:nvPr>
        </p:nvSpPr>
        <p:spPr/>
        <p:txBody>
          <a:bodyPr/>
          <a:lstStyle/>
          <a:p>
            <a:pPr algn="just" eaLnBrk="1" hangingPunct="1">
              <a:buFont typeface="Wingdings" panose="05000000000000000000" pitchFamily="2" charset="2"/>
              <a:buChar char="v"/>
            </a:pPr>
            <a:r>
              <a:rPr lang="en-US" altLang="en-US" sz="2800" dirty="0"/>
              <a:t>Great emphasis on teamwork</a:t>
            </a:r>
          </a:p>
          <a:p>
            <a:pPr algn="just" eaLnBrk="1" hangingPunct="1">
              <a:buFont typeface="Wingdings" panose="05000000000000000000" pitchFamily="2" charset="2"/>
              <a:buChar char="v"/>
            </a:pPr>
            <a:r>
              <a:rPr lang="en-US" altLang="en-US" sz="2800" dirty="0"/>
              <a:t>Team learns and contributes throughout the process </a:t>
            </a:r>
          </a:p>
          <a:p>
            <a:pPr algn="just" eaLnBrk="1" hangingPunct="1">
              <a:buFont typeface="Wingdings" panose="05000000000000000000" pitchFamily="2" charset="2"/>
              <a:buChar char="v"/>
            </a:pPr>
            <a:r>
              <a:rPr lang="en-US" altLang="en-US" sz="2800" dirty="0"/>
              <a:t>Team becomes autonomous and strives for excellence</a:t>
            </a:r>
          </a:p>
          <a:p>
            <a:pPr algn="just" eaLnBrk="1" hangingPunct="1">
              <a:buFont typeface="Wingdings" panose="05000000000000000000" pitchFamily="2" charset="2"/>
              <a:buChar char="v"/>
            </a:pPr>
            <a:r>
              <a:rPr lang="en-US" altLang="en-US" sz="2800" dirty="0"/>
              <a:t>Rotation of leadership depending on the phase gives a distributed nature of project execution</a:t>
            </a:r>
          </a:p>
          <a:p>
            <a:pPr algn="just" eaLnBrk="1" hangingPunct="1">
              <a:buFont typeface="Wingdings" panose="05000000000000000000" pitchFamily="2" charset="2"/>
              <a:buChar char="v"/>
            </a:pPr>
            <a:endParaRPr lang="en-US" altLang="en-US" sz="2800" dirty="0"/>
          </a:p>
        </p:txBody>
      </p:sp>
      <p:sp>
        <p:nvSpPr>
          <p:cNvPr id="2" name="Date Placeholder 1">
            <a:extLst>
              <a:ext uri="{FF2B5EF4-FFF2-40B4-BE49-F238E27FC236}">
                <a16:creationId xmlns:a16="http://schemas.microsoft.com/office/drawing/2014/main" id="{C9AEDDCE-723C-4C96-900D-91CDDC0D74F1}"/>
              </a:ext>
            </a:extLst>
          </p:cNvPr>
          <p:cNvSpPr>
            <a:spLocks noGrp="1"/>
          </p:cNvSpPr>
          <p:nvPr>
            <p:ph type="dt" sz="half" idx="10"/>
          </p:nvPr>
        </p:nvSpPr>
        <p:spPr/>
        <p:txBody>
          <a:bodyPr/>
          <a:lstStyle/>
          <a:p>
            <a:fld id="{C6460BBB-6EE5-4C7A-8CC3-0157C4F9680A}" type="datetime1">
              <a:rPr lang="en-US" smtClean="0"/>
              <a:t>3/19/2025</a:t>
            </a:fld>
            <a:endParaRPr lang="en-US"/>
          </a:p>
        </p:txBody>
      </p:sp>
      <p:sp>
        <p:nvSpPr>
          <p:cNvPr id="4" name="Slide Number Placeholder 3">
            <a:extLst>
              <a:ext uri="{FF2B5EF4-FFF2-40B4-BE49-F238E27FC236}">
                <a16:creationId xmlns:a16="http://schemas.microsoft.com/office/drawing/2014/main" id="{F71E6A10-9F51-4744-ACAA-98F54092CEE1}"/>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23</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Advantages </a:t>
            </a:r>
            <a:r>
              <a:rPr lang="en-US" altLang="en-US" sz="3600" dirty="0">
                <a:solidFill>
                  <a:schemeClr val="tx1">
                    <a:lumMod val="75000"/>
                    <a:lumOff val="25000"/>
                  </a:schemeClr>
                </a:solidFill>
              </a:rPr>
              <a:t>(Cont.)</a:t>
            </a:r>
            <a:endParaRPr lang="en-US" altLang="en-US" dirty="0">
              <a:solidFill>
                <a:schemeClr val="tx1">
                  <a:lumMod val="75000"/>
                  <a:lumOff val="25000"/>
                </a:schemeClr>
              </a:solidFill>
            </a:endParaRPr>
          </a:p>
        </p:txBody>
      </p:sp>
      <p:sp>
        <p:nvSpPr>
          <p:cNvPr id="57347" name="Rectangle 3"/>
          <p:cNvSpPr>
            <a:spLocks noGrp="1" noChangeArrowheads="1"/>
          </p:cNvSpPr>
          <p:nvPr>
            <p:ph idx="1"/>
          </p:nvPr>
        </p:nvSpPr>
        <p:spPr>
          <a:xfrm>
            <a:off x="822959" y="1845734"/>
            <a:ext cx="7543801" cy="4375184"/>
          </a:xfrm>
        </p:spPr>
        <p:txBody>
          <a:bodyPr rtlCol="0">
            <a:normAutofit fontScale="92500" lnSpcReduction="10000"/>
          </a:bodyPr>
          <a:lstStyle/>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The management team has a pulse on the progress of the team, stepping in whenever required</a:t>
            </a:r>
          </a:p>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Creates an open environment and encourages feedback</a:t>
            </a:r>
          </a:p>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Evaluation of effort and subsequent rewards are based on the team performance</a:t>
            </a:r>
          </a:p>
          <a:p>
            <a:pPr eaLnBrk="1" hangingPunct="1">
              <a:buFont typeface="Wingdings" panose="05000000000000000000" pitchFamily="2" charset="2"/>
              <a:buChar char="v"/>
            </a:pPr>
            <a:r>
              <a:rPr lang="en-US" altLang="en-US" sz="2800" dirty="0"/>
              <a:t>Reduced need for meetings, authorization and reporting</a:t>
            </a:r>
          </a:p>
          <a:p>
            <a:pPr eaLnBrk="1" hangingPunct="1">
              <a:buFont typeface="Wingdings" panose="05000000000000000000" pitchFamily="2" charset="2"/>
              <a:buChar char="v"/>
            </a:pPr>
            <a:r>
              <a:rPr lang="en-US" altLang="en-US" sz="2800" dirty="0"/>
              <a:t>Iterative model leading to a delivery every 30 days</a:t>
            </a: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p:txBody>
      </p:sp>
      <p:sp>
        <p:nvSpPr>
          <p:cNvPr id="2" name="Date Placeholder 1">
            <a:extLst>
              <a:ext uri="{FF2B5EF4-FFF2-40B4-BE49-F238E27FC236}">
                <a16:creationId xmlns:a16="http://schemas.microsoft.com/office/drawing/2014/main" id="{1826EF4C-D85D-4898-9D5D-A09EEBD1FE2B}"/>
              </a:ext>
            </a:extLst>
          </p:cNvPr>
          <p:cNvSpPr>
            <a:spLocks noGrp="1"/>
          </p:cNvSpPr>
          <p:nvPr>
            <p:ph type="dt" sz="half" idx="10"/>
          </p:nvPr>
        </p:nvSpPr>
        <p:spPr/>
        <p:txBody>
          <a:bodyPr/>
          <a:lstStyle/>
          <a:p>
            <a:fld id="{718B6910-7372-4FAE-8190-A93317FF874B}" type="datetime1">
              <a:rPr lang="en-US" smtClean="0"/>
              <a:t>3/19/2025</a:t>
            </a:fld>
            <a:endParaRPr lang="en-US"/>
          </a:p>
        </p:txBody>
      </p:sp>
      <p:sp>
        <p:nvSpPr>
          <p:cNvPr id="4" name="Slide Number Placeholder 3">
            <a:extLst>
              <a:ext uri="{FF2B5EF4-FFF2-40B4-BE49-F238E27FC236}">
                <a16:creationId xmlns:a16="http://schemas.microsoft.com/office/drawing/2014/main" id="{4C930005-475C-4560-9E3F-5A2BC111A925}"/>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24</a:t>
            </a:fld>
            <a:endParaRPr lang="en-US" sz="1200" b="0" i="0" u="none" strike="noStrike" cap="none" dirty="0">
              <a:solidFill>
                <a:schemeClr val="bg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Disadvantages</a:t>
            </a:r>
          </a:p>
        </p:txBody>
      </p:sp>
      <p:sp>
        <p:nvSpPr>
          <p:cNvPr id="68611" name="Rectangle 3"/>
          <p:cNvSpPr>
            <a:spLocks noGrp="1" noChangeArrowheads="1"/>
          </p:cNvSpPr>
          <p:nvPr>
            <p:ph idx="1"/>
          </p:nvPr>
        </p:nvSpPr>
        <p:spPr>
          <a:xfrm>
            <a:off x="457200" y="1737362"/>
            <a:ext cx="8229600" cy="4968238"/>
          </a:xfrm>
        </p:spPr>
        <p:txBody>
          <a:bodyPr>
            <a:normAutofit lnSpcReduction="10000"/>
          </a:bodyPr>
          <a:lstStyle/>
          <a:p>
            <a:pPr algn="just" eaLnBrk="1" hangingPunct="1">
              <a:lnSpc>
                <a:spcPct val="80000"/>
              </a:lnSpc>
              <a:buFont typeface="Wingdings" panose="05000000000000000000" pitchFamily="2" charset="2"/>
              <a:buChar char="Ø"/>
            </a:pPr>
            <a:r>
              <a:rPr lang="en-US" altLang="en-US" sz="2400" dirty="0"/>
              <a:t>Reusability is not considered in Scrum model. </a:t>
            </a:r>
          </a:p>
          <a:p>
            <a:pPr algn="just" eaLnBrk="1" hangingPunct="1">
              <a:lnSpc>
                <a:spcPct val="80000"/>
              </a:lnSpc>
              <a:buFont typeface="Wingdings" panose="05000000000000000000" pitchFamily="2" charset="2"/>
              <a:buChar char="Ø"/>
            </a:pPr>
            <a:r>
              <a:rPr lang="en-US" altLang="en-US" sz="2400" dirty="0"/>
              <a:t>In product backlog, the product owner prioritized the item and business values in terms of most return of investment. This will not be suitable in large scale projects. </a:t>
            </a:r>
          </a:p>
          <a:p>
            <a:pPr algn="just" eaLnBrk="1" hangingPunct="1">
              <a:lnSpc>
                <a:spcPct val="80000"/>
              </a:lnSpc>
              <a:buFont typeface="Wingdings" panose="05000000000000000000" pitchFamily="2" charset="2"/>
              <a:buChar char="Ø"/>
            </a:pPr>
            <a:r>
              <a:rPr lang="en-US" altLang="en-US" sz="2400" dirty="0"/>
              <a:t>Changing requirements is welcome at any stage of the development in Scrum. This will tend to increase the cost of the project and also increase the time.</a:t>
            </a:r>
          </a:p>
          <a:p>
            <a:pPr algn="just" eaLnBrk="1" hangingPunct="1">
              <a:lnSpc>
                <a:spcPct val="80000"/>
              </a:lnSpc>
              <a:buFont typeface="Wingdings" panose="05000000000000000000" pitchFamily="2" charset="2"/>
              <a:buChar char="Ø"/>
            </a:pPr>
            <a:r>
              <a:rPr lang="en-US" altLang="en-US" sz="2400" dirty="0"/>
              <a:t>In Scrum, a daily meeting takes place for 15 minutes. These meetings are not considered to be a good strategy to cope the problems. Basically, it tends to increase the complexity of the project.</a:t>
            </a:r>
          </a:p>
          <a:p>
            <a:pPr algn="just" eaLnBrk="1" hangingPunct="1">
              <a:lnSpc>
                <a:spcPct val="80000"/>
              </a:lnSpc>
              <a:buFont typeface="Wingdings" panose="05000000000000000000" pitchFamily="2" charset="2"/>
              <a:buChar char="Ø"/>
            </a:pPr>
            <a:r>
              <a:rPr lang="en-US" altLang="en-US" sz="2400" dirty="0"/>
              <a:t>Increase feedback by the customer will increase the quality of the product but feedback which comes in later stage of the development will become a big problem. It will be very difficult to change the scope of the project in later stage of the development life cycle.</a:t>
            </a:r>
          </a:p>
          <a:p>
            <a:pPr algn="just" eaLnBrk="1" hangingPunct="1">
              <a:lnSpc>
                <a:spcPct val="80000"/>
              </a:lnSpc>
              <a:buFont typeface="Wingdings" panose="05000000000000000000" pitchFamily="2" charset="2"/>
              <a:buChar char="Ø"/>
            </a:pPr>
            <a:endParaRPr lang="en-US" altLang="en-US" sz="2400" dirty="0"/>
          </a:p>
          <a:p>
            <a:pPr algn="just" eaLnBrk="1" hangingPunct="1">
              <a:lnSpc>
                <a:spcPct val="80000"/>
              </a:lnSpc>
              <a:buFont typeface="Wingdings" panose="05000000000000000000" pitchFamily="2" charset="2"/>
              <a:buChar char="Ø"/>
            </a:pPr>
            <a:endParaRPr lang="en-US" altLang="en-US" sz="2400" dirty="0"/>
          </a:p>
          <a:p>
            <a:pPr algn="just" eaLnBrk="1" hangingPunct="1">
              <a:lnSpc>
                <a:spcPct val="80000"/>
              </a:lnSpc>
              <a:buFont typeface="Wingdings" panose="05000000000000000000" pitchFamily="2" charset="2"/>
              <a:buChar char="Ø"/>
            </a:pPr>
            <a:endParaRPr lang="en-US" altLang="en-US" sz="2400" dirty="0"/>
          </a:p>
        </p:txBody>
      </p:sp>
      <p:sp>
        <p:nvSpPr>
          <p:cNvPr id="2" name="Date Placeholder 1">
            <a:extLst>
              <a:ext uri="{FF2B5EF4-FFF2-40B4-BE49-F238E27FC236}">
                <a16:creationId xmlns:a16="http://schemas.microsoft.com/office/drawing/2014/main" id="{400F05FB-3C19-4220-B91F-8BF3FB808CB5}"/>
              </a:ext>
            </a:extLst>
          </p:cNvPr>
          <p:cNvSpPr>
            <a:spLocks noGrp="1"/>
          </p:cNvSpPr>
          <p:nvPr>
            <p:ph type="dt" sz="half" idx="10"/>
          </p:nvPr>
        </p:nvSpPr>
        <p:spPr/>
        <p:txBody>
          <a:bodyPr/>
          <a:lstStyle/>
          <a:p>
            <a:fld id="{9BE1E948-6AA8-4454-A08B-AE0AC1899B97}" type="datetime1">
              <a:rPr lang="en-US" smtClean="0"/>
              <a:t>3/19/2025</a:t>
            </a:fld>
            <a:endParaRPr lang="en-US"/>
          </a:p>
        </p:txBody>
      </p:sp>
      <p:sp>
        <p:nvSpPr>
          <p:cNvPr id="4" name="Slide Number Placeholder 3">
            <a:extLst>
              <a:ext uri="{FF2B5EF4-FFF2-40B4-BE49-F238E27FC236}">
                <a16:creationId xmlns:a16="http://schemas.microsoft.com/office/drawing/2014/main" id="{8F5F8312-FDDA-4757-9B7D-C8B761967DF1}"/>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25</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A64E-8823-4092-BAF4-72B732D03D89}"/>
              </a:ext>
            </a:extLst>
          </p:cNvPr>
          <p:cNvSpPr>
            <a:spLocks noGrp="1"/>
          </p:cNvSpPr>
          <p:nvPr>
            <p:ph type="title"/>
          </p:nvPr>
        </p:nvSpPr>
        <p:spPr/>
        <p:txBody>
          <a:bodyPr/>
          <a:lstStyle/>
          <a:p>
            <a:r>
              <a:rPr lang="en-US" dirty="0"/>
              <a:t>Kanban</a:t>
            </a:r>
          </a:p>
        </p:txBody>
      </p:sp>
      <p:sp>
        <p:nvSpPr>
          <p:cNvPr id="3" name="Content Placeholder 2">
            <a:extLst>
              <a:ext uri="{FF2B5EF4-FFF2-40B4-BE49-F238E27FC236}">
                <a16:creationId xmlns:a16="http://schemas.microsoft.com/office/drawing/2014/main" id="{65ACA75D-B13B-4AF6-A161-AA519F3E4D8C}"/>
              </a:ext>
            </a:extLst>
          </p:cNvPr>
          <p:cNvSpPr>
            <a:spLocks noGrp="1"/>
          </p:cNvSpPr>
          <p:nvPr>
            <p:ph idx="1"/>
          </p:nvPr>
        </p:nvSpPr>
        <p:spPr/>
        <p:txBody>
          <a:bodyPr/>
          <a:lstStyle/>
          <a:p>
            <a:pPr>
              <a:buFont typeface="Wingdings" panose="05000000000000000000" pitchFamily="2" charset="2"/>
              <a:buChar char="Ø"/>
            </a:pPr>
            <a:r>
              <a:rPr lang="en-US" b="0" i="0" dirty="0">
                <a:effectLst/>
                <a:latin typeface="Raleway" pitchFamily="2" charset="0"/>
              </a:rPr>
              <a:t>The word Kanban is of Japanese origin and its meaning is linked to a time concept, “just-in-time”.</a:t>
            </a:r>
          </a:p>
          <a:p>
            <a:pPr>
              <a:buFont typeface="Wingdings" panose="05000000000000000000" pitchFamily="2" charset="2"/>
              <a:buChar char="Ø"/>
            </a:pPr>
            <a:r>
              <a:rPr lang="en-US" dirty="0">
                <a:latin typeface="Raleway" pitchFamily="2" charset="0"/>
              </a:rPr>
              <a:t>T</a:t>
            </a:r>
            <a:r>
              <a:rPr lang="en-US" b="0" i="0" dirty="0">
                <a:effectLst/>
                <a:latin typeface="Raleway" pitchFamily="2" charset="0"/>
              </a:rPr>
              <a:t>he Kanban method exists in a board or table (</a:t>
            </a:r>
            <a:r>
              <a:rPr lang="en-US" b="1" i="0" dirty="0">
                <a:effectLst/>
                <a:latin typeface="Raleway" pitchFamily="2" charset="0"/>
              </a:rPr>
              <a:t>Kanban board</a:t>
            </a:r>
            <a:r>
              <a:rPr lang="en-US" b="0" i="0" dirty="0">
                <a:effectLst/>
                <a:latin typeface="Raleway" pitchFamily="2" charset="0"/>
              </a:rPr>
              <a:t>), divided into columns, that </a:t>
            </a:r>
            <a:r>
              <a:rPr lang="en-US" b="1" i="0" dirty="0">
                <a:effectLst/>
                <a:latin typeface="Raleway" pitchFamily="2" charset="0"/>
              </a:rPr>
              <a:t>shows every flow of the software production</a:t>
            </a:r>
            <a:r>
              <a:rPr lang="en-US" b="0" i="0" dirty="0">
                <a:effectLst/>
                <a:latin typeface="Raleway" pitchFamily="2" charset="0"/>
              </a:rPr>
              <a:t>.</a:t>
            </a:r>
          </a:p>
          <a:p>
            <a:pPr>
              <a:buFont typeface="Wingdings" panose="05000000000000000000" pitchFamily="2" charset="2"/>
              <a:buChar char="Ø"/>
            </a:pPr>
            <a:r>
              <a:rPr lang="en-US" b="0" i="0" dirty="0">
                <a:effectLst/>
                <a:latin typeface="Raleway" pitchFamily="2" charset="0"/>
              </a:rPr>
              <a:t>As the development evolves, the information contained in the table changes, and when a new task comes into play, a new “card” is created.</a:t>
            </a:r>
            <a:endParaRPr lang="en-US" dirty="0">
              <a:latin typeface="Raleway" pitchFamily="2" charset="0"/>
            </a:endParaRPr>
          </a:p>
          <a:p>
            <a:pPr>
              <a:buFont typeface="Wingdings" panose="05000000000000000000" pitchFamily="2" charset="2"/>
              <a:buChar char="Ø"/>
            </a:pPr>
            <a:r>
              <a:rPr lang="en-US" b="0" i="0" dirty="0">
                <a:effectLst/>
                <a:latin typeface="Raleway" pitchFamily="2" charset="0"/>
              </a:rPr>
              <a:t>The Kanban method requires communication and transparency so that the members of a team can know exactly at what stage the development is and can see the status of the project at any time.</a:t>
            </a:r>
            <a:endParaRPr lang="en-US" dirty="0"/>
          </a:p>
        </p:txBody>
      </p:sp>
      <p:sp>
        <p:nvSpPr>
          <p:cNvPr id="5" name="Slide Number Placeholder 4">
            <a:extLst>
              <a:ext uri="{FF2B5EF4-FFF2-40B4-BE49-F238E27FC236}">
                <a16:creationId xmlns:a16="http://schemas.microsoft.com/office/drawing/2014/main" id="{4FB7F697-A61D-43A1-81F2-97C900683414}"/>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26</a:t>
            </a:fld>
            <a:endParaRPr lang="en-US" sz="1200" b="0" i="0" u="none" strike="noStrike" cap="none">
              <a:solidFill>
                <a:schemeClr val="bg1"/>
              </a:solidFill>
              <a:latin typeface="Calibri"/>
              <a:ea typeface="Calibri"/>
              <a:cs typeface="Calibri"/>
              <a:sym typeface="Calibri"/>
            </a:endParaRPr>
          </a:p>
        </p:txBody>
      </p:sp>
      <p:sp>
        <p:nvSpPr>
          <p:cNvPr id="6" name="Date Placeholder 5">
            <a:extLst>
              <a:ext uri="{FF2B5EF4-FFF2-40B4-BE49-F238E27FC236}">
                <a16:creationId xmlns:a16="http://schemas.microsoft.com/office/drawing/2014/main" id="{E72BCEB1-9FCC-4317-A62B-1F9529DD4B91}"/>
              </a:ext>
            </a:extLst>
          </p:cNvPr>
          <p:cNvSpPr>
            <a:spLocks noGrp="1"/>
          </p:cNvSpPr>
          <p:nvPr>
            <p:ph type="dt" sz="half" idx="10"/>
          </p:nvPr>
        </p:nvSpPr>
        <p:spPr/>
        <p:txBody>
          <a:bodyPr/>
          <a:lstStyle/>
          <a:p>
            <a:fld id="{6DB197ED-9D7D-4ED8-9A4D-ED8F9CBD0ED3}" type="datetime1">
              <a:rPr lang="en-US" smtClean="0"/>
              <a:t>3/19/2025</a:t>
            </a:fld>
            <a:endParaRPr lang="en-US"/>
          </a:p>
        </p:txBody>
      </p:sp>
    </p:spTree>
    <p:extLst>
      <p:ext uri="{BB962C8B-B14F-4D97-AF65-F5344CB8AC3E}">
        <p14:creationId xmlns:p14="http://schemas.microsoft.com/office/powerpoint/2010/main" val="197911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4096-A0CE-4CF6-8CED-B739317337C6}"/>
              </a:ext>
            </a:extLst>
          </p:cNvPr>
          <p:cNvSpPr>
            <a:spLocks noGrp="1"/>
          </p:cNvSpPr>
          <p:nvPr>
            <p:ph type="title"/>
          </p:nvPr>
        </p:nvSpPr>
        <p:spPr/>
        <p:txBody>
          <a:bodyPr/>
          <a:lstStyle/>
          <a:p>
            <a:r>
              <a:rPr lang="en-US" dirty="0"/>
              <a:t>Kanban </a:t>
            </a:r>
          </a:p>
        </p:txBody>
      </p:sp>
      <p:sp>
        <p:nvSpPr>
          <p:cNvPr id="7" name="Text Placeholder 6">
            <a:extLst>
              <a:ext uri="{FF2B5EF4-FFF2-40B4-BE49-F238E27FC236}">
                <a16:creationId xmlns:a16="http://schemas.microsoft.com/office/drawing/2014/main" id="{547C8959-8B1A-4C2A-98B0-43E2FBE8E6BE}"/>
              </a:ext>
            </a:extLst>
          </p:cNvPr>
          <p:cNvSpPr>
            <a:spLocks noGrp="1"/>
          </p:cNvSpPr>
          <p:nvPr>
            <p:ph type="body" idx="1"/>
          </p:nvPr>
        </p:nvSpPr>
        <p:spPr/>
        <p:txBody>
          <a:bodyPr/>
          <a:lstStyle/>
          <a:p>
            <a:r>
              <a:rPr lang="en-US" b="1" dirty="0"/>
              <a:t>Advantages		</a:t>
            </a:r>
          </a:p>
        </p:txBody>
      </p:sp>
      <p:sp>
        <p:nvSpPr>
          <p:cNvPr id="3" name="Content Placeholder 2">
            <a:extLst>
              <a:ext uri="{FF2B5EF4-FFF2-40B4-BE49-F238E27FC236}">
                <a16:creationId xmlns:a16="http://schemas.microsoft.com/office/drawing/2014/main" id="{7A2179CF-E8BA-4BB5-9F92-0D3C9D4229C9}"/>
              </a:ext>
            </a:extLst>
          </p:cNvPr>
          <p:cNvSpPr>
            <a:spLocks noGrp="1"/>
          </p:cNvSpPr>
          <p:nvPr>
            <p:ph sz="half" idx="2"/>
          </p:nvPr>
        </p:nvSpPr>
        <p:spPr>
          <a:xfrm>
            <a:off x="822960" y="2582333"/>
            <a:ext cx="3703320" cy="3698545"/>
          </a:xfrm>
        </p:spPr>
        <p:txBody>
          <a:bodyPr>
            <a:normAutofit fontScale="77500" lnSpcReduction="20000"/>
          </a:bodyPr>
          <a:lstStyle/>
          <a:p>
            <a:pPr algn="l">
              <a:buFont typeface="Arial" panose="020B0604020202020204" pitchFamily="34" charset="0"/>
              <a:buChar char="•"/>
            </a:pPr>
            <a:r>
              <a:rPr lang="en-US" b="0" i="0" dirty="0">
                <a:effectLst/>
                <a:latin typeface="Raleway" pitchFamily="2" charset="0"/>
              </a:rPr>
              <a:t>Ability to view all tasks of one project (Completed, In Progress or In Testing, for example);</a:t>
            </a:r>
          </a:p>
          <a:p>
            <a:pPr algn="l">
              <a:buFont typeface="Arial" panose="020B0604020202020204" pitchFamily="34" charset="0"/>
              <a:buChar char="•"/>
            </a:pPr>
            <a:r>
              <a:rPr lang="en-US" b="0" i="0" dirty="0">
                <a:effectLst/>
                <a:latin typeface="Raleway" pitchFamily="2" charset="0"/>
              </a:rPr>
              <a:t>It is possible to limit the number of running tasks (that is, the amount of work, bearing in mind its resolution or deliverability);</a:t>
            </a:r>
          </a:p>
          <a:p>
            <a:pPr algn="l">
              <a:buFont typeface="Arial" panose="020B0604020202020204" pitchFamily="34" charset="0"/>
              <a:buChar char="•"/>
            </a:pPr>
            <a:r>
              <a:rPr lang="en-US" b="0" i="0" dirty="0">
                <a:effectLst/>
                <a:latin typeface="Raleway" pitchFamily="2" charset="0"/>
              </a:rPr>
              <a:t>Focus on the duration of a cycle – how long it takes a task to go from backlog to the final stage;</a:t>
            </a:r>
          </a:p>
          <a:p>
            <a:pPr algn="l">
              <a:buFont typeface="Arial" panose="020B0604020202020204" pitchFamily="34" charset="0"/>
              <a:buChar char="•"/>
            </a:pPr>
            <a:r>
              <a:rPr lang="en-US" b="0" i="0" dirty="0">
                <a:effectLst/>
                <a:latin typeface="Raleway" pitchFamily="2" charset="0"/>
              </a:rPr>
              <a:t>Allows continuous deliveries.</a:t>
            </a:r>
          </a:p>
        </p:txBody>
      </p:sp>
      <p:sp>
        <p:nvSpPr>
          <p:cNvPr id="8" name="Text Placeholder 7">
            <a:extLst>
              <a:ext uri="{FF2B5EF4-FFF2-40B4-BE49-F238E27FC236}">
                <a16:creationId xmlns:a16="http://schemas.microsoft.com/office/drawing/2014/main" id="{F085BB3F-F784-4956-B3F2-6980D288E2A3}"/>
              </a:ext>
            </a:extLst>
          </p:cNvPr>
          <p:cNvSpPr>
            <a:spLocks noGrp="1"/>
          </p:cNvSpPr>
          <p:nvPr>
            <p:ph type="body" sz="quarter" idx="3"/>
          </p:nvPr>
        </p:nvSpPr>
        <p:spPr/>
        <p:txBody>
          <a:bodyPr/>
          <a:lstStyle/>
          <a:p>
            <a:r>
              <a:rPr lang="en-US" b="1" dirty="0"/>
              <a:t>Disadvantages</a:t>
            </a:r>
          </a:p>
        </p:txBody>
      </p:sp>
      <p:sp>
        <p:nvSpPr>
          <p:cNvPr id="4" name="Content Placeholder 3">
            <a:extLst>
              <a:ext uri="{FF2B5EF4-FFF2-40B4-BE49-F238E27FC236}">
                <a16:creationId xmlns:a16="http://schemas.microsoft.com/office/drawing/2014/main" id="{91179275-276A-4BE8-AACC-63D4F7658556}"/>
              </a:ext>
            </a:extLst>
          </p:cNvPr>
          <p:cNvSpPr>
            <a:spLocks noGrp="1"/>
          </p:cNvSpPr>
          <p:nvPr>
            <p:ph sz="quarter" idx="4"/>
          </p:nvPr>
        </p:nvSpPr>
        <p:spPr>
          <a:xfrm>
            <a:off x="4631463" y="2582334"/>
            <a:ext cx="3703320" cy="3698544"/>
          </a:xfrm>
        </p:spPr>
        <p:txBody>
          <a:bodyPr>
            <a:normAutofit fontScale="77500" lnSpcReduction="20000"/>
          </a:bodyPr>
          <a:lstStyle/>
          <a:p>
            <a:pPr algn="l">
              <a:buFont typeface="Arial" panose="020B0604020202020204" pitchFamily="34" charset="0"/>
              <a:buChar char="•"/>
            </a:pPr>
            <a:r>
              <a:rPr lang="en-US" b="0" i="0" dirty="0">
                <a:effectLst/>
                <a:latin typeface="Raleway" pitchFamily="2" charset="0"/>
              </a:rPr>
              <a:t>It is possible for members of a team to misinterpret the information show on the Kanban Board, especially when it is revealed as outdated;</a:t>
            </a:r>
          </a:p>
          <a:p>
            <a:pPr algn="l">
              <a:buFont typeface="Arial" panose="020B0604020202020204" pitchFamily="34" charset="0"/>
              <a:buChar char="•"/>
            </a:pPr>
            <a:r>
              <a:rPr lang="en-US" b="0" i="0" dirty="0">
                <a:effectLst/>
                <a:latin typeface="Raleway" pitchFamily="2" charset="0"/>
              </a:rPr>
              <a:t>Since there are no timeframes in Kanban, you can face time related problems, such as delays, associated with each and every stage.</a:t>
            </a:r>
          </a:p>
          <a:p>
            <a:endParaRPr lang="en-US" dirty="0"/>
          </a:p>
        </p:txBody>
      </p:sp>
      <p:sp>
        <p:nvSpPr>
          <p:cNvPr id="6" name="Slide Number Placeholder 5">
            <a:extLst>
              <a:ext uri="{FF2B5EF4-FFF2-40B4-BE49-F238E27FC236}">
                <a16:creationId xmlns:a16="http://schemas.microsoft.com/office/drawing/2014/main" id="{CFE331CC-11F2-42CF-B6E0-02BECE78E478}"/>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smtClean="0">
                <a:solidFill>
                  <a:schemeClr val="bg1"/>
                </a:solidFill>
                <a:latin typeface="Calibri"/>
                <a:ea typeface="Calibri"/>
                <a:cs typeface="Calibri"/>
                <a:sym typeface="Calibri"/>
              </a:rPr>
              <a:t>27</a:t>
            </a:fld>
            <a:endParaRPr lang="en-US" sz="1200">
              <a:solidFill>
                <a:schemeClr val="bg1"/>
              </a:solidFill>
              <a:latin typeface="Calibri"/>
              <a:ea typeface="Calibri"/>
              <a:cs typeface="Calibri"/>
              <a:sym typeface="Calibri"/>
            </a:endParaRPr>
          </a:p>
        </p:txBody>
      </p:sp>
      <p:sp>
        <p:nvSpPr>
          <p:cNvPr id="9" name="Date Placeholder 8">
            <a:extLst>
              <a:ext uri="{FF2B5EF4-FFF2-40B4-BE49-F238E27FC236}">
                <a16:creationId xmlns:a16="http://schemas.microsoft.com/office/drawing/2014/main" id="{BECA980D-7751-4B62-AAD0-F6934BD683FC}"/>
              </a:ext>
            </a:extLst>
          </p:cNvPr>
          <p:cNvSpPr>
            <a:spLocks noGrp="1"/>
          </p:cNvSpPr>
          <p:nvPr>
            <p:ph type="dt" sz="half" idx="10"/>
          </p:nvPr>
        </p:nvSpPr>
        <p:spPr/>
        <p:txBody>
          <a:bodyPr/>
          <a:lstStyle/>
          <a:p>
            <a:fld id="{1CDFEE5C-2CAF-45D6-99D4-0DCBFB1CFF55}" type="datetime1">
              <a:rPr lang="en-US" smtClean="0"/>
              <a:t>3/19/2025</a:t>
            </a:fld>
            <a:endParaRPr lang="en-US"/>
          </a:p>
        </p:txBody>
      </p:sp>
    </p:spTree>
    <p:extLst>
      <p:ext uri="{BB962C8B-B14F-4D97-AF65-F5344CB8AC3E}">
        <p14:creationId xmlns:p14="http://schemas.microsoft.com/office/powerpoint/2010/main" val="2258148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E508D6-0C7D-46B4-A586-ED74753FBF50}"/>
              </a:ext>
            </a:extLst>
          </p:cNvPr>
          <p:cNvSpPr>
            <a:spLocks noGrp="1"/>
          </p:cNvSpPr>
          <p:nvPr>
            <p:ph type="dt" sz="half" idx="10"/>
          </p:nvPr>
        </p:nvSpPr>
        <p:spPr/>
        <p:txBody>
          <a:bodyPr/>
          <a:lstStyle/>
          <a:p>
            <a:fld id="{115F2E51-930F-4C33-8ACD-1A860D02A22C}" type="datetime1">
              <a:rPr lang="en-US" smtClean="0"/>
              <a:t>3/19/2025</a:t>
            </a:fld>
            <a:endParaRPr lang="en-US"/>
          </a:p>
        </p:txBody>
      </p:sp>
      <p:sp>
        <p:nvSpPr>
          <p:cNvPr id="4" name="Slide Number Placeholder 3">
            <a:extLst>
              <a:ext uri="{FF2B5EF4-FFF2-40B4-BE49-F238E27FC236}">
                <a16:creationId xmlns:a16="http://schemas.microsoft.com/office/drawing/2014/main" id="{6ACBD52C-9447-42A9-A293-91D34D1324E5}"/>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smtClean="0">
                <a:solidFill>
                  <a:schemeClr val="bg1"/>
                </a:solidFill>
                <a:latin typeface="Calibri"/>
                <a:ea typeface="Calibri"/>
                <a:cs typeface="Calibri"/>
                <a:sym typeface="Calibri"/>
              </a:rPr>
              <a:t>28</a:t>
            </a:fld>
            <a:endParaRPr lang="en-US" sz="1200">
              <a:solidFill>
                <a:schemeClr val="bg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4004ED2-EB9E-4633-8ED6-32C59C581B10}"/>
              </a:ext>
            </a:extLst>
          </p:cNvPr>
          <p:cNvPicPr>
            <a:picLocks noChangeAspect="1"/>
          </p:cNvPicPr>
          <p:nvPr/>
        </p:nvPicPr>
        <p:blipFill rotWithShape="1">
          <a:blip r:embed="rId2"/>
          <a:srcRect l="32623" t="18290" r="2951" b="17562"/>
          <a:stretch/>
        </p:blipFill>
        <p:spPr>
          <a:xfrm>
            <a:off x="0" y="338782"/>
            <a:ext cx="9195510" cy="5147615"/>
          </a:xfrm>
          <a:prstGeom prst="rect">
            <a:avLst/>
          </a:prstGeom>
        </p:spPr>
      </p:pic>
    </p:spTree>
    <p:extLst>
      <p:ext uri="{BB962C8B-B14F-4D97-AF65-F5344CB8AC3E}">
        <p14:creationId xmlns:p14="http://schemas.microsoft.com/office/powerpoint/2010/main" val="3328732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6A25F-3BA5-93A0-B0A2-46E7D70CED86}"/>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D75FBF2B-D575-0A11-090B-4AFB40D32983}"/>
              </a:ext>
            </a:extLst>
          </p:cNvPr>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DevOps	</a:t>
            </a:r>
          </a:p>
        </p:txBody>
      </p:sp>
      <p:sp>
        <p:nvSpPr>
          <p:cNvPr id="51203" name="Rectangle 3">
            <a:extLst>
              <a:ext uri="{FF2B5EF4-FFF2-40B4-BE49-F238E27FC236}">
                <a16:creationId xmlns:a16="http://schemas.microsoft.com/office/drawing/2014/main" id="{D2B1DA4C-3F2F-9B04-B7B8-F975B2971415}"/>
              </a:ext>
            </a:extLst>
          </p:cNvPr>
          <p:cNvSpPr>
            <a:spLocks noGrp="1" noChangeArrowheads="1"/>
          </p:cNvSpPr>
          <p:nvPr>
            <p:ph idx="1"/>
          </p:nvPr>
        </p:nvSpPr>
        <p:spPr>
          <a:xfrm>
            <a:off x="457200" y="1524000"/>
            <a:ext cx="8229600" cy="5181600"/>
          </a:xfrm>
        </p:spPr>
        <p:txBody>
          <a:bodyPr>
            <a:normAutofit lnSpcReduction="10000"/>
          </a:bodyPr>
          <a:lstStyle/>
          <a:p>
            <a:pPr algn="just" eaLnBrk="1" hangingPunct="1">
              <a:lnSpc>
                <a:spcPct val="80000"/>
              </a:lnSpc>
              <a:buFontTx/>
              <a:buNone/>
            </a:pPr>
            <a:r>
              <a:rPr lang="en-US" altLang="en-US" sz="2800" b="1" dirty="0">
                <a:latin typeface="Calibri (Body)"/>
              </a:rPr>
              <a:t>DevOps Stages</a:t>
            </a:r>
          </a:p>
          <a:p>
            <a:pPr algn="just" eaLnBrk="1" hangingPunct="1">
              <a:lnSpc>
                <a:spcPct val="80000"/>
              </a:lnSpc>
              <a:buFontTx/>
              <a:buNone/>
            </a:pPr>
            <a:r>
              <a:rPr lang="en-US" altLang="en-US" sz="2400" dirty="0">
                <a:latin typeface="Calibri (Body)"/>
              </a:rPr>
              <a:t>This approach involves several stages that loop continuously until the desired product exists:-</a:t>
            </a:r>
          </a:p>
          <a:p>
            <a:pPr marL="0" indent="0" algn="just" eaLnBrk="1" hangingPunct="1">
              <a:lnSpc>
                <a:spcPct val="80000"/>
              </a:lnSpc>
              <a:buNone/>
            </a:pPr>
            <a:r>
              <a:rPr lang="en-US" altLang="en-US" sz="2400" b="1" dirty="0">
                <a:latin typeface="Calibri (Body)"/>
              </a:rPr>
              <a:t>Continuous Development – </a:t>
            </a:r>
            <a:r>
              <a:rPr lang="en-US" altLang="en-US" sz="2400" dirty="0">
                <a:latin typeface="Calibri (Body)"/>
              </a:rPr>
              <a:t>Software deliverables are broken down and developed in multiple sprints </a:t>
            </a:r>
          </a:p>
          <a:p>
            <a:pPr algn="just" eaLnBrk="1" hangingPunct="1">
              <a:lnSpc>
                <a:spcPct val="80000"/>
              </a:lnSpc>
              <a:buFontTx/>
              <a:buNone/>
            </a:pPr>
            <a:r>
              <a:rPr lang="en-US" altLang="en-US" b="1" dirty="0">
                <a:latin typeface="Calibri (Body)"/>
              </a:rPr>
              <a:t>Continuous Testing</a:t>
            </a:r>
            <a:r>
              <a:rPr lang="en-US" altLang="en-US" sz="2400" b="1" dirty="0">
                <a:latin typeface="Calibri (Body)"/>
              </a:rPr>
              <a:t> – </a:t>
            </a:r>
            <a:r>
              <a:rPr lang="en-US" altLang="en-US" sz="2400" dirty="0">
                <a:latin typeface="Calibri (Body)"/>
              </a:rPr>
              <a:t>Automated testing tools are used to help team members test multiple code increments at the same time.</a:t>
            </a:r>
          </a:p>
          <a:p>
            <a:pPr algn="just" eaLnBrk="1" hangingPunct="1">
              <a:lnSpc>
                <a:spcPct val="80000"/>
              </a:lnSpc>
              <a:buFontTx/>
              <a:buNone/>
            </a:pPr>
            <a:r>
              <a:rPr lang="en-US" altLang="en-US" sz="2400" b="1" dirty="0">
                <a:latin typeface="Calibri (Body)"/>
              </a:rPr>
              <a:t>Continuous Integration – </a:t>
            </a:r>
            <a:r>
              <a:rPr lang="en-US" altLang="en-US" sz="2400" dirty="0">
                <a:latin typeface="Calibri (Body)"/>
              </a:rPr>
              <a:t>The code pieces with new functionality are added to the existing code and checked to ensure there are no errors.</a:t>
            </a:r>
          </a:p>
          <a:p>
            <a:pPr algn="just">
              <a:lnSpc>
                <a:spcPct val="80000"/>
              </a:lnSpc>
              <a:buNone/>
            </a:pPr>
            <a:r>
              <a:rPr lang="en-US" altLang="en-US" sz="2400" b="1" dirty="0">
                <a:latin typeface="Calibri (Body)"/>
              </a:rPr>
              <a:t>Continuous Deployment – </a:t>
            </a:r>
            <a:r>
              <a:rPr lang="en-US" altLang="en-US" sz="2400" dirty="0">
                <a:latin typeface="Calibri (Body)"/>
              </a:rPr>
              <a:t>At this stage the integrated code is deployed to the production environment.</a:t>
            </a:r>
          </a:p>
          <a:p>
            <a:pPr algn="just">
              <a:lnSpc>
                <a:spcPct val="80000"/>
              </a:lnSpc>
              <a:buNone/>
            </a:pPr>
            <a:r>
              <a:rPr lang="en-US" altLang="en-US" sz="2400" b="1" dirty="0">
                <a:latin typeface="Calibri (Body)"/>
              </a:rPr>
              <a:t>Continuous Monitoring – </a:t>
            </a:r>
            <a:r>
              <a:rPr lang="en-US" altLang="en-US" sz="2400" dirty="0">
                <a:latin typeface="Calibri (Body)"/>
              </a:rPr>
              <a:t>Members in the development team help to improve software quality by monitoring its performance.</a:t>
            </a:r>
          </a:p>
          <a:p>
            <a:pPr algn="just">
              <a:lnSpc>
                <a:spcPct val="80000"/>
              </a:lnSpc>
              <a:buNone/>
            </a:pPr>
            <a:endParaRPr lang="en-US" altLang="en-US" sz="2400" dirty="0">
              <a:latin typeface="Calibri (Body)"/>
            </a:endParaRPr>
          </a:p>
          <a:p>
            <a:pPr algn="just" eaLnBrk="1" hangingPunct="1">
              <a:lnSpc>
                <a:spcPct val="80000"/>
              </a:lnSpc>
              <a:buFontTx/>
              <a:buNone/>
            </a:pPr>
            <a:endParaRPr lang="en-US" altLang="en-US" sz="2400" dirty="0">
              <a:latin typeface="Calibri (Body)"/>
            </a:endParaRPr>
          </a:p>
        </p:txBody>
      </p:sp>
      <p:sp>
        <p:nvSpPr>
          <p:cNvPr id="2" name="Date Placeholder 1">
            <a:extLst>
              <a:ext uri="{FF2B5EF4-FFF2-40B4-BE49-F238E27FC236}">
                <a16:creationId xmlns:a16="http://schemas.microsoft.com/office/drawing/2014/main" id="{89833DE8-8AC3-6EB5-84C8-874B6CEC8D39}"/>
              </a:ext>
            </a:extLst>
          </p:cNvPr>
          <p:cNvSpPr>
            <a:spLocks noGrp="1"/>
          </p:cNvSpPr>
          <p:nvPr>
            <p:ph type="dt" sz="half" idx="10"/>
          </p:nvPr>
        </p:nvSpPr>
        <p:spPr/>
        <p:txBody>
          <a:bodyPr/>
          <a:lstStyle/>
          <a:p>
            <a:fld id="{27014DAC-94EA-4F95-AFD4-4CAEB2F2579A}" type="datetime1">
              <a:rPr lang="en-US" smtClean="0"/>
              <a:t>3/19/2025</a:t>
            </a:fld>
            <a:endParaRPr lang="en-US"/>
          </a:p>
        </p:txBody>
      </p:sp>
      <p:sp>
        <p:nvSpPr>
          <p:cNvPr id="4" name="Slide Number Placeholder 3">
            <a:extLst>
              <a:ext uri="{FF2B5EF4-FFF2-40B4-BE49-F238E27FC236}">
                <a16:creationId xmlns:a16="http://schemas.microsoft.com/office/drawing/2014/main" id="{8FE26793-3622-9A08-D917-CF62DA00394E}"/>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29</a:t>
            </a:fld>
            <a:endParaRPr lang="en-US" sz="1200" b="0" i="0" u="none" strike="noStrike" cap="none">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471644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7C43-83AD-1409-6732-6EE283E52666}"/>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EB1C091A-9ACD-CB91-209E-4F026ABBA6D0}"/>
              </a:ext>
            </a:extLst>
          </p:cNvPr>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DevOps (Cont.)	</a:t>
            </a:r>
          </a:p>
        </p:txBody>
      </p:sp>
      <p:sp>
        <p:nvSpPr>
          <p:cNvPr id="51203" name="Rectangle 3">
            <a:extLst>
              <a:ext uri="{FF2B5EF4-FFF2-40B4-BE49-F238E27FC236}">
                <a16:creationId xmlns:a16="http://schemas.microsoft.com/office/drawing/2014/main" id="{41957C1F-DF6D-1CAF-5621-1F8FAD0431FD}"/>
              </a:ext>
            </a:extLst>
          </p:cNvPr>
          <p:cNvSpPr>
            <a:spLocks noGrp="1" noChangeArrowheads="1"/>
          </p:cNvSpPr>
          <p:nvPr>
            <p:ph idx="1"/>
          </p:nvPr>
        </p:nvSpPr>
        <p:spPr>
          <a:xfrm>
            <a:off x="457200" y="1524000"/>
            <a:ext cx="8229600" cy="5181600"/>
          </a:xfrm>
        </p:spPr>
        <p:txBody>
          <a:bodyPr>
            <a:normAutofit/>
          </a:bodyPr>
          <a:lstStyle/>
          <a:p>
            <a:pPr algn="just">
              <a:lnSpc>
                <a:spcPct val="80000"/>
              </a:lnSpc>
              <a:buNone/>
            </a:pPr>
            <a:endParaRPr lang="en-US" altLang="en-US" sz="2400" dirty="0">
              <a:latin typeface="Calibri (Body)"/>
            </a:endParaRPr>
          </a:p>
          <a:p>
            <a:pPr algn="just" eaLnBrk="1" hangingPunct="1">
              <a:lnSpc>
                <a:spcPct val="80000"/>
              </a:lnSpc>
              <a:buFontTx/>
              <a:buNone/>
            </a:pPr>
            <a:endParaRPr lang="en-US" altLang="en-US" sz="2400" dirty="0">
              <a:latin typeface="Calibri (Body)"/>
            </a:endParaRPr>
          </a:p>
        </p:txBody>
      </p:sp>
      <p:sp>
        <p:nvSpPr>
          <p:cNvPr id="2" name="Date Placeholder 1">
            <a:extLst>
              <a:ext uri="{FF2B5EF4-FFF2-40B4-BE49-F238E27FC236}">
                <a16:creationId xmlns:a16="http://schemas.microsoft.com/office/drawing/2014/main" id="{C6082554-CC90-27FD-0838-81760BFD013E}"/>
              </a:ext>
            </a:extLst>
          </p:cNvPr>
          <p:cNvSpPr>
            <a:spLocks noGrp="1"/>
          </p:cNvSpPr>
          <p:nvPr>
            <p:ph type="dt" sz="half" idx="10"/>
          </p:nvPr>
        </p:nvSpPr>
        <p:spPr/>
        <p:txBody>
          <a:bodyPr/>
          <a:lstStyle/>
          <a:p>
            <a:fld id="{27014DAC-94EA-4F95-AFD4-4CAEB2F2579A}" type="datetime1">
              <a:rPr lang="en-US" smtClean="0"/>
              <a:t>3/19/2025</a:t>
            </a:fld>
            <a:endParaRPr lang="en-US"/>
          </a:p>
        </p:txBody>
      </p:sp>
      <p:sp>
        <p:nvSpPr>
          <p:cNvPr id="4" name="Slide Number Placeholder 3">
            <a:extLst>
              <a:ext uri="{FF2B5EF4-FFF2-40B4-BE49-F238E27FC236}">
                <a16:creationId xmlns:a16="http://schemas.microsoft.com/office/drawing/2014/main" id="{08AE3341-FD82-7B9D-230E-D580B2E44651}"/>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30</a:t>
            </a:fld>
            <a:endParaRPr lang="en-US" sz="1200" b="0" i="0" u="none" strike="noStrike" cap="none">
              <a:solidFill>
                <a:schemeClr val="bg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CEABC58E-5527-C31B-3CD9-FA6EDE1C78B8}"/>
              </a:ext>
            </a:extLst>
          </p:cNvPr>
          <p:cNvPicPr>
            <a:picLocks noChangeAspect="1"/>
          </p:cNvPicPr>
          <p:nvPr/>
        </p:nvPicPr>
        <p:blipFill>
          <a:blip r:embed="rId3"/>
          <a:stretch>
            <a:fillRect/>
          </a:stretch>
        </p:blipFill>
        <p:spPr>
          <a:xfrm>
            <a:off x="193872" y="1981200"/>
            <a:ext cx="8756255" cy="3933825"/>
          </a:xfrm>
          <a:prstGeom prst="rect">
            <a:avLst/>
          </a:prstGeom>
        </p:spPr>
      </p:pic>
    </p:spTree>
    <p:extLst>
      <p:ext uri="{BB962C8B-B14F-4D97-AF65-F5344CB8AC3E}">
        <p14:creationId xmlns:p14="http://schemas.microsoft.com/office/powerpoint/2010/main" val="3303806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E1ED3-7931-4479-8C38-1D33308BD973}"/>
              </a:ext>
            </a:extLst>
          </p:cNvPr>
          <p:cNvSpPr>
            <a:spLocks noGrp="1"/>
          </p:cNvSpPr>
          <p:nvPr>
            <p:ph type="title"/>
          </p:nvPr>
        </p:nvSpPr>
        <p:spPr>
          <a:xfrm>
            <a:off x="-31595" y="356839"/>
            <a:ext cx="8229600" cy="685800"/>
          </a:xfrm>
        </p:spPr>
        <p:txBody>
          <a:bodyPr>
            <a:normAutofit fontScale="90000"/>
          </a:bodyPr>
          <a:lstStyle/>
          <a:p>
            <a:r>
              <a:rPr lang="en-US" dirty="0">
                <a:solidFill>
                  <a:schemeClr val="tx1">
                    <a:lumMod val="75000"/>
                    <a:lumOff val="25000"/>
                  </a:schemeClr>
                </a:solidFill>
              </a:rPr>
              <a:t>DevOps Tools</a:t>
            </a:r>
          </a:p>
        </p:txBody>
      </p:sp>
      <p:sp>
        <p:nvSpPr>
          <p:cNvPr id="3" name="Content Placeholder 2">
            <a:extLst>
              <a:ext uri="{FF2B5EF4-FFF2-40B4-BE49-F238E27FC236}">
                <a16:creationId xmlns:a16="http://schemas.microsoft.com/office/drawing/2014/main" id="{552C6602-CCD8-F282-7405-4A860D1CBFFF}"/>
              </a:ext>
            </a:extLst>
          </p:cNvPr>
          <p:cNvSpPr>
            <a:spLocks noGrp="1"/>
          </p:cNvSpPr>
          <p:nvPr>
            <p:ph idx="1"/>
          </p:nvPr>
        </p:nvSpPr>
        <p:spPr>
          <a:xfrm>
            <a:off x="76200" y="1219200"/>
            <a:ext cx="8763000" cy="5486400"/>
          </a:xfrm>
        </p:spPr>
        <p:txBody>
          <a:bodyPr>
            <a:normAutofit lnSpcReduction="10000"/>
          </a:bodyPr>
          <a:lstStyle/>
          <a:p>
            <a:pPr marL="0" indent="0">
              <a:buNone/>
            </a:pPr>
            <a:r>
              <a:rPr lang="en-US" dirty="0"/>
              <a:t>1. Version Control Systems (VCS)</a:t>
            </a:r>
          </a:p>
          <a:p>
            <a:pPr marL="0" indent="0">
              <a:buNone/>
            </a:pPr>
            <a:r>
              <a:rPr lang="en-US" dirty="0"/>
              <a:t>     -GitHub: Web-based hosting service for Git repositories.</a:t>
            </a:r>
          </a:p>
          <a:p>
            <a:pPr marL="0" indent="0">
              <a:buNone/>
            </a:pPr>
            <a:r>
              <a:rPr lang="en-US" dirty="0"/>
              <a:t>2. Continuous Integration and Continuous Deployment (CI/CD)</a:t>
            </a:r>
          </a:p>
          <a:p>
            <a:pPr marL="0" indent="0">
              <a:buNone/>
            </a:pPr>
            <a:r>
              <a:rPr lang="en-US" dirty="0"/>
              <a:t>    - Jenkins: Open-source automation server for CI/CD.</a:t>
            </a:r>
          </a:p>
          <a:p>
            <a:pPr marL="0" indent="0">
              <a:buNone/>
            </a:pPr>
            <a:r>
              <a:rPr lang="en-US" dirty="0"/>
              <a:t>3. Configuration Management</a:t>
            </a:r>
          </a:p>
          <a:p>
            <a:pPr marL="0" indent="0">
              <a:buNone/>
            </a:pPr>
            <a:r>
              <a:rPr lang="en-US" dirty="0"/>
              <a:t>    -  Ansible: Automation tool for configuration management,      </a:t>
            </a:r>
          </a:p>
          <a:p>
            <a:pPr marL="0" indent="0">
              <a:buNone/>
            </a:pPr>
            <a:r>
              <a:rPr lang="en-US" dirty="0"/>
              <a:t>       application deployment, and task automation.</a:t>
            </a:r>
          </a:p>
          <a:p>
            <a:pPr marL="0" indent="0">
              <a:buNone/>
            </a:pPr>
            <a:r>
              <a:rPr lang="en-US" dirty="0"/>
              <a:t>4. Containerization and Orchestration</a:t>
            </a:r>
          </a:p>
          <a:p>
            <a:pPr marL="0" indent="0">
              <a:buNone/>
            </a:pPr>
            <a:r>
              <a:rPr lang="en-US" dirty="0"/>
              <a:t>    - Docker: Platform for developing, shipping, and running      </a:t>
            </a:r>
          </a:p>
          <a:p>
            <a:pPr marL="0" indent="0">
              <a:buNone/>
            </a:pPr>
            <a:r>
              <a:rPr lang="en-US" dirty="0"/>
              <a:t>      applications in containers.</a:t>
            </a:r>
          </a:p>
          <a:p>
            <a:pPr marL="0" indent="0">
              <a:buNone/>
            </a:pPr>
            <a:r>
              <a:rPr lang="en-US" dirty="0"/>
              <a:t>5. Infrastructure as Code (</a:t>
            </a:r>
            <a:r>
              <a:rPr lang="en-US" dirty="0" err="1"/>
              <a:t>IaC</a:t>
            </a:r>
            <a:r>
              <a:rPr lang="en-US" dirty="0"/>
              <a:t>)</a:t>
            </a:r>
          </a:p>
          <a:p>
            <a:pPr marL="0" indent="0">
              <a:buNone/>
            </a:pPr>
            <a:r>
              <a:rPr lang="en-US" dirty="0"/>
              <a:t>    - Terraform: Tool for building, changing, and versioning </a:t>
            </a:r>
          </a:p>
          <a:p>
            <a:pPr marL="0" indent="0">
              <a:buNone/>
            </a:pPr>
            <a:r>
              <a:rPr lang="en-US" dirty="0"/>
              <a:t>       infrastructure safely and efficiently.</a:t>
            </a:r>
          </a:p>
        </p:txBody>
      </p:sp>
      <p:sp>
        <p:nvSpPr>
          <p:cNvPr id="4" name="Date Placeholder 3">
            <a:extLst>
              <a:ext uri="{FF2B5EF4-FFF2-40B4-BE49-F238E27FC236}">
                <a16:creationId xmlns:a16="http://schemas.microsoft.com/office/drawing/2014/main" id="{95997027-FF0F-98C2-7FFA-D75ABAFA6AFD}"/>
              </a:ext>
            </a:extLst>
          </p:cNvPr>
          <p:cNvSpPr>
            <a:spLocks noGrp="1"/>
          </p:cNvSpPr>
          <p:nvPr>
            <p:ph type="dt" sz="half" idx="10"/>
          </p:nvPr>
        </p:nvSpPr>
        <p:spPr/>
        <p:txBody>
          <a:bodyPr/>
          <a:lstStyle/>
          <a:p>
            <a:fld id="{A9047A0C-1825-4102-8CD2-9034967414F9}" type="datetime1">
              <a:rPr lang="en-US" smtClean="0"/>
              <a:t>3/19/2025</a:t>
            </a:fld>
            <a:endParaRPr lang="en-US" dirty="0"/>
          </a:p>
        </p:txBody>
      </p:sp>
      <p:sp>
        <p:nvSpPr>
          <p:cNvPr id="6" name="Slide Number Placeholder 5">
            <a:extLst>
              <a:ext uri="{FF2B5EF4-FFF2-40B4-BE49-F238E27FC236}">
                <a16:creationId xmlns:a16="http://schemas.microsoft.com/office/drawing/2014/main" id="{3729C94D-2AA9-5B4A-1A57-E3F589A2D30A}"/>
              </a:ext>
            </a:extLst>
          </p:cNvPr>
          <p:cNvSpPr>
            <a:spLocks noGrp="1"/>
          </p:cNvSpPr>
          <p:nvPr>
            <p:ph type="sldNum" sz="quarter" idx="12"/>
          </p:nvPr>
        </p:nvSpPr>
        <p:spPr/>
        <p:txBody>
          <a:bodyPr/>
          <a:lstStyle/>
          <a:p>
            <a:fld id="{0A68DB68-8052-4758-A647-54338E95D837}" type="slidenum">
              <a:rPr lang="en-US" smtClean="0"/>
              <a:pPr/>
              <a:t>31</a:t>
            </a:fld>
            <a:endParaRPr lang="en-US" dirty="0"/>
          </a:p>
        </p:txBody>
      </p:sp>
    </p:spTree>
    <p:extLst>
      <p:ext uri="{BB962C8B-B14F-4D97-AF65-F5344CB8AC3E}">
        <p14:creationId xmlns:p14="http://schemas.microsoft.com/office/powerpoint/2010/main" val="869137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BF3B6-A6AC-AF2F-D9F2-37C86625C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BF6E9-6B32-8DC5-90EB-33BD0F5400DC}"/>
              </a:ext>
            </a:extLst>
          </p:cNvPr>
          <p:cNvSpPr>
            <a:spLocks noGrp="1"/>
          </p:cNvSpPr>
          <p:nvPr>
            <p:ph type="title"/>
          </p:nvPr>
        </p:nvSpPr>
        <p:spPr>
          <a:xfrm>
            <a:off x="-31595" y="356839"/>
            <a:ext cx="8229600" cy="685800"/>
          </a:xfrm>
        </p:spPr>
        <p:txBody>
          <a:bodyPr>
            <a:normAutofit fontScale="90000"/>
          </a:bodyPr>
          <a:lstStyle/>
          <a:p>
            <a:r>
              <a:rPr lang="en-US" dirty="0">
                <a:solidFill>
                  <a:schemeClr val="tx1">
                    <a:lumMod val="75000"/>
                    <a:lumOff val="25000"/>
                  </a:schemeClr>
                </a:solidFill>
              </a:rPr>
              <a:t>DevOps Tools (Cont.)</a:t>
            </a:r>
          </a:p>
        </p:txBody>
      </p:sp>
      <p:sp>
        <p:nvSpPr>
          <p:cNvPr id="3" name="Content Placeholder 2">
            <a:extLst>
              <a:ext uri="{FF2B5EF4-FFF2-40B4-BE49-F238E27FC236}">
                <a16:creationId xmlns:a16="http://schemas.microsoft.com/office/drawing/2014/main" id="{63119D41-7B06-5C64-5746-5BE074475CC5}"/>
              </a:ext>
            </a:extLst>
          </p:cNvPr>
          <p:cNvSpPr>
            <a:spLocks noGrp="1"/>
          </p:cNvSpPr>
          <p:nvPr>
            <p:ph idx="1"/>
          </p:nvPr>
        </p:nvSpPr>
        <p:spPr>
          <a:xfrm>
            <a:off x="76200" y="1143000"/>
            <a:ext cx="8991600" cy="5696712"/>
          </a:xfrm>
        </p:spPr>
        <p:txBody>
          <a:bodyPr>
            <a:normAutofit fontScale="92500" lnSpcReduction="20000"/>
          </a:bodyPr>
          <a:lstStyle/>
          <a:p>
            <a:pPr marL="0" indent="0">
              <a:buNone/>
            </a:pPr>
            <a:r>
              <a:rPr lang="en-US" dirty="0"/>
              <a:t>6. Monitoring and Logging</a:t>
            </a:r>
          </a:p>
          <a:p>
            <a:pPr marL="0" indent="0">
              <a:buNone/>
            </a:pPr>
            <a:r>
              <a:rPr lang="en-US" dirty="0"/>
              <a:t>     - Prometheus: Open-source monitoring and alerting toolkit.</a:t>
            </a:r>
          </a:p>
          <a:p>
            <a:pPr marL="0" indent="0">
              <a:buNone/>
            </a:pPr>
            <a:r>
              <a:rPr lang="en-US" dirty="0"/>
              <a:t>7. Collaboration and Communication</a:t>
            </a:r>
          </a:p>
          <a:p>
            <a:pPr marL="0" indent="0">
              <a:buNone/>
            </a:pPr>
            <a:r>
              <a:rPr lang="en-US" dirty="0"/>
              <a:t>     - Slack: Messaging platform for teams.</a:t>
            </a:r>
          </a:p>
          <a:p>
            <a:pPr marL="0" indent="0">
              <a:buNone/>
            </a:pPr>
            <a:r>
              <a:rPr lang="en-US" dirty="0"/>
              <a:t>8.  Artifact Repositories</a:t>
            </a:r>
          </a:p>
          <a:p>
            <a:pPr marL="0" indent="0">
              <a:buNone/>
            </a:pPr>
            <a:r>
              <a:rPr lang="en-US" dirty="0"/>
              <a:t>     - Nexus Repository Manager**: Repository manager for binaries </a:t>
            </a:r>
          </a:p>
          <a:p>
            <a:pPr marL="0" indent="0">
              <a:buNone/>
            </a:pPr>
            <a:r>
              <a:rPr lang="en-US" dirty="0"/>
              <a:t>        and build artifacts.</a:t>
            </a:r>
          </a:p>
          <a:p>
            <a:pPr marL="0" indent="0">
              <a:buNone/>
            </a:pPr>
            <a:r>
              <a:rPr lang="en-US" dirty="0"/>
              <a:t>9.  Security and Compliance</a:t>
            </a:r>
          </a:p>
          <a:p>
            <a:pPr marL="0" indent="0">
              <a:buNone/>
            </a:pPr>
            <a:r>
              <a:rPr lang="en-US" dirty="0"/>
              <a:t>      - SonarQube: Platform for continuous inspection of code quality.</a:t>
            </a:r>
          </a:p>
          <a:p>
            <a:pPr marL="0" indent="0">
              <a:buNone/>
            </a:pPr>
            <a:r>
              <a:rPr lang="en-US" dirty="0"/>
              <a:t>10. Cloud Providers</a:t>
            </a:r>
          </a:p>
          <a:p>
            <a:pPr marL="0" indent="0">
              <a:buNone/>
            </a:pPr>
            <a:r>
              <a:rPr lang="en-US" dirty="0"/>
              <a:t>      - AWS (Amazon Web Services): Comprehensive cloud computing </a:t>
            </a:r>
          </a:p>
          <a:p>
            <a:pPr marL="0" indent="0">
              <a:buNone/>
            </a:pPr>
            <a:r>
              <a:rPr lang="en-US" dirty="0"/>
              <a:t>        platform.</a:t>
            </a:r>
          </a:p>
          <a:p>
            <a:pPr marL="0" indent="0">
              <a:buNone/>
            </a:pPr>
            <a:r>
              <a:rPr lang="en-US" dirty="0"/>
              <a:t>11. Testing Tools</a:t>
            </a:r>
          </a:p>
          <a:p>
            <a:pPr marL="0" indent="0">
              <a:buNone/>
            </a:pPr>
            <a:r>
              <a:rPr lang="en-US" dirty="0"/>
              <a:t>      - Selenium: Open-source tool for automating web browsers.</a:t>
            </a:r>
          </a:p>
          <a:p>
            <a:pPr marL="0" indent="0">
              <a:buNone/>
            </a:pPr>
            <a:r>
              <a:rPr lang="en-US" dirty="0"/>
              <a:t>12. Database Management</a:t>
            </a:r>
          </a:p>
          <a:p>
            <a:pPr marL="0" indent="0">
              <a:buNone/>
            </a:pPr>
            <a:r>
              <a:rPr lang="en-US" dirty="0"/>
              <a:t>      - MySQL: Open-source relational database management system.</a:t>
            </a:r>
          </a:p>
        </p:txBody>
      </p:sp>
      <p:sp>
        <p:nvSpPr>
          <p:cNvPr id="4" name="Date Placeholder 3">
            <a:extLst>
              <a:ext uri="{FF2B5EF4-FFF2-40B4-BE49-F238E27FC236}">
                <a16:creationId xmlns:a16="http://schemas.microsoft.com/office/drawing/2014/main" id="{0FDEEBE5-4A26-9F9C-7908-C9CCCBB5F0F8}"/>
              </a:ext>
            </a:extLst>
          </p:cNvPr>
          <p:cNvSpPr>
            <a:spLocks noGrp="1"/>
          </p:cNvSpPr>
          <p:nvPr>
            <p:ph type="dt" sz="half" idx="10"/>
          </p:nvPr>
        </p:nvSpPr>
        <p:spPr/>
        <p:txBody>
          <a:bodyPr/>
          <a:lstStyle/>
          <a:p>
            <a:fld id="{A9047A0C-1825-4102-8CD2-9034967414F9}" type="datetime1">
              <a:rPr lang="en-US" smtClean="0"/>
              <a:t>3/19/2025</a:t>
            </a:fld>
            <a:endParaRPr lang="en-US" dirty="0"/>
          </a:p>
        </p:txBody>
      </p:sp>
      <p:sp>
        <p:nvSpPr>
          <p:cNvPr id="6" name="Slide Number Placeholder 5">
            <a:extLst>
              <a:ext uri="{FF2B5EF4-FFF2-40B4-BE49-F238E27FC236}">
                <a16:creationId xmlns:a16="http://schemas.microsoft.com/office/drawing/2014/main" id="{333856C3-E0F1-175F-E06E-CA85B09E339F}"/>
              </a:ext>
            </a:extLst>
          </p:cNvPr>
          <p:cNvSpPr>
            <a:spLocks noGrp="1"/>
          </p:cNvSpPr>
          <p:nvPr>
            <p:ph type="sldNum" sz="quarter" idx="12"/>
          </p:nvPr>
        </p:nvSpPr>
        <p:spPr/>
        <p:txBody>
          <a:bodyPr/>
          <a:lstStyle/>
          <a:p>
            <a:fld id="{0A68DB68-8052-4758-A647-54338E95D837}" type="slidenum">
              <a:rPr lang="en-US" smtClean="0"/>
              <a:pPr/>
              <a:t>32</a:t>
            </a:fld>
            <a:endParaRPr lang="en-US" dirty="0"/>
          </a:p>
        </p:txBody>
      </p:sp>
    </p:spTree>
    <p:extLst>
      <p:ext uri="{BB962C8B-B14F-4D97-AF65-F5344CB8AC3E}">
        <p14:creationId xmlns:p14="http://schemas.microsoft.com/office/powerpoint/2010/main" val="3121124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59810-1D3A-0FB8-6068-3BA6AE948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D395B-4309-EEF1-B87D-7C39DFE58FDB}"/>
              </a:ext>
            </a:extLst>
          </p:cNvPr>
          <p:cNvSpPr>
            <a:spLocks noGrp="1"/>
          </p:cNvSpPr>
          <p:nvPr>
            <p:ph type="title"/>
          </p:nvPr>
        </p:nvSpPr>
        <p:spPr>
          <a:xfrm>
            <a:off x="-31595" y="356839"/>
            <a:ext cx="8229600" cy="685800"/>
          </a:xfrm>
        </p:spPr>
        <p:txBody>
          <a:bodyPr>
            <a:normAutofit fontScale="90000"/>
          </a:bodyPr>
          <a:lstStyle/>
          <a:p>
            <a:r>
              <a:rPr lang="en-US" dirty="0">
                <a:solidFill>
                  <a:schemeClr val="tx1">
                    <a:lumMod val="75000"/>
                    <a:lumOff val="25000"/>
                  </a:schemeClr>
                </a:solidFill>
              </a:rPr>
              <a:t>DevOps Tools (Cont.)</a:t>
            </a:r>
          </a:p>
        </p:txBody>
      </p:sp>
      <p:sp>
        <p:nvSpPr>
          <p:cNvPr id="3" name="Content Placeholder 2">
            <a:extLst>
              <a:ext uri="{FF2B5EF4-FFF2-40B4-BE49-F238E27FC236}">
                <a16:creationId xmlns:a16="http://schemas.microsoft.com/office/drawing/2014/main" id="{7997A353-F6D1-51F4-7183-C9547D212464}"/>
              </a:ext>
            </a:extLst>
          </p:cNvPr>
          <p:cNvSpPr>
            <a:spLocks noGrp="1"/>
          </p:cNvSpPr>
          <p:nvPr>
            <p:ph idx="1"/>
          </p:nvPr>
        </p:nvSpPr>
        <p:spPr>
          <a:xfrm>
            <a:off x="-1858" y="1042639"/>
            <a:ext cx="9145858" cy="5662961"/>
          </a:xfrm>
        </p:spPr>
        <p:txBody>
          <a:bodyPr>
            <a:noAutofit/>
          </a:bodyPr>
          <a:lstStyle/>
          <a:p>
            <a:pPr marL="0" indent="0">
              <a:spcBef>
                <a:spcPts val="0"/>
              </a:spcBef>
              <a:buNone/>
            </a:pPr>
            <a:r>
              <a:rPr lang="en-US" sz="2200" dirty="0"/>
              <a:t>13. Service Mesh</a:t>
            </a:r>
          </a:p>
          <a:p>
            <a:pPr marL="0" indent="0">
              <a:spcBef>
                <a:spcPts val="0"/>
              </a:spcBef>
              <a:buNone/>
            </a:pPr>
            <a:r>
              <a:rPr lang="en-US" sz="2200" dirty="0"/>
              <a:t>      - Istio: Open-source service mesh for microservices.</a:t>
            </a:r>
          </a:p>
          <a:p>
            <a:pPr marL="0" indent="0">
              <a:spcBef>
                <a:spcPts val="0"/>
              </a:spcBef>
              <a:buNone/>
            </a:pPr>
            <a:r>
              <a:rPr lang="en-US" sz="2200" dirty="0"/>
              <a:t>14. Package Managers</a:t>
            </a:r>
          </a:p>
          <a:p>
            <a:pPr marL="0" indent="0">
              <a:spcBef>
                <a:spcPts val="0"/>
              </a:spcBef>
              <a:buNone/>
            </a:pPr>
            <a:r>
              <a:rPr lang="en-US" sz="2200" dirty="0"/>
              <a:t>     - Maven: Build automation tool used primarily for Java </a:t>
            </a:r>
          </a:p>
          <a:p>
            <a:pPr marL="0" indent="0">
              <a:spcBef>
                <a:spcPts val="0"/>
              </a:spcBef>
              <a:buNone/>
            </a:pPr>
            <a:r>
              <a:rPr lang="en-US" sz="2200" dirty="0"/>
              <a:t>15. Scripting and Automation</a:t>
            </a:r>
          </a:p>
          <a:p>
            <a:pPr marL="0" indent="0">
              <a:spcBef>
                <a:spcPts val="0"/>
              </a:spcBef>
              <a:buNone/>
            </a:pPr>
            <a:r>
              <a:rPr lang="en-US" sz="2200" dirty="0"/>
              <a:t>     - Bash: Unix shell and command language.</a:t>
            </a:r>
          </a:p>
          <a:p>
            <a:pPr marL="0" indent="0">
              <a:spcBef>
                <a:spcPts val="0"/>
              </a:spcBef>
              <a:buNone/>
            </a:pPr>
            <a:r>
              <a:rPr lang="en-US" sz="2200" dirty="0"/>
              <a:t>16. Virtualization</a:t>
            </a:r>
          </a:p>
          <a:p>
            <a:pPr marL="0" indent="0">
              <a:spcBef>
                <a:spcPts val="0"/>
              </a:spcBef>
              <a:buNone/>
            </a:pPr>
            <a:r>
              <a:rPr lang="en-US" sz="2200" dirty="0"/>
              <a:t>     - VMware: Virtualization and cloud computing software.</a:t>
            </a:r>
          </a:p>
          <a:p>
            <a:pPr marL="0" indent="0">
              <a:spcBef>
                <a:spcPts val="0"/>
              </a:spcBef>
              <a:buNone/>
            </a:pPr>
            <a:r>
              <a:rPr lang="en-US" sz="2200" dirty="0"/>
              <a:t>17. Performance Testing</a:t>
            </a:r>
          </a:p>
          <a:p>
            <a:pPr marL="0" indent="0">
              <a:spcBef>
                <a:spcPts val="0"/>
              </a:spcBef>
              <a:buNone/>
            </a:pPr>
            <a:r>
              <a:rPr lang="en-US" sz="2200" dirty="0"/>
              <a:t>     - JMeter: Open-source tool for performance testing and load </a:t>
            </a:r>
          </a:p>
          <a:p>
            <a:pPr marL="0" indent="0">
              <a:spcBef>
                <a:spcPts val="0"/>
              </a:spcBef>
              <a:buNone/>
            </a:pPr>
            <a:r>
              <a:rPr lang="en-US" sz="2200" dirty="0"/>
              <a:t>        testing.</a:t>
            </a:r>
          </a:p>
          <a:p>
            <a:pPr marL="0" indent="0">
              <a:spcBef>
                <a:spcPts val="0"/>
              </a:spcBef>
              <a:buNone/>
            </a:pPr>
            <a:r>
              <a:rPr lang="en-US" sz="2200" dirty="0"/>
              <a:t>18. Incident Management</a:t>
            </a:r>
          </a:p>
          <a:p>
            <a:pPr marL="0" indent="0">
              <a:spcBef>
                <a:spcPts val="0"/>
              </a:spcBef>
              <a:buNone/>
            </a:pPr>
            <a:r>
              <a:rPr lang="en-US" sz="2200" dirty="0"/>
              <a:t>     - PagerDuty: Incident management platform.</a:t>
            </a:r>
          </a:p>
          <a:p>
            <a:pPr marL="0" indent="0">
              <a:spcBef>
                <a:spcPts val="0"/>
              </a:spcBef>
              <a:buNone/>
            </a:pPr>
            <a:r>
              <a:rPr lang="en-US" sz="2200" dirty="0"/>
              <a:t>19. Documentation</a:t>
            </a:r>
          </a:p>
          <a:p>
            <a:pPr marL="0" indent="0">
              <a:spcBef>
                <a:spcPts val="0"/>
              </a:spcBef>
              <a:buNone/>
            </a:pPr>
            <a:r>
              <a:rPr lang="en-US" sz="2200" dirty="0"/>
              <a:t>     - Swagger: Framework for API documentation.</a:t>
            </a:r>
          </a:p>
          <a:p>
            <a:pPr marL="0" indent="0">
              <a:spcBef>
                <a:spcPts val="0"/>
              </a:spcBef>
              <a:buNone/>
            </a:pPr>
            <a:r>
              <a:rPr lang="en-US" sz="2200" dirty="0"/>
              <a:t>20. Backup and Recovery</a:t>
            </a:r>
          </a:p>
          <a:p>
            <a:pPr marL="0" indent="0">
              <a:spcBef>
                <a:spcPts val="0"/>
              </a:spcBef>
              <a:buNone/>
            </a:pPr>
            <a:r>
              <a:rPr lang="en-US" sz="2200" dirty="0"/>
              <a:t>     - </a:t>
            </a:r>
            <a:r>
              <a:rPr lang="en-US" sz="2200" dirty="0" err="1"/>
              <a:t>Duplicati</a:t>
            </a:r>
            <a:r>
              <a:rPr lang="en-US" sz="2200" dirty="0"/>
              <a:t>: Free backup software.</a:t>
            </a:r>
          </a:p>
        </p:txBody>
      </p:sp>
      <p:sp>
        <p:nvSpPr>
          <p:cNvPr id="4" name="Date Placeholder 3">
            <a:extLst>
              <a:ext uri="{FF2B5EF4-FFF2-40B4-BE49-F238E27FC236}">
                <a16:creationId xmlns:a16="http://schemas.microsoft.com/office/drawing/2014/main" id="{3C38154C-1320-BC11-DEF4-0843B6FCDC87}"/>
              </a:ext>
            </a:extLst>
          </p:cNvPr>
          <p:cNvSpPr>
            <a:spLocks noGrp="1"/>
          </p:cNvSpPr>
          <p:nvPr>
            <p:ph type="dt" sz="half" idx="10"/>
          </p:nvPr>
        </p:nvSpPr>
        <p:spPr/>
        <p:txBody>
          <a:bodyPr/>
          <a:lstStyle/>
          <a:p>
            <a:fld id="{A9047A0C-1825-4102-8CD2-9034967414F9}" type="datetime1">
              <a:rPr lang="en-US" smtClean="0"/>
              <a:t>3/19/2025</a:t>
            </a:fld>
            <a:endParaRPr lang="en-US" dirty="0"/>
          </a:p>
        </p:txBody>
      </p:sp>
      <p:sp>
        <p:nvSpPr>
          <p:cNvPr id="6" name="Slide Number Placeholder 5">
            <a:extLst>
              <a:ext uri="{FF2B5EF4-FFF2-40B4-BE49-F238E27FC236}">
                <a16:creationId xmlns:a16="http://schemas.microsoft.com/office/drawing/2014/main" id="{A7AA2E55-7E57-489E-1190-9A13398141B4}"/>
              </a:ext>
            </a:extLst>
          </p:cNvPr>
          <p:cNvSpPr>
            <a:spLocks noGrp="1"/>
          </p:cNvSpPr>
          <p:nvPr>
            <p:ph type="sldNum" sz="quarter" idx="12"/>
          </p:nvPr>
        </p:nvSpPr>
        <p:spPr/>
        <p:txBody>
          <a:bodyPr/>
          <a:lstStyle/>
          <a:p>
            <a:fld id="{0A68DB68-8052-4758-A647-54338E95D837}" type="slidenum">
              <a:rPr lang="en-US" smtClean="0"/>
              <a:pPr/>
              <a:t>33</a:t>
            </a:fld>
            <a:endParaRPr lang="en-US" dirty="0"/>
          </a:p>
        </p:txBody>
      </p:sp>
    </p:spTree>
    <p:extLst>
      <p:ext uri="{BB962C8B-B14F-4D97-AF65-F5344CB8AC3E}">
        <p14:creationId xmlns:p14="http://schemas.microsoft.com/office/powerpoint/2010/main" val="1258058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idx="1"/>
          </p:nvPr>
        </p:nvSpPr>
        <p:spPr>
          <a:xfrm>
            <a:off x="457200" y="2082018"/>
            <a:ext cx="8229600" cy="3689195"/>
          </a:xfrm>
          <a:prstGeom prst="rect">
            <a:avLst/>
          </a:prstGeom>
          <a:noFill/>
          <a:ln>
            <a:noFill/>
          </a:ln>
        </p:spPr>
        <p:txBody>
          <a:bodyPr lIns="91425" tIns="45700" rIns="91425" bIns="45700" anchor="t" anchorCtr="0">
            <a:noAutofit/>
          </a:bodyPr>
          <a:lstStyle/>
          <a:p>
            <a:pPr marL="0" marR="0" lvl="0" indent="0" algn="just" rtl="0">
              <a:spcBef>
                <a:spcPts val="560"/>
              </a:spcBef>
              <a:spcAft>
                <a:spcPts val="0"/>
              </a:spcAft>
              <a:buClr>
                <a:schemeClr val="dk1"/>
              </a:buClr>
              <a:buSzPct val="100000"/>
              <a:buNone/>
            </a:pPr>
            <a:r>
              <a:rPr lang="en-US" sz="2800" b="0" i="0" u="none" strike="noStrike" cap="none" dirty="0">
                <a:solidFill>
                  <a:schemeClr val="dk1"/>
                </a:solidFill>
                <a:latin typeface="Times New Roman"/>
                <a:ea typeface="Times New Roman"/>
                <a:cs typeface="Times New Roman"/>
                <a:sym typeface="Times New Roman"/>
              </a:rPr>
              <a:t>Suggest a suitable process model.</a:t>
            </a:r>
          </a:p>
          <a:p>
            <a:pPr marL="0" marR="0" lvl="0" indent="0" algn="just" rtl="0">
              <a:spcBef>
                <a:spcPts val="560"/>
              </a:spcBef>
              <a:spcAft>
                <a:spcPts val="0"/>
              </a:spcAft>
              <a:buClr>
                <a:schemeClr val="dk1"/>
              </a:buClr>
              <a:buSzPct val="25000"/>
              <a:buFont typeface="Arial"/>
              <a:buNone/>
            </a:pPr>
            <a:r>
              <a:rPr lang="en-US" sz="2800" b="0" i="0" u="none" strike="noStrike" cap="none" dirty="0">
                <a:solidFill>
                  <a:schemeClr val="dk1"/>
                </a:solidFill>
                <a:latin typeface="Times New Roman"/>
                <a:ea typeface="Times New Roman"/>
                <a:cs typeface="Times New Roman"/>
                <a:sym typeface="Times New Roman"/>
              </a:rPr>
              <a:t>	</a:t>
            </a:r>
          </a:p>
          <a:p>
            <a:pPr marL="0" marR="0" lvl="0" indent="0" algn="just" rtl="0">
              <a:spcBef>
                <a:spcPts val="560"/>
              </a:spcBef>
              <a:spcAft>
                <a:spcPts val="0"/>
              </a:spcAft>
              <a:buClr>
                <a:schemeClr val="dk1"/>
              </a:buClr>
              <a:buSzPct val="25000"/>
              <a:buFont typeface="Arial"/>
              <a:buNone/>
            </a:pPr>
            <a:r>
              <a:rPr lang="en-US" sz="2800" b="0" i="0" u="none" strike="noStrike" cap="none" dirty="0">
                <a:solidFill>
                  <a:schemeClr val="dk1"/>
                </a:solidFill>
                <a:latin typeface="Times New Roman"/>
                <a:ea typeface="Times New Roman"/>
                <a:cs typeface="Times New Roman"/>
                <a:sym typeface="Times New Roman"/>
              </a:rPr>
              <a:t>Mughal brothers </a:t>
            </a:r>
            <a:r>
              <a:rPr lang="en-US" sz="2800" b="0" i="0" u="none" strike="noStrike" cap="none" dirty="0" err="1">
                <a:solidFill>
                  <a:schemeClr val="dk1"/>
                </a:solidFill>
                <a:latin typeface="Times New Roman"/>
                <a:ea typeface="Times New Roman"/>
                <a:cs typeface="Times New Roman"/>
                <a:sym typeface="Times New Roman"/>
              </a:rPr>
              <a:t>Pvt</a:t>
            </a:r>
            <a:r>
              <a:rPr lang="en-US" sz="2800" b="0" i="0" u="none" strike="noStrike" cap="none" dirty="0">
                <a:solidFill>
                  <a:schemeClr val="dk1"/>
                </a:solidFill>
                <a:latin typeface="Times New Roman"/>
                <a:ea typeface="Times New Roman"/>
                <a:cs typeface="Times New Roman"/>
                <a:sym typeface="Times New Roman"/>
              </a:rPr>
              <a:t> Ltd is the distributor of the </a:t>
            </a:r>
            <a:r>
              <a:rPr lang="en-US" sz="2800" b="0" i="0" u="none" strike="noStrike" cap="none" dirty="0" err="1">
                <a:solidFill>
                  <a:schemeClr val="dk1"/>
                </a:solidFill>
                <a:latin typeface="Times New Roman"/>
                <a:ea typeface="Times New Roman"/>
                <a:cs typeface="Times New Roman"/>
                <a:sym typeface="Times New Roman"/>
              </a:rPr>
              <a:t>Qarshi</a:t>
            </a:r>
            <a:r>
              <a:rPr lang="en-US" sz="2800" b="0" i="0" u="none" strike="noStrike" cap="none" dirty="0">
                <a:solidFill>
                  <a:schemeClr val="dk1"/>
                </a:solidFill>
                <a:latin typeface="Times New Roman"/>
                <a:ea typeface="Times New Roman"/>
                <a:cs typeface="Times New Roman"/>
                <a:sym typeface="Times New Roman"/>
              </a:rPr>
              <a:t> products in Pakistan. This company wants to automate the sale purchase and inventory system. Previously the company has no experience of information technology. They have no idea of what will be the size, cost and duration of the project.</a:t>
            </a:r>
          </a:p>
          <a:p>
            <a:pPr marL="342900" marR="0" lvl="0" indent="-342900" algn="just" rtl="0">
              <a:spcBef>
                <a:spcPts val="560"/>
              </a:spcBef>
              <a:buClr>
                <a:schemeClr val="dk1"/>
              </a:buClr>
              <a:buSzPct val="100000"/>
              <a:buFont typeface="Arial"/>
              <a:buNone/>
            </a:pPr>
            <a:endParaRPr sz="2800" b="0" i="0" u="none" strike="noStrike" cap="none" dirty="0">
              <a:solidFill>
                <a:schemeClr val="dk1"/>
              </a:solidFill>
              <a:latin typeface="Times New Roman"/>
              <a:ea typeface="Times New Roman"/>
              <a:cs typeface="Times New Roman"/>
              <a:sym typeface="Times New Roman"/>
            </a:endParaRPr>
          </a:p>
        </p:txBody>
      </p:sp>
      <p:sp>
        <p:nvSpPr>
          <p:cNvPr id="344" name="Shape 344"/>
          <p:cNvSpPr txBox="1"/>
          <p:nvPr/>
        </p:nvSpPr>
        <p:spPr>
          <a:xfrm>
            <a:off x="644577" y="724830"/>
            <a:ext cx="7083277" cy="1023938"/>
          </a:xfrm>
          <a:prstGeom prst="rect">
            <a:avLst/>
          </a:prstGeom>
          <a:noFill/>
          <a:ln>
            <a:noFill/>
          </a:ln>
        </p:spPr>
        <p:txBody>
          <a:bodyPr lIns="91425" tIns="45700" rIns="91425" bIns="45700" anchor="ctr" anchorCtr="0">
            <a:noAutofit/>
          </a:bodyPr>
          <a:lstStyle/>
          <a:p>
            <a:pPr marL="0" marR="0" lvl="0" indent="0" rtl="0">
              <a:spcBef>
                <a:spcPts val="0"/>
              </a:spcBef>
              <a:buClr>
                <a:schemeClr val="dk1"/>
              </a:buClr>
              <a:buSzPct val="25000"/>
              <a:buFont typeface="Libre Baskerville"/>
              <a:buNone/>
            </a:pPr>
            <a:r>
              <a:rPr lang="en-US" sz="4800" spc="-50" dirty="0">
                <a:solidFill>
                  <a:schemeClr val="tx1">
                    <a:lumMod val="75000"/>
                    <a:lumOff val="25000"/>
                  </a:schemeClr>
                </a:solidFill>
                <a:latin typeface="+mj-lt"/>
                <a:ea typeface="+mj-ea"/>
                <a:cs typeface="+mj-cs"/>
                <a:sym typeface="Libre Baskerville"/>
              </a:rPr>
              <a:t>Discussion</a:t>
            </a:r>
            <a:r>
              <a:rPr lang="en-US" sz="3600" b="1" dirty="0">
                <a:solidFill>
                  <a:schemeClr val="dk1"/>
                </a:solidFill>
                <a:latin typeface="Libre Baskerville"/>
                <a:ea typeface="Libre Baskerville"/>
                <a:cs typeface="Libre Baskerville"/>
                <a:sym typeface="Libre Baskerville"/>
              </a:rPr>
              <a:t> </a:t>
            </a:r>
            <a:r>
              <a:rPr lang="en-US" sz="4800" spc="-50" dirty="0">
                <a:solidFill>
                  <a:schemeClr val="tx1">
                    <a:lumMod val="75000"/>
                    <a:lumOff val="25000"/>
                  </a:schemeClr>
                </a:solidFill>
                <a:latin typeface="+mj-lt"/>
                <a:ea typeface="+mj-ea"/>
                <a:cs typeface="+mj-cs"/>
                <a:sym typeface="Libre Baskerville"/>
              </a:rPr>
              <a:t>Question</a:t>
            </a:r>
          </a:p>
        </p:txBody>
      </p:sp>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34</a:t>
            </a:fld>
            <a:endParaRPr lang="en-US" sz="1200" b="0" i="0" u="none" strike="noStrike" cap="none" dirty="0">
              <a:solidFill>
                <a:schemeClr val="bg1"/>
              </a:solidFill>
              <a:latin typeface="Calibri"/>
              <a:ea typeface="Calibri"/>
              <a:cs typeface="Calibri"/>
              <a:sym typeface="Calibri"/>
            </a:endParaRPr>
          </a:p>
        </p:txBody>
      </p:sp>
      <p:sp>
        <p:nvSpPr>
          <p:cNvPr id="2" name="Date Placeholder 1">
            <a:extLst>
              <a:ext uri="{FF2B5EF4-FFF2-40B4-BE49-F238E27FC236}">
                <a16:creationId xmlns:a16="http://schemas.microsoft.com/office/drawing/2014/main" id="{F844FE85-377E-4BB9-8CDD-292CA45CC91B}"/>
              </a:ext>
            </a:extLst>
          </p:cNvPr>
          <p:cNvSpPr>
            <a:spLocks noGrp="1"/>
          </p:cNvSpPr>
          <p:nvPr>
            <p:ph type="dt" sz="half" idx="10"/>
          </p:nvPr>
        </p:nvSpPr>
        <p:spPr/>
        <p:txBody>
          <a:bodyPr/>
          <a:lstStyle/>
          <a:p>
            <a:fld id="{2EFAA61A-C695-40D9-A7B4-83DB087F36B3}" type="datetime1">
              <a:rPr lang="en-US" smtClean="0"/>
              <a:t>3/19/2025</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1_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2167</TotalTime>
  <Words>2332</Words>
  <Application>Microsoft Office PowerPoint</Application>
  <PresentationFormat>On-screen Show (4:3)</PresentationFormat>
  <Paragraphs>302</Paragraphs>
  <Slides>34</Slides>
  <Notes>10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ＭＳ Ｐゴシック</vt:lpstr>
      <vt:lpstr>Arial</vt:lpstr>
      <vt:lpstr>Calibri</vt:lpstr>
      <vt:lpstr>Calibri (Body)</vt:lpstr>
      <vt:lpstr>Libre Baskerville</vt:lpstr>
      <vt:lpstr>Raleway</vt:lpstr>
      <vt:lpstr>Times New Roman</vt:lpstr>
      <vt:lpstr>Wingdings</vt:lpstr>
      <vt:lpstr>Wingdings 2</vt:lpstr>
      <vt:lpstr>Clarity</vt:lpstr>
      <vt:lpstr>1_Clarity</vt:lpstr>
      <vt:lpstr>     CSSE3113 – Introduction to Software Engineering  </vt:lpstr>
      <vt:lpstr>Outline</vt:lpstr>
      <vt:lpstr>An Agile Process</vt:lpstr>
      <vt:lpstr>Agile Software Development</vt:lpstr>
      <vt:lpstr>Agile Methods</vt:lpstr>
      <vt:lpstr>The Principles Of  Agile Methods </vt:lpstr>
      <vt:lpstr>Agile Methodologies</vt:lpstr>
      <vt:lpstr>Extreme Programming</vt:lpstr>
      <vt:lpstr>Extreme Programming (XP)</vt:lpstr>
      <vt:lpstr>Extreme Programming Core Practices (A)</vt:lpstr>
      <vt:lpstr>Extreme Programming Core Practices (B)</vt:lpstr>
      <vt:lpstr>The Extreme Programming Release Cycle </vt:lpstr>
      <vt:lpstr>Example – Story Card For Downloading Document</vt:lpstr>
      <vt:lpstr>Task Cards</vt:lpstr>
      <vt:lpstr>What is Scrum?</vt:lpstr>
      <vt:lpstr> Scrum in Detail </vt:lpstr>
      <vt:lpstr>Scrum in Detail…..continue</vt:lpstr>
      <vt:lpstr>Scrum in Detail…..continue</vt:lpstr>
      <vt:lpstr>Scrum Process Flow </vt:lpstr>
      <vt:lpstr>Standup meetings</vt:lpstr>
      <vt:lpstr>Scrum</vt:lpstr>
      <vt:lpstr>Why Scrum Works</vt:lpstr>
      <vt:lpstr>Advantages</vt:lpstr>
      <vt:lpstr>Advantages (Cont.)</vt:lpstr>
      <vt:lpstr>Disadvantages</vt:lpstr>
      <vt:lpstr>Kanban</vt:lpstr>
      <vt:lpstr>Kanban </vt:lpstr>
      <vt:lpstr>PowerPoint Presentation</vt:lpstr>
      <vt:lpstr> DevOps </vt:lpstr>
      <vt:lpstr> DevOps (Cont.) </vt:lpstr>
      <vt:lpstr>DevOps Tools</vt:lpstr>
      <vt:lpstr>DevOps Tools (Cont.)</vt:lpstr>
      <vt:lpstr>DevOps Tools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cp:lastModifiedBy>
  <cp:revision>239</cp:revision>
  <cp:lastPrinted>2018-09-24T05:36:36Z</cp:lastPrinted>
  <dcterms:created xsi:type="dcterms:W3CDTF">2014-09-24T14:35:43Z</dcterms:created>
  <dcterms:modified xsi:type="dcterms:W3CDTF">2025-03-19T06:15:19Z</dcterms:modified>
</cp:coreProperties>
</file>