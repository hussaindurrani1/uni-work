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36"/>
  </p:notesMasterIdLst>
  <p:handoutMasterIdLst>
    <p:handoutMasterId r:id="rId37"/>
  </p:handoutMasterIdLst>
  <p:sldIdLst>
    <p:sldId id="297" r:id="rId2"/>
    <p:sldId id="302" r:id="rId3"/>
    <p:sldId id="298" r:id="rId4"/>
    <p:sldId id="285" r:id="rId5"/>
    <p:sldId id="286" r:id="rId6"/>
    <p:sldId id="287" r:id="rId7"/>
    <p:sldId id="320" r:id="rId8"/>
    <p:sldId id="321" r:id="rId9"/>
    <p:sldId id="272" r:id="rId10"/>
    <p:sldId id="324" r:id="rId11"/>
    <p:sldId id="325" r:id="rId12"/>
    <p:sldId id="326" r:id="rId13"/>
    <p:sldId id="327" r:id="rId14"/>
    <p:sldId id="275" r:id="rId15"/>
    <p:sldId id="282" r:id="rId16"/>
    <p:sldId id="276" r:id="rId17"/>
    <p:sldId id="277" r:id="rId18"/>
    <p:sldId id="296" r:id="rId19"/>
    <p:sldId id="319" r:id="rId20"/>
    <p:sldId id="292" r:id="rId21"/>
    <p:sldId id="303" r:id="rId22"/>
    <p:sldId id="304" r:id="rId23"/>
    <p:sldId id="309" r:id="rId24"/>
    <p:sldId id="310" r:id="rId25"/>
    <p:sldId id="311" r:id="rId26"/>
    <p:sldId id="314" r:id="rId27"/>
    <p:sldId id="328" r:id="rId28"/>
    <p:sldId id="329" r:id="rId29"/>
    <p:sldId id="331" r:id="rId30"/>
    <p:sldId id="330" r:id="rId31"/>
    <p:sldId id="273" r:id="rId32"/>
    <p:sldId id="315" r:id="rId33"/>
    <p:sldId id="318" r:id="rId34"/>
    <p:sldId id="317" r:id="rId35"/>
  </p:sldIdLst>
  <p:sldSz cx="9144000" cy="6858000" type="screen4x3"/>
  <p:notesSz cx="9296400" cy="688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146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9513" cy="3443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4744" y="0"/>
            <a:ext cx="4029511" cy="3443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A14462-F384-44C7-A7CC-9135DD14D7E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36312"/>
            <a:ext cx="4029513" cy="3443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4744" y="6536312"/>
            <a:ext cx="4029511" cy="3443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B5A0E5-F311-49CE-8C00-CADC078F7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594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8440" cy="344091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10" y="0"/>
            <a:ext cx="4028440" cy="344091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784DDB26-73B7-40DC-A31F-5ECC12EEC203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7350" y="515938"/>
            <a:ext cx="3443288" cy="2581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1" y="3268861"/>
            <a:ext cx="7437119" cy="3096816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536528"/>
            <a:ext cx="4028440" cy="344091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10" y="6536528"/>
            <a:ext cx="4028440" cy="344091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DA37CDFA-2359-4F1F-B838-00BAF89B2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743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492D0-26F1-405A-B081-6F506F75A3D1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ADE2E-A448-45BB-928B-1465A717A6C7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8EA06-0A5F-4D5E-A7D2-AE41C47635EB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2379-F9AB-45E0-AECD-569F9220CD20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A16E0-87DB-4547-9C69-0B5BFFD4830B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07963-955E-4952-916A-E82E293AEC57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8D7D0-5070-4A24-B92C-716E2C4E580D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CF35-34BE-4EA6-9CA0-86C50139D98A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EF3F9-AC3A-404C-8109-7378984EA469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3BCC9-C2C8-46EA-850C-CAF83D41DB31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4B9DD-738D-48FA-A4D8-8D695DD9716A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C6013D79-54C0-46BC-B834-4C165C67E645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9D7B4A50-58E4-4669-9845-8604BF509EA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581400"/>
            <a:ext cx="5486400" cy="1905000"/>
          </a:xfrm>
        </p:spPr>
        <p:txBody>
          <a:bodyPr>
            <a:normAutofit/>
          </a:bodyPr>
          <a:lstStyle/>
          <a:p>
            <a:pPr marL="63500" algn="ctr" eaLnBrk="1" hangingPunct="1"/>
            <a:endParaRPr lang="en-US" sz="2000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  <a:p>
            <a:pPr marL="63500" algn="ctr"/>
            <a:r>
              <a:rPr lang="en-AU" altLang="en-AU" sz="2800" b="1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Software </a:t>
            </a:r>
            <a:r>
              <a:rPr lang="en-AU" sz="2800" b="1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Architectural Design</a:t>
            </a:r>
            <a:endParaRPr lang="en-US" sz="2800" b="1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0" y="1371600"/>
            <a:ext cx="9144000" cy="1927225"/>
          </a:xfrm>
        </p:spPr>
        <p:txBody>
          <a:bodyPr/>
          <a:lstStyle/>
          <a:p>
            <a:pPr algn="ctr"/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solidFill>
                  <a:srgbClr val="C00000"/>
                </a:solidFill>
                <a:cs typeface="Times New Roman" pitchFamily="18" charset="0"/>
              </a:rPr>
              <a:t>CSSE3113 – </a:t>
            </a:r>
            <a:r>
              <a:rPr lang="en-US" sz="3200" cap="none" dirty="0">
                <a:solidFill>
                  <a:srgbClr val="C00000"/>
                </a:solidFill>
                <a:cs typeface="Times New Roman" pitchFamily="18" charset="0"/>
              </a:rPr>
              <a:t>Introduction to Software Engineering </a:t>
            </a:r>
            <a:br>
              <a:rPr lang="en-US" sz="3600" cap="none" dirty="0">
                <a:solidFill>
                  <a:srgbClr val="C00000"/>
                </a:solidFill>
                <a:cs typeface="Times New Roman" pitchFamily="18" charset="0"/>
              </a:rPr>
            </a:b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229600" cy="4937760"/>
          </a:xfrm>
        </p:spPr>
        <p:txBody>
          <a:bodyPr/>
          <a:lstStyle/>
          <a:p>
            <a:pPr algn="just">
              <a:lnSpc>
                <a:spcPct val="150000"/>
              </a:lnSpc>
              <a:buNone/>
            </a:pPr>
            <a:br>
              <a:rPr lang="en-US" sz="3200" dirty="0">
                <a:latin typeface="+mj-lt"/>
              </a:rPr>
            </a:br>
            <a:r>
              <a:rPr lang="en-US" sz="2400" i="1" dirty="0">
                <a:latin typeface="+mj-lt"/>
                <a:cs typeface="Times New Roman" pitchFamily="18" charset="0"/>
              </a:rPr>
              <a:t>“The architecture of a system is a comprehensive framework that describes its form and structure – its components and how they fit together.”</a:t>
            </a:r>
            <a:br>
              <a:rPr lang="en-US" sz="2400" i="1" dirty="0">
                <a:latin typeface="+mj-lt"/>
                <a:cs typeface="Times New Roman" pitchFamily="18" charset="0"/>
              </a:rPr>
            </a:br>
            <a:r>
              <a:rPr lang="en-US" sz="2400" i="1" dirty="0">
                <a:latin typeface="+mj-lt"/>
                <a:cs typeface="Times New Roman" pitchFamily="18" charset="0"/>
              </a:rPr>
              <a:t>					 	</a:t>
            </a:r>
            <a:endParaRPr lang="en-US" i="1" dirty="0">
              <a:latin typeface="+mj-lt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400" i="1" dirty="0">
                <a:latin typeface="+mj-lt"/>
                <a:cs typeface="Times New Roman" pitchFamily="18" charset="0"/>
              </a:rPr>
              <a:t>							   Jerrold </a:t>
            </a:r>
            <a:r>
              <a:rPr lang="en-US" sz="2400" i="1" dirty="0" err="1">
                <a:latin typeface="+mj-lt"/>
                <a:cs typeface="Times New Roman" pitchFamily="18" charset="0"/>
              </a:rPr>
              <a:t>Grochow</a:t>
            </a:r>
            <a:endParaRPr lang="en-US" dirty="0">
              <a:latin typeface="+mj-lt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7498080" cy="1143000"/>
          </a:xfrm>
        </p:spPr>
        <p:txBody>
          <a:bodyPr>
            <a:normAutofit/>
          </a:bodyPr>
          <a:lstStyle/>
          <a:p>
            <a:r>
              <a:rPr lang="en-US" dirty="0"/>
              <a:t>Software </a:t>
            </a:r>
            <a:r>
              <a:rPr lang="en-GB" dirty="0"/>
              <a:t>Architecture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05D61-77A4-43FD-AEC9-33A5E1823168}" type="datetime1">
              <a:rPr lang="en-US" smtClean="0"/>
              <a:t>10/9/2025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/>
              <a:t>Architectural design is concerned with understanding how a system should be organized and designing the overall structure of that system.</a:t>
            </a:r>
          </a:p>
          <a:p>
            <a:pPr algn="just">
              <a:lnSpc>
                <a:spcPct val="110000"/>
              </a:lnSpc>
              <a:buNone/>
            </a:pP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/>
              <a:t>It  is the first stage in the software design process.</a:t>
            </a:r>
          </a:p>
          <a:p>
            <a:pPr algn="just"/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/>
              <a:t>Architectural design is a creative process where you design a system organization that will satisfy the functional and non-functional requirements of a system.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7128-E299-47E9-91ED-C4BCC883FFEF}" type="datetime1">
              <a:rPr lang="en-US" smtClean="0"/>
              <a:t>10/9/2025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153400" cy="47244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200" dirty="0">
                <a:ea typeface="Times New Roman"/>
                <a:cs typeface="Times New Roman"/>
              </a:rPr>
              <a:t>	These requirements include performance, security, availability, and maintainability. …</a:t>
            </a:r>
          </a:p>
          <a:p>
            <a:pPr algn="just">
              <a:lnSpc>
                <a:spcPct val="110000"/>
              </a:lnSpc>
              <a:buNone/>
            </a:pPr>
            <a:endParaRPr lang="en-US" sz="2200" dirty="0">
              <a:ea typeface="Times New Roman"/>
              <a:cs typeface="Times New Roman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i="1" dirty="0"/>
              <a:t>   </a:t>
            </a:r>
            <a:r>
              <a:rPr lang="en-US" sz="2200" b="1" i="1" dirty="0"/>
              <a:t>Performance: </a:t>
            </a:r>
            <a:r>
              <a:rPr lang="en-GB" sz="2200" dirty="0"/>
              <a:t>Performance can be enhanced by localizing operations to minimise sub-system communication. That is, try to have self-contained modules as much as possible so that inter-module communication is minimized.</a:t>
            </a:r>
          </a:p>
          <a:p>
            <a:pPr algn="just">
              <a:lnSpc>
                <a:spcPct val="110000"/>
              </a:lnSpc>
              <a:buNone/>
            </a:pPr>
            <a:endParaRPr lang="en-US" sz="2200" dirty="0"/>
          </a:p>
          <a:p>
            <a:pPr algn="just">
              <a:lnSpc>
                <a:spcPct val="150000"/>
              </a:lnSpc>
              <a:buNone/>
            </a:pPr>
            <a:r>
              <a:rPr lang="en-US" sz="2200" i="1" dirty="0"/>
              <a:t>   </a:t>
            </a:r>
            <a:r>
              <a:rPr lang="en-US" sz="2200" b="1" i="1" dirty="0"/>
              <a:t>Security: </a:t>
            </a:r>
            <a:r>
              <a:rPr lang="en-GB" sz="2200" dirty="0"/>
              <a:t>Security can be improved by using a layered architecture with critical assets put in inner layers.</a:t>
            </a:r>
            <a:endParaRPr lang="en-US" sz="2200" dirty="0"/>
          </a:p>
          <a:p>
            <a:pPr algn="just">
              <a:lnSpc>
                <a:spcPct val="150000"/>
              </a:lnSpc>
              <a:buNone/>
            </a:pPr>
            <a:endParaRPr lang="en-US" sz="22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>
            <a:normAutofit/>
          </a:bodyPr>
          <a:lstStyle/>
          <a:p>
            <a:r>
              <a:rPr lang="en-US" dirty="0"/>
              <a:t>Architectural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72C12-4AF2-4B43-AE4A-08E0C186CE0E}" type="datetime1">
              <a:rPr lang="en-US" smtClean="0"/>
              <a:t>10/9/2025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None/>
            </a:pPr>
            <a:r>
              <a:rPr lang="en-US" sz="2200" i="1" dirty="0"/>
              <a:t>	</a:t>
            </a:r>
            <a:r>
              <a:rPr lang="en-US" sz="2200" b="1" i="1" dirty="0"/>
              <a:t>Availability: </a:t>
            </a:r>
            <a:r>
              <a:rPr lang="en-GB" sz="2200" dirty="0"/>
              <a:t>building redundancy in the system and having redundant components in the architecture can ensure Availability.</a:t>
            </a:r>
          </a:p>
          <a:p>
            <a:pPr algn="just">
              <a:lnSpc>
                <a:spcPct val="150000"/>
              </a:lnSpc>
              <a:buNone/>
            </a:pPr>
            <a:endParaRPr lang="en-US" sz="2200" dirty="0"/>
          </a:p>
          <a:p>
            <a:pPr algn="just">
              <a:lnSpc>
                <a:spcPct val="150000"/>
              </a:lnSpc>
              <a:buNone/>
            </a:pPr>
            <a:r>
              <a:rPr lang="en-US" sz="2200" i="1" dirty="0"/>
              <a:t>	</a:t>
            </a:r>
            <a:r>
              <a:rPr lang="en-US" sz="2200" b="1" i="1" dirty="0"/>
              <a:t>Maintainability: </a:t>
            </a:r>
            <a:r>
              <a:rPr lang="en-GB" sz="2200" dirty="0"/>
              <a:t>Maintainability is directly related with simplicity. Therefore, using fine-grain, self-contained components can increase maintainability.</a:t>
            </a:r>
            <a:endParaRPr lang="en-US" sz="2200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6562-55F0-4DB7-8680-B502EFF264BA}" type="datetime1">
              <a:rPr lang="en-US" smtClean="0"/>
              <a:t>10/9/2025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endParaRPr lang="en-US" sz="2200" i="1" dirty="0"/>
          </a:p>
          <a:p>
            <a:pPr algn="just">
              <a:buNone/>
            </a:pPr>
            <a:r>
              <a:rPr lang="en-US" sz="2200" b="1" i="1" dirty="0"/>
              <a:t>System structuring: </a:t>
            </a:r>
            <a:r>
              <a:rPr lang="en-GB" sz="2200" dirty="0"/>
              <a:t>System structuring is concerned with decomposing the system into interacting sub-systems. </a:t>
            </a:r>
          </a:p>
          <a:p>
            <a:pPr algn="just">
              <a:buNone/>
            </a:pPr>
            <a:endParaRPr lang="en-GB" sz="2200" dirty="0"/>
          </a:p>
          <a:p>
            <a:pPr algn="just">
              <a:buNone/>
            </a:pPr>
            <a:r>
              <a:rPr lang="en-US" sz="2200" b="1" i="1" dirty="0"/>
              <a:t>Control modeling</a:t>
            </a:r>
            <a:r>
              <a:rPr lang="en-US" sz="2200" i="1" dirty="0"/>
              <a:t>: </a:t>
            </a:r>
            <a:r>
              <a:rPr lang="en-GB" sz="2200" dirty="0"/>
              <a:t>Control modelling establishes a model of the control relationships between the different parts of the system.</a:t>
            </a:r>
          </a:p>
          <a:p>
            <a:pPr algn="just">
              <a:buNone/>
            </a:pPr>
            <a:endParaRPr lang="en-GB" sz="2200" dirty="0"/>
          </a:p>
          <a:p>
            <a:pPr algn="just">
              <a:buNone/>
            </a:pPr>
            <a:r>
              <a:rPr lang="en-US" sz="2200" b="1" i="1" dirty="0"/>
              <a:t>Modular decomposition</a:t>
            </a:r>
            <a:r>
              <a:rPr lang="en-US" sz="2200" i="1" dirty="0"/>
              <a:t>: </a:t>
            </a:r>
            <a:r>
              <a:rPr lang="en-GB" sz="2200" dirty="0"/>
              <a:t>During this activity, the identified sub-systems are decomposed into modules.</a:t>
            </a:r>
            <a:endParaRPr lang="en-US" sz="2200" dirty="0"/>
          </a:p>
          <a:p>
            <a:pPr algn="just">
              <a:buNone/>
            </a:pPr>
            <a:endParaRPr lang="en-US" dirty="0"/>
          </a:p>
          <a:p>
            <a:pPr algn="just"/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>
            <a:normAutofit fontScale="90000"/>
          </a:bodyPr>
          <a:lstStyle/>
          <a:p>
            <a:br>
              <a:rPr lang="en-GB" sz="4000" dirty="0">
                <a:latin typeface="Times New Roman" pitchFamily="18" charset="0"/>
                <a:cs typeface="Times New Roman" pitchFamily="18" charset="0"/>
              </a:rPr>
            </a:br>
            <a:r>
              <a:rPr lang="en-GB" sz="4400" dirty="0">
                <a:cs typeface="Times New Roman" pitchFamily="18" charset="0"/>
              </a:rPr>
              <a:t>Architectural Design Process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0B2DC-C26E-4FD2-BAAB-2A603A1AD344}" type="datetime1">
              <a:rPr lang="en-US" smtClean="0"/>
              <a:t>10/9/2025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Diagrams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 </a:t>
            </a:r>
            <a:r>
              <a:rPr lang="en-GB" sz="2000" dirty="0"/>
              <a:t>Block diagrams are often used to describe sub-system designs</a:t>
            </a:r>
          </a:p>
          <a:p>
            <a:pPr marL="0" indent="0">
              <a:buNone/>
            </a:pPr>
            <a:r>
              <a:rPr lang="en-GB" sz="2000" dirty="0"/>
              <a:t> </a:t>
            </a:r>
          </a:p>
          <a:p>
            <a:pPr lvl="1" algn="just">
              <a:lnSpc>
                <a:spcPct val="150000"/>
              </a:lnSpc>
            </a:pPr>
            <a:r>
              <a:rPr lang="en-GB" b="1" dirty="0"/>
              <a:t>Each box </a:t>
            </a:r>
            <a:r>
              <a:rPr lang="en-GB" dirty="0"/>
              <a:t>in the diagram represents a </a:t>
            </a:r>
            <a:r>
              <a:rPr lang="en-GB" b="1" dirty="0"/>
              <a:t>sub-system</a:t>
            </a:r>
            <a:r>
              <a:rPr lang="en-GB" dirty="0"/>
              <a:t>. </a:t>
            </a:r>
          </a:p>
          <a:p>
            <a:pPr lvl="1" algn="just">
              <a:lnSpc>
                <a:spcPct val="150000"/>
              </a:lnSpc>
            </a:pPr>
            <a:r>
              <a:rPr lang="en-GB" b="1" dirty="0"/>
              <a:t>Boxes within boxes </a:t>
            </a:r>
            <a:r>
              <a:rPr lang="en-GB" dirty="0"/>
              <a:t>indicate that the </a:t>
            </a:r>
            <a:r>
              <a:rPr lang="en-GB" b="1" dirty="0"/>
              <a:t>sub-system has itself been decomposed to sub-systems. </a:t>
            </a:r>
          </a:p>
          <a:p>
            <a:pPr lvl="1" algn="just">
              <a:lnSpc>
                <a:spcPct val="150000"/>
              </a:lnSpc>
            </a:pPr>
            <a:r>
              <a:rPr lang="en-GB" b="1" dirty="0"/>
              <a:t>Arrows</a:t>
            </a:r>
            <a:r>
              <a:rPr lang="en-GB" dirty="0"/>
              <a:t> mean that </a:t>
            </a:r>
            <a:r>
              <a:rPr lang="en-GB" b="1" dirty="0"/>
              <a:t>data and or control signals </a:t>
            </a:r>
            <a:r>
              <a:rPr lang="en-GB" dirty="0"/>
              <a:t>are passed from sub-system to sub-system in the direction of the arrows. </a:t>
            </a:r>
          </a:p>
          <a:p>
            <a:pPr lvl="1" algn="just">
              <a:lnSpc>
                <a:spcPct val="150000"/>
              </a:lnSpc>
            </a:pPr>
            <a:r>
              <a:rPr lang="en-GB" b="1" dirty="0"/>
              <a:t>Block diagrams </a:t>
            </a:r>
            <a:r>
              <a:rPr lang="en-GB" dirty="0"/>
              <a:t>present </a:t>
            </a:r>
            <a:r>
              <a:rPr lang="en-GB" b="1" dirty="0"/>
              <a:t>a high-level picture </a:t>
            </a:r>
            <a:r>
              <a:rPr lang="en-GB" dirty="0"/>
              <a:t>of the system structure,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3FC1-33C0-4935-B0EB-70751FD54516}" type="datetime1">
              <a:rPr lang="en-US" smtClean="0"/>
              <a:t>10/9/2025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350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/>
              <a:t>Block diagram of a packing robot control system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24000"/>
            <a:ext cx="8458200" cy="5181600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668D-C7AA-4078-A5D8-D74E8BDD33AD}" type="datetime1">
              <a:rPr lang="en-US" smtClean="0"/>
              <a:t>10/9/2025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065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>
            <a:normAutofit/>
          </a:bodyPr>
          <a:lstStyle/>
          <a:p>
            <a:r>
              <a:rPr lang="en-GB" dirty="0"/>
              <a:t>Architectural Styles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953000"/>
          </a:xfrm>
        </p:spPr>
        <p:txBody>
          <a:bodyPr/>
          <a:lstStyle/>
          <a:p>
            <a:pPr>
              <a:buNone/>
            </a:pPr>
            <a:r>
              <a:rPr lang="en-GB" sz="2200" dirty="0"/>
              <a:t>  Among  many styles, the most commonly practiced ones are the following:</a:t>
            </a:r>
          </a:p>
          <a:p>
            <a:pPr>
              <a:buNone/>
            </a:pPr>
            <a:endParaRPr lang="en-GB" sz="22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Pipe &amp; Filters Architecture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Client Server Architecture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Layered Architecture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Model View Controller (MVC)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Data-Centered and Repository Architecture</a:t>
            </a:r>
            <a:endParaRPr lang="en-US" sz="2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4419C-BD01-42FD-BE08-F3C27895AB35}" type="datetime1">
              <a:rPr lang="en-US" smtClean="0"/>
              <a:t>10/9/2025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7B5BD-8E54-2E74-3B1E-DC90532D8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 and Filters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31BCB-436B-9FA9-B72C-E9AE6587A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It is a data flow architecture</a:t>
            </a:r>
          </a:p>
          <a:p>
            <a:pPr>
              <a:lnSpc>
                <a:spcPct val="150000"/>
              </a:lnSpc>
            </a:pPr>
            <a:r>
              <a:rPr lang="en-US" dirty="0"/>
              <a:t>Data flow consider the system a series of transformation on set of data</a:t>
            </a:r>
          </a:p>
          <a:p>
            <a:pPr>
              <a:lnSpc>
                <a:spcPct val="150000"/>
              </a:lnSpc>
            </a:pPr>
            <a:r>
              <a:rPr lang="en-US" dirty="0"/>
              <a:t>Data is transformed from one form to another using different types of operations</a:t>
            </a:r>
          </a:p>
          <a:p>
            <a:pPr>
              <a:lnSpc>
                <a:spcPct val="150000"/>
              </a:lnSpc>
            </a:pPr>
            <a:r>
              <a:rPr lang="en-US" dirty="0"/>
              <a:t>The pipe-filter architecture has an independent entity call filer (which is responsible to perform operations)</a:t>
            </a:r>
            <a:endParaRPr lang="en-GB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13C8B-38E6-F588-C6B5-5E19E368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ADE2E-A448-45BB-928B-1465A717A6C7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BF1C1-DA18-92F5-D55A-C45FAA38A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0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96569-A27D-0386-A3FE-5119DB662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 and Filter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E13CF-2108-DE02-4AAD-1291B77D3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09010"/>
            <a:ext cx="8229600" cy="4876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Filter perform operations on data input they received</a:t>
            </a:r>
          </a:p>
          <a:p>
            <a:pPr>
              <a:lnSpc>
                <a:spcPct val="150000"/>
              </a:lnSpc>
            </a:pPr>
            <a:r>
              <a:rPr lang="en-US" dirty="0"/>
              <a:t>Pipes are service connectors through which data is being transformed</a:t>
            </a:r>
          </a:p>
          <a:p>
            <a:pPr>
              <a:lnSpc>
                <a:spcPct val="150000"/>
              </a:lnSpc>
            </a:pPr>
            <a:r>
              <a:rPr lang="en-US" dirty="0"/>
              <a:t>Data is changed filter to filter</a:t>
            </a:r>
          </a:p>
          <a:p>
            <a:pPr>
              <a:lnSpc>
                <a:spcPct val="150000"/>
              </a:lnSpc>
            </a:pPr>
            <a:r>
              <a:rPr lang="en-US" dirty="0"/>
              <a:t>In this architecture, order of the filter might effect the results.</a:t>
            </a:r>
            <a:endParaRPr lang="en-GB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A0B9F-F84F-8443-DE20-C6E5A650F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ADE2E-A448-45BB-928B-1465A717A6C7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D1113-4749-56F1-1F0D-3FB8647B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26DCB71-29A0-2377-A05B-BC00EB1F0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638175" y="5029962"/>
            <a:ext cx="7867650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59083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2115E-F059-89C6-5820-747F90D42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Pipe and Filters Architecture - 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71EDF-9E71-3A64-DB55-8D23EC25C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ADE2E-A448-45BB-928B-1465A717A6C7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833A3-E83F-F2A4-FE12-64901D0F8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F9F58ED-03AA-7990-381B-E2895E98B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/>
              <a:t>The output of one filter becomes the input to the others</a:t>
            </a:r>
          </a:p>
          <a:p>
            <a:r>
              <a:rPr lang="en-US" dirty="0"/>
              <a:t>Example</a:t>
            </a:r>
          </a:p>
          <a:p>
            <a:pPr>
              <a:buNone/>
            </a:pPr>
            <a:r>
              <a:rPr lang="en-US" dirty="0"/>
              <a:t> </a:t>
            </a:r>
            <a:endParaRPr lang="en-GB" dirty="0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C366639-C40A-1E65-BA5F-3AAE4E83E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3429000"/>
            <a:ext cx="6772275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AE2EF1FB-6584-906F-5072-4CCEB6EFA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4404011"/>
            <a:ext cx="533400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37227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08225-040F-E6F5-EEFA-0E26311F8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 and Filters Architecture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62DCE-AFBB-18DC-3452-A8AC79F89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ADE2E-A448-45BB-928B-1465A717A6C7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DBAAA-CC59-5BFD-F02C-6BCA8AA47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949CBCF-D8F4-80BB-18FE-DC1FF59A7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Loose coupling allows filters to be changed without modifications to other filters</a:t>
            </a:r>
          </a:p>
          <a:p>
            <a:pPr lvl="1"/>
            <a:r>
              <a:rPr lang="en-GB" dirty="0"/>
              <a:t> Can be develop with parallel processing.</a:t>
            </a:r>
          </a:p>
          <a:p>
            <a:r>
              <a:rPr lang="en-US" dirty="0"/>
              <a:t>Disadvantages:</a:t>
            </a:r>
          </a:p>
          <a:p>
            <a:pPr lvl="1"/>
            <a:r>
              <a:rPr lang="en-US" b="1" dirty="0"/>
              <a:t>Not a good choice for an interactive system</a:t>
            </a:r>
          </a:p>
          <a:p>
            <a:pPr lvl="1"/>
            <a:r>
              <a:rPr lang="en-US" dirty="0"/>
              <a:t>Addition of a large number of independent filters may reduce performance due to excessive computational overheads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2461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020762"/>
          </a:xfrm>
        </p:spPr>
        <p:txBody>
          <a:bodyPr>
            <a:normAutofit/>
          </a:bodyPr>
          <a:lstStyle/>
          <a:p>
            <a:r>
              <a:rPr lang="en-GB" dirty="0"/>
              <a:t>Client/Server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8305800" cy="483076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GB" sz="2400" dirty="0"/>
              <a:t>The client-server model is a distributed system model that shows how data and processing is distributed across a range of components.</a:t>
            </a:r>
          </a:p>
          <a:p>
            <a:pPr algn="just">
              <a:buNone/>
            </a:pPr>
            <a:endParaRPr lang="en-GB" sz="2400" dirty="0"/>
          </a:p>
          <a:p>
            <a:pPr algn="just"/>
            <a:r>
              <a:rPr lang="en-US" sz="2400" dirty="0"/>
              <a:t>The functionality of the system is organized into services, with each service delivered from a separate server.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Clients are users of these services and access servers to make  use of them.</a:t>
            </a:r>
            <a:endParaRPr lang="en-GB" sz="2400" dirty="0"/>
          </a:p>
          <a:p>
            <a:pPr algn="just">
              <a:buNone/>
            </a:pPr>
            <a:endParaRPr lang="en-GB" sz="2400" dirty="0"/>
          </a:p>
          <a:p>
            <a:pPr algn="just">
              <a:buNone/>
            </a:pPr>
            <a:r>
              <a:rPr lang="en-GB" sz="2400" dirty="0"/>
              <a:t>In this model, the </a:t>
            </a:r>
            <a:r>
              <a:rPr lang="en-US" sz="2400" dirty="0"/>
              <a:t>application is modeled as </a:t>
            </a:r>
          </a:p>
          <a:p>
            <a:pPr algn="just">
              <a:buNone/>
            </a:pPr>
            <a:endParaRPr lang="en-US" sz="2400" dirty="0"/>
          </a:p>
          <a:p>
            <a:pPr marL="457200" indent="-457200" algn="just">
              <a:buAutoNum type="arabicParenR"/>
            </a:pPr>
            <a:r>
              <a:rPr lang="en-US" sz="2400" dirty="0"/>
              <a:t>A set of services that are provided by servers </a:t>
            </a:r>
          </a:p>
          <a:p>
            <a:pPr marL="457200" indent="-457200" algn="just">
              <a:buAutoNum type="arabicParenR"/>
            </a:pPr>
            <a:r>
              <a:rPr lang="en-US" sz="2400" dirty="0"/>
              <a:t>A set of clients that use these services.</a:t>
            </a:r>
          </a:p>
          <a:p>
            <a:pPr marL="457200" indent="-457200" algn="just">
              <a:buNone/>
            </a:pP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7DAFC-195E-4349-B85A-08845DD8A254}" type="datetime1">
              <a:rPr lang="en-US" smtClean="0"/>
              <a:t>10/9/2025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51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>
            <a:normAutofit fontScale="90000"/>
          </a:bodyPr>
          <a:lstStyle/>
          <a:p>
            <a:br>
              <a:rPr lang="en-GB" sz="3600" dirty="0"/>
            </a:br>
            <a:r>
              <a:rPr lang="en-GB" sz="4400" dirty="0"/>
              <a:t>Client/Server Model</a:t>
            </a:r>
            <a:br>
              <a:rPr lang="en-US" b="1" dirty="0"/>
            </a:br>
            <a:endParaRPr lang="en-US" dirty="0"/>
          </a:p>
        </p:txBody>
      </p:sp>
      <p:pic>
        <p:nvPicPr>
          <p:cNvPr id="62466" name="Picture 2" descr="http://upload.wikimedia.org/wikipedia/commons/thumb/c/c9/Client-server-model.svg/468px-Client-server-model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057400"/>
            <a:ext cx="6400800" cy="3657600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B169-3F54-4C48-B76E-16E77A9D592C}" type="datetime1">
              <a:rPr lang="en-US" smtClean="0"/>
              <a:t>10/9/2025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365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9438"/>
            <a:ext cx="8229600" cy="792162"/>
          </a:xfrm>
        </p:spPr>
        <p:txBody>
          <a:bodyPr>
            <a:normAutofit/>
          </a:bodyPr>
          <a:lstStyle/>
          <a:p>
            <a:r>
              <a:rPr lang="en-GB" dirty="0"/>
              <a:t>Client/Server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838200"/>
          </a:xfrm>
        </p:spPr>
        <p:txBody>
          <a:bodyPr/>
          <a:lstStyle/>
          <a:p>
            <a:pPr algn="ctr">
              <a:buNone/>
            </a:pPr>
            <a:r>
              <a:rPr lang="en-US" sz="2400" dirty="0"/>
              <a:t>General client-server organization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2209800"/>
            <a:ext cx="71628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6FE66-5819-4399-A3EF-6FB952F5E8F9}" type="datetime1">
              <a:rPr lang="en-US" smtClean="0"/>
              <a:t>10/9/2025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772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55638"/>
            <a:ext cx="8229600" cy="715962"/>
          </a:xfrm>
        </p:spPr>
        <p:txBody>
          <a:bodyPr>
            <a:normAutofit/>
          </a:bodyPr>
          <a:lstStyle/>
          <a:p>
            <a:r>
              <a:rPr lang="en-GB" dirty="0"/>
              <a:t>Client/Server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720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200" dirty="0"/>
              <a:t>	Following are some of the representative server types in client-server systems:</a:t>
            </a:r>
          </a:p>
          <a:p>
            <a:pPr algn="just">
              <a:lnSpc>
                <a:spcPct val="150000"/>
              </a:lnSpc>
              <a:buNone/>
            </a:pPr>
            <a:endParaRPr lang="en-US" sz="800" dirty="0"/>
          </a:p>
          <a:p>
            <a:pPr algn="just">
              <a:lnSpc>
                <a:spcPct val="150000"/>
              </a:lnSpc>
              <a:buNone/>
            </a:pPr>
            <a:r>
              <a:rPr lang="en-US" sz="2200" b="1" i="1" dirty="0"/>
              <a:t>Database servers: </a:t>
            </a:r>
            <a:r>
              <a:rPr lang="en-US" sz="2200" dirty="0"/>
              <a:t>In this case, the client sends requests, such as SQL queries, to the database server; the server processes the request and returns the results to the client over the network.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67C13-1700-44E7-BE0D-23DB492DD191}" type="datetime1">
              <a:rPr lang="en-US" smtClean="0"/>
              <a:t>10/9/2025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405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Client/Server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endParaRPr lang="en-US" sz="2200" b="1" i="1" dirty="0"/>
          </a:p>
          <a:p>
            <a:pPr algn="just">
              <a:lnSpc>
                <a:spcPct val="150000"/>
              </a:lnSpc>
              <a:buNone/>
            </a:pPr>
            <a:r>
              <a:rPr lang="en-US" sz="2200" b="1" i="1" dirty="0"/>
              <a:t>Transaction servers: </a:t>
            </a:r>
            <a:r>
              <a:rPr lang="en-US" sz="2200" dirty="0"/>
              <a:t>In this configuration, client sends requests that invoke remote procedures on the server side; server executes procedures invoked and returns the results to the client.</a:t>
            </a:r>
          </a:p>
          <a:p>
            <a:pPr algn="just">
              <a:buNone/>
            </a:pPr>
            <a:endParaRPr lang="en-US" sz="900" dirty="0"/>
          </a:p>
          <a:p>
            <a:pPr algn="just">
              <a:lnSpc>
                <a:spcPct val="150000"/>
              </a:lnSpc>
              <a:buNone/>
            </a:pPr>
            <a:r>
              <a:rPr lang="en-US" sz="2200" b="1" i="1" dirty="0"/>
              <a:t>Groupware servers: </a:t>
            </a:r>
            <a:r>
              <a:rPr lang="en-US" sz="2200" dirty="0"/>
              <a:t>Groupware servers provide set of applications that enable communication among clients using text, images and video, etc.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07015-05CD-4AC4-9EA4-806FA036386B}" type="datetime1">
              <a:rPr lang="en-US" smtClean="0"/>
              <a:t>10/9/2025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956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A Client–Server Architecture for a Film Library</a:t>
            </a:r>
            <a:r>
              <a:rPr lang="en-GB" sz="3200" dirty="0"/>
              <a:t> </a:t>
            </a:r>
            <a:endParaRPr lang="en-US" sz="3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237" y="4029075"/>
            <a:ext cx="9525" cy="1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76438"/>
            <a:ext cx="7848600" cy="3662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074-5FC3-412D-835A-74D1B267FA13}" type="datetime1">
              <a:rPr lang="en-US" smtClean="0"/>
              <a:t>10/9/2025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56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Client/Server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153400" cy="48768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200" b="1" dirty="0"/>
          </a:p>
          <a:p>
            <a:pPr>
              <a:buNone/>
            </a:pPr>
            <a:r>
              <a:rPr lang="en-US" sz="2200" b="1" dirty="0"/>
              <a:t>Advantages:</a:t>
            </a:r>
          </a:p>
          <a:p>
            <a:r>
              <a:rPr lang="en-GB" sz="2200" dirty="0"/>
              <a:t>Adding new servers or upgrading existing servers becomes easier. </a:t>
            </a:r>
          </a:p>
          <a:p>
            <a:r>
              <a:rPr lang="en-GB" sz="2200" dirty="0"/>
              <a:t>Distribution of data is straightforward in this case. </a:t>
            </a:r>
          </a:p>
          <a:p>
            <a:pPr>
              <a:buNone/>
            </a:pPr>
            <a:endParaRPr lang="en-GB" sz="2200" dirty="0"/>
          </a:p>
          <a:p>
            <a:pPr>
              <a:buNone/>
            </a:pPr>
            <a:r>
              <a:rPr lang="en-US" sz="2200" b="1" dirty="0"/>
              <a:t>Disadvantages:</a:t>
            </a:r>
          </a:p>
          <a:p>
            <a:r>
              <a:rPr lang="en-US" sz="2200" dirty="0"/>
              <a:t>Each service is a single point of failure so susceptible to denial of service attacks or server failure. 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Performance may be unpredictable because it depends on the network.</a:t>
            </a: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9D97-9119-4AFF-955E-F061F76F61E1}" type="datetime1">
              <a:rPr lang="en-US" smtClean="0"/>
              <a:t>10/9/2025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242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01000" cy="48006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US" sz="2200" dirty="0"/>
          </a:p>
          <a:p>
            <a:pPr algn="just">
              <a:lnSpc>
                <a:spcPct val="150000"/>
              </a:lnSpc>
            </a:pPr>
            <a:r>
              <a:rPr lang="en-US" sz="2200" dirty="0"/>
              <a:t> A </a:t>
            </a:r>
            <a:r>
              <a:rPr lang="en-US" sz="2200" b="1" dirty="0"/>
              <a:t>layered architecture </a:t>
            </a:r>
            <a:r>
              <a:rPr lang="en-US" sz="2200" dirty="0"/>
              <a:t>organizes a system into a </a:t>
            </a:r>
            <a:r>
              <a:rPr lang="en-US" sz="2200" b="1" dirty="0"/>
              <a:t>set of layers</a:t>
            </a:r>
            <a:r>
              <a:rPr lang="en-US" sz="2200" dirty="0"/>
              <a:t>   each of which provide a set of services to the layer “above</a:t>
            </a:r>
            <a:r>
              <a:rPr lang="ja-JP" altLang="en-US" sz="2200" dirty="0"/>
              <a:t>”</a:t>
            </a:r>
            <a:r>
              <a:rPr lang="en-US" sz="2200" dirty="0"/>
              <a:t>and serving as client to the layer “below”.</a:t>
            </a:r>
          </a:p>
          <a:p>
            <a:pPr algn="just">
              <a:lnSpc>
                <a:spcPct val="150000"/>
              </a:lnSpc>
              <a:buNone/>
            </a:pPr>
            <a:endParaRPr lang="en-US" sz="900" dirty="0"/>
          </a:p>
          <a:p>
            <a:pPr algn="just">
              <a:lnSpc>
                <a:spcPct val="150000"/>
              </a:lnSpc>
            </a:pPr>
            <a:r>
              <a:rPr lang="en-US" sz="2200" dirty="0"/>
              <a:t>Inner layers are closer to the machine hardware than the outer layers and each layer isolates the outer layer from inner complexities</a:t>
            </a:r>
          </a:p>
          <a:p>
            <a:pPr algn="just">
              <a:lnSpc>
                <a:spcPct val="150000"/>
              </a:lnSpc>
            </a:pPr>
            <a:endParaRPr lang="en-US" sz="900" dirty="0"/>
          </a:p>
          <a:p>
            <a:pPr algn="just">
              <a:lnSpc>
                <a:spcPct val="150000"/>
              </a:lnSpc>
            </a:pPr>
            <a:r>
              <a:rPr lang="en-US" sz="2200" dirty="0"/>
              <a:t>Supports incremental development</a:t>
            </a:r>
          </a:p>
          <a:p>
            <a:pPr algn="just">
              <a:buNone/>
            </a:pPr>
            <a:endParaRPr lang="en-US" sz="2200" dirty="0"/>
          </a:p>
          <a:p>
            <a:pPr algn="just">
              <a:buNone/>
            </a:pPr>
            <a:endParaRPr lang="en-US" sz="2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Layered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B466A-CBF5-4448-A671-F9B958F99817}" type="datetime1">
              <a:rPr lang="en-US" smtClean="0"/>
              <a:t>10/9/2025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Layered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US" sz="800" dirty="0"/>
          </a:p>
          <a:p>
            <a:pPr algn="just">
              <a:lnSpc>
                <a:spcPct val="150000"/>
              </a:lnSpc>
            </a:pPr>
            <a:r>
              <a:rPr lang="en-US" sz="2200" dirty="0"/>
              <a:t>The outer layer only needs to know the interface provided by the inner layer</a:t>
            </a:r>
          </a:p>
          <a:p>
            <a:pPr algn="just">
              <a:lnSpc>
                <a:spcPct val="150000"/>
              </a:lnSpc>
              <a:buNone/>
            </a:pPr>
            <a:endParaRPr lang="en-US" sz="1000" dirty="0"/>
          </a:p>
          <a:p>
            <a:pPr algn="just">
              <a:lnSpc>
                <a:spcPct val="150000"/>
              </a:lnSpc>
            </a:pPr>
            <a:r>
              <a:rPr lang="en-US" sz="2200" dirty="0"/>
              <a:t>If there are any changes in the inner layer, the outer layer is not affected as long as the interface does not change</a:t>
            </a:r>
          </a:p>
          <a:p>
            <a:pPr algn="just">
              <a:lnSpc>
                <a:spcPct val="150000"/>
              </a:lnSpc>
            </a:pPr>
            <a:endParaRPr lang="en-US" sz="1000" dirty="0"/>
          </a:p>
          <a:p>
            <a:pPr algn="just">
              <a:lnSpc>
                <a:spcPct val="150000"/>
              </a:lnSpc>
            </a:pPr>
            <a:r>
              <a:rPr lang="en-US" sz="2200" dirty="0"/>
              <a:t>The layered architecture pattern is another way of achieving separation and independence.</a:t>
            </a:r>
          </a:p>
          <a:p>
            <a:pPr algn="just">
              <a:lnSpc>
                <a:spcPct val="150000"/>
              </a:lnSpc>
            </a:pPr>
            <a:endParaRPr lang="en-US" sz="2200" b="1" dirty="0"/>
          </a:p>
          <a:p>
            <a:pPr algn="just">
              <a:lnSpc>
                <a:spcPct val="150000"/>
              </a:lnSpc>
              <a:buNone/>
            </a:pPr>
            <a:endParaRPr lang="en-US" sz="2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912CC-4F16-414C-B172-1B218CCCBE78}" type="datetime1">
              <a:rPr lang="en-US" smtClean="0"/>
              <a:t>10/9/2025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077200" cy="1143000"/>
          </a:xfrm>
        </p:spPr>
        <p:txBody>
          <a:bodyPr/>
          <a:lstStyle/>
          <a:p>
            <a:r>
              <a:rPr lang="en-US" dirty="0"/>
              <a:t>Advantages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305800" cy="44958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200" b="1" dirty="0"/>
              <a:t>Independence</a:t>
            </a:r>
          </a:p>
          <a:p>
            <a:pPr algn="just">
              <a:lnSpc>
                <a:spcPct val="150000"/>
              </a:lnSpc>
              <a:buNone/>
            </a:pPr>
            <a:endParaRPr lang="en-US" sz="900" b="1" dirty="0"/>
          </a:p>
          <a:p>
            <a:pPr algn="just">
              <a:lnSpc>
                <a:spcPct val="150000"/>
              </a:lnSpc>
            </a:pPr>
            <a:r>
              <a:rPr lang="en-US" sz="2200" dirty="0"/>
              <a:t>Different components of the application can be </a:t>
            </a:r>
            <a:r>
              <a:rPr lang="en-US" sz="2200" b="1" dirty="0"/>
              <a:t>independently</a:t>
            </a:r>
            <a:r>
              <a:rPr lang="en-US" sz="2200" dirty="0"/>
              <a:t> deployed, maintained, and updated, on different time schedules</a:t>
            </a:r>
          </a:p>
          <a:p>
            <a:pPr algn="just">
              <a:lnSpc>
                <a:spcPct val="150000"/>
              </a:lnSpc>
              <a:buNone/>
            </a:pPr>
            <a:endParaRPr lang="en-US" sz="800" dirty="0"/>
          </a:p>
          <a:p>
            <a:pPr algn="just">
              <a:lnSpc>
                <a:spcPct val="150000"/>
              </a:lnSpc>
            </a:pPr>
            <a:r>
              <a:rPr lang="en-US" sz="2200" dirty="0"/>
              <a:t>Makes possible for </a:t>
            </a:r>
            <a:r>
              <a:rPr lang="en-US" sz="2200" b="1" dirty="0"/>
              <a:t>team members to work in parallel </a:t>
            </a:r>
            <a:r>
              <a:rPr lang="en-US" sz="2200" dirty="0"/>
              <a:t>on different parts of the application with minimal </a:t>
            </a:r>
            <a:r>
              <a:rPr lang="en-US" sz="2200" b="1" dirty="0"/>
              <a:t>dependencies.</a:t>
            </a:r>
          </a:p>
          <a:p>
            <a:pPr algn="just">
              <a:lnSpc>
                <a:spcPct val="150000"/>
              </a:lnSpc>
              <a:buNone/>
            </a:pPr>
            <a:endParaRPr lang="en-US" sz="800" b="1" dirty="0"/>
          </a:p>
          <a:p>
            <a:pPr algn="just">
              <a:lnSpc>
                <a:spcPct val="150000"/>
              </a:lnSpc>
            </a:pPr>
            <a:r>
              <a:rPr lang="en-US" sz="2200" dirty="0"/>
              <a:t>Testing the components</a:t>
            </a:r>
            <a:r>
              <a:rPr lang="en-US" sz="2200" b="1" dirty="0"/>
              <a:t> independently </a:t>
            </a:r>
            <a:r>
              <a:rPr lang="en-US" sz="2200" dirty="0"/>
              <a:t>of each other.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200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D7911-8D0F-42C1-8E02-47CB7D830E66}" type="datetime1">
              <a:rPr lang="en-US" smtClean="0"/>
              <a:t>10/9/2025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4494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001000" cy="47244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200" b="1" dirty="0"/>
              <a:t>More secure</a:t>
            </a:r>
          </a:p>
          <a:p>
            <a:pPr marL="228600" lvl="1" algn="just">
              <a:lnSpc>
                <a:spcPct val="150000"/>
              </a:lnSpc>
              <a:spcBef>
                <a:spcPts val="1800"/>
              </a:spcBef>
              <a:buClr>
                <a:schemeClr val="accent1"/>
              </a:buClr>
            </a:pPr>
            <a:r>
              <a:rPr lang="en-US" sz="2200" dirty="0">
                <a:solidFill>
                  <a:schemeClr val="tx1"/>
                </a:solidFill>
              </a:rPr>
              <a:t>Each layer may hide private information from other layers</a:t>
            </a:r>
          </a:p>
          <a:p>
            <a:pPr marL="228600" lvl="1" algn="just">
              <a:lnSpc>
                <a:spcPct val="150000"/>
              </a:lnSpc>
              <a:spcBef>
                <a:spcPts val="1800"/>
              </a:spcBef>
              <a:buClr>
                <a:schemeClr val="accent1"/>
              </a:buClr>
              <a:buNone/>
            </a:pPr>
            <a:r>
              <a:rPr lang="en-US" sz="2200" b="1" dirty="0">
                <a:solidFill>
                  <a:schemeClr val="tx1"/>
                </a:solidFill>
              </a:rPr>
              <a:t>Reusability </a:t>
            </a:r>
          </a:p>
          <a:p>
            <a:pPr marL="228600" lvl="1" algn="just">
              <a:lnSpc>
                <a:spcPct val="150000"/>
              </a:lnSpc>
              <a:spcBef>
                <a:spcPts val="1800"/>
              </a:spcBef>
              <a:buClr>
                <a:schemeClr val="accent1"/>
              </a:buClr>
            </a:pPr>
            <a:r>
              <a:rPr lang="en-US" sz="2200" dirty="0">
                <a:solidFill>
                  <a:schemeClr val="tx1"/>
                </a:solidFill>
              </a:rPr>
              <a:t>Each layer, being cohesive and </a:t>
            </a:r>
            <a:r>
              <a:rPr lang="en-US" altLang="zh-TW" sz="2200" dirty="0">
                <a:solidFill>
                  <a:schemeClr val="tx1"/>
                </a:solidFill>
              </a:rPr>
              <a:t>is </a:t>
            </a:r>
            <a:r>
              <a:rPr lang="en-US" sz="2200" dirty="0">
                <a:solidFill>
                  <a:schemeClr val="tx1"/>
                </a:solidFill>
              </a:rPr>
              <a:t>coupled only to lower layers, makes it easier for reuse by others and easier to be replaced or interchanged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077200" cy="1143000"/>
          </a:xfrm>
        </p:spPr>
        <p:txBody>
          <a:bodyPr/>
          <a:lstStyle/>
          <a:p>
            <a:r>
              <a:rPr lang="en-US" dirty="0"/>
              <a:t>Advantages</a:t>
            </a:r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5018F-92ED-4BAA-A9A9-BC0EBC19B830}" type="datetime1">
              <a:rPr lang="en-US" smtClean="0"/>
              <a:t>10/9/2025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292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023" y="457200"/>
            <a:ext cx="8032377" cy="1143000"/>
          </a:xfrm>
        </p:spPr>
        <p:txBody>
          <a:bodyPr/>
          <a:lstStyle/>
          <a:p>
            <a:r>
              <a:rPr lang="en-US" dirty="0"/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001001" cy="4724400"/>
          </a:xfrm>
        </p:spPr>
        <p:txBody>
          <a:bodyPr>
            <a:normAutofit/>
          </a:bodyPr>
          <a:lstStyle/>
          <a:p>
            <a:pPr marL="228600" lvl="1" algn="just">
              <a:lnSpc>
                <a:spcPct val="150000"/>
              </a:lnSpc>
              <a:spcBef>
                <a:spcPts val="1800"/>
              </a:spcBef>
              <a:buClr>
                <a:schemeClr val="accent1"/>
              </a:buClr>
            </a:pPr>
            <a:endParaRPr lang="en-US" sz="800" dirty="0">
              <a:solidFill>
                <a:schemeClr val="tx1"/>
              </a:solidFill>
            </a:endParaRPr>
          </a:p>
          <a:p>
            <a:pPr marL="228600" lvl="1" algn="just">
              <a:lnSpc>
                <a:spcPct val="150000"/>
              </a:lnSpc>
              <a:spcBef>
                <a:spcPts val="1800"/>
              </a:spcBef>
              <a:buClr>
                <a:schemeClr val="accent1"/>
              </a:buClr>
            </a:pPr>
            <a:r>
              <a:rPr lang="en-US" sz="2200" dirty="0">
                <a:solidFill>
                  <a:schemeClr val="tx1"/>
                </a:solidFill>
              </a:rPr>
              <a:t>Performance degrades if we have too many layers (extra overhead of passing through layers and also changes will pass slowly to higher layers )</a:t>
            </a:r>
          </a:p>
          <a:p>
            <a:pPr marL="228600" lvl="1" algn="just">
              <a:lnSpc>
                <a:spcPct val="150000"/>
              </a:lnSpc>
              <a:spcBef>
                <a:spcPts val="1800"/>
              </a:spcBef>
              <a:buClr>
                <a:schemeClr val="accent1"/>
              </a:buClr>
            </a:pPr>
            <a:r>
              <a:rPr lang="en-US" sz="2200" dirty="0">
                <a:solidFill>
                  <a:schemeClr val="tx1"/>
                </a:solidFill>
              </a:rPr>
              <a:t>Sometimes difficult to cleanly assign functionality to the </a:t>
            </a:r>
            <a:r>
              <a:rPr lang="ja-JP" altLang="en-US" sz="2200" dirty="0">
                <a:solidFill>
                  <a:schemeClr val="tx1"/>
                </a:solidFill>
              </a:rPr>
              <a:t>“</a:t>
            </a:r>
            <a:r>
              <a:rPr lang="en-US" sz="2200" dirty="0">
                <a:solidFill>
                  <a:schemeClr val="tx1"/>
                </a:solidFill>
              </a:rPr>
              <a:t>right</a:t>
            </a:r>
            <a:r>
              <a:rPr lang="ja-JP" altLang="en-US" sz="2200" dirty="0">
                <a:solidFill>
                  <a:schemeClr val="tx1"/>
                </a:solidFill>
              </a:rPr>
              <a:t>”</a:t>
            </a:r>
            <a:r>
              <a:rPr lang="en-US" sz="2200" dirty="0">
                <a:solidFill>
                  <a:schemeClr val="tx1"/>
                </a:solidFill>
              </a:rPr>
              <a:t> layer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190F6-5A37-417E-8528-B3F71C55AACC}" type="datetime1">
              <a:rPr lang="en-US" smtClean="0"/>
              <a:t>10/9/2025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2247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/>
          <a:lstStyle/>
          <a:p>
            <a:r>
              <a:rPr lang="en-US" dirty="0"/>
              <a:t>Layered Architecture</a:t>
            </a:r>
          </a:p>
        </p:txBody>
      </p:sp>
      <p:sp>
        <p:nvSpPr>
          <p:cNvPr id="94210" name="AutoShape 2" descr="architectu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42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504950"/>
            <a:ext cx="8153400" cy="520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7B316-2061-4C14-8008-A82C1528784B}" type="datetime1">
              <a:rPr lang="en-US" smtClean="0"/>
              <a:t>10/9/2025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120F9-3127-D9DA-9920-40DF10980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/>
          <a:lstStyle/>
          <a:p>
            <a:r>
              <a:rPr lang="en-US" dirty="0"/>
              <a:t>Model View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7C93D-28DB-24A1-1035-5EE8CDC22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The purpose is to decompose the application into multiple components, where every component has its own purpose</a:t>
            </a:r>
          </a:p>
          <a:p>
            <a:pPr>
              <a:lnSpc>
                <a:spcPct val="150000"/>
              </a:lnSpc>
            </a:pPr>
            <a:r>
              <a:rPr lang="en-US" dirty="0"/>
              <a:t>It divide the application into three main components: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Model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View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Controller</a:t>
            </a:r>
            <a:endParaRPr lang="en-GB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38E66-A3F1-B639-D7FA-3A8276692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ADE2E-A448-45BB-928B-1465A717A6C7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F8D4D-50DC-9648-C34B-86FE432A1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7068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594F847-62C6-328E-437B-87E4603A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 anchor="ctr">
            <a:normAutofit/>
          </a:bodyPr>
          <a:lstStyle/>
          <a:p>
            <a:r>
              <a:rPr lang="en-US" dirty="0"/>
              <a:t>Model View Controller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6B4C7D0-1217-E423-F91B-C4CA16C886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673352"/>
            <a:ext cx="4038600" cy="4718304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2600" dirty="0"/>
              <a:t>This is done to separate internal representations of information from the ways information is presented to and accepted from the user.</a:t>
            </a:r>
          </a:p>
          <a:p>
            <a:pPr algn="just">
              <a:lnSpc>
                <a:spcPct val="90000"/>
              </a:lnSpc>
            </a:pPr>
            <a:r>
              <a:rPr lang="en-US" sz="2600" dirty="0"/>
              <a:t>Popular examples of MVC frameworks:</a:t>
            </a:r>
          </a:p>
          <a:p>
            <a:pPr lvl="1" algn="just">
              <a:lnSpc>
                <a:spcPct val="90000"/>
              </a:lnSpc>
            </a:pPr>
            <a:r>
              <a:rPr lang="en-US" sz="2600" b="1" dirty="0"/>
              <a:t>Ruby on Rails</a:t>
            </a:r>
            <a:r>
              <a:rPr lang="en-US" sz="2600" dirty="0"/>
              <a:t>.</a:t>
            </a:r>
          </a:p>
          <a:p>
            <a:pPr lvl="1" algn="just">
              <a:lnSpc>
                <a:spcPct val="90000"/>
              </a:lnSpc>
            </a:pPr>
            <a:r>
              <a:rPr lang="en-US" sz="2600" b="1" dirty="0"/>
              <a:t>Django</a:t>
            </a:r>
          </a:p>
          <a:p>
            <a:pPr lvl="1" algn="just">
              <a:lnSpc>
                <a:spcPct val="90000"/>
              </a:lnSpc>
            </a:pPr>
            <a:r>
              <a:rPr lang="en-US" sz="2600" b="1" dirty="0" err="1"/>
              <a:t>CakePHP</a:t>
            </a:r>
            <a:endParaRPr lang="en-GB" sz="2600" dirty="0"/>
          </a:p>
          <a:p>
            <a:pPr algn="just">
              <a:lnSpc>
                <a:spcPct val="90000"/>
              </a:lnSpc>
            </a:pPr>
            <a:endParaRPr lang="en-US" sz="2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5AD35-22E5-3EB5-850E-DDC72FFFE8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29ADE2E-A448-45BB-928B-1465A717A6C7}" type="datetime1">
              <a:rPr lang="en-US" smtClean="0"/>
              <a:pPr>
                <a:spcAft>
                  <a:spcPts val="600"/>
                </a:spcAft>
              </a:pPr>
              <a:t>10/9/2025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6DFF4-389C-1CFE-B9F0-E2F0959F4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D7B4A50-58E4-4669-9845-8604BF509EA7}" type="slidenum">
              <a:rPr lang="en-US" smtClean="0"/>
              <a:pPr>
                <a:spcAft>
                  <a:spcPts val="600"/>
                </a:spcAft>
              </a:pPr>
              <a:t>28</a:t>
            </a:fld>
            <a:endParaRPr lang="en-US"/>
          </a:p>
        </p:txBody>
      </p:sp>
      <p:pic>
        <p:nvPicPr>
          <p:cNvPr id="1026" name="Picture 2" descr="MVC Framework Introduction - GeeksforGeeks">
            <a:extLst>
              <a:ext uri="{FF2B5EF4-FFF2-40B4-BE49-F238E27FC236}">
                <a16:creationId xmlns:a16="http://schemas.microsoft.com/office/drawing/2014/main" id="{2964E596-03A2-615E-13CA-AF1E2E7D050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25" y="2438400"/>
            <a:ext cx="4638675" cy="309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1976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5D9DA-E6F9-C5EF-8C7B-29876C818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2852E-763F-4A13-87E5-8A20A2612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ADE2E-A448-45BB-928B-1465A717A6C7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755C8-FAE0-AF17-7F73-F4D36C972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2050" name="Picture 2" descr="MVC Framework Introduction - GeeksforGeeks">
            <a:extLst>
              <a:ext uri="{FF2B5EF4-FFF2-40B4-BE49-F238E27FC236}">
                <a16:creationId xmlns:a16="http://schemas.microsoft.com/office/drawing/2014/main" id="{28EE179E-2D78-281D-C63A-59B6E7D67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1600200"/>
            <a:ext cx="72009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84197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AD3F2-2BD9-FB1F-C0CC-8920A5217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Disadvantages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5FB31-DC79-A7C8-4D00-E4B234B80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ADE2E-A448-45BB-928B-1465A717A6C7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8F3F9-9B28-0694-3091-937AA335B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E96E44-3582-D821-9252-CB646BA67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Advantages:</a:t>
            </a:r>
          </a:p>
          <a:p>
            <a:pPr>
              <a:lnSpc>
                <a:spcPct val="150000"/>
              </a:lnSpc>
            </a:pPr>
            <a:r>
              <a:rPr lang="en-US" dirty="0"/>
              <a:t>Separation of concern</a:t>
            </a:r>
          </a:p>
          <a:p>
            <a:pPr>
              <a:lnSpc>
                <a:spcPct val="150000"/>
              </a:lnSpc>
            </a:pPr>
            <a:r>
              <a:rPr lang="en-US" dirty="0"/>
              <a:t>Easy to maintain</a:t>
            </a:r>
          </a:p>
          <a:p>
            <a:pPr>
              <a:lnSpc>
                <a:spcPct val="150000"/>
              </a:lnSpc>
            </a:pPr>
            <a:r>
              <a:rPr lang="en-US" dirty="0"/>
              <a:t>MVC model returns data without formatting, so it is useful for multiple types of devices (mobile and desktop)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Disadvantages:</a:t>
            </a:r>
          </a:p>
          <a:p>
            <a:pPr>
              <a:lnSpc>
                <a:spcPct val="150000"/>
              </a:lnSpc>
            </a:pPr>
            <a:r>
              <a:rPr lang="en-US" dirty="0"/>
              <a:t> </a:t>
            </a:r>
            <a:r>
              <a:rPr lang="en-US" b="1" dirty="0">
                <a:solidFill>
                  <a:srgbClr val="FF0000"/>
                </a:solidFill>
              </a:rPr>
              <a:t>It can’t be suitable for small applications</a:t>
            </a:r>
            <a:r>
              <a:rPr lang="en-US" dirty="0"/>
              <a:t> which has adverse effect in the application's performance and design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96450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3238"/>
            <a:ext cx="8229600" cy="944562"/>
          </a:xfrm>
        </p:spPr>
        <p:txBody>
          <a:bodyPr>
            <a:noAutofit/>
          </a:bodyPr>
          <a:lstStyle/>
          <a:p>
            <a:r>
              <a:rPr lang="en-US" sz="3600" dirty="0"/>
              <a:t>Data-Centered</a:t>
            </a:r>
            <a:r>
              <a:rPr lang="en-GB" sz="3600" dirty="0"/>
              <a:t> or Repository Architecture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46237"/>
            <a:ext cx="8001000" cy="4830763"/>
          </a:xfrm>
        </p:spPr>
        <p:txBody>
          <a:bodyPr>
            <a:normAutofit/>
          </a:bodyPr>
          <a:lstStyle/>
          <a:p>
            <a:pPr algn="just"/>
            <a:r>
              <a:rPr lang="en-GB" sz="2000" dirty="0"/>
              <a:t>In any system, sub-systems need to exchange information and data. This may be done in two ways:</a:t>
            </a:r>
          </a:p>
          <a:p>
            <a:pPr marL="0" indent="0" algn="just">
              <a:buNone/>
            </a:pPr>
            <a:endParaRPr lang="en-GB" sz="2000" dirty="0"/>
          </a:p>
          <a:p>
            <a:pPr marL="73152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Shared data is held in a </a:t>
            </a:r>
            <a:r>
              <a:rPr lang="en-GB" b="1" dirty="0"/>
              <a:t>central database or repository </a:t>
            </a:r>
            <a:r>
              <a:rPr lang="en-GB" dirty="0"/>
              <a:t>and may be accessed by all sub-systems</a:t>
            </a:r>
          </a:p>
          <a:p>
            <a:pPr marL="73152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Each sub-system maintains its </a:t>
            </a:r>
            <a:r>
              <a:rPr lang="en-GB" b="1" dirty="0"/>
              <a:t>own database </a:t>
            </a:r>
            <a:r>
              <a:rPr lang="en-GB" dirty="0"/>
              <a:t>and passes data to other sub-systems</a:t>
            </a:r>
          </a:p>
          <a:p>
            <a:pPr lvl="0" algn="just">
              <a:buNone/>
            </a:pPr>
            <a:endParaRPr lang="en-GB" sz="2200" dirty="0"/>
          </a:p>
          <a:p>
            <a:pPr lvl="0" algn="just"/>
            <a:r>
              <a:rPr lang="en-GB" sz="2000" dirty="0"/>
              <a:t>When large amounts of data are to be shared, the repository model of sharing is most commonly used. </a:t>
            </a:r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9422-E501-4FF6-954F-2F1A223EF744}" type="datetime1">
              <a:rPr lang="en-US" smtClean="0"/>
              <a:t>10/9/2025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3238"/>
            <a:ext cx="8229600" cy="944562"/>
          </a:xfrm>
        </p:spPr>
        <p:txBody>
          <a:bodyPr>
            <a:noAutofit/>
          </a:bodyPr>
          <a:lstStyle/>
          <a:p>
            <a:r>
              <a:rPr lang="en-US" sz="3600" dirty="0"/>
              <a:t>Data-Centered</a:t>
            </a:r>
            <a:r>
              <a:rPr lang="en-GB" sz="3600" dirty="0"/>
              <a:t> or Repository Architecture</a:t>
            </a:r>
            <a:endParaRPr lang="en-US" sz="36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905000"/>
            <a:ext cx="6934199" cy="4267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F46A-611B-4982-B735-74897451C740}" type="datetime1">
              <a:rPr lang="en-US" smtClean="0"/>
              <a:t>10/9/2025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144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Repository Architecture for an IDE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05000"/>
            <a:ext cx="76200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48648-6441-4A52-A120-48122FCD958D}" type="datetime1">
              <a:rPr lang="en-US" smtClean="0"/>
              <a:t>10/9/2025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2684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3238"/>
            <a:ext cx="8229600" cy="944562"/>
          </a:xfrm>
        </p:spPr>
        <p:txBody>
          <a:bodyPr>
            <a:noAutofit/>
          </a:bodyPr>
          <a:lstStyle/>
          <a:p>
            <a:r>
              <a:rPr lang="en-US" sz="3600" dirty="0"/>
              <a:t>Data-Centered</a:t>
            </a:r>
            <a:r>
              <a:rPr lang="en-GB" sz="3600" dirty="0"/>
              <a:t> or Repository Architecture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200" b="1" dirty="0"/>
              <a:t>Advantages</a:t>
            </a:r>
          </a:p>
          <a:p>
            <a:pPr lvl="1" algn="just"/>
            <a:r>
              <a:rPr lang="en-US" sz="2200" dirty="0"/>
              <a:t>An </a:t>
            </a:r>
            <a:r>
              <a:rPr lang="en-GB" sz="2200" dirty="0"/>
              <a:t>efficient way to share large amounts of data.</a:t>
            </a:r>
          </a:p>
          <a:p>
            <a:pPr lvl="1" algn="just"/>
            <a:r>
              <a:rPr lang="en-GB" sz="2200" dirty="0"/>
              <a:t>The sub-systems need not be concerned with how data is produced and the centralized management e.g. backup, security, etc.</a:t>
            </a:r>
          </a:p>
          <a:p>
            <a:pPr marL="274320" lvl="1" indent="0" algn="just">
              <a:buNone/>
            </a:pPr>
            <a:endParaRPr lang="en-US" sz="2200" dirty="0"/>
          </a:p>
          <a:p>
            <a:pPr algn="just"/>
            <a:r>
              <a:rPr lang="en-US" sz="2200" b="1" dirty="0"/>
              <a:t>Disadvantages</a:t>
            </a:r>
          </a:p>
          <a:p>
            <a:pPr lvl="1" algn="just"/>
            <a:r>
              <a:rPr lang="en-US" sz="2200" dirty="0"/>
              <a:t>The repository is a single point of failure so problems in the repository affect the whole system.</a:t>
            </a:r>
            <a:endParaRPr lang="en-US" dirty="0"/>
          </a:p>
          <a:p>
            <a:pPr algn="just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B4A50-58E4-4669-9845-8604BF509EA7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94F62-261D-41E3-AFE9-33C776C34939}" type="datetime1">
              <a:rPr lang="en-US" smtClean="0"/>
              <a:t>10/9/2025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7644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2679</TotalTime>
  <Words>1417</Words>
  <Application>Microsoft Office PowerPoint</Application>
  <PresentationFormat>On-screen Show (4:3)</PresentationFormat>
  <Paragraphs>234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Times New Roman</vt:lpstr>
      <vt:lpstr>Clarity</vt:lpstr>
      <vt:lpstr>     CSSE3113 – Introduction to Software Engineering  </vt:lpstr>
      <vt:lpstr>Software Architecture</vt:lpstr>
      <vt:lpstr>Architectural Design</vt:lpstr>
      <vt:lpstr>Architectural Design</vt:lpstr>
      <vt:lpstr>Architectural Design</vt:lpstr>
      <vt:lpstr> Architectural Design Process </vt:lpstr>
      <vt:lpstr>Block Diagrams</vt:lpstr>
      <vt:lpstr>Block diagram of a packing robot control system</vt:lpstr>
      <vt:lpstr>Architectural Styles</vt:lpstr>
      <vt:lpstr>Pipe and Filters Architecture</vt:lpstr>
      <vt:lpstr>Pipe and Filter Architecture</vt:lpstr>
      <vt:lpstr>Pipe and Filters Architecture - Example</vt:lpstr>
      <vt:lpstr>Pipe and Filters Architecture</vt:lpstr>
      <vt:lpstr>Client/Server Model</vt:lpstr>
      <vt:lpstr> Client/Server Model </vt:lpstr>
      <vt:lpstr>Client/Server Model</vt:lpstr>
      <vt:lpstr>Client/Server Model</vt:lpstr>
      <vt:lpstr>Client/Server Model</vt:lpstr>
      <vt:lpstr>A Client–Server Architecture for a Film Library </vt:lpstr>
      <vt:lpstr>Client/Server Model</vt:lpstr>
      <vt:lpstr>Layered Architecture</vt:lpstr>
      <vt:lpstr>Layered Architecture</vt:lpstr>
      <vt:lpstr>Advantages</vt:lpstr>
      <vt:lpstr>Advantages</vt:lpstr>
      <vt:lpstr>Disadvantages</vt:lpstr>
      <vt:lpstr>Layered Architecture</vt:lpstr>
      <vt:lpstr>Model View Controller</vt:lpstr>
      <vt:lpstr>Model View Controller</vt:lpstr>
      <vt:lpstr>Example:</vt:lpstr>
      <vt:lpstr>Advantages and Disadvantages</vt:lpstr>
      <vt:lpstr>Data-Centered or Repository Architecture</vt:lpstr>
      <vt:lpstr>Data-Centered or Repository Architecture</vt:lpstr>
      <vt:lpstr>A Repository Architecture for an IDE </vt:lpstr>
      <vt:lpstr>Data-Centered or Repository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DESIGN</dc:title>
  <dc:creator>user</dc:creator>
  <cp:lastModifiedBy>Junaid .</cp:lastModifiedBy>
  <cp:revision>275</cp:revision>
  <cp:lastPrinted>2018-12-19T10:27:16Z</cp:lastPrinted>
  <dcterms:created xsi:type="dcterms:W3CDTF">2014-11-17T09:10:41Z</dcterms:created>
  <dcterms:modified xsi:type="dcterms:W3CDTF">2025-10-10T05:02:34Z</dcterms:modified>
</cp:coreProperties>
</file>