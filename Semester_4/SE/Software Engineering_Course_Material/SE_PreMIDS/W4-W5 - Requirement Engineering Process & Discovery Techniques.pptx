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df" ContentType="application/pd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46"/>
  </p:notesMasterIdLst>
  <p:handoutMasterIdLst>
    <p:handoutMasterId r:id="rId47"/>
  </p:handoutMasterIdLst>
  <p:sldIdLst>
    <p:sldId id="295" r:id="rId2"/>
    <p:sldId id="371" r:id="rId3"/>
    <p:sldId id="372" r:id="rId4"/>
    <p:sldId id="374" r:id="rId5"/>
    <p:sldId id="377" r:id="rId6"/>
    <p:sldId id="379" r:id="rId7"/>
    <p:sldId id="403" r:id="rId8"/>
    <p:sldId id="378" r:id="rId9"/>
    <p:sldId id="381" r:id="rId10"/>
    <p:sldId id="382" r:id="rId11"/>
    <p:sldId id="383" r:id="rId12"/>
    <p:sldId id="406" r:id="rId13"/>
    <p:sldId id="407" r:id="rId14"/>
    <p:sldId id="389" r:id="rId15"/>
    <p:sldId id="405" r:id="rId16"/>
    <p:sldId id="390" r:id="rId17"/>
    <p:sldId id="391" r:id="rId18"/>
    <p:sldId id="392" r:id="rId19"/>
    <p:sldId id="393" r:id="rId20"/>
    <p:sldId id="394" r:id="rId21"/>
    <p:sldId id="411" r:id="rId22"/>
    <p:sldId id="427" r:id="rId23"/>
    <p:sldId id="404" r:id="rId24"/>
    <p:sldId id="384" r:id="rId25"/>
    <p:sldId id="385" r:id="rId26"/>
    <p:sldId id="386" r:id="rId27"/>
    <p:sldId id="412" r:id="rId28"/>
    <p:sldId id="413" r:id="rId29"/>
    <p:sldId id="428" r:id="rId30"/>
    <p:sldId id="414" r:id="rId31"/>
    <p:sldId id="443" r:id="rId32"/>
    <p:sldId id="446" r:id="rId33"/>
    <p:sldId id="416" r:id="rId34"/>
    <p:sldId id="417" r:id="rId35"/>
    <p:sldId id="418" r:id="rId36"/>
    <p:sldId id="419" r:id="rId37"/>
    <p:sldId id="420" r:id="rId38"/>
    <p:sldId id="421" r:id="rId39"/>
    <p:sldId id="422" r:id="rId40"/>
    <p:sldId id="423" r:id="rId41"/>
    <p:sldId id="424" r:id="rId42"/>
    <p:sldId id="426" r:id="rId43"/>
    <p:sldId id="429" r:id="rId44"/>
    <p:sldId id="370" r:id="rId4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p:cViewPr varScale="1">
        <p:scale>
          <a:sx n="56" d="100"/>
          <a:sy n="56" d="100"/>
        </p:scale>
        <p:origin x="1516"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18413AC2-84B2-43FF-94BB-EB11EFEB6E93}" type="datetimeFigureOut">
              <a:rPr lang="en-US" smtClean="0"/>
              <a:t>3/29/2026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0EE5FA1F-BE4C-4B8A-B516-4391A4FD23F3}" type="slidenum">
              <a:rPr lang="en-US" smtClean="0"/>
              <a:t>‹#›</a:t>
            </a:fld>
            <a:endParaRPr lang="en-US"/>
          </a:p>
        </p:txBody>
      </p:sp>
    </p:spTree>
    <p:extLst>
      <p:ext uri="{BB962C8B-B14F-4D97-AF65-F5344CB8AC3E}">
        <p14:creationId xmlns:p14="http://schemas.microsoft.com/office/powerpoint/2010/main" val="22065731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78CA847-4A74-4ED8-B970-DB5660C561A5}" type="datetimeFigureOut">
              <a:rPr lang="en-US" smtClean="0"/>
              <a:pPr/>
              <a:t>3/29/2026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0545D3B6-AD8D-42AC-8CAA-0DAD72297694}" type="slidenum">
              <a:rPr lang="en-US" smtClean="0"/>
              <a:pPr/>
              <a:t>‹#›</a:t>
            </a:fld>
            <a:endParaRPr lang="en-US" dirty="0"/>
          </a:p>
        </p:txBody>
      </p:sp>
    </p:spTree>
    <p:extLst>
      <p:ext uri="{BB962C8B-B14F-4D97-AF65-F5344CB8AC3E}">
        <p14:creationId xmlns:p14="http://schemas.microsoft.com/office/powerpoint/2010/main" val="654395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5D3B6-AD8D-42AC-8CAA-0DAD72297694}" type="slidenum">
              <a:rPr lang="en-US" smtClean="0"/>
              <a:pPr/>
              <a:t>1</a:t>
            </a:fld>
            <a:endParaRPr lang="en-US" dirty="0"/>
          </a:p>
        </p:txBody>
      </p:sp>
    </p:spTree>
    <p:extLst>
      <p:ext uri="{BB962C8B-B14F-4D97-AF65-F5344CB8AC3E}">
        <p14:creationId xmlns:p14="http://schemas.microsoft.com/office/powerpoint/2010/main" val="224655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Semantic</a:t>
            </a:r>
            <a:r>
              <a:rPr lang="en-GB" baseline="0" dirty="0"/>
              <a:t>-&gt; meaning and interpretation of words</a:t>
            </a:r>
            <a:endParaRPr lang="" dirty="0"/>
          </a:p>
        </p:txBody>
      </p:sp>
      <p:sp>
        <p:nvSpPr>
          <p:cNvPr id="4" name="Slide Number Placeholder 3"/>
          <p:cNvSpPr>
            <a:spLocks noGrp="1"/>
          </p:cNvSpPr>
          <p:nvPr>
            <p:ph type="sldNum" sz="quarter" idx="10"/>
          </p:nvPr>
        </p:nvSpPr>
        <p:spPr/>
        <p:txBody>
          <a:bodyPr/>
          <a:lstStyle/>
          <a:p>
            <a:fld id="{0545D3B6-AD8D-42AC-8CAA-0DAD72297694}" type="slidenum">
              <a:rPr lang="en-US" smtClean="0"/>
              <a:pPr/>
              <a:t>36</a:t>
            </a:fld>
            <a:endParaRPr lang="en-US" dirty="0"/>
          </a:p>
        </p:txBody>
      </p:sp>
    </p:spTree>
    <p:extLst>
      <p:ext uri="{BB962C8B-B14F-4D97-AF65-F5344CB8AC3E}">
        <p14:creationId xmlns:p14="http://schemas.microsoft.com/office/powerpoint/2010/main" val="257029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1">
            <a:extLst>
              <a:ext uri="{FF2B5EF4-FFF2-40B4-BE49-F238E27FC236}">
                <a16:creationId xmlns:a16="http://schemas.microsoft.com/office/drawing/2014/main" id="{731A0CEF-3187-F48C-5568-DE4631EC44CE}"/>
              </a:ext>
            </a:extLst>
          </p:cNvPr>
          <p:cNvSpPr>
            <a:spLocks noGrp="1" noRot="1" noChangeAspect="1" noChangeArrowheads="1" noTextEdit="1"/>
          </p:cNvSpPr>
          <p:nvPr>
            <p:ph type="sldImg"/>
          </p:nvPr>
        </p:nvSpPr>
        <p:spPr>
          <a:ln/>
        </p:spPr>
      </p:sp>
      <p:sp>
        <p:nvSpPr>
          <p:cNvPr id="46083" name="Rectangle 2">
            <a:extLst>
              <a:ext uri="{FF2B5EF4-FFF2-40B4-BE49-F238E27FC236}">
                <a16:creationId xmlns:a16="http://schemas.microsoft.com/office/drawing/2014/main" id="{911F192F-9529-6E4F-2EBD-3A6B85114250}"/>
              </a:ext>
            </a:extLst>
          </p:cNvPr>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26BD37-4C25-4A7F-A326-40C8AFF5722B}" type="datetime1">
              <a:rPr lang="en-US" smtClean="0"/>
              <a:t>3/29/2026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91E117-A072-4856-A34D-86E7F1BF6669}" type="datetime1">
              <a:rPr lang="en-US" smtClean="0"/>
              <a:t>3/29/2026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12DC4A-FD06-4D84-A9C7-DC96657B41D1}" type="datetime1">
              <a:rPr lang="en-US" smtClean="0"/>
              <a:t>3/29/2026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5BE5EB-50F2-449B-99AA-BBED36F2C004}" type="datetime1">
              <a:rPr lang="en-US" smtClean="0"/>
              <a:t>3/29/2026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2B01C5-FB4F-49F2-91B9-4C89DAE069E1}" type="datetime1">
              <a:rPr lang="en-US" smtClean="0"/>
              <a:t>3/29/2026</a:t>
            </a:fld>
            <a:endParaRPr lang="en-US" dirty="0"/>
          </a:p>
        </p:txBody>
      </p:sp>
      <p:sp>
        <p:nvSpPr>
          <p:cNvPr id="8" name="Footer Placeholder 7"/>
          <p:cNvSpPr>
            <a:spLocks noGrp="1"/>
          </p:cNvSpPr>
          <p:nvPr>
            <p:ph type="ftr" sz="quarter" idx="11"/>
          </p:nvPr>
        </p:nvSpPr>
        <p:spPr/>
        <p:txBody>
          <a:bodyPr/>
          <a:lstStyle/>
          <a:p>
            <a:r>
              <a:rPr lang="en-US"/>
              <a:t>CSC291 - Software Engineering Concepts</a:t>
            </a:r>
            <a:endParaRPr lang="en-US" dirty="0"/>
          </a:p>
        </p:txBody>
      </p:sp>
      <p:sp>
        <p:nvSpPr>
          <p:cNvPr id="9" name="Slide Number Placeholder 8"/>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E29D95-63DA-4A86-9840-B31C6E4ED522}" type="datetime1">
              <a:rPr lang="en-US" smtClean="0"/>
              <a:t>3/29/2026</a:t>
            </a:fld>
            <a:endParaRPr lang="en-US" dirty="0"/>
          </a:p>
        </p:txBody>
      </p:sp>
      <p:sp>
        <p:nvSpPr>
          <p:cNvPr id="4" name="Footer Placeholder 3"/>
          <p:cNvSpPr>
            <a:spLocks noGrp="1"/>
          </p:cNvSpPr>
          <p:nvPr>
            <p:ph type="ftr" sz="quarter" idx="11"/>
          </p:nvPr>
        </p:nvSpPr>
        <p:spPr/>
        <p:txBody>
          <a:bodyPr/>
          <a:lstStyle/>
          <a:p>
            <a:r>
              <a:rPr lang="en-US"/>
              <a:t>CSC291 - Software Engineering Concepts</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5F4AB-8CF9-4ABF-B61C-23AB2A7505DE}" type="datetime1">
              <a:rPr lang="en-US" smtClean="0"/>
              <a:t>3/29/2026</a:t>
            </a:fld>
            <a:endParaRPr lang="en-US" dirty="0"/>
          </a:p>
        </p:txBody>
      </p:sp>
      <p:sp>
        <p:nvSpPr>
          <p:cNvPr id="3" name="Footer Placeholder 2"/>
          <p:cNvSpPr>
            <a:spLocks noGrp="1"/>
          </p:cNvSpPr>
          <p:nvPr>
            <p:ph type="ftr" sz="quarter" idx="11"/>
          </p:nvPr>
        </p:nvSpPr>
        <p:spPr/>
        <p:txBody>
          <a:bodyPr/>
          <a:lstStyle/>
          <a:p>
            <a:r>
              <a:rPr lang="en-US"/>
              <a:t>CSC291 - Software Engineering Concepts</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F981F4-FBBD-4A91-B74A-446B3E243621}" type="datetime1">
              <a:rPr lang="en-US" smtClean="0"/>
              <a:t>3/29/2026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34D915-5338-4A5C-83C2-E57194B4D010}" type="datetime1">
              <a:rPr lang="en-US" smtClean="0"/>
              <a:t>3/29/2026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17F41B-7DCD-4817-B735-972BB7CED403}" type="datetime1">
              <a:rPr lang="en-US" smtClean="0"/>
              <a:t>3/29/2026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7E3F75-42DF-4DC6-9D70-7C294066CF00}" type="datetime1">
              <a:rPr lang="en-US" smtClean="0"/>
              <a:t>3/29/2026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E5D9DF2-C8D8-4044-BC34-D0FCC003D98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A3D78266-463A-ABD7-FEEE-9000BAD4FB9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8E177A6F-CCEB-11D6-AFC1-567EF8A8B888}"/>
              </a:ext>
            </a:extLst>
          </p:cNvPr>
          <p:cNvSpPr>
            <a:spLocks noGrp="1" noChangeArrowheads="1"/>
          </p:cNvSpPr>
          <p:nvPr>
            <p:ph type="sldNum" sz="quarter" idx="12"/>
          </p:nvPr>
        </p:nvSpPr>
        <p:spPr>
          <a:ln/>
        </p:spPr>
        <p:txBody>
          <a:bodyPr/>
          <a:lstStyle>
            <a:lvl1pPr>
              <a:defRPr/>
            </a:lvl1pPr>
          </a:lstStyle>
          <a:p>
            <a:pPr>
              <a:defRPr/>
            </a:pPr>
            <a:fld id="{51150108-3F93-4516-B3C6-532E19DC2515}" type="slidenum">
              <a:rPr lang="en-US" altLang="en-US"/>
              <a:pPr>
                <a:defRPr/>
              </a:pPr>
              <a:t>‹#›</a:t>
            </a:fld>
            <a:endParaRPr lang="en-US" altLang="en-US"/>
          </a:p>
        </p:txBody>
      </p:sp>
    </p:spTree>
    <p:extLst>
      <p:ext uri="{BB962C8B-B14F-4D97-AF65-F5344CB8AC3E}">
        <p14:creationId xmlns:p14="http://schemas.microsoft.com/office/powerpoint/2010/main" val="169119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77CDF48C-D576-4C0B-B672-61200B0A591C}" type="datetime1">
              <a:rPr lang="en-US" smtClean="0"/>
              <a:t>3/29/2026</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CSC291 - Software Engineering Concepts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A68DB68-8052-4758-A647-54338E95D8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d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type="subTitle" idx="1"/>
          </p:nvPr>
        </p:nvSpPr>
        <p:spPr>
          <a:xfrm>
            <a:off x="990600" y="3581400"/>
            <a:ext cx="7543800" cy="1905000"/>
          </a:xfrm>
        </p:spPr>
        <p:txBody>
          <a:bodyPr>
            <a:normAutofit/>
          </a:bodyPr>
          <a:lstStyle/>
          <a:p>
            <a:pPr marL="63500" algn="ctr" eaLnBrk="1" hangingPunct="1"/>
            <a:endParaRPr lang="en-US" sz="2000" dirty="0">
              <a:solidFill>
                <a:schemeClr val="tx1"/>
              </a:solidFill>
              <a:latin typeface="+mj-lt"/>
              <a:cs typeface="Times New Roman" pitchFamily="18" charset="0"/>
            </a:endParaRPr>
          </a:p>
          <a:p>
            <a:pPr marL="63500" algn="ctr" eaLnBrk="1" hangingPunct="1"/>
            <a:r>
              <a:rPr lang="en-US" sz="2800" b="1" dirty="0">
                <a:solidFill>
                  <a:schemeClr val="tx1"/>
                </a:solidFill>
                <a:latin typeface="+mj-lt"/>
                <a:cs typeface="Times New Roman" pitchFamily="18" charset="0"/>
              </a:rPr>
              <a:t>Requirements Engineering Process &amp; Discovery Techniques</a:t>
            </a:r>
          </a:p>
          <a:p>
            <a:pPr marL="63500" algn="ctr" eaLnBrk="1" hangingPunct="1"/>
            <a:endParaRPr lang="en-US" dirty="0">
              <a:latin typeface="Times New Roman" pitchFamily="18" charset="0"/>
              <a:cs typeface="Times New Roman" pitchFamily="18" charset="0"/>
            </a:endParaRPr>
          </a:p>
        </p:txBody>
      </p:sp>
      <p:sp>
        <p:nvSpPr>
          <p:cNvPr id="2" name="Title 1"/>
          <p:cNvSpPr>
            <a:spLocks noGrp="1"/>
          </p:cNvSpPr>
          <p:nvPr>
            <p:ph type="ctrTitle"/>
          </p:nvPr>
        </p:nvSpPr>
        <p:spPr>
          <a:xfrm>
            <a:off x="0" y="1371600"/>
            <a:ext cx="9067800" cy="1927225"/>
          </a:xfrm>
        </p:spPr>
        <p:txBody>
          <a:bodyPr/>
          <a:lstStyle/>
          <a:p>
            <a:pPr algn="ct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r>
              <a:rPr lang="en-US" sz="3200" dirty="0">
                <a:solidFill>
                  <a:srgbClr val="C00000"/>
                </a:solidFill>
                <a:cs typeface="Times New Roman" pitchFamily="18" charset="0"/>
              </a:rPr>
              <a:t>CSSE3113 – </a:t>
            </a:r>
            <a:r>
              <a:rPr lang="en-US" sz="3200" cap="none" dirty="0">
                <a:solidFill>
                  <a:srgbClr val="C00000"/>
                </a:solidFill>
                <a:cs typeface="Times New Roman" pitchFamily="18" charset="0"/>
              </a:rPr>
              <a:t>Introduction to Software Engineering </a:t>
            </a:r>
            <a:br>
              <a:rPr lang="en-US" sz="3200" dirty="0">
                <a:solidFill>
                  <a:srgbClr val="C00000"/>
                </a:solidFill>
                <a:cs typeface="Times New Roman" pitchFamily="18" charset="0"/>
              </a:rPr>
            </a:b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Engineering Process</a:t>
            </a:r>
            <a:endParaRPr lang="en-US" dirty="0"/>
          </a:p>
        </p:txBody>
      </p:sp>
      <p:sp>
        <p:nvSpPr>
          <p:cNvPr id="3" name="Content Placeholder 2"/>
          <p:cNvSpPr>
            <a:spLocks noGrp="1"/>
          </p:cNvSpPr>
          <p:nvPr>
            <p:ph idx="1"/>
          </p:nvPr>
        </p:nvSpPr>
        <p:spPr/>
        <p:txBody>
          <a:bodyPr>
            <a:normAutofit/>
          </a:bodyPr>
          <a:lstStyle/>
          <a:p>
            <a:pPr algn="just">
              <a:lnSpc>
                <a:spcPct val="90000"/>
              </a:lnSpc>
              <a:buNone/>
              <a:defRPr/>
            </a:pPr>
            <a:r>
              <a:rPr lang="en-GB" dirty="0"/>
              <a:t>Goal of  RE Process </a:t>
            </a:r>
            <a:r>
              <a:rPr lang="en-GB" dirty="0">
                <a:sym typeface="Wingdings" pitchFamily="2" charset="2"/>
              </a:rPr>
              <a:t> to create and maintain a system requirement document</a:t>
            </a:r>
          </a:p>
          <a:p>
            <a:pPr algn="just">
              <a:lnSpc>
                <a:spcPct val="90000"/>
              </a:lnSpc>
              <a:buNone/>
              <a:defRPr/>
            </a:pPr>
            <a:endParaRPr lang="en-GB" dirty="0">
              <a:sym typeface="Wingdings" pitchFamily="2" charset="2"/>
            </a:endParaRPr>
          </a:p>
          <a:p>
            <a:pPr algn="just">
              <a:lnSpc>
                <a:spcPct val="90000"/>
              </a:lnSpc>
              <a:defRPr/>
            </a:pPr>
            <a:r>
              <a:rPr lang="en-GB" dirty="0">
                <a:sym typeface="Wingdings" pitchFamily="2" charset="2"/>
              </a:rPr>
              <a:t>RE processes may Include  four high level activities</a:t>
            </a:r>
            <a:endParaRPr lang="en-GB" b="1" dirty="0">
              <a:sym typeface="Wingdings" pitchFamily="2" charset="2"/>
            </a:endParaRPr>
          </a:p>
          <a:p>
            <a:pPr marL="0" indent="0" algn="just">
              <a:lnSpc>
                <a:spcPct val="90000"/>
              </a:lnSpc>
              <a:buNone/>
              <a:defRPr/>
            </a:pPr>
            <a:endParaRPr lang="en-GB" dirty="0">
              <a:sym typeface="Wingdings" pitchFamily="2" charset="2"/>
            </a:endParaRPr>
          </a:p>
          <a:p>
            <a:pPr marL="623887" indent="-514350" algn="just">
              <a:lnSpc>
                <a:spcPct val="90000"/>
              </a:lnSpc>
              <a:buFont typeface="Wingdings" pitchFamily="2" charset="2"/>
              <a:buChar char="Ø"/>
              <a:defRPr/>
            </a:pPr>
            <a:r>
              <a:rPr lang="en-GB" dirty="0">
                <a:sym typeface="Wingdings" pitchFamily="2" charset="2"/>
              </a:rPr>
              <a:t>Assessing whether the system is useful to business and customer (Feasibility Study)</a:t>
            </a:r>
          </a:p>
          <a:p>
            <a:pPr marL="623887" indent="-514350" algn="just">
              <a:lnSpc>
                <a:spcPct val="90000"/>
              </a:lnSpc>
              <a:buFont typeface="Wingdings" pitchFamily="2" charset="2"/>
              <a:buChar char="Ø"/>
              <a:defRPr/>
            </a:pPr>
            <a:r>
              <a:rPr lang="en-GB" dirty="0">
                <a:sym typeface="Wingdings" pitchFamily="2" charset="2"/>
              </a:rPr>
              <a:t>Discovering requirements (elicitation and analysis)</a:t>
            </a:r>
          </a:p>
          <a:p>
            <a:pPr marL="623887" indent="-514350" algn="just">
              <a:lnSpc>
                <a:spcPct val="90000"/>
              </a:lnSpc>
              <a:buFont typeface="Wingdings" pitchFamily="2" charset="2"/>
              <a:buChar char="Ø"/>
              <a:defRPr/>
            </a:pPr>
            <a:r>
              <a:rPr lang="en-GB" dirty="0">
                <a:sym typeface="Wingdings" pitchFamily="2" charset="2"/>
              </a:rPr>
              <a:t>Converting theses requirements into some standard form (specification)</a:t>
            </a:r>
          </a:p>
          <a:p>
            <a:pPr marL="623887" indent="-514350" algn="just">
              <a:lnSpc>
                <a:spcPct val="90000"/>
              </a:lnSpc>
              <a:buFont typeface="Wingdings" pitchFamily="2" charset="2"/>
              <a:buChar char="Ø"/>
              <a:defRPr/>
            </a:pPr>
            <a:r>
              <a:rPr lang="en-GB" dirty="0">
                <a:sym typeface="Wingdings" pitchFamily="2" charset="2"/>
              </a:rPr>
              <a:t>Checking that the requirements actually define the system that the customer wants (validation)</a:t>
            </a:r>
          </a:p>
        </p:txBody>
      </p:sp>
      <p:sp>
        <p:nvSpPr>
          <p:cNvPr id="4" name="Date Placeholder 3"/>
          <p:cNvSpPr>
            <a:spLocks noGrp="1"/>
          </p:cNvSpPr>
          <p:nvPr>
            <p:ph type="dt" sz="half" idx="10"/>
          </p:nvPr>
        </p:nvSpPr>
        <p:spPr/>
        <p:txBody>
          <a:bodyPr/>
          <a:lstStyle/>
          <a:p>
            <a:fld id="{15244D1C-534C-4C39-9DE3-155DA86C10C1}"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a:t>
            </a:fld>
            <a:endParaRPr lang="en-US" dirty="0"/>
          </a:p>
        </p:txBody>
      </p:sp>
    </p:spTree>
    <p:extLst>
      <p:ext uri="{BB962C8B-B14F-4D97-AF65-F5344CB8AC3E}">
        <p14:creationId xmlns:p14="http://schemas.microsoft.com/office/powerpoint/2010/main" val="32597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Engineering Process</a:t>
            </a:r>
            <a:endParaRPr lang="en-US" dirty="0"/>
          </a:p>
        </p:txBody>
      </p:sp>
      <p:sp>
        <p:nvSpPr>
          <p:cNvPr id="3" name="Content Placeholder 2"/>
          <p:cNvSpPr>
            <a:spLocks noGrp="1"/>
          </p:cNvSpPr>
          <p:nvPr>
            <p:ph idx="1"/>
          </p:nvPr>
        </p:nvSpPr>
        <p:spPr/>
        <p:txBody>
          <a:bodyPr/>
          <a:lstStyle/>
          <a:p>
            <a:pPr algn="just">
              <a:lnSpc>
                <a:spcPct val="90000"/>
              </a:lnSpc>
            </a:pPr>
            <a:endParaRPr lang="en-GB" sz="2200" dirty="0"/>
          </a:p>
          <a:p>
            <a:pPr algn="just">
              <a:lnSpc>
                <a:spcPct val="90000"/>
              </a:lnSpc>
            </a:pPr>
            <a:r>
              <a:rPr lang="en-GB" sz="2200" dirty="0"/>
              <a:t>The process used for RE vary widely depending on the </a:t>
            </a:r>
            <a:r>
              <a:rPr lang="en-GB" sz="2200" b="1" dirty="0"/>
              <a:t>application domain</a:t>
            </a:r>
            <a:r>
              <a:rPr lang="en-GB" sz="2200" dirty="0"/>
              <a:t>, the </a:t>
            </a:r>
            <a:r>
              <a:rPr lang="en-GB" sz="2200" b="1" dirty="0"/>
              <a:t>people </a:t>
            </a:r>
            <a:r>
              <a:rPr lang="en-GB" sz="2200" dirty="0"/>
              <a:t>involved and the </a:t>
            </a:r>
            <a:r>
              <a:rPr lang="en-GB" sz="2200" b="1" dirty="0"/>
              <a:t>organization </a:t>
            </a:r>
            <a:r>
              <a:rPr lang="en-GB" sz="2200" dirty="0"/>
              <a:t>developing the requirements.</a:t>
            </a:r>
          </a:p>
          <a:p>
            <a:pPr algn="just">
              <a:lnSpc>
                <a:spcPct val="90000"/>
              </a:lnSpc>
              <a:buNone/>
            </a:pPr>
            <a:endParaRPr lang="en-GB" sz="2200" dirty="0"/>
          </a:p>
          <a:p>
            <a:pPr algn="just">
              <a:lnSpc>
                <a:spcPct val="90000"/>
              </a:lnSpc>
            </a:pPr>
            <a:r>
              <a:rPr lang="en-GB" sz="2200" dirty="0"/>
              <a:t>However, there are a number of generic activities common to all processes.</a:t>
            </a:r>
          </a:p>
          <a:p>
            <a:pPr algn="just">
              <a:lnSpc>
                <a:spcPct val="90000"/>
              </a:lnSpc>
              <a:buNone/>
            </a:pPr>
            <a:endParaRPr lang="en-GB" sz="2200" dirty="0"/>
          </a:p>
          <a:p>
            <a:pPr lvl="1" algn="just">
              <a:lnSpc>
                <a:spcPct val="90000"/>
              </a:lnSpc>
            </a:pPr>
            <a:r>
              <a:rPr lang="en-GB" sz="2200" dirty="0"/>
              <a:t>Requirements Elicitation</a:t>
            </a:r>
          </a:p>
          <a:p>
            <a:pPr lvl="1" algn="just">
              <a:lnSpc>
                <a:spcPct val="90000"/>
              </a:lnSpc>
            </a:pPr>
            <a:r>
              <a:rPr lang="en-GB" sz="2200" dirty="0"/>
              <a:t>Requirements Analysis</a:t>
            </a:r>
          </a:p>
          <a:p>
            <a:pPr lvl="1" algn="just">
              <a:lnSpc>
                <a:spcPct val="90000"/>
              </a:lnSpc>
            </a:pPr>
            <a:r>
              <a:rPr lang="en-GB" sz="2200" dirty="0"/>
              <a:t>Requirements Validation</a:t>
            </a:r>
          </a:p>
          <a:p>
            <a:pPr lvl="1" algn="just">
              <a:lnSpc>
                <a:spcPct val="90000"/>
              </a:lnSpc>
            </a:pPr>
            <a:r>
              <a:rPr lang="en-GB" sz="2200" dirty="0"/>
              <a:t>Requirements Management</a:t>
            </a:r>
          </a:p>
          <a:p>
            <a:pPr algn="just"/>
            <a:endParaRPr lang="en-US" dirty="0"/>
          </a:p>
        </p:txBody>
      </p:sp>
      <p:sp>
        <p:nvSpPr>
          <p:cNvPr id="4" name="Date Placeholder 3"/>
          <p:cNvSpPr>
            <a:spLocks noGrp="1"/>
          </p:cNvSpPr>
          <p:nvPr>
            <p:ph type="dt" sz="half" idx="10"/>
          </p:nvPr>
        </p:nvSpPr>
        <p:spPr/>
        <p:txBody>
          <a:bodyPr/>
          <a:lstStyle/>
          <a:p>
            <a:fld id="{1CE8691A-53B0-417F-B611-DFFB5523FCCB}"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3</a:t>
            </a:fld>
            <a:endParaRPr lang="en-US" dirty="0"/>
          </a:p>
        </p:txBody>
      </p:sp>
    </p:spTree>
    <p:extLst>
      <p:ext uri="{BB962C8B-B14F-4D97-AF65-F5344CB8AC3E}">
        <p14:creationId xmlns:p14="http://schemas.microsoft.com/office/powerpoint/2010/main" val="38271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Feasibility Study</a:t>
            </a:r>
            <a:endParaRPr lang="en-US" dirty="0"/>
          </a:p>
        </p:txBody>
      </p:sp>
      <p:sp>
        <p:nvSpPr>
          <p:cNvPr id="3" name="Content Placeholder 2"/>
          <p:cNvSpPr>
            <a:spLocks noGrp="1"/>
          </p:cNvSpPr>
          <p:nvPr>
            <p:ph idx="1"/>
          </p:nvPr>
        </p:nvSpPr>
        <p:spPr/>
        <p:txBody>
          <a:bodyPr>
            <a:normAutofit lnSpcReduction="10000"/>
          </a:bodyPr>
          <a:lstStyle/>
          <a:p>
            <a:pPr algn="just"/>
            <a:r>
              <a:rPr lang="en-GB" sz="2200" dirty="0"/>
              <a:t>A feasibility study decides whether or not the proposed system is worth implementing.</a:t>
            </a:r>
          </a:p>
          <a:p>
            <a:pPr algn="just">
              <a:buNone/>
            </a:pPr>
            <a:endParaRPr lang="en-GB" sz="2200" dirty="0"/>
          </a:p>
          <a:p>
            <a:pPr algn="just"/>
            <a:r>
              <a:rPr lang="en-GB" sz="2200" dirty="0"/>
              <a:t>A feasibility study is short,  focused study that take place early in the RE Process</a:t>
            </a:r>
          </a:p>
          <a:p>
            <a:pPr lvl="1" algn="just"/>
            <a:r>
              <a:rPr lang="en-GB" sz="2200" dirty="0"/>
              <a:t>Does the system contributes to </a:t>
            </a:r>
            <a:r>
              <a:rPr lang="en-GB" sz="2200" b="1" dirty="0"/>
              <a:t>organizational objectives?</a:t>
            </a:r>
          </a:p>
          <a:p>
            <a:pPr lvl="1" algn="just"/>
            <a:r>
              <a:rPr lang="en-GB" sz="2200" dirty="0"/>
              <a:t>Can the system be implemented </a:t>
            </a:r>
            <a:r>
              <a:rPr lang="en-GB" sz="2200" b="1" dirty="0"/>
              <a:t>within schedule and budget using</a:t>
            </a:r>
            <a:r>
              <a:rPr lang="en-GB" sz="2200" dirty="0"/>
              <a:t> </a:t>
            </a:r>
            <a:r>
              <a:rPr lang="en-GB" sz="2200" b="1" dirty="0"/>
              <a:t>current technology?</a:t>
            </a:r>
          </a:p>
          <a:p>
            <a:pPr lvl="1" algn="just"/>
            <a:r>
              <a:rPr lang="en-GB" sz="2200" dirty="0"/>
              <a:t>Can the system can be </a:t>
            </a:r>
            <a:r>
              <a:rPr lang="en-GB" sz="2200" b="1" dirty="0"/>
              <a:t>integrated</a:t>
            </a:r>
            <a:r>
              <a:rPr lang="en-GB" sz="2200" dirty="0"/>
              <a:t> with other systems that are used?</a:t>
            </a:r>
          </a:p>
          <a:p>
            <a:pPr lvl="1" algn="just"/>
            <a:endParaRPr lang="en-GB" sz="2200" dirty="0"/>
          </a:p>
          <a:p>
            <a:pPr algn="just"/>
            <a:r>
              <a:rPr lang="en-GB" sz="2200" dirty="0"/>
              <a:t>If the answer to any of these questions is no, you should probably not go ahead with the project.</a:t>
            </a:r>
          </a:p>
        </p:txBody>
      </p:sp>
      <p:sp>
        <p:nvSpPr>
          <p:cNvPr id="4" name="Date Placeholder 3"/>
          <p:cNvSpPr>
            <a:spLocks noGrp="1"/>
          </p:cNvSpPr>
          <p:nvPr>
            <p:ph type="dt" sz="half" idx="10"/>
          </p:nvPr>
        </p:nvSpPr>
        <p:spPr/>
        <p:txBody>
          <a:bodyPr/>
          <a:lstStyle/>
          <a:p>
            <a:fld id="{813A828D-AC82-4B0E-AE0C-EFC8E03B8ADD}"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4</a:t>
            </a:fld>
            <a:endParaRPr lang="en-US" dirty="0"/>
          </a:p>
        </p:txBody>
      </p:sp>
    </p:spTree>
    <p:extLst>
      <p:ext uri="{BB962C8B-B14F-4D97-AF65-F5344CB8AC3E}">
        <p14:creationId xmlns:p14="http://schemas.microsoft.com/office/powerpoint/2010/main" val="2868817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 Elicitation and Analysis</a:t>
            </a:r>
            <a:endParaRPr lang="en-US" dirty="0"/>
          </a:p>
        </p:txBody>
      </p:sp>
      <p:sp>
        <p:nvSpPr>
          <p:cNvPr id="3" name="Content Placeholder 2"/>
          <p:cNvSpPr>
            <a:spLocks noGrp="1"/>
          </p:cNvSpPr>
          <p:nvPr>
            <p:ph idx="1"/>
          </p:nvPr>
        </p:nvSpPr>
        <p:spPr/>
        <p:txBody>
          <a:bodyPr/>
          <a:lstStyle/>
          <a:p>
            <a:pPr algn="just"/>
            <a:r>
              <a:rPr lang="en-GB" sz="2200" dirty="0"/>
              <a:t>Sometimes called requirement discovery.</a:t>
            </a:r>
          </a:p>
          <a:p>
            <a:pPr marL="0" indent="0" algn="just">
              <a:buNone/>
            </a:pPr>
            <a:endParaRPr lang="en-GB" sz="2200" dirty="0"/>
          </a:p>
          <a:p>
            <a:pPr algn="just"/>
            <a:r>
              <a:rPr lang="en-GB" sz="2200" dirty="0"/>
              <a:t>Involves technical staff (software engineers) working with customers to find out about the</a:t>
            </a:r>
          </a:p>
          <a:p>
            <a:pPr lvl="1" algn="just"/>
            <a:r>
              <a:rPr lang="en-GB" sz="2200" dirty="0"/>
              <a:t> application domain</a:t>
            </a:r>
          </a:p>
          <a:p>
            <a:pPr lvl="1" algn="just"/>
            <a:r>
              <a:rPr lang="en-GB" sz="2200" dirty="0"/>
              <a:t> the services that the system should provide and</a:t>
            </a:r>
          </a:p>
          <a:p>
            <a:pPr lvl="1" algn="just"/>
            <a:r>
              <a:rPr lang="en-GB" sz="2200" dirty="0"/>
              <a:t> the system’s operational constraints.</a:t>
            </a:r>
          </a:p>
          <a:p>
            <a:pPr lvl="1" algn="just">
              <a:buNone/>
            </a:pPr>
            <a:endParaRPr lang="en-GB" sz="2200" dirty="0"/>
          </a:p>
          <a:p>
            <a:pPr algn="just">
              <a:buNone/>
            </a:pPr>
            <a:r>
              <a:rPr lang="en-GB" sz="2200" dirty="0"/>
              <a:t>May involve a variety of people in an organization</a:t>
            </a:r>
          </a:p>
          <a:p>
            <a:pPr algn="just"/>
            <a:r>
              <a:rPr lang="en-GB" sz="2200" dirty="0"/>
              <a:t>End-users, managers, engineers involved in maintenance, domain experts etc. These are called </a:t>
            </a:r>
            <a:r>
              <a:rPr lang="en-GB" sz="2200" i="1" dirty="0"/>
              <a:t>stakeholders</a:t>
            </a:r>
          </a:p>
        </p:txBody>
      </p:sp>
      <p:sp>
        <p:nvSpPr>
          <p:cNvPr id="4" name="Date Placeholder 3"/>
          <p:cNvSpPr>
            <a:spLocks noGrp="1"/>
          </p:cNvSpPr>
          <p:nvPr>
            <p:ph type="dt" sz="half" idx="10"/>
          </p:nvPr>
        </p:nvSpPr>
        <p:spPr/>
        <p:txBody>
          <a:bodyPr/>
          <a:lstStyle/>
          <a:p>
            <a:fld id="{2E6DCEF1-0560-45B2-9C4D-86F28075A3B3}"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5</a:t>
            </a:fld>
            <a:endParaRPr lang="en-US" dirty="0"/>
          </a:p>
        </p:txBody>
      </p:sp>
    </p:spTree>
    <p:extLst>
      <p:ext uri="{BB962C8B-B14F-4D97-AF65-F5344CB8AC3E}">
        <p14:creationId xmlns:p14="http://schemas.microsoft.com/office/powerpoint/2010/main" val="2117466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 Elicitation and Analysis</a:t>
            </a:r>
            <a:endParaRPr lang="en-US" dirty="0"/>
          </a:p>
        </p:txBody>
      </p:sp>
      <p:sp>
        <p:nvSpPr>
          <p:cNvPr id="3" name="Content Placeholder 2"/>
          <p:cNvSpPr>
            <a:spLocks noGrp="1"/>
          </p:cNvSpPr>
          <p:nvPr>
            <p:ph idx="1"/>
          </p:nvPr>
        </p:nvSpPr>
        <p:spPr/>
        <p:txBody>
          <a:bodyPr>
            <a:normAutofit lnSpcReduction="10000"/>
          </a:bodyPr>
          <a:lstStyle/>
          <a:p>
            <a:pPr algn="just">
              <a:lnSpc>
                <a:spcPct val="90000"/>
              </a:lnSpc>
              <a:buNone/>
            </a:pPr>
            <a:r>
              <a:rPr lang="en-GB" b="1" dirty="0"/>
              <a:t>Process Activities</a:t>
            </a:r>
            <a:endParaRPr lang="en-GB" sz="2200" b="1" dirty="0"/>
          </a:p>
          <a:p>
            <a:pPr algn="just">
              <a:lnSpc>
                <a:spcPct val="90000"/>
              </a:lnSpc>
              <a:buFont typeface="Wingdings" pitchFamily="2" charset="2"/>
              <a:buChar char="Ø"/>
            </a:pPr>
            <a:r>
              <a:rPr lang="en-GB" sz="2200" dirty="0"/>
              <a:t>Requirements discovery</a:t>
            </a:r>
          </a:p>
          <a:p>
            <a:pPr lvl="1" algn="just">
              <a:lnSpc>
                <a:spcPct val="90000"/>
              </a:lnSpc>
            </a:pPr>
            <a:r>
              <a:rPr lang="en-GB" sz="2200" dirty="0"/>
              <a:t>Interacting with stakeholders to discover their requirements. Domain requirements are also discovered at this stage.</a:t>
            </a:r>
          </a:p>
          <a:p>
            <a:pPr lvl="1" algn="just">
              <a:lnSpc>
                <a:spcPct val="90000"/>
              </a:lnSpc>
              <a:buNone/>
            </a:pPr>
            <a:endParaRPr lang="en-GB" sz="2200" dirty="0"/>
          </a:p>
          <a:p>
            <a:pPr algn="just">
              <a:lnSpc>
                <a:spcPct val="90000"/>
              </a:lnSpc>
              <a:buFont typeface="Wingdings" pitchFamily="2" charset="2"/>
              <a:buChar char="Ø"/>
            </a:pPr>
            <a:r>
              <a:rPr lang="en-GB" sz="2200" dirty="0"/>
              <a:t>Requirements classification and organization</a:t>
            </a:r>
          </a:p>
          <a:p>
            <a:pPr lvl="1" algn="just">
              <a:lnSpc>
                <a:spcPct val="90000"/>
              </a:lnSpc>
            </a:pPr>
            <a:r>
              <a:rPr lang="en-GB" sz="2200" dirty="0"/>
              <a:t>Groups related requirements and organizes them into coherent clusters.</a:t>
            </a:r>
          </a:p>
          <a:p>
            <a:pPr lvl="1" algn="just">
              <a:lnSpc>
                <a:spcPct val="90000"/>
              </a:lnSpc>
              <a:buNone/>
            </a:pPr>
            <a:endParaRPr lang="en-GB" sz="2200" dirty="0"/>
          </a:p>
          <a:p>
            <a:pPr algn="just">
              <a:lnSpc>
                <a:spcPct val="90000"/>
              </a:lnSpc>
              <a:buFont typeface="Wingdings" pitchFamily="2" charset="2"/>
              <a:buChar char="Ø"/>
            </a:pPr>
            <a:r>
              <a:rPr lang="en-GB" sz="2200" dirty="0"/>
              <a:t>Prioritization and negotiation</a:t>
            </a:r>
          </a:p>
          <a:p>
            <a:pPr lvl="1" algn="just">
              <a:lnSpc>
                <a:spcPct val="90000"/>
              </a:lnSpc>
            </a:pPr>
            <a:r>
              <a:rPr lang="en-GB" sz="2200" dirty="0"/>
              <a:t>Prioritizing requirements and resolving requirements conflicts through negotiation.</a:t>
            </a:r>
          </a:p>
          <a:p>
            <a:pPr lvl="1" algn="just">
              <a:lnSpc>
                <a:spcPct val="90000"/>
              </a:lnSpc>
              <a:buNone/>
            </a:pPr>
            <a:endParaRPr lang="en-GB" sz="2200" dirty="0"/>
          </a:p>
          <a:p>
            <a:pPr algn="just">
              <a:lnSpc>
                <a:spcPct val="90000"/>
              </a:lnSpc>
              <a:buFont typeface="Wingdings" pitchFamily="2" charset="2"/>
              <a:buChar char="Ø"/>
            </a:pPr>
            <a:r>
              <a:rPr lang="en-GB" sz="2200" dirty="0"/>
              <a:t>Requirements documentation(Specification)</a:t>
            </a:r>
          </a:p>
          <a:p>
            <a:pPr lvl="1" algn="just">
              <a:lnSpc>
                <a:spcPct val="90000"/>
              </a:lnSpc>
            </a:pPr>
            <a:r>
              <a:rPr lang="en-GB" sz="2200" dirty="0"/>
              <a:t>Requirements are documented.</a:t>
            </a:r>
          </a:p>
          <a:p>
            <a:endParaRPr lang="en-US" dirty="0"/>
          </a:p>
        </p:txBody>
      </p:sp>
      <p:sp>
        <p:nvSpPr>
          <p:cNvPr id="4" name="Date Placeholder 3"/>
          <p:cNvSpPr>
            <a:spLocks noGrp="1"/>
          </p:cNvSpPr>
          <p:nvPr>
            <p:ph type="dt" sz="half" idx="10"/>
          </p:nvPr>
        </p:nvSpPr>
        <p:spPr/>
        <p:txBody>
          <a:bodyPr/>
          <a:lstStyle/>
          <a:p>
            <a:fld id="{02626977-0975-4DCF-A241-843173F39FDC}"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6</a:t>
            </a:fld>
            <a:endParaRPr lang="en-US" dirty="0"/>
          </a:p>
        </p:txBody>
      </p:sp>
    </p:spTree>
    <p:extLst>
      <p:ext uri="{BB962C8B-B14F-4D97-AF65-F5344CB8AC3E}">
        <p14:creationId xmlns:p14="http://schemas.microsoft.com/office/powerpoint/2010/main" val="2131233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dirty="0"/>
              <a:t>Requirements Elicitation and Analysis Process</a:t>
            </a:r>
            <a:endParaRPr lang="en-US" sz="3200" dirty="0"/>
          </a:p>
        </p:txBody>
      </p:sp>
      <p:sp>
        <p:nvSpPr>
          <p:cNvPr id="4" name="Date Placeholder 3"/>
          <p:cNvSpPr>
            <a:spLocks noGrp="1"/>
          </p:cNvSpPr>
          <p:nvPr>
            <p:ph type="dt" sz="half" idx="10"/>
          </p:nvPr>
        </p:nvSpPr>
        <p:spPr/>
        <p:txBody>
          <a:bodyPr/>
          <a:lstStyle/>
          <a:p>
            <a:fld id="{C2B6C5E9-CD10-45B5-9FF1-889CFC9BEB6A}"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7</a:t>
            </a:fld>
            <a:endParaRPr lang="en-US" dirty="0"/>
          </a:p>
        </p:txBody>
      </p:sp>
      <p:pic>
        <p:nvPicPr>
          <p:cNvPr id="7" name="Picture 6" descr="4.13 RequirementsElicitation.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676400" y="2133600"/>
            <a:ext cx="5562599" cy="3657600"/>
          </a:xfrm>
          <a:prstGeom prst="rect">
            <a:avLst/>
          </a:prstGeom>
        </p:spPr>
      </p:pic>
    </p:spTree>
    <p:extLst>
      <p:ext uri="{BB962C8B-B14F-4D97-AF65-F5344CB8AC3E}">
        <p14:creationId xmlns:p14="http://schemas.microsoft.com/office/powerpoint/2010/main" val="3728517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Problems of Requirements Analysis</a:t>
            </a:r>
            <a:endParaRPr lang="en-US" dirty="0"/>
          </a:p>
        </p:txBody>
      </p:sp>
      <p:sp>
        <p:nvSpPr>
          <p:cNvPr id="3" name="Content Placeholder 2"/>
          <p:cNvSpPr>
            <a:spLocks noGrp="1"/>
          </p:cNvSpPr>
          <p:nvPr>
            <p:ph idx="1"/>
          </p:nvPr>
        </p:nvSpPr>
        <p:spPr/>
        <p:txBody>
          <a:bodyPr/>
          <a:lstStyle/>
          <a:p>
            <a:pPr algn="just">
              <a:buNone/>
            </a:pPr>
            <a:r>
              <a:rPr lang="en-GB" dirty="0"/>
              <a:t>Understanding stakeholder requirements is difficult for several reasons</a:t>
            </a:r>
          </a:p>
          <a:p>
            <a:pPr algn="just">
              <a:buNone/>
            </a:pPr>
            <a:endParaRPr lang="en-GB" dirty="0"/>
          </a:p>
          <a:p>
            <a:pPr algn="just"/>
            <a:r>
              <a:rPr lang="en-GB" dirty="0"/>
              <a:t>Stakeholders don’t know what they really want.</a:t>
            </a:r>
          </a:p>
          <a:p>
            <a:pPr algn="just"/>
            <a:r>
              <a:rPr lang="en-GB" dirty="0"/>
              <a:t>Stakeholders express requirements in their own terms.</a:t>
            </a:r>
          </a:p>
          <a:p>
            <a:pPr algn="just"/>
            <a:r>
              <a:rPr lang="en-GB" dirty="0"/>
              <a:t>Different stakeholders may have conflicting requirements.</a:t>
            </a:r>
          </a:p>
          <a:p>
            <a:pPr algn="just"/>
            <a:r>
              <a:rPr lang="en-GB" dirty="0"/>
              <a:t>Organizational and political factors may influence the system requirements.</a:t>
            </a:r>
          </a:p>
          <a:p>
            <a:pPr algn="just"/>
            <a:r>
              <a:rPr lang="en-GB" dirty="0"/>
              <a:t>The requirements change during the analysis process. New stakeholders may emerge and the business environment change.</a:t>
            </a:r>
          </a:p>
        </p:txBody>
      </p:sp>
      <p:sp>
        <p:nvSpPr>
          <p:cNvPr id="4" name="Date Placeholder 3"/>
          <p:cNvSpPr>
            <a:spLocks noGrp="1"/>
          </p:cNvSpPr>
          <p:nvPr>
            <p:ph type="dt" sz="half" idx="10"/>
          </p:nvPr>
        </p:nvSpPr>
        <p:spPr/>
        <p:txBody>
          <a:bodyPr/>
          <a:lstStyle/>
          <a:p>
            <a:fld id="{A28C3191-D41D-4E6C-8FF1-C54FC26C7C0B}"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8</a:t>
            </a:fld>
            <a:endParaRPr lang="en-US" dirty="0"/>
          </a:p>
        </p:txBody>
      </p:sp>
    </p:spTree>
    <p:extLst>
      <p:ext uri="{BB962C8B-B14F-4D97-AF65-F5344CB8AC3E}">
        <p14:creationId xmlns:p14="http://schemas.microsoft.com/office/powerpoint/2010/main" val="3529256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Discovery</a:t>
            </a:r>
          </a:p>
        </p:txBody>
      </p:sp>
      <p:sp>
        <p:nvSpPr>
          <p:cNvPr id="3" name="Content Placeholder 2"/>
          <p:cNvSpPr>
            <a:spLocks noGrp="1"/>
          </p:cNvSpPr>
          <p:nvPr>
            <p:ph idx="1"/>
          </p:nvPr>
        </p:nvSpPr>
        <p:spPr/>
        <p:txBody>
          <a:bodyPr/>
          <a:lstStyle/>
          <a:p>
            <a:pPr algn="just"/>
            <a:endParaRPr lang="en-US" dirty="0"/>
          </a:p>
          <a:p>
            <a:pPr algn="just"/>
            <a:r>
              <a:rPr lang="en-US" dirty="0"/>
              <a:t>The process of gathering information about the proposed and existing systems  </a:t>
            </a:r>
          </a:p>
          <a:p>
            <a:pPr algn="just"/>
            <a:endParaRPr lang="en-US" dirty="0"/>
          </a:p>
          <a:p>
            <a:pPr algn="just"/>
            <a:r>
              <a:rPr lang="en-US" dirty="0"/>
              <a:t>Refining the user and system requirements from this information.</a:t>
            </a:r>
          </a:p>
          <a:p>
            <a:pPr algn="just">
              <a:buNone/>
            </a:pPr>
            <a:endParaRPr lang="en-US" dirty="0"/>
          </a:p>
          <a:p>
            <a:pPr algn="just"/>
            <a:r>
              <a:rPr lang="en-US" dirty="0"/>
              <a:t>Sources of information include system stakeholders and the specifications of similar systems.</a:t>
            </a:r>
          </a:p>
          <a:p>
            <a:pPr algn="just"/>
            <a:endParaRPr lang="en-US" dirty="0"/>
          </a:p>
        </p:txBody>
      </p:sp>
      <p:sp>
        <p:nvSpPr>
          <p:cNvPr id="4" name="Date Placeholder 3"/>
          <p:cNvSpPr>
            <a:spLocks noGrp="1"/>
          </p:cNvSpPr>
          <p:nvPr>
            <p:ph type="dt" sz="half" idx="10"/>
          </p:nvPr>
        </p:nvSpPr>
        <p:spPr/>
        <p:txBody>
          <a:bodyPr/>
          <a:lstStyle/>
          <a:p>
            <a:fld id="{7CE73BBC-0AC7-4341-B20B-1CB365F5D5E2}"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9</a:t>
            </a:fld>
            <a:endParaRPr lang="en-US" dirty="0"/>
          </a:p>
        </p:txBody>
      </p:sp>
    </p:spTree>
    <p:extLst>
      <p:ext uri="{BB962C8B-B14F-4D97-AF65-F5344CB8AC3E}">
        <p14:creationId xmlns:p14="http://schemas.microsoft.com/office/powerpoint/2010/main" val="4270219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Techniques of Requirement Discovery</a:t>
            </a:r>
          </a:p>
        </p:txBody>
      </p:sp>
      <p:sp>
        <p:nvSpPr>
          <p:cNvPr id="3" name="Content Placeholder 2"/>
          <p:cNvSpPr>
            <a:spLocks noGrp="1"/>
          </p:cNvSpPr>
          <p:nvPr>
            <p:ph idx="1"/>
          </p:nvPr>
        </p:nvSpPr>
        <p:spPr/>
        <p:txBody>
          <a:bodyPr/>
          <a:lstStyle/>
          <a:p>
            <a:pPr algn="just">
              <a:lnSpc>
                <a:spcPct val="90000"/>
              </a:lnSpc>
              <a:buNone/>
            </a:pPr>
            <a:r>
              <a:rPr lang="en-US" b="1" dirty="0"/>
              <a:t>Interview:</a:t>
            </a:r>
          </a:p>
          <a:p>
            <a:pPr algn="just">
              <a:lnSpc>
                <a:spcPct val="90000"/>
              </a:lnSpc>
            </a:pPr>
            <a:r>
              <a:rPr lang="en-US" sz="2200" dirty="0"/>
              <a:t>Formal or informal interview with the system stakeholders</a:t>
            </a:r>
          </a:p>
          <a:p>
            <a:pPr algn="just">
              <a:lnSpc>
                <a:spcPct val="90000"/>
              </a:lnSpc>
            </a:pPr>
            <a:r>
              <a:rPr lang="en-US" sz="2200" dirty="0"/>
              <a:t>In this, the RE team puts questions to stakeholders about the system that they currently use and the system to be developed.</a:t>
            </a:r>
          </a:p>
          <a:p>
            <a:pPr algn="just">
              <a:lnSpc>
                <a:spcPct val="90000"/>
              </a:lnSpc>
              <a:buNone/>
            </a:pPr>
            <a:endParaRPr lang="en-US" sz="2200" dirty="0"/>
          </a:p>
          <a:p>
            <a:pPr algn="just">
              <a:lnSpc>
                <a:spcPct val="90000"/>
              </a:lnSpc>
            </a:pPr>
            <a:r>
              <a:rPr lang="en-US" sz="2200" dirty="0"/>
              <a:t>There are two types of interview</a:t>
            </a:r>
          </a:p>
          <a:p>
            <a:pPr lvl="1" algn="just">
              <a:lnSpc>
                <a:spcPct val="90000"/>
              </a:lnSpc>
            </a:pPr>
            <a:r>
              <a:rPr lang="en-US" sz="2200" b="1" dirty="0"/>
              <a:t>Closed interviews: </a:t>
            </a:r>
            <a:r>
              <a:rPr lang="en-US" sz="2200" dirty="0"/>
              <a:t>where the stakeholders answers a pre-defined set of questions.</a:t>
            </a:r>
          </a:p>
          <a:p>
            <a:pPr lvl="1" algn="just">
              <a:lnSpc>
                <a:spcPct val="90000"/>
              </a:lnSpc>
            </a:pPr>
            <a:endParaRPr lang="en-US" sz="2200" dirty="0"/>
          </a:p>
          <a:p>
            <a:pPr lvl="1" algn="just">
              <a:lnSpc>
                <a:spcPct val="90000"/>
              </a:lnSpc>
            </a:pPr>
            <a:r>
              <a:rPr lang="en-US" sz="2200" b="1" dirty="0"/>
              <a:t>Open interviews: </a:t>
            </a:r>
            <a:r>
              <a:rPr lang="en-US" sz="2200" dirty="0"/>
              <a:t>in which there is no pre-defined agenda and a range of issues are explored with stakeholders.</a:t>
            </a:r>
          </a:p>
          <a:p>
            <a:pPr algn="just"/>
            <a:endParaRPr lang="en-US" dirty="0"/>
          </a:p>
        </p:txBody>
      </p:sp>
      <p:sp>
        <p:nvSpPr>
          <p:cNvPr id="4" name="Date Placeholder 3"/>
          <p:cNvSpPr>
            <a:spLocks noGrp="1"/>
          </p:cNvSpPr>
          <p:nvPr>
            <p:ph type="dt" sz="half" idx="10"/>
          </p:nvPr>
        </p:nvSpPr>
        <p:spPr/>
        <p:txBody>
          <a:bodyPr/>
          <a:lstStyle/>
          <a:p>
            <a:fld id="{5C1CBDEB-9020-4E3E-B377-C84720940D60}"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10</a:t>
            </a:fld>
            <a:endParaRPr lang="en-US" dirty="0"/>
          </a:p>
        </p:txBody>
      </p:sp>
    </p:spTree>
    <p:extLst>
      <p:ext uri="{BB962C8B-B14F-4D97-AF65-F5344CB8AC3E}">
        <p14:creationId xmlns:p14="http://schemas.microsoft.com/office/powerpoint/2010/main" val="2777319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Interviewers</a:t>
            </a:r>
          </a:p>
        </p:txBody>
      </p:sp>
      <p:sp>
        <p:nvSpPr>
          <p:cNvPr id="3" name="Content Placeholder 2"/>
          <p:cNvSpPr>
            <a:spLocks noGrp="1"/>
          </p:cNvSpPr>
          <p:nvPr>
            <p:ph idx="1"/>
          </p:nvPr>
        </p:nvSpPr>
        <p:spPr/>
        <p:txBody>
          <a:bodyPr>
            <a:normAutofit/>
          </a:bodyPr>
          <a:lstStyle/>
          <a:p>
            <a:pPr algn="just">
              <a:lnSpc>
                <a:spcPct val="150000"/>
              </a:lnSpc>
            </a:pPr>
            <a:r>
              <a:rPr lang="en-US" dirty="0"/>
              <a:t>Interviewers should be open-minded.</a:t>
            </a:r>
          </a:p>
          <a:p>
            <a:pPr algn="just">
              <a:lnSpc>
                <a:spcPct val="150000"/>
              </a:lnSpc>
            </a:pPr>
            <a:r>
              <a:rPr lang="en-US" dirty="0"/>
              <a:t>Avoid pre-conceived ideas about the requirements, and willing to listen to stakeholders. </a:t>
            </a:r>
          </a:p>
          <a:p>
            <a:pPr algn="just">
              <a:lnSpc>
                <a:spcPct val="150000"/>
              </a:lnSpc>
            </a:pPr>
            <a:r>
              <a:rPr lang="en-US" dirty="0"/>
              <a:t>If the stakeholder comes up with surprising requirements , willing to change their minds about the system.</a:t>
            </a:r>
          </a:p>
          <a:p>
            <a:pPr algn="just">
              <a:lnSpc>
                <a:spcPct val="150000"/>
              </a:lnSpc>
            </a:pPr>
            <a:r>
              <a:rPr lang="en-US" dirty="0"/>
              <a:t>They prompt the interviewee to get with discussion using a question or a proposal. </a:t>
            </a:r>
          </a:p>
        </p:txBody>
      </p:sp>
      <p:sp>
        <p:nvSpPr>
          <p:cNvPr id="4" name="Date Placeholder 3"/>
          <p:cNvSpPr>
            <a:spLocks noGrp="1"/>
          </p:cNvSpPr>
          <p:nvPr>
            <p:ph type="dt" sz="half" idx="10"/>
          </p:nvPr>
        </p:nvSpPr>
        <p:spPr/>
        <p:txBody>
          <a:bodyPr/>
          <a:lstStyle/>
          <a:p>
            <a:fld id="{77CF4FBD-743E-4008-8E38-7859AA4EBBFF}"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11</a:t>
            </a:fld>
            <a:endParaRPr lang="en-US" dirty="0"/>
          </a:p>
        </p:txBody>
      </p:sp>
    </p:spTree>
    <p:extLst>
      <p:ext uri="{BB962C8B-B14F-4D97-AF65-F5344CB8AC3E}">
        <p14:creationId xmlns:p14="http://schemas.microsoft.com/office/powerpoint/2010/main" val="1912927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9E1C8-74F9-6CC5-F484-C190B3919F0B}"/>
              </a:ext>
            </a:extLst>
          </p:cNvPr>
          <p:cNvSpPr>
            <a:spLocks noGrp="1"/>
          </p:cNvSpPr>
          <p:nvPr>
            <p:ph type="title"/>
          </p:nvPr>
        </p:nvSpPr>
        <p:spPr/>
        <p:txBody>
          <a:bodyPr/>
          <a:lstStyle/>
          <a:p>
            <a:r>
              <a:rPr lang="en-US" dirty="0"/>
              <a:t>User Stories</a:t>
            </a:r>
          </a:p>
        </p:txBody>
      </p:sp>
      <p:sp>
        <p:nvSpPr>
          <p:cNvPr id="3" name="Content Placeholder 2">
            <a:extLst>
              <a:ext uri="{FF2B5EF4-FFF2-40B4-BE49-F238E27FC236}">
                <a16:creationId xmlns:a16="http://schemas.microsoft.com/office/drawing/2014/main" id="{2009F057-DB3D-6EB0-C626-37A2CC346B76}"/>
              </a:ext>
            </a:extLst>
          </p:cNvPr>
          <p:cNvSpPr>
            <a:spLocks noGrp="1"/>
          </p:cNvSpPr>
          <p:nvPr>
            <p:ph idx="1"/>
          </p:nvPr>
        </p:nvSpPr>
        <p:spPr>
          <a:xfrm>
            <a:off x="457200" y="1524000"/>
            <a:ext cx="8229600" cy="4876800"/>
          </a:xfrm>
        </p:spPr>
        <p:txBody>
          <a:bodyPr>
            <a:normAutofit fontScale="92500" lnSpcReduction="20000"/>
          </a:bodyPr>
          <a:lstStyle/>
          <a:p>
            <a:r>
              <a:rPr lang="en-AU" dirty="0"/>
              <a:t>User stories are commonly used in adaptive or agile methodologies</a:t>
            </a:r>
          </a:p>
          <a:p>
            <a:endParaRPr lang="en-AU" dirty="0"/>
          </a:p>
          <a:p>
            <a:r>
              <a:rPr lang="en-AU" dirty="0"/>
              <a:t>Short, high-level descriptions of required functionality expressed in customer terms. </a:t>
            </a:r>
          </a:p>
          <a:p>
            <a:endParaRPr lang="en-AU" dirty="0"/>
          </a:p>
          <a:p>
            <a:r>
              <a:rPr lang="en-AU" dirty="0"/>
              <a:t>A typical user story has the form: “As a &lt;role&gt;, I want &lt;goal/desire&gt; so that &lt;benefit&gt;.” </a:t>
            </a:r>
          </a:p>
          <a:p>
            <a:endParaRPr lang="en-AU" dirty="0"/>
          </a:p>
          <a:p>
            <a:r>
              <a:rPr lang="en-AU" dirty="0"/>
              <a:t>Just enough information so that the developers can produce a reasonable estimate of the effort to implement it. </a:t>
            </a:r>
          </a:p>
          <a:p>
            <a:endParaRPr lang="en-AU" dirty="0"/>
          </a:p>
          <a:p>
            <a:r>
              <a:rPr lang="en-AU" dirty="0"/>
              <a:t>The aim is to avoid some of the waste that often happens in projects where detailed requirements are gathered early but become invalid before the work begins. </a:t>
            </a:r>
          </a:p>
          <a:p>
            <a:endParaRPr lang="en-US" dirty="0"/>
          </a:p>
        </p:txBody>
      </p:sp>
      <p:sp>
        <p:nvSpPr>
          <p:cNvPr id="4" name="Date Placeholder 3">
            <a:extLst>
              <a:ext uri="{FF2B5EF4-FFF2-40B4-BE49-F238E27FC236}">
                <a16:creationId xmlns:a16="http://schemas.microsoft.com/office/drawing/2014/main" id="{F8BE0C44-AA8C-6046-8DDC-AD54EF48BD7D}"/>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3E7EC6F1-83EC-F8C0-B6A7-59CF5DAEA92B}"/>
              </a:ext>
            </a:extLst>
          </p:cNvPr>
          <p:cNvSpPr>
            <a:spLocks noGrp="1"/>
          </p:cNvSpPr>
          <p:nvPr>
            <p:ph type="sldNum" sz="quarter" idx="12"/>
          </p:nvPr>
        </p:nvSpPr>
        <p:spPr/>
        <p:txBody>
          <a:bodyPr/>
          <a:lstStyle/>
          <a:p>
            <a:fld id="{0A68DB68-8052-4758-A647-54338E95D837}" type="slidenum">
              <a:rPr lang="en-US" smtClean="0"/>
              <a:pPr/>
              <a:t>12</a:t>
            </a:fld>
            <a:endParaRPr lang="en-US" dirty="0"/>
          </a:p>
        </p:txBody>
      </p:sp>
    </p:spTree>
    <p:extLst>
      <p:ext uri="{BB962C8B-B14F-4D97-AF65-F5344CB8AC3E}">
        <p14:creationId xmlns:p14="http://schemas.microsoft.com/office/powerpoint/2010/main" val="788595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6168-ECF3-B5E4-7C8F-21057F98B813}"/>
              </a:ext>
            </a:extLst>
          </p:cNvPr>
          <p:cNvSpPr>
            <a:spLocks noGrp="1"/>
          </p:cNvSpPr>
          <p:nvPr>
            <p:ph type="title"/>
          </p:nvPr>
        </p:nvSpPr>
        <p:spPr/>
        <p:txBody>
          <a:bodyPr/>
          <a:lstStyle/>
          <a:p>
            <a:r>
              <a:rPr lang="en-US" dirty="0"/>
              <a:t>Example</a:t>
            </a:r>
          </a:p>
        </p:txBody>
      </p:sp>
      <p:sp>
        <p:nvSpPr>
          <p:cNvPr id="4" name="Date Placeholder 3">
            <a:extLst>
              <a:ext uri="{FF2B5EF4-FFF2-40B4-BE49-F238E27FC236}">
                <a16:creationId xmlns:a16="http://schemas.microsoft.com/office/drawing/2014/main" id="{46DB2390-27B9-E5D7-96AA-7F8B478788C9}"/>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514BFC62-2C55-473E-39AA-606AC98418C6}"/>
              </a:ext>
            </a:extLst>
          </p:cNvPr>
          <p:cNvSpPr>
            <a:spLocks noGrp="1"/>
          </p:cNvSpPr>
          <p:nvPr>
            <p:ph type="sldNum" sz="quarter" idx="12"/>
          </p:nvPr>
        </p:nvSpPr>
        <p:spPr/>
        <p:txBody>
          <a:bodyPr/>
          <a:lstStyle/>
          <a:p>
            <a:fld id="{0A68DB68-8052-4758-A647-54338E95D837}" type="slidenum">
              <a:rPr lang="en-US" smtClean="0"/>
              <a:pPr/>
              <a:t>13</a:t>
            </a:fld>
            <a:endParaRPr lang="en-US" dirty="0"/>
          </a:p>
        </p:txBody>
      </p:sp>
      <p:pic>
        <p:nvPicPr>
          <p:cNvPr id="7" name="Picture 4">
            <a:extLst>
              <a:ext uri="{FF2B5EF4-FFF2-40B4-BE49-F238E27FC236}">
                <a16:creationId xmlns:a16="http://schemas.microsoft.com/office/drawing/2014/main" id="{938F43DC-9A23-E4C2-5EAD-ADA201F2E7D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2140" y="1523999"/>
            <a:ext cx="8229600" cy="4986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76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Social and Organizational Factors</a:t>
            </a:r>
            <a:endParaRPr lang="en-US" dirty="0"/>
          </a:p>
        </p:txBody>
      </p:sp>
      <p:sp>
        <p:nvSpPr>
          <p:cNvPr id="3" name="Content Placeholder 2"/>
          <p:cNvSpPr>
            <a:spLocks noGrp="1"/>
          </p:cNvSpPr>
          <p:nvPr>
            <p:ph idx="1"/>
          </p:nvPr>
        </p:nvSpPr>
        <p:spPr/>
        <p:txBody>
          <a:bodyPr/>
          <a:lstStyle/>
          <a:p>
            <a:pPr algn="just"/>
            <a:endParaRPr lang="en-GB" dirty="0"/>
          </a:p>
          <a:p>
            <a:pPr algn="just"/>
            <a:r>
              <a:rPr lang="en-GB" dirty="0"/>
              <a:t>Software systems do not exist in isolation – they are used in a social and organizational context. </a:t>
            </a:r>
          </a:p>
          <a:p>
            <a:pPr algn="just"/>
            <a:endParaRPr lang="en-GB" dirty="0"/>
          </a:p>
          <a:p>
            <a:pPr algn="just"/>
            <a:r>
              <a:rPr lang="en-GB" dirty="0"/>
              <a:t>This can influence or even dominate the system requirements.</a:t>
            </a:r>
          </a:p>
          <a:p>
            <a:pPr algn="just">
              <a:buNone/>
            </a:pPr>
            <a:endParaRPr lang="en-GB" dirty="0"/>
          </a:p>
          <a:p>
            <a:pPr algn="just"/>
            <a:r>
              <a:rPr lang="en-GB" dirty="0"/>
              <a:t>Good analysts must be sensitive to these factors.</a:t>
            </a:r>
          </a:p>
          <a:p>
            <a:pPr marL="0" indent="0" algn="just">
              <a:buNone/>
            </a:pPr>
            <a:endParaRPr lang="en-US" dirty="0"/>
          </a:p>
        </p:txBody>
      </p:sp>
      <p:sp>
        <p:nvSpPr>
          <p:cNvPr id="4" name="Date Placeholder 3"/>
          <p:cNvSpPr>
            <a:spLocks noGrp="1"/>
          </p:cNvSpPr>
          <p:nvPr>
            <p:ph type="dt" sz="half" idx="10"/>
          </p:nvPr>
        </p:nvSpPr>
        <p:spPr/>
        <p:txBody>
          <a:bodyPr/>
          <a:lstStyle/>
          <a:p>
            <a:fld id="{B11B8381-B93E-4A0C-A266-9646BF054674}"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14</a:t>
            </a:fld>
            <a:endParaRPr lang="en-US" dirty="0"/>
          </a:p>
        </p:txBody>
      </p:sp>
    </p:spTree>
    <p:extLst>
      <p:ext uri="{BB962C8B-B14F-4D97-AF65-F5344CB8AC3E}">
        <p14:creationId xmlns:p14="http://schemas.microsoft.com/office/powerpoint/2010/main" val="1765020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C6926-8AFC-CDE5-8A79-B016932D655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44B6215A-EC74-3D37-0392-B42E23AE6AAF}"/>
              </a:ext>
            </a:extLst>
          </p:cNvPr>
          <p:cNvSpPr>
            <a:spLocks noGrp="1"/>
          </p:cNvSpPr>
          <p:nvPr>
            <p:ph idx="1"/>
          </p:nvPr>
        </p:nvSpPr>
        <p:spPr/>
        <p:txBody>
          <a:bodyPr/>
          <a:lstStyle/>
          <a:p>
            <a:r>
              <a:rPr lang="en-GB" altLang="en-US" dirty="0"/>
              <a:t>Consider a system which allows senior management to access information without going through middle managers</a:t>
            </a:r>
          </a:p>
          <a:p>
            <a:pPr lvl="1"/>
            <a:r>
              <a:rPr lang="en-GB" altLang="en-US" dirty="0"/>
              <a:t>Managerial status. Senior managers may feel that they are too important to use a keyboard. This may limit the type of system interface used</a:t>
            </a:r>
          </a:p>
          <a:p>
            <a:pPr lvl="1"/>
            <a:r>
              <a:rPr lang="en-GB" altLang="en-US" dirty="0"/>
              <a:t>Managerial responsibilities. Managers may have no uninterrupted time where they can learn to use the system</a:t>
            </a:r>
          </a:p>
          <a:p>
            <a:pPr lvl="1"/>
            <a:r>
              <a:rPr lang="en-GB" altLang="en-US" dirty="0"/>
              <a:t>Organisational resistance. Middle managers who will be made redundant may deliberately provide misleading or incomplete information so that the system will fail</a:t>
            </a:r>
          </a:p>
          <a:p>
            <a:endParaRPr lang="en-US" dirty="0"/>
          </a:p>
        </p:txBody>
      </p:sp>
      <p:sp>
        <p:nvSpPr>
          <p:cNvPr id="4" name="Date Placeholder 3">
            <a:extLst>
              <a:ext uri="{FF2B5EF4-FFF2-40B4-BE49-F238E27FC236}">
                <a16:creationId xmlns:a16="http://schemas.microsoft.com/office/drawing/2014/main" id="{97B9A748-8F98-C923-B201-F6A999AEFF06}"/>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E8DDB578-9537-3F3A-7BC9-3E9009583087}"/>
              </a:ext>
            </a:extLst>
          </p:cNvPr>
          <p:cNvSpPr>
            <a:spLocks noGrp="1"/>
          </p:cNvSpPr>
          <p:nvPr>
            <p:ph type="sldNum" sz="quarter" idx="12"/>
          </p:nvPr>
        </p:nvSpPr>
        <p:spPr/>
        <p:txBody>
          <a:bodyPr/>
          <a:lstStyle/>
          <a:p>
            <a:fld id="{0A68DB68-8052-4758-A647-54338E95D837}" type="slidenum">
              <a:rPr lang="en-US" smtClean="0"/>
              <a:pPr/>
              <a:t>15</a:t>
            </a:fld>
            <a:endParaRPr lang="en-US" dirty="0"/>
          </a:p>
        </p:txBody>
      </p:sp>
    </p:spTree>
    <p:extLst>
      <p:ext uri="{BB962C8B-B14F-4D97-AF65-F5344CB8AC3E}">
        <p14:creationId xmlns:p14="http://schemas.microsoft.com/office/powerpoint/2010/main" val="2243448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Ethnography</a:t>
            </a:r>
            <a:endParaRPr lang="en-US" dirty="0"/>
          </a:p>
        </p:txBody>
      </p:sp>
      <p:sp>
        <p:nvSpPr>
          <p:cNvPr id="3" name="Content Placeholder 2"/>
          <p:cNvSpPr>
            <a:spLocks noGrp="1"/>
          </p:cNvSpPr>
          <p:nvPr>
            <p:ph idx="1"/>
          </p:nvPr>
        </p:nvSpPr>
        <p:spPr/>
        <p:txBody>
          <a:bodyPr/>
          <a:lstStyle/>
          <a:p>
            <a:pPr algn="just"/>
            <a:endParaRPr lang="en-GB" dirty="0"/>
          </a:p>
          <a:p>
            <a:pPr algn="just"/>
            <a:r>
              <a:rPr lang="en-GB" dirty="0"/>
              <a:t>Ethnography is  an observational technique that can be used to understand social and organizational requirements.</a:t>
            </a:r>
          </a:p>
          <a:p>
            <a:pPr algn="just">
              <a:buNone/>
            </a:pPr>
            <a:endParaRPr lang="en-GB" dirty="0"/>
          </a:p>
          <a:p>
            <a:pPr algn="just"/>
            <a:r>
              <a:rPr lang="en-GB" dirty="0"/>
              <a:t>An analyst immerses him or herself in the working environment (where the system will be used)</a:t>
            </a:r>
          </a:p>
          <a:p>
            <a:pPr algn="just">
              <a:buNone/>
            </a:pPr>
            <a:endParaRPr lang="en-GB" dirty="0"/>
          </a:p>
          <a:p>
            <a:pPr algn="just"/>
            <a:r>
              <a:rPr lang="en-GB" dirty="0"/>
              <a:t>Help analyst to discover implicit system requirements</a:t>
            </a:r>
            <a:r>
              <a:rPr lang="en-US" dirty="0"/>
              <a:t>.</a:t>
            </a:r>
            <a:endParaRPr lang="en-GB" dirty="0"/>
          </a:p>
        </p:txBody>
      </p:sp>
      <p:sp>
        <p:nvSpPr>
          <p:cNvPr id="4" name="Date Placeholder 3"/>
          <p:cNvSpPr>
            <a:spLocks noGrp="1"/>
          </p:cNvSpPr>
          <p:nvPr>
            <p:ph type="dt" sz="half" idx="10"/>
          </p:nvPr>
        </p:nvSpPr>
        <p:spPr/>
        <p:txBody>
          <a:bodyPr/>
          <a:lstStyle/>
          <a:p>
            <a:fld id="{62542405-A3DC-4CEA-89ED-A7848B4C5CBE}"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16</a:t>
            </a:fld>
            <a:endParaRPr lang="en-US" dirty="0"/>
          </a:p>
        </p:txBody>
      </p:sp>
    </p:spTree>
    <p:extLst>
      <p:ext uri="{BB962C8B-B14F-4D97-AF65-F5344CB8AC3E}">
        <p14:creationId xmlns:p14="http://schemas.microsoft.com/office/powerpoint/2010/main" val="1688937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Validation</a:t>
            </a:r>
            <a:endParaRPr lang="en-US" dirty="0"/>
          </a:p>
        </p:txBody>
      </p:sp>
      <p:sp>
        <p:nvSpPr>
          <p:cNvPr id="3" name="Content Placeholder 2"/>
          <p:cNvSpPr>
            <a:spLocks noGrp="1"/>
          </p:cNvSpPr>
          <p:nvPr>
            <p:ph idx="1"/>
          </p:nvPr>
        </p:nvSpPr>
        <p:spPr/>
        <p:txBody>
          <a:bodyPr/>
          <a:lstStyle/>
          <a:p>
            <a:pPr algn="just"/>
            <a:endParaRPr lang="en-GB" dirty="0"/>
          </a:p>
          <a:p>
            <a:pPr algn="just"/>
            <a:r>
              <a:rPr lang="en-GB" dirty="0"/>
              <a:t>Concerned with demonstrating that the requirements define the system that the customer really wants.</a:t>
            </a:r>
          </a:p>
          <a:p>
            <a:pPr algn="just">
              <a:buNone/>
            </a:pPr>
            <a:endParaRPr lang="en-GB" dirty="0"/>
          </a:p>
          <a:p>
            <a:pPr algn="just"/>
            <a:r>
              <a:rPr lang="en-GB" dirty="0"/>
              <a:t>Requirements error costs are high so validation is very important</a:t>
            </a:r>
          </a:p>
          <a:p>
            <a:pPr algn="just"/>
            <a:endParaRPr lang="en-GB" sz="2400" dirty="0"/>
          </a:p>
          <a:p>
            <a:pPr algn="just"/>
            <a:r>
              <a:rPr lang="en-GB" sz="2400" dirty="0"/>
              <a:t>Fixing a requirements error after delivery may cost up to 100 times the cost of fixing an implementation error.</a:t>
            </a:r>
          </a:p>
          <a:p>
            <a:pPr marL="0" indent="0" algn="just">
              <a:buNone/>
            </a:pPr>
            <a:endParaRPr lang="en-US" dirty="0"/>
          </a:p>
        </p:txBody>
      </p:sp>
      <p:sp>
        <p:nvSpPr>
          <p:cNvPr id="4" name="Date Placeholder 3"/>
          <p:cNvSpPr>
            <a:spLocks noGrp="1"/>
          </p:cNvSpPr>
          <p:nvPr>
            <p:ph type="dt" sz="half" idx="10"/>
          </p:nvPr>
        </p:nvSpPr>
        <p:spPr/>
        <p:txBody>
          <a:bodyPr/>
          <a:lstStyle/>
          <a:p>
            <a:fld id="{F869FA97-4117-4CC1-A9A8-BF868819D9F3}"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17</a:t>
            </a:fld>
            <a:endParaRPr lang="en-US" dirty="0"/>
          </a:p>
        </p:txBody>
      </p:sp>
    </p:spTree>
    <p:extLst>
      <p:ext uri="{BB962C8B-B14F-4D97-AF65-F5344CB8AC3E}">
        <p14:creationId xmlns:p14="http://schemas.microsoft.com/office/powerpoint/2010/main" val="2161735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Checking</a:t>
            </a:r>
            <a:endParaRPr lang="en-US" dirty="0"/>
          </a:p>
        </p:txBody>
      </p:sp>
      <p:sp>
        <p:nvSpPr>
          <p:cNvPr id="3" name="Content Placeholder 2"/>
          <p:cNvSpPr>
            <a:spLocks noGrp="1"/>
          </p:cNvSpPr>
          <p:nvPr>
            <p:ph idx="1"/>
          </p:nvPr>
        </p:nvSpPr>
        <p:spPr/>
        <p:txBody>
          <a:bodyPr/>
          <a:lstStyle/>
          <a:p>
            <a:pPr algn="just">
              <a:buNone/>
            </a:pPr>
            <a:endParaRPr lang="en-GB" dirty="0"/>
          </a:p>
          <a:p>
            <a:pPr algn="just">
              <a:buNone/>
            </a:pPr>
            <a:r>
              <a:rPr lang="en-GB" dirty="0"/>
              <a:t>Checks include</a:t>
            </a:r>
          </a:p>
          <a:p>
            <a:pPr algn="just">
              <a:buNone/>
            </a:pPr>
            <a:endParaRPr lang="en-GB" dirty="0"/>
          </a:p>
          <a:p>
            <a:pPr algn="just"/>
            <a:r>
              <a:rPr lang="en-GB" b="1" dirty="0"/>
              <a:t>Validity.</a:t>
            </a:r>
            <a:r>
              <a:rPr lang="en-GB" dirty="0"/>
              <a:t> Does the system provide the functions which best support the customer’s needs?</a:t>
            </a:r>
          </a:p>
          <a:p>
            <a:pPr algn="just"/>
            <a:r>
              <a:rPr lang="en-GB" b="1" dirty="0"/>
              <a:t>Consistency. </a:t>
            </a:r>
            <a:r>
              <a:rPr lang="en-GB" dirty="0"/>
              <a:t>Are there any requirements conflicts?</a:t>
            </a:r>
          </a:p>
          <a:p>
            <a:pPr algn="just"/>
            <a:r>
              <a:rPr lang="en-GB" b="1" dirty="0"/>
              <a:t>Completeness. </a:t>
            </a:r>
            <a:r>
              <a:rPr lang="en-GB" dirty="0"/>
              <a:t>Are all functions required by the customer included?</a:t>
            </a:r>
          </a:p>
          <a:p>
            <a:pPr algn="just"/>
            <a:r>
              <a:rPr lang="en-GB" b="1" dirty="0"/>
              <a:t>Realism. </a:t>
            </a:r>
            <a:r>
              <a:rPr lang="en-GB" dirty="0"/>
              <a:t>Can the requirements be implemented given available budget and technology</a:t>
            </a:r>
          </a:p>
          <a:p>
            <a:pPr algn="just"/>
            <a:endParaRPr lang="en-US" dirty="0"/>
          </a:p>
        </p:txBody>
      </p:sp>
      <p:sp>
        <p:nvSpPr>
          <p:cNvPr id="4" name="Date Placeholder 3"/>
          <p:cNvSpPr>
            <a:spLocks noGrp="1"/>
          </p:cNvSpPr>
          <p:nvPr>
            <p:ph type="dt" sz="half" idx="10"/>
          </p:nvPr>
        </p:nvSpPr>
        <p:spPr/>
        <p:txBody>
          <a:bodyPr/>
          <a:lstStyle/>
          <a:p>
            <a:fld id="{3F6C1285-9A78-48A8-840B-A32578A13243}"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18</a:t>
            </a:fld>
            <a:endParaRPr lang="en-US" dirty="0"/>
          </a:p>
        </p:txBody>
      </p:sp>
    </p:spTree>
    <p:extLst>
      <p:ext uri="{BB962C8B-B14F-4D97-AF65-F5344CB8AC3E}">
        <p14:creationId xmlns:p14="http://schemas.microsoft.com/office/powerpoint/2010/main" val="1529663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Validation Techniques</a:t>
            </a:r>
            <a:endParaRPr lang="en-US" dirty="0"/>
          </a:p>
        </p:txBody>
      </p:sp>
      <p:sp>
        <p:nvSpPr>
          <p:cNvPr id="3" name="Content Placeholder 2"/>
          <p:cNvSpPr>
            <a:spLocks noGrp="1"/>
          </p:cNvSpPr>
          <p:nvPr>
            <p:ph idx="1"/>
          </p:nvPr>
        </p:nvSpPr>
        <p:spPr/>
        <p:txBody>
          <a:bodyPr/>
          <a:lstStyle/>
          <a:p>
            <a:pPr algn="just">
              <a:lnSpc>
                <a:spcPct val="90000"/>
              </a:lnSpc>
            </a:pPr>
            <a:endParaRPr lang="en-GB" sz="2200" dirty="0"/>
          </a:p>
          <a:p>
            <a:pPr algn="just">
              <a:lnSpc>
                <a:spcPct val="90000"/>
              </a:lnSpc>
            </a:pPr>
            <a:r>
              <a:rPr lang="en-GB" sz="2200" b="1" dirty="0"/>
              <a:t>Requirements reviews:</a:t>
            </a:r>
          </a:p>
          <a:p>
            <a:pPr lvl="1" algn="just">
              <a:lnSpc>
                <a:spcPct val="90000"/>
              </a:lnSpc>
            </a:pPr>
            <a:r>
              <a:rPr lang="en-GB" sz="2200" dirty="0"/>
              <a:t>Systematic manual analysis of the requirements(by a team of reviewers) who check for error and inconsistencies.</a:t>
            </a:r>
          </a:p>
          <a:p>
            <a:pPr lvl="1" algn="just">
              <a:lnSpc>
                <a:spcPct val="90000"/>
              </a:lnSpc>
              <a:buNone/>
            </a:pPr>
            <a:endParaRPr lang="en-GB" sz="2200" dirty="0"/>
          </a:p>
          <a:p>
            <a:pPr algn="just">
              <a:lnSpc>
                <a:spcPct val="90000"/>
              </a:lnSpc>
            </a:pPr>
            <a:r>
              <a:rPr lang="en-GB" sz="2200" b="1" dirty="0"/>
              <a:t>Prototyping:</a:t>
            </a:r>
          </a:p>
          <a:p>
            <a:pPr lvl="1" algn="just">
              <a:lnSpc>
                <a:spcPct val="90000"/>
              </a:lnSpc>
            </a:pPr>
            <a:r>
              <a:rPr lang="en-GB" sz="2200" dirty="0"/>
              <a:t>Using an executable model of the system to check requirements. </a:t>
            </a:r>
          </a:p>
          <a:p>
            <a:pPr lvl="1" algn="just">
              <a:lnSpc>
                <a:spcPct val="90000"/>
              </a:lnSpc>
              <a:buNone/>
            </a:pPr>
            <a:endParaRPr lang="en-GB" sz="2200" dirty="0"/>
          </a:p>
          <a:p>
            <a:pPr algn="just">
              <a:lnSpc>
                <a:spcPct val="90000"/>
              </a:lnSpc>
            </a:pPr>
            <a:r>
              <a:rPr lang="en-GB" sz="2200" b="1" dirty="0"/>
              <a:t>Test-case generation:</a:t>
            </a:r>
          </a:p>
          <a:p>
            <a:pPr lvl="1" algn="just">
              <a:lnSpc>
                <a:spcPct val="90000"/>
              </a:lnSpc>
            </a:pPr>
            <a:r>
              <a:rPr lang="en-GB" sz="2200" dirty="0"/>
              <a:t>Developing tests for requirements to check testability.</a:t>
            </a:r>
          </a:p>
          <a:p>
            <a:pPr algn="just">
              <a:lnSpc>
                <a:spcPct val="90000"/>
              </a:lnSpc>
              <a:buNone/>
            </a:pPr>
            <a:endParaRPr lang="en-GB" sz="2200" dirty="0"/>
          </a:p>
        </p:txBody>
      </p:sp>
      <p:sp>
        <p:nvSpPr>
          <p:cNvPr id="4" name="Date Placeholder 3"/>
          <p:cNvSpPr>
            <a:spLocks noGrp="1"/>
          </p:cNvSpPr>
          <p:nvPr>
            <p:ph type="dt" sz="half" idx="10"/>
          </p:nvPr>
        </p:nvSpPr>
        <p:spPr/>
        <p:txBody>
          <a:bodyPr/>
          <a:lstStyle/>
          <a:p>
            <a:fld id="{2DDA35E2-56AD-4D62-A725-39C7AD5066D5}"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19</a:t>
            </a:fld>
            <a:endParaRPr lang="en-US" dirty="0"/>
          </a:p>
        </p:txBody>
      </p:sp>
    </p:spTree>
    <p:extLst>
      <p:ext uri="{BB962C8B-B14F-4D97-AF65-F5344CB8AC3E}">
        <p14:creationId xmlns:p14="http://schemas.microsoft.com/office/powerpoint/2010/main" val="507307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Management</a:t>
            </a:r>
            <a:endParaRPr lang="en-US" dirty="0"/>
          </a:p>
        </p:txBody>
      </p:sp>
      <p:sp>
        <p:nvSpPr>
          <p:cNvPr id="3" name="Content Placeholder 2"/>
          <p:cNvSpPr>
            <a:spLocks noGrp="1"/>
          </p:cNvSpPr>
          <p:nvPr>
            <p:ph idx="1"/>
          </p:nvPr>
        </p:nvSpPr>
        <p:spPr/>
        <p:txBody>
          <a:bodyPr/>
          <a:lstStyle/>
          <a:p>
            <a:pPr algn="just"/>
            <a:endParaRPr lang="en-GB" sz="2200" dirty="0"/>
          </a:p>
          <a:p>
            <a:pPr algn="just"/>
            <a:r>
              <a:rPr lang="en-GB" sz="2200" dirty="0"/>
              <a:t>Requirements management is the process of </a:t>
            </a:r>
            <a:r>
              <a:rPr lang="en-GB" sz="2200" b="1" dirty="0"/>
              <a:t>managing changing requirements </a:t>
            </a:r>
            <a:r>
              <a:rPr lang="en-GB" sz="2200" dirty="0"/>
              <a:t>during the requirements engineering process and system development.</a:t>
            </a:r>
          </a:p>
          <a:p>
            <a:pPr algn="just"/>
            <a:endParaRPr lang="en-GB" sz="2200" dirty="0"/>
          </a:p>
          <a:p>
            <a:pPr algn="just"/>
            <a:r>
              <a:rPr lang="en-GB" sz="2200" dirty="0"/>
              <a:t>New requirements emerge during the process as business needs change and a better understanding of the system is developed</a:t>
            </a:r>
          </a:p>
          <a:p>
            <a:endParaRPr lang="en-US" dirty="0"/>
          </a:p>
        </p:txBody>
      </p:sp>
      <p:sp>
        <p:nvSpPr>
          <p:cNvPr id="4" name="Date Placeholder 3"/>
          <p:cNvSpPr>
            <a:spLocks noGrp="1"/>
          </p:cNvSpPr>
          <p:nvPr>
            <p:ph type="dt" sz="half" idx="10"/>
          </p:nvPr>
        </p:nvSpPr>
        <p:spPr/>
        <p:txBody>
          <a:bodyPr/>
          <a:lstStyle/>
          <a:p>
            <a:fld id="{DF27DDAC-ADC5-4ED3-96D5-C08B93345C35}"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20</a:t>
            </a:fld>
            <a:endParaRPr lang="en-US" dirty="0"/>
          </a:p>
        </p:txBody>
      </p:sp>
    </p:spTree>
    <p:extLst>
      <p:ext uri="{BB962C8B-B14F-4D97-AF65-F5344CB8AC3E}">
        <p14:creationId xmlns:p14="http://schemas.microsoft.com/office/powerpoint/2010/main" val="3996706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78D0C-BEFA-1F2D-E71C-D7EBF9746C65}"/>
              </a:ext>
            </a:extLst>
          </p:cNvPr>
          <p:cNvSpPr>
            <a:spLocks noGrp="1"/>
          </p:cNvSpPr>
          <p:nvPr>
            <p:ph type="title"/>
          </p:nvPr>
        </p:nvSpPr>
        <p:spPr/>
        <p:txBody>
          <a:bodyPr/>
          <a:lstStyle/>
          <a:p>
            <a:r>
              <a:rPr lang="en-US" dirty="0"/>
              <a:t>Requirement Modelling</a:t>
            </a:r>
          </a:p>
        </p:txBody>
      </p:sp>
      <p:sp>
        <p:nvSpPr>
          <p:cNvPr id="3" name="Content Placeholder 2">
            <a:extLst>
              <a:ext uri="{FF2B5EF4-FFF2-40B4-BE49-F238E27FC236}">
                <a16:creationId xmlns:a16="http://schemas.microsoft.com/office/drawing/2014/main" id="{03880268-A54E-0E43-ED8F-93861F4F500D}"/>
              </a:ext>
            </a:extLst>
          </p:cNvPr>
          <p:cNvSpPr>
            <a:spLocks noGrp="1"/>
          </p:cNvSpPr>
          <p:nvPr>
            <p:ph idx="1"/>
          </p:nvPr>
        </p:nvSpPr>
        <p:spPr/>
        <p:txBody>
          <a:bodyPr>
            <a:normAutofit fontScale="85000" lnSpcReduction="10000"/>
          </a:bodyPr>
          <a:lstStyle/>
          <a:p>
            <a:pPr algn="just" eaLnBrk="1" hangingPunct="1">
              <a:lnSpc>
                <a:spcPct val="150000"/>
              </a:lnSpc>
            </a:pPr>
            <a:r>
              <a:rPr lang="en-US" altLang="en-US" sz="2400" dirty="0">
                <a:ea typeface="ＭＳ Ｐゴシック" panose="020B0600070205080204" pitchFamily="34" charset="-128"/>
              </a:rPr>
              <a:t>The intent of the analysis/requirement model is to provide a description of the required informational, functional, and behavioral domains for a computer-based system. </a:t>
            </a:r>
          </a:p>
          <a:p>
            <a:pPr algn="just" eaLnBrk="1" hangingPunct="1">
              <a:lnSpc>
                <a:spcPct val="150000"/>
              </a:lnSpc>
            </a:pPr>
            <a:r>
              <a:rPr lang="en-US" altLang="en-US" sz="2400" dirty="0">
                <a:ea typeface="ＭＳ Ｐゴシック" panose="020B0600070205080204" pitchFamily="34" charset="-128"/>
              </a:rPr>
              <a:t>The model changes dynamically as you learn more about the system to build. </a:t>
            </a:r>
          </a:p>
          <a:p>
            <a:pPr algn="just" eaLnBrk="1" hangingPunct="1">
              <a:lnSpc>
                <a:spcPct val="150000"/>
              </a:lnSpc>
            </a:pPr>
            <a:r>
              <a:rPr lang="en-US" altLang="en-US" sz="2400" dirty="0">
                <a:ea typeface="ＭＳ Ｐゴシック" panose="020B0600070205080204" pitchFamily="34" charset="-128"/>
              </a:rPr>
              <a:t>Other stakeholders understand more about what they really require. </a:t>
            </a:r>
          </a:p>
          <a:p>
            <a:pPr algn="just" eaLnBrk="1" hangingPunct="1">
              <a:lnSpc>
                <a:spcPct val="150000"/>
              </a:lnSpc>
            </a:pPr>
            <a:r>
              <a:rPr lang="en-US" altLang="en-US" sz="2400" dirty="0">
                <a:ea typeface="ＭＳ Ｐゴシック" panose="020B0600070205080204" pitchFamily="34" charset="-128"/>
              </a:rPr>
              <a:t>There are different modes of representation that force you to consider requirements from different viewpoints---an approach that has a higher probability of uncovering omissions, inconsistencies, and ambiguity. </a:t>
            </a:r>
          </a:p>
        </p:txBody>
      </p:sp>
      <p:sp>
        <p:nvSpPr>
          <p:cNvPr id="4" name="Date Placeholder 3">
            <a:extLst>
              <a:ext uri="{FF2B5EF4-FFF2-40B4-BE49-F238E27FC236}">
                <a16:creationId xmlns:a16="http://schemas.microsoft.com/office/drawing/2014/main" id="{7A3E052E-A8C2-F9FC-ADC5-DF6B57967B85}"/>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396E109A-0FFB-5EDD-F2BC-E0A5D2CFC40E}"/>
              </a:ext>
            </a:extLst>
          </p:cNvPr>
          <p:cNvSpPr>
            <a:spLocks noGrp="1"/>
          </p:cNvSpPr>
          <p:nvPr>
            <p:ph type="sldNum" sz="quarter" idx="12"/>
          </p:nvPr>
        </p:nvSpPr>
        <p:spPr/>
        <p:txBody>
          <a:bodyPr/>
          <a:lstStyle/>
          <a:p>
            <a:fld id="{0A68DB68-8052-4758-A647-54338E95D837}" type="slidenum">
              <a:rPr lang="en-US" smtClean="0"/>
              <a:pPr/>
              <a:t>21</a:t>
            </a:fld>
            <a:endParaRPr lang="en-US" dirty="0"/>
          </a:p>
        </p:txBody>
      </p:sp>
    </p:spTree>
    <p:extLst>
      <p:ext uri="{BB962C8B-B14F-4D97-AF65-F5344CB8AC3E}">
        <p14:creationId xmlns:p14="http://schemas.microsoft.com/office/powerpoint/2010/main" val="2169295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2DFD6-73F3-EEE7-0EA3-75A154B87472}"/>
              </a:ext>
            </a:extLst>
          </p:cNvPr>
          <p:cNvSpPr>
            <a:spLocks noGrp="1"/>
          </p:cNvSpPr>
          <p:nvPr>
            <p:ph type="title"/>
          </p:nvPr>
        </p:nvSpPr>
        <p:spPr/>
        <p:txBody>
          <a:bodyPr/>
          <a:lstStyle/>
          <a:p>
            <a:r>
              <a:rPr lang="en-US" dirty="0"/>
              <a:t>Requirement Modelling</a:t>
            </a:r>
          </a:p>
        </p:txBody>
      </p:sp>
      <p:sp>
        <p:nvSpPr>
          <p:cNvPr id="4" name="Date Placeholder 3">
            <a:extLst>
              <a:ext uri="{FF2B5EF4-FFF2-40B4-BE49-F238E27FC236}">
                <a16:creationId xmlns:a16="http://schemas.microsoft.com/office/drawing/2014/main" id="{95920931-7349-356C-B071-F1FD15915C87}"/>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95522997-428E-1664-EF07-F58E64A8BF99}"/>
              </a:ext>
            </a:extLst>
          </p:cNvPr>
          <p:cNvSpPr>
            <a:spLocks noGrp="1"/>
          </p:cNvSpPr>
          <p:nvPr>
            <p:ph type="sldNum" sz="quarter" idx="12"/>
          </p:nvPr>
        </p:nvSpPr>
        <p:spPr/>
        <p:txBody>
          <a:bodyPr/>
          <a:lstStyle/>
          <a:p>
            <a:fld id="{0A68DB68-8052-4758-A647-54338E95D837}" type="slidenum">
              <a:rPr lang="en-US" smtClean="0"/>
              <a:pPr/>
              <a:t>22</a:t>
            </a:fld>
            <a:endParaRPr lang="en-US" dirty="0"/>
          </a:p>
        </p:txBody>
      </p:sp>
      <p:pic>
        <p:nvPicPr>
          <p:cNvPr id="8" name="Picture 7">
            <a:extLst>
              <a:ext uri="{FF2B5EF4-FFF2-40B4-BE49-F238E27FC236}">
                <a16:creationId xmlns:a16="http://schemas.microsoft.com/office/drawing/2014/main" id="{47E3C33B-CA60-B4FC-D2C9-5696354F339E}"/>
              </a:ext>
            </a:extLst>
          </p:cNvPr>
          <p:cNvPicPr>
            <a:picLocks noChangeAspect="1"/>
          </p:cNvPicPr>
          <p:nvPr/>
        </p:nvPicPr>
        <p:blipFill>
          <a:blip r:embed="rId2"/>
          <a:stretch>
            <a:fillRect/>
          </a:stretch>
        </p:blipFill>
        <p:spPr>
          <a:xfrm>
            <a:off x="1447800" y="1780032"/>
            <a:ext cx="6311899" cy="4544568"/>
          </a:xfrm>
          <a:prstGeom prst="rect">
            <a:avLst/>
          </a:prstGeom>
        </p:spPr>
      </p:pic>
    </p:spTree>
    <p:extLst>
      <p:ext uri="{BB962C8B-B14F-4D97-AF65-F5344CB8AC3E}">
        <p14:creationId xmlns:p14="http://schemas.microsoft.com/office/powerpoint/2010/main" val="909509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p:txBody>
          <a:bodyPr>
            <a:noAutofit/>
          </a:bodyPr>
          <a:lstStyle/>
          <a:p>
            <a:pPr algn="just">
              <a:lnSpc>
                <a:spcPct val="150000"/>
              </a:lnSpc>
            </a:pPr>
            <a:r>
              <a:rPr lang="en-US" sz="2200" dirty="0"/>
              <a:t>People usually find it easier to relate to real-life examples rather than abstract descriptions.</a:t>
            </a:r>
          </a:p>
          <a:p>
            <a:pPr algn="just">
              <a:lnSpc>
                <a:spcPct val="150000"/>
              </a:lnSpc>
            </a:pPr>
            <a:r>
              <a:rPr lang="en-US" sz="2200" dirty="0"/>
              <a:t>Scenarios are real-life examples of how a system can be used.</a:t>
            </a:r>
          </a:p>
          <a:p>
            <a:pPr algn="just">
              <a:lnSpc>
                <a:spcPct val="150000"/>
              </a:lnSpc>
            </a:pPr>
            <a:r>
              <a:rPr lang="en-US" sz="2200" dirty="0"/>
              <a:t>Through Scenario user can understand and criticize….how   they  might interact  with a software system.</a:t>
            </a:r>
          </a:p>
          <a:p>
            <a:pPr algn="just">
              <a:lnSpc>
                <a:spcPct val="150000"/>
              </a:lnSpc>
            </a:pPr>
            <a:r>
              <a:rPr lang="en-US" sz="2200" dirty="0"/>
              <a:t>Requirement engineers can use the information gained from this discussion to formulate the actual system requirements.</a:t>
            </a:r>
          </a:p>
        </p:txBody>
      </p:sp>
      <p:sp>
        <p:nvSpPr>
          <p:cNvPr id="4" name="Date Placeholder 3"/>
          <p:cNvSpPr>
            <a:spLocks noGrp="1"/>
          </p:cNvSpPr>
          <p:nvPr>
            <p:ph type="dt" sz="half" idx="10"/>
          </p:nvPr>
        </p:nvSpPr>
        <p:spPr/>
        <p:txBody>
          <a:bodyPr/>
          <a:lstStyle/>
          <a:p>
            <a:fld id="{5A100C46-624B-4383-8121-09A3F71F3FCD}"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23</a:t>
            </a:fld>
            <a:endParaRPr lang="en-US" dirty="0"/>
          </a:p>
        </p:txBody>
      </p:sp>
    </p:spTree>
    <p:extLst>
      <p:ext uri="{BB962C8B-B14F-4D97-AF65-F5344CB8AC3E}">
        <p14:creationId xmlns:p14="http://schemas.microsoft.com/office/powerpoint/2010/main" val="271300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p:txBody>
          <a:bodyPr/>
          <a:lstStyle/>
          <a:p>
            <a:pPr algn="just">
              <a:buNone/>
            </a:pPr>
            <a:endParaRPr lang="en-US" sz="2200" dirty="0"/>
          </a:p>
          <a:p>
            <a:pPr algn="just">
              <a:buNone/>
            </a:pPr>
            <a:r>
              <a:rPr lang="en-US" sz="2200" dirty="0"/>
              <a:t>They should include:</a:t>
            </a:r>
          </a:p>
          <a:p>
            <a:pPr algn="just">
              <a:buNone/>
            </a:pPr>
            <a:endParaRPr lang="en-US" sz="2200" dirty="0"/>
          </a:p>
          <a:p>
            <a:pPr lvl="1" algn="just"/>
            <a:r>
              <a:rPr lang="en-US" sz="2200" dirty="0"/>
              <a:t>A description of the starting situation</a:t>
            </a:r>
          </a:p>
          <a:p>
            <a:pPr lvl="1" algn="just"/>
            <a:r>
              <a:rPr lang="en-US" sz="2200" dirty="0"/>
              <a:t>A description of the normal flow of events</a:t>
            </a:r>
          </a:p>
          <a:p>
            <a:pPr lvl="1" algn="just"/>
            <a:r>
              <a:rPr lang="en-US" sz="2200" dirty="0"/>
              <a:t>A description of what can go wrong</a:t>
            </a:r>
          </a:p>
          <a:p>
            <a:pPr lvl="1" algn="just"/>
            <a:r>
              <a:rPr lang="en-US" sz="2200" dirty="0"/>
              <a:t>Information about other concurrent activities</a:t>
            </a:r>
          </a:p>
          <a:p>
            <a:pPr lvl="1" algn="just"/>
            <a:r>
              <a:rPr lang="en-US" sz="2200" dirty="0"/>
              <a:t>A description of the state when the scenario finishes.</a:t>
            </a:r>
          </a:p>
          <a:p>
            <a:pPr algn="just"/>
            <a:endParaRPr lang="en-US" dirty="0"/>
          </a:p>
        </p:txBody>
      </p:sp>
      <p:sp>
        <p:nvSpPr>
          <p:cNvPr id="4" name="Date Placeholder 3"/>
          <p:cNvSpPr>
            <a:spLocks noGrp="1"/>
          </p:cNvSpPr>
          <p:nvPr>
            <p:ph type="dt" sz="half" idx="10"/>
          </p:nvPr>
        </p:nvSpPr>
        <p:spPr/>
        <p:txBody>
          <a:bodyPr/>
          <a:lstStyle/>
          <a:p>
            <a:fld id="{E8E6FB9D-8466-49B5-AECC-85CFD340527D}"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24</a:t>
            </a:fld>
            <a:endParaRPr lang="en-US" dirty="0"/>
          </a:p>
        </p:txBody>
      </p:sp>
    </p:spTree>
    <p:extLst>
      <p:ext uri="{BB962C8B-B14F-4D97-AF65-F5344CB8AC3E}">
        <p14:creationId xmlns:p14="http://schemas.microsoft.com/office/powerpoint/2010/main" val="2237102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LIBSYS Scenario </a:t>
            </a:r>
          </a:p>
        </p:txBody>
      </p:sp>
      <p:sp>
        <p:nvSpPr>
          <p:cNvPr id="4" name="Date Placeholder 3"/>
          <p:cNvSpPr>
            <a:spLocks noGrp="1"/>
          </p:cNvSpPr>
          <p:nvPr>
            <p:ph type="dt" sz="half" idx="10"/>
          </p:nvPr>
        </p:nvSpPr>
        <p:spPr/>
        <p:txBody>
          <a:bodyPr/>
          <a:lstStyle/>
          <a:p>
            <a:fld id="{DC232EAF-4114-4C24-A5CE-6FC33C3399EC}"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25</a:t>
            </a:fld>
            <a:endParaRPr lang="en-US" dirty="0"/>
          </a:p>
        </p:txBody>
      </p:sp>
      <p:graphicFrame>
        <p:nvGraphicFramePr>
          <p:cNvPr id="8" name="Object 7"/>
          <p:cNvGraphicFramePr>
            <a:graphicFrameLocks noChangeAspect="1"/>
          </p:cNvGraphicFramePr>
          <p:nvPr/>
        </p:nvGraphicFramePr>
        <p:xfrm>
          <a:off x="304800" y="1600200"/>
          <a:ext cx="8610600" cy="4724400"/>
        </p:xfrm>
        <a:graphic>
          <a:graphicData uri="http://schemas.openxmlformats.org/presentationml/2006/ole">
            <mc:AlternateContent xmlns:mc="http://schemas.openxmlformats.org/markup-compatibility/2006">
              <mc:Choice xmlns:v="urn:schemas-microsoft-com:vml" Requires="v">
                <p:oleObj name="Document" r:id="rId2" imgW="5497885" imgH="2495626" progId="Word.Document.8">
                  <p:embed/>
                </p:oleObj>
              </mc:Choice>
              <mc:Fallback>
                <p:oleObj name="Document" r:id="rId2" imgW="5497885" imgH="2495626" progId="Word.Document.8">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8610600" cy="472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10541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LIBSYS Scenario </a:t>
            </a:r>
          </a:p>
        </p:txBody>
      </p:sp>
      <p:sp>
        <p:nvSpPr>
          <p:cNvPr id="4" name="Date Placeholder 3"/>
          <p:cNvSpPr>
            <a:spLocks noGrp="1"/>
          </p:cNvSpPr>
          <p:nvPr>
            <p:ph type="dt" sz="half" idx="10"/>
          </p:nvPr>
        </p:nvSpPr>
        <p:spPr/>
        <p:txBody>
          <a:bodyPr/>
          <a:lstStyle/>
          <a:p>
            <a:fld id="{36173A6F-38AA-4892-A7F0-9CBCFBA2A1A4}" type="datetime1">
              <a:rPr lang="en-US" smtClean="0"/>
              <a:t>3/29/2026</a:t>
            </a:fld>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26</a:t>
            </a:fld>
            <a:endParaRPr lang="en-US" dirty="0"/>
          </a:p>
        </p:txBody>
      </p:sp>
      <p:graphicFrame>
        <p:nvGraphicFramePr>
          <p:cNvPr id="7" name="Object 6"/>
          <p:cNvGraphicFramePr>
            <a:graphicFrameLocks noChangeAspect="1"/>
          </p:cNvGraphicFramePr>
          <p:nvPr/>
        </p:nvGraphicFramePr>
        <p:xfrm>
          <a:off x="457200" y="1752600"/>
          <a:ext cx="8305800" cy="4495800"/>
        </p:xfrm>
        <a:graphic>
          <a:graphicData uri="http://schemas.openxmlformats.org/presentationml/2006/ole">
            <mc:AlternateContent xmlns:mc="http://schemas.openxmlformats.org/markup-compatibility/2006">
              <mc:Choice xmlns:v="urn:schemas-microsoft-com:vml" Requires="v">
                <p:oleObj name="Document" r:id="rId2" imgW="5483860" imgH="2380849" progId="Word.Document.8">
                  <p:embed/>
                </p:oleObj>
              </mc:Choice>
              <mc:Fallback>
                <p:oleObj name="Document" r:id="rId2" imgW="5483860" imgH="2380849" progId="Word.Document.8">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752600"/>
                        <a:ext cx="8305800" cy="4495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4526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F8CA2-71A4-5260-9112-DF9D0E557E5A}"/>
              </a:ext>
            </a:extLst>
          </p:cNvPr>
          <p:cNvSpPr>
            <a:spLocks noGrp="1"/>
          </p:cNvSpPr>
          <p:nvPr>
            <p:ph type="title"/>
          </p:nvPr>
        </p:nvSpPr>
        <p:spPr/>
        <p:txBody>
          <a:bodyPr/>
          <a:lstStyle/>
          <a:p>
            <a:r>
              <a:rPr lang="en-US" dirty="0"/>
              <a:t>Scenario-based Modelling</a:t>
            </a:r>
          </a:p>
        </p:txBody>
      </p:sp>
      <p:sp>
        <p:nvSpPr>
          <p:cNvPr id="3" name="Content Placeholder 2">
            <a:extLst>
              <a:ext uri="{FF2B5EF4-FFF2-40B4-BE49-F238E27FC236}">
                <a16:creationId xmlns:a16="http://schemas.microsoft.com/office/drawing/2014/main" id="{34C2B991-BFA6-3243-D7C9-3DE091DDA37E}"/>
              </a:ext>
            </a:extLst>
          </p:cNvPr>
          <p:cNvSpPr>
            <a:spLocks noGrp="1"/>
          </p:cNvSpPr>
          <p:nvPr>
            <p:ph idx="1"/>
          </p:nvPr>
        </p:nvSpPr>
        <p:spPr/>
        <p:txBody>
          <a:bodyPr/>
          <a:lstStyle/>
          <a:p>
            <a:pPr algn="just" eaLnBrk="1" hangingPunct="1"/>
            <a:r>
              <a:rPr lang="en-US" altLang="en-US" sz="2400" dirty="0">
                <a:solidFill>
                  <a:srgbClr val="000000"/>
                </a:solidFill>
                <a:ea typeface="ＭＳ Ｐゴシック" panose="020B0600070205080204" pitchFamily="34" charset="-128"/>
              </a:rPr>
              <a:t>The scenarios often called use cases, proved a description of how the system will be used. </a:t>
            </a:r>
            <a:endParaRPr lang="en-US" altLang="en-US" dirty="0">
              <a:solidFill>
                <a:srgbClr val="000000"/>
              </a:solidFill>
              <a:ea typeface="ＭＳ Ｐゴシック" panose="020B0600070205080204" pitchFamily="34" charset="-128"/>
            </a:endParaRPr>
          </a:p>
          <a:p>
            <a:pPr algn="just" eaLnBrk="1" hangingPunct="1"/>
            <a:r>
              <a:rPr lang="en-US" altLang="en-US" sz="2400" dirty="0">
                <a:solidFill>
                  <a:srgbClr val="000000"/>
                </a:solidFill>
                <a:ea typeface="ＭＳ Ｐゴシック" panose="020B0600070205080204" pitchFamily="34" charset="-128"/>
              </a:rPr>
              <a:t>In essence, a use case tells a stylized story about how an end user interacts with the system under a specific set of circumstances. </a:t>
            </a:r>
          </a:p>
          <a:p>
            <a:pPr algn="just" eaLnBrk="1" hangingPunct="1"/>
            <a:r>
              <a:rPr lang="en-US" altLang="en-US" sz="2400" dirty="0">
                <a:solidFill>
                  <a:srgbClr val="000000"/>
                </a:solidFill>
                <a:ea typeface="ＭＳ Ｐゴシック" panose="020B0600070205080204" pitchFamily="34" charset="-128"/>
              </a:rPr>
              <a:t>The story can be a narrative text, an outline of tasks or interactions, a template-based description, or a diagrammatic representation. </a:t>
            </a:r>
          </a:p>
        </p:txBody>
      </p:sp>
      <p:sp>
        <p:nvSpPr>
          <p:cNvPr id="4" name="Date Placeholder 3">
            <a:extLst>
              <a:ext uri="{FF2B5EF4-FFF2-40B4-BE49-F238E27FC236}">
                <a16:creationId xmlns:a16="http://schemas.microsoft.com/office/drawing/2014/main" id="{5A917AAF-BD13-BF3E-5E52-9B10BFEA31DB}"/>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267DA543-890B-F5C7-535E-F2487CF155D9}"/>
              </a:ext>
            </a:extLst>
          </p:cNvPr>
          <p:cNvSpPr>
            <a:spLocks noGrp="1"/>
          </p:cNvSpPr>
          <p:nvPr>
            <p:ph type="sldNum" sz="quarter" idx="12"/>
          </p:nvPr>
        </p:nvSpPr>
        <p:spPr/>
        <p:txBody>
          <a:bodyPr/>
          <a:lstStyle/>
          <a:p>
            <a:fld id="{0A68DB68-8052-4758-A647-54338E95D837}" type="slidenum">
              <a:rPr lang="en-US" smtClean="0"/>
              <a:pPr/>
              <a:t>27</a:t>
            </a:fld>
            <a:endParaRPr lang="en-US" dirty="0"/>
          </a:p>
        </p:txBody>
      </p:sp>
    </p:spTree>
    <p:extLst>
      <p:ext uri="{BB962C8B-B14F-4D97-AF65-F5344CB8AC3E}">
        <p14:creationId xmlns:p14="http://schemas.microsoft.com/office/powerpoint/2010/main" val="904955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4FA65-CE4C-32FC-277D-62E56E11A2A3}"/>
              </a:ext>
            </a:extLst>
          </p:cNvPr>
          <p:cNvSpPr>
            <a:spLocks noGrp="1"/>
          </p:cNvSpPr>
          <p:nvPr>
            <p:ph type="title"/>
          </p:nvPr>
        </p:nvSpPr>
        <p:spPr/>
        <p:txBody>
          <a:bodyPr/>
          <a:lstStyle/>
          <a:p>
            <a:r>
              <a:rPr lang="en-US" dirty="0"/>
              <a:t>Scenario-based Modelling- Use case</a:t>
            </a:r>
          </a:p>
        </p:txBody>
      </p:sp>
      <p:sp>
        <p:nvSpPr>
          <p:cNvPr id="3" name="Content Placeholder 2">
            <a:extLst>
              <a:ext uri="{FF2B5EF4-FFF2-40B4-BE49-F238E27FC236}">
                <a16:creationId xmlns:a16="http://schemas.microsoft.com/office/drawing/2014/main" id="{F4569158-7FA8-A6DF-A40E-4790BE9E3B1E}"/>
              </a:ext>
            </a:extLst>
          </p:cNvPr>
          <p:cNvSpPr>
            <a:spLocks noGrp="1"/>
          </p:cNvSpPr>
          <p:nvPr>
            <p:ph idx="1"/>
          </p:nvPr>
        </p:nvSpPr>
        <p:spPr>
          <a:xfrm>
            <a:off x="457200" y="1600199"/>
            <a:ext cx="8229600" cy="4800601"/>
          </a:xfrm>
        </p:spPr>
        <p:txBody>
          <a:bodyPr>
            <a:normAutofit/>
          </a:bodyPr>
          <a:lstStyle/>
          <a:p>
            <a:pPr algn="just" eaLnBrk="1" hangingPunct="1">
              <a:lnSpc>
                <a:spcPct val="90000"/>
              </a:lnSpc>
              <a:defRPr/>
            </a:pPr>
            <a:r>
              <a:rPr lang="en-US" dirty="0">
                <a:ea typeface="ＭＳ Ｐゴシック" pitchFamily="34" charset="-128"/>
              </a:rPr>
              <a:t>A collection of user scenarios that describe the thread of usage of a system</a:t>
            </a:r>
          </a:p>
          <a:p>
            <a:pPr algn="just" eaLnBrk="1" hangingPunct="1">
              <a:lnSpc>
                <a:spcPct val="90000"/>
              </a:lnSpc>
              <a:defRPr/>
            </a:pPr>
            <a:r>
              <a:rPr lang="en-US" dirty="0">
                <a:ea typeface="ＭＳ Ｐゴシック" pitchFamily="34" charset="-128"/>
              </a:rPr>
              <a:t>Each scenario is described from the point-of-view of an </a:t>
            </a:r>
            <a:r>
              <a:rPr lang="ja-JP" altLang="en-US" dirty="0">
                <a:ea typeface="ＭＳ Ｐゴシック" pitchFamily="34" charset="-128"/>
              </a:rPr>
              <a:t>“</a:t>
            </a:r>
            <a:r>
              <a:rPr lang="en-US" altLang="ja-JP" dirty="0">
                <a:ea typeface="ＭＳ Ｐゴシック" pitchFamily="34" charset="-128"/>
              </a:rPr>
              <a:t>actor</a:t>
            </a:r>
            <a:r>
              <a:rPr lang="ja-JP" altLang="en-US" dirty="0">
                <a:ea typeface="ＭＳ Ｐゴシック" pitchFamily="34" charset="-128"/>
              </a:rPr>
              <a:t>”</a:t>
            </a:r>
            <a:r>
              <a:rPr lang="en-US" altLang="ja-JP" dirty="0">
                <a:ea typeface="ＭＳ Ｐゴシック" pitchFamily="34" charset="-128"/>
              </a:rPr>
              <a:t>—a person or device that interacts with the software in some way ( not necessarily users) to External entities. </a:t>
            </a:r>
          </a:p>
          <a:p>
            <a:pPr algn="just" eaLnBrk="1" hangingPunct="1">
              <a:lnSpc>
                <a:spcPct val="90000"/>
              </a:lnSpc>
              <a:defRPr/>
            </a:pPr>
            <a:r>
              <a:rPr lang="en-US" altLang="ja-JP" dirty="0">
                <a:ea typeface="ＭＳ Ｐゴシック" pitchFamily="34" charset="-128"/>
              </a:rPr>
              <a:t>For example, a machine in four different modes of programming, test, monitoring and troubleshooting modes. Four actors can be defined. Programmer, tester, monitor, and troubleshooter. </a:t>
            </a:r>
          </a:p>
          <a:p>
            <a:pPr algn="just" eaLnBrk="1" hangingPunct="1">
              <a:lnSpc>
                <a:spcPct val="90000"/>
              </a:lnSpc>
              <a:defRPr/>
            </a:pPr>
            <a:r>
              <a:rPr lang="en-US" altLang="ja-JP" dirty="0">
                <a:ea typeface="ＭＳ Ｐゴシック" pitchFamily="34" charset="-128"/>
              </a:rPr>
              <a:t>In some cases, the machine operator can play all of these roles. Or different people can play different roles. </a:t>
            </a:r>
          </a:p>
        </p:txBody>
      </p:sp>
      <p:sp>
        <p:nvSpPr>
          <p:cNvPr id="4" name="Date Placeholder 3">
            <a:extLst>
              <a:ext uri="{FF2B5EF4-FFF2-40B4-BE49-F238E27FC236}">
                <a16:creationId xmlns:a16="http://schemas.microsoft.com/office/drawing/2014/main" id="{27FAA8CE-4EC8-DA88-F62D-C3B74548A715}"/>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00B4F1FC-4787-0AE0-AC4A-7047C13036E9}"/>
              </a:ext>
            </a:extLst>
          </p:cNvPr>
          <p:cNvSpPr>
            <a:spLocks noGrp="1"/>
          </p:cNvSpPr>
          <p:nvPr>
            <p:ph type="sldNum" sz="quarter" idx="12"/>
          </p:nvPr>
        </p:nvSpPr>
        <p:spPr/>
        <p:txBody>
          <a:bodyPr/>
          <a:lstStyle/>
          <a:p>
            <a:fld id="{0A68DB68-8052-4758-A647-54338E95D837}" type="slidenum">
              <a:rPr lang="en-US" smtClean="0"/>
              <a:pPr/>
              <a:t>28</a:t>
            </a:fld>
            <a:endParaRPr lang="en-US" dirty="0"/>
          </a:p>
        </p:txBody>
      </p:sp>
    </p:spTree>
    <p:extLst>
      <p:ext uri="{BB962C8B-B14F-4D97-AF65-F5344CB8AC3E}">
        <p14:creationId xmlns:p14="http://schemas.microsoft.com/office/powerpoint/2010/main" val="3682978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4FA65-CE4C-32FC-277D-62E56E11A2A3}"/>
              </a:ext>
            </a:extLst>
          </p:cNvPr>
          <p:cNvSpPr>
            <a:spLocks noGrp="1"/>
          </p:cNvSpPr>
          <p:nvPr>
            <p:ph type="title"/>
          </p:nvPr>
        </p:nvSpPr>
        <p:spPr/>
        <p:txBody>
          <a:bodyPr/>
          <a:lstStyle/>
          <a:p>
            <a:r>
              <a:rPr lang="en-US" dirty="0"/>
              <a:t>Scenario-based Modelling- Use case</a:t>
            </a:r>
          </a:p>
        </p:txBody>
      </p:sp>
      <p:sp>
        <p:nvSpPr>
          <p:cNvPr id="3" name="Content Placeholder 2">
            <a:extLst>
              <a:ext uri="{FF2B5EF4-FFF2-40B4-BE49-F238E27FC236}">
                <a16:creationId xmlns:a16="http://schemas.microsoft.com/office/drawing/2014/main" id="{F4569158-7FA8-A6DF-A40E-4790BE9E3B1E}"/>
              </a:ext>
            </a:extLst>
          </p:cNvPr>
          <p:cNvSpPr>
            <a:spLocks noGrp="1"/>
          </p:cNvSpPr>
          <p:nvPr>
            <p:ph idx="1"/>
          </p:nvPr>
        </p:nvSpPr>
        <p:spPr>
          <a:xfrm>
            <a:off x="457200" y="1600200"/>
            <a:ext cx="8229600" cy="5239512"/>
          </a:xfrm>
        </p:spPr>
        <p:txBody>
          <a:bodyPr>
            <a:normAutofit fontScale="92500"/>
          </a:bodyPr>
          <a:lstStyle/>
          <a:p>
            <a:pPr algn="just" eaLnBrk="1" hangingPunct="1">
              <a:lnSpc>
                <a:spcPct val="90000"/>
              </a:lnSpc>
              <a:defRPr/>
            </a:pPr>
            <a:r>
              <a:rPr lang="en-US" dirty="0">
                <a:ea typeface="ＭＳ Ｐゴシック" pitchFamily="34" charset="-128"/>
              </a:rPr>
              <a:t>Once actors are defined, use cases can be developed. Each scenario answers the following questions:</a:t>
            </a:r>
          </a:p>
          <a:p>
            <a:pPr lvl="1" algn="just" eaLnBrk="1" hangingPunct="1">
              <a:lnSpc>
                <a:spcPct val="90000"/>
              </a:lnSpc>
              <a:spcBef>
                <a:spcPts val="300"/>
              </a:spcBef>
              <a:defRPr/>
            </a:pPr>
            <a:r>
              <a:rPr lang="en-US" sz="2200" dirty="0">
                <a:solidFill>
                  <a:srgbClr val="C00000"/>
                </a:solidFill>
                <a:ea typeface="ＭＳ Ｐゴシック" pitchFamily="34" charset="-128"/>
              </a:rPr>
              <a:t>Who is the primary actor, the secondary actor (s) ( to support the primary actors)?</a:t>
            </a:r>
          </a:p>
          <a:p>
            <a:pPr lvl="1" algn="just" eaLnBrk="1" hangingPunct="1">
              <a:lnSpc>
                <a:spcPct val="90000"/>
              </a:lnSpc>
              <a:defRPr/>
            </a:pPr>
            <a:r>
              <a:rPr lang="en-US" sz="2200" dirty="0">
                <a:solidFill>
                  <a:srgbClr val="C00000"/>
                </a:solidFill>
                <a:ea typeface="ＭＳ Ｐゴシック" pitchFamily="34" charset="-128"/>
              </a:rPr>
              <a:t>What are the actor</a:t>
            </a:r>
            <a:r>
              <a:rPr lang="ja-JP" altLang="en-US" sz="2200" dirty="0">
                <a:solidFill>
                  <a:srgbClr val="C00000"/>
                </a:solidFill>
                <a:ea typeface="ＭＳ Ｐゴシック" pitchFamily="34" charset="-128"/>
              </a:rPr>
              <a:t>’</a:t>
            </a:r>
            <a:r>
              <a:rPr lang="en-US" altLang="ja-JP" sz="2200" dirty="0">
                <a:solidFill>
                  <a:srgbClr val="C00000"/>
                </a:solidFill>
                <a:ea typeface="ＭＳ Ｐゴシック" pitchFamily="34" charset="-128"/>
              </a:rPr>
              <a:t>s goals?</a:t>
            </a:r>
          </a:p>
          <a:p>
            <a:pPr lvl="1" algn="just" eaLnBrk="1" hangingPunct="1">
              <a:lnSpc>
                <a:spcPct val="90000"/>
              </a:lnSpc>
              <a:defRPr/>
            </a:pPr>
            <a:r>
              <a:rPr lang="en-US" sz="2200" dirty="0">
                <a:solidFill>
                  <a:srgbClr val="C00000"/>
                </a:solidFill>
                <a:ea typeface="ＭＳ Ｐゴシック" pitchFamily="34" charset="-128"/>
              </a:rPr>
              <a:t>What preconditions should exist before the story begins?</a:t>
            </a:r>
          </a:p>
          <a:p>
            <a:pPr lvl="1" algn="just" eaLnBrk="1" hangingPunct="1">
              <a:lnSpc>
                <a:spcPct val="90000"/>
              </a:lnSpc>
              <a:defRPr/>
            </a:pPr>
            <a:r>
              <a:rPr lang="en-US" sz="2200" dirty="0">
                <a:solidFill>
                  <a:srgbClr val="C00000"/>
                </a:solidFill>
                <a:ea typeface="ＭＳ Ｐゴシック" pitchFamily="34" charset="-128"/>
              </a:rPr>
              <a:t>What main tasks or functions are performed by the actor?</a:t>
            </a:r>
          </a:p>
          <a:p>
            <a:pPr lvl="1" algn="just" eaLnBrk="1" hangingPunct="1">
              <a:lnSpc>
                <a:spcPct val="90000"/>
              </a:lnSpc>
              <a:defRPr/>
            </a:pPr>
            <a:r>
              <a:rPr lang="en-US" sz="2200" dirty="0">
                <a:solidFill>
                  <a:srgbClr val="C00000"/>
                </a:solidFill>
                <a:ea typeface="ＭＳ Ｐゴシック" pitchFamily="34" charset="-128"/>
              </a:rPr>
              <a:t>What extensions might be considered as the story is described?</a:t>
            </a:r>
          </a:p>
          <a:p>
            <a:pPr lvl="1" algn="just" eaLnBrk="1" hangingPunct="1">
              <a:lnSpc>
                <a:spcPct val="90000"/>
              </a:lnSpc>
              <a:defRPr/>
            </a:pPr>
            <a:r>
              <a:rPr lang="en-US" sz="2200" dirty="0">
                <a:solidFill>
                  <a:srgbClr val="C00000"/>
                </a:solidFill>
                <a:ea typeface="ＭＳ Ｐゴシック" pitchFamily="34" charset="-128"/>
              </a:rPr>
              <a:t>What variations in the actor</a:t>
            </a:r>
            <a:r>
              <a:rPr lang="ja-JP" altLang="en-US" sz="2200" dirty="0">
                <a:solidFill>
                  <a:srgbClr val="C00000"/>
                </a:solidFill>
                <a:ea typeface="ＭＳ Ｐゴシック" pitchFamily="34" charset="-128"/>
              </a:rPr>
              <a:t>’</a:t>
            </a:r>
            <a:r>
              <a:rPr lang="en-US" altLang="ja-JP" sz="2200" dirty="0">
                <a:solidFill>
                  <a:srgbClr val="C00000"/>
                </a:solidFill>
                <a:ea typeface="ＭＳ Ｐゴシック" pitchFamily="34" charset="-128"/>
              </a:rPr>
              <a:t>s interaction are possible?</a:t>
            </a:r>
          </a:p>
          <a:p>
            <a:pPr lvl="1" algn="just" eaLnBrk="1" hangingPunct="1">
              <a:lnSpc>
                <a:spcPct val="90000"/>
              </a:lnSpc>
              <a:defRPr/>
            </a:pPr>
            <a:r>
              <a:rPr lang="en-US" sz="2200" dirty="0">
                <a:solidFill>
                  <a:srgbClr val="C00000"/>
                </a:solidFill>
                <a:ea typeface="ＭＳ Ｐゴシック" pitchFamily="34" charset="-128"/>
              </a:rPr>
              <a:t>What system information will the actor acquire, produce, or change?</a:t>
            </a:r>
          </a:p>
          <a:p>
            <a:pPr lvl="1" algn="just" eaLnBrk="1" hangingPunct="1">
              <a:lnSpc>
                <a:spcPct val="90000"/>
              </a:lnSpc>
              <a:defRPr/>
            </a:pPr>
            <a:r>
              <a:rPr lang="en-US" sz="2200" dirty="0">
                <a:solidFill>
                  <a:srgbClr val="C00000"/>
                </a:solidFill>
                <a:ea typeface="ＭＳ Ｐゴシック" pitchFamily="34" charset="-128"/>
              </a:rPr>
              <a:t>Will the actor have to inform the system about changes in the external environment?</a:t>
            </a:r>
          </a:p>
          <a:p>
            <a:pPr lvl="1" algn="just" eaLnBrk="1" hangingPunct="1">
              <a:lnSpc>
                <a:spcPct val="90000"/>
              </a:lnSpc>
              <a:defRPr/>
            </a:pPr>
            <a:r>
              <a:rPr lang="en-US" sz="2200" dirty="0">
                <a:solidFill>
                  <a:srgbClr val="C00000"/>
                </a:solidFill>
                <a:ea typeface="ＭＳ Ｐゴシック" pitchFamily="34" charset="-128"/>
              </a:rPr>
              <a:t>What information does the actor desire from the system?</a:t>
            </a:r>
          </a:p>
          <a:p>
            <a:pPr lvl="1" algn="just" eaLnBrk="1" hangingPunct="1">
              <a:lnSpc>
                <a:spcPct val="90000"/>
              </a:lnSpc>
              <a:defRPr/>
            </a:pPr>
            <a:r>
              <a:rPr lang="en-US" sz="2200" dirty="0">
                <a:solidFill>
                  <a:srgbClr val="C00000"/>
                </a:solidFill>
                <a:ea typeface="ＭＳ Ｐゴシック" pitchFamily="34" charset="-128"/>
              </a:rPr>
              <a:t>Does the actor wish to be informed about unexpected changes?</a:t>
            </a:r>
          </a:p>
        </p:txBody>
      </p:sp>
      <p:sp>
        <p:nvSpPr>
          <p:cNvPr id="4" name="Date Placeholder 3">
            <a:extLst>
              <a:ext uri="{FF2B5EF4-FFF2-40B4-BE49-F238E27FC236}">
                <a16:creationId xmlns:a16="http://schemas.microsoft.com/office/drawing/2014/main" id="{27FAA8CE-4EC8-DA88-F62D-C3B74548A715}"/>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00B4F1FC-4787-0AE0-AC4A-7047C13036E9}"/>
              </a:ext>
            </a:extLst>
          </p:cNvPr>
          <p:cNvSpPr>
            <a:spLocks noGrp="1"/>
          </p:cNvSpPr>
          <p:nvPr>
            <p:ph type="sldNum" sz="quarter" idx="12"/>
          </p:nvPr>
        </p:nvSpPr>
        <p:spPr/>
        <p:txBody>
          <a:bodyPr/>
          <a:lstStyle/>
          <a:p>
            <a:fld id="{0A68DB68-8052-4758-A647-54338E95D837}" type="slidenum">
              <a:rPr lang="en-US" smtClean="0"/>
              <a:pPr/>
              <a:t>29</a:t>
            </a:fld>
            <a:endParaRPr lang="en-US" dirty="0"/>
          </a:p>
        </p:txBody>
      </p:sp>
    </p:spTree>
    <p:extLst>
      <p:ext uri="{BB962C8B-B14F-4D97-AF65-F5344CB8AC3E}">
        <p14:creationId xmlns:p14="http://schemas.microsoft.com/office/powerpoint/2010/main" val="2292331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DBBF1D8-1A51-455B-7946-7E0C558FE6E3}"/>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FF603ED1-0B95-126C-FD2B-37DA33731055}"/>
              </a:ext>
            </a:extLst>
          </p:cNvPr>
          <p:cNvSpPr>
            <a:spLocks noGrp="1"/>
          </p:cNvSpPr>
          <p:nvPr>
            <p:ph type="sldNum" sz="quarter" idx="12"/>
          </p:nvPr>
        </p:nvSpPr>
        <p:spPr/>
        <p:txBody>
          <a:bodyPr/>
          <a:lstStyle/>
          <a:p>
            <a:fld id="{0A68DB68-8052-4758-A647-54338E95D837}" type="slidenum">
              <a:rPr lang="en-US" smtClean="0"/>
              <a:pPr/>
              <a:t>30</a:t>
            </a:fld>
            <a:endParaRPr lang="en-US" dirty="0"/>
          </a:p>
        </p:txBody>
      </p:sp>
      <p:grpSp>
        <p:nvGrpSpPr>
          <p:cNvPr id="7" name="Group 6">
            <a:extLst>
              <a:ext uri="{FF2B5EF4-FFF2-40B4-BE49-F238E27FC236}">
                <a16:creationId xmlns:a16="http://schemas.microsoft.com/office/drawing/2014/main" id="{A496EE94-C096-BB6A-8B64-23EB53E09A61}"/>
              </a:ext>
            </a:extLst>
          </p:cNvPr>
          <p:cNvGrpSpPr/>
          <p:nvPr/>
        </p:nvGrpSpPr>
        <p:grpSpPr>
          <a:xfrm>
            <a:off x="533400" y="533400"/>
            <a:ext cx="8458200" cy="5824538"/>
            <a:chOff x="533400" y="533400"/>
            <a:chExt cx="8458200" cy="5824538"/>
          </a:xfrm>
        </p:grpSpPr>
        <p:sp>
          <p:nvSpPr>
            <p:cNvPr id="8" name="Oval 4">
              <a:extLst>
                <a:ext uri="{FF2B5EF4-FFF2-40B4-BE49-F238E27FC236}">
                  <a16:creationId xmlns:a16="http://schemas.microsoft.com/office/drawing/2014/main" id="{922C34F7-A38E-ADB0-406D-CA358C91810E}"/>
                </a:ext>
              </a:extLst>
            </p:cNvPr>
            <p:cNvSpPr>
              <a:spLocks noChangeArrowheads="1"/>
            </p:cNvSpPr>
            <p:nvPr/>
          </p:nvSpPr>
          <p:spPr bwMode="auto">
            <a:xfrm>
              <a:off x="3808413" y="1296988"/>
              <a:ext cx="1525587" cy="912812"/>
            </a:xfrm>
            <a:prstGeom prst="ellipse">
              <a:avLst/>
            </a:prstGeom>
            <a:noFill/>
            <a:ln w="12700">
              <a:solidFill>
                <a:schemeClr val="tx1"/>
              </a:solidFill>
              <a:round/>
              <a:headEnd/>
              <a:tailEnd/>
            </a:ln>
          </p:spPr>
          <p:txBody>
            <a:bodyPr wrap="none" anchor="ctr"/>
            <a:lstStyle/>
            <a:p>
              <a:pPr algn="ctr">
                <a:defRPr/>
              </a:pPr>
              <a:r>
                <a:rPr lang="en-US" sz="1100" b="1" dirty="0">
                  <a:solidFill>
                    <a:srgbClr val="C00000"/>
                  </a:solidFill>
                </a:rPr>
                <a:t>1</a:t>
              </a:r>
            </a:p>
            <a:p>
              <a:pPr algn="ctr">
                <a:defRPr/>
              </a:pPr>
              <a:r>
                <a:rPr lang="en-US" sz="1100" b="1" dirty="0">
                  <a:solidFill>
                    <a:srgbClr val="C00000"/>
                  </a:solidFill>
                </a:rPr>
                <a:t>Withdraw</a:t>
              </a:r>
            </a:p>
            <a:p>
              <a:pPr algn="ctr">
                <a:defRPr/>
              </a:pPr>
              <a:r>
                <a:rPr lang="en-US" sz="1100" b="1" dirty="0">
                  <a:solidFill>
                    <a:srgbClr val="C00000"/>
                  </a:solidFill>
                </a:rPr>
                <a:t>Money</a:t>
              </a:r>
            </a:p>
          </p:txBody>
        </p:sp>
        <p:sp>
          <p:nvSpPr>
            <p:cNvPr id="9" name="Oval 5">
              <a:extLst>
                <a:ext uri="{FF2B5EF4-FFF2-40B4-BE49-F238E27FC236}">
                  <a16:creationId xmlns:a16="http://schemas.microsoft.com/office/drawing/2014/main" id="{903A0D1A-3AD4-A08C-440B-AF192CF173D2}"/>
                </a:ext>
              </a:extLst>
            </p:cNvPr>
            <p:cNvSpPr>
              <a:spLocks noChangeArrowheads="1"/>
            </p:cNvSpPr>
            <p:nvPr/>
          </p:nvSpPr>
          <p:spPr bwMode="auto">
            <a:xfrm>
              <a:off x="3808413" y="2438400"/>
              <a:ext cx="1525587" cy="912813"/>
            </a:xfrm>
            <a:prstGeom prst="ellipse">
              <a:avLst/>
            </a:prstGeom>
            <a:noFill/>
            <a:ln w="12700">
              <a:solidFill>
                <a:schemeClr val="tx1"/>
              </a:solidFill>
              <a:round/>
              <a:headEnd/>
              <a:tailEnd/>
            </a:ln>
          </p:spPr>
          <p:txBody>
            <a:bodyPr wrap="none" anchor="ctr"/>
            <a:lstStyle/>
            <a:p>
              <a:pPr algn="ctr">
                <a:defRPr/>
              </a:pPr>
              <a:r>
                <a:rPr lang="en-US" sz="1100" b="1" dirty="0">
                  <a:solidFill>
                    <a:srgbClr val="C00000"/>
                  </a:solidFill>
                </a:rPr>
                <a:t>2</a:t>
              </a:r>
            </a:p>
            <a:p>
              <a:pPr algn="ctr">
                <a:defRPr/>
              </a:pPr>
              <a:r>
                <a:rPr lang="en-US" sz="1100" b="1" dirty="0">
                  <a:solidFill>
                    <a:srgbClr val="C00000"/>
                  </a:solidFill>
                </a:rPr>
                <a:t>Deposit</a:t>
              </a:r>
            </a:p>
            <a:p>
              <a:pPr algn="ctr">
                <a:defRPr/>
              </a:pPr>
              <a:r>
                <a:rPr lang="en-US" sz="1100" b="1" dirty="0">
                  <a:solidFill>
                    <a:srgbClr val="C00000"/>
                  </a:solidFill>
                </a:rPr>
                <a:t>Money</a:t>
              </a:r>
            </a:p>
          </p:txBody>
        </p:sp>
        <p:sp>
          <p:nvSpPr>
            <p:cNvPr id="10" name="Oval 6">
              <a:extLst>
                <a:ext uri="{FF2B5EF4-FFF2-40B4-BE49-F238E27FC236}">
                  <a16:creationId xmlns:a16="http://schemas.microsoft.com/office/drawing/2014/main" id="{8C5EFBDB-C932-987F-919D-9D0EBEB3AAC3}"/>
                </a:ext>
              </a:extLst>
            </p:cNvPr>
            <p:cNvSpPr>
              <a:spLocks noChangeArrowheads="1"/>
            </p:cNvSpPr>
            <p:nvPr/>
          </p:nvSpPr>
          <p:spPr bwMode="auto">
            <a:xfrm>
              <a:off x="3808413" y="3581400"/>
              <a:ext cx="1525587" cy="912813"/>
            </a:xfrm>
            <a:prstGeom prst="ellipse">
              <a:avLst/>
            </a:prstGeom>
            <a:noFill/>
            <a:ln w="12700">
              <a:solidFill>
                <a:schemeClr val="tx1"/>
              </a:solidFill>
              <a:round/>
              <a:headEnd/>
              <a:tailEnd/>
            </a:ln>
          </p:spPr>
          <p:txBody>
            <a:bodyPr wrap="none" anchor="ctr"/>
            <a:lstStyle/>
            <a:p>
              <a:pPr algn="ctr">
                <a:defRPr/>
              </a:pPr>
              <a:r>
                <a:rPr lang="en-US" sz="1100" b="1">
                  <a:solidFill>
                    <a:srgbClr val="C00000"/>
                  </a:solidFill>
                </a:rPr>
                <a:t>3</a:t>
              </a:r>
            </a:p>
            <a:p>
              <a:pPr algn="ctr">
                <a:defRPr/>
              </a:pPr>
              <a:r>
                <a:rPr lang="en-US" sz="1100" b="1">
                  <a:solidFill>
                    <a:srgbClr val="C00000"/>
                  </a:solidFill>
                </a:rPr>
                <a:t>Transfer</a:t>
              </a:r>
            </a:p>
            <a:p>
              <a:pPr algn="ctr">
                <a:defRPr/>
              </a:pPr>
              <a:r>
                <a:rPr lang="en-US" sz="1100" b="1">
                  <a:solidFill>
                    <a:srgbClr val="C00000"/>
                  </a:solidFill>
                </a:rPr>
                <a:t>Money</a:t>
              </a:r>
            </a:p>
          </p:txBody>
        </p:sp>
        <p:sp>
          <p:nvSpPr>
            <p:cNvPr id="11" name="Oval 7">
              <a:extLst>
                <a:ext uri="{FF2B5EF4-FFF2-40B4-BE49-F238E27FC236}">
                  <a16:creationId xmlns:a16="http://schemas.microsoft.com/office/drawing/2014/main" id="{58B6A6BE-97AD-CE1F-1580-8C3ACEB6656B}"/>
                </a:ext>
              </a:extLst>
            </p:cNvPr>
            <p:cNvSpPr>
              <a:spLocks noChangeArrowheads="1"/>
            </p:cNvSpPr>
            <p:nvPr/>
          </p:nvSpPr>
          <p:spPr bwMode="auto">
            <a:xfrm>
              <a:off x="3808413" y="4725988"/>
              <a:ext cx="1525587" cy="912812"/>
            </a:xfrm>
            <a:prstGeom prst="ellipse">
              <a:avLst/>
            </a:prstGeom>
            <a:noFill/>
            <a:ln w="12700">
              <a:solidFill>
                <a:schemeClr val="tx1"/>
              </a:solidFill>
              <a:round/>
              <a:headEnd/>
              <a:tailEnd/>
            </a:ln>
          </p:spPr>
          <p:txBody>
            <a:bodyPr wrap="none" anchor="ctr"/>
            <a:lstStyle/>
            <a:p>
              <a:pPr algn="ctr">
                <a:defRPr/>
              </a:pPr>
              <a:r>
                <a:rPr lang="en-US" sz="1100" b="1" dirty="0">
                  <a:solidFill>
                    <a:srgbClr val="C00000"/>
                  </a:solidFill>
                </a:rPr>
                <a:t>4</a:t>
              </a:r>
            </a:p>
            <a:p>
              <a:pPr algn="ctr">
                <a:defRPr/>
              </a:pPr>
              <a:r>
                <a:rPr lang="en-US" sz="1100" b="1" dirty="0">
                  <a:solidFill>
                    <a:srgbClr val="C00000"/>
                  </a:solidFill>
                </a:rPr>
                <a:t>Check</a:t>
              </a:r>
            </a:p>
            <a:p>
              <a:pPr algn="ctr">
                <a:defRPr/>
              </a:pPr>
              <a:r>
                <a:rPr lang="en-US" sz="1100" b="1" dirty="0">
                  <a:solidFill>
                    <a:srgbClr val="C00000"/>
                  </a:solidFill>
                </a:rPr>
                <a:t>Balance</a:t>
              </a:r>
            </a:p>
          </p:txBody>
        </p:sp>
        <p:sp>
          <p:nvSpPr>
            <p:cNvPr id="12" name="Rectangle 8">
              <a:extLst>
                <a:ext uri="{FF2B5EF4-FFF2-40B4-BE49-F238E27FC236}">
                  <a16:creationId xmlns:a16="http://schemas.microsoft.com/office/drawing/2014/main" id="{1BE71755-125D-0358-8EE5-DC5FBD5E6350}"/>
                </a:ext>
              </a:extLst>
            </p:cNvPr>
            <p:cNvSpPr>
              <a:spLocks noChangeArrowheads="1"/>
            </p:cNvSpPr>
            <p:nvPr/>
          </p:nvSpPr>
          <p:spPr bwMode="auto">
            <a:xfrm>
              <a:off x="2971800" y="609600"/>
              <a:ext cx="3276600" cy="5410200"/>
            </a:xfrm>
            <a:prstGeom prst="rect">
              <a:avLst/>
            </a:prstGeom>
            <a:noFill/>
            <a:ln w="12700">
              <a:solidFill>
                <a:schemeClr val="tx1"/>
              </a:solidFill>
              <a:miter lim="800000"/>
              <a:headEnd/>
              <a:tailEnd/>
            </a:ln>
          </p:spPr>
          <p:txBody>
            <a:bodyPr wrap="none" anchor="ctr"/>
            <a:lstStyle/>
            <a:p>
              <a:pPr algn="ctr">
                <a:defRPr/>
              </a:pPr>
              <a:endParaRPr lang="en-US" sz="1100" b="1">
                <a:solidFill>
                  <a:srgbClr val="C00000"/>
                </a:solidFill>
              </a:endParaRPr>
            </a:p>
          </p:txBody>
        </p:sp>
        <p:sp>
          <p:nvSpPr>
            <p:cNvPr id="13" name="Text Box 9">
              <a:extLst>
                <a:ext uri="{FF2B5EF4-FFF2-40B4-BE49-F238E27FC236}">
                  <a16:creationId xmlns:a16="http://schemas.microsoft.com/office/drawing/2014/main" id="{57BB037C-9C54-19B5-E6CA-2F116191FB9A}"/>
                </a:ext>
              </a:extLst>
            </p:cNvPr>
            <p:cNvSpPr txBox="1">
              <a:spLocks noChangeArrowheads="1"/>
            </p:cNvSpPr>
            <p:nvPr/>
          </p:nvSpPr>
          <p:spPr bwMode="auto">
            <a:xfrm>
              <a:off x="3124200" y="685800"/>
              <a:ext cx="1524000" cy="261938"/>
            </a:xfrm>
            <a:prstGeom prst="rect">
              <a:avLst/>
            </a:prstGeom>
            <a:noFill/>
            <a:ln w="12700">
              <a:noFill/>
              <a:miter lim="800000"/>
              <a:headEnd/>
              <a:tailEnd/>
            </a:ln>
          </p:spPr>
          <p:txBody>
            <a:bodyPr>
              <a:spAutoFit/>
            </a:bodyPr>
            <a:lstStyle/>
            <a:p>
              <a:pPr>
                <a:spcBef>
                  <a:spcPct val="50000"/>
                </a:spcBef>
                <a:defRPr/>
              </a:pPr>
              <a:r>
                <a:rPr lang="en-US" sz="1100" b="1">
                  <a:solidFill>
                    <a:srgbClr val="C00000"/>
                  </a:solidFill>
                </a:rPr>
                <a:t>ATM System</a:t>
              </a:r>
            </a:p>
          </p:txBody>
        </p:sp>
        <p:grpSp>
          <p:nvGrpSpPr>
            <p:cNvPr id="14" name="Group 15">
              <a:extLst>
                <a:ext uri="{FF2B5EF4-FFF2-40B4-BE49-F238E27FC236}">
                  <a16:creationId xmlns:a16="http://schemas.microsoft.com/office/drawing/2014/main" id="{C5437F3B-5C22-6FED-5A1A-FB587C6058FD}"/>
                </a:ext>
              </a:extLst>
            </p:cNvPr>
            <p:cNvGrpSpPr>
              <a:grpSpLocks/>
            </p:cNvGrpSpPr>
            <p:nvPr/>
          </p:nvGrpSpPr>
          <p:grpSpPr bwMode="auto">
            <a:xfrm>
              <a:off x="1447800" y="1828800"/>
              <a:ext cx="358775" cy="842963"/>
              <a:chOff x="590" y="1053"/>
              <a:chExt cx="226" cy="531"/>
            </a:xfrm>
          </p:grpSpPr>
          <p:sp>
            <p:nvSpPr>
              <p:cNvPr id="49" name="Oval 10">
                <a:extLst>
                  <a:ext uri="{FF2B5EF4-FFF2-40B4-BE49-F238E27FC236}">
                    <a16:creationId xmlns:a16="http://schemas.microsoft.com/office/drawing/2014/main" id="{FFCE27F9-BC94-CD4D-8C43-6425CBB2F972}"/>
                  </a:ext>
                </a:extLst>
              </p:cNvPr>
              <p:cNvSpPr>
                <a:spLocks noChangeArrowheads="1"/>
              </p:cNvSpPr>
              <p:nvPr/>
            </p:nvSpPr>
            <p:spPr bwMode="auto">
              <a:xfrm>
                <a:off x="621" y="1053"/>
                <a:ext cx="144" cy="144"/>
              </a:xfrm>
              <a:prstGeom prst="ellipse">
                <a:avLst/>
              </a:prstGeom>
              <a:noFill/>
              <a:ln w="12700">
                <a:solidFill>
                  <a:schemeClr val="tx1"/>
                </a:solidFill>
                <a:round/>
                <a:headEnd/>
                <a:tailEnd/>
              </a:ln>
            </p:spPr>
            <p:txBody>
              <a:bodyPr wrap="none" anchor="ctr"/>
              <a:lstStyle/>
              <a:p>
                <a:pPr>
                  <a:defRPr/>
                </a:pPr>
                <a:endParaRPr lang="en-US" sz="1100" b="1">
                  <a:solidFill>
                    <a:srgbClr val="C00000"/>
                  </a:solidFill>
                </a:endParaRPr>
              </a:p>
            </p:txBody>
          </p:sp>
          <p:sp>
            <p:nvSpPr>
              <p:cNvPr id="50" name="Line 11">
                <a:extLst>
                  <a:ext uri="{FF2B5EF4-FFF2-40B4-BE49-F238E27FC236}">
                    <a16:creationId xmlns:a16="http://schemas.microsoft.com/office/drawing/2014/main" id="{EAD73268-2603-4078-45C2-710B1E3F6813}"/>
                  </a:ext>
                </a:extLst>
              </p:cNvPr>
              <p:cNvSpPr>
                <a:spLocks noChangeShapeType="1"/>
              </p:cNvSpPr>
              <p:nvPr/>
            </p:nvSpPr>
            <p:spPr bwMode="auto">
              <a:xfrm>
                <a:off x="692" y="1200"/>
                <a:ext cx="0" cy="24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51" name="Line 12">
                <a:extLst>
                  <a:ext uri="{FF2B5EF4-FFF2-40B4-BE49-F238E27FC236}">
                    <a16:creationId xmlns:a16="http://schemas.microsoft.com/office/drawing/2014/main" id="{E808ED1D-9C00-E2BB-688E-0A26B035A754}"/>
                  </a:ext>
                </a:extLst>
              </p:cNvPr>
              <p:cNvSpPr>
                <a:spLocks noChangeShapeType="1"/>
              </p:cNvSpPr>
              <p:nvPr/>
            </p:nvSpPr>
            <p:spPr bwMode="auto">
              <a:xfrm>
                <a:off x="686" y="1440"/>
                <a:ext cx="130" cy="144"/>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52" name="Line 13">
                <a:extLst>
                  <a:ext uri="{FF2B5EF4-FFF2-40B4-BE49-F238E27FC236}">
                    <a16:creationId xmlns:a16="http://schemas.microsoft.com/office/drawing/2014/main" id="{94830B19-A130-E748-8C5E-78D82474C6B8}"/>
                  </a:ext>
                </a:extLst>
              </p:cNvPr>
              <p:cNvSpPr>
                <a:spLocks noChangeShapeType="1"/>
              </p:cNvSpPr>
              <p:nvPr/>
            </p:nvSpPr>
            <p:spPr bwMode="auto">
              <a:xfrm flipH="1">
                <a:off x="590" y="1440"/>
                <a:ext cx="96" cy="144"/>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53" name="Line 14">
                <a:extLst>
                  <a:ext uri="{FF2B5EF4-FFF2-40B4-BE49-F238E27FC236}">
                    <a16:creationId xmlns:a16="http://schemas.microsoft.com/office/drawing/2014/main" id="{AEB4D33A-0FA8-00C4-32CE-19B9B5820D58}"/>
                  </a:ext>
                </a:extLst>
              </p:cNvPr>
              <p:cNvSpPr>
                <a:spLocks noChangeShapeType="1"/>
              </p:cNvSpPr>
              <p:nvPr/>
            </p:nvSpPr>
            <p:spPr bwMode="auto">
              <a:xfrm>
                <a:off x="624" y="1296"/>
                <a:ext cx="144" cy="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grpSp>
        <p:sp>
          <p:nvSpPr>
            <p:cNvPr id="15" name="Text Box 16">
              <a:extLst>
                <a:ext uri="{FF2B5EF4-FFF2-40B4-BE49-F238E27FC236}">
                  <a16:creationId xmlns:a16="http://schemas.microsoft.com/office/drawing/2014/main" id="{EF09CE95-A1E8-D1CE-6A80-D4358FE7C0BD}"/>
                </a:ext>
              </a:extLst>
            </p:cNvPr>
            <p:cNvSpPr txBox="1">
              <a:spLocks noChangeArrowheads="1"/>
            </p:cNvSpPr>
            <p:nvPr/>
          </p:nvSpPr>
          <p:spPr bwMode="auto">
            <a:xfrm>
              <a:off x="1066800" y="2743200"/>
              <a:ext cx="1066800" cy="430213"/>
            </a:xfrm>
            <a:prstGeom prst="rect">
              <a:avLst/>
            </a:prstGeom>
            <a:noFill/>
            <a:ln w="12700">
              <a:noFill/>
              <a:miter lim="800000"/>
              <a:headEnd/>
              <a:tailEnd/>
            </a:ln>
          </p:spPr>
          <p:txBody>
            <a:bodyPr>
              <a:spAutoFit/>
            </a:bodyPr>
            <a:lstStyle/>
            <a:p>
              <a:pPr algn="ctr">
                <a:spcBef>
                  <a:spcPct val="50000"/>
                </a:spcBef>
                <a:defRPr/>
              </a:pPr>
              <a:r>
                <a:rPr lang="en-US" sz="1100" b="1">
                  <a:solidFill>
                    <a:srgbClr val="C00000"/>
                  </a:solidFill>
                </a:rPr>
                <a:t>Bank Customer</a:t>
              </a:r>
            </a:p>
          </p:txBody>
        </p:sp>
        <p:grpSp>
          <p:nvGrpSpPr>
            <p:cNvPr id="16" name="Group 17">
              <a:extLst>
                <a:ext uri="{FF2B5EF4-FFF2-40B4-BE49-F238E27FC236}">
                  <a16:creationId xmlns:a16="http://schemas.microsoft.com/office/drawing/2014/main" id="{8F24E661-75D7-8F50-DE8E-29A588514830}"/>
                </a:ext>
              </a:extLst>
            </p:cNvPr>
            <p:cNvGrpSpPr>
              <a:grpSpLocks/>
            </p:cNvGrpSpPr>
            <p:nvPr/>
          </p:nvGrpSpPr>
          <p:grpSpPr bwMode="auto">
            <a:xfrm>
              <a:off x="7162800" y="2362200"/>
              <a:ext cx="358775" cy="842963"/>
              <a:chOff x="590" y="1053"/>
              <a:chExt cx="226" cy="531"/>
            </a:xfrm>
          </p:grpSpPr>
          <p:sp>
            <p:nvSpPr>
              <p:cNvPr id="44" name="Oval 18">
                <a:extLst>
                  <a:ext uri="{FF2B5EF4-FFF2-40B4-BE49-F238E27FC236}">
                    <a16:creationId xmlns:a16="http://schemas.microsoft.com/office/drawing/2014/main" id="{093E053D-4ABA-84DF-20BC-9EDF789102CA}"/>
                  </a:ext>
                </a:extLst>
              </p:cNvPr>
              <p:cNvSpPr>
                <a:spLocks noChangeArrowheads="1"/>
              </p:cNvSpPr>
              <p:nvPr/>
            </p:nvSpPr>
            <p:spPr bwMode="auto">
              <a:xfrm>
                <a:off x="621" y="1053"/>
                <a:ext cx="144" cy="144"/>
              </a:xfrm>
              <a:prstGeom prst="ellipse">
                <a:avLst/>
              </a:prstGeom>
              <a:noFill/>
              <a:ln w="12700">
                <a:solidFill>
                  <a:schemeClr val="tx1"/>
                </a:solidFill>
                <a:round/>
                <a:headEnd/>
                <a:tailEnd/>
              </a:ln>
            </p:spPr>
            <p:txBody>
              <a:bodyPr wrap="none" anchor="ctr"/>
              <a:lstStyle/>
              <a:p>
                <a:pPr>
                  <a:defRPr/>
                </a:pPr>
                <a:endParaRPr lang="en-US" sz="1100" b="1">
                  <a:solidFill>
                    <a:srgbClr val="C00000"/>
                  </a:solidFill>
                </a:endParaRPr>
              </a:p>
            </p:txBody>
          </p:sp>
          <p:sp>
            <p:nvSpPr>
              <p:cNvPr id="45" name="Line 19">
                <a:extLst>
                  <a:ext uri="{FF2B5EF4-FFF2-40B4-BE49-F238E27FC236}">
                    <a16:creationId xmlns:a16="http://schemas.microsoft.com/office/drawing/2014/main" id="{EB1BAFC7-887B-154B-6FE1-B3DF42969DFD}"/>
                  </a:ext>
                </a:extLst>
              </p:cNvPr>
              <p:cNvSpPr>
                <a:spLocks noChangeShapeType="1"/>
              </p:cNvSpPr>
              <p:nvPr/>
            </p:nvSpPr>
            <p:spPr bwMode="auto">
              <a:xfrm>
                <a:off x="692" y="1200"/>
                <a:ext cx="0" cy="24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46" name="Line 20">
                <a:extLst>
                  <a:ext uri="{FF2B5EF4-FFF2-40B4-BE49-F238E27FC236}">
                    <a16:creationId xmlns:a16="http://schemas.microsoft.com/office/drawing/2014/main" id="{3329D50A-2FA6-594D-C01F-838A1A0BE0C2}"/>
                  </a:ext>
                </a:extLst>
              </p:cNvPr>
              <p:cNvSpPr>
                <a:spLocks noChangeShapeType="1"/>
              </p:cNvSpPr>
              <p:nvPr/>
            </p:nvSpPr>
            <p:spPr bwMode="auto">
              <a:xfrm>
                <a:off x="686" y="1440"/>
                <a:ext cx="130" cy="144"/>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47" name="Line 21">
                <a:extLst>
                  <a:ext uri="{FF2B5EF4-FFF2-40B4-BE49-F238E27FC236}">
                    <a16:creationId xmlns:a16="http://schemas.microsoft.com/office/drawing/2014/main" id="{E5E36CCC-64BA-B167-095C-05A401D106E7}"/>
                  </a:ext>
                </a:extLst>
              </p:cNvPr>
              <p:cNvSpPr>
                <a:spLocks noChangeShapeType="1"/>
              </p:cNvSpPr>
              <p:nvPr/>
            </p:nvSpPr>
            <p:spPr bwMode="auto">
              <a:xfrm flipH="1">
                <a:off x="590" y="1440"/>
                <a:ext cx="96" cy="144"/>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48" name="Line 22">
                <a:extLst>
                  <a:ext uri="{FF2B5EF4-FFF2-40B4-BE49-F238E27FC236}">
                    <a16:creationId xmlns:a16="http://schemas.microsoft.com/office/drawing/2014/main" id="{83509456-660F-5FAA-87D9-F4A975582BFC}"/>
                  </a:ext>
                </a:extLst>
              </p:cNvPr>
              <p:cNvSpPr>
                <a:spLocks noChangeShapeType="1"/>
              </p:cNvSpPr>
              <p:nvPr/>
            </p:nvSpPr>
            <p:spPr bwMode="auto">
              <a:xfrm>
                <a:off x="624" y="1296"/>
                <a:ext cx="144" cy="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grpSp>
        <p:sp>
          <p:nvSpPr>
            <p:cNvPr id="17" name="Text Box 23">
              <a:extLst>
                <a:ext uri="{FF2B5EF4-FFF2-40B4-BE49-F238E27FC236}">
                  <a16:creationId xmlns:a16="http://schemas.microsoft.com/office/drawing/2014/main" id="{C6A5CC12-4813-B83D-A3CA-6A6C1C99A676}"/>
                </a:ext>
              </a:extLst>
            </p:cNvPr>
            <p:cNvSpPr txBox="1">
              <a:spLocks noChangeArrowheads="1"/>
            </p:cNvSpPr>
            <p:nvPr/>
          </p:nvSpPr>
          <p:spPr bwMode="auto">
            <a:xfrm>
              <a:off x="6858000" y="3232150"/>
              <a:ext cx="990600" cy="600075"/>
            </a:xfrm>
            <a:prstGeom prst="rect">
              <a:avLst/>
            </a:prstGeom>
            <a:noFill/>
            <a:ln w="12700">
              <a:noFill/>
              <a:miter lim="800000"/>
              <a:headEnd/>
              <a:tailEnd/>
            </a:ln>
          </p:spPr>
          <p:txBody>
            <a:bodyPr>
              <a:spAutoFit/>
            </a:bodyPr>
            <a:lstStyle/>
            <a:p>
              <a:pPr algn="ctr">
                <a:spcBef>
                  <a:spcPct val="50000"/>
                </a:spcBef>
                <a:defRPr/>
              </a:pPr>
              <a:r>
                <a:rPr lang="en-US" sz="1100" b="1">
                  <a:solidFill>
                    <a:srgbClr val="C00000"/>
                  </a:solidFill>
                </a:rPr>
                <a:t>Customer Accounts Database</a:t>
              </a:r>
            </a:p>
          </p:txBody>
        </p:sp>
        <p:sp>
          <p:nvSpPr>
            <p:cNvPr id="18" name="Line 24">
              <a:extLst>
                <a:ext uri="{FF2B5EF4-FFF2-40B4-BE49-F238E27FC236}">
                  <a16:creationId xmlns:a16="http://schemas.microsoft.com/office/drawing/2014/main" id="{8CA11AB0-AB14-2F39-A5FC-489C78DBE0B8}"/>
                </a:ext>
              </a:extLst>
            </p:cNvPr>
            <p:cNvSpPr>
              <a:spLocks noChangeShapeType="1"/>
            </p:cNvSpPr>
            <p:nvPr/>
          </p:nvSpPr>
          <p:spPr bwMode="auto">
            <a:xfrm flipV="1">
              <a:off x="1981200" y="1752600"/>
              <a:ext cx="1828800" cy="38100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19" name="Line 25">
              <a:extLst>
                <a:ext uri="{FF2B5EF4-FFF2-40B4-BE49-F238E27FC236}">
                  <a16:creationId xmlns:a16="http://schemas.microsoft.com/office/drawing/2014/main" id="{99FF118B-B5AF-0E58-C770-B3E241B78A8E}"/>
                </a:ext>
              </a:extLst>
            </p:cNvPr>
            <p:cNvSpPr>
              <a:spLocks noChangeShapeType="1"/>
            </p:cNvSpPr>
            <p:nvPr/>
          </p:nvSpPr>
          <p:spPr bwMode="auto">
            <a:xfrm>
              <a:off x="1981200" y="2286000"/>
              <a:ext cx="1828800" cy="60960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20" name="Line 26">
              <a:extLst>
                <a:ext uri="{FF2B5EF4-FFF2-40B4-BE49-F238E27FC236}">
                  <a16:creationId xmlns:a16="http://schemas.microsoft.com/office/drawing/2014/main" id="{AC6D34DE-FA9B-3740-75B9-B42DE7A17A5E}"/>
                </a:ext>
              </a:extLst>
            </p:cNvPr>
            <p:cNvSpPr>
              <a:spLocks noChangeShapeType="1"/>
            </p:cNvSpPr>
            <p:nvPr/>
          </p:nvSpPr>
          <p:spPr bwMode="auto">
            <a:xfrm>
              <a:off x="1981200" y="2514600"/>
              <a:ext cx="1828800" cy="152400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21" name="Line 27">
              <a:extLst>
                <a:ext uri="{FF2B5EF4-FFF2-40B4-BE49-F238E27FC236}">
                  <a16:creationId xmlns:a16="http://schemas.microsoft.com/office/drawing/2014/main" id="{719D24C9-32C9-EF27-6E3F-59B491344669}"/>
                </a:ext>
              </a:extLst>
            </p:cNvPr>
            <p:cNvSpPr>
              <a:spLocks noChangeShapeType="1"/>
            </p:cNvSpPr>
            <p:nvPr/>
          </p:nvSpPr>
          <p:spPr bwMode="auto">
            <a:xfrm>
              <a:off x="1981200" y="2743200"/>
              <a:ext cx="1828800" cy="243840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22" name="Line 28">
              <a:extLst>
                <a:ext uri="{FF2B5EF4-FFF2-40B4-BE49-F238E27FC236}">
                  <a16:creationId xmlns:a16="http://schemas.microsoft.com/office/drawing/2014/main" id="{508ED327-6ED7-078D-1571-87B798CFB249}"/>
                </a:ext>
              </a:extLst>
            </p:cNvPr>
            <p:cNvSpPr>
              <a:spLocks noChangeShapeType="1"/>
            </p:cNvSpPr>
            <p:nvPr/>
          </p:nvSpPr>
          <p:spPr bwMode="auto">
            <a:xfrm>
              <a:off x="5334000" y="1676400"/>
              <a:ext cx="1600200" cy="91440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23" name="Line 29">
              <a:extLst>
                <a:ext uri="{FF2B5EF4-FFF2-40B4-BE49-F238E27FC236}">
                  <a16:creationId xmlns:a16="http://schemas.microsoft.com/office/drawing/2014/main" id="{BAA0AE14-FE5E-7C3E-058F-E03F73D63B3D}"/>
                </a:ext>
              </a:extLst>
            </p:cNvPr>
            <p:cNvSpPr>
              <a:spLocks noChangeShapeType="1"/>
            </p:cNvSpPr>
            <p:nvPr/>
          </p:nvSpPr>
          <p:spPr bwMode="auto">
            <a:xfrm flipV="1">
              <a:off x="5334000" y="2743200"/>
              <a:ext cx="1600200" cy="15240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24" name="Line 30">
              <a:extLst>
                <a:ext uri="{FF2B5EF4-FFF2-40B4-BE49-F238E27FC236}">
                  <a16:creationId xmlns:a16="http://schemas.microsoft.com/office/drawing/2014/main" id="{8353CF7F-101E-491D-EBA8-841A9B919AAB}"/>
                </a:ext>
              </a:extLst>
            </p:cNvPr>
            <p:cNvSpPr>
              <a:spLocks noChangeShapeType="1"/>
            </p:cNvSpPr>
            <p:nvPr/>
          </p:nvSpPr>
          <p:spPr bwMode="auto">
            <a:xfrm flipV="1">
              <a:off x="5334000" y="2895600"/>
              <a:ext cx="1600200" cy="114300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25" name="Line 31">
              <a:extLst>
                <a:ext uri="{FF2B5EF4-FFF2-40B4-BE49-F238E27FC236}">
                  <a16:creationId xmlns:a16="http://schemas.microsoft.com/office/drawing/2014/main" id="{D105D166-EA64-870D-58FC-924C4104F89A}"/>
                </a:ext>
              </a:extLst>
            </p:cNvPr>
            <p:cNvSpPr>
              <a:spLocks noChangeShapeType="1"/>
            </p:cNvSpPr>
            <p:nvPr/>
          </p:nvSpPr>
          <p:spPr bwMode="auto">
            <a:xfrm flipV="1">
              <a:off x="5334000" y="3124200"/>
              <a:ext cx="1600200" cy="2057400"/>
            </a:xfrm>
            <a:prstGeom prst="line">
              <a:avLst/>
            </a:prstGeom>
            <a:noFill/>
            <a:ln w="12700">
              <a:solidFill>
                <a:schemeClr val="tx1"/>
              </a:solidFill>
              <a:round/>
              <a:headEnd/>
              <a:tailEnd/>
            </a:ln>
          </p:spPr>
          <p:txBody>
            <a:bodyPr/>
            <a:lstStyle/>
            <a:p>
              <a:pPr>
                <a:defRPr/>
              </a:pPr>
              <a:endParaRPr lang="en-US" sz="1100" b="1">
                <a:solidFill>
                  <a:srgbClr val="C00000"/>
                </a:solidFill>
              </a:endParaRPr>
            </a:p>
          </p:txBody>
        </p:sp>
        <p:sp>
          <p:nvSpPr>
            <p:cNvPr id="26" name="Text Box 32">
              <a:extLst>
                <a:ext uri="{FF2B5EF4-FFF2-40B4-BE49-F238E27FC236}">
                  <a16:creationId xmlns:a16="http://schemas.microsoft.com/office/drawing/2014/main" id="{8D6BD282-E797-4293-CB2F-0DD6B28CD100}"/>
                </a:ext>
              </a:extLst>
            </p:cNvPr>
            <p:cNvSpPr txBox="1">
              <a:spLocks noChangeArrowheads="1"/>
            </p:cNvSpPr>
            <p:nvPr/>
          </p:nvSpPr>
          <p:spPr bwMode="auto">
            <a:xfrm>
              <a:off x="533400" y="1371600"/>
              <a:ext cx="1371600" cy="261938"/>
            </a:xfrm>
            <a:prstGeom prst="rect">
              <a:avLst/>
            </a:prstGeom>
            <a:noFill/>
            <a:ln w="12700">
              <a:noFill/>
              <a:miter lim="800000"/>
              <a:headEnd/>
              <a:tailEnd/>
            </a:ln>
          </p:spPr>
          <p:txBody>
            <a:bodyPr>
              <a:spAutoFit/>
            </a:bodyPr>
            <a:lstStyle/>
            <a:p>
              <a:pPr>
                <a:spcBef>
                  <a:spcPct val="50000"/>
                </a:spcBef>
                <a:defRPr/>
              </a:pPr>
              <a:r>
                <a:rPr lang="en-US" sz="1100" b="1" dirty="0">
                  <a:solidFill>
                    <a:srgbClr val="C00000"/>
                  </a:solidFill>
                </a:rPr>
                <a:t>primary actor</a:t>
              </a:r>
            </a:p>
          </p:txBody>
        </p:sp>
        <p:sp>
          <p:nvSpPr>
            <p:cNvPr id="27" name="Line 33">
              <a:extLst>
                <a:ext uri="{FF2B5EF4-FFF2-40B4-BE49-F238E27FC236}">
                  <a16:creationId xmlns:a16="http://schemas.microsoft.com/office/drawing/2014/main" id="{84DA0436-6395-8D86-27A4-7549FA44DB40}"/>
                </a:ext>
              </a:extLst>
            </p:cNvPr>
            <p:cNvSpPr>
              <a:spLocks noChangeShapeType="1"/>
            </p:cNvSpPr>
            <p:nvPr/>
          </p:nvSpPr>
          <p:spPr bwMode="auto">
            <a:xfrm>
              <a:off x="990600" y="1676400"/>
              <a:ext cx="381000" cy="228600"/>
            </a:xfrm>
            <a:prstGeom prst="line">
              <a:avLst/>
            </a:prstGeom>
            <a:noFill/>
            <a:ln w="12700">
              <a:solidFill>
                <a:schemeClr val="hlink"/>
              </a:solidFill>
              <a:prstDash val="dash"/>
              <a:round/>
              <a:headEnd/>
              <a:tailEnd type="triangle" w="med" len="med"/>
            </a:ln>
          </p:spPr>
          <p:txBody>
            <a:bodyPr/>
            <a:lstStyle/>
            <a:p>
              <a:pPr>
                <a:defRPr/>
              </a:pPr>
              <a:endParaRPr lang="en-US" sz="1100" b="1">
                <a:solidFill>
                  <a:srgbClr val="C00000"/>
                </a:solidFill>
              </a:endParaRPr>
            </a:p>
          </p:txBody>
        </p:sp>
        <p:sp>
          <p:nvSpPr>
            <p:cNvPr id="28" name="Text Box 34">
              <a:extLst>
                <a:ext uri="{FF2B5EF4-FFF2-40B4-BE49-F238E27FC236}">
                  <a16:creationId xmlns:a16="http://schemas.microsoft.com/office/drawing/2014/main" id="{89CCB4A5-3E03-2992-9F5E-8B91C3455313}"/>
                </a:ext>
              </a:extLst>
            </p:cNvPr>
            <p:cNvSpPr txBox="1">
              <a:spLocks noChangeArrowheads="1"/>
            </p:cNvSpPr>
            <p:nvPr/>
          </p:nvSpPr>
          <p:spPr bwMode="auto">
            <a:xfrm>
              <a:off x="533400" y="3733800"/>
              <a:ext cx="533400" cy="261938"/>
            </a:xfrm>
            <a:prstGeom prst="rect">
              <a:avLst/>
            </a:prstGeom>
            <a:noFill/>
            <a:ln w="12700">
              <a:noFill/>
              <a:miter lim="800000"/>
              <a:headEnd/>
              <a:tailEnd/>
            </a:ln>
          </p:spPr>
          <p:txBody>
            <a:bodyPr>
              <a:spAutoFit/>
            </a:bodyPr>
            <a:lstStyle/>
            <a:p>
              <a:pPr>
                <a:spcBef>
                  <a:spcPct val="50000"/>
                </a:spcBef>
                <a:defRPr/>
              </a:pPr>
              <a:r>
                <a:rPr lang="en-US" sz="1100" b="1">
                  <a:solidFill>
                    <a:srgbClr val="C00000"/>
                  </a:solidFill>
                </a:rPr>
                <a:t>role </a:t>
              </a:r>
            </a:p>
          </p:txBody>
        </p:sp>
        <p:sp>
          <p:nvSpPr>
            <p:cNvPr id="29" name="Line 35">
              <a:extLst>
                <a:ext uri="{FF2B5EF4-FFF2-40B4-BE49-F238E27FC236}">
                  <a16:creationId xmlns:a16="http://schemas.microsoft.com/office/drawing/2014/main" id="{B906B992-8D9A-442E-CC26-64B28AA1602F}"/>
                </a:ext>
              </a:extLst>
            </p:cNvPr>
            <p:cNvSpPr>
              <a:spLocks noChangeShapeType="1"/>
            </p:cNvSpPr>
            <p:nvPr/>
          </p:nvSpPr>
          <p:spPr bwMode="auto">
            <a:xfrm flipV="1">
              <a:off x="914400" y="3276600"/>
              <a:ext cx="457200" cy="457200"/>
            </a:xfrm>
            <a:prstGeom prst="line">
              <a:avLst/>
            </a:prstGeom>
            <a:noFill/>
            <a:ln w="12700">
              <a:solidFill>
                <a:schemeClr val="hlink"/>
              </a:solidFill>
              <a:prstDash val="dash"/>
              <a:round/>
              <a:headEnd/>
              <a:tailEnd type="triangle" w="med" len="med"/>
            </a:ln>
          </p:spPr>
          <p:txBody>
            <a:bodyPr/>
            <a:lstStyle/>
            <a:p>
              <a:pPr>
                <a:defRPr/>
              </a:pPr>
              <a:endParaRPr lang="en-US" sz="1100" b="1">
                <a:solidFill>
                  <a:srgbClr val="C00000"/>
                </a:solidFill>
              </a:endParaRPr>
            </a:p>
          </p:txBody>
        </p:sp>
        <p:sp>
          <p:nvSpPr>
            <p:cNvPr id="30" name="Text Box 36">
              <a:extLst>
                <a:ext uri="{FF2B5EF4-FFF2-40B4-BE49-F238E27FC236}">
                  <a16:creationId xmlns:a16="http://schemas.microsoft.com/office/drawing/2014/main" id="{B6E5CBD4-9B91-3B1D-69B9-A635F282EEBC}"/>
                </a:ext>
              </a:extLst>
            </p:cNvPr>
            <p:cNvSpPr txBox="1">
              <a:spLocks noChangeArrowheads="1"/>
            </p:cNvSpPr>
            <p:nvPr/>
          </p:nvSpPr>
          <p:spPr bwMode="auto">
            <a:xfrm>
              <a:off x="1143000" y="533400"/>
              <a:ext cx="1295400" cy="261938"/>
            </a:xfrm>
            <a:prstGeom prst="rect">
              <a:avLst/>
            </a:prstGeom>
            <a:noFill/>
            <a:ln w="12700">
              <a:noFill/>
              <a:miter lim="800000"/>
              <a:headEnd/>
              <a:tailEnd/>
            </a:ln>
          </p:spPr>
          <p:txBody>
            <a:bodyPr>
              <a:spAutoFit/>
            </a:bodyPr>
            <a:lstStyle/>
            <a:p>
              <a:pPr>
                <a:spcBef>
                  <a:spcPct val="50000"/>
                </a:spcBef>
                <a:defRPr/>
              </a:pPr>
              <a:r>
                <a:rPr lang="en-US" sz="1100" b="1">
                  <a:solidFill>
                    <a:srgbClr val="C00000"/>
                  </a:solidFill>
                </a:rPr>
                <a:t>system name</a:t>
              </a:r>
            </a:p>
          </p:txBody>
        </p:sp>
        <p:sp>
          <p:nvSpPr>
            <p:cNvPr id="31" name="Line 37">
              <a:extLst>
                <a:ext uri="{FF2B5EF4-FFF2-40B4-BE49-F238E27FC236}">
                  <a16:creationId xmlns:a16="http://schemas.microsoft.com/office/drawing/2014/main" id="{8638DBCA-65C3-52A9-5AF6-77B5A121A748}"/>
                </a:ext>
              </a:extLst>
            </p:cNvPr>
            <p:cNvSpPr>
              <a:spLocks noChangeShapeType="1"/>
            </p:cNvSpPr>
            <p:nvPr/>
          </p:nvSpPr>
          <p:spPr bwMode="auto">
            <a:xfrm>
              <a:off x="2362200" y="685800"/>
              <a:ext cx="838200" cy="152400"/>
            </a:xfrm>
            <a:prstGeom prst="line">
              <a:avLst/>
            </a:prstGeom>
            <a:noFill/>
            <a:ln w="12700">
              <a:solidFill>
                <a:schemeClr val="hlink"/>
              </a:solidFill>
              <a:prstDash val="dash"/>
              <a:round/>
              <a:headEnd/>
              <a:tailEnd type="triangle" w="med" len="med"/>
            </a:ln>
          </p:spPr>
          <p:txBody>
            <a:bodyPr/>
            <a:lstStyle/>
            <a:p>
              <a:pPr>
                <a:defRPr/>
              </a:pPr>
              <a:endParaRPr lang="en-US" sz="1100" b="1">
                <a:solidFill>
                  <a:srgbClr val="C00000"/>
                </a:solidFill>
              </a:endParaRPr>
            </a:p>
          </p:txBody>
        </p:sp>
        <p:sp>
          <p:nvSpPr>
            <p:cNvPr id="32" name="Text Box 38">
              <a:extLst>
                <a:ext uri="{FF2B5EF4-FFF2-40B4-BE49-F238E27FC236}">
                  <a16:creationId xmlns:a16="http://schemas.microsoft.com/office/drawing/2014/main" id="{DC83A99F-6CD4-A5B6-D522-762C7B93E249}"/>
                </a:ext>
              </a:extLst>
            </p:cNvPr>
            <p:cNvSpPr txBox="1">
              <a:spLocks noChangeArrowheads="1"/>
            </p:cNvSpPr>
            <p:nvPr/>
          </p:nvSpPr>
          <p:spPr bwMode="auto">
            <a:xfrm>
              <a:off x="7010400" y="639763"/>
              <a:ext cx="1524000" cy="261937"/>
            </a:xfrm>
            <a:prstGeom prst="rect">
              <a:avLst/>
            </a:prstGeom>
            <a:noFill/>
            <a:ln w="12700">
              <a:noFill/>
              <a:miter lim="800000"/>
              <a:headEnd/>
              <a:tailEnd/>
            </a:ln>
          </p:spPr>
          <p:txBody>
            <a:bodyPr>
              <a:spAutoFit/>
            </a:bodyPr>
            <a:lstStyle/>
            <a:p>
              <a:pPr>
                <a:spcBef>
                  <a:spcPct val="50000"/>
                </a:spcBef>
                <a:defRPr/>
              </a:pPr>
              <a:r>
                <a:rPr lang="en-US" sz="1100" b="1">
                  <a:solidFill>
                    <a:srgbClr val="C00000"/>
                  </a:solidFill>
                </a:rPr>
                <a:t>system boundary</a:t>
              </a:r>
            </a:p>
          </p:txBody>
        </p:sp>
        <p:sp>
          <p:nvSpPr>
            <p:cNvPr id="33" name="Line 39">
              <a:extLst>
                <a:ext uri="{FF2B5EF4-FFF2-40B4-BE49-F238E27FC236}">
                  <a16:creationId xmlns:a16="http://schemas.microsoft.com/office/drawing/2014/main" id="{955A6408-523D-F380-410B-FEA36F649CE8}"/>
                </a:ext>
              </a:extLst>
            </p:cNvPr>
            <p:cNvSpPr>
              <a:spLocks noChangeShapeType="1"/>
            </p:cNvSpPr>
            <p:nvPr/>
          </p:nvSpPr>
          <p:spPr bwMode="auto">
            <a:xfrm flipH="1">
              <a:off x="6248400" y="914400"/>
              <a:ext cx="762000" cy="457200"/>
            </a:xfrm>
            <a:prstGeom prst="line">
              <a:avLst/>
            </a:prstGeom>
            <a:noFill/>
            <a:ln w="12700">
              <a:solidFill>
                <a:schemeClr val="hlink"/>
              </a:solidFill>
              <a:prstDash val="dash"/>
              <a:round/>
              <a:headEnd/>
              <a:tailEnd type="triangle" w="med" len="med"/>
            </a:ln>
          </p:spPr>
          <p:txBody>
            <a:bodyPr/>
            <a:lstStyle/>
            <a:p>
              <a:pPr>
                <a:defRPr/>
              </a:pPr>
              <a:endParaRPr lang="en-US" sz="1100" b="1">
                <a:solidFill>
                  <a:srgbClr val="C00000"/>
                </a:solidFill>
              </a:endParaRPr>
            </a:p>
          </p:txBody>
        </p:sp>
        <p:sp>
          <p:nvSpPr>
            <p:cNvPr id="34" name="Text Box 40">
              <a:extLst>
                <a:ext uri="{FF2B5EF4-FFF2-40B4-BE49-F238E27FC236}">
                  <a16:creationId xmlns:a16="http://schemas.microsoft.com/office/drawing/2014/main" id="{E827F401-2B9F-483C-9857-F377B178B0FB}"/>
                </a:ext>
              </a:extLst>
            </p:cNvPr>
            <p:cNvSpPr txBox="1">
              <a:spLocks noChangeArrowheads="1"/>
            </p:cNvSpPr>
            <p:nvPr/>
          </p:nvSpPr>
          <p:spPr bwMode="auto">
            <a:xfrm>
              <a:off x="7543800" y="1554163"/>
              <a:ext cx="1447800" cy="261937"/>
            </a:xfrm>
            <a:prstGeom prst="rect">
              <a:avLst/>
            </a:prstGeom>
            <a:noFill/>
            <a:ln w="12700">
              <a:noFill/>
              <a:miter lim="800000"/>
              <a:headEnd/>
              <a:tailEnd/>
            </a:ln>
          </p:spPr>
          <p:txBody>
            <a:bodyPr>
              <a:spAutoFit/>
            </a:bodyPr>
            <a:lstStyle/>
            <a:p>
              <a:pPr>
                <a:spcBef>
                  <a:spcPct val="50000"/>
                </a:spcBef>
                <a:defRPr/>
              </a:pPr>
              <a:r>
                <a:rPr lang="en-US" sz="1100" b="1">
                  <a:solidFill>
                    <a:srgbClr val="C00000"/>
                  </a:solidFill>
                </a:rPr>
                <a:t>secondary actor</a:t>
              </a:r>
            </a:p>
          </p:txBody>
        </p:sp>
        <p:sp>
          <p:nvSpPr>
            <p:cNvPr id="35" name="Line 42">
              <a:extLst>
                <a:ext uri="{FF2B5EF4-FFF2-40B4-BE49-F238E27FC236}">
                  <a16:creationId xmlns:a16="http://schemas.microsoft.com/office/drawing/2014/main" id="{27795CC9-E87B-B32D-6529-BCE798453DA2}"/>
                </a:ext>
              </a:extLst>
            </p:cNvPr>
            <p:cNvSpPr>
              <a:spLocks noChangeShapeType="1"/>
            </p:cNvSpPr>
            <p:nvPr/>
          </p:nvSpPr>
          <p:spPr bwMode="auto">
            <a:xfrm flipH="1">
              <a:off x="7620000" y="1828800"/>
              <a:ext cx="457200" cy="609600"/>
            </a:xfrm>
            <a:prstGeom prst="line">
              <a:avLst/>
            </a:prstGeom>
            <a:noFill/>
            <a:ln w="12700">
              <a:solidFill>
                <a:schemeClr val="hlink"/>
              </a:solidFill>
              <a:prstDash val="dash"/>
              <a:round/>
              <a:headEnd/>
              <a:tailEnd type="triangle" w="med" len="med"/>
            </a:ln>
          </p:spPr>
          <p:txBody>
            <a:bodyPr/>
            <a:lstStyle/>
            <a:p>
              <a:pPr>
                <a:defRPr/>
              </a:pPr>
              <a:endParaRPr lang="en-US" sz="1100" b="1">
                <a:solidFill>
                  <a:srgbClr val="C00000"/>
                </a:solidFill>
              </a:endParaRPr>
            </a:p>
          </p:txBody>
        </p:sp>
        <p:sp>
          <p:nvSpPr>
            <p:cNvPr id="36" name="Line 44">
              <a:extLst>
                <a:ext uri="{FF2B5EF4-FFF2-40B4-BE49-F238E27FC236}">
                  <a16:creationId xmlns:a16="http://schemas.microsoft.com/office/drawing/2014/main" id="{B7012A37-1C05-B6FC-9444-289CA11E5865}"/>
                </a:ext>
              </a:extLst>
            </p:cNvPr>
            <p:cNvSpPr>
              <a:spLocks noChangeShapeType="1"/>
            </p:cNvSpPr>
            <p:nvPr/>
          </p:nvSpPr>
          <p:spPr bwMode="auto">
            <a:xfrm flipV="1">
              <a:off x="2133600" y="5334000"/>
              <a:ext cx="1600200" cy="76200"/>
            </a:xfrm>
            <a:prstGeom prst="line">
              <a:avLst/>
            </a:prstGeom>
            <a:noFill/>
            <a:ln w="12700">
              <a:solidFill>
                <a:schemeClr val="hlink"/>
              </a:solidFill>
              <a:prstDash val="dash"/>
              <a:round/>
              <a:headEnd/>
              <a:tailEnd type="triangle" w="med" len="med"/>
            </a:ln>
          </p:spPr>
          <p:txBody>
            <a:bodyPr/>
            <a:lstStyle/>
            <a:p>
              <a:pPr>
                <a:defRPr/>
              </a:pPr>
              <a:endParaRPr lang="en-US" sz="1100" b="1">
                <a:solidFill>
                  <a:srgbClr val="C00000"/>
                </a:solidFill>
              </a:endParaRPr>
            </a:p>
          </p:txBody>
        </p:sp>
        <p:sp>
          <p:nvSpPr>
            <p:cNvPr id="37" name="Text Box 45">
              <a:extLst>
                <a:ext uri="{FF2B5EF4-FFF2-40B4-BE49-F238E27FC236}">
                  <a16:creationId xmlns:a16="http://schemas.microsoft.com/office/drawing/2014/main" id="{1ADDCCDF-D027-44EA-E37A-81728C47BBDD}"/>
                </a:ext>
              </a:extLst>
            </p:cNvPr>
            <p:cNvSpPr txBox="1">
              <a:spLocks noChangeArrowheads="1"/>
            </p:cNvSpPr>
            <p:nvPr/>
          </p:nvSpPr>
          <p:spPr bwMode="auto">
            <a:xfrm>
              <a:off x="1143000" y="5257800"/>
              <a:ext cx="914400" cy="261938"/>
            </a:xfrm>
            <a:prstGeom prst="rect">
              <a:avLst/>
            </a:prstGeom>
            <a:noFill/>
            <a:ln w="12700">
              <a:noFill/>
              <a:miter lim="800000"/>
              <a:headEnd/>
              <a:tailEnd/>
            </a:ln>
          </p:spPr>
          <p:txBody>
            <a:bodyPr>
              <a:spAutoFit/>
            </a:bodyPr>
            <a:lstStyle/>
            <a:p>
              <a:pPr>
                <a:spcBef>
                  <a:spcPct val="50000"/>
                </a:spcBef>
                <a:defRPr/>
              </a:pPr>
              <a:r>
                <a:rPr lang="en-US" sz="1100" b="1">
                  <a:solidFill>
                    <a:srgbClr val="C00000"/>
                  </a:solidFill>
                </a:rPr>
                <a:t>use case</a:t>
              </a:r>
            </a:p>
          </p:txBody>
        </p:sp>
        <p:sp>
          <p:nvSpPr>
            <p:cNvPr id="38" name="Rectangle 46">
              <a:extLst>
                <a:ext uri="{FF2B5EF4-FFF2-40B4-BE49-F238E27FC236}">
                  <a16:creationId xmlns:a16="http://schemas.microsoft.com/office/drawing/2014/main" id="{5C89292C-BDB4-A2CC-C6D6-7A8BAE8FB810}"/>
                </a:ext>
              </a:extLst>
            </p:cNvPr>
            <p:cNvSpPr>
              <a:spLocks noChangeArrowheads="1"/>
            </p:cNvSpPr>
            <p:nvPr/>
          </p:nvSpPr>
          <p:spPr bwMode="auto">
            <a:xfrm>
              <a:off x="7010400" y="4648200"/>
              <a:ext cx="1447800" cy="838200"/>
            </a:xfrm>
            <a:prstGeom prst="rect">
              <a:avLst/>
            </a:prstGeom>
            <a:noFill/>
            <a:ln w="19050">
              <a:solidFill>
                <a:schemeClr val="hlink"/>
              </a:solidFill>
              <a:miter lim="800000"/>
              <a:headEnd/>
              <a:tailEnd/>
            </a:ln>
          </p:spPr>
          <p:txBody>
            <a:bodyPr wrap="none" anchor="ctr"/>
            <a:lstStyle/>
            <a:p>
              <a:pPr algn="ctr">
                <a:defRPr/>
              </a:pPr>
              <a:r>
                <a:rPr lang="en-US" sz="1100" b="1">
                  <a:solidFill>
                    <a:srgbClr val="C00000"/>
                  </a:solidFill>
                </a:rPr>
                <a:t>&lt;&lt;Customer </a:t>
              </a:r>
            </a:p>
            <a:p>
              <a:pPr algn="ctr">
                <a:defRPr/>
              </a:pPr>
              <a:r>
                <a:rPr lang="en-US" sz="1100" b="1">
                  <a:solidFill>
                    <a:srgbClr val="C00000"/>
                  </a:solidFill>
                </a:rPr>
                <a:t>Accounts </a:t>
              </a:r>
            </a:p>
            <a:p>
              <a:pPr algn="ctr">
                <a:defRPr/>
              </a:pPr>
              <a:r>
                <a:rPr lang="en-US" sz="1100" b="1">
                  <a:solidFill>
                    <a:srgbClr val="C00000"/>
                  </a:solidFill>
                </a:rPr>
                <a:t>Database&gt;&gt;</a:t>
              </a:r>
            </a:p>
          </p:txBody>
        </p:sp>
        <p:sp>
          <p:nvSpPr>
            <p:cNvPr id="39" name="Text Box 47">
              <a:extLst>
                <a:ext uri="{FF2B5EF4-FFF2-40B4-BE49-F238E27FC236}">
                  <a16:creationId xmlns:a16="http://schemas.microsoft.com/office/drawing/2014/main" id="{C7FE724E-4B32-1657-6D74-799A88C29A35}"/>
                </a:ext>
              </a:extLst>
            </p:cNvPr>
            <p:cNvSpPr txBox="1">
              <a:spLocks noChangeArrowheads="1"/>
            </p:cNvSpPr>
            <p:nvPr/>
          </p:nvSpPr>
          <p:spPr bwMode="auto">
            <a:xfrm>
              <a:off x="7162800" y="5562600"/>
              <a:ext cx="1295400" cy="430213"/>
            </a:xfrm>
            <a:prstGeom prst="rect">
              <a:avLst/>
            </a:prstGeom>
            <a:noFill/>
            <a:ln w="12700">
              <a:noFill/>
              <a:miter lim="800000"/>
              <a:headEnd/>
              <a:tailEnd/>
            </a:ln>
          </p:spPr>
          <p:txBody>
            <a:bodyPr>
              <a:spAutoFit/>
            </a:bodyPr>
            <a:lstStyle/>
            <a:p>
              <a:pPr>
                <a:spcBef>
                  <a:spcPct val="50000"/>
                </a:spcBef>
                <a:defRPr/>
              </a:pPr>
              <a:r>
                <a:rPr lang="en-US" sz="1100" b="1">
                  <a:solidFill>
                    <a:srgbClr val="C00000"/>
                  </a:solidFill>
                </a:rPr>
                <a:t>alternative actor notation</a:t>
              </a:r>
            </a:p>
          </p:txBody>
        </p:sp>
        <p:sp>
          <p:nvSpPr>
            <p:cNvPr id="40" name="Text Box 48">
              <a:extLst>
                <a:ext uri="{FF2B5EF4-FFF2-40B4-BE49-F238E27FC236}">
                  <a16:creationId xmlns:a16="http://schemas.microsoft.com/office/drawing/2014/main" id="{DACCE3E1-EE56-2E63-1677-964D82AF6969}"/>
                </a:ext>
              </a:extLst>
            </p:cNvPr>
            <p:cNvSpPr txBox="1">
              <a:spLocks noChangeArrowheads="1"/>
            </p:cNvSpPr>
            <p:nvPr/>
          </p:nvSpPr>
          <p:spPr bwMode="auto">
            <a:xfrm>
              <a:off x="6019800" y="6096000"/>
              <a:ext cx="1066800" cy="261938"/>
            </a:xfrm>
            <a:prstGeom prst="rect">
              <a:avLst/>
            </a:prstGeom>
            <a:noFill/>
            <a:ln w="12700">
              <a:noFill/>
              <a:miter lim="800000"/>
              <a:headEnd/>
              <a:tailEnd/>
            </a:ln>
          </p:spPr>
          <p:txBody>
            <a:bodyPr>
              <a:spAutoFit/>
            </a:bodyPr>
            <a:lstStyle/>
            <a:p>
              <a:pPr>
                <a:spcBef>
                  <a:spcPct val="50000"/>
                </a:spcBef>
                <a:defRPr/>
              </a:pPr>
              <a:r>
                <a:rPr lang="en-US" sz="1100" b="1">
                  <a:solidFill>
                    <a:srgbClr val="C00000"/>
                  </a:solidFill>
                </a:rPr>
                <a:t>stereotype</a:t>
              </a:r>
            </a:p>
          </p:txBody>
        </p:sp>
        <p:sp>
          <p:nvSpPr>
            <p:cNvPr id="41" name="Line 50">
              <a:extLst>
                <a:ext uri="{FF2B5EF4-FFF2-40B4-BE49-F238E27FC236}">
                  <a16:creationId xmlns:a16="http://schemas.microsoft.com/office/drawing/2014/main" id="{71FCAF21-D46D-3B43-C356-99F944CA394C}"/>
                </a:ext>
              </a:extLst>
            </p:cNvPr>
            <p:cNvSpPr>
              <a:spLocks noChangeShapeType="1"/>
            </p:cNvSpPr>
            <p:nvPr/>
          </p:nvSpPr>
          <p:spPr bwMode="auto">
            <a:xfrm flipV="1">
              <a:off x="6477000" y="5105400"/>
              <a:ext cx="762000" cy="990600"/>
            </a:xfrm>
            <a:prstGeom prst="line">
              <a:avLst/>
            </a:prstGeom>
            <a:noFill/>
            <a:ln w="12700">
              <a:solidFill>
                <a:schemeClr val="hlink"/>
              </a:solidFill>
              <a:prstDash val="dash"/>
              <a:round/>
              <a:headEnd/>
              <a:tailEnd type="triangle" w="med" len="med"/>
            </a:ln>
          </p:spPr>
          <p:txBody>
            <a:bodyPr/>
            <a:lstStyle/>
            <a:p>
              <a:pPr>
                <a:defRPr/>
              </a:pPr>
              <a:endParaRPr lang="en-US" sz="1100" b="1">
                <a:solidFill>
                  <a:srgbClr val="C00000"/>
                </a:solidFill>
              </a:endParaRPr>
            </a:p>
          </p:txBody>
        </p:sp>
        <p:sp>
          <p:nvSpPr>
            <p:cNvPr id="42" name="Text Box 51">
              <a:extLst>
                <a:ext uri="{FF2B5EF4-FFF2-40B4-BE49-F238E27FC236}">
                  <a16:creationId xmlns:a16="http://schemas.microsoft.com/office/drawing/2014/main" id="{E10BEE2D-37F1-CBE1-B7CB-892EE029408C}"/>
                </a:ext>
              </a:extLst>
            </p:cNvPr>
            <p:cNvSpPr txBox="1">
              <a:spLocks noChangeArrowheads="1"/>
            </p:cNvSpPr>
            <p:nvPr/>
          </p:nvSpPr>
          <p:spPr bwMode="auto">
            <a:xfrm>
              <a:off x="1143000" y="4343400"/>
              <a:ext cx="1143000" cy="261938"/>
            </a:xfrm>
            <a:prstGeom prst="rect">
              <a:avLst/>
            </a:prstGeom>
            <a:noFill/>
            <a:ln w="12700">
              <a:noFill/>
              <a:miter lim="800000"/>
              <a:headEnd/>
              <a:tailEnd/>
            </a:ln>
          </p:spPr>
          <p:txBody>
            <a:bodyPr>
              <a:spAutoFit/>
            </a:bodyPr>
            <a:lstStyle/>
            <a:p>
              <a:pPr>
                <a:spcBef>
                  <a:spcPct val="50000"/>
                </a:spcBef>
                <a:defRPr/>
              </a:pPr>
              <a:r>
                <a:rPr lang="en-US" sz="1100" b="1">
                  <a:solidFill>
                    <a:srgbClr val="C00000"/>
                  </a:solidFill>
                </a:rPr>
                <a:t>association</a:t>
              </a:r>
            </a:p>
          </p:txBody>
        </p:sp>
        <p:sp>
          <p:nvSpPr>
            <p:cNvPr id="43" name="Line 52">
              <a:extLst>
                <a:ext uri="{FF2B5EF4-FFF2-40B4-BE49-F238E27FC236}">
                  <a16:creationId xmlns:a16="http://schemas.microsoft.com/office/drawing/2014/main" id="{B6C49BB9-CE9F-19B4-B830-6320AE191B68}"/>
                </a:ext>
              </a:extLst>
            </p:cNvPr>
            <p:cNvSpPr>
              <a:spLocks noChangeShapeType="1"/>
            </p:cNvSpPr>
            <p:nvPr/>
          </p:nvSpPr>
          <p:spPr bwMode="auto">
            <a:xfrm flipV="1">
              <a:off x="1905000" y="3810000"/>
              <a:ext cx="762000" cy="533400"/>
            </a:xfrm>
            <a:prstGeom prst="line">
              <a:avLst/>
            </a:prstGeom>
            <a:noFill/>
            <a:ln w="12700">
              <a:solidFill>
                <a:schemeClr val="hlink"/>
              </a:solidFill>
              <a:prstDash val="dash"/>
              <a:round/>
              <a:headEnd/>
              <a:tailEnd type="triangle" w="med" len="med"/>
            </a:ln>
          </p:spPr>
          <p:txBody>
            <a:bodyPr/>
            <a:lstStyle/>
            <a:p>
              <a:pPr>
                <a:defRPr/>
              </a:pPr>
              <a:endParaRPr lang="en-US" sz="1100" b="1">
                <a:solidFill>
                  <a:srgbClr val="C00000"/>
                </a:solidFill>
              </a:endParaRPr>
            </a:p>
          </p:txBody>
        </p:sp>
      </p:grpSp>
    </p:spTree>
    <p:extLst>
      <p:ext uri="{BB962C8B-B14F-4D97-AF65-F5344CB8AC3E}">
        <p14:creationId xmlns:p14="http://schemas.microsoft.com/office/powerpoint/2010/main" val="3815401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6">
            <a:extLst>
              <a:ext uri="{FF2B5EF4-FFF2-40B4-BE49-F238E27FC236}">
                <a16:creationId xmlns:a16="http://schemas.microsoft.com/office/drawing/2014/main" id="{00A0A350-84FA-4620-0C8A-99088468D4A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388E4EB-9E00-4D76-B709-F41109B30984}" type="slidenum">
              <a:rPr lang="en-US" altLang="en-US" sz="1400" smtClean="0"/>
              <a:pPr>
                <a:spcBef>
                  <a:spcPct val="0"/>
                </a:spcBef>
                <a:buFontTx/>
                <a:buNone/>
              </a:pPr>
              <a:t>31</a:t>
            </a:fld>
            <a:endParaRPr lang="en-US" altLang="en-US" sz="1400"/>
          </a:p>
        </p:txBody>
      </p:sp>
      <p:sp>
        <p:nvSpPr>
          <p:cNvPr id="19459" name="Rectangle 2">
            <a:extLst>
              <a:ext uri="{FF2B5EF4-FFF2-40B4-BE49-F238E27FC236}">
                <a16:creationId xmlns:a16="http://schemas.microsoft.com/office/drawing/2014/main" id="{CC87863D-09BF-551A-14EB-9A7D907586F4}"/>
              </a:ext>
            </a:extLst>
          </p:cNvPr>
          <p:cNvSpPr>
            <a:spLocks noGrp="1" noChangeArrowheads="1"/>
          </p:cNvSpPr>
          <p:nvPr>
            <p:ph type="title"/>
          </p:nvPr>
        </p:nvSpPr>
        <p:spPr>
          <a:xfrm>
            <a:off x="457200" y="457200"/>
            <a:ext cx="7397750" cy="360363"/>
          </a:xfrm>
        </p:spPr>
        <p:txBody>
          <a:bodyPr>
            <a:normAutofit fontScale="90000"/>
          </a:bodyPr>
          <a:lstStyle/>
          <a:p>
            <a:pPr eaLnBrk="1" hangingPunct="1"/>
            <a:r>
              <a:rPr lang="en-US" altLang="en-US" sz="3600" dirty="0">
                <a:solidFill>
                  <a:schemeClr val="tx1"/>
                </a:solidFill>
              </a:rPr>
              <a:t>Dependency –Among Use Cases</a:t>
            </a:r>
          </a:p>
        </p:txBody>
      </p:sp>
      <p:sp>
        <p:nvSpPr>
          <p:cNvPr id="19460" name="Rectangle 3">
            <a:extLst>
              <a:ext uri="{FF2B5EF4-FFF2-40B4-BE49-F238E27FC236}">
                <a16:creationId xmlns:a16="http://schemas.microsoft.com/office/drawing/2014/main" id="{E14F8E44-8066-79D0-F305-6183EA13E74D}"/>
              </a:ext>
            </a:extLst>
          </p:cNvPr>
          <p:cNvSpPr>
            <a:spLocks noGrp="1" noChangeArrowheads="1"/>
          </p:cNvSpPr>
          <p:nvPr>
            <p:ph type="body" sz="half" idx="1"/>
          </p:nvPr>
        </p:nvSpPr>
        <p:spPr>
          <a:xfrm>
            <a:off x="228600" y="914400"/>
            <a:ext cx="8686800" cy="1600200"/>
          </a:xfrm>
        </p:spPr>
        <p:txBody>
          <a:bodyPr/>
          <a:lstStyle/>
          <a:p>
            <a:pPr eaLnBrk="1" hangingPunct="1">
              <a:lnSpc>
                <a:spcPct val="90000"/>
              </a:lnSpc>
            </a:pPr>
            <a:r>
              <a:rPr lang="en-US" altLang="en-US" sz="2400" dirty="0"/>
              <a:t>Two Stereotypes of Dependency Among </a:t>
            </a:r>
            <a:r>
              <a:rPr lang="en-US" altLang="en-US" sz="2400" dirty="0">
                <a:solidFill>
                  <a:srgbClr val="FF33CC"/>
                </a:solidFill>
              </a:rPr>
              <a:t>Use Cases</a:t>
            </a:r>
            <a:r>
              <a:rPr lang="en-US" altLang="en-US" sz="2400" dirty="0"/>
              <a:t>:</a:t>
            </a:r>
          </a:p>
          <a:p>
            <a:pPr lvl="1" eaLnBrk="1" hangingPunct="1">
              <a:lnSpc>
                <a:spcPct val="90000"/>
              </a:lnSpc>
            </a:pPr>
            <a:r>
              <a:rPr lang="en-US" altLang="en-US" sz="2400" i="1" dirty="0">
                <a:solidFill>
                  <a:srgbClr val="0000FF"/>
                </a:solidFill>
              </a:rPr>
              <a:t>extend</a:t>
            </a:r>
            <a:r>
              <a:rPr lang="en-US" altLang="en-US" sz="2400" dirty="0"/>
              <a:t>:</a:t>
            </a:r>
            <a:r>
              <a:rPr lang="en-US" altLang="en-US" sz="2500" dirty="0"/>
              <a:t> </a:t>
            </a:r>
            <a:r>
              <a:rPr lang="en-US" altLang="en-US" sz="1700" dirty="0"/>
              <a:t>the target use case extends the behavior of the source</a:t>
            </a:r>
          </a:p>
          <a:p>
            <a:pPr lvl="1" eaLnBrk="1" hangingPunct="1">
              <a:lnSpc>
                <a:spcPct val="90000"/>
              </a:lnSpc>
            </a:pPr>
            <a:r>
              <a:rPr lang="en-US" altLang="en-US" sz="2400" i="1" dirty="0">
                <a:solidFill>
                  <a:srgbClr val="0000FF"/>
                </a:solidFill>
              </a:rPr>
              <a:t>include</a:t>
            </a:r>
            <a:r>
              <a:rPr lang="en-US" altLang="en-US" sz="2400" dirty="0"/>
              <a:t>:</a:t>
            </a:r>
            <a:r>
              <a:rPr lang="en-US" altLang="en-US" sz="2500" dirty="0"/>
              <a:t> </a:t>
            </a:r>
            <a:r>
              <a:rPr lang="en-US" altLang="en-US" sz="1700" dirty="0"/>
              <a:t>the source use case explicitly incorporates the behavior of another use case </a:t>
            </a:r>
            <a:r>
              <a:rPr lang="en-US" altLang="en-US" sz="1700" i="1" dirty="0"/>
              <a:t>at a location</a:t>
            </a:r>
            <a:r>
              <a:rPr lang="en-US" altLang="en-US" sz="1700" dirty="0"/>
              <a:t> specified by the source</a:t>
            </a:r>
            <a:endParaRPr lang="en-US" altLang="en-US" sz="2500" dirty="0"/>
          </a:p>
        </p:txBody>
      </p:sp>
      <p:sp>
        <p:nvSpPr>
          <p:cNvPr id="19461" name="Oval 4">
            <a:extLst>
              <a:ext uri="{FF2B5EF4-FFF2-40B4-BE49-F238E27FC236}">
                <a16:creationId xmlns:a16="http://schemas.microsoft.com/office/drawing/2014/main" id="{ABF83188-818B-AA5C-A69B-C8AAE7F33CDB}"/>
              </a:ext>
            </a:extLst>
          </p:cNvPr>
          <p:cNvSpPr>
            <a:spLocks noChangeArrowheads="1"/>
          </p:cNvSpPr>
          <p:nvPr/>
        </p:nvSpPr>
        <p:spPr bwMode="auto">
          <a:xfrm>
            <a:off x="1758950" y="2819400"/>
            <a:ext cx="1279525" cy="508000"/>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400" b="1">
                <a:solidFill>
                  <a:srgbClr val="0066FF"/>
                </a:solidFill>
                <a:latin typeface="Times New Roman" panose="02020603050405020304" pitchFamily="18" charset="0"/>
              </a:rPr>
              <a:t>Use Case A</a:t>
            </a:r>
          </a:p>
        </p:txBody>
      </p:sp>
      <p:sp>
        <p:nvSpPr>
          <p:cNvPr id="19462" name="Oval 5">
            <a:extLst>
              <a:ext uri="{FF2B5EF4-FFF2-40B4-BE49-F238E27FC236}">
                <a16:creationId xmlns:a16="http://schemas.microsoft.com/office/drawing/2014/main" id="{0E8A5601-8854-9525-07C4-4D73632B968A}"/>
              </a:ext>
            </a:extLst>
          </p:cNvPr>
          <p:cNvSpPr>
            <a:spLocks noChangeArrowheads="1"/>
          </p:cNvSpPr>
          <p:nvPr/>
        </p:nvSpPr>
        <p:spPr bwMode="auto">
          <a:xfrm>
            <a:off x="304800" y="2517775"/>
            <a:ext cx="273050" cy="307975"/>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19463" name="Line 6">
            <a:extLst>
              <a:ext uri="{FF2B5EF4-FFF2-40B4-BE49-F238E27FC236}">
                <a16:creationId xmlns:a16="http://schemas.microsoft.com/office/drawing/2014/main" id="{B0EF7C60-43CC-C6A6-854B-88641A52FDFB}"/>
              </a:ext>
            </a:extLst>
          </p:cNvPr>
          <p:cNvSpPr>
            <a:spLocks noChangeShapeType="1"/>
          </p:cNvSpPr>
          <p:nvPr/>
        </p:nvSpPr>
        <p:spPr bwMode="auto">
          <a:xfrm>
            <a:off x="446088" y="2825750"/>
            <a:ext cx="0" cy="458788"/>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4" name="Line 7">
            <a:extLst>
              <a:ext uri="{FF2B5EF4-FFF2-40B4-BE49-F238E27FC236}">
                <a16:creationId xmlns:a16="http://schemas.microsoft.com/office/drawing/2014/main" id="{5C22DCE4-D46A-F083-BD8B-B1AAECBA7C44}"/>
              </a:ext>
            </a:extLst>
          </p:cNvPr>
          <p:cNvSpPr>
            <a:spLocks noChangeShapeType="1"/>
          </p:cNvSpPr>
          <p:nvPr/>
        </p:nvSpPr>
        <p:spPr bwMode="auto">
          <a:xfrm flipH="1">
            <a:off x="304800" y="3284538"/>
            <a:ext cx="141288" cy="271462"/>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5" name="Line 8">
            <a:extLst>
              <a:ext uri="{FF2B5EF4-FFF2-40B4-BE49-F238E27FC236}">
                <a16:creationId xmlns:a16="http://schemas.microsoft.com/office/drawing/2014/main" id="{00C76402-A777-099D-9D14-5EBC5BD6ECA8}"/>
              </a:ext>
            </a:extLst>
          </p:cNvPr>
          <p:cNvSpPr>
            <a:spLocks noChangeShapeType="1"/>
          </p:cNvSpPr>
          <p:nvPr/>
        </p:nvSpPr>
        <p:spPr bwMode="auto">
          <a:xfrm>
            <a:off x="446088" y="3284538"/>
            <a:ext cx="141287" cy="271462"/>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6" name="Line 9">
            <a:extLst>
              <a:ext uri="{FF2B5EF4-FFF2-40B4-BE49-F238E27FC236}">
                <a16:creationId xmlns:a16="http://schemas.microsoft.com/office/drawing/2014/main" id="{0F6274E9-4079-803B-CA24-0141C3682105}"/>
              </a:ext>
            </a:extLst>
          </p:cNvPr>
          <p:cNvSpPr>
            <a:spLocks noChangeShapeType="1"/>
          </p:cNvSpPr>
          <p:nvPr/>
        </p:nvSpPr>
        <p:spPr bwMode="auto">
          <a:xfrm>
            <a:off x="304800" y="3025775"/>
            <a:ext cx="282575" cy="0"/>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7" name="Rectangle 10">
            <a:extLst>
              <a:ext uri="{FF2B5EF4-FFF2-40B4-BE49-F238E27FC236}">
                <a16:creationId xmlns:a16="http://schemas.microsoft.com/office/drawing/2014/main" id="{20C954FB-D5EF-3150-CF56-3A32ECD3B518}"/>
              </a:ext>
            </a:extLst>
          </p:cNvPr>
          <p:cNvSpPr>
            <a:spLocks noChangeArrowheads="1"/>
          </p:cNvSpPr>
          <p:nvPr/>
        </p:nvSpPr>
        <p:spPr bwMode="auto">
          <a:xfrm>
            <a:off x="922338" y="2517775"/>
            <a:ext cx="2506662" cy="2133600"/>
          </a:xfrm>
          <a:prstGeom prst="rect">
            <a:avLst/>
          </a:prstGeom>
          <a:noFill/>
          <a:ln w="9525">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19468" name="Oval 11">
            <a:extLst>
              <a:ext uri="{FF2B5EF4-FFF2-40B4-BE49-F238E27FC236}">
                <a16:creationId xmlns:a16="http://schemas.microsoft.com/office/drawing/2014/main" id="{D8E3F1A8-5AEB-5EFE-1120-452F5BEBB452}"/>
              </a:ext>
            </a:extLst>
          </p:cNvPr>
          <p:cNvSpPr>
            <a:spLocks noChangeArrowheads="1"/>
          </p:cNvSpPr>
          <p:nvPr/>
        </p:nvSpPr>
        <p:spPr bwMode="auto">
          <a:xfrm>
            <a:off x="990600" y="4117975"/>
            <a:ext cx="1143000" cy="457200"/>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400" b="1">
                <a:solidFill>
                  <a:srgbClr val="0066FF"/>
                </a:solidFill>
                <a:latin typeface="Times New Roman" panose="02020603050405020304" pitchFamily="18" charset="0"/>
              </a:rPr>
              <a:t>Use Case B</a:t>
            </a:r>
          </a:p>
        </p:txBody>
      </p:sp>
      <p:sp>
        <p:nvSpPr>
          <p:cNvPr id="19469" name="Oval 12">
            <a:extLst>
              <a:ext uri="{FF2B5EF4-FFF2-40B4-BE49-F238E27FC236}">
                <a16:creationId xmlns:a16="http://schemas.microsoft.com/office/drawing/2014/main" id="{77C94668-D5DD-FA6D-1583-2A5F2CA2AF82}"/>
              </a:ext>
            </a:extLst>
          </p:cNvPr>
          <p:cNvSpPr>
            <a:spLocks noChangeArrowheads="1"/>
          </p:cNvSpPr>
          <p:nvPr/>
        </p:nvSpPr>
        <p:spPr bwMode="auto">
          <a:xfrm>
            <a:off x="2209800" y="4117975"/>
            <a:ext cx="1143000" cy="457200"/>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400" b="1">
                <a:solidFill>
                  <a:srgbClr val="0066FF"/>
                </a:solidFill>
                <a:latin typeface="Times New Roman" panose="02020603050405020304" pitchFamily="18" charset="0"/>
              </a:rPr>
              <a:t>Use Case C</a:t>
            </a:r>
          </a:p>
        </p:txBody>
      </p:sp>
      <p:sp>
        <p:nvSpPr>
          <p:cNvPr id="19470" name="Line 13">
            <a:extLst>
              <a:ext uri="{FF2B5EF4-FFF2-40B4-BE49-F238E27FC236}">
                <a16:creationId xmlns:a16="http://schemas.microsoft.com/office/drawing/2014/main" id="{D82D753F-B2BC-563D-A89A-2C4756E5E957}"/>
              </a:ext>
            </a:extLst>
          </p:cNvPr>
          <p:cNvSpPr>
            <a:spLocks noChangeShapeType="1"/>
          </p:cNvSpPr>
          <p:nvPr/>
        </p:nvSpPr>
        <p:spPr bwMode="auto">
          <a:xfrm flipH="1" flipV="1">
            <a:off x="2438400" y="3279775"/>
            <a:ext cx="304800" cy="838200"/>
          </a:xfrm>
          <a:prstGeom prst="line">
            <a:avLst/>
          </a:prstGeom>
          <a:noFill/>
          <a:ln w="28575">
            <a:solidFill>
              <a:srgbClr val="3399FF"/>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1" name="Line 14">
            <a:extLst>
              <a:ext uri="{FF2B5EF4-FFF2-40B4-BE49-F238E27FC236}">
                <a16:creationId xmlns:a16="http://schemas.microsoft.com/office/drawing/2014/main" id="{1B822B62-1EEA-8EC5-B923-161B9C0B9D81}"/>
              </a:ext>
            </a:extLst>
          </p:cNvPr>
          <p:cNvSpPr>
            <a:spLocks noChangeShapeType="1"/>
          </p:cNvSpPr>
          <p:nvPr/>
        </p:nvSpPr>
        <p:spPr bwMode="auto">
          <a:xfrm flipH="1">
            <a:off x="1676400" y="3355975"/>
            <a:ext cx="506413" cy="762000"/>
          </a:xfrm>
          <a:prstGeom prst="line">
            <a:avLst/>
          </a:prstGeom>
          <a:noFill/>
          <a:ln w="28575">
            <a:solidFill>
              <a:srgbClr val="3399FF"/>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2" name="Text Box 15">
            <a:extLst>
              <a:ext uri="{FF2B5EF4-FFF2-40B4-BE49-F238E27FC236}">
                <a16:creationId xmlns:a16="http://schemas.microsoft.com/office/drawing/2014/main" id="{B798AEE3-1C73-FFAF-EFD1-8AC7FF8902D9}"/>
              </a:ext>
            </a:extLst>
          </p:cNvPr>
          <p:cNvSpPr txBox="1">
            <a:spLocks noChangeArrowheads="1"/>
          </p:cNvSpPr>
          <p:nvPr/>
        </p:nvSpPr>
        <p:spPr bwMode="auto">
          <a:xfrm>
            <a:off x="2133600" y="3660775"/>
            <a:ext cx="11287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&lt;&lt;extend&gt;&gt;</a:t>
            </a:r>
          </a:p>
        </p:txBody>
      </p:sp>
      <p:sp>
        <p:nvSpPr>
          <p:cNvPr id="19473" name="Text Box 16">
            <a:extLst>
              <a:ext uri="{FF2B5EF4-FFF2-40B4-BE49-F238E27FC236}">
                <a16:creationId xmlns:a16="http://schemas.microsoft.com/office/drawing/2014/main" id="{7593E5A6-4D8D-C983-ECBB-D58A460DABDC}"/>
              </a:ext>
            </a:extLst>
          </p:cNvPr>
          <p:cNvSpPr txBox="1">
            <a:spLocks noChangeArrowheads="1"/>
          </p:cNvSpPr>
          <p:nvPr/>
        </p:nvSpPr>
        <p:spPr bwMode="auto">
          <a:xfrm>
            <a:off x="1066800" y="3660775"/>
            <a:ext cx="11588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&lt;&lt;include&gt;&gt;</a:t>
            </a:r>
          </a:p>
        </p:txBody>
      </p:sp>
      <p:sp>
        <p:nvSpPr>
          <p:cNvPr id="19474" name="Text Box 17">
            <a:extLst>
              <a:ext uri="{FF2B5EF4-FFF2-40B4-BE49-F238E27FC236}">
                <a16:creationId xmlns:a16="http://schemas.microsoft.com/office/drawing/2014/main" id="{38E55416-69FF-8E51-3204-3F03BBD3D381}"/>
              </a:ext>
            </a:extLst>
          </p:cNvPr>
          <p:cNvSpPr txBox="1">
            <a:spLocks noChangeArrowheads="1"/>
          </p:cNvSpPr>
          <p:nvPr/>
        </p:nvSpPr>
        <p:spPr bwMode="auto">
          <a:xfrm>
            <a:off x="1371600" y="2517775"/>
            <a:ext cx="8159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b="1">
                <a:solidFill>
                  <a:srgbClr val="0066FF"/>
                </a:solidFill>
              </a:rPr>
              <a:t>System</a:t>
            </a:r>
          </a:p>
        </p:txBody>
      </p:sp>
      <p:sp>
        <p:nvSpPr>
          <p:cNvPr id="19475" name="Text Box 18">
            <a:extLst>
              <a:ext uri="{FF2B5EF4-FFF2-40B4-BE49-F238E27FC236}">
                <a16:creationId xmlns:a16="http://schemas.microsoft.com/office/drawing/2014/main" id="{B6A6BC9A-83A3-CECC-ADA2-434DFAC837FE}"/>
              </a:ext>
            </a:extLst>
          </p:cNvPr>
          <p:cNvSpPr txBox="1">
            <a:spLocks noChangeArrowheads="1"/>
          </p:cNvSpPr>
          <p:nvPr/>
        </p:nvSpPr>
        <p:spPr bwMode="auto">
          <a:xfrm>
            <a:off x="146050" y="3557588"/>
            <a:ext cx="5984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Actor</a:t>
            </a:r>
          </a:p>
        </p:txBody>
      </p:sp>
      <p:sp>
        <p:nvSpPr>
          <p:cNvPr id="19476" name="Rectangle 19">
            <a:extLst>
              <a:ext uri="{FF2B5EF4-FFF2-40B4-BE49-F238E27FC236}">
                <a16:creationId xmlns:a16="http://schemas.microsoft.com/office/drawing/2014/main" id="{9946C452-1AD5-A7F4-ABF7-36FF2F6A1C40}"/>
              </a:ext>
            </a:extLst>
          </p:cNvPr>
          <p:cNvSpPr>
            <a:spLocks noChangeArrowheads="1"/>
          </p:cNvSpPr>
          <p:nvPr/>
        </p:nvSpPr>
        <p:spPr bwMode="auto">
          <a:xfrm>
            <a:off x="76200" y="4041775"/>
            <a:ext cx="795338" cy="609600"/>
          </a:xfrm>
          <a:prstGeom prst="rect">
            <a:avLst/>
          </a:prstGeom>
          <a:noFill/>
          <a:ln w="9525">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19477" name="Text Box 20">
            <a:extLst>
              <a:ext uri="{FF2B5EF4-FFF2-40B4-BE49-F238E27FC236}">
                <a16:creationId xmlns:a16="http://schemas.microsoft.com/office/drawing/2014/main" id="{D04A301B-8D07-CD8A-443E-17CC5990CDFB}"/>
              </a:ext>
            </a:extLst>
          </p:cNvPr>
          <p:cNvSpPr txBox="1">
            <a:spLocks noChangeArrowheads="1"/>
          </p:cNvSpPr>
          <p:nvPr/>
        </p:nvSpPr>
        <p:spPr bwMode="auto">
          <a:xfrm>
            <a:off x="0" y="4117975"/>
            <a:ext cx="9906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00">
                <a:solidFill>
                  <a:srgbClr val="0066FF"/>
                </a:solidFill>
              </a:rPr>
              <a:t>&lt;&lt;actor&gt;&gt;</a:t>
            </a:r>
          </a:p>
          <a:p>
            <a:pPr algn="ctr" eaLnBrk="1" hangingPunct="1">
              <a:spcBef>
                <a:spcPct val="0"/>
              </a:spcBef>
              <a:buFontTx/>
              <a:buNone/>
            </a:pPr>
            <a:r>
              <a:rPr lang="en-US" altLang="en-US" sz="1300" b="1">
                <a:solidFill>
                  <a:srgbClr val="0066FF"/>
                </a:solidFill>
              </a:rPr>
              <a:t>Actor</a:t>
            </a:r>
          </a:p>
        </p:txBody>
      </p:sp>
      <p:sp>
        <p:nvSpPr>
          <p:cNvPr id="19478" name="Line 21">
            <a:extLst>
              <a:ext uri="{FF2B5EF4-FFF2-40B4-BE49-F238E27FC236}">
                <a16:creationId xmlns:a16="http://schemas.microsoft.com/office/drawing/2014/main" id="{D06FE075-A57B-CAFF-E877-D4524FD958F8}"/>
              </a:ext>
            </a:extLst>
          </p:cNvPr>
          <p:cNvSpPr>
            <a:spLocks noChangeShapeType="1"/>
          </p:cNvSpPr>
          <p:nvPr/>
        </p:nvSpPr>
        <p:spPr bwMode="auto">
          <a:xfrm>
            <a:off x="609600" y="2822575"/>
            <a:ext cx="1143000" cy="228600"/>
          </a:xfrm>
          <a:prstGeom prst="line">
            <a:avLst/>
          </a:prstGeom>
          <a:noFill/>
          <a:ln w="127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9" name="Line 22">
            <a:extLst>
              <a:ext uri="{FF2B5EF4-FFF2-40B4-BE49-F238E27FC236}">
                <a16:creationId xmlns:a16="http://schemas.microsoft.com/office/drawing/2014/main" id="{62125CE3-C5E1-985F-21D5-FA7228EA3C83}"/>
              </a:ext>
            </a:extLst>
          </p:cNvPr>
          <p:cNvSpPr>
            <a:spLocks noChangeShapeType="1"/>
          </p:cNvSpPr>
          <p:nvPr/>
        </p:nvSpPr>
        <p:spPr bwMode="auto">
          <a:xfrm flipV="1">
            <a:off x="561975" y="3127375"/>
            <a:ext cx="1190625" cy="933450"/>
          </a:xfrm>
          <a:prstGeom prst="line">
            <a:avLst/>
          </a:prstGeom>
          <a:noFill/>
          <a:ln w="127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0" name="Oval 23">
            <a:extLst>
              <a:ext uri="{FF2B5EF4-FFF2-40B4-BE49-F238E27FC236}">
                <a16:creationId xmlns:a16="http://schemas.microsoft.com/office/drawing/2014/main" id="{A1E771FF-CDDC-F461-A39A-8C0D10229057}"/>
              </a:ext>
            </a:extLst>
          </p:cNvPr>
          <p:cNvSpPr>
            <a:spLocks noChangeArrowheads="1"/>
          </p:cNvSpPr>
          <p:nvPr/>
        </p:nvSpPr>
        <p:spPr bwMode="auto">
          <a:xfrm>
            <a:off x="4419600" y="3810000"/>
            <a:ext cx="1951038" cy="1630363"/>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600" b="1">
              <a:solidFill>
                <a:srgbClr val="0066FF"/>
              </a:solidFill>
              <a:latin typeface="Times New Roman" panose="02020603050405020304" pitchFamily="18" charset="0"/>
            </a:endParaRPr>
          </a:p>
        </p:txBody>
      </p:sp>
      <p:sp>
        <p:nvSpPr>
          <p:cNvPr id="19481" name="Oval 24">
            <a:extLst>
              <a:ext uri="{FF2B5EF4-FFF2-40B4-BE49-F238E27FC236}">
                <a16:creationId xmlns:a16="http://schemas.microsoft.com/office/drawing/2014/main" id="{D7602DF8-C930-3322-4A20-30128BB2B2F2}"/>
              </a:ext>
            </a:extLst>
          </p:cNvPr>
          <p:cNvSpPr>
            <a:spLocks noChangeArrowheads="1"/>
          </p:cNvSpPr>
          <p:nvPr/>
        </p:nvSpPr>
        <p:spPr bwMode="auto">
          <a:xfrm>
            <a:off x="3429000" y="4648200"/>
            <a:ext cx="273050" cy="307975"/>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19482" name="Line 25">
            <a:extLst>
              <a:ext uri="{FF2B5EF4-FFF2-40B4-BE49-F238E27FC236}">
                <a16:creationId xmlns:a16="http://schemas.microsoft.com/office/drawing/2014/main" id="{AA8ABADC-99A6-91E9-A04A-73C2181C7751}"/>
              </a:ext>
            </a:extLst>
          </p:cNvPr>
          <p:cNvSpPr>
            <a:spLocks noChangeShapeType="1"/>
          </p:cNvSpPr>
          <p:nvPr/>
        </p:nvSpPr>
        <p:spPr bwMode="auto">
          <a:xfrm>
            <a:off x="3570288" y="4956175"/>
            <a:ext cx="0" cy="458788"/>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3" name="Line 26">
            <a:extLst>
              <a:ext uri="{FF2B5EF4-FFF2-40B4-BE49-F238E27FC236}">
                <a16:creationId xmlns:a16="http://schemas.microsoft.com/office/drawing/2014/main" id="{7C1AFF33-E8B7-06BE-D26A-E3C06BF4A373}"/>
              </a:ext>
            </a:extLst>
          </p:cNvPr>
          <p:cNvSpPr>
            <a:spLocks noChangeShapeType="1"/>
          </p:cNvSpPr>
          <p:nvPr/>
        </p:nvSpPr>
        <p:spPr bwMode="auto">
          <a:xfrm flipH="1">
            <a:off x="3429000" y="5414963"/>
            <a:ext cx="141288" cy="271462"/>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4" name="Line 27">
            <a:extLst>
              <a:ext uri="{FF2B5EF4-FFF2-40B4-BE49-F238E27FC236}">
                <a16:creationId xmlns:a16="http://schemas.microsoft.com/office/drawing/2014/main" id="{8DEA97B0-C78E-5218-7D6D-CEA8E332D071}"/>
              </a:ext>
            </a:extLst>
          </p:cNvPr>
          <p:cNvSpPr>
            <a:spLocks noChangeShapeType="1"/>
          </p:cNvSpPr>
          <p:nvPr/>
        </p:nvSpPr>
        <p:spPr bwMode="auto">
          <a:xfrm>
            <a:off x="3570288" y="5414963"/>
            <a:ext cx="141287" cy="271462"/>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5" name="Line 28">
            <a:extLst>
              <a:ext uri="{FF2B5EF4-FFF2-40B4-BE49-F238E27FC236}">
                <a16:creationId xmlns:a16="http://schemas.microsoft.com/office/drawing/2014/main" id="{A8EE13ED-2C58-EE47-CD4B-0E92EC5A15CF}"/>
              </a:ext>
            </a:extLst>
          </p:cNvPr>
          <p:cNvSpPr>
            <a:spLocks noChangeShapeType="1"/>
          </p:cNvSpPr>
          <p:nvPr/>
        </p:nvSpPr>
        <p:spPr bwMode="auto">
          <a:xfrm>
            <a:off x="3429000" y="5156200"/>
            <a:ext cx="282575" cy="0"/>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86" name="Rectangle 29">
            <a:extLst>
              <a:ext uri="{FF2B5EF4-FFF2-40B4-BE49-F238E27FC236}">
                <a16:creationId xmlns:a16="http://schemas.microsoft.com/office/drawing/2014/main" id="{EA3C2AAF-D6B5-77B0-008E-961812F2B329}"/>
              </a:ext>
            </a:extLst>
          </p:cNvPr>
          <p:cNvSpPr>
            <a:spLocks noChangeArrowheads="1"/>
          </p:cNvSpPr>
          <p:nvPr/>
        </p:nvSpPr>
        <p:spPr bwMode="auto">
          <a:xfrm>
            <a:off x="4038600" y="3657600"/>
            <a:ext cx="4953000" cy="3048000"/>
          </a:xfrm>
          <a:prstGeom prst="rect">
            <a:avLst/>
          </a:prstGeom>
          <a:noFill/>
          <a:ln w="9525">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19487" name="Oval 30">
            <a:extLst>
              <a:ext uri="{FF2B5EF4-FFF2-40B4-BE49-F238E27FC236}">
                <a16:creationId xmlns:a16="http://schemas.microsoft.com/office/drawing/2014/main" id="{BDFFE4F0-C445-27D0-1FD9-1734F1DB67EF}"/>
              </a:ext>
            </a:extLst>
          </p:cNvPr>
          <p:cNvSpPr>
            <a:spLocks noChangeArrowheads="1"/>
          </p:cNvSpPr>
          <p:nvPr/>
        </p:nvSpPr>
        <p:spPr bwMode="auto">
          <a:xfrm>
            <a:off x="4097338" y="6127750"/>
            <a:ext cx="2093912" cy="508000"/>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600" b="1">
                <a:solidFill>
                  <a:srgbClr val="0066FF"/>
                </a:solidFill>
                <a:latin typeface="Times New Roman" panose="02020603050405020304" pitchFamily="18" charset="0"/>
              </a:rPr>
              <a:t>Supply Customer Info.</a:t>
            </a:r>
          </a:p>
        </p:txBody>
      </p:sp>
      <p:sp>
        <p:nvSpPr>
          <p:cNvPr id="19488" name="Oval 31">
            <a:extLst>
              <a:ext uri="{FF2B5EF4-FFF2-40B4-BE49-F238E27FC236}">
                <a16:creationId xmlns:a16="http://schemas.microsoft.com/office/drawing/2014/main" id="{333279BB-99D4-2F97-8D1C-31EA85219D90}"/>
              </a:ext>
            </a:extLst>
          </p:cNvPr>
          <p:cNvSpPr>
            <a:spLocks noChangeArrowheads="1"/>
          </p:cNvSpPr>
          <p:nvPr/>
        </p:nvSpPr>
        <p:spPr bwMode="auto">
          <a:xfrm>
            <a:off x="7391400" y="4267200"/>
            <a:ext cx="1495425" cy="508000"/>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600" b="1">
                <a:solidFill>
                  <a:srgbClr val="0066FF"/>
                </a:solidFill>
                <a:latin typeface="Times New Roman" panose="02020603050405020304" pitchFamily="18" charset="0"/>
              </a:rPr>
              <a:t>Request Catalog</a:t>
            </a:r>
          </a:p>
        </p:txBody>
      </p:sp>
      <p:sp>
        <p:nvSpPr>
          <p:cNvPr id="19489" name="Line 32">
            <a:extLst>
              <a:ext uri="{FF2B5EF4-FFF2-40B4-BE49-F238E27FC236}">
                <a16:creationId xmlns:a16="http://schemas.microsoft.com/office/drawing/2014/main" id="{7CA0B98D-29F7-B72D-88A7-F246970092B1}"/>
              </a:ext>
            </a:extLst>
          </p:cNvPr>
          <p:cNvSpPr>
            <a:spLocks noChangeShapeType="1"/>
          </p:cNvSpPr>
          <p:nvPr/>
        </p:nvSpPr>
        <p:spPr bwMode="auto">
          <a:xfrm flipH="1" flipV="1">
            <a:off x="6370638" y="4559300"/>
            <a:ext cx="1200150" cy="42863"/>
          </a:xfrm>
          <a:prstGeom prst="line">
            <a:avLst/>
          </a:prstGeom>
          <a:noFill/>
          <a:ln w="28575">
            <a:solidFill>
              <a:srgbClr val="3399FF"/>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90" name="Line 33">
            <a:extLst>
              <a:ext uri="{FF2B5EF4-FFF2-40B4-BE49-F238E27FC236}">
                <a16:creationId xmlns:a16="http://schemas.microsoft.com/office/drawing/2014/main" id="{7C81B1A3-B403-AAE6-BA9F-1DBD95C9AE62}"/>
              </a:ext>
            </a:extLst>
          </p:cNvPr>
          <p:cNvSpPr>
            <a:spLocks noChangeShapeType="1"/>
          </p:cNvSpPr>
          <p:nvPr/>
        </p:nvSpPr>
        <p:spPr bwMode="auto">
          <a:xfrm>
            <a:off x="5029200" y="4876800"/>
            <a:ext cx="9525" cy="1250950"/>
          </a:xfrm>
          <a:prstGeom prst="line">
            <a:avLst/>
          </a:prstGeom>
          <a:noFill/>
          <a:ln w="28575">
            <a:solidFill>
              <a:srgbClr val="3399FF"/>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91" name="Text Box 34">
            <a:extLst>
              <a:ext uri="{FF2B5EF4-FFF2-40B4-BE49-F238E27FC236}">
                <a16:creationId xmlns:a16="http://schemas.microsoft.com/office/drawing/2014/main" id="{66662C89-AC82-5585-08E0-6F641BBEB8D0}"/>
              </a:ext>
            </a:extLst>
          </p:cNvPr>
          <p:cNvSpPr txBox="1">
            <a:spLocks noChangeArrowheads="1"/>
          </p:cNvSpPr>
          <p:nvPr/>
        </p:nvSpPr>
        <p:spPr bwMode="auto">
          <a:xfrm>
            <a:off x="6427788" y="4297363"/>
            <a:ext cx="11287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&lt;&lt;extend&gt;&gt;</a:t>
            </a:r>
          </a:p>
        </p:txBody>
      </p:sp>
      <p:sp>
        <p:nvSpPr>
          <p:cNvPr id="19492" name="Text Box 35">
            <a:extLst>
              <a:ext uri="{FF2B5EF4-FFF2-40B4-BE49-F238E27FC236}">
                <a16:creationId xmlns:a16="http://schemas.microsoft.com/office/drawing/2014/main" id="{16AC60A9-0D52-9B7C-B6BD-9BBF6D2F3242}"/>
              </a:ext>
            </a:extLst>
          </p:cNvPr>
          <p:cNvSpPr txBox="1">
            <a:spLocks noChangeArrowheads="1"/>
          </p:cNvSpPr>
          <p:nvPr/>
        </p:nvSpPr>
        <p:spPr bwMode="auto">
          <a:xfrm>
            <a:off x="4343400" y="5638800"/>
            <a:ext cx="11588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&lt;&lt;include&gt;&gt;</a:t>
            </a:r>
          </a:p>
        </p:txBody>
      </p:sp>
      <p:sp>
        <p:nvSpPr>
          <p:cNvPr id="19493" name="Text Box 36">
            <a:extLst>
              <a:ext uri="{FF2B5EF4-FFF2-40B4-BE49-F238E27FC236}">
                <a16:creationId xmlns:a16="http://schemas.microsoft.com/office/drawing/2014/main" id="{ACFE2AA1-B9DC-4F17-1617-81E899CEBB80}"/>
              </a:ext>
            </a:extLst>
          </p:cNvPr>
          <p:cNvSpPr txBox="1">
            <a:spLocks noChangeArrowheads="1"/>
          </p:cNvSpPr>
          <p:nvPr/>
        </p:nvSpPr>
        <p:spPr bwMode="auto">
          <a:xfrm>
            <a:off x="6324600" y="3657600"/>
            <a:ext cx="2668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b="1">
                <a:solidFill>
                  <a:srgbClr val="9900FF"/>
                </a:solidFill>
              </a:rPr>
              <a:t>Order Processing System</a:t>
            </a:r>
          </a:p>
        </p:txBody>
      </p:sp>
      <p:sp>
        <p:nvSpPr>
          <p:cNvPr id="19494" name="Text Box 37">
            <a:extLst>
              <a:ext uri="{FF2B5EF4-FFF2-40B4-BE49-F238E27FC236}">
                <a16:creationId xmlns:a16="http://schemas.microsoft.com/office/drawing/2014/main" id="{90EAD4DF-5511-A169-7930-149EFEBE18D5}"/>
              </a:ext>
            </a:extLst>
          </p:cNvPr>
          <p:cNvSpPr txBox="1">
            <a:spLocks noChangeArrowheads="1"/>
          </p:cNvSpPr>
          <p:nvPr/>
        </p:nvSpPr>
        <p:spPr bwMode="auto">
          <a:xfrm>
            <a:off x="2819400" y="5715000"/>
            <a:ext cx="11906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SalesPerson</a:t>
            </a:r>
          </a:p>
        </p:txBody>
      </p:sp>
      <p:sp>
        <p:nvSpPr>
          <p:cNvPr id="19495" name="Line 38">
            <a:extLst>
              <a:ext uri="{FF2B5EF4-FFF2-40B4-BE49-F238E27FC236}">
                <a16:creationId xmlns:a16="http://schemas.microsoft.com/office/drawing/2014/main" id="{F1F9EABA-79EF-9909-1B72-2845F2124429}"/>
              </a:ext>
            </a:extLst>
          </p:cNvPr>
          <p:cNvSpPr>
            <a:spLocks noChangeShapeType="1"/>
          </p:cNvSpPr>
          <p:nvPr/>
        </p:nvSpPr>
        <p:spPr bwMode="auto">
          <a:xfrm flipV="1">
            <a:off x="3733800" y="4711700"/>
            <a:ext cx="619125" cy="12700"/>
          </a:xfrm>
          <a:prstGeom prst="line">
            <a:avLst/>
          </a:prstGeom>
          <a:noFill/>
          <a:ln w="127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96" name="Oval 39">
            <a:extLst>
              <a:ext uri="{FF2B5EF4-FFF2-40B4-BE49-F238E27FC236}">
                <a16:creationId xmlns:a16="http://schemas.microsoft.com/office/drawing/2014/main" id="{91795F20-F29C-E572-24EE-60376C393C0E}"/>
              </a:ext>
            </a:extLst>
          </p:cNvPr>
          <p:cNvSpPr>
            <a:spLocks noChangeArrowheads="1"/>
          </p:cNvSpPr>
          <p:nvPr/>
        </p:nvSpPr>
        <p:spPr bwMode="auto">
          <a:xfrm>
            <a:off x="6299200" y="6142038"/>
            <a:ext cx="1244600" cy="411162"/>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600" b="1">
                <a:solidFill>
                  <a:srgbClr val="0066FF"/>
                </a:solidFill>
                <a:latin typeface="Times New Roman" panose="02020603050405020304" pitchFamily="18" charset="0"/>
              </a:rPr>
              <a:t>Order Item</a:t>
            </a:r>
          </a:p>
        </p:txBody>
      </p:sp>
      <p:sp>
        <p:nvSpPr>
          <p:cNvPr id="19497" name="Oval 40">
            <a:extLst>
              <a:ext uri="{FF2B5EF4-FFF2-40B4-BE49-F238E27FC236}">
                <a16:creationId xmlns:a16="http://schemas.microsoft.com/office/drawing/2014/main" id="{0C146CE5-476C-6B9E-9556-D7D41E26D72C}"/>
              </a:ext>
            </a:extLst>
          </p:cNvPr>
          <p:cNvSpPr>
            <a:spLocks noChangeArrowheads="1"/>
          </p:cNvSpPr>
          <p:nvPr/>
        </p:nvSpPr>
        <p:spPr bwMode="auto">
          <a:xfrm>
            <a:off x="7620000" y="6096000"/>
            <a:ext cx="1279525" cy="508000"/>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600" b="1">
                <a:solidFill>
                  <a:srgbClr val="0066FF"/>
                </a:solidFill>
                <a:latin typeface="Times New Roman" panose="02020603050405020304" pitchFamily="18" charset="0"/>
              </a:rPr>
              <a:t>Make Payment</a:t>
            </a:r>
          </a:p>
        </p:txBody>
      </p:sp>
      <p:sp>
        <p:nvSpPr>
          <p:cNvPr id="19498" name="Line 41">
            <a:extLst>
              <a:ext uri="{FF2B5EF4-FFF2-40B4-BE49-F238E27FC236}">
                <a16:creationId xmlns:a16="http://schemas.microsoft.com/office/drawing/2014/main" id="{E3FCCD68-0154-3AB6-71A4-7FBF6BE1A945}"/>
              </a:ext>
            </a:extLst>
          </p:cNvPr>
          <p:cNvSpPr>
            <a:spLocks noChangeShapeType="1"/>
          </p:cNvSpPr>
          <p:nvPr/>
        </p:nvSpPr>
        <p:spPr bwMode="auto">
          <a:xfrm>
            <a:off x="5791200" y="4876800"/>
            <a:ext cx="1177925" cy="1250950"/>
          </a:xfrm>
          <a:prstGeom prst="line">
            <a:avLst/>
          </a:prstGeom>
          <a:noFill/>
          <a:ln w="28575">
            <a:solidFill>
              <a:srgbClr val="3399FF"/>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99" name="Line 42">
            <a:extLst>
              <a:ext uri="{FF2B5EF4-FFF2-40B4-BE49-F238E27FC236}">
                <a16:creationId xmlns:a16="http://schemas.microsoft.com/office/drawing/2014/main" id="{927604D4-867D-851B-BCFD-9CC0C4DAA8FB}"/>
              </a:ext>
            </a:extLst>
          </p:cNvPr>
          <p:cNvSpPr>
            <a:spLocks noChangeShapeType="1"/>
          </p:cNvSpPr>
          <p:nvPr/>
        </p:nvSpPr>
        <p:spPr bwMode="auto">
          <a:xfrm>
            <a:off x="6096000" y="4648200"/>
            <a:ext cx="2132013" cy="1458913"/>
          </a:xfrm>
          <a:prstGeom prst="line">
            <a:avLst/>
          </a:prstGeom>
          <a:noFill/>
          <a:ln w="28575">
            <a:solidFill>
              <a:srgbClr val="3399FF"/>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00" name="Text Box 43">
            <a:extLst>
              <a:ext uri="{FF2B5EF4-FFF2-40B4-BE49-F238E27FC236}">
                <a16:creationId xmlns:a16="http://schemas.microsoft.com/office/drawing/2014/main" id="{3216BC32-17C2-08F4-7875-F0799164A4D1}"/>
              </a:ext>
            </a:extLst>
          </p:cNvPr>
          <p:cNvSpPr txBox="1">
            <a:spLocks noChangeArrowheads="1"/>
          </p:cNvSpPr>
          <p:nvPr/>
        </p:nvSpPr>
        <p:spPr bwMode="auto">
          <a:xfrm>
            <a:off x="5410200" y="5715000"/>
            <a:ext cx="11588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&lt;&lt;include&gt;&gt;</a:t>
            </a:r>
          </a:p>
        </p:txBody>
      </p:sp>
      <p:sp>
        <p:nvSpPr>
          <p:cNvPr id="19501" name="Text Box 44">
            <a:extLst>
              <a:ext uri="{FF2B5EF4-FFF2-40B4-BE49-F238E27FC236}">
                <a16:creationId xmlns:a16="http://schemas.microsoft.com/office/drawing/2014/main" id="{21B4D6B9-EFE0-5957-6BBE-E15D252C385D}"/>
              </a:ext>
            </a:extLst>
          </p:cNvPr>
          <p:cNvSpPr txBox="1">
            <a:spLocks noChangeArrowheads="1"/>
          </p:cNvSpPr>
          <p:nvPr/>
        </p:nvSpPr>
        <p:spPr bwMode="auto">
          <a:xfrm>
            <a:off x="6677025" y="5718175"/>
            <a:ext cx="11588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&lt;&lt;include&gt;&gt;</a:t>
            </a:r>
          </a:p>
        </p:txBody>
      </p:sp>
      <p:sp>
        <p:nvSpPr>
          <p:cNvPr id="19502" name="Text Box 45">
            <a:extLst>
              <a:ext uri="{FF2B5EF4-FFF2-40B4-BE49-F238E27FC236}">
                <a16:creationId xmlns:a16="http://schemas.microsoft.com/office/drawing/2014/main" id="{2B4881EB-AE2C-33DC-141C-21D193AC7E21}"/>
              </a:ext>
            </a:extLst>
          </p:cNvPr>
          <p:cNvSpPr txBox="1">
            <a:spLocks noChangeArrowheads="1"/>
          </p:cNvSpPr>
          <p:nvPr/>
        </p:nvSpPr>
        <p:spPr bwMode="auto">
          <a:xfrm>
            <a:off x="6477000" y="4724400"/>
            <a:ext cx="17208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The sales person </a:t>
            </a:r>
          </a:p>
          <a:p>
            <a:pPr eaLnBrk="1" hangingPunct="1">
              <a:spcBef>
                <a:spcPct val="0"/>
              </a:spcBef>
              <a:buFontTx/>
              <a:buNone/>
            </a:pPr>
            <a:r>
              <a:rPr lang="en-US" altLang="en-US" sz="1400">
                <a:solidFill>
                  <a:srgbClr val="0066FF"/>
                </a:solidFill>
              </a:rPr>
              <a:t>asks for the catalog</a:t>
            </a:r>
          </a:p>
        </p:txBody>
      </p:sp>
      <p:sp>
        <p:nvSpPr>
          <p:cNvPr id="19503" name="Text Box 46">
            <a:extLst>
              <a:ext uri="{FF2B5EF4-FFF2-40B4-BE49-F238E27FC236}">
                <a16:creationId xmlns:a16="http://schemas.microsoft.com/office/drawing/2014/main" id="{8A6C9BEF-C381-034F-31F3-EE7D37B1426C}"/>
              </a:ext>
            </a:extLst>
          </p:cNvPr>
          <p:cNvSpPr txBox="1">
            <a:spLocks noChangeArrowheads="1"/>
          </p:cNvSpPr>
          <p:nvPr/>
        </p:nvSpPr>
        <p:spPr bwMode="auto">
          <a:xfrm>
            <a:off x="4648200" y="3962400"/>
            <a:ext cx="1379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600" b="1">
                <a:solidFill>
                  <a:srgbClr val="0066FF"/>
                </a:solidFill>
              </a:rPr>
              <a:t>Place Order</a:t>
            </a:r>
          </a:p>
        </p:txBody>
      </p:sp>
      <p:sp>
        <p:nvSpPr>
          <p:cNvPr id="19504" name="Line 47">
            <a:extLst>
              <a:ext uri="{FF2B5EF4-FFF2-40B4-BE49-F238E27FC236}">
                <a16:creationId xmlns:a16="http://schemas.microsoft.com/office/drawing/2014/main" id="{B531AE53-8366-34DD-8E51-4048003C3618}"/>
              </a:ext>
            </a:extLst>
          </p:cNvPr>
          <p:cNvSpPr>
            <a:spLocks noChangeShapeType="1"/>
          </p:cNvSpPr>
          <p:nvPr/>
        </p:nvSpPr>
        <p:spPr bwMode="auto">
          <a:xfrm>
            <a:off x="4446588" y="4297363"/>
            <a:ext cx="1881187" cy="0"/>
          </a:xfrm>
          <a:prstGeom prst="line">
            <a:avLst/>
          </a:prstGeom>
          <a:noFill/>
          <a:ln w="127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505" name="Text Box 48">
            <a:extLst>
              <a:ext uri="{FF2B5EF4-FFF2-40B4-BE49-F238E27FC236}">
                <a16:creationId xmlns:a16="http://schemas.microsoft.com/office/drawing/2014/main" id="{8E5981B7-202D-5747-B884-EFE9C267156B}"/>
              </a:ext>
            </a:extLst>
          </p:cNvPr>
          <p:cNvSpPr txBox="1">
            <a:spLocks noChangeArrowheads="1"/>
          </p:cNvSpPr>
          <p:nvPr/>
        </p:nvSpPr>
        <p:spPr bwMode="auto">
          <a:xfrm>
            <a:off x="4598988" y="4373563"/>
            <a:ext cx="1741487"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300" b="1">
                <a:solidFill>
                  <a:srgbClr val="0066FF"/>
                </a:solidFill>
              </a:rPr>
              <a:t>Extension points</a:t>
            </a:r>
            <a:r>
              <a:rPr lang="en-US" altLang="en-US" sz="1400">
                <a:solidFill>
                  <a:srgbClr val="0066FF"/>
                </a:solidFill>
              </a:rPr>
              <a:t> </a:t>
            </a:r>
          </a:p>
          <a:p>
            <a:pPr eaLnBrk="1" hangingPunct="1">
              <a:spcBef>
                <a:spcPct val="0"/>
              </a:spcBef>
              <a:buFontTx/>
              <a:buNone/>
            </a:pPr>
            <a:r>
              <a:rPr lang="en-US" altLang="en-US" sz="1400">
                <a:solidFill>
                  <a:srgbClr val="0066FF"/>
                </a:solidFill>
              </a:rPr>
              <a:t>Additional requests:</a:t>
            </a:r>
          </a:p>
          <a:p>
            <a:pPr eaLnBrk="1" hangingPunct="1">
              <a:spcBef>
                <a:spcPct val="0"/>
              </a:spcBef>
              <a:buFontTx/>
              <a:buNone/>
            </a:pPr>
            <a:r>
              <a:rPr lang="en-US" altLang="en-US" sz="1400">
                <a:solidFill>
                  <a:srgbClr val="0066FF"/>
                </a:solidFill>
              </a:rPr>
              <a:t>after creation of </a:t>
            </a:r>
          </a:p>
          <a:p>
            <a:pPr eaLnBrk="1" hangingPunct="1">
              <a:spcBef>
                <a:spcPct val="0"/>
              </a:spcBef>
              <a:buFontTx/>
              <a:buNone/>
            </a:pPr>
            <a:r>
              <a:rPr lang="en-US" altLang="en-US" sz="1400">
                <a:solidFill>
                  <a:srgbClr val="0066FF"/>
                </a:solidFill>
              </a:rPr>
              <a:t>the order</a:t>
            </a:r>
          </a:p>
        </p:txBody>
      </p:sp>
      <p:sp>
        <p:nvSpPr>
          <p:cNvPr id="19506" name="Text Box 49">
            <a:extLst>
              <a:ext uri="{FF2B5EF4-FFF2-40B4-BE49-F238E27FC236}">
                <a16:creationId xmlns:a16="http://schemas.microsoft.com/office/drawing/2014/main" id="{72B516F3-BCF4-B347-5976-651400BA546D}"/>
              </a:ext>
            </a:extLst>
          </p:cNvPr>
          <p:cNvSpPr txBox="1">
            <a:spLocks noChangeArrowheads="1"/>
          </p:cNvSpPr>
          <p:nvPr/>
        </p:nvSpPr>
        <p:spPr bwMode="auto">
          <a:xfrm>
            <a:off x="3733800" y="46482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0066FF"/>
                </a:solidFill>
              </a:rPr>
              <a:t>1</a:t>
            </a:r>
          </a:p>
        </p:txBody>
      </p:sp>
      <p:sp>
        <p:nvSpPr>
          <p:cNvPr id="19507" name="Text Box 50">
            <a:extLst>
              <a:ext uri="{FF2B5EF4-FFF2-40B4-BE49-F238E27FC236}">
                <a16:creationId xmlns:a16="http://schemas.microsoft.com/office/drawing/2014/main" id="{653BA24F-C661-5603-049A-BE8F41EB8BE8}"/>
              </a:ext>
            </a:extLst>
          </p:cNvPr>
          <p:cNvSpPr txBox="1">
            <a:spLocks noChangeArrowheads="1"/>
          </p:cNvSpPr>
          <p:nvPr/>
        </p:nvSpPr>
        <p:spPr bwMode="auto">
          <a:xfrm>
            <a:off x="4114800" y="4724400"/>
            <a:ext cx="273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0066FF"/>
                </a:solidFill>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a:extLst>
              <a:ext uri="{FF2B5EF4-FFF2-40B4-BE49-F238E27FC236}">
                <a16:creationId xmlns:a16="http://schemas.microsoft.com/office/drawing/2014/main" id="{8DAD5512-521C-C56D-5569-3BDFE79C05E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65F2F6B-4F02-410B-AAB8-6EB0D616966F}" type="slidenum">
              <a:rPr lang="en-US" altLang="en-US" sz="1400" smtClean="0"/>
              <a:pPr>
                <a:spcBef>
                  <a:spcPct val="0"/>
                </a:spcBef>
                <a:buFontTx/>
                <a:buNone/>
              </a:pPr>
              <a:t>32</a:t>
            </a:fld>
            <a:endParaRPr lang="en-US" altLang="en-US" sz="1400"/>
          </a:p>
        </p:txBody>
      </p:sp>
      <p:sp>
        <p:nvSpPr>
          <p:cNvPr id="22531" name="Rectangle 2">
            <a:extLst>
              <a:ext uri="{FF2B5EF4-FFF2-40B4-BE49-F238E27FC236}">
                <a16:creationId xmlns:a16="http://schemas.microsoft.com/office/drawing/2014/main" id="{8770F32A-5123-4306-BD7E-5640CD46EBE0}"/>
              </a:ext>
            </a:extLst>
          </p:cNvPr>
          <p:cNvSpPr>
            <a:spLocks noChangeArrowheads="1"/>
          </p:cNvSpPr>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dirty="0"/>
              <a:t>Generalization –Among Actors</a:t>
            </a:r>
          </a:p>
        </p:txBody>
      </p:sp>
      <p:sp>
        <p:nvSpPr>
          <p:cNvPr id="22532" name="Oval 3">
            <a:extLst>
              <a:ext uri="{FF2B5EF4-FFF2-40B4-BE49-F238E27FC236}">
                <a16:creationId xmlns:a16="http://schemas.microsoft.com/office/drawing/2014/main" id="{EB2F8C33-A778-B9FC-69D8-B62E4350BEDE}"/>
              </a:ext>
            </a:extLst>
          </p:cNvPr>
          <p:cNvSpPr>
            <a:spLocks noChangeArrowheads="1"/>
          </p:cNvSpPr>
          <p:nvPr/>
        </p:nvSpPr>
        <p:spPr bwMode="auto">
          <a:xfrm>
            <a:off x="2905125" y="1706563"/>
            <a:ext cx="2533650" cy="1741487"/>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600" b="1">
              <a:solidFill>
                <a:srgbClr val="0066FF"/>
              </a:solidFill>
              <a:latin typeface="Times New Roman" panose="02020603050405020304" pitchFamily="18" charset="0"/>
            </a:endParaRPr>
          </a:p>
        </p:txBody>
      </p:sp>
      <p:sp>
        <p:nvSpPr>
          <p:cNvPr id="22533" name="Oval 4">
            <a:extLst>
              <a:ext uri="{FF2B5EF4-FFF2-40B4-BE49-F238E27FC236}">
                <a16:creationId xmlns:a16="http://schemas.microsoft.com/office/drawing/2014/main" id="{F83E4D98-E6B9-D84A-783B-6510FFD6507B}"/>
              </a:ext>
            </a:extLst>
          </p:cNvPr>
          <p:cNvSpPr>
            <a:spLocks noChangeArrowheads="1"/>
          </p:cNvSpPr>
          <p:nvPr/>
        </p:nvSpPr>
        <p:spPr bwMode="auto">
          <a:xfrm>
            <a:off x="668338" y="2070100"/>
            <a:ext cx="273050" cy="307975"/>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22534" name="Line 5">
            <a:extLst>
              <a:ext uri="{FF2B5EF4-FFF2-40B4-BE49-F238E27FC236}">
                <a16:creationId xmlns:a16="http://schemas.microsoft.com/office/drawing/2014/main" id="{43CB26F4-0558-8429-2C2B-5576B3EC309A}"/>
              </a:ext>
            </a:extLst>
          </p:cNvPr>
          <p:cNvSpPr>
            <a:spLocks noChangeShapeType="1"/>
          </p:cNvSpPr>
          <p:nvPr/>
        </p:nvSpPr>
        <p:spPr bwMode="auto">
          <a:xfrm>
            <a:off x="809625" y="2378075"/>
            <a:ext cx="0" cy="458788"/>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5" name="Line 6">
            <a:extLst>
              <a:ext uri="{FF2B5EF4-FFF2-40B4-BE49-F238E27FC236}">
                <a16:creationId xmlns:a16="http://schemas.microsoft.com/office/drawing/2014/main" id="{601198F7-0F2E-D00E-57B6-DD3F5F658455}"/>
              </a:ext>
            </a:extLst>
          </p:cNvPr>
          <p:cNvSpPr>
            <a:spLocks noChangeShapeType="1"/>
          </p:cNvSpPr>
          <p:nvPr/>
        </p:nvSpPr>
        <p:spPr bwMode="auto">
          <a:xfrm flipH="1">
            <a:off x="668338" y="2836863"/>
            <a:ext cx="141287" cy="271462"/>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6" name="Line 7">
            <a:extLst>
              <a:ext uri="{FF2B5EF4-FFF2-40B4-BE49-F238E27FC236}">
                <a16:creationId xmlns:a16="http://schemas.microsoft.com/office/drawing/2014/main" id="{6CB7D42A-289B-0745-AF83-3C1015E44E0E}"/>
              </a:ext>
            </a:extLst>
          </p:cNvPr>
          <p:cNvSpPr>
            <a:spLocks noChangeShapeType="1"/>
          </p:cNvSpPr>
          <p:nvPr/>
        </p:nvSpPr>
        <p:spPr bwMode="auto">
          <a:xfrm>
            <a:off x="809625" y="2836863"/>
            <a:ext cx="141288" cy="271462"/>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7" name="Line 8">
            <a:extLst>
              <a:ext uri="{FF2B5EF4-FFF2-40B4-BE49-F238E27FC236}">
                <a16:creationId xmlns:a16="http://schemas.microsoft.com/office/drawing/2014/main" id="{69F81400-0965-5D49-166C-C6080B14CF40}"/>
              </a:ext>
            </a:extLst>
          </p:cNvPr>
          <p:cNvSpPr>
            <a:spLocks noChangeShapeType="1"/>
          </p:cNvSpPr>
          <p:nvPr/>
        </p:nvSpPr>
        <p:spPr bwMode="auto">
          <a:xfrm>
            <a:off x="668338" y="2578100"/>
            <a:ext cx="282575" cy="0"/>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8" name="Text Box 9">
            <a:extLst>
              <a:ext uri="{FF2B5EF4-FFF2-40B4-BE49-F238E27FC236}">
                <a16:creationId xmlns:a16="http://schemas.microsoft.com/office/drawing/2014/main" id="{BE7E47A9-106D-9B57-7B5D-96556382A50A}"/>
              </a:ext>
            </a:extLst>
          </p:cNvPr>
          <p:cNvSpPr txBox="1">
            <a:spLocks noChangeArrowheads="1"/>
          </p:cNvSpPr>
          <p:nvPr/>
        </p:nvSpPr>
        <p:spPr bwMode="auto">
          <a:xfrm>
            <a:off x="509588" y="3109913"/>
            <a:ext cx="11906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SalesPerson</a:t>
            </a:r>
          </a:p>
        </p:txBody>
      </p:sp>
      <p:sp>
        <p:nvSpPr>
          <p:cNvPr id="22539" name="Line 10">
            <a:extLst>
              <a:ext uri="{FF2B5EF4-FFF2-40B4-BE49-F238E27FC236}">
                <a16:creationId xmlns:a16="http://schemas.microsoft.com/office/drawing/2014/main" id="{3755E298-B1DD-6B26-59C1-5FF2D3B5ED40}"/>
              </a:ext>
            </a:extLst>
          </p:cNvPr>
          <p:cNvSpPr>
            <a:spLocks noChangeShapeType="1"/>
          </p:cNvSpPr>
          <p:nvPr/>
        </p:nvSpPr>
        <p:spPr bwMode="auto">
          <a:xfrm>
            <a:off x="950913" y="2578100"/>
            <a:ext cx="1954212" cy="0"/>
          </a:xfrm>
          <a:prstGeom prst="line">
            <a:avLst/>
          </a:prstGeom>
          <a:noFill/>
          <a:ln w="127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0" name="Text Box 11">
            <a:extLst>
              <a:ext uri="{FF2B5EF4-FFF2-40B4-BE49-F238E27FC236}">
                <a16:creationId xmlns:a16="http://schemas.microsoft.com/office/drawing/2014/main" id="{2A8A7737-03B1-449A-C041-9823B8C65975}"/>
              </a:ext>
            </a:extLst>
          </p:cNvPr>
          <p:cNvSpPr txBox="1">
            <a:spLocks noChangeArrowheads="1"/>
          </p:cNvSpPr>
          <p:nvPr/>
        </p:nvSpPr>
        <p:spPr bwMode="auto">
          <a:xfrm>
            <a:off x="3302000" y="1901825"/>
            <a:ext cx="1379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600" b="1">
                <a:solidFill>
                  <a:srgbClr val="0066FF"/>
                </a:solidFill>
              </a:rPr>
              <a:t>Place Order</a:t>
            </a:r>
          </a:p>
        </p:txBody>
      </p:sp>
      <p:sp>
        <p:nvSpPr>
          <p:cNvPr id="22541" name="Line 12">
            <a:extLst>
              <a:ext uri="{FF2B5EF4-FFF2-40B4-BE49-F238E27FC236}">
                <a16:creationId xmlns:a16="http://schemas.microsoft.com/office/drawing/2014/main" id="{E3006D41-ABE9-8678-5F23-DFA5C9282327}"/>
              </a:ext>
            </a:extLst>
          </p:cNvPr>
          <p:cNvSpPr>
            <a:spLocks noChangeShapeType="1"/>
          </p:cNvSpPr>
          <p:nvPr/>
        </p:nvSpPr>
        <p:spPr bwMode="auto">
          <a:xfrm>
            <a:off x="2965450" y="2324100"/>
            <a:ext cx="2473325" cy="0"/>
          </a:xfrm>
          <a:prstGeom prst="line">
            <a:avLst/>
          </a:prstGeom>
          <a:noFill/>
          <a:ln w="127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2" name="Text Box 13">
            <a:extLst>
              <a:ext uri="{FF2B5EF4-FFF2-40B4-BE49-F238E27FC236}">
                <a16:creationId xmlns:a16="http://schemas.microsoft.com/office/drawing/2014/main" id="{AF150B41-5A52-B4D6-E002-8C0D69100572}"/>
              </a:ext>
            </a:extLst>
          </p:cNvPr>
          <p:cNvSpPr txBox="1">
            <a:spLocks noChangeArrowheads="1"/>
          </p:cNvSpPr>
          <p:nvPr/>
        </p:nvSpPr>
        <p:spPr bwMode="auto">
          <a:xfrm>
            <a:off x="2965450" y="2378075"/>
            <a:ext cx="2319338"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300" b="1">
                <a:solidFill>
                  <a:srgbClr val="0066FF"/>
                </a:solidFill>
              </a:rPr>
              <a:t>Extension points</a:t>
            </a:r>
            <a:r>
              <a:rPr lang="en-US" altLang="en-US" sz="1400">
                <a:solidFill>
                  <a:srgbClr val="0066FF"/>
                </a:solidFill>
              </a:rPr>
              <a:t> </a:t>
            </a:r>
          </a:p>
          <a:p>
            <a:pPr eaLnBrk="1" hangingPunct="1">
              <a:spcBef>
                <a:spcPct val="0"/>
              </a:spcBef>
              <a:buFontTx/>
              <a:buNone/>
            </a:pPr>
            <a:r>
              <a:rPr lang="en-US" altLang="en-US" sz="1400">
                <a:solidFill>
                  <a:srgbClr val="0066FF"/>
                </a:solidFill>
              </a:rPr>
              <a:t>Additional requests:</a:t>
            </a:r>
          </a:p>
          <a:p>
            <a:pPr eaLnBrk="1" hangingPunct="1">
              <a:spcBef>
                <a:spcPct val="0"/>
              </a:spcBef>
              <a:buFontTx/>
              <a:buNone/>
            </a:pPr>
            <a:r>
              <a:rPr lang="en-US" altLang="en-US" sz="1400">
                <a:solidFill>
                  <a:srgbClr val="0066FF"/>
                </a:solidFill>
              </a:rPr>
              <a:t>   after creation of the order</a:t>
            </a:r>
          </a:p>
        </p:txBody>
      </p:sp>
      <p:sp>
        <p:nvSpPr>
          <p:cNvPr id="22543" name="Text Box 14">
            <a:extLst>
              <a:ext uri="{FF2B5EF4-FFF2-40B4-BE49-F238E27FC236}">
                <a16:creationId xmlns:a16="http://schemas.microsoft.com/office/drawing/2014/main" id="{9A46AC5C-D309-9821-0F00-B5D726837360}"/>
              </a:ext>
            </a:extLst>
          </p:cNvPr>
          <p:cNvSpPr txBox="1">
            <a:spLocks noChangeArrowheads="1"/>
          </p:cNvSpPr>
          <p:nvPr/>
        </p:nvSpPr>
        <p:spPr bwMode="auto">
          <a:xfrm>
            <a:off x="950913" y="257810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0066FF"/>
                </a:solidFill>
              </a:rPr>
              <a:t>1</a:t>
            </a:r>
          </a:p>
        </p:txBody>
      </p:sp>
      <p:sp>
        <p:nvSpPr>
          <p:cNvPr id="22544" name="Text Box 15">
            <a:extLst>
              <a:ext uri="{FF2B5EF4-FFF2-40B4-BE49-F238E27FC236}">
                <a16:creationId xmlns:a16="http://schemas.microsoft.com/office/drawing/2014/main" id="{5A43D189-5CED-4859-8C80-9A43EDD72915}"/>
              </a:ext>
            </a:extLst>
          </p:cNvPr>
          <p:cNvSpPr txBox="1">
            <a:spLocks noChangeArrowheads="1"/>
          </p:cNvSpPr>
          <p:nvPr/>
        </p:nvSpPr>
        <p:spPr bwMode="auto">
          <a:xfrm>
            <a:off x="2593975" y="2597150"/>
            <a:ext cx="273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0066FF"/>
                </a:solidFill>
              </a:rPr>
              <a:t>*</a:t>
            </a:r>
          </a:p>
        </p:txBody>
      </p:sp>
      <p:sp>
        <p:nvSpPr>
          <p:cNvPr id="22545" name="Oval 16">
            <a:extLst>
              <a:ext uri="{FF2B5EF4-FFF2-40B4-BE49-F238E27FC236}">
                <a16:creationId xmlns:a16="http://schemas.microsoft.com/office/drawing/2014/main" id="{C084AAA7-C5FE-0B01-FC51-E7E921DB220B}"/>
              </a:ext>
            </a:extLst>
          </p:cNvPr>
          <p:cNvSpPr>
            <a:spLocks noChangeArrowheads="1"/>
          </p:cNvSpPr>
          <p:nvPr/>
        </p:nvSpPr>
        <p:spPr bwMode="auto">
          <a:xfrm>
            <a:off x="2965450" y="4179888"/>
            <a:ext cx="2246313" cy="1741487"/>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US" altLang="en-US" sz="1600" b="1">
              <a:solidFill>
                <a:srgbClr val="0066FF"/>
              </a:solidFill>
              <a:latin typeface="Times New Roman" panose="02020603050405020304" pitchFamily="18" charset="0"/>
            </a:endParaRPr>
          </a:p>
        </p:txBody>
      </p:sp>
      <p:sp>
        <p:nvSpPr>
          <p:cNvPr id="22546" name="Oval 17">
            <a:extLst>
              <a:ext uri="{FF2B5EF4-FFF2-40B4-BE49-F238E27FC236}">
                <a16:creationId xmlns:a16="http://schemas.microsoft.com/office/drawing/2014/main" id="{4FD60786-090B-C645-91A9-770C9551725B}"/>
              </a:ext>
            </a:extLst>
          </p:cNvPr>
          <p:cNvSpPr>
            <a:spLocks noChangeArrowheads="1"/>
          </p:cNvSpPr>
          <p:nvPr/>
        </p:nvSpPr>
        <p:spPr bwMode="auto">
          <a:xfrm>
            <a:off x="728663" y="4543425"/>
            <a:ext cx="273050" cy="307975"/>
          </a:xfrm>
          <a:prstGeom prst="ellipse">
            <a:avLst/>
          </a:prstGeom>
          <a:solidFill>
            <a:schemeClr val="bg1"/>
          </a:solidFill>
          <a:ln w="9525">
            <a:solidFill>
              <a:srgbClr val="99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22547" name="Line 18">
            <a:extLst>
              <a:ext uri="{FF2B5EF4-FFF2-40B4-BE49-F238E27FC236}">
                <a16:creationId xmlns:a16="http://schemas.microsoft.com/office/drawing/2014/main" id="{07FEA94B-D097-6C09-BCE1-9D7AC938D7AB}"/>
              </a:ext>
            </a:extLst>
          </p:cNvPr>
          <p:cNvSpPr>
            <a:spLocks noChangeShapeType="1"/>
          </p:cNvSpPr>
          <p:nvPr/>
        </p:nvSpPr>
        <p:spPr bwMode="auto">
          <a:xfrm>
            <a:off x="869950" y="4851400"/>
            <a:ext cx="0" cy="458788"/>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8" name="Line 19">
            <a:extLst>
              <a:ext uri="{FF2B5EF4-FFF2-40B4-BE49-F238E27FC236}">
                <a16:creationId xmlns:a16="http://schemas.microsoft.com/office/drawing/2014/main" id="{7D505DFA-A8B5-CF02-BF77-7DBD9372AB25}"/>
              </a:ext>
            </a:extLst>
          </p:cNvPr>
          <p:cNvSpPr>
            <a:spLocks noChangeShapeType="1"/>
          </p:cNvSpPr>
          <p:nvPr/>
        </p:nvSpPr>
        <p:spPr bwMode="auto">
          <a:xfrm flipH="1">
            <a:off x="728663" y="5310188"/>
            <a:ext cx="141287" cy="271462"/>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9" name="Line 20">
            <a:extLst>
              <a:ext uri="{FF2B5EF4-FFF2-40B4-BE49-F238E27FC236}">
                <a16:creationId xmlns:a16="http://schemas.microsoft.com/office/drawing/2014/main" id="{35DF44E8-F335-0330-B979-6546DB910BAE}"/>
              </a:ext>
            </a:extLst>
          </p:cNvPr>
          <p:cNvSpPr>
            <a:spLocks noChangeShapeType="1"/>
          </p:cNvSpPr>
          <p:nvPr/>
        </p:nvSpPr>
        <p:spPr bwMode="auto">
          <a:xfrm>
            <a:off x="869950" y="5310188"/>
            <a:ext cx="141288" cy="271462"/>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0" name="Line 21">
            <a:extLst>
              <a:ext uri="{FF2B5EF4-FFF2-40B4-BE49-F238E27FC236}">
                <a16:creationId xmlns:a16="http://schemas.microsoft.com/office/drawing/2014/main" id="{7285900F-80F1-6B36-0E49-ADC7BB226AC2}"/>
              </a:ext>
            </a:extLst>
          </p:cNvPr>
          <p:cNvSpPr>
            <a:spLocks noChangeShapeType="1"/>
          </p:cNvSpPr>
          <p:nvPr/>
        </p:nvSpPr>
        <p:spPr bwMode="auto">
          <a:xfrm>
            <a:off x="728663" y="5051425"/>
            <a:ext cx="282575" cy="0"/>
          </a:xfrm>
          <a:prstGeom prst="line">
            <a:avLst/>
          </a:prstGeom>
          <a:noFill/>
          <a:ln w="9525">
            <a:solidFill>
              <a:srgbClr val="99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1" name="Text Box 22">
            <a:extLst>
              <a:ext uri="{FF2B5EF4-FFF2-40B4-BE49-F238E27FC236}">
                <a16:creationId xmlns:a16="http://schemas.microsoft.com/office/drawing/2014/main" id="{12944EDD-69DF-5ECC-A22B-F195B07A6F38}"/>
              </a:ext>
            </a:extLst>
          </p:cNvPr>
          <p:cNvSpPr txBox="1">
            <a:spLocks noChangeArrowheads="1"/>
          </p:cNvSpPr>
          <p:nvPr/>
        </p:nvSpPr>
        <p:spPr bwMode="auto">
          <a:xfrm>
            <a:off x="569913" y="5583238"/>
            <a:ext cx="1327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solidFill>
                  <a:srgbClr val="0066FF"/>
                </a:solidFill>
              </a:rPr>
              <a:t>SalesManager</a:t>
            </a:r>
          </a:p>
        </p:txBody>
      </p:sp>
      <p:sp>
        <p:nvSpPr>
          <p:cNvPr id="22552" name="Line 23">
            <a:extLst>
              <a:ext uri="{FF2B5EF4-FFF2-40B4-BE49-F238E27FC236}">
                <a16:creationId xmlns:a16="http://schemas.microsoft.com/office/drawing/2014/main" id="{26AF2E55-FEDC-32B2-B1CD-C61D0E3887EF}"/>
              </a:ext>
            </a:extLst>
          </p:cNvPr>
          <p:cNvSpPr>
            <a:spLocks noChangeShapeType="1"/>
          </p:cNvSpPr>
          <p:nvPr/>
        </p:nvSpPr>
        <p:spPr bwMode="auto">
          <a:xfrm>
            <a:off x="1011238" y="5051425"/>
            <a:ext cx="1954212" cy="0"/>
          </a:xfrm>
          <a:prstGeom prst="line">
            <a:avLst/>
          </a:prstGeom>
          <a:noFill/>
          <a:ln w="127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3" name="Text Box 24">
            <a:extLst>
              <a:ext uri="{FF2B5EF4-FFF2-40B4-BE49-F238E27FC236}">
                <a16:creationId xmlns:a16="http://schemas.microsoft.com/office/drawing/2014/main" id="{3043F82F-B10D-6FF5-D9E0-34A44CE0DF98}"/>
              </a:ext>
            </a:extLst>
          </p:cNvPr>
          <p:cNvSpPr txBox="1">
            <a:spLocks noChangeArrowheads="1"/>
          </p:cNvSpPr>
          <p:nvPr/>
        </p:nvSpPr>
        <p:spPr bwMode="auto">
          <a:xfrm>
            <a:off x="3362325" y="4902200"/>
            <a:ext cx="1379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sz="1600" b="1">
                <a:solidFill>
                  <a:srgbClr val="0066FF"/>
                </a:solidFill>
              </a:rPr>
              <a:t>Grant Credit</a:t>
            </a:r>
          </a:p>
        </p:txBody>
      </p:sp>
      <p:sp>
        <p:nvSpPr>
          <p:cNvPr id="22554" name="Text Box 25">
            <a:extLst>
              <a:ext uri="{FF2B5EF4-FFF2-40B4-BE49-F238E27FC236}">
                <a16:creationId xmlns:a16="http://schemas.microsoft.com/office/drawing/2014/main" id="{F54B9861-4159-7B58-EBBC-B9F94246E1B8}"/>
              </a:ext>
            </a:extLst>
          </p:cNvPr>
          <p:cNvSpPr txBox="1">
            <a:spLocks noChangeArrowheads="1"/>
          </p:cNvSpPr>
          <p:nvPr/>
        </p:nvSpPr>
        <p:spPr bwMode="auto">
          <a:xfrm>
            <a:off x="1011238" y="505142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0066FF"/>
                </a:solidFill>
              </a:rPr>
              <a:t>1</a:t>
            </a:r>
          </a:p>
        </p:txBody>
      </p:sp>
      <p:sp>
        <p:nvSpPr>
          <p:cNvPr id="22555" name="Text Box 26">
            <a:extLst>
              <a:ext uri="{FF2B5EF4-FFF2-40B4-BE49-F238E27FC236}">
                <a16:creationId xmlns:a16="http://schemas.microsoft.com/office/drawing/2014/main" id="{3750DC4D-441E-29AB-36CA-DCE78BCB509D}"/>
              </a:ext>
            </a:extLst>
          </p:cNvPr>
          <p:cNvSpPr txBox="1">
            <a:spLocks noChangeArrowheads="1"/>
          </p:cNvSpPr>
          <p:nvPr/>
        </p:nvSpPr>
        <p:spPr bwMode="auto">
          <a:xfrm>
            <a:off x="2654300" y="5070475"/>
            <a:ext cx="273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0066FF"/>
                </a:solidFill>
              </a:rPr>
              <a:t>*</a:t>
            </a:r>
          </a:p>
        </p:txBody>
      </p:sp>
      <p:sp>
        <p:nvSpPr>
          <p:cNvPr id="22556" name="Line 27">
            <a:extLst>
              <a:ext uri="{FF2B5EF4-FFF2-40B4-BE49-F238E27FC236}">
                <a16:creationId xmlns:a16="http://schemas.microsoft.com/office/drawing/2014/main" id="{40BB80F5-58A1-456B-195E-F10ACA9C1A3E}"/>
              </a:ext>
            </a:extLst>
          </p:cNvPr>
          <p:cNvSpPr>
            <a:spLocks noChangeShapeType="1"/>
          </p:cNvSpPr>
          <p:nvPr/>
        </p:nvSpPr>
        <p:spPr bwMode="auto">
          <a:xfrm flipH="1" flipV="1">
            <a:off x="868363" y="3536950"/>
            <a:ext cx="1587" cy="747713"/>
          </a:xfrm>
          <a:prstGeom prst="line">
            <a:avLst/>
          </a:prstGeom>
          <a:noFill/>
          <a:ln w="28575">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57" name="AutoShape 28">
            <a:extLst>
              <a:ext uri="{FF2B5EF4-FFF2-40B4-BE49-F238E27FC236}">
                <a16:creationId xmlns:a16="http://schemas.microsoft.com/office/drawing/2014/main" id="{6DB93366-5735-2CCE-60D6-8EB44A0436EF}"/>
              </a:ext>
            </a:extLst>
          </p:cNvPr>
          <p:cNvSpPr>
            <a:spLocks noChangeArrowheads="1"/>
          </p:cNvSpPr>
          <p:nvPr/>
        </p:nvSpPr>
        <p:spPr bwMode="auto">
          <a:xfrm>
            <a:off x="809625" y="3448050"/>
            <a:ext cx="115888" cy="88900"/>
          </a:xfrm>
          <a:prstGeom prst="triangle">
            <a:avLst>
              <a:gd name="adj" fmla="val 50000"/>
            </a:avLst>
          </a:prstGeom>
          <a:noFill/>
          <a:ln w="28575">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600"/>
          </a:p>
        </p:txBody>
      </p:sp>
      <p:sp>
        <p:nvSpPr>
          <p:cNvPr id="22558" name="Text Box 29">
            <a:extLst>
              <a:ext uri="{FF2B5EF4-FFF2-40B4-BE49-F238E27FC236}">
                <a16:creationId xmlns:a16="http://schemas.microsoft.com/office/drawing/2014/main" id="{DB87E216-42ED-1779-98D6-22CC99B5C69F}"/>
              </a:ext>
            </a:extLst>
          </p:cNvPr>
          <p:cNvSpPr txBox="1">
            <a:spLocks noChangeArrowheads="1"/>
          </p:cNvSpPr>
          <p:nvPr/>
        </p:nvSpPr>
        <p:spPr bwMode="auto">
          <a:xfrm>
            <a:off x="4999038" y="3684588"/>
            <a:ext cx="3513137"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400"/>
              <a:t>Sales person can do only “Place Order”;</a:t>
            </a:r>
          </a:p>
          <a:p>
            <a:pPr eaLnBrk="1" hangingPunct="1">
              <a:spcBef>
                <a:spcPct val="0"/>
              </a:spcBef>
              <a:buFontTx/>
              <a:buNone/>
            </a:pPr>
            <a:r>
              <a:rPr lang="en-US" altLang="en-US" sz="1400"/>
              <a:t>Sales manager can do both “Place Order” </a:t>
            </a:r>
          </a:p>
          <a:p>
            <a:pPr eaLnBrk="1" hangingPunct="1">
              <a:spcBef>
                <a:spcPct val="0"/>
              </a:spcBef>
              <a:buFontTx/>
              <a:buNone/>
            </a:pPr>
            <a:r>
              <a:rPr lang="en-US" altLang="en-US" sz="1400"/>
              <a:t>and “Grant Credit”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A63A2-72CC-99BF-1FBE-0110FA2BD999}"/>
              </a:ext>
            </a:extLst>
          </p:cNvPr>
          <p:cNvSpPr>
            <a:spLocks noGrp="1"/>
          </p:cNvSpPr>
          <p:nvPr>
            <p:ph type="title"/>
          </p:nvPr>
        </p:nvSpPr>
        <p:spPr/>
        <p:txBody>
          <a:bodyPr/>
          <a:lstStyle/>
          <a:p>
            <a:r>
              <a:rPr lang="en-US" dirty="0"/>
              <a:t>Class-based Modelling</a:t>
            </a:r>
          </a:p>
        </p:txBody>
      </p:sp>
      <p:sp>
        <p:nvSpPr>
          <p:cNvPr id="3" name="Content Placeholder 2">
            <a:extLst>
              <a:ext uri="{FF2B5EF4-FFF2-40B4-BE49-F238E27FC236}">
                <a16:creationId xmlns:a16="http://schemas.microsoft.com/office/drawing/2014/main" id="{1CCD9AB9-C45C-AE4C-053E-3E32BD29F17B}"/>
              </a:ext>
            </a:extLst>
          </p:cNvPr>
          <p:cNvSpPr>
            <a:spLocks noGrp="1"/>
          </p:cNvSpPr>
          <p:nvPr>
            <p:ph idx="1"/>
          </p:nvPr>
        </p:nvSpPr>
        <p:spPr/>
        <p:txBody>
          <a:bodyPr/>
          <a:lstStyle/>
          <a:p>
            <a:pPr>
              <a:lnSpc>
                <a:spcPct val="150000"/>
              </a:lnSpc>
            </a:pPr>
            <a:r>
              <a:rPr lang="en-US" altLang="ko-KR" dirty="0">
                <a:ea typeface="ＭＳ Ｐゴシック" panose="020B0600070205080204" pitchFamily="34" charset="-128"/>
              </a:rPr>
              <a:t>It shows the classes of the system, their inter-relationships, and the operations and attributes of the classes</a:t>
            </a:r>
          </a:p>
          <a:p>
            <a:pPr>
              <a:lnSpc>
                <a:spcPct val="150000"/>
              </a:lnSpc>
            </a:pPr>
            <a:r>
              <a:rPr lang="en-US" altLang="ko-KR" dirty="0">
                <a:ea typeface="ＭＳ Ｐゴシック" panose="020B0600070205080204" pitchFamily="34" charset="-128"/>
              </a:rPr>
              <a:t>Explore domain concepts in the form of a domain model </a:t>
            </a:r>
          </a:p>
          <a:p>
            <a:pPr>
              <a:lnSpc>
                <a:spcPct val="150000"/>
              </a:lnSpc>
            </a:pPr>
            <a:r>
              <a:rPr lang="en-US" altLang="ko-KR" dirty="0">
                <a:ea typeface="ＭＳ Ｐゴシック" panose="020B0600070205080204" pitchFamily="34" charset="-128"/>
              </a:rPr>
              <a:t>Analyze requirements in the form of a conceptual/analysis model </a:t>
            </a:r>
          </a:p>
          <a:p>
            <a:pPr>
              <a:lnSpc>
                <a:spcPct val="150000"/>
              </a:lnSpc>
            </a:pPr>
            <a:endParaRPr lang="en-US" dirty="0"/>
          </a:p>
        </p:txBody>
      </p:sp>
      <p:sp>
        <p:nvSpPr>
          <p:cNvPr id="4" name="Date Placeholder 3">
            <a:extLst>
              <a:ext uri="{FF2B5EF4-FFF2-40B4-BE49-F238E27FC236}">
                <a16:creationId xmlns:a16="http://schemas.microsoft.com/office/drawing/2014/main" id="{7889F72A-BEB2-CDB9-BB25-1833F7FDF1EF}"/>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40DC8132-8174-7F87-F436-BD64FD060127}"/>
              </a:ext>
            </a:extLst>
          </p:cNvPr>
          <p:cNvSpPr>
            <a:spLocks noGrp="1"/>
          </p:cNvSpPr>
          <p:nvPr>
            <p:ph type="sldNum" sz="quarter" idx="12"/>
          </p:nvPr>
        </p:nvSpPr>
        <p:spPr/>
        <p:txBody>
          <a:bodyPr/>
          <a:lstStyle/>
          <a:p>
            <a:fld id="{0A68DB68-8052-4758-A647-54338E95D837}" type="slidenum">
              <a:rPr lang="en-US" smtClean="0"/>
              <a:pPr/>
              <a:t>33</a:t>
            </a:fld>
            <a:endParaRPr lang="en-US" dirty="0"/>
          </a:p>
        </p:txBody>
      </p:sp>
    </p:spTree>
    <p:extLst>
      <p:ext uri="{BB962C8B-B14F-4D97-AF65-F5344CB8AC3E}">
        <p14:creationId xmlns:p14="http://schemas.microsoft.com/office/powerpoint/2010/main" val="3054884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96A31-1E3B-463A-14EA-01E85E164DC3}"/>
              </a:ext>
            </a:extLst>
          </p:cNvPr>
          <p:cNvSpPr>
            <a:spLocks noGrp="1"/>
          </p:cNvSpPr>
          <p:nvPr>
            <p:ph type="title"/>
          </p:nvPr>
        </p:nvSpPr>
        <p:spPr/>
        <p:txBody>
          <a:bodyPr/>
          <a:lstStyle/>
          <a:p>
            <a:r>
              <a:rPr lang="en-US" dirty="0"/>
              <a:t>Class-based Modelling</a:t>
            </a:r>
          </a:p>
        </p:txBody>
      </p:sp>
      <p:sp>
        <p:nvSpPr>
          <p:cNvPr id="3" name="Content Placeholder 2">
            <a:extLst>
              <a:ext uri="{FF2B5EF4-FFF2-40B4-BE49-F238E27FC236}">
                <a16:creationId xmlns:a16="http://schemas.microsoft.com/office/drawing/2014/main" id="{889749C7-CA31-DC07-A1D1-1D4AC8EB1B69}"/>
              </a:ext>
            </a:extLst>
          </p:cNvPr>
          <p:cNvSpPr>
            <a:spLocks noGrp="1"/>
          </p:cNvSpPr>
          <p:nvPr>
            <p:ph idx="1"/>
          </p:nvPr>
        </p:nvSpPr>
        <p:spPr/>
        <p:txBody>
          <a:bodyPr>
            <a:normAutofit/>
          </a:bodyPr>
          <a:lstStyle/>
          <a:p>
            <a:pPr marL="514984" indent="-173355" algn="just">
              <a:lnSpc>
                <a:spcPct val="150000"/>
              </a:lnSpc>
              <a:spcBef>
                <a:spcPts val="885"/>
              </a:spcBef>
              <a:buClr>
                <a:srgbClr val="9A0000"/>
              </a:buClr>
              <a:buSzPct val="75000"/>
              <a:buFont typeface="Wingdings"/>
              <a:buChar char=""/>
              <a:tabLst>
                <a:tab pos="515620" algn="l"/>
              </a:tabLst>
            </a:pPr>
            <a:r>
              <a:rPr lang="en-US" dirty="0">
                <a:cs typeface="Arial MT"/>
              </a:rPr>
              <a:t>Class-based</a:t>
            </a:r>
            <a:r>
              <a:rPr lang="en-US" spc="-25" dirty="0">
                <a:cs typeface="Arial MT"/>
              </a:rPr>
              <a:t> </a:t>
            </a:r>
            <a:r>
              <a:rPr lang="en-US" dirty="0">
                <a:cs typeface="Arial MT"/>
              </a:rPr>
              <a:t>modeling</a:t>
            </a:r>
            <a:r>
              <a:rPr lang="en-US" spc="-30" dirty="0">
                <a:cs typeface="Arial MT"/>
              </a:rPr>
              <a:t> </a:t>
            </a:r>
            <a:r>
              <a:rPr lang="en-US" dirty="0">
                <a:cs typeface="Arial MT"/>
              </a:rPr>
              <a:t>represents:</a:t>
            </a:r>
          </a:p>
          <a:p>
            <a:pPr marL="714375" lvl="1" indent="-144145" algn="just">
              <a:lnSpc>
                <a:spcPct val="150000"/>
              </a:lnSpc>
              <a:spcBef>
                <a:spcPts val="250"/>
              </a:spcBef>
              <a:buSzPct val="70000"/>
              <a:buFont typeface="Wingdings"/>
              <a:buChar char=""/>
              <a:tabLst>
                <a:tab pos="715010" algn="l"/>
              </a:tabLst>
            </a:pPr>
            <a:r>
              <a:rPr lang="en-US" spc="-5" dirty="0">
                <a:solidFill>
                  <a:srgbClr val="9A0000"/>
                </a:solidFill>
                <a:cs typeface="Arial MT"/>
              </a:rPr>
              <a:t>Objects </a:t>
            </a:r>
            <a:r>
              <a:rPr lang="en-US" spc="-10" dirty="0">
                <a:cs typeface="Arial MT"/>
              </a:rPr>
              <a:t>that the </a:t>
            </a:r>
            <a:r>
              <a:rPr lang="en-US" spc="-5" dirty="0">
                <a:cs typeface="Arial MT"/>
              </a:rPr>
              <a:t>system</a:t>
            </a:r>
            <a:r>
              <a:rPr lang="en-US" spc="20" dirty="0">
                <a:cs typeface="Arial MT"/>
              </a:rPr>
              <a:t> </a:t>
            </a:r>
            <a:r>
              <a:rPr lang="en-US" spc="-5" dirty="0">
                <a:cs typeface="Arial MT"/>
              </a:rPr>
              <a:t>will</a:t>
            </a:r>
            <a:r>
              <a:rPr lang="en-US" dirty="0">
                <a:cs typeface="Arial MT"/>
              </a:rPr>
              <a:t> </a:t>
            </a:r>
            <a:r>
              <a:rPr lang="en-US" spc="-5" dirty="0">
                <a:cs typeface="Arial MT"/>
              </a:rPr>
              <a:t>manipulate</a:t>
            </a:r>
            <a:endParaRPr lang="en-US" dirty="0">
              <a:cs typeface="Arial MT"/>
            </a:endParaRPr>
          </a:p>
          <a:p>
            <a:pPr marL="714375" marR="55244" lvl="1" indent="-143510" algn="just">
              <a:lnSpc>
                <a:spcPct val="150000"/>
              </a:lnSpc>
              <a:spcBef>
                <a:spcPts val="225"/>
              </a:spcBef>
              <a:buSzPct val="70000"/>
              <a:buFont typeface="Wingdings"/>
              <a:buChar char=""/>
              <a:tabLst>
                <a:tab pos="715010" algn="l"/>
              </a:tabLst>
            </a:pPr>
            <a:r>
              <a:rPr lang="en-US" spc="-5" dirty="0">
                <a:solidFill>
                  <a:srgbClr val="9A0000"/>
                </a:solidFill>
                <a:cs typeface="Arial MT"/>
              </a:rPr>
              <a:t>Operations </a:t>
            </a:r>
            <a:r>
              <a:rPr lang="en-US" dirty="0">
                <a:cs typeface="Arial MT"/>
              </a:rPr>
              <a:t>(also</a:t>
            </a:r>
            <a:r>
              <a:rPr lang="en-US" spc="-5" dirty="0">
                <a:cs typeface="Arial MT"/>
              </a:rPr>
              <a:t> called</a:t>
            </a:r>
            <a:r>
              <a:rPr lang="en-US" spc="-10" dirty="0">
                <a:cs typeface="Arial MT"/>
              </a:rPr>
              <a:t> </a:t>
            </a:r>
            <a:r>
              <a:rPr lang="en-US" spc="-5" dirty="0">
                <a:cs typeface="Arial MT"/>
              </a:rPr>
              <a:t>methods</a:t>
            </a:r>
            <a:r>
              <a:rPr lang="en-US" dirty="0">
                <a:cs typeface="Arial MT"/>
              </a:rPr>
              <a:t> </a:t>
            </a:r>
            <a:r>
              <a:rPr lang="en-US" spc="-5" dirty="0">
                <a:cs typeface="Arial MT"/>
              </a:rPr>
              <a:t>or</a:t>
            </a:r>
            <a:r>
              <a:rPr lang="en-US" dirty="0">
                <a:cs typeface="Arial MT"/>
              </a:rPr>
              <a:t> </a:t>
            </a:r>
            <a:r>
              <a:rPr lang="en-US" spc="-5" dirty="0">
                <a:cs typeface="Arial MT"/>
              </a:rPr>
              <a:t>services) </a:t>
            </a:r>
            <a:r>
              <a:rPr lang="en-US" spc="-10" dirty="0">
                <a:cs typeface="Arial MT"/>
              </a:rPr>
              <a:t>that</a:t>
            </a:r>
            <a:r>
              <a:rPr lang="en-US" spc="5" dirty="0">
                <a:cs typeface="Arial MT"/>
              </a:rPr>
              <a:t> </a:t>
            </a:r>
            <a:r>
              <a:rPr lang="en-US" spc="-5" dirty="0">
                <a:cs typeface="Arial MT"/>
              </a:rPr>
              <a:t>will </a:t>
            </a:r>
            <a:r>
              <a:rPr lang="en-US" spc="-260" dirty="0">
                <a:cs typeface="Arial MT"/>
              </a:rPr>
              <a:t> </a:t>
            </a:r>
            <a:r>
              <a:rPr lang="en-US" spc="-10" dirty="0">
                <a:cs typeface="Arial MT"/>
              </a:rPr>
              <a:t>be</a:t>
            </a:r>
            <a:r>
              <a:rPr lang="en-US" spc="-5" dirty="0">
                <a:cs typeface="Arial MT"/>
              </a:rPr>
              <a:t> applied</a:t>
            </a:r>
            <a:r>
              <a:rPr lang="en-US" dirty="0">
                <a:cs typeface="Arial MT"/>
              </a:rPr>
              <a:t> </a:t>
            </a:r>
            <a:r>
              <a:rPr lang="en-US" spc="-5" dirty="0">
                <a:cs typeface="Arial MT"/>
              </a:rPr>
              <a:t>to the</a:t>
            </a:r>
            <a:r>
              <a:rPr lang="en-US" dirty="0">
                <a:cs typeface="Arial MT"/>
              </a:rPr>
              <a:t> </a:t>
            </a:r>
            <a:r>
              <a:rPr lang="en-US" spc="-5" dirty="0">
                <a:cs typeface="Arial MT"/>
              </a:rPr>
              <a:t>objects</a:t>
            </a:r>
            <a:r>
              <a:rPr lang="en-US" spc="5" dirty="0">
                <a:cs typeface="Arial MT"/>
              </a:rPr>
              <a:t> </a:t>
            </a:r>
            <a:r>
              <a:rPr lang="en-US" spc="-5" dirty="0">
                <a:cs typeface="Arial MT"/>
              </a:rPr>
              <a:t>to</a:t>
            </a:r>
            <a:r>
              <a:rPr lang="en-US" spc="5" dirty="0">
                <a:cs typeface="Arial MT"/>
              </a:rPr>
              <a:t> </a:t>
            </a:r>
            <a:r>
              <a:rPr lang="en-US" spc="-5" dirty="0">
                <a:cs typeface="Arial MT"/>
              </a:rPr>
              <a:t>effect</a:t>
            </a:r>
            <a:r>
              <a:rPr lang="en-US" dirty="0">
                <a:cs typeface="Arial MT"/>
              </a:rPr>
              <a:t> </a:t>
            </a:r>
            <a:r>
              <a:rPr lang="en-US" spc="-10" dirty="0">
                <a:cs typeface="Arial MT"/>
              </a:rPr>
              <a:t>the</a:t>
            </a:r>
            <a:r>
              <a:rPr lang="en-US" spc="-15" dirty="0">
                <a:cs typeface="Arial MT"/>
              </a:rPr>
              <a:t> </a:t>
            </a:r>
            <a:r>
              <a:rPr lang="en-US" spc="-5" dirty="0">
                <a:cs typeface="Arial MT"/>
              </a:rPr>
              <a:t>manipulation</a:t>
            </a:r>
            <a:endParaRPr lang="en-US" dirty="0">
              <a:cs typeface="Arial MT"/>
            </a:endParaRPr>
          </a:p>
          <a:p>
            <a:pPr marL="714375" lvl="1" indent="-144145" algn="just">
              <a:lnSpc>
                <a:spcPct val="150000"/>
              </a:lnSpc>
              <a:spcBef>
                <a:spcPts val="240"/>
              </a:spcBef>
              <a:buSzPct val="70000"/>
              <a:buFont typeface="Wingdings"/>
              <a:buChar char=""/>
              <a:tabLst>
                <a:tab pos="715010" algn="l"/>
              </a:tabLst>
            </a:pPr>
            <a:r>
              <a:rPr lang="en-US" spc="-5" dirty="0">
                <a:solidFill>
                  <a:srgbClr val="9A0000"/>
                </a:solidFill>
                <a:cs typeface="Arial MT"/>
              </a:rPr>
              <a:t>Relationships</a:t>
            </a:r>
            <a:r>
              <a:rPr lang="en-US" spc="5" dirty="0">
                <a:solidFill>
                  <a:srgbClr val="9A0000"/>
                </a:solidFill>
                <a:cs typeface="Arial MT"/>
              </a:rPr>
              <a:t> </a:t>
            </a:r>
            <a:r>
              <a:rPr lang="en-US" spc="-5" dirty="0">
                <a:cs typeface="Arial MT"/>
              </a:rPr>
              <a:t>(some</a:t>
            </a:r>
            <a:r>
              <a:rPr lang="en-US" dirty="0">
                <a:cs typeface="Arial MT"/>
              </a:rPr>
              <a:t> </a:t>
            </a:r>
            <a:r>
              <a:rPr lang="en-US" spc="-5" dirty="0">
                <a:cs typeface="Arial MT"/>
              </a:rPr>
              <a:t>hierarchical)</a:t>
            </a:r>
            <a:r>
              <a:rPr lang="en-US" spc="10" dirty="0">
                <a:cs typeface="Arial MT"/>
              </a:rPr>
              <a:t> </a:t>
            </a:r>
            <a:r>
              <a:rPr lang="en-US" spc="-5" dirty="0">
                <a:cs typeface="Arial MT"/>
              </a:rPr>
              <a:t>between</a:t>
            </a:r>
            <a:r>
              <a:rPr lang="en-US" dirty="0">
                <a:cs typeface="Arial MT"/>
              </a:rPr>
              <a:t> </a:t>
            </a:r>
            <a:r>
              <a:rPr lang="en-US" spc="-10" dirty="0">
                <a:cs typeface="Arial MT"/>
              </a:rPr>
              <a:t>the</a:t>
            </a:r>
            <a:r>
              <a:rPr lang="en-US" spc="5" dirty="0">
                <a:cs typeface="Arial MT"/>
              </a:rPr>
              <a:t> </a:t>
            </a:r>
            <a:r>
              <a:rPr lang="en-US" spc="-5" dirty="0">
                <a:cs typeface="Arial MT"/>
              </a:rPr>
              <a:t>objects</a:t>
            </a:r>
            <a:endParaRPr lang="en-US" dirty="0">
              <a:cs typeface="Arial MT"/>
            </a:endParaRPr>
          </a:p>
          <a:p>
            <a:pPr marL="714375" marR="189865" lvl="1" indent="-143510" algn="just">
              <a:lnSpc>
                <a:spcPct val="150000"/>
              </a:lnSpc>
              <a:spcBef>
                <a:spcPts val="240"/>
              </a:spcBef>
              <a:buSzPct val="70000"/>
              <a:buFont typeface="Wingdings"/>
              <a:buChar char=""/>
              <a:tabLst>
                <a:tab pos="715010" algn="l"/>
              </a:tabLst>
            </a:pPr>
            <a:r>
              <a:rPr lang="en-US" spc="-5" dirty="0">
                <a:solidFill>
                  <a:srgbClr val="9A0000"/>
                </a:solidFill>
                <a:cs typeface="Arial MT"/>
              </a:rPr>
              <a:t>Collaborations</a:t>
            </a:r>
            <a:r>
              <a:rPr lang="en-US" dirty="0">
                <a:solidFill>
                  <a:srgbClr val="9A0000"/>
                </a:solidFill>
                <a:cs typeface="Arial MT"/>
              </a:rPr>
              <a:t> </a:t>
            </a:r>
            <a:r>
              <a:rPr lang="en-US" spc="-10" dirty="0">
                <a:cs typeface="Arial MT"/>
              </a:rPr>
              <a:t>that</a:t>
            </a:r>
            <a:r>
              <a:rPr lang="en-US" dirty="0">
                <a:cs typeface="Arial MT"/>
              </a:rPr>
              <a:t> </a:t>
            </a:r>
            <a:r>
              <a:rPr lang="en-US" spc="-5" dirty="0">
                <a:cs typeface="Arial MT"/>
              </a:rPr>
              <a:t>occur</a:t>
            </a:r>
            <a:r>
              <a:rPr lang="en-US" spc="5" dirty="0">
                <a:cs typeface="Arial MT"/>
              </a:rPr>
              <a:t> </a:t>
            </a:r>
            <a:r>
              <a:rPr lang="en-US" spc="-5" dirty="0">
                <a:cs typeface="Arial MT"/>
              </a:rPr>
              <a:t>between</a:t>
            </a:r>
            <a:r>
              <a:rPr lang="en-US" dirty="0">
                <a:cs typeface="Arial MT"/>
              </a:rPr>
              <a:t> </a:t>
            </a:r>
            <a:r>
              <a:rPr lang="en-US" spc="-5" dirty="0">
                <a:cs typeface="Arial MT"/>
              </a:rPr>
              <a:t>the classes</a:t>
            </a:r>
            <a:r>
              <a:rPr lang="en-US" spc="5" dirty="0">
                <a:cs typeface="Arial MT"/>
              </a:rPr>
              <a:t> </a:t>
            </a:r>
            <a:r>
              <a:rPr lang="en-US" spc="-10" dirty="0">
                <a:cs typeface="Arial MT"/>
              </a:rPr>
              <a:t>that </a:t>
            </a:r>
            <a:r>
              <a:rPr lang="en-US" spc="-260" dirty="0">
                <a:cs typeface="Arial MT"/>
              </a:rPr>
              <a:t> </a:t>
            </a:r>
            <a:r>
              <a:rPr lang="en-US" spc="-5" dirty="0">
                <a:cs typeface="Arial MT"/>
              </a:rPr>
              <a:t>are</a:t>
            </a:r>
            <a:r>
              <a:rPr lang="en-US" spc="-10" dirty="0">
                <a:cs typeface="Arial MT"/>
              </a:rPr>
              <a:t> </a:t>
            </a:r>
            <a:r>
              <a:rPr lang="en-US" spc="-5" dirty="0">
                <a:cs typeface="Arial MT"/>
              </a:rPr>
              <a:t>defined.</a:t>
            </a:r>
            <a:endParaRPr lang="en-US" dirty="0">
              <a:cs typeface="Arial MT"/>
            </a:endParaRPr>
          </a:p>
          <a:p>
            <a:pPr marL="514984" marR="17145" indent="-172720" algn="just">
              <a:lnSpc>
                <a:spcPct val="150000"/>
              </a:lnSpc>
              <a:spcBef>
                <a:spcPts val="290"/>
              </a:spcBef>
              <a:buClr>
                <a:srgbClr val="9A0000"/>
              </a:buClr>
              <a:buSzPct val="75000"/>
              <a:buFont typeface="Wingdings"/>
              <a:buChar char=""/>
              <a:tabLst>
                <a:tab pos="515620" algn="l"/>
              </a:tabLst>
            </a:pPr>
            <a:r>
              <a:rPr lang="en-US" spc="-5" dirty="0">
                <a:cs typeface="Arial MT"/>
              </a:rPr>
              <a:t>The</a:t>
            </a:r>
            <a:r>
              <a:rPr lang="en-US" spc="5" dirty="0">
                <a:cs typeface="Arial MT"/>
              </a:rPr>
              <a:t> </a:t>
            </a:r>
            <a:r>
              <a:rPr lang="en-US" spc="-5" dirty="0">
                <a:cs typeface="Arial MT"/>
              </a:rPr>
              <a:t>elements</a:t>
            </a:r>
            <a:r>
              <a:rPr lang="en-US" dirty="0">
                <a:cs typeface="Arial MT"/>
              </a:rPr>
              <a:t> </a:t>
            </a:r>
            <a:r>
              <a:rPr lang="en-US" spc="-10" dirty="0">
                <a:cs typeface="Arial MT"/>
              </a:rPr>
              <a:t>of</a:t>
            </a:r>
            <a:r>
              <a:rPr lang="en-US" spc="5" dirty="0">
                <a:cs typeface="Arial MT"/>
              </a:rPr>
              <a:t> </a:t>
            </a:r>
            <a:r>
              <a:rPr lang="en-US" spc="-5" dirty="0">
                <a:cs typeface="Arial MT"/>
              </a:rPr>
              <a:t>a class-based </a:t>
            </a:r>
            <a:r>
              <a:rPr lang="en-US" dirty="0">
                <a:cs typeface="Arial MT"/>
              </a:rPr>
              <a:t>model include </a:t>
            </a:r>
            <a:r>
              <a:rPr lang="en-US" spc="5" dirty="0">
                <a:cs typeface="Arial MT"/>
              </a:rPr>
              <a:t> </a:t>
            </a:r>
            <a:r>
              <a:rPr lang="en-US" dirty="0">
                <a:cs typeface="Arial MT"/>
              </a:rPr>
              <a:t>classes and </a:t>
            </a:r>
            <a:r>
              <a:rPr lang="en-US" spc="-5" dirty="0">
                <a:cs typeface="Arial MT"/>
              </a:rPr>
              <a:t>objects, attributes, </a:t>
            </a:r>
            <a:r>
              <a:rPr lang="en-US" dirty="0">
                <a:cs typeface="Arial MT"/>
              </a:rPr>
              <a:t>operations, </a:t>
            </a:r>
            <a:r>
              <a:rPr lang="en-US" spc="-5" dirty="0">
                <a:cs typeface="Arial MT"/>
              </a:rPr>
              <a:t>and </a:t>
            </a:r>
            <a:r>
              <a:rPr lang="en-US" spc="-320" dirty="0">
                <a:cs typeface="Arial MT"/>
              </a:rPr>
              <a:t> </a:t>
            </a:r>
            <a:r>
              <a:rPr lang="en-US" dirty="0">
                <a:cs typeface="Arial MT"/>
              </a:rPr>
              <a:t>collaboration </a:t>
            </a:r>
            <a:r>
              <a:rPr lang="en-US" spc="-5" dirty="0">
                <a:cs typeface="Arial MT"/>
              </a:rPr>
              <a:t>diagrams.</a:t>
            </a:r>
            <a:endParaRPr lang="en-US" dirty="0">
              <a:cs typeface="Arial MT"/>
            </a:endParaRPr>
          </a:p>
        </p:txBody>
      </p:sp>
      <p:sp>
        <p:nvSpPr>
          <p:cNvPr id="4" name="Date Placeholder 3">
            <a:extLst>
              <a:ext uri="{FF2B5EF4-FFF2-40B4-BE49-F238E27FC236}">
                <a16:creationId xmlns:a16="http://schemas.microsoft.com/office/drawing/2014/main" id="{6474DC72-809D-AC8E-DCBF-735432047947}"/>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30BC762A-1D02-C164-8B23-E7BB770AC36D}"/>
              </a:ext>
            </a:extLst>
          </p:cNvPr>
          <p:cNvSpPr>
            <a:spLocks noGrp="1"/>
          </p:cNvSpPr>
          <p:nvPr>
            <p:ph type="sldNum" sz="quarter" idx="12"/>
          </p:nvPr>
        </p:nvSpPr>
        <p:spPr/>
        <p:txBody>
          <a:bodyPr/>
          <a:lstStyle/>
          <a:p>
            <a:fld id="{0A68DB68-8052-4758-A647-54338E95D837}" type="slidenum">
              <a:rPr lang="en-US" smtClean="0"/>
              <a:pPr/>
              <a:t>34</a:t>
            </a:fld>
            <a:endParaRPr lang="en-US" dirty="0"/>
          </a:p>
        </p:txBody>
      </p:sp>
    </p:spTree>
    <p:extLst>
      <p:ext uri="{BB962C8B-B14F-4D97-AF65-F5344CB8AC3E}">
        <p14:creationId xmlns:p14="http://schemas.microsoft.com/office/powerpoint/2010/main" val="1675772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78ED6-BA1F-4CD2-8CC3-FB00A61C54EF}"/>
              </a:ext>
            </a:extLst>
          </p:cNvPr>
          <p:cNvSpPr>
            <a:spLocks noGrp="1"/>
          </p:cNvSpPr>
          <p:nvPr>
            <p:ph type="title"/>
          </p:nvPr>
        </p:nvSpPr>
        <p:spPr/>
        <p:txBody>
          <a:bodyPr/>
          <a:lstStyle/>
          <a:p>
            <a:r>
              <a:rPr lang="en-US" dirty="0"/>
              <a:t>Identifying Classes</a:t>
            </a:r>
          </a:p>
        </p:txBody>
      </p:sp>
      <p:sp>
        <p:nvSpPr>
          <p:cNvPr id="3" name="Content Placeholder 2">
            <a:extLst>
              <a:ext uri="{FF2B5EF4-FFF2-40B4-BE49-F238E27FC236}">
                <a16:creationId xmlns:a16="http://schemas.microsoft.com/office/drawing/2014/main" id="{6A659D1E-1BC9-C187-A271-1A243942E602}"/>
              </a:ext>
            </a:extLst>
          </p:cNvPr>
          <p:cNvSpPr>
            <a:spLocks noGrp="1"/>
          </p:cNvSpPr>
          <p:nvPr>
            <p:ph idx="1"/>
          </p:nvPr>
        </p:nvSpPr>
        <p:spPr/>
        <p:txBody>
          <a:bodyPr>
            <a:normAutofit fontScale="85000" lnSpcReduction="10000"/>
          </a:bodyPr>
          <a:lstStyle/>
          <a:p>
            <a:pPr marL="476884" marR="74295" indent="-172720" algn="just">
              <a:lnSpc>
                <a:spcPct val="150000"/>
              </a:lnSpc>
              <a:spcBef>
                <a:spcPts val="1525"/>
              </a:spcBef>
              <a:buClr>
                <a:srgbClr val="9A0000"/>
              </a:buClr>
              <a:buSzPct val="75000"/>
              <a:buFont typeface="Wingdings"/>
              <a:buChar char=""/>
              <a:tabLst>
                <a:tab pos="477520" algn="l"/>
              </a:tabLst>
            </a:pPr>
            <a:r>
              <a:rPr lang="en-US" sz="2600" spc="-5" dirty="0">
                <a:cs typeface="Arial MT"/>
              </a:rPr>
              <a:t>Examining </a:t>
            </a:r>
            <a:r>
              <a:rPr lang="en-US" sz="2600" dirty="0">
                <a:cs typeface="Arial MT"/>
              </a:rPr>
              <a:t>the </a:t>
            </a:r>
            <a:r>
              <a:rPr lang="en-US" sz="2600" spc="-5" dirty="0">
                <a:cs typeface="Arial MT"/>
              </a:rPr>
              <a:t>usage </a:t>
            </a:r>
            <a:r>
              <a:rPr lang="en-US" sz="2600" dirty="0">
                <a:cs typeface="Arial MT"/>
              </a:rPr>
              <a:t>scenarios developed as </a:t>
            </a:r>
            <a:r>
              <a:rPr lang="en-US" sz="2600" spc="-320" dirty="0">
                <a:cs typeface="Arial MT"/>
              </a:rPr>
              <a:t> </a:t>
            </a:r>
            <a:r>
              <a:rPr lang="en-US" sz="2600" dirty="0">
                <a:cs typeface="Arial MT"/>
              </a:rPr>
              <a:t>part </a:t>
            </a:r>
            <a:r>
              <a:rPr lang="en-US" sz="2600" spc="-10" dirty="0">
                <a:cs typeface="Arial MT"/>
              </a:rPr>
              <a:t>of </a:t>
            </a:r>
            <a:r>
              <a:rPr lang="en-US" sz="2600" spc="-5" dirty="0">
                <a:cs typeface="Arial MT"/>
              </a:rPr>
              <a:t>the requirements </a:t>
            </a:r>
            <a:r>
              <a:rPr lang="en-US" sz="2600" dirty="0">
                <a:cs typeface="Arial MT"/>
              </a:rPr>
              <a:t>model </a:t>
            </a:r>
            <a:r>
              <a:rPr lang="en-US" sz="2600" spc="-5" dirty="0">
                <a:cs typeface="Arial MT"/>
              </a:rPr>
              <a:t>and perform a </a:t>
            </a:r>
            <a:r>
              <a:rPr lang="en-US" sz="2600" spc="-320" dirty="0">
                <a:cs typeface="Arial MT"/>
              </a:rPr>
              <a:t> </a:t>
            </a:r>
            <a:r>
              <a:rPr lang="en-US" sz="2600" spc="-5" dirty="0">
                <a:cs typeface="Arial MT"/>
              </a:rPr>
              <a:t>"grammatical parse“.</a:t>
            </a:r>
            <a:endParaRPr lang="en-US" sz="2600" dirty="0">
              <a:cs typeface="Arial MT"/>
            </a:endParaRPr>
          </a:p>
          <a:p>
            <a:pPr marL="676275" marR="5080" lvl="1" indent="-143510" algn="just">
              <a:lnSpc>
                <a:spcPct val="150000"/>
              </a:lnSpc>
              <a:spcBef>
                <a:spcPts val="140"/>
              </a:spcBef>
              <a:buClr>
                <a:srgbClr val="9A0000"/>
              </a:buClr>
              <a:buSzPct val="70000"/>
              <a:buFont typeface="Wingdings"/>
              <a:buChar char=""/>
              <a:tabLst>
                <a:tab pos="676910" algn="l"/>
              </a:tabLst>
            </a:pPr>
            <a:r>
              <a:rPr lang="en-US" sz="2400" spc="-5" dirty="0">
                <a:cs typeface="Arial MT"/>
              </a:rPr>
              <a:t>Classes are determined </a:t>
            </a:r>
            <a:r>
              <a:rPr lang="en-US" sz="2400" spc="5" dirty="0">
                <a:cs typeface="Arial MT"/>
              </a:rPr>
              <a:t>by </a:t>
            </a:r>
            <a:r>
              <a:rPr lang="en-US" sz="2400" spc="-5" dirty="0">
                <a:cs typeface="Arial MT"/>
              </a:rPr>
              <a:t>underlining each noun or </a:t>
            </a:r>
            <a:r>
              <a:rPr lang="en-US" sz="2400" spc="-265" dirty="0">
                <a:cs typeface="Arial MT"/>
              </a:rPr>
              <a:t> </a:t>
            </a:r>
            <a:r>
              <a:rPr lang="en-US" sz="2400" spc="-10" dirty="0">
                <a:cs typeface="Arial MT"/>
              </a:rPr>
              <a:t>noun</a:t>
            </a:r>
            <a:r>
              <a:rPr lang="en-US" sz="2400" spc="5" dirty="0">
                <a:cs typeface="Arial MT"/>
              </a:rPr>
              <a:t> </a:t>
            </a:r>
            <a:r>
              <a:rPr lang="en-US" sz="2400" spc="-5" dirty="0">
                <a:cs typeface="Arial MT"/>
              </a:rPr>
              <a:t>phrase and entering</a:t>
            </a:r>
            <a:r>
              <a:rPr lang="en-US" sz="2400" spc="5" dirty="0">
                <a:cs typeface="Arial MT"/>
              </a:rPr>
              <a:t> </a:t>
            </a:r>
            <a:r>
              <a:rPr lang="en-US" sz="2400" spc="-5" dirty="0">
                <a:cs typeface="Arial MT"/>
              </a:rPr>
              <a:t>it</a:t>
            </a:r>
            <a:r>
              <a:rPr lang="en-US" sz="2400" spc="5" dirty="0">
                <a:cs typeface="Arial MT"/>
              </a:rPr>
              <a:t> </a:t>
            </a:r>
            <a:r>
              <a:rPr lang="en-US" sz="2400" spc="-10" dirty="0">
                <a:cs typeface="Arial MT"/>
              </a:rPr>
              <a:t>into</a:t>
            </a:r>
            <a:r>
              <a:rPr lang="en-US" sz="2400" spc="5" dirty="0">
                <a:cs typeface="Arial MT"/>
              </a:rPr>
              <a:t> </a:t>
            </a:r>
            <a:r>
              <a:rPr lang="en-US" sz="2400" spc="-5" dirty="0">
                <a:cs typeface="Arial MT"/>
              </a:rPr>
              <a:t>a simple table.</a:t>
            </a:r>
            <a:endParaRPr lang="en-US" sz="2400" dirty="0">
              <a:cs typeface="Arial MT"/>
            </a:endParaRPr>
          </a:p>
          <a:p>
            <a:pPr marL="676275" lvl="1" indent="-144145" algn="just">
              <a:lnSpc>
                <a:spcPct val="150000"/>
              </a:lnSpc>
              <a:spcBef>
                <a:spcPts val="20"/>
              </a:spcBef>
              <a:buClr>
                <a:srgbClr val="9A0000"/>
              </a:buClr>
              <a:buSzPct val="70000"/>
              <a:buFont typeface="Wingdings"/>
              <a:buChar char=""/>
              <a:tabLst>
                <a:tab pos="676910" algn="l"/>
              </a:tabLst>
            </a:pPr>
            <a:r>
              <a:rPr lang="en-US" sz="2400" spc="-5" dirty="0">
                <a:cs typeface="Arial MT"/>
              </a:rPr>
              <a:t>Synonyms</a:t>
            </a:r>
            <a:r>
              <a:rPr lang="en-US" sz="2400" spc="-10" dirty="0">
                <a:cs typeface="Arial MT"/>
              </a:rPr>
              <a:t> </a:t>
            </a:r>
            <a:r>
              <a:rPr lang="en-US" sz="2400" spc="-5" dirty="0">
                <a:cs typeface="Arial MT"/>
              </a:rPr>
              <a:t>should</a:t>
            </a:r>
            <a:r>
              <a:rPr lang="en-US" sz="2400" spc="-15" dirty="0">
                <a:cs typeface="Arial MT"/>
              </a:rPr>
              <a:t> </a:t>
            </a:r>
            <a:r>
              <a:rPr lang="en-US" sz="2400" spc="-10" dirty="0">
                <a:cs typeface="Arial MT"/>
              </a:rPr>
              <a:t>be</a:t>
            </a:r>
            <a:r>
              <a:rPr lang="en-US" sz="2400" spc="-5" dirty="0">
                <a:cs typeface="Arial MT"/>
              </a:rPr>
              <a:t> noted.</a:t>
            </a:r>
            <a:endParaRPr lang="en-US" sz="2400" dirty="0">
              <a:cs typeface="Arial MT"/>
            </a:endParaRPr>
          </a:p>
          <a:p>
            <a:pPr marL="676275" marR="71755" lvl="1" indent="-143510" algn="just">
              <a:lnSpc>
                <a:spcPct val="150000"/>
              </a:lnSpc>
              <a:spcBef>
                <a:spcPts val="140"/>
              </a:spcBef>
              <a:buClr>
                <a:srgbClr val="9A0000"/>
              </a:buClr>
              <a:buSzPct val="70000"/>
              <a:buFont typeface="Wingdings"/>
              <a:buChar char=""/>
              <a:tabLst>
                <a:tab pos="676910" algn="l"/>
              </a:tabLst>
            </a:pPr>
            <a:r>
              <a:rPr lang="en-US" sz="2400" spc="-5" dirty="0">
                <a:cs typeface="Arial MT"/>
              </a:rPr>
              <a:t>If</a:t>
            </a:r>
            <a:r>
              <a:rPr lang="en-US" sz="2400" spc="5" dirty="0">
                <a:cs typeface="Arial MT"/>
              </a:rPr>
              <a:t> </a:t>
            </a:r>
            <a:r>
              <a:rPr lang="en-US" sz="2400" spc="-10" dirty="0">
                <a:cs typeface="Arial MT"/>
              </a:rPr>
              <a:t>the</a:t>
            </a:r>
            <a:r>
              <a:rPr lang="en-US" sz="2400" spc="-5" dirty="0">
                <a:cs typeface="Arial MT"/>
              </a:rPr>
              <a:t> class</a:t>
            </a:r>
            <a:r>
              <a:rPr lang="en-US" sz="2400" dirty="0">
                <a:cs typeface="Arial MT"/>
              </a:rPr>
              <a:t> </a:t>
            </a:r>
            <a:r>
              <a:rPr lang="en-US" sz="2400" spc="-10" dirty="0">
                <a:cs typeface="Arial MT"/>
              </a:rPr>
              <a:t>(noun)</a:t>
            </a:r>
            <a:r>
              <a:rPr lang="en-US" sz="2400" dirty="0">
                <a:cs typeface="Arial MT"/>
              </a:rPr>
              <a:t> </a:t>
            </a:r>
            <a:r>
              <a:rPr lang="en-US" sz="2400" spc="-5" dirty="0">
                <a:cs typeface="Arial MT"/>
              </a:rPr>
              <a:t>is</a:t>
            </a:r>
            <a:r>
              <a:rPr lang="en-US" sz="2400" dirty="0">
                <a:cs typeface="Arial MT"/>
              </a:rPr>
              <a:t> </a:t>
            </a:r>
            <a:r>
              <a:rPr lang="en-US" sz="2400" spc="-5" dirty="0">
                <a:cs typeface="Arial MT"/>
              </a:rPr>
              <a:t>required to</a:t>
            </a:r>
            <a:r>
              <a:rPr lang="en-US" sz="2400" spc="5" dirty="0">
                <a:cs typeface="Arial MT"/>
              </a:rPr>
              <a:t> </a:t>
            </a:r>
            <a:r>
              <a:rPr lang="en-US" sz="2400" spc="-5" dirty="0">
                <a:cs typeface="Arial MT"/>
              </a:rPr>
              <a:t>implement a </a:t>
            </a:r>
            <a:r>
              <a:rPr lang="en-US" sz="2400" dirty="0">
                <a:cs typeface="Arial MT"/>
              </a:rPr>
              <a:t> </a:t>
            </a:r>
            <a:r>
              <a:rPr lang="en-US" sz="2400" spc="-5" dirty="0">
                <a:cs typeface="Arial MT"/>
              </a:rPr>
              <a:t>solution, </a:t>
            </a:r>
            <a:r>
              <a:rPr lang="en-US" sz="2400" spc="-10" dirty="0">
                <a:cs typeface="Arial MT"/>
              </a:rPr>
              <a:t>then</a:t>
            </a:r>
            <a:r>
              <a:rPr lang="en-US" sz="2400" spc="5" dirty="0">
                <a:cs typeface="Arial MT"/>
              </a:rPr>
              <a:t> </a:t>
            </a:r>
            <a:r>
              <a:rPr lang="en-US" sz="2400" spc="-5" dirty="0">
                <a:cs typeface="Arial MT"/>
              </a:rPr>
              <a:t>it</a:t>
            </a:r>
            <a:r>
              <a:rPr lang="en-US" sz="2400" spc="5" dirty="0">
                <a:cs typeface="Arial MT"/>
              </a:rPr>
              <a:t> </a:t>
            </a:r>
            <a:r>
              <a:rPr lang="en-US" sz="2400" spc="-5" dirty="0">
                <a:cs typeface="Arial MT"/>
              </a:rPr>
              <a:t>is</a:t>
            </a:r>
            <a:r>
              <a:rPr lang="en-US" sz="2400" dirty="0">
                <a:cs typeface="Arial MT"/>
              </a:rPr>
              <a:t> </a:t>
            </a:r>
            <a:r>
              <a:rPr lang="en-US" sz="2400" spc="-5" dirty="0">
                <a:cs typeface="Arial MT"/>
              </a:rPr>
              <a:t>part of</a:t>
            </a:r>
            <a:r>
              <a:rPr lang="en-US" sz="2400" spc="5" dirty="0">
                <a:cs typeface="Arial MT"/>
              </a:rPr>
              <a:t> </a:t>
            </a:r>
            <a:r>
              <a:rPr lang="en-US" sz="2400" spc="-10" dirty="0">
                <a:cs typeface="Arial MT"/>
              </a:rPr>
              <a:t>the</a:t>
            </a:r>
            <a:r>
              <a:rPr lang="en-US" sz="2400" spc="-5" dirty="0">
                <a:cs typeface="Arial MT"/>
              </a:rPr>
              <a:t> solution space; </a:t>
            </a:r>
            <a:r>
              <a:rPr lang="en-US" sz="2400" dirty="0">
                <a:cs typeface="Arial MT"/>
              </a:rPr>
              <a:t> </a:t>
            </a:r>
            <a:r>
              <a:rPr lang="en-US" sz="2400" spc="-5" dirty="0">
                <a:cs typeface="Arial MT"/>
              </a:rPr>
              <a:t>otherwise, if a class is </a:t>
            </a:r>
            <a:r>
              <a:rPr lang="en-US" sz="2400" dirty="0">
                <a:cs typeface="Arial MT"/>
              </a:rPr>
              <a:t>necessary only </a:t>
            </a:r>
            <a:r>
              <a:rPr lang="en-US" sz="2400" spc="-5" dirty="0">
                <a:cs typeface="Arial MT"/>
              </a:rPr>
              <a:t>to describe a </a:t>
            </a:r>
            <a:r>
              <a:rPr lang="en-US" sz="2400" spc="-265" dirty="0">
                <a:cs typeface="Arial MT"/>
              </a:rPr>
              <a:t> </a:t>
            </a:r>
            <a:r>
              <a:rPr lang="en-US" sz="2400" spc="-5" dirty="0">
                <a:cs typeface="Arial MT"/>
              </a:rPr>
              <a:t>solution,</a:t>
            </a:r>
            <a:r>
              <a:rPr lang="en-US" sz="2400" spc="-10" dirty="0">
                <a:cs typeface="Arial MT"/>
              </a:rPr>
              <a:t> </a:t>
            </a:r>
            <a:r>
              <a:rPr lang="en-US" sz="2400" spc="-5" dirty="0">
                <a:cs typeface="Arial MT"/>
              </a:rPr>
              <a:t>it</a:t>
            </a:r>
            <a:r>
              <a:rPr lang="en-US" sz="2400" spc="5" dirty="0">
                <a:cs typeface="Arial MT"/>
              </a:rPr>
              <a:t> </a:t>
            </a:r>
            <a:r>
              <a:rPr lang="en-US" sz="2400" spc="-5" dirty="0">
                <a:cs typeface="Arial MT"/>
              </a:rPr>
              <a:t>is</a:t>
            </a:r>
            <a:r>
              <a:rPr lang="en-US" sz="2400" dirty="0">
                <a:cs typeface="Arial MT"/>
              </a:rPr>
              <a:t> </a:t>
            </a:r>
            <a:r>
              <a:rPr lang="en-US" sz="2400" spc="-5" dirty="0">
                <a:cs typeface="Arial MT"/>
              </a:rPr>
              <a:t>part of</a:t>
            </a:r>
            <a:r>
              <a:rPr lang="en-US" sz="2400" spc="5" dirty="0">
                <a:cs typeface="Arial MT"/>
              </a:rPr>
              <a:t> </a:t>
            </a:r>
            <a:r>
              <a:rPr lang="en-US" sz="2400" spc="-10" dirty="0">
                <a:cs typeface="Arial MT"/>
              </a:rPr>
              <a:t>the</a:t>
            </a:r>
            <a:r>
              <a:rPr lang="en-US" sz="2400" spc="-5" dirty="0">
                <a:cs typeface="Arial MT"/>
              </a:rPr>
              <a:t> </a:t>
            </a:r>
            <a:r>
              <a:rPr lang="en-US" sz="2400" spc="-10" dirty="0">
                <a:cs typeface="Arial MT"/>
              </a:rPr>
              <a:t>problem</a:t>
            </a:r>
            <a:r>
              <a:rPr lang="en-US" sz="2400" spc="20" dirty="0">
                <a:cs typeface="Arial MT"/>
              </a:rPr>
              <a:t> </a:t>
            </a:r>
            <a:r>
              <a:rPr lang="en-US" sz="2400" spc="-5" dirty="0">
                <a:cs typeface="Arial MT"/>
              </a:rPr>
              <a:t>space.</a:t>
            </a:r>
            <a:endParaRPr lang="en-US" sz="2400" dirty="0">
              <a:cs typeface="Arial MT"/>
            </a:endParaRPr>
          </a:p>
          <a:p>
            <a:pPr marL="476884" marR="290195" indent="-172720" algn="just">
              <a:lnSpc>
                <a:spcPct val="150000"/>
              </a:lnSpc>
              <a:spcBef>
                <a:spcPts val="155"/>
              </a:spcBef>
              <a:buClr>
                <a:srgbClr val="9A0000"/>
              </a:buClr>
              <a:buSzPct val="75000"/>
              <a:buFont typeface="Wingdings"/>
              <a:buChar char=""/>
              <a:tabLst>
                <a:tab pos="477520" algn="l"/>
              </a:tabLst>
            </a:pPr>
            <a:r>
              <a:rPr lang="en-US" sz="2600" dirty="0">
                <a:cs typeface="Arial MT"/>
              </a:rPr>
              <a:t>But</a:t>
            </a:r>
            <a:r>
              <a:rPr lang="en-US" sz="2600" spc="5" dirty="0">
                <a:cs typeface="Arial MT"/>
              </a:rPr>
              <a:t> </a:t>
            </a:r>
            <a:r>
              <a:rPr lang="en-US" sz="2600" spc="-5" dirty="0">
                <a:cs typeface="Arial MT"/>
              </a:rPr>
              <a:t>what</a:t>
            </a:r>
            <a:r>
              <a:rPr lang="en-US" sz="2600" spc="5" dirty="0">
                <a:cs typeface="Arial MT"/>
              </a:rPr>
              <a:t> </a:t>
            </a:r>
            <a:r>
              <a:rPr lang="en-US" sz="2600" spc="-5" dirty="0">
                <a:cs typeface="Arial MT"/>
              </a:rPr>
              <a:t>should</a:t>
            </a:r>
            <a:r>
              <a:rPr lang="en-US" sz="2600" spc="5" dirty="0">
                <a:cs typeface="Arial MT"/>
              </a:rPr>
              <a:t> </a:t>
            </a:r>
            <a:r>
              <a:rPr lang="en-US" sz="2600" spc="-10" dirty="0">
                <a:cs typeface="Arial MT"/>
              </a:rPr>
              <a:t>we</a:t>
            </a:r>
            <a:r>
              <a:rPr lang="en-US" sz="2600" spc="5" dirty="0">
                <a:cs typeface="Arial MT"/>
              </a:rPr>
              <a:t> </a:t>
            </a:r>
            <a:r>
              <a:rPr lang="en-US" sz="2600" spc="-5" dirty="0">
                <a:cs typeface="Arial MT"/>
              </a:rPr>
              <a:t>look</a:t>
            </a:r>
            <a:r>
              <a:rPr lang="en-US" sz="2600" spc="-10" dirty="0">
                <a:cs typeface="Arial MT"/>
              </a:rPr>
              <a:t> </a:t>
            </a:r>
            <a:r>
              <a:rPr lang="en-US" sz="2600" dirty="0">
                <a:cs typeface="Arial MT"/>
              </a:rPr>
              <a:t>for</a:t>
            </a:r>
            <a:r>
              <a:rPr lang="en-US" sz="2600" spc="-15" dirty="0">
                <a:cs typeface="Arial MT"/>
              </a:rPr>
              <a:t> </a:t>
            </a:r>
            <a:r>
              <a:rPr lang="en-US" sz="2600" dirty="0">
                <a:cs typeface="Arial MT"/>
              </a:rPr>
              <a:t>once</a:t>
            </a:r>
            <a:r>
              <a:rPr lang="en-US" sz="2600" spc="-5" dirty="0">
                <a:cs typeface="Arial MT"/>
              </a:rPr>
              <a:t> all</a:t>
            </a:r>
            <a:r>
              <a:rPr lang="en-US" sz="2600" dirty="0">
                <a:cs typeface="Arial MT"/>
              </a:rPr>
              <a:t> </a:t>
            </a:r>
            <a:r>
              <a:rPr lang="en-US" sz="2600" spc="-10" dirty="0">
                <a:cs typeface="Arial MT"/>
              </a:rPr>
              <a:t>of</a:t>
            </a:r>
            <a:r>
              <a:rPr lang="en-US" sz="2600" spc="5" dirty="0">
                <a:cs typeface="Arial MT"/>
              </a:rPr>
              <a:t> </a:t>
            </a:r>
            <a:r>
              <a:rPr lang="en-US" sz="2600" dirty="0">
                <a:cs typeface="Arial MT"/>
              </a:rPr>
              <a:t>the </a:t>
            </a:r>
            <a:r>
              <a:rPr lang="en-US" sz="2600" spc="-315" dirty="0">
                <a:cs typeface="Arial MT"/>
              </a:rPr>
              <a:t> </a:t>
            </a:r>
            <a:r>
              <a:rPr lang="en-US" sz="2600" dirty="0">
                <a:cs typeface="Arial MT"/>
              </a:rPr>
              <a:t>nouns</a:t>
            </a:r>
            <a:r>
              <a:rPr lang="en-US" sz="2600" spc="-15" dirty="0">
                <a:cs typeface="Arial MT"/>
              </a:rPr>
              <a:t> </a:t>
            </a:r>
            <a:r>
              <a:rPr lang="en-US" sz="2600" spc="-5" dirty="0">
                <a:cs typeface="Arial MT"/>
              </a:rPr>
              <a:t>have</a:t>
            </a:r>
            <a:r>
              <a:rPr lang="en-US" sz="2600" spc="5" dirty="0">
                <a:cs typeface="Arial MT"/>
              </a:rPr>
              <a:t> </a:t>
            </a:r>
            <a:r>
              <a:rPr lang="en-US" sz="2600" spc="-5" dirty="0">
                <a:cs typeface="Arial MT"/>
              </a:rPr>
              <a:t>been</a:t>
            </a:r>
            <a:r>
              <a:rPr lang="en-US" sz="2600" spc="5" dirty="0">
                <a:cs typeface="Arial MT"/>
              </a:rPr>
              <a:t> </a:t>
            </a:r>
            <a:r>
              <a:rPr lang="en-US" sz="2600" spc="-5" dirty="0">
                <a:cs typeface="Arial MT"/>
              </a:rPr>
              <a:t>isolated?</a:t>
            </a:r>
            <a:endParaRPr lang="en-US" sz="2600" dirty="0">
              <a:cs typeface="Arial MT"/>
            </a:endParaRPr>
          </a:p>
        </p:txBody>
      </p:sp>
      <p:sp>
        <p:nvSpPr>
          <p:cNvPr id="4" name="Date Placeholder 3">
            <a:extLst>
              <a:ext uri="{FF2B5EF4-FFF2-40B4-BE49-F238E27FC236}">
                <a16:creationId xmlns:a16="http://schemas.microsoft.com/office/drawing/2014/main" id="{A1691E68-D683-2D78-220E-4F5246B79581}"/>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9EEF077D-0192-7842-70F1-8D64228002A5}"/>
              </a:ext>
            </a:extLst>
          </p:cNvPr>
          <p:cNvSpPr>
            <a:spLocks noGrp="1"/>
          </p:cNvSpPr>
          <p:nvPr>
            <p:ph type="sldNum" sz="quarter" idx="12"/>
          </p:nvPr>
        </p:nvSpPr>
        <p:spPr/>
        <p:txBody>
          <a:bodyPr/>
          <a:lstStyle/>
          <a:p>
            <a:fld id="{0A68DB68-8052-4758-A647-54338E95D837}" type="slidenum">
              <a:rPr lang="en-US" smtClean="0"/>
              <a:pPr/>
              <a:t>35</a:t>
            </a:fld>
            <a:endParaRPr lang="en-US" dirty="0"/>
          </a:p>
        </p:txBody>
      </p:sp>
    </p:spTree>
    <p:extLst>
      <p:ext uri="{BB962C8B-B14F-4D97-AF65-F5344CB8AC3E}">
        <p14:creationId xmlns:p14="http://schemas.microsoft.com/office/powerpoint/2010/main" val="2139353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D7673-0835-66AE-1248-BFD98E4F76D5}"/>
              </a:ext>
            </a:extLst>
          </p:cNvPr>
          <p:cNvSpPr>
            <a:spLocks noGrp="1"/>
          </p:cNvSpPr>
          <p:nvPr>
            <p:ph type="title"/>
          </p:nvPr>
        </p:nvSpPr>
        <p:spPr/>
        <p:txBody>
          <a:bodyPr/>
          <a:lstStyle/>
          <a:p>
            <a:r>
              <a:rPr lang="en-US" dirty="0"/>
              <a:t>Class</a:t>
            </a:r>
          </a:p>
        </p:txBody>
      </p:sp>
      <p:sp>
        <p:nvSpPr>
          <p:cNvPr id="4" name="Date Placeholder 3">
            <a:extLst>
              <a:ext uri="{FF2B5EF4-FFF2-40B4-BE49-F238E27FC236}">
                <a16:creationId xmlns:a16="http://schemas.microsoft.com/office/drawing/2014/main" id="{854CCAA8-6690-A6B3-C043-B1E162F127BD}"/>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E8BC3713-0DDC-06C4-C38E-CDB3FB3BEFF3}"/>
              </a:ext>
            </a:extLst>
          </p:cNvPr>
          <p:cNvSpPr>
            <a:spLocks noGrp="1"/>
          </p:cNvSpPr>
          <p:nvPr>
            <p:ph type="sldNum" sz="quarter" idx="12"/>
          </p:nvPr>
        </p:nvSpPr>
        <p:spPr/>
        <p:txBody>
          <a:bodyPr/>
          <a:lstStyle/>
          <a:p>
            <a:fld id="{0A68DB68-8052-4758-A647-54338E95D837}" type="slidenum">
              <a:rPr lang="en-US" smtClean="0"/>
              <a:pPr/>
              <a:t>36</a:t>
            </a:fld>
            <a:endParaRPr lang="en-US" dirty="0"/>
          </a:p>
        </p:txBody>
      </p:sp>
      <p:grpSp>
        <p:nvGrpSpPr>
          <p:cNvPr id="7" name="Group 3">
            <a:extLst>
              <a:ext uri="{FF2B5EF4-FFF2-40B4-BE49-F238E27FC236}">
                <a16:creationId xmlns:a16="http://schemas.microsoft.com/office/drawing/2014/main" id="{392D326D-BC2D-A042-A036-3D47A306F871}"/>
              </a:ext>
            </a:extLst>
          </p:cNvPr>
          <p:cNvGrpSpPr>
            <a:grpSpLocks/>
          </p:cNvGrpSpPr>
          <p:nvPr/>
        </p:nvGrpSpPr>
        <p:grpSpPr bwMode="auto">
          <a:xfrm>
            <a:off x="685800" y="2279650"/>
            <a:ext cx="2057400" cy="2571750"/>
            <a:chOff x="576" y="1056"/>
            <a:chExt cx="1296" cy="1620"/>
          </a:xfrm>
        </p:grpSpPr>
        <p:sp>
          <p:nvSpPr>
            <p:cNvPr id="8" name="Rectangle 4">
              <a:extLst>
                <a:ext uri="{FF2B5EF4-FFF2-40B4-BE49-F238E27FC236}">
                  <a16:creationId xmlns:a16="http://schemas.microsoft.com/office/drawing/2014/main" id="{FF58D2C6-1252-F7FA-C96E-E11D147E49E9}"/>
                </a:ext>
              </a:extLst>
            </p:cNvPr>
            <p:cNvSpPr>
              <a:spLocks noChangeArrowheads="1"/>
            </p:cNvSpPr>
            <p:nvPr/>
          </p:nvSpPr>
          <p:spPr bwMode="auto">
            <a:xfrm>
              <a:off x="576" y="1056"/>
              <a:ext cx="1296" cy="48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lang="en-US" altLang="en-US">
                  <a:latin typeface="Arial" panose="020B0604020202020204" pitchFamily="34" charset="0"/>
                </a:rPr>
                <a:t>ClassName</a:t>
              </a:r>
            </a:p>
          </p:txBody>
        </p:sp>
        <p:sp>
          <p:nvSpPr>
            <p:cNvPr id="9" name="Rectangle 5">
              <a:extLst>
                <a:ext uri="{FF2B5EF4-FFF2-40B4-BE49-F238E27FC236}">
                  <a16:creationId xmlns:a16="http://schemas.microsoft.com/office/drawing/2014/main" id="{0C478D13-105C-4A0A-0979-5F221D3860B9}"/>
                </a:ext>
              </a:extLst>
            </p:cNvPr>
            <p:cNvSpPr>
              <a:spLocks noChangeArrowheads="1"/>
            </p:cNvSpPr>
            <p:nvPr/>
          </p:nvSpPr>
          <p:spPr bwMode="auto">
            <a:xfrm>
              <a:off x="576" y="1536"/>
              <a:ext cx="1296" cy="54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lang="en-US" altLang="en-US">
                  <a:latin typeface="Arial" panose="020B0604020202020204" pitchFamily="34" charset="0"/>
                </a:rPr>
                <a:t>attributes</a:t>
              </a:r>
            </a:p>
          </p:txBody>
        </p:sp>
        <p:sp>
          <p:nvSpPr>
            <p:cNvPr id="10" name="Rectangle 6">
              <a:extLst>
                <a:ext uri="{FF2B5EF4-FFF2-40B4-BE49-F238E27FC236}">
                  <a16:creationId xmlns:a16="http://schemas.microsoft.com/office/drawing/2014/main" id="{9DAF0280-137A-0F73-2493-3A0C7C0FD2A9}"/>
                </a:ext>
              </a:extLst>
            </p:cNvPr>
            <p:cNvSpPr>
              <a:spLocks noChangeArrowheads="1"/>
            </p:cNvSpPr>
            <p:nvPr/>
          </p:nvSpPr>
          <p:spPr bwMode="auto">
            <a:xfrm>
              <a:off x="576" y="2076"/>
              <a:ext cx="1296" cy="6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lang="en-US" altLang="en-US">
                  <a:latin typeface="Arial" panose="020B0604020202020204" pitchFamily="34" charset="0"/>
                </a:rPr>
                <a:t>operations</a:t>
              </a:r>
            </a:p>
          </p:txBody>
        </p:sp>
      </p:grpSp>
      <p:sp>
        <p:nvSpPr>
          <p:cNvPr id="11" name="Text Box 7">
            <a:extLst>
              <a:ext uri="{FF2B5EF4-FFF2-40B4-BE49-F238E27FC236}">
                <a16:creationId xmlns:a16="http://schemas.microsoft.com/office/drawing/2014/main" id="{BC284116-B259-9EAE-4FB6-F69F97472F68}"/>
              </a:ext>
            </a:extLst>
          </p:cNvPr>
          <p:cNvSpPr txBox="1">
            <a:spLocks noChangeArrowheads="1"/>
          </p:cNvSpPr>
          <p:nvPr/>
        </p:nvSpPr>
        <p:spPr bwMode="auto">
          <a:xfrm>
            <a:off x="3352801" y="2016125"/>
            <a:ext cx="54864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just">
              <a:spcBef>
                <a:spcPct val="0"/>
              </a:spcBef>
              <a:buClrTx/>
              <a:buSzTx/>
              <a:buFontTx/>
              <a:buNone/>
            </a:pPr>
            <a:r>
              <a:rPr lang="en-US" altLang="en-US" dirty="0">
                <a:latin typeface="Arial" panose="020B0604020202020204" pitchFamily="34" charset="0"/>
              </a:rPr>
              <a:t>A </a:t>
            </a:r>
            <a:r>
              <a:rPr lang="en-US" altLang="en-US" i="1" dirty="0">
                <a:latin typeface="Arial" panose="020B0604020202020204" pitchFamily="34" charset="0"/>
              </a:rPr>
              <a:t>class</a:t>
            </a:r>
            <a:r>
              <a:rPr lang="en-US" altLang="en-US" dirty="0">
                <a:latin typeface="Arial" panose="020B0604020202020204" pitchFamily="34" charset="0"/>
              </a:rPr>
              <a:t> is a description of a set of </a:t>
            </a:r>
          </a:p>
          <a:p>
            <a:pPr algn="just">
              <a:spcBef>
                <a:spcPct val="0"/>
              </a:spcBef>
              <a:buClrTx/>
              <a:buSzTx/>
              <a:buFontTx/>
              <a:buNone/>
            </a:pPr>
            <a:r>
              <a:rPr lang="en-US" altLang="en-US" dirty="0">
                <a:latin typeface="Arial" panose="020B0604020202020204" pitchFamily="34" charset="0"/>
              </a:rPr>
              <a:t>objects that share the same attributes,</a:t>
            </a:r>
          </a:p>
          <a:p>
            <a:pPr algn="just">
              <a:spcBef>
                <a:spcPct val="0"/>
              </a:spcBef>
              <a:buClrTx/>
              <a:buSzTx/>
              <a:buFontTx/>
              <a:buNone/>
            </a:pPr>
            <a:r>
              <a:rPr lang="en-US" altLang="en-US" dirty="0">
                <a:latin typeface="Arial" panose="020B0604020202020204" pitchFamily="34" charset="0"/>
              </a:rPr>
              <a:t>operations, relationships, and semantics.</a:t>
            </a:r>
          </a:p>
          <a:p>
            <a:pPr algn="just">
              <a:spcBef>
                <a:spcPct val="0"/>
              </a:spcBef>
              <a:buClrTx/>
              <a:buSzTx/>
              <a:buFontTx/>
              <a:buNone/>
            </a:pPr>
            <a:endParaRPr lang="en-US" altLang="en-US" dirty="0">
              <a:latin typeface="Arial" panose="020B0604020202020204" pitchFamily="34" charset="0"/>
            </a:endParaRPr>
          </a:p>
          <a:p>
            <a:pPr algn="just">
              <a:spcBef>
                <a:spcPct val="0"/>
              </a:spcBef>
              <a:buClrTx/>
              <a:buSzTx/>
              <a:buFontTx/>
              <a:buNone/>
            </a:pPr>
            <a:r>
              <a:rPr lang="en-US" altLang="en-US" dirty="0">
                <a:latin typeface="Arial" panose="020B0604020202020204" pitchFamily="34" charset="0"/>
              </a:rPr>
              <a:t>Graphically, a class is rendered as a </a:t>
            </a:r>
          </a:p>
          <a:p>
            <a:pPr algn="just">
              <a:spcBef>
                <a:spcPct val="0"/>
              </a:spcBef>
              <a:buClrTx/>
              <a:buSzTx/>
              <a:buFontTx/>
              <a:buNone/>
            </a:pPr>
            <a:r>
              <a:rPr lang="en-US" altLang="en-US" dirty="0">
                <a:latin typeface="Arial" panose="020B0604020202020204" pitchFamily="34" charset="0"/>
              </a:rPr>
              <a:t>rectangle, usually including its name,</a:t>
            </a:r>
          </a:p>
          <a:p>
            <a:pPr algn="just">
              <a:spcBef>
                <a:spcPct val="0"/>
              </a:spcBef>
              <a:buClrTx/>
              <a:buSzTx/>
              <a:buFontTx/>
              <a:buNone/>
            </a:pPr>
            <a:r>
              <a:rPr lang="en-US" altLang="en-US" dirty="0">
                <a:latin typeface="Arial" panose="020B0604020202020204" pitchFamily="34" charset="0"/>
              </a:rPr>
              <a:t>attributes, and operations in separate,</a:t>
            </a:r>
          </a:p>
          <a:p>
            <a:pPr algn="just">
              <a:spcBef>
                <a:spcPct val="0"/>
              </a:spcBef>
              <a:buClrTx/>
              <a:buSzTx/>
              <a:buFontTx/>
              <a:buNone/>
            </a:pPr>
            <a:r>
              <a:rPr lang="en-US" altLang="en-US" dirty="0">
                <a:latin typeface="Arial" panose="020B0604020202020204" pitchFamily="34" charset="0"/>
              </a:rPr>
              <a:t>designated compartments. </a:t>
            </a:r>
          </a:p>
        </p:txBody>
      </p:sp>
    </p:spTree>
    <p:extLst>
      <p:ext uri="{BB962C8B-B14F-4D97-AF65-F5344CB8AC3E}">
        <p14:creationId xmlns:p14="http://schemas.microsoft.com/office/powerpoint/2010/main" val="779597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B42DF-3F4F-BF2A-E4B5-D59200792ABD}"/>
              </a:ext>
            </a:extLst>
          </p:cNvPr>
          <p:cNvSpPr>
            <a:spLocks noGrp="1"/>
          </p:cNvSpPr>
          <p:nvPr>
            <p:ph type="title"/>
          </p:nvPr>
        </p:nvSpPr>
        <p:spPr/>
        <p:txBody>
          <a:bodyPr/>
          <a:lstStyle/>
          <a:p>
            <a:r>
              <a:rPr lang="en-US" dirty="0"/>
              <a:t>Class Name</a:t>
            </a:r>
          </a:p>
        </p:txBody>
      </p:sp>
      <p:sp>
        <p:nvSpPr>
          <p:cNvPr id="4" name="Date Placeholder 3">
            <a:extLst>
              <a:ext uri="{FF2B5EF4-FFF2-40B4-BE49-F238E27FC236}">
                <a16:creationId xmlns:a16="http://schemas.microsoft.com/office/drawing/2014/main" id="{E8980BCD-059F-3F4E-399B-803C547B05BC}"/>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E68229DC-071A-2288-70DD-3ED600651ADB}"/>
              </a:ext>
            </a:extLst>
          </p:cNvPr>
          <p:cNvSpPr>
            <a:spLocks noGrp="1"/>
          </p:cNvSpPr>
          <p:nvPr>
            <p:ph type="sldNum" sz="quarter" idx="12"/>
          </p:nvPr>
        </p:nvSpPr>
        <p:spPr/>
        <p:txBody>
          <a:bodyPr/>
          <a:lstStyle/>
          <a:p>
            <a:fld id="{0A68DB68-8052-4758-A647-54338E95D837}" type="slidenum">
              <a:rPr lang="en-US" smtClean="0"/>
              <a:pPr/>
              <a:t>37</a:t>
            </a:fld>
            <a:endParaRPr lang="en-US" dirty="0"/>
          </a:p>
        </p:txBody>
      </p:sp>
      <p:grpSp>
        <p:nvGrpSpPr>
          <p:cNvPr id="7" name="Group 3">
            <a:extLst>
              <a:ext uri="{FF2B5EF4-FFF2-40B4-BE49-F238E27FC236}">
                <a16:creationId xmlns:a16="http://schemas.microsoft.com/office/drawing/2014/main" id="{F2C8738F-4BD9-E038-8885-D091132D2426}"/>
              </a:ext>
            </a:extLst>
          </p:cNvPr>
          <p:cNvGrpSpPr>
            <a:grpSpLocks/>
          </p:cNvGrpSpPr>
          <p:nvPr/>
        </p:nvGrpSpPr>
        <p:grpSpPr bwMode="auto">
          <a:xfrm>
            <a:off x="685800" y="2228850"/>
            <a:ext cx="2057400" cy="2571750"/>
            <a:chOff x="576" y="1056"/>
            <a:chExt cx="1296" cy="1620"/>
          </a:xfrm>
        </p:grpSpPr>
        <p:sp>
          <p:nvSpPr>
            <p:cNvPr id="8" name="Rectangle 4">
              <a:extLst>
                <a:ext uri="{FF2B5EF4-FFF2-40B4-BE49-F238E27FC236}">
                  <a16:creationId xmlns:a16="http://schemas.microsoft.com/office/drawing/2014/main" id="{27695D8F-F25E-CAEA-9A3C-3D0BE3F2A5E8}"/>
                </a:ext>
              </a:extLst>
            </p:cNvPr>
            <p:cNvSpPr>
              <a:spLocks noChangeArrowheads="1"/>
            </p:cNvSpPr>
            <p:nvPr/>
          </p:nvSpPr>
          <p:spPr bwMode="auto">
            <a:xfrm>
              <a:off x="576" y="1056"/>
              <a:ext cx="1296" cy="48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lang="en-US" altLang="en-US">
                  <a:latin typeface="Arial" panose="020B0604020202020204" pitchFamily="34" charset="0"/>
                </a:rPr>
                <a:t>ClassName</a:t>
              </a:r>
            </a:p>
          </p:txBody>
        </p:sp>
        <p:sp>
          <p:nvSpPr>
            <p:cNvPr id="9" name="Rectangle 5">
              <a:extLst>
                <a:ext uri="{FF2B5EF4-FFF2-40B4-BE49-F238E27FC236}">
                  <a16:creationId xmlns:a16="http://schemas.microsoft.com/office/drawing/2014/main" id="{E06596E8-9843-32BC-7C55-54AC73B38DA2}"/>
                </a:ext>
              </a:extLst>
            </p:cNvPr>
            <p:cNvSpPr>
              <a:spLocks noChangeArrowheads="1"/>
            </p:cNvSpPr>
            <p:nvPr/>
          </p:nvSpPr>
          <p:spPr bwMode="auto">
            <a:xfrm>
              <a:off x="576" y="1536"/>
              <a:ext cx="1296" cy="54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lang="en-US" altLang="en-US">
                  <a:latin typeface="Arial" panose="020B0604020202020204" pitchFamily="34" charset="0"/>
                </a:rPr>
                <a:t>attributes</a:t>
              </a:r>
            </a:p>
          </p:txBody>
        </p:sp>
        <p:sp>
          <p:nvSpPr>
            <p:cNvPr id="10" name="Rectangle 6">
              <a:extLst>
                <a:ext uri="{FF2B5EF4-FFF2-40B4-BE49-F238E27FC236}">
                  <a16:creationId xmlns:a16="http://schemas.microsoft.com/office/drawing/2014/main" id="{3D8DE10B-444B-1AEE-4EF6-11091E121D64}"/>
                </a:ext>
              </a:extLst>
            </p:cNvPr>
            <p:cNvSpPr>
              <a:spLocks noChangeArrowheads="1"/>
            </p:cNvSpPr>
            <p:nvPr/>
          </p:nvSpPr>
          <p:spPr bwMode="auto">
            <a:xfrm>
              <a:off x="576" y="2076"/>
              <a:ext cx="1296" cy="6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lang="en-US" altLang="en-US">
                  <a:latin typeface="Arial" panose="020B0604020202020204" pitchFamily="34" charset="0"/>
                </a:rPr>
                <a:t>operations</a:t>
              </a:r>
            </a:p>
          </p:txBody>
        </p:sp>
      </p:grpSp>
      <p:sp>
        <p:nvSpPr>
          <p:cNvPr id="11" name="Text Box 7">
            <a:extLst>
              <a:ext uri="{FF2B5EF4-FFF2-40B4-BE49-F238E27FC236}">
                <a16:creationId xmlns:a16="http://schemas.microsoft.com/office/drawing/2014/main" id="{DF9E7F2A-90BE-B8D7-48D6-6EC3A90F93C3}"/>
              </a:ext>
            </a:extLst>
          </p:cNvPr>
          <p:cNvSpPr txBox="1">
            <a:spLocks noChangeArrowheads="1"/>
          </p:cNvSpPr>
          <p:nvPr/>
        </p:nvSpPr>
        <p:spPr bwMode="auto">
          <a:xfrm>
            <a:off x="3352800" y="2152650"/>
            <a:ext cx="5486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just">
              <a:spcBef>
                <a:spcPct val="0"/>
              </a:spcBef>
              <a:buClrTx/>
              <a:buSzTx/>
              <a:buFontTx/>
              <a:buNone/>
            </a:pPr>
            <a:r>
              <a:rPr lang="en-US" altLang="en-US" dirty="0">
                <a:latin typeface="Arial" panose="020B0604020202020204" pitchFamily="34" charset="0"/>
              </a:rPr>
              <a:t>The name of the class is the only required tag in the graphical representation of a class.  It always appears in the top-most compartment.</a:t>
            </a:r>
          </a:p>
        </p:txBody>
      </p:sp>
    </p:spTree>
    <p:extLst>
      <p:ext uri="{BB962C8B-B14F-4D97-AF65-F5344CB8AC3E}">
        <p14:creationId xmlns:p14="http://schemas.microsoft.com/office/powerpoint/2010/main" val="13936276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29411-E079-FBFC-2AB9-2D39CF590A8F}"/>
              </a:ext>
            </a:extLst>
          </p:cNvPr>
          <p:cNvSpPr>
            <a:spLocks noGrp="1"/>
          </p:cNvSpPr>
          <p:nvPr>
            <p:ph type="title"/>
          </p:nvPr>
        </p:nvSpPr>
        <p:spPr/>
        <p:txBody>
          <a:bodyPr/>
          <a:lstStyle/>
          <a:p>
            <a:r>
              <a:rPr lang="en-US" dirty="0"/>
              <a:t>Class Attributes</a:t>
            </a:r>
          </a:p>
        </p:txBody>
      </p:sp>
      <p:sp>
        <p:nvSpPr>
          <p:cNvPr id="4" name="Date Placeholder 3">
            <a:extLst>
              <a:ext uri="{FF2B5EF4-FFF2-40B4-BE49-F238E27FC236}">
                <a16:creationId xmlns:a16="http://schemas.microsoft.com/office/drawing/2014/main" id="{E91774B7-50B2-ED92-0CFF-CEE92DD02AD6}"/>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F8233797-AF55-0C2F-7BF7-BEBD07DB0E89}"/>
              </a:ext>
            </a:extLst>
          </p:cNvPr>
          <p:cNvSpPr>
            <a:spLocks noGrp="1"/>
          </p:cNvSpPr>
          <p:nvPr>
            <p:ph type="sldNum" sz="quarter" idx="12"/>
          </p:nvPr>
        </p:nvSpPr>
        <p:spPr/>
        <p:txBody>
          <a:bodyPr/>
          <a:lstStyle/>
          <a:p>
            <a:fld id="{0A68DB68-8052-4758-A647-54338E95D837}" type="slidenum">
              <a:rPr lang="en-US" smtClean="0"/>
              <a:pPr/>
              <a:t>38</a:t>
            </a:fld>
            <a:endParaRPr lang="en-US" dirty="0"/>
          </a:p>
        </p:txBody>
      </p:sp>
      <p:grpSp>
        <p:nvGrpSpPr>
          <p:cNvPr id="7" name="Group 3">
            <a:extLst>
              <a:ext uri="{FF2B5EF4-FFF2-40B4-BE49-F238E27FC236}">
                <a16:creationId xmlns:a16="http://schemas.microsoft.com/office/drawing/2014/main" id="{2E0CB8E0-4A11-E069-0DDD-16CB31767CE5}"/>
              </a:ext>
            </a:extLst>
          </p:cNvPr>
          <p:cNvGrpSpPr>
            <a:grpSpLocks/>
          </p:cNvGrpSpPr>
          <p:nvPr/>
        </p:nvGrpSpPr>
        <p:grpSpPr bwMode="auto">
          <a:xfrm>
            <a:off x="685800" y="2286000"/>
            <a:ext cx="2487570" cy="3048000"/>
            <a:chOff x="336" y="1056"/>
            <a:chExt cx="1536" cy="1920"/>
          </a:xfrm>
        </p:grpSpPr>
        <p:sp>
          <p:nvSpPr>
            <p:cNvPr id="8" name="Rectangle 4">
              <a:extLst>
                <a:ext uri="{FF2B5EF4-FFF2-40B4-BE49-F238E27FC236}">
                  <a16:creationId xmlns:a16="http://schemas.microsoft.com/office/drawing/2014/main" id="{EB39B57C-1CD4-6392-061D-371A0F8EA865}"/>
                </a:ext>
              </a:extLst>
            </p:cNvPr>
            <p:cNvSpPr>
              <a:spLocks noChangeArrowheads="1"/>
            </p:cNvSpPr>
            <p:nvPr/>
          </p:nvSpPr>
          <p:spPr bwMode="auto">
            <a:xfrm>
              <a:off x="336" y="1056"/>
              <a:ext cx="1536" cy="48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lang="en-US" altLang="en-US">
                  <a:latin typeface="Arial" panose="020B0604020202020204" pitchFamily="34" charset="0"/>
                </a:rPr>
                <a:t>Person</a:t>
              </a:r>
            </a:p>
          </p:txBody>
        </p:sp>
        <p:sp>
          <p:nvSpPr>
            <p:cNvPr id="9" name="Rectangle 5">
              <a:extLst>
                <a:ext uri="{FF2B5EF4-FFF2-40B4-BE49-F238E27FC236}">
                  <a16:creationId xmlns:a16="http://schemas.microsoft.com/office/drawing/2014/main" id="{7F2285AB-CD69-8FFD-D395-673EF332B2DB}"/>
                </a:ext>
              </a:extLst>
            </p:cNvPr>
            <p:cNvSpPr>
              <a:spLocks noChangeArrowheads="1"/>
            </p:cNvSpPr>
            <p:nvPr/>
          </p:nvSpPr>
          <p:spPr bwMode="auto">
            <a:xfrm>
              <a:off x="336" y="1536"/>
              <a:ext cx="1536" cy="105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lang="en-US" altLang="en-US" dirty="0">
                  <a:latin typeface="Arial" panose="020B0604020202020204" pitchFamily="34" charset="0"/>
                </a:rPr>
                <a:t>name     : String</a:t>
              </a:r>
            </a:p>
            <a:p>
              <a:pPr>
                <a:spcBef>
                  <a:spcPct val="0"/>
                </a:spcBef>
                <a:buClrTx/>
                <a:buSzTx/>
                <a:buFontTx/>
                <a:buNone/>
              </a:pPr>
              <a:r>
                <a:rPr lang="en-US" altLang="en-US" dirty="0">
                  <a:latin typeface="Arial" panose="020B0604020202020204" pitchFamily="34" charset="0"/>
                </a:rPr>
                <a:t>address : Address</a:t>
              </a:r>
            </a:p>
            <a:p>
              <a:pPr>
                <a:spcBef>
                  <a:spcPct val="0"/>
                </a:spcBef>
                <a:buClrTx/>
                <a:buSzTx/>
                <a:buFontTx/>
                <a:buNone/>
              </a:pPr>
              <a:r>
                <a:rPr lang="en-US" altLang="en-US" dirty="0">
                  <a:latin typeface="Arial" panose="020B0604020202020204" pitchFamily="34" charset="0"/>
                </a:rPr>
                <a:t>birthdate : Date</a:t>
              </a:r>
            </a:p>
            <a:p>
              <a:pPr>
                <a:spcBef>
                  <a:spcPct val="0"/>
                </a:spcBef>
                <a:buClrTx/>
                <a:buSzTx/>
                <a:buFontTx/>
                <a:buNone/>
              </a:pPr>
              <a:r>
                <a:rPr lang="en-US" altLang="en-US" dirty="0">
                  <a:latin typeface="Arial" panose="020B0604020202020204" pitchFamily="34" charset="0"/>
                </a:rPr>
                <a:t>CNIC      : Id</a:t>
              </a:r>
            </a:p>
          </p:txBody>
        </p:sp>
        <p:sp>
          <p:nvSpPr>
            <p:cNvPr id="10" name="Rectangle 6">
              <a:extLst>
                <a:ext uri="{FF2B5EF4-FFF2-40B4-BE49-F238E27FC236}">
                  <a16:creationId xmlns:a16="http://schemas.microsoft.com/office/drawing/2014/main" id="{D7047A6D-646A-D7D4-FA21-01EDF105FF19}"/>
                </a:ext>
              </a:extLst>
            </p:cNvPr>
            <p:cNvSpPr>
              <a:spLocks noChangeArrowheads="1"/>
            </p:cNvSpPr>
            <p:nvPr/>
          </p:nvSpPr>
          <p:spPr bwMode="auto">
            <a:xfrm>
              <a:off x="336" y="2592"/>
              <a:ext cx="1536" cy="38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endParaRPr lang="en-US" altLang="en-US">
                <a:latin typeface="Arial" panose="020B0604020202020204" pitchFamily="34" charset="0"/>
              </a:endParaRPr>
            </a:p>
          </p:txBody>
        </p:sp>
      </p:grpSp>
      <p:sp>
        <p:nvSpPr>
          <p:cNvPr id="11" name="Text Box 7">
            <a:extLst>
              <a:ext uri="{FF2B5EF4-FFF2-40B4-BE49-F238E27FC236}">
                <a16:creationId xmlns:a16="http://schemas.microsoft.com/office/drawing/2014/main" id="{9648F6CA-638E-2092-0FEB-890F3D129547}"/>
              </a:ext>
            </a:extLst>
          </p:cNvPr>
          <p:cNvSpPr txBox="1">
            <a:spLocks noChangeArrowheads="1"/>
          </p:cNvSpPr>
          <p:nvPr/>
        </p:nvSpPr>
        <p:spPr bwMode="auto">
          <a:xfrm>
            <a:off x="3406775" y="2667000"/>
            <a:ext cx="550862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just">
              <a:spcBef>
                <a:spcPct val="0"/>
              </a:spcBef>
              <a:buClrTx/>
              <a:buSzTx/>
              <a:buFontTx/>
              <a:buNone/>
            </a:pPr>
            <a:r>
              <a:rPr lang="en-US" altLang="en-US" dirty="0">
                <a:latin typeface="Arial" panose="020B0604020202020204" pitchFamily="34" charset="0"/>
              </a:rPr>
              <a:t>An </a:t>
            </a:r>
            <a:r>
              <a:rPr lang="en-US" altLang="en-US" i="1" dirty="0">
                <a:latin typeface="Arial" panose="020B0604020202020204" pitchFamily="34" charset="0"/>
              </a:rPr>
              <a:t>attribute</a:t>
            </a:r>
            <a:r>
              <a:rPr lang="en-US" altLang="en-US" dirty="0">
                <a:latin typeface="Arial" panose="020B0604020202020204" pitchFamily="34" charset="0"/>
              </a:rPr>
              <a:t> is a named property of a </a:t>
            </a:r>
          </a:p>
          <a:p>
            <a:pPr algn="just">
              <a:spcBef>
                <a:spcPct val="0"/>
              </a:spcBef>
              <a:buClrTx/>
              <a:buSzTx/>
              <a:buFontTx/>
              <a:buNone/>
            </a:pPr>
            <a:r>
              <a:rPr lang="en-US" altLang="en-US" dirty="0">
                <a:latin typeface="Arial" panose="020B0604020202020204" pitchFamily="34" charset="0"/>
              </a:rPr>
              <a:t>class that describes the object being modeled.</a:t>
            </a:r>
          </a:p>
          <a:p>
            <a:pPr algn="just">
              <a:spcBef>
                <a:spcPct val="0"/>
              </a:spcBef>
              <a:buClrTx/>
              <a:buSzTx/>
              <a:buFontTx/>
              <a:buNone/>
            </a:pPr>
            <a:r>
              <a:rPr lang="en-US" altLang="en-US" dirty="0">
                <a:latin typeface="Arial" panose="020B0604020202020204" pitchFamily="34" charset="0"/>
              </a:rPr>
              <a:t>In the class diagram, attributes appear in the second compartment just below the name-compartment.</a:t>
            </a:r>
          </a:p>
        </p:txBody>
      </p:sp>
    </p:spTree>
    <p:extLst>
      <p:ext uri="{BB962C8B-B14F-4D97-AF65-F5344CB8AC3E}">
        <p14:creationId xmlns:p14="http://schemas.microsoft.com/office/powerpoint/2010/main" val="35411597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A1DBE-DA44-8F46-DA1C-5767BA141807}"/>
              </a:ext>
            </a:extLst>
          </p:cNvPr>
          <p:cNvSpPr>
            <a:spLocks noGrp="1"/>
          </p:cNvSpPr>
          <p:nvPr>
            <p:ph type="title"/>
          </p:nvPr>
        </p:nvSpPr>
        <p:spPr/>
        <p:txBody>
          <a:bodyPr/>
          <a:lstStyle/>
          <a:p>
            <a:r>
              <a:rPr lang="en-US" dirty="0"/>
              <a:t>Class Operations</a:t>
            </a:r>
          </a:p>
        </p:txBody>
      </p:sp>
      <p:sp>
        <p:nvSpPr>
          <p:cNvPr id="4" name="Date Placeholder 3">
            <a:extLst>
              <a:ext uri="{FF2B5EF4-FFF2-40B4-BE49-F238E27FC236}">
                <a16:creationId xmlns:a16="http://schemas.microsoft.com/office/drawing/2014/main" id="{44DF0769-BC0B-5A31-EC4B-159AC0FB4751}"/>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50D6CAA9-8AEF-167C-3C86-AF91B47339B3}"/>
              </a:ext>
            </a:extLst>
          </p:cNvPr>
          <p:cNvSpPr>
            <a:spLocks noGrp="1"/>
          </p:cNvSpPr>
          <p:nvPr>
            <p:ph type="sldNum" sz="quarter" idx="12"/>
          </p:nvPr>
        </p:nvSpPr>
        <p:spPr/>
        <p:txBody>
          <a:bodyPr/>
          <a:lstStyle/>
          <a:p>
            <a:fld id="{0A68DB68-8052-4758-A647-54338E95D837}" type="slidenum">
              <a:rPr lang="en-US" smtClean="0"/>
              <a:pPr/>
              <a:t>39</a:t>
            </a:fld>
            <a:endParaRPr lang="en-US" dirty="0"/>
          </a:p>
        </p:txBody>
      </p:sp>
      <p:grpSp>
        <p:nvGrpSpPr>
          <p:cNvPr id="7" name="Group 3">
            <a:extLst>
              <a:ext uri="{FF2B5EF4-FFF2-40B4-BE49-F238E27FC236}">
                <a16:creationId xmlns:a16="http://schemas.microsoft.com/office/drawing/2014/main" id="{94D965DE-1233-A9C6-C8A0-DE08549E8F6D}"/>
              </a:ext>
            </a:extLst>
          </p:cNvPr>
          <p:cNvGrpSpPr>
            <a:grpSpLocks/>
          </p:cNvGrpSpPr>
          <p:nvPr/>
        </p:nvGrpSpPr>
        <p:grpSpPr bwMode="auto">
          <a:xfrm>
            <a:off x="685800" y="1676400"/>
            <a:ext cx="2438400" cy="4114800"/>
            <a:chOff x="336" y="1056"/>
            <a:chExt cx="1536" cy="2592"/>
          </a:xfrm>
        </p:grpSpPr>
        <p:sp>
          <p:nvSpPr>
            <p:cNvPr id="8" name="Rectangle 4">
              <a:extLst>
                <a:ext uri="{FF2B5EF4-FFF2-40B4-BE49-F238E27FC236}">
                  <a16:creationId xmlns:a16="http://schemas.microsoft.com/office/drawing/2014/main" id="{D0D08E81-4170-84B9-CE39-2C5329605E47}"/>
                </a:ext>
              </a:extLst>
            </p:cNvPr>
            <p:cNvSpPr>
              <a:spLocks noChangeArrowheads="1"/>
            </p:cNvSpPr>
            <p:nvPr/>
          </p:nvSpPr>
          <p:spPr bwMode="auto">
            <a:xfrm>
              <a:off x="336" y="1056"/>
              <a:ext cx="1536" cy="48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lang="en-US" altLang="en-US">
                  <a:latin typeface="Arial" panose="020B0604020202020204" pitchFamily="34" charset="0"/>
                </a:rPr>
                <a:t>Person</a:t>
              </a:r>
            </a:p>
          </p:txBody>
        </p:sp>
        <p:sp>
          <p:nvSpPr>
            <p:cNvPr id="9" name="Rectangle 5">
              <a:extLst>
                <a:ext uri="{FF2B5EF4-FFF2-40B4-BE49-F238E27FC236}">
                  <a16:creationId xmlns:a16="http://schemas.microsoft.com/office/drawing/2014/main" id="{FFC93464-F3E5-63F2-A6B8-507E3020EEFE}"/>
                </a:ext>
              </a:extLst>
            </p:cNvPr>
            <p:cNvSpPr>
              <a:spLocks noChangeArrowheads="1"/>
            </p:cNvSpPr>
            <p:nvPr/>
          </p:nvSpPr>
          <p:spPr bwMode="auto">
            <a:xfrm>
              <a:off x="336" y="1536"/>
              <a:ext cx="1536" cy="1056"/>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r>
                <a:rPr lang="en-US" altLang="en-US" dirty="0">
                  <a:latin typeface="Arial" panose="020B0604020202020204" pitchFamily="34" charset="0"/>
                </a:rPr>
                <a:t>name     : </a:t>
              </a:r>
              <a:r>
                <a:rPr lang="en-US" altLang="en-US" sz="2000" dirty="0">
                  <a:latin typeface="Arial" panose="020B0604020202020204" pitchFamily="34" charset="0"/>
                </a:rPr>
                <a:t>String</a:t>
              </a:r>
              <a:endParaRPr lang="en-US" altLang="en-US" dirty="0">
                <a:latin typeface="Arial" panose="020B0604020202020204" pitchFamily="34" charset="0"/>
              </a:endParaRPr>
            </a:p>
            <a:p>
              <a:pPr>
                <a:spcBef>
                  <a:spcPct val="0"/>
                </a:spcBef>
                <a:buClrTx/>
                <a:buSzTx/>
                <a:buFontTx/>
                <a:buNone/>
              </a:pPr>
              <a:r>
                <a:rPr lang="en-US" altLang="en-US" dirty="0">
                  <a:latin typeface="Arial" panose="020B0604020202020204" pitchFamily="34" charset="0"/>
                </a:rPr>
                <a:t>address : </a:t>
              </a:r>
              <a:r>
                <a:rPr lang="en-US" altLang="en-US" sz="2000" dirty="0">
                  <a:latin typeface="Arial" panose="020B0604020202020204" pitchFamily="34" charset="0"/>
                </a:rPr>
                <a:t>Address</a:t>
              </a:r>
              <a:endParaRPr lang="en-US" altLang="en-US" dirty="0">
                <a:latin typeface="Arial" panose="020B0604020202020204" pitchFamily="34" charset="0"/>
              </a:endParaRPr>
            </a:p>
            <a:p>
              <a:pPr>
                <a:spcBef>
                  <a:spcPct val="0"/>
                </a:spcBef>
                <a:buClrTx/>
                <a:buSzTx/>
                <a:buFontTx/>
                <a:buNone/>
              </a:pPr>
              <a:r>
                <a:rPr lang="en-US" altLang="en-US" dirty="0">
                  <a:latin typeface="Arial" panose="020B0604020202020204" pitchFamily="34" charset="0"/>
                </a:rPr>
                <a:t>birthdate : </a:t>
              </a:r>
              <a:r>
                <a:rPr lang="en-US" altLang="en-US" sz="2000" dirty="0">
                  <a:latin typeface="Arial" panose="020B0604020202020204" pitchFamily="34" charset="0"/>
                </a:rPr>
                <a:t>Date</a:t>
              </a:r>
              <a:endParaRPr lang="en-US" altLang="en-US" dirty="0">
                <a:latin typeface="Arial" panose="020B0604020202020204" pitchFamily="34" charset="0"/>
              </a:endParaRPr>
            </a:p>
            <a:p>
              <a:pPr>
                <a:spcBef>
                  <a:spcPct val="0"/>
                </a:spcBef>
                <a:buClrTx/>
                <a:buSzTx/>
                <a:buFontTx/>
                <a:buNone/>
              </a:pPr>
              <a:r>
                <a:rPr lang="en-US" altLang="en-US" dirty="0">
                  <a:latin typeface="Arial" panose="020B0604020202020204" pitchFamily="34" charset="0"/>
                </a:rPr>
                <a:t>CNIC       : </a:t>
              </a:r>
              <a:r>
                <a:rPr lang="en-US" altLang="en-US" sz="2000" dirty="0">
                  <a:latin typeface="Arial" panose="020B0604020202020204" pitchFamily="34" charset="0"/>
                </a:rPr>
                <a:t>Id</a:t>
              </a:r>
              <a:endParaRPr lang="en-US" altLang="en-US" dirty="0">
                <a:latin typeface="Arial" panose="020B0604020202020204" pitchFamily="34" charset="0"/>
              </a:endParaRPr>
            </a:p>
          </p:txBody>
        </p:sp>
        <p:sp>
          <p:nvSpPr>
            <p:cNvPr id="10" name="Rectangle 6">
              <a:extLst>
                <a:ext uri="{FF2B5EF4-FFF2-40B4-BE49-F238E27FC236}">
                  <a16:creationId xmlns:a16="http://schemas.microsoft.com/office/drawing/2014/main" id="{822FBADF-32AE-D0ED-5223-5DA3C57E309D}"/>
                </a:ext>
              </a:extLst>
            </p:cNvPr>
            <p:cNvSpPr>
              <a:spLocks noChangeArrowheads="1"/>
            </p:cNvSpPr>
            <p:nvPr/>
          </p:nvSpPr>
          <p:spPr bwMode="auto">
            <a:xfrm>
              <a:off x="336" y="2592"/>
              <a:ext cx="1536" cy="105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ctr">
                <a:spcBef>
                  <a:spcPct val="0"/>
                </a:spcBef>
                <a:buClrTx/>
                <a:buSzTx/>
                <a:buFontTx/>
                <a:buNone/>
              </a:pPr>
              <a:r>
                <a:rPr lang="en-US" altLang="en-US">
                  <a:latin typeface="Arial" panose="020B0604020202020204" pitchFamily="34" charset="0"/>
                </a:rPr>
                <a:t>eat</a:t>
              </a:r>
            </a:p>
            <a:p>
              <a:pPr algn="ctr">
                <a:spcBef>
                  <a:spcPct val="0"/>
                </a:spcBef>
                <a:buClrTx/>
                <a:buSzTx/>
                <a:buFontTx/>
                <a:buNone/>
              </a:pPr>
              <a:r>
                <a:rPr lang="en-US" altLang="en-US">
                  <a:latin typeface="Arial" panose="020B0604020202020204" pitchFamily="34" charset="0"/>
                </a:rPr>
                <a:t>sleep</a:t>
              </a:r>
            </a:p>
            <a:p>
              <a:pPr algn="ctr">
                <a:spcBef>
                  <a:spcPct val="0"/>
                </a:spcBef>
                <a:buClrTx/>
                <a:buSzTx/>
                <a:buFontTx/>
                <a:buNone/>
              </a:pPr>
              <a:r>
                <a:rPr lang="en-US" altLang="en-US">
                  <a:latin typeface="Arial" panose="020B0604020202020204" pitchFamily="34" charset="0"/>
                </a:rPr>
                <a:t>work</a:t>
              </a:r>
            </a:p>
            <a:p>
              <a:pPr algn="ctr">
                <a:spcBef>
                  <a:spcPct val="0"/>
                </a:spcBef>
                <a:buClrTx/>
                <a:buSzTx/>
                <a:buFontTx/>
                <a:buNone/>
              </a:pPr>
              <a:r>
                <a:rPr lang="en-US" altLang="en-US">
                  <a:latin typeface="Arial" panose="020B0604020202020204" pitchFamily="34" charset="0"/>
                </a:rPr>
                <a:t>play</a:t>
              </a:r>
            </a:p>
          </p:txBody>
        </p:sp>
      </p:grpSp>
      <p:sp>
        <p:nvSpPr>
          <p:cNvPr id="11" name="Text Box 7">
            <a:extLst>
              <a:ext uri="{FF2B5EF4-FFF2-40B4-BE49-F238E27FC236}">
                <a16:creationId xmlns:a16="http://schemas.microsoft.com/office/drawing/2014/main" id="{95CD8851-68F3-EEE6-15F9-3C0B39739695}"/>
              </a:ext>
            </a:extLst>
          </p:cNvPr>
          <p:cNvSpPr txBox="1">
            <a:spLocks noChangeArrowheads="1"/>
          </p:cNvSpPr>
          <p:nvPr/>
        </p:nvSpPr>
        <p:spPr bwMode="auto">
          <a:xfrm>
            <a:off x="3352800" y="4114800"/>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75000"/>
              <a:buFont typeface="Wingdings" panose="05000000000000000000" pitchFamily="2" charset="2"/>
              <a:buChar char="n"/>
              <a:defRPr sz="2400">
                <a:solidFill>
                  <a:schemeClr val="tx1"/>
                </a:solidFill>
                <a:latin typeface="Helvetica" panose="020B0604020202020204" pitchFamily="34" charset="0"/>
                <a:ea typeface="ＭＳ Ｐゴシック" panose="020B0600070205080204" pitchFamily="34" charset="-128"/>
              </a:defRPr>
            </a:lvl1pPr>
            <a:lvl2pPr marL="742950" indent="-285750">
              <a:spcBef>
                <a:spcPct val="20000"/>
              </a:spcBef>
              <a:buClr>
                <a:schemeClr val="folHlink"/>
              </a:buClr>
              <a:buSzPct val="70000"/>
              <a:buFont typeface="Wingdings" panose="05000000000000000000" pitchFamily="2" charset="2"/>
              <a:buChar char="n"/>
              <a:defRPr sz="2000">
                <a:solidFill>
                  <a:schemeClr val="tx1"/>
                </a:solidFill>
                <a:latin typeface="Helvetica" panose="020B0604020202020204" pitchFamily="34" charset="0"/>
                <a:ea typeface="ＭＳ Ｐゴシック" panose="020B0600070205080204" pitchFamily="34" charset="-128"/>
              </a:defRPr>
            </a:lvl2pPr>
            <a:lvl3pPr marL="1143000" indent="-228600">
              <a:spcBef>
                <a:spcPct val="20000"/>
              </a:spcBef>
              <a:buClr>
                <a:schemeClr val="tx2"/>
              </a:buClr>
              <a:buChar char="•"/>
              <a:defRPr sz="2400">
                <a:solidFill>
                  <a:schemeClr val="tx1"/>
                </a:solidFill>
                <a:latin typeface="Helvetica" panose="020B0604020202020204" pitchFamily="34" charset="0"/>
                <a:ea typeface="ＭＳ Ｐゴシック" panose="020B0600070205080204" pitchFamily="34" charset="-128"/>
              </a:defRPr>
            </a:lvl3pPr>
            <a:lvl4pPr marL="1600200" indent="-228600">
              <a:spcBef>
                <a:spcPct val="20000"/>
              </a:spcBef>
              <a:buClr>
                <a:schemeClr val="hlink"/>
              </a:buClr>
              <a:buChar char="•"/>
              <a:defRPr sz="1600">
                <a:solidFill>
                  <a:schemeClr val="tx1"/>
                </a:solidFill>
                <a:latin typeface="Helvetica" panose="020B0604020202020204" pitchFamily="34" charset="0"/>
                <a:ea typeface="ＭＳ Ｐゴシック" panose="020B0600070205080204" pitchFamily="34" charset="-128"/>
              </a:defRPr>
            </a:lvl4pPr>
            <a:lvl5pPr marL="2057400" indent="-228600">
              <a:spcBef>
                <a:spcPct val="20000"/>
              </a:spcBef>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SzPct val="85000"/>
              <a:buChar char="•"/>
              <a:defRPr sz="1600">
                <a:solidFill>
                  <a:schemeClr val="tx1"/>
                </a:solidFill>
                <a:latin typeface="Helvetica" panose="020B0604020202020204" pitchFamily="34" charset="0"/>
                <a:ea typeface="ＭＳ Ｐゴシック" panose="020B0600070205080204" pitchFamily="34" charset="-128"/>
              </a:defRPr>
            </a:lvl9pPr>
          </a:lstStyle>
          <a:p>
            <a:pPr algn="just">
              <a:spcBef>
                <a:spcPct val="0"/>
              </a:spcBef>
              <a:buClrTx/>
              <a:buSzTx/>
              <a:buFontTx/>
              <a:buNone/>
            </a:pPr>
            <a:r>
              <a:rPr lang="en-US" altLang="en-US" i="1" dirty="0">
                <a:latin typeface="Arial" panose="020B0604020202020204" pitchFamily="34" charset="0"/>
              </a:rPr>
              <a:t>Operations </a:t>
            </a:r>
            <a:r>
              <a:rPr lang="en-US" altLang="en-US" dirty="0">
                <a:latin typeface="Arial" panose="020B0604020202020204" pitchFamily="34" charset="0"/>
              </a:rPr>
              <a:t>describe the class behavior </a:t>
            </a:r>
          </a:p>
          <a:p>
            <a:pPr algn="just">
              <a:spcBef>
                <a:spcPct val="0"/>
              </a:spcBef>
              <a:buClrTx/>
              <a:buSzTx/>
              <a:buFontTx/>
              <a:buNone/>
            </a:pPr>
            <a:r>
              <a:rPr lang="en-US" altLang="en-US" dirty="0">
                <a:latin typeface="Arial" panose="020B0604020202020204" pitchFamily="34" charset="0"/>
              </a:rPr>
              <a:t>and appear in the third compartment. </a:t>
            </a:r>
          </a:p>
        </p:txBody>
      </p:sp>
    </p:spTree>
    <p:extLst>
      <p:ext uri="{BB962C8B-B14F-4D97-AF65-F5344CB8AC3E}">
        <p14:creationId xmlns:p14="http://schemas.microsoft.com/office/powerpoint/2010/main" val="25720508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CD28-F4D7-093B-A407-425CCBEF569E}"/>
              </a:ext>
            </a:extLst>
          </p:cNvPr>
          <p:cNvSpPr>
            <a:spLocks noGrp="1"/>
          </p:cNvSpPr>
          <p:nvPr>
            <p:ph type="title"/>
          </p:nvPr>
        </p:nvSpPr>
        <p:spPr/>
        <p:txBody>
          <a:bodyPr/>
          <a:lstStyle/>
          <a:p>
            <a:r>
              <a:rPr lang="en-US" dirty="0"/>
              <a:t>Class Diagram - Example</a:t>
            </a:r>
          </a:p>
        </p:txBody>
      </p:sp>
      <p:sp>
        <p:nvSpPr>
          <p:cNvPr id="4" name="Date Placeholder 3">
            <a:extLst>
              <a:ext uri="{FF2B5EF4-FFF2-40B4-BE49-F238E27FC236}">
                <a16:creationId xmlns:a16="http://schemas.microsoft.com/office/drawing/2014/main" id="{55CB0CD9-C544-D6B1-5464-2922713F7C89}"/>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695E1755-5BCA-EA65-31C2-56BB93C77DA0}"/>
              </a:ext>
            </a:extLst>
          </p:cNvPr>
          <p:cNvSpPr>
            <a:spLocks noGrp="1"/>
          </p:cNvSpPr>
          <p:nvPr>
            <p:ph type="sldNum" sz="quarter" idx="12"/>
          </p:nvPr>
        </p:nvSpPr>
        <p:spPr/>
        <p:txBody>
          <a:bodyPr/>
          <a:lstStyle/>
          <a:p>
            <a:fld id="{0A68DB68-8052-4758-A647-54338E95D837}" type="slidenum">
              <a:rPr lang="en-US" smtClean="0"/>
              <a:pPr/>
              <a:t>40</a:t>
            </a:fld>
            <a:endParaRPr lang="en-US" dirty="0"/>
          </a:p>
        </p:txBody>
      </p:sp>
      <p:pic>
        <p:nvPicPr>
          <p:cNvPr id="1026" name="Picture 2" descr="Blog - Create UML class diagrams">
            <a:extLst>
              <a:ext uri="{FF2B5EF4-FFF2-40B4-BE49-F238E27FC236}">
                <a16:creationId xmlns:a16="http://schemas.microsoft.com/office/drawing/2014/main" id="{56F0A5C6-4CC1-4E4A-0F76-3CA052B5C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419224"/>
            <a:ext cx="7079084" cy="4905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9841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B75D6-F920-8571-05FD-6E90F0125BA6}"/>
              </a:ext>
            </a:extLst>
          </p:cNvPr>
          <p:cNvSpPr>
            <a:spLocks noGrp="1"/>
          </p:cNvSpPr>
          <p:nvPr>
            <p:ph type="title"/>
          </p:nvPr>
        </p:nvSpPr>
        <p:spPr/>
        <p:txBody>
          <a:bodyPr/>
          <a:lstStyle/>
          <a:p>
            <a:r>
              <a:rPr lang="en-US" dirty="0"/>
              <a:t>Behavioral Modelling</a:t>
            </a:r>
          </a:p>
        </p:txBody>
      </p:sp>
      <p:sp>
        <p:nvSpPr>
          <p:cNvPr id="3" name="Content Placeholder 2">
            <a:extLst>
              <a:ext uri="{FF2B5EF4-FFF2-40B4-BE49-F238E27FC236}">
                <a16:creationId xmlns:a16="http://schemas.microsoft.com/office/drawing/2014/main" id="{0D5D3C93-CBB7-CDEB-134C-3D8FAE6C6173}"/>
              </a:ext>
            </a:extLst>
          </p:cNvPr>
          <p:cNvSpPr>
            <a:spLocks noGrp="1"/>
          </p:cNvSpPr>
          <p:nvPr>
            <p:ph idx="1"/>
          </p:nvPr>
        </p:nvSpPr>
        <p:spPr/>
        <p:txBody>
          <a:bodyPr>
            <a:normAutofit/>
          </a:bodyPr>
          <a:lstStyle/>
          <a:p>
            <a:pPr algn="just"/>
            <a:r>
              <a:rPr lang="en-US" dirty="0">
                <a:solidFill>
                  <a:srgbClr val="C00000"/>
                </a:solidFill>
              </a:rPr>
              <a:t>State Diagram </a:t>
            </a:r>
            <a:r>
              <a:rPr lang="en-US" dirty="0"/>
              <a:t>is a type of behavioral model</a:t>
            </a:r>
          </a:p>
          <a:p>
            <a:pPr algn="just"/>
            <a:r>
              <a:rPr lang="en-US" altLang="en-US" dirty="0">
                <a:ea typeface="ＭＳ Ｐゴシック" panose="020B0600070205080204" pitchFamily="34" charset="-128"/>
              </a:rPr>
              <a:t>Depicts data and behavior of a single object throughout its lifetime.</a:t>
            </a:r>
          </a:p>
          <a:p>
            <a:pPr algn="just"/>
            <a:r>
              <a:rPr lang="en-US" altLang="en-US" dirty="0">
                <a:solidFill>
                  <a:srgbClr val="C00000"/>
                </a:solidFill>
                <a:ea typeface="ＭＳ Ｐゴシック" panose="020B0600070205080204" pitchFamily="34" charset="-128"/>
              </a:rPr>
              <a:t>Elements of State Diagram</a:t>
            </a:r>
          </a:p>
          <a:p>
            <a:pPr lvl="1" algn="just"/>
            <a:r>
              <a:rPr lang="en-US" altLang="en-US" sz="2400" dirty="0">
                <a:ea typeface="ＭＳ Ｐゴシック" panose="020B0600070205080204" pitchFamily="34" charset="-128"/>
              </a:rPr>
              <a:t>Set of states  (including an initial start state)</a:t>
            </a:r>
          </a:p>
          <a:p>
            <a:pPr lvl="1" algn="just"/>
            <a:r>
              <a:rPr lang="en-US" altLang="en-US" sz="2400" dirty="0">
                <a:ea typeface="ＭＳ Ｐゴシック" panose="020B0600070205080204" pitchFamily="34" charset="-128"/>
              </a:rPr>
              <a:t>Transitions between states</a:t>
            </a:r>
          </a:p>
          <a:p>
            <a:pPr lvl="1" algn="just"/>
            <a:r>
              <a:rPr lang="en-US" altLang="en-US" sz="2400" dirty="0">
                <a:ea typeface="ＭＳ Ｐゴシック" panose="020B0600070205080204" pitchFamily="34" charset="-128"/>
              </a:rPr>
              <a:t>Entire diagram is drawn from that object's perspective</a:t>
            </a:r>
          </a:p>
        </p:txBody>
      </p:sp>
      <p:sp>
        <p:nvSpPr>
          <p:cNvPr id="4" name="Date Placeholder 3">
            <a:extLst>
              <a:ext uri="{FF2B5EF4-FFF2-40B4-BE49-F238E27FC236}">
                <a16:creationId xmlns:a16="http://schemas.microsoft.com/office/drawing/2014/main" id="{96A9F8A5-C918-7469-9540-AF525A27A04A}"/>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F012BEA2-7DC8-07F4-83FA-F0ECB7A3D3CC}"/>
              </a:ext>
            </a:extLst>
          </p:cNvPr>
          <p:cNvSpPr>
            <a:spLocks noGrp="1"/>
          </p:cNvSpPr>
          <p:nvPr>
            <p:ph type="sldNum" sz="quarter" idx="12"/>
          </p:nvPr>
        </p:nvSpPr>
        <p:spPr/>
        <p:txBody>
          <a:bodyPr/>
          <a:lstStyle/>
          <a:p>
            <a:fld id="{0A68DB68-8052-4758-A647-54338E95D837}" type="slidenum">
              <a:rPr lang="en-US" smtClean="0"/>
              <a:pPr/>
              <a:t>41</a:t>
            </a:fld>
            <a:endParaRPr lang="en-US" dirty="0"/>
          </a:p>
        </p:txBody>
      </p:sp>
    </p:spTree>
    <p:extLst>
      <p:ext uri="{BB962C8B-B14F-4D97-AF65-F5344CB8AC3E}">
        <p14:creationId xmlns:p14="http://schemas.microsoft.com/office/powerpoint/2010/main" val="36448746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5A0E9-8A4C-7B5F-719B-1EB3DABE1D85}"/>
              </a:ext>
            </a:extLst>
          </p:cNvPr>
          <p:cNvSpPr>
            <a:spLocks noGrp="1"/>
          </p:cNvSpPr>
          <p:nvPr>
            <p:ph type="title"/>
          </p:nvPr>
        </p:nvSpPr>
        <p:spPr/>
        <p:txBody>
          <a:bodyPr/>
          <a:lstStyle/>
          <a:p>
            <a:r>
              <a:rPr lang="en-US" dirty="0"/>
              <a:t>States</a:t>
            </a:r>
          </a:p>
        </p:txBody>
      </p:sp>
      <p:sp>
        <p:nvSpPr>
          <p:cNvPr id="4" name="Date Placeholder 3">
            <a:extLst>
              <a:ext uri="{FF2B5EF4-FFF2-40B4-BE49-F238E27FC236}">
                <a16:creationId xmlns:a16="http://schemas.microsoft.com/office/drawing/2014/main" id="{F58DD52D-02BC-87E5-822C-A510D5FD3EF9}"/>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8DE2F731-3105-B7FD-53DD-CC329EBC119A}"/>
              </a:ext>
            </a:extLst>
          </p:cNvPr>
          <p:cNvSpPr>
            <a:spLocks noGrp="1"/>
          </p:cNvSpPr>
          <p:nvPr>
            <p:ph type="sldNum" sz="quarter" idx="12"/>
          </p:nvPr>
        </p:nvSpPr>
        <p:spPr/>
        <p:txBody>
          <a:bodyPr/>
          <a:lstStyle/>
          <a:p>
            <a:fld id="{0A68DB68-8052-4758-A647-54338E95D837}" type="slidenum">
              <a:rPr lang="en-US" smtClean="0"/>
              <a:pPr/>
              <a:t>42</a:t>
            </a:fld>
            <a:endParaRPr lang="en-US" dirty="0"/>
          </a:p>
        </p:txBody>
      </p:sp>
      <p:sp>
        <p:nvSpPr>
          <p:cNvPr id="7" name="Rectangle 3">
            <a:extLst>
              <a:ext uri="{FF2B5EF4-FFF2-40B4-BE49-F238E27FC236}">
                <a16:creationId xmlns:a16="http://schemas.microsoft.com/office/drawing/2014/main" id="{C88AD8FE-3312-11AD-374B-6602EB870837}"/>
              </a:ext>
            </a:extLst>
          </p:cNvPr>
          <p:cNvSpPr txBox="1">
            <a:spLocks noChangeArrowheads="1"/>
          </p:cNvSpPr>
          <p:nvPr/>
        </p:nvSpPr>
        <p:spPr>
          <a:xfrm>
            <a:off x="762000" y="1676400"/>
            <a:ext cx="5029200" cy="41910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lgn="just"/>
            <a:r>
              <a:rPr lang="en-US" altLang="en-US" b="1" dirty="0">
                <a:solidFill>
                  <a:srgbClr val="C00000"/>
                </a:solidFill>
                <a:ea typeface="ＭＳ Ｐゴシック" panose="020B0600070205080204" pitchFamily="34" charset="-128"/>
              </a:rPr>
              <a:t>State</a:t>
            </a:r>
            <a:r>
              <a:rPr lang="en-US" altLang="en-US" dirty="0">
                <a:solidFill>
                  <a:srgbClr val="C00000"/>
                </a:solidFill>
                <a:ea typeface="ＭＳ Ｐゴシック" panose="020B0600070205080204" pitchFamily="34" charset="-128"/>
              </a:rPr>
              <a:t>: </a:t>
            </a:r>
            <a:r>
              <a:rPr lang="en-US" altLang="en-US" dirty="0">
                <a:ea typeface="ＭＳ Ｐゴシック" panose="020B0600070205080204" pitchFamily="34" charset="-128"/>
              </a:rPr>
              <a:t>Conceptual description of the data in the object</a:t>
            </a:r>
          </a:p>
          <a:p>
            <a:pPr lvl="1" algn="just"/>
            <a:r>
              <a:rPr lang="en-US" altLang="en-US" sz="2200" dirty="0">
                <a:ea typeface="ＭＳ Ｐゴシック" panose="020B0600070205080204" pitchFamily="34" charset="-128"/>
              </a:rPr>
              <a:t>Represented by object's field values</a:t>
            </a:r>
            <a:endParaRPr lang="en-US" altLang="en-US" dirty="0">
              <a:ea typeface="ＭＳ Ｐゴシック" panose="020B0600070205080204" pitchFamily="34" charset="-128"/>
            </a:endParaRPr>
          </a:p>
          <a:p>
            <a:pPr algn="just"/>
            <a:r>
              <a:rPr lang="en-US" altLang="en-US" dirty="0">
                <a:ea typeface="ＭＳ Ｐゴシック" panose="020B0600070205080204" pitchFamily="34" charset="-128"/>
              </a:rPr>
              <a:t>Entire diagram is drawn from the</a:t>
            </a:r>
            <a:br>
              <a:rPr lang="en-US" altLang="en-US" dirty="0">
                <a:ea typeface="ＭＳ Ｐゴシック" panose="020B0600070205080204" pitchFamily="34" charset="-128"/>
              </a:rPr>
            </a:br>
            <a:r>
              <a:rPr lang="en-US" altLang="en-US" dirty="0">
                <a:ea typeface="ＭＳ Ｐゴシック" panose="020B0600070205080204" pitchFamily="34" charset="-128"/>
              </a:rPr>
              <a:t>central object's perspective</a:t>
            </a:r>
          </a:p>
          <a:p>
            <a:pPr lvl="1" algn="just"/>
            <a:r>
              <a:rPr lang="en-US" altLang="en-US" sz="2200" dirty="0">
                <a:ea typeface="ＭＳ Ｐゴシック" panose="020B0600070205080204" pitchFamily="34" charset="-128"/>
              </a:rPr>
              <a:t>Only include states / concepts that</a:t>
            </a:r>
            <a:br>
              <a:rPr lang="en-US" altLang="en-US" sz="2200" dirty="0">
                <a:ea typeface="ＭＳ Ｐゴシック" panose="020B0600070205080204" pitchFamily="34" charset="-128"/>
              </a:rPr>
            </a:br>
            <a:r>
              <a:rPr lang="en-US" altLang="en-US" sz="2200" dirty="0">
                <a:ea typeface="ＭＳ Ｐゴシック" panose="020B0600070205080204" pitchFamily="34" charset="-128"/>
              </a:rPr>
              <a:t>this object can see and influence</a:t>
            </a:r>
          </a:p>
          <a:p>
            <a:pPr lvl="1" algn="just"/>
            <a:r>
              <a:rPr lang="en-US" altLang="en-US" sz="2200" dirty="0">
                <a:ea typeface="ＭＳ Ｐゴシック" panose="020B0600070205080204" pitchFamily="34" charset="-128"/>
              </a:rPr>
              <a:t>Don't include every possible value</a:t>
            </a:r>
            <a:br>
              <a:rPr lang="en-US" altLang="en-US" sz="2200" dirty="0">
                <a:ea typeface="ＭＳ Ｐゴシック" panose="020B0600070205080204" pitchFamily="34" charset="-128"/>
              </a:rPr>
            </a:br>
            <a:r>
              <a:rPr lang="en-US" altLang="en-US" sz="2200" dirty="0">
                <a:ea typeface="ＭＳ Ｐゴシック" panose="020B0600070205080204" pitchFamily="34" charset="-128"/>
              </a:rPr>
              <a:t>for the fields; only ones that are</a:t>
            </a:r>
            <a:br>
              <a:rPr lang="en-US" altLang="en-US" sz="2200" dirty="0">
                <a:ea typeface="ＭＳ Ｐゴシック" panose="020B0600070205080204" pitchFamily="34" charset="-128"/>
              </a:rPr>
            </a:br>
            <a:r>
              <a:rPr lang="en-US" altLang="en-US" sz="2200" dirty="0">
                <a:ea typeface="ＭＳ Ｐゴシック" panose="020B0600070205080204" pitchFamily="34" charset="-128"/>
              </a:rPr>
              <a:t>conceptually different</a:t>
            </a:r>
          </a:p>
        </p:txBody>
      </p:sp>
      <p:pic>
        <p:nvPicPr>
          <p:cNvPr id="8" name="Picture 6">
            <a:extLst>
              <a:ext uri="{FF2B5EF4-FFF2-40B4-BE49-F238E27FC236}">
                <a16:creationId xmlns:a16="http://schemas.microsoft.com/office/drawing/2014/main" id="{663A75D6-BCD1-8313-B0E7-9070EC83FD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500" t="39621" r="65877" b="40355"/>
          <a:stretch>
            <a:fillRect/>
          </a:stretch>
        </p:blipFill>
        <p:spPr bwMode="auto">
          <a:xfrm>
            <a:off x="6248400" y="3124200"/>
            <a:ext cx="2590800" cy="169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64782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5A0E9-8A4C-7B5F-719B-1EB3DABE1D85}"/>
              </a:ext>
            </a:extLst>
          </p:cNvPr>
          <p:cNvSpPr>
            <a:spLocks noGrp="1"/>
          </p:cNvSpPr>
          <p:nvPr>
            <p:ph type="title"/>
          </p:nvPr>
        </p:nvSpPr>
        <p:spPr>
          <a:xfrm>
            <a:off x="342900" y="213360"/>
            <a:ext cx="8229600" cy="990600"/>
          </a:xfrm>
        </p:spPr>
        <p:txBody>
          <a:bodyPr/>
          <a:lstStyle/>
          <a:p>
            <a:r>
              <a:rPr lang="en-US" dirty="0"/>
              <a:t>Example Scenario</a:t>
            </a:r>
          </a:p>
        </p:txBody>
      </p:sp>
      <p:sp>
        <p:nvSpPr>
          <p:cNvPr id="4" name="Date Placeholder 3">
            <a:extLst>
              <a:ext uri="{FF2B5EF4-FFF2-40B4-BE49-F238E27FC236}">
                <a16:creationId xmlns:a16="http://schemas.microsoft.com/office/drawing/2014/main" id="{F58DD52D-02BC-87E5-822C-A510D5FD3EF9}"/>
              </a:ext>
            </a:extLst>
          </p:cNvPr>
          <p:cNvSpPr>
            <a:spLocks noGrp="1"/>
          </p:cNvSpPr>
          <p:nvPr>
            <p:ph type="dt" sz="half" idx="10"/>
          </p:nvPr>
        </p:nvSpPr>
        <p:spPr/>
        <p:txBody>
          <a:bodyPr/>
          <a:lstStyle/>
          <a:p>
            <a:fld id="{4E91E117-A072-4856-A34D-86E7F1BF6669}" type="datetime1">
              <a:rPr lang="en-US" smtClean="0"/>
              <a:t>3/29/2026</a:t>
            </a:fld>
            <a:endParaRPr lang="en-US" dirty="0"/>
          </a:p>
        </p:txBody>
      </p:sp>
      <p:sp>
        <p:nvSpPr>
          <p:cNvPr id="6" name="Slide Number Placeholder 5">
            <a:extLst>
              <a:ext uri="{FF2B5EF4-FFF2-40B4-BE49-F238E27FC236}">
                <a16:creationId xmlns:a16="http://schemas.microsoft.com/office/drawing/2014/main" id="{8DE2F731-3105-B7FD-53DD-CC329EBC119A}"/>
              </a:ext>
            </a:extLst>
          </p:cNvPr>
          <p:cNvSpPr>
            <a:spLocks noGrp="1"/>
          </p:cNvSpPr>
          <p:nvPr>
            <p:ph type="sldNum" sz="quarter" idx="12"/>
          </p:nvPr>
        </p:nvSpPr>
        <p:spPr/>
        <p:txBody>
          <a:bodyPr/>
          <a:lstStyle/>
          <a:p>
            <a:fld id="{0A68DB68-8052-4758-A647-54338E95D837}" type="slidenum">
              <a:rPr lang="en-US" smtClean="0"/>
              <a:pPr/>
              <a:t>43</a:t>
            </a:fld>
            <a:endParaRPr lang="en-US" dirty="0"/>
          </a:p>
        </p:txBody>
      </p:sp>
      <p:sp>
        <p:nvSpPr>
          <p:cNvPr id="7" name="Rectangle 3">
            <a:extLst>
              <a:ext uri="{FF2B5EF4-FFF2-40B4-BE49-F238E27FC236}">
                <a16:creationId xmlns:a16="http://schemas.microsoft.com/office/drawing/2014/main" id="{C88AD8FE-3312-11AD-374B-6602EB870837}"/>
              </a:ext>
            </a:extLst>
          </p:cNvPr>
          <p:cNvSpPr txBox="1">
            <a:spLocks noChangeArrowheads="1"/>
          </p:cNvSpPr>
          <p:nvPr/>
        </p:nvSpPr>
        <p:spPr>
          <a:xfrm>
            <a:off x="133350" y="1143000"/>
            <a:ext cx="8877300" cy="5635752"/>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just">
              <a:buNone/>
            </a:pPr>
            <a:r>
              <a:rPr lang="en-US" altLang="en-US" sz="2000" dirty="0">
                <a:ea typeface="ＭＳ Ｐゴシック" panose="020B0600070205080204" pitchFamily="34" charset="-128"/>
              </a:rPr>
              <a:t>During the Seminar enrollment period at the University of Central Punjab, Dr. Hasan Rizvi and academic coordinator Ms. Ayesha Khan witnessed firsthand how students like Bilal, Usman, and Fatima struggled with a broken manual enrollment process, highlighting the critical need for an Online Seminar Enrollment System. The system must provide automated registration with a centralized digital platform that eliminates lengthy queues and paper-based forms, alongside real-time seat availability tracking and automatic waitlisting with SMS notifications to prevent students from being turned away after hours of waiting. The system must also support phased enrollment workflow allowing students to temporarily hold seats while reviewing seminar details, along with role-based access control, automated email confirmations, a searchable seminar catalog with filters, and digital payment integration. By addressing these requirements, the system will transform the chaotic enrollment experience into a streamlined, equitable, and efficient process that supports the university's commitment to interdisciplinary skill development.</a:t>
            </a:r>
          </a:p>
        </p:txBody>
      </p:sp>
    </p:spTree>
    <p:extLst>
      <p:ext uri="{BB962C8B-B14F-4D97-AF65-F5344CB8AC3E}">
        <p14:creationId xmlns:p14="http://schemas.microsoft.com/office/powerpoint/2010/main" val="3637905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a:extLst>
              <a:ext uri="{FF2B5EF4-FFF2-40B4-BE49-F238E27FC236}">
                <a16:creationId xmlns:a16="http://schemas.microsoft.com/office/drawing/2014/main" id="{B64C46A4-D358-478D-E7CA-E93381DCC9ED}"/>
              </a:ext>
            </a:extLst>
          </p:cNvPr>
          <p:cNvSpPr>
            <a:spLocks noGrp="1" noChangeArrowheads="1"/>
          </p:cNvSpPr>
          <p:nvPr>
            <p:ph type="title"/>
          </p:nvPr>
        </p:nvSpPr>
        <p:spPr/>
        <p:txBody>
          <a:bodyPr>
            <a:normAutofit fontScale="90000"/>
          </a:bodyPr>
          <a:lstStyle/>
          <a:p>
            <a:pPr>
              <a:tabLst>
                <a:tab pos="0" algn="l"/>
                <a:tab pos="342900" algn="l"/>
                <a:tab pos="685800" algn="l"/>
                <a:tab pos="1028700" algn="l"/>
                <a:tab pos="1371600" algn="l"/>
                <a:tab pos="1714500" algn="l"/>
                <a:tab pos="2057400" algn="l"/>
                <a:tab pos="2400300" algn="l"/>
                <a:tab pos="2743200" algn="l"/>
                <a:tab pos="3086100" algn="l"/>
                <a:tab pos="3429000" algn="l"/>
                <a:tab pos="3771900" algn="l"/>
                <a:tab pos="4114800" algn="l"/>
                <a:tab pos="4457700" algn="l"/>
                <a:tab pos="4800600" algn="l"/>
                <a:tab pos="5143500" algn="l"/>
                <a:tab pos="5486400" algn="l"/>
                <a:tab pos="5829300" algn="l"/>
                <a:tab pos="6172200" algn="l"/>
                <a:tab pos="6515100" algn="l"/>
                <a:tab pos="6858000" algn="l"/>
              </a:tabLst>
            </a:pPr>
            <a:r>
              <a:rPr lang="en-GB" altLang="en-US" dirty="0"/>
              <a:t>UML </a:t>
            </a:r>
            <a:r>
              <a:rPr lang="en-GB" altLang="en-US" dirty="0" err="1"/>
              <a:t>Statechart</a:t>
            </a:r>
            <a:r>
              <a:rPr lang="en-GB" altLang="en-US" dirty="0"/>
              <a:t> Diagram: Seminar during </a:t>
            </a:r>
            <a:r>
              <a:rPr lang="en-GB" altLang="en-US" dirty="0" err="1"/>
              <a:t>enrollment</a:t>
            </a:r>
            <a:endParaRPr lang="en-GB" altLang="en-US" dirty="0"/>
          </a:p>
        </p:txBody>
      </p:sp>
      <p:pic>
        <p:nvPicPr>
          <p:cNvPr id="45059" name="Picture 2">
            <a:extLst>
              <a:ext uri="{FF2B5EF4-FFF2-40B4-BE49-F238E27FC236}">
                <a16:creationId xmlns:a16="http://schemas.microsoft.com/office/drawing/2014/main" id="{CD15D8D6-6CFD-20BB-26B5-82B6A6808C7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3038" y="2133600"/>
            <a:ext cx="8797925" cy="4191000"/>
          </a:xfrm>
          <a:noFill/>
        </p:spPr>
      </p:pic>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4491</TotalTime>
  <Words>2498</Words>
  <Application>Microsoft Office PowerPoint</Application>
  <PresentationFormat>On-screen Show (4:3)</PresentationFormat>
  <Paragraphs>418</Paragraphs>
  <Slides>44</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2" baseType="lpstr">
      <vt:lpstr>ＭＳ Ｐゴシック</vt:lpstr>
      <vt:lpstr>Arial</vt:lpstr>
      <vt:lpstr>Arial MT</vt:lpstr>
      <vt:lpstr>Calibri</vt:lpstr>
      <vt:lpstr>Times New Roman</vt:lpstr>
      <vt:lpstr>Wingdings</vt:lpstr>
      <vt:lpstr>Clarity</vt:lpstr>
      <vt:lpstr>Document</vt:lpstr>
      <vt:lpstr>     CSSE3113 – Introduction to Software Engineering  </vt:lpstr>
      <vt:lpstr>Requirements Engineering Process</vt:lpstr>
      <vt:lpstr>Requirements Engineering Process</vt:lpstr>
      <vt:lpstr>Feasibility Study</vt:lpstr>
      <vt:lpstr>Requirement Elicitation and Analysis</vt:lpstr>
      <vt:lpstr>Requirement Elicitation and Analysis</vt:lpstr>
      <vt:lpstr>Requirements Elicitation and Analysis Process</vt:lpstr>
      <vt:lpstr>Problems of Requirements Analysis</vt:lpstr>
      <vt:lpstr>Requirements Discovery</vt:lpstr>
      <vt:lpstr>Techniques of Requirement Discovery</vt:lpstr>
      <vt:lpstr>Effective Interviewers</vt:lpstr>
      <vt:lpstr>User Stories</vt:lpstr>
      <vt:lpstr>Example</vt:lpstr>
      <vt:lpstr>Social and Organizational Factors</vt:lpstr>
      <vt:lpstr>Example</vt:lpstr>
      <vt:lpstr>Ethnography</vt:lpstr>
      <vt:lpstr>Requirements Validation</vt:lpstr>
      <vt:lpstr>Requirements Checking</vt:lpstr>
      <vt:lpstr>Requirements Validation Techniques</vt:lpstr>
      <vt:lpstr>Requirements Management</vt:lpstr>
      <vt:lpstr>Requirement Modelling</vt:lpstr>
      <vt:lpstr>Requirement Modelling</vt:lpstr>
      <vt:lpstr>Scenarios</vt:lpstr>
      <vt:lpstr>Scenarios</vt:lpstr>
      <vt:lpstr>LIBSYS Scenario </vt:lpstr>
      <vt:lpstr>LIBSYS Scenario </vt:lpstr>
      <vt:lpstr>Scenario-based Modelling</vt:lpstr>
      <vt:lpstr>Scenario-based Modelling- Use case</vt:lpstr>
      <vt:lpstr>Scenario-based Modelling- Use case</vt:lpstr>
      <vt:lpstr>PowerPoint Presentation</vt:lpstr>
      <vt:lpstr>Dependency –Among Use Cases</vt:lpstr>
      <vt:lpstr>PowerPoint Presentation</vt:lpstr>
      <vt:lpstr>Class-based Modelling</vt:lpstr>
      <vt:lpstr>Class-based Modelling</vt:lpstr>
      <vt:lpstr>Identifying Classes</vt:lpstr>
      <vt:lpstr>Class</vt:lpstr>
      <vt:lpstr>Class Name</vt:lpstr>
      <vt:lpstr>Class Attributes</vt:lpstr>
      <vt:lpstr>Class Operations</vt:lpstr>
      <vt:lpstr>Class Diagram - Example</vt:lpstr>
      <vt:lpstr>Behavioral Modelling</vt:lpstr>
      <vt:lpstr>States</vt:lpstr>
      <vt:lpstr>Example Scenario</vt:lpstr>
      <vt:lpstr>UML Statechart Diagram: Seminar during enrollment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“Agility”?</dc:title>
  <dc:creator>user</dc:creator>
  <cp:lastModifiedBy>Junaid .</cp:lastModifiedBy>
  <cp:revision>379</cp:revision>
  <cp:lastPrinted>2018-10-03T10:06:29Z</cp:lastPrinted>
  <dcterms:created xsi:type="dcterms:W3CDTF">2014-09-24T14:35:43Z</dcterms:created>
  <dcterms:modified xsi:type="dcterms:W3CDTF">2026-03-29T13:07:11Z</dcterms:modified>
</cp:coreProperties>
</file>