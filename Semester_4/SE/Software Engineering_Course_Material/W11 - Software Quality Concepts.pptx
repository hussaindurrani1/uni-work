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04" r:id="rId1"/>
  </p:sldMasterIdLst>
  <p:notesMasterIdLst>
    <p:notesMasterId r:id="rId24"/>
  </p:notesMasterIdLst>
  <p:handoutMasterIdLst>
    <p:handoutMasterId r:id="rId25"/>
  </p:handoutMasterIdLst>
  <p:sldIdLst>
    <p:sldId id="274" r:id="rId2"/>
    <p:sldId id="419" r:id="rId3"/>
    <p:sldId id="421" r:id="rId4"/>
    <p:sldId id="438" r:id="rId5"/>
    <p:sldId id="439" r:id="rId6"/>
    <p:sldId id="440" r:id="rId7"/>
    <p:sldId id="387" r:id="rId8"/>
    <p:sldId id="441" r:id="rId9"/>
    <p:sldId id="442" r:id="rId10"/>
    <p:sldId id="459" r:id="rId11"/>
    <p:sldId id="443" r:id="rId12"/>
    <p:sldId id="460" r:id="rId13"/>
    <p:sldId id="444" r:id="rId14"/>
    <p:sldId id="461" r:id="rId15"/>
    <p:sldId id="354" r:id="rId16"/>
    <p:sldId id="355" r:id="rId17"/>
    <p:sldId id="257" r:id="rId18"/>
    <p:sldId id="258" r:id="rId19"/>
    <p:sldId id="356" r:id="rId20"/>
    <p:sldId id="357" r:id="rId21"/>
    <p:sldId id="358" r:id="rId22"/>
    <p:sldId id="359" r:id="rId23"/>
  </p:sldIdLst>
  <p:sldSz cx="9144000" cy="6858000" type="screen4x3"/>
  <p:notesSz cx="9296400" cy="68818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Times New Roman" pitchFamily="18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Times New Roman" pitchFamily="18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Times New Roman" pitchFamily="18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Times New Roman" pitchFamily="18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Times New Roman" pitchFamily="18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Times New Roman" pitchFamily="18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Times New Roman" pitchFamily="18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Times New Roman" pitchFamily="18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Times New Roman" pitchFamily="18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0000"/>
    <a:srgbClr val="808080"/>
    <a:srgbClr val="404040"/>
    <a:srgbClr val="003399"/>
    <a:srgbClr val="336699"/>
    <a:srgbClr val="008080"/>
    <a:srgbClr val="009999"/>
    <a:srgbClr val="FF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362" autoAdjust="0"/>
    <p:restoredTop sz="95161" autoAdjust="0"/>
  </p:normalViewPr>
  <p:slideViewPr>
    <p:cSldViewPr>
      <p:cViewPr varScale="1">
        <p:scale>
          <a:sx n="57" d="100"/>
          <a:sy n="57" d="100"/>
        </p:scale>
        <p:origin x="1212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4028440" cy="3440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charset="0"/>
                <a:cs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267961" y="0"/>
            <a:ext cx="4028440" cy="3440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charset="0"/>
                <a:cs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6537722"/>
            <a:ext cx="4028440" cy="3440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charset="0"/>
                <a:cs typeface="Times New Roman" charset="0"/>
              </a:defRPr>
            </a:lvl1pPr>
          </a:lstStyle>
          <a:p>
            <a:pPr>
              <a:defRPr/>
            </a:pPr>
            <a:r>
              <a:rPr lang="en-US"/>
              <a:t>TCSS 143, Autumn 2004 Lecture Notes</a:t>
            </a:r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267961" y="6537722"/>
            <a:ext cx="4028440" cy="3440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charset="0"/>
                <a:cs typeface="Times New Roman" charset="0"/>
              </a:defRPr>
            </a:lvl1pPr>
          </a:lstStyle>
          <a:p>
            <a:pPr>
              <a:defRPr/>
            </a:pPr>
            <a:fld id="{78E3B2B1-A2BF-4830-89FD-0CBC3F4C87E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9777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4028440" cy="3440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charset="0"/>
                <a:cs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267961" y="0"/>
            <a:ext cx="4028440" cy="3440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charset="0"/>
                <a:cs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927350" y="515938"/>
            <a:ext cx="3443288" cy="25812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39521" y="3268861"/>
            <a:ext cx="6817360" cy="30968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6537722"/>
            <a:ext cx="4028440" cy="3440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charset="0"/>
                <a:cs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267961" y="6537722"/>
            <a:ext cx="4028440" cy="3440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charset="0"/>
                <a:cs typeface="Times New Roman" charset="0"/>
              </a:defRPr>
            </a:lvl1pPr>
          </a:lstStyle>
          <a:p>
            <a:pPr>
              <a:defRPr/>
            </a:pPr>
            <a:fld id="{F01F8D58-905F-42DA-AE51-9FD9ABE5B2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5565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387" name="Rectangle 2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1330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5411" name="Rectangle 2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0400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6435" name="Rectangle 2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82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6435" name="Rectangle 2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9302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6435" name="Rectangle 2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097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6435" name="Rectangle 2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7533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89A186B-F273-43D6-88F3-FF3829A4C5E2}" type="datetime1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CSC291 - Software Engineering Concepts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D9AF445-DA66-4048-B02B-51C885E9BF0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50BB214-CB0F-4E00-9D9E-47F85496FE3E}" type="datetime1">
              <a:rPr lang="en-US" smtClean="0"/>
              <a:t>10/10/2025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CSC291 - Software Engineering Concepts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411FB67-E6C6-47E1-8EE7-FD4795ADCBF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75C12FF-63CD-43B5-8EF8-790B298B18DA}" type="datetime1">
              <a:rPr lang="en-US" smtClean="0"/>
              <a:t>10/10/2025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CSC291 - Software Engineering Concepts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83D2DB1-5D91-456E-89E3-5DDFF1AD062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AB24049-18AA-4805-B393-009314668710}" type="datetime1">
              <a:rPr lang="en-US" smtClean="0"/>
              <a:t>10/10/2025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CSC291 - Software Engineering Concepts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6FC4E3-D1CB-47E0-B3CE-2D99C93E6C5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3139559-27D2-4B8F-95D6-B9539FB6732D}" type="datetime1">
              <a:rPr lang="en-US" smtClean="0"/>
              <a:t>10/10/2025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CSC291 - Software Engineering Concepts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E8C922-1A0E-4D8A-B18B-1AC59840CC4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D58AA34-D2EA-47CE-B8FC-EEAE0C7BFCD1}" type="datetime1">
              <a:rPr lang="en-US" smtClean="0"/>
              <a:t>10/10/2025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CSC291 - Software Engineering Concepts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A11091-2839-4166-BACE-8F9B9A7618A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E3B1E54-C324-4CB5-84FF-BE6B330F4CA6}" type="datetime1">
              <a:rPr lang="en-US" smtClean="0"/>
              <a:t>10/10/2025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CSC291 - Software Engineering Concepts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5E9061-0026-44E5-992F-61AC00A89CB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4C10086-4DF1-49BC-98FB-29606FCCD9B4}" type="datetime1">
              <a:rPr lang="en-US" smtClean="0"/>
              <a:t>10/10/2025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CSC291 - Software Engineering Concepts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FEBC14-6C1D-44C0-9FF0-D4352001274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7A2F50B-CB3A-4C7F-AFF7-A8178B6DFDE6}" type="datetime1">
              <a:rPr lang="en-US" smtClean="0"/>
              <a:t>10/10/2025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CSC291 - Software Engineering Concepts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3F7A16C-8D4F-4B13-8714-02C0D633E1B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F3DEA7B-930C-45AF-A14B-0D231F2198B0}" type="datetime1">
              <a:rPr lang="en-US" smtClean="0"/>
              <a:t>10/10/2025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CSC291 - Software Engineering Concepts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F8F335-A36F-4A17-BFA6-449D13CDAC8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EE2649B-3DA8-47E6-9050-F1A582BDEADA}" type="datetime1">
              <a:rPr lang="en-US" smtClean="0"/>
              <a:t>10/10/2025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CSC291 - Software Engineering Concepts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0D4A97-258A-4378-A234-AF7224C1F5A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1000"/>
            <a:ext cx="7848600" cy="533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066800"/>
            <a:ext cx="38481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86300" y="1066800"/>
            <a:ext cx="38481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CSC291 - Software Engineering Concepts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14D68479-C6EA-453E-94E6-2661966715B2}" type="datetime1">
              <a:rPr lang="en-US" smtClean="0"/>
              <a:t>10/10/2025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CSC291 - Software Engineering Concepts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7A5D5032-6E56-46AD-A4D4-1A68A1FC114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  <p:sldLayoutId id="2147483816" r:id="rId12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0" y="1219200"/>
            <a:ext cx="8991600" cy="192722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5400" kern="1200" cap="all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>
                <a:solidFill>
                  <a:srgbClr val="C00000"/>
                </a:solidFill>
                <a:cs typeface="Times New Roman" pitchFamily="18" charset="0"/>
              </a:rPr>
              <a:t>CSSE3113 – </a:t>
            </a:r>
            <a:r>
              <a:rPr lang="en-US" sz="3200" cap="none" dirty="0">
                <a:solidFill>
                  <a:srgbClr val="C00000"/>
                </a:solidFill>
                <a:cs typeface="Times New Roman" pitchFamily="18" charset="0"/>
              </a:rPr>
              <a:t>Introduction to Software Engineering</a:t>
            </a:r>
            <a:endParaRPr lang="en-US" sz="3200" b="0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209800" y="3581400"/>
            <a:ext cx="4724400" cy="1905000"/>
          </a:xfrm>
        </p:spPr>
        <p:txBody>
          <a:bodyPr>
            <a:normAutofit/>
          </a:bodyPr>
          <a:lstStyle/>
          <a:p>
            <a:pPr marL="63500" algn="ctr" eaLnBrk="1" hangingPunct="1"/>
            <a:r>
              <a:rPr lang="en-US" sz="2000" dirty="0">
                <a:solidFill>
                  <a:schemeClr val="tx1"/>
                </a:solidFill>
                <a:latin typeface="+mj-lt"/>
                <a:cs typeface="Times New Roman" pitchFamily="18" charset="0"/>
              </a:rPr>
              <a:t> </a:t>
            </a:r>
          </a:p>
          <a:p>
            <a:pPr marL="63500" algn="ctr"/>
            <a:r>
              <a:rPr lang="en-AU" sz="2800" dirty="0">
                <a:solidFill>
                  <a:schemeClr val="tx1"/>
                </a:solidFill>
                <a:latin typeface="+mj-lt"/>
                <a:cs typeface="Times New Roman" pitchFamily="18" charset="0"/>
              </a:rPr>
              <a:t>Software Quality</a:t>
            </a:r>
            <a:endParaRPr lang="en-US" sz="2800" dirty="0">
              <a:solidFill>
                <a:schemeClr val="tx1"/>
              </a:solidFill>
              <a:latin typeface="+mj-lt"/>
              <a:cs typeface="Times New Roman" pitchFamily="18" charset="0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>
              <a:lnSpc>
                <a:spcPct val="150000"/>
              </a:lnSpc>
            </a:pPr>
            <a:r>
              <a:rPr lang="en-GB" sz="2000" dirty="0"/>
              <a:t>An </a:t>
            </a:r>
            <a:r>
              <a:rPr lang="en-GB" sz="2000" b="1" dirty="0"/>
              <a:t>effective software process </a:t>
            </a:r>
            <a:r>
              <a:rPr lang="en-GB" sz="2000" dirty="0"/>
              <a:t>applied in a manner that creates a </a:t>
            </a:r>
            <a:r>
              <a:rPr lang="en-GB" sz="2000" b="1" dirty="0"/>
              <a:t>useful product </a:t>
            </a:r>
            <a:r>
              <a:rPr lang="en-GB" sz="2000" dirty="0"/>
              <a:t>that provides measurable value for those who produce it and those who use it.</a:t>
            </a:r>
          </a:p>
          <a:p>
            <a:pPr lvl="1" algn="just">
              <a:lnSpc>
                <a:spcPct val="150000"/>
              </a:lnSpc>
            </a:pPr>
            <a:r>
              <a:rPr lang="en-GB" dirty="0"/>
              <a:t>An effective software process establishes the infrastructure that supports any effort at building a high-quality software product.</a:t>
            </a:r>
          </a:p>
          <a:p>
            <a:pPr lvl="1" algn="just">
              <a:lnSpc>
                <a:spcPct val="150000"/>
              </a:lnSpc>
            </a:pPr>
            <a:r>
              <a:rPr lang="en-GB" dirty="0"/>
              <a:t>A useful product delivers the content, functions, and features that the end user desires, but as important, it delivers these assets in a reliable, error-free way.</a:t>
            </a:r>
          </a:p>
          <a:p>
            <a:pPr lvl="1" algn="just">
              <a:lnSpc>
                <a:spcPct val="150000"/>
              </a:lnSpc>
            </a:pPr>
            <a:r>
              <a:rPr lang="en-GB" dirty="0"/>
              <a:t>By adding value for both the producer and user of a software product, high quality software provides benefits for the software organization and the end user community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EC9DA09-039A-A841-BA90-58CFCFBF8E01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67BC951-06D0-A812-76A3-D0D4E249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784F8BE-5921-438D-8B01-06F461FD2733}" type="datetime1">
              <a:rPr lang="en-US" smtClean="0"/>
              <a:t>10/10/2025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3835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Quality Dilemma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76800"/>
          </a:xfrm>
        </p:spPr>
        <p:txBody>
          <a:bodyPr>
            <a:no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GB" sz="2000" b="1" dirty="0"/>
              <a:t>Good Enough Software </a:t>
            </a:r>
          </a:p>
          <a:p>
            <a:pPr algn="just">
              <a:lnSpc>
                <a:spcPct val="150000"/>
              </a:lnSpc>
            </a:pPr>
            <a:r>
              <a:rPr lang="en-GB" sz="2000" dirty="0"/>
              <a:t>Delivers high-quality functions and features that end users desire, but at the same time it delivers other more obscure or specialized functions and features that contain known as bugs.</a:t>
            </a:r>
          </a:p>
          <a:p>
            <a:pPr algn="just">
              <a:lnSpc>
                <a:spcPct val="150000"/>
              </a:lnSpc>
            </a:pPr>
            <a:r>
              <a:rPr lang="en-GB" sz="2000" dirty="0"/>
              <a:t>The software vendor hopes that the vast majority of end users will overlook the bugs because they are so happy with other application functionality</a:t>
            </a:r>
          </a:p>
          <a:p>
            <a:pPr algn="just">
              <a:lnSpc>
                <a:spcPct val="150000"/>
              </a:lnSpc>
            </a:pPr>
            <a:r>
              <a:rPr lang="en-GB" sz="2000" dirty="0"/>
              <a:t>When you deliver a good enough (buggy) product, you risk permanent damage to your company’s reputation.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ABFDFE0-EDE1-4AFB-81EF-ED0906633F66}" type="datetime1">
              <a:rPr lang="en-US" smtClean="0"/>
              <a:t>10/10/2025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411FB67-E6C6-47E1-8EE7-FD4795ADCBF2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8719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Quality Dilemma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GB" sz="2000" b="1" dirty="0"/>
              <a:t>Cost of Quality</a:t>
            </a:r>
            <a:endParaRPr lang="en-GB" sz="2000" dirty="0"/>
          </a:p>
          <a:p>
            <a:r>
              <a:rPr lang="en-GB" sz="2000" dirty="0"/>
              <a:t>The cost of quality includes all costs incurred in the pursuit of quality or in performing quality-related activities and the downstream costs of lack of quality. </a:t>
            </a:r>
          </a:p>
          <a:p>
            <a:r>
              <a:rPr lang="en-GB" sz="2000" dirty="0"/>
              <a:t>An organization must collect metrics </a:t>
            </a:r>
          </a:p>
          <a:p>
            <a:pPr lvl="1"/>
            <a:r>
              <a:rPr lang="en-GB" dirty="0"/>
              <a:t>To provide a baseline for the current cost of quality</a:t>
            </a:r>
          </a:p>
          <a:p>
            <a:pPr lvl="1"/>
            <a:r>
              <a:rPr lang="en-GB" dirty="0"/>
              <a:t>Identify opportunities for reducing these costs</a:t>
            </a:r>
          </a:p>
          <a:p>
            <a:pPr lvl="1"/>
            <a:r>
              <a:rPr lang="en-GB" dirty="0"/>
              <a:t>Provide a normalized basis of comparison</a:t>
            </a:r>
          </a:p>
          <a:p>
            <a:r>
              <a:rPr lang="en-GB" sz="2000" dirty="0"/>
              <a:t>The cost of quality can be divided into costs associated : </a:t>
            </a:r>
          </a:p>
          <a:p>
            <a:pPr marL="731520" lvl="1" indent="-457200">
              <a:buFont typeface="+mj-lt"/>
              <a:buAutoNum type="arabicPeriod"/>
            </a:pPr>
            <a:r>
              <a:rPr lang="en-GB" dirty="0"/>
              <a:t>Prevention</a:t>
            </a:r>
          </a:p>
          <a:p>
            <a:pPr marL="731520" lvl="1" indent="-457200">
              <a:buFont typeface="+mj-lt"/>
              <a:buAutoNum type="arabicPeriod"/>
            </a:pPr>
            <a:r>
              <a:rPr lang="en-GB" dirty="0"/>
              <a:t>Appraisal</a:t>
            </a:r>
          </a:p>
          <a:p>
            <a:pPr marL="731520" lvl="1" indent="-457200">
              <a:buFont typeface="+mj-lt"/>
              <a:buAutoNum type="arabicPeriod"/>
            </a:pPr>
            <a:r>
              <a:rPr lang="en-GB" dirty="0"/>
              <a:t>Failure</a:t>
            </a:r>
          </a:p>
          <a:p>
            <a:pPr marL="1005840" lvl="2" indent="-457200">
              <a:buFont typeface="+mj-lt"/>
              <a:buAutoNum type="arabicPeriod"/>
            </a:pPr>
            <a:r>
              <a:rPr lang="en-GB" dirty="0"/>
              <a:t>Internal Failure</a:t>
            </a:r>
          </a:p>
          <a:p>
            <a:pPr marL="1005840" lvl="2" indent="-457200">
              <a:buFont typeface="+mj-lt"/>
              <a:buAutoNum type="arabicPeriod"/>
            </a:pPr>
            <a:r>
              <a:rPr lang="en-GB" dirty="0"/>
              <a:t>External Failure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ABFDFE0-EDE1-4AFB-81EF-ED0906633F66}" type="datetime1">
              <a:rPr lang="en-US" smtClean="0"/>
              <a:t>10/10/2025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411FB67-E6C6-47E1-8EE7-FD4795ADCBF2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486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Quality Dilemma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GB" sz="2000" b="1" dirty="0"/>
              <a:t>Prevention Cost:</a:t>
            </a:r>
          </a:p>
          <a:p>
            <a:r>
              <a:rPr lang="en-GB" sz="2000" dirty="0"/>
              <a:t>Cost of management activities</a:t>
            </a:r>
          </a:p>
          <a:p>
            <a:r>
              <a:rPr lang="en-GB" sz="2000" dirty="0"/>
              <a:t>The cost of added technical activities to develop complete requirements and design models</a:t>
            </a:r>
          </a:p>
          <a:p>
            <a:r>
              <a:rPr lang="en-GB" sz="2000" dirty="0"/>
              <a:t>Test planning costs</a:t>
            </a:r>
          </a:p>
          <a:p>
            <a:r>
              <a:rPr lang="en-GB" sz="2000" dirty="0"/>
              <a:t>The cost of all training associated with these activities</a:t>
            </a:r>
            <a:endParaRPr lang="en-GB" sz="2000" b="1" dirty="0"/>
          </a:p>
          <a:p>
            <a:r>
              <a:rPr lang="en-GB" sz="2000" b="1" dirty="0"/>
              <a:t>Appraisal costs:</a:t>
            </a:r>
          </a:p>
          <a:p>
            <a:r>
              <a:rPr lang="en-GB" sz="2000" dirty="0"/>
              <a:t>It include activities to gain insight into product condition the “first time through” each process. </a:t>
            </a:r>
          </a:p>
          <a:p>
            <a:r>
              <a:rPr lang="en-GB" sz="2000" dirty="0"/>
              <a:t>Examples Include:</a:t>
            </a:r>
          </a:p>
          <a:p>
            <a:pPr lvl="1"/>
            <a:r>
              <a:rPr lang="en-GB" dirty="0"/>
              <a:t>The cost of conducting technical reviews for software engineering work products.</a:t>
            </a:r>
          </a:p>
          <a:p>
            <a:pPr lvl="1"/>
            <a:r>
              <a:rPr lang="en-GB" dirty="0"/>
              <a:t>The cost of data collection and metrics evaluation.</a:t>
            </a:r>
          </a:p>
          <a:p>
            <a:pPr lvl="1"/>
            <a:r>
              <a:rPr lang="en-GB" dirty="0"/>
              <a:t>The cost of testing and debugging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ABFDFE0-EDE1-4AFB-81EF-ED0906633F66}" type="datetime1">
              <a:rPr lang="en-US" smtClean="0"/>
              <a:t>10/10/2025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411FB67-E6C6-47E1-8EE7-FD4795ADCBF2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059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Quality Dilemma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GB" sz="2000" b="1" dirty="0"/>
              <a:t>Failure costs</a:t>
            </a:r>
            <a:r>
              <a:rPr lang="en-GB" sz="2000" dirty="0"/>
              <a:t> </a:t>
            </a:r>
          </a:p>
          <a:p>
            <a:pPr algn="just">
              <a:lnSpc>
                <a:spcPct val="150000"/>
              </a:lnSpc>
            </a:pPr>
            <a:r>
              <a:rPr lang="en-GB" sz="2000" dirty="0"/>
              <a:t>Failure costs are those that would disappear if no errors appeared before shipping a product to customers. </a:t>
            </a:r>
          </a:p>
          <a:p>
            <a:pPr algn="just">
              <a:lnSpc>
                <a:spcPct val="150000"/>
              </a:lnSpc>
            </a:pPr>
            <a:r>
              <a:rPr lang="en-GB" sz="2000" dirty="0"/>
              <a:t>It is divided into two categories.</a:t>
            </a:r>
          </a:p>
          <a:p>
            <a:pPr marL="731520" lvl="1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GB" dirty="0"/>
              <a:t>Internal Failure Cost</a:t>
            </a:r>
          </a:p>
          <a:p>
            <a:pPr marL="731520" lvl="1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GB" dirty="0"/>
              <a:t>External Failure Cost</a:t>
            </a:r>
          </a:p>
          <a:p>
            <a:pPr algn="just">
              <a:lnSpc>
                <a:spcPct val="150000"/>
              </a:lnSpc>
            </a:pPr>
            <a:r>
              <a:rPr lang="en-GB" sz="2000" b="1" dirty="0"/>
              <a:t>Internal failure costs </a:t>
            </a:r>
            <a:r>
              <a:rPr lang="en-GB" sz="2000" dirty="0"/>
              <a:t>are incurred when you detect an error in a product prior to shipment. </a:t>
            </a:r>
          </a:p>
          <a:p>
            <a:pPr algn="just">
              <a:lnSpc>
                <a:spcPct val="150000"/>
              </a:lnSpc>
            </a:pPr>
            <a:r>
              <a:rPr lang="en-GB" sz="2000" b="1" dirty="0"/>
              <a:t>External failure costs </a:t>
            </a:r>
            <a:r>
              <a:rPr lang="en-GB" sz="2000" dirty="0"/>
              <a:t>are associated with defects found after the product has been shipped to the customer.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ABFDFE0-EDE1-4AFB-81EF-ED0906633F66}" type="datetime1">
              <a:rPr lang="en-US" smtClean="0"/>
              <a:t>10/10/2025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411FB67-E6C6-47E1-8EE7-FD4795ADCBF2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413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381000"/>
            <a:ext cx="8991600" cy="1031875"/>
          </a:xfrm>
        </p:spPr>
        <p:txBody>
          <a:bodyPr>
            <a:noAutofit/>
          </a:bodyPr>
          <a:lstStyle/>
          <a:p>
            <a:r>
              <a:rPr lang="en-GB" sz="3500" dirty="0"/>
              <a:t>Relative Cost of Correcting Errors and Defects</a:t>
            </a:r>
            <a:endParaRPr lang="en-US" sz="35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524000"/>
            <a:ext cx="8348662" cy="510151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Quality Dilemma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 startAt="3"/>
            </a:pPr>
            <a:r>
              <a:rPr lang="en-GB" sz="2000" b="1" dirty="0"/>
              <a:t>Risks</a:t>
            </a:r>
            <a:r>
              <a:rPr lang="en-GB" sz="2000" dirty="0"/>
              <a:t> </a:t>
            </a:r>
          </a:p>
          <a:p>
            <a:pPr algn="just">
              <a:lnSpc>
                <a:spcPct val="150000"/>
              </a:lnSpc>
            </a:pPr>
            <a:r>
              <a:rPr lang="en-GB" sz="2000" dirty="0"/>
              <a:t>Low-quality software increases risks for both the developer and the end user.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 startAt="4"/>
            </a:pPr>
            <a:r>
              <a:rPr lang="en-GB" sz="2000" b="1" dirty="0"/>
              <a:t>Negligence and Liability</a:t>
            </a:r>
          </a:p>
          <a:p>
            <a:pPr algn="just">
              <a:lnSpc>
                <a:spcPct val="150000"/>
              </a:lnSpc>
            </a:pPr>
            <a:r>
              <a:rPr lang="en-GB" sz="2000" dirty="0"/>
              <a:t>The following issues come under negligence and liability.</a:t>
            </a:r>
          </a:p>
          <a:p>
            <a:pPr lvl="1" algn="just">
              <a:lnSpc>
                <a:spcPct val="150000"/>
              </a:lnSpc>
            </a:pPr>
            <a:r>
              <a:rPr lang="en-GB" dirty="0"/>
              <a:t>The system is late</a:t>
            </a:r>
          </a:p>
          <a:p>
            <a:pPr lvl="1" algn="just">
              <a:lnSpc>
                <a:spcPct val="150000"/>
              </a:lnSpc>
            </a:pPr>
            <a:r>
              <a:rPr lang="en-GB" dirty="0"/>
              <a:t>The system fails to deliver desired features and functions</a:t>
            </a:r>
          </a:p>
          <a:p>
            <a:pPr lvl="1" algn="just">
              <a:lnSpc>
                <a:spcPct val="150000"/>
              </a:lnSpc>
            </a:pPr>
            <a:r>
              <a:rPr lang="en-GB" dirty="0"/>
              <a:t>The system is error-prone</a:t>
            </a:r>
          </a:p>
          <a:p>
            <a:pPr lvl="1" algn="just">
              <a:lnSpc>
                <a:spcPct val="150000"/>
              </a:lnSpc>
            </a:pPr>
            <a:r>
              <a:rPr lang="en-GB" dirty="0"/>
              <a:t>The system does not meet with customer approval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ABFDFE0-EDE1-4AFB-81EF-ED0906633F66}" type="datetime1">
              <a:rPr lang="en-US" smtClean="0"/>
              <a:t>10/10/2025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411FB67-E6C6-47E1-8EE7-FD4795ADCBF2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2828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Quality Dilemma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1" indent="-457200" algn="just">
              <a:lnSpc>
                <a:spcPct val="150000"/>
              </a:lnSpc>
              <a:buFont typeface="+mj-lt"/>
              <a:buAutoNum type="arabicPeriod" startAt="5"/>
            </a:pPr>
            <a:r>
              <a:rPr lang="en-GB" b="1" dirty="0"/>
              <a:t>Quality and Security</a:t>
            </a:r>
          </a:p>
          <a:p>
            <a:pPr algn="just">
              <a:lnSpc>
                <a:spcPct val="150000"/>
              </a:lnSpc>
            </a:pPr>
            <a:r>
              <a:rPr lang="en-GB" sz="2000" dirty="0"/>
              <a:t>As the criticality of the software system grows, application security has become increasingly important. </a:t>
            </a:r>
          </a:p>
          <a:p>
            <a:pPr algn="just">
              <a:lnSpc>
                <a:spcPct val="150000"/>
              </a:lnSpc>
            </a:pPr>
            <a:r>
              <a:rPr lang="en-GB" sz="2000" dirty="0"/>
              <a:t>Software that does not exhibit high quality is easier to hack</a:t>
            </a:r>
          </a:p>
          <a:p>
            <a:pPr algn="just">
              <a:lnSpc>
                <a:spcPct val="150000"/>
              </a:lnSpc>
            </a:pPr>
            <a:r>
              <a:rPr lang="en-GB" sz="2000" dirty="0"/>
              <a:t>To build a secure system, you must focus on quality during design.</a:t>
            </a:r>
          </a:p>
          <a:p>
            <a:pPr algn="just">
              <a:lnSpc>
                <a:spcPct val="150000"/>
              </a:lnSpc>
            </a:pPr>
            <a:r>
              <a:rPr lang="en-GB" sz="2000" dirty="0"/>
              <a:t>Elimination of architectural flaws will make it difficult to hack the software.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ABFDFE0-EDE1-4AFB-81EF-ED0906633F66}" type="datetime1">
              <a:rPr lang="en-US" smtClean="0"/>
              <a:t>10/10/2025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411FB67-E6C6-47E1-8EE7-FD4795ADCBF2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2799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Quality Dilemma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1" indent="-457200" algn="just">
              <a:lnSpc>
                <a:spcPct val="150000"/>
              </a:lnSpc>
              <a:buFont typeface="+mj-lt"/>
              <a:buAutoNum type="arabicPeriod" startAt="6"/>
            </a:pPr>
            <a:r>
              <a:rPr lang="en-GB" b="1" dirty="0"/>
              <a:t>The Impact of Management Actions</a:t>
            </a:r>
          </a:p>
          <a:p>
            <a:pPr marL="182880" lvl="1" algn="just">
              <a:lnSpc>
                <a:spcPct val="150000"/>
              </a:lnSpc>
            </a:pPr>
            <a:r>
              <a:rPr lang="en-GB" dirty="0"/>
              <a:t>Best software engineering practices can be undermined by poor business decisions and questionable project management actions.</a:t>
            </a:r>
          </a:p>
          <a:p>
            <a:pPr marL="182880" lvl="1" algn="just">
              <a:lnSpc>
                <a:spcPct val="150000"/>
              </a:lnSpc>
            </a:pPr>
            <a:r>
              <a:rPr lang="en-GB" dirty="0"/>
              <a:t>As each project task is initiated, a project leader will make decisions related to the following aspects that can have a significant impact on product quality.</a:t>
            </a:r>
          </a:p>
          <a:p>
            <a:pPr marL="457200" lvl="2" algn="just">
              <a:lnSpc>
                <a:spcPct val="150000"/>
              </a:lnSpc>
            </a:pPr>
            <a:r>
              <a:rPr lang="en-GB" dirty="0"/>
              <a:t>Estimation Decisions</a:t>
            </a:r>
          </a:p>
          <a:p>
            <a:pPr marL="457200" lvl="2" algn="just">
              <a:lnSpc>
                <a:spcPct val="150000"/>
              </a:lnSpc>
            </a:pPr>
            <a:r>
              <a:rPr lang="en-GB" dirty="0"/>
              <a:t>Scheduling Decisions</a:t>
            </a:r>
          </a:p>
          <a:p>
            <a:pPr marL="457200" lvl="2" algn="just">
              <a:lnSpc>
                <a:spcPct val="150000"/>
              </a:lnSpc>
            </a:pPr>
            <a:r>
              <a:rPr lang="en-GB" dirty="0"/>
              <a:t>Risk-oriented Decisions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ABFDFE0-EDE1-4AFB-81EF-ED0906633F66}" type="datetime1">
              <a:rPr lang="en-US" smtClean="0"/>
              <a:t>10/10/2025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411FB67-E6C6-47E1-8EE7-FD4795ADCBF2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8878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Achieving Software 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1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GB" b="1" dirty="0"/>
              <a:t>Software Engineering Methods</a:t>
            </a:r>
          </a:p>
          <a:p>
            <a:pPr lvl="1" indent="-457200" algn="just">
              <a:lnSpc>
                <a:spcPct val="150000"/>
              </a:lnSpc>
            </a:pPr>
            <a:r>
              <a:rPr lang="en-GB" dirty="0"/>
              <a:t>Following activities will increase the likelihood of creating high-quality software</a:t>
            </a:r>
          </a:p>
          <a:p>
            <a:pPr lvl="2" indent="-457200" algn="just">
              <a:lnSpc>
                <a:spcPct val="150000"/>
              </a:lnSpc>
            </a:pPr>
            <a:r>
              <a:rPr lang="en-GB" sz="2000" dirty="0"/>
              <a:t>Complete understanding of the problem</a:t>
            </a:r>
          </a:p>
          <a:p>
            <a:pPr lvl="2" indent="-457200" algn="just">
              <a:lnSpc>
                <a:spcPct val="150000"/>
              </a:lnSpc>
            </a:pPr>
            <a:r>
              <a:rPr lang="en-GB" sz="2000" dirty="0"/>
              <a:t>A comprehensive design that establishes a solid foundation for the construction activity</a:t>
            </a:r>
          </a:p>
          <a:p>
            <a:pPr lvl="2" indent="-457200" algn="just">
              <a:lnSpc>
                <a:spcPct val="150000"/>
              </a:lnSpc>
            </a:pPr>
            <a:r>
              <a:rPr lang="en-GB" sz="2000" dirty="0"/>
              <a:t>Appropriate analysis and design methods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ABFDFE0-EDE1-4AFB-81EF-ED0906633F66}" type="datetime1">
              <a:rPr lang="en-US" smtClean="0"/>
              <a:t>10/10/2025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411FB67-E6C6-47E1-8EE7-FD4795ADCBF2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841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Achieving Software 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76800"/>
          </a:xfrm>
        </p:spPr>
        <p:txBody>
          <a:bodyPr>
            <a:noAutofit/>
          </a:bodyPr>
          <a:lstStyle/>
          <a:p>
            <a:pPr lvl="1" indent="-457200" algn="just">
              <a:lnSpc>
                <a:spcPct val="150000"/>
              </a:lnSpc>
              <a:buFont typeface="+mj-lt"/>
              <a:buAutoNum type="arabicPeriod" startAt="2"/>
            </a:pPr>
            <a:r>
              <a:rPr lang="en-GB" b="1" dirty="0"/>
              <a:t>Project Management Techniques</a:t>
            </a:r>
          </a:p>
          <a:p>
            <a:pPr lvl="1" indent="-457200" algn="just">
              <a:lnSpc>
                <a:spcPct val="150000"/>
              </a:lnSpc>
            </a:pPr>
            <a:r>
              <a:rPr lang="en-GB" dirty="0"/>
              <a:t>Use of estimation to verify that delivery dates are achievable</a:t>
            </a:r>
          </a:p>
          <a:p>
            <a:pPr lvl="1" indent="-457200" algn="just">
              <a:lnSpc>
                <a:spcPct val="150000"/>
              </a:lnSpc>
            </a:pPr>
            <a:r>
              <a:rPr lang="en-GB" dirty="0"/>
              <a:t>Schedule dependencies are understood </a:t>
            </a:r>
          </a:p>
          <a:p>
            <a:pPr lvl="1" indent="-457200" algn="just">
              <a:lnSpc>
                <a:spcPct val="150000"/>
              </a:lnSpc>
            </a:pPr>
            <a:r>
              <a:rPr lang="en-GB" dirty="0"/>
              <a:t>The team resists the temptation to use short cuts</a:t>
            </a:r>
          </a:p>
          <a:p>
            <a:pPr lvl="1" indent="-457200" algn="just">
              <a:lnSpc>
                <a:spcPct val="150000"/>
              </a:lnSpc>
            </a:pPr>
            <a:r>
              <a:rPr lang="en-GB" dirty="0"/>
              <a:t>Risk planning is conducted so problems do not breed chaos</a:t>
            </a:r>
          </a:p>
          <a:p>
            <a:pPr lvl="1" indent="-457200" algn="just">
              <a:lnSpc>
                <a:spcPct val="150000"/>
              </a:lnSpc>
            </a:pPr>
            <a:r>
              <a:rPr lang="en-GB" dirty="0"/>
              <a:t>Explicit techniques for quality and change management</a:t>
            </a:r>
            <a:endParaRPr lang="en-GB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ABFDFE0-EDE1-4AFB-81EF-ED0906633F66}" type="datetime1">
              <a:rPr lang="en-US" smtClean="0"/>
              <a:t>10/10/2025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411FB67-E6C6-47E1-8EE7-FD4795ADCBF2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8475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Achieving Software 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1" indent="-457200" algn="just">
              <a:lnSpc>
                <a:spcPct val="150000"/>
              </a:lnSpc>
              <a:buFont typeface="+mj-lt"/>
              <a:buAutoNum type="arabicPeriod" startAt="3"/>
            </a:pPr>
            <a:r>
              <a:rPr lang="en-GB" b="1" dirty="0"/>
              <a:t>Quality Control</a:t>
            </a:r>
          </a:p>
          <a:p>
            <a:pPr lvl="1" indent="-457200" algn="just">
              <a:lnSpc>
                <a:spcPct val="150000"/>
              </a:lnSpc>
            </a:pPr>
            <a:r>
              <a:rPr lang="en-GB" dirty="0"/>
              <a:t>A set of software engineering actions that help to ensure that each work product meets its quality goals.</a:t>
            </a:r>
          </a:p>
          <a:p>
            <a:pPr lvl="1" indent="-457200" algn="just">
              <a:lnSpc>
                <a:spcPct val="150000"/>
              </a:lnSpc>
            </a:pPr>
            <a:r>
              <a:rPr lang="en-GB" dirty="0"/>
              <a:t>Models are reviewed</a:t>
            </a:r>
          </a:p>
          <a:p>
            <a:pPr lvl="1" indent="-457200" algn="just">
              <a:lnSpc>
                <a:spcPct val="150000"/>
              </a:lnSpc>
            </a:pPr>
            <a:r>
              <a:rPr lang="en-GB" dirty="0"/>
              <a:t>Code may be inspected in order to uncover and correct errors</a:t>
            </a:r>
          </a:p>
          <a:p>
            <a:pPr lvl="1" indent="-457200" algn="just">
              <a:lnSpc>
                <a:spcPct val="150000"/>
              </a:lnSpc>
            </a:pPr>
            <a:r>
              <a:rPr lang="en-GB" dirty="0"/>
              <a:t>A series of testing steps is applied to uncover errors</a:t>
            </a:r>
          </a:p>
          <a:p>
            <a:pPr lvl="1" indent="-457200" algn="just">
              <a:lnSpc>
                <a:spcPct val="150000"/>
              </a:lnSpc>
            </a:pPr>
            <a:r>
              <a:rPr lang="en-GB" dirty="0"/>
              <a:t>Measurement and feedback allows a software team to tune the process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ABFDFE0-EDE1-4AFB-81EF-ED0906633F66}" type="datetime1">
              <a:rPr lang="en-US" smtClean="0"/>
              <a:t>10/10/2025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411FB67-E6C6-47E1-8EE7-FD4795ADCBF2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7364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Achieving Software 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76800"/>
          </a:xfrm>
        </p:spPr>
        <p:txBody>
          <a:bodyPr>
            <a:noAutofit/>
          </a:bodyPr>
          <a:lstStyle/>
          <a:p>
            <a:pPr lvl="1" indent="-457200" algn="just">
              <a:lnSpc>
                <a:spcPct val="150000"/>
              </a:lnSpc>
              <a:buFont typeface="+mj-lt"/>
              <a:buAutoNum type="arabicPeriod" startAt="4"/>
            </a:pPr>
            <a:r>
              <a:rPr lang="en-GB" b="1" dirty="0"/>
              <a:t>Quality Assurance</a:t>
            </a:r>
          </a:p>
          <a:p>
            <a:pPr lvl="1" indent="-457200" algn="just">
              <a:lnSpc>
                <a:spcPct val="150000"/>
              </a:lnSpc>
            </a:pPr>
            <a:r>
              <a:rPr lang="en-GB" dirty="0"/>
              <a:t>It establishes the infrastructure that supports software engineering methods, rational project management, and quality control. </a:t>
            </a:r>
          </a:p>
          <a:p>
            <a:pPr lvl="1" indent="-457200" algn="just">
              <a:lnSpc>
                <a:spcPct val="150000"/>
              </a:lnSpc>
            </a:pPr>
            <a:r>
              <a:rPr lang="en-GB" dirty="0"/>
              <a:t>It consists of a set of auditing and reporting functions. </a:t>
            </a:r>
          </a:p>
          <a:p>
            <a:pPr lvl="1" indent="-457200" algn="just">
              <a:lnSpc>
                <a:spcPct val="150000"/>
              </a:lnSpc>
            </a:pPr>
            <a:r>
              <a:rPr lang="en-GB" dirty="0"/>
              <a:t>The goal of quality assurance is to provide management and technical staff with the data necessary to be informed about product quality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ABFDFE0-EDE1-4AFB-81EF-ED0906633F66}" type="datetime1">
              <a:rPr lang="en-US" smtClean="0"/>
              <a:t>10/10/2025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411FB67-E6C6-47E1-8EE7-FD4795ADCBF2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81779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1"/>
          <p:cNvSpPr>
            <a:spLocks noGrp="1" noChangeArrowheads="1"/>
          </p:cNvSpPr>
          <p:nvPr>
            <p:ph type="title"/>
          </p:nvPr>
        </p:nvSpPr>
        <p:spPr>
          <a:xfrm>
            <a:off x="35312" y="468630"/>
            <a:ext cx="9108688" cy="1131570"/>
          </a:xfrm>
        </p:spPr>
        <p:txBody>
          <a:bodyPr>
            <a:noAutofit/>
          </a:bodyPr>
          <a:lstStyle/>
          <a:p>
            <a:pPr>
              <a:tabLst>
                <a:tab pos="0" algn="l"/>
                <a:tab pos="342900" algn="l"/>
                <a:tab pos="685800" algn="l"/>
                <a:tab pos="1028700" algn="l"/>
                <a:tab pos="1371600" algn="l"/>
                <a:tab pos="1714500" algn="l"/>
                <a:tab pos="2057400" algn="l"/>
                <a:tab pos="2400300" algn="l"/>
                <a:tab pos="2743200" algn="l"/>
                <a:tab pos="3086100" algn="l"/>
                <a:tab pos="3429000" algn="l"/>
                <a:tab pos="3771900" algn="l"/>
                <a:tab pos="4114800" algn="l"/>
                <a:tab pos="4457700" algn="l"/>
                <a:tab pos="4800600" algn="l"/>
                <a:tab pos="5143500" algn="l"/>
                <a:tab pos="5486400" algn="l"/>
                <a:tab pos="5829300" algn="l"/>
                <a:tab pos="6172200" algn="l"/>
                <a:tab pos="6515100" algn="l"/>
                <a:tab pos="6858000" algn="l"/>
              </a:tabLst>
            </a:pPr>
            <a:r>
              <a:rPr lang="en-GB" dirty="0">
                <a:cs typeface="Arial" charset="0"/>
              </a:rPr>
              <a:t> Architecture Evaluation and Refinement</a:t>
            </a:r>
            <a:br>
              <a:rPr lang="en-GB" dirty="0">
                <a:cs typeface="Arial" charset="0"/>
              </a:rPr>
            </a:br>
            <a:r>
              <a:rPr lang="en-GB" dirty="0">
                <a:cs typeface="Arial" charset="0"/>
              </a:rPr>
              <a:t>Cost-Benefit Analysis</a:t>
            </a:r>
          </a:p>
        </p:txBody>
      </p:sp>
      <p:sp>
        <p:nvSpPr>
          <p:cNvPr id="71683" name="Rectangle 2"/>
          <p:cNvSpPr>
            <a:spLocks noGrp="1" noChangeArrowheads="1"/>
          </p:cNvSpPr>
          <p:nvPr>
            <p:ph idx="1"/>
          </p:nvPr>
        </p:nvSpPr>
        <p:spPr>
          <a:xfrm>
            <a:off x="457200" y="1981200"/>
            <a:ext cx="8229600" cy="4495800"/>
          </a:xfrm>
        </p:spPr>
        <p:txBody>
          <a:bodyPr>
            <a:normAutofit/>
          </a:bodyPr>
          <a:lstStyle/>
          <a:p>
            <a:r>
              <a:rPr lang="en-GB" dirty="0">
                <a:cs typeface="Arial" charset="0"/>
              </a:rPr>
              <a:t>Design is iterative:  we propose design decisions, assess, make adjustments, and propose more decisions</a:t>
            </a:r>
          </a:p>
          <a:p>
            <a:r>
              <a:rPr lang="en-GB" dirty="0">
                <a:cs typeface="Arial" charset="0"/>
              </a:rPr>
              <a:t>Many techniques to evaluate the design</a:t>
            </a:r>
            <a:endParaRPr lang="en-US" dirty="0">
              <a:cs typeface="Arial" charset="0"/>
            </a:endParaRPr>
          </a:p>
          <a:p>
            <a:pPr lvl="1"/>
            <a:r>
              <a:rPr lang="en-GB" dirty="0">
                <a:cs typeface="Arial" charset="0"/>
              </a:rPr>
              <a:t>Trade-off analysis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GB" dirty="0">
                <a:cs typeface="Arial" charset="0"/>
              </a:rPr>
              <a:t>Cost-benefit analysis</a:t>
            </a:r>
          </a:p>
          <a:p>
            <a:pPr lvl="1"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4813" algn="l"/>
                <a:tab pos="5942013" algn="l"/>
                <a:tab pos="6399213" algn="l"/>
                <a:tab pos="6856413" algn="l"/>
                <a:tab pos="7313613" algn="l"/>
                <a:tab pos="7770813" algn="l"/>
                <a:tab pos="8228013" algn="l"/>
                <a:tab pos="8685213" algn="l"/>
                <a:tab pos="9142413" algn="l"/>
              </a:tabLst>
            </a:pPr>
            <a:r>
              <a:rPr lang="en-GB" dirty="0">
                <a:cs typeface="Arial" charset="0"/>
              </a:rPr>
              <a:t>Prototyping</a:t>
            </a:r>
          </a:p>
          <a:p>
            <a:r>
              <a:rPr lang="en-US" dirty="0">
                <a:cs typeface="Arial" charset="0"/>
              </a:rPr>
              <a:t>A cost–benefit analysis is a widely used business tool for estimating and comparing the costs and benefits of a proposed change</a:t>
            </a:r>
          </a:p>
          <a:p>
            <a:pPr>
              <a:buFont typeface="Lucida Sans Unicode" pitchFamily="34" charset="0"/>
              <a:buNone/>
            </a:pPr>
            <a:endParaRPr lang="en-US" dirty="0">
              <a:cs typeface="Arial" charset="0"/>
            </a:endParaRP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2465B77B-8AB6-6C39-0AB9-0A015C811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20000" y="18288"/>
            <a:ext cx="1066800" cy="329184"/>
          </a:xfrm>
        </p:spPr>
        <p:txBody>
          <a:bodyPr/>
          <a:lstStyle/>
          <a:p>
            <a:pPr>
              <a:defRPr/>
            </a:pPr>
            <a:fld id="{3411FB67-E6C6-47E1-8EE7-FD4795ADCBF2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9025428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1"/>
          <p:cNvSpPr>
            <a:spLocks noGrp="1" noChangeArrowheads="1"/>
          </p:cNvSpPr>
          <p:nvPr>
            <p:ph type="title"/>
          </p:nvPr>
        </p:nvSpPr>
        <p:spPr>
          <a:xfrm>
            <a:off x="0" y="410737"/>
            <a:ext cx="9144000" cy="1131570"/>
          </a:xfrm>
        </p:spPr>
        <p:txBody>
          <a:bodyPr>
            <a:noAutofit/>
          </a:bodyPr>
          <a:lstStyle/>
          <a:p>
            <a:pPr>
              <a:tabLst>
                <a:tab pos="0" algn="l"/>
                <a:tab pos="342900" algn="l"/>
                <a:tab pos="685800" algn="l"/>
                <a:tab pos="1028700" algn="l"/>
                <a:tab pos="1371600" algn="l"/>
                <a:tab pos="1714500" algn="l"/>
                <a:tab pos="2057400" algn="l"/>
                <a:tab pos="2400300" algn="l"/>
                <a:tab pos="2743200" algn="l"/>
                <a:tab pos="3086100" algn="l"/>
                <a:tab pos="3429000" algn="l"/>
                <a:tab pos="3771900" algn="l"/>
                <a:tab pos="4114800" algn="l"/>
                <a:tab pos="4457700" algn="l"/>
                <a:tab pos="4800600" algn="l"/>
                <a:tab pos="5143500" algn="l"/>
                <a:tab pos="5486400" algn="l"/>
                <a:tab pos="5829300" algn="l"/>
                <a:tab pos="6172200" algn="l"/>
                <a:tab pos="6515100" algn="l"/>
                <a:tab pos="6858000" algn="l"/>
              </a:tabLst>
            </a:pPr>
            <a:r>
              <a:rPr lang="en-GB" dirty="0">
                <a:cs typeface="Arial" charset="0"/>
              </a:rPr>
              <a:t>Architecture Evaluation and Refinement</a:t>
            </a:r>
            <a:br>
              <a:rPr lang="en-GB" dirty="0">
                <a:cs typeface="Arial" charset="0"/>
              </a:rPr>
            </a:br>
            <a:r>
              <a:rPr lang="en-GB" dirty="0">
                <a:cs typeface="Arial" charset="0"/>
              </a:rPr>
              <a:t>Cost-Benefit Analysis</a:t>
            </a:r>
          </a:p>
        </p:txBody>
      </p:sp>
      <p:sp>
        <p:nvSpPr>
          <p:cNvPr id="72707" name="Rectangle 2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cs typeface="Arial" charset="0"/>
              </a:rPr>
              <a:t>A cost-benefit analysis contrasts financial benefits with financial costs, both in Dollars</a:t>
            </a:r>
          </a:p>
          <a:p>
            <a:pPr lvl="1"/>
            <a:r>
              <a:rPr lang="en-US" dirty="0">
                <a:cs typeface="Arial" charset="0"/>
              </a:rPr>
              <a:t>Costs</a:t>
            </a:r>
          </a:p>
          <a:p>
            <a:pPr lvl="2"/>
            <a:r>
              <a:rPr lang="en-US" dirty="0">
                <a:cs typeface="Arial" charset="0"/>
              </a:rPr>
              <a:t>Development</a:t>
            </a:r>
          </a:p>
          <a:p>
            <a:pPr lvl="2"/>
            <a:r>
              <a:rPr lang="en-US" dirty="0">
                <a:cs typeface="Arial" charset="0"/>
              </a:rPr>
              <a:t>Operational</a:t>
            </a:r>
          </a:p>
          <a:p>
            <a:pPr lvl="1"/>
            <a:r>
              <a:rPr lang="en-US" dirty="0">
                <a:cs typeface="Arial" charset="0"/>
              </a:rPr>
              <a:t>Benefits</a:t>
            </a:r>
          </a:p>
          <a:p>
            <a:pPr lvl="2"/>
            <a:r>
              <a:rPr lang="en-US" dirty="0">
                <a:cs typeface="Arial" charset="0"/>
              </a:rPr>
              <a:t>Reduced Operational Costs</a:t>
            </a:r>
          </a:p>
          <a:p>
            <a:pPr lvl="2"/>
            <a:r>
              <a:rPr lang="en-US" dirty="0">
                <a:cs typeface="Arial" charset="0"/>
              </a:rPr>
              <a:t>Increased Earnings</a:t>
            </a:r>
          </a:p>
          <a:p>
            <a:r>
              <a:rPr lang="en-US" dirty="0">
                <a:cs typeface="Arial" charset="0"/>
              </a:rPr>
              <a:t>Payback period</a:t>
            </a:r>
          </a:p>
          <a:p>
            <a:pPr lvl="1"/>
            <a:r>
              <a:rPr lang="en-US" dirty="0">
                <a:cs typeface="Arial" charset="0"/>
              </a:rPr>
              <a:t>the length of time before accumulative benefits recover the costs of implementation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CD88212-2144-BDCB-CC4B-7E8C66E94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20000" y="0"/>
            <a:ext cx="1066800" cy="329184"/>
          </a:xfrm>
        </p:spPr>
        <p:txBody>
          <a:bodyPr/>
          <a:lstStyle/>
          <a:p>
            <a:pPr>
              <a:defRPr/>
            </a:pPr>
            <a:fld id="{3411FB67-E6C6-47E1-8EE7-FD4795ADCBF2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2486610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77AEE-9442-430D-8BCF-E5752E8CE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95147" y="304800"/>
            <a:ext cx="9534293" cy="1131570"/>
          </a:xfrm>
        </p:spPr>
        <p:txBody>
          <a:bodyPr/>
          <a:lstStyle/>
          <a:p>
            <a:pPr algn="ctr"/>
            <a:r>
              <a:rPr lang="en-US" dirty="0"/>
              <a:t>Cost Benefit Analysis of Design Protocols</a:t>
            </a:r>
            <a:endParaRPr lang="en-PK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60B68F8-193F-4F20-A212-6047BE005A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2396" t="16395" r="6697" b="15666"/>
          <a:stretch/>
        </p:blipFill>
        <p:spPr>
          <a:xfrm>
            <a:off x="457200" y="1517067"/>
            <a:ext cx="8095569" cy="3823865"/>
          </a:xfr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0E627A6-6C1F-EB5B-2392-D3EFD6A92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20000" y="18288"/>
            <a:ext cx="1066800" cy="329184"/>
          </a:xfrm>
        </p:spPr>
        <p:txBody>
          <a:bodyPr/>
          <a:lstStyle/>
          <a:p>
            <a:pPr>
              <a:defRPr/>
            </a:pPr>
            <a:fld id="{3411FB67-E6C6-47E1-8EE7-FD4795ADCBF2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25828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77AEE-9442-430D-8BCF-E5752E8CE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379067"/>
            <a:ext cx="9067800" cy="990600"/>
          </a:xfrm>
        </p:spPr>
        <p:txBody>
          <a:bodyPr>
            <a:noAutofit/>
          </a:bodyPr>
          <a:lstStyle/>
          <a:p>
            <a:pPr algn="ctr"/>
            <a:r>
              <a:rPr lang="en-US" dirty="0"/>
              <a:t>Cost Benefit Analysis of Design Protocols</a:t>
            </a:r>
            <a:endParaRPr lang="en-PK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26ABC54-AB58-466A-9912-48B5FE3354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7216" t="15578" r="21960" b="17299"/>
          <a:stretch/>
        </p:blipFill>
        <p:spPr>
          <a:xfrm>
            <a:off x="228600" y="1708872"/>
            <a:ext cx="8915400" cy="4992944"/>
          </a:xfr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D2021DA-77DD-F09A-49FF-D5AB74291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20000" y="18288"/>
            <a:ext cx="1066800" cy="329184"/>
          </a:xfrm>
        </p:spPr>
        <p:txBody>
          <a:bodyPr/>
          <a:lstStyle/>
          <a:p>
            <a:pPr>
              <a:defRPr/>
            </a:pPr>
            <a:fld id="{3411FB67-E6C6-47E1-8EE7-FD4795ADCBF2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8221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1"/>
          <p:cNvSpPr>
            <a:spLocks noGrp="1" noChangeArrowheads="1"/>
          </p:cNvSpPr>
          <p:nvPr>
            <p:ph type="title"/>
          </p:nvPr>
        </p:nvSpPr>
        <p:spPr>
          <a:xfrm>
            <a:off x="152400" y="453762"/>
            <a:ext cx="8915400" cy="1131570"/>
          </a:xfrm>
        </p:spPr>
        <p:txBody>
          <a:bodyPr>
            <a:noAutofit/>
          </a:bodyPr>
          <a:lstStyle/>
          <a:p>
            <a:pPr>
              <a:tabLst>
                <a:tab pos="0" algn="l"/>
                <a:tab pos="342900" algn="l"/>
                <a:tab pos="685800" algn="l"/>
                <a:tab pos="1028700" algn="l"/>
                <a:tab pos="1371600" algn="l"/>
                <a:tab pos="1714500" algn="l"/>
                <a:tab pos="2057400" algn="l"/>
                <a:tab pos="2400300" algn="l"/>
                <a:tab pos="2743200" algn="l"/>
                <a:tab pos="3086100" algn="l"/>
                <a:tab pos="3429000" algn="l"/>
                <a:tab pos="3771900" algn="l"/>
                <a:tab pos="4114800" algn="l"/>
                <a:tab pos="4457700" algn="l"/>
                <a:tab pos="4800600" algn="l"/>
                <a:tab pos="5143500" algn="l"/>
                <a:tab pos="5486400" algn="l"/>
                <a:tab pos="5829300" algn="l"/>
                <a:tab pos="6172200" algn="l"/>
                <a:tab pos="6515100" algn="l"/>
                <a:tab pos="6858000" algn="l"/>
              </a:tabLst>
            </a:pPr>
            <a:r>
              <a:rPr lang="en-GB" dirty="0">
                <a:cs typeface="Arial" charset="0"/>
              </a:rPr>
              <a:t>Architecture Evaluation and Refinement</a:t>
            </a:r>
            <a:br>
              <a:rPr lang="en-GB" dirty="0">
                <a:cs typeface="Arial" charset="0"/>
              </a:rPr>
            </a:br>
            <a:r>
              <a:rPr lang="en-GB" dirty="0">
                <a:cs typeface="Arial" charset="0"/>
              </a:rPr>
              <a:t>Cost-Benefit Analysis</a:t>
            </a:r>
          </a:p>
        </p:txBody>
      </p:sp>
      <p:sp>
        <p:nvSpPr>
          <p:cNvPr id="73731" name="Rectangle 2"/>
          <p:cNvSpPr>
            <a:spLocks noGrp="1" noChangeArrowheads="1"/>
          </p:cNvSpPr>
          <p:nvPr>
            <p:ph idx="1"/>
          </p:nvPr>
        </p:nvSpPr>
        <p:spPr>
          <a:xfrm>
            <a:off x="304800" y="1984638"/>
            <a:ext cx="7848600" cy="4419600"/>
          </a:xfrm>
        </p:spPr>
        <p:txBody>
          <a:bodyPr>
            <a:normAutofit/>
          </a:bodyPr>
          <a:lstStyle/>
          <a:p>
            <a:r>
              <a:rPr lang="en-US" dirty="0">
                <a:cs typeface="Arial" charset="0"/>
              </a:rPr>
              <a:t>Return on Investment (ROI)</a:t>
            </a:r>
          </a:p>
          <a:p>
            <a:pPr lvl="1"/>
            <a:r>
              <a:rPr lang="en-US" dirty="0">
                <a:cs typeface="Arial" charset="0"/>
              </a:rPr>
              <a:t>ROI = Benefits/Cost, ROI &gt; 1 is desired</a:t>
            </a:r>
          </a:p>
          <a:p>
            <a:pPr lvl="1"/>
            <a:r>
              <a:rPr lang="en-US" dirty="0">
                <a:cs typeface="Arial" charset="0"/>
              </a:rPr>
              <a:t>%age gain ROI = (Benefits – Cost) / Cost x 100</a:t>
            </a:r>
          </a:p>
          <a:p>
            <a:pPr lvl="1"/>
            <a:r>
              <a:rPr lang="en-US" dirty="0">
                <a:cs typeface="Arial" charset="0"/>
              </a:rPr>
              <a:t>Example</a:t>
            </a:r>
          </a:p>
          <a:p>
            <a:pPr lvl="2"/>
            <a:r>
              <a:rPr lang="en-US" dirty="0">
                <a:cs typeface="Arial" charset="0"/>
              </a:rPr>
              <a:t>After five years</a:t>
            </a:r>
          </a:p>
          <a:p>
            <a:pPr lvl="3"/>
            <a:r>
              <a:rPr lang="en-US" dirty="0">
                <a:cs typeface="Arial" charset="0"/>
              </a:rPr>
              <a:t>Cost = $ 2249559</a:t>
            </a:r>
          </a:p>
          <a:p>
            <a:pPr lvl="3"/>
            <a:r>
              <a:rPr lang="en-US" dirty="0">
                <a:cs typeface="Arial" charset="0"/>
              </a:rPr>
              <a:t>Benefits = $ 6122893</a:t>
            </a:r>
          </a:p>
          <a:p>
            <a:pPr lvl="3"/>
            <a:r>
              <a:rPr lang="en-US" dirty="0">
                <a:cs typeface="Arial" charset="0"/>
              </a:rPr>
              <a:t>ROI =  2.72 i.e.  Total benefits are approx. 3 times the total costs</a:t>
            </a:r>
          </a:p>
          <a:p>
            <a:pPr lvl="3"/>
            <a:r>
              <a:rPr lang="en-US" dirty="0">
                <a:cs typeface="Arial" charset="0"/>
              </a:rPr>
              <a:t>%age gain ROI  = 172.19 % i.e. Your earnings are 172.19 % of the total costs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2E0B132-BB13-D291-2BFE-0F6BEC635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20000" y="18288"/>
            <a:ext cx="1066800" cy="329184"/>
          </a:xfrm>
        </p:spPr>
        <p:txBody>
          <a:bodyPr/>
          <a:lstStyle/>
          <a:p>
            <a:pPr>
              <a:defRPr/>
            </a:pPr>
            <a:fld id="{3411FB67-E6C6-47E1-8EE7-FD4795ADCBF2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1026595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1"/>
          <p:cNvSpPr>
            <a:spLocks noGrp="1" noChangeArrowheads="1"/>
          </p:cNvSpPr>
          <p:nvPr>
            <p:ph type="title"/>
          </p:nvPr>
        </p:nvSpPr>
        <p:spPr>
          <a:xfrm>
            <a:off x="168372" y="399585"/>
            <a:ext cx="8975628" cy="1131570"/>
          </a:xfrm>
        </p:spPr>
        <p:txBody>
          <a:bodyPr>
            <a:noAutofit/>
          </a:bodyPr>
          <a:lstStyle/>
          <a:p>
            <a:pPr>
              <a:tabLst>
                <a:tab pos="0" algn="l"/>
                <a:tab pos="342900" algn="l"/>
                <a:tab pos="685800" algn="l"/>
                <a:tab pos="1028700" algn="l"/>
                <a:tab pos="1371600" algn="l"/>
                <a:tab pos="1714500" algn="l"/>
                <a:tab pos="2057400" algn="l"/>
                <a:tab pos="2400300" algn="l"/>
                <a:tab pos="2743200" algn="l"/>
                <a:tab pos="3086100" algn="l"/>
                <a:tab pos="3429000" algn="l"/>
                <a:tab pos="3771900" algn="l"/>
                <a:tab pos="4114800" algn="l"/>
                <a:tab pos="4457700" algn="l"/>
                <a:tab pos="4800600" algn="l"/>
                <a:tab pos="5143500" algn="l"/>
                <a:tab pos="5486400" algn="l"/>
                <a:tab pos="5829300" algn="l"/>
                <a:tab pos="6172200" algn="l"/>
                <a:tab pos="6515100" algn="l"/>
                <a:tab pos="6858000" algn="l"/>
              </a:tabLst>
            </a:pPr>
            <a:r>
              <a:rPr lang="en-GB" dirty="0">
                <a:cs typeface="Arial" charset="0"/>
              </a:rPr>
              <a:t> Architecture Evaluation and Refinement</a:t>
            </a:r>
            <a:br>
              <a:rPr lang="en-GB" dirty="0">
                <a:cs typeface="Arial" charset="0"/>
              </a:rPr>
            </a:br>
            <a:r>
              <a:rPr lang="en-GB" dirty="0">
                <a:cs typeface="Arial" charset="0"/>
              </a:rPr>
              <a:t>Cost-Benefit Analysis</a:t>
            </a:r>
          </a:p>
        </p:txBody>
      </p:sp>
      <p:sp>
        <p:nvSpPr>
          <p:cNvPr id="73731" name="Rectangle 2"/>
          <p:cNvSpPr>
            <a:spLocks noGrp="1" noChangeArrowheads="1"/>
          </p:cNvSpPr>
          <p:nvPr>
            <p:ph idx="1"/>
          </p:nvPr>
        </p:nvSpPr>
        <p:spPr>
          <a:xfrm>
            <a:off x="381000" y="1752600"/>
            <a:ext cx="8229600" cy="4876800"/>
          </a:xfrm>
        </p:spPr>
        <p:txBody>
          <a:bodyPr>
            <a:normAutofit/>
          </a:bodyPr>
          <a:lstStyle/>
          <a:p>
            <a:r>
              <a:rPr lang="en-US" dirty="0">
                <a:cs typeface="Arial" charset="0"/>
              </a:rPr>
              <a:t>Return on Investment (ROI) Table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7332241E-93E6-4234-9476-E30379D127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8758407"/>
              </p:ext>
            </p:extLst>
          </p:nvPr>
        </p:nvGraphicFramePr>
        <p:xfrm>
          <a:off x="609600" y="2667000"/>
          <a:ext cx="7467599" cy="289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210">
                  <a:extLst>
                    <a:ext uri="{9D8B030D-6E8A-4147-A177-3AD203B41FA5}">
                      <a16:colId xmlns:a16="http://schemas.microsoft.com/office/drawing/2014/main" val="2643502079"/>
                    </a:ext>
                  </a:extLst>
                </a:gridCol>
                <a:gridCol w="1995589">
                  <a:extLst>
                    <a:ext uri="{9D8B030D-6E8A-4147-A177-3AD203B41FA5}">
                      <a16:colId xmlns:a16="http://schemas.microsoft.com/office/drawing/2014/main" val="3167440638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264877916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342440181"/>
                    </a:ext>
                  </a:extLst>
                </a:gridCol>
              </a:tblGrid>
              <a:tr h="339042">
                <a:tc>
                  <a:txBody>
                    <a:bodyPr/>
                    <a:lstStyle/>
                    <a:p>
                      <a:pPr algn="ctr"/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 year</a:t>
                      </a:r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 year</a:t>
                      </a:r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 year</a:t>
                      </a:r>
                      <a:endParaRPr lang="en-PK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182202446"/>
                  </a:ext>
                </a:extLst>
              </a:tr>
              <a:tr h="110875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Eliminate Noise Words</a:t>
                      </a:r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24000/78000 = 0.3076</a:t>
                      </a:r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(24000*5)/{50000+(28000*5)} = 0.6316</a:t>
                      </a:r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(24000*10)/{50000+(28000*10)} = 0.7273</a:t>
                      </a:r>
                      <a:endParaRPr lang="en-PK" sz="1400"/>
                    </a:p>
                    <a:p>
                      <a:pPr algn="ctr"/>
                      <a:endParaRPr lang="en-PK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974325725"/>
                  </a:ext>
                </a:extLst>
              </a:tr>
              <a:tr h="85218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Store Indices in Bins</a:t>
                      </a:r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280000/300000 = 0.93</a:t>
                      </a:r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(280000*5)/ 300000 = 4.667</a:t>
                      </a:r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(280000*10)/ 300000 = 9.33</a:t>
                      </a:r>
                      <a:endParaRPr lang="en-PK" sz="1400"/>
                    </a:p>
                    <a:p>
                      <a:pPr algn="ctr"/>
                      <a:endParaRPr lang="en-PK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522541993"/>
                  </a:ext>
                </a:extLst>
              </a:tr>
              <a:tr h="59561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Add Second Server</a:t>
                      </a:r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110000/205000 = 0.53</a:t>
                      </a:r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(110000*5)/ 205000 = 2.683</a:t>
                      </a:r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(110000*10)/ 205000 = 5.366</a:t>
                      </a:r>
                      <a:endParaRPr lang="en-PK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138020723"/>
                  </a:ext>
                </a:extLst>
              </a:tr>
            </a:tbl>
          </a:graphicData>
        </a:graphic>
      </p:graphicFrame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E6778215-4DF2-5AFC-DD67-0B4CFCD24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20000" y="18288"/>
            <a:ext cx="1066800" cy="329184"/>
          </a:xfrm>
        </p:spPr>
        <p:txBody>
          <a:bodyPr/>
          <a:lstStyle/>
          <a:p>
            <a:pPr>
              <a:defRPr/>
            </a:pPr>
            <a:fld id="{3411FB67-E6C6-47E1-8EE7-FD4795ADCBF2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5031670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1"/>
          <p:cNvSpPr>
            <a:spLocks noGrp="1" noChangeArrowheads="1"/>
          </p:cNvSpPr>
          <p:nvPr>
            <p:ph type="title"/>
          </p:nvPr>
        </p:nvSpPr>
        <p:spPr>
          <a:xfrm>
            <a:off x="76374" y="476064"/>
            <a:ext cx="8839026" cy="1200336"/>
          </a:xfrm>
        </p:spPr>
        <p:txBody>
          <a:bodyPr>
            <a:noAutofit/>
          </a:bodyPr>
          <a:lstStyle/>
          <a:p>
            <a:pPr>
              <a:tabLst>
                <a:tab pos="0" algn="l"/>
                <a:tab pos="342900" algn="l"/>
                <a:tab pos="685800" algn="l"/>
                <a:tab pos="1028700" algn="l"/>
                <a:tab pos="1371600" algn="l"/>
                <a:tab pos="1714500" algn="l"/>
                <a:tab pos="2057400" algn="l"/>
                <a:tab pos="2400300" algn="l"/>
                <a:tab pos="2743200" algn="l"/>
                <a:tab pos="3086100" algn="l"/>
                <a:tab pos="3429000" algn="l"/>
                <a:tab pos="3771900" algn="l"/>
                <a:tab pos="4114800" algn="l"/>
                <a:tab pos="4457700" algn="l"/>
                <a:tab pos="4800600" algn="l"/>
                <a:tab pos="5143500" algn="l"/>
                <a:tab pos="5486400" algn="l"/>
                <a:tab pos="5829300" algn="l"/>
                <a:tab pos="6172200" algn="l"/>
                <a:tab pos="6515100" algn="l"/>
                <a:tab pos="6858000" algn="l"/>
              </a:tabLst>
            </a:pPr>
            <a:r>
              <a:rPr lang="en-GB" dirty="0">
                <a:cs typeface="Arial" charset="0"/>
              </a:rPr>
              <a:t> Architecture Evaluation and Refinement</a:t>
            </a:r>
            <a:br>
              <a:rPr lang="en-GB" dirty="0">
                <a:cs typeface="Arial" charset="0"/>
              </a:rPr>
            </a:br>
            <a:r>
              <a:rPr lang="en-GB" dirty="0">
                <a:cs typeface="Arial" charset="0"/>
              </a:rPr>
              <a:t>Cost-Benefit Analysis</a:t>
            </a:r>
          </a:p>
        </p:txBody>
      </p:sp>
      <p:sp>
        <p:nvSpPr>
          <p:cNvPr id="73731" name="Rectangle 2"/>
          <p:cNvSpPr>
            <a:spLocks noGrp="1" noChangeArrowheads="1"/>
          </p:cNvSpPr>
          <p:nvPr>
            <p:ph idx="1"/>
          </p:nvPr>
        </p:nvSpPr>
        <p:spPr>
          <a:xfrm>
            <a:off x="457200" y="1981200"/>
            <a:ext cx="8229600" cy="4495800"/>
          </a:xfrm>
        </p:spPr>
        <p:txBody>
          <a:bodyPr>
            <a:normAutofit/>
          </a:bodyPr>
          <a:lstStyle/>
          <a:p>
            <a:r>
              <a:rPr lang="en-US" dirty="0">
                <a:cs typeface="Arial" charset="0"/>
              </a:rPr>
              <a:t>% gain on ROI Table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7332241E-93E6-4234-9476-E30379D127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846345"/>
              </p:ext>
            </p:extLst>
          </p:nvPr>
        </p:nvGraphicFramePr>
        <p:xfrm>
          <a:off x="609600" y="2872740"/>
          <a:ext cx="7848600" cy="32232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2598">
                  <a:extLst>
                    <a:ext uri="{9D8B030D-6E8A-4147-A177-3AD203B41FA5}">
                      <a16:colId xmlns:a16="http://schemas.microsoft.com/office/drawing/2014/main" val="2643502079"/>
                    </a:ext>
                  </a:extLst>
                </a:gridCol>
                <a:gridCol w="2400299">
                  <a:extLst>
                    <a:ext uri="{9D8B030D-6E8A-4147-A177-3AD203B41FA5}">
                      <a16:colId xmlns:a16="http://schemas.microsoft.com/office/drawing/2014/main" val="3167440638"/>
                    </a:ext>
                  </a:extLst>
                </a:gridCol>
                <a:gridCol w="1753553">
                  <a:extLst>
                    <a:ext uri="{9D8B030D-6E8A-4147-A177-3AD203B41FA5}">
                      <a16:colId xmlns:a16="http://schemas.microsoft.com/office/drawing/2014/main" val="2264877916"/>
                    </a:ext>
                  </a:extLst>
                </a:gridCol>
                <a:gridCol w="1962150">
                  <a:extLst>
                    <a:ext uri="{9D8B030D-6E8A-4147-A177-3AD203B41FA5}">
                      <a16:colId xmlns:a16="http://schemas.microsoft.com/office/drawing/2014/main" val="2342440181"/>
                    </a:ext>
                  </a:extLst>
                </a:gridCol>
              </a:tblGrid>
              <a:tr h="346688">
                <a:tc>
                  <a:txBody>
                    <a:bodyPr/>
                    <a:lstStyle/>
                    <a:p>
                      <a:pPr algn="ctr"/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 year</a:t>
                      </a:r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 year</a:t>
                      </a:r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 year</a:t>
                      </a:r>
                      <a:endParaRPr lang="en-PK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182202446"/>
                  </a:ext>
                </a:extLst>
              </a:tr>
              <a:tr h="87140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Eliminate Noise Words</a:t>
                      </a:r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{(24000-78000) /78000}*100 =</a:t>
                      </a:r>
                    </a:p>
                    <a:p>
                      <a:pPr algn="ctr"/>
                      <a:r>
                        <a:rPr lang="en-US" sz="1400" dirty="0"/>
                        <a:t>-69.23</a:t>
                      </a:r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PK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974325725"/>
                  </a:ext>
                </a:extLst>
              </a:tr>
              <a:tr h="113376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Store Indices in Bins</a:t>
                      </a:r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{(280000-300000)/300000} * 100 </a:t>
                      </a:r>
                    </a:p>
                    <a:p>
                      <a:pPr algn="ctr"/>
                      <a:r>
                        <a:rPr lang="en-US" sz="1400" dirty="0"/>
                        <a:t>= -6.667</a:t>
                      </a:r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PK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522541993"/>
                  </a:ext>
                </a:extLst>
              </a:tr>
              <a:tr h="87140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Add Second Server</a:t>
                      </a:r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{(110000-205000) /205000}*100 = </a:t>
                      </a:r>
                    </a:p>
                    <a:p>
                      <a:pPr algn="ctr"/>
                      <a:r>
                        <a:rPr lang="en-US" sz="1400" dirty="0"/>
                        <a:t>-46.34</a:t>
                      </a:r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PK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138020723"/>
                  </a:ext>
                </a:extLst>
              </a:tr>
            </a:tbl>
          </a:graphicData>
        </a:graphic>
      </p:graphicFrame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9AB1757-6CE5-9785-9679-435024631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20000" y="18288"/>
            <a:ext cx="1066800" cy="329184"/>
          </a:xfrm>
        </p:spPr>
        <p:txBody>
          <a:bodyPr/>
          <a:lstStyle/>
          <a:p>
            <a:pPr>
              <a:defRPr/>
            </a:pPr>
            <a:fld id="{3411FB67-E6C6-47E1-8EE7-FD4795ADCBF2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1575885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1"/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1371600"/>
          </a:xfrm>
        </p:spPr>
        <p:txBody>
          <a:bodyPr>
            <a:noAutofit/>
          </a:bodyPr>
          <a:lstStyle/>
          <a:p>
            <a:pPr>
              <a:tabLst>
                <a:tab pos="0" algn="l"/>
                <a:tab pos="342900" algn="l"/>
                <a:tab pos="685800" algn="l"/>
                <a:tab pos="1028700" algn="l"/>
                <a:tab pos="1371600" algn="l"/>
                <a:tab pos="1714500" algn="l"/>
                <a:tab pos="2057400" algn="l"/>
                <a:tab pos="2400300" algn="l"/>
                <a:tab pos="2743200" algn="l"/>
                <a:tab pos="3086100" algn="l"/>
                <a:tab pos="3429000" algn="l"/>
                <a:tab pos="3771900" algn="l"/>
                <a:tab pos="4114800" algn="l"/>
                <a:tab pos="4457700" algn="l"/>
                <a:tab pos="4800600" algn="l"/>
                <a:tab pos="5143500" algn="l"/>
                <a:tab pos="5486400" algn="l"/>
                <a:tab pos="5829300" algn="l"/>
                <a:tab pos="6172200" algn="l"/>
                <a:tab pos="6515100" algn="l"/>
                <a:tab pos="6858000" algn="l"/>
              </a:tabLst>
            </a:pPr>
            <a:r>
              <a:rPr lang="en-GB" dirty="0">
                <a:cs typeface="Arial" charset="0"/>
              </a:rPr>
              <a:t> Architecture Evaluation and Refinement</a:t>
            </a:r>
            <a:br>
              <a:rPr lang="en-GB" dirty="0">
                <a:cs typeface="Arial" charset="0"/>
              </a:rPr>
            </a:br>
            <a:r>
              <a:rPr lang="en-GB" dirty="0">
                <a:cs typeface="Arial" charset="0"/>
              </a:rPr>
              <a:t>Cost-Benefit Analysis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FD05672D-AF4F-4F78-AE7A-B2C72D0F38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22151" t="22107" r="18517" b="57694"/>
          <a:stretch/>
        </p:blipFill>
        <p:spPr>
          <a:xfrm>
            <a:off x="156204" y="1785602"/>
            <a:ext cx="8355469" cy="1599987"/>
          </a:xfr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531A6FDA-3979-5BA2-C7F1-8F0DE0A7BE6C}"/>
              </a:ext>
            </a:extLst>
          </p:cNvPr>
          <p:cNvSpPr txBox="1">
            <a:spLocks noChangeArrowheads="1"/>
          </p:cNvSpPr>
          <p:nvPr/>
        </p:nvSpPr>
        <p:spPr>
          <a:xfrm>
            <a:off x="533400" y="3429000"/>
            <a:ext cx="7832301" cy="3404746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Font typeface="Wingdings" pitchFamily="2" charset="2"/>
              <a:buChar char="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14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0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86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972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846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71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29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06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50" dirty="0">
                <a:cs typeface="Arial" charset="0"/>
              </a:rPr>
              <a:t>Payback Period Table</a:t>
            </a:r>
          </a:p>
        </p:txBody>
      </p:sp>
      <p:graphicFrame>
        <p:nvGraphicFramePr>
          <p:cNvPr id="5" name="Table 2">
            <a:extLst>
              <a:ext uri="{FF2B5EF4-FFF2-40B4-BE49-F238E27FC236}">
                <a16:creationId xmlns:a16="http://schemas.microsoft.com/office/drawing/2014/main" id="{D3EF3A07-B908-808F-FEB8-22C0983113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1075903"/>
              </p:ext>
            </p:extLst>
          </p:nvPr>
        </p:nvGraphicFramePr>
        <p:xfrm>
          <a:off x="642149" y="4061971"/>
          <a:ext cx="7383578" cy="21388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2528">
                  <a:extLst>
                    <a:ext uri="{9D8B030D-6E8A-4147-A177-3AD203B41FA5}">
                      <a16:colId xmlns:a16="http://schemas.microsoft.com/office/drawing/2014/main" val="2643502079"/>
                    </a:ext>
                  </a:extLst>
                </a:gridCol>
                <a:gridCol w="2080664">
                  <a:extLst>
                    <a:ext uri="{9D8B030D-6E8A-4147-A177-3AD203B41FA5}">
                      <a16:colId xmlns:a16="http://schemas.microsoft.com/office/drawing/2014/main" val="3167440638"/>
                    </a:ext>
                  </a:extLst>
                </a:gridCol>
                <a:gridCol w="3100386">
                  <a:extLst>
                    <a:ext uri="{9D8B030D-6E8A-4147-A177-3AD203B41FA5}">
                      <a16:colId xmlns:a16="http://schemas.microsoft.com/office/drawing/2014/main" val="2264877916"/>
                    </a:ext>
                  </a:extLst>
                </a:gridCol>
              </a:tblGrid>
              <a:tr h="387920">
                <a:tc>
                  <a:txBody>
                    <a:bodyPr/>
                    <a:lstStyle/>
                    <a:p>
                      <a:pPr algn="ctr"/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Years</a:t>
                      </a:r>
                      <a:endParaRPr lang="en-PK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182202446"/>
                  </a:ext>
                </a:extLst>
              </a:tr>
              <a:tr h="68148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Eliminate Noise Words</a:t>
                      </a:r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78000/24000 = </a:t>
                      </a:r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3.25 {it is wrong because 28000 is also added annually}</a:t>
                      </a:r>
                      <a:endParaRPr lang="en-PK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974325725"/>
                  </a:ext>
                </a:extLst>
              </a:tr>
              <a:tr h="38792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Store Indices in Bins</a:t>
                      </a:r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300000/280000 =</a:t>
                      </a:r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1.07</a:t>
                      </a:r>
                      <a:endParaRPr lang="en-PK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522541993"/>
                  </a:ext>
                </a:extLst>
              </a:tr>
              <a:tr h="68148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Add Second Server</a:t>
                      </a:r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205000/110000 = 0.53</a:t>
                      </a:r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1.864</a:t>
                      </a:r>
                      <a:endParaRPr lang="en-PK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138020723"/>
                  </a:ext>
                </a:extLst>
              </a:tr>
            </a:tbl>
          </a:graphicData>
        </a:graphic>
      </p:graphicFrame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754F75C-B46C-194B-7FED-D32649E99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20000" y="18288"/>
            <a:ext cx="1066800" cy="329184"/>
          </a:xfrm>
        </p:spPr>
        <p:txBody>
          <a:bodyPr/>
          <a:lstStyle/>
          <a:p>
            <a:pPr>
              <a:defRPr/>
            </a:pPr>
            <a:fld id="{3411FB67-E6C6-47E1-8EE7-FD4795ADCBF2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4202092"/>
      </p:ext>
    </p:extLst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Essential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8230</TotalTime>
  <Words>1230</Words>
  <Application>Microsoft Office PowerPoint</Application>
  <PresentationFormat>On-screen Show (4:3)</PresentationFormat>
  <Paragraphs>198</Paragraphs>
  <Slides>22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Lucida Sans Unicode</vt:lpstr>
      <vt:lpstr>Tahoma</vt:lpstr>
      <vt:lpstr>Times New Roman</vt:lpstr>
      <vt:lpstr>Clarity</vt:lpstr>
      <vt:lpstr>PowerPoint Presentation</vt:lpstr>
      <vt:lpstr>Software Quality</vt:lpstr>
      <vt:lpstr>Software Quality Dilemma</vt:lpstr>
      <vt:lpstr>Software Quality Dilemma</vt:lpstr>
      <vt:lpstr>Software Quality Dilemma</vt:lpstr>
      <vt:lpstr>Software Quality Dilemma</vt:lpstr>
      <vt:lpstr>Relative Cost of Correcting Errors and Defects</vt:lpstr>
      <vt:lpstr>Software Quality Dilemma</vt:lpstr>
      <vt:lpstr>Software Quality Dilemma</vt:lpstr>
      <vt:lpstr>Software Quality Dilemma</vt:lpstr>
      <vt:lpstr>Achieving Software Quality</vt:lpstr>
      <vt:lpstr>Achieving Software Quality</vt:lpstr>
      <vt:lpstr>Achieving Software Quality</vt:lpstr>
      <vt:lpstr>Achieving Software Quality</vt:lpstr>
      <vt:lpstr> Architecture Evaluation and Refinement Cost-Benefit Analysis</vt:lpstr>
      <vt:lpstr>Architecture Evaluation and Refinement Cost-Benefit Analysis</vt:lpstr>
      <vt:lpstr>Cost Benefit Analysis of Design Protocols</vt:lpstr>
      <vt:lpstr>Cost Benefit Analysis of Design Protocols</vt:lpstr>
      <vt:lpstr>Architecture Evaluation and Refinement Cost-Benefit Analysis</vt:lpstr>
      <vt:lpstr> Architecture Evaluation and Refinement Cost-Benefit Analysis</vt:lpstr>
      <vt:lpstr> Architecture Evaluation and Refinement Cost-Benefit Analysis</vt:lpstr>
      <vt:lpstr> Architecture Evaluation and Refinement Cost-Benefit Analysis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huma</dc:creator>
  <cp:lastModifiedBy>Junaid .</cp:lastModifiedBy>
  <cp:revision>786</cp:revision>
  <cp:lastPrinted>2018-12-12T11:05:35Z</cp:lastPrinted>
  <dcterms:created xsi:type="dcterms:W3CDTF">1601-01-01T00:00:00Z</dcterms:created>
  <dcterms:modified xsi:type="dcterms:W3CDTF">2025-10-10T05:15:29Z</dcterms:modified>
</cp:coreProperties>
</file>