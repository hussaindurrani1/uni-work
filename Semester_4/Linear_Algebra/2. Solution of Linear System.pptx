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36" r:id="rId2"/>
    <p:sldId id="258" r:id="rId3"/>
    <p:sldId id="638" r:id="rId4"/>
    <p:sldId id="639" r:id="rId5"/>
    <p:sldId id="646" r:id="rId6"/>
    <p:sldId id="645" r:id="rId7"/>
    <p:sldId id="653" r:id="rId8"/>
    <p:sldId id="640" r:id="rId9"/>
    <p:sldId id="284" r:id="rId10"/>
    <p:sldId id="637" r:id="rId11"/>
    <p:sldId id="641" r:id="rId12"/>
    <p:sldId id="277" r:id="rId13"/>
    <p:sldId id="644" r:id="rId14"/>
    <p:sldId id="642" r:id="rId15"/>
    <p:sldId id="643" r:id="rId16"/>
    <p:sldId id="647" r:id="rId17"/>
    <p:sldId id="648" r:id="rId18"/>
    <p:sldId id="649" r:id="rId19"/>
    <p:sldId id="650" r:id="rId20"/>
    <p:sldId id="654" r:id="rId21"/>
    <p:sldId id="651" r:id="rId22"/>
    <p:sldId id="652" r:id="rId23"/>
    <p:sldId id="655" r:id="rId24"/>
    <p:sldId id="656" r:id="rId25"/>
    <p:sldId id="63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3AA8D-B63D-178A-B4D5-4BF7CDA3D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0BCE04-E214-5915-7AAB-A4A62471C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1E888-0D7C-64B0-1D51-277C6371D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C642E-9950-EE7B-A3A6-664652A48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F438A-D115-6A9C-4C7A-F42FF124A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572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858C1-A12A-DE9C-19A6-7D5A38521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28209-F6DE-046B-DB11-125486B3C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24765-0A5B-2B73-1D51-2E3330F51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088DA-AE2F-C750-2E45-6C77FD66E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C2CF6-E962-662D-F3A8-59594ADCB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521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7350C-4A8F-F82B-1E15-35E290B15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6651A-4A28-2028-CBCD-7BA5B05AC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4BA3C-AFEC-38E5-CEEF-7200C0FFD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99CD7-1B0B-5377-2D14-2B604E09C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C203D-B31F-F3B4-A959-7147494F3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163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B4588-B22C-59C2-B5FF-708AB875E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ED149-4A8D-6B84-CF9A-1035D7D9C8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B6B30-A768-65F0-1EE3-B0DB01663C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58964-7687-DA0C-6F40-7C302E390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E634BB-8450-752A-C68B-F38BF7403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71E264-7C5F-D2FC-F117-B7519F169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953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93F15-26E7-0320-3F26-49C19B3B6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06F42C-6555-FF39-7C5A-5D8106870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077F0B-765A-F1DA-8D3F-260298E90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3E52EE-B7D3-3064-5F05-5DB77C30A0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1E2ABC-63B9-802B-EFA7-6EA47F33D9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22F41D-4290-DEEC-04F9-DBA249A14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B6068D-1526-8321-F683-35249D974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536DFC-E5A6-F996-D332-14D37B4F2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967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D9E0C-425B-9B8A-B6A4-6991A829B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20970F-EAFB-F6D1-2FA7-60325C1A2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B3EC19-BFD6-DB73-FC6F-F3D0B41FF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A64A0B-C45A-98D5-4ED7-23B8144D9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27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EAA079-1724-5847-7AAD-85B911BAF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670F25-B8BE-B2CE-87D5-33BD988A3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38F2-EF48-C818-C62D-E35DC09E1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15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C732F-EC43-2073-1F92-45C3AC7B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51507-8DE7-5766-32E0-321DD6079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45DC37-67B8-DF89-BD3D-2FFB0A120E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F734D2-9BFB-8219-C36B-D4E2B6DE4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4D35E2-59BD-1164-8209-E37AD75E1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450CC-1E1F-B48D-F131-F2F12CE42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237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8CD33-5626-E165-2B17-707467F70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43335F-2146-1FEF-AA90-EC9A068386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1E4209-A544-6FA3-9829-6695E75E79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C7D6B5-64F2-2938-C0A1-645505FCB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8CD6E-E37E-9D73-49B2-BC2E5E35B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B2516B-36C0-9C0A-87D3-FA7C96FEE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28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6939D-E405-D503-A206-BE6C8BBA6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991992-254C-C8B6-B2F6-495C2BAE2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2C9DA-A59D-0A94-93C8-60E78CCE5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740FB-9338-DD34-7063-56101D715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886B6-407A-A1D9-33B9-8BD4CE198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754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3FFB99-F4CE-E110-76B7-7465A27615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AC0AB0-9D82-DFA9-CD30-65B2E85CEE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A59F5-E4AB-5358-3F46-CB338CFD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2B9F6-1C99-1D5B-7D38-0CDDF982A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47800-9FDB-F0E5-EBBC-A5E812864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933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EF0EA6-D84B-B2CB-8ED7-1C929B5FE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5FB55-CF91-F872-8245-B337082C1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943BA-DB40-8A7D-46E7-64E557EB99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19DFC-27CE-4B34-AD4D-CDDA795D7CA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C99C3-EF4C-67CC-5905-BB61430C5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2B177-2BF0-F59B-8065-95E02F384A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9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0.png"/><Relationship Id="rId3" Type="http://schemas.openxmlformats.org/officeDocument/2006/relationships/image" Target="../media/image510.png"/><Relationship Id="rId7" Type="http://schemas.openxmlformats.org/officeDocument/2006/relationships/image" Target="../media/image910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0.png"/><Relationship Id="rId5" Type="http://schemas.openxmlformats.org/officeDocument/2006/relationships/image" Target="../media/image710.png"/><Relationship Id="rId4" Type="http://schemas.openxmlformats.org/officeDocument/2006/relationships/image" Target="../media/image6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210.png"/><Relationship Id="rId21" Type="http://schemas.openxmlformats.org/officeDocument/2006/relationships/image" Target="../media/image30.png"/><Relationship Id="rId7" Type="http://schemas.openxmlformats.org/officeDocument/2006/relationships/image" Target="../media/image160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110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5" Type="http://schemas.openxmlformats.org/officeDocument/2006/relationships/image" Target="../media/image148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1310.png"/><Relationship Id="rId9" Type="http://schemas.openxmlformats.org/officeDocument/2006/relationships/image" Target="../media/image180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26" Type="http://schemas.openxmlformats.org/officeDocument/2006/relationships/image" Target="../media/image46.png"/><Relationship Id="rId3" Type="http://schemas.openxmlformats.org/officeDocument/2006/relationships/image" Target="../media/image1210.png"/><Relationship Id="rId21" Type="http://schemas.openxmlformats.org/officeDocument/2006/relationships/image" Target="../media/image42.png"/><Relationship Id="rId7" Type="http://schemas.openxmlformats.org/officeDocument/2006/relationships/image" Target="../media/image160.png"/><Relationship Id="rId12" Type="http://schemas.openxmlformats.org/officeDocument/2006/relationships/image" Target="../media/image21.png"/><Relationship Id="rId17" Type="http://schemas.openxmlformats.org/officeDocument/2006/relationships/image" Target="../media/image38.png"/><Relationship Id="rId25" Type="http://schemas.openxmlformats.org/officeDocument/2006/relationships/image" Target="../media/image45.png"/><Relationship Id="rId2" Type="http://schemas.openxmlformats.org/officeDocument/2006/relationships/image" Target="../media/image1110.png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11" Type="http://schemas.openxmlformats.org/officeDocument/2006/relationships/image" Target="../media/image20.png"/><Relationship Id="rId24" Type="http://schemas.openxmlformats.org/officeDocument/2006/relationships/image" Target="../media/image18.png"/><Relationship Id="rId5" Type="http://schemas.openxmlformats.org/officeDocument/2006/relationships/image" Target="../media/image148.png"/><Relationship Id="rId15" Type="http://schemas.openxmlformats.org/officeDocument/2006/relationships/image" Target="../media/image36.png"/><Relationship Id="rId23" Type="http://schemas.openxmlformats.org/officeDocument/2006/relationships/image" Target="../media/image44.png"/><Relationship Id="rId10" Type="http://schemas.openxmlformats.org/officeDocument/2006/relationships/image" Target="../media/image19.png"/><Relationship Id="rId19" Type="http://schemas.openxmlformats.org/officeDocument/2006/relationships/image" Target="../media/image40.png"/><Relationship Id="rId4" Type="http://schemas.openxmlformats.org/officeDocument/2006/relationships/image" Target="../media/image1310.png"/><Relationship Id="rId9" Type="http://schemas.openxmlformats.org/officeDocument/2006/relationships/image" Target="../media/image180.png"/><Relationship Id="rId14" Type="http://schemas.openxmlformats.org/officeDocument/2006/relationships/image" Target="../media/image35.png"/><Relationship Id="rId22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1.png"/><Relationship Id="rId18" Type="http://schemas.openxmlformats.org/officeDocument/2006/relationships/image" Target="../media/image66.png"/><Relationship Id="rId26" Type="http://schemas.openxmlformats.org/officeDocument/2006/relationships/image" Target="../media/image74.png"/><Relationship Id="rId3" Type="http://schemas.openxmlformats.org/officeDocument/2006/relationships/image" Target="../media/image51.png"/><Relationship Id="rId21" Type="http://schemas.openxmlformats.org/officeDocument/2006/relationships/image" Target="../media/image69.png"/><Relationship Id="rId34" Type="http://schemas.openxmlformats.org/officeDocument/2006/relationships/image" Target="../media/image82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17" Type="http://schemas.openxmlformats.org/officeDocument/2006/relationships/image" Target="../media/image65.png"/><Relationship Id="rId25" Type="http://schemas.openxmlformats.org/officeDocument/2006/relationships/image" Target="../media/image73.png"/><Relationship Id="rId33" Type="http://schemas.openxmlformats.org/officeDocument/2006/relationships/image" Target="../media/image81.png"/><Relationship Id="rId2" Type="http://schemas.openxmlformats.org/officeDocument/2006/relationships/image" Target="../media/image50.png"/><Relationship Id="rId16" Type="http://schemas.openxmlformats.org/officeDocument/2006/relationships/image" Target="../media/image64.png"/><Relationship Id="rId20" Type="http://schemas.openxmlformats.org/officeDocument/2006/relationships/image" Target="../media/image68.png"/><Relationship Id="rId29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24" Type="http://schemas.openxmlformats.org/officeDocument/2006/relationships/image" Target="../media/image72.png"/><Relationship Id="rId32" Type="http://schemas.openxmlformats.org/officeDocument/2006/relationships/image" Target="../media/image80.png"/><Relationship Id="rId5" Type="http://schemas.openxmlformats.org/officeDocument/2006/relationships/image" Target="../media/image53.png"/><Relationship Id="rId15" Type="http://schemas.openxmlformats.org/officeDocument/2006/relationships/image" Target="../media/image63.png"/><Relationship Id="rId23" Type="http://schemas.openxmlformats.org/officeDocument/2006/relationships/image" Target="../media/image71.png"/><Relationship Id="rId28" Type="http://schemas.openxmlformats.org/officeDocument/2006/relationships/image" Target="../media/image76.png"/><Relationship Id="rId10" Type="http://schemas.openxmlformats.org/officeDocument/2006/relationships/image" Target="../media/image58.png"/><Relationship Id="rId19" Type="http://schemas.openxmlformats.org/officeDocument/2006/relationships/image" Target="../media/image67.png"/><Relationship Id="rId31" Type="http://schemas.openxmlformats.org/officeDocument/2006/relationships/image" Target="../media/image79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Relationship Id="rId22" Type="http://schemas.openxmlformats.org/officeDocument/2006/relationships/image" Target="../media/image70.png"/><Relationship Id="rId27" Type="http://schemas.openxmlformats.org/officeDocument/2006/relationships/image" Target="../media/image75.png"/><Relationship Id="rId30" Type="http://schemas.openxmlformats.org/officeDocument/2006/relationships/image" Target="../media/image78.png"/><Relationship Id="rId8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18" Type="http://schemas.openxmlformats.org/officeDocument/2006/relationships/image" Target="../media/image99.png"/><Relationship Id="rId3" Type="http://schemas.openxmlformats.org/officeDocument/2006/relationships/image" Target="../media/image84.png"/><Relationship Id="rId21" Type="http://schemas.openxmlformats.org/officeDocument/2006/relationships/image" Target="../media/image102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17" Type="http://schemas.openxmlformats.org/officeDocument/2006/relationships/image" Target="../media/image98.png"/><Relationship Id="rId2" Type="http://schemas.openxmlformats.org/officeDocument/2006/relationships/image" Target="../media/image83.png"/><Relationship Id="rId16" Type="http://schemas.openxmlformats.org/officeDocument/2006/relationships/image" Target="../media/image97.png"/><Relationship Id="rId20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5" Type="http://schemas.openxmlformats.org/officeDocument/2006/relationships/image" Target="../media/image86.png"/><Relationship Id="rId15" Type="http://schemas.openxmlformats.org/officeDocument/2006/relationships/image" Target="../media/image96.png"/><Relationship Id="rId10" Type="http://schemas.openxmlformats.org/officeDocument/2006/relationships/image" Target="../media/image91.png"/><Relationship Id="rId19" Type="http://schemas.openxmlformats.org/officeDocument/2006/relationships/image" Target="../media/image100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Relationship Id="rId14" Type="http://schemas.openxmlformats.org/officeDocument/2006/relationships/image" Target="../media/image9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111.png"/><Relationship Id="rId7" Type="http://schemas.openxmlformats.org/officeDocument/2006/relationships/image" Target="../media/image116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Relationship Id="rId9" Type="http://schemas.openxmlformats.org/officeDocument/2006/relationships/image" Target="../media/image11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20.png"/><Relationship Id="rId7" Type="http://schemas.openxmlformats.org/officeDocument/2006/relationships/image" Target="../media/image124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png"/><Relationship Id="rId11" Type="http://schemas.openxmlformats.org/officeDocument/2006/relationships/image" Target="../media/image128.png"/><Relationship Id="rId5" Type="http://schemas.openxmlformats.org/officeDocument/2006/relationships/image" Target="../media/image122.png"/><Relationship Id="rId10" Type="http://schemas.openxmlformats.org/officeDocument/2006/relationships/image" Target="../media/image127.png"/><Relationship Id="rId4" Type="http://schemas.openxmlformats.org/officeDocument/2006/relationships/image" Target="../media/image121.png"/><Relationship Id="rId9" Type="http://schemas.openxmlformats.org/officeDocument/2006/relationships/image" Target="../media/image1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image" Target="../media/image144.png"/><Relationship Id="rId3" Type="http://schemas.openxmlformats.org/officeDocument/2006/relationships/image" Target="../media/image134.png"/><Relationship Id="rId7" Type="http://schemas.openxmlformats.org/officeDocument/2006/relationships/image" Target="../media/image138.png"/><Relationship Id="rId12" Type="http://schemas.openxmlformats.org/officeDocument/2006/relationships/image" Target="../media/image143.png"/><Relationship Id="rId2" Type="http://schemas.openxmlformats.org/officeDocument/2006/relationships/image" Target="../media/image133.png"/><Relationship Id="rId16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11" Type="http://schemas.openxmlformats.org/officeDocument/2006/relationships/image" Target="../media/image142.png"/><Relationship Id="rId5" Type="http://schemas.openxmlformats.org/officeDocument/2006/relationships/image" Target="../media/image136.png"/><Relationship Id="rId15" Type="http://schemas.openxmlformats.org/officeDocument/2006/relationships/image" Target="../media/image146.png"/><Relationship Id="rId10" Type="http://schemas.openxmlformats.org/officeDocument/2006/relationships/image" Target="../media/image141.png"/><Relationship Id="rId4" Type="http://schemas.openxmlformats.org/officeDocument/2006/relationships/image" Target="../media/image135.png"/><Relationship Id="rId9" Type="http://schemas.openxmlformats.org/officeDocument/2006/relationships/image" Target="../media/image140.png"/><Relationship Id="rId14" Type="http://schemas.openxmlformats.org/officeDocument/2006/relationships/image" Target="../media/image14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>
            <a:extLst>
              <a:ext uri="{FF2B5EF4-FFF2-40B4-BE49-F238E27FC236}">
                <a16:creationId xmlns:a16="http://schemas.microsoft.com/office/drawing/2014/main" id="{E6DF62F9-7264-4E25-F504-5B1B797356DD}"/>
              </a:ext>
            </a:extLst>
          </p:cNvPr>
          <p:cNvSpPr/>
          <p:nvPr/>
        </p:nvSpPr>
        <p:spPr>
          <a:xfrm>
            <a:off x="0" y="2173574"/>
            <a:ext cx="12206990" cy="4699416"/>
          </a:xfrm>
          <a:custGeom>
            <a:avLst/>
            <a:gdLst>
              <a:gd name="connsiteX0" fmla="*/ 0 w 12192000"/>
              <a:gd name="connsiteY0" fmla="*/ 4684426 h 4684426"/>
              <a:gd name="connsiteX1" fmla="*/ 0 w 12192000"/>
              <a:gd name="connsiteY1" fmla="*/ 0 h 4684426"/>
              <a:gd name="connsiteX2" fmla="*/ 12192000 w 12192000"/>
              <a:gd name="connsiteY2" fmla="*/ 4684426 h 4684426"/>
              <a:gd name="connsiteX3" fmla="*/ 0 w 12192000"/>
              <a:gd name="connsiteY3" fmla="*/ 4684426 h 4684426"/>
              <a:gd name="connsiteX0" fmla="*/ 0 w 12192000"/>
              <a:gd name="connsiteY0" fmla="*/ 4684426 h 4684426"/>
              <a:gd name="connsiteX1" fmla="*/ 0 w 12192000"/>
              <a:gd name="connsiteY1" fmla="*/ 0 h 4684426"/>
              <a:gd name="connsiteX2" fmla="*/ 12192000 w 12192000"/>
              <a:gd name="connsiteY2" fmla="*/ 4684426 h 4684426"/>
              <a:gd name="connsiteX3" fmla="*/ 0 w 12192000"/>
              <a:gd name="connsiteY3" fmla="*/ 4684426 h 4684426"/>
              <a:gd name="connsiteX0" fmla="*/ 0 w 12206990"/>
              <a:gd name="connsiteY0" fmla="*/ 4684426 h 4699416"/>
              <a:gd name="connsiteX1" fmla="*/ 0 w 12206990"/>
              <a:gd name="connsiteY1" fmla="*/ 0 h 4699416"/>
              <a:gd name="connsiteX2" fmla="*/ 12206990 w 12206990"/>
              <a:gd name="connsiteY2" fmla="*/ 4699416 h 4699416"/>
              <a:gd name="connsiteX3" fmla="*/ 0 w 12206990"/>
              <a:gd name="connsiteY3" fmla="*/ 4684426 h 4699416"/>
              <a:gd name="connsiteX0" fmla="*/ 0 w 12206990"/>
              <a:gd name="connsiteY0" fmla="*/ 4684426 h 4699416"/>
              <a:gd name="connsiteX1" fmla="*/ 0 w 12206990"/>
              <a:gd name="connsiteY1" fmla="*/ 0 h 4699416"/>
              <a:gd name="connsiteX2" fmla="*/ 12206990 w 12206990"/>
              <a:gd name="connsiteY2" fmla="*/ 4699416 h 4699416"/>
              <a:gd name="connsiteX3" fmla="*/ 0 w 12206990"/>
              <a:gd name="connsiteY3" fmla="*/ 4684426 h 4699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06990" h="4699416">
                <a:moveTo>
                  <a:pt x="0" y="4684426"/>
                </a:moveTo>
                <a:lnTo>
                  <a:pt x="0" y="0"/>
                </a:lnTo>
                <a:cubicBezTo>
                  <a:pt x="4378793" y="946879"/>
                  <a:pt x="6703934" y="3242872"/>
                  <a:pt x="12206990" y="4699416"/>
                </a:cubicBezTo>
                <a:lnTo>
                  <a:pt x="0" y="4684426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ight Triangle 4">
            <a:extLst>
              <a:ext uri="{FF2B5EF4-FFF2-40B4-BE49-F238E27FC236}">
                <a16:creationId xmlns:a16="http://schemas.microsoft.com/office/drawing/2014/main" id="{3AFED4F9-C06A-55DD-B7F1-6CF5A4D5E64F}"/>
              </a:ext>
            </a:extLst>
          </p:cNvPr>
          <p:cNvSpPr/>
          <p:nvPr/>
        </p:nvSpPr>
        <p:spPr>
          <a:xfrm rot="10800000">
            <a:off x="-14990" y="0"/>
            <a:ext cx="12206990" cy="4699416"/>
          </a:xfrm>
          <a:custGeom>
            <a:avLst/>
            <a:gdLst>
              <a:gd name="connsiteX0" fmla="*/ 0 w 12192000"/>
              <a:gd name="connsiteY0" fmla="*/ 4684426 h 4684426"/>
              <a:gd name="connsiteX1" fmla="*/ 0 w 12192000"/>
              <a:gd name="connsiteY1" fmla="*/ 0 h 4684426"/>
              <a:gd name="connsiteX2" fmla="*/ 12192000 w 12192000"/>
              <a:gd name="connsiteY2" fmla="*/ 4684426 h 4684426"/>
              <a:gd name="connsiteX3" fmla="*/ 0 w 12192000"/>
              <a:gd name="connsiteY3" fmla="*/ 4684426 h 4684426"/>
              <a:gd name="connsiteX0" fmla="*/ 0 w 12192000"/>
              <a:gd name="connsiteY0" fmla="*/ 4684426 h 4684426"/>
              <a:gd name="connsiteX1" fmla="*/ 0 w 12192000"/>
              <a:gd name="connsiteY1" fmla="*/ 0 h 4684426"/>
              <a:gd name="connsiteX2" fmla="*/ 12192000 w 12192000"/>
              <a:gd name="connsiteY2" fmla="*/ 4684426 h 4684426"/>
              <a:gd name="connsiteX3" fmla="*/ 0 w 12192000"/>
              <a:gd name="connsiteY3" fmla="*/ 4684426 h 4684426"/>
              <a:gd name="connsiteX0" fmla="*/ 0 w 12206990"/>
              <a:gd name="connsiteY0" fmla="*/ 4684426 h 4699416"/>
              <a:gd name="connsiteX1" fmla="*/ 0 w 12206990"/>
              <a:gd name="connsiteY1" fmla="*/ 0 h 4699416"/>
              <a:gd name="connsiteX2" fmla="*/ 12206990 w 12206990"/>
              <a:gd name="connsiteY2" fmla="*/ 4699416 h 4699416"/>
              <a:gd name="connsiteX3" fmla="*/ 0 w 12206990"/>
              <a:gd name="connsiteY3" fmla="*/ 4684426 h 4699416"/>
              <a:gd name="connsiteX0" fmla="*/ 0 w 12206990"/>
              <a:gd name="connsiteY0" fmla="*/ 4684426 h 4699416"/>
              <a:gd name="connsiteX1" fmla="*/ 0 w 12206990"/>
              <a:gd name="connsiteY1" fmla="*/ 0 h 4699416"/>
              <a:gd name="connsiteX2" fmla="*/ 12206990 w 12206990"/>
              <a:gd name="connsiteY2" fmla="*/ 4699416 h 4699416"/>
              <a:gd name="connsiteX3" fmla="*/ 0 w 12206990"/>
              <a:gd name="connsiteY3" fmla="*/ 4684426 h 4699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06990" h="4699416">
                <a:moveTo>
                  <a:pt x="0" y="4684426"/>
                </a:moveTo>
                <a:lnTo>
                  <a:pt x="0" y="0"/>
                </a:lnTo>
                <a:cubicBezTo>
                  <a:pt x="4378793" y="946879"/>
                  <a:pt x="6703934" y="3242872"/>
                  <a:pt x="12206990" y="4699416"/>
                </a:cubicBezTo>
                <a:lnTo>
                  <a:pt x="0" y="4684426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A32502-A715-3606-EE7D-A34CB9A00AAA}"/>
              </a:ext>
            </a:extLst>
          </p:cNvPr>
          <p:cNvSpPr/>
          <p:nvPr/>
        </p:nvSpPr>
        <p:spPr>
          <a:xfrm>
            <a:off x="609698" y="2967335"/>
            <a:ext cx="10972620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8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Solution of Linear System</a:t>
            </a:r>
            <a:endParaRPr lang="en-US" sz="80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59166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B510375-EA71-F8FF-E776-6308CC67D721}"/>
              </a:ext>
            </a:extLst>
          </p:cNvPr>
          <p:cNvSpPr txBox="1"/>
          <p:nvPr/>
        </p:nvSpPr>
        <p:spPr>
          <a:xfrm>
            <a:off x="77108" y="28136"/>
            <a:ext cx="4389343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GB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Augmented Matrix</a:t>
            </a:r>
            <a:endParaRPr lang="en-US" sz="4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3EFA68-0D9D-62A4-2AE6-F9A19E3D8C75}"/>
              </a:ext>
            </a:extLst>
          </p:cNvPr>
          <p:cNvSpPr txBox="1"/>
          <p:nvPr/>
        </p:nvSpPr>
        <p:spPr>
          <a:xfrm>
            <a:off x="251085" y="1074826"/>
            <a:ext cx="1156116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augmented matrix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compact way to represent a system of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equations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 writing the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coefficients and constants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a single matrix.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004A3C-7F19-2485-2112-739F4E3A7624}"/>
                  </a:ext>
                </a:extLst>
              </p:cNvPr>
              <p:cNvSpPr txBox="1"/>
              <p:nvPr/>
            </p:nvSpPr>
            <p:spPr>
              <a:xfrm>
                <a:off x="577661" y="2367737"/>
                <a:ext cx="3388235" cy="1664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320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320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32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32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32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32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32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32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32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GB" sz="32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32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GB" sz="32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32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32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sz="32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32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32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GB" sz="32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GB" sz="32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32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GB" sz="32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32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32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32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32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32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32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GB" sz="32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32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3200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004A3C-7F19-2485-2112-739F4E3A7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661" y="2367737"/>
                <a:ext cx="3388235" cy="16644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458B56D-A2D8-DCDD-6EA3-ABDFA87FFC6B}"/>
              </a:ext>
            </a:extLst>
          </p:cNvPr>
          <p:cNvSpPr txBox="1"/>
          <p:nvPr/>
        </p:nvSpPr>
        <p:spPr>
          <a:xfrm>
            <a:off x="577661" y="4829068"/>
            <a:ext cx="39703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Augmented Matrix is </a:t>
            </a:r>
            <a:endParaRPr lang="en-US" sz="28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75E54D-6BFA-88E0-94FD-8E6FC21FFE4F}"/>
                  </a:ext>
                </a:extLst>
              </p:cNvPr>
              <p:cNvSpPr txBox="1"/>
              <p:nvPr/>
            </p:nvSpPr>
            <p:spPr>
              <a:xfrm>
                <a:off x="6031667" y="4214471"/>
                <a:ext cx="4876848" cy="14046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2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32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sz="32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32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3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</m:e>
                              <m:e>
                                <m:r>
                                  <a:rPr lang="en-GB" sz="32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2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32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32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32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GB" sz="3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</m:e>
                              <m:e>
                                <m:r>
                                  <a:rPr lang="en-GB" sz="32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2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sz="32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32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32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3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</m:e>
                              <m:e>
                                <m:r>
                                  <a:rPr lang="en-GB" sz="32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200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75E54D-6BFA-88E0-94FD-8E6FC21FFE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1667" y="4214471"/>
                <a:ext cx="4876848" cy="14046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4905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8055D33-F052-D720-052B-73F4166699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754" y="26028"/>
            <a:ext cx="11482466" cy="68297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723350-E006-2A7E-900C-829440FFA0ED}"/>
              </a:ext>
            </a:extLst>
          </p:cNvPr>
          <p:cNvSpPr txBox="1"/>
          <p:nvPr/>
        </p:nvSpPr>
        <p:spPr>
          <a:xfrm>
            <a:off x="9143999" y="26028"/>
            <a:ext cx="17251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(REF)</a:t>
            </a:r>
            <a:endParaRPr lang="en-US" sz="4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288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8392AE-BF2B-F6CE-7745-07CD227C9D2C}"/>
              </a:ext>
            </a:extLst>
          </p:cNvPr>
          <p:cNvSpPr txBox="1"/>
          <p:nvPr/>
        </p:nvSpPr>
        <p:spPr>
          <a:xfrm>
            <a:off x="524656" y="0"/>
            <a:ext cx="10852878" cy="365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Reduced Row Echelon Form (RREF) Rules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1️⃣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Satisfies all REF rules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2️⃣ Each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leading 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nonzero element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its column.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Reduced Row Echelon Form (RREF)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6F5528A-8C74-C6E0-ACEC-206B8985075E}"/>
                  </a:ext>
                </a:extLst>
              </p:cNvPr>
              <p:cNvSpPr txBox="1"/>
              <p:nvPr/>
            </p:nvSpPr>
            <p:spPr>
              <a:xfrm>
                <a:off x="524656" y="4138936"/>
                <a:ext cx="2692917" cy="12317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6F5528A-8C74-C6E0-ACEC-206B89850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656" y="4138936"/>
                <a:ext cx="2692917" cy="12317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0D178B-CD72-1ADA-D0CE-3C3658EBA3B7}"/>
                  </a:ext>
                </a:extLst>
              </p:cNvPr>
              <p:cNvSpPr txBox="1"/>
              <p:nvPr/>
            </p:nvSpPr>
            <p:spPr>
              <a:xfrm>
                <a:off x="3784737" y="4128149"/>
                <a:ext cx="2425216" cy="12317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0D178B-CD72-1ADA-D0CE-3C3658EBA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737" y="4128149"/>
                <a:ext cx="2425216" cy="12317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FF0DE0-FDC6-FFA6-CE30-5B8D694FC80C}"/>
                  </a:ext>
                </a:extLst>
              </p:cNvPr>
              <p:cNvSpPr txBox="1"/>
              <p:nvPr/>
            </p:nvSpPr>
            <p:spPr>
              <a:xfrm>
                <a:off x="7340969" y="3914930"/>
                <a:ext cx="3266920" cy="16797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FF0DE0-FDC6-FFA6-CE30-5B8D694FC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0969" y="3914930"/>
                <a:ext cx="3266920" cy="16797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7893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5AD5B2-D5C9-A788-192A-8BF9C10109BD}"/>
              </a:ext>
            </a:extLst>
          </p:cNvPr>
          <p:cNvSpPr txBox="1"/>
          <p:nvPr/>
        </p:nvSpPr>
        <p:spPr>
          <a:xfrm>
            <a:off x="0" y="1"/>
            <a:ext cx="8499423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 Echelon and Reduced Echelon Form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59D866-8923-ECB0-70A2-FC20BE6CB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66" y="1017766"/>
            <a:ext cx="11782113" cy="25594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1AAE8A-15D8-F394-8BFF-9CC2F831B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66" y="4019900"/>
            <a:ext cx="11782113" cy="228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080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842D83A-A981-A916-90EA-644604B9ACC6}"/>
              </a:ext>
            </a:extLst>
          </p:cNvPr>
          <p:cNvSpPr txBox="1"/>
          <p:nvPr/>
        </p:nvSpPr>
        <p:spPr>
          <a:xfrm>
            <a:off x="0" y="2"/>
            <a:ext cx="11467475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on Row Echelon and Reduced Echelon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B7D78C7-FF77-4660-1D94-C903C3AC04A0}"/>
                  </a:ext>
                </a:extLst>
              </p:cNvPr>
              <p:cNvSpPr txBox="1"/>
              <p:nvPr/>
            </p:nvSpPr>
            <p:spPr>
              <a:xfrm>
                <a:off x="0" y="682373"/>
                <a:ext cx="776988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any real numbers substituted for the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  <m:r>
                      <a:rPr lang="en-GB" sz="32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’</m:t>
                    </m:r>
                    <m:r>
                      <a:rPr lang="en-GB" sz="32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B7D78C7-FF77-4660-1D94-C903C3AC04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82373"/>
                <a:ext cx="7769884" cy="584775"/>
              </a:xfrm>
              <a:prstGeom prst="rect">
                <a:avLst/>
              </a:prstGeom>
              <a:blipFill>
                <a:blip r:embed="rId2"/>
                <a:stretch>
                  <a:fillRect l="-1961" t="-14583" b="-3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1D75248C-C3B9-AA5F-3A75-9C7AEF7F5B5F}"/>
              </a:ext>
            </a:extLst>
          </p:cNvPr>
          <p:cNvSpPr txBox="1"/>
          <p:nvPr/>
        </p:nvSpPr>
        <p:spPr>
          <a:xfrm>
            <a:off x="0" y="1318179"/>
            <a:ext cx="4107305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 Echelon Form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7D2268-1C05-87BE-F440-F32DB8E53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694" y="2009032"/>
            <a:ext cx="9928485" cy="20002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8153B4A-2E03-CFDE-ED64-7A20AA4FAAA9}"/>
              </a:ext>
            </a:extLst>
          </p:cNvPr>
          <p:cNvSpPr txBox="1"/>
          <p:nvPr/>
        </p:nvSpPr>
        <p:spPr>
          <a:xfrm>
            <a:off x="0" y="3997584"/>
            <a:ext cx="5801193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 Reduced Echelon Form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EE04E0-3568-A8CE-DDCE-9080C48985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5434" y="4796130"/>
            <a:ext cx="10136704" cy="1977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512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BE9219B-8478-A24A-1DEB-FAEACD846164}"/>
              </a:ext>
            </a:extLst>
          </p:cNvPr>
          <p:cNvSpPr txBox="1"/>
          <p:nvPr/>
        </p:nvSpPr>
        <p:spPr>
          <a:xfrm>
            <a:off x="0" y="0"/>
            <a:ext cx="114487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Exercises: determine whether the matrix is in row echelon form, reduced row echelon form, both, or neither.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C9C558-71DA-68CF-70E0-815AA925F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66" y="1228022"/>
            <a:ext cx="1989632" cy="15072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83DA01-6320-E6FE-4270-DF138B775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06" y="2961180"/>
            <a:ext cx="2113251" cy="13183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9EE587-E4B0-FCA5-967B-DD357BD5A6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856" y="4650371"/>
            <a:ext cx="1808033" cy="13183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6A0545-22DB-B4F4-1F0D-1F972C2D5C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6610" y="1228021"/>
            <a:ext cx="2335991" cy="13752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A5CD5CC-67A3-DB54-7AC2-726EFF2D15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6610" y="3088791"/>
            <a:ext cx="2617943" cy="15615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A9FC0BE-C8FD-C44A-7742-CB860D11F8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6712" y="1061615"/>
            <a:ext cx="2961549" cy="19607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703BECF-6128-4FFA-F11F-68F40ED633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06712" y="3869580"/>
            <a:ext cx="3111452" cy="112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100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B582470-EBE1-DC1F-BFCD-7BC0EEBC8270}"/>
              </a:ext>
            </a:extLst>
          </p:cNvPr>
          <p:cNvSpPr txBox="1"/>
          <p:nvPr/>
        </p:nvSpPr>
        <p:spPr>
          <a:xfrm>
            <a:off x="138658" y="107644"/>
            <a:ext cx="10564319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 Gauss Elimination Method – Working Rule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30274E-8F4E-D3CF-47B8-BDB4902DDDCE}"/>
              </a:ext>
            </a:extLst>
          </p:cNvPr>
          <p:cNvSpPr txBox="1"/>
          <p:nvPr/>
        </p:nvSpPr>
        <p:spPr>
          <a:xfrm>
            <a:off x="138658" y="1116211"/>
            <a:ext cx="1176353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 Elimination Method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step-by-step process used to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SOLVE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system of linear equations by transforming the augmented matrix into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 echelon form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then using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back-substitution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find the solution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8E94D6-A43A-784A-8637-C89308B5ED5A}"/>
              </a:ext>
            </a:extLst>
          </p:cNvPr>
          <p:cNvSpPr txBox="1"/>
          <p:nvPr/>
        </p:nvSpPr>
        <p:spPr>
          <a:xfrm>
            <a:off x="329783" y="2653259"/>
            <a:ext cx="1620957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en-US" sz="3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0EA5AD-2BA6-B18D-705F-C24285E154D5}"/>
              </a:ext>
            </a:extLst>
          </p:cNvPr>
          <p:cNvSpPr txBox="1"/>
          <p:nvPr/>
        </p:nvSpPr>
        <p:spPr>
          <a:xfrm>
            <a:off x="273577" y="3414010"/>
            <a:ext cx="61234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Augmented Matrix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F8B84C-269C-02F4-DB28-8EB8BF6D58B2}"/>
              </a:ext>
            </a:extLst>
          </p:cNvPr>
          <p:cNvSpPr txBox="1"/>
          <p:nvPr/>
        </p:nvSpPr>
        <p:spPr>
          <a:xfrm>
            <a:off x="273577" y="4515145"/>
            <a:ext cx="6516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Convert to Row Echelon Form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A567F-C1B9-E40A-66D7-B944CFD5FF9A}"/>
              </a:ext>
            </a:extLst>
          </p:cNvPr>
          <p:cNvSpPr txBox="1"/>
          <p:nvPr/>
        </p:nvSpPr>
        <p:spPr>
          <a:xfrm>
            <a:off x="273577" y="5674490"/>
            <a:ext cx="61234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Back-Substitution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551B2F-E7DB-87C0-46DE-EFD13E3FB3D0}"/>
              </a:ext>
            </a:extLst>
          </p:cNvPr>
          <p:cNvSpPr txBox="1"/>
          <p:nvPr/>
        </p:nvSpPr>
        <p:spPr>
          <a:xfrm>
            <a:off x="6790550" y="3920403"/>
            <a:ext cx="5029814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Swap two rows.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Multiply a row by a nonzero constant.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Add/subtract a multiple of one row to another.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CD5BAE-01F0-1CA0-6643-5181A431169D}"/>
              </a:ext>
            </a:extLst>
          </p:cNvPr>
          <p:cNvSpPr txBox="1"/>
          <p:nvPr/>
        </p:nvSpPr>
        <p:spPr>
          <a:xfrm>
            <a:off x="6809288" y="2678777"/>
            <a:ext cx="29493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💡 Key Notes</a:t>
            </a:r>
            <a:endParaRPr lang="en-US" sz="28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AA95E5-0337-AA1C-2E9D-B9AFBA3804D1}"/>
              </a:ext>
            </a:extLst>
          </p:cNvPr>
          <p:cNvSpPr txBox="1"/>
          <p:nvPr/>
        </p:nvSpPr>
        <p:spPr>
          <a:xfrm>
            <a:off x="6820528" y="3299590"/>
            <a:ext cx="45432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 operations allowed:</a:t>
            </a:r>
            <a:endParaRPr lang="en-US" sz="28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227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/>
      <p:bldP spid="12" grpId="0"/>
      <p:bldP spid="14" grpId="0"/>
      <p:bldP spid="16" grpId="0"/>
      <p:bldP spid="18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C37346-2C7D-8E83-686E-FBF0C904F8D7}"/>
              </a:ext>
            </a:extLst>
          </p:cNvPr>
          <p:cNvSpPr/>
          <p:nvPr/>
        </p:nvSpPr>
        <p:spPr>
          <a:xfrm>
            <a:off x="1742309" y="16358"/>
            <a:ext cx="230619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System</a:t>
            </a:r>
            <a:endParaRPr lang="en-US" sz="2400" b="1" dirty="0">
              <a:solidFill>
                <a:srgbClr val="3A3A3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08BE5B-4C8C-A543-791C-15FB6E429A4C}"/>
              </a:ext>
            </a:extLst>
          </p:cNvPr>
          <p:cNvSpPr txBox="1"/>
          <p:nvPr/>
        </p:nvSpPr>
        <p:spPr>
          <a:xfrm>
            <a:off x="5313469" y="16358"/>
            <a:ext cx="3424677" cy="4616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Unknown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678B502-2FF5-B5D7-7AB2-DC0DDB4F7759}"/>
                  </a:ext>
                </a:extLst>
              </p:cNvPr>
              <p:cNvSpPr txBox="1"/>
              <p:nvPr/>
            </p:nvSpPr>
            <p:spPr>
              <a:xfrm>
                <a:off x="281098" y="1568846"/>
                <a:ext cx="2995502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678B502-2FF5-B5D7-7AB2-DC0DDB4F7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098" y="1568846"/>
                <a:ext cx="2995502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420ED44-AEAB-7259-6BB3-D3B3F579B8B0}"/>
              </a:ext>
            </a:extLst>
          </p:cNvPr>
          <p:cNvSpPr txBox="1"/>
          <p:nvPr/>
        </p:nvSpPr>
        <p:spPr>
          <a:xfrm>
            <a:off x="2388259" y="727136"/>
            <a:ext cx="1014296" cy="46166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Solve</a:t>
            </a:r>
            <a:endParaRPr lang="en-PK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DC3231-1060-731F-688E-2F4194E6C06C}"/>
                  </a:ext>
                </a:extLst>
              </p:cNvPr>
              <p:cNvSpPr txBox="1"/>
              <p:nvPr/>
            </p:nvSpPr>
            <p:spPr>
              <a:xfrm>
                <a:off x="285948" y="2189252"/>
                <a:ext cx="2990652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DC3231-1060-731F-688E-2F4194E6C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948" y="2189252"/>
                <a:ext cx="2990652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FBEFC9-14AD-7161-1778-BBE8E1C2E643}"/>
                  </a:ext>
                </a:extLst>
              </p:cNvPr>
              <p:cNvSpPr txBox="1"/>
              <p:nvPr/>
            </p:nvSpPr>
            <p:spPr>
              <a:xfrm>
                <a:off x="285948" y="2775873"/>
                <a:ext cx="2990652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FBEFC9-14AD-7161-1778-BBE8E1C2E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948" y="2775873"/>
                <a:ext cx="2990652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0C1C431-CA15-663D-A77E-C2AE67B3F073}"/>
                  </a:ext>
                </a:extLst>
              </p:cNvPr>
              <p:cNvSpPr txBox="1"/>
              <p:nvPr/>
            </p:nvSpPr>
            <p:spPr>
              <a:xfrm>
                <a:off x="5063680" y="4013612"/>
                <a:ext cx="3429000" cy="2544864"/>
              </a:xfrm>
              <a:prstGeom prst="rect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 anchor="ctr">
                <a:spAutoFit/>
              </a:bodyPr>
              <a:lstStyle/>
              <a:p>
                <a:endParaRPr lang="en-GB" sz="36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PK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3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36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  <m:e>
                                      <m:r>
                                        <a:rPr lang="en-US" sz="36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3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lang="en-US" sz="3600" b="1" i="1" smtClean="0"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3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3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lang="en-US" sz="3600" b="1" i="1" smtClean="0">
                                          <a:solidFill>
                                            <a:srgbClr val="FF99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𝟗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3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3600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  <m:e>
                                      <m:r>
                                        <a:rPr lang="en-US" sz="3600" b="1" i="1" smtClean="0">
                                          <a:solidFill>
                                            <a:srgbClr val="FF99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3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3600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  <m:e>
                                      <m:r>
                                        <a:rPr lang="en-US" sz="3600" b="1" i="1" smtClean="0">
                                          <a:latin typeface="Cambria Math" panose="02040503050406030204" pitchFamily="18" charset="0"/>
                                        </a:rPr>
                                        <m:t>𝟔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3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3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3600" b="1" i="1" smtClean="0">
                                          <a:latin typeface="Cambria Math" panose="02040503050406030204" pitchFamily="18" charset="0"/>
                                        </a:rPr>
                                        <m:t>𝟓</m:t>
                                      </m:r>
                                    </m:e>
                                    <m:e>
                                      <m:r>
                                        <a:rPr lang="en-US" sz="3600" b="1" i="1" smtClean="0">
                                          <a:solidFill>
                                            <a:srgbClr val="FF99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3600" b="1" dirty="0"/>
              </a:p>
              <a:p>
                <a:endParaRPr lang="en-PK" sz="36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0C1C431-CA15-663D-A77E-C2AE67B3F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3680" y="4013612"/>
                <a:ext cx="3429000" cy="25448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762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CD59B0A8-06F5-7608-B883-E79359B73237}"/>
              </a:ext>
            </a:extLst>
          </p:cNvPr>
          <p:cNvSpPr/>
          <p:nvPr/>
        </p:nvSpPr>
        <p:spPr>
          <a:xfrm>
            <a:off x="59960" y="740200"/>
            <a:ext cx="2197606" cy="4616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No.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C67B484-C8E1-4B22-37A3-41CDF1D0640C}"/>
                  </a:ext>
                </a:extLst>
              </p:cNvPr>
              <p:cNvSpPr txBox="1"/>
              <p:nvPr/>
            </p:nvSpPr>
            <p:spPr>
              <a:xfrm>
                <a:off x="4789490" y="1784289"/>
                <a:ext cx="1873485" cy="113960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PK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C67B484-C8E1-4B22-37A3-41CDF1D06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490" y="1784289"/>
                <a:ext cx="1873485" cy="11396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7A4399-AAE3-8AD2-9F58-CC28DE961A28}"/>
                  </a:ext>
                </a:extLst>
              </p:cNvPr>
              <p:cNvSpPr txBox="1"/>
              <p:nvPr/>
            </p:nvSpPr>
            <p:spPr>
              <a:xfrm>
                <a:off x="6597783" y="1714013"/>
                <a:ext cx="614775" cy="1209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PK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sz="2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7A4399-AAE3-8AD2-9F58-CC28DE96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7783" y="1714013"/>
                <a:ext cx="614775" cy="12098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A8E8935-0FAC-4D08-C6E1-9452E19442F0}"/>
                  </a:ext>
                </a:extLst>
              </p:cNvPr>
              <p:cNvSpPr txBox="1"/>
              <p:nvPr/>
            </p:nvSpPr>
            <p:spPr>
              <a:xfrm>
                <a:off x="7222949" y="1762286"/>
                <a:ext cx="882518" cy="1231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b="1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K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sz="2800" i="1" smtClean="0">
                                  <a:solidFill>
                                    <a:srgbClr val="FF99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 b="1" i="1" smtClean="0">
                                    <a:solidFill>
                                      <a:srgbClr val="FF9900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1" i="1" smtClean="0">
                                    <a:solidFill>
                                      <a:srgbClr val="FF99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1" i="1" smtClean="0">
                                    <a:solidFill>
                                      <a:srgbClr val="FF99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A8E8935-0FAC-4D08-C6E1-9452E19442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2949" y="1762286"/>
                <a:ext cx="882518" cy="1231747"/>
              </a:xfrm>
              <a:prstGeom prst="rect">
                <a:avLst/>
              </a:prstGeom>
              <a:blipFill>
                <a:blip r:embed="rId8"/>
                <a:stretch>
                  <a:fillRect r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339B65C-527C-A137-7D3B-FED738F4535E}"/>
              </a:ext>
            </a:extLst>
          </p:cNvPr>
          <p:cNvSpPr/>
          <p:nvPr/>
        </p:nvSpPr>
        <p:spPr>
          <a:xfrm>
            <a:off x="4659433" y="1714013"/>
            <a:ext cx="3733800" cy="1326584"/>
          </a:xfrm>
          <a:prstGeom prst="roundRect">
            <a:avLst/>
          </a:prstGeom>
          <a:noFill/>
          <a:ln w="762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1CD8D292-AE44-3D05-EEA0-86E8DF5441BC}"/>
              </a:ext>
            </a:extLst>
          </p:cNvPr>
          <p:cNvSpPr/>
          <p:nvPr/>
        </p:nvSpPr>
        <p:spPr>
          <a:xfrm>
            <a:off x="6274486" y="3242744"/>
            <a:ext cx="503694" cy="541564"/>
          </a:xfrm>
          <a:prstGeom prst="downArrow">
            <a:avLst/>
          </a:prstGeom>
          <a:solidFill>
            <a:srgbClr val="FF0000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3CE8919F-C683-1B8F-0D7B-C14EA6211E85}"/>
              </a:ext>
            </a:extLst>
          </p:cNvPr>
          <p:cNvSpPr/>
          <p:nvPr/>
        </p:nvSpPr>
        <p:spPr>
          <a:xfrm>
            <a:off x="3542051" y="2221127"/>
            <a:ext cx="851931" cy="461665"/>
          </a:xfrm>
          <a:prstGeom prst="rightArrow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8100">
                <a:solidFill>
                  <a:schemeClr val="tx1"/>
                </a:solidFill>
              </a:ln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D18C02-1B38-3ADC-4599-F61196A8C744}"/>
              </a:ext>
            </a:extLst>
          </p:cNvPr>
          <p:cNvSpPr txBox="1"/>
          <p:nvPr/>
        </p:nvSpPr>
        <p:spPr>
          <a:xfrm>
            <a:off x="577661" y="4829068"/>
            <a:ext cx="39703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Augmented Matrix is </a:t>
            </a:r>
            <a:endParaRPr lang="en-US" sz="28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748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3" grpId="0" animBg="1"/>
      <p:bldP spid="14" grpId="0"/>
      <p:bldP spid="15" grpId="0"/>
      <p:bldP spid="16" grpId="0"/>
      <p:bldP spid="17" grpId="0" animBg="1"/>
      <p:bldP spid="18" grpId="0" animBg="1"/>
      <p:bldP spid="19" grpId="0" animBg="1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675261-5930-45C2-FBFA-2E9460B16AD0}"/>
              </a:ext>
            </a:extLst>
          </p:cNvPr>
          <p:cNvSpPr/>
          <p:nvPr/>
        </p:nvSpPr>
        <p:spPr>
          <a:xfrm>
            <a:off x="6858000" y="1"/>
            <a:ext cx="4294682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 Elimination Method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EC47C8-FB64-7176-D062-9CA58AF5E535}"/>
                  </a:ext>
                </a:extLst>
              </p:cNvPr>
              <p:cNvSpPr txBox="1"/>
              <p:nvPr/>
            </p:nvSpPr>
            <p:spPr>
              <a:xfrm>
                <a:off x="76200" y="83512"/>
                <a:ext cx="1654107" cy="71840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PK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lang="en-US" b="1" i="1" smtClean="0">
                                          <a:solidFill>
                                            <a:srgbClr val="FF99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𝟗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  <m:e>
                                      <m:r>
                                        <a:rPr lang="en-US" b="1" i="1" smtClean="0">
                                          <a:solidFill>
                                            <a:srgbClr val="FF99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𝟔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𝟓</m:t>
                                      </m:r>
                                    </m:e>
                                    <m:e>
                                      <m:r>
                                        <a:rPr lang="en-US" b="1" i="1" smtClean="0">
                                          <a:solidFill>
                                            <a:srgbClr val="FF99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EC47C8-FB64-7176-D062-9CA58AF5E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83512"/>
                <a:ext cx="1654107" cy="7184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D12BC0B-6C0D-B1BC-1F56-025DAC7E5246}"/>
                  </a:ext>
                </a:extLst>
              </p:cNvPr>
              <p:cNvSpPr txBox="1"/>
              <p:nvPr/>
            </p:nvSpPr>
            <p:spPr>
              <a:xfrm>
                <a:off x="2352092" y="239943"/>
                <a:ext cx="1224566" cy="27699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K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PK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D12BC0B-6C0D-B1BC-1F56-025DAC7E5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092" y="239943"/>
                <a:ext cx="1224566" cy="276999"/>
              </a:xfrm>
              <a:prstGeom prst="rect">
                <a:avLst/>
              </a:prstGeom>
              <a:blipFill>
                <a:blip r:embed="rId3"/>
                <a:stretch>
                  <a:fillRect l="-3941" r="-98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8DB008E-1EA1-0DD7-9026-461A96EBF821}"/>
                  </a:ext>
                </a:extLst>
              </p:cNvPr>
              <p:cNvSpPr txBox="1"/>
              <p:nvPr/>
            </p:nvSpPr>
            <p:spPr>
              <a:xfrm>
                <a:off x="4009944" y="7312"/>
                <a:ext cx="1753942" cy="63863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PK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600" b="1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solidFill>
                                            <a:srgbClr val="FF99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𝟗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𝟕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𝟏𝟕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𝟔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𝟓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solidFill>
                                            <a:srgbClr val="FF99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sz="16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8DB008E-1EA1-0DD7-9026-461A96EBF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9944" y="7312"/>
                <a:ext cx="1753942" cy="6386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FC3F8E-44BA-1CB0-506C-302BE2403BDF}"/>
                  </a:ext>
                </a:extLst>
              </p:cNvPr>
              <p:cNvSpPr txBox="1"/>
              <p:nvPr/>
            </p:nvSpPr>
            <p:spPr>
              <a:xfrm>
                <a:off x="2352092" y="873309"/>
                <a:ext cx="1224566" cy="27699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K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PK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FC3F8E-44BA-1CB0-506C-302BE2403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092" y="873309"/>
                <a:ext cx="1224566" cy="276999"/>
              </a:xfrm>
              <a:prstGeom prst="rect">
                <a:avLst/>
              </a:prstGeom>
              <a:blipFill>
                <a:blip r:embed="rId5"/>
                <a:stretch>
                  <a:fillRect l="-3941" r="-98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06EC206-9202-EFAC-A060-05460A8A6C41}"/>
                  </a:ext>
                </a:extLst>
              </p:cNvPr>
              <p:cNvSpPr txBox="1"/>
              <p:nvPr/>
            </p:nvSpPr>
            <p:spPr>
              <a:xfrm>
                <a:off x="4009944" y="722148"/>
                <a:ext cx="1877372" cy="6386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PK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solidFill>
                                            <a:srgbClr val="FF99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𝟗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𝟕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𝟏𝟕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𝟏𝟏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𝟐𝟕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sz="16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06EC206-9202-EFAC-A060-05460A8A6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9944" y="722148"/>
                <a:ext cx="1877372" cy="6386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7A6257F-5004-0507-3EAA-48E2488C83D2}"/>
                  </a:ext>
                </a:extLst>
              </p:cNvPr>
              <p:cNvSpPr txBox="1"/>
              <p:nvPr/>
            </p:nvSpPr>
            <p:spPr>
              <a:xfrm>
                <a:off x="2352092" y="1600200"/>
                <a:ext cx="528030" cy="4033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l-GR" sz="14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l-GR" sz="14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PK" sz="14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7A6257F-5004-0507-3EAA-48E2488C8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092" y="1600200"/>
                <a:ext cx="528030" cy="403316"/>
              </a:xfrm>
              <a:prstGeom prst="rect">
                <a:avLst/>
              </a:prstGeom>
              <a:blipFill>
                <a:blip r:embed="rId7"/>
                <a:stretch>
                  <a:fillRect l="-5682" r="-1136" b="-10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C563731-64E7-739C-752D-9CADD8FAD46A}"/>
                  </a:ext>
                </a:extLst>
              </p:cNvPr>
              <p:cNvSpPr txBox="1"/>
              <p:nvPr/>
            </p:nvSpPr>
            <p:spPr>
              <a:xfrm>
                <a:off x="4009944" y="1444358"/>
                <a:ext cx="2202783" cy="6575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PK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solidFill>
                                            <a:srgbClr val="FF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solidFill>
                                            <a:srgbClr val="FF99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𝟗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𝟕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𝟏𝟕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𝟏𝟏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𝟐𝟕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sz="16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C563731-64E7-739C-752D-9CADD8FAD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9944" y="1444358"/>
                <a:ext cx="2202783" cy="6575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B8E5A8F-E3DB-BDA2-0B49-B06F47B77B50}"/>
                  </a:ext>
                </a:extLst>
              </p:cNvPr>
              <p:cNvSpPr txBox="1"/>
              <p:nvPr/>
            </p:nvSpPr>
            <p:spPr>
              <a:xfrm>
                <a:off x="2352092" y="2409789"/>
                <a:ext cx="1224566" cy="27699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K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PK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B8E5A8F-E3DB-BDA2-0B49-B06F47B77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092" y="2409789"/>
                <a:ext cx="1224566" cy="276999"/>
              </a:xfrm>
              <a:prstGeom prst="rect">
                <a:avLst/>
              </a:prstGeom>
              <a:blipFill>
                <a:blip r:embed="rId9"/>
                <a:stretch>
                  <a:fillRect l="-3941" r="-98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3F4DA3E-57A3-238B-B3ED-F261531FD0A7}"/>
                  </a:ext>
                </a:extLst>
              </p:cNvPr>
              <p:cNvSpPr txBox="1"/>
              <p:nvPr/>
            </p:nvSpPr>
            <p:spPr>
              <a:xfrm>
                <a:off x="4041899" y="2219513"/>
                <a:ext cx="2206501" cy="7825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PK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solidFill>
                                            <a:srgbClr val="FF99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𝟗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𝟕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𝟏𝟕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solidFill>
                                            <a:srgbClr val="00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sz="16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3F4DA3E-57A3-238B-B3ED-F261531FD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899" y="2219513"/>
                <a:ext cx="2206501" cy="782587"/>
              </a:xfrm>
              <a:prstGeom prst="rect">
                <a:avLst/>
              </a:prstGeom>
              <a:blipFill>
                <a:blip r:embed="rId10"/>
                <a:stretch>
                  <a:fillRect b="-7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0CEC0D7-E22F-39D4-673C-D139198914CD}"/>
                  </a:ext>
                </a:extLst>
              </p:cNvPr>
              <p:cNvSpPr txBox="1"/>
              <p:nvPr/>
            </p:nvSpPr>
            <p:spPr>
              <a:xfrm>
                <a:off x="2352092" y="3291628"/>
                <a:ext cx="662681" cy="21544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PK" sz="14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0CEC0D7-E22F-39D4-673C-D13919891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092" y="3291628"/>
                <a:ext cx="662681" cy="215444"/>
              </a:xfrm>
              <a:prstGeom prst="rect">
                <a:avLst/>
              </a:prstGeom>
              <a:blipFill>
                <a:blip r:embed="rId11"/>
                <a:stretch>
                  <a:fillRect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8759F1D-8185-996C-D6AF-0BCE2D69C63F}"/>
                  </a:ext>
                </a:extLst>
              </p:cNvPr>
              <p:cNvSpPr txBox="1"/>
              <p:nvPr/>
            </p:nvSpPr>
            <p:spPr>
              <a:xfrm>
                <a:off x="4041898" y="3093083"/>
                <a:ext cx="2202783" cy="6771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PK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solidFill>
                                            <a:srgbClr val="FF99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𝟗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𝟕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𝟏𝟕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1600" b="1" i="1" smtClean="0">
                                          <a:solidFill>
                                            <a:srgbClr val="FF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sz="16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8759F1D-8185-996C-D6AF-0BCE2D69C6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898" y="3093083"/>
                <a:ext cx="2202783" cy="67717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D6657914-9C2C-F82F-17C1-ADE542114049}"/>
              </a:ext>
            </a:extLst>
          </p:cNvPr>
          <p:cNvSpPr txBox="1"/>
          <p:nvPr/>
        </p:nvSpPr>
        <p:spPr>
          <a:xfrm>
            <a:off x="3205689" y="4179626"/>
            <a:ext cx="1905646" cy="40011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Echelon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B4ECC92-F958-7428-E584-5E19D929D234}"/>
                  </a:ext>
                </a:extLst>
              </p:cNvPr>
              <p:cNvSpPr txBox="1"/>
              <p:nvPr/>
            </p:nvSpPr>
            <p:spPr>
              <a:xfrm>
                <a:off x="7710829" y="3135726"/>
                <a:ext cx="2875018" cy="20347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sz="2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17</m:t>
                                  </m:r>
                                </m:num>
                                <m:den>
                                  <m:r>
                                    <a:rPr lang="en-US" sz="2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B4ECC92-F958-7428-E584-5E19D929D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0829" y="3135726"/>
                <a:ext cx="2875018" cy="203478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EF82455-2A20-3B36-772C-CFD26CBE3458}"/>
                  </a:ext>
                </a:extLst>
              </p:cNvPr>
              <p:cNvSpPr txBox="1"/>
              <p:nvPr/>
            </p:nvSpPr>
            <p:spPr>
              <a:xfrm>
                <a:off x="7959898" y="560389"/>
                <a:ext cx="2445413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EF82455-2A20-3B36-772C-CFD26CBE3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9898" y="560389"/>
                <a:ext cx="2445413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DA18F14-49A4-B4F8-FDFC-B35E04C427C5}"/>
                  </a:ext>
                </a:extLst>
              </p:cNvPr>
              <p:cNvSpPr txBox="1"/>
              <p:nvPr/>
            </p:nvSpPr>
            <p:spPr>
              <a:xfrm>
                <a:off x="7905439" y="1001987"/>
                <a:ext cx="2875018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DA18F14-49A4-B4F8-FDFC-B35E04C42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5439" y="1001987"/>
                <a:ext cx="2875018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C90126F-EAFB-0ACC-8AB9-D5537C3D581D}"/>
                  </a:ext>
                </a:extLst>
              </p:cNvPr>
              <p:cNvSpPr txBox="1"/>
              <p:nvPr/>
            </p:nvSpPr>
            <p:spPr>
              <a:xfrm>
                <a:off x="7905440" y="1454295"/>
                <a:ext cx="2875018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C90126F-EAFB-0ACC-8AB9-D5537C3D5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5440" y="1454295"/>
                <a:ext cx="2875018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F09DCC1-08B8-0CB7-C086-4B381A859657}"/>
                  </a:ext>
                </a:extLst>
              </p:cNvPr>
              <p:cNvSpPr txBox="1"/>
              <p:nvPr/>
            </p:nvSpPr>
            <p:spPr>
              <a:xfrm>
                <a:off x="8185526" y="2031509"/>
                <a:ext cx="2209258" cy="957891"/>
              </a:xfrm>
              <a:prstGeom prst="rect">
                <a:avLst/>
              </a:prstGeom>
              <a:solidFill>
                <a:srgbClr val="00FFFF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PK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  <m:e>
                                      <m:r>
                                        <a:rPr lang="en-US" sz="24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lang="en-US" sz="2400" b="1" i="1" smtClean="0"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lang="en-US" sz="2400" b="1" i="1" smtClean="0">
                                          <a:solidFill>
                                            <a:srgbClr val="FF99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𝟗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  <m:e>
                                      <m:r>
                                        <a:rPr lang="en-US" sz="2400" b="1" i="1" smtClean="0">
                                          <a:solidFill>
                                            <a:srgbClr val="FF99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  <m:e>
                                      <m:r>
                                        <a:rPr lang="en-US" sz="2400" b="1" i="1" smtClean="0">
                                          <a:latin typeface="Cambria Math" panose="02040503050406030204" pitchFamily="18" charset="0"/>
                                        </a:rPr>
                                        <m:t>𝟔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b="1" i="1" smtClean="0">
                                          <a:latin typeface="Cambria Math" panose="02040503050406030204" pitchFamily="18" charset="0"/>
                                        </a:rPr>
                                        <m:t>𝟓</m:t>
                                      </m:r>
                                    </m:e>
                                    <m:e>
                                      <m:r>
                                        <a:rPr lang="en-US" sz="2400" b="1" i="1" smtClean="0">
                                          <a:solidFill>
                                            <a:srgbClr val="FF99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sz="24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F09DCC1-08B8-0CB7-C086-4B381A859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5526" y="2031509"/>
                <a:ext cx="2209258" cy="95789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59CE7AB4-71B1-8818-3B2D-DCFC26DBB20D}"/>
              </a:ext>
            </a:extLst>
          </p:cNvPr>
          <p:cNvSpPr txBox="1"/>
          <p:nvPr/>
        </p:nvSpPr>
        <p:spPr>
          <a:xfrm>
            <a:off x="6858000" y="1150308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9DB397-AEDC-CDBF-F572-243A2E70043C}"/>
              </a:ext>
            </a:extLst>
          </p:cNvPr>
          <p:cNvSpPr txBox="1"/>
          <p:nvPr/>
        </p:nvSpPr>
        <p:spPr>
          <a:xfrm>
            <a:off x="347671" y="4623652"/>
            <a:ext cx="3592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substituting, we have </a:t>
            </a:r>
            <a:endParaRPr lang="en-US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138EC97-CA7B-2C29-5AEA-43A9B8043F1F}"/>
                  </a:ext>
                </a:extLst>
              </p:cNvPr>
              <p:cNvSpPr txBox="1"/>
              <p:nvPr/>
            </p:nvSpPr>
            <p:spPr>
              <a:xfrm>
                <a:off x="8706787" y="5428709"/>
                <a:ext cx="1297514" cy="369332"/>
              </a:xfrm>
              <a:prstGeom prst="rect">
                <a:avLst/>
              </a:prstGeom>
              <a:solidFill>
                <a:srgbClr val="00FF00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PK" sz="2400" b="1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138EC97-CA7B-2C29-5AEA-43A9B8043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6787" y="5428709"/>
                <a:ext cx="1297514" cy="369332"/>
              </a:xfrm>
              <a:prstGeom prst="rect">
                <a:avLst/>
              </a:prstGeom>
              <a:blipFill>
                <a:blip r:embed="rId1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72A21D7-239D-818B-25EF-251E7C209F1C}"/>
                  </a:ext>
                </a:extLst>
              </p:cNvPr>
              <p:cNvSpPr txBox="1"/>
              <p:nvPr/>
            </p:nvSpPr>
            <p:spPr>
              <a:xfrm>
                <a:off x="8726280" y="5880848"/>
                <a:ext cx="1297514" cy="369332"/>
              </a:xfrm>
              <a:prstGeom prst="rect">
                <a:avLst/>
              </a:prstGeom>
              <a:solidFill>
                <a:srgbClr val="00FF00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PK" sz="2400" b="1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72A21D7-239D-818B-25EF-251E7C209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6280" y="5880848"/>
                <a:ext cx="1297514" cy="369332"/>
              </a:xfrm>
              <a:prstGeom prst="rect">
                <a:avLst/>
              </a:prstGeom>
              <a:blipFill>
                <a:blip r:embed="rId19"/>
                <a:stretch>
                  <a:fillRect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6DF487D-6C19-DA1E-FFB7-3C57E1986245}"/>
                  </a:ext>
                </a:extLst>
              </p:cNvPr>
              <p:cNvSpPr txBox="1"/>
              <p:nvPr/>
            </p:nvSpPr>
            <p:spPr>
              <a:xfrm>
                <a:off x="8726280" y="6332842"/>
                <a:ext cx="1267666" cy="369332"/>
              </a:xfrm>
              <a:prstGeom prst="rect">
                <a:avLst/>
              </a:prstGeom>
              <a:solidFill>
                <a:srgbClr val="00FF00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PK" sz="2400" b="1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6DF487D-6C19-DA1E-FFB7-3C57E1986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6280" y="6332842"/>
                <a:ext cx="1267666" cy="369332"/>
              </a:xfrm>
              <a:prstGeom prst="rect">
                <a:avLst/>
              </a:prstGeom>
              <a:blipFill>
                <a:blip r:embed="rId2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F11B424-6BD3-94A6-CB69-BDDA99D98F9B}"/>
              </a:ext>
            </a:extLst>
          </p:cNvPr>
          <p:cNvCxnSpPr/>
          <p:nvPr/>
        </p:nvCxnSpPr>
        <p:spPr>
          <a:xfrm>
            <a:off x="6385810" y="3770256"/>
            <a:ext cx="1519629" cy="40937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B8C1D86-2152-6629-8814-1856029573B8}"/>
              </a:ext>
            </a:extLst>
          </p:cNvPr>
          <p:cNvSpPr txBox="1"/>
          <p:nvPr/>
        </p:nvSpPr>
        <p:spPr>
          <a:xfrm>
            <a:off x="6795083" y="3123049"/>
            <a:ext cx="510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5289240-76A1-625D-018C-2223B994CC25}"/>
                  </a:ext>
                </a:extLst>
              </p:cNvPr>
              <p:cNvSpPr txBox="1"/>
              <p:nvPr/>
            </p:nvSpPr>
            <p:spPr>
              <a:xfrm>
                <a:off x="949708" y="5123435"/>
                <a:ext cx="2202783" cy="518604"/>
              </a:xfrm>
              <a:prstGeom prst="rect">
                <a:avLst/>
              </a:prstGeom>
              <a:noFill/>
              <a:ln w="38100">
                <a:solidFill>
                  <a:srgbClr val="FF99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𝟕</m:t>
                          </m:r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PK" b="1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5289240-76A1-625D-018C-2223B994CC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708" y="5123435"/>
                <a:ext cx="2202783" cy="51860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 w="38100">
                <a:solidFill>
                  <a:srgbClr val="FF99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7A6BBAC-C5A8-5A22-3014-77DF31B6D67B}"/>
                  </a:ext>
                </a:extLst>
              </p:cNvPr>
              <p:cNvSpPr txBox="1"/>
              <p:nvPr/>
            </p:nvSpPr>
            <p:spPr>
              <a:xfrm>
                <a:off x="3433519" y="5305598"/>
                <a:ext cx="2202783" cy="307777"/>
              </a:xfrm>
              <a:prstGeom prst="rect">
                <a:avLst/>
              </a:prstGeom>
              <a:noFill/>
              <a:ln w="38100">
                <a:solidFill>
                  <a:srgbClr val="FF99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PK" sz="2000" b="1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7A6BBAC-C5A8-5A22-3014-77DF31B6D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519" y="5305598"/>
                <a:ext cx="2202783" cy="307777"/>
              </a:xfrm>
              <a:prstGeom prst="rect">
                <a:avLst/>
              </a:prstGeom>
              <a:blipFill>
                <a:blip r:embed="rId22"/>
                <a:stretch>
                  <a:fillRect b="-17544"/>
                </a:stretch>
              </a:blipFill>
              <a:ln w="38100">
                <a:solidFill>
                  <a:srgbClr val="FF99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356D7CD-F086-99ED-0598-00CB55E9D9AA}"/>
                  </a:ext>
                </a:extLst>
              </p:cNvPr>
              <p:cNvSpPr txBox="1"/>
              <p:nvPr/>
            </p:nvSpPr>
            <p:spPr>
              <a:xfrm>
                <a:off x="939178" y="5890237"/>
                <a:ext cx="2202783" cy="307777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smtClean="0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PK" sz="2000" b="1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356D7CD-F086-99ED-0598-00CB55E9D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178" y="5890237"/>
                <a:ext cx="2202783" cy="307777"/>
              </a:xfrm>
              <a:prstGeom prst="rect">
                <a:avLst/>
              </a:prstGeom>
              <a:blipFill>
                <a:blip r:embed="rId23"/>
                <a:stretch>
                  <a:fillRect b="-24561"/>
                </a:stretch>
              </a:blipFill>
              <a:ln w="381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C1321E3-8F09-85E9-2976-5E5B1A904142}"/>
                  </a:ext>
                </a:extLst>
              </p:cNvPr>
              <p:cNvSpPr txBox="1"/>
              <p:nvPr/>
            </p:nvSpPr>
            <p:spPr>
              <a:xfrm>
                <a:off x="3433519" y="5858977"/>
                <a:ext cx="2435920" cy="246221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PK" sz="1600" b="1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C1321E3-8F09-85E9-2976-5E5B1A904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519" y="5858977"/>
                <a:ext cx="2435920" cy="246221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 w="381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273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  <p:bldP spid="25" grpId="0" animBg="1"/>
      <p:bldP spid="27" grpId="0"/>
      <p:bldP spid="28" grpId="0" animBg="1"/>
      <p:bldP spid="29" grpId="0" animBg="1"/>
      <p:bldP spid="30" grpId="0" animBg="1"/>
      <p:bldP spid="31" grpId="0" animBg="1"/>
      <p:bldP spid="34" grpId="0"/>
      <p:bldP spid="36" grpId="0" animBg="1"/>
      <p:bldP spid="37" grpId="0" animBg="1"/>
      <p:bldP spid="38" grpId="0" animBg="1"/>
      <p:bldP spid="41" grpId="0"/>
      <p:bldP spid="42" grpId="0" animBg="1"/>
      <p:bldP spid="43" grpId="0" animBg="1"/>
      <p:bldP spid="46" grpId="0" animBg="1"/>
      <p:bldP spid="4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B94567-1CA3-D2BD-C3D0-44E988A040B1}"/>
              </a:ext>
            </a:extLst>
          </p:cNvPr>
          <p:cNvSpPr txBox="1"/>
          <p:nvPr/>
        </p:nvSpPr>
        <p:spPr>
          <a:xfrm>
            <a:off x="0" y="-6453"/>
            <a:ext cx="121920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 Gauss-Jordan Elimination Method – Working Rule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4123D0-B9BE-014B-A706-FE0BB01EB271}"/>
              </a:ext>
            </a:extLst>
          </p:cNvPr>
          <p:cNvSpPr txBox="1"/>
          <p:nvPr/>
        </p:nvSpPr>
        <p:spPr>
          <a:xfrm>
            <a:off x="138658" y="1011281"/>
            <a:ext cx="1176353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Gauss-Jordan method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an improved version of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 elimination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used to solve a system of linear equations by transforming the augmented matrix into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reduced row echelon form (RREF)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1CCA75-9047-35E1-47F1-B2364CB80EF7}"/>
              </a:ext>
            </a:extLst>
          </p:cNvPr>
          <p:cNvSpPr txBox="1"/>
          <p:nvPr/>
        </p:nvSpPr>
        <p:spPr>
          <a:xfrm>
            <a:off x="329783" y="2653259"/>
            <a:ext cx="1620957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en-US" sz="3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DF2876-9C08-797B-AAD9-EE58D7A58E0A}"/>
              </a:ext>
            </a:extLst>
          </p:cNvPr>
          <p:cNvSpPr txBox="1"/>
          <p:nvPr/>
        </p:nvSpPr>
        <p:spPr>
          <a:xfrm>
            <a:off x="1053064" y="3414010"/>
            <a:ext cx="61234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Augmented Matrix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D8C94F-D276-1BD5-1196-F280C5AA7C5B}"/>
              </a:ext>
            </a:extLst>
          </p:cNvPr>
          <p:cNvSpPr txBox="1"/>
          <p:nvPr/>
        </p:nvSpPr>
        <p:spPr>
          <a:xfrm>
            <a:off x="1053064" y="4515145"/>
            <a:ext cx="75662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Convert to Reduced Row Echelon Form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D8F751-7497-582D-6373-68CC6D8F23AF}"/>
              </a:ext>
            </a:extLst>
          </p:cNvPr>
          <p:cNvSpPr txBox="1"/>
          <p:nvPr/>
        </p:nvSpPr>
        <p:spPr>
          <a:xfrm>
            <a:off x="1053064" y="5674490"/>
            <a:ext cx="61234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Read the solution</a:t>
            </a:r>
          </a:p>
        </p:txBody>
      </p:sp>
    </p:spTree>
    <p:extLst>
      <p:ext uri="{BB962C8B-B14F-4D97-AF65-F5344CB8AC3E}">
        <p14:creationId xmlns:p14="http://schemas.microsoft.com/office/powerpoint/2010/main" val="3572418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D5350A-9718-B047-A29E-CE13247273F0}"/>
              </a:ext>
            </a:extLst>
          </p:cNvPr>
          <p:cNvSpPr/>
          <p:nvPr/>
        </p:nvSpPr>
        <p:spPr>
          <a:xfrm>
            <a:off x="6857999" y="7312"/>
            <a:ext cx="3901936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 Jordan Method</a:t>
            </a:r>
            <a:endParaRPr lang="en-US" sz="2800" b="1" dirty="0">
              <a:solidFill>
                <a:srgbClr val="3A3A3A"/>
              </a:solidFill>
              <a:latin typeface="-apple-syste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B4993F-D5AC-B563-C901-5CD734E6BBE5}"/>
                  </a:ext>
                </a:extLst>
              </p:cNvPr>
              <p:cNvSpPr txBox="1"/>
              <p:nvPr/>
            </p:nvSpPr>
            <p:spPr>
              <a:xfrm>
                <a:off x="76200" y="83512"/>
                <a:ext cx="1654107" cy="71840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PK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lang="en-US" b="1" i="1" smtClean="0">
                                          <a:solidFill>
                                            <a:srgbClr val="FF99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𝟗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  <m:e>
                                      <m:r>
                                        <a:rPr lang="en-US" b="1" i="1" smtClean="0">
                                          <a:solidFill>
                                            <a:srgbClr val="FF99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𝟔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𝟓</m:t>
                                      </m:r>
                                    </m:e>
                                    <m:e>
                                      <m:r>
                                        <a:rPr lang="en-US" b="1" i="1" smtClean="0">
                                          <a:solidFill>
                                            <a:srgbClr val="FF99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B4993F-D5AC-B563-C901-5CD734E6B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83512"/>
                <a:ext cx="1654107" cy="7184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2F996A-8020-3ECD-666A-0861EC8BF71E}"/>
                  </a:ext>
                </a:extLst>
              </p:cNvPr>
              <p:cNvSpPr txBox="1"/>
              <p:nvPr/>
            </p:nvSpPr>
            <p:spPr>
              <a:xfrm>
                <a:off x="2352092" y="239943"/>
                <a:ext cx="1224566" cy="27699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K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PK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2F996A-8020-3ECD-666A-0861EC8BF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092" y="239943"/>
                <a:ext cx="1224566" cy="276999"/>
              </a:xfrm>
              <a:prstGeom prst="rect">
                <a:avLst/>
              </a:prstGeom>
              <a:blipFill>
                <a:blip r:embed="rId3"/>
                <a:stretch>
                  <a:fillRect l="-3941" r="-98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0E260E4-E0E1-DAB0-3F67-BE1EB4E97596}"/>
                  </a:ext>
                </a:extLst>
              </p:cNvPr>
              <p:cNvSpPr txBox="1"/>
              <p:nvPr/>
            </p:nvSpPr>
            <p:spPr>
              <a:xfrm>
                <a:off x="4009944" y="7312"/>
                <a:ext cx="1753942" cy="63863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PK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600" b="1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solidFill>
                                            <a:srgbClr val="FF99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𝟗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𝟕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𝟏𝟕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𝟔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𝟓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solidFill>
                                            <a:srgbClr val="FF99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sz="16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0E260E4-E0E1-DAB0-3F67-BE1EB4E975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9944" y="7312"/>
                <a:ext cx="1753942" cy="6386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3A4245E-F6B7-3B7F-3B2C-7FD786D522C1}"/>
                  </a:ext>
                </a:extLst>
              </p:cNvPr>
              <p:cNvSpPr txBox="1"/>
              <p:nvPr/>
            </p:nvSpPr>
            <p:spPr>
              <a:xfrm>
                <a:off x="2352092" y="873309"/>
                <a:ext cx="1224566" cy="27699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K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PK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3A4245E-F6B7-3B7F-3B2C-7FD786D52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092" y="873309"/>
                <a:ext cx="1224566" cy="276999"/>
              </a:xfrm>
              <a:prstGeom prst="rect">
                <a:avLst/>
              </a:prstGeom>
              <a:blipFill>
                <a:blip r:embed="rId5"/>
                <a:stretch>
                  <a:fillRect l="-3941" r="-98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87440E-806C-039A-8E84-C1A45163FFFE}"/>
                  </a:ext>
                </a:extLst>
              </p:cNvPr>
              <p:cNvSpPr txBox="1"/>
              <p:nvPr/>
            </p:nvSpPr>
            <p:spPr>
              <a:xfrm>
                <a:off x="4009944" y="722148"/>
                <a:ext cx="1877372" cy="6386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PK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solidFill>
                                            <a:srgbClr val="FF99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𝟗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𝟕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𝟏𝟕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𝟏𝟏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𝟐𝟕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sz="16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87440E-806C-039A-8E84-C1A45163F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9944" y="722148"/>
                <a:ext cx="1877372" cy="6386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ECD0177-955C-6752-1647-084B58F1ACE2}"/>
                  </a:ext>
                </a:extLst>
              </p:cNvPr>
              <p:cNvSpPr txBox="1"/>
              <p:nvPr/>
            </p:nvSpPr>
            <p:spPr>
              <a:xfrm>
                <a:off x="2352092" y="1600200"/>
                <a:ext cx="528030" cy="4033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l-GR" sz="14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l-GR" sz="14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PK" sz="14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ECD0177-955C-6752-1647-084B58F1A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092" y="1600200"/>
                <a:ext cx="528030" cy="403316"/>
              </a:xfrm>
              <a:prstGeom prst="rect">
                <a:avLst/>
              </a:prstGeom>
              <a:blipFill>
                <a:blip r:embed="rId7"/>
                <a:stretch>
                  <a:fillRect l="-5682" r="-1136" b="-10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E5DD7C-728B-56D1-2ED5-F5D2318728AD}"/>
                  </a:ext>
                </a:extLst>
              </p:cNvPr>
              <p:cNvSpPr txBox="1"/>
              <p:nvPr/>
            </p:nvSpPr>
            <p:spPr>
              <a:xfrm>
                <a:off x="4009944" y="1444358"/>
                <a:ext cx="2202783" cy="6575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PK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solidFill>
                                            <a:srgbClr val="FF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solidFill>
                                            <a:srgbClr val="FF99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𝟗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𝟕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𝟏𝟕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𝟏𝟏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𝟐𝟕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sz="16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E5DD7C-728B-56D1-2ED5-F5D231872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9944" y="1444358"/>
                <a:ext cx="2202783" cy="6575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2B1E31F-42A4-C4E4-A379-6F33F9DDCFE0}"/>
                  </a:ext>
                </a:extLst>
              </p:cNvPr>
              <p:cNvSpPr txBox="1"/>
              <p:nvPr/>
            </p:nvSpPr>
            <p:spPr>
              <a:xfrm>
                <a:off x="2352092" y="2409789"/>
                <a:ext cx="1224566" cy="27699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K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PK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2B1E31F-42A4-C4E4-A379-6F33F9DDC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092" y="2409789"/>
                <a:ext cx="1224566" cy="276999"/>
              </a:xfrm>
              <a:prstGeom prst="rect">
                <a:avLst/>
              </a:prstGeom>
              <a:blipFill>
                <a:blip r:embed="rId9"/>
                <a:stretch>
                  <a:fillRect l="-3941" r="-98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D0A0C6A-9DC1-AA5F-34FD-868201AB3C31}"/>
                  </a:ext>
                </a:extLst>
              </p:cNvPr>
              <p:cNvSpPr txBox="1"/>
              <p:nvPr/>
            </p:nvSpPr>
            <p:spPr>
              <a:xfrm>
                <a:off x="4041899" y="2219513"/>
                <a:ext cx="2206501" cy="7825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PK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solidFill>
                                            <a:srgbClr val="FF99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𝟗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𝟕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𝟏𝟕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solidFill>
                                            <a:srgbClr val="00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sz="16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D0A0C6A-9DC1-AA5F-34FD-868201AB3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899" y="2219513"/>
                <a:ext cx="2206501" cy="782587"/>
              </a:xfrm>
              <a:prstGeom prst="rect">
                <a:avLst/>
              </a:prstGeom>
              <a:blipFill>
                <a:blip r:embed="rId10"/>
                <a:stretch>
                  <a:fillRect b="-7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F5C8ED-8C5C-F390-76FC-8D8A1C3295A7}"/>
                  </a:ext>
                </a:extLst>
              </p:cNvPr>
              <p:cNvSpPr txBox="1"/>
              <p:nvPr/>
            </p:nvSpPr>
            <p:spPr>
              <a:xfrm>
                <a:off x="2352092" y="3291628"/>
                <a:ext cx="662681" cy="21544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PK" sz="14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F5C8ED-8C5C-F390-76FC-8D8A1C329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092" y="3291628"/>
                <a:ext cx="662681" cy="215444"/>
              </a:xfrm>
              <a:prstGeom prst="rect">
                <a:avLst/>
              </a:prstGeom>
              <a:blipFill>
                <a:blip r:embed="rId11"/>
                <a:stretch>
                  <a:fillRect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7A045B8-83A5-054F-EEEA-CACFE01DAE3D}"/>
                  </a:ext>
                </a:extLst>
              </p:cNvPr>
              <p:cNvSpPr txBox="1"/>
              <p:nvPr/>
            </p:nvSpPr>
            <p:spPr>
              <a:xfrm>
                <a:off x="4041898" y="3093083"/>
                <a:ext cx="2202783" cy="6771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PK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solidFill>
                                            <a:srgbClr val="FF99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𝟗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𝟕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𝟏𝟕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1600" b="1" i="1" smtClean="0">
                                          <a:solidFill>
                                            <a:srgbClr val="FF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sz="16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7A045B8-83A5-054F-EEEA-CACFE01DA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898" y="3093083"/>
                <a:ext cx="2202783" cy="67717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51E0898-9052-0EBC-6CD5-09EC2C8A4F7F}"/>
                  </a:ext>
                </a:extLst>
              </p:cNvPr>
              <p:cNvSpPr txBox="1"/>
              <p:nvPr/>
            </p:nvSpPr>
            <p:spPr>
              <a:xfrm>
                <a:off x="2352092" y="4066401"/>
                <a:ext cx="871905" cy="27699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K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PK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51E0898-9052-0EBC-6CD5-09EC2C8A4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092" y="4066401"/>
                <a:ext cx="871905" cy="276999"/>
              </a:xfrm>
              <a:prstGeom prst="rect">
                <a:avLst/>
              </a:prstGeom>
              <a:blipFill>
                <a:blip r:embed="rId13"/>
                <a:stretch>
                  <a:fillRect l="-5517" r="-2069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A6E928E-72ED-9EE4-D5AC-5892F877B69A}"/>
                  </a:ext>
                </a:extLst>
              </p:cNvPr>
              <p:cNvSpPr txBox="1"/>
              <p:nvPr/>
            </p:nvSpPr>
            <p:spPr>
              <a:xfrm>
                <a:off x="4041898" y="3896606"/>
                <a:ext cx="2202783" cy="6771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PK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𝟏𝟏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𝟑𝟓</m:t>
                                      </m:r>
                                      <m:r>
                                        <a:rPr lang="en-US" sz="16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sz="16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𝟕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𝟏𝟕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sz="16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A6E928E-72ED-9EE4-D5AC-5892F877B6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898" y="3896606"/>
                <a:ext cx="2202783" cy="67717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84E74EE-22BD-EFB5-E0F3-5C84CE68A973}"/>
                  </a:ext>
                </a:extLst>
              </p:cNvPr>
              <p:cNvSpPr txBox="1"/>
              <p:nvPr/>
            </p:nvSpPr>
            <p:spPr>
              <a:xfrm>
                <a:off x="2352092" y="4869479"/>
                <a:ext cx="1614096" cy="27699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K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𝟏𝟏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PK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84E74EE-22BD-EFB5-E0F3-5C84CE68A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092" y="4869479"/>
                <a:ext cx="1614096" cy="276999"/>
              </a:xfrm>
              <a:prstGeom prst="rect">
                <a:avLst/>
              </a:prstGeom>
              <a:blipFill>
                <a:blip r:embed="rId15"/>
                <a:stretch>
                  <a:fillRect l="-2622" r="-749" b="-3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2185BAB-869D-2E1B-012C-E16E5A3185D2}"/>
                  </a:ext>
                </a:extLst>
              </p:cNvPr>
              <p:cNvSpPr txBox="1"/>
              <p:nvPr/>
            </p:nvSpPr>
            <p:spPr>
              <a:xfrm>
                <a:off x="4045617" y="4648200"/>
                <a:ext cx="2202783" cy="6771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PK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1600" b="1" i="1" smtClean="0">
                                          <a:solidFill>
                                            <a:srgbClr val="CC33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𝟕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𝟏𝟕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sz="1600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2185BAB-869D-2E1B-012C-E16E5A318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5617" y="4648200"/>
                <a:ext cx="2202783" cy="67717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0FF8705-5F52-7C5B-DB2E-D5D808E85F4B}"/>
                  </a:ext>
                </a:extLst>
              </p:cNvPr>
              <p:cNvSpPr txBox="1"/>
              <p:nvPr/>
            </p:nvSpPr>
            <p:spPr>
              <a:xfrm>
                <a:off x="2352092" y="6016646"/>
                <a:ext cx="1476238" cy="27699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K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PK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0FF8705-5F52-7C5B-DB2E-D5D808E85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092" y="6016646"/>
                <a:ext cx="1476238" cy="276999"/>
              </a:xfrm>
              <a:prstGeom prst="rect">
                <a:avLst/>
              </a:prstGeom>
              <a:blipFill>
                <a:blip r:embed="rId17"/>
                <a:stretch>
                  <a:fillRect l="-3279" r="-820" b="-3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D0F6203-601B-8692-82CF-EF96297CE117}"/>
                  </a:ext>
                </a:extLst>
              </p:cNvPr>
              <p:cNvSpPr txBox="1"/>
              <p:nvPr/>
            </p:nvSpPr>
            <p:spPr>
              <a:xfrm>
                <a:off x="4041898" y="5596370"/>
                <a:ext cx="2309478" cy="11175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PK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  <m:e>
                                      <m: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  <m:e>
                                      <m:r>
                                        <a:rPr lang="en-US" sz="28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1" i="1" smtClean="0">
                                          <a:solidFill>
                                            <a:srgbClr val="CC33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  <m:e>
                                      <m: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  <m:e>
                                      <m: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  <m:e>
                                      <m: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D0F6203-601B-8692-82CF-EF96297CE1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898" y="5596370"/>
                <a:ext cx="2309478" cy="111755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CF77694-0402-1D46-FECD-A86A3EA646A4}"/>
                  </a:ext>
                </a:extLst>
              </p:cNvPr>
              <p:cNvSpPr txBox="1"/>
              <p:nvPr/>
            </p:nvSpPr>
            <p:spPr>
              <a:xfrm>
                <a:off x="8498927" y="547140"/>
                <a:ext cx="2445413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CF77694-0402-1D46-FECD-A86A3EA64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8927" y="547140"/>
                <a:ext cx="2445413" cy="43088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28A5ADE-A292-709D-0D0D-3D289F3CCBF6}"/>
                  </a:ext>
                </a:extLst>
              </p:cNvPr>
              <p:cNvSpPr txBox="1"/>
              <p:nvPr/>
            </p:nvSpPr>
            <p:spPr>
              <a:xfrm>
                <a:off x="8444468" y="988738"/>
                <a:ext cx="2875018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28A5ADE-A292-709D-0D0D-3D289F3CC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4468" y="988738"/>
                <a:ext cx="2875018" cy="43088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C733195-B2CD-45CA-BC5E-748C14A7FF01}"/>
                  </a:ext>
                </a:extLst>
              </p:cNvPr>
              <p:cNvSpPr txBox="1"/>
              <p:nvPr/>
            </p:nvSpPr>
            <p:spPr>
              <a:xfrm>
                <a:off x="8444469" y="1441046"/>
                <a:ext cx="2875018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C733195-B2CD-45CA-BC5E-748C14A7F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4469" y="1441046"/>
                <a:ext cx="2875018" cy="43088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A2FE6C0-158A-047B-A4CD-358605F1F7FF}"/>
                  </a:ext>
                </a:extLst>
              </p:cNvPr>
              <p:cNvSpPr txBox="1"/>
              <p:nvPr/>
            </p:nvSpPr>
            <p:spPr>
              <a:xfrm>
                <a:off x="8498927" y="2357830"/>
                <a:ext cx="2209258" cy="957891"/>
              </a:xfrm>
              <a:prstGeom prst="rect">
                <a:avLst/>
              </a:prstGeom>
              <a:solidFill>
                <a:srgbClr val="00FFFF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PK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  <m:e>
                                      <m:r>
                                        <a:rPr lang="en-US" sz="24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lang="en-US" sz="2400" b="1" i="1" smtClean="0"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e>
                                      <m:r>
                                        <a:rPr lang="en-US" sz="2400" b="1" i="1" smtClean="0">
                                          <a:solidFill>
                                            <a:srgbClr val="FF99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𝟗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  <m:e>
                                      <m:r>
                                        <a:rPr lang="en-US" sz="2400" b="1" i="1" smtClean="0">
                                          <a:solidFill>
                                            <a:srgbClr val="FF99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  <m:e>
                                      <m:r>
                                        <a:rPr lang="en-US" sz="2400" b="1" i="1" smtClean="0">
                                          <a:latin typeface="Cambria Math" panose="02040503050406030204" pitchFamily="18" charset="0"/>
                                        </a:rPr>
                                        <m:t>𝟔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b="1" i="1" smtClean="0">
                                          <a:latin typeface="Cambria Math" panose="02040503050406030204" pitchFamily="18" charset="0"/>
                                        </a:rPr>
                                        <m:t>𝟓</m:t>
                                      </m:r>
                                    </m:e>
                                    <m:e>
                                      <m:r>
                                        <a:rPr lang="en-US" sz="2400" b="1" i="1" smtClean="0">
                                          <a:solidFill>
                                            <a:srgbClr val="FF99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sz="24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A2FE6C0-158A-047B-A4CD-358605F1F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8927" y="2357830"/>
                <a:ext cx="2209258" cy="95789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70D9039-53D4-B222-D943-391B2748EE9A}"/>
                  </a:ext>
                </a:extLst>
              </p:cNvPr>
              <p:cNvSpPr txBox="1"/>
              <p:nvPr/>
            </p:nvSpPr>
            <p:spPr>
              <a:xfrm>
                <a:off x="8498927" y="3811198"/>
                <a:ext cx="2309478" cy="1117550"/>
              </a:xfrm>
              <a:prstGeom prst="rect">
                <a:avLst/>
              </a:prstGeom>
              <a:solidFill>
                <a:srgbClr val="FFCCFF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PK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  <m:e>
                                      <m: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  <m:e>
                                      <m:r>
                                        <a:rPr lang="en-US" sz="28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  <m:e>
                                      <m: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  <m:e>
                                      <m: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PK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  <m:e>
                                      <m: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70D9039-53D4-B222-D943-391B2748E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8927" y="3811198"/>
                <a:ext cx="2309478" cy="111755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6976010-B990-04B5-91DA-154FB315C7F9}"/>
                  </a:ext>
                </a:extLst>
              </p:cNvPr>
              <p:cNvSpPr txBox="1"/>
              <p:nvPr/>
            </p:nvSpPr>
            <p:spPr>
              <a:xfrm>
                <a:off x="8901668" y="5537065"/>
                <a:ext cx="1297514" cy="369332"/>
              </a:xfrm>
              <a:prstGeom prst="rect">
                <a:avLst/>
              </a:prstGeom>
              <a:solidFill>
                <a:srgbClr val="00FF00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PK" sz="2400" b="1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6976010-B990-04B5-91DA-154FB315C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1668" y="5537065"/>
                <a:ext cx="1297514" cy="369332"/>
              </a:xfrm>
              <a:prstGeom prst="rect">
                <a:avLst/>
              </a:prstGeom>
              <a:blipFill>
                <a:blip r:embed="rId2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7E68701-B7DF-EDD9-A13A-BA2E503D4BC3}"/>
                  </a:ext>
                </a:extLst>
              </p:cNvPr>
              <p:cNvSpPr txBox="1"/>
              <p:nvPr/>
            </p:nvSpPr>
            <p:spPr>
              <a:xfrm>
                <a:off x="8921161" y="5989204"/>
                <a:ext cx="1297514" cy="369332"/>
              </a:xfrm>
              <a:prstGeom prst="rect">
                <a:avLst/>
              </a:prstGeom>
              <a:solidFill>
                <a:srgbClr val="00FF00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PK" sz="2400" b="1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7E68701-B7DF-EDD9-A13A-BA2E503D4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1161" y="5989204"/>
                <a:ext cx="1297514" cy="369332"/>
              </a:xfrm>
              <a:prstGeom prst="rect">
                <a:avLst/>
              </a:prstGeom>
              <a:blipFill>
                <a:blip r:embed="rId25"/>
                <a:stretch>
                  <a:fillRect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211A67D-8E2B-53C9-F409-D93A42C66EF6}"/>
                  </a:ext>
                </a:extLst>
              </p:cNvPr>
              <p:cNvSpPr txBox="1"/>
              <p:nvPr/>
            </p:nvSpPr>
            <p:spPr>
              <a:xfrm>
                <a:off x="8921161" y="6441198"/>
                <a:ext cx="1267666" cy="369332"/>
              </a:xfrm>
              <a:prstGeom prst="rect">
                <a:avLst/>
              </a:prstGeom>
              <a:solidFill>
                <a:srgbClr val="00FF00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PK" sz="2400" b="1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211A67D-8E2B-53C9-F409-D93A42C66E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1161" y="6441198"/>
                <a:ext cx="1267666" cy="369332"/>
              </a:xfrm>
              <a:prstGeom prst="rect">
                <a:avLst/>
              </a:prstGeom>
              <a:blipFill>
                <a:blip r:embed="rId2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Arrow: Down 32">
            <a:extLst>
              <a:ext uri="{FF2B5EF4-FFF2-40B4-BE49-F238E27FC236}">
                <a16:creationId xmlns:a16="http://schemas.microsoft.com/office/drawing/2014/main" id="{1DEA06F8-985D-CD30-1D67-8380FC6484E6}"/>
              </a:ext>
            </a:extLst>
          </p:cNvPr>
          <p:cNvSpPr/>
          <p:nvPr/>
        </p:nvSpPr>
        <p:spPr>
          <a:xfrm>
            <a:off x="9340633" y="1918862"/>
            <a:ext cx="381000" cy="430887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0C79948A-1385-2434-7123-221A39277579}"/>
              </a:ext>
            </a:extLst>
          </p:cNvPr>
          <p:cNvSpPr/>
          <p:nvPr/>
        </p:nvSpPr>
        <p:spPr>
          <a:xfrm>
            <a:off x="9326085" y="4993338"/>
            <a:ext cx="381000" cy="430887"/>
          </a:xfrm>
          <a:prstGeom prst="downArrow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3E8607-5E43-1028-6FFE-DA261A0CAB63}"/>
              </a:ext>
            </a:extLst>
          </p:cNvPr>
          <p:cNvSpPr txBox="1"/>
          <p:nvPr/>
        </p:nvSpPr>
        <p:spPr>
          <a:xfrm>
            <a:off x="6858000" y="1150308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B5DF48-A2B7-B8DF-E21B-271557389E4B}"/>
              </a:ext>
            </a:extLst>
          </p:cNvPr>
          <p:cNvSpPr txBox="1"/>
          <p:nvPr/>
        </p:nvSpPr>
        <p:spPr>
          <a:xfrm>
            <a:off x="7385709" y="4139140"/>
            <a:ext cx="510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0140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  <p:bldP spid="17" grpId="0" animBg="1"/>
      <p:bldP spid="18" grpId="0"/>
      <p:bldP spid="19" grpId="0" animBg="1"/>
      <p:bldP spid="20" grpId="0"/>
      <p:bldP spid="21" grpId="0" animBg="1"/>
      <p:bldP spid="22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3339B26-9BE8-F01E-771E-110AD18EF4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9049" y="-1"/>
            <a:ext cx="3122952" cy="38954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5AED32-D87C-535A-B208-5241D6E310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215458" cy="382249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656A0CB-0033-12A1-EF24-1A6A7CDBDEF6}"/>
              </a:ext>
            </a:extLst>
          </p:cNvPr>
          <p:cNvSpPr txBox="1"/>
          <p:nvPr/>
        </p:nvSpPr>
        <p:spPr>
          <a:xfrm>
            <a:off x="4215457" y="-1"/>
            <a:ext cx="4853591" cy="6651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 Elimination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was fully developed by German mathematician </a:t>
            </a: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Carl Friedrich Gauss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(1777–1855), the </a:t>
            </a: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Gauss-Jordan method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was a refinement made later by German Geodesist </a:t>
            </a: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Wilhelm Jordan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(1842–1899).</a:t>
            </a:r>
          </a:p>
        </p:txBody>
      </p:sp>
    </p:spTree>
    <p:extLst>
      <p:ext uri="{BB962C8B-B14F-4D97-AF65-F5344CB8AC3E}">
        <p14:creationId xmlns:p14="http://schemas.microsoft.com/office/powerpoint/2010/main" val="2357466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51FB82-62CD-8FDD-B009-B71A520B91FA}"/>
                  </a:ext>
                </a:extLst>
              </p:cNvPr>
              <p:cNvSpPr txBox="1"/>
              <p:nvPr/>
            </p:nvSpPr>
            <p:spPr>
              <a:xfrm>
                <a:off x="7423002" y="550238"/>
                <a:ext cx="1656000" cy="732573"/>
              </a:xfrm>
              <a:prstGeom prst="rect">
                <a:avLst/>
              </a:prstGeom>
              <a:ln w="28575">
                <a:solidFill>
                  <a:srgbClr val="0000FF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K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51FB82-62CD-8FDD-B009-B71A520B9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3002" y="550238"/>
                <a:ext cx="1656000" cy="7325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BCB497-7136-B4CE-4771-0E8D86FEF391}"/>
                  </a:ext>
                </a:extLst>
              </p:cNvPr>
              <p:cNvSpPr txBox="1"/>
              <p:nvPr/>
            </p:nvSpPr>
            <p:spPr>
              <a:xfrm>
                <a:off x="9263003" y="539241"/>
                <a:ext cx="1152000" cy="731611"/>
              </a:xfrm>
              <a:prstGeom prst="rect">
                <a:avLst/>
              </a:prstGeom>
              <a:ln w="28575">
                <a:solidFill>
                  <a:srgbClr val="00206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 anchor="ctr">
                <a:spAutoFit/>
              </a:bodyPr>
              <a:lstStyle>
                <a:defPPr>
                  <a:defRPr lang="en-US"/>
                </a:defPPr>
                <a:lvl1pPr>
                  <a:defRPr b="1" i="1">
                    <a:solidFill>
                      <a:schemeClr val="dk1"/>
                    </a:solidFill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dk1"/>
                    </a:solidFill>
                  </a:defRPr>
                </a:lvl2pPr>
                <a:lvl3pPr>
                  <a:defRPr>
                    <a:solidFill>
                      <a:schemeClr val="dk1"/>
                    </a:solidFill>
                  </a:defRPr>
                </a:lvl3pPr>
                <a:lvl4pPr>
                  <a:defRPr>
                    <a:solidFill>
                      <a:schemeClr val="dk1"/>
                    </a:solidFill>
                  </a:defRPr>
                </a:lvl4pPr>
                <a:lvl5pPr>
                  <a:defRPr>
                    <a:solidFill>
                      <a:schemeClr val="dk1"/>
                    </a:solidFill>
                  </a:defRPr>
                </a:lvl5pPr>
                <a:lvl6pPr>
                  <a:defRPr>
                    <a:solidFill>
                      <a:schemeClr val="dk1"/>
                    </a:solidFill>
                  </a:defRPr>
                </a:lvl6pPr>
                <a:lvl7pPr>
                  <a:defRPr>
                    <a:solidFill>
                      <a:schemeClr val="dk1"/>
                    </a:solidFill>
                  </a:defRPr>
                </a:lvl7pPr>
                <a:lvl8pPr>
                  <a:defRPr>
                    <a:solidFill>
                      <a:schemeClr val="dk1"/>
                    </a:solidFill>
                  </a:defRPr>
                </a:lvl8pPr>
                <a:lvl9pPr>
                  <a:defRPr>
                    <a:solidFill>
                      <a:schemeClr val="dk1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𝟏𝟔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BCB497-7136-B4CE-4771-0E8D86FEF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3003" y="539241"/>
                <a:ext cx="1152000" cy="7316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1D9373A-27C0-EBE8-0B77-25013F1AB3E0}"/>
                  </a:ext>
                </a:extLst>
              </p:cNvPr>
              <p:cNvSpPr txBox="1"/>
              <p:nvPr/>
            </p:nvSpPr>
            <p:spPr>
              <a:xfrm>
                <a:off x="9310762" y="1380292"/>
                <a:ext cx="1056483" cy="369332"/>
              </a:xfrm>
              <a:prstGeom prst="rect">
                <a:avLst/>
              </a:prstGeom>
              <a:ln w="28575">
                <a:solidFill>
                  <a:srgbClr val="00B0F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𝑨𝒙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PK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1D9373A-27C0-EBE8-0B77-25013F1AB3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0762" y="1380292"/>
                <a:ext cx="105648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5A2EFA-C410-C9FC-7651-C95EAC87B9D4}"/>
                  </a:ext>
                </a:extLst>
              </p:cNvPr>
              <p:cNvSpPr txBox="1"/>
              <p:nvPr/>
            </p:nvSpPr>
            <p:spPr>
              <a:xfrm>
                <a:off x="1686717" y="1923542"/>
                <a:ext cx="838200" cy="461665"/>
              </a:xfrm>
              <a:prstGeom prst="rect">
                <a:avLst/>
              </a:prstGeom>
              <a:solidFill>
                <a:srgbClr val="FFC000"/>
              </a:solidFill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ysClr val="windowText" lastClr="000000"/>
                    </a:solidFill>
                    <a:latin typeface="-apple-system"/>
                  </a:rPr>
                  <a:t>=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5A2EFA-C410-C9FC-7651-C95EAC87B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6717" y="1923542"/>
                <a:ext cx="838200" cy="461665"/>
              </a:xfrm>
              <a:prstGeom prst="rect">
                <a:avLst/>
              </a:prstGeom>
              <a:blipFill>
                <a:blip r:embed="rId5"/>
                <a:stretch>
                  <a:fillRect t="-7500" b="-25000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6545FC4-225B-151B-CA21-9AA11FC1AD19}"/>
                  </a:ext>
                </a:extLst>
              </p:cNvPr>
              <p:cNvSpPr txBox="1"/>
              <p:nvPr/>
            </p:nvSpPr>
            <p:spPr>
              <a:xfrm>
                <a:off x="2729883" y="1781964"/>
                <a:ext cx="1950128" cy="7326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P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𝟏𝟔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6545FC4-225B-151B-CA21-9AA11FC1A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9883" y="1781964"/>
                <a:ext cx="1950128" cy="7326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D7B528F-E940-3760-B04D-D259363A6E93}"/>
                  </a:ext>
                </a:extLst>
              </p:cNvPr>
              <p:cNvSpPr txBox="1"/>
              <p:nvPr/>
            </p:nvSpPr>
            <p:spPr>
              <a:xfrm>
                <a:off x="4841825" y="1963344"/>
                <a:ext cx="1039151" cy="338554"/>
              </a:xfrm>
              <a:prstGeom prst="rect">
                <a:avLst/>
              </a:prstGeom>
              <a:solidFill>
                <a:srgbClr val="FFFF00"/>
              </a:solidFill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ysClr val="windowText" lastClr="000000"/>
                    </a:solidFill>
                  </a:rPr>
                  <a:t>RREF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1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1600" b="1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</m:oMath>
                </a14:m>
                <a:r>
                  <a:rPr lang="en-US" sz="1600" b="1" dirty="0">
                    <a:solidFill>
                      <a:sysClr val="windowText" lastClr="000000"/>
                    </a:solidFill>
                  </a:rPr>
                  <a:t>)</a:t>
                </a:r>
                <a:endParaRPr lang="en-US" sz="1600" b="1" dirty="0">
                  <a:solidFill>
                    <a:sysClr val="windowText" lastClr="000000"/>
                  </a:solidFill>
                  <a:latin typeface="-apple-system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D7B528F-E940-3760-B04D-D259363A6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1825" y="1963344"/>
                <a:ext cx="1039151" cy="338554"/>
              </a:xfrm>
              <a:prstGeom prst="rect">
                <a:avLst/>
              </a:prstGeom>
              <a:blipFill>
                <a:blip r:embed="rId7"/>
                <a:stretch>
                  <a:fillRect l="-568" t="-1639" b="-14754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9807B85-CBBA-5015-0C66-587CBA36A39C}"/>
                  </a:ext>
                </a:extLst>
              </p:cNvPr>
              <p:cNvSpPr txBox="1"/>
              <p:nvPr/>
            </p:nvSpPr>
            <p:spPr>
              <a:xfrm>
                <a:off x="6096001" y="1778521"/>
                <a:ext cx="1759485" cy="7325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P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9807B85-CBBA-5015-0C66-587CBA36A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1" y="1778521"/>
                <a:ext cx="1759485" cy="73257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19C895DF-E69E-58DF-8D59-7F49A902D70F}"/>
              </a:ext>
            </a:extLst>
          </p:cNvPr>
          <p:cNvSpPr/>
          <p:nvPr/>
        </p:nvSpPr>
        <p:spPr>
          <a:xfrm>
            <a:off x="6147716" y="1752601"/>
            <a:ext cx="264686" cy="271499"/>
          </a:xfrm>
          <a:prstGeom prst="ellipse">
            <a:avLst/>
          </a:prstGeom>
          <a:noFill/>
          <a:ln>
            <a:solidFill>
              <a:srgbClr val="33CC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16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9BA4791-FCFF-EBD4-CE26-4C9C439FDD7E}"/>
              </a:ext>
            </a:extLst>
          </p:cNvPr>
          <p:cNvSpPr/>
          <p:nvPr/>
        </p:nvSpPr>
        <p:spPr>
          <a:xfrm>
            <a:off x="6483770" y="2028261"/>
            <a:ext cx="243619" cy="271499"/>
          </a:xfrm>
          <a:prstGeom prst="ellipse">
            <a:avLst/>
          </a:prstGeom>
          <a:noFill/>
          <a:ln>
            <a:solidFill>
              <a:srgbClr val="33CC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16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44C92D8-DB23-BD2F-61EC-609A62E3F317}"/>
              </a:ext>
            </a:extLst>
          </p:cNvPr>
          <p:cNvSpPr/>
          <p:nvPr/>
        </p:nvSpPr>
        <p:spPr>
          <a:xfrm>
            <a:off x="6173251" y="2269679"/>
            <a:ext cx="1682234" cy="290586"/>
          </a:xfrm>
          <a:prstGeom prst="round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8C0FEDD-1ED8-3F15-5983-727456084404}"/>
                  </a:ext>
                </a:extLst>
              </p:cNvPr>
              <p:cNvSpPr txBox="1"/>
              <p:nvPr/>
            </p:nvSpPr>
            <p:spPr>
              <a:xfrm>
                <a:off x="1676400" y="2643691"/>
                <a:ext cx="10665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33CC33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b="1" dirty="0">
                    <a:solidFill>
                      <a:srgbClr val="33CC33"/>
                    </a:solidFill>
                  </a:rPr>
                  <a:t> </a:t>
                </a:r>
                <a:r>
                  <a:rPr lang="en-US" sz="2400" b="1" dirty="0"/>
                  <a:t>-</a:t>
                </a:r>
                <a14:m>
                  <m:oMath xmlns:m="http://schemas.openxmlformats.org/officeDocument/2006/math">
                    <m:r>
                      <a:rPr lang="en-US" sz="2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PK" sz="24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8C0FEDD-1ED8-3F15-5983-727456084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2643691"/>
                <a:ext cx="1066510" cy="369332"/>
              </a:xfrm>
              <a:prstGeom prst="rect">
                <a:avLst/>
              </a:prstGeom>
              <a:blipFill>
                <a:blip r:embed="rId9"/>
                <a:stretch>
                  <a:fillRect l="-7429" t="-26667" r="-5143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314A573-AC56-139C-28DE-45E21DEB5A53}"/>
                  </a:ext>
                </a:extLst>
              </p:cNvPr>
              <p:cNvSpPr txBox="1"/>
              <p:nvPr/>
            </p:nvSpPr>
            <p:spPr>
              <a:xfrm>
                <a:off x="1729904" y="3057106"/>
                <a:ext cx="10633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33CC33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400" b="1" dirty="0"/>
                  <a:t>+</a:t>
                </a:r>
                <a14:m>
                  <m:oMath xmlns:m="http://schemas.openxmlformats.org/officeDocument/2006/math">
                    <m:r>
                      <a:rPr lang="en-US" sz="2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PK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314A573-AC56-139C-28DE-45E21DEB5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904" y="3057106"/>
                <a:ext cx="1063304" cy="369332"/>
              </a:xfrm>
              <a:prstGeom prst="rect">
                <a:avLst/>
              </a:prstGeom>
              <a:blipFill>
                <a:blip r:embed="rId10"/>
                <a:stretch>
                  <a:fillRect l="-10920" t="-24590" r="-5747" b="-49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CEBF448-ED9C-8590-8EC5-BA8659D051F7}"/>
                  </a:ext>
                </a:extLst>
              </p:cNvPr>
              <p:cNvSpPr txBox="1"/>
              <p:nvPr/>
            </p:nvSpPr>
            <p:spPr>
              <a:xfrm>
                <a:off x="2182698" y="3426438"/>
                <a:ext cx="7266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GB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b="1" dirty="0"/>
                  <a:t> </a:t>
                </a:r>
                <a:endParaRPr lang="en-PK" sz="24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CEBF448-ED9C-8590-8EC5-BA8659D05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2698" y="3426438"/>
                <a:ext cx="726674" cy="369332"/>
              </a:xfrm>
              <a:prstGeom prst="rect">
                <a:avLst/>
              </a:prstGeom>
              <a:blipFill>
                <a:blip r:embed="rId11"/>
                <a:stretch>
                  <a:fillRect l="-14286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151713C-FA6B-98D2-D0A0-9DB01E276A12}"/>
                  </a:ext>
                </a:extLst>
              </p:cNvPr>
              <p:cNvSpPr txBox="1"/>
              <p:nvPr/>
            </p:nvSpPr>
            <p:spPr>
              <a:xfrm>
                <a:off x="2927482" y="3437134"/>
                <a:ext cx="2532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PK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151713C-FA6B-98D2-D0A0-9DB01E276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7482" y="3437134"/>
                <a:ext cx="253274" cy="369332"/>
              </a:xfrm>
              <a:prstGeom prst="rect">
                <a:avLst/>
              </a:prstGeom>
              <a:blipFill>
                <a:blip r:embed="rId12"/>
                <a:stretch>
                  <a:fillRect l="-26190" r="-2857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A2A3A72-B868-E383-68F0-C78310EDA584}"/>
                  </a:ext>
                </a:extLst>
              </p:cNvPr>
              <p:cNvSpPr txBox="1"/>
              <p:nvPr/>
            </p:nvSpPr>
            <p:spPr>
              <a:xfrm>
                <a:off x="4327184" y="2718017"/>
                <a:ext cx="34945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33CC33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000" b="1" dirty="0"/>
                  <a:t> =</a:t>
                </a:r>
                <a:endParaRPr lang="en-PK" sz="20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A2A3A72-B868-E383-68F0-C78310EDA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7184" y="2718017"/>
                <a:ext cx="349455" cy="307777"/>
              </a:xfrm>
              <a:prstGeom prst="rect">
                <a:avLst/>
              </a:prstGeom>
              <a:blipFill>
                <a:blip r:embed="rId13"/>
                <a:stretch>
                  <a:fillRect l="-19298" t="-26000" r="-38596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E7BF037-AD04-9E6A-6545-76EA7FA5AEF4}"/>
                  </a:ext>
                </a:extLst>
              </p:cNvPr>
              <p:cNvSpPr txBox="1"/>
              <p:nvPr/>
            </p:nvSpPr>
            <p:spPr>
              <a:xfrm>
                <a:off x="5080391" y="2759530"/>
                <a:ext cx="6588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b="1" dirty="0"/>
                  <a:t> 8</a:t>
                </a:r>
                <a:endParaRPr lang="en-PK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E7BF037-AD04-9E6A-6545-76EA7FA5A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391" y="2759530"/>
                <a:ext cx="658835" cy="276999"/>
              </a:xfrm>
              <a:prstGeom prst="rect">
                <a:avLst/>
              </a:prstGeom>
              <a:blipFill>
                <a:blip r:embed="rId14"/>
                <a:stretch>
                  <a:fillRect l="-12037" t="-28889" r="-20370" b="-5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7F17B2F-93DD-8A22-5E08-D9B08FDA93BD}"/>
                  </a:ext>
                </a:extLst>
              </p:cNvPr>
              <p:cNvSpPr txBox="1"/>
              <p:nvPr/>
            </p:nvSpPr>
            <p:spPr>
              <a:xfrm>
                <a:off x="4343704" y="3162745"/>
                <a:ext cx="35105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33CC33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000" b="1" i="1">
                        <a:solidFill>
                          <a:srgbClr val="33CC33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1" dirty="0"/>
                  <a:t>=</a:t>
                </a:r>
                <a:endParaRPr lang="en-PK" sz="2000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7F17B2F-93DD-8A22-5E08-D9B08FDA9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704" y="3162745"/>
                <a:ext cx="351058" cy="307777"/>
              </a:xfrm>
              <a:prstGeom prst="rect">
                <a:avLst/>
              </a:prstGeom>
              <a:blipFill>
                <a:blip r:embed="rId15"/>
                <a:stretch>
                  <a:fillRect l="-28070" t="-26000" r="-40351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47B4E8D-2856-B897-3106-0A8C5BFA505A}"/>
                  </a:ext>
                </a:extLst>
              </p:cNvPr>
              <p:cNvSpPr txBox="1"/>
              <p:nvPr/>
            </p:nvSpPr>
            <p:spPr>
              <a:xfrm>
                <a:off x="4943819" y="3208911"/>
                <a:ext cx="8351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b="1" dirty="0"/>
                  <a:t> 6</a:t>
                </a:r>
                <a:endParaRPr lang="en-PK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47B4E8D-2856-B897-3106-0A8C5BFA5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819" y="3208911"/>
                <a:ext cx="835165" cy="276999"/>
              </a:xfrm>
              <a:prstGeom prst="rect">
                <a:avLst/>
              </a:prstGeom>
              <a:blipFill>
                <a:blip r:embed="rId16"/>
                <a:stretch>
                  <a:fillRect l="-5109" t="-28261" r="-14599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308014D-B1FC-6B20-4DFF-0FBA078B94E4}"/>
                  </a:ext>
                </a:extLst>
              </p:cNvPr>
              <p:cNvSpPr txBox="1"/>
              <p:nvPr/>
            </p:nvSpPr>
            <p:spPr>
              <a:xfrm>
                <a:off x="7591483" y="2815094"/>
                <a:ext cx="71333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2000" b="1" dirty="0">
                    <a:solidFill>
                      <a:srgbClr val="33CC33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000" b="1" dirty="0"/>
                  <a:t> 8</a:t>
                </a:r>
                <a:endParaRPr lang="en-PK" sz="2000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308014D-B1FC-6B20-4DFF-0FBA078B9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1483" y="2815094"/>
                <a:ext cx="713337" cy="307777"/>
              </a:xfrm>
              <a:prstGeom prst="rect">
                <a:avLst/>
              </a:prstGeom>
              <a:blipFill>
                <a:blip r:embed="rId17"/>
                <a:stretch>
                  <a:fillRect l="-11966" t="-26000" r="-18803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A893CEB-7A1D-A52B-C3A1-43AEB1D6FB73}"/>
                  </a:ext>
                </a:extLst>
              </p:cNvPr>
              <p:cNvSpPr txBox="1"/>
              <p:nvPr/>
            </p:nvSpPr>
            <p:spPr>
              <a:xfrm>
                <a:off x="7614610" y="3255078"/>
                <a:ext cx="90890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2000" b="1" dirty="0">
                    <a:solidFill>
                      <a:srgbClr val="33CC33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dirty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000" b="1" dirty="0"/>
                  <a:t> 6</a:t>
                </a:r>
                <a:endParaRPr lang="en-PK" sz="2000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A893CEB-7A1D-A52B-C3A1-43AEB1D6F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4610" y="3255078"/>
                <a:ext cx="908903" cy="307777"/>
              </a:xfrm>
              <a:prstGeom prst="rect">
                <a:avLst/>
              </a:prstGeom>
              <a:blipFill>
                <a:blip r:embed="rId18"/>
                <a:stretch>
                  <a:fillRect l="-4698" t="-26000" r="-14765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EA8FABC-1AD9-3C12-9DF2-7D887C29B5FC}"/>
                  </a:ext>
                </a:extLst>
              </p:cNvPr>
              <p:cNvSpPr txBox="1"/>
              <p:nvPr/>
            </p:nvSpPr>
            <p:spPr>
              <a:xfrm>
                <a:off x="1609806" y="453938"/>
                <a:ext cx="2222451" cy="30777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PK" sz="2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EA8FABC-1AD9-3C12-9DF2-7D887C29B5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9806" y="453938"/>
                <a:ext cx="2222451" cy="307777"/>
              </a:xfrm>
              <a:prstGeom prst="rect">
                <a:avLst/>
              </a:prstGeom>
              <a:blipFill>
                <a:blip r:embed="rId19"/>
                <a:stretch>
                  <a:fillRect b="-23214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105C05-5AC8-E658-00A7-29A6AE0A6235}"/>
                  </a:ext>
                </a:extLst>
              </p:cNvPr>
              <p:cNvSpPr txBox="1"/>
              <p:nvPr/>
            </p:nvSpPr>
            <p:spPr>
              <a:xfrm>
                <a:off x="1600200" y="914076"/>
                <a:ext cx="2217600" cy="30777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𝟏𝟔</m:t>
                      </m:r>
                    </m:oMath>
                  </m:oMathPara>
                </a14:m>
                <a:endParaRPr lang="en-PK" sz="2000" b="1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105C05-5AC8-E658-00A7-29A6AE0A6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914076"/>
                <a:ext cx="2217600" cy="307777"/>
              </a:xfrm>
              <a:prstGeom prst="rect">
                <a:avLst/>
              </a:prstGeom>
              <a:blipFill>
                <a:blip r:embed="rId20"/>
                <a:stretch>
                  <a:fillRect b="-25455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CF49F52-D1C3-44DC-14DD-90AE12E01339}"/>
                  </a:ext>
                </a:extLst>
              </p:cNvPr>
              <p:cNvSpPr txBox="1"/>
              <p:nvPr/>
            </p:nvSpPr>
            <p:spPr>
              <a:xfrm>
                <a:off x="1600200" y="1348525"/>
                <a:ext cx="2217600" cy="30777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PK" sz="2000" b="1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CF49F52-D1C3-44DC-14DD-90AE12E01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1348525"/>
                <a:ext cx="2217600" cy="307777"/>
              </a:xfrm>
              <a:prstGeom prst="rect">
                <a:avLst/>
              </a:prstGeom>
              <a:blipFill>
                <a:blip r:embed="rId21"/>
                <a:stretch>
                  <a:fillRect b="-23214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43092A7E-AB0A-B024-FC45-99066FA3B45C}"/>
              </a:ext>
            </a:extLst>
          </p:cNvPr>
          <p:cNvSpPr/>
          <p:nvPr/>
        </p:nvSpPr>
        <p:spPr>
          <a:xfrm>
            <a:off x="1219200" y="-4744"/>
            <a:ext cx="182365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dirty="0"/>
              <a:t>Linear System</a:t>
            </a:r>
            <a:endParaRPr lang="en-US" b="1" dirty="0">
              <a:solidFill>
                <a:srgbClr val="3A3A3A"/>
              </a:solidFill>
              <a:latin typeface="-apple-system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1B4D2A-B93B-F28F-B54B-7B4654BE204E}"/>
              </a:ext>
            </a:extLst>
          </p:cNvPr>
          <p:cNvSpPr txBox="1"/>
          <p:nvPr/>
        </p:nvSpPr>
        <p:spPr>
          <a:xfrm>
            <a:off x="3161328" y="-10825"/>
            <a:ext cx="2222451" cy="3693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Three variables</a:t>
            </a:r>
            <a:endParaRPr lang="en-US" b="1" dirty="0">
              <a:solidFill>
                <a:schemeClr val="tx1"/>
              </a:solidFill>
              <a:latin typeface="-apple-system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25C1B35-5888-6D0B-3B51-9E9CACD18339}"/>
              </a:ext>
            </a:extLst>
          </p:cNvPr>
          <p:cNvSpPr txBox="1"/>
          <p:nvPr/>
        </p:nvSpPr>
        <p:spPr>
          <a:xfrm>
            <a:off x="6411677" y="42446"/>
            <a:ext cx="2921017" cy="338554"/>
          </a:xfrm>
          <a:prstGeom prst="rect">
            <a:avLst/>
          </a:prstGeom>
          <a:solidFill>
            <a:srgbClr val="FF00FF"/>
          </a:solidFill>
          <a:ln w="762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Infinitely Many Solutions</a:t>
            </a:r>
            <a:endParaRPr lang="en-US" sz="1600" b="1" dirty="0">
              <a:solidFill>
                <a:schemeClr val="bg1"/>
              </a:solidFill>
              <a:latin typeface="-apple-system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422655D-F760-E043-A343-772E9B44DC3A}"/>
              </a:ext>
            </a:extLst>
          </p:cNvPr>
          <p:cNvSpPr txBox="1"/>
          <p:nvPr/>
        </p:nvSpPr>
        <p:spPr>
          <a:xfrm>
            <a:off x="5572360" y="34170"/>
            <a:ext cx="693703" cy="338554"/>
          </a:xfrm>
          <a:prstGeom prst="rect">
            <a:avLst/>
          </a:prstGeom>
          <a:solidFill>
            <a:srgbClr val="FFC000"/>
          </a:solidFill>
          <a:ln w="762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ysClr val="windowText" lastClr="000000"/>
                </a:solidFill>
              </a:rPr>
              <a:t>With </a:t>
            </a:r>
            <a:endParaRPr lang="en-US" sz="1600" b="1" dirty="0">
              <a:solidFill>
                <a:sysClr val="windowText" lastClr="000000"/>
              </a:solidFill>
              <a:latin typeface="-apple-syste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ABA960D-713D-3E6B-9E20-A21320A73EB8}"/>
                  </a:ext>
                </a:extLst>
              </p:cNvPr>
              <p:cNvSpPr txBox="1"/>
              <p:nvPr/>
            </p:nvSpPr>
            <p:spPr>
              <a:xfrm>
                <a:off x="4016258" y="495682"/>
                <a:ext cx="1873485" cy="9768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PK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sz="2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sz="2400" b="1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ABA960D-713D-3E6B-9E20-A21320A73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6258" y="495682"/>
                <a:ext cx="1873485" cy="976806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A244D4D-181E-53AD-4A92-FFA150CB5A94}"/>
                  </a:ext>
                </a:extLst>
              </p:cNvPr>
              <p:cNvSpPr txBox="1"/>
              <p:nvPr/>
            </p:nvSpPr>
            <p:spPr>
              <a:xfrm>
                <a:off x="5596507" y="455717"/>
                <a:ext cx="614775" cy="10502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PK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sz="2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sz="24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A244D4D-181E-53AD-4A92-FFA150CB5A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507" y="455717"/>
                <a:ext cx="614775" cy="105022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A86E6B3-155F-212C-3759-7A09FFE63DA3}"/>
                  </a:ext>
                </a:extLst>
              </p:cNvPr>
              <p:cNvSpPr txBox="1"/>
              <p:nvPr/>
            </p:nvSpPr>
            <p:spPr>
              <a:xfrm>
                <a:off x="6106072" y="475461"/>
                <a:ext cx="1378376" cy="10676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b="1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sz="2400" i="1">
                                  <a:solidFill>
                                    <a:srgbClr val="FF99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>
                                    <a:solidFill>
                                      <a:srgbClr val="FF9900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>
                                    <a:solidFill>
                                      <a:srgbClr val="FF9900"/>
                                    </a:solidFill>
                                    <a:latin typeface="Cambria Math" panose="02040503050406030204" pitchFamily="18" charset="0"/>
                                  </a:rPr>
                                  <m:t>𝟏𝟔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1" i="1" smtClean="0">
                                    <a:solidFill>
                                      <a:srgbClr val="FF9900"/>
                                    </a:solidFill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sz="2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A86E6B3-155F-212C-3759-7A09FFE63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6072" y="475461"/>
                <a:ext cx="1378376" cy="106760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BBB4C06-3EF8-3B3C-EBEF-0F786C1374BA}"/>
              </a:ext>
            </a:extLst>
          </p:cNvPr>
          <p:cNvSpPr/>
          <p:nvPr/>
        </p:nvSpPr>
        <p:spPr>
          <a:xfrm>
            <a:off x="4001801" y="425406"/>
            <a:ext cx="3237200" cy="1139552"/>
          </a:xfrm>
          <a:prstGeom prst="roundRect">
            <a:avLst/>
          </a:prstGeom>
          <a:noFill/>
          <a:ln w="762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160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68E294E-F15F-1E39-4B84-FFF140DB73FD}"/>
              </a:ext>
            </a:extLst>
          </p:cNvPr>
          <p:cNvSpPr/>
          <p:nvPr/>
        </p:nvSpPr>
        <p:spPr>
          <a:xfrm>
            <a:off x="6948592" y="2311963"/>
            <a:ext cx="243619" cy="27149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03601E0-8AF7-C6CE-5B0B-72835ED63D26}"/>
                  </a:ext>
                </a:extLst>
              </p:cNvPr>
              <p:cNvSpPr txBox="1"/>
              <p:nvPr/>
            </p:nvSpPr>
            <p:spPr>
              <a:xfrm>
                <a:off x="2725626" y="2663534"/>
                <a:ext cx="49476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PK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03601E0-8AF7-C6CE-5B0B-72835ED63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5626" y="2663534"/>
                <a:ext cx="494769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695DA52-8C8F-5E41-77A6-A9C0734A992C}"/>
                  </a:ext>
                </a:extLst>
              </p:cNvPr>
              <p:cNvSpPr txBox="1"/>
              <p:nvPr/>
            </p:nvSpPr>
            <p:spPr>
              <a:xfrm>
                <a:off x="2816152" y="3071209"/>
                <a:ext cx="490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PK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695DA52-8C8F-5E41-77A6-A9C0734A99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6152" y="3071209"/>
                <a:ext cx="490340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04A5FC3-C242-EF3C-B3CF-1ADA5F0309A4}"/>
                  </a:ext>
                </a:extLst>
              </p:cNvPr>
              <p:cNvSpPr txBox="1"/>
              <p:nvPr/>
            </p:nvSpPr>
            <p:spPr>
              <a:xfrm>
                <a:off x="4367030" y="3549730"/>
                <a:ext cx="39594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US" sz="2000" b="1" dirty="0"/>
                  <a:t> = </a:t>
                </a:r>
                <a:endParaRPr lang="en-PK" sz="2000" b="1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04A5FC3-C242-EF3C-B3CF-1ADA5F030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7030" y="3549730"/>
                <a:ext cx="395942" cy="307777"/>
              </a:xfrm>
              <a:prstGeom prst="rect">
                <a:avLst/>
              </a:prstGeom>
              <a:blipFill>
                <a:blip r:embed="rId27"/>
                <a:stretch>
                  <a:fillRect l="-16923" t="-25490" r="-35385" b="-49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07A6D46-68AE-03FB-D3C9-BE0FDFAEA79C}"/>
                  </a:ext>
                </a:extLst>
              </p:cNvPr>
              <p:cNvSpPr txBox="1"/>
              <p:nvPr/>
            </p:nvSpPr>
            <p:spPr>
              <a:xfrm>
                <a:off x="4967304" y="3516868"/>
                <a:ext cx="20358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PK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07A6D46-68AE-03FB-D3C9-BE0FDFAEA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7304" y="3516868"/>
                <a:ext cx="203582" cy="369332"/>
              </a:xfrm>
              <a:prstGeom prst="rect">
                <a:avLst/>
              </a:prstGeom>
              <a:blipFill>
                <a:blip r:embed="rId28"/>
                <a:stretch>
                  <a:fillRect l="-30303" r="-30303"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Arrow: Right 46">
            <a:extLst>
              <a:ext uri="{FF2B5EF4-FFF2-40B4-BE49-F238E27FC236}">
                <a16:creationId xmlns:a16="http://schemas.microsoft.com/office/drawing/2014/main" id="{372D9188-5C88-9882-B4A9-CF6A278A9AC3}"/>
              </a:ext>
            </a:extLst>
          </p:cNvPr>
          <p:cNvSpPr/>
          <p:nvPr/>
        </p:nvSpPr>
        <p:spPr>
          <a:xfrm>
            <a:off x="3481143" y="2693514"/>
            <a:ext cx="647428" cy="118135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5C2C923A-FBE6-E480-4C93-057E81C4EB19}"/>
              </a:ext>
            </a:extLst>
          </p:cNvPr>
          <p:cNvSpPr/>
          <p:nvPr/>
        </p:nvSpPr>
        <p:spPr>
          <a:xfrm>
            <a:off x="6084026" y="2759529"/>
            <a:ext cx="647428" cy="1043963"/>
          </a:xfrm>
          <a:prstGeom prst="rightArrow">
            <a:avLst/>
          </a:prstGeom>
          <a:solidFill>
            <a:srgbClr val="00FFFF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E50E19F-22B8-4BDB-5A60-1B30116A5AA6}"/>
                  </a:ext>
                </a:extLst>
              </p:cNvPr>
              <p:cNvSpPr txBox="1"/>
              <p:nvPr/>
            </p:nvSpPr>
            <p:spPr>
              <a:xfrm>
                <a:off x="6894531" y="2743201"/>
                <a:ext cx="34945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33CC33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000" b="1" dirty="0"/>
                  <a:t> =</a:t>
                </a:r>
                <a:endParaRPr lang="en-PK" sz="2000" b="1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E50E19F-22B8-4BDB-5A60-1B30116A5A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4531" y="2743201"/>
                <a:ext cx="349455" cy="307777"/>
              </a:xfrm>
              <a:prstGeom prst="rect">
                <a:avLst/>
              </a:prstGeom>
              <a:blipFill>
                <a:blip r:embed="rId29"/>
                <a:stretch>
                  <a:fillRect l="-19298" t="-26000" r="-38596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A185652-0F8D-38EB-EE0A-9793CDB90C91}"/>
                  </a:ext>
                </a:extLst>
              </p:cNvPr>
              <p:cNvSpPr txBox="1"/>
              <p:nvPr/>
            </p:nvSpPr>
            <p:spPr>
              <a:xfrm>
                <a:off x="6911052" y="3187929"/>
                <a:ext cx="35586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33CC33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000" b="1" dirty="0"/>
                  <a:t> =</a:t>
                </a:r>
                <a:endParaRPr lang="en-PK" sz="2000" b="1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A185652-0F8D-38EB-EE0A-9793CDB90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1052" y="3187929"/>
                <a:ext cx="355867" cy="307777"/>
              </a:xfrm>
              <a:prstGeom prst="rect">
                <a:avLst/>
              </a:prstGeom>
              <a:blipFill>
                <a:blip r:embed="rId30"/>
                <a:stretch>
                  <a:fillRect l="-27586" t="-26000" r="-37931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0697911-21A9-3A14-0DC7-A7D7654296C4}"/>
                  </a:ext>
                </a:extLst>
              </p:cNvPr>
              <p:cNvSpPr txBox="1"/>
              <p:nvPr/>
            </p:nvSpPr>
            <p:spPr>
              <a:xfrm>
                <a:off x="6933278" y="3593824"/>
                <a:ext cx="39113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1" dirty="0"/>
                  <a:t>= </a:t>
                </a:r>
                <a:endParaRPr lang="en-PK" sz="2000" b="1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0697911-21A9-3A14-0DC7-A7D7654296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278" y="3593824"/>
                <a:ext cx="391133" cy="307777"/>
              </a:xfrm>
              <a:prstGeom prst="rect">
                <a:avLst/>
              </a:prstGeom>
              <a:blipFill>
                <a:blip r:embed="rId31"/>
                <a:stretch>
                  <a:fillRect l="-16923" t="-26000" r="-33846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A606C15-6CD0-2991-9B01-39E43EB53315}"/>
                  </a:ext>
                </a:extLst>
              </p:cNvPr>
              <p:cNvSpPr txBox="1"/>
              <p:nvPr/>
            </p:nvSpPr>
            <p:spPr>
              <a:xfrm>
                <a:off x="7697749" y="3548796"/>
                <a:ext cx="20358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PK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A606C15-6CD0-2991-9B01-39E43EB53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7749" y="3548796"/>
                <a:ext cx="203582" cy="369332"/>
              </a:xfrm>
              <a:prstGeom prst="rect">
                <a:avLst/>
              </a:prstGeom>
              <a:blipFill>
                <a:blip r:embed="rId32"/>
                <a:stretch>
                  <a:fillRect l="-30303" r="-30303"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847B4E0F-1EBE-67E0-87CC-005DF85219C0}"/>
              </a:ext>
            </a:extLst>
          </p:cNvPr>
          <p:cNvSpPr txBox="1"/>
          <p:nvPr/>
        </p:nvSpPr>
        <p:spPr>
          <a:xfrm>
            <a:off x="8651759" y="2269680"/>
            <a:ext cx="1853525" cy="646331"/>
          </a:xfrm>
          <a:prstGeom prst="rect">
            <a:avLst/>
          </a:prstGeom>
          <a:ln w="28575">
            <a:solidFill>
              <a:srgbClr val="00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i="1" dirty="0">
                <a:solidFill>
                  <a:srgbClr val="FF3300"/>
                </a:solidFill>
                <a:latin typeface="STIXTwoText-BoldItalic-Identity-H"/>
              </a:rPr>
              <a:t>General solution </a:t>
            </a:r>
            <a:r>
              <a:rPr lang="en-US" b="1" dirty="0">
                <a:latin typeface="STIXTwoText-Identity-H"/>
              </a:rPr>
              <a:t>of the system</a:t>
            </a:r>
            <a:endParaRPr lang="en-PK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E664D21-09F2-442A-7782-6DD9D662EDCC}"/>
              </a:ext>
            </a:extLst>
          </p:cNvPr>
          <p:cNvSpPr txBox="1"/>
          <p:nvPr/>
        </p:nvSpPr>
        <p:spPr>
          <a:xfrm>
            <a:off x="8629677" y="3003314"/>
            <a:ext cx="1889036" cy="646331"/>
          </a:xfrm>
          <a:prstGeom prst="rect">
            <a:avLst/>
          </a:prstGeom>
          <a:ln w="28575">
            <a:solidFill>
              <a:srgbClr val="00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>
                <a:latin typeface="STIXTwoText-Identity-H"/>
              </a:rPr>
              <a:t>in</a:t>
            </a:r>
            <a:r>
              <a:rPr lang="en-US" b="1" dirty="0">
                <a:latin typeface="STIXTwoText-Identity-H"/>
              </a:rPr>
              <a:t> parametric </a:t>
            </a:r>
          </a:p>
          <a:p>
            <a:pPr algn="ctr"/>
            <a:r>
              <a:rPr lang="en-US" b="1" dirty="0">
                <a:latin typeface="STIXTwoText-Identity-H"/>
              </a:rPr>
              <a:t>equations</a:t>
            </a:r>
            <a:endParaRPr lang="en-PK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8CC1701-0247-8A18-CDBA-ACF6308A2E53}"/>
              </a:ext>
            </a:extLst>
          </p:cNvPr>
          <p:cNvSpPr txBox="1"/>
          <p:nvPr/>
        </p:nvSpPr>
        <p:spPr>
          <a:xfrm>
            <a:off x="8629677" y="3728243"/>
            <a:ext cx="1889036" cy="369332"/>
          </a:xfrm>
          <a:prstGeom prst="rect">
            <a:avLst/>
          </a:prstGeom>
          <a:ln w="28575">
            <a:solidFill>
              <a:srgbClr val="00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STIXTwoText-Identity-H"/>
              </a:rPr>
              <a:t>Algebraic Form</a:t>
            </a:r>
            <a:endParaRPr lang="en-PK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D90B0A7-C22B-4379-037B-6A74413F956B}"/>
              </a:ext>
            </a:extLst>
          </p:cNvPr>
          <p:cNvSpPr txBox="1"/>
          <p:nvPr/>
        </p:nvSpPr>
        <p:spPr>
          <a:xfrm>
            <a:off x="8651759" y="4169737"/>
            <a:ext cx="1853525" cy="738664"/>
          </a:xfrm>
          <a:prstGeom prst="rect">
            <a:avLst/>
          </a:prstGeom>
          <a:ln w="28575">
            <a:solidFill>
              <a:srgbClr val="00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STIXTwoText-Identity-H"/>
              </a:rPr>
              <a:t>from which all solutions can be obtained</a:t>
            </a:r>
            <a:endParaRPr lang="en-PK" sz="1400" b="1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B35CD5F-60D2-0494-91D6-C8E8874CF67C}"/>
              </a:ext>
            </a:extLst>
          </p:cNvPr>
          <p:cNvSpPr/>
          <p:nvPr/>
        </p:nvSpPr>
        <p:spPr>
          <a:xfrm>
            <a:off x="9574223" y="13162"/>
            <a:ext cx="1676400" cy="3693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MBX10"/>
              </a:rPr>
              <a:t>Question</a:t>
            </a:r>
            <a:endParaRPr lang="en-US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7319DCD-09DF-5401-A860-45B9DFFF65A0}"/>
                  </a:ext>
                </a:extLst>
              </p:cNvPr>
              <p:cNvSpPr txBox="1"/>
              <p:nvPr/>
            </p:nvSpPr>
            <p:spPr>
              <a:xfrm>
                <a:off x="878358" y="4165102"/>
                <a:ext cx="60935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(since it can take any real value).</a:t>
                </a: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7319DCD-09DF-5401-A860-45B9DFFF6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358" y="4165102"/>
                <a:ext cx="6093500" cy="461665"/>
              </a:xfrm>
              <a:prstGeom prst="rect">
                <a:avLst/>
              </a:prstGeom>
              <a:blipFill>
                <a:blip r:embed="rId33"/>
                <a:stretch>
                  <a:fillRect l="-1500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extBox 69">
            <a:extLst>
              <a:ext uri="{FF2B5EF4-FFF2-40B4-BE49-F238E27FC236}">
                <a16:creationId xmlns:a16="http://schemas.microsoft.com/office/drawing/2014/main" id="{8B3A04E1-6A6A-300D-E76A-D8F1490B5FCB}"/>
              </a:ext>
            </a:extLst>
          </p:cNvPr>
          <p:cNvSpPr txBox="1"/>
          <p:nvPr/>
        </p:nvSpPr>
        <p:spPr>
          <a:xfrm>
            <a:off x="869466" y="4988850"/>
            <a:ext cx="6093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So, the Final Answer (Parametric Form):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DA6B6FA-ACBD-585F-7969-733608EAEF4B}"/>
                  </a:ext>
                </a:extLst>
              </p:cNvPr>
              <p:cNvSpPr txBox="1"/>
              <p:nvPr/>
            </p:nvSpPr>
            <p:spPr>
              <a:xfrm>
                <a:off x="4350063" y="5791894"/>
                <a:ext cx="417345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GB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 −</m:t>
                          </m:r>
                          <m:r>
                            <a:rPr lang="en-GB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GB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GB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sz="2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DA6B6FA-ACBD-585F-7969-733608EAE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0063" y="5791894"/>
                <a:ext cx="4173450" cy="52322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3661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8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9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/>
      <p:bldP spid="9" grpId="0" animBg="1"/>
      <p:bldP spid="10" grpId="0"/>
      <p:bldP spid="11" grpId="0" animBg="1"/>
      <p:bldP spid="12" grpId="0" animBg="1"/>
      <p:bldP spid="13" grpId="0" animBg="1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31" grpId="0" animBg="1"/>
      <p:bldP spid="32" grpId="0" animBg="1"/>
      <p:bldP spid="33" grpId="0" animBg="1"/>
      <p:bldP spid="36" grpId="0" animBg="1"/>
      <p:bldP spid="38" grpId="0"/>
      <p:bldP spid="39" grpId="0"/>
      <p:bldP spid="40" grpId="0"/>
      <p:bldP spid="41" grpId="0" animBg="1"/>
      <p:bldP spid="42" grpId="0" animBg="1"/>
      <p:bldP spid="43" grpId="0"/>
      <p:bldP spid="44" grpId="0"/>
      <p:bldP spid="45" grpId="0"/>
      <p:bldP spid="46" grpId="0"/>
      <p:bldP spid="47" grpId="0" animBg="1"/>
      <p:bldP spid="48" grpId="0" animBg="1"/>
      <p:bldP spid="49" grpId="0"/>
      <p:bldP spid="50" grpId="0"/>
      <p:bldP spid="51" grpId="0"/>
      <p:bldP spid="52" grpId="0"/>
      <p:bldP spid="53" grpId="0" animBg="1"/>
      <p:bldP spid="54" grpId="0" animBg="1"/>
      <p:bldP spid="55" grpId="0" animBg="1"/>
      <p:bldP spid="60" grpId="0" animBg="1"/>
      <p:bldP spid="66" grpId="0" animBg="1"/>
      <p:bldP spid="68" grpId="0"/>
      <p:bldP spid="70" grpId="0"/>
      <p:bldP spid="7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B9C46-22BB-AC54-1F54-06CEE41C0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934134-5A25-357E-4156-DE296387F5FF}"/>
                  </a:ext>
                </a:extLst>
              </p:cNvPr>
              <p:cNvSpPr txBox="1"/>
              <p:nvPr/>
            </p:nvSpPr>
            <p:spPr>
              <a:xfrm>
                <a:off x="7423002" y="924988"/>
                <a:ext cx="1656000" cy="732573"/>
              </a:xfrm>
              <a:prstGeom prst="rect">
                <a:avLst/>
              </a:prstGeom>
              <a:ln w="28575">
                <a:solidFill>
                  <a:srgbClr val="0000FF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K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934134-5A25-357E-4156-DE296387F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3002" y="924988"/>
                <a:ext cx="1656000" cy="7325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2D2B4F-9AEC-52F5-96F7-E0594B26E35F}"/>
                  </a:ext>
                </a:extLst>
              </p:cNvPr>
              <p:cNvSpPr txBox="1"/>
              <p:nvPr/>
            </p:nvSpPr>
            <p:spPr>
              <a:xfrm>
                <a:off x="9263003" y="913991"/>
                <a:ext cx="1152000" cy="731611"/>
              </a:xfrm>
              <a:prstGeom prst="rect">
                <a:avLst/>
              </a:prstGeom>
              <a:ln w="28575">
                <a:solidFill>
                  <a:srgbClr val="00206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 anchor="ctr">
                <a:spAutoFit/>
              </a:bodyPr>
              <a:lstStyle>
                <a:defPPr>
                  <a:defRPr lang="en-US"/>
                </a:defPPr>
                <a:lvl1pPr>
                  <a:defRPr b="1" i="1">
                    <a:solidFill>
                      <a:schemeClr val="dk1"/>
                    </a:solidFill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dk1"/>
                    </a:solidFill>
                  </a:defRPr>
                </a:lvl2pPr>
                <a:lvl3pPr>
                  <a:defRPr>
                    <a:solidFill>
                      <a:schemeClr val="dk1"/>
                    </a:solidFill>
                  </a:defRPr>
                </a:lvl3pPr>
                <a:lvl4pPr>
                  <a:defRPr>
                    <a:solidFill>
                      <a:schemeClr val="dk1"/>
                    </a:solidFill>
                  </a:defRPr>
                </a:lvl4pPr>
                <a:lvl5pPr>
                  <a:defRPr>
                    <a:solidFill>
                      <a:schemeClr val="dk1"/>
                    </a:solidFill>
                  </a:defRPr>
                </a:lvl5pPr>
                <a:lvl6pPr>
                  <a:defRPr>
                    <a:solidFill>
                      <a:schemeClr val="dk1"/>
                    </a:solidFill>
                  </a:defRPr>
                </a:lvl6pPr>
                <a:lvl7pPr>
                  <a:defRPr>
                    <a:solidFill>
                      <a:schemeClr val="dk1"/>
                    </a:solidFill>
                  </a:defRPr>
                </a:lvl7pPr>
                <a:lvl8pPr>
                  <a:defRPr>
                    <a:solidFill>
                      <a:schemeClr val="dk1"/>
                    </a:solidFill>
                  </a:defRPr>
                </a:lvl8pPr>
                <a:lvl9pPr>
                  <a:defRPr>
                    <a:solidFill>
                      <a:schemeClr val="dk1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𝟏𝟓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2D2B4F-9AEC-52F5-96F7-E0594B26E3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3003" y="913991"/>
                <a:ext cx="1152000" cy="7316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83157A-1941-81F4-0AD1-F6ABAB1AB2ED}"/>
                  </a:ext>
                </a:extLst>
              </p:cNvPr>
              <p:cNvSpPr txBox="1"/>
              <p:nvPr/>
            </p:nvSpPr>
            <p:spPr>
              <a:xfrm>
                <a:off x="9310762" y="1755042"/>
                <a:ext cx="1056483" cy="369332"/>
              </a:xfrm>
              <a:prstGeom prst="rect">
                <a:avLst/>
              </a:prstGeom>
              <a:ln w="28575">
                <a:solidFill>
                  <a:srgbClr val="00B0F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𝑨𝒙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PK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83157A-1941-81F4-0AD1-F6ABAB1AB2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0762" y="1755042"/>
                <a:ext cx="105648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C92310-890F-9C2B-B7DE-3E03D4A6C680}"/>
                  </a:ext>
                </a:extLst>
              </p:cNvPr>
              <p:cNvSpPr txBox="1"/>
              <p:nvPr/>
            </p:nvSpPr>
            <p:spPr>
              <a:xfrm>
                <a:off x="1686717" y="2298292"/>
                <a:ext cx="838200" cy="461665"/>
              </a:xfrm>
              <a:prstGeom prst="rect">
                <a:avLst/>
              </a:prstGeom>
              <a:solidFill>
                <a:srgbClr val="FFC000"/>
              </a:solidFill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ysClr val="windowText" lastClr="000000"/>
                    </a:solidFill>
                    <a:latin typeface="-apple-system"/>
                  </a:rPr>
                  <a:t>=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C92310-890F-9C2B-B7DE-3E03D4A6C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6717" y="2298292"/>
                <a:ext cx="838200" cy="461665"/>
              </a:xfrm>
              <a:prstGeom prst="rect">
                <a:avLst/>
              </a:prstGeom>
              <a:blipFill>
                <a:blip r:embed="rId5"/>
                <a:stretch>
                  <a:fillRect t="-7407" b="-23457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B63D58-3E23-E600-D213-20F281B07795}"/>
                  </a:ext>
                </a:extLst>
              </p:cNvPr>
              <p:cNvSpPr txBox="1"/>
              <p:nvPr/>
            </p:nvSpPr>
            <p:spPr>
              <a:xfrm>
                <a:off x="2729883" y="2156714"/>
                <a:ext cx="1950128" cy="75648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P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𝟏𝟓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B63D58-3E23-E600-D213-20F281B07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9883" y="2156714"/>
                <a:ext cx="1950128" cy="7564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6CC7444-9C88-01B0-084E-5D062FE933BB}"/>
                  </a:ext>
                </a:extLst>
              </p:cNvPr>
              <p:cNvSpPr txBox="1"/>
              <p:nvPr/>
            </p:nvSpPr>
            <p:spPr>
              <a:xfrm>
                <a:off x="4841825" y="2338094"/>
                <a:ext cx="1039151" cy="338554"/>
              </a:xfrm>
              <a:prstGeom prst="rect">
                <a:avLst/>
              </a:prstGeom>
              <a:solidFill>
                <a:srgbClr val="FFFF00"/>
              </a:solidFill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ysClr val="windowText" lastClr="000000"/>
                    </a:solidFill>
                  </a:rPr>
                  <a:t>RREF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1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1600" b="1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</m:oMath>
                </a14:m>
                <a:r>
                  <a:rPr lang="en-US" sz="1600" b="1" dirty="0">
                    <a:solidFill>
                      <a:sysClr val="windowText" lastClr="000000"/>
                    </a:solidFill>
                  </a:rPr>
                  <a:t>)</a:t>
                </a:r>
                <a:endParaRPr lang="en-US" sz="1600" b="1" dirty="0">
                  <a:solidFill>
                    <a:sysClr val="windowText" lastClr="000000"/>
                  </a:solidFill>
                  <a:latin typeface="-apple-system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6CC7444-9C88-01B0-084E-5D062FE93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1825" y="2338094"/>
                <a:ext cx="1039151" cy="338554"/>
              </a:xfrm>
              <a:prstGeom prst="rect">
                <a:avLst/>
              </a:prstGeom>
              <a:blipFill>
                <a:blip r:embed="rId7"/>
                <a:stretch>
                  <a:fillRect l="-568" t="-1667" b="-16667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796BDA-3E37-C9CA-7D07-48D4E3E41B29}"/>
                  </a:ext>
                </a:extLst>
              </p:cNvPr>
              <p:cNvSpPr txBox="1"/>
              <p:nvPr/>
            </p:nvSpPr>
            <p:spPr>
              <a:xfrm>
                <a:off x="6096001" y="2153271"/>
                <a:ext cx="1759485" cy="7564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P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796BDA-3E37-C9CA-7D07-48D4E3E41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1" y="2153271"/>
                <a:ext cx="1759485" cy="75642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E46FA750-8A50-47E9-6E4C-4692B8315EA8}"/>
              </a:ext>
            </a:extLst>
          </p:cNvPr>
          <p:cNvSpPr/>
          <p:nvPr/>
        </p:nvSpPr>
        <p:spPr>
          <a:xfrm>
            <a:off x="6147716" y="2127351"/>
            <a:ext cx="264686" cy="271499"/>
          </a:xfrm>
          <a:prstGeom prst="ellipse">
            <a:avLst/>
          </a:prstGeom>
          <a:noFill/>
          <a:ln>
            <a:solidFill>
              <a:srgbClr val="33CC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16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C5F9A8F-D478-14DF-5088-A301DBD75CE8}"/>
              </a:ext>
            </a:extLst>
          </p:cNvPr>
          <p:cNvSpPr/>
          <p:nvPr/>
        </p:nvSpPr>
        <p:spPr>
          <a:xfrm>
            <a:off x="6483770" y="2403011"/>
            <a:ext cx="243619" cy="271499"/>
          </a:xfrm>
          <a:prstGeom prst="ellipse">
            <a:avLst/>
          </a:prstGeom>
          <a:noFill/>
          <a:ln>
            <a:solidFill>
              <a:srgbClr val="33CC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16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D2FA9D3-EC89-2F63-5968-1EA89FB8F70C}"/>
              </a:ext>
            </a:extLst>
          </p:cNvPr>
          <p:cNvSpPr/>
          <p:nvPr/>
        </p:nvSpPr>
        <p:spPr>
          <a:xfrm>
            <a:off x="6173251" y="2644429"/>
            <a:ext cx="1682234" cy="290586"/>
          </a:xfrm>
          <a:prstGeom prst="round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A12C349-B89C-C742-86AA-9C086A9640F6}"/>
                  </a:ext>
                </a:extLst>
              </p:cNvPr>
              <p:cNvSpPr txBox="1"/>
              <p:nvPr/>
            </p:nvSpPr>
            <p:spPr>
              <a:xfrm>
                <a:off x="1676400" y="3018441"/>
                <a:ext cx="105849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33CC33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b="1" dirty="0">
                    <a:solidFill>
                      <a:srgbClr val="33CC33"/>
                    </a:solidFill>
                  </a:rPr>
                  <a:t> </a:t>
                </a:r>
                <a:r>
                  <a:rPr lang="en-US" sz="2400" b="1" dirty="0"/>
                  <a:t>+</a:t>
                </a:r>
                <a14:m>
                  <m:oMath xmlns:m="http://schemas.openxmlformats.org/officeDocument/2006/math">
                    <m:r>
                      <a:rPr lang="en-GB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PK" sz="24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A12C349-B89C-C742-86AA-9C086A964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3018441"/>
                <a:ext cx="1058495" cy="369332"/>
              </a:xfrm>
              <a:prstGeom prst="rect">
                <a:avLst/>
              </a:prstGeom>
              <a:blipFill>
                <a:blip r:embed="rId9"/>
                <a:stretch>
                  <a:fillRect l="-7471" t="-24590" r="-5172" b="-49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32794F-343C-17A4-0E29-DF4A8B200643}"/>
                  </a:ext>
                </a:extLst>
              </p:cNvPr>
              <p:cNvSpPr txBox="1"/>
              <p:nvPr/>
            </p:nvSpPr>
            <p:spPr>
              <a:xfrm>
                <a:off x="1729904" y="3431856"/>
                <a:ext cx="11600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33CC33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400" b="1" i="0" smtClean="0">
                          <a:solidFill>
                            <a:srgbClr val="33CC33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PK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32794F-343C-17A4-0E29-DF4A8B200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904" y="3431856"/>
                <a:ext cx="1160061" cy="369332"/>
              </a:xfrm>
              <a:prstGeom prst="rect">
                <a:avLst/>
              </a:prstGeom>
              <a:blipFill>
                <a:blip r:embed="rId10"/>
                <a:stretch>
                  <a:fillRect l="-6842" r="-210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493D270-C14B-9EF2-D53D-8E61CB3F4ADF}"/>
                  </a:ext>
                </a:extLst>
              </p:cNvPr>
              <p:cNvSpPr txBox="1"/>
              <p:nvPr/>
            </p:nvSpPr>
            <p:spPr>
              <a:xfrm>
                <a:off x="2182698" y="3801188"/>
                <a:ext cx="7266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GB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b="1" dirty="0"/>
                  <a:t> </a:t>
                </a:r>
                <a:endParaRPr lang="en-PK" sz="24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493D270-C14B-9EF2-D53D-8E61CB3F4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2698" y="3801188"/>
                <a:ext cx="726674" cy="369332"/>
              </a:xfrm>
              <a:prstGeom prst="rect">
                <a:avLst/>
              </a:prstGeom>
              <a:blipFill>
                <a:blip r:embed="rId11"/>
                <a:stretch>
                  <a:fillRect l="-14286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D87EBB0-C86B-0D41-3187-4A647D013A6D}"/>
                  </a:ext>
                </a:extLst>
              </p:cNvPr>
              <p:cNvSpPr txBox="1"/>
              <p:nvPr/>
            </p:nvSpPr>
            <p:spPr>
              <a:xfrm>
                <a:off x="2927482" y="3811884"/>
                <a:ext cx="2532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PK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D87EBB0-C86B-0D41-3187-4A647D013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7482" y="3811884"/>
                <a:ext cx="253274" cy="369332"/>
              </a:xfrm>
              <a:prstGeom prst="rect">
                <a:avLst/>
              </a:prstGeom>
              <a:blipFill>
                <a:blip r:embed="rId12"/>
                <a:stretch>
                  <a:fillRect l="-26190" r="-28571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05842D6-5A6B-F682-79FC-E730E699A771}"/>
                  </a:ext>
                </a:extLst>
              </p:cNvPr>
              <p:cNvSpPr txBox="1"/>
              <p:nvPr/>
            </p:nvSpPr>
            <p:spPr>
              <a:xfrm>
                <a:off x="1609806" y="828688"/>
                <a:ext cx="2222451" cy="30777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PK" sz="20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05842D6-5A6B-F682-79FC-E730E699A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9806" y="828688"/>
                <a:ext cx="2222451" cy="307777"/>
              </a:xfrm>
              <a:prstGeom prst="rect">
                <a:avLst/>
              </a:prstGeom>
              <a:blipFill>
                <a:blip r:embed="rId13"/>
                <a:stretch>
                  <a:fillRect b="-18182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5925D40-B9C5-B1BD-1EE2-FD8843877826}"/>
                  </a:ext>
                </a:extLst>
              </p:cNvPr>
              <p:cNvSpPr txBox="1"/>
              <p:nvPr/>
            </p:nvSpPr>
            <p:spPr>
              <a:xfrm>
                <a:off x="1600200" y="1288826"/>
                <a:ext cx="2217600" cy="30777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PK" sz="2000" b="1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5925D40-B9C5-B1BD-1EE2-FD8843877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1288826"/>
                <a:ext cx="2217600" cy="307777"/>
              </a:xfrm>
              <a:prstGeom prst="rect">
                <a:avLst/>
              </a:prstGeom>
              <a:blipFill>
                <a:blip r:embed="rId14"/>
                <a:stretch>
                  <a:fillRect b="-17857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719B654-06DB-FE52-2D5E-2A77C8041447}"/>
                  </a:ext>
                </a:extLst>
              </p:cNvPr>
              <p:cNvSpPr txBox="1"/>
              <p:nvPr/>
            </p:nvSpPr>
            <p:spPr>
              <a:xfrm>
                <a:off x="1600200" y="1723275"/>
                <a:ext cx="2217600" cy="30777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PK" sz="2000" b="1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719B654-06DB-FE52-2D5E-2A77C8041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1723275"/>
                <a:ext cx="2217600" cy="307777"/>
              </a:xfrm>
              <a:prstGeom prst="rect">
                <a:avLst/>
              </a:prstGeom>
              <a:blipFill>
                <a:blip r:embed="rId15"/>
                <a:stretch>
                  <a:fillRect l="-1630" r="-1359" b="-18182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C799F597-E3E0-A6FC-3277-C1DC24C10FC2}"/>
              </a:ext>
            </a:extLst>
          </p:cNvPr>
          <p:cNvSpPr/>
          <p:nvPr/>
        </p:nvSpPr>
        <p:spPr>
          <a:xfrm>
            <a:off x="1219200" y="-4744"/>
            <a:ext cx="182365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dirty="0"/>
              <a:t>Linear System</a:t>
            </a:r>
            <a:endParaRPr lang="en-US" b="1" dirty="0">
              <a:solidFill>
                <a:srgbClr val="3A3A3A"/>
              </a:solidFill>
              <a:latin typeface="-apple-system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27906C-E29B-E564-9F8D-E0701BCD55ED}"/>
              </a:ext>
            </a:extLst>
          </p:cNvPr>
          <p:cNvSpPr txBox="1"/>
          <p:nvPr/>
        </p:nvSpPr>
        <p:spPr>
          <a:xfrm>
            <a:off x="3161328" y="-10825"/>
            <a:ext cx="2222451" cy="3693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Three variables</a:t>
            </a:r>
            <a:endParaRPr lang="en-US" b="1" dirty="0">
              <a:solidFill>
                <a:schemeClr val="tx1"/>
              </a:solidFill>
              <a:latin typeface="-apple-system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E97FF6-AAA5-0F1F-D598-308F4B544DD2}"/>
              </a:ext>
            </a:extLst>
          </p:cNvPr>
          <p:cNvSpPr txBox="1"/>
          <p:nvPr/>
        </p:nvSpPr>
        <p:spPr>
          <a:xfrm>
            <a:off x="6411677" y="42446"/>
            <a:ext cx="2921017" cy="338554"/>
          </a:xfrm>
          <a:prstGeom prst="rect">
            <a:avLst/>
          </a:prstGeom>
          <a:solidFill>
            <a:srgbClr val="FF00FF"/>
          </a:solidFill>
          <a:ln w="762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No Solution</a:t>
            </a:r>
            <a:endParaRPr lang="en-US" sz="1600" b="1" dirty="0">
              <a:solidFill>
                <a:schemeClr val="bg1"/>
              </a:solidFill>
              <a:latin typeface="-apple-system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F6B651-5103-AD7A-79FC-85C19804A1BC}"/>
              </a:ext>
            </a:extLst>
          </p:cNvPr>
          <p:cNvSpPr txBox="1"/>
          <p:nvPr/>
        </p:nvSpPr>
        <p:spPr>
          <a:xfrm>
            <a:off x="5572360" y="34170"/>
            <a:ext cx="693703" cy="338554"/>
          </a:xfrm>
          <a:prstGeom prst="rect">
            <a:avLst/>
          </a:prstGeom>
          <a:solidFill>
            <a:srgbClr val="FFC000"/>
          </a:solidFill>
          <a:ln w="762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ysClr val="windowText" lastClr="000000"/>
                </a:solidFill>
              </a:rPr>
              <a:t>With </a:t>
            </a:r>
            <a:endParaRPr lang="en-US" sz="1600" b="1" dirty="0">
              <a:solidFill>
                <a:sysClr val="windowText" lastClr="000000"/>
              </a:solidFill>
              <a:latin typeface="-apple-syste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DF3777B-5D23-185A-F2AF-F5D11F12C6FA}"/>
                  </a:ext>
                </a:extLst>
              </p:cNvPr>
              <p:cNvSpPr txBox="1"/>
              <p:nvPr/>
            </p:nvSpPr>
            <p:spPr>
              <a:xfrm>
                <a:off x="4016258" y="870432"/>
                <a:ext cx="1873485" cy="9768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PK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sz="2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GB" sz="24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GB" sz="24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n-GB" sz="24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n-GB" sz="24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n-GB" sz="2400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  <m:e>
                                <m:r>
                                  <a:rPr lang="en-GB" sz="24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sz="2400" b="1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DF3777B-5D23-185A-F2AF-F5D11F12C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6258" y="870432"/>
                <a:ext cx="1873485" cy="97680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980E23A-D759-A7F8-314A-8512E0541858}"/>
                  </a:ext>
                </a:extLst>
              </p:cNvPr>
              <p:cNvSpPr txBox="1"/>
              <p:nvPr/>
            </p:nvSpPr>
            <p:spPr>
              <a:xfrm>
                <a:off x="5596507" y="830467"/>
                <a:ext cx="614775" cy="10502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PK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sz="2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sz="24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980E23A-D759-A7F8-314A-8512E0541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507" y="830467"/>
                <a:ext cx="614775" cy="105022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2185664-B116-14FB-1F23-F8261B1B6479}"/>
                  </a:ext>
                </a:extLst>
              </p:cNvPr>
              <p:cNvSpPr txBox="1"/>
              <p:nvPr/>
            </p:nvSpPr>
            <p:spPr>
              <a:xfrm>
                <a:off x="6106072" y="850211"/>
                <a:ext cx="1378376" cy="10676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b="1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sz="2400" i="1">
                                  <a:solidFill>
                                    <a:srgbClr val="FF99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1" i="1" smtClean="0">
                                    <a:solidFill>
                                      <a:srgbClr val="FF990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b="1" i="1" smtClean="0">
                                    <a:solidFill>
                                      <a:srgbClr val="FF9900"/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b="1" i="1" smtClean="0">
                                    <a:solidFill>
                                      <a:srgbClr val="FF9900"/>
                                    </a:solidFill>
                                    <a:latin typeface="Cambria Math" panose="02040503050406030204" pitchFamily="18" charset="0"/>
                                  </a:rPr>
                                  <m:t>𝟏𝟓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K" sz="2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2185664-B116-14FB-1F23-F8261B1B64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6072" y="850211"/>
                <a:ext cx="1378376" cy="10676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27C37C4-206C-4A41-726B-138ED7CADE44}"/>
              </a:ext>
            </a:extLst>
          </p:cNvPr>
          <p:cNvSpPr/>
          <p:nvPr/>
        </p:nvSpPr>
        <p:spPr>
          <a:xfrm>
            <a:off x="4001801" y="800156"/>
            <a:ext cx="3237200" cy="1139552"/>
          </a:xfrm>
          <a:prstGeom prst="roundRect">
            <a:avLst/>
          </a:prstGeom>
          <a:noFill/>
          <a:ln w="762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7E88B5E-B70A-CD5B-082F-7A3169E8F7A8}"/>
                  </a:ext>
                </a:extLst>
              </p:cNvPr>
              <p:cNvSpPr txBox="1"/>
              <p:nvPr/>
            </p:nvSpPr>
            <p:spPr>
              <a:xfrm>
                <a:off x="2725626" y="3038284"/>
                <a:ext cx="49476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PK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7E88B5E-B70A-CD5B-082F-7A3169E8F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5626" y="3038284"/>
                <a:ext cx="494769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85512D9-F571-6807-BA5C-0188389C5403}"/>
                  </a:ext>
                </a:extLst>
              </p:cNvPr>
              <p:cNvSpPr txBox="1"/>
              <p:nvPr/>
            </p:nvSpPr>
            <p:spPr>
              <a:xfrm>
                <a:off x="2816152" y="3445959"/>
                <a:ext cx="490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PK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85512D9-F571-6807-BA5C-0188389C54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6152" y="3445959"/>
                <a:ext cx="490340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Rectangle 65">
            <a:extLst>
              <a:ext uri="{FF2B5EF4-FFF2-40B4-BE49-F238E27FC236}">
                <a16:creationId xmlns:a16="http://schemas.microsoft.com/office/drawing/2014/main" id="{64157E43-88C5-E75B-144D-B2C6EE5F24B3}"/>
              </a:ext>
            </a:extLst>
          </p:cNvPr>
          <p:cNvSpPr/>
          <p:nvPr/>
        </p:nvSpPr>
        <p:spPr>
          <a:xfrm>
            <a:off x="9574223" y="13162"/>
            <a:ext cx="1676400" cy="3693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MBX10"/>
              </a:rPr>
              <a:t>Question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F9F9F07-FAC5-AE3F-185B-53ECE6F74844}"/>
              </a:ext>
            </a:extLst>
          </p:cNvPr>
          <p:cNvSpPr txBox="1"/>
          <p:nvPr/>
        </p:nvSpPr>
        <p:spPr>
          <a:xfrm>
            <a:off x="878357" y="4539852"/>
            <a:ext cx="105591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a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contradiction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meaning the system is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inconsistent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has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solution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FD11CA45-08B7-4390-768A-C3B45F56EF7E}"/>
              </a:ext>
            </a:extLst>
          </p:cNvPr>
          <p:cNvSpPr/>
          <p:nvPr/>
        </p:nvSpPr>
        <p:spPr>
          <a:xfrm>
            <a:off x="3487009" y="3788399"/>
            <a:ext cx="508611" cy="369332"/>
          </a:xfrm>
          <a:prstGeom prst="rightArrow">
            <a:avLst>
              <a:gd name="adj1" fmla="val 50000"/>
              <a:gd name="adj2" fmla="val 5618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CD4ED8A-C5B3-DF30-C9C9-D84E8BE70353}"/>
                  </a:ext>
                </a:extLst>
              </p:cNvPr>
              <p:cNvSpPr txBox="1"/>
              <p:nvPr/>
            </p:nvSpPr>
            <p:spPr>
              <a:xfrm>
                <a:off x="4406675" y="3748786"/>
                <a:ext cx="9936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CD4ED8A-C5B3-DF30-C9C9-D84E8BE70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6675" y="3748786"/>
                <a:ext cx="993605" cy="46166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6302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/>
      <p:bldP spid="9" grpId="0" animBg="1"/>
      <p:bldP spid="10" grpId="0"/>
      <p:bldP spid="11" grpId="0" animBg="1"/>
      <p:bldP spid="12" grpId="0" animBg="1"/>
      <p:bldP spid="13" grpId="0" animBg="1"/>
      <p:bldP spid="14" grpId="0"/>
      <p:bldP spid="15" grpId="0"/>
      <p:bldP spid="16" grpId="0"/>
      <p:bldP spid="17" grpId="0"/>
      <p:bldP spid="31" grpId="0" animBg="1"/>
      <p:bldP spid="32" grpId="0" animBg="1"/>
      <p:bldP spid="33" grpId="0" animBg="1"/>
      <p:bldP spid="36" grpId="0" animBg="1"/>
      <p:bldP spid="38" grpId="0"/>
      <p:bldP spid="39" grpId="0"/>
      <p:bldP spid="40" grpId="0"/>
      <p:bldP spid="41" grpId="0" animBg="1"/>
      <p:bldP spid="43" grpId="0"/>
      <p:bldP spid="44" grpId="0"/>
      <p:bldP spid="66" grpId="0" animBg="1"/>
      <p:bldP spid="68" grpId="0"/>
      <p:bldP spid="3" grpId="0" animBg="1"/>
      <p:bldP spid="2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1EADF4-39EA-F669-2807-EF5E1E07C357}"/>
              </a:ext>
            </a:extLst>
          </p:cNvPr>
          <p:cNvSpPr txBox="1"/>
          <p:nvPr/>
        </p:nvSpPr>
        <p:spPr>
          <a:xfrm>
            <a:off x="0" y="0"/>
            <a:ext cx="1643399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06B6F0-5228-5222-2AA1-3DA713FE3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923" y="584775"/>
            <a:ext cx="7717002" cy="21621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B7E014-41AD-FF09-057B-51583BD7E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915" y="2746942"/>
            <a:ext cx="7375160" cy="406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544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6CA0CD-26D6-7F17-43D8-039A0D736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576"/>
            <a:ext cx="9909279" cy="23375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78543F-F62C-737C-19DB-569405CEA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315276"/>
            <a:ext cx="11453266" cy="8750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54E0FC-41BB-D028-9499-E0965B7721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3032" y="3279604"/>
            <a:ext cx="4882968" cy="18481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C6A7B8A-BE44-94A4-8A9B-6003CC4DDAC1}"/>
              </a:ext>
            </a:extLst>
          </p:cNvPr>
          <p:cNvSpPr txBox="1"/>
          <p:nvPr/>
        </p:nvSpPr>
        <p:spPr>
          <a:xfrm>
            <a:off x="973192" y="5307504"/>
            <a:ext cx="43685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 we have to make 0 here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8DAF8F-4998-9BFF-D086-06BEE89A8314}"/>
              </a:ext>
            </a:extLst>
          </p:cNvPr>
          <p:cNvSpPr txBox="1"/>
          <p:nvPr/>
        </p:nvSpPr>
        <p:spPr>
          <a:xfrm>
            <a:off x="974366" y="6041036"/>
            <a:ext cx="15103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here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D0759B7-B3CF-6BBF-F486-23E4A014ACE4}"/>
              </a:ext>
            </a:extLst>
          </p:cNvPr>
          <p:cNvSpPr/>
          <p:nvPr/>
        </p:nvSpPr>
        <p:spPr>
          <a:xfrm>
            <a:off x="2486139" y="3261135"/>
            <a:ext cx="706766" cy="497027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D3C2617-8648-79BC-4289-053E382FDFB1}"/>
              </a:ext>
            </a:extLst>
          </p:cNvPr>
          <p:cNvSpPr/>
          <p:nvPr/>
        </p:nvSpPr>
        <p:spPr>
          <a:xfrm>
            <a:off x="4675426" y="3693832"/>
            <a:ext cx="706766" cy="497027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33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animBg="1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D887B1-705D-E557-F124-57749DDDB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79" y="1848837"/>
            <a:ext cx="10673270" cy="8168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D2ACBC-3826-C3CE-15C3-CD5DDA838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45" y="0"/>
            <a:ext cx="4882968" cy="18481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3D5893-D38C-9A7B-FF7C-1A86D78DD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445" y="2662889"/>
            <a:ext cx="5112817" cy="18921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7AA4AAD-4415-0968-A238-259562DEEE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445" y="4555034"/>
            <a:ext cx="8740437" cy="227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629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4DEA22-EC4B-2643-2B08-9558E063C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81" y="121015"/>
            <a:ext cx="7471504" cy="20951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C598A1-5DA8-5E4B-D753-5C180762F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81" y="2212450"/>
            <a:ext cx="11069144" cy="8644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461D363-CB4A-B197-7CC0-667C85CA0358}"/>
                  </a:ext>
                </a:extLst>
              </p:cNvPr>
              <p:cNvSpPr txBox="1"/>
              <p:nvPr/>
            </p:nvSpPr>
            <p:spPr>
              <a:xfrm>
                <a:off x="944380" y="3351450"/>
                <a:ext cx="3746731" cy="58477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00206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3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461D363-CB4A-B197-7CC0-667C85CA0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380" y="3351450"/>
                <a:ext cx="3746731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6CE2AD4-52A0-9C4D-B5C1-0874657F5A78}"/>
                  </a:ext>
                </a:extLst>
              </p:cNvPr>
              <p:cNvSpPr txBox="1"/>
              <p:nvPr/>
            </p:nvSpPr>
            <p:spPr>
              <a:xfrm>
                <a:off x="1034320" y="4179966"/>
                <a:ext cx="1420645" cy="584775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6CE2AD4-52A0-9C4D-B5C1-0874657F5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320" y="4179966"/>
                <a:ext cx="1420645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EC7B148-0949-6AEB-BC5F-4646EAD7A1AF}"/>
                  </a:ext>
                </a:extLst>
              </p:cNvPr>
              <p:cNvSpPr txBox="1"/>
              <p:nvPr/>
            </p:nvSpPr>
            <p:spPr>
              <a:xfrm>
                <a:off x="944380" y="5149109"/>
                <a:ext cx="1947393" cy="584775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EC7B148-0949-6AEB-BC5F-4646EAD7A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380" y="5149109"/>
                <a:ext cx="1947393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F8D1D89-646D-99E1-9829-4BE62827108A}"/>
                  </a:ext>
                </a:extLst>
              </p:cNvPr>
              <p:cNvSpPr txBox="1"/>
              <p:nvPr/>
            </p:nvSpPr>
            <p:spPr>
              <a:xfrm>
                <a:off x="6116875" y="4212751"/>
                <a:ext cx="1387944" cy="584775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F8D1D89-646D-99E1-9829-4BE628271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6875" y="4212751"/>
                <a:ext cx="1387944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810B9BB-011C-3C2B-2CD7-C8031A320E1B}"/>
                  </a:ext>
                </a:extLst>
              </p:cNvPr>
              <p:cNvSpPr txBox="1"/>
              <p:nvPr/>
            </p:nvSpPr>
            <p:spPr>
              <a:xfrm>
                <a:off x="6119451" y="3257848"/>
                <a:ext cx="1413592" cy="58477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00206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sz="3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810B9BB-011C-3C2B-2CD7-C8031A320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9451" y="3257848"/>
                <a:ext cx="1413592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13DB206-3C3F-D254-6F47-ADFFE3787837}"/>
                  </a:ext>
                </a:extLst>
              </p:cNvPr>
              <p:cNvSpPr txBox="1"/>
              <p:nvPr/>
            </p:nvSpPr>
            <p:spPr>
              <a:xfrm>
                <a:off x="6058846" y="5036806"/>
                <a:ext cx="1443665" cy="1017523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13DB206-3C3F-D254-6F47-ADFFE3787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8846" y="5036806"/>
                <a:ext cx="1443665" cy="101752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9518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4B24EC-BFE8-974C-C720-C106FEA5677C}"/>
              </a:ext>
            </a:extLst>
          </p:cNvPr>
          <p:cNvSpPr txBox="1"/>
          <p:nvPr/>
        </p:nvSpPr>
        <p:spPr>
          <a:xfrm>
            <a:off x="0" y="21930"/>
            <a:ext cx="12038351" cy="6612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Exercise: Solve the systems by both Gauss and Gauss-Jordan Elimination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CE30DF-9252-D2AE-842D-B0304910676E}"/>
                  </a:ext>
                </a:extLst>
              </p:cNvPr>
              <p:cNvSpPr txBox="1"/>
              <p:nvPr/>
            </p:nvSpPr>
            <p:spPr>
              <a:xfrm>
                <a:off x="206149" y="1149121"/>
                <a:ext cx="2995502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CE30DF-9252-D2AE-842D-B03049106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149" y="1149121"/>
                <a:ext cx="2995502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6AFEB2-3EA5-CAC1-2726-ACFD78681BCC}"/>
                  </a:ext>
                </a:extLst>
              </p:cNvPr>
              <p:cNvSpPr txBox="1"/>
              <p:nvPr/>
            </p:nvSpPr>
            <p:spPr>
              <a:xfrm>
                <a:off x="210998" y="1834838"/>
                <a:ext cx="3446603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6AFEB2-3EA5-CAC1-2726-ACFD78681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998" y="1834838"/>
                <a:ext cx="3446603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945DF33-332E-1519-9F38-135A0B06AB14}"/>
                  </a:ext>
                </a:extLst>
              </p:cNvPr>
              <p:cNvSpPr txBox="1"/>
              <p:nvPr/>
            </p:nvSpPr>
            <p:spPr>
              <a:xfrm>
                <a:off x="210999" y="2509370"/>
                <a:ext cx="3663404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𝟕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𝟒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945DF33-332E-1519-9F38-135A0B06A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999" y="2509370"/>
                <a:ext cx="3663404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067A031-38E0-E638-7426-0ACE38783A9A}"/>
              </a:ext>
            </a:extLst>
          </p:cNvPr>
          <p:cNvCxnSpPr>
            <a:cxnSpLocks/>
          </p:cNvCxnSpPr>
          <p:nvPr/>
        </p:nvCxnSpPr>
        <p:spPr>
          <a:xfrm>
            <a:off x="5546363" y="869429"/>
            <a:ext cx="0" cy="2413417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76B78A2-9096-AB83-C9B2-8AAE836C7FD9}"/>
                  </a:ext>
                </a:extLst>
              </p:cNvPr>
              <p:cNvSpPr txBox="1"/>
              <p:nvPr/>
            </p:nvSpPr>
            <p:spPr>
              <a:xfrm>
                <a:off x="7644991" y="1149121"/>
                <a:ext cx="3639386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76B78A2-9096-AB83-C9B2-8AAE836C7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4991" y="1149121"/>
                <a:ext cx="3639386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6BB912F-2C7A-10A3-9313-D353BFC348DD}"/>
                  </a:ext>
                </a:extLst>
              </p:cNvPr>
              <p:cNvSpPr txBox="1"/>
              <p:nvPr/>
            </p:nvSpPr>
            <p:spPr>
              <a:xfrm>
                <a:off x="7649840" y="1834838"/>
                <a:ext cx="3634534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6BB912F-2C7A-10A3-9313-D353BFC34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9840" y="1834838"/>
                <a:ext cx="363453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6174BEB-30AE-E90C-D52B-9BC5E29A8EAF}"/>
                  </a:ext>
                </a:extLst>
              </p:cNvPr>
              <p:cNvSpPr txBox="1"/>
              <p:nvPr/>
            </p:nvSpPr>
            <p:spPr>
              <a:xfrm>
                <a:off x="7649841" y="2509370"/>
                <a:ext cx="3663404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𝟖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𝟒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6174BEB-30AE-E90C-D52B-9BC5E29A8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9841" y="2509370"/>
                <a:ext cx="3663404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DEB344A-ABDC-4938-D30A-3D246B677F64}"/>
                  </a:ext>
                </a:extLst>
              </p:cNvPr>
              <p:cNvSpPr txBox="1"/>
              <p:nvPr/>
            </p:nvSpPr>
            <p:spPr>
              <a:xfrm>
                <a:off x="3869554" y="3654175"/>
                <a:ext cx="3639386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DEB344A-ABDC-4938-D30A-3D246B677F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9554" y="3654175"/>
                <a:ext cx="3639386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EEFB1C2-9355-B981-B1F0-4582DC8F42F9}"/>
                  </a:ext>
                </a:extLst>
              </p:cNvPr>
              <p:cNvSpPr txBox="1"/>
              <p:nvPr/>
            </p:nvSpPr>
            <p:spPr>
              <a:xfrm>
                <a:off x="3874402" y="5104869"/>
                <a:ext cx="3770589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EEFB1C2-9355-B981-B1F0-4582DC8F4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4402" y="5104869"/>
                <a:ext cx="3770589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DB7E5DF-D46C-121D-E5B2-35A29D884EFD}"/>
                  </a:ext>
                </a:extLst>
              </p:cNvPr>
              <p:cNvSpPr txBox="1"/>
              <p:nvPr/>
            </p:nvSpPr>
            <p:spPr>
              <a:xfrm>
                <a:off x="3868033" y="5806365"/>
                <a:ext cx="3663404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DB7E5DF-D46C-121D-E5B2-35A29D884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8033" y="5806365"/>
                <a:ext cx="3663404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B37691E-E032-318F-FDCF-332A11893E2B}"/>
                  </a:ext>
                </a:extLst>
              </p:cNvPr>
              <p:cNvSpPr txBox="1"/>
              <p:nvPr/>
            </p:nvSpPr>
            <p:spPr>
              <a:xfrm>
                <a:off x="3854564" y="4394988"/>
                <a:ext cx="3639386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B37691E-E032-318F-FDCF-332A11893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4564" y="4394988"/>
                <a:ext cx="3639386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0156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8" grpId="0" animBg="1"/>
      <p:bldP spid="19" grpId="0" animBg="1"/>
      <p:bldP spid="20" grpId="0" animBg="1"/>
      <p:bldP spid="2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4FB17A-CD7D-C52D-5F0C-A2C0FD01B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26" y="0"/>
            <a:ext cx="11169197" cy="35345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46888E-BC45-094D-4606-4966B8A8A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26" y="3653226"/>
            <a:ext cx="11214748" cy="18631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98792A-6D96-F501-12BD-953A09FDCAA9}"/>
              </a:ext>
            </a:extLst>
          </p:cNvPr>
          <p:cNvSpPr txBox="1"/>
          <p:nvPr/>
        </p:nvSpPr>
        <p:spPr>
          <a:xfrm>
            <a:off x="380531" y="5635049"/>
            <a:ext cx="114309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Theorem:</a:t>
            </a: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homogeneous linear system with more unknowns than equations has infinitely many solutions.</a:t>
            </a:r>
          </a:p>
        </p:txBody>
      </p:sp>
    </p:spTree>
    <p:extLst>
      <p:ext uri="{BB962C8B-B14F-4D97-AF65-F5344CB8AC3E}">
        <p14:creationId xmlns:p14="http://schemas.microsoft.com/office/powerpoint/2010/main" val="658685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84361BB-E17D-4D59-58EB-831808B805C1}"/>
              </a:ext>
            </a:extLst>
          </p:cNvPr>
          <p:cNvSpPr txBox="1"/>
          <p:nvPr/>
        </p:nvSpPr>
        <p:spPr>
          <a:xfrm>
            <a:off x="18739" y="21930"/>
            <a:ext cx="12173261" cy="13075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following Exercises, determine whether the homogeneous system has nontrivial solutions by inspection (without pencil and paper).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9F3D03-8812-0350-832F-858C5DAC3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975" y="1619369"/>
            <a:ext cx="5814182" cy="21881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FAB9A2-8C3D-8289-CF20-5A47999C3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0714" y="4234832"/>
            <a:ext cx="4954873" cy="262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102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3E2FC-9504-C72C-DA71-BC14462DB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26390F-06A6-A065-5F8D-996B8EC20FD7}"/>
              </a:ext>
            </a:extLst>
          </p:cNvPr>
          <p:cNvSpPr txBox="1"/>
          <p:nvPr/>
        </p:nvSpPr>
        <p:spPr>
          <a:xfrm>
            <a:off x="0" y="0"/>
            <a:ext cx="11602385" cy="74251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Exercise: Solve the given Homogeneous linear system by any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82AD94-475C-CB00-CF11-3949FAF2691E}"/>
                  </a:ext>
                </a:extLst>
              </p:cNvPr>
              <p:cNvSpPr txBox="1"/>
              <p:nvPr/>
            </p:nvSpPr>
            <p:spPr>
              <a:xfrm>
                <a:off x="206149" y="1054639"/>
                <a:ext cx="3446602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82AD94-475C-CB00-CF11-3949FAF26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149" y="1054639"/>
                <a:ext cx="3446602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B627A6-FBFE-B7D1-634A-55B2337501F8}"/>
                  </a:ext>
                </a:extLst>
              </p:cNvPr>
              <p:cNvSpPr txBox="1"/>
              <p:nvPr/>
            </p:nvSpPr>
            <p:spPr>
              <a:xfrm>
                <a:off x="210998" y="1834838"/>
                <a:ext cx="3446603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B627A6-FBFE-B7D1-634A-55B233750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998" y="1834838"/>
                <a:ext cx="3446603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4FEF9EE-CA35-1C9C-D5B9-60E6C37D47E4}"/>
                  </a:ext>
                </a:extLst>
              </p:cNvPr>
              <p:cNvSpPr txBox="1"/>
              <p:nvPr/>
            </p:nvSpPr>
            <p:spPr>
              <a:xfrm>
                <a:off x="210999" y="2509370"/>
                <a:ext cx="3663404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4FEF9EE-CA35-1C9C-D5B9-60E6C37D4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999" y="2509370"/>
                <a:ext cx="3663404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CDFA96-8DA9-2F4C-8512-587D6CBA2269}"/>
              </a:ext>
            </a:extLst>
          </p:cNvPr>
          <p:cNvCxnSpPr>
            <a:cxnSpLocks/>
          </p:cNvCxnSpPr>
          <p:nvPr/>
        </p:nvCxnSpPr>
        <p:spPr>
          <a:xfrm>
            <a:off x="5546363" y="869429"/>
            <a:ext cx="0" cy="2413417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5C71E75-5FAB-1CFD-CC66-FB69331A6EC1}"/>
                  </a:ext>
                </a:extLst>
              </p:cNvPr>
              <p:cNvSpPr txBox="1"/>
              <p:nvPr/>
            </p:nvSpPr>
            <p:spPr>
              <a:xfrm>
                <a:off x="7210272" y="1029201"/>
                <a:ext cx="3639386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5C71E75-5FAB-1CFD-CC66-FB69331A6E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0272" y="1029201"/>
                <a:ext cx="3639386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D10BC21-6979-7C44-06CA-35624328DA41}"/>
                  </a:ext>
                </a:extLst>
              </p:cNvPr>
              <p:cNvSpPr txBox="1"/>
              <p:nvPr/>
            </p:nvSpPr>
            <p:spPr>
              <a:xfrm>
                <a:off x="7215121" y="1714918"/>
                <a:ext cx="3634534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D10BC21-6979-7C44-06CA-35624328D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5121" y="1714918"/>
                <a:ext cx="363453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4CDF105-874F-ED5F-A273-B40039BC36EB}"/>
                  </a:ext>
                </a:extLst>
              </p:cNvPr>
              <p:cNvSpPr txBox="1"/>
              <p:nvPr/>
            </p:nvSpPr>
            <p:spPr>
              <a:xfrm>
                <a:off x="7215122" y="2389450"/>
                <a:ext cx="3663404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4CDF105-874F-ED5F-A273-B40039BC3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5122" y="2389450"/>
                <a:ext cx="3663404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214DD39-30EA-0B13-55AC-0D0FD06AF99F}"/>
                  </a:ext>
                </a:extLst>
              </p:cNvPr>
              <p:cNvSpPr txBox="1"/>
              <p:nvPr/>
            </p:nvSpPr>
            <p:spPr>
              <a:xfrm>
                <a:off x="292301" y="3917744"/>
                <a:ext cx="3639386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214DD39-30EA-0B13-55AC-0D0FD06AF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301" y="3917744"/>
                <a:ext cx="3639386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D5EF6CB-2913-0E14-5C74-FC3540170768}"/>
                  </a:ext>
                </a:extLst>
              </p:cNvPr>
              <p:cNvSpPr txBox="1"/>
              <p:nvPr/>
            </p:nvSpPr>
            <p:spPr>
              <a:xfrm>
                <a:off x="297149" y="5368438"/>
                <a:ext cx="3770589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D5EF6CB-2913-0E14-5C74-FC3540170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49" y="5368438"/>
                <a:ext cx="3770589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476AFC1-36E3-720B-E1A9-B20AE010D71C}"/>
                  </a:ext>
                </a:extLst>
              </p:cNvPr>
              <p:cNvSpPr txBox="1"/>
              <p:nvPr/>
            </p:nvSpPr>
            <p:spPr>
              <a:xfrm>
                <a:off x="290780" y="6078318"/>
                <a:ext cx="4041378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476AFC1-36E3-720B-E1A9-B20AE010D7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80" y="6078318"/>
                <a:ext cx="4041378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4F4DDCB-20F3-172C-07C6-4C73F0166775}"/>
                  </a:ext>
                </a:extLst>
              </p:cNvPr>
              <p:cNvSpPr txBox="1"/>
              <p:nvPr/>
            </p:nvSpPr>
            <p:spPr>
              <a:xfrm>
                <a:off x="277311" y="4658557"/>
                <a:ext cx="3639386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4F4DDCB-20F3-172C-07C6-4C73F01667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11" y="4658557"/>
                <a:ext cx="3639386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0FB6643-29B8-C8E8-B7CC-97477CA25350}"/>
              </a:ext>
            </a:extLst>
          </p:cNvPr>
          <p:cNvCxnSpPr>
            <a:cxnSpLocks/>
          </p:cNvCxnSpPr>
          <p:nvPr/>
        </p:nvCxnSpPr>
        <p:spPr>
          <a:xfrm>
            <a:off x="5546363" y="3917744"/>
            <a:ext cx="0" cy="2413417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34666C2-993A-2F22-7D77-3A7F5DE33628}"/>
                  </a:ext>
                </a:extLst>
              </p:cNvPr>
              <p:cNvSpPr txBox="1"/>
              <p:nvPr/>
            </p:nvSpPr>
            <p:spPr>
              <a:xfrm>
                <a:off x="7224034" y="3769624"/>
                <a:ext cx="3446602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34666C2-993A-2F22-7D77-3A7F5DE33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4034" y="3769624"/>
                <a:ext cx="3446602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FBCAFE-C0EA-FCF4-8163-F5F3BB90FBE6}"/>
                  </a:ext>
                </a:extLst>
              </p:cNvPr>
              <p:cNvSpPr txBox="1"/>
              <p:nvPr/>
            </p:nvSpPr>
            <p:spPr>
              <a:xfrm>
                <a:off x="7224034" y="4323193"/>
                <a:ext cx="3446603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8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𝟒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8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28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FBCAFE-C0EA-FCF4-8163-F5F3BB90F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4034" y="4323193"/>
                <a:ext cx="3446603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795FA6B-E951-85DE-60C9-D0B0B0CEA6A0}"/>
                  </a:ext>
                </a:extLst>
              </p:cNvPr>
              <p:cNvSpPr txBox="1"/>
              <p:nvPr/>
            </p:nvSpPr>
            <p:spPr>
              <a:xfrm>
                <a:off x="7200132" y="4884539"/>
                <a:ext cx="3663404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sSub>
                        <m:sSub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sz="28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795FA6B-E951-85DE-60C9-D0B0B0CEA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132" y="4884539"/>
                <a:ext cx="3663404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ECEE10A-AEBE-F2E4-26F6-CE5DC871612D}"/>
                  </a:ext>
                </a:extLst>
              </p:cNvPr>
              <p:cNvSpPr txBox="1"/>
              <p:nvPr/>
            </p:nvSpPr>
            <p:spPr>
              <a:xfrm>
                <a:off x="7215121" y="5428398"/>
                <a:ext cx="3892582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𝟒</m:t>
                      </m:r>
                      <m:sSub>
                        <m:sSub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sz="28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ECEE10A-AEBE-F2E4-26F6-CE5DC87161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5121" y="5428398"/>
                <a:ext cx="3892582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EDDBEBC-9D7B-9CEE-A967-4AA76200F3DE}"/>
                  </a:ext>
                </a:extLst>
              </p:cNvPr>
              <p:cNvSpPr txBox="1"/>
              <p:nvPr/>
            </p:nvSpPr>
            <p:spPr>
              <a:xfrm>
                <a:off x="7200132" y="6023785"/>
                <a:ext cx="3663404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sSub>
                        <m:sSub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sz="28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EDDBEBC-9D7B-9CEE-A967-4AA76200F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132" y="6023785"/>
                <a:ext cx="3663404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194E773-6D25-B764-CB22-613B8A36D7EA}"/>
              </a:ext>
            </a:extLst>
          </p:cNvPr>
          <p:cNvCxnSpPr/>
          <p:nvPr/>
        </p:nvCxnSpPr>
        <p:spPr>
          <a:xfrm>
            <a:off x="206149" y="3372786"/>
            <a:ext cx="4845536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CFB428E-A912-7018-DC40-AD5905224C4A}"/>
              </a:ext>
            </a:extLst>
          </p:cNvPr>
          <p:cNvCxnSpPr/>
          <p:nvPr/>
        </p:nvCxnSpPr>
        <p:spPr>
          <a:xfrm>
            <a:off x="6309649" y="3345306"/>
            <a:ext cx="4845536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708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8" grpId="0" animBg="1"/>
      <p:bldP spid="19" grpId="0" animBg="1"/>
      <p:bldP spid="20" grpId="0" animBg="1"/>
      <p:bldP spid="26" grpId="0" animBg="1"/>
      <p:bldP spid="3" grpId="0" animBg="1"/>
      <p:bldP spid="5" grpId="0" animBg="1"/>
      <p:bldP spid="6" grpId="0" animBg="1"/>
      <p:bldP spid="10" grpId="0" animBg="1"/>
      <p:bldP spid="1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5C859B-DC53-A1A2-3C7A-CD0A3BAC8121}"/>
              </a:ext>
            </a:extLst>
          </p:cNvPr>
          <p:cNvSpPr txBox="1"/>
          <p:nvPr/>
        </p:nvSpPr>
        <p:spPr>
          <a:xfrm>
            <a:off x="4320914" y="1"/>
            <a:ext cx="3429001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B1186E-0416-C544-6979-0F31B1B837B6}"/>
              </a:ext>
            </a:extLst>
          </p:cNvPr>
          <p:cNvSpPr txBox="1"/>
          <p:nvPr/>
        </p:nvSpPr>
        <p:spPr>
          <a:xfrm>
            <a:off x="1274164" y="1027703"/>
            <a:ext cx="101018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Available on a separate word file, uploaded on Portal </a:t>
            </a:r>
            <a:endParaRPr lang="en-US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634A93-1C26-878C-764D-F282AEABA71C}"/>
              </a:ext>
            </a:extLst>
          </p:cNvPr>
          <p:cNvSpPr txBox="1"/>
          <p:nvPr/>
        </p:nvSpPr>
        <p:spPr>
          <a:xfrm>
            <a:off x="269823" y="1932295"/>
            <a:ext cx="11922177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This Code Works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Applies Gauss-Jordan elimination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transform the system into row-reduced echelon form.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Identifies pivot variables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(variables that have a leading 1 in a row).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Identifies free variables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(columns without pivots, which lead to infinite solutions).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Expresses solutions parametrically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variables like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t₁, t₂, ...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when necessary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Already explained on word file with examples. </a:t>
            </a:r>
          </a:p>
        </p:txBody>
      </p:sp>
    </p:spTree>
    <p:extLst>
      <p:ext uri="{BB962C8B-B14F-4D97-AF65-F5344CB8AC3E}">
        <p14:creationId xmlns:p14="http://schemas.microsoft.com/office/powerpoint/2010/main" val="107437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Text gif. White, green, yellow, pink, and blue stripes cycle through text that reads, &quot;Thanks.&quot;">
            <a:extLst>
              <a:ext uri="{FF2B5EF4-FFF2-40B4-BE49-F238E27FC236}">
                <a16:creationId xmlns:a16="http://schemas.microsoft.com/office/drawing/2014/main" id="{3B4AEE5E-29B2-06C7-CEB2-8EDC18B7C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5504" y="351956"/>
            <a:ext cx="9231130" cy="6154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9153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22249</TotalTime>
  <Words>1147</Words>
  <Application>Microsoft Office PowerPoint</Application>
  <PresentationFormat>Widescreen</PresentationFormat>
  <Paragraphs>222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-apple-system</vt:lpstr>
      <vt:lpstr>Arial</vt:lpstr>
      <vt:lpstr>Calibri</vt:lpstr>
      <vt:lpstr>Calibri Light</vt:lpstr>
      <vt:lpstr>Cambria Math</vt:lpstr>
      <vt:lpstr>CMBX10</vt:lpstr>
      <vt:lpstr>STIXTwoText-BoldItalic-Identity-H</vt:lpstr>
      <vt:lpstr>STIXTwoText-Identity-H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Adnan Rafiq Siddiqui</dc:creator>
  <cp:lastModifiedBy>Adnan Rafiq Siddiqui</cp:lastModifiedBy>
  <cp:revision>91</cp:revision>
  <dcterms:created xsi:type="dcterms:W3CDTF">2025-02-25T06:33:15Z</dcterms:created>
  <dcterms:modified xsi:type="dcterms:W3CDTF">2025-03-24T05:19:23Z</dcterms:modified>
</cp:coreProperties>
</file>