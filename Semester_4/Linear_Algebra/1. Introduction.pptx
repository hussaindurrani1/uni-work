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633" r:id="rId3"/>
    <p:sldId id="636" r:id="rId4"/>
    <p:sldId id="637" r:id="rId5"/>
    <p:sldId id="638" r:id="rId6"/>
    <p:sldId id="258" r:id="rId7"/>
    <p:sldId id="283" r:id="rId8"/>
    <p:sldId id="284" r:id="rId9"/>
    <p:sldId id="277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5" r:id="rId22"/>
    <p:sldId id="270" r:id="rId23"/>
    <p:sldId id="272" r:id="rId24"/>
    <p:sldId id="635" r:id="rId25"/>
    <p:sldId id="271" r:id="rId26"/>
    <p:sldId id="278" r:id="rId27"/>
    <p:sldId id="279" r:id="rId28"/>
    <p:sldId id="280" r:id="rId29"/>
    <p:sldId id="63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D616D1-F0C5-4723-AB33-42B0CA25B98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84954AE9-15D1-48FA-854A-7325F55754A6}">
      <dgm:prSet phldrT="[Text]"/>
      <dgm:spPr>
        <a:solidFill>
          <a:srgbClr val="00FFFF"/>
        </a:solidFill>
        <a:ln w="28575"/>
      </dgm:spPr>
      <dgm:t>
        <a:bodyPr/>
        <a:lstStyle/>
        <a:p>
          <a:r>
            <a:rPr lang="en-GB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Definition and Introduction</a:t>
          </a:r>
          <a:endParaRPr lang="en-PK" dirty="0">
            <a:solidFill>
              <a:sysClr val="windowText" lastClr="0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53C9F6-D19D-4BD9-89DB-9E42BB0D1FAE}" type="parTrans" cxnId="{2B036497-D8F6-41FB-9431-045E281543E4}">
      <dgm:prSet/>
      <dgm:spPr/>
      <dgm:t>
        <a:bodyPr/>
        <a:lstStyle/>
        <a:p>
          <a:endParaRPr lang="en-PK"/>
        </a:p>
      </dgm:t>
    </dgm:pt>
    <dgm:pt modelId="{538C0040-0BD6-4B89-B5F0-45A42A57EDF1}" type="sibTrans" cxnId="{2B036497-D8F6-41FB-9431-045E281543E4}">
      <dgm:prSet/>
      <dgm:spPr/>
      <dgm:t>
        <a:bodyPr/>
        <a:lstStyle/>
        <a:p>
          <a:endParaRPr lang="en-PK"/>
        </a:p>
      </dgm:t>
    </dgm:pt>
    <dgm:pt modelId="{8DA23B42-27CF-4E01-9406-69D94643C3C8}">
      <dgm:prSet phldrT="[Text]"/>
      <dgm:spPr>
        <a:solidFill>
          <a:srgbClr val="00FF00"/>
        </a:solidFill>
        <a:ln w="28575"/>
      </dgm:spPr>
      <dgm:t>
        <a:bodyPr/>
        <a:lstStyle/>
        <a:p>
          <a:r>
            <a:rPr lang="en-US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Applications</a:t>
          </a:r>
          <a:endParaRPr lang="en-PK" dirty="0">
            <a:solidFill>
              <a:sysClr val="windowText" lastClr="0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2922B6E-27BE-4DE6-9D67-79CA7E96E582}" type="parTrans" cxnId="{86C466F8-D8B4-4D8C-9390-2AF730873D18}">
      <dgm:prSet/>
      <dgm:spPr/>
      <dgm:t>
        <a:bodyPr/>
        <a:lstStyle/>
        <a:p>
          <a:endParaRPr lang="en-PK"/>
        </a:p>
      </dgm:t>
    </dgm:pt>
    <dgm:pt modelId="{89E1009B-16B5-4C63-B73C-A7CC3DB5AEA5}" type="sibTrans" cxnId="{86C466F8-D8B4-4D8C-9390-2AF730873D18}">
      <dgm:prSet/>
      <dgm:spPr/>
      <dgm:t>
        <a:bodyPr/>
        <a:lstStyle/>
        <a:p>
          <a:endParaRPr lang="en-PK"/>
        </a:p>
      </dgm:t>
    </dgm:pt>
    <dgm:pt modelId="{BE6B0146-DC15-4EAE-9802-BF9AA53C0E8E}">
      <dgm:prSet phldrT="[Text]"/>
      <dgm:spPr>
        <a:solidFill>
          <a:srgbClr val="FF00FF"/>
        </a:solidFill>
        <a:ln w="28575"/>
      </dgm:spPr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Linear Equation and system of Linear Equations</a:t>
          </a:r>
          <a:endParaRPr lang="en-PK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0E1981-CDFC-4E3F-B909-182BD610F6AA}" type="parTrans" cxnId="{921A07C6-C082-429A-838A-75901D9D706F}">
      <dgm:prSet/>
      <dgm:spPr/>
      <dgm:t>
        <a:bodyPr/>
        <a:lstStyle/>
        <a:p>
          <a:endParaRPr lang="en-PK"/>
        </a:p>
      </dgm:t>
    </dgm:pt>
    <dgm:pt modelId="{30F74D85-9D04-4B7E-84B2-70E291FA8B6E}" type="sibTrans" cxnId="{921A07C6-C082-429A-838A-75901D9D706F}">
      <dgm:prSet/>
      <dgm:spPr/>
      <dgm:t>
        <a:bodyPr/>
        <a:lstStyle/>
        <a:p>
          <a:endParaRPr lang="en-PK"/>
        </a:p>
      </dgm:t>
    </dgm:pt>
    <dgm:pt modelId="{C05689F1-DC48-4492-8E3F-A604F4CA62A1}">
      <dgm:prSet phldrT="[Text]"/>
      <dgm:spPr>
        <a:solidFill>
          <a:srgbClr val="0000FF"/>
        </a:solidFill>
        <a:ln w="28575"/>
      </dgm:spPr>
      <dgm:t>
        <a:bodyPr/>
        <a:lstStyle/>
        <a:p>
          <a:r>
            <a: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Topics in Linear Algebra </a:t>
          </a:r>
          <a:endParaRPr lang="en-PK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E01C29-46E3-4A5A-A9C1-6104410797E0}" type="parTrans" cxnId="{461989C5-DC45-4915-8612-F3D67D4DF8EA}">
      <dgm:prSet/>
      <dgm:spPr/>
      <dgm:t>
        <a:bodyPr/>
        <a:lstStyle/>
        <a:p>
          <a:endParaRPr lang="en-PK"/>
        </a:p>
      </dgm:t>
    </dgm:pt>
    <dgm:pt modelId="{2D59BB97-F93C-46E2-AF84-2A2AA6E1A914}" type="sibTrans" cxnId="{461989C5-DC45-4915-8612-F3D67D4DF8EA}">
      <dgm:prSet/>
      <dgm:spPr/>
      <dgm:t>
        <a:bodyPr/>
        <a:lstStyle/>
        <a:p>
          <a:endParaRPr lang="en-PK"/>
        </a:p>
      </dgm:t>
    </dgm:pt>
    <dgm:pt modelId="{511ADB95-16B6-47FA-9257-9DA3FE1D9AB5}">
      <dgm:prSet phldrT="[Text]"/>
      <dgm:spPr>
        <a:solidFill>
          <a:srgbClr val="FF0000"/>
        </a:solidFill>
        <a:ln w="28575"/>
      </dgm:spPr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Solution Types</a:t>
          </a:r>
          <a:endParaRPr lang="en-PK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2D2412-FD7A-460A-9A91-6CEBC0A2AB39}" type="parTrans" cxnId="{3DAA1974-F7AF-487F-AC82-5E7F7D19AD59}">
      <dgm:prSet/>
      <dgm:spPr/>
      <dgm:t>
        <a:bodyPr/>
        <a:lstStyle/>
        <a:p>
          <a:endParaRPr lang="en-PK"/>
        </a:p>
      </dgm:t>
    </dgm:pt>
    <dgm:pt modelId="{1F74B055-278D-4E72-8981-78D903BB2565}" type="sibTrans" cxnId="{3DAA1974-F7AF-487F-AC82-5E7F7D19AD59}">
      <dgm:prSet/>
      <dgm:spPr/>
      <dgm:t>
        <a:bodyPr/>
        <a:lstStyle/>
        <a:p>
          <a:endParaRPr lang="en-PK"/>
        </a:p>
      </dgm:t>
    </dgm:pt>
    <dgm:pt modelId="{CCBE20F5-538E-4A18-A4DF-8F48C7AE24F0}" type="pres">
      <dgm:prSet presAssocID="{35D616D1-F0C5-4723-AB33-42B0CA25B985}" presName="Name0" presStyleCnt="0">
        <dgm:presLayoutVars>
          <dgm:chMax val="7"/>
          <dgm:chPref val="7"/>
          <dgm:dir/>
        </dgm:presLayoutVars>
      </dgm:prSet>
      <dgm:spPr/>
    </dgm:pt>
    <dgm:pt modelId="{EE056ABA-E7D7-4F6D-8E98-C7638394F917}" type="pres">
      <dgm:prSet presAssocID="{35D616D1-F0C5-4723-AB33-42B0CA25B985}" presName="Name1" presStyleCnt="0"/>
      <dgm:spPr/>
    </dgm:pt>
    <dgm:pt modelId="{43BD9D47-3DDA-444E-8173-7962722C4304}" type="pres">
      <dgm:prSet presAssocID="{35D616D1-F0C5-4723-AB33-42B0CA25B985}" presName="cycle" presStyleCnt="0"/>
      <dgm:spPr/>
    </dgm:pt>
    <dgm:pt modelId="{2FEFE3AE-898A-4B8C-B878-68652D4E07C8}" type="pres">
      <dgm:prSet presAssocID="{35D616D1-F0C5-4723-AB33-42B0CA25B985}" presName="srcNode" presStyleLbl="node1" presStyleIdx="0" presStyleCnt="5"/>
      <dgm:spPr/>
    </dgm:pt>
    <dgm:pt modelId="{4BC3E77D-74FA-449D-A389-AB7E4078DA60}" type="pres">
      <dgm:prSet presAssocID="{35D616D1-F0C5-4723-AB33-42B0CA25B985}" presName="conn" presStyleLbl="parChTrans1D2" presStyleIdx="0" presStyleCnt="1"/>
      <dgm:spPr/>
    </dgm:pt>
    <dgm:pt modelId="{C67A8B71-681C-4CC8-8E09-43A5DA49B359}" type="pres">
      <dgm:prSet presAssocID="{35D616D1-F0C5-4723-AB33-42B0CA25B985}" presName="extraNode" presStyleLbl="node1" presStyleIdx="0" presStyleCnt="5"/>
      <dgm:spPr/>
    </dgm:pt>
    <dgm:pt modelId="{B6B08620-011B-46B5-967A-7633D7053D03}" type="pres">
      <dgm:prSet presAssocID="{35D616D1-F0C5-4723-AB33-42B0CA25B985}" presName="dstNode" presStyleLbl="node1" presStyleIdx="0" presStyleCnt="5"/>
      <dgm:spPr/>
    </dgm:pt>
    <dgm:pt modelId="{0A97A465-6455-4A61-8E4A-5C782B953DFF}" type="pres">
      <dgm:prSet presAssocID="{84954AE9-15D1-48FA-854A-7325F55754A6}" presName="text_1" presStyleLbl="node1" presStyleIdx="0" presStyleCnt="5">
        <dgm:presLayoutVars>
          <dgm:bulletEnabled val="1"/>
        </dgm:presLayoutVars>
      </dgm:prSet>
      <dgm:spPr/>
    </dgm:pt>
    <dgm:pt modelId="{7AF96252-1AEA-4C49-9500-D36FBDD4C626}" type="pres">
      <dgm:prSet presAssocID="{84954AE9-15D1-48FA-854A-7325F55754A6}" presName="accent_1" presStyleCnt="0"/>
      <dgm:spPr/>
    </dgm:pt>
    <dgm:pt modelId="{EA0796E4-A658-4D84-8795-ADB49E22D6D0}" type="pres">
      <dgm:prSet presAssocID="{84954AE9-15D1-48FA-854A-7325F55754A6}" presName="accentRepeatNode" presStyleLbl="solidFgAcc1" presStyleIdx="0" presStyleCnt="5"/>
      <dgm:spPr/>
    </dgm:pt>
    <dgm:pt modelId="{6487F603-9FC6-45AB-A27E-62E7619E605C}" type="pres">
      <dgm:prSet presAssocID="{8DA23B42-27CF-4E01-9406-69D94643C3C8}" presName="text_2" presStyleLbl="node1" presStyleIdx="1" presStyleCnt="5">
        <dgm:presLayoutVars>
          <dgm:bulletEnabled val="1"/>
        </dgm:presLayoutVars>
      </dgm:prSet>
      <dgm:spPr/>
    </dgm:pt>
    <dgm:pt modelId="{379E8F21-11EF-4E3E-9B9C-DFC57BB2748A}" type="pres">
      <dgm:prSet presAssocID="{8DA23B42-27CF-4E01-9406-69D94643C3C8}" presName="accent_2" presStyleCnt="0"/>
      <dgm:spPr/>
    </dgm:pt>
    <dgm:pt modelId="{C54E5C14-AEBD-4322-BD67-F814DCBC787C}" type="pres">
      <dgm:prSet presAssocID="{8DA23B42-27CF-4E01-9406-69D94643C3C8}" presName="accentRepeatNode" presStyleLbl="solidFgAcc1" presStyleIdx="1" presStyleCnt="5"/>
      <dgm:spPr/>
    </dgm:pt>
    <dgm:pt modelId="{1B87CA01-F217-46E4-BFF6-F5C8DAF7DAED}" type="pres">
      <dgm:prSet presAssocID="{C05689F1-DC48-4492-8E3F-A604F4CA62A1}" presName="text_3" presStyleLbl="node1" presStyleIdx="2" presStyleCnt="5">
        <dgm:presLayoutVars>
          <dgm:bulletEnabled val="1"/>
        </dgm:presLayoutVars>
      </dgm:prSet>
      <dgm:spPr/>
    </dgm:pt>
    <dgm:pt modelId="{53EBF3A5-0BFD-4059-9B73-A68C4856A36E}" type="pres">
      <dgm:prSet presAssocID="{C05689F1-DC48-4492-8E3F-A604F4CA62A1}" presName="accent_3" presStyleCnt="0"/>
      <dgm:spPr/>
    </dgm:pt>
    <dgm:pt modelId="{6B3053B9-1DE4-453A-B634-DD8A6B3762F2}" type="pres">
      <dgm:prSet presAssocID="{C05689F1-DC48-4492-8E3F-A604F4CA62A1}" presName="accentRepeatNode" presStyleLbl="solidFgAcc1" presStyleIdx="2" presStyleCnt="5"/>
      <dgm:spPr/>
    </dgm:pt>
    <dgm:pt modelId="{A90B7971-817D-4156-A3DD-2DC80879FF22}" type="pres">
      <dgm:prSet presAssocID="{BE6B0146-DC15-4EAE-9802-BF9AA53C0E8E}" presName="text_4" presStyleLbl="node1" presStyleIdx="3" presStyleCnt="5">
        <dgm:presLayoutVars>
          <dgm:bulletEnabled val="1"/>
        </dgm:presLayoutVars>
      </dgm:prSet>
      <dgm:spPr/>
    </dgm:pt>
    <dgm:pt modelId="{6752617C-92FA-4650-8E0E-09C1217A026F}" type="pres">
      <dgm:prSet presAssocID="{BE6B0146-DC15-4EAE-9802-BF9AA53C0E8E}" presName="accent_4" presStyleCnt="0"/>
      <dgm:spPr/>
    </dgm:pt>
    <dgm:pt modelId="{52F0D2CB-32CF-4F8A-BE6E-DE9EDFDFC91F}" type="pres">
      <dgm:prSet presAssocID="{BE6B0146-DC15-4EAE-9802-BF9AA53C0E8E}" presName="accentRepeatNode" presStyleLbl="solidFgAcc1" presStyleIdx="3" presStyleCnt="5"/>
      <dgm:spPr/>
    </dgm:pt>
    <dgm:pt modelId="{C6AF742D-44F8-40F8-8BC3-59A5EF38DDE6}" type="pres">
      <dgm:prSet presAssocID="{511ADB95-16B6-47FA-9257-9DA3FE1D9AB5}" presName="text_5" presStyleLbl="node1" presStyleIdx="4" presStyleCnt="5">
        <dgm:presLayoutVars>
          <dgm:bulletEnabled val="1"/>
        </dgm:presLayoutVars>
      </dgm:prSet>
      <dgm:spPr/>
    </dgm:pt>
    <dgm:pt modelId="{82A68372-9CEC-4CB7-B3B9-CE1C8EBEBEE9}" type="pres">
      <dgm:prSet presAssocID="{511ADB95-16B6-47FA-9257-9DA3FE1D9AB5}" presName="accent_5" presStyleCnt="0"/>
      <dgm:spPr/>
    </dgm:pt>
    <dgm:pt modelId="{77128952-774A-4C5E-9235-2BC8044B8FE7}" type="pres">
      <dgm:prSet presAssocID="{511ADB95-16B6-47FA-9257-9DA3FE1D9AB5}" presName="accentRepeatNode" presStyleLbl="solidFgAcc1" presStyleIdx="4" presStyleCnt="5"/>
      <dgm:spPr/>
    </dgm:pt>
  </dgm:ptLst>
  <dgm:cxnLst>
    <dgm:cxn modelId="{3FB41803-F380-409E-BA4B-D14FF17E5086}" type="presOf" srcId="{84954AE9-15D1-48FA-854A-7325F55754A6}" destId="{0A97A465-6455-4A61-8E4A-5C782B953DFF}" srcOrd="0" destOrd="0" presId="urn:microsoft.com/office/officeart/2008/layout/VerticalCurvedList"/>
    <dgm:cxn modelId="{42FA440B-46F4-4D86-BD77-C1F4366A073D}" type="presOf" srcId="{511ADB95-16B6-47FA-9257-9DA3FE1D9AB5}" destId="{C6AF742D-44F8-40F8-8BC3-59A5EF38DDE6}" srcOrd="0" destOrd="0" presId="urn:microsoft.com/office/officeart/2008/layout/VerticalCurvedList"/>
    <dgm:cxn modelId="{7D64E55C-541C-4939-92C1-5FFFD95333F1}" type="presOf" srcId="{538C0040-0BD6-4B89-B5F0-45A42A57EDF1}" destId="{4BC3E77D-74FA-449D-A389-AB7E4078DA60}" srcOrd="0" destOrd="0" presId="urn:microsoft.com/office/officeart/2008/layout/VerticalCurvedList"/>
    <dgm:cxn modelId="{F8500F61-7B5A-4D15-B535-9A514976EDA4}" type="presOf" srcId="{BE6B0146-DC15-4EAE-9802-BF9AA53C0E8E}" destId="{A90B7971-817D-4156-A3DD-2DC80879FF22}" srcOrd="0" destOrd="0" presId="urn:microsoft.com/office/officeart/2008/layout/VerticalCurvedList"/>
    <dgm:cxn modelId="{388A666F-5F28-4F2D-9CCF-6290B261283E}" type="presOf" srcId="{8DA23B42-27CF-4E01-9406-69D94643C3C8}" destId="{6487F603-9FC6-45AB-A27E-62E7619E605C}" srcOrd="0" destOrd="0" presId="urn:microsoft.com/office/officeart/2008/layout/VerticalCurvedList"/>
    <dgm:cxn modelId="{3DAA1974-F7AF-487F-AC82-5E7F7D19AD59}" srcId="{35D616D1-F0C5-4723-AB33-42B0CA25B985}" destId="{511ADB95-16B6-47FA-9257-9DA3FE1D9AB5}" srcOrd="4" destOrd="0" parTransId="{692D2412-FD7A-460A-9A91-6CEBC0A2AB39}" sibTransId="{1F74B055-278D-4E72-8981-78D903BB2565}"/>
    <dgm:cxn modelId="{2B036497-D8F6-41FB-9431-045E281543E4}" srcId="{35D616D1-F0C5-4723-AB33-42B0CA25B985}" destId="{84954AE9-15D1-48FA-854A-7325F55754A6}" srcOrd="0" destOrd="0" parTransId="{3B53C9F6-D19D-4BD9-89DB-9E42BB0D1FAE}" sibTransId="{538C0040-0BD6-4B89-B5F0-45A42A57EDF1}"/>
    <dgm:cxn modelId="{461989C5-DC45-4915-8612-F3D67D4DF8EA}" srcId="{35D616D1-F0C5-4723-AB33-42B0CA25B985}" destId="{C05689F1-DC48-4492-8E3F-A604F4CA62A1}" srcOrd="2" destOrd="0" parTransId="{33E01C29-46E3-4A5A-A9C1-6104410797E0}" sibTransId="{2D59BB97-F93C-46E2-AF84-2A2AA6E1A914}"/>
    <dgm:cxn modelId="{921A07C6-C082-429A-838A-75901D9D706F}" srcId="{35D616D1-F0C5-4723-AB33-42B0CA25B985}" destId="{BE6B0146-DC15-4EAE-9802-BF9AA53C0E8E}" srcOrd="3" destOrd="0" parTransId="{350E1981-CDFC-4E3F-B909-182BD610F6AA}" sibTransId="{30F74D85-9D04-4B7E-84B2-70E291FA8B6E}"/>
    <dgm:cxn modelId="{720F43D1-0437-4E65-A20B-0F350941AF96}" type="presOf" srcId="{C05689F1-DC48-4492-8E3F-A604F4CA62A1}" destId="{1B87CA01-F217-46E4-BFF6-F5C8DAF7DAED}" srcOrd="0" destOrd="0" presId="urn:microsoft.com/office/officeart/2008/layout/VerticalCurvedList"/>
    <dgm:cxn modelId="{F9A42CF3-FDE4-400E-AE13-97D0095412D9}" type="presOf" srcId="{35D616D1-F0C5-4723-AB33-42B0CA25B985}" destId="{CCBE20F5-538E-4A18-A4DF-8F48C7AE24F0}" srcOrd="0" destOrd="0" presId="urn:microsoft.com/office/officeart/2008/layout/VerticalCurvedList"/>
    <dgm:cxn modelId="{86C466F8-D8B4-4D8C-9390-2AF730873D18}" srcId="{35D616D1-F0C5-4723-AB33-42B0CA25B985}" destId="{8DA23B42-27CF-4E01-9406-69D94643C3C8}" srcOrd="1" destOrd="0" parTransId="{B2922B6E-27BE-4DE6-9D67-79CA7E96E582}" sibTransId="{89E1009B-16B5-4C63-B73C-A7CC3DB5AEA5}"/>
    <dgm:cxn modelId="{BFA0F742-6849-4D52-817C-F4EB5B3EE298}" type="presParOf" srcId="{CCBE20F5-538E-4A18-A4DF-8F48C7AE24F0}" destId="{EE056ABA-E7D7-4F6D-8E98-C7638394F917}" srcOrd="0" destOrd="0" presId="urn:microsoft.com/office/officeart/2008/layout/VerticalCurvedList"/>
    <dgm:cxn modelId="{91C22B99-A479-4266-93D0-02AC58B24BA3}" type="presParOf" srcId="{EE056ABA-E7D7-4F6D-8E98-C7638394F917}" destId="{43BD9D47-3DDA-444E-8173-7962722C4304}" srcOrd="0" destOrd="0" presId="urn:microsoft.com/office/officeart/2008/layout/VerticalCurvedList"/>
    <dgm:cxn modelId="{BAEC77F4-9947-4AC1-8B54-89E45B3BE458}" type="presParOf" srcId="{43BD9D47-3DDA-444E-8173-7962722C4304}" destId="{2FEFE3AE-898A-4B8C-B878-68652D4E07C8}" srcOrd="0" destOrd="0" presId="urn:microsoft.com/office/officeart/2008/layout/VerticalCurvedList"/>
    <dgm:cxn modelId="{5E357093-E2FE-4F59-8684-6166BC6437E4}" type="presParOf" srcId="{43BD9D47-3DDA-444E-8173-7962722C4304}" destId="{4BC3E77D-74FA-449D-A389-AB7E4078DA60}" srcOrd="1" destOrd="0" presId="urn:microsoft.com/office/officeart/2008/layout/VerticalCurvedList"/>
    <dgm:cxn modelId="{5DAF6986-67A4-4744-BC04-4ACD7036E413}" type="presParOf" srcId="{43BD9D47-3DDA-444E-8173-7962722C4304}" destId="{C67A8B71-681C-4CC8-8E09-43A5DA49B359}" srcOrd="2" destOrd="0" presId="urn:microsoft.com/office/officeart/2008/layout/VerticalCurvedList"/>
    <dgm:cxn modelId="{6B89D4ED-BF2E-404D-818C-D16B047F26CD}" type="presParOf" srcId="{43BD9D47-3DDA-444E-8173-7962722C4304}" destId="{B6B08620-011B-46B5-967A-7633D7053D03}" srcOrd="3" destOrd="0" presId="urn:microsoft.com/office/officeart/2008/layout/VerticalCurvedList"/>
    <dgm:cxn modelId="{FA7A0491-C2B3-4FF8-BBB4-5E0931ACCB02}" type="presParOf" srcId="{EE056ABA-E7D7-4F6D-8E98-C7638394F917}" destId="{0A97A465-6455-4A61-8E4A-5C782B953DFF}" srcOrd="1" destOrd="0" presId="urn:microsoft.com/office/officeart/2008/layout/VerticalCurvedList"/>
    <dgm:cxn modelId="{5FC3F888-0F90-4ED7-8E70-E4103B9FAA72}" type="presParOf" srcId="{EE056ABA-E7D7-4F6D-8E98-C7638394F917}" destId="{7AF96252-1AEA-4C49-9500-D36FBDD4C626}" srcOrd="2" destOrd="0" presId="urn:microsoft.com/office/officeart/2008/layout/VerticalCurvedList"/>
    <dgm:cxn modelId="{E1D2E6F1-6BDF-4389-985E-0F871B6ED552}" type="presParOf" srcId="{7AF96252-1AEA-4C49-9500-D36FBDD4C626}" destId="{EA0796E4-A658-4D84-8795-ADB49E22D6D0}" srcOrd="0" destOrd="0" presId="urn:microsoft.com/office/officeart/2008/layout/VerticalCurvedList"/>
    <dgm:cxn modelId="{6EE122C0-3143-46C0-B73C-7D6E0287E7FF}" type="presParOf" srcId="{EE056ABA-E7D7-4F6D-8E98-C7638394F917}" destId="{6487F603-9FC6-45AB-A27E-62E7619E605C}" srcOrd="3" destOrd="0" presId="urn:microsoft.com/office/officeart/2008/layout/VerticalCurvedList"/>
    <dgm:cxn modelId="{95384F79-1A6A-4CEB-A0F9-84D6EFC04716}" type="presParOf" srcId="{EE056ABA-E7D7-4F6D-8E98-C7638394F917}" destId="{379E8F21-11EF-4E3E-9B9C-DFC57BB2748A}" srcOrd="4" destOrd="0" presId="urn:microsoft.com/office/officeart/2008/layout/VerticalCurvedList"/>
    <dgm:cxn modelId="{C0268BCF-A429-48BD-BA35-BC3583237DEF}" type="presParOf" srcId="{379E8F21-11EF-4E3E-9B9C-DFC57BB2748A}" destId="{C54E5C14-AEBD-4322-BD67-F814DCBC787C}" srcOrd="0" destOrd="0" presId="urn:microsoft.com/office/officeart/2008/layout/VerticalCurvedList"/>
    <dgm:cxn modelId="{DB482E8E-6AA9-4D30-89D5-6FD655BCA964}" type="presParOf" srcId="{EE056ABA-E7D7-4F6D-8E98-C7638394F917}" destId="{1B87CA01-F217-46E4-BFF6-F5C8DAF7DAED}" srcOrd="5" destOrd="0" presId="urn:microsoft.com/office/officeart/2008/layout/VerticalCurvedList"/>
    <dgm:cxn modelId="{8FF5E64C-BDAC-495C-BE4A-5744ABCB891B}" type="presParOf" srcId="{EE056ABA-E7D7-4F6D-8E98-C7638394F917}" destId="{53EBF3A5-0BFD-4059-9B73-A68C4856A36E}" srcOrd="6" destOrd="0" presId="urn:microsoft.com/office/officeart/2008/layout/VerticalCurvedList"/>
    <dgm:cxn modelId="{522E62C6-F583-45D8-9AAA-48A3297FDE2A}" type="presParOf" srcId="{53EBF3A5-0BFD-4059-9B73-A68C4856A36E}" destId="{6B3053B9-1DE4-453A-B634-DD8A6B3762F2}" srcOrd="0" destOrd="0" presId="urn:microsoft.com/office/officeart/2008/layout/VerticalCurvedList"/>
    <dgm:cxn modelId="{737081F1-5E15-43C3-9224-1101892A04EC}" type="presParOf" srcId="{EE056ABA-E7D7-4F6D-8E98-C7638394F917}" destId="{A90B7971-817D-4156-A3DD-2DC80879FF22}" srcOrd="7" destOrd="0" presId="urn:microsoft.com/office/officeart/2008/layout/VerticalCurvedList"/>
    <dgm:cxn modelId="{A3BA9579-CB17-4C29-ADD0-D9B6667D1EFB}" type="presParOf" srcId="{EE056ABA-E7D7-4F6D-8E98-C7638394F917}" destId="{6752617C-92FA-4650-8E0E-09C1217A026F}" srcOrd="8" destOrd="0" presId="urn:microsoft.com/office/officeart/2008/layout/VerticalCurvedList"/>
    <dgm:cxn modelId="{2FC05CCB-792C-4355-A6AF-E292CF272627}" type="presParOf" srcId="{6752617C-92FA-4650-8E0E-09C1217A026F}" destId="{52F0D2CB-32CF-4F8A-BE6E-DE9EDFDFC91F}" srcOrd="0" destOrd="0" presId="urn:microsoft.com/office/officeart/2008/layout/VerticalCurvedList"/>
    <dgm:cxn modelId="{36E42F0C-8F44-4AF1-9198-020CB94B6892}" type="presParOf" srcId="{EE056ABA-E7D7-4F6D-8E98-C7638394F917}" destId="{C6AF742D-44F8-40F8-8BC3-59A5EF38DDE6}" srcOrd="9" destOrd="0" presId="urn:microsoft.com/office/officeart/2008/layout/VerticalCurvedList"/>
    <dgm:cxn modelId="{F494F649-6F8E-4543-8080-8D366FF5A5D6}" type="presParOf" srcId="{EE056ABA-E7D7-4F6D-8E98-C7638394F917}" destId="{82A68372-9CEC-4CB7-B3B9-CE1C8EBEBEE9}" srcOrd="10" destOrd="0" presId="urn:microsoft.com/office/officeart/2008/layout/VerticalCurvedList"/>
    <dgm:cxn modelId="{1B33FAB7-21EB-47C4-BBC5-C1560C4E8C0D}" type="presParOf" srcId="{82A68372-9CEC-4CB7-B3B9-CE1C8EBEBEE9}" destId="{77128952-774A-4C5E-9235-2BC8044B8FE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C3E77D-74FA-449D-A389-AB7E4078DA60}">
      <dsp:nvSpPr>
        <dsp:cNvPr id="0" name=""/>
        <dsp:cNvSpPr/>
      </dsp:nvSpPr>
      <dsp:spPr>
        <a:xfrm>
          <a:off x="-6634669" y="-1014592"/>
          <a:ext cx="7896585" cy="7896585"/>
        </a:xfrm>
        <a:prstGeom prst="blockArc">
          <a:avLst>
            <a:gd name="adj1" fmla="val 18900000"/>
            <a:gd name="adj2" fmla="val 2700000"/>
            <a:gd name="adj3" fmla="val 274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97A465-6455-4A61-8E4A-5C782B953DFF}">
      <dsp:nvSpPr>
        <dsp:cNvPr id="0" name=""/>
        <dsp:cNvSpPr/>
      </dsp:nvSpPr>
      <dsp:spPr>
        <a:xfrm>
          <a:off x="551183" y="366595"/>
          <a:ext cx="7437051" cy="733659"/>
        </a:xfrm>
        <a:prstGeom prst="rect">
          <a:avLst/>
        </a:prstGeom>
        <a:solidFill>
          <a:srgbClr val="00FFFF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2342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Definition and Introduction</a:t>
          </a:r>
          <a:endParaRPr lang="en-PK" sz="2500" kern="1200" dirty="0">
            <a:solidFill>
              <a:sysClr val="windowText" lastClr="0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51183" y="366595"/>
        <a:ext cx="7437051" cy="733659"/>
      </dsp:txXfrm>
    </dsp:sp>
    <dsp:sp modelId="{EA0796E4-A658-4D84-8795-ADB49E22D6D0}">
      <dsp:nvSpPr>
        <dsp:cNvPr id="0" name=""/>
        <dsp:cNvSpPr/>
      </dsp:nvSpPr>
      <dsp:spPr>
        <a:xfrm>
          <a:off x="92646" y="274887"/>
          <a:ext cx="917074" cy="9170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87F603-9FC6-45AB-A27E-62E7619E605C}">
      <dsp:nvSpPr>
        <dsp:cNvPr id="0" name=""/>
        <dsp:cNvSpPr/>
      </dsp:nvSpPr>
      <dsp:spPr>
        <a:xfrm>
          <a:off x="1076902" y="1466732"/>
          <a:ext cx="6911332" cy="733659"/>
        </a:xfrm>
        <a:prstGeom prst="rect">
          <a:avLst/>
        </a:prstGeom>
        <a:solidFill>
          <a:srgbClr val="00FF00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2342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Applications</a:t>
          </a:r>
          <a:endParaRPr lang="en-PK" sz="2500" kern="1200" dirty="0">
            <a:solidFill>
              <a:sysClr val="windowText" lastClr="0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76902" y="1466732"/>
        <a:ext cx="6911332" cy="733659"/>
      </dsp:txXfrm>
    </dsp:sp>
    <dsp:sp modelId="{C54E5C14-AEBD-4322-BD67-F814DCBC787C}">
      <dsp:nvSpPr>
        <dsp:cNvPr id="0" name=""/>
        <dsp:cNvSpPr/>
      </dsp:nvSpPr>
      <dsp:spPr>
        <a:xfrm>
          <a:off x="618365" y="1375025"/>
          <a:ext cx="917074" cy="9170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87CA01-F217-46E4-BFF6-F5C8DAF7DAED}">
      <dsp:nvSpPr>
        <dsp:cNvPr id="0" name=""/>
        <dsp:cNvSpPr/>
      </dsp:nvSpPr>
      <dsp:spPr>
        <a:xfrm>
          <a:off x="1238255" y="2566870"/>
          <a:ext cx="6749978" cy="733659"/>
        </a:xfrm>
        <a:prstGeom prst="rect">
          <a:avLst/>
        </a:prstGeom>
        <a:solidFill>
          <a:srgbClr val="0000FF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2342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Topics in Linear Algebra </a:t>
          </a:r>
          <a:endParaRPr lang="en-PK" sz="25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38255" y="2566870"/>
        <a:ext cx="6749978" cy="733659"/>
      </dsp:txXfrm>
    </dsp:sp>
    <dsp:sp modelId="{6B3053B9-1DE4-453A-B634-DD8A6B3762F2}">
      <dsp:nvSpPr>
        <dsp:cNvPr id="0" name=""/>
        <dsp:cNvSpPr/>
      </dsp:nvSpPr>
      <dsp:spPr>
        <a:xfrm>
          <a:off x="779718" y="2475162"/>
          <a:ext cx="917074" cy="9170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0B7971-817D-4156-A3DD-2DC80879FF22}">
      <dsp:nvSpPr>
        <dsp:cNvPr id="0" name=""/>
        <dsp:cNvSpPr/>
      </dsp:nvSpPr>
      <dsp:spPr>
        <a:xfrm>
          <a:off x="1076902" y="3667007"/>
          <a:ext cx="6911332" cy="733659"/>
        </a:xfrm>
        <a:prstGeom prst="rect">
          <a:avLst/>
        </a:prstGeom>
        <a:solidFill>
          <a:srgbClr val="FF00FF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2342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Linear Equation and system of Linear Equations</a:t>
          </a:r>
          <a:endParaRPr lang="en-PK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76902" y="3667007"/>
        <a:ext cx="6911332" cy="733659"/>
      </dsp:txXfrm>
    </dsp:sp>
    <dsp:sp modelId="{52F0D2CB-32CF-4F8A-BE6E-DE9EDFDFC91F}">
      <dsp:nvSpPr>
        <dsp:cNvPr id="0" name=""/>
        <dsp:cNvSpPr/>
      </dsp:nvSpPr>
      <dsp:spPr>
        <a:xfrm>
          <a:off x="618365" y="3575300"/>
          <a:ext cx="917074" cy="9170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AF742D-44F8-40F8-8BC3-59A5EF38DDE6}">
      <dsp:nvSpPr>
        <dsp:cNvPr id="0" name=""/>
        <dsp:cNvSpPr/>
      </dsp:nvSpPr>
      <dsp:spPr>
        <a:xfrm>
          <a:off x="551183" y="4767145"/>
          <a:ext cx="7437051" cy="733659"/>
        </a:xfrm>
        <a:prstGeom prst="rect">
          <a:avLst/>
        </a:prstGeom>
        <a:solidFill>
          <a:srgbClr val="FF0000"/>
        </a:solidFill>
        <a:ln w="28575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2342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Solution Types</a:t>
          </a:r>
          <a:endParaRPr lang="en-PK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51183" y="4767145"/>
        <a:ext cx="7437051" cy="733659"/>
      </dsp:txXfrm>
    </dsp:sp>
    <dsp:sp modelId="{77128952-774A-4C5E-9235-2BC8044B8FE7}">
      <dsp:nvSpPr>
        <dsp:cNvPr id="0" name=""/>
        <dsp:cNvSpPr/>
      </dsp:nvSpPr>
      <dsp:spPr>
        <a:xfrm>
          <a:off x="92646" y="4675437"/>
          <a:ext cx="917074" cy="9170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AA8D-B63D-178A-B4D5-4BF7CDA3D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BCE04-E214-5915-7AAB-A4A62471C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1E888-0D7C-64B0-1D51-277C6371D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C642E-9950-EE7B-A3A6-664652A48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F438A-D115-6A9C-4C7A-F42FF124A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72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858C1-A12A-DE9C-19A6-7D5A38521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28209-F6DE-046B-DB11-125486B3C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24765-0A5B-2B73-1D51-2E3330F51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088DA-AE2F-C750-2E45-6C77FD66E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C2CF6-E962-662D-F3A8-59594ADCB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2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7350C-4A8F-F82B-1E15-35E290B15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6651A-4A28-2028-CBCD-7BA5B05AC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4BA3C-AFEC-38E5-CEEF-7200C0FFD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99CD7-1B0B-5377-2D14-2B604E09C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C203D-B31F-F3B4-A959-7147494F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6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B4588-B22C-59C2-B5FF-708AB875E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ED149-4A8D-6B84-CF9A-1035D7D9C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B6B30-A768-65F0-1EE3-B0DB01663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58964-7687-DA0C-6F40-7C302E390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634BB-8450-752A-C68B-F38BF7403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1E264-7C5F-D2FC-F117-B7519F169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5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93F15-26E7-0320-3F26-49C19B3B6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6F42C-6555-FF39-7C5A-5D8106870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077F0B-765A-F1DA-8D3F-260298E90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E52EE-B7D3-3064-5F05-5DB77C30A0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E2ABC-63B9-802B-EFA7-6EA47F33D9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22F41D-4290-DEEC-04F9-DBA249A14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B6068D-1526-8321-F683-35249D974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536DFC-E5A6-F996-D332-14D37B4F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6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9E0C-425B-9B8A-B6A4-6991A829B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0970F-EAFB-F6D1-2FA7-60325C1A2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B3EC19-BFD6-DB73-FC6F-F3D0B41FF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64A0B-C45A-98D5-4ED7-23B8144D9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EAA079-1724-5847-7AAD-85B911BAF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670F25-B8BE-B2CE-87D5-33BD988A3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38F2-EF48-C818-C62D-E35DC09E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15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732F-EC43-2073-1F92-45C3AC7B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51507-8DE7-5766-32E0-321DD6079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5DC37-67B8-DF89-BD3D-2FFB0A120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734D2-9BFB-8219-C36B-D4E2B6DE4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D35E2-59BD-1164-8209-E37AD75E1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450CC-1E1F-B48D-F131-F2F12CE42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37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8CD33-5626-E165-2B17-707467F70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43335F-2146-1FEF-AA90-EC9A06838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E4209-A544-6FA3-9829-6695E75E7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7D6B5-64F2-2938-C0A1-645505FCB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8CD6E-E37E-9D73-49B2-BC2E5E35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2516B-36C0-9C0A-87D3-FA7C96FE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28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6939D-E405-D503-A206-BE6C8BBA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991992-254C-C8B6-B2F6-495C2BAE2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2C9DA-A59D-0A94-93C8-60E78CCE5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740FB-9338-DD34-7063-56101D715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886B6-407A-A1D9-33B9-8BD4CE198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54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3FFB99-F4CE-E110-76B7-7465A2761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C0AB0-9D82-DFA9-CD30-65B2E85CE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A59F5-E4AB-5358-3F46-CB338CFD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9DFC-27CE-4B34-AD4D-CDDA795D7CA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2B9F6-1C99-1D5B-7D38-0CDDF982A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47800-9FDB-F0E5-EBBC-A5E81286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33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EF0EA6-D84B-B2CB-8ED7-1C929B5FE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5FB55-CF91-F872-8245-B337082C1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943BA-DB40-8A7D-46E7-64E557EB9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19DFC-27CE-4B34-AD4D-CDDA795D7CA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C99C3-EF4C-67CC-5905-BB61430C5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2B177-2BF0-F59B-8065-95E02F384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EB4AE-BA0E-4A50-8450-87D8ED36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13" Type="http://schemas.openxmlformats.org/officeDocument/2006/relationships/image" Target="../media/image35.png"/><Relationship Id="rId3" Type="http://schemas.openxmlformats.org/officeDocument/2006/relationships/image" Target="../media/image7.emf"/><Relationship Id="rId7" Type="http://schemas.openxmlformats.org/officeDocument/2006/relationships/image" Target="../media/image290.png"/><Relationship Id="rId12" Type="http://schemas.openxmlformats.org/officeDocument/2006/relationships/image" Target="../media/image34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11" Type="http://schemas.openxmlformats.org/officeDocument/2006/relationships/image" Target="../media/image33.png"/><Relationship Id="rId5" Type="http://schemas.openxmlformats.org/officeDocument/2006/relationships/image" Target="../media/image270.png"/><Relationship Id="rId10" Type="http://schemas.openxmlformats.org/officeDocument/2006/relationships/image" Target="../media/image32.png"/><Relationship Id="rId4" Type="http://schemas.openxmlformats.org/officeDocument/2006/relationships/image" Target="../media/image8.emf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image" Target="../media/image37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63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image" Target="../media/image53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5" Type="http://schemas.openxmlformats.org/officeDocument/2006/relationships/image" Target="../media/image56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B0CE86EC-8E1A-6E89-2E16-EF3B625A8A98}"/>
              </a:ext>
            </a:extLst>
          </p:cNvPr>
          <p:cNvGrpSpPr/>
          <p:nvPr/>
        </p:nvGrpSpPr>
        <p:grpSpPr>
          <a:xfrm>
            <a:off x="4425495" y="-237991"/>
            <a:ext cx="7770245" cy="7271350"/>
            <a:chOff x="4425495" y="-237991"/>
            <a:chExt cx="7770245" cy="7271350"/>
          </a:xfrm>
          <a:blipFill>
            <a:blip r:embed="rId2"/>
            <a:stretch>
              <a:fillRect/>
            </a:stretch>
          </a:blipFill>
        </p:grpSpPr>
        <p:sp>
          <p:nvSpPr>
            <p:cNvPr id="4" name="Hexagon 3">
              <a:extLst>
                <a:ext uri="{FF2B5EF4-FFF2-40B4-BE49-F238E27FC236}">
                  <a16:creationId xmlns:a16="http://schemas.microsoft.com/office/drawing/2014/main" id="{F572A708-4EAB-2D27-8F4C-A0B1FCB03715}"/>
                </a:ext>
              </a:extLst>
            </p:cNvPr>
            <p:cNvSpPr/>
            <p:nvPr/>
          </p:nvSpPr>
          <p:spPr>
            <a:xfrm>
              <a:off x="11101316" y="5996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BF36E832-11BD-A307-818F-840339BF9979}"/>
                </a:ext>
              </a:extLst>
            </p:cNvPr>
            <p:cNvSpPr/>
            <p:nvPr/>
          </p:nvSpPr>
          <p:spPr>
            <a:xfrm>
              <a:off x="11101316" y="589678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A97992D6-6C99-5185-B577-C0EF421CCE6F}"/>
                </a:ext>
              </a:extLst>
            </p:cNvPr>
            <p:cNvSpPr/>
            <p:nvPr/>
          </p:nvSpPr>
          <p:spPr>
            <a:xfrm>
              <a:off x="11115607" y="495240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78452974-94E3-66FF-F930-DC5333139247}"/>
                </a:ext>
              </a:extLst>
            </p:cNvPr>
            <p:cNvSpPr/>
            <p:nvPr/>
          </p:nvSpPr>
          <p:spPr>
            <a:xfrm>
              <a:off x="11115607" y="397116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07A1B3F6-F46F-A0AA-0E53-F3E11670E15A}"/>
                </a:ext>
              </a:extLst>
            </p:cNvPr>
            <p:cNvSpPr/>
            <p:nvPr/>
          </p:nvSpPr>
          <p:spPr>
            <a:xfrm>
              <a:off x="11135036" y="299383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47496AB7-9DE6-F1A8-F931-69B40AE4BDBA}"/>
                </a:ext>
              </a:extLst>
            </p:cNvPr>
            <p:cNvSpPr/>
            <p:nvPr/>
          </p:nvSpPr>
          <p:spPr>
            <a:xfrm>
              <a:off x="11105056" y="201556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FD778D55-049E-5871-BCC1-7839B7C64142}"/>
                </a:ext>
              </a:extLst>
            </p:cNvPr>
            <p:cNvSpPr/>
            <p:nvPr/>
          </p:nvSpPr>
          <p:spPr>
            <a:xfrm>
              <a:off x="11116306" y="103776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9217C12B-E7FE-7883-A09A-924A72452BB4}"/>
                </a:ext>
              </a:extLst>
            </p:cNvPr>
            <p:cNvSpPr/>
            <p:nvPr/>
          </p:nvSpPr>
          <p:spPr>
            <a:xfrm>
              <a:off x="10115562" y="-23799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57250E66-3EBA-E36D-0A6B-657F3461F866}"/>
                </a:ext>
              </a:extLst>
            </p:cNvPr>
            <p:cNvSpPr/>
            <p:nvPr/>
          </p:nvSpPr>
          <p:spPr>
            <a:xfrm>
              <a:off x="10115562" y="559882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3C4816F8-F703-92BB-CCA4-1FC0B2457095}"/>
                </a:ext>
              </a:extLst>
            </p:cNvPr>
            <p:cNvSpPr/>
            <p:nvPr/>
          </p:nvSpPr>
          <p:spPr>
            <a:xfrm>
              <a:off x="10129853" y="465444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4012BB9B-36F8-7509-4FE7-44249D0D9FB1}"/>
                </a:ext>
              </a:extLst>
            </p:cNvPr>
            <p:cNvSpPr/>
            <p:nvPr/>
          </p:nvSpPr>
          <p:spPr>
            <a:xfrm>
              <a:off x="10129853" y="367320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CD5BE096-2DC7-1D89-AEC2-678F8C1F852D}"/>
                </a:ext>
              </a:extLst>
            </p:cNvPr>
            <p:cNvSpPr/>
            <p:nvPr/>
          </p:nvSpPr>
          <p:spPr>
            <a:xfrm>
              <a:off x="10149282" y="26958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16FA40FF-8A11-DCF7-4A59-CCAEAA54A23C}"/>
                </a:ext>
              </a:extLst>
            </p:cNvPr>
            <p:cNvSpPr/>
            <p:nvPr/>
          </p:nvSpPr>
          <p:spPr>
            <a:xfrm>
              <a:off x="10119302" y="171760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299B5FB0-22FE-8551-0764-4065D17AD9D2}"/>
                </a:ext>
              </a:extLst>
            </p:cNvPr>
            <p:cNvSpPr/>
            <p:nvPr/>
          </p:nvSpPr>
          <p:spPr>
            <a:xfrm>
              <a:off x="10130552" y="73980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6E2F3384-FC50-5291-A95E-76F486392C6E}"/>
                </a:ext>
              </a:extLst>
            </p:cNvPr>
            <p:cNvSpPr/>
            <p:nvPr/>
          </p:nvSpPr>
          <p:spPr>
            <a:xfrm>
              <a:off x="9205316" y="17988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EFC0E255-1B5C-842A-E10A-15515169B506}"/>
                </a:ext>
              </a:extLst>
            </p:cNvPr>
            <p:cNvSpPr/>
            <p:nvPr/>
          </p:nvSpPr>
          <p:spPr>
            <a:xfrm>
              <a:off x="9205316" y="601670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817D0A0B-2E54-B436-DBDE-1050F67B0BFE}"/>
                </a:ext>
              </a:extLst>
            </p:cNvPr>
            <p:cNvSpPr/>
            <p:nvPr/>
          </p:nvSpPr>
          <p:spPr>
            <a:xfrm>
              <a:off x="9219607" y="507232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F3F7FC68-9892-674A-3291-B9A3C14FA7C6}"/>
                </a:ext>
              </a:extLst>
            </p:cNvPr>
            <p:cNvSpPr/>
            <p:nvPr/>
          </p:nvSpPr>
          <p:spPr>
            <a:xfrm>
              <a:off x="9219607" y="409108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41F09C42-A971-9593-3989-47F41A719C53}"/>
                </a:ext>
              </a:extLst>
            </p:cNvPr>
            <p:cNvSpPr/>
            <p:nvPr/>
          </p:nvSpPr>
          <p:spPr>
            <a:xfrm>
              <a:off x="9239036" y="311375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19D5E052-A388-FC57-B1C7-14DCB24FA65E}"/>
                </a:ext>
              </a:extLst>
            </p:cNvPr>
            <p:cNvSpPr/>
            <p:nvPr/>
          </p:nvSpPr>
          <p:spPr>
            <a:xfrm>
              <a:off x="9209056" y="213548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D67B5451-B1A3-44F5-673D-7E06C50299D9}"/>
                </a:ext>
              </a:extLst>
            </p:cNvPr>
            <p:cNvSpPr/>
            <p:nvPr/>
          </p:nvSpPr>
          <p:spPr>
            <a:xfrm>
              <a:off x="9220306" y="115768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6A4B6729-3E01-244E-4009-8AE9153E9060}"/>
                </a:ext>
              </a:extLst>
            </p:cNvPr>
            <p:cNvSpPr/>
            <p:nvPr/>
          </p:nvSpPr>
          <p:spPr>
            <a:xfrm>
              <a:off x="8185842" y="-4312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Hexagon 26">
              <a:extLst>
                <a:ext uri="{FF2B5EF4-FFF2-40B4-BE49-F238E27FC236}">
                  <a16:creationId xmlns:a16="http://schemas.microsoft.com/office/drawing/2014/main" id="{A3B93698-F24E-0559-5655-AE7CC21A1192}"/>
                </a:ext>
              </a:extLst>
            </p:cNvPr>
            <p:cNvSpPr/>
            <p:nvPr/>
          </p:nvSpPr>
          <p:spPr>
            <a:xfrm>
              <a:off x="8185842" y="579369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Hexagon 27">
              <a:extLst>
                <a:ext uri="{FF2B5EF4-FFF2-40B4-BE49-F238E27FC236}">
                  <a16:creationId xmlns:a16="http://schemas.microsoft.com/office/drawing/2014/main" id="{AFE7E2A8-6E9F-DC4F-7E38-5B01587BD9EC}"/>
                </a:ext>
              </a:extLst>
            </p:cNvPr>
            <p:cNvSpPr/>
            <p:nvPr/>
          </p:nvSpPr>
          <p:spPr>
            <a:xfrm>
              <a:off x="8200133" y="484931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0562BE1A-8DAD-BB94-413C-5DF9C7B95C65}"/>
                </a:ext>
              </a:extLst>
            </p:cNvPr>
            <p:cNvSpPr/>
            <p:nvPr/>
          </p:nvSpPr>
          <p:spPr>
            <a:xfrm>
              <a:off x="8200133" y="38680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2AD11DED-4448-1176-CD4A-8706EA5036F1}"/>
                </a:ext>
              </a:extLst>
            </p:cNvPr>
            <p:cNvSpPr/>
            <p:nvPr/>
          </p:nvSpPr>
          <p:spPr>
            <a:xfrm>
              <a:off x="8219562" y="289074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54931A2F-465E-454F-5309-F46A36CED46D}"/>
                </a:ext>
              </a:extLst>
            </p:cNvPr>
            <p:cNvSpPr/>
            <p:nvPr/>
          </p:nvSpPr>
          <p:spPr>
            <a:xfrm>
              <a:off x="8189582" y="19124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906E83AE-5EB6-7F5C-D9D3-849B7D74344A}"/>
                </a:ext>
              </a:extLst>
            </p:cNvPr>
            <p:cNvSpPr/>
            <p:nvPr/>
          </p:nvSpPr>
          <p:spPr>
            <a:xfrm>
              <a:off x="8200832" y="9346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AE3F4253-DFD5-A4B1-01A6-469D82FAA346}"/>
                </a:ext>
              </a:extLst>
            </p:cNvPr>
            <p:cNvSpPr/>
            <p:nvPr/>
          </p:nvSpPr>
          <p:spPr>
            <a:xfrm>
              <a:off x="7244825" y="28213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877765CD-E9EA-F3DD-0722-3E3BCE130990}"/>
                </a:ext>
              </a:extLst>
            </p:cNvPr>
            <p:cNvSpPr/>
            <p:nvPr/>
          </p:nvSpPr>
          <p:spPr>
            <a:xfrm>
              <a:off x="7244825" y="611895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CE2E570A-42EF-634F-5C78-F9F125EFF49E}"/>
                </a:ext>
              </a:extLst>
            </p:cNvPr>
            <p:cNvSpPr/>
            <p:nvPr/>
          </p:nvSpPr>
          <p:spPr>
            <a:xfrm>
              <a:off x="7259116" y="51745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4DCC70BB-7F7F-43CF-F132-3676AD8FBE01}"/>
                </a:ext>
              </a:extLst>
            </p:cNvPr>
            <p:cNvSpPr/>
            <p:nvPr/>
          </p:nvSpPr>
          <p:spPr>
            <a:xfrm>
              <a:off x="7259116" y="419333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D0F6DE8C-606C-61A2-76C8-770862DB1BC7}"/>
                </a:ext>
              </a:extLst>
            </p:cNvPr>
            <p:cNvSpPr/>
            <p:nvPr/>
          </p:nvSpPr>
          <p:spPr>
            <a:xfrm>
              <a:off x="7278545" y="321600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6E573E2F-7267-7676-C279-EEE601CA20BC}"/>
                </a:ext>
              </a:extLst>
            </p:cNvPr>
            <p:cNvSpPr/>
            <p:nvPr/>
          </p:nvSpPr>
          <p:spPr>
            <a:xfrm>
              <a:off x="7248565" y="223773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7B15FEB5-FE17-E153-56A4-CBC599CB3AF1}"/>
                </a:ext>
              </a:extLst>
            </p:cNvPr>
            <p:cNvSpPr/>
            <p:nvPr/>
          </p:nvSpPr>
          <p:spPr>
            <a:xfrm>
              <a:off x="7259815" y="125993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5D24874F-70C7-2FC7-D4F4-14B5B5D1FFBD}"/>
                </a:ext>
              </a:extLst>
            </p:cNvPr>
            <p:cNvSpPr/>
            <p:nvPr/>
          </p:nvSpPr>
          <p:spPr>
            <a:xfrm>
              <a:off x="6300393" y="-10652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Hexagon 40">
              <a:extLst>
                <a:ext uri="{FF2B5EF4-FFF2-40B4-BE49-F238E27FC236}">
                  <a16:creationId xmlns:a16="http://schemas.microsoft.com/office/drawing/2014/main" id="{6F674C63-BE1D-FBC4-EAF0-C94FD0E75050}"/>
                </a:ext>
              </a:extLst>
            </p:cNvPr>
            <p:cNvSpPr/>
            <p:nvPr/>
          </p:nvSpPr>
          <p:spPr>
            <a:xfrm>
              <a:off x="6300393" y="573029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Hexagon 41">
              <a:extLst>
                <a:ext uri="{FF2B5EF4-FFF2-40B4-BE49-F238E27FC236}">
                  <a16:creationId xmlns:a16="http://schemas.microsoft.com/office/drawing/2014/main" id="{20C87CF0-CCAD-0C74-096B-CC8A8765F15D}"/>
                </a:ext>
              </a:extLst>
            </p:cNvPr>
            <p:cNvSpPr/>
            <p:nvPr/>
          </p:nvSpPr>
          <p:spPr>
            <a:xfrm>
              <a:off x="6314684" y="478591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Hexagon 42">
              <a:extLst>
                <a:ext uri="{FF2B5EF4-FFF2-40B4-BE49-F238E27FC236}">
                  <a16:creationId xmlns:a16="http://schemas.microsoft.com/office/drawing/2014/main" id="{937798EB-055E-4308-8D59-E62CAACEFA3A}"/>
                </a:ext>
              </a:extLst>
            </p:cNvPr>
            <p:cNvSpPr/>
            <p:nvPr/>
          </p:nvSpPr>
          <p:spPr>
            <a:xfrm>
              <a:off x="6314684" y="38046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Hexagon 43">
              <a:extLst>
                <a:ext uri="{FF2B5EF4-FFF2-40B4-BE49-F238E27FC236}">
                  <a16:creationId xmlns:a16="http://schemas.microsoft.com/office/drawing/2014/main" id="{D213CEDF-ED29-38B7-A10E-7264227D61A8}"/>
                </a:ext>
              </a:extLst>
            </p:cNvPr>
            <p:cNvSpPr/>
            <p:nvPr/>
          </p:nvSpPr>
          <p:spPr>
            <a:xfrm>
              <a:off x="6334113" y="282734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Hexagon 44">
              <a:extLst>
                <a:ext uri="{FF2B5EF4-FFF2-40B4-BE49-F238E27FC236}">
                  <a16:creationId xmlns:a16="http://schemas.microsoft.com/office/drawing/2014/main" id="{4914DCFA-E5FE-94DD-9884-706DFB31A73E}"/>
                </a:ext>
              </a:extLst>
            </p:cNvPr>
            <p:cNvSpPr/>
            <p:nvPr/>
          </p:nvSpPr>
          <p:spPr>
            <a:xfrm>
              <a:off x="6304133" y="18490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Hexagon 45">
              <a:extLst>
                <a:ext uri="{FF2B5EF4-FFF2-40B4-BE49-F238E27FC236}">
                  <a16:creationId xmlns:a16="http://schemas.microsoft.com/office/drawing/2014/main" id="{97D4C5D7-E4AF-A43E-8097-27D6F0FCE4C3}"/>
                </a:ext>
              </a:extLst>
            </p:cNvPr>
            <p:cNvSpPr/>
            <p:nvPr/>
          </p:nvSpPr>
          <p:spPr>
            <a:xfrm>
              <a:off x="6315383" y="8712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Hexagon 46">
              <a:extLst>
                <a:ext uri="{FF2B5EF4-FFF2-40B4-BE49-F238E27FC236}">
                  <a16:creationId xmlns:a16="http://schemas.microsoft.com/office/drawing/2014/main" id="{33E3FC34-9987-4A0A-B9D1-F7E45854D762}"/>
                </a:ext>
              </a:extLst>
            </p:cNvPr>
            <p:cNvSpPr/>
            <p:nvPr/>
          </p:nvSpPr>
          <p:spPr>
            <a:xfrm>
              <a:off x="5339947" y="28213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Hexagon 47">
              <a:extLst>
                <a:ext uri="{FF2B5EF4-FFF2-40B4-BE49-F238E27FC236}">
                  <a16:creationId xmlns:a16="http://schemas.microsoft.com/office/drawing/2014/main" id="{F6F6B0FD-B16D-67B0-7712-5CBCC44D48AD}"/>
                </a:ext>
              </a:extLst>
            </p:cNvPr>
            <p:cNvSpPr/>
            <p:nvPr/>
          </p:nvSpPr>
          <p:spPr>
            <a:xfrm>
              <a:off x="5339947" y="611895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Hexagon 48">
              <a:extLst>
                <a:ext uri="{FF2B5EF4-FFF2-40B4-BE49-F238E27FC236}">
                  <a16:creationId xmlns:a16="http://schemas.microsoft.com/office/drawing/2014/main" id="{2D1FE913-7DFC-2998-553B-DDEEAE5F045A}"/>
                </a:ext>
              </a:extLst>
            </p:cNvPr>
            <p:cNvSpPr/>
            <p:nvPr/>
          </p:nvSpPr>
          <p:spPr>
            <a:xfrm>
              <a:off x="5354238" y="51745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>
              <a:extLst>
                <a:ext uri="{FF2B5EF4-FFF2-40B4-BE49-F238E27FC236}">
                  <a16:creationId xmlns:a16="http://schemas.microsoft.com/office/drawing/2014/main" id="{CB514AA5-48FA-7DED-DD95-D4B98E1257F2}"/>
                </a:ext>
              </a:extLst>
            </p:cNvPr>
            <p:cNvSpPr/>
            <p:nvPr/>
          </p:nvSpPr>
          <p:spPr>
            <a:xfrm>
              <a:off x="5354238" y="419333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>
              <a:extLst>
                <a:ext uri="{FF2B5EF4-FFF2-40B4-BE49-F238E27FC236}">
                  <a16:creationId xmlns:a16="http://schemas.microsoft.com/office/drawing/2014/main" id="{C5758180-B18A-2447-F873-FC02BE06172C}"/>
                </a:ext>
              </a:extLst>
            </p:cNvPr>
            <p:cNvSpPr/>
            <p:nvPr/>
          </p:nvSpPr>
          <p:spPr>
            <a:xfrm>
              <a:off x="5373667" y="321600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>
              <a:extLst>
                <a:ext uri="{FF2B5EF4-FFF2-40B4-BE49-F238E27FC236}">
                  <a16:creationId xmlns:a16="http://schemas.microsoft.com/office/drawing/2014/main" id="{49A1FAFF-5D79-B511-8577-4A62D5E9F116}"/>
                </a:ext>
              </a:extLst>
            </p:cNvPr>
            <p:cNvSpPr/>
            <p:nvPr/>
          </p:nvSpPr>
          <p:spPr>
            <a:xfrm>
              <a:off x="5343687" y="223773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>
              <a:extLst>
                <a:ext uri="{FF2B5EF4-FFF2-40B4-BE49-F238E27FC236}">
                  <a16:creationId xmlns:a16="http://schemas.microsoft.com/office/drawing/2014/main" id="{2D66864D-52EE-AF73-4276-51F14B2FD3B4}"/>
                </a:ext>
              </a:extLst>
            </p:cNvPr>
            <p:cNvSpPr/>
            <p:nvPr/>
          </p:nvSpPr>
          <p:spPr>
            <a:xfrm>
              <a:off x="5354937" y="125993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>
              <a:extLst>
                <a:ext uri="{FF2B5EF4-FFF2-40B4-BE49-F238E27FC236}">
                  <a16:creationId xmlns:a16="http://schemas.microsoft.com/office/drawing/2014/main" id="{65F2F91A-D897-3A95-5890-D383F5C75919}"/>
                </a:ext>
              </a:extLst>
            </p:cNvPr>
            <p:cNvSpPr/>
            <p:nvPr/>
          </p:nvSpPr>
          <p:spPr>
            <a:xfrm>
              <a:off x="4425495" y="-169921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>
              <a:extLst>
                <a:ext uri="{FF2B5EF4-FFF2-40B4-BE49-F238E27FC236}">
                  <a16:creationId xmlns:a16="http://schemas.microsoft.com/office/drawing/2014/main" id="{74F1E605-0465-286E-362B-CA3CD6EAB27F}"/>
                </a:ext>
              </a:extLst>
            </p:cNvPr>
            <p:cNvSpPr/>
            <p:nvPr/>
          </p:nvSpPr>
          <p:spPr>
            <a:xfrm>
              <a:off x="4425495" y="566689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>
              <a:extLst>
                <a:ext uri="{FF2B5EF4-FFF2-40B4-BE49-F238E27FC236}">
                  <a16:creationId xmlns:a16="http://schemas.microsoft.com/office/drawing/2014/main" id="{4F3FEA38-902E-DB5B-6229-42DD37D54029}"/>
                </a:ext>
              </a:extLst>
            </p:cNvPr>
            <p:cNvSpPr/>
            <p:nvPr/>
          </p:nvSpPr>
          <p:spPr>
            <a:xfrm>
              <a:off x="4439786" y="472251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>
              <a:extLst>
                <a:ext uri="{FF2B5EF4-FFF2-40B4-BE49-F238E27FC236}">
                  <a16:creationId xmlns:a16="http://schemas.microsoft.com/office/drawing/2014/main" id="{38511E8B-0B24-32C4-2234-B217ED1EE695}"/>
                </a:ext>
              </a:extLst>
            </p:cNvPr>
            <p:cNvSpPr/>
            <p:nvPr/>
          </p:nvSpPr>
          <p:spPr>
            <a:xfrm>
              <a:off x="4439786" y="37412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>
              <a:extLst>
                <a:ext uri="{FF2B5EF4-FFF2-40B4-BE49-F238E27FC236}">
                  <a16:creationId xmlns:a16="http://schemas.microsoft.com/office/drawing/2014/main" id="{136FEC8C-978D-7A29-A70D-1BA7A16EC38A}"/>
                </a:ext>
              </a:extLst>
            </p:cNvPr>
            <p:cNvSpPr/>
            <p:nvPr/>
          </p:nvSpPr>
          <p:spPr>
            <a:xfrm>
              <a:off x="4459215" y="276394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>
              <a:extLst>
                <a:ext uri="{FF2B5EF4-FFF2-40B4-BE49-F238E27FC236}">
                  <a16:creationId xmlns:a16="http://schemas.microsoft.com/office/drawing/2014/main" id="{264538E4-E8D0-0667-C0F7-3620067CFDAF}"/>
                </a:ext>
              </a:extLst>
            </p:cNvPr>
            <p:cNvSpPr/>
            <p:nvPr/>
          </p:nvSpPr>
          <p:spPr>
            <a:xfrm>
              <a:off x="4429235" y="17856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>
              <a:extLst>
                <a:ext uri="{FF2B5EF4-FFF2-40B4-BE49-F238E27FC236}">
                  <a16:creationId xmlns:a16="http://schemas.microsoft.com/office/drawing/2014/main" id="{E49D1124-C18A-FC72-CA46-6296A15499F8}"/>
                </a:ext>
              </a:extLst>
            </p:cNvPr>
            <p:cNvSpPr/>
            <p:nvPr/>
          </p:nvSpPr>
          <p:spPr>
            <a:xfrm>
              <a:off x="4440485" y="807879"/>
              <a:ext cx="1060704" cy="91440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0DBCCBAA-4CEE-2442-1328-6BC2D5D6CF57}"/>
              </a:ext>
            </a:extLst>
          </p:cNvPr>
          <p:cNvSpPr txBox="1"/>
          <p:nvPr/>
        </p:nvSpPr>
        <p:spPr>
          <a:xfrm>
            <a:off x="32861" y="702559"/>
            <a:ext cx="4373205" cy="5096588"/>
          </a:xfrm>
          <a:prstGeom prst="rect">
            <a:avLst/>
          </a:prstGeom>
          <a:pattFill prst="openDmnd">
            <a:fgClr>
              <a:schemeClr val="accent4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8800" b="1" dirty="0">
                <a:blipFill>
                  <a:blip r:embed="rId2"/>
                  <a:stretch>
                    <a:fillRect/>
                  </a:stretch>
                </a:blip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Linear </a:t>
            </a:r>
          </a:p>
          <a:p>
            <a:pPr>
              <a:lnSpc>
                <a:spcPct val="200000"/>
              </a:lnSpc>
            </a:pPr>
            <a:r>
              <a:rPr lang="en-GB" sz="8800" b="1" dirty="0">
                <a:blipFill>
                  <a:blip r:embed="rId2"/>
                  <a:stretch>
                    <a:fillRect/>
                  </a:stretch>
                </a:blip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Algebra</a:t>
            </a:r>
            <a:endParaRPr lang="en-US" sz="8800" b="1" dirty="0">
              <a:blipFill>
                <a:blip r:embed="rId2"/>
                <a:stretch>
                  <a:fillRect/>
                </a:stretch>
              </a:blipFill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1988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90A56A4-2BDC-42F3-DFF6-E179273858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8677478"/>
              </p:ext>
            </p:extLst>
          </p:nvPr>
        </p:nvGraphicFramePr>
        <p:xfrm>
          <a:off x="2057400" y="685800"/>
          <a:ext cx="8071904" cy="5867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977654C-7232-7CCA-A7C2-2B0372FC0B29}"/>
              </a:ext>
            </a:extLst>
          </p:cNvPr>
          <p:cNvSpPr txBox="1"/>
          <p:nvPr/>
        </p:nvSpPr>
        <p:spPr>
          <a:xfrm>
            <a:off x="3511669" y="0"/>
            <a:ext cx="3986411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Contents</a:t>
            </a:r>
            <a:endParaRPr lang="en-PK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51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BC3E77D-74FA-449D-A389-AB7E4078DA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4BC3E77D-74FA-449D-A389-AB7E4078DA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4BC3E77D-74FA-449D-A389-AB7E4078DA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A0796E4-A658-4D84-8795-ADB49E22D6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EA0796E4-A658-4D84-8795-ADB49E22D6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EA0796E4-A658-4D84-8795-ADB49E22D6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A97A465-6455-4A61-8E4A-5C782B953D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0A97A465-6455-4A61-8E4A-5C782B953D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0A97A465-6455-4A61-8E4A-5C782B953D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54E5C14-AEBD-4322-BD67-F814DCBC78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C54E5C14-AEBD-4322-BD67-F814DCBC78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C54E5C14-AEBD-4322-BD67-F814DCBC78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487F603-9FC6-45AB-A27E-62E7619E60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6487F603-9FC6-45AB-A27E-62E7619E60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6487F603-9FC6-45AB-A27E-62E7619E60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B3053B9-1DE4-453A-B634-DD8A6B3762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6B3053B9-1DE4-453A-B634-DD8A6B3762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6B3053B9-1DE4-453A-B634-DD8A6B3762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B87CA01-F217-46E4-BFF6-F5C8DAF7DA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1B87CA01-F217-46E4-BFF6-F5C8DAF7DA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1B87CA01-F217-46E4-BFF6-F5C8DAF7DA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2F0D2CB-32CF-4F8A-BE6E-DE9EDFDFC9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graphicEl>
                                              <a:dgm id="{52F0D2CB-32CF-4F8A-BE6E-DE9EDFDFC9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graphicEl>
                                              <a:dgm id="{52F0D2CB-32CF-4F8A-BE6E-DE9EDFDFC9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90B7971-817D-4156-A3DD-2DC80879FF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graphicEl>
                                              <a:dgm id="{A90B7971-817D-4156-A3DD-2DC80879FF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graphicEl>
                                              <a:dgm id="{A90B7971-817D-4156-A3DD-2DC80879FF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7128952-774A-4C5E-9235-2BC8044B8F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>
                                            <p:graphicEl>
                                              <a:dgm id="{77128952-774A-4C5E-9235-2BC8044B8F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graphicEl>
                                              <a:dgm id="{77128952-774A-4C5E-9235-2BC8044B8F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6AF742D-44F8-40F8-8BC3-59A5EF38DD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graphicEl>
                                              <a:dgm id="{C6AF742D-44F8-40F8-8BC3-59A5EF38DD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graphicEl>
                                              <a:dgm id="{C6AF742D-44F8-40F8-8BC3-59A5EF38DD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32C90FC-BAD0-3C93-E834-DC513F08B9E1}"/>
              </a:ext>
            </a:extLst>
          </p:cNvPr>
          <p:cNvSpPr txBox="1"/>
          <p:nvPr/>
        </p:nvSpPr>
        <p:spPr>
          <a:xfrm>
            <a:off x="0" y="16493"/>
            <a:ext cx="12192000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Scenario: The 3D Game Developer’s Challenge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99F79-6D7C-5C98-E704-9E4C7B3CC7A0}"/>
              </a:ext>
            </a:extLst>
          </p:cNvPr>
          <p:cNvSpPr txBox="1"/>
          <p:nvPr/>
        </p:nvSpPr>
        <p:spPr>
          <a:xfrm>
            <a:off x="0" y="951518"/>
            <a:ext cx="12192000" cy="58516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Imagine you’ve just landed your dream job at a top gaming company like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Ubisoft or Rockstar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Games. Your first task? To develop a new 3D adventure game where players explore a futuristic city. But there’s a problem...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objects aren’t moving, rotating, or scaling correctly!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Buildings are floating, cars are upside down, and the game world is a mess! </a:t>
            </a:r>
          </a:p>
        </p:txBody>
      </p:sp>
    </p:spTree>
    <p:extLst>
      <p:ext uri="{BB962C8B-B14F-4D97-AF65-F5344CB8AC3E}">
        <p14:creationId xmlns:p14="http://schemas.microsoft.com/office/powerpoint/2010/main" val="499512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E9EB966-1016-FE73-8552-E4C9813AE0F0}"/>
              </a:ext>
            </a:extLst>
          </p:cNvPr>
          <p:cNvSpPr txBox="1"/>
          <p:nvPr/>
        </p:nvSpPr>
        <p:spPr>
          <a:xfrm>
            <a:off x="0" y="1007629"/>
            <a:ext cx="12192000" cy="30038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Mission:</a:t>
            </a:r>
            <a:endParaRPr lang="en-US" sz="32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can you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rotate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game character correctly in 3D space? 🔄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you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objects to make them look realistic? 📏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can you apply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shadows, lighting, and physics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☀️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1D8E2A-A95D-1F9E-2511-9ED967EF5758}"/>
              </a:ext>
            </a:extLst>
          </p:cNvPr>
          <p:cNvSpPr txBox="1"/>
          <p:nvPr/>
        </p:nvSpPr>
        <p:spPr>
          <a:xfrm>
            <a:off x="0" y="4432854"/>
            <a:ext cx="12192000" cy="19120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"The secret behind all of this? Linear Algebra! It’s the math that makes every modern game look smooth, realistic, and immersive."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343DC5-58C2-4A9D-AD90-487E00F296BB}"/>
              </a:ext>
            </a:extLst>
          </p:cNvPr>
          <p:cNvSpPr txBox="1"/>
          <p:nvPr/>
        </p:nvSpPr>
        <p:spPr>
          <a:xfrm>
            <a:off x="0" y="16493"/>
            <a:ext cx="12192000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Scenario: The 3D Game Developer’s Challenge</a:t>
            </a:r>
          </a:p>
        </p:txBody>
      </p:sp>
    </p:spTree>
    <p:extLst>
      <p:ext uri="{BB962C8B-B14F-4D97-AF65-F5344CB8AC3E}">
        <p14:creationId xmlns:p14="http://schemas.microsoft.com/office/powerpoint/2010/main" val="264843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A266B1-2965-8021-EB29-EB7D13A150E3}"/>
              </a:ext>
            </a:extLst>
          </p:cNvPr>
          <p:cNvSpPr txBox="1"/>
          <p:nvPr/>
        </p:nvSpPr>
        <p:spPr>
          <a:xfrm>
            <a:off x="-1" y="972522"/>
            <a:ext cx="12189499" cy="29578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transformations are done using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Moving characters?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operations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➡️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Rotating a player’s view?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Rotation matrices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🔄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Scaling objects?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Scaling matrices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🔍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7E349B-E38E-EBC6-D8C2-FF31BF17437F}"/>
              </a:ext>
            </a:extLst>
          </p:cNvPr>
          <p:cNvSpPr txBox="1"/>
          <p:nvPr/>
        </p:nvSpPr>
        <p:spPr>
          <a:xfrm>
            <a:off x="2500" y="13550"/>
            <a:ext cx="12189500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Reveal the Truth:</a:t>
            </a: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F4F355-6764-7FDC-6BF8-53C1BA249C4C}"/>
              </a:ext>
            </a:extLst>
          </p:cNvPr>
          <p:cNvSpPr txBox="1"/>
          <p:nvPr/>
        </p:nvSpPr>
        <p:spPr>
          <a:xfrm>
            <a:off x="0" y="4371783"/>
            <a:ext cx="12189498" cy="2219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"Linear Algebra isn’t just numbers—it’s what makes the digital world move! Master it, and you can build the next-gen AI, animations, and immersive tech!"</a:t>
            </a:r>
          </a:p>
        </p:txBody>
      </p:sp>
    </p:spTree>
    <p:extLst>
      <p:ext uri="{BB962C8B-B14F-4D97-AF65-F5344CB8AC3E}">
        <p14:creationId xmlns:p14="http://schemas.microsoft.com/office/powerpoint/2010/main" val="112699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F94E0B-88A0-F9B8-5B72-FDA4DC7BFDCF}"/>
              </a:ext>
            </a:extLst>
          </p:cNvPr>
          <p:cNvSpPr txBox="1"/>
          <p:nvPr/>
        </p:nvSpPr>
        <p:spPr>
          <a:xfrm>
            <a:off x="66818" y="820426"/>
            <a:ext cx="12115804" cy="60094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C0000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"Linear"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Because it deals with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straight-line relationships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(like scaling, adding, and transforming data in a predictable way).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</a:t>
            </a: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"Algebra"</a:t>
            </a:r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Because it involves </a:t>
            </a: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solving equations, manipulating symbols, and performing operations</a:t>
            </a:r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numbers, vectors, and matrices.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short: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Linear Algebra studies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data and geometric objects change in a structured, straight-line manner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is essential in fields like AI, graphics, and data science.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510375-EA71-F8FF-E776-6308CC67D721}"/>
              </a:ext>
            </a:extLst>
          </p:cNvPr>
          <p:cNvSpPr txBox="1"/>
          <p:nvPr/>
        </p:nvSpPr>
        <p:spPr>
          <a:xfrm>
            <a:off x="20836" y="28136"/>
            <a:ext cx="12161786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Algebra: Definition</a:t>
            </a:r>
            <a:endParaRPr lang="en-US" sz="4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90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87333-1CDB-7D87-95A0-D93D565A8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87F3FD-D626-E780-0C25-94ECB630EF59}"/>
              </a:ext>
            </a:extLst>
          </p:cNvPr>
          <p:cNvSpPr txBox="1"/>
          <p:nvPr/>
        </p:nvSpPr>
        <p:spPr>
          <a:xfrm>
            <a:off x="277250" y="912132"/>
            <a:ext cx="11581227" cy="3258264"/>
          </a:xfrm>
          <a:prstGeom prst="rect">
            <a:avLst/>
          </a:prstGeom>
          <a:gradFill>
            <a:gsLst>
              <a:gs pos="15000">
                <a:schemeClr val="accent5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3810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Below"/>
            <a:lightRig rig="threePt" dir="t"/>
          </a:scene3d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Algebra is the mathematics of data, dealing with numbers, shapes, and patterns organized in grids (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r>
              <a:rPr 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lists (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vectors</a:t>
            </a:r>
            <a:r>
              <a:rPr 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3600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7055E0-4190-D4F4-D39B-F724AC46AD68}"/>
              </a:ext>
            </a:extLst>
          </p:cNvPr>
          <p:cNvSpPr txBox="1"/>
          <p:nvPr/>
        </p:nvSpPr>
        <p:spPr>
          <a:xfrm>
            <a:off x="168812" y="4515104"/>
            <a:ext cx="11830345" cy="21502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Below"/>
            <a:lightRig rig="threePt" dir="t"/>
          </a:scene3d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helps in solving equations, transforming images, analyzing relationships in data, and optimizing algorithms.</a:t>
            </a: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8056A2-9536-4C86-9E10-62B46713DF8F}"/>
              </a:ext>
            </a:extLst>
          </p:cNvPr>
          <p:cNvSpPr txBox="1"/>
          <p:nvPr/>
        </p:nvSpPr>
        <p:spPr>
          <a:xfrm>
            <a:off x="2500" y="13550"/>
            <a:ext cx="121895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and Applications</a:t>
            </a:r>
            <a:endParaRPr lang="en-US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0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A5E03E-496B-1BD1-0D35-104AF1088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85" y="512111"/>
            <a:ext cx="10912229" cy="613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8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8898BB-02D7-38D4-1BE3-BDF5EA0E67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759" y="732941"/>
            <a:ext cx="8049719" cy="6070281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9BADF4-B624-4907-39A6-12B2FCA78575}"/>
              </a:ext>
            </a:extLst>
          </p:cNvPr>
          <p:cNvSpPr txBox="1"/>
          <p:nvPr/>
        </p:nvSpPr>
        <p:spPr>
          <a:xfrm>
            <a:off x="9958" y="7964"/>
            <a:ext cx="12182042" cy="6546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500"/>
              </a:spcAft>
            </a:pPr>
            <a:r>
              <a:rPr lang="en-US" sz="36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Matrix</a:t>
            </a:r>
          </a:p>
        </p:txBody>
      </p:sp>
    </p:spTree>
    <p:extLst>
      <p:ext uri="{BB962C8B-B14F-4D97-AF65-F5344CB8AC3E}">
        <p14:creationId xmlns:p14="http://schemas.microsoft.com/office/powerpoint/2010/main" val="4140140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3060F4-41CB-319C-3FF9-1B06C254C652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a Matrix is Built &amp; Its Real-World Implementation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5199C3-F995-8535-F1D9-DDAD6CE92F7E}"/>
              </a:ext>
            </a:extLst>
          </p:cNvPr>
          <p:cNvSpPr txBox="1"/>
          <p:nvPr/>
        </p:nvSpPr>
        <p:spPr>
          <a:xfrm>
            <a:off x="0" y="702603"/>
            <a:ext cx="12192000" cy="30534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Imagine you're developing a 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Netflix-like movie recommendation system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need to store user ratings for different movies.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start with a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ratings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E3AD83-63AC-37E1-D795-AB15B2FC1597}"/>
              </a:ext>
            </a:extLst>
          </p:cNvPr>
          <p:cNvSpPr txBox="1"/>
          <p:nvPr/>
        </p:nvSpPr>
        <p:spPr>
          <a:xfrm>
            <a:off x="2805658" y="3870595"/>
            <a:ext cx="6862997" cy="29065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Rows = Users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(U1, U2, U3, ...)</a:t>
            </a:r>
          </a:p>
          <a:p>
            <a:pPr algn="ctr">
              <a:lnSpc>
                <a:spcPct val="200000"/>
              </a:lnSpc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Columns = Movies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(M1, M2, M3, ...)</a:t>
            </a:r>
          </a:p>
          <a:p>
            <a:pPr algn="ctr">
              <a:lnSpc>
                <a:spcPct val="200000"/>
              </a:lnSpc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Entries = Ratings (1-5 stars)</a:t>
            </a:r>
            <a:endParaRPr lang="en-US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17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C22756-76A7-DD96-3064-8752D36CB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997712"/>
              </p:ext>
            </p:extLst>
          </p:nvPr>
        </p:nvGraphicFramePr>
        <p:xfrm>
          <a:off x="1750646" y="668607"/>
          <a:ext cx="812800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5550317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481646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8102498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1868398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942795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M1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M2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M3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M4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518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U1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139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U2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868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U3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8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2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DFED2F2-073F-DF3D-FE89-14FC3296F8F8}"/>
              </a:ext>
            </a:extLst>
          </p:cNvPr>
          <p:cNvSpPr txBox="1"/>
          <p:nvPr/>
        </p:nvSpPr>
        <p:spPr>
          <a:xfrm>
            <a:off x="109023" y="2811587"/>
            <a:ext cx="6098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table is actually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EB9D9C-AA7B-908E-A257-F40CC64A75B4}"/>
                  </a:ext>
                </a:extLst>
              </p:cNvPr>
              <p:cNvSpPr txBox="1"/>
              <p:nvPr/>
            </p:nvSpPr>
            <p:spPr>
              <a:xfrm>
                <a:off x="4438867" y="3351016"/>
                <a:ext cx="3959033" cy="15686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3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36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3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EB9D9C-AA7B-908E-A257-F40CC64A7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867" y="3351016"/>
                <a:ext cx="3959033" cy="15686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3E58C7A-36FA-1F4B-2327-064815356F73}"/>
              </a:ext>
            </a:extLst>
          </p:cNvPr>
          <p:cNvSpPr txBox="1"/>
          <p:nvPr/>
        </p:nvSpPr>
        <p:spPr>
          <a:xfrm>
            <a:off x="0" y="5011935"/>
            <a:ext cx="12192000" cy="1481175"/>
          </a:xfrm>
          <a:prstGeom prst="rect">
            <a:avLst/>
          </a:prstGeom>
          <a:solidFill>
            <a:schemeClr val="bg2"/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Now, we can use this matrix to find similar users and recommend movies using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Algebra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3AE63-15F3-4A82-BD22-8FFF03DC1EB8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a Matrix is Built &amp; Its Real-World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30449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09CE02-C1EB-6335-EB66-AACC32A87806}"/>
              </a:ext>
            </a:extLst>
          </p:cNvPr>
          <p:cNvSpPr txBox="1"/>
          <p:nvPr/>
        </p:nvSpPr>
        <p:spPr>
          <a:xfrm>
            <a:off x="0" y="800353"/>
            <a:ext cx="12192000" cy="59241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Similar Users or Movies (Collaborative Filtering)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Find users or movies that are similar based on their rating patterns.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User-Based Filtering: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Find users with similar tastes (e.g., if U1 and U2 gave similar ratings, they are similar).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If U1 liked M3, and U2 hasn’t watched it yet, recommend M3 to U2.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Movie-Based Filtering: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two movies (M1 and M3) get similar ratings from many users, they are similar.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U1 watched M1 and hasn’t seen M3, suggest M3 to U1.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6C5FB9-FF1C-4B76-ADD8-6D65F0B28805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a Matrix is Built &amp; Its Real-World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45629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EF774E-B0F0-6EAF-BCE0-238D90F14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6" y="0"/>
            <a:ext cx="121227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8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CE4EE7-FC31-82EF-C0BF-2BD543B1B46D}"/>
              </a:ext>
            </a:extLst>
          </p:cNvPr>
          <p:cNvSpPr txBox="1"/>
          <p:nvPr/>
        </p:nvSpPr>
        <p:spPr>
          <a:xfrm>
            <a:off x="0" y="1069256"/>
            <a:ext cx="12192000" cy="52926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1️⃣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Representation: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Store user-movie ratings as a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2️⃣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Similarity Computation: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Find similar users or movies (collaborative filtering).</a:t>
            </a:r>
            <a:b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3️⃣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Factorization (SVD):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Predict missing ratings.</a:t>
            </a:r>
            <a:b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4️⃣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(Autoencoders):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 complex user preferences.</a:t>
            </a:r>
            <a:b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5️⃣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Learning: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Improve recommendations over time.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BC6965-2AAE-9AF3-7FAA-1561B3A40B4F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Summary: How Netflix Uses Linear Algebra</a:t>
            </a:r>
            <a:endParaRPr lang="en-US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235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9B490D-7CBF-120E-C43C-703A2C889F1B}"/>
              </a:ext>
            </a:extLst>
          </p:cNvPr>
          <p:cNvSpPr txBox="1"/>
          <p:nvPr/>
        </p:nvSpPr>
        <p:spPr>
          <a:xfrm>
            <a:off x="-1" y="2029334"/>
            <a:ext cx="12191999" cy="42154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Imagine you're working on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AI for a self-driving car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and it needs to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:</a:t>
            </a:r>
            <a:b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1️⃣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Detect objects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on the road (pedestrians, vehicles, signs)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2️⃣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Process sensor data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from cameras and LiDAR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(Light Detection and Ranging)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3️⃣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Navigate safely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by predicting movement.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4D8534-0BB6-A66A-F9CE-01509E9E9100}"/>
              </a:ext>
            </a:extLst>
          </p:cNvPr>
          <p:cNvSpPr txBox="1"/>
          <p:nvPr/>
        </p:nvSpPr>
        <p:spPr>
          <a:xfrm>
            <a:off x="0" y="14068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How Linear Algebra Helps in AI, Graphics, and Data Science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16DBDB-3047-C09A-F44F-88D3385E7BC7}"/>
              </a:ext>
            </a:extLst>
          </p:cNvPr>
          <p:cNvSpPr txBox="1"/>
          <p:nvPr/>
        </p:nvSpPr>
        <p:spPr>
          <a:xfrm>
            <a:off x="-1" y="794026"/>
            <a:ext cx="12191999" cy="9265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Situation: You Are Developing a Self-Driving Car System 🚗</a:t>
            </a:r>
          </a:p>
        </p:txBody>
      </p:sp>
    </p:spTree>
    <p:extLst>
      <p:ext uri="{BB962C8B-B14F-4D97-AF65-F5344CB8AC3E}">
        <p14:creationId xmlns:p14="http://schemas.microsoft.com/office/powerpoint/2010/main" val="240942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0BE6DA-26A6-7283-C1F0-A21FAE48D249}"/>
              </a:ext>
            </a:extLst>
          </p:cNvPr>
          <p:cNvSpPr txBox="1"/>
          <p:nvPr/>
        </p:nvSpPr>
        <p:spPr>
          <a:xfrm>
            <a:off x="0" y="747937"/>
            <a:ext cx="12192000" cy="58357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Image as a Matrix (Graphics &amp; AI)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grayscale image is just a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of pixel values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transformations (blurring, edge detection) use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operations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 Detection Using Vectors (AI &amp; Deep Learning)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detected object is represented as a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models classify objects by analyzing these vectors.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Predicting Car Movements (Data Science &amp; Machine Learning)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 positions over time are stored as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 linear algebra technique) predicts future positions.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1873E1-49FE-8CBD-9838-89381DF00EBF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Does Linear Algebra Work Here?</a:t>
            </a:r>
            <a:endParaRPr lang="en-US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45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601A26-8C0D-227A-D73C-0142E93D8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87" y="1208674"/>
            <a:ext cx="11334226" cy="56422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C5A939-7361-9E04-491C-6D1877EF7998}"/>
              </a:ext>
            </a:extLst>
          </p:cNvPr>
          <p:cNvSpPr txBox="1"/>
          <p:nvPr/>
        </p:nvSpPr>
        <p:spPr>
          <a:xfrm>
            <a:off x="0" y="49231"/>
            <a:ext cx="12192000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Self-Driving Car System 🚗</a:t>
            </a:r>
            <a:endParaRPr 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072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C87E05-791A-5E00-71B4-B2CC72601C1C}"/>
              </a:ext>
            </a:extLst>
          </p:cNvPr>
          <p:cNvSpPr txBox="1"/>
          <p:nvPr/>
        </p:nvSpPr>
        <p:spPr>
          <a:xfrm>
            <a:off x="19341" y="1017376"/>
            <a:ext cx="12153317" cy="5481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sz="30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System of Linear Equations</a:t>
            </a:r>
            <a:endParaRPr lang="en-US" sz="3000" dirty="0">
              <a:solidFill>
                <a:schemeClr val="accent6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sz="30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Matrices</a:t>
            </a:r>
            <a:endParaRPr lang="en-US" sz="3000" dirty="0">
              <a:solidFill>
                <a:schemeClr val="accent6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sz="30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Gaussian Elimination and Gaussian Jordan Method</a:t>
            </a:r>
            <a:endParaRPr lang="en-US" sz="3000" dirty="0">
              <a:solidFill>
                <a:schemeClr val="accent6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sz="30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Vector Spaces</a:t>
            </a:r>
            <a:endParaRPr lang="en-US" sz="3000" dirty="0">
              <a:solidFill>
                <a:schemeClr val="accent6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sz="30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Matrix Transformation</a:t>
            </a:r>
            <a:endParaRPr lang="en-US" sz="3000" dirty="0">
              <a:solidFill>
                <a:schemeClr val="accent6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sz="30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Cryptography</a:t>
            </a:r>
            <a:endParaRPr lang="en-US" sz="3000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sz="30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Eigen Values and Eigen Vectors and its applications to Machine Learning.</a:t>
            </a:r>
            <a:endParaRPr lang="en-US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5EA254-D1EB-830A-6DFD-7B79117DCE67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Some Topics of Linear Algebra</a:t>
            </a:r>
            <a:endParaRPr 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6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433BE2-282F-34D6-4D6A-7EB39BBFEB92}"/>
              </a:ext>
            </a:extLst>
          </p:cNvPr>
          <p:cNvSpPr txBox="1"/>
          <p:nvPr/>
        </p:nvSpPr>
        <p:spPr>
          <a:xfrm>
            <a:off x="3887957" y="1229"/>
            <a:ext cx="4153487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Linear Equation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E5B334-F7FF-3723-5B9C-511F39195DC4}"/>
              </a:ext>
            </a:extLst>
          </p:cNvPr>
          <p:cNvSpPr txBox="1"/>
          <p:nvPr/>
        </p:nvSpPr>
        <p:spPr>
          <a:xfrm>
            <a:off x="0" y="758187"/>
            <a:ext cx="12192000" cy="52322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equation whose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exponent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or power is one is called linear equation.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ED2ED6-5D58-25D5-DA7F-0C58C70ABDAE}"/>
                  </a:ext>
                </a:extLst>
              </p:cNvPr>
              <p:cNvSpPr txBox="1"/>
              <p:nvPr/>
            </p:nvSpPr>
            <p:spPr>
              <a:xfrm>
                <a:off x="502919" y="1337679"/>
                <a:ext cx="9995097" cy="352064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80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80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+1=0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One Variable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+3</m:t>
                    </m:r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=7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Two Variables 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+3</m:t>
                    </m:r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=−1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   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Three Variables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−2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func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Four Variables</a:t>
                </a: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+…+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2800" b="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n Variables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ED2ED6-5D58-25D5-DA7F-0C58C70AB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9" y="1337679"/>
                <a:ext cx="9995097" cy="3520644"/>
              </a:xfrm>
              <a:prstGeom prst="rect">
                <a:avLst/>
              </a:prstGeom>
              <a:blipFill>
                <a:blip r:embed="rId2"/>
                <a:stretch>
                  <a:fillRect l="-912" b="-308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314B5DB-3EB4-EDC8-7348-CFA85A3DAD8D}"/>
              </a:ext>
            </a:extLst>
          </p:cNvPr>
          <p:cNvSpPr txBox="1"/>
          <p:nvPr/>
        </p:nvSpPr>
        <p:spPr>
          <a:xfrm>
            <a:off x="0" y="4881492"/>
            <a:ext cx="12191999" cy="19538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equation does not involve any products or roots of variables.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variables occur only to the first power and do not Appear as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arguments of trigonometric, logarithmic, or exponential functions.</a:t>
            </a:r>
            <a:endParaRPr 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79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104F4CE-2ABD-7496-AAC3-C31C37784D55}"/>
              </a:ext>
            </a:extLst>
          </p:cNvPr>
          <p:cNvSpPr txBox="1"/>
          <p:nvPr/>
        </p:nvSpPr>
        <p:spPr>
          <a:xfrm>
            <a:off x="0" y="0"/>
            <a:ext cx="12191999" cy="11106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Question: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following equations are linear or nonlinear? If it is nonlinear which term in each equation is making it nonlinear?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C92CE0-837C-76F9-1F71-4A01B45A38DE}"/>
                  </a:ext>
                </a:extLst>
              </p:cNvPr>
              <p:cNvSpPr txBox="1"/>
              <p:nvPr/>
            </p:nvSpPr>
            <p:spPr>
              <a:xfrm>
                <a:off x="984738" y="2538761"/>
                <a:ext cx="3201573" cy="503599"/>
              </a:xfrm>
              <a:prstGeom prst="rect">
                <a:avLst/>
              </a:prstGeom>
              <a:ln w="28575">
                <a:solidFill>
                  <a:srgbClr val="7030A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GB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GB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PK" sz="32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C92CE0-837C-76F9-1F71-4A01B45A3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38" y="2538761"/>
                <a:ext cx="3201573" cy="5035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162973-9B4E-A651-EB86-C6E687DEB8C7}"/>
                  </a:ext>
                </a:extLst>
              </p:cNvPr>
              <p:cNvSpPr txBox="1"/>
              <p:nvPr/>
            </p:nvSpPr>
            <p:spPr>
              <a:xfrm>
                <a:off x="7733484" y="2454353"/>
                <a:ext cx="3303793" cy="492443"/>
              </a:xfrm>
              <a:prstGeom prst="rect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𝒙𝒚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PK" sz="32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162973-9B4E-A651-EB86-C6E687DEB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484" y="2454353"/>
                <a:ext cx="3303793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6D149B-9CD9-0A9C-8911-71B711BEA967}"/>
                  </a:ext>
                </a:extLst>
              </p:cNvPr>
              <p:cNvSpPr txBox="1"/>
              <p:nvPr/>
            </p:nvSpPr>
            <p:spPr>
              <a:xfrm>
                <a:off x="1190809" y="4691200"/>
                <a:ext cx="2995502" cy="492443"/>
              </a:xfrm>
              <a:prstGeom prst="rect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32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6D149B-9CD9-0A9C-8911-71B711BEA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809" y="4691200"/>
                <a:ext cx="2995502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6FE2D50-FA02-032A-AAF1-A9898DD5993C}"/>
                  </a:ext>
                </a:extLst>
              </p:cNvPr>
              <p:cNvSpPr txBox="1"/>
              <p:nvPr/>
            </p:nvSpPr>
            <p:spPr>
              <a:xfrm>
                <a:off x="8041775" y="4752957"/>
                <a:ext cx="3459736" cy="492443"/>
              </a:xfrm>
              <a:prstGeom prst="rect">
                <a:avLst/>
              </a:prstGeom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32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3200" b="1" i="1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3200" b="1" i="1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rad>
                      <m:r>
                        <a:rPr lang="en-US" sz="32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200" b="1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32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32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6FE2D50-FA02-032A-AAF1-A9898DD59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1775" y="4752957"/>
                <a:ext cx="3459736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83629A-C214-2EA0-4FD7-8085DBBE774F}"/>
                  </a:ext>
                </a:extLst>
              </p:cNvPr>
              <p:cNvSpPr txBox="1"/>
              <p:nvPr/>
            </p:nvSpPr>
            <p:spPr>
              <a:xfrm>
                <a:off x="4458515" y="5894363"/>
                <a:ext cx="3274969" cy="492443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en-US" sz="3200" b="1" i="1" smtClean="0">
                          <a:solidFill>
                            <a:schemeClr val="accent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𝒙</m:t>
                      </m:r>
                      <m:r>
                        <a:rPr lang="en-US" sz="3200" b="1" i="1" smtClean="0">
                          <a:solidFill>
                            <a:schemeClr val="accent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chemeClr val="accent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sz="3200" b="1" i="1" smtClean="0">
                          <a:solidFill>
                            <a:schemeClr val="accent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𝒚</m:t>
                      </m:r>
                      <m:r>
                        <a:rPr lang="en-US" sz="3200" b="1" i="1" smtClean="0">
                          <a:solidFill>
                            <a:schemeClr val="accent2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1" i="1">
                              <a:solidFill>
                                <a:schemeClr val="accent2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sz="3200" b="1" i="1">
                              <a:solidFill>
                                <a:schemeClr val="accent2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US" sz="3200" b="1" i="1">
                              <a:solidFill>
                                <a:schemeClr val="accent2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GB" sz="3200" b="1" i="1" smtClean="0">
                              <a:solidFill>
                                <a:schemeClr val="accent2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</m:func>
                    </m:oMath>
                  </m:oMathPara>
                </a14:m>
                <a:endParaRPr lang="en-PK" sz="32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83629A-C214-2EA0-4FD7-8085DBBE7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515" y="5894363"/>
                <a:ext cx="3274969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1C330154-C2AA-76C4-95C9-AD8B22531A4E}"/>
              </a:ext>
            </a:extLst>
          </p:cNvPr>
          <p:cNvSpPr/>
          <p:nvPr/>
        </p:nvSpPr>
        <p:spPr>
          <a:xfrm>
            <a:off x="2477544" y="1505643"/>
            <a:ext cx="1011244" cy="295421"/>
          </a:xfrm>
          <a:prstGeom prst="wedgeRoundRectCallout">
            <a:avLst>
              <a:gd name="adj1" fmla="val -52680"/>
              <a:gd name="adj2" fmla="val 291072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B7D6F31A-32B6-464C-B07D-FEBB69B3B4CB}"/>
              </a:ext>
            </a:extLst>
          </p:cNvPr>
          <p:cNvSpPr/>
          <p:nvPr/>
        </p:nvSpPr>
        <p:spPr>
          <a:xfrm>
            <a:off x="10067779" y="1422361"/>
            <a:ext cx="1003495" cy="295421"/>
          </a:xfrm>
          <a:prstGeom prst="wedgeRoundRectCallout">
            <a:avLst>
              <a:gd name="adj1" fmla="val -52680"/>
              <a:gd name="adj2" fmla="val 29107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128A5869-7909-9A4D-6F4D-FC40204AD345}"/>
              </a:ext>
            </a:extLst>
          </p:cNvPr>
          <p:cNvSpPr/>
          <p:nvPr/>
        </p:nvSpPr>
        <p:spPr>
          <a:xfrm>
            <a:off x="1775790" y="3591962"/>
            <a:ext cx="1011244" cy="295421"/>
          </a:xfrm>
          <a:prstGeom prst="wedgeRoundRectCallout">
            <a:avLst>
              <a:gd name="adj1" fmla="val -52680"/>
              <a:gd name="adj2" fmla="val 291072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CD15E925-6467-145A-2F10-C4D74C9CC1E8}"/>
              </a:ext>
            </a:extLst>
          </p:cNvPr>
          <p:cNvSpPr/>
          <p:nvPr/>
        </p:nvSpPr>
        <p:spPr>
          <a:xfrm>
            <a:off x="8528282" y="3697038"/>
            <a:ext cx="1011244" cy="295421"/>
          </a:xfrm>
          <a:prstGeom prst="wedgeRoundRectCallout">
            <a:avLst>
              <a:gd name="adj1" fmla="val -52680"/>
              <a:gd name="adj2" fmla="val 291072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68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2" grpId="0" animBg="1"/>
      <p:bldP spid="3" grpId="0" animBg="1"/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C7D5C4-9257-393F-1C8A-3B35F3C58712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Geometric Representation of Linear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AC175804-2052-2574-1142-D49D8D4BDF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1627810"/>
                  </p:ext>
                </p:extLst>
              </p:nvPr>
            </p:nvGraphicFramePr>
            <p:xfrm>
              <a:off x="249972" y="840139"/>
              <a:ext cx="11325493" cy="28168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53082">
                      <a:extLst>
                        <a:ext uri="{9D8B030D-6E8A-4147-A177-3AD203B41FA5}">
                          <a16:colId xmlns:a16="http://schemas.microsoft.com/office/drawing/2014/main" val="191988491"/>
                        </a:ext>
                      </a:extLst>
                    </a:gridCol>
                    <a:gridCol w="4469859">
                      <a:extLst>
                        <a:ext uri="{9D8B030D-6E8A-4147-A177-3AD203B41FA5}">
                          <a16:colId xmlns:a16="http://schemas.microsoft.com/office/drawing/2014/main" val="1240789061"/>
                        </a:ext>
                      </a:extLst>
                    </a:gridCol>
                    <a:gridCol w="4402552">
                      <a:extLst>
                        <a:ext uri="{9D8B030D-6E8A-4147-A177-3AD203B41FA5}">
                          <a16:colId xmlns:a16="http://schemas.microsoft.com/office/drawing/2014/main" val="469918968"/>
                        </a:ext>
                      </a:extLst>
                    </a:gridCol>
                  </a:tblGrid>
                  <a:tr h="916647"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Variables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Equation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Geometric Representation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7149931"/>
                      </a:ext>
                    </a:extLst>
                  </a:tr>
                  <a:tr h="86385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2, (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Straight Line in 2D space.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8640542"/>
                      </a:ext>
                    </a:extLst>
                  </a:tr>
                  <a:tr h="50267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3,(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𝑐𝑧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Plane in 3D space.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9940812"/>
                      </a:ext>
                    </a:extLst>
                  </a:tr>
                  <a:tr h="50267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4,(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𝑐𝑧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𝑑𝑤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2800" b="0" i="0" smtClean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Hyperplane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43408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AC175804-2052-2574-1142-D49D8D4BDF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1627810"/>
                  </p:ext>
                </p:extLst>
              </p:nvPr>
            </p:nvGraphicFramePr>
            <p:xfrm>
              <a:off x="249972" y="840139"/>
              <a:ext cx="11325493" cy="28168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53082">
                      <a:extLst>
                        <a:ext uri="{9D8B030D-6E8A-4147-A177-3AD203B41FA5}">
                          <a16:colId xmlns:a16="http://schemas.microsoft.com/office/drawing/2014/main" val="191988491"/>
                        </a:ext>
                      </a:extLst>
                    </a:gridCol>
                    <a:gridCol w="4469859">
                      <a:extLst>
                        <a:ext uri="{9D8B030D-6E8A-4147-A177-3AD203B41FA5}">
                          <a16:colId xmlns:a16="http://schemas.microsoft.com/office/drawing/2014/main" val="1240789061"/>
                        </a:ext>
                      </a:extLst>
                    </a:gridCol>
                    <a:gridCol w="4402552">
                      <a:extLst>
                        <a:ext uri="{9D8B030D-6E8A-4147-A177-3AD203B41FA5}">
                          <a16:colId xmlns:a16="http://schemas.microsoft.com/office/drawing/2014/main" val="469918968"/>
                        </a:ext>
                      </a:extLst>
                    </a:gridCol>
                  </a:tblGrid>
                  <a:tr h="916647"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Variables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Equation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Geometric Representation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7149931"/>
                      </a:ext>
                    </a:extLst>
                  </a:tr>
                  <a:tr h="8638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8" t="-113380" r="-363433" b="-1394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041" t="-113380" r="-99046" b="-1394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Straight Line in 2D space.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864054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8" t="-356471" r="-363433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041" t="-356471" r="-99046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Plane in 3D space.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994081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8" t="-456471" r="-363433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041" t="-456471" r="-99046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Hyperplane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43408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5EEEF6-7F70-645C-8FC7-30ECB0946066}"/>
                  </a:ext>
                </a:extLst>
              </p:cNvPr>
              <p:cNvSpPr txBox="1"/>
              <p:nvPr/>
            </p:nvSpPr>
            <p:spPr>
              <a:xfrm>
                <a:off x="0" y="3823032"/>
                <a:ext cx="12192000" cy="523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Equations with More Than Three Variables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8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8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GB" sz="28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8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8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GB" sz="28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8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8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GB" sz="28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,…)</m:t>
                    </m:r>
                  </m:oMath>
                </a14:m>
                <a:endParaRPr lang="en-US" sz="2800" b="1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5EEEF6-7F70-645C-8FC7-30ECB0946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823032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l="-898" t="-8791" b="-26374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E3D322D-68AA-6B28-D6F3-056FABDD6770}"/>
              </a:ext>
            </a:extLst>
          </p:cNvPr>
          <p:cNvSpPr txBox="1"/>
          <p:nvPr/>
        </p:nvSpPr>
        <p:spPr>
          <a:xfrm>
            <a:off x="0" y="4512325"/>
            <a:ext cx="12191999" cy="11339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4D space and beyond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each linear equation represents a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hyperplane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 higher-dimensional version of a plane that we cannot visualize directly).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9560F8-1811-1C04-B837-4D3600D0DCB3}"/>
              </a:ext>
            </a:extLst>
          </p:cNvPr>
          <p:cNvSpPr txBox="1"/>
          <p:nvPr/>
        </p:nvSpPr>
        <p:spPr>
          <a:xfrm>
            <a:off x="0" y="5720415"/>
            <a:ext cx="12191999" cy="11339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Hyperplanes are widely used in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(SVMs), optimization, and data classification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451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4E1091-A1B8-2B51-3F06-41C71B63AB9B}"/>
                  </a:ext>
                </a:extLst>
              </p:cNvPr>
              <p:cNvSpPr txBox="1"/>
              <p:nvPr/>
            </p:nvSpPr>
            <p:spPr>
              <a:xfrm>
                <a:off x="-15498" y="1528319"/>
                <a:ext cx="12207498" cy="380136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 </a:t>
                </a:r>
                <a:r>
                  <a:rPr lang="en-US" sz="28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solution</a:t>
                </a:r>
                <a:r>
                  <a:rPr lang="en-US" sz="2800" b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to Linear Equation  (I)  is a sequence of </a:t>
                </a:r>
                <a14:m>
                  <m:oMath xmlns:m="http://schemas.openxmlformats.org/officeDocument/2006/math"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numbers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which has the property that (I) is satisfied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are substituted in (1).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800" b="1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For example:</a:t>
                </a:r>
                <a:r>
                  <a:rPr lang="en-US" sz="2800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The equation </a:t>
                </a:r>
                <a:r>
                  <a:rPr lang="en-US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has the solution</a:t>
                </a:r>
                <a:endParaRPr lang="en-US" sz="2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=2,  </m:t>
                      </m:r>
                      <m:sSub>
                        <m:sSubPr>
                          <m:ctrlP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=3,  </m:t>
                      </m:r>
                      <m:sSub>
                        <m:sSubPr>
                          <m:ctrlP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=−4</m:t>
                      </m:r>
                    </m:oMath>
                  </m:oMathPara>
                </a14:m>
                <a:endParaRPr lang="en-US" sz="2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Because on substituting these values, equation becomes identity i.e.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4E1091-A1B8-2B51-3F06-41C71B63A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498" y="1528319"/>
                <a:ext cx="12207498" cy="3801362"/>
              </a:xfrm>
              <a:prstGeom prst="rect">
                <a:avLst/>
              </a:prstGeom>
              <a:blipFill>
                <a:blip r:embed="rId2"/>
                <a:stretch>
                  <a:fillRect l="-896" t="-1433" b="-3185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F15EF1F-52F2-9330-FC17-5ACDDE7755D3}"/>
              </a:ext>
            </a:extLst>
          </p:cNvPr>
          <p:cNvSpPr txBox="1"/>
          <p:nvPr/>
        </p:nvSpPr>
        <p:spPr>
          <a:xfrm>
            <a:off x="-15498" y="0"/>
            <a:ext cx="12207498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Solution of a Linear Equation</a:t>
            </a:r>
            <a:endParaRPr lang="en-US" sz="3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2C9780-7C4D-1349-8D8F-FE6F838E86FC}"/>
                  </a:ext>
                </a:extLst>
              </p:cNvPr>
              <p:cNvSpPr txBox="1"/>
              <p:nvPr/>
            </p:nvSpPr>
            <p:spPr>
              <a:xfrm>
                <a:off x="2653848" y="775293"/>
                <a:ext cx="6560490" cy="553998"/>
              </a:xfrm>
              <a:prstGeom prst="rect">
                <a:avLst/>
              </a:prstGeom>
              <a:solidFill>
                <a:schemeClr val="bg2"/>
              </a:solidFill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3600" b="1" dirty="0"/>
                  <a:t>    </a:t>
                </a:r>
                <a:r>
                  <a:rPr lang="en-US" sz="24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sz="24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(I)</a:t>
                </a:r>
                <a:endParaRPr 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2C9780-7C4D-1349-8D8F-FE6F838E8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848" y="775293"/>
                <a:ext cx="6560490" cy="553998"/>
              </a:xfrm>
              <a:prstGeom prst="rect">
                <a:avLst/>
              </a:prstGeom>
              <a:blipFill>
                <a:blip r:embed="rId3"/>
                <a:stretch>
                  <a:fillRect t="-21875" b="-43750"/>
                </a:stretch>
              </a:blipFill>
              <a:ln w="28575"/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41D45B-B509-B991-9BA4-B831BEA86382}"/>
                  </a:ext>
                </a:extLst>
              </p:cNvPr>
              <p:cNvSpPr txBox="1"/>
              <p:nvPr/>
            </p:nvSpPr>
            <p:spPr>
              <a:xfrm>
                <a:off x="4799985" y="3308963"/>
                <a:ext cx="4196147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</m:t>
                      </m:r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−13</m:t>
                      </m:r>
                    </m:oMath>
                  </m:oMathPara>
                </a14:m>
                <a:endParaRPr lang="en-PK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41D45B-B509-B991-9BA4-B831BEA86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985" y="3308963"/>
                <a:ext cx="419614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5DB0E7-031C-4142-1792-876FBADF81C7}"/>
                  </a:ext>
                </a:extLst>
              </p:cNvPr>
              <p:cNvSpPr txBox="1"/>
              <p:nvPr/>
            </p:nvSpPr>
            <p:spPr>
              <a:xfrm>
                <a:off x="4759924" y="5478266"/>
                <a:ext cx="4590300" cy="43088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6(2)−3(3) +4(−4)=−13</m:t>
                      </m:r>
                    </m:oMath>
                  </m:oMathPara>
                </a14:m>
                <a:endParaRPr lang="en-PK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5DB0E7-031C-4142-1792-876FBADF8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924" y="5478266"/>
                <a:ext cx="459030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770436-D4A3-162E-142F-757360D72AE8}"/>
                  </a:ext>
                </a:extLst>
              </p:cNvPr>
              <p:cNvSpPr txBox="1"/>
              <p:nvPr/>
            </p:nvSpPr>
            <p:spPr>
              <a:xfrm>
                <a:off x="7172279" y="6180402"/>
                <a:ext cx="2290489" cy="43088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−13 = −13</m:t>
                      </m:r>
                    </m:oMath>
                  </m:oMathPara>
                </a14:m>
                <a:endParaRPr lang="en-PK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770436-D4A3-162E-142F-757360D72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279" y="6180402"/>
                <a:ext cx="2290489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14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38EE01-5ED3-168C-C7FF-BE72E07E1C59}"/>
              </a:ext>
            </a:extLst>
          </p:cNvPr>
          <p:cNvSpPr txBox="1"/>
          <p:nvPr/>
        </p:nvSpPr>
        <p:spPr>
          <a:xfrm>
            <a:off x="0" y="758488"/>
            <a:ext cx="12192000" cy="13075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finite set of linear equations is called a system of linear equations or, more briefly, a linear system. The variables are called unknowns.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DE3BD4-F031-4E27-A843-A79E5B59EC86}"/>
              </a:ext>
            </a:extLst>
          </p:cNvPr>
          <p:cNvSpPr txBox="1"/>
          <p:nvPr/>
        </p:nvSpPr>
        <p:spPr>
          <a:xfrm>
            <a:off x="0" y="26575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of a Linear Equations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75C04-64F8-F4F9-1A4B-5A197F5CB0B7}"/>
              </a:ext>
            </a:extLst>
          </p:cNvPr>
          <p:cNvSpPr/>
          <p:nvPr/>
        </p:nvSpPr>
        <p:spPr>
          <a:xfrm>
            <a:off x="446648" y="2570198"/>
            <a:ext cx="4984918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System in two unknown</a:t>
            </a:r>
            <a:endParaRPr lang="en-US" sz="2400" b="1" dirty="0">
              <a:solidFill>
                <a:srgbClr val="3A3A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8C71BD-ACE9-5AB8-035C-023183C2C927}"/>
                  </a:ext>
                </a:extLst>
              </p:cNvPr>
              <p:cNvSpPr txBox="1"/>
              <p:nvPr/>
            </p:nvSpPr>
            <p:spPr>
              <a:xfrm>
                <a:off x="6096000" y="2373011"/>
                <a:ext cx="2653024" cy="44368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PK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8C71BD-ACE9-5AB8-035C-023183C2C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373011"/>
                <a:ext cx="2653024" cy="4436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66A02F-8F7B-8E52-3242-D56719FA9E5D}"/>
                  </a:ext>
                </a:extLst>
              </p:cNvPr>
              <p:cNvSpPr txBox="1"/>
              <p:nvPr/>
            </p:nvSpPr>
            <p:spPr>
              <a:xfrm>
                <a:off x="6096000" y="2899010"/>
                <a:ext cx="2653024" cy="44368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PK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66A02F-8F7B-8E52-3242-D56719FA9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899010"/>
                <a:ext cx="2653024" cy="4436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44A2D94A-6C8C-2092-A3A3-6181A30CFC24}"/>
              </a:ext>
            </a:extLst>
          </p:cNvPr>
          <p:cNvSpPr/>
          <p:nvPr/>
        </p:nvSpPr>
        <p:spPr>
          <a:xfrm>
            <a:off x="446648" y="5050245"/>
            <a:ext cx="4842804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System in three unknown</a:t>
            </a:r>
            <a:endParaRPr lang="en-US" sz="2400" b="1" dirty="0">
              <a:solidFill>
                <a:srgbClr val="3A3A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FF110F-63EB-3E7F-D594-C7DA843AF290}"/>
                  </a:ext>
                </a:extLst>
              </p:cNvPr>
              <p:cNvSpPr txBox="1"/>
              <p:nvPr/>
            </p:nvSpPr>
            <p:spPr>
              <a:xfrm>
                <a:off x="6540142" y="4500639"/>
                <a:ext cx="299550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FF110F-63EB-3E7F-D594-C7DA843AF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142" y="4500639"/>
                <a:ext cx="2995502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2855D9-26E3-A26E-6974-3DBF063B4BC1}"/>
                  </a:ext>
                </a:extLst>
              </p:cNvPr>
              <p:cNvSpPr txBox="1"/>
              <p:nvPr/>
            </p:nvSpPr>
            <p:spPr>
              <a:xfrm>
                <a:off x="6544992" y="5121045"/>
                <a:ext cx="299065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2855D9-26E3-A26E-6974-3DBF063B4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992" y="5121045"/>
                <a:ext cx="299065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3143931-6562-4CB4-C59E-EAE6C5B5F8C9}"/>
                  </a:ext>
                </a:extLst>
              </p:cNvPr>
              <p:cNvSpPr txBox="1"/>
              <p:nvPr/>
            </p:nvSpPr>
            <p:spPr>
              <a:xfrm>
                <a:off x="6544992" y="5707666"/>
                <a:ext cx="299065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3143931-6562-4CB4-C59E-EAE6C5B5F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992" y="5707666"/>
                <a:ext cx="299065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9833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9C6B35-65C5-23F9-E94A-7DBB10920461}"/>
              </a:ext>
            </a:extLst>
          </p:cNvPr>
          <p:cNvSpPr txBox="1"/>
          <p:nvPr/>
        </p:nvSpPr>
        <p:spPr>
          <a:xfrm>
            <a:off x="317327" y="82302"/>
            <a:ext cx="3896809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Homogeneous Linear System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0F127-7C7F-FE57-ED80-284FDCC8E364}"/>
              </a:ext>
            </a:extLst>
          </p:cNvPr>
          <p:cNvSpPr txBox="1"/>
          <p:nvPr/>
        </p:nvSpPr>
        <p:spPr>
          <a:xfrm>
            <a:off x="317326" y="1445284"/>
            <a:ext cx="38968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homogeneous system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all constant terms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equal to zero</a:t>
            </a:r>
            <a:endParaRPr 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C7F5B8-ECB6-F4B8-4F9D-4F20A94DEA50}"/>
                  </a:ext>
                </a:extLst>
              </p:cNvPr>
              <p:cNvSpPr txBox="1"/>
              <p:nvPr/>
            </p:nvSpPr>
            <p:spPr>
              <a:xfrm>
                <a:off x="409484" y="3066130"/>
                <a:ext cx="299550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C7F5B8-ECB6-F4B8-4F9D-4F20A94DE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84" y="3066130"/>
                <a:ext cx="2995502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42767B-5532-6353-690D-0678B8556E48}"/>
                  </a:ext>
                </a:extLst>
              </p:cNvPr>
              <p:cNvSpPr txBox="1"/>
              <p:nvPr/>
            </p:nvSpPr>
            <p:spPr>
              <a:xfrm>
                <a:off x="414334" y="3686536"/>
                <a:ext cx="299065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42767B-5532-6353-690D-0678B8556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34" y="3686536"/>
                <a:ext cx="299065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F4F94D-CAE4-7322-F435-D126E41CE819}"/>
                  </a:ext>
                </a:extLst>
              </p:cNvPr>
              <p:cNvSpPr txBox="1"/>
              <p:nvPr/>
            </p:nvSpPr>
            <p:spPr>
              <a:xfrm>
                <a:off x="414334" y="4273157"/>
                <a:ext cx="299065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F4F94D-CAE4-7322-F435-D126E41CE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34" y="4273157"/>
                <a:ext cx="2990652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7C99E37-A2E1-C30A-27BA-C3FE4292F3D5}"/>
                  </a:ext>
                </a:extLst>
              </p:cNvPr>
              <p:cNvSpPr txBox="1"/>
              <p:nvPr/>
            </p:nvSpPr>
            <p:spPr>
              <a:xfrm>
                <a:off x="183630" y="5036508"/>
                <a:ext cx="4030505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system </a:t>
                </a:r>
                <a:r>
                  <a:rPr 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always</a:t>
                </a:r>
                <a:r>
                  <a:rPr lang="en-US" sz="28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the </a:t>
                </a:r>
                <a:r>
                  <a:rPr 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trivial solution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GB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GB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GB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7C99E37-A2E1-C30A-27BA-C3FE4292F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30" y="5036508"/>
                <a:ext cx="4030505" cy="1384995"/>
              </a:xfrm>
              <a:prstGeom prst="rect">
                <a:avLst/>
              </a:prstGeom>
              <a:blipFill>
                <a:blip r:embed="rId5"/>
                <a:stretch>
                  <a:fillRect l="-3026" t="-4405" r="-4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48538DC-F039-C60D-A7FA-5A580568B49C}"/>
              </a:ext>
            </a:extLst>
          </p:cNvPr>
          <p:cNvSpPr txBox="1"/>
          <p:nvPr/>
        </p:nvSpPr>
        <p:spPr>
          <a:xfrm>
            <a:off x="7245281" y="82302"/>
            <a:ext cx="3896809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Non-Homogeneous Linear System</a:t>
            </a:r>
            <a:endParaRPr lang="en-US" sz="3600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F5113B-23DE-8545-D3EB-5C41D0C5305D}"/>
                  </a:ext>
                </a:extLst>
              </p:cNvPr>
              <p:cNvSpPr txBox="1"/>
              <p:nvPr/>
            </p:nvSpPr>
            <p:spPr>
              <a:xfrm>
                <a:off x="7337438" y="3066130"/>
                <a:ext cx="299550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F5113B-23DE-8545-D3EB-5C41D0C53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7438" y="3066130"/>
                <a:ext cx="299550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E21869-D95B-3AA7-578F-BEF5586E239B}"/>
                  </a:ext>
                </a:extLst>
              </p:cNvPr>
              <p:cNvSpPr txBox="1"/>
              <p:nvPr/>
            </p:nvSpPr>
            <p:spPr>
              <a:xfrm>
                <a:off x="7342288" y="3686536"/>
                <a:ext cx="299065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E21869-D95B-3AA7-578F-BEF5586E2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2288" y="3686536"/>
                <a:ext cx="2990652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700A4C-E901-4D1C-29C4-D81D9C3B74B3}"/>
                  </a:ext>
                </a:extLst>
              </p:cNvPr>
              <p:cNvSpPr txBox="1"/>
              <p:nvPr/>
            </p:nvSpPr>
            <p:spPr>
              <a:xfrm>
                <a:off x="7342288" y="4273157"/>
                <a:ext cx="2990652" cy="43088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700A4C-E901-4D1C-29C4-D81D9C3B7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2288" y="4273157"/>
                <a:ext cx="2990652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306BA4B-0BD7-69A7-4FD8-161FC6A012A6}"/>
              </a:ext>
            </a:extLst>
          </p:cNvPr>
          <p:cNvSpPr txBox="1"/>
          <p:nvPr/>
        </p:nvSpPr>
        <p:spPr>
          <a:xfrm>
            <a:off x="7245281" y="1472150"/>
            <a:ext cx="479182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non-homogeneous system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at least one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nonzero constant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the right-hand side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A3713A0-52ED-A8C1-D5DA-AE1478994649}"/>
              </a:ext>
            </a:extLst>
          </p:cNvPr>
          <p:cNvCxnSpPr>
            <a:cxnSpLocks/>
          </p:cNvCxnSpPr>
          <p:nvPr/>
        </p:nvCxnSpPr>
        <p:spPr>
          <a:xfrm>
            <a:off x="5536361" y="82302"/>
            <a:ext cx="0" cy="6588321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487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3" grpId="0"/>
      <p:bldP spid="14" grpId="0" animBg="1"/>
      <p:bldP spid="16" grpId="0" animBg="1"/>
      <p:bldP spid="17" grpId="0" animBg="1"/>
      <p:bldP spid="18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C2A2EA-236A-85AE-525C-35FFD8FE1E4D}"/>
              </a:ext>
            </a:extLst>
          </p:cNvPr>
          <p:cNvSpPr txBox="1"/>
          <p:nvPr/>
        </p:nvSpPr>
        <p:spPr>
          <a:xfrm>
            <a:off x="390378" y="1131872"/>
            <a:ext cx="10934114" cy="19216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the linear system has no solution, it is said to be </a:t>
            </a:r>
            <a:r>
              <a:rPr lang="en-US" sz="32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inconsistent</a:t>
            </a:r>
            <a:r>
              <a:rPr lang="en-US" sz="3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if it has a solution. it is called </a:t>
            </a:r>
            <a:r>
              <a:rPr lang="en-US" sz="32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consistent.</a:t>
            </a:r>
            <a:endParaRPr lang="en-US" sz="32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B77273-9776-432D-BB4C-C178C22B1640}"/>
              </a:ext>
            </a:extLst>
          </p:cNvPr>
          <p:cNvSpPr txBox="1"/>
          <p:nvPr/>
        </p:nvSpPr>
        <p:spPr>
          <a:xfrm>
            <a:off x="390378" y="145925"/>
            <a:ext cx="10118188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Consistent and Inconsistent Linear System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76B834-A6F5-CD05-07A3-B959B1EC5492}"/>
              </a:ext>
            </a:extLst>
          </p:cNvPr>
          <p:cNvSpPr txBox="1"/>
          <p:nvPr/>
        </p:nvSpPr>
        <p:spPr>
          <a:xfrm>
            <a:off x="390378" y="3698104"/>
            <a:ext cx="11286960" cy="29065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consistent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linear system of two equations in two unknowns has either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one solution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infinitely many solutions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--there are no other possibilities.</a:t>
            </a: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009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43CCAC-2F7F-512B-F348-3BFC3F266E81}"/>
              </a:ext>
            </a:extLst>
          </p:cNvPr>
          <p:cNvSpPr txBox="1"/>
          <p:nvPr/>
        </p:nvSpPr>
        <p:spPr>
          <a:xfrm>
            <a:off x="91716" y="23286"/>
            <a:ext cx="718097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 System with Two Variables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8A2A40-B2D2-D115-C50F-7B93278CA5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550"/>
          <a:stretch/>
        </p:blipFill>
        <p:spPr>
          <a:xfrm>
            <a:off x="926509" y="1553057"/>
            <a:ext cx="2600327" cy="261507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E74360-8AE6-1F41-B6D3-CE37D26F83ED}"/>
              </a:ext>
            </a:extLst>
          </p:cNvPr>
          <p:cNvCxnSpPr>
            <a:cxnSpLocks/>
          </p:cNvCxnSpPr>
          <p:nvPr/>
        </p:nvCxnSpPr>
        <p:spPr>
          <a:xfrm>
            <a:off x="3699755" y="868459"/>
            <a:ext cx="2564" cy="4446321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E7E39C9-928A-6CD3-C176-FA22DF73CC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68"/>
          <a:stretch/>
        </p:blipFill>
        <p:spPr>
          <a:xfrm>
            <a:off x="4629003" y="1660590"/>
            <a:ext cx="2643690" cy="260416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7F769C-A0DC-35C3-572E-FA2EF3BEDF12}"/>
              </a:ext>
            </a:extLst>
          </p:cNvPr>
          <p:cNvCxnSpPr>
            <a:cxnSpLocks/>
          </p:cNvCxnSpPr>
          <p:nvPr/>
        </p:nvCxnSpPr>
        <p:spPr>
          <a:xfrm>
            <a:off x="7616048" y="418757"/>
            <a:ext cx="0" cy="6462181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E9A79D7-3793-65E2-B7E5-DB6A244406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423"/>
          <a:stretch/>
        </p:blipFill>
        <p:spPr>
          <a:xfrm>
            <a:off x="8014350" y="1824643"/>
            <a:ext cx="2538414" cy="21794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D7740B-6BA6-E92C-B4E1-080A74DA7669}"/>
              </a:ext>
            </a:extLst>
          </p:cNvPr>
          <p:cNvSpPr txBox="1"/>
          <p:nvPr/>
        </p:nvSpPr>
        <p:spPr>
          <a:xfrm>
            <a:off x="4192505" y="3659192"/>
            <a:ext cx="2659732" cy="369332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 b="1" i="0" u="none" strike="noStrike" baseline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l"/>
            <a:r>
              <a:rPr lang="en-US" sz="1800" dirty="0">
                <a:solidFill>
                  <a:schemeClr val="bg1"/>
                </a:solidFill>
              </a:rPr>
              <a:t>Infinitely many solutions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2056B7-BFA0-F295-86CA-59DA747F5624}"/>
              </a:ext>
            </a:extLst>
          </p:cNvPr>
          <p:cNvSpPr txBox="1"/>
          <p:nvPr/>
        </p:nvSpPr>
        <p:spPr>
          <a:xfrm>
            <a:off x="1442469" y="3694519"/>
            <a:ext cx="1965424" cy="369332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Solution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7A14A7-4B66-699F-89AF-5A9784F946F6}"/>
              </a:ext>
            </a:extLst>
          </p:cNvPr>
          <p:cNvSpPr txBox="1"/>
          <p:nvPr/>
        </p:nvSpPr>
        <p:spPr>
          <a:xfrm>
            <a:off x="4398203" y="4063846"/>
            <a:ext cx="2061560" cy="369332"/>
          </a:xfrm>
          <a:prstGeom prst="rect">
            <a:avLst/>
          </a:prstGeom>
          <a:solidFill>
            <a:srgbClr val="99CC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 b="1" i="0" u="none" strike="noStrike" baseline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l"/>
            <a:r>
              <a:rPr lang="en-US" sz="1800" dirty="0">
                <a:solidFill>
                  <a:schemeClr val="tx1"/>
                </a:solidFill>
              </a:rPr>
              <a:t>(Coincident lines)</a:t>
            </a:r>
            <a:endParaRPr lang="en-PK" sz="18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C0731A-2D20-F803-46FC-527EC5051FB8}"/>
              </a:ext>
            </a:extLst>
          </p:cNvPr>
          <p:cNvSpPr txBox="1"/>
          <p:nvPr/>
        </p:nvSpPr>
        <p:spPr>
          <a:xfrm>
            <a:off x="7897115" y="3567441"/>
            <a:ext cx="2659732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 b="1" i="0" u="none" strike="noStrike" baseline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No Solution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65C850-E28A-6E10-8837-12730FA8BDB9}"/>
              </a:ext>
            </a:extLst>
          </p:cNvPr>
          <p:cNvSpPr txBox="1"/>
          <p:nvPr/>
        </p:nvSpPr>
        <p:spPr>
          <a:xfrm>
            <a:off x="8163815" y="3995873"/>
            <a:ext cx="2061560" cy="369332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 b="1" i="0" u="none" strike="noStrike" baseline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(Parallel lines)</a:t>
            </a:r>
            <a:endParaRPr lang="en-PK" sz="18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CDDDEE-37E3-4778-078B-E1541FA1BBC9}"/>
              </a:ext>
            </a:extLst>
          </p:cNvPr>
          <p:cNvSpPr txBox="1"/>
          <p:nvPr/>
        </p:nvSpPr>
        <p:spPr>
          <a:xfrm>
            <a:off x="1349210" y="4108511"/>
            <a:ext cx="2061558" cy="369332"/>
          </a:xfrm>
          <a:prstGeom prst="rect">
            <a:avLst/>
          </a:prstGeom>
          <a:solidFill>
            <a:srgbClr val="99FF9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(Intersecting lines)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D63207B-5057-C90D-8290-EC2AF87895C0}"/>
                  </a:ext>
                </a:extLst>
              </p:cNvPr>
              <p:cNvSpPr txBox="1"/>
              <p:nvPr/>
            </p:nvSpPr>
            <p:spPr>
              <a:xfrm>
                <a:off x="1285886" y="944658"/>
                <a:ext cx="163047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D63207B-5057-C90D-8290-EC2AF8789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86" y="944658"/>
                <a:ext cx="1630478" cy="307777"/>
              </a:xfrm>
              <a:prstGeom prst="rect">
                <a:avLst/>
              </a:prstGeom>
              <a:blipFill>
                <a:blip r:embed="rId5"/>
                <a:stretch>
                  <a:fillRect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50279C-9A49-F300-14F9-F126877B7796}"/>
                  </a:ext>
                </a:extLst>
              </p:cNvPr>
              <p:cNvSpPr txBox="1"/>
              <p:nvPr/>
            </p:nvSpPr>
            <p:spPr>
              <a:xfrm>
                <a:off x="1285886" y="1276058"/>
                <a:ext cx="163047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50279C-9A49-F300-14F9-F126877B7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886" y="1276058"/>
                <a:ext cx="1630478" cy="307777"/>
              </a:xfrm>
              <a:prstGeom prst="rect">
                <a:avLst/>
              </a:prstGeom>
              <a:blipFill>
                <a:blip r:embed="rId6"/>
                <a:stretch>
                  <a:fillRect l="-2996" r="-2622" b="-31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B94E6A8-3145-3C51-E0E5-3D8D6337EAF1}"/>
                  </a:ext>
                </a:extLst>
              </p:cNvPr>
              <p:cNvSpPr txBox="1"/>
              <p:nvPr/>
            </p:nvSpPr>
            <p:spPr>
              <a:xfrm>
                <a:off x="4879065" y="868458"/>
                <a:ext cx="163047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PK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B94E6A8-3145-3C51-E0E5-3D8D6337E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065" y="868458"/>
                <a:ext cx="1630478" cy="307777"/>
              </a:xfrm>
              <a:prstGeom prst="rect">
                <a:avLst/>
              </a:prstGeom>
              <a:blipFill>
                <a:blip r:embed="rId7"/>
                <a:stretch>
                  <a:fillRect b="-31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063F44F-4BBC-50D0-478B-1815B34B5AAA}"/>
                  </a:ext>
                </a:extLst>
              </p:cNvPr>
              <p:cNvSpPr txBox="1"/>
              <p:nvPr/>
            </p:nvSpPr>
            <p:spPr>
              <a:xfrm>
                <a:off x="4879065" y="1199858"/>
                <a:ext cx="163047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PK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063F44F-4BBC-50D0-478B-1815B34B5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065" y="1199858"/>
                <a:ext cx="1630478" cy="307777"/>
              </a:xfrm>
              <a:prstGeom prst="rect">
                <a:avLst/>
              </a:prstGeom>
              <a:blipFill>
                <a:blip r:embed="rId8"/>
                <a:stretch>
                  <a:fillRect l="-2612" r="-2612"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38DA81-D5CF-2667-8C36-25D87D4BD6AA}"/>
                  </a:ext>
                </a:extLst>
              </p:cNvPr>
              <p:cNvSpPr txBox="1"/>
              <p:nvPr/>
            </p:nvSpPr>
            <p:spPr>
              <a:xfrm>
                <a:off x="8254345" y="792258"/>
                <a:ext cx="163047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PK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38DA81-D5CF-2667-8C36-25D87D4BD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4345" y="792258"/>
                <a:ext cx="1630478" cy="307777"/>
              </a:xfrm>
              <a:prstGeom prst="rect">
                <a:avLst/>
              </a:prstGeom>
              <a:blipFill>
                <a:blip r:embed="rId9"/>
                <a:stretch>
                  <a:fillRect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58AB5B-1F6F-F140-D7F8-602791809E02}"/>
                  </a:ext>
                </a:extLst>
              </p:cNvPr>
              <p:cNvSpPr txBox="1"/>
              <p:nvPr/>
            </p:nvSpPr>
            <p:spPr>
              <a:xfrm>
                <a:off x="8254345" y="1123658"/>
                <a:ext cx="163047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</m:oMath>
                  </m:oMathPara>
                </a14:m>
                <a:endParaRPr lang="en-PK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58AB5B-1F6F-F140-D7F8-602791809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4345" y="1123658"/>
                <a:ext cx="1630478" cy="307777"/>
              </a:xfrm>
              <a:prstGeom prst="rect">
                <a:avLst/>
              </a:prstGeom>
              <a:blipFill>
                <a:blip r:embed="rId10"/>
                <a:stretch>
                  <a:fillRect l="-2612" r="-2612" b="-31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62F319-FC7A-9A00-A6F5-EFA96632EAD7}"/>
                  </a:ext>
                </a:extLst>
              </p:cNvPr>
              <p:cNvSpPr txBox="1"/>
              <p:nvPr/>
            </p:nvSpPr>
            <p:spPr>
              <a:xfrm>
                <a:off x="8101588" y="4514446"/>
                <a:ext cx="2271593" cy="4308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𝐜𝐨𝐧𝐬𝐭𝐚𝐧𝐭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62F319-FC7A-9A00-A6F5-EFA96632E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588" y="4514446"/>
                <a:ext cx="2271593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97104CA-EA83-E42B-A358-CF5F6017BAD2}"/>
                  </a:ext>
                </a:extLst>
              </p:cNvPr>
              <p:cNvSpPr txBox="1"/>
              <p:nvPr/>
            </p:nvSpPr>
            <p:spPr>
              <a:xfrm>
                <a:off x="7839848" y="5021878"/>
                <a:ext cx="3117951" cy="369332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prstDash val="sysDash"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𝐈𝐧𝐜𝐨𝐧𝐬𝐢𝐬𝐭𝐞𝐧𝐭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𝐒𝐲𝐬𝐭𝐞𝐦</m:t>
                      </m:r>
                    </m:oMath>
                  </m:oMathPara>
                </a14:m>
                <a:endParaRPr lang="en-PK" sz="2400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97104CA-EA83-E42B-A358-CF5F6017B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9848" y="5021878"/>
                <a:ext cx="3117951" cy="369332"/>
              </a:xfrm>
              <a:prstGeom prst="rect">
                <a:avLst/>
              </a:prstGeom>
              <a:blipFill>
                <a:blip r:embed="rId12"/>
                <a:stretch>
                  <a:fillRect b="-27273"/>
                </a:stretch>
              </a:blipFill>
              <a:ln w="38100">
                <a:solidFill>
                  <a:srgbClr val="FF0000"/>
                </a:solidFill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ight Brace 24">
            <a:extLst>
              <a:ext uri="{FF2B5EF4-FFF2-40B4-BE49-F238E27FC236}">
                <a16:creationId xmlns:a16="http://schemas.microsoft.com/office/drawing/2014/main" id="{D3EAEB33-56EB-79EA-A1EC-0694438570B9}"/>
              </a:ext>
            </a:extLst>
          </p:cNvPr>
          <p:cNvSpPr/>
          <p:nvPr/>
        </p:nvSpPr>
        <p:spPr>
          <a:xfrm rot="5400000">
            <a:off x="3999661" y="3586555"/>
            <a:ext cx="964505" cy="5469290"/>
          </a:xfrm>
          <a:prstGeom prst="rightBrac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0EA018-A39B-96B3-B7BA-CE635962C2F8}"/>
                  </a:ext>
                </a:extLst>
              </p:cNvPr>
              <p:cNvSpPr txBox="1"/>
              <p:nvPr/>
            </p:nvSpPr>
            <p:spPr>
              <a:xfrm>
                <a:off x="2788191" y="5552963"/>
                <a:ext cx="2659729" cy="369332"/>
              </a:xfrm>
              <a:prstGeom prst="rect">
                <a:avLst/>
              </a:prstGeom>
              <a:noFill/>
              <a:ln w="38100">
                <a:solidFill>
                  <a:srgbClr val="FF00FF"/>
                </a:solidFill>
                <a:prstDash val="solid"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400" b="1" dirty="0"/>
                  <a:t>C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𝐨𝐧𝐬𝐢𝐬𝐭𝐞𝐧𝐭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𝐒𝐲𝐬𝐭𝐞𝐦</m:t>
                    </m:r>
                  </m:oMath>
                </a14:m>
                <a:endParaRPr lang="en-PK" sz="24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0EA018-A39B-96B3-B7BA-CE635962C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191" y="5552963"/>
                <a:ext cx="2659729" cy="369332"/>
              </a:xfrm>
              <a:prstGeom prst="rect">
                <a:avLst/>
              </a:prstGeom>
              <a:blipFill>
                <a:blip r:embed="rId13"/>
                <a:stretch>
                  <a:fillRect l="-6095" t="-19403" r="-1806" b="-38806"/>
                </a:stretch>
              </a:blipFill>
              <a:ln w="38100">
                <a:solidFill>
                  <a:srgbClr val="FF00FF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B03EF88-4E95-647C-428C-39051DA089E7}"/>
                  </a:ext>
                </a:extLst>
              </p:cNvPr>
              <p:cNvSpPr txBox="1"/>
              <p:nvPr/>
            </p:nvSpPr>
            <p:spPr>
              <a:xfrm>
                <a:off x="4944295" y="4514446"/>
                <a:ext cx="944923" cy="430887"/>
              </a:xfrm>
              <a:prstGeom prst="rect">
                <a:avLst/>
              </a:prstGeom>
              <a:noFill/>
              <a:ln w="38100">
                <a:solidFill>
                  <a:srgbClr val="0000FF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800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B03EF88-4E95-647C-428C-39051DA08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295" y="4514446"/>
                <a:ext cx="944923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38100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856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D4435F-1260-99D7-F9E5-9A9692006E98}"/>
                  </a:ext>
                </a:extLst>
              </p:cNvPr>
              <p:cNvSpPr txBox="1"/>
              <p:nvPr/>
            </p:nvSpPr>
            <p:spPr>
              <a:xfrm>
                <a:off x="91716" y="792536"/>
                <a:ext cx="249163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D4435F-1260-99D7-F9E5-9A9692006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6" y="792536"/>
                <a:ext cx="2491636" cy="307777"/>
              </a:xfrm>
              <a:prstGeom prst="rect">
                <a:avLst/>
              </a:prstGeom>
              <a:blipFill>
                <a:blip r:embed="rId2"/>
                <a:stretch>
                  <a:fillRect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924720-DF16-EE4A-4B77-404C6F141B7B}"/>
                  </a:ext>
                </a:extLst>
              </p:cNvPr>
              <p:cNvSpPr txBox="1"/>
              <p:nvPr/>
            </p:nvSpPr>
            <p:spPr>
              <a:xfrm>
                <a:off x="86674" y="1192454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924720-DF16-EE4A-4B77-404C6F141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4" y="1192454"/>
                <a:ext cx="2331787" cy="307777"/>
              </a:xfrm>
              <a:prstGeom prst="rect">
                <a:avLst/>
              </a:prstGeom>
              <a:blipFill>
                <a:blip r:embed="rId3"/>
                <a:stretch>
                  <a:fillRect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0353CC-6761-F12C-7922-956E9232EB0F}"/>
                  </a:ext>
                </a:extLst>
              </p:cNvPr>
              <p:cNvSpPr txBox="1"/>
              <p:nvPr/>
            </p:nvSpPr>
            <p:spPr>
              <a:xfrm>
                <a:off x="66710" y="1584699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0353CC-6761-F12C-7922-956E9232E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0" y="1584699"/>
                <a:ext cx="2331787" cy="307777"/>
              </a:xfrm>
              <a:prstGeom prst="rect">
                <a:avLst/>
              </a:prstGeom>
              <a:blipFill>
                <a:blip r:embed="rId4"/>
                <a:stretch>
                  <a:fillRect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B7ED0CE-8A4E-54EC-1F24-2974871483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0" y="2376862"/>
            <a:ext cx="2255701" cy="26148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63073DA-6DE9-C281-41C1-F7A735FFA13D}"/>
              </a:ext>
            </a:extLst>
          </p:cNvPr>
          <p:cNvCxnSpPr>
            <a:cxnSpLocks/>
          </p:cNvCxnSpPr>
          <p:nvPr/>
        </p:nvCxnSpPr>
        <p:spPr>
          <a:xfrm>
            <a:off x="2605474" y="792536"/>
            <a:ext cx="0" cy="5728185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EB6581-FB68-5C0B-119A-A8703A468DC5}"/>
                  </a:ext>
                </a:extLst>
              </p:cNvPr>
              <p:cNvSpPr txBox="1"/>
              <p:nvPr/>
            </p:nvSpPr>
            <p:spPr>
              <a:xfrm>
                <a:off x="2822417" y="944936"/>
                <a:ext cx="249163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EB6581-FB68-5C0B-119A-A8703A468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417" y="944936"/>
                <a:ext cx="2491636" cy="307777"/>
              </a:xfrm>
              <a:prstGeom prst="rect">
                <a:avLst/>
              </a:prstGeom>
              <a:blipFill>
                <a:blip r:embed="rId6"/>
                <a:stretch>
                  <a:fillRect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9AE40E4-7550-BB55-E94F-E10BCF414805}"/>
                  </a:ext>
                </a:extLst>
              </p:cNvPr>
              <p:cNvSpPr txBox="1"/>
              <p:nvPr/>
            </p:nvSpPr>
            <p:spPr>
              <a:xfrm>
                <a:off x="2862345" y="1344854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9AE40E4-7550-BB55-E94F-E10BCF414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345" y="1344854"/>
                <a:ext cx="2331787" cy="307777"/>
              </a:xfrm>
              <a:prstGeom prst="rect">
                <a:avLst/>
              </a:prstGeom>
              <a:blipFill>
                <a:blip r:embed="rId7"/>
                <a:stretch>
                  <a:fillRect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8818A2-96CF-F00B-8DB3-F9225D9D81FD}"/>
                  </a:ext>
                </a:extLst>
              </p:cNvPr>
              <p:cNvSpPr txBox="1"/>
              <p:nvPr/>
            </p:nvSpPr>
            <p:spPr>
              <a:xfrm>
                <a:off x="2842381" y="1737099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8818A2-96CF-F00B-8DB3-F9225D9D8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81" y="1737099"/>
                <a:ext cx="2331787" cy="307777"/>
              </a:xfrm>
              <a:prstGeom prst="rect">
                <a:avLst/>
              </a:prstGeom>
              <a:blipFill>
                <a:blip r:embed="rId8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9A590FFF-BAFC-783A-D48A-4F158BC2DD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3078" y="2480246"/>
            <a:ext cx="2255701" cy="265799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3D6CB7C-A867-3424-300F-530E6E2CF5C0}"/>
              </a:ext>
            </a:extLst>
          </p:cNvPr>
          <p:cNvCxnSpPr>
            <a:cxnSpLocks/>
          </p:cNvCxnSpPr>
          <p:nvPr/>
        </p:nvCxnSpPr>
        <p:spPr>
          <a:xfrm>
            <a:off x="5306202" y="810026"/>
            <a:ext cx="0" cy="5728185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68E3E55-EF8A-FB01-BEE2-E6DB45547C40}"/>
                  </a:ext>
                </a:extLst>
              </p:cNvPr>
              <p:cNvSpPr txBox="1"/>
              <p:nvPr/>
            </p:nvSpPr>
            <p:spPr>
              <a:xfrm>
                <a:off x="5570923" y="944936"/>
                <a:ext cx="249163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68E3E55-EF8A-FB01-BEE2-E6DB45547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923" y="944936"/>
                <a:ext cx="2491636" cy="307777"/>
              </a:xfrm>
              <a:prstGeom prst="rect">
                <a:avLst/>
              </a:prstGeom>
              <a:blipFill>
                <a:blip r:embed="rId10"/>
                <a:stretch>
                  <a:fillRect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A5CB98-9D3E-8B59-3747-EDA8FB49C245}"/>
                  </a:ext>
                </a:extLst>
              </p:cNvPr>
              <p:cNvSpPr txBox="1"/>
              <p:nvPr/>
            </p:nvSpPr>
            <p:spPr>
              <a:xfrm>
                <a:off x="5610851" y="1344854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A5CB98-9D3E-8B59-3747-EDA8FB49C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851" y="1344854"/>
                <a:ext cx="2331787" cy="307777"/>
              </a:xfrm>
              <a:prstGeom prst="rect">
                <a:avLst/>
              </a:prstGeom>
              <a:blipFill>
                <a:blip r:embed="rId11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5F0DDA1-251F-21F1-98B0-C4046C82DD45}"/>
                  </a:ext>
                </a:extLst>
              </p:cNvPr>
              <p:cNvSpPr txBox="1"/>
              <p:nvPr/>
            </p:nvSpPr>
            <p:spPr>
              <a:xfrm>
                <a:off x="5590887" y="1737099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5F0DDA1-251F-21F1-98B0-C4046C82D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887" y="1737099"/>
                <a:ext cx="2331787" cy="307777"/>
              </a:xfrm>
              <a:prstGeom prst="rect">
                <a:avLst/>
              </a:prstGeom>
              <a:blipFill>
                <a:blip r:embed="rId12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BB2107-6409-0AFB-7311-3265787B5EFE}"/>
              </a:ext>
            </a:extLst>
          </p:cNvPr>
          <p:cNvCxnSpPr>
            <a:cxnSpLocks/>
          </p:cNvCxnSpPr>
          <p:nvPr/>
        </p:nvCxnSpPr>
        <p:spPr>
          <a:xfrm>
            <a:off x="8054708" y="810026"/>
            <a:ext cx="0" cy="5728185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933C9FEA-1A43-8925-B193-EF84C4B4632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21237" y="2566466"/>
            <a:ext cx="2453530" cy="26579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472AA5-4A83-CE68-6D22-8E17DE49EDDE}"/>
                  </a:ext>
                </a:extLst>
              </p:cNvPr>
              <p:cNvSpPr txBox="1"/>
              <p:nvPr/>
            </p:nvSpPr>
            <p:spPr>
              <a:xfrm>
                <a:off x="8556461" y="1037376"/>
                <a:ext cx="249163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472AA5-4A83-CE68-6D22-8E17DE49E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461" y="1037376"/>
                <a:ext cx="2491636" cy="307777"/>
              </a:xfrm>
              <a:prstGeom prst="rect">
                <a:avLst/>
              </a:prstGeom>
              <a:blipFill>
                <a:blip r:embed="rId14"/>
                <a:stretch>
                  <a:fillRect b="-31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CAFF2A-D796-75BE-1C0A-0B7C0011983B}"/>
                  </a:ext>
                </a:extLst>
              </p:cNvPr>
              <p:cNvSpPr txBox="1"/>
              <p:nvPr/>
            </p:nvSpPr>
            <p:spPr>
              <a:xfrm>
                <a:off x="8596389" y="1437294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CAFF2A-D796-75BE-1C0A-0B7C00119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389" y="1437294"/>
                <a:ext cx="2331787" cy="307777"/>
              </a:xfrm>
              <a:prstGeom prst="rect">
                <a:avLst/>
              </a:prstGeom>
              <a:blipFill>
                <a:blip r:embed="rId15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DC5C7E-553C-BAF7-9B84-F04A05EB240F}"/>
                  </a:ext>
                </a:extLst>
              </p:cNvPr>
              <p:cNvSpPr txBox="1"/>
              <p:nvPr/>
            </p:nvSpPr>
            <p:spPr>
              <a:xfrm>
                <a:off x="8576425" y="1829539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DC5C7E-553C-BAF7-9B84-F04A05EB2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425" y="1829539"/>
                <a:ext cx="2331787" cy="307777"/>
              </a:xfrm>
              <a:prstGeom prst="rect">
                <a:avLst/>
              </a:prstGeom>
              <a:blipFill>
                <a:blip r:embed="rId16"/>
                <a:stretch>
                  <a:fillRect b="-31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2D4A545B-C4C8-DB54-D5A6-89C58AABDBB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24339" y="2653423"/>
            <a:ext cx="2223758" cy="262546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53C0364-9DF6-9634-CF0C-FDBF20EA799F}"/>
              </a:ext>
            </a:extLst>
          </p:cNvPr>
          <p:cNvSpPr/>
          <p:nvPr/>
        </p:nvSpPr>
        <p:spPr>
          <a:xfrm>
            <a:off x="0" y="31101"/>
            <a:ext cx="12191999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System (inconsistent) in three variables</a:t>
            </a:r>
          </a:p>
        </p:txBody>
      </p:sp>
    </p:spTree>
    <p:extLst>
      <p:ext uri="{BB962C8B-B14F-4D97-AF65-F5344CB8AC3E}">
        <p14:creationId xmlns:p14="http://schemas.microsoft.com/office/powerpoint/2010/main" val="1061414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2" grpId="0"/>
      <p:bldP spid="13" grpId="0"/>
      <p:bldP spid="14" grpId="0"/>
      <p:bldP spid="17" grpId="0"/>
      <p:bldP spid="18" grpId="0"/>
      <p:bldP spid="19" grpId="0"/>
      <p:bldP spid="22" grpId="0"/>
      <p:bldP spid="23" grpId="0"/>
      <p:bldP spid="2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F57DD-D351-96D8-D979-897E9D268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A2D63F-DA15-59AC-1A6F-BC203F9564C1}"/>
                  </a:ext>
                </a:extLst>
              </p:cNvPr>
              <p:cNvSpPr txBox="1"/>
              <p:nvPr/>
            </p:nvSpPr>
            <p:spPr>
              <a:xfrm>
                <a:off x="91716" y="792536"/>
                <a:ext cx="249163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A2D63F-DA15-59AC-1A6F-BC203F956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6" y="792536"/>
                <a:ext cx="2491636" cy="307777"/>
              </a:xfrm>
              <a:prstGeom prst="rect">
                <a:avLst/>
              </a:prstGeom>
              <a:blipFill>
                <a:blip r:embed="rId2"/>
                <a:stretch>
                  <a:fillRect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58C882-384C-9B5E-2EEA-F8476BAC6EB8}"/>
                  </a:ext>
                </a:extLst>
              </p:cNvPr>
              <p:cNvSpPr txBox="1"/>
              <p:nvPr/>
            </p:nvSpPr>
            <p:spPr>
              <a:xfrm>
                <a:off x="86674" y="1192454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58C882-384C-9B5E-2EEA-F8476BAC6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4" y="1192454"/>
                <a:ext cx="2331787" cy="307777"/>
              </a:xfrm>
              <a:prstGeom prst="rect">
                <a:avLst/>
              </a:prstGeom>
              <a:blipFill>
                <a:blip r:embed="rId3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F23140-8AAA-209C-64B9-DB6D9E2123ED}"/>
                  </a:ext>
                </a:extLst>
              </p:cNvPr>
              <p:cNvSpPr txBox="1"/>
              <p:nvPr/>
            </p:nvSpPr>
            <p:spPr>
              <a:xfrm>
                <a:off x="66710" y="1584699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F23140-8AAA-209C-64B9-DB6D9E212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0" y="1584699"/>
                <a:ext cx="2331787" cy="307777"/>
              </a:xfrm>
              <a:prstGeom prst="rect">
                <a:avLst/>
              </a:prstGeom>
              <a:blipFill>
                <a:blip r:embed="rId4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1F4251D-B46D-22D8-312C-9EF3C80A8C59}"/>
              </a:ext>
            </a:extLst>
          </p:cNvPr>
          <p:cNvCxnSpPr>
            <a:cxnSpLocks/>
          </p:cNvCxnSpPr>
          <p:nvPr/>
        </p:nvCxnSpPr>
        <p:spPr>
          <a:xfrm>
            <a:off x="2605474" y="792536"/>
            <a:ext cx="0" cy="5728185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BC8010-B7C7-D6B6-481D-A873925BE880}"/>
                  </a:ext>
                </a:extLst>
              </p:cNvPr>
              <p:cNvSpPr txBox="1"/>
              <p:nvPr/>
            </p:nvSpPr>
            <p:spPr>
              <a:xfrm>
                <a:off x="2822417" y="944936"/>
                <a:ext cx="249163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BC8010-B7C7-D6B6-481D-A873925BE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417" y="944936"/>
                <a:ext cx="2491636" cy="307777"/>
              </a:xfrm>
              <a:prstGeom prst="rect">
                <a:avLst/>
              </a:prstGeom>
              <a:blipFill>
                <a:blip r:embed="rId5"/>
                <a:stretch>
                  <a:fillRect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AA277A-880C-EBCD-FB2B-CC6902252453}"/>
                  </a:ext>
                </a:extLst>
              </p:cNvPr>
              <p:cNvSpPr txBox="1"/>
              <p:nvPr/>
            </p:nvSpPr>
            <p:spPr>
              <a:xfrm>
                <a:off x="2862345" y="1344854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AA277A-880C-EBCD-FB2B-CC6902252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345" y="1344854"/>
                <a:ext cx="2331787" cy="307777"/>
              </a:xfrm>
              <a:prstGeom prst="rect">
                <a:avLst/>
              </a:prstGeom>
              <a:blipFill>
                <a:blip r:embed="rId6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4E90A5-B614-EA32-EC95-3F4986491D84}"/>
                  </a:ext>
                </a:extLst>
              </p:cNvPr>
              <p:cNvSpPr txBox="1"/>
              <p:nvPr/>
            </p:nvSpPr>
            <p:spPr>
              <a:xfrm>
                <a:off x="2842381" y="1737099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4E90A5-B614-EA32-EC95-3F4986491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81" y="1737099"/>
                <a:ext cx="2331787" cy="307777"/>
              </a:xfrm>
              <a:prstGeom prst="rect">
                <a:avLst/>
              </a:prstGeom>
              <a:blipFill>
                <a:blip r:embed="rId7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78C357-25FB-7F0C-E384-8C3270D91444}"/>
              </a:ext>
            </a:extLst>
          </p:cNvPr>
          <p:cNvCxnSpPr>
            <a:cxnSpLocks/>
          </p:cNvCxnSpPr>
          <p:nvPr/>
        </p:nvCxnSpPr>
        <p:spPr>
          <a:xfrm>
            <a:off x="5441112" y="810026"/>
            <a:ext cx="0" cy="5728185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DD4EB2-AF03-5DA7-025A-D61E450E465A}"/>
                  </a:ext>
                </a:extLst>
              </p:cNvPr>
              <p:cNvSpPr txBox="1"/>
              <p:nvPr/>
            </p:nvSpPr>
            <p:spPr>
              <a:xfrm>
                <a:off x="5570923" y="944936"/>
                <a:ext cx="249163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DD4EB2-AF03-5DA7-025A-D61E450E4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923" y="944936"/>
                <a:ext cx="2491636" cy="307777"/>
              </a:xfrm>
              <a:prstGeom prst="rect">
                <a:avLst/>
              </a:prstGeom>
              <a:blipFill>
                <a:blip r:embed="rId8"/>
                <a:stretch>
                  <a:fillRect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92622A-6890-C12F-A466-56998B0C1878}"/>
                  </a:ext>
                </a:extLst>
              </p:cNvPr>
              <p:cNvSpPr txBox="1"/>
              <p:nvPr/>
            </p:nvSpPr>
            <p:spPr>
              <a:xfrm>
                <a:off x="5610851" y="1344854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92622A-6890-C12F-A466-56998B0C1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851" y="1344854"/>
                <a:ext cx="2331787" cy="307777"/>
              </a:xfrm>
              <a:prstGeom prst="rect">
                <a:avLst/>
              </a:prstGeom>
              <a:blipFill>
                <a:blip r:embed="rId9"/>
                <a:stretch>
                  <a:fillRect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176A034-C628-1308-FA30-5F5A5EE99B0C}"/>
                  </a:ext>
                </a:extLst>
              </p:cNvPr>
              <p:cNvSpPr txBox="1"/>
              <p:nvPr/>
            </p:nvSpPr>
            <p:spPr>
              <a:xfrm>
                <a:off x="5590887" y="1737099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176A034-C628-1308-FA30-5F5A5EE99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887" y="1737099"/>
                <a:ext cx="2331787" cy="307777"/>
              </a:xfrm>
              <a:prstGeom prst="rect">
                <a:avLst/>
              </a:prstGeom>
              <a:blipFill>
                <a:blip r:embed="rId10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75B068-6F0B-5AEF-20CD-100A8E42A4D0}"/>
              </a:ext>
            </a:extLst>
          </p:cNvPr>
          <p:cNvCxnSpPr>
            <a:cxnSpLocks/>
          </p:cNvCxnSpPr>
          <p:nvPr/>
        </p:nvCxnSpPr>
        <p:spPr>
          <a:xfrm>
            <a:off x="8369498" y="810026"/>
            <a:ext cx="0" cy="5728185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3A8980-1FCA-C3F6-5D2F-00DBD11D8D40}"/>
                  </a:ext>
                </a:extLst>
              </p:cNvPr>
              <p:cNvSpPr txBox="1"/>
              <p:nvPr/>
            </p:nvSpPr>
            <p:spPr>
              <a:xfrm>
                <a:off x="8556461" y="1037376"/>
                <a:ext cx="249163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3A8980-1FCA-C3F6-5D2F-00DBD11D8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461" y="1037376"/>
                <a:ext cx="2491636" cy="307777"/>
              </a:xfrm>
              <a:prstGeom prst="rect">
                <a:avLst/>
              </a:prstGeom>
              <a:blipFill>
                <a:blip r:embed="rId11"/>
                <a:stretch>
                  <a:fillRect b="-25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561A194-A1CF-4B10-C868-F87FCF047258}"/>
                  </a:ext>
                </a:extLst>
              </p:cNvPr>
              <p:cNvSpPr txBox="1"/>
              <p:nvPr/>
            </p:nvSpPr>
            <p:spPr>
              <a:xfrm>
                <a:off x="8596389" y="1437294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561A194-A1CF-4B10-C868-F87FCF047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389" y="1437294"/>
                <a:ext cx="2331787" cy="307777"/>
              </a:xfrm>
              <a:prstGeom prst="rect">
                <a:avLst/>
              </a:prstGeom>
              <a:blipFill>
                <a:blip r:embed="rId12"/>
                <a:stretch>
                  <a:fillRect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E758946-6099-8AA1-D14F-8A75F90D1022}"/>
                  </a:ext>
                </a:extLst>
              </p:cNvPr>
              <p:cNvSpPr txBox="1"/>
              <p:nvPr/>
            </p:nvSpPr>
            <p:spPr>
              <a:xfrm>
                <a:off x="8576425" y="1829539"/>
                <a:ext cx="233178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PK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E758946-6099-8AA1-D14F-8A75F90D1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425" y="1829539"/>
                <a:ext cx="2331787" cy="307777"/>
              </a:xfrm>
              <a:prstGeom prst="rect">
                <a:avLst/>
              </a:prstGeom>
              <a:blipFill>
                <a:blip r:embed="rId13"/>
                <a:stretch>
                  <a:fillRect b="-25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7A8F4781-94DF-96D0-9C7F-0EADBC1C55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703" y="2538425"/>
            <a:ext cx="2436256" cy="28184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D9DDE1-F998-D7FD-3934-B9AB3AD7345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83947" y="2617023"/>
            <a:ext cx="2491636" cy="28961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64B171-3999-EA5B-F05B-7284192758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95659" y="2818152"/>
            <a:ext cx="2784827" cy="26949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512B74-8C03-3002-F61C-F54009149AC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01637" y="2621702"/>
            <a:ext cx="2346460" cy="289144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AF2D449-E0EC-7224-2EB0-5C900294D42E}"/>
              </a:ext>
            </a:extLst>
          </p:cNvPr>
          <p:cNvSpPr/>
          <p:nvPr/>
        </p:nvSpPr>
        <p:spPr>
          <a:xfrm>
            <a:off x="0" y="36750"/>
            <a:ext cx="12191999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System (consistent) in three variables</a:t>
            </a:r>
          </a:p>
        </p:txBody>
      </p:sp>
    </p:spTree>
    <p:extLst>
      <p:ext uri="{BB962C8B-B14F-4D97-AF65-F5344CB8AC3E}">
        <p14:creationId xmlns:p14="http://schemas.microsoft.com/office/powerpoint/2010/main" val="2031527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2" grpId="0"/>
      <p:bldP spid="13" grpId="0"/>
      <p:bldP spid="14" grpId="0"/>
      <p:bldP spid="17" grpId="0"/>
      <p:bldP spid="18" grpId="0"/>
      <p:bldP spid="19" grpId="0"/>
      <p:bldP spid="22" grpId="0"/>
      <p:bldP spid="23" grpId="0"/>
      <p:bldP spid="2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awaii gif. A pink oval shape with a warm smiling face holds out a red heart as yellow text appears. Text, &quot;Thank you.&quot;">
            <a:extLst>
              <a:ext uri="{FF2B5EF4-FFF2-40B4-BE49-F238E27FC236}">
                <a16:creationId xmlns:a16="http://schemas.microsoft.com/office/drawing/2014/main" id="{ACE3A5E4-67FE-C5DB-454C-2953A98C5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319" y="70340"/>
            <a:ext cx="6724357" cy="6724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15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11980</TotalTime>
  <Words>1803</Words>
  <Application>Microsoft Office PowerPoint</Application>
  <PresentationFormat>Widescreen</PresentationFormat>
  <Paragraphs>208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Rafiq Siddiqui</dc:creator>
  <cp:lastModifiedBy>Adnan Rafiq Siddiqui</cp:lastModifiedBy>
  <cp:revision>76</cp:revision>
  <dcterms:created xsi:type="dcterms:W3CDTF">2025-02-25T06:33:15Z</dcterms:created>
  <dcterms:modified xsi:type="dcterms:W3CDTF">2025-09-30T04:11:42Z</dcterms:modified>
</cp:coreProperties>
</file>