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636" r:id="rId2"/>
    <p:sldId id="258" r:id="rId3"/>
    <p:sldId id="638" r:id="rId4"/>
    <p:sldId id="639" r:id="rId5"/>
    <p:sldId id="646" r:id="rId6"/>
    <p:sldId id="654" r:id="rId7"/>
    <p:sldId id="651" r:id="rId8"/>
    <p:sldId id="652" r:id="rId9"/>
    <p:sldId id="653" r:id="rId10"/>
    <p:sldId id="647" r:id="rId11"/>
    <p:sldId id="648" r:id="rId12"/>
    <p:sldId id="649" r:id="rId13"/>
    <p:sldId id="650" r:id="rId14"/>
    <p:sldId id="63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23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3AA8D-B63D-178A-B4D5-4BF7CDA3DCC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0BCE04-E214-5915-7AAB-A4A62471CF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9D1E888-0D7C-64B0-1D51-277C6371D088}"/>
              </a:ext>
            </a:extLst>
          </p:cNvPr>
          <p:cNvSpPr>
            <a:spLocks noGrp="1"/>
          </p:cNvSpPr>
          <p:nvPr>
            <p:ph type="dt" sz="half" idx="10"/>
          </p:nvPr>
        </p:nvSpPr>
        <p:spPr/>
        <p:txBody>
          <a:bodyPr/>
          <a:lstStyle/>
          <a:p>
            <a:fld id="{12319DFC-27CE-4B34-AD4D-CDDA795D7CAD}" type="datetimeFigureOut">
              <a:rPr lang="en-US" smtClean="0"/>
              <a:t>3/26/2025</a:t>
            </a:fld>
            <a:endParaRPr lang="en-US"/>
          </a:p>
        </p:txBody>
      </p:sp>
      <p:sp>
        <p:nvSpPr>
          <p:cNvPr id="5" name="Footer Placeholder 4">
            <a:extLst>
              <a:ext uri="{FF2B5EF4-FFF2-40B4-BE49-F238E27FC236}">
                <a16:creationId xmlns:a16="http://schemas.microsoft.com/office/drawing/2014/main" id="{221C642E-9950-EE7B-A3A6-664652A485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6F438A-D115-6A9C-4C7A-F42FF124AD6E}"/>
              </a:ext>
            </a:extLst>
          </p:cNvPr>
          <p:cNvSpPr>
            <a:spLocks noGrp="1"/>
          </p:cNvSpPr>
          <p:nvPr>
            <p:ph type="sldNum" sz="quarter" idx="12"/>
          </p:nvPr>
        </p:nvSpPr>
        <p:spPr/>
        <p:txBody>
          <a:bodyPr/>
          <a:lstStyle/>
          <a:p>
            <a:fld id="{DB8EB4AE-BA0E-4A50-8450-87D8ED36A6D0}" type="slidenum">
              <a:rPr lang="en-US" smtClean="0"/>
              <a:t>‹#›</a:t>
            </a:fld>
            <a:endParaRPr lang="en-US"/>
          </a:p>
        </p:txBody>
      </p:sp>
    </p:spTree>
    <p:extLst>
      <p:ext uri="{BB962C8B-B14F-4D97-AF65-F5344CB8AC3E}">
        <p14:creationId xmlns:p14="http://schemas.microsoft.com/office/powerpoint/2010/main" val="30985721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858C1-A12A-DE9C-19A6-7D5A38521A8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C628209-F6DE-046B-DB11-125486B3CE1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924765-0A5B-2B73-1D51-2E3330F5179C}"/>
              </a:ext>
            </a:extLst>
          </p:cNvPr>
          <p:cNvSpPr>
            <a:spLocks noGrp="1"/>
          </p:cNvSpPr>
          <p:nvPr>
            <p:ph type="dt" sz="half" idx="10"/>
          </p:nvPr>
        </p:nvSpPr>
        <p:spPr/>
        <p:txBody>
          <a:bodyPr/>
          <a:lstStyle/>
          <a:p>
            <a:fld id="{12319DFC-27CE-4B34-AD4D-CDDA795D7CAD}" type="datetimeFigureOut">
              <a:rPr lang="en-US" smtClean="0"/>
              <a:t>3/26/2025</a:t>
            </a:fld>
            <a:endParaRPr lang="en-US"/>
          </a:p>
        </p:txBody>
      </p:sp>
      <p:sp>
        <p:nvSpPr>
          <p:cNvPr id="5" name="Footer Placeholder 4">
            <a:extLst>
              <a:ext uri="{FF2B5EF4-FFF2-40B4-BE49-F238E27FC236}">
                <a16:creationId xmlns:a16="http://schemas.microsoft.com/office/drawing/2014/main" id="{DAD088DA-AE2F-C750-2E45-6C77FD66E5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CC2CF6-E962-662D-F3A8-59594ADCB16A}"/>
              </a:ext>
            </a:extLst>
          </p:cNvPr>
          <p:cNvSpPr>
            <a:spLocks noGrp="1"/>
          </p:cNvSpPr>
          <p:nvPr>
            <p:ph type="sldNum" sz="quarter" idx="12"/>
          </p:nvPr>
        </p:nvSpPr>
        <p:spPr/>
        <p:txBody>
          <a:bodyPr/>
          <a:lstStyle/>
          <a:p>
            <a:fld id="{DB8EB4AE-BA0E-4A50-8450-87D8ED36A6D0}" type="slidenum">
              <a:rPr lang="en-US" smtClean="0"/>
              <a:t>‹#›</a:t>
            </a:fld>
            <a:endParaRPr lang="en-US"/>
          </a:p>
        </p:txBody>
      </p:sp>
    </p:spTree>
    <p:extLst>
      <p:ext uri="{BB962C8B-B14F-4D97-AF65-F5344CB8AC3E}">
        <p14:creationId xmlns:p14="http://schemas.microsoft.com/office/powerpoint/2010/main" val="9105214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7350C-4A8F-F82B-1E15-35E290B15ED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CE6651A-4A28-2028-CBCD-7BA5B05AC18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464BA3C-AFEC-38E5-CEEF-7200C0FFD6D5}"/>
              </a:ext>
            </a:extLst>
          </p:cNvPr>
          <p:cNvSpPr>
            <a:spLocks noGrp="1"/>
          </p:cNvSpPr>
          <p:nvPr>
            <p:ph type="dt" sz="half" idx="10"/>
          </p:nvPr>
        </p:nvSpPr>
        <p:spPr/>
        <p:txBody>
          <a:bodyPr/>
          <a:lstStyle/>
          <a:p>
            <a:fld id="{12319DFC-27CE-4B34-AD4D-CDDA795D7CAD}" type="datetimeFigureOut">
              <a:rPr lang="en-US" smtClean="0"/>
              <a:t>3/26/2025</a:t>
            </a:fld>
            <a:endParaRPr lang="en-US"/>
          </a:p>
        </p:txBody>
      </p:sp>
      <p:sp>
        <p:nvSpPr>
          <p:cNvPr id="5" name="Footer Placeholder 4">
            <a:extLst>
              <a:ext uri="{FF2B5EF4-FFF2-40B4-BE49-F238E27FC236}">
                <a16:creationId xmlns:a16="http://schemas.microsoft.com/office/drawing/2014/main" id="{36599CD7-1B0B-5377-2D14-2B604E09C4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3C203D-B31F-F3B4-A959-7147494F32EB}"/>
              </a:ext>
            </a:extLst>
          </p:cNvPr>
          <p:cNvSpPr>
            <a:spLocks noGrp="1"/>
          </p:cNvSpPr>
          <p:nvPr>
            <p:ph type="sldNum" sz="quarter" idx="12"/>
          </p:nvPr>
        </p:nvSpPr>
        <p:spPr/>
        <p:txBody>
          <a:bodyPr/>
          <a:lstStyle/>
          <a:p>
            <a:fld id="{DB8EB4AE-BA0E-4A50-8450-87D8ED36A6D0}" type="slidenum">
              <a:rPr lang="en-US" smtClean="0"/>
              <a:t>‹#›</a:t>
            </a:fld>
            <a:endParaRPr lang="en-US"/>
          </a:p>
        </p:txBody>
      </p:sp>
    </p:spTree>
    <p:extLst>
      <p:ext uri="{BB962C8B-B14F-4D97-AF65-F5344CB8AC3E}">
        <p14:creationId xmlns:p14="http://schemas.microsoft.com/office/powerpoint/2010/main" val="24521630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B4588-B22C-59C2-B5FF-708AB875EC6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26ED149-4A8D-6B84-CF9A-1035D7D9C83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9AB6B30-A768-65F0-1EE3-B0DB01663C2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5858964-7687-DA0C-6F40-7C302E390EBE}"/>
              </a:ext>
            </a:extLst>
          </p:cNvPr>
          <p:cNvSpPr>
            <a:spLocks noGrp="1"/>
          </p:cNvSpPr>
          <p:nvPr>
            <p:ph type="dt" sz="half" idx="10"/>
          </p:nvPr>
        </p:nvSpPr>
        <p:spPr/>
        <p:txBody>
          <a:bodyPr/>
          <a:lstStyle/>
          <a:p>
            <a:fld id="{12319DFC-27CE-4B34-AD4D-CDDA795D7CAD}" type="datetimeFigureOut">
              <a:rPr lang="en-US" smtClean="0"/>
              <a:t>3/26/2025</a:t>
            </a:fld>
            <a:endParaRPr lang="en-US"/>
          </a:p>
        </p:txBody>
      </p:sp>
      <p:sp>
        <p:nvSpPr>
          <p:cNvPr id="6" name="Footer Placeholder 5">
            <a:extLst>
              <a:ext uri="{FF2B5EF4-FFF2-40B4-BE49-F238E27FC236}">
                <a16:creationId xmlns:a16="http://schemas.microsoft.com/office/drawing/2014/main" id="{1DE634BB-8450-752A-C68B-F38BF74034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71E264-7C5F-D2FC-F117-B7519F169CFA}"/>
              </a:ext>
            </a:extLst>
          </p:cNvPr>
          <p:cNvSpPr>
            <a:spLocks noGrp="1"/>
          </p:cNvSpPr>
          <p:nvPr>
            <p:ph type="sldNum" sz="quarter" idx="12"/>
          </p:nvPr>
        </p:nvSpPr>
        <p:spPr/>
        <p:txBody>
          <a:bodyPr/>
          <a:lstStyle/>
          <a:p>
            <a:fld id="{DB8EB4AE-BA0E-4A50-8450-87D8ED36A6D0}" type="slidenum">
              <a:rPr lang="en-US" smtClean="0"/>
              <a:t>‹#›</a:t>
            </a:fld>
            <a:endParaRPr lang="en-US"/>
          </a:p>
        </p:txBody>
      </p:sp>
    </p:spTree>
    <p:extLst>
      <p:ext uri="{BB962C8B-B14F-4D97-AF65-F5344CB8AC3E}">
        <p14:creationId xmlns:p14="http://schemas.microsoft.com/office/powerpoint/2010/main" val="1054953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93F15-26E7-0320-3F26-49C19B3B651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006F42C-6555-FF39-7C5A-5D8106870E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1077F0B-765A-F1DA-8D3F-260298E906F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D3E52EE-B7D3-3064-5F05-5DB77C30A0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51E2ABC-63B9-802B-EFA7-6EA47F33D95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222F41D-4290-DEEC-04F9-DBA249A14EA2}"/>
              </a:ext>
            </a:extLst>
          </p:cNvPr>
          <p:cNvSpPr>
            <a:spLocks noGrp="1"/>
          </p:cNvSpPr>
          <p:nvPr>
            <p:ph type="dt" sz="half" idx="10"/>
          </p:nvPr>
        </p:nvSpPr>
        <p:spPr/>
        <p:txBody>
          <a:bodyPr/>
          <a:lstStyle/>
          <a:p>
            <a:fld id="{12319DFC-27CE-4B34-AD4D-CDDA795D7CAD}" type="datetimeFigureOut">
              <a:rPr lang="en-US" smtClean="0"/>
              <a:t>3/26/2025</a:t>
            </a:fld>
            <a:endParaRPr lang="en-US"/>
          </a:p>
        </p:txBody>
      </p:sp>
      <p:sp>
        <p:nvSpPr>
          <p:cNvPr id="8" name="Footer Placeholder 7">
            <a:extLst>
              <a:ext uri="{FF2B5EF4-FFF2-40B4-BE49-F238E27FC236}">
                <a16:creationId xmlns:a16="http://schemas.microsoft.com/office/drawing/2014/main" id="{26B6068D-1526-8321-F683-35249D974D0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1536DFC-E5A6-F996-D332-14D37B4F2B1A}"/>
              </a:ext>
            </a:extLst>
          </p:cNvPr>
          <p:cNvSpPr>
            <a:spLocks noGrp="1"/>
          </p:cNvSpPr>
          <p:nvPr>
            <p:ph type="sldNum" sz="quarter" idx="12"/>
          </p:nvPr>
        </p:nvSpPr>
        <p:spPr/>
        <p:txBody>
          <a:bodyPr/>
          <a:lstStyle/>
          <a:p>
            <a:fld id="{DB8EB4AE-BA0E-4A50-8450-87D8ED36A6D0}" type="slidenum">
              <a:rPr lang="en-US" smtClean="0"/>
              <a:t>‹#›</a:t>
            </a:fld>
            <a:endParaRPr lang="en-US"/>
          </a:p>
        </p:txBody>
      </p:sp>
    </p:spTree>
    <p:extLst>
      <p:ext uri="{BB962C8B-B14F-4D97-AF65-F5344CB8AC3E}">
        <p14:creationId xmlns:p14="http://schemas.microsoft.com/office/powerpoint/2010/main" val="8079675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D9E0C-425B-9B8A-B6A4-6991A829B07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F20970F-EAFB-F6D1-2FA7-60325C1A2E0B}"/>
              </a:ext>
            </a:extLst>
          </p:cNvPr>
          <p:cNvSpPr>
            <a:spLocks noGrp="1"/>
          </p:cNvSpPr>
          <p:nvPr>
            <p:ph type="dt" sz="half" idx="10"/>
          </p:nvPr>
        </p:nvSpPr>
        <p:spPr/>
        <p:txBody>
          <a:bodyPr/>
          <a:lstStyle/>
          <a:p>
            <a:fld id="{12319DFC-27CE-4B34-AD4D-CDDA795D7CAD}" type="datetimeFigureOut">
              <a:rPr lang="en-US" smtClean="0"/>
              <a:t>3/26/2025</a:t>
            </a:fld>
            <a:endParaRPr lang="en-US"/>
          </a:p>
        </p:txBody>
      </p:sp>
      <p:sp>
        <p:nvSpPr>
          <p:cNvPr id="4" name="Footer Placeholder 3">
            <a:extLst>
              <a:ext uri="{FF2B5EF4-FFF2-40B4-BE49-F238E27FC236}">
                <a16:creationId xmlns:a16="http://schemas.microsoft.com/office/drawing/2014/main" id="{01B3EC19-BFD6-DB73-FC6F-F3D0B41FF58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8A64A0B-C45A-98D5-4ED7-23B8144D9BCE}"/>
              </a:ext>
            </a:extLst>
          </p:cNvPr>
          <p:cNvSpPr>
            <a:spLocks noGrp="1"/>
          </p:cNvSpPr>
          <p:nvPr>
            <p:ph type="sldNum" sz="quarter" idx="12"/>
          </p:nvPr>
        </p:nvSpPr>
        <p:spPr/>
        <p:txBody>
          <a:bodyPr/>
          <a:lstStyle/>
          <a:p>
            <a:fld id="{DB8EB4AE-BA0E-4A50-8450-87D8ED36A6D0}" type="slidenum">
              <a:rPr lang="en-US" smtClean="0"/>
              <a:t>‹#›</a:t>
            </a:fld>
            <a:endParaRPr lang="en-US"/>
          </a:p>
        </p:txBody>
      </p:sp>
    </p:spTree>
    <p:extLst>
      <p:ext uri="{BB962C8B-B14F-4D97-AF65-F5344CB8AC3E}">
        <p14:creationId xmlns:p14="http://schemas.microsoft.com/office/powerpoint/2010/main" val="42942771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4EAA079-1724-5847-7AAD-85B911BAF659}"/>
              </a:ext>
            </a:extLst>
          </p:cNvPr>
          <p:cNvSpPr>
            <a:spLocks noGrp="1"/>
          </p:cNvSpPr>
          <p:nvPr>
            <p:ph type="dt" sz="half" idx="10"/>
          </p:nvPr>
        </p:nvSpPr>
        <p:spPr/>
        <p:txBody>
          <a:bodyPr/>
          <a:lstStyle/>
          <a:p>
            <a:fld id="{12319DFC-27CE-4B34-AD4D-CDDA795D7CAD}" type="datetimeFigureOut">
              <a:rPr lang="en-US" smtClean="0"/>
              <a:t>3/26/2025</a:t>
            </a:fld>
            <a:endParaRPr lang="en-US"/>
          </a:p>
        </p:txBody>
      </p:sp>
      <p:sp>
        <p:nvSpPr>
          <p:cNvPr id="3" name="Footer Placeholder 2">
            <a:extLst>
              <a:ext uri="{FF2B5EF4-FFF2-40B4-BE49-F238E27FC236}">
                <a16:creationId xmlns:a16="http://schemas.microsoft.com/office/drawing/2014/main" id="{D8670F25-B8BE-B2CE-87D5-33BD988A316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85D38F2-EF48-C818-C62D-E35DC09E11F1}"/>
              </a:ext>
            </a:extLst>
          </p:cNvPr>
          <p:cNvSpPr>
            <a:spLocks noGrp="1"/>
          </p:cNvSpPr>
          <p:nvPr>
            <p:ph type="sldNum" sz="quarter" idx="12"/>
          </p:nvPr>
        </p:nvSpPr>
        <p:spPr/>
        <p:txBody>
          <a:bodyPr/>
          <a:lstStyle/>
          <a:p>
            <a:fld id="{DB8EB4AE-BA0E-4A50-8450-87D8ED36A6D0}" type="slidenum">
              <a:rPr lang="en-US" smtClean="0"/>
              <a:t>‹#›</a:t>
            </a:fld>
            <a:endParaRPr lang="en-US"/>
          </a:p>
        </p:txBody>
      </p:sp>
    </p:spTree>
    <p:extLst>
      <p:ext uri="{BB962C8B-B14F-4D97-AF65-F5344CB8AC3E}">
        <p14:creationId xmlns:p14="http://schemas.microsoft.com/office/powerpoint/2010/main" val="7790156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C732F-EC43-2073-1F92-45C3AC7BFB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DB51507-8DE7-5766-32E0-321DD607945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A45DC37-67B8-DF89-BD3D-2FFB0A120E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F734D2-9BFB-8219-C36B-D4E2B6DE44CD}"/>
              </a:ext>
            </a:extLst>
          </p:cNvPr>
          <p:cNvSpPr>
            <a:spLocks noGrp="1"/>
          </p:cNvSpPr>
          <p:nvPr>
            <p:ph type="dt" sz="half" idx="10"/>
          </p:nvPr>
        </p:nvSpPr>
        <p:spPr/>
        <p:txBody>
          <a:bodyPr/>
          <a:lstStyle/>
          <a:p>
            <a:fld id="{12319DFC-27CE-4B34-AD4D-CDDA795D7CAD}" type="datetimeFigureOut">
              <a:rPr lang="en-US" smtClean="0"/>
              <a:t>3/26/2025</a:t>
            </a:fld>
            <a:endParaRPr lang="en-US"/>
          </a:p>
        </p:txBody>
      </p:sp>
      <p:sp>
        <p:nvSpPr>
          <p:cNvPr id="6" name="Footer Placeholder 5">
            <a:extLst>
              <a:ext uri="{FF2B5EF4-FFF2-40B4-BE49-F238E27FC236}">
                <a16:creationId xmlns:a16="http://schemas.microsoft.com/office/drawing/2014/main" id="{C44D35E2-59BD-1164-8209-E37AD75E15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A450CC-1E1F-B48D-F131-F2F12CE42501}"/>
              </a:ext>
            </a:extLst>
          </p:cNvPr>
          <p:cNvSpPr>
            <a:spLocks noGrp="1"/>
          </p:cNvSpPr>
          <p:nvPr>
            <p:ph type="sldNum" sz="quarter" idx="12"/>
          </p:nvPr>
        </p:nvSpPr>
        <p:spPr/>
        <p:txBody>
          <a:bodyPr/>
          <a:lstStyle/>
          <a:p>
            <a:fld id="{DB8EB4AE-BA0E-4A50-8450-87D8ED36A6D0}" type="slidenum">
              <a:rPr lang="en-US" smtClean="0"/>
              <a:t>‹#›</a:t>
            </a:fld>
            <a:endParaRPr lang="en-US"/>
          </a:p>
        </p:txBody>
      </p:sp>
    </p:spTree>
    <p:extLst>
      <p:ext uri="{BB962C8B-B14F-4D97-AF65-F5344CB8AC3E}">
        <p14:creationId xmlns:p14="http://schemas.microsoft.com/office/powerpoint/2010/main" val="19332378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8CD33-5626-E165-2B17-707467F707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C43335F-2146-1FEF-AA90-EC9A068386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C1E4209-A544-6FA3-9829-6695E75E79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C7D6B5-64F2-2938-C0A1-645505FCB7A5}"/>
              </a:ext>
            </a:extLst>
          </p:cNvPr>
          <p:cNvSpPr>
            <a:spLocks noGrp="1"/>
          </p:cNvSpPr>
          <p:nvPr>
            <p:ph type="dt" sz="half" idx="10"/>
          </p:nvPr>
        </p:nvSpPr>
        <p:spPr/>
        <p:txBody>
          <a:bodyPr/>
          <a:lstStyle/>
          <a:p>
            <a:fld id="{12319DFC-27CE-4B34-AD4D-CDDA795D7CAD}" type="datetimeFigureOut">
              <a:rPr lang="en-US" smtClean="0"/>
              <a:t>3/26/2025</a:t>
            </a:fld>
            <a:endParaRPr lang="en-US"/>
          </a:p>
        </p:txBody>
      </p:sp>
      <p:sp>
        <p:nvSpPr>
          <p:cNvPr id="6" name="Footer Placeholder 5">
            <a:extLst>
              <a:ext uri="{FF2B5EF4-FFF2-40B4-BE49-F238E27FC236}">
                <a16:creationId xmlns:a16="http://schemas.microsoft.com/office/drawing/2014/main" id="{E8D8CD6E-E37E-9D73-49B2-BC2E5E35B7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B2516B-36C0-9C0A-87D3-FA7C96FEE046}"/>
              </a:ext>
            </a:extLst>
          </p:cNvPr>
          <p:cNvSpPr>
            <a:spLocks noGrp="1"/>
          </p:cNvSpPr>
          <p:nvPr>
            <p:ph type="sldNum" sz="quarter" idx="12"/>
          </p:nvPr>
        </p:nvSpPr>
        <p:spPr/>
        <p:txBody>
          <a:bodyPr/>
          <a:lstStyle/>
          <a:p>
            <a:fld id="{DB8EB4AE-BA0E-4A50-8450-87D8ED36A6D0}" type="slidenum">
              <a:rPr lang="en-US" smtClean="0"/>
              <a:t>‹#›</a:t>
            </a:fld>
            <a:endParaRPr lang="en-US"/>
          </a:p>
        </p:txBody>
      </p:sp>
    </p:spTree>
    <p:extLst>
      <p:ext uri="{BB962C8B-B14F-4D97-AF65-F5344CB8AC3E}">
        <p14:creationId xmlns:p14="http://schemas.microsoft.com/office/powerpoint/2010/main" val="8737280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6939D-E405-D503-A206-BE6C8BBA663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9991992-254C-C8B6-B2F6-495C2BAE20C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E2C9DA-A59D-0A94-93C8-60E78CCE5DE1}"/>
              </a:ext>
            </a:extLst>
          </p:cNvPr>
          <p:cNvSpPr>
            <a:spLocks noGrp="1"/>
          </p:cNvSpPr>
          <p:nvPr>
            <p:ph type="dt" sz="half" idx="10"/>
          </p:nvPr>
        </p:nvSpPr>
        <p:spPr/>
        <p:txBody>
          <a:bodyPr/>
          <a:lstStyle/>
          <a:p>
            <a:fld id="{12319DFC-27CE-4B34-AD4D-CDDA795D7CAD}" type="datetimeFigureOut">
              <a:rPr lang="en-US" smtClean="0"/>
              <a:t>3/26/2025</a:t>
            </a:fld>
            <a:endParaRPr lang="en-US"/>
          </a:p>
        </p:txBody>
      </p:sp>
      <p:sp>
        <p:nvSpPr>
          <p:cNvPr id="5" name="Footer Placeholder 4">
            <a:extLst>
              <a:ext uri="{FF2B5EF4-FFF2-40B4-BE49-F238E27FC236}">
                <a16:creationId xmlns:a16="http://schemas.microsoft.com/office/drawing/2014/main" id="{736740FB-9338-DD34-7063-56101D7152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9886B6-407A-A1D9-33B9-8BD4CE19808B}"/>
              </a:ext>
            </a:extLst>
          </p:cNvPr>
          <p:cNvSpPr>
            <a:spLocks noGrp="1"/>
          </p:cNvSpPr>
          <p:nvPr>
            <p:ph type="sldNum" sz="quarter" idx="12"/>
          </p:nvPr>
        </p:nvSpPr>
        <p:spPr/>
        <p:txBody>
          <a:bodyPr/>
          <a:lstStyle/>
          <a:p>
            <a:fld id="{DB8EB4AE-BA0E-4A50-8450-87D8ED36A6D0}" type="slidenum">
              <a:rPr lang="en-US" smtClean="0"/>
              <a:t>‹#›</a:t>
            </a:fld>
            <a:endParaRPr lang="en-US"/>
          </a:p>
        </p:txBody>
      </p:sp>
    </p:spTree>
    <p:extLst>
      <p:ext uri="{BB962C8B-B14F-4D97-AF65-F5344CB8AC3E}">
        <p14:creationId xmlns:p14="http://schemas.microsoft.com/office/powerpoint/2010/main" val="11937542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3FFB99-F4CE-E110-76B7-7465A27615F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6AC0AB0-9D82-DFA9-CD30-65B2E85CEE3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9A59F5-E4AB-5358-3F46-CB338CFDD548}"/>
              </a:ext>
            </a:extLst>
          </p:cNvPr>
          <p:cNvSpPr>
            <a:spLocks noGrp="1"/>
          </p:cNvSpPr>
          <p:nvPr>
            <p:ph type="dt" sz="half" idx="10"/>
          </p:nvPr>
        </p:nvSpPr>
        <p:spPr/>
        <p:txBody>
          <a:bodyPr/>
          <a:lstStyle/>
          <a:p>
            <a:fld id="{12319DFC-27CE-4B34-AD4D-CDDA795D7CAD}" type="datetimeFigureOut">
              <a:rPr lang="en-US" smtClean="0"/>
              <a:t>3/26/2025</a:t>
            </a:fld>
            <a:endParaRPr lang="en-US"/>
          </a:p>
        </p:txBody>
      </p:sp>
      <p:sp>
        <p:nvSpPr>
          <p:cNvPr id="5" name="Footer Placeholder 4">
            <a:extLst>
              <a:ext uri="{FF2B5EF4-FFF2-40B4-BE49-F238E27FC236}">
                <a16:creationId xmlns:a16="http://schemas.microsoft.com/office/drawing/2014/main" id="{4D42B9F6-1C99-1D5B-7D38-0CDDF982A2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647800-9FDB-F0E5-EBBC-A5E812864726}"/>
              </a:ext>
            </a:extLst>
          </p:cNvPr>
          <p:cNvSpPr>
            <a:spLocks noGrp="1"/>
          </p:cNvSpPr>
          <p:nvPr>
            <p:ph type="sldNum" sz="quarter" idx="12"/>
          </p:nvPr>
        </p:nvSpPr>
        <p:spPr/>
        <p:txBody>
          <a:bodyPr/>
          <a:lstStyle/>
          <a:p>
            <a:fld id="{DB8EB4AE-BA0E-4A50-8450-87D8ED36A6D0}" type="slidenum">
              <a:rPr lang="en-US" smtClean="0"/>
              <a:t>‹#›</a:t>
            </a:fld>
            <a:endParaRPr lang="en-US"/>
          </a:p>
        </p:txBody>
      </p:sp>
    </p:spTree>
    <p:extLst>
      <p:ext uri="{BB962C8B-B14F-4D97-AF65-F5344CB8AC3E}">
        <p14:creationId xmlns:p14="http://schemas.microsoft.com/office/powerpoint/2010/main" val="16569339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6EF0EA6-D84B-B2CB-8ED7-1C929B5FEDE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FE5FB55-CF91-F872-8245-B337082C11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3943BA-DB40-8A7D-46E7-64E557EB99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319DFC-27CE-4B34-AD4D-CDDA795D7CAD}" type="datetimeFigureOut">
              <a:rPr lang="en-US" smtClean="0"/>
              <a:t>3/26/2025</a:t>
            </a:fld>
            <a:endParaRPr lang="en-US"/>
          </a:p>
        </p:txBody>
      </p:sp>
      <p:sp>
        <p:nvSpPr>
          <p:cNvPr id="5" name="Footer Placeholder 4">
            <a:extLst>
              <a:ext uri="{FF2B5EF4-FFF2-40B4-BE49-F238E27FC236}">
                <a16:creationId xmlns:a16="http://schemas.microsoft.com/office/drawing/2014/main" id="{336C99C3-EF4C-67CC-5905-BB61430C510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442B177-2BF0-F59B-8065-95E02F384A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8EB4AE-BA0E-4A50-8450-87D8ED36A6D0}" type="slidenum">
              <a:rPr lang="en-US" smtClean="0"/>
              <a:t>‹#›</a:t>
            </a:fld>
            <a:endParaRPr lang="en-US"/>
          </a:p>
        </p:txBody>
      </p:sp>
    </p:spTree>
    <p:extLst>
      <p:ext uri="{BB962C8B-B14F-4D97-AF65-F5344CB8AC3E}">
        <p14:creationId xmlns:p14="http://schemas.microsoft.com/office/powerpoint/2010/main" val="3614988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24.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 Id="rId14" Type="http://schemas.openxmlformats.org/officeDocument/2006/relationships/image" Target="../media/image26.png"/></Relationships>
</file>

<file path=ppt/slides/_rels/slide8.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image" Target="../media/image250.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1.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ight Triangle 4">
            <a:extLst>
              <a:ext uri="{FF2B5EF4-FFF2-40B4-BE49-F238E27FC236}">
                <a16:creationId xmlns:a16="http://schemas.microsoft.com/office/drawing/2014/main" id="{E6DF62F9-7264-4E25-F504-5B1B797356DD}"/>
              </a:ext>
            </a:extLst>
          </p:cNvPr>
          <p:cNvSpPr/>
          <p:nvPr/>
        </p:nvSpPr>
        <p:spPr>
          <a:xfrm>
            <a:off x="0" y="2173574"/>
            <a:ext cx="12206990" cy="4699416"/>
          </a:xfrm>
          <a:custGeom>
            <a:avLst/>
            <a:gdLst>
              <a:gd name="connsiteX0" fmla="*/ 0 w 12192000"/>
              <a:gd name="connsiteY0" fmla="*/ 4684426 h 4684426"/>
              <a:gd name="connsiteX1" fmla="*/ 0 w 12192000"/>
              <a:gd name="connsiteY1" fmla="*/ 0 h 4684426"/>
              <a:gd name="connsiteX2" fmla="*/ 12192000 w 12192000"/>
              <a:gd name="connsiteY2" fmla="*/ 4684426 h 4684426"/>
              <a:gd name="connsiteX3" fmla="*/ 0 w 12192000"/>
              <a:gd name="connsiteY3" fmla="*/ 4684426 h 4684426"/>
              <a:gd name="connsiteX0" fmla="*/ 0 w 12192000"/>
              <a:gd name="connsiteY0" fmla="*/ 4684426 h 4684426"/>
              <a:gd name="connsiteX1" fmla="*/ 0 w 12192000"/>
              <a:gd name="connsiteY1" fmla="*/ 0 h 4684426"/>
              <a:gd name="connsiteX2" fmla="*/ 12192000 w 12192000"/>
              <a:gd name="connsiteY2" fmla="*/ 4684426 h 4684426"/>
              <a:gd name="connsiteX3" fmla="*/ 0 w 12192000"/>
              <a:gd name="connsiteY3" fmla="*/ 4684426 h 4684426"/>
              <a:gd name="connsiteX0" fmla="*/ 0 w 12206990"/>
              <a:gd name="connsiteY0" fmla="*/ 4684426 h 4699416"/>
              <a:gd name="connsiteX1" fmla="*/ 0 w 12206990"/>
              <a:gd name="connsiteY1" fmla="*/ 0 h 4699416"/>
              <a:gd name="connsiteX2" fmla="*/ 12206990 w 12206990"/>
              <a:gd name="connsiteY2" fmla="*/ 4699416 h 4699416"/>
              <a:gd name="connsiteX3" fmla="*/ 0 w 12206990"/>
              <a:gd name="connsiteY3" fmla="*/ 4684426 h 4699416"/>
              <a:gd name="connsiteX0" fmla="*/ 0 w 12206990"/>
              <a:gd name="connsiteY0" fmla="*/ 4684426 h 4699416"/>
              <a:gd name="connsiteX1" fmla="*/ 0 w 12206990"/>
              <a:gd name="connsiteY1" fmla="*/ 0 h 4699416"/>
              <a:gd name="connsiteX2" fmla="*/ 12206990 w 12206990"/>
              <a:gd name="connsiteY2" fmla="*/ 4699416 h 4699416"/>
              <a:gd name="connsiteX3" fmla="*/ 0 w 12206990"/>
              <a:gd name="connsiteY3" fmla="*/ 4684426 h 4699416"/>
            </a:gdLst>
            <a:ahLst/>
            <a:cxnLst>
              <a:cxn ang="0">
                <a:pos x="connsiteX0" y="connsiteY0"/>
              </a:cxn>
              <a:cxn ang="0">
                <a:pos x="connsiteX1" y="connsiteY1"/>
              </a:cxn>
              <a:cxn ang="0">
                <a:pos x="connsiteX2" y="connsiteY2"/>
              </a:cxn>
              <a:cxn ang="0">
                <a:pos x="connsiteX3" y="connsiteY3"/>
              </a:cxn>
            </a:cxnLst>
            <a:rect l="l" t="t" r="r" b="b"/>
            <a:pathLst>
              <a:path w="12206990" h="4699416">
                <a:moveTo>
                  <a:pt x="0" y="4684426"/>
                </a:moveTo>
                <a:lnTo>
                  <a:pt x="0" y="0"/>
                </a:lnTo>
                <a:cubicBezTo>
                  <a:pt x="4378793" y="946879"/>
                  <a:pt x="6703934" y="3242872"/>
                  <a:pt x="12206990" y="4699416"/>
                </a:cubicBezTo>
                <a:lnTo>
                  <a:pt x="0" y="4684426"/>
                </a:lnTo>
                <a:close/>
              </a:path>
            </a:pathLst>
          </a:custGeom>
          <a:solidFill>
            <a:schemeClr val="accent5">
              <a:lumMod val="40000"/>
              <a:lumOff val="60000"/>
            </a:schemeClr>
          </a:solidFill>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ight Triangle 4">
            <a:extLst>
              <a:ext uri="{FF2B5EF4-FFF2-40B4-BE49-F238E27FC236}">
                <a16:creationId xmlns:a16="http://schemas.microsoft.com/office/drawing/2014/main" id="{3AFED4F9-C06A-55DD-B7F1-6CF5A4D5E64F}"/>
              </a:ext>
            </a:extLst>
          </p:cNvPr>
          <p:cNvSpPr/>
          <p:nvPr/>
        </p:nvSpPr>
        <p:spPr>
          <a:xfrm rot="10800000">
            <a:off x="-14990" y="0"/>
            <a:ext cx="12206990" cy="4699416"/>
          </a:xfrm>
          <a:custGeom>
            <a:avLst/>
            <a:gdLst>
              <a:gd name="connsiteX0" fmla="*/ 0 w 12192000"/>
              <a:gd name="connsiteY0" fmla="*/ 4684426 h 4684426"/>
              <a:gd name="connsiteX1" fmla="*/ 0 w 12192000"/>
              <a:gd name="connsiteY1" fmla="*/ 0 h 4684426"/>
              <a:gd name="connsiteX2" fmla="*/ 12192000 w 12192000"/>
              <a:gd name="connsiteY2" fmla="*/ 4684426 h 4684426"/>
              <a:gd name="connsiteX3" fmla="*/ 0 w 12192000"/>
              <a:gd name="connsiteY3" fmla="*/ 4684426 h 4684426"/>
              <a:gd name="connsiteX0" fmla="*/ 0 w 12192000"/>
              <a:gd name="connsiteY0" fmla="*/ 4684426 h 4684426"/>
              <a:gd name="connsiteX1" fmla="*/ 0 w 12192000"/>
              <a:gd name="connsiteY1" fmla="*/ 0 h 4684426"/>
              <a:gd name="connsiteX2" fmla="*/ 12192000 w 12192000"/>
              <a:gd name="connsiteY2" fmla="*/ 4684426 h 4684426"/>
              <a:gd name="connsiteX3" fmla="*/ 0 w 12192000"/>
              <a:gd name="connsiteY3" fmla="*/ 4684426 h 4684426"/>
              <a:gd name="connsiteX0" fmla="*/ 0 w 12206990"/>
              <a:gd name="connsiteY0" fmla="*/ 4684426 h 4699416"/>
              <a:gd name="connsiteX1" fmla="*/ 0 w 12206990"/>
              <a:gd name="connsiteY1" fmla="*/ 0 h 4699416"/>
              <a:gd name="connsiteX2" fmla="*/ 12206990 w 12206990"/>
              <a:gd name="connsiteY2" fmla="*/ 4699416 h 4699416"/>
              <a:gd name="connsiteX3" fmla="*/ 0 w 12206990"/>
              <a:gd name="connsiteY3" fmla="*/ 4684426 h 4699416"/>
              <a:gd name="connsiteX0" fmla="*/ 0 w 12206990"/>
              <a:gd name="connsiteY0" fmla="*/ 4684426 h 4699416"/>
              <a:gd name="connsiteX1" fmla="*/ 0 w 12206990"/>
              <a:gd name="connsiteY1" fmla="*/ 0 h 4699416"/>
              <a:gd name="connsiteX2" fmla="*/ 12206990 w 12206990"/>
              <a:gd name="connsiteY2" fmla="*/ 4699416 h 4699416"/>
              <a:gd name="connsiteX3" fmla="*/ 0 w 12206990"/>
              <a:gd name="connsiteY3" fmla="*/ 4684426 h 4699416"/>
            </a:gdLst>
            <a:ahLst/>
            <a:cxnLst>
              <a:cxn ang="0">
                <a:pos x="connsiteX0" y="connsiteY0"/>
              </a:cxn>
              <a:cxn ang="0">
                <a:pos x="connsiteX1" y="connsiteY1"/>
              </a:cxn>
              <a:cxn ang="0">
                <a:pos x="connsiteX2" y="connsiteY2"/>
              </a:cxn>
              <a:cxn ang="0">
                <a:pos x="connsiteX3" y="connsiteY3"/>
              </a:cxn>
            </a:cxnLst>
            <a:rect l="l" t="t" r="r" b="b"/>
            <a:pathLst>
              <a:path w="12206990" h="4699416">
                <a:moveTo>
                  <a:pt x="0" y="4684426"/>
                </a:moveTo>
                <a:lnTo>
                  <a:pt x="0" y="0"/>
                </a:lnTo>
                <a:cubicBezTo>
                  <a:pt x="4378793" y="946879"/>
                  <a:pt x="6703934" y="3242872"/>
                  <a:pt x="12206990" y="4699416"/>
                </a:cubicBezTo>
                <a:lnTo>
                  <a:pt x="0" y="4684426"/>
                </a:lnTo>
                <a:close/>
              </a:path>
            </a:pathLst>
          </a:custGeom>
          <a:solidFill>
            <a:schemeClr val="accent5">
              <a:lumMod val="40000"/>
              <a:lumOff val="60000"/>
            </a:schemeClr>
          </a:solidFill>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30A32502-A715-3606-EE7D-A34CB9A00AAA}"/>
              </a:ext>
            </a:extLst>
          </p:cNvPr>
          <p:cNvSpPr/>
          <p:nvPr/>
        </p:nvSpPr>
        <p:spPr>
          <a:xfrm>
            <a:off x="2444481" y="1082264"/>
            <a:ext cx="7318029" cy="4524315"/>
          </a:xfrm>
          <a:prstGeom prst="rect">
            <a:avLst/>
          </a:prstGeom>
          <a:noFill/>
        </p:spPr>
        <p:txBody>
          <a:bodyPr wrap="none" lIns="91440" tIns="45720" rIns="91440" bIns="45720">
            <a:spAutoFit/>
          </a:bodyPr>
          <a:lstStyle/>
          <a:p>
            <a:pPr algn="ctr"/>
            <a:r>
              <a:rPr lang="en-GB" sz="96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Applications </a:t>
            </a:r>
          </a:p>
          <a:p>
            <a:pPr algn="ctr"/>
            <a:r>
              <a:rPr lang="en-GB" sz="96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of </a:t>
            </a:r>
          </a:p>
          <a:p>
            <a:pPr algn="ctr"/>
            <a:r>
              <a:rPr lang="en-GB" sz="96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Linear System</a:t>
            </a:r>
            <a:endParaRPr lang="en-US" sz="96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endParaRPr>
          </a:p>
        </p:txBody>
      </p:sp>
    </p:spTree>
    <p:extLst>
      <p:ext uri="{BB962C8B-B14F-4D97-AF65-F5344CB8AC3E}">
        <p14:creationId xmlns:p14="http://schemas.microsoft.com/office/powerpoint/2010/main" val="1759166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1700"/>
                                        <p:tgtEl>
                                          <p:spTgt spid="7"/>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1800"/>
                                        <p:tgtEl>
                                          <p:spTgt spid="6"/>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down)">
                                      <p:cBhvr>
                                        <p:cTn id="13" dur="19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B510375-EA71-F8FF-E776-6308CC67D721}"/>
              </a:ext>
            </a:extLst>
          </p:cNvPr>
          <p:cNvSpPr txBox="1"/>
          <p:nvPr/>
        </p:nvSpPr>
        <p:spPr>
          <a:xfrm>
            <a:off x="20836" y="14068"/>
            <a:ext cx="12171164" cy="604910"/>
          </a:xfrm>
          <a:prstGeom prst="rect">
            <a:avLst/>
          </a:prstGeom>
          <a:solidFill>
            <a:schemeClr val="accent2">
              <a:lumMod val="20000"/>
              <a:lumOff val="80000"/>
            </a:schemeClr>
          </a:solidFill>
          <a:ln w="38100">
            <a:solidFill>
              <a:srgbClr val="C00000"/>
            </a:solidFill>
          </a:ln>
        </p:spPr>
        <p:txBody>
          <a:bodyPr wrap="square" rtlCol="0">
            <a:spAutoFit/>
          </a:bodyPr>
          <a:lstStyle/>
          <a:p>
            <a:r>
              <a:rPr lang="en-US" sz="3200" dirty="0">
                <a:solidFill>
                  <a:srgbClr val="C00000"/>
                </a:solidFill>
                <a:latin typeface="Times New Roman" panose="02020603050405020304" pitchFamily="18" charset="0"/>
                <a:cs typeface="Times New Roman" panose="02020603050405020304" pitchFamily="18" charset="0"/>
              </a:rPr>
              <a:t>Real-World Problem: Allocating Computing Resources in a Data Center</a:t>
            </a:r>
            <a:endParaRPr lang="en-US" sz="3200" b="1" dirty="0">
              <a:solidFill>
                <a:srgbClr val="C0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E93EFA68-0D9D-62A4-2AE6-F9A19E3D8C75}"/>
              </a:ext>
            </a:extLst>
          </p:cNvPr>
          <p:cNvSpPr txBox="1"/>
          <p:nvPr/>
        </p:nvSpPr>
        <p:spPr>
          <a:xfrm>
            <a:off x="20836" y="836238"/>
            <a:ext cx="12171164" cy="5297275"/>
          </a:xfrm>
          <a:prstGeom prst="rect">
            <a:avLst/>
          </a:prstGeom>
          <a:noFill/>
        </p:spPr>
        <p:txBody>
          <a:bodyPr wrap="square">
            <a:spAutoFit/>
          </a:bodyPr>
          <a:lstStyle/>
          <a:p>
            <a:pPr>
              <a:lnSpc>
                <a:spcPct val="150000"/>
              </a:lnSpc>
            </a:pPr>
            <a:r>
              <a:rPr lang="en-US" sz="2800" dirty="0">
                <a:solidFill>
                  <a:srgbClr val="002060"/>
                </a:solidFill>
                <a:latin typeface="Times New Roman" panose="02020603050405020304" pitchFamily="18" charset="0"/>
                <a:cs typeface="Times New Roman" panose="02020603050405020304" pitchFamily="18" charset="0"/>
              </a:rPr>
              <a:t>A </a:t>
            </a:r>
            <a:r>
              <a:rPr lang="en-US" sz="2800" b="1" dirty="0">
                <a:solidFill>
                  <a:srgbClr val="002060"/>
                </a:solidFill>
                <a:latin typeface="Times New Roman" panose="02020603050405020304" pitchFamily="18" charset="0"/>
                <a:cs typeface="Times New Roman" panose="02020603050405020304" pitchFamily="18" charset="0"/>
              </a:rPr>
              <a:t>cloud computing company</a:t>
            </a:r>
            <a:r>
              <a:rPr lang="en-US" sz="2800" dirty="0">
                <a:solidFill>
                  <a:srgbClr val="002060"/>
                </a:solidFill>
                <a:latin typeface="Times New Roman" panose="02020603050405020304" pitchFamily="18" charset="0"/>
                <a:cs typeface="Times New Roman" panose="02020603050405020304" pitchFamily="18" charset="0"/>
              </a:rPr>
              <a:t> provides virtual machines (VMs) to different clients. The company has </a:t>
            </a:r>
            <a:r>
              <a:rPr lang="en-US" sz="2800" b="1" dirty="0">
                <a:solidFill>
                  <a:srgbClr val="002060"/>
                </a:solidFill>
                <a:latin typeface="Times New Roman" panose="02020603050405020304" pitchFamily="18" charset="0"/>
                <a:cs typeface="Times New Roman" panose="02020603050405020304" pitchFamily="18" charset="0"/>
              </a:rPr>
              <a:t>three types of computing resources</a:t>
            </a:r>
            <a:r>
              <a:rPr lang="en-US" sz="2800" dirty="0">
                <a:solidFill>
                  <a:srgbClr val="002060"/>
                </a:solidFill>
                <a:latin typeface="Times New Roman" panose="02020603050405020304" pitchFamily="18" charset="0"/>
                <a:cs typeface="Times New Roman" panose="02020603050405020304" pitchFamily="18" charset="0"/>
              </a:rPr>
              <a:t>:</a:t>
            </a:r>
          </a:p>
          <a:p>
            <a:pPr marL="457200" indent="-457200">
              <a:lnSpc>
                <a:spcPct val="150000"/>
              </a:lnSpc>
              <a:buFont typeface="Wingdings" panose="05000000000000000000" pitchFamily="2" charset="2"/>
              <a:buChar char="§"/>
            </a:pPr>
            <a:r>
              <a:rPr lang="en-US" sz="2800" b="1" dirty="0">
                <a:solidFill>
                  <a:srgbClr val="002060"/>
                </a:solidFill>
                <a:latin typeface="Times New Roman" panose="02020603050405020304" pitchFamily="18" charset="0"/>
                <a:cs typeface="Times New Roman" panose="02020603050405020304" pitchFamily="18" charset="0"/>
              </a:rPr>
              <a:t>CPU cores</a:t>
            </a:r>
            <a:endParaRPr lang="en-US" sz="2800" dirty="0">
              <a:solidFill>
                <a:srgbClr val="002060"/>
              </a:solidFill>
              <a:latin typeface="Times New Roman" panose="02020603050405020304" pitchFamily="18" charset="0"/>
              <a:cs typeface="Times New Roman" panose="02020603050405020304" pitchFamily="18" charset="0"/>
            </a:endParaRPr>
          </a:p>
          <a:p>
            <a:pPr marL="457200" indent="-457200">
              <a:lnSpc>
                <a:spcPct val="150000"/>
              </a:lnSpc>
              <a:buFont typeface="Wingdings" panose="05000000000000000000" pitchFamily="2" charset="2"/>
              <a:buChar char="§"/>
            </a:pPr>
            <a:r>
              <a:rPr lang="en-US" sz="2800" b="1" dirty="0">
                <a:solidFill>
                  <a:srgbClr val="002060"/>
                </a:solidFill>
                <a:latin typeface="Times New Roman" panose="02020603050405020304" pitchFamily="18" charset="0"/>
                <a:cs typeface="Times New Roman" panose="02020603050405020304" pitchFamily="18" charset="0"/>
              </a:rPr>
              <a:t>RAM in GB</a:t>
            </a:r>
            <a:endParaRPr lang="en-US" sz="2800" dirty="0">
              <a:solidFill>
                <a:srgbClr val="002060"/>
              </a:solidFill>
              <a:latin typeface="Times New Roman" panose="02020603050405020304" pitchFamily="18" charset="0"/>
              <a:cs typeface="Times New Roman" panose="02020603050405020304" pitchFamily="18" charset="0"/>
            </a:endParaRPr>
          </a:p>
          <a:p>
            <a:pPr marL="457200" indent="-457200">
              <a:lnSpc>
                <a:spcPct val="150000"/>
              </a:lnSpc>
              <a:buFont typeface="Wingdings" panose="05000000000000000000" pitchFamily="2" charset="2"/>
              <a:buChar char="§"/>
            </a:pPr>
            <a:r>
              <a:rPr lang="en-US" sz="2800" b="1" dirty="0">
                <a:solidFill>
                  <a:srgbClr val="002060"/>
                </a:solidFill>
                <a:latin typeface="Times New Roman" panose="02020603050405020304" pitchFamily="18" charset="0"/>
                <a:cs typeface="Times New Roman" panose="02020603050405020304" pitchFamily="18" charset="0"/>
              </a:rPr>
              <a:t>Storage in TB</a:t>
            </a:r>
            <a:endParaRPr lang="en-US" sz="2800" dirty="0">
              <a:solidFill>
                <a:srgbClr val="002060"/>
              </a:solidFill>
              <a:latin typeface="Times New Roman" panose="02020603050405020304" pitchFamily="18" charset="0"/>
              <a:cs typeface="Times New Roman" panose="02020603050405020304" pitchFamily="18" charset="0"/>
            </a:endParaRPr>
          </a:p>
          <a:p>
            <a:pPr>
              <a:lnSpc>
                <a:spcPct val="150000"/>
              </a:lnSpc>
            </a:pPr>
            <a:r>
              <a:rPr lang="en-US" sz="2800" dirty="0">
                <a:solidFill>
                  <a:srgbClr val="002060"/>
                </a:solidFill>
                <a:latin typeface="Times New Roman" panose="02020603050405020304" pitchFamily="18" charset="0"/>
                <a:cs typeface="Times New Roman" panose="02020603050405020304" pitchFamily="18" charset="0"/>
              </a:rPr>
              <a:t>Each </a:t>
            </a:r>
            <a:r>
              <a:rPr lang="en-US" sz="2800" b="1" dirty="0">
                <a:solidFill>
                  <a:srgbClr val="002060"/>
                </a:solidFill>
                <a:latin typeface="Times New Roman" panose="02020603050405020304" pitchFamily="18" charset="0"/>
                <a:cs typeface="Times New Roman" panose="02020603050405020304" pitchFamily="18" charset="0"/>
              </a:rPr>
              <a:t>client request</a:t>
            </a:r>
            <a:r>
              <a:rPr lang="en-US" sz="2800" dirty="0">
                <a:solidFill>
                  <a:srgbClr val="002060"/>
                </a:solidFill>
                <a:latin typeface="Times New Roman" panose="02020603050405020304" pitchFamily="18" charset="0"/>
                <a:cs typeface="Times New Roman" panose="02020603050405020304" pitchFamily="18" charset="0"/>
              </a:rPr>
              <a:t> requires a specific combination of these resources. The data center must allocate resources efficiently while ensuring </a:t>
            </a:r>
            <a:r>
              <a:rPr lang="en-US" sz="2800" b="1" dirty="0">
                <a:solidFill>
                  <a:srgbClr val="002060"/>
                </a:solidFill>
                <a:latin typeface="Times New Roman" panose="02020603050405020304" pitchFamily="18" charset="0"/>
                <a:cs typeface="Times New Roman" panose="02020603050405020304" pitchFamily="18" charset="0"/>
              </a:rPr>
              <a:t>all resources are fully utilized</a:t>
            </a:r>
            <a:r>
              <a:rPr lang="en-US" sz="2800" dirty="0">
                <a:solidFill>
                  <a:srgbClr val="002060"/>
                </a:solidFill>
                <a:latin typeface="Times New Roman" panose="02020603050405020304" pitchFamily="18"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F1B01780-51CB-DB88-9905-CEDA25575DCF}"/>
                  </a:ext>
                </a:extLst>
              </p:cNvPr>
              <p:cNvSpPr txBox="1"/>
              <p:nvPr/>
            </p:nvSpPr>
            <p:spPr>
              <a:xfrm>
                <a:off x="2039815" y="5795889"/>
                <a:ext cx="605230" cy="369332"/>
              </a:xfrm>
              <a:prstGeom prst="rect">
                <a:avLst/>
              </a:prstGeom>
              <a:noFill/>
            </p:spPr>
            <p:txBody>
              <a:bodyPr wrap="none" rtlCol="0">
                <a:spAutoFit/>
              </a:bodyPr>
              <a:lstStyle/>
              <a:p>
                <a14:m>
                  <m:oMath xmlns:m="http://schemas.openxmlformats.org/officeDocument/2006/math">
                    <m:r>
                      <a:rPr lang="en-GB" b="0" i="1" smtClean="0">
                        <a:latin typeface="Cambria Math" panose="02040503050406030204" pitchFamily="18" charset="0"/>
                      </a:rPr>
                      <m:t>𝑥</m:t>
                    </m:r>
                    <m:r>
                      <a:rPr lang="en-GB" b="0" i="1" smtClean="0">
                        <a:latin typeface="Cambria Math" panose="02040503050406030204" pitchFamily="18" charset="0"/>
                      </a:rPr>
                      <m:t>=</m:t>
                    </m:r>
                  </m:oMath>
                </a14:m>
                <a:r>
                  <a:rPr lang="en-US" dirty="0"/>
                  <a:t> </a:t>
                </a:r>
              </a:p>
            </p:txBody>
          </p:sp>
        </mc:Choice>
        <mc:Fallback xmlns="">
          <p:sp>
            <p:nvSpPr>
              <p:cNvPr id="2" name="TextBox 1">
                <a:extLst>
                  <a:ext uri="{FF2B5EF4-FFF2-40B4-BE49-F238E27FC236}">
                    <a16:creationId xmlns:a16="http://schemas.microsoft.com/office/drawing/2014/main" id="{F1B01780-51CB-DB88-9905-CEDA25575DCF}"/>
                  </a:ext>
                </a:extLst>
              </p:cNvPr>
              <p:cNvSpPr txBox="1">
                <a:spLocks noRot="1" noChangeAspect="1" noMove="1" noResize="1" noEditPoints="1" noAdjustHandles="1" noChangeArrowheads="1" noChangeShapeType="1" noTextEdit="1"/>
              </p:cNvSpPr>
              <p:nvPr/>
            </p:nvSpPr>
            <p:spPr>
              <a:xfrm>
                <a:off x="2039815" y="5795889"/>
                <a:ext cx="605230" cy="369332"/>
              </a:xfrm>
              <a:prstGeom prst="rect">
                <a:avLst/>
              </a:prstGeom>
              <a:blipFill>
                <a:blip r:embed="rId2"/>
                <a:stretch>
                  <a:fillRect t="-10000" r="-8081" b="-26667"/>
                </a:stretch>
              </a:blipFill>
            </p:spPr>
            <p:txBody>
              <a:bodyPr/>
              <a:lstStyle/>
              <a:p>
                <a:r>
                  <a:rPr lang="en-US">
                    <a:noFill/>
                  </a:rPr>
                  <a:t> </a:t>
                </a:r>
              </a:p>
            </p:txBody>
          </p:sp>
        </mc:Fallback>
      </mc:AlternateContent>
    </p:spTree>
    <p:extLst>
      <p:ext uri="{BB962C8B-B14F-4D97-AF65-F5344CB8AC3E}">
        <p14:creationId xmlns:p14="http://schemas.microsoft.com/office/powerpoint/2010/main" val="323490508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39D1356-C46A-11DA-14ED-0C1CE9EA623F}"/>
              </a:ext>
            </a:extLst>
          </p:cNvPr>
          <p:cNvSpPr txBox="1"/>
          <p:nvPr/>
        </p:nvSpPr>
        <p:spPr>
          <a:xfrm>
            <a:off x="0" y="691384"/>
            <a:ext cx="12192000" cy="1687963"/>
          </a:xfrm>
          <a:prstGeom prst="rect">
            <a:avLst/>
          </a:prstGeom>
          <a:noFill/>
        </p:spPr>
        <p:txBody>
          <a:bodyPr wrap="square">
            <a:spAutoFit/>
          </a:bodyPr>
          <a:lstStyle/>
          <a:p>
            <a:pPr>
              <a:lnSpc>
                <a:spcPct val="150000"/>
              </a:lnSpc>
              <a:buNone/>
            </a:pPr>
            <a:r>
              <a:rPr lang="en-US" sz="2400" dirty="0">
                <a:solidFill>
                  <a:srgbClr val="002060"/>
                </a:solidFill>
                <a:latin typeface="Times New Roman" panose="02020603050405020304" pitchFamily="18" charset="0"/>
                <a:cs typeface="Times New Roman" panose="02020603050405020304" pitchFamily="18" charset="0"/>
              </a:rPr>
              <a:t>The company receives </a:t>
            </a:r>
            <a:r>
              <a:rPr lang="en-US" sz="2400" b="1" dirty="0">
                <a:solidFill>
                  <a:srgbClr val="002060"/>
                </a:solidFill>
                <a:latin typeface="Times New Roman" panose="02020603050405020304" pitchFamily="18" charset="0"/>
                <a:cs typeface="Times New Roman" panose="02020603050405020304" pitchFamily="18" charset="0"/>
              </a:rPr>
              <a:t>three client requests</a:t>
            </a:r>
            <a:r>
              <a:rPr lang="en-US" sz="2400" dirty="0">
                <a:solidFill>
                  <a:srgbClr val="002060"/>
                </a:solidFill>
                <a:latin typeface="Times New Roman" panose="02020603050405020304" pitchFamily="18" charset="0"/>
                <a:cs typeface="Times New Roman" panose="02020603050405020304" pitchFamily="18" charset="0"/>
              </a:rPr>
              <a:t>, and the total available resources are:</a:t>
            </a:r>
          </a:p>
          <a:p>
            <a:pPr>
              <a:lnSpc>
                <a:spcPct val="150000"/>
              </a:lnSpc>
              <a:buFont typeface="Arial" panose="020B0604020202020204" pitchFamily="34" charset="0"/>
              <a:buChar char="•"/>
            </a:pPr>
            <a:r>
              <a:rPr lang="en-US" sz="2400" b="1" dirty="0">
                <a:solidFill>
                  <a:srgbClr val="002060"/>
                </a:solidFill>
                <a:latin typeface="Times New Roman" panose="02020603050405020304" pitchFamily="18" charset="0"/>
                <a:cs typeface="Times New Roman" panose="02020603050405020304" pitchFamily="18" charset="0"/>
              </a:rPr>
              <a:t> 60 CPU cores       . 130 GB RAM        . 100 TB Storage</a:t>
            </a:r>
            <a:endParaRPr lang="en-US" sz="2400" dirty="0">
              <a:solidFill>
                <a:srgbClr val="002060"/>
              </a:solidFill>
              <a:latin typeface="Times New Roman" panose="02020603050405020304" pitchFamily="18" charset="0"/>
              <a:cs typeface="Times New Roman" panose="02020603050405020304" pitchFamily="18" charset="0"/>
            </a:endParaRPr>
          </a:p>
          <a:p>
            <a:pPr>
              <a:lnSpc>
                <a:spcPct val="150000"/>
              </a:lnSpc>
            </a:pPr>
            <a:r>
              <a:rPr lang="en-US" sz="2400" dirty="0">
                <a:solidFill>
                  <a:srgbClr val="002060"/>
                </a:solidFill>
                <a:latin typeface="Times New Roman" panose="02020603050405020304" pitchFamily="18" charset="0"/>
                <a:cs typeface="Times New Roman" panose="02020603050405020304" pitchFamily="18" charset="0"/>
              </a:rPr>
              <a:t>Each client's request results in a system of three equations:</a:t>
            </a:r>
          </a:p>
        </p:txBody>
      </p:sp>
      <p:sp>
        <p:nvSpPr>
          <p:cNvPr id="5" name="TextBox 4">
            <a:extLst>
              <a:ext uri="{FF2B5EF4-FFF2-40B4-BE49-F238E27FC236}">
                <a16:creationId xmlns:a16="http://schemas.microsoft.com/office/drawing/2014/main" id="{4355FC28-44F6-0B8A-7CA9-D7ED6B6B8664}"/>
              </a:ext>
            </a:extLst>
          </p:cNvPr>
          <p:cNvSpPr txBox="1"/>
          <p:nvPr/>
        </p:nvSpPr>
        <p:spPr>
          <a:xfrm>
            <a:off x="0" y="1"/>
            <a:ext cx="12192000" cy="584775"/>
          </a:xfrm>
          <a:prstGeom prst="rect">
            <a:avLst/>
          </a:prstGeom>
          <a:solidFill>
            <a:schemeClr val="accent2">
              <a:lumMod val="20000"/>
              <a:lumOff val="80000"/>
            </a:schemeClr>
          </a:solidFill>
          <a:ln w="28575">
            <a:solidFill>
              <a:srgbClr val="C00000"/>
            </a:solidFill>
          </a:ln>
        </p:spPr>
        <p:txBody>
          <a:bodyPr wrap="square">
            <a:spAutoFit/>
          </a:bodyPr>
          <a:lstStyle/>
          <a:p>
            <a:r>
              <a:rPr lang="en-US" sz="3200" dirty="0">
                <a:solidFill>
                  <a:srgbClr val="C00000"/>
                </a:solidFill>
                <a:latin typeface="Times New Roman" panose="02020603050405020304" pitchFamily="18" charset="0"/>
                <a:cs typeface="Times New Roman" panose="02020603050405020304" pitchFamily="18" charset="0"/>
              </a:rPr>
              <a:t>Problem Setup: Resource Allocation as a System of Linear Equations</a:t>
            </a:r>
          </a:p>
        </p:txBody>
      </p:sp>
      <p:sp>
        <p:nvSpPr>
          <p:cNvPr id="9" name="TextBox 8">
            <a:extLst>
              <a:ext uri="{FF2B5EF4-FFF2-40B4-BE49-F238E27FC236}">
                <a16:creationId xmlns:a16="http://schemas.microsoft.com/office/drawing/2014/main" id="{92BE1D18-F279-18AD-CFD2-05EB4EDC6D43}"/>
              </a:ext>
            </a:extLst>
          </p:cNvPr>
          <p:cNvSpPr txBox="1"/>
          <p:nvPr/>
        </p:nvSpPr>
        <p:spPr>
          <a:xfrm>
            <a:off x="-126612" y="4085864"/>
            <a:ext cx="9312814" cy="461665"/>
          </a:xfrm>
          <a:prstGeom prst="rect">
            <a:avLst/>
          </a:prstGeom>
          <a:noFill/>
        </p:spPr>
        <p:txBody>
          <a:bodyPr wrap="square">
            <a:spAutoFit/>
          </a:bodyPr>
          <a:lstStyle/>
          <a:p>
            <a:r>
              <a:rPr lang="en-US" sz="2400" dirty="0">
                <a:solidFill>
                  <a:srgbClr val="0070C0"/>
                </a:solidFill>
                <a:latin typeface="Times New Roman" panose="02020603050405020304" pitchFamily="18" charset="0"/>
                <a:cs typeface="Times New Roman" panose="02020603050405020304" pitchFamily="18" charset="0"/>
              </a:rPr>
              <a:t>1️⃣ </a:t>
            </a:r>
            <a:r>
              <a:rPr lang="en-US" sz="2400" b="1" dirty="0">
                <a:solidFill>
                  <a:srgbClr val="0070C0"/>
                </a:solidFill>
                <a:latin typeface="Times New Roman" panose="02020603050405020304" pitchFamily="18" charset="0"/>
                <a:cs typeface="Times New Roman" panose="02020603050405020304" pitchFamily="18" charset="0"/>
              </a:rPr>
              <a:t>Client 1:</a:t>
            </a:r>
            <a:r>
              <a:rPr lang="en-US" sz="2400" dirty="0">
                <a:solidFill>
                  <a:srgbClr val="0070C0"/>
                </a:solidFill>
                <a:latin typeface="Times New Roman" panose="02020603050405020304" pitchFamily="18" charset="0"/>
                <a:cs typeface="Times New Roman" panose="02020603050405020304" pitchFamily="18" charset="0"/>
              </a:rPr>
              <a:t> Requests 10</a:t>
            </a:r>
            <a:r>
              <a:rPr lang="en-US" sz="2400" b="1" dirty="0">
                <a:solidFill>
                  <a:srgbClr val="0070C0"/>
                </a:solidFill>
                <a:latin typeface="Times New Roman" panose="02020603050405020304" pitchFamily="18" charset="0"/>
                <a:cs typeface="Times New Roman" panose="02020603050405020304" pitchFamily="18" charset="0"/>
              </a:rPr>
              <a:t> CPU cores, 20 GB RAM, and 30 TB Storage</a:t>
            </a:r>
            <a:endParaRPr lang="en-US" sz="2400" dirty="0">
              <a:solidFill>
                <a:srgbClr val="0070C0"/>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9D0D8D93-703E-F8F2-7016-39EA0FB7E6E1}"/>
              </a:ext>
            </a:extLst>
          </p:cNvPr>
          <p:cNvSpPr txBox="1"/>
          <p:nvPr/>
        </p:nvSpPr>
        <p:spPr>
          <a:xfrm>
            <a:off x="-100818" y="4603801"/>
            <a:ext cx="9176824" cy="461665"/>
          </a:xfrm>
          <a:prstGeom prst="rect">
            <a:avLst/>
          </a:prstGeom>
          <a:noFill/>
        </p:spPr>
        <p:txBody>
          <a:bodyPr wrap="square">
            <a:spAutoFit/>
          </a:bodyPr>
          <a:lstStyle/>
          <a:p>
            <a:r>
              <a:rPr lang="en-US" sz="2400" dirty="0">
                <a:solidFill>
                  <a:srgbClr val="0070C0"/>
                </a:solidFill>
                <a:latin typeface="Times New Roman" panose="02020603050405020304" pitchFamily="18" charset="0"/>
                <a:cs typeface="Times New Roman" panose="02020603050405020304" pitchFamily="18" charset="0"/>
              </a:rPr>
              <a:t>2️⃣ </a:t>
            </a:r>
            <a:r>
              <a:rPr lang="en-US" sz="2400" b="1" dirty="0">
                <a:solidFill>
                  <a:srgbClr val="0070C0"/>
                </a:solidFill>
                <a:latin typeface="Times New Roman" panose="02020603050405020304" pitchFamily="18" charset="0"/>
                <a:cs typeface="Times New Roman" panose="02020603050405020304" pitchFamily="18" charset="0"/>
              </a:rPr>
              <a:t>Client 2:</a:t>
            </a:r>
            <a:r>
              <a:rPr lang="en-US" sz="2400" dirty="0">
                <a:solidFill>
                  <a:srgbClr val="0070C0"/>
                </a:solidFill>
                <a:latin typeface="Times New Roman" panose="02020603050405020304" pitchFamily="18" charset="0"/>
                <a:cs typeface="Times New Roman" panose="02020603050405020304" pitchFamily="18" charset="0"/>
              </a:rPr>
              <a:t> Requests </a:t>
            </a:r>
            <a:r>
              <a:rPr lang="en-US" sz="2400" b="1" dirty="0">
                <a:solidFill>
                  <a:srgbClr val="0070C0"/>
                </a:solidFill>
                <a:latin typeface="Times New Roman" panose="02020603050405020304" pitchFamily="18" charset="0"/>
                <a:cs typeface="Times New Roman" panose="02020603050405020304" pitchFamily="18" charset="0"/>
              </a:rPr>
              <a:t>10 CPU core, 10 GB RAM, and 20 TB Storage</a:t>
            </a:r>
            <a:endParaRPr lang="en-US" sz="2400" dirty="0">
              <a:solidFill>
                <a:srgbClr val="0070C0"/>
              </a:solidFill>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93925236-F694-07E6-5B01-E93D813FD21F}"/>
              </a:ext>
            </a:extLst>
          </p:cNvPr>
          <p:cNvSpPr txBox="1"/>
          <p:nvPr/>
        </p:nvSpPr>
        <p:spPr>
          <a:xfrm>
            <a:off x="-100818" y="5130238"/>
            <a:ext cx="9312814" cy="461665"/>
          </a:xfrm>
          <a:prstGeom prst="rect">
            <a:avLst/>
          </a:prstGeom>
          <a:noFill/>
        </p:spPr>
        <p:txBody>
          <a:bodyPr wrap="square">
            <a:spAutoFit/>
          </a:bodyPr>
          <a:lstStyle/>
          <a:p>
            <a:r>
              <a:rPr lang="en-US" sz="2400" dirty="0">
                <a:solidFill>
                  <a:srgbClr val="0070C0"/>
                </a:solidFill>
                <a:latin typeface="Times New Roman" panose="02020603050405020304" pitchFamily="18" charset="0"/>
                <a:cs typeface="Times New Roman" panose="02020603050405020304" pitchFamily="18" charset="0"/>
              </a:rPr>
              <a:t>3️⃣ </a:t>
            </a:r>
            <a:r>
              <a:rPr lang="en-US" sz="2400" b="1" dirty="0">
                <a:solidFill>
                  <a:srgbClr val="0070C0"/>
                </a:solidFill>
                <a:latin typeface="Times New Roman" panose="02020603050405020304" pitchFamily="18" charset="0"/>
                <a:cs typeface="Times New Roman" panose="02020603050405020304" pitchFamily="18" charset="0"/>
              </a:rPr>
              <a:t>Client 3:</a:t>
            </a:r>
            <a:r>
              <a:rPr lang="en-US" sz="2400" dirty="0">
                <a:solidFill>
                  <a:srgbClr val="0070C0"/>
                </a:solidFill>
                <a:latin typeface="Times New Roman" panose="02020603050405020304" pitchFamily="18" charset="0"/>
                <a:cs typeface="Times New Roman" panose="02020603050405020304" pitchFamily="18" charset="0"/>
              </a:rPr>
              <a:t> Requests </a:t>
            </a:r>
            <a:r>
              <a:rPr lang="en-US" sz="2400" b="1" dirty="0">
                <a:solidFill>
                  <a:srgbClr val="0070C0"/>
                </a:solidFill>
                <a:latin typeface="Times New Roman" panose="02020603050405020304" pitchFamily="18" charset="0"/>
                <a:cs typeface="Times New Roman" panose="02020603050405020304" pitchFamily="18" charset="0"/>
              </a:rPr>
              <a:t>10 CPU cores, 30 GB RAM, and 10 TB Storage</a:t>
            </a:r>
            <a:endParaRPr lang="en-US" sz="2400" dirty="0">
              <a:solidFill>
                <a:srgbClr val="0070C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C73C0D3-9359-A0FF-2396-9C474D93095A}"/>
                  </a:ext>
                </a:extLst>
              </p:cNvPr>
              <p:cNvSpPr txBox="1"/>
              <p:nvPr/>
            </p:nvSpPr>
            <p:spPr>
              <a:xfrm>
                <a:off x="94471" y="5740505"/>
                <a:ext cx="3249159" cy="461665"/>
              </a:xfrm>
              <a:prstGeom prst="rect">
                <a:avLst/>
              </a:prstGeom>
              <a:solidFill>
                <a:schemeClr val="accent5">
                  <a:lumMod val="20000"/>
                  <a:lumOff val="80000"/>
                </a:schemeClr>
              </a:solidFill>
              <a:ln w="28575">
                <a:solidFill>
                  <a:srgbClr val="0070C0"/>
                </a:solid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400" i="1" smtClean="0">
                          <a:solidFill>
                            <a:srgbClr val="002060"/>
                          </a:solidFill>
                          <a:latin typeface="Cambria Math" panose="02040503050406030204" pitchFamily="18" charset="0"/>
                        </a:rPr>
                        <m:t>1</m:t>
                      </m:r>
                      <m:r>
                        <a:rPr lang="en-GB" sz="2400" b="0" i="1" smtClean="0">
                          <a:solidFill>
                            <a:srgbClr val="002060"/>
                          </a:solidFill>
                          <a:latin typeface="Cambria Math" panose="02040503050406030204" pitchFamily="18" charset="0"/>
                        </a:rPr>
                        <m:t>0</m:t>
                      </m:r>
                      <m:r>
                        <a:rPr lang="en-GB" sz="2400" b="0" i="1" smtClean="0">
                          <a:solidFill>
                            <a:srgbClr val="002060"/>
                          </a:solidFill>
                          <a:latin typeface="Cambria Math" panose="02040503050406030204" pitchFamily="18" charset="0"/>
                        </a:rPr>
                        <m:t>𝑥</m:t>
                      </m:r>
                      <m:r>
                        <a:rPr lang="en-GB" sz="2400" b="0" i="1" smtClean="0">
                          <a:solidFill>
                            <a:srgbClr val="002060"/>
                          </a:solidFill>
                          <a:latin typeface="Cambria Math" panose="02040503050406030204" pitchFamily="18" charset="0"/>
                        </a:rPr>
                        <m:t>+10</m:t>
                      </m:r>
                      <m:r>
                        <a:rPr lang="en-GB" sz="2400" b="0" i="1" smtClean="0">
                          <a:solidFill>
                            <a:srgbClr val="002060"/>
                          </a:solidFill>
                          <a:latin typeface="Cambria Math" panose="02040503050406030204" pitchFamily="18" charset="0"/>
                        </a:rPr>
                        <m:t>𝑦</m:t>
                      </m:r>
                      <m:r>
                        <a:rPr lang="en-GB" sz="2400" b="0" i="1" smtClean="0">
                          <a:solidFill>
                            <a:srgbClr val="002060"/>
                          </a:solidFill>
                          <a:latin typeface="Cambria Math" panose="02040503050406030204" pitchFamily="18" charset="0"/>
                        </a:rPr>
                        <m:t>+10</m:t>
                      </m:r>
                      <m:r>
                        <a:rPr lang="en-GB" sz="2400" b="0" i="1" smtClean="0">
                          <a:solidFill>
                            <a:srgbClr val="002060"/>
                          </a:solidFill>
                          <a:latin typeface="Cambria Math" panose="02040503050406030204" pitchFamily="18" charset="0"/>
                        </a:rPr>
                        <m:t>𝑧</m:t>
                      </m:r>
                      <m:r>
                        <a:rPr lang="en-GB" sz="2400" b="0" i="1" smtClean="0">
                          <a:solidFill>
                            <a:srgbClr val="002060"/>
                          </a:solidFill>
                          <a:latin typeface="Cambria Math" panose="02040503050406030204" pitchFamily="18" charset="0"/>
                        </a:rPr>
                        <m:t>=60</m:t>
                      </m:r>
                    </m:oMath>
                  </m:oMathPara>
                </a14:m>
                <a:endParaRPr lang="en-US" sz="2400" dirty="0">
                  <a:solidFill>
                    <a:srgbClr val="002060"/>
                  </a:solidFill>
                </a:endParaRPr>
              </a:p>
            </p:txBody>
          </p:sp>
        </mc:Choice>
        <mc:Fallback xmlns="">
          <p:sp>
            <p:nvSpPr>
              <p:cNvPr id="14" name="TextBox 13">
                <a:extLst>
                  <a:ext uri="{FF2B5EF4-FFF2-40B4-BE49-F238E27FC236}">
                    <a16:creationId xmlns:a16="http://schemas.microsoft.com/office/drawing/2014/main" id="{FC73C0D3-9359-A0FF-2396-9C474D93095A}"/>
                  </a:ext>
                </a:extLst>
              </p:cNvPr>
              <p:cNvSpPr txBox="1">
                <a:spLocks noRot="1" noChangeAspect="1" noMove="1" noResize="1" noEditPoints="1" noAdjustHandles="1" noChangeArrowheads="1" noChangeShapeType="1" noTextEdit="1"/>
              </p:cNvSpPr>
              <p:nvPr/>
            </p:nvSpPr>
            <p:spPr>
              <a:xfrm>
                <a:off x="94471" y="5740505"/>
                <a:ext cx="3249159" cy="461665"/>
              </a:xfrm>
              <a:prstGeom prst="rect">
                <a:avLst/>
              </a:prstGeom>
              <a:blipFill>
                <a:blip r:embed="rId2"/>
                <a:stretch>
                  <a:fillRect b="-6250"/>
                </a:stretch>
              </a:blipFill>
              <a:ln w="28575">
                <a:solidFill>
                  <a:srgbClr val="0070C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371F9FF-D97D-40FE-F7C5-148CCAB95700}"/>
                  </a:ext>
                </a:extLst>
              </p:cNvPr>
              <p:cNvSpPr txBox="1"/>
              <p:nvPr/>
            </p:nvSpPr>
            <p:spPr>
              <a:xfrm>
                <a:off x="3902156" y="5712947"/>
                <a:ext cx="3419078" cy="461665"/>
              </a:xfrm>
              <a:prstGeom prst="rect">
                <a:avLst/>
              </a:prstGeom>
              <a:solidFill>
                <a:schemeClr val="accent5">
                  <a:lumMod val="20000"/>
                  <a:lumOff val="80000"/>
                </a:schemeClr>
              </a:solidFill>
              <a:ln w="28575">
                <a:solidFill>
                  <a:srgbClr val="0070C0"/>
                </a:solid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400" b="0" i="1" smtClean="0">
                          <a:solidFill>
                            <a:srgbClr val="002060"/>
                          </a:solidFill>
                          <a:latin typeface="Cambria Math" panose="02040503050406030204" pitchFamily="18" charset="0"/>
                        </a:rPr>
                        <m:t>20</m:t>
                      </m:r>
                      <m:r>
                        <a:rPr lang="en-GB" sz="2400" b="0" i="1" smtClean="0">
                          <a:solidFill>
                            <a:srgbClr val="002060"/>
                          </a:solidFill>
                          <a:latin typeface="Cambria Math" panose="02040503050406030204" pitchFamily="18" charset="0"/>
                        </a:rPr>
                        <m:t>𝑥</m:t>
                      </m:r>
                      <m:r>
                        <a:rPr lang="en-GB" sz="2400" b="0" i="1" smtClean="0">
                          <a:solidFill>
                            <a:srgbClr val="002060"/>
                          </a:solidFill>
                          <a:latin typeface="Cambria Math" panose="02040503050406030204" pitchFamily="18" charset="0"/>
                        </a:rPr>
                        <m:t>+10</m:t>
                      </m:r>
                      <m:r>
                        <a:rPr lang="en-GB" sz="2400" b="0" i="1" smtClean="0">
                          <a:solidFill>
                            <a:srgbClr val="002060"/>
                          </a:solidFill>
                          <a:latin typeface="Cambria Math" panose="02040503050406030204" pitchFamily="18" charset="0"/>
                        </a:rPr>
                        <m:t>𝑦</m:t>
                      </m:r>
                      <m:r>
                        <a:rPr lang="en-GB" sz="2400" b="0" i="1" smtClean="0">
                          <a:solidFill>
                            <a:srgbClr val="002060"/>
                          </a:solidFill>
                          <a:latin typeface="Cambria Math" panose="02040503050406030204" pitchFamily="18" charset="0"/>
                        </a:rPr>
                        <m:t>+30</m:t>
                      </m:r>
                      <m:r>
                        <a:rPr lang="en-GB" sz="2400" b="0" i="1" smtClean="0">
                          <a:solidFill>
                            <a:srgbClr val="002060"/>
                          </a:solidFill>
                          <a:latin typeface="Cambria Math" panose="02040503050406030204" pitchFamily="18" charset="0"/>
                        </a:rPr>
                        <m:t>𝑧</m:t>
                      </m:r>
                      <m:r>
                        <a:rPr lang="en-GB" sz="2400" b="0" i="1" smtClean="0">
                          <a:solidFill>
                            <a:srgbClr val="002060"/>
                          </a:solidFill>
                          <a:latin typeface="Cambria Math" panose="02040503050406030204" pitchFamily="18" charset="0"/>
                        </a:rPr>
                        <m:t>=130</m:t>
                      </m:r>
                    </m:oMath>
                  </m:oMathPara>
                </a14:m>
                <a:endParaRPr lang="en-US" sz="2400" dirty="0">
                  <a:solidFill>
                    <a:srgbClr val="002060"/>
                  </a:solidFill>
                </a:endParaRPr>
              </a:p>
            </p:txBody>
          </p:sp>
        </mc:Choice>
        <mc:Fallback xmlns="">
          <p:sp>
            <p:nvSpPr>
              <p:cNvPr id="15" name="TextBox 14">
                <a:extLst>
                  <a:ext uri="{FF2B5EF4-FFF2-40B4-BE49-F238E27FC236}">
                    <a16:creationId xmlns:a16="http://schemas.microsoft.com/office/drawing/2014/main" id="{E371F9FF-D97D-40FE-F7C5-148CCAB95700}"/>
                  </a:ext>
                </a:extLst>
              </p:cNvPr>
              <p:cNvSpPr txBox="1">
                <a:spLocks noRot="1" noChangeAspect="1" noMove="1" noResize="1" noEditPoints="1" noAdjustHandles="1" noChangeArrowheads="1" noChangeShapeType="1" noTextEdit="1"/>
              </p:cNvSpPr>
              <p:nvPr/>
            </p:nvSpPr>
            <p:spPr>
              <a:xfrm>
                <a:off x="3902156" y="5712947"/>
                <a:ext cx="3419078" cy="461665"/>
              </a:xfrm>
              <a:prstGeom prst="rect">
                <a:avLst/>
              </a:prstGeom>
              <a:blipFill>
                <a:blip r:embed="rId3"/>
                <a:stretch>
                  <a:fillRect b="-6173"/>
                </a:stretch>
              </a:blipFill>
              <a:ln w="28575">
                <a:solidFill>
                  <a:srgbClr val="0070C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97CC09D-4B3F-2698-30DF-C7E96AC82C26}"/>
                  </a:ext>
                </a:extLst>
              </p:cNvPr>
              <p:cNvSpPr txBox="1"/>
              <p:nvPr/>
            </p:nvSpPr>
            <p:spPr>
              <a:xfrm>
                <a:off x="5338904" y="6295656"/>
                <a:ext cx="3419078" cy="461665"/>
              </a:xfrm>
              <a:prstGeom prst="rect">
                <a:avLst/>
              </a:prstGeom>
              <a:solidFill>
                <a:schemeClr val="accent5">
                  <a:lumMod val="20000"/>
                  <a:lumOff val="80000"/>
                </a:schemeClr>
              </a:solidFill>
              <a:ln w="28575">
                <a:solidFill>
                  <a:srgbClr val="0070C0"/>
                </a:solid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400" b="0" i="1" smtClean="0">
                          <a:solidFill>
                            <a:srgbClr val="002060"/>
                          </a:solidFill>
                          <a:latin typeface="Cambria Math" panose="02040503050406030204" pitchFamily="18" charset="0"/>
                        </a:rPr>
                        <m:t>30</m:t>
                      </m:r>
                      <m:r>
                        <a:rPr lang="en-GB" sz="2400" b="0" i="1" smtClean="0">
                          <a:solidFill>
                            <a:srgbClr val="002060"/>
                          </a:solidFill>
                          <a:latin typeface="Cambria Math" panose="02040503050406030204" pitchFamily="18" charset="0"/>
                        </a:rPr>
                        <m:t>𝑥</m:t>
                      </m:r>
                      <m:r>
                        <a:rPr lang="en-GB" sz="2400" b="0" i="1" smtClean="0">
                          <a:solidFill>
                            <a:srgbClr val="002060"/>
                          </a:solidFill>
                          <a:latin typeface="Cambria Math" panose="02040503050406030204" pitchFamily="18" charset="0"/>
                        </a:rPr>
                        <m:t>+20</m:t>
                      </m:r>
                      <m:r>
                        <a:rPr lang="en-GB" sz="2400" b="0" i="1" smtClean="0">
                          <a:solidFill>
                            <a:srgbClr val="002060"/>
                          </a:solidFill>
                          <a:latin typeface="Cambria Math" panose="02040503050406030204" pitchFamily="18" charset="0"/>
                        </a:rPr>
                        <m:t>𝑦</m:t>
                      </m:r>
                      <m:r>
                        <a:rPr lang="en-GB" sz="2400" b="0" i="1" smtClean="0">
                          <a:solidFill>
                            <a:srgbClr val="002060"/>
                          </a:solidFill>
                          <a:latin typeface="Cambria Math" panose="02040503050406030204" pitchFamily="18" charset="0"/>
                        </a:rPr>
                        <m:t>+10</m:t>
                      </m:r>
                      <m:r>
                        <a:rPr lang="en-GB" sz="2400" b="0" i="1" smtClean="0">
                          <a:solidFill>
                            <a:srgbClr val="002060"/>
                          </a:solidFill>
                          <a:latin typeface="Cambria Math" panose="02040503050406030204" pitchFamily="18" charset="0"/>
                        </a:rPr>
                        <m:t>𝑧</m:t>
                      </m:r>
                      <m:r>
                        <a:rPr lang="en-GB" sz="2400" b="0" i="1" smtClean="0">
                          <a:solidFill>
                            <a:srgbClr val="002060"/>
                          </a:solidFill>
                          <a:latin typeface="Cambria Math" panose="02040503050406030204" pitchFamily="18" charset="0"/>
                        </a:rPr>
                        <m:t>=100</m:t>
                      </m:r>
                    </m:oMath>
                  </m:oMathPara>
                </a14:m>
                <a:endParaRPr lang="en-US" sz="2400" dirty="0">
                  <a:solidFill>
                    <a:srgbClr val="002060"/>
                  </a:solidFill>
                </a:endParaRPr>
              </a:p>
            </p:txBody>
          </p:sp>
        </mc:Choice>
        <mc:Fallback xmlns="">
          <p:sp>
            <p:nvSpPr>
              <p:cNvPr id="16" name="TextBox 15">
                <a:extLst>
                  <a:ext uri="{FF2B5EF4-FFF2-40B4-BE49-F238E27FC236}">
                    <a16:creationId xmlns:a16="http://schemas.microsoft.com/office/drawing/2014/main" id="{C97CC09D-4B3F-2698-30DF-C7E96AC82C26}"/>
                  </a:ext>
                </a:extLst>
              </p:cNvPr>
              <p:cNvSpPr txBox="1">
                <a:spLocks noRot="1" noChangeAspect="1" noMove="1" noResize="1" noEditPoints="1" noAdjustHandles="1" noChangeArrowheads="1" noChangeShapeType="1" noTextEdit="1"/>
              </p:cNvSpPr>
              <p:nvPr/>
            </p:nvSpPr>
            <p:spPr>
              <a:xfrm>
                <a:off x="5338904" y="6295656"/>
                <a:ext cx="3419078" cy="461665"/>
              </a:xfrm>
              <a:prstGeom prst="rect">
                <a:avLst/>
              </a:prstGeom>
              <a:blipFill>
                <a:blip r:embed="rId4"/>
                <a:stretch>
                  <a:fillRect b="-6250"/>
                </a:stretch>
              </a:blipFill>
              <a:ln w="28575">
                <a:solidFill>
                  <a:srgbClr val="0070C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83683A6-6A9C-73E6-0E4C-3CC808E39D56}"/>
                  </a:ext>
                </a:extLst>
              </p:cNvPr>
              <p:cNvSpPr txBox="1"/>
              <p:nvPr/>
            </p:nvSpPr>
            <p:spPr>
              <a:xfrm>
                <a:off x="9076006" y="2376973"/>
                <a:ext cx="3106618" cy="4411785"/>
              </a:xfrm>
              <a:prstGeom prst="rect">
                <a:avLst/>
              </a:prstGeom>
              <a:solidFill>
                <a:schemeClr val="accent4">
                  <a:lumMod val="20000"/>
                  <a:lumOff val="80000"/>
                </a:schemeClr>
              </a:solidFill>
              <a:ln w="28575">
                <a:solidFill>
                  <a:schemeClr val="accent2">
                    <a:lumMod val="50000"/>
                  </a:schemeClr>
                </a:solidFill>
              </a:ln>
            </p:spPr>
            <p:txBody>
              <a:bodyPr wrap="square">
                <a:spAutoFit/>
              </a:bodyPr>
              <a:lstStyle/>
              <a:p>
                <a:pPr algn="just">
                  <a:lnSpc>
                    <a:spcPct val="200000"/>
                  </a:lnSpc>
                </a:pPr>
                <a:r>
                  <a:rPr lang="en-US" sz="2400" dirty="0">
                    <a:solidFill>
                      <a:schemeClr val="accent4">
                        <a:lumMod val="50000"/>
                      </a:schemeClr>
                    </a:solidFill>
                    <a:latin typeface="Times New Roman" panose="02020603050405020304" pitchFamily="18" charset="0"/>
                    <a:cs typeface="Times New Roman" panose="02020603050405020304" pitchFamily="18" charset="0"/>
                  </a:rPr>
                  <a:t>We need to </a:t>
                </a:r>
                <a:r>
                  <a:rPr lang="en-US" sz="2400" b="1" dirty="0">
                    <a:solidFill>
                      <a:schemeClr val="accent4">
                        <a:lumMod val="50000"/>
                      </a:schemeClr>
                    </a:solidFill>
                    <a:latin typeface="Times New Roman" panose="02020603050405020304" pitchFamily="18" charset="0"/>
                    <a:cs typeface="Times New Roman" panose="02020603050405020304" pitchFamily="18" charset="0"/>
                  </a:rPr>
                  <a:t>solve for </a:t>
                </a:r>
                <a14:m>
                  <m:oMath xmlns:m="http://schemas.openxmlformats.org/officeDocument/2006/math">
                    <m:r>
                      <a:rPr lang="en-US" sz="2400" b="1" i="1" dirty="0" smtClean="0">
                        <a:solidFill>
                          <a:schemeClr val="accent4">
                            <a:lumMod val="50000"/>
                          </a:schemeClr>
                        </a:solidFill>
                        <a:latin typeface="Cambria Math" panose="02040503050406030204" pitchFamily="18" charset="0"/>
                      </a:rPr>
                      <m:t>(</m:t>
                    </m:r>
                    <m:r>
                      <a:rPr lang="en-US" sz="2400" b="1" i="1" dirty="0" smtClean="0">
                        <a:solidFill>
                          <a:schemeClr val="accent4">
                            <a:lumMod val="50000"/>
                          </a:schemeClr>
                        </a:solidFill>
                        <a:latin typeface="Cambria Math" panose="02040503050406030204" pitchFamily="18" charset="0"/>
                      </a:rPr>
                      <m:t>𝒙</m:t>
                    </m:r>
                    <m:r>
                      <a:rPr lang="en-US" sz="2400" b="1" i="1" dirty="0" smtClean="0">
                        <a:solidFill>
                          <a:schemeClr val="accent4">
                            <a:lumMod val="50000"/>
                          </a:schemeClr>
                        </a:solidFill>
                        <a:latin typeface="Cambria Math" panose="02040503050406030204" pitchFamily="18" charset="0"/>
                      </a:rPr>
                      <m:t>, </m:t>
                    </m:r>
                    <m:r>
                      <a:rPr lang="en-US" sz="2400" b="1" i="1" dirty="0" smtClean="0">
                        <a:solidFill>
                          <a:schemeClr val="accent4">
                            <a:lumMod val="50000"/>
                          </a:schemeClr>
                        </a:solidFill>
                        <a:latin typeface="Cambria Math" panose="02040503050406030204" pitchFamily="18" charset="0"/>
                      </a:rPr>
                      <m:t>𝒚</m:t>
                    </m:r>
                    <m:r>
                      <a:rPr lang="en-US" sz="2400" b="1" i="1" dirty="0" smtClean="0">
                        <a:solidFill>
                          <a:schemeClr val="accent4">
                            <a:lumMod val="50000"/>
                          </a:schemeClr>
                        </a:solidFill>
                        <a:latin typeface="Cambria Math" panose="02040503050406030204" pitchFamily="18" charset="0"/>
                      </a:rPr>
                      <m:t>, </m:t>
                    </m:r>
                    <m:r>
                      <a:rPr lang="en-US" sz="2400" b="1" i="1" dirty="0" smtClean="0">
                        <a:solidFill>
                          <a:schemeClr val="accent4">
                            <a:lumMod val="50000"/>
                          </a:schemeClr>
                        </a:solidFill>
                        <a:latin typeface="Cambria Math" panose="02040503050406030204" pitchFamily="18" charset="0"/>
                      </a:rPr>
                      <m:t>𝒛</m:t>
                    </m:r>
                    <m:r>
                      <a:rPr lang="en-US" sz="2400" b="1" i="1" dirty="0" smtClean="0">
                        <a:solidFill>
                          <a:schemeClr val="accent4">
                            <a:lumMod val="50000"/>
                          </a:schemeClr>
                        </a:solidFill>
                        <a:latin typeface="Cambria Math" panose="02040503050406030204" pitchFamily="18" charset="0"/>
                      </a:rPr>
                      <m:t>)</m:t>
                    </m:r>
                  </m:oMath>
                </a14:m>
                <a:r>
                  <a:rPr lang="en-US" sz="2400" dirty="0">
                    <a:solidFill>
                      <a:schemeClr val="accent4">
                        <a:lumMod val="50000"/>
                      </a:schemeClr>
                    </a:solidFill>
                    <a:latin typeface="Times New Roman" panose="02020603050405020304" pitchFamily="18" charset="0"/>
                    <a:cs typeface="Times New Roman" panose="02020603050405020304" pitchFamily="18" charset="0"/>
                  </a:rPr>
                  <a:t> using the </a:t>
                </a:r>
                <a:r>
                  <a:rPr lang="en-US" sz="2400" b="1" dirty="0">
                    <a:solidFill>
                      <a:schemeClr val="accent4">
                        <a:lumMod val="50000"/>
                      </a:schemeClr>
                    </a:solidFill>
                    <a:latin typeface="Times New Roman" panose="02020603050405020304" pitchFamily="18" charset="0"/>
                    <a:cs typeface="Times New Roman" panose="02020603050405020304" pitchFamily="18" charset="0"/>
                  </a:rPr>
                  <a:t>Gauss-Jordan Method</a:t>
                </a:r>
                <a:r>
                  <a:rPr lang="en-US" sz="2400" dirty="0">
                    <a:solidFill>
                      <a:schemeClr val="accent4">
                        <a:lumMod val="50000"/>
                      </a:schemeClr>
                    </a:solidFill>
                    <a:latin typeface="Times New Roman" panose="02020603050405020304" pitchFamily="18" charset="0"/>
                    <a:cs typeface="Times New Roman" panose="02020603050405020304" pitchFamily="18" charset="0"/>
                  </a:rPr>
                  <a:t> to determine how much each resource is allocated per request.</a:t>
                </a:r>
              </a:p>
            </p:txBody>
          </p:sp>
        </mc:Choice>
        <mc:Fallback xmlns="">
          <p:sp>
            <p:nvSpPr>
              <p:cNvPr id="18" name="TextBox 17">
                <a:extLst>
                  <a:ext uri="{FF2B5EF4-FFF2-40B4-BE49-F238E27FC236}">
                    <a16:creationId xmlns:a16="http://schemas.microsoft.com/office/drawing/2014/main" id="{A83683A6-6A9C-73E6-0E4C-3CC808E39D56}"/>
                  </a:ext>
                </a:extLst>
              </p:cNvPr>
              <p:cNvSpPr txBox="1">
                <a:spLocks noRot="1" noChangeAspect="1" noMove="1" noResize="1" noEditPoints="1" noAdjustHandles="1" noChangeArrowheads="1" noChangeShapeType="1" noTextEdit="1"/>
              </p:cNvSpPr>
              <p:nvPr/>
            </p:nvSpPr>
            <p:spPr>
              <a:xfrm>
                <a:off x="9076006" y="2376973"/>
                <a:ext cx="3106618" cy="4411785"/>
              </a:xfrm>
              <a:prstGeom prst="rect">
                <a:avLst/>
              </a:prstGeom>
              <a:blipFill>
                <a:blip r:embed="rId5"/>
                <a:stretch>
                  <a:fillRect l="-2724" r="-5058" b="-1783"/>
                </a:stretch>
              </a:blipFill>
              <a:ln w="28575">
                <a:solidFill>
                  <a:schemeClr val="accent2">
                    <a:lumMod val="5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2DA589F-E4AC-5D98-ADC1-5DE0932986E0}"/>
                  </a:ext>
                </a:extLst>
              </p:cNvPr>
              <p:cNvSpPr txBox="1"/>
              <p:nvPr/>
            </p:nvSpPr>
            <p:spPr>
              <a:xfrm>
                <a:off x="221570" y="2419647"/>
                <a:ext cx="8254212" cy="461665"/>
              </a:xfrm>
              <a:prstGeom prst="rect">
                <a:avLst/>
              </a:prstGeom>
              <a:noFill/>
            </p:spPr>
            <p:txBody>
              <a:bodyPr wrap="square">
                <a:spAutoFit/>
              </a:bodyPr>
              <a:lstStyle/>
              <a:p>
                <a14:m>
                  <m:oMath xmlns:m="http://schemas.openxmlformats.org/officeDocument/2006/math">
                    <m:r>
                      <a:rPr lang="en-US" sz="2400" b="1" i="1" dirty="0" smtClean="0">
                        <a:solidFill>
                          <a:schemeClr val="accent2">
                            <a:lumMod val="50000"/>
                          </a:schemeClr>
                        </a:solidFill>
                        <a:latin typeface="Cambria Math" panose="02040503050406030204" pitchFamily="18" charset="0"/>
                        <a:cs typeface="Times New Roman" panose="02020603050405020304" pitchFamily="18" charset="0"/>
                      </a:rPr>
                      <m:t>𝒙</m:t>
                    </m:r>
                  </m:oMath>
                </a14:m>
                <a:r>
                  <a:rPr lang="en-US" sz="2400" dirty="0">
                    <a:solidFill>
                      <a:schemeClr val="accent2">
                        <a:lumMod val="50000"/>
                      </a:schemeClr>
                    </a:solidFill>
                    <a:latin typeface="Times New Roman" panose="02020603050405020304" pitchFamily="18" charset="0"/>
                    <a:cs typeface="Times New Roman" panose="02020603050405020304" pitchFamily="18" charset="0"/>
                  </a:rPr>
                  <a:t> represents the </a:t>
                </a:r>
                <a:r>
                  <a:rPr lang="en-US" sz="2400" b="1" dirty="0">
                    <a:solidFill>
                      <a:schemeClr val="accent2">
                        <a:lumMod val="50000"/>
                      </a:schemeClr>
                    </a:solidFill>
                    <a:latin typeface="Times New Roman" panose="02020603050405020304" pitchFamily="18" charset="0"/>
                    <a:cs typeface="Times New Roman" panose="02020603050405020304" pitchFamily="18" charset="0"/>
                  </a:rPr>
                  <a:t>number of times Client 1's request</a:t>
                </a:r>
                <a:r>
                  <a:rPr lang="en-US" sz="2400" dirty="0">
                    <a:solidFill>
                      <a:schemeClr val="accent2">
                        <a:lumMod val="50000"/>
                      </a:schemeClr>
                    </a:solidFill>
                    <a:latin typeface="Times New Roman" panose="02020603050405020304" pitchFamily="18" charset="0"/>
                    <a:cs typeface="Times New Roman" panose="02020603050405020304" pitchFamily="18" charset="0"/>
                  </a:rPr>
                  <a:t> is fulfilled.</a:t>
                </a:r>
              </a:p>
            </p:txBody>
          </p:sp>
        </mc:Choice>
        <mc:Fallback xmlns="">
          <p:sp>
            <p:nvSpPr>
              <p:cNvPr id="4" name="TextBox 3">
                <a:extLst>
                  <a:ext uri="{FF2B5EF4-FFF2-40B4-BE49-F238E27FC236}">
                    <a16:creationId xmlns:a16="http://schemas.microsoft.com/office/drawing/2014/main" id="{C2DA589F-E4AC-5D98-ADC1-5DE0932986E0}"/>
                  </a:ext>
                </a:extLst>
              </p:cNvPr>
              <p:cNvSpPr txBox="1">
                <a:spLocks noRot="1" noChangeAspect="1" noMove="1" noResize="1" noEditPoints="1" noAdjustHandles="1" noChangeArrowheads="1" noChangeShapeType="1" noTextEdit="1"/>
              </p:cNvSpPr>
              <p:nvPr/>
            </p:nvSpPr>
            <p:spPr>
              <a:xfrm>
                <a:off x="221570" y="2419647"/>
                <a:ext cx="8254212" cy="461665"/>
              </a:xfrm>
              <a:prstGeom prst="rect">
                <a:avLst/>
              </a:prstGeom>
              <a:blipFill>
                <a:blip r:embed="rId6"/>
                <a:stretch>
                  <a:fillRect t="-10526" b="-289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ACE24C9-D759-7D5E-16B3-713F0CEE4D4E}"/>
                  </a:ext>
                </a:extLst>
              </p:cNvPr>
              <p:cNvSpPr txBox="1"/>
              <p:nvPr/>
            </p:nvSpPr>
            <p:spPr>
              <a:xfrm>
                <a:off x="221570" y="2982983"/>
                <a:ext cx="8254212" cy="461665"/>
              </a:xfrm>
              <a:prstGeom prst="rect">
                <a:avLst/>
              </a:prstGeom>
              <a:noFill/>
            </p:spPr>
            <p:txBody>
              <a:bodyPr wrap="square">
                <a:spAutoFit/>
              </a:bodyPr>
              <a:lstStyle/>
              <a:p>
                <a14:m>
                  <m:oMath xmlns:m="http://schemas.openxmlformats.org/officeDocument/2006/math">
                    <m:r>
                      <a:rPr lang="en-US" sz="2400" b="1" i="1" dirty="0" smtClean="0">
                        <a:solidFill>
                          <a:schemeClr val="accent2">
                            <a:lumMod val="50000"/>
                          </a:schemeClr>
                        </a:solidFill>
                        <a:latin typeface="Cambria Math" panose="02040503050406030204" pitchFamily="18" charset="0"/>
                        <a:cs typeface="Times New Roman" panose="02020603050405020304" pitchFamily="18" charset="0"/>
                      </a:rPr>
                      <m:t>𝒚</m:t>
                    </m:r>
                  </m:oMath>
                </a14:m>
                <a:r>
                  <a:rPr lang="en-US" sz="2400" dirty="0">
                    <a:solidFill>
                      <a:schemeClr val="accent2">
                        <a:lumMod val="50000"/>
                      </a:schemeClr>
                    </a:solidFill>
                    <a:latin typeface="Times New Roman" panose="02020603050405020304" pitchFamily="18" charset="0"/>
                    <a:cs typeface="Times New Roman" panose="02020603050405020304" pitchFamily="18" charset="0"/>
                  </a:rPr>
                  <a:t> represents the </a:t>
                </a:r>
                <a:r>
                  <a:rPr lang="en-US" sz="2400" b="1" dirty="0">
                    <a:solidFill>
                      <a:schemeClr val="accent2">
                        <a:lumMod val="50000"/>
                      </a:schemeClr>
                    </a:solidFill>
                    <a:latin typeface="Times New Roman" panose="02020603050405020304" pitchFamily="18" charset="0"/>
                    <a:cs typeface="Times New Roman" panose="02020603050405020304" pitchFamily="18" charset="0"/>
                  </a:rPr>
                  <a:t>number of times Client 2's request</a:t>
                </a:r>
                <a:r>
                  <a:rPr lang="en-US" sz="2400" dirty="0">
                    <a:solidFill>
                      <a:schemeClr val="accent2">
                        <a:lumMod val="50000"/>
                      </a:schemeClr>
                    </a:solidFill>
                    <a:latin typeface="Times New Roman" panose="02020603050405020304" pitchFamily="18" charset="0"/>
                    <a:cs typeface="Times New Roman" panose="02020603050405020304" pitchFamily="18" charset="0"/>
                  </a:rPr>
                  <a:t> is fulfilled.</a:t>
                </a:r>
              </a:p>
            </p:txBody>
          </p:sp>
        </mc:Choice>
        <mc:Fallback xmlns="">
          <p:sp>
            <p:nvSpPr>
              <p:cNvPr id="6" name="TextBox 5">
                <a:extLst>
                  <a:ext uri="{FF2B5EF4-FFF2-40B4-BE49-F238E27FC236}">
                    <a16:creationId xmlns:a16="http://schemas.microsoft.com/office/drawing/2014/main" id="{4ACE24C9-D759-7D5E-16B3-713F0CEE4D4E}"/>
                  </a:ext>
                </a:extLst>
              </p:cNvPr>
              <p:cNvSpPr txBox="1">
                <a:spLocks noRot="1" noChangeAspect="1" noMove="1" noResize="1" noEditPoints="1" noAdjustHandles="1" noChangeArrowheads="1" noChangeShapeType="1" noTextEdit="1"/>
              </p:cNvSpPr>
              <p:nvPr/>
            </p:nvSpPr>
            <p:spPr>
              <a:xfrm>
                <a:off x="221570" y="2982983"/>
                <a:ext cx="8254212" cy="461665"/>
              </a:xfrm>
              <a:prstGeom prst="rect">
                <a:avLst/>
              </a:prstGeom>
              <a:blipFill>
                <a:blip r:embed="rId7"/>
                <a:stretch>
                  <a:fillRect l="-222" t="-10526" b="-289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2364473-354E-4597-735F-2E9CEAB7E6EF}"/>
                  </a:ext>
                </a:extLst>
              </p:cNvPr>
              <p:cNvSpPr txBox="1"/>
              <p:nvPr/>
            </p:nvSpPr>
            <p:spPr>
              <a:xfrm>
                <a:off x="221570" y="3476485"/>
                <a:ext cx="8254212" cy="461665"/>
              </a:xfrm>
              <a:prstGeom prst="rect">
                <a:avLst/>
              </a:prstGeom>
              <a:noFill/>
            </p:spPr>
            <p:txBody>
              <a:bodyPr wrap="square">
                <a:spAutoFit/>
              </a:bodyPr>
              <a:lstStyle/>
              <a:p>
                <a14:m>
                  <m:oMath xmlns:m="http://schemas.openxmlformats.org/officeDocument/2006/math">
                    <m:r>
                      <a:rPr lang="en-US" sz="2400" b="1" i="1" dirty="0" smtClean="0">
                        <a:solidFill>
                          <a:schemeClr val="accent2">
                            <a:lumMod val="50000"/>
                          </a:schemeClr>
                        </a:solidFill>
                        <a:latin typeface="Cambria Math" panose="02040503050406030204" pitchFamily="18" charset="0"/>
                        <a:cs typeface="Times New Roman" panose="02020603050405020304" pitchFamily="18" charset="0"/>
                      </a:rPr>
                      <m:t>𝒛</m:t>
                    </m:r>
                  </m:oMath>
                </a14:m>
                <a:r>
                  <a:rPr lang="en-US" sz="2400" dirty="0">
                    <a:solidFill>
                      <a:schemeClr val="accent2">
                        <a:lumMod val="50000"/>
                      </a:schemeClr>
                    </a:solidFill>
                    <a:latin typeface="Times New Roman" panose="02020603050405020304" pitchFamily="18" charset="0"/>
                    <a:cs typeface="Times New Roman" panose="02020603050405020304" pitchFamily="18" charset="0"/>
                  </a:rPr>
                  <a:t> represents the </a:t>
                </a:r>
                <a:r>
                  <a:rPr lang="en-US" sz="2400" b="1" dirty="0">
                    <a:solidFill>
                      <a:schemeClr val="accent2">
                        <a:lumMod val="50000"/>
                      </a:schemeClr>
                    </a:solidFill>
                    <a:latin typeface="Times New Roman" panose="02020603050405020304" pitchFamily="18" charset="0"/>
                    <a:cs typeface="Times New Roman" panose="02020603050405020304" pitchFamily="18" charset="0"/>
                  </a:rPr>
                  <a:t>number of times Client 3's request</a:t>
                </a:r>
                <a:r>
                  <a:rPr lang="en-US" sz="2400" dirty="0">
                    <a:solidFill>
                      <a:schemeClr val="accent2">
                        <a:lumMod val="50000"/>
                      </a:schemeClr>
                    </a:solidFill>
                    <a:latin typeface="Times New Roman" panose="02020603050405020304" pitchFamily="18" charset="0"/>
                    <a:cs typeface="Times New Roman" panose="02020603050405020304" pitchFamily="18" charset="0"/>
                  </a:rPr>
                  <a:t> is fulfilled.</a:t>
                </a:r>
              </a:p>
            </p:txBody>
          </p:sp>
        </mc:Choice>
        <mc:Fallback xmlns="">
          <p:sp>
            <p:nvSpPr>
              <p:cNvPr id="7" name="TextBox 6">
                <a:extLst>
                  <a:ext uri="{FF2B5EF4-FFF2-40B4-BE49-F238E27FC236}">
                    <a16:creationId xmlns:a16="http://schemas.microsoft.com/office/drawing/2014/main" id="{C2364473-354E-4597-735F-2E9CEAB7E6EF}"/>
                  </a:ext>
                </a:extLst>
              </p:cNvPr>
              <p:cNvSpPr txBox="1">
                <a:spLocks noRot="1" noChangeAspect="1" noMove="1" noResize="1" noEditPoints="1" noAdjustHandles="1" noChangeArrowheads="1" noChangeShapeType="1" noTextEdit="1"/>
              </p:cNvSpPr>
              <p:nvPr/>
            </p:nvSpPr>
            <p:spPr>
              <a:xfrm>
                <a:off x="221570" y="3476485"/>
                <a:ext cx="8254212" cy="461665"/>
              </a:xfrm>
              <a:prstGeom prst="rect">
                <a:avLst/>
              </a:prstGeom>
              <a:blipFill>
                <a:blip r:embed="rId8"/>
                <a:stretch>
                  <a:fillRect t="-10526" b="-28947"/>
                </a:stretch>
              </a:blipFill>
            </p:spPr>
            <p:txBody>
              <a:bodyPr/>
              <a:lstStyle/>
              <a:p>
                <a:r>
                  <a:rPr lang="en-US">
                    <a:noFill/>
                  </a:rPr>
                  <a:t> </a:t>
                </a:r>
              </a:p>
            </p:txBody>
          </p:sp>
        </mc:Fallback>
      </mc:AlternateContent>
    </p:spTree>
    <p:extLst>
      <p:ext uri="{BB962C8B-B14F-4D97-AF65-F5344CB8AC3E}">
        <p14:creationId xmlns:p14="http://schemas.microsoft.com/office/powerpoint/2010/main" val="1929288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1000"/>
                                        <p:tgtEl>
                                          <p:spTgt spid="14"/>
                                        </p:tgtEl>
                                      </p:cBhvr>
                                    </p:animEffect>
                                    <p:anim calcmode="lin" valueType="num">
                                      <p:cBhvr>
                                        <p:cTn id="32" dur="1000" fill="hold"/>
                                        <p:tgtEl>
                                          <p:spTgt spid="14"/>
                                        </p:tgtEl>
                                        <p:attrNameLst>
                                          <p:attrName>ppt_x</p:attrName>
                                        </p:attrNameLst>
                                      </p:cBhvr>
                                      <p:tavLst>
                                        <p:tav tm="0">
                                          <p:val>
                                            <p:strVal val="#ppt_x"/>
                                          </p:val>
                                        </p:tav>
                                        <p:tav tm="100000">
                                          <p:val>
                                            <p:strVal val="#ppt_x"/>
                                          </p:val>
                                        </p:tav>
                                      </p:tavLst>
                                    </p:anim>
                                    <p:anim calcmode="lin" valueType="num">
                                      <p:cBhvr>
                                        <p:cTn id="3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1000"/>
                                        <p:tgtEl>
                                          <p:spTgt spid="15"/>
                                        </p:tgtEl>
                                      </p:cBhvr>
                                    </p:animEffect>
                                    <p:anim calcmode="lin" valueType="num">
                                      <p:cBhvr>
                                        <p:cTn id="39" dur="1000" fill="hold"/>
                                        <p:tgtEl>
                                          <p:spTgt spid="15"/>
                                        </p:tgtEl>
                                        <p:attrNameLst>
                                          <p:attrName>ppt_x</p:attrName>
                                        </p:attrNameLst>
                                      </p:cBhvr>
                                      <p:tavLst>
                                        <p:tav tm="0">
                                          <p:val>
                                            <p:strVal val="#ppt_x"/>
                                          </p:val>
                                        </p:tav>
                                        <p:tav tm="100000">
                                          <p:val>
                                            <p:strVal val="#ppt_x"/>
                                          </p:val>
                                        </p:tav>
                                      </p:tavLst>
                                    </p:anim>
                                    <p:anim calcmode="lin" valueType="num">
                                      <p:cBhvr>
                                        <p:cTn id="40"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1000"/>
                                        <p:tgtEl>
                                          <p:spTgt spid="16"/>
                                        </p:tgtEl>
                                      </p:cBhvr>
                                    </p:animEffect>
                                    <p:anim calcmode="lin" valueType="num">
                                      <p:cBhvr>
                                        <p:cTn id="46" dur="1000" fill="hold"/>
                                        <p:tgtEl>
                                          <p:spTgt spid="16"/>
                                        </p:tgtEl>
                                        <p:attrNameLst>
                                          <p:attrName>ppt_x</p:attrName>
                                        </p:attrNameLst>
                                      </p:cBhvr>
                                      <p:tavLst>
                                        <p:tav tm="0">
                                          <p:val>
                                            <p:strVal val="#ppt_x"/>
                                          </p:val>
                                        </p:tav>
                                        <p:tav tm="100000">
                                          <p:val>
                                            <p:strVal val="#ppt_x"/>
                                          </p:val>
                                        </p:tav>
                                      </p:tavLst>
                                    </p:anim>
                                    <p:anim calcmode="lin" valueType="num">
                                      <p:cBhvr>
                                        <p:cTn id="47"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wipe(left)">
                                      <p:cBhvr>
                                        <p:cTn id="5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P spid="11" grpId="0"/>
      <p:bldP spid="13" grpId="0"/>
      <p:bldP spid="14" grpId="0" animBg="1"/>
      <p:bldP spid="15" grpId="0" animBg="1"/>
      <p:bldP spid="16" grpId="0" animBg="1"/>
      <p:bldP spid="1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6F5528A-8C74-C6E0-ACEC-206B8985075E}"/>
                  </a:ext>
                </a:extLst>
              </p:cNvPr>
              <p:cNvSpPr txBox="1"/>
              <p:nvPr/>
            </p:nvSpPr>
            <p:spPr>
              <a:xfrm>
                <a:off x="2958367" y="1629137"/>
                <a:ext cx="3730573" cy="123174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m>
                            <m:mPr>
                              <m:mcs>
                                <m:mc>
                                  <m:mcPr>
                                    <m:count m:val="4"/>
                                    <m:mcJc m:val="center"/>
                                  </m:mcPr>
                                </m:mc>
                              </m:mcs>
                              <m:ctrlPr>
                                <a:rPr lang="en-US" sz="2800" i="1" smtClean="0">
                                  <a:latin typeface="Cambria Math" panose="02040503050406030204" pitchFamily="18" charset="0"/>
                                </a:rPr>
                              </m:ctrlPr>
                            </m:mPr>
                            <m:mr>
                              <m:e>
                                <m:r>
                                  <m:rPr>
                                    <m:brk m:alnAt="7"/>
                                  </m:rPr>
                                  <a:rPr lang="en-GB" sz="2800" b="0" i="1" smtClean="0">
                                    <a:latin typeface="Cambria Math" panose="02040503050406030204" pitchFamily="18" charset="0"/>
                                  </a:rPr>
                                  <m:t>1</m:t>
                                </m:r>
                                <m:r>
                                  <a:rPr lang="en-GB" sz="2800" b="0" i="1" smtClean="0">
                                    <a:latin typeface="Cambria Math" panose="02040503050406030204" pitchFamily="18" charset="0"/>
                                  </a:rPr>
                                  <m:t>0</m:t>
                                </m:r>
                              </m:e>
                              <m:e>
                                <m:r>
                                  <a:rPr lang="en-GB" sz="2800" b="0" i="1" smtClean="0">
                                    <a:latin typeface="Cambria Math" panose="02040503050406030204" pitchFamily="18" charset="0"/>
                                  </a:rPr>
                                  <m:t>10</m:t>
                                </m:r>
                              </m:e>
                              <m:e>
                                <m:r>
                                  <a:rPr lang="en-GB" sz="2800" b="0" i="1" smtClean="0">
                                    <a:latin typeface="Cambria Math" panose="02040503050406030204" pitchFamily="18" charset="0"/>
                                  </a:rPr>
                                  <m:t>10</m:t>
                                </m:r>
                              </m:e>
                              <m:e>
                                <m:r>
                                  <a:rPr lang="en-GB" sz="2800" b="0" i="1" smtClean="0">
                                    <a:latin typeface="Cambria Math" panose="02040503050406030204" pitchFamily="18" charset="0"/>
                                  </a:rPr>
                                  <m:t>:</m:t>
                                </m:r>
                                <m:r>
                                  <a:rPr lang="en-GB" sz="2800" b="0" i="1" smtClean="0">
                                    <a:solidFill>
                                      <a:srgbClr val="FFC000"/>
                                    </a:solidFill>
                                    <a:latin typeface="Cambria Math" panose="02040503050406030204" pitchFamily="18" charset="0"/>
                                  </a:rPr>
                                  <m:t>60</m:t>
                                </m:r>
                              </m:e>
                            </m:mr>
                            <m:mr>
                              <m:e>
                                <m:r>
                                  <a:rPr lang="en-GB" sz="2800" b="0" i="1" smtClean="0">
                                    <a:latin typeface="Cambria Math" panose="02040503050406030204" pitchFamily="18" charset="0"/>
                                  </a:rPr>
                                  <m:t>20</m:t>
                                </m:r>
                              </m:e>
                              <m:e>
                                <m:r>
                                  <a:rPr lang="en-GB" sz="2800" b="0" i="1" smtClean="0">
                                    <a:latin typeface="Cambria Math" panose="02040503050406030204" pitchFamily="18" charset="0"/>
                                  </a:rPr>
                                  <m:t>10</m:t>
                                </m:r>
                              </m:e>
                              <m:e>
                                <m:r>
                                  <a:rPr lang="en-GB" sz="2800" b="0" i="1" smtClean="0">
                                    <a:latin typeface="Cambria Math" panose="02040503050406030204" pitchFamily="18" charset="0"/>
                                  </a:rPr>
                                  <m:t>30</m:t>
                                </m:r>
                              </m:e>
                              <m:e>
                                <m:r>
                                  <a:rPr lang="en-GB" sz="2800" b="0" i="1" smtClean="0">
                                    <a:latin typeface="Cambria Math" panose="02040503050406030204" pitchFamily="18" charset="0"/>
                                  </a:rPr>
                                  <m:t>:</m:t>
                                </m:r>
                                <m:r>
                                  <a:rPr lang="en-GB" sz="2800" b="0" i="1" smtClean="0">
                                    <a:solidFill>
                                      <a:srgbClr val="FFC000"/>
                                    </a:solidFill>
                                    <a:latin typeface="Cambria Math" panose="02040503050406030204" pitchFamily="18" charset="0"/>
                                  </a:rPr>
                                  <m:t>130</m:t>
                                </m:r>
                              </m:e>
                            </m:mr>
                            <m:mr>
                              <m:e>
                                <m:r>
                                  <a:rPr lang="en-GB" sz="2800" b="0" i="1" smtClean="0">
                                    <a:latin typeface="Cambria Math" panose="02040503050406030204" pitchFamily="18" charset="0"/>
                                  </a:rPr>
                                  <m:t>30</m:t>
                                </m:r>
                              </m:e>
                              <m:e>
                                <m:r>
                                  <a:rPr lang="en-GB" sz="2800" b="0" i="1" smtClean="0">
                                    <a:latin typeface="Cambria Math" panose="02040503050406030204" pitchFamily="18" charset="0"/>
                                  </a:rPr>
                                  <m:t>20</m:t>
                                </m:r>
                              </m:e>
                              <m:e>
                                <m:r>
                                  <a:rPr lang="en-GB" sz="2800" b="0" i="1" smtClean="0">
                                    <a:latin typeface="Cambria Math" panose="02040503050406030204" pitchFamily="18" charset="0"/>
                                  </a:rPr>
                                  <m:t>10</m:t>
                                </m:r>
                              </m:e>
                              <m:e>
                                <m:r>
                                  <a:rPr lang="en-GB" sz="2800" b="0" i="1" smtClean="0">
                                    <a:latin typeface="Cambria Math" panose="02040503050406030204" pitchFamily="18" charset="0"/>
                                  </a:rPr>
                                  <m:t>:  </m:t>
                                </m:r>
                                <m:r>
                                  <a:rPr lang="en-GB" sz="2800" b="0" i="1" smtClean="0">
                                    <a:solidFill>
                                      <a:srgbClr val="FFC000"/>
                                    </a:solidFill>
                                    <a:latin typeface="Cambria Math" panose="02040503050406030204" pitchFamily="18" charset="0"/>
                                  </a:rPr>
                                  <m:t>100</m:t>
                                </m:r>
                              </m:e>
                            </m:mr>
                          </m:m>
                        </m:e>
                      </m:d>
                    </m:oMath>
                  </m:oMathPara>
                </a14:m>
                <a:endParaRPr lang="en-US" sz="2800" dirty="0"/>
              </a:p>
            </p:txBody>
          </p:sp>
        </mc:Choice>
        <mc:Fallback xmlns="">
          <p:sp>
            <p:nvSpPr>
              <p:cNvPr id="6" name="TextBox 5">
                <a:extLst>
                  <a:ext uri="{FF2B5EF4-FFF2-40B4-BE49-F238E27FC236}">
                    <a16:creationId xmlns:a16="http://schemas.microsoft.com/office/drawing/2014/main" id="{36F5528A-8C74-C6E0-ACEC-206B8985075E}"/>
                  </a:ext>
                </a:extLst>
              </p:cNvPr>
              <p:cNvSpPr txBox="1">
                <a:spLocks noRot="1" noChangeAspect="1" noMove="1" noResize="1" noEditPoints="1" noAdjustHandles="1" noChangeArrowheads="1" noChangeShapeType="1" noTextEdit="1"/>
              </p:cNvSpPr>
              <p:nvPr/>
            </p:nvSpPr>
            <p:spPr>
              <a:xfrm>
                <a:off x="2958367" y="1629137"/>
                <a:ext cx="3730573" cy="1231747"/>
              </a:xfrm>
              <a:prstGeom prst="rect">
                <a:avLst/>
              </a:prstGeom>
              <a:blipFill>
                <a:blip r:embed="rId2"/>
                <a:stretch>
                  <a:fillRect/>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51113D8C-84FC-A0D0-3461-DBE756E5BB32}"/>
              </a:ext>
            </a:extLst>
          </p:cNvPr>
          <p:cNvSpPr txBox="1"/>
          <p:nvPr/>
        </p:nvSpPr>
        <p:spPr>
          <a:xfrm>
            <a:off x="0" y="1"/>
            <a:ext cx="12192000" cy="584775"/>
          </a:xfrm>
          <a:prstGeom prst="rect">
            <a:avLst/>
          </a:prstGeom>
          <a:solidFill>
            <a:schemeClr val="accent2">
              <a:lumMod val="20000"/>
              <a:lumOff val="80000"/>
            </a:schemeClr>
          </a:solidFill>
          <a:ln w="28575">
            <a:solidFill>
              <a:srgbClr val="C00000"/>
            </a:solidFill>
          </a:ln>
        </p:spPr>
        <p:txBody>
          <a:bodyPr wrap="square">
            <a:spAutoFit/>
          </a:bodyPr>
          <a:lstStyle/>
          <a:p>
            <a:r>
              <a:rPr lang="en-US" sz="3200" dirty="0">
                <a:solidFill>
                  <a:srgbClr val="C00000"/>
                </a:solidFill>
                <a:latin typeface="Times New Roman" panose="02020603050405020304" pitchFamily="18" charset="0"/>
                <a:cs typeface="Times New Roman" panose="02020603050405020304" pitchFamily="18" charset="0"/>
              </a:rPr>
              <a:t>Solution using Gauss-Jordan Elimination Method</a:t>
            </a:r>
          </a:p>
        </p:txBody>
      </p:sp>
      <p:sp>
        <p:nvSpPr>
          <p:cNvPr id="4" name="TextBox 3">
            <a:extLst>
              <a:ext uri="{FF2B5EF4-FFF2-40B4-BE49-F238E27FC236}">
                <a16:creationId xmlns:a16="http://schemas.microsoft.com/office/drawing/2014/main" id="{B9E6CB6A-6998-2FE5-6F95-D8159786B9B0}"/>
              </a:ext>
            </a:extLst>
          </p:cNvPr>
          <p:cNvSpPr txBox="1"/>
          <p:nvPr/>
        </p:nvSpPr>
        <p:spPr>
          <a:xfrm>
            <a:off x="235635" y="891513"/>
            <a:ext cx="6854482" cy="430887"/>
          </a:xfrm>
          <a:prstGeom prst="rect">
            <a:avLst/>
          </a:prstGeom>
          <a:solidFill>
            <a:schemeClr val="accent5">
              <a:lumMod val="20000"/>
              <a:lumOff val="80000"/>
            </a:schemeClr>
          </a:solidFill>
          <a:ln w="28575">
            <a:solidFill>
              <a:srgbClr val="002060"/>
            </a:solidFill>
          </a:ln>
        </p:spPr>
        <p:txBody>
          <a:bodyPr wrap="square">
            <a:spAutoFit/>
          </a:bodyPr>
          <a:lstStyle/>
          <a:p>
            <a:r>
              <a:rPr lang="en-US" sz="2200" dirty="0">
                <a:solidFill>
                  <a:srgbClr val="0070C0"/>
                </a:solidFill>
                <a:latin typeface="Times New Roman" panose="02020603050405020304" pitchFamily="18" charset="0"/>
                <a:cs typeface="Times New Roman" panose="02020603050405020304" pitchFamily="18" charset="0"/>
              </a:rPr>
              <a:t>We represent the system as an </a:t>
            </a:r>
            <a:r>
              <a:rPr lang="en-US" sz="2200" b="1" dirty="0">
                <a:solidFill>
                  <a:srgbClr val="0070C0"/>
                </a:solidFill>
                <a:latin typeface="Times New Roman" panose="02020603050405020304" pitchFamily="18" charset="0"/>
                <a:cs typeface="Times New Roman" panose="02020603050405020304" pitchFamily="18" charset="0"/>
              </a:rPr>
              <a:t>augmented matrix</a:t>
            </a:r>
            <a:r>
              <a:rPr lang="en-US" sz="2200" dirty="0">
                <a:solidFill>
                  <a:srgbClr val="0070C0"/>
                </a:solidFill>
                <a:latin typeface="Times New Roman" panose="02020603050405020304" pitchFamily="18"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0FAF0ED-5EAF-0D5F-8503-2CB19CB700C1}"/>
                  </a:ext>
                </a:extLst>
              </p:cNvPr>
              <p:cNvSpPr txBox="1"/>
              <p:nvPr/>
            </p:nvSpPr>
            <p:spPr>
              <a:xfrm>
                <a:off x="235635" y="3350786"/>
                <a:ext cx="6182750" cy="1569660"/>
              </a:xfrm>
              <a:prstGeom prst="rect">
                <a:avLst/>
              </a:prstGeom>
              <a:solidFill>
                <a:schemeClr val="accent3">
                  <a:lumMod val="20000"/>
                  <a:lumOff val="80000"/>
                </a:schemeClr>
              </a:solidFill>
              <a:ln w="28575">
                <a:solidFill>
                  <a:srgbClr val="002060"/>
                </a:solidFill>
              </a:ln>
            </p:spPr>
            <p:txBody>
              <a:bodyPr wrap="square">
                <a:spAutoFit/>
              </a:bodyPr>
              <a:lstStyle/>
              <a:p>
                <a:pPr>
                  <a:lnSpc>
                    <a:spcPct val="200000"/>
                  </a:lnSpc>
                  <a:buNone/>
                </a:pPr>
                <a:r>
                  <a:rPr lang="en-US" sz="2400" dirty="0">
                    <a:solidFill>
                      <a:srgbClr val="002060"/>
                    </a:solidFill>
                    <a:latin typeface="Times New Roman" panose="02020603050405020304" pitchFamily="18" charset="0"/>
                    <a:cs typeface="Times New Roman" panose="02020603050405020304" pitchFamily="18" charset="0"/>
                  </a:rPr>
                  <a:t>Solving for </a:t>
                </a:r>
                <a14:m>
                  <m:oMath xmlns:m="http://schemas.openxmlformats.org/officeDocument/2006/math">
                    <m:r>
                      <a:rPr lang="en-US" sz="2400" b="1" i="1" dirty="0" smtClean="0">
                        <a:solidFill>
                          <a:srgbClr val="002060"/>
                        </a:solidFill>
                        <a:latin typeface="Cambria Math" panose="02040503050406030204" pitchFamily="18" charset="0"/>
                      </a:rPr>
                      <m:t>𝒙</m:t>
                    </m:r>
                  </m:oMath>
                </a14:m>
                <a:r>
                  <a:rPr lang="en-US" sz="2400" b="1" dirty="0">
                    <a:solidFill>
                      <a:srgbClr val="002060"/>
                    </a:solidFill>
                    <a:latin typeface="Times New Roman" panose="02020603050405020304" pitchFamily="18" charset="0"/>
                    <a:cs typeface="Times New Roman" panose="02020603050405020304" pitchFamily="18" charset="0"/>
                  </a:rPr>
                  <a:t>, </a:t>
                </a:r>
                <a14:m>
                  <m:oMath xmlns:m="http://schemas.openxmlformats.org/officeDocument/2006/math">
                    <m:r>
                      <a:rPr lang="en-US" sz="2400" b="1" i="1" dirty="0" smtClean="0">
                        <a:solidFill>
                          <a:srgbClr val="002060"/>
                        </a:solidFill>
                        <a:latin typeface="Cambria Math" panose="02040503050406030204" pitchFamily="18" charset="0"/>
                      </a:rPr>
                      <m:t>𝒚</m:t>
                    </m:r>
                  </m:oMath>
                </a14:m>
                <a:r>
                  <a:rPr lang="en-US" sz="2400" b="1" dirty="0">
                    <a:solidFill>
                      <a:srgbClr val="002060"/>
                    </a:solidFill>
                    <a:latin typeface="Times New Roman" panose="02020603050405020304" pitchFamily="18" charset="0"/>
                    <a:cs typeface="Times New Roman" panose="02020603050405020304" pitchFamily="18" charset="0"/>
                  </a:rPr>
                  <a:t>, and </a:t>
                </a:r>
                <a14:m>
                  <m:oMath xmlns:m="http://schemas.openxmlformats.org/officeDocument/2006/math">
                    <m:r>
                      <a:rPr lang="en-US" sz="2400" b="1" i="1" dirty="0" smtClean="0">
                        <a:solidFill>
                          <a:srgbClr val="002060"/>
                        </a:solidFill>
                        <a:latin typeface="Cambria Math" panose="02040503050406030204" pitchFamily="18" charset="0"/>
                      </a:rPr>
                      <m:t>𝒛</m:t>
                    </m:r>
                  </m:oMath>
                </a14:m>
                <a:r>
                  <a:rPr lang="en-US" sz="2400" dirty="0">
                    <a:solidFill>
                      <a:srgbClr val="002060"/>
                    </a:solidFill>
                    <a:latin typeface="Times New Roman" panose="02020603050405020304" pitchFamily="18" charset="0"/>
                    <a:cs typeface="Times New Roman" panose="02020603050405020304" pitchFamily="18" charset="0"/>
                  </a:rPr>
                  <a:t>, we get:</a:t>
                </a:r>
              </a:p>
              <a:p>
                <a:pPr>
                  <a:lnSpc>
                    <a:spcPct val="200000"/>
                  </a:lnSpc>
                  <a:buNone/>
                </a:pPr>
                <a14:m>
                  <m:oMathPara xmlns:m="http://schemas.openxmlformats.org/officeDocument/2006/math">
                    <m:oMathParaPr>
                      <m:jc m:val="centerGroup"/>
                    </m:oMathParaPr>
                    <m:oMath xmlns:m="http://schemas.openxmlformats.org/officeDocument/2006/math">
                      <m:r>
                        <a:rPr lang="en-US" sz="2400" b="1" i="1" dirty="0" smtClean="0">
                          <a:solidFill>
                            <a:srgbClr val="00B050"/>
                          </a:solidFill>
                          <a:latin typeface="Cambria Math" panose="02040503050406030204" pitchFamily="18" charset="0"/>
                        </a:rPr>
                        <m:t>𝒙</m:t>
                      </m:r>
                      <m:r>
                        <a:rPr lang="en-US" sz="2400" b="1" i="1" dirty="0" smtClean="0">
                          <a:solidFill>
                            <a:srgbClr val="00B050"/>
                          </a:solidFill>
                          <a:latin typeface="Cambria Math" panose="02040503050406030204" pitchFamily="18" charset="0"/>
                        </a:rPr>
                        <m:t>=</m:t>
                      </m:r>
                      <m:r>
                        <a:rPr lang="en-GB" sz="2400" b="1" i="1" dirty="0" smtClean="0">
                          <a:solidFill>
                            <a:srgbClr val="00B050"/>
                          </a:solidFill>
                          <a:latin typeface="Cambria Math" panose="02040503050406030204" pitchFamily="18" charset="0"/>
                        </a:rPr>
                        <m:t>𝟏</m:t>
                      </m:r>
                      <m:r>
                        <a:rPr lang="en-US" sz="2400" b="1" i="1" dirty="0" smtClean="0">
                          <a:solidFill>
                            <a:srgbClr val="00B050"/>
                          </a:solidFill>
                          <a:latin typeface="Cambria Math" panose="02040503050406030204" pitchFamily="18" charset="0"/>
                        </a:rPr>
                        <m:t>,  </m:t>
                      </m:r>
                      <m:r>
                        <a:rPr lang="en-US" sz="2400" b="1" i="1" dirty="0">
                          <a:solidFill>
                            <a:srgbClr val="00B050"/>
                          </a:solidFill>
                          <a:latin typeface="Cambria Math" panose="02040503050406030204" pitchFamily="18" charset="0"/>
                        </a:rPr>
                        <m:t>𝒚</m:t>
                      </m:r>
                      <m:r>
                        <a:rPr lang="en-US" sz="2400" b="1" i="1" dirty="0" smtClean="0">
                          <a:solidFill>
                            <a:srgbClr val="00B050"/>
                          </a:solidFill>
                          <a:latin typeface="Cambria Math" panose="02040503050406030204" pitchFamily="18" charset="0"/>
                        </a:rPr>
                        <m:t>=</m:t>
                      </m:r>
                      <m:r>
                        <a:rPr lang="en-GB" sz="2400" b="1" i="1" dirty="0" smtClean="0">
                          <a:solidFill>
                            <a:srgbClr val="00B050"/>
                          </a:solidFill>
                          <a:latin typeface="Cambria Math" panose="02040503050406030204" pitchFamily="18" charset="0"/>
                        </a:rPr>
                        <m:t>𝟐</m:t>
                      </m:r>
                      <m:r>
                        <a:rPr lang="en-US" sz="2400" b="1" i="1" dirty="0" smtClean="0">
                          <a:solidFill>
                            <a:srgbClr val="00B050"/>
                          </a:solidFill>
                          <a:latin typeface="Cambria Math" panose="02040503050406030204" pitchFamily="18" charset="0"/>
                        </a:rPr>
                        <m:t>,  </m:t>
                      </m:r>
                      <m:r>
                        <a:rPr lang="en-US" sz="2400" b="1" i="1" dirty="0">
                          <a:solidFill>
                            <a:srgbClr val="00B050"/>
                          </a:solidFill>
                          <a:latin typeface="Cambria Math" panose="02040503050406030204" pitchFamily="18" charset="0"/>
                        </a:rPr>
                        <m:t>𝒛</m:t>
                      </m:r>
                      <m:r>
                        <a:rPr lang="en-US" sz="2400" b="1" i="1" dirty="0" smtClean="0">
                          <a:solidFill>
                            <a:srgbClr val="00B050"/>
                          </a:solidFill>
                          <a:latin typeface="Cambria Math" panose="02040503050406030204" pitchFamily="18" charset="0"/>
                        </a:rPr>
                        <m:t>=</m:t>
                      </m:r>
                      <m:r>
                        <a:rPr lang="en-GB" sz="2400" b="1" i="1" dirty="0" smtClean="0">
                          <a:solidFill>
                            <a:srgbClr val="00B050"/>
                          </a:solidFill>
                          <a:latin typeface="Cambria Math" panose="02040503050406030204" pitchFamily="18" charset="0"/>
                        </a:rPr>
                        <m:t>𝟑</m:t>
                      </m:r>
                    </m:oMath>
                  </m:oMathPara>
                </a14:m>
                <a:endParaRPr lang="en-US" sz="2400" b="1" dirty="0">
                  <a:solidFill>
                    <a:srgbClr val="00B050"/>
                  </a:solidFill>
                  <a:latin typeface="Times New Roman" panose="02020603050405020304" pitchFamily="18" charset="0"/>
                  <a:cs typeface="Times New Roman" panose="02020603050405020304" pitchFamily="18" charset="0"/>
                </a:endParaRPr>
              </a:p>
            </p:txBody>
          </p:sp>
        </mc:Choice>
        <mc:Fallback xmlns="">
          <p:sp>
            <p:nvSpPr>
              <p:cNvPr id="10" name="TextBox 9">
                <a:extLst>
                  <a:ext uri="{FF2B5EF4-FFF2-40B4-BE49-F238E27FC236}">
                    <a16:creationId xmlns:a16="http://schemas.microsoft.com/office/drawing/2014/main" id="{F0FAF0ED-5EAF-0D5F-8503-2CB19CB700C1}"/>
                  </a:ext>
                </a:extLst>
              </p:cNvPr>
              <p:cNvSpPr txBox="1">
                <a:spLocks noRot="1" noChangeAspect="1" noMove="1" noResize="1" noEditPoints="1" noAdjustHandles="1" noChangeArrowheads="1" noChangeShapeType="1" noTextEdit="1"/>
              </p:cNvSpPr>
              <p:nvPr/>
            </p:nvSpPr>
            <p:spPr>
              <a:xfrm>
                <a:off x="235635" y="3350786"/>
                <a:ext cx="6182750" cy="1569660"/>
              </a:xfrm>
              <a:prstGeom prst="rect">
                <a:avLst/>
              </a:prstGeom>
              <a:blipFill>
                <a:blip r:embed="rId3"/>
                <a:stretch>
                  <a:fillRect l="-1374"/>
                </a:stretch>
              </a:blipFill>
              <a:ln w="28575">
                <a:solidFill>
                  <a:srgbClr val="002060"/>
                </a:solidFill>
              </a:ln>
            </p:spPr>
            <p:txBody>
              <a:bodyPr/>
              <a:lstStyle/>
              <a:p>
                <a:r>
                  <a:rPr lang="en-US">
                    <a:noFill/>
                  </a:rPr>
                  <a:t> </a:t>
                </a:r>
              </a:p>
            </p:txBody>
          </p:sp>
        </mc:Fallback>
      </mc:AlternateContent>
    </p:spTree>
    <p:extLst>
      <p:ext uri="{BB962C8B-B14F-4D97-AF65-F5344CB8AC3E}">
        <p14:creationId xmlns:p14="http://schemas.microsoft.com/office/powerpoint/2010/main" val="3477893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anim calcmode="lin" valueType="num">
                                      <p:cBhvr>
                                        <p:cTn id="14" dur="1000" fill="hold"/>
                                        <p:tgtEl>
                                          <p:spTgt spid="6"/>
                                        </p:tgtEl>
                                        <p:attrNameLst>
                                          <p:attrName>ppt_x</p:attrName>
                                        </p:attrNameLst>
                                      </p:cBhvr>
                                      <p:tavLst>
                                        <p:tav tm="0">
                                          <p:val>
                                            <p:strVal val="#ppt_x"/>
                                          </p:val>
                                        </p:tav>
                                        <p:tav tm="100000">
                                          <p:val>
                                            <p:strVal val="#ppt_x"/>
                                          </p:val>
                                        </p:tav>
                                      </p:tavLst>
                                    </p:anim>
                                    <p:anim calcmode="lin" valueType="num">
                                      <p:cBhvr>
                                        <p:cTn id="1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1000"/>
                                        <p:tgtEl>
                                          <p:spTgt spid="10"/>
                                        </p:tgtEl>
                                      </p:cBhvr>
                                    </p:animEffect>
                                    <p:anim calcmode="lin" valueType="num">
                                      <p:cBhvr>
                                        <p:cTn id="21" dur="1000" fill="hold"/>
                                        <p:tgtEl>
                                          <p:spTgt spid="10"/>
                                        </p:tgtEl>
                                        <p:attrNameLst>
                                          <p:attrName>ppt_x</p:attrName>
                                        </p:attrNameLst>
                                      </p:cBhvr>
                                      <p:tavLst>
                                        <p:tav tm="0">
                                          <p:val>
                                            <p:strVal val="#ppt_x"/>
                                          </p:val>
                                        </p:tav>
                                        <p:tav tm="100000">
                                          <p:val>
                                            <p:strVal val="#ppt_x"/>
                                          </p:val>
                                        </p:tav>
                                      </p:tavLst>
                                    </p:anim>
                                    <p:anim calcmode="lin" valueType="num">
                                      <p:cBhvr>
                                        <p:cTn id="22"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animBg="1"/>
      <p:bldP spid="1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55AD5B2-D5C9-A788-192A-8BF9C10109BD}"/>
              </a:ext>
            </a:extLst>
          </p:cNvPr>
          <p:cNvSpPr txBox="1"/>
          <p:nvPr/>
        </p:nvSpPr>
        <p:spPr>
          <a:xfrm>
            <a:off x="0" y="1"/>
            <a:ext cx="8499423" cy="646331"/>
          </a:xfrm>
          <a:prstGeom prst="rect">
            <a:avLst/>
          </a:prstGeom>
          <a:solidFill>
            <a:schemeClr val="accent2">
              <a:lumMod val="20000"/>
              <a:lumOff val="80000"/>
            </a:schemeClr>
          </a:solidFill>
          <a:ln>
            <a:solidFill>
              <a:srgbClr val="C00000"/>
            </a:solidFill>
          </a:ln>
        </p:spPr>
        <p:txBody>
          <a:bodyPr wrap="square">
            <a:spAutoFit/>
          </a:bodyPr>
          <a:lstStyle/>
          <a:p>
            <a:r>
              <a:rPr lang="en-US" sz="3600" dirty="0">
                <a:solidFill>
                  <a:srgbClr val="C00000"/>
                </a:solidFill>
                <a:latin typeface="Times New Roman" panose="02020603050405020304" pitchFamily="18" charset="0"/>
                <a:cs typeface="Times New Roman" panose="02020603050405020304" pitchFamily="18" charset="0"/>
              </a:rPr>
              <a:t>2. Server Load Balancing Optimization</a:t>
            </a:r>
            <a:endParaRPr lang="en-US" sz="3600" b="1" dirty="0">
              <a:solidFill>
                <a:srgbClr val="C0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EC277F7-A2F1-DF25-3A1F-47F5B7CF1C1C}"/>
                  </a:ext>
                </a:extLst>
              </p:cNvPr>
              <p:cNvSpPr txBox="1"/>
              <p:nvPr/>
            </p:nvSpPr>
            <p:spPr>
              <a:xfrm>
                <a:off x="0" y="782823"/>
                <a:ext cx="11999742" cy="6001643"/>
              </a:xfrm>
              <a:prstGeom prst="rect">
                <a:avLst/>
              </a:prstGeom>
              <a:noFill/>
            </p:spPr>
            <p:txBody>
              <a:bodyPr wrap="square">
                <a:spAutoFit/>
              </a:bodyPr>
              <a:lstStyle/>
              <a:p>
                <a:pPr algn="just">
                  <a:lnSpc>
                    <a:spcPct val="150000"/>
                  </a:lnSpc>
                  <a:buNone/>
                </a:pPr>
                <a:r>
                  <a:rPr lang="en-US" sz="2400" dirty="0">
                    <a:solidFill>
                      <a:srgbClr val="002060"/>
                    </a:solidFill>
                    <a:latin typeface="Times New Roman" panose="02020603050405020304" pitchFamily="18" charset="0"/>
                    <a:cs typeface="Times New Roman" panose="02020603050405020304" pitchFamily="18" charset="0"/>
                  </a:rPr>
                  <a:t>A cloud computing company manages a </a:t>
                </a:r>
                <a:r>
                  <a:rPr lang="en-US" sz="2400" b="1" dirty="0">
                    <a:solidFill>
                      <a:srgbClr val="002060"/>
                    </a:solidFill>
                    <a:latin typeface="Times New Roman" panose="02020603050405020304" pitchFamily="18" charset="0"/>
                    <a:cs typeface="Times New Roman" panose="02020603050405020304" pitchFamily="18" charset="0"/>
                  </a:rPr>
                  <a:t>server load balancing system</a:t>
                </a:r>
                <a:r>
                  <a:rPr lang="en-US" sz="2400" dirty="0">
                    <a:solidFill>
                      <a:srgbClr val="002060"/>
                    </a:solidFill>
                    <a:latin typeface="Times New Roman" panose="02020603050405020304" pitchFamily="18" charset="0"/>
                    <a:cs typeface="Times New Roman" panose="02020603050405020304" pitchFamily="18" charset="0"/>
                  </a:rPr>
                  <a:t>, where incoming requests are distributed among </a:t>
                </a:r>
                <a:r>
                  <a:rPr lang="en-US" sz="2400" b="1" dirty="0">
                    <a:solidFill>
                      <a:srgbClr val="002060"/>
                    </a:solidFill>
                    <a:latin typeface="Times New Roman" panose="02020603050405020304" pitchFamily="18" charset="0"/>
                    <a:cs typeface="Times New Roman" panose="02020603050405020304" pitchFamily="18" charset="0"/>
                  </a:rPr>
                  <a:t>three servers</a:t>
                </a:r>
                <a:r>
                  <a:rPr lang="en-US" sz="2400" dirty="0">
                    <a:solidFill>
                      <a:srgbClr val="002060"/>
                    </a:solidFill>
                    <a:latin typeface="Times New Roman" panose="02020603050405020304" pitchFamily="18" charset="0"/>
                    <a:cs typeface="Times New Roman" panose="02020603050405020304" pitchFamily="18" charset="0"/>
                  </a:rPr>
                  <a:t> (S₁, S₂, S₃). The company wants to ensure </a:t>
                </a:r>
                <a:r>
                  <a:rPr lang="en-US" sz="2400" b="1" dirty="0">
                    <a:solidFill>
                      <a:srgbClr val="002060"/>
                    </a:solidFill>
                    <a:latin typeface="Times New Roman" panose="02020603050405020304" pitchFamily="18" charset="0"/>
                    <a:cs typeface="Times New Roman" panose="02020603050405020304" pitchFamily="18" charset="0"/>
                  </a:rPr>
                  <a:t>balanced utilization</a:t>
                </a:r>
                <a:r>
                  <a:rPr lang="en-US" sz="2400" dirty="0">
                    <a:solidFill>
                      <a:srgbClr val="002060"/>
                    </a:solidFill>
                    <a:latin typeface="Times New Roman" panose="02020603050405020304" pitchFamily="18" charset="0"/>
                    <a:cs typeface="Times New Roman" panose="02020603050405020304" pitchFamily="18" charset="0"/>
                  </a:rPr>
                  <a:t> of these servers based on processing time.</a:t>
                </a:r>
              </a:p>
              <a:p>
                <a:pPr algn="just">
                  <a:lnSpc>
                    <a:spcPct val="150000"/>
                  </a:lnSpc>
                </a:pPr>
                <a:r>
                  <a:rPr lang="en-US" sz="2400" dirty="0">
                    <a:solidFill>
                      <a:srgbClr val="002060"/>
                    </a:solidFill>
                    <a:latin typeface="Times New Roman" panose="02020603050405020304" pitchFamily="18" charset="0"/>
                    <a:cs typeface="Times New Roman" panose="02020603050405020304" pitchFamily="18" charset="0"/>
                  </a:rPr>
                  <a:t>The total </a:t>
                </a:r>
                <a:r>
                  <a:rPr lang="en-US" sz="2400" b="1" dirty="0">
                    <a:solidFill>
                      <a:srgbClr val="002060"/>
                    </a:solidFill>
                    <a:latin typeface="Times New Roman" panose="02020603050405020304" pitchFamily="18" charset="0"/>
                    <a:cs typeface="Times New Roman" panose="02020603050405020304" pitchFamily="18" charset="0"/>
                  </a:rPr>
                  <a:t>processing time</a:t>
                </a:r>
                <a:r>
                  <a:rPr lang="en-US" sz="2400" dirty="0">
                    <a:solidFill>
                      <a:srgbClr val="002060"/>
                    </a:solidFill>
                    <a:latin typeface="Times New Roman" panose="02020603050405020304" pitchFamily="18" charset="0"/>
                    <a:cs typeface="Times New Roman" panose="02020603050405020304" pitchFamily="18" charset="0"/>
                  </a:rPr>
                  <a:t> (in milliseconds) for the requests on each server is governed by the following three </a:t>
                </a:r>
                <a:r>
                  <a:rPr lang="en-US" sz="2400" b="1" dirty="0">
                    <a:solidFill>
                      <a:srgbClr val="002060"/>
                    </a:solidFill>
                    <a:latin typeface="Times New Roman" panose="02020603050405020304" pitchFamily="18" charset="0"/>
                    <a:cs typeface="Times New Roman" panose="02020603050405020304" pitchFamily="18" charset="0"/>
                  </a:rPr>
                  <a:t>linear equations</a:t>
                </a:r>
                <a:r>
                  <a:rPr lang="en-US" sz="2400" dirty="0">
                    <a:solidFill>
                      <a:srgbClr val="002060"/>
                    </a:solidFill>
                    <a:latin typeface="Times New Roman" panose="02020603050405020304" pitchFamily="18" charset="0"/>
                    <a:cs typeface="Times New Roman" panose="02020603050405020304" pitchFamily="18" charset="0"/>
                  </a:rPr>
                  <a:t>:</a:t>
                </a:r>
              </a:p>
              <a:p>
                <a:pPr algn="just">
                  <a:lnSpc>
                    <a:spcPct val="150000"/>
                  </a:lnSpc>
                </a:pPr>
                <a14:m>
                  <m:oMathPara xmlns:m="http://schemas.openxmlformats.org/officeDocument/2006/math">
                    <m:oMathParaPr>
                      <m:jc m:val="centerGroup"/>
                    </m:oMathParaPr>
                    <m:oMath xmlns:m="http://schemas.openxmlformats.org/officeDocument/2006/math">
                      <m:r>
                        <a:rPr lang="en-GB" sz="2400" b="0" i="1" smtClean="0">
                          <a:solidFill>
                            <a:schemeClr val="accent2">
                              <a:lumMod val="50000"/>
                            </a:schemeClr>
                          </a:solidFill>
                          <a:latin typeface="Cambria Math" panose="02040503050406030204" pitchFamily="18" charset="0"/>
                          <a:cs typeface="Times New Roman" panose="02020603050405020304" pitchFamily="18" charset="0"/>
                        </a:rPr>
                        <m:t>𝑥</m:t>
                      </m:r>
                      <m:r>
                        <a:rPr lang="en-GB" sz="2400" b="0" i="1" smtClean="0">
                          <a:solidFill>
                            <a:schemeClr val="accent2">
                              <a:lumMod val="50000"/>
                            </a:schemeClr>
                          </a:solidFill>
                          <a:latin typeface="Cambria Math" panose="02040503050406030204" pitchFamily="18" charset="0"/>
                          <a:cs typeface="Times New Roman" panose="02020603050405020304" pitchFamily="18" charset="0"/>
                        </a:rPr>
                        <m:t>+</m:t>
                      </m:r>
                      <m:r>
                        <a:rPr lang="en-GB" sz="2400" b="0" i="1" smtClean="0">
                          <a:solidFill>
                            <a:schemeClr val="accent2">
                              <a:lumMod val="50000"/>
                            </a:schemeClr>
                          </a:solidFill>
                          <a:latin typeface="Cambria Math" panose="02040503050406030204" pitchFamily="18" charset="0"/>
                          <a:cs typeface="Times New Roman" panose="02020603050405020304" pitchFamily="18" charset="0"/>
                        </a:rPr>
                        <m:t>𝑦</m:t>
                      </m:r>
                      <m:r>
                        <a:rPr lang="en-GB" sz="2400" b="0" i="1" smtClean="0">
                          <a:solidFill>
                            <a:schemeClr val="accent2">
                              <a:lumMod val="50000"/>
                            </a:schemeClr>
                          </a:solidFill>
                          <a:latin typeface="Cambria Math" panose="02040503050406030204" pitchFamily="18" charset="0"/>
                          <a:cs typeface="Times New Roman" panose="02020603050405020304" pitchFamily="18" charset="0"/>
                        </a:rPr>
                        <m:t>+</m:t>
                      </m:r>
                      <m:r>
                        <a:rPr lang="en-GB" sz="2400" b="0" i="1" smtClean="0">
                          <a:solidFill>
                            <a:schemeClr val="accent2">
                              <a:lumMod val="50000"/>
                            </a:schemeClr>
                          </a:solidFill>
                          <a:latin typeface="Cambria Math" panose="02040503050406030204" pitchFamily="18" charset="0"/>
                          <a:cs typeface="Times New Roman" panose="02020603050405020304" pitchFamily="18" charset="0"/>
                        </a:rPr>
                        <m:t>𝑧</m:t>
                      </m:r>
                      <m:r>
                        <a:rPr lang="en-GB" sz="2400" b="0" i="1" smtClean="0">
                          <a:solidFill>
                            <a:schemeClr val="accent2">
                              <a:lumMod val="50000"/>
                            </a:schemeClr>
                          </a:solidFill>
                          <a:latin typeface="Cambria Math" panose="02040503050406030204" pitchFamily="18" charset="0"/>
                          <a:cs typeface="Times New Roman" panose="02020603050405020304" pitchFamily="18" charset="0"/>
                        </a:rPr>
                        <m:t>=100</m:t>
                      </m:r>
                    </m:oMath>
                  </m:oMathPara>
                </a14:m>
                <a:endParaRPr lang="en-GB" sz="2400" b="0" dirty="0">
                  <a:solidFill>
                    <a:schemeClr val="accent2">
                      <a:lumMod val="50000"/>
                    </a:schemeClr>
                  </a:solidFill>
                  <a:latin typeface="Times New Roman" panose="02020603050405020304" pitchFamily="18" charset="0"/>
                  <a:cs typeface="Times New Roman" panose="02020603050405020304" pitchFamily="18" charset="0"/>
                </a:endParaRPr>
              </a:p>
              <a:p>
                <a:pPr algn="just">
                  <a:lnSpc>
                    <a:spcPct val="150000"/>
                  </a:lnSpc>
                </a:pPr>
                <a14:m>
                  <m:oMathPara xmlns:m="http://schemas.openxmlformats.org/officeDocument/2006/math">
                    <m:oMathParaPr>
                      <m:jc m:val="centerGroup"/>
                    </m:oMathParaPr>
                    <m:oMath xmlns:m="http://schemas.openxmlformats.org/officeDocument/2006/math">
                      <m:r>
                        <a:rPr lang="en-GB" sz="2400" b="0" i="1" smtClean="0">
                          <a:solidFill>
                            <a:schemeClr val="accent2">
                              <a:lumMod val="50000"/>
                            </a:schemeClr>
                          </a:solidFill>
                          <a:latin typeface="Cambria Math" panose="02040503050406030204" pitchFamily="18" charset="0"/>
                          <a:cs typeface="Times New Roman" panose="02020603050405020304" pitchFamily="18" charset="0"/>
                        </a:rPr>
                        <m:t>2</m:t>
                      </m:r>
                      <m:r>
                        <a:rPr lang="en-GB" sz="2400" b="0" i="1" smtClean="0">
                          <a:solidFill>
                            <a:schemeClr val="accent2">
                              <a:lumMod val="50000"/>
                            </a:schemeClr>
                          </a:solidFill>
                          <a:latin typeface="Cambria Math" panose="02040503050406030204" pitchFamily="18" charset="0"/>
                          <a:cs typeface="Times New Roman" panose="02020603050405020304" pitchFamily="18" charset="0"/>
                        </a:rPr>
                        <m:t>𝑥</m:t>
                      </m:r>
                      <m:r>
                        <a:rPr lang="en-GB" sz="2400" b="0" i="1" smtClean="0">
                          <a:solidFill>
                            <a:schemeClr val="accent2">
                              <a:lumMod val="50000"/>
                            </a:schemeClr>
                          </a:solidFill>
                          <a:latin typeface="Cambria Math" panose="02040503050406030204" pitchFamily="18" charset="0"/>
                          <a:cs typeface="Times New Roman" panose="02020603050405020304" pitchFamily="18" charset="0"/>
                        </a:rPr>
                        <m:t>+3</m:t>
                      </m:r>
                      <m:r>
                        <a:rPr lang="en-GB" sz="2400" b="0" i="1" smtClean="0">
                          <a:solidFill>
                            <a:schemeClr val="accent2">
                              <a:lumMod val="50000"/>
                            </a:schemeClr>
                          </a:solidFill>
                          <a:latin typeface="Cambria Math" panose="02040503050406030204" pitchFamily="18" charset="0"/>
                          <a:cs typeface="Times New Roman" panose="02020603050405020304" pitchFamily="18" charset="0"/>
                        </a:rPr>
                        <m:t>𝑦</m:t>
                      </m:r>
                      <m:r>
                        <a:rPr lang="en-GB" sz="2400" b="0" i="1" smtClean="0">
                          <a:solidFill>
                            <a:schemeClr val="accent2">
                              <a:lumMod val="50000"/>
                            </a:schemeClr>
                          </a:solidFill>
                          <a:latin typeface="Cambria Math" panose="02040503050406030204" pitchFamily="18" charset="0"/>
                          <a:cs typeface="Times New Roman" panose="02020603050405020304" pitchFamily="18" charset="0"/>
                        </a:rPr>
                        <m:t>+4</m:t>
                      </m:r>
                      <m:r>
                        <a:rPr lang="en-GB" sz="2400" b="0" i="1" smtClean="0">
                          <a:solidFill>
                            <a:schemeClr val="accent2">
                              <a:lumMod val="50000"/>
                            </a:schemeClr>
                          </a:solidFill>
                          <a:latin typeface="Cambria Math" panose="02040503050406030204" pitchFamily="18" charset="0"/>
                          <a:cs typeface="Times New Roman" panose="02020603050405020304" pitchFamily="18" charset="0"/>
                        </a:rPr>
                        <m:t>𝑧</m:t>
                      </m:r>
                      <m:r>
                        <a:rPr lang="en-GB" sz="2400" b="0" i="1" smtClean="0">
                          <a:solidFill>
                            <a:schemeClr val="accent2">
                              <a:lumMod val="50000"/>
                            </a:schemeClr>
                          </a:solidFill>
                          <a:latin typeface="Cambria Math" panose="02040503050406030204" pitchFamily="18" charset="0"/>
                          <a:cs typeface="Times New Roman" panose="02020603050405020304" pitchFamily="18" charset="0"/>
                        </a:rPr>
                        <m:t>=30</m:t>
                      </m:r>
                      <m:r>
                        <a:rPr lang="en-GB" sz="2400" b="0" i="0" smtClean="0">
                          <a:solidFill>
                            <a:schemeClr val="accent2">
                              <a:lumMod val="50000"/>
                            </a:schemeClr>
                          </a:solidFill>
                          <a:latin typeface="Cambria Math" panose="02040503050406030204" pitchFamily="18" charset="0"/>
                          <a:cs typeface="Times New Roman" panose="02020603050405020304" pitchFamily="18" charset="0"/>
                        </a:rPr>
                        <m:t>0</m:t>
                      </m:r>
                    </m:oMath>
                  </m:oMathPara>
                </a14:m>
                <a:endParaRPr lang="en-GB" sz="2400" b="0" dirty="0">
                  <a:solidFill>
                    <a:schemeClr val="accent2">
                      <a:lumMod val="50000"/>
                    </a:schemeClr>
                  </a:solidFill>
                  <a:latin typeface="Times New Roman" panose="02020603050405020304" pitchFamily="18" charset="0"/>
                  <a:cs typeface="Times New Roman" panose="02020603050405020304" pitchFamily="18" charset="0"/>
                </a:endParaRPr>
              </a:p>
              <a:p>
                <a:pPr algn="just">
                  <a:lnSpc>
                    <a:spcPct val="150000"/>
                  </a:lnSpc>
                </a:pPr>
                <a14:m>
                  <m:oMathPara xmlns:m="http://schemas.openxmlformats.org/officeDocument/2006/math">
                    <m:oMathParaPr>
                      <m:jc m:val="centerGroup"/>
                    </m:oMathParaPr>
                    <m:oMath xmlns:m="http://schemas.openxmlformats.org/officeDocument/2006/math">
                      <m:r>
                        <a:rPr lang="en-GB" sz="2400" b="0" i="1" smtClean="0">
                          <a:solidFill>
                            <a:schemeClr val="accent2">
                              <a:lumMod val="50000"/>
                            </a:schemeClr>
                          </a:solidFill>
                          <a:latin typeface="Cambria Math" panose="02040503050406030204" pitchFamily="18" charset="0"/>
                          <a:cs typeface="Times New Roman" panose="02020603050405020304" pitchFamily="18" charset="0"/>
                        </a:rPr>
                        <m:t>𝑥</m:t>
                      </m:r>
                      <m:r>
                        <a:rPr lang="en-GB" sz="2400" b="0" i="1" smtClean="0">
                          <a:solidFill>
                            <a:schemeClr val="accent2">
                              <a:lumMod val="50000"/>
                            </a:schemeClr>
                          </a:solidFill>
                          <a:latin typeface="Cambria Math" panose="02040503050406030204" pitchFamily="18" charset="0"/>
                          <a:cs typeface="Times New Roman" panose="02020603050405020304" pitchFamily="18" charset="0"/>
                        </a:rPr>
                        <m:t>+2</m:t>
                      </m:r>
                      <m:r>
                        <a:rPr lang="en-GB" sz="2400" b="0" i="1" smtClean="0">
                          <a:solidFill>
                            <a:schemeClr val="accent2">
                              <a:lumMod val="50000"/>
                            </a:schemeClr>
                          </a:solidFill>
                          <a:latin typeface="Cambria Math" panose="02040503050406030204" pitchFamily="18" charset="0"/>
                          <a:cs typeface="Times New Roman" panose="02020603050405020304" pitchFamily="18" charset="0"/>
                        </a:rPr>
                        <m:t>𝑦</m:t>
                      </m:r>
                      <m:r>
                        <a:rPr lang="en-GB" sz="2400" b="0" i="1" smtClean="0">
                          <a:solidFill>
                            <a:schemeClr val="accent2">
                              <a:lumMod val="50000"/>
                            </a:schemeClr>
                          </a:solidFill>
                          <a:latin typeface="Cambria Math" panose="02040503050406030204" pitchFamily="18" charset="0"/>
                          <a:cs typeface="Times New Roman" panose="02020603050405020304" pitchFamily="18" charset="0"/>
                        </a:rPr>
                        <m:t>+3</m:t>
                      </m:r>
                      <m:r>
                        <a:rPr lang="en-GB" sz="2400" b="0" i="1" smtClean="0">
                          <a:solidFill>
                            <a:schemeClr val="accent2">
                              <a:lumMod val="50000"/>
                            </a:schemeClr>
                          </a:solidFill>
                          <a:latin typeface="Cambria Math" panose="02040503050406030204" pitchFamily="18" charset="0"/>
                          <a:cs typeface="Times New Roman" panose="02020603050405020304" pitchFamily="18" charset="0"/>
                        </a:rPr>
                        <m:t>𝑧</m:t>
                      </m:r>
                      <m:r>
                        <a:rPr lang="en-GB" sz="2400" b="0" i="1" smtClean="0">
                          <a:solidFill>
                            <a:schemeClr val="accent2">
                              <a:lumMod val="50000"/>
                            </a:schemeClr>
                          </a:solidFill>
                          <a:latin typeface="Cambria Math" panose="02040503050406030204" pitchFamily="18" charset="0"/>
                          <a:cs typeface="Times New Roman" panose="02020603050405020304" pitchFamily="18" charset="0"/>
                        </a:rPr>
                        <m:t>=200</m:t>
                      </m:r>
                    </m:oMath>
                  </m:oMathPara>
                </a14:m>
                <a:endParaRPr lang="en-US" sz="2400" dirty="0">
                  <a:latin typeface="Times New Roman" panose="02020603050405020304" pitchFamily="18" charset="0"/>
                  <a:cs typeface="Times New Roman" panose="02020603050405020304" pitchFamily="18" charset="0"/>
                </a:endParaRPr>
              </a:p>
              <a:p>
                <a:pPr>
                  <a:buNone/>
                </a:pPr>
                <a:r>
                  <a:rPr lang="en-US" sz="2400" dirty="0">
                    <a:solidFill>
                      <a:srgbClr val="7030A0"/>
                    </a:solidFill>
                    <a:latin typeface="Times New Roman" panose="02020603050405020304" pitchFamily="18" charset="0"/>
                    <a:cs typeface="Times New Roman" panose="02020603050405020304" pitchFamily="18" charset="0"/>
                  </a:rPr>
                  <a:t>where:</a:t>
                </a:r>
              </a:p>
              <a:p>
                <a:pPr>
                  <a:buFont typeface="Arial" panose="020B0604020202020204" pitchFamily="34" charset="0"/>
                  <a:buChar char="•"/>
                </a:pPr>
                <a:r>
                  <a:rPr lang="en-GB" sz="2400" b="0" dirty="0">
                    <a:solidFill>
                      <a:srgbClr val="7030A0"/>
                    </a:solidFill>
                  </a:rPr>
                  <a:t> </a:t>
                </a:r>
                <a14:m>
                  <m:oMath xmlns:m="http://schemas.openxmlformats.org/officeDocument/2006/math">
                    <m:r>
                      <a:rPr lang="en-GB" sz="2400" b="0" i="1" smtClean="0">
                        <a:solidFill>
                          <a:srgbClr val="7030A0"/>
                        </a:solidFill>
                        <a:latin typeface="Cambria Math" panose="02040503050406030204" pitchFamily="18" charset="0"/>
                      </a:rPr>
                      <m:t>𝑥</m:t>
                    </m:r>
                  </m:oMath>
                </a14:m>
                <a:r>
                  <a:rPr lang="en-US" sz="2400" dirty="0">
                    <a:solidFill>
                      <a:srgbClr val="7030A0"/>
                    </a:solidFill>
                  </a:rPr>
                  <a:t> = </a:t>
                </a:r>
                <a:r>
                  <a:rPr lang="en-US" sz="2400" dirty="0">
                    <a:solidFill>
                      <a:srgbClr val="7030A0"/>
                    </a:solidFill>
                    <a:latin typeface="Times New Roman" panose="02020603050405020304" pitchFamily="18" charset="0"/>
                    <a:cs typeface="Times New Roman" panose="02020603050405020304" pitchFamily="18" charset="0"/>
                  </a:rPr>
                  <a:t>Requests assigned to </a:t>
                </a:r>
                <a:r>
                  <a:rPr lang="en-US" sz="2400" b="1" dirty="0">
                    <a:solidFill>
                      <a:srgbClr val="7030A0"/>
                    </a:solidFill>
                    <a:latin typeface="Times New Roman" panose="02020603050405020304" pitchFamily="18" charset="0"/>
                    <a:cs typeface="Times New Roman" panose="02020603050405020304" pitchFamily="18" charset="0"/>
                  </a:rPr>
                  <a:t>Server 1 (S₁)</a:t>
                </a:r>
                <a:endParaRPr lang="en-US" sz="2400" dirty="0">
                  <a:solidFill>
                    <a:srgbClr val="7030A0"/>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solidFill>
                      <a:srgbClr val="7030A0"/>
                    </a:solidFill>
                  </a:rPr>
                  <a:t> </a:t>
                </a:r>
                <a14:m>
                  <m:oMath xmlns:m="http://schemas.openxmlformats.org/officeDocument/2006/math">
                    <m:r>
                      <a:rPr lang="en-US" sz="2400" i="1" dirty="0" smtClean="0">
                        <a:solidFill>
                          <a:srgbClr val="7030A0"/>
                        </a:solidFill>
                        <a:latin typeface="Cambria Math" panose="02040503050406030204" pitchFamily="18" charset="0"/>
                      </a:rPr>
                      <m:t>𝑦</m:t>
                    </m:r>
                  </m:oMath>
                </a14:m>
                <a:r>
                  <a:rPr lang="en-US" sz="2400" dirty="0">
                    <a:solidFill>
                      <a:srgbClr val="7030A0"/>
                    </a:solidFill>
                    <a:latin typeface="Times New Roman" panose="02020603050405020304" pitchFamily="18" charset="0"/>
                    <a:cs typeface="Times New Roman" panose="02020603050405020304" pitchFamily="18" charset="0"/>
                  </a:rPr>
                  <a:t> = Requests assigned to </a:t>
                </a:r>
                <a:r>
                  <a:rPr lang="en-US" sz="2400" b="1" dirty="0">
                    <a:solidFill>
                      <a:srgbClr val="7030A0"/>
                    </a:solidFill>
                    <a:latin typeface="Times New Roman" panose="02020603050405020304" pitchFamily="18" charset="0"/>
                    <a:cs typeface="Times New Roman" panose="02020603050405020304" pitchFamily="18" charset="0"/>
                  </a:rPr>
                  <a:t>Server 2 (S₂)</a:t>
                </a:r>
                <a:endParaRPr lang="en-US" sz="2400" dirty="0">
                  <a:solidFill>
                    <a:srgbClr val="7030A0"/>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solidFill>
                      <a:srgbClr val="7030A0"/>
                    </a:solidFill>
                  </a:rPr>
                  <a:t> </a:t>
                </a:r>
                <a14:m>
                  <m:oMath xmlns:m="http://schemas.openxmlformats.org/officeDocument/2006/math">
                    <m:r>
                      <a:rPr lang="en-US" sz="2400" i="1" dirty="0" smtClean="0">
                        <a:solidFill>
                          <a:srgbClr val="7030A0"/>
                        </a:solidFill>
                        <a:latin typeface="Cambria Math" panose="02040503050406030204" pitchFamily="18" charset="0"/>
                      </a:rPr>
                      <m:t>𝑧</m:t>
                    </m:r>
                  </m:oMath>
                </a14:m>
                <a:r>
                  <a:rPr lang="en-US" sz="2400" dirty="0">
                    <a:solidFill>
                      <a:srgbClr val="7030A0"/>
                    </a:solidFill>
                    <a:latin typeface="Times New Roman" panose="02020603050405020304" pitchFamily="18" charset="0"/>
                    <a:cs typeface="Times New Roman" panose="02020603050405020304" pitchFamily="18" charset="0"/>
                  </a:rPr>
                  <a:t> = Requests assigned to </a:t>
                </a:r>
                <a:r>
                  <a:rPr lang="en-US" sz="2400" b="1" dirty="0">
                    <a:solidFill>
                      <a:srgbClr val="7030A0"/>
                    </a:solidFill>
                    <a:latin typeface="Times New Roman" panose="02020603050405020304" pitchFamily="18" charset="0"/>
                    <a:cs typeface="Times New Roman" panose="02020603050405020304" pitchFamily="18" charset="0"/>
                  </a:rPr>
                  <a:t>Server 3 (S₃)</a:t>
                </a:r>
                <a:endParaRPr lang="en-US" sz="2400" dirty="0">
                  <a:latin typeface="Times New Roman" panose="02020603050405020304" pitchFamily="18" charset="0"/>
                  <a:cs typeface="Times New Roman" panose="02020603050405020304" pitchFamily="18" charset="0"/>
                </a:endParaRPr>
              </a:p>
            </p:txBody>
          </p:sp>
        </mc:Choice>
        <mc:Fallback xmlns="">
          <p:sp>
            <p:nvSpPr>
              <p:cNvPr id="3" name="TextBox 2">
                <a:extLst>
                  <a:ext uri="{FF2B5EF4-FFF2-40B4-BE49-F238E27FC236}">
                    <a16:creationId xmlns:a16="http://schemas.microsoft.com/office/drawing/2014/main" id="{CEC277F7-A2F1-DF25-3A1F-47F5B7CF1C1C}"/>
                  </a:ext>
                </a:extLst>
              </p:cNvPr>
              <p:cNvSpPr txBox="1">
                <a:spLocks noRot="1" noChangeAspect="1" noMove="1" noResize="1" noEditPoints="1" noAdjustHandles="1" noChangeArrowheads="1" noChangeShapeType="1" noTextEdit="1"/>
              </p:cNvSpPr>
              <p:nvPr/>
            </p:nvSpPr>
            <p:spPr>
              <a:xfrm>
                <a:off x="0" y="782823"/>
                <a:ext cx="11999742" cy="6001643"/>
              </a:xfrm>
              <a:prstGeom prst="rect">
                <a:avLst/>
              </a:prstGeom>
              <a:blipFill>
                <a:blip r:embed="rId2"/>
                <a:stretch>
                  <a:fillRect l="-762" r="-1423" b="-1320"/>
                </a:stretch>
              </a:blipFill>
            </p:spPr>
            <p:txBody>
              <a:bodyPr/>
              <a:lstStyle/>
              <a:p>
                <a:r>
                  <a:rPr lang="en-US">
                    <a:noFill/>
                  </a:rPr>
                  <a:t> </a:t>
                </a:r>
              </a:p>
            </p:txBody>
          </p:sp>
        </mc:Fallback>
      </mc:AlternateContent>
    </p:spTree>
    <p:extLst>
      <p:ext uri="{BB962C8B-B14F-4D97-AF65-F5344CB8AC3E}">
        <p14:creationId xmlns:p14="http://schemas.microsoft.com/office/powerpoint/2010/main" val="6140809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62A65730-7F7B-6330-54FE-AE0F6357B0D6}"/>
                  </a:ext>
                </a:extLst>
              </p:cNvPr>
              <p:cNvSpPr txBox="1"/>
              <p:nvPr/>
            </p:nvSpPr>
            <p:spPr>
              <a:xfrm>
                <a:off x="182878" y="130854"/>
                <a:ext cx="12009121" cy="2795958"/>
              </a:xfrm>
              <a:prstGeom prst="rect">
                <a:avLst/>
              </a:prstGeom>
              <a:noFill/>
            </p:spPr>
            <p:txBody>
              <a:bodyPr wrap="square">
                <a:spAutoFit/>
              </a:bodyPr>
              <a:lstStyle/>
              <a:p>
                <a:pPr>
                  <a:lnSpc>
                    <a:spcPct val="150000"/>
                  </a:lnSpc>
                  <a:buNone/>
                </a:pPr>
                <a:r>
                  <a:rPr lang="en-US" sz="2400" b="1" dirty="0">
                    <a:solidFill>
                      <a:srgbClr val="002060"/>
                    </a:solidFill>
                    <a:latin typeface="Times New Roman" panose="02020603050405020304" pitchFamily="18" charset="0"/>
                    <a:cs typeface="Times New Roman" panose="02020603050405020304" pitchFamily="18" charset="0"/>
                  </a:rPr>
                  <a:t>How This System Is Generated</a:t>
                </a:r>
              </a:p>
              <a:p>
                <a:pPr>
                  <a:lnSpc>
                    <a:spcPct val="150000"/>
                  </a:lnSpc>
                  <a:buNone/>
                </a:pPr>
                <a:r>
                  <a:rPr lang="en-US" sz="2400" dirty="0">
                    <a:solidFill>
                      <a:srgbClr val="002060"/>
                    </a:solidFill>
                    <a:latin typeface="Times New Roman" panose="02020603050405020304" pitchFamily="18" charset="0"/>
                    <a:cs typeface="Times New Roman" panose="02020603050405020304" pitchFamily="18" charset="0"/>
                  </a:rPr>
                  <a:t>This system models </a:t>
                </a:r>
                <a:r>
                  <a:rPr lang="en-US" sz="2400" b="1" dirty="0">
                    <a:solidFill>
                      <a:srgbClr val="002060"/>
                    </a:solidFill>
                    <a:latin typeface="Times New Roman" panose="02020603050405020304" pitchFamily="18" charset="0"/>
                    <a:cs typeface="Times New Roman" panose="02020603050405020304" pitchFamily="18" charset="0"/>
                  </a:rPr>
                  <a:t>server load balancing</a:t>
                </a:r>
                <a:r>
                  <a:rPr lang="en-US" sz="2400" dirty="0">
                    <a:solidFill>
                      <a:srgbClr val="002060"/>
                    </a:solidFill>
                    <a:latin typeface="Times New Roman" panose="02020603050405020304" pitchFamily="18" charset="0"/>
                    <a:cs typeface="Times New Roman" panose="02020603050405020304" pitchFamily="18" charset="0"/>
                  </a:rPr>
                  <a:t> in a cloud computing scenario, where </a:t>
                </a:r>
                <a14:m>
                  <m:oMath xmlns:m="http://schemas.openxmlformats.org/officeDocument/2006/math">
                    <m:r>
                      <a:rPr lang="en-US" sz="2400" i="1" dirty="0" smtClean="0">
                        <a:solidFill>
                          <a:srgbClr val="002060"/>
                        </a:solidFill>
                        <a:latin typeface="Cambria Math" panose="02040503050406030204" pitchFamily="18" charset="0"/>
                      </a:rPr>
                      <m:t>𝑥</m:t>
                    </m:r>
                    <m:r>
                      <a:rPr lang="en-US" sz="2400" i="1" dirty="0" smtClean="0">
                        <a:solidFill>
                          <a:srgbClr val="002060"/>
                        </a:solidFill>
                        <a:latin typeface="Cambria Math" panose="02040503050406030204" pitchFamily="18" charset="0"/>
                      </a:rPr>
                      <m:t>, </m:t>
                    </m:r>
                    <m:r>
                      <a:rPr lang="en-US" sz="2400" i="1" dirty="0" err="1">
                        <a:solidFill>
                          <a:srgbClr val="002060"/>
                        </a:solidFill>
                        <a:latin typeface="Cambria Math" panose="02040503050406030204" pitchFamily="18" charset="0"/>
                      </a:rPr>
                      <m:t>𝑦</m:t>
                    </m:r>
                    <m:r>
                      <a:rPr lang="en-US" sz="2400" i="1" dirty="0">
                        <a:solidFill>
                          <a:srgbClr val="002060"/>
                        </a:solidFill>
                        <a:latin typeface="Cambria Math" panose="02040503050406030204" pitchFamily="18" charset="0"/>
                      </a:rPr>
                      <m:t>, </m:t>
                    </m:r>
                    <m:r>
                      <a:rPr lang="en-US" sz="2400" i="1" dirty="0">
                        <a:solidFill>
                          <a:srgbClr val="002060"/>
                        </a:solidFill>
                        <a:latin typeface="Cambria Math" panose="02040503050406030204" pitchFamily="18" charset="0"/>
                      </a:rPr>
                      <m:t>𝑎𝑛𝑑</m:t>
                    </m:r>
                    <m:r>
                      <a:rPr lang="en-US" sz="2400" i="1" dirty="0">
                        <a:solidFill>
                          <a:srgbClr val="002060"/>
                        </a:solidFill>
                        <a:latin typeface="Cambria Math" panose="02040503050406030204" pitchFamily="18" charset="0"/>
                      </a:rPr>
                      <m:t> </m:t>
                    </m:r>
                    <m:r>
                      <a:rPr lang="en-US" sz="2400" i="1" dirty="0">
                        <a:solidFill>
                          <a:srgbClr val="002060"/>
                        </a:solidFill>
                        <a:latin typeface="Cambria Math" panose="02040503050406030204" pitchFamily="18" charset="0"/>
                      </a:rPr>
                      <m:t>𝑧</m:t>
                    </m:r>
                  </m:oMath>
                </a14:m>
                <a:r>
                  <a:rPr lang="en-US" sz="2400" dirty="0">
                    <a:solidFill>
                      <a:srgbClr val="002060"/>
                    </a:solidFill>
                    <a:latin typeface="Times New Roman" panose="02020603050405020304" pitchFamily="18" charset="0"/>
                    <a:cs typeface="Times New Roman" panose="02020603050405020304" pitchFamily="18" charset="0"/>
                  </a:rPr>
                  <a:t> represent the processing time (in milliseconds) for three servers </a:t>
                </a:r>
                <a14:m>
                  <m:oMath xmlns:m="http://schemas.openxmlformats.org/officeDocument/2006/math">
                    <m:sSub>
                      <m:sSubPr>
                        <m:ctrlPr>
                          <a:rPr lang="en-US" sz="2400" i="1" dirty="0" smtClean="0">
                            <a:solidFill>
                              <a:srgbClr val="002060"/>
                            </a:solidFill>
                            <a:latin typeface="Cambria Math" panose="02040503050406030204" pitchFamily="18" charset="0"/>
                          </a:rPr>
                        </m:ctrlPr>
                      </m:sSubPr>
                      <m:e>
                        <m:r>
                          <a:rPr lang="en-US" sz="2400" i="1" dirty="0" smtClean="0">
                            <a:solidFill>
                              <a:srgbClr val="002060"/>
                            </a:solidFill>
                            <a:latin typeface="Cambria Math" panose="02040503050406030204" pitchFamily="18" charset="0"/>
                          </a:rPr>
                          <m:t>𝑆</m:t>
                        </m:r>
                      </m:e>
                      <m:sub>
                        <m:r>
                          <a:rPr lang="en-US" sz="2400" i="1" dirty="0" smtClean="0">
                            <a:solidFill>
                              <a:srgbClr val="002060"/>
                            </a:solidFill>
                            <a:latin typeface="Cambria Math" panose="02040503050406030204" pitchFamily="18" charset="0"/>
                          </a:rPr>
                          <m:t>1</m:t>
                        </m:r>
                      </m:sub>
                    </m:sSub>
                    <m:r>
                      <a:rPr lang="en-US" sz="2400" i="1" dirty="0" smtClean="0">
                        <a:solidFill>
                          <a:srgbClr val="002060"/>
                        </a:solidFill>
                        <a:latin typeface="Cambria Math" panose="02040503050406030204" pitchFamily="18" charset="0"/>
                      </a:rPr>
                      <m:t>​, </m:t>
                    </m:r>
                    <m:sSub>
                      <m:sSubPr>
                        <m:ctrlPr>
                          <a:rPr lang="en-US" sz="2400" b="0" i="1" dirty="0" smtClean="0">
                            <a:solidFill>
                              <a:srgbClr val="002060"/>
                            </a:solidFill>
                            <a:latin typeface="Cambria Math" panose="02040503050406030204" pitchFamily="18" charset="0"/>
                          </a:rPr>
                        </m:ctrlPr>
                      </m:sSubPr>
                      <m:e>
                        <m:r>
                          <a:rPr lang="en-US" sz="2400" b="0" i="1" dirty="0" smtClean="0">
                            <a:solidFill>
                              <a:srgbClr val="002060"/>
                            </a:solidFill>
                            <a:latin typeface="Cambria Math" panose="02040503050406030204" pitchFamily="18" charset="0"/>
                          </a:rPr>
                          <m:t>𝑆</m:t>
                        </m:r>
                      </m:e>
                      <m:sub>
                        <m:r>
                          <a:rPr lang="en-US" sz="2400" i="1" dirty="0" smtClean="0">
                            <a:solidFill>
                              <a:srgbClr val="002060"/>
                            </a:solidFill>
                            <a:latin typeface="Cambria Math" panose="02040503050406030204" pitchFamily="18" charset="0"/>
                          </a:rPr>
                          <m:t>2​</m:t>
                        </m:r>
                      </m:sub>
                    </m:sSub>
                  </m:oMath>
                </a14:m>
                <a:r>
                  <a:rPr lang="en-US" sz="2400" dirty="0">
                    <a:solidFill>
                      <a:srgbClr val="002060"/>
                    </a:solidFill>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US" sz="2400" i="1" dirty="0">
                            <a:solidFill>
                              <a:srgbClr val="002060"/>
                            </a:solidFill>
                            <a:latin typeface="Cambria Math" panose="02040503050406030204" pitchFamily="18" charset="0"/>
                          </a:rPr>
                        </m:ctrlPr>
                      </m:sSubPr>
                      <m:e>
                        <m:r>
                          <a:rPr lang="en-US" sz="2400" i="1" dirty="0" smtClean="0">
                            <a:solidFill>
                              <a:srgbClr val="002060"/>
                            </a:solidFill>
                            <a:latin typeface="Cambria Math" panose="02040503050406030204" pitchFamily="18" charset="0"/>
                          </a:rPr>
                          <m:t>𝑆</m:t>
                        </m:r>
                      </m:e>
                      <m:sub>
                        <m:r>
                          <a:rPr lang="en-US" sz="2400" i="1" dirty="0">
                            <a:solidFill>
                              <a:srgbClr val="002060"/>
                            </a:solidFill>
                            <a:latin typeface="Cambria Math" panose="02040503050406030204" pitchFamily="18" charset="0"/>
                          </a:rPr>
                          <m:t>3</m:t>
                        </m:r>
                      </m:sub>
                    </m:sSub>
                  </m:oMath>
                </a14:m>
                <a:r>
                  <a:rPr lang="en-US" sz="2400" dirty="0">
                    <a:solidFill>
                      <a:srgbClr val="002060"/>
                    </a:solidFill>
                    <a:latin typeface="Times New Roman" panose="02020603050405020304" pitchFamily="18" charset="0"/>
                    <a:cs typeface="Times New Roman" panose="02020603050405020304" pitchFamily="18" charset="0"/>
                  </a:rPr>
                  <a:t>​, respectively.</a:t>
                </a:r>
              </a:p>
              <a:p>
                <a:pPr>
                  <a:lnSpc>
                    <a:spcPct val="150000"/>
                  </a:lnSpc>
                </a:pPr>
                <a:r>
                  <a:rPr lang="en-US" sz="2400" dirty="0">
                    <a:solidFill>
                      <a:srgbClr val="002060"/>
                    </a:solidFill>
                    <a:latin typeface="Times New Roman" panose="02020603050405020304" pitchFamily="18" charset="0"/>
                    <a:cs typeface="Times New Roman" panose="02020603050405020304" pitchFamily="18" charset="0"/>
                  </a:rPr>
                  <a:t>Each equation reflects certain constraints or rules imposed by the system administrators to distribute the load in an optimal way.</a:t>
                </a:r>
              </a:p>
            </p:txBody>
          </p:sp>
        </mc:Choice>
        <mc:Fallback>
          <p:sp>
            <p:nvSpPr>
              <p:cNvPr id="7" name="TextBox 6">
                <a:extLst>
                  <a:ext uri="{FF2B5EF4-FFF2-40B4-BE49-F238E27FC236}">
                    <a16:creationId xmlns:a16="http://schemas.microsoft.com/office/drawing/2014/main" id="{62A65730-7F7B-6330-54FE-AE0F6357B0D6}"/>
                  </a:ext>
                </a:extLst>
              </p:cNvPr>
              <p:cNvSpPr txBox="1">
                <a:spLocks noRot="1" noChangeAspect="1" noMove="1" noResize="1" noEditPoints="1" noAdjustHandles="1" noChangeArrowheads="1" noChangeShapeType="1" noTextEdit="1"/>
              </p:cNvSpPr>
              <p:nvPr/>
            </p:nvSpPr>
            <p:spPr>
              <a:xfrm>
                <a:off x="182878" y="130854"/>
                <a:ext cx="12009121" cy="2795958"/>
              </a:xfrm>
              <a:prstGeom prst="rect">
                <a:avLst/>
              </a:prstGeom>
              <a:blipFill>
                <a:blip r:embed="rId2"/>
                <a:stretch>
                  <a:fillRect l="-761" b="-413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70C40E90-DC62-2DD8-8F47-9E2A552BE461}"/>
                  </a:ext>
                </a:extLst>
              </p:cNvPr>
              <p:cNvSpPr txBox="1"/>
              <p:nvPr/>
            </p:nvSpPr>
            <p:spPr>
              <a:xfrm>
                <a:off x="389205" y="3426369"/>
                <a:ext cx="9596624" cy="830997"/>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en-US" sz="2400" b="0" i="1" smtClean="0">
                          <a:solidFill>
                            <a:srgbClr val="7030A0"/>
                          </a:solidFill>
                          <a:latin typeface="Cambria Math" panose="02040503050406030204" pitchFamily="18" charset="0"/>
                        </a:rPr>
                        <m:t>𝑥</m:t>
                      </m:r>
                      <m:r>
                        <a:rPr lang="en-US" sz="2400" b="0" i="1" smtClean="0">
                          <a:solidFill>
                            <a:srgbClr val="7030A0"/>
                          </a:solidFill>
                          <a:latin typeface="Cambria Math" panose="02040503050406030204" pitchFamily="18" charset="0"/>
                        </a:rPr>
                        <m:t>+</m:t>
                      </m:r>
                      <m:r>
                        <a:rPr lang="en-US" sz="2400" b="0" i="1" smtClean="0">
                          <a:solidFill>
                            <a:srgbClr val="7030A0"/>
                          </a:solidFill>
                          <a:latin typeface="Cambria Math" panose="02040503050406030204" pitchFamily="18" charset="0"/>
                        </a:rPr>
                        <m:t>𝑦</m:t>
                      </m:r>
                      <m:r>
                        <a:rPr lang="en-US" sz="2400" b="0" i="1" smtClean="0">
                          <a:solidFill>
                            <a:srgbClr val="7030A0"/>
                          </a:solidFill>
                          <a:latin typeface="Cambria Math" panose="02040503050406030204" pitchFamily="18" charset="0"/>
                        </a:rPr>
                        <m:t>+</m:t>
                      </m:r>
                      <m:r>
                        <a:rPr lang="en-US" sz="2400" b="0" i="1" smtClean="0">
                          <a:solidFill>
                            <a:srgbClr val="7030A0"/>
                          </a:solidFill>
                          <a:latin typeface="Cambria Math" panose="02040503050406030204" pitchFamily="18" charset="0"/>
                        </a:rPr>
                        <m:t>𝑧</m:t>
                      </m:r>
                      <m:r>
                        <a:rPr lang="en-US" sz="2400" b="0" i="1" smtClean="0">
                          <a:solidFill>
                            <a:srgbClr val="7030A0"/>
                          </a:solidFill>
                          <a:latin typeface="Cambria Math" panose="02040503050406030204" pitchFamily="18" charset="0"/>
                        </a:rPr>
                        <m:t>=100</m:t>
                      </m:r>
                    </m:oMath>
                  </m:oMathPara>
                </a14:m>
                <a:endParaRPr lang="en-US" sz="2400" dirty="0">
                  <a:solidFill>
                    <a:srgbClr val="7030A0"/>
                  </a:solidFill>
                  <a:latin typeface="Times New Roman" panose="02020603050405020304" pitchFamily="18" charset="0"/>
                  <a:cs typeface="Times New Roman" panose="02020603050405020304" pitchFamily="18" charset="0"/>
                </a:endParaRPr>
              </a:p>
              <a:p>
                <a:r>
                  <a:rPr lang="en-US" sz="2400" dirty="0">
                    <a:solidFill>
                      <a:srgbClr val="7030A0"/>
                    </a:solidFill>
                    <a:latin typeface="Times New Roman" panose="02020603050405020304" pitchFamily="18" charset="0"/>
                    <a:cs typeface="Times New Roman" panose="02020603050405020304" pitchFamily="18" charset="0"/>
                  </a:rPr>
                  <a:t>This represents the </a:t>
                </a:r>
                <a:r>
                  <a:rPr lang="en-US" sz="2400" b="1" dirty="0">
                    <a:solidFill>
                      <a:srgbClr val="7030A0"/>
                    </a:solidFill>
                    <a:latin typeface="Times New Roman" panose="02020603050405020304" pitchFamily="18" charset="0"/>
                    <a:cs typeface="Times New Roman" panose="02020603050405020304" pitchFamily="18" charset="0"/>
                  </a:rPr>
                  <a:t>total load constraint</a:t>
                </a:r>
                <a:r>
                  <a:rPr lang="en-US" sz="2400" dirty="0">
                    <a:solidFill>
                      <a:srgbClr val="7030A0"/>
                    </a:solidFill>
                    <a:latin typeface="Times New Roman" panose="02020603050405020304" pitchFamily="18" charset="0"/>
                    <a:cs typeface="Times New Roman" panose="02020603050405020304" pitchFamily="18" charset="0"/>
                  </a:rPr>
                  <a:t> across all servers.</a:t>
                </a:r>
              </a:p>
            </p:txBody>
          </p:sp>
        </mc:Choice>
        <mc:Fallback>
          <p:sp>
            <p:nvSpPr>
              <p:cNvPr id="10" name="TextBox 9">
                <a:extLst>
                  <a:ext uri="{FF2B5EF4-FFF2-40B4-BE49-F238E27FC236}">
                    <a16:creationId xmlns:a16="http://schemas.microsoft.com/office/drawing/2014/main" id="{70C40E90-DC62-2DD8-8F47-9E2A552BE461}"/>
                  </a:ext>
                </a:extLst>
              </p:cNvPr>
              <p:cNvSpPr txBox="1">
                <a:spLocks noRot="1" noChangeAspect="1" noMove="1" noResize="1" noEditPoints="1" noAdjustHandles="1" noChangeArrowheads="1" noChangeShapeType="1" noTextEdit="1"/>
              </p:cNvSpPr>
              <p:nvPr/>
            </p:nvSpPr>
            <p:spPr>
              <a:xfrm>
                <a:off x="389205" y="3426369"/>
                <a:ext cx="9596624" cy="830997"/>
              </a:xfrm>
              <a:prstGeom prst="rect">
                <a:avLst/>
              </a:prstGeom>
              <a:blipFill>
                <a:blip r:embed="rId3"/>
                <a:stretch>
                  <a:fillRect l="-1017" b="-16176"/>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367881F2-F066-A599-B2B5-F77B63B62828}"/>
              </a:ext>
            </a:extLst>
          </p:cNvPr>
          <p:cNvSpPr txBox="1"/>
          <p:nvPr/>
        </p:nvSpPr>
        <p:spPr>
          <a:xfrm>
            <a:off x="389205" y="4756924"/>
            <a:ext cx="11413590" cy="1133965"/>
          </a:xfrm>
          <a:prstGeom prst="rect">
            <a:avLst/>
          </a:prstGeom>
          <a:noFill/>
        </p:spPr>
        <p:txBody>
          <a:bodyPr wrap="square">
            <a:spAutoFit/>
          </a:bodyPr>
          <a:lstStyle/>
          <a:p>
            <a:pPr>
              <a:lnSpc>
                <a:spcPct val="150000"/>
              </a:lnSpc>
            </a:pPr>
            <a:r>
              <a:rPr lang="en-US" sz="2400" dirty="0">
                <a:solidFill>
                  <a:srgbClr val="0070C0"/>
                </a:solidFill>
                <a:latin typeface="Times New Roman" panose="02020603050405020304" pitchFamily="18" charset="0"/>
                <a:cs typeface="Times New Roman" panose="02020603050405020304" pitchFamily="18" charset="0"/>
              </a:rPr>
              <a:t>Example interpretation: The total processing time of incoming tasks distributed to the servers must sum up to </a:t>
            </a:r>
            <a:r>
              <a:rPr lang="en-US" sz="2400" b="1" dirty="0">
                <a:solidFill>
                  <a:srgbClr val="0070C0"/>
                </a:solidFill>
                <a:latin typeface="Times New Roman" panose="02020603050405020304" pitchFamily="18" charset="0"/>
                <a:cs typeface="Times New Roman" panose="02020603050405020304" pitchFamily="18" charset="0"/>
              </a:rPr>
              <a:t>100 milliseconds</a:t>
            </a:r>
            <a:r>
              <a:rPr lang="en-US" sz="2400" dirty="0">
                <a:solidFill>
                  <a:srgbClr val="0070C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129610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DC8966CF-08D6-66E9-24D0-41CBFA012649}"/>
                  </a:ext>
                </a:extLst>
              </p:cNvPr>
              <p:cNvSpPr txBox="1"/>
              <p:nvPr/>
            </p:nvSpPr>
            <p:spPr>
              <a:xfrm>
                <a:off x="368125" y="1481766"/>
                <a:ext cx="3134255" cy="123174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m>
                            <m:mPr>
                              <m:mcs>
                                <m:mc>
                                  <m:mcPr>
                                    <m:count m:val="4"/>
                                    <m:mcJc m:val="center"/>
                                  </m:mcPr>
                                </m:mc>
                              </m:mcs>
                              <m:ctrlPr>
                                <a:rPr lang="en-US" sz="2800" i="1" smtClean="0">
                                  <a:latin typeface="Cambria Math" panose="02040503050406030204" pitchFamily="18" charset="0"/>
                                </a:rPr>
                              </m:ctrlPr>
                            </m:mPr>
                            <m:mr>
                              <m:e>
                                <m:r>
                                  <m:rPr>
                                    <m:brk m:alnAt="7"/>
                                  </m:rPr>
                                  <a:rPr lang="en-GB" sz="2800" b="0" i="1" smtClean="0">
                                    <a:latin typeface="Cambria Math" panose="02040503050406030204" pitchFamily="18" charset="0"/>
                                  </a:rPr>
                                  <m:t>1</m:t>
                                </m:r>
                              </m:e>
                              <m:e>
                                <m:r>
                                  <a:rPr lang="en-GB" sz="2800" b="0" i="1" smtClean="0">
                                    <a:latin typeface="Cambria Math" panose="02040503050406030204" pitchFamily="18" charset="0"/>
                                  </a:rPr>
                                  <m:t>1</m:t>
                                </m:r>
                              </m:e>
                              <m:e>
                                <m:r>
                                  <a:rPr lang="en-GB" sz="2800" b="0" i="1" smtClean="0">
                                    <a:latin typeface="Cambria Math" panose="02040503050406030204" pitchFamily="18" charset="0"/>
                                  </a:rPr>
                                  <m:t>1</m:t>
                                </m:r>
                              </m:e>
                              <m:e>
                                <m:r>
                                  <a:rPr lang="en-GB" sz="2800" b="0" i="1" smtClean="0">
                                    <a:latin typeface="Cambria Math" panose="02040503050406030204" pitchFamily="18" charset="0"/>
                                  </a:rPr>
                                  <m:t>:</m:t>
                                </m:r>
                                <m:r>
                                  <a:rPr lang="en-GB" sz="2800" b="0" i="1" smtClean="0">
                                    <a:solidFill>
                                      <a:srgbClr val="FFC000"/>
                                    </a:solidFill>
                                    <a:latin typeface="Cambria Math" panose="02040503050406030204" pitchFamily="18" charset="0"/>
                                  </a:rPr>
                                  <m:t>100</m:t>
                                </m:r>
                              </m:e>
                            </m:mr>
                            <m:mr>
                              <m:e>
                                <m:r>
                                  <a:rPr lang="en-GB" sz="2800" b="0" i="1" smtClean="0">
                                    <a:latin typeface="Cambria Math" panose="02040503050406030204" pitchFamily="18" charset="0"/>
                                  </a:rPr>
                                  <m:t>2</m:t>
                                </m:r>
                              </m:e>
                              <m:e>
                                <m:r>
                                  <a:rPr lang="en-GB" sz="2800" b="0" i="1" smtClean="0">
                                    <a:latin typeface="Cambria Math" panose="02040503050406030204" pitchFamily="18" charset="0"/>
                                  </a:rPr>
                                  <m:t>3</m:t>
                                </m:r>
                              </m:e>
                              <m:e>
                                <m:r>
                                  <a:rPr lang="en-GB" sz="2800" b="0" i="1" smtClean="0">
                                    <a:latin typeface="Cambria Math" panose="02040503050406030204" pitchFamily="18" charset="0"/>
                                  </a:rPr>
                                  <m:t>4</m:t>
                                </m:r>
                              </m:e>
                              <m:e>
                                <m:r>
                                  <a:rPr lang="en-GB" sz="2800" b="0" i="1" smtClean="0">
                                    <a:latin typeface="Cambria Math" panose="02040503050406030204" pitchFamily="18" charset="0"/>
                                  </a:rPr>
                                  <m:t>: </m:t>
                                </m:r>
                                <m:r>
                                  <a:rPr lang="en-GB" sz="2800" b="0" i="1" smtClean="0">
                                    <a:solidFill>
                                      <a:srgbClr val="FFC000"/>
                                    </a:solidFill>
                                    <a:latin typeface="Cambria Math" panose="02040503050406030204" pitchFamily="18" charset="0"/>
                                  </a:rPr>
                                  <m:t>300</m:t>
                                </m:r>
                              </m:e>
                            </m:mr>
                            <m:mr>
                              <m:e>
                                <m:r>
                                  <a:rPr lang="en-GB" sz="2800" b="0" i="1" smtClean="0">
                                    <a:latin typeface="Cambria Math" panose="02040503050406030204" pitchFamily="18" charset="0"/>
                                  </a:rPr>
                                  <m:t>1</m:t>
                                </m:r>
                              </m:e>
                              <m:e>
                                <m:r>
                                  <a:rPr lang="en-GB" sz="2800" b="0" i="1" smtClean="0">
                                    <a:latin typeface="Cambria Math" panose="02040503050406030204" pitchFamily="18" charset="0"/>
                                  </a:rPr>
                                  <m:t>2</m:t>
                                </m:r>
                              </m:e>
                              <m:e>
                                <m:r>
                                  <a:rPr lang="en-GB" sz="2800" b="0" i="1" smtClean="0">
                                    <a:latin typeface="Cambria Math" panose="02040503050406030204" pitchFamily="18" charset="0"/>
                                  </a:rPr>
                                  <m:t>3</m:t>
                                </m:r>
                              </m:e>
                              <m:e>
                                <m:r>
                                  <a:rPr lang="en-GB" sz="2800" b="0" i="1" smtClean="0">
                                    <a:latin typeface="Cambria Math" panose="02040503050406030204" pitchFamily="18" charset="0"/>
                                  </a:rPr>
                                  <m:t>:  </m:t>
                                </m:r>
                                <m:r>
                                  <a:rPr lang="en-GB" sz="2800" b="0" i="1" smtClean="0">
                                    <a:solidFill>
                                      <a:srgbClr val="FFC000"/>
                                    </a:solidFill>
                                    <a:latin typeface="Cambria Math" panose="02040503050406030204" pitchFamily="18" charset="0"/>
                                  </a:rPr>
                                  <m:t>200</m:t>
                                </m:r>
                              </m:e>
                            </m:mr>
                          </m:m>
                        </m:e>
                      </m:d>
                    </m:oMath>
                  </m:oMathPara>
                </a14:m>
                <a:endParaRPr lang="en-US" sz="2800" dirty="0"/>
              </a:p>
            </p:txBody>
          </p:sp>
        </mc:Choice>
        <mc:Fallback>
          <p:sp>
            <p:nvSpPr>
              <p:cNvPr id="4" name="TextBox 3">
                <a:extLst>
                  <a:ext uri="{FF2B5EF4-FFF2-40B4-BE49-F238E27FC236}">
                    <a16:creationId xmlns:a16="http://schemas.microsoft.com/office/drawing/2014/main" id="{DC8966CF-08D6-66E9-24D0-41CBFA012649}"/>
                  </a:ext>
                </a:extLst>
              </p:cNvPr>
              <p:cNvSpPr txBox="1">
                <a:spLocks noRot="1" noChangeAspect="1" noMove="1" noResize="1" noEditPoints="1" noAdjustHandles="1" noChangeArrowheads="1" noChangeShapeType="1" noTextEdit="1"/>
              </p:cNvSpPr>
              <p:nvPr/>
            </p:nvSpPr>
            <p:spPr>
              <a:xfrm>
                <a:off x="368125" y="1481766"/>
                <a:ext cx="3134255" cy="1231747"/>
              </a:xfrm>
              <a:prstGeom prst="rect">
                <a:avLst/>
              </a:prstGeom>
              <a:blipFill>
                <a:blip r:embed="rId2"/>
                <a:stretch>
                  <a:fillRect/>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2D8D4CC6-0947-834D-BADB-7D49D5F3F490}"/>
              </a:ext>
            </a:extLst>
          </p:cNvPr>
          <p:cNvSpPr txBox="1"/>
          <p:nvPr/>
        </p:nvSpPr>
        <p:spPr>
          <a:xfrm>
            <a:off x="0" y="0"/>
            <a:ext cx="12192000" cy="584775"/>
          </a:xfrm>
          <a:prstGeom prst="rect">
            <a:avLst/>
          </a:prstGeom>
          <a:solidFill>
            <a:schemeClr val="accent2">
              <a:lumMod val="20000"/>
              <a:lumOff val="80000"/>
            </a:schemeClr>
          </a:solidFill>
          <a:ln w="28575">
            <a:solidFill>
              <a:srgbClr val="C00000"/>
            </a:solidFill>
          </a:ln>
        </p:spPr>
        <p:txBody>
          <a:bodyPr wrap="square">
            <a:spAutoFit/>
          </a:bodyPr>
          <a:lstStyle/>
          <a:p>
            <a:r>
              <a:rPr lang="en-US" sz="3200" dirty="0">
                <a:solidFill>
                  <a:srgbClr val="C00000"/>
                </a:solidFill>
                <a:latin typeface="Times New Roman" panose="02020603050405020304" pitchFamily="18" charset="0"/>
                <a:cs typeface="Times New Roman" panose="02020603050405020304" pitchFamily="18" charset="0"/>
              </a:rPr>
              <a:t>Solution using Gauss-Jordan Elimination Method</a:t>
            </a:r>
          </a:p>
        </p:txBody>
      </p:sp>
      <p:sp>
        <p:nvSpPr>
          <p:cNvPr id="6" name="TextBox 5">
            <a:extLst>
              <a:ext uri="{FF2B5EF4-FFF2-40B4-BE49-F238E27FC236}">
                <a16:creationId xmlns:a16="http://schemas.microsoft.com/office/drawing/2014/main" id="{AE467DDA-9658-E413-226D-93A66DEEC1A6}"/>
              </a:ext>
            </a:extLst>
          </p:cNvPr>
          <p:cNvSpPr txBox="1"/>
          <p:nvPr/>
        </p:nvSpPr>
        <p:spPr>
          <a:xfrm>
            <a:off x="177579" y="673802"/>
            <a:ext cx="6854482" cy="430887"/>
          </a:xfrm>
          <a:prstGeom prst="rect">
            <a:avLst/>
          </a:prstGeom>
          <a:solidFill>
            <a:schemeClr val="accent5">
              <a:lumMod val="20000"/>
              <a:lumOff val="80000"/>
            </a:schemeClr>
          </a:solidFill>
          <a:ln w="28575">
            <a:solidFill>
              <a:srgbClr val="002060"/>
            </a:solidFill>
          </a:ln>
        </p:spPr>
        <p:txBody>
          <a:bodyPr wrap="square">
            <a:spAutoFit/>
          </a:bodyPr>
          <a:lstStyle/>
          <a:p>
            <a:r>
              <a:rPr lang="en-US" sz="2200" dirty="0">
                <a:solidFill>
                  <a:srgbClr val="0070C0"/>
                </a:solidFill>
                <a:latin typeface="Times New Roman" panose="02020603050405020304" pitchFamily="18" charset="0"/>
                <a:cs typeface="Times New Roman" panose="02020603050405020304" pitchFamily="18" charset="0"/>
              </a:rPr>
              <a:t>We represent the system as an </a:t>
            </a:r>
            <a:r>
              <a:rPr lang="en-US" sz="2200" b="1" dirty="0">
                <a:solidFill>
                  <a:srgbClr val="0070C0"/>
                </a:solidFill>
                <a:latin typeface="Times New Roman" panose="02020603050405020304" pitchFamily="18" charset="0"/>
                <a:cs typeface="Times New Roman" panose="02020603050405020304" pitchFamily="18" charset="0"/>
              </a:rPr>
              <a:t>augmented matrix</a:t>
            </a:r>
            <a:r>
              <a:rPr lang="en-US" sz="2200" dirty="0">
                <a:solidFill>
                  <a:srgbClr val="0070C0"/>
                </a:solidFill>
                <a:latin typeface="Times New Roman" panose="02020603050405020304" pitchFamily="18" charset="0"/>
                <a:cs typeface="Times New Roman" panose="02020603050405020304" pitchFamily="18" charset="0"/>
              </a:rPr>
              <a:t>:</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9C36CDEE-47C0-0CF4-025E-D925884D9BDC}"/>
                  </a:ext>
                </a:extLst>
              </p:cNvPr>
              <p:cNvSpPr txBox="1"/>
              <p:nvPr/>
            </p:nvSpPr>
            <p:spPr>
              <a:xfrm>
                <a:off x="368124" y="3020250"/>
                <a:ext cx="2977162" cy="123174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m>
                            <m:mPr>
                              <m:mcs>
                                <m:mc>
                                  <m:mcPr>
                                    <m:count m:val="4"/>
                                    <m:mcJc m:val="center"/>
                                  </m:mcPr>
                                </m:mc>
                              </m:mcs>
                              <m:ctrlPr>
                                <a:rPr lang="en-US" sz="2800" i="1" smtClean="0">
                                  <a:latin typeface="Cambria Math" panose="02040503050406030204" pitchFamily="18" charset="0"/>
                                </a:rPr>
                              </m:ctrlPr>
                            </m:mPr>
                            <m:mr>
                              <m:e>
                                <m:r>
                                  <m:rPr>
                                    <m:brk m:alnAt="7"/>
                                  </m:rPr>
                                  <a:rPr lang="en-GB" sz="2800" b="0" i="1" smtClean="0">
                                    <a:latin typeface="Cambria Math" panose="02040503050406030204" pitchFamily="18" charset="0"/>
                                  </a:rPr>
                                  <m:t>1</m:t>
                                </m:r>
                              </m:e>
                              <m:e>
                                <m:r>
                                  <a:rPr lang="en-GB" sz="2800" b="0" i="1" smtClean="0">
                                    <a:latin typeface="Cambria Math" panose="02040503050406030204" pitchFamily="18" charset="0"/>
                                  </a:rPr>
                                  <m:t>1</m:t>
                                </m:r>
                              </m:e>
                              <m:e>
                                <m:r>
                                  <a:rPr lang="en-GB" sz="2800" b="0" i="1" smtClean="0">
                                    <a:latin typeface="Cambria Math" panose="02040503050406030204" pitchFamily="18" charset="0"/>
                                  </a:rPr>
                                  <m:t>1</m:t>
                                </m:r>
                              </m:e>
                              <m:e>
                                <m:r>
                                  <a:rPr lang="en-GB" sz="2800" b="0" i="1" smtClean="0">
                                    <a:latin typeface="Cambria Math" panose="02040503050406030204" pitchFamily="18" charset="0"/>
                                  </a:rPr>
                                  <m:t>:</m:t>
                                </m:r>
                                <m:r>
                                  <a:rPr lang="en-GB" sz="2800" b="0" i="1" smtClean="0">
                                    <a:solidFill>
                                      <a:srgbClr val="FFC000"/>
                                    </a:solidFill>
                                    <a:latin typeface="Cambria Math" panose="02040503050406030204" pitchFamily="18" charset="0"/>
                                  </a:rPr>
                                  <m:t>100</m:t>
                                </m:r>
                              </m:e>
                            </m:mr>
                            <m:mr>
                              <m:e>
                                <m:r>
                                  <a:rPr lang="en-GB" sz="2800" b="0" i="1" smtClean="0">
                                    <a:latin typeface="Cambria Math" panose="02040503050406030204" pitchFamily="18" charset="0"/>
                                  </a:rPr>
                                  <m:t>0</m:t>
                                </m:r>
                              </m:e>
                              <m:e>
                                <m:r>
                                  <a:rPr lang="en-GB" sz="2800" b="0" i="1" smtClean="0">
                                    <a:latin typeface="Cambria Math" panose="02040503050406030204" pitchFamily="18" charset="0"/>
                                  </a:rPr>
                                  <m:t>1</m:t>
                                </m:r>
                              </m:e>
                              <m:e>
                                <m:r>
                                  <a:rPr lang="en-GB" sz="2800" b="0" i="1" smtClean="0">
                                    <a:latin typeface="Cambria Math" panose="02040503050406030204" pitchFamily="18" charset="0"/>
                                  </a:rPr>
                                  <m:t>2</m:t>
                                </m:r>
                              </m:e>
                              <m:e>
                                <m:r>
                                  <a:rPr lang="en-GB" sz="2800" b="0" i="1" smtClean="0">
                                    <a:latin typeface="Cambria Math" panose="02040503050406030204" pitchFamily="18" charset="0"/>
                                  </a:rPr>
                                  <m:t>:</m:t>
                                </m:r>
                                <m:r>
                                  <a:rPr lang="en-GB" sz="2800" b="0" i="1" smtClean="0">
                                    <a:solidFill>
                                      <a:srgbClr val="FFC000"/>
                                    </a:solidFill>
                                    <a:latin typeface="Cambria Math" panose="02040503050406030204" pitchFamily="18" charset="0"/>
                                  </a:rPr>
                                  <m:t>100</m:t>
                                </m:r>
                              </m:e>
                            </m:mr>
                            <m:mr>
                              <m:e>
                                <m:r>
                                  <a:rPr lang="en-GB" sz="2800" b="0" i="1" smtClean="0">
                                    <a:latin typeface="Cambria Math" panose="02040503050406030204" pitchFamily="18" charset="0"/>
                                  </a:rPr>
                                  <m:t>0</m:t>
                                </m:r>
                              </m:e>
                              <m:e>
                                <m:r>
                                  <a:rPr lang="en-GB" sz="2800" b="0" i="1" smtClean="0">
                                    <a:latin typeface="Cambria Math" panose="02040503050406030204" pitchFamily="18" charset="0"/>
                                  </a:rPr>
                                  <m:t>1</m:t>
                                </m:r>
                              </m:e>
                              <m:e>
                                <m:r>
                                  <a:rPr lang="en-GB" sz="2800" b="0" i="1" smtClean="0">
                                    <a:latin typeface="Cambria Math" panose="02040503050406030204" pitchFamily="18" charset="0"/>
                                  </a:rPr>
                                  <m:t>2</m:t>
                                </m:r>
                              </m:e>
                              <m:e>
                                <m:r>
                                  <a:rPr lang="en-GB" sz="2800" b="0" i="1" smtClean="0">
                                    <a:latin typeface="Cambria Math" panose="02040503050406030204" pitchFamily="18" charset="0"/>
                                  </a:rPr>
                                  <m:t>:</m:t>
                                </m:r>
                                <m:r>
                                  <a:rPr lang="en-GB" sz="2800" b="0" i="1" smtClean="0">
                                    <a:solidFill>
                                      <a:srgbClr val="FFC000"/>
                                    </a:solidFill>
                                    <a:latin typeface="Cambria Math" panose="02040503050406030204" pitchFamily="18" charset="0"/>
                                  </a:rPr>
                                  <m:t>100</m:t>
                                </m:r>
                              </m:e>
                            </m:mr>
                          </m:m>
                        </m:e>
                      </m:d>
                    </m:oMath>
                  </m:oMathPara>
                </a14:m>
                <a:endParaRPr lang="en-US" sz="2800" dirty="0"/>
              </a:p>
            </p:txBody>
          </p:sp>
        </mc:Choice>
        <mc:Fallback>
          <p:sp>
            <p:nvSpPr>
              <p:cNvPr id="7" name="TextBox 6">
                <a:extLst>
                  <a:ext uri="{FF2B5EF4-FFF2-40B4-BE49-F238E27FC236}">
                    <a16:creationId xmlns:a16="http://schemas.microsoft.com/office/drawing/2014/main" id="{9C36CDEE-47C0-0CF4-025E-D925884D9BDC}"/>
                  </a:ext>
                </a:extLst>
              </p:cNvPr>
              <p:cNvSpPr txBox="1">
                <a:spLocks noRot="1" noChangeAspect="1" noMove="1" noResize="1" noEditPoints="1" noAdjustHandles="1" noChangeArrowheads="1" noChangeShapeType="1" noTextEdit="1"/>
              </p:cNvSpPr>
              <p:nvPr/>
            </p:nvSpPr>
            <p:spPr>
              <a:xfrm>
                <a:off x="368124" y="3020250"/>
                <a:ext cx="2977162" cy="123174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750B812B-3714-88F6-C681-B7AED15A23A5}"/>
                  </a:ext>
                </a:extLst>
              </p:cNvPr>
              <p:cNvSpPr txBox="1"/>
              <p:nvPr/>
            </p:nvSpPr>
            <p:spPr>
              <a:xfrm>
                <a:off x="376331" y="4690701"/>
                <a:ext cx="3244863" cy="123174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m>
                            <m:mPr>
                              <m:mcs>
                                <m:mc>
                                  <m:mcPr>
                                    <m:count m:val="4"/>
                                    <m:mcJc m:val="center"/>
                                  </m:mcPr>
                                </m:mc>
                              </m:mcs>
                              <m:ctrlPr>
                                <a:rPr lang="en-US" sz="2800" i="1" smtClean="0">
                                  <a:latin typeface="Cambria Math" panose="02040503050406030204" pitchFamily="18" charset="0"/>
                                </a:rPr>
                              </m:ctrlPr>
                            </m:mPr>
                            <m:mr>
                              <m:e>
                                <m:r>
                                  <m:rPr>
                                    <m:brk m:alnAt="7"/>
                                  </m:rPr>
                                  <a:rPr lang="en-GB" sz="2800" b="0" i="1" smtClean="0">
                                    <a:latin typeface="Cambria Math" panose="02040503050406030204" pitchFamily="18" charset="0"/>
                                  </a:rPr>
                                  <m:t>1</m:t>
                                </m:r>
                              </m:e>
                              <m:e>
                                <m:r>
                                  <a:rPr lang="en-GB" sz="2800" b="0" i="1" smtClean="0">
                                    <a:latin typeface="Cambria Math" panose="02040503050406030204" pitchFamily="18" charset="0"/>
                                  </a:rPr>
                                  <m:t>0</m:t>
                                </m:r>
                              </m:e>
                              <m:e>
                                <m:r>
                                  <a:rPr lang="en-GB" sz="2800" b="0" i="1" smtClean="0">
                                    <a:latin typeface="Cambria Math" panose="02040503050406030204" pitchFamily="18" charset="0"/>
                                  </a:rPr>
                                  <m:t>−1</m:t>
                                </m:r>
                              </m:e>
                              <m:e>
                                <m:r>
                                  <a:rPr lang="en-GB" sz="2800" b="0" i="1" smtClean="0">
                                    <a:latin typeface="Cambria Math" panose="02040503050406030204" pitchFamily="18" charset="0"/>
                                  </a:rPr>
                                  <m:t>:</m:t>
                                </m:r>
                                <m:r>
                                  <a:rPr lang="en-GB" sz="2800" b="0" i="1" smtClean="0">
                                    <a:solidFill>
                                      <a:srgbClr val="FFC000"/>
                                    </a:solidFill>
                                    <a:latin typeface="Cambria Math" panose="02040503050406030204" pitchFamily="18" charset="0"/>
                                  </a:rPr>
                                  <m:t>0</m:t>
                                </m:r>
                              </m:e>
                            </m:mr>
                            <m:mr>
                              <m:e>
                                <m:r>
                                  <a:rPr lang="en-GB" sz="2800" b="0" i="1" smtClean="0">
                                    <a:latin typeface="Cambria Math" panose="02040503050406030204" pitchFamily="18" charset="0"/>
                                  </a:rPr>
                                  <m:t>0</m:t>
                                </m:r>
                              </m:e>
                              <m:e>
                                <m:r>
                                  <a:rPr lang="en-GB" sz="2800" b="0" i="1" smtClean="0">
                                    <a:latin typeface="Cambria Math" panose="02040503050406030204" pitchFamily="18" charset="0"/>
                                  </a:rPr>
                                  <m:t>1</m:t>
                                </m:r>
                              </m:e>
                              <m:e>
                                <m:r>
                                  <a:rPr lang="en-GB" sz="2800" b="0" i="1" smtClean="0">
                                    <a:latin typeface="Cambria Math" panose="02040503050406030204" pitchFamily="18" charset="0"/>
                                  </a:rPr>
                                  <m:t>2</m:t>
                                </m:r>
                              </m:e>
                              <m:e>
                                <m:r>
                                  <a:rPr lang="en-GB" sz="2800" b="0" i="1" smtClean="0">
                                    <a:latin typeface="Cambria Math" panose="02040503050406030204" pitchFamily="18" charset="0"/>
                                  </a:rPr>
                                  <m:t>:</m:t>
                                </m:r>
                                <m:r>
                                  <a:rPr lang="en-GB" sz="2800" b="0" i="1" smtClean="0">
                                    <a:solidFill>
                                      <a:srgbClr val="FFC000"/>
                                    </a:solidFill>
                                    <a:latin typeface="Cambria Math" panose="02040503050406030204" pitchFamily="18" charset="0"/>
                                  </a:rPr>
                                  <m:t>100</m:t>
                                </m:r>
                              </m:e>
                            </m:mr>
                            <m:mr>
                              <m:e>
                                <m:r>
                                  <a:rPr lang="en-GB" sz="2800" b="0" i="1" smtClean="0">
                                    <a:latin typeface="Cambria Math" panose="02040503050406030204" pitchFamily="18" charset="0"/>
                                  </a:rPr>
                                  <m:t>0</m:t>
                                </m:r>
                              </m:e>
                              <m:e>
                                <m:r>
                                  <a:rPr lang="en-GB" sz="2800" b="0" i="1" smtClean="0">
                                    <a:latin typeface="Cambria Math" panose="02040503050406030204" pitchFamily="18" charset="0"/>
                                  </a:rPr>
                                  <m:t>0</m:t>
                                </m:r>
                              </m:e>
                              <m:e>
                                <m:r>
                                  <a:rPr lang="en-GB" sz="2800" b="0" i="1" smtClean="0">
                                    <a:latin typeface="Cambria Math" panose="02040503050406030204" pitchFamily="18" charset="0"/>
                                  </a:rPr>
                                  <m:t>0</m:t>
                                </m:r>
                              </m:e>
                              <m:e>
                                <m:r>
                                  <a:rPr lang="en-GB" sz="2800" b="0" i="1" smtClean="0">
                                    <a:latin typeface="Cambria Math" panose="02040503050406030204" pitchFamily="18" charset="0"/>
                                  </a:rPr>
                                  <m:t>:</m:t>
                                </m:r>
                                <m:r>
                                  <a:rPr lang="en-GB" sz="2800" b="0" i="1" smtClean="0">
                                    <a:solidFill>
                                      <a:srgbClr val="FFC000"/>
                                    </a:solidFill>
                                    <a:latin typeface="Cambria Math" panose="02040503050406030204" pitchFamily="18" charset="0"/>
                                  </a:rPr>
                                  <m:t>0</m:t>
                                </m:r>
                              </m:e>
                            </m:mr>
                          </m:m>
                        </m:e>
                      </m:d>
                    </m:oMath>
                  </m:oMathPara>
                </a14:m>
                <a:endParaRPr lang="en-US" sz="2800" dirty="0"/>
              </a:p>
            </p:txBody>
          </p:sp>
        </mc:Choice>
        <mc:Fallback>
          <p:sp>
            <p:nvSpPr>
              <p:cNvPr id="8" name="TextBox 7">
                <a:extLst>
                  <a:ext uri="{FF2B5EF4-FFF2-40B4-BE49-F238E27FC236}">
                    <a16:creationId xmlns:a16="http://schemas.microsoft.com/office/drawing/2014/main" id="{750B812B-3714-88F6-C681-B7AED15A23A5}"/>
                  </a:ext>
                </a:extLst>
              </p:cNvPr>
              <p:cNvSpPr txBox="1">
                <a:spLocks noRot="1" noChangeAspect="1" noMove="1" noResize="1" noEditPoints="1" noAdjustHandles="1" noChangeArrowheads="1" noChangeShapeType="1" noTextEdit="1"/>
              </p:cNvSpPr>
              <p:nvPr/>
            </p:nvSpPr>
            <p:spPr>
              <a:xfrm>
                <a:off x="376331" y="4690701"/>
                <a:ext cx="3244863" cy="123174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572F4EC4-C760-E767-CD9A-68ADD7E7E608}"/>
                  </a:ext>
                </a:extLst>
              </p:cNvPr>
              <p:cNvSpPr txBox="1"/>
              <p:nvPr/>
            </p:nvSpPr>
            <p:spPr>
              <a:xfrm>
                <a:off x="3503853" y="3281629"/>
                <a:ext cx="1356975" cy="307777"/>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PK" sz="2000" b="1" i="1" smtClean="0">
                              <a:latin typeface="Cambria Math" panose="02040503050406030204" pitchFamily="18" charset="0"/>
                            </a:rPr>
                          </m:ctrlPr>
                        </m:sSubPr>
                        <m:e>
                          <m:r>
                            <a:rPr lang="en-US" sz="2000" b="1" i="1" smtClean="0">
                              <a:latin typeface="Cambria Math" panose="02040503050406030204" pitchFamily="18" charset="0"/>
                            </a:rPr>
                            <m:t>𝑹</m:t>
                          </m:r>
                        </m:e>
                        <m:sub>
                          <m:r>
                            <a:rPr lang="en-US" sz="2000" b="1" i="1" smtClean="0">
                              <a:latin typeface="Cambria Math" panose="02040503050406030204" pitchFamily="18" charset="0"/>
                            </a:rPr>
                            <m:t>𝟐</m:t>
                          </m:r>
                        </m:sub>
                      </m:sSub>
                      <m:r>
                        <a:rPr lang="en-US" sz="2000" b="1" i="1" smtClean="0">
                          <a:latin typeface="Cambria Math" panose="02040503050406030204" pitchFamily="18" charset="0"/>
                        </a:rPr>
                        <m:t>−</m:t>
                      </m:r>
                      <m:r>
                        <a:rPr lang="en-US" sz="2000" b="1" i="1" smtClean="0">
                          <a:latin typeface="Cambria Math" panose="02040503050406030204" pitchFamily="18" charset="0"/>
                        </a:rPr>
                        <m:t>𝟐</m:t>
                      </m:r>
                      <m:r>
                        <a:rPr lang="en-US" sz="2000" b="1" i="1" smtClean="0">
                          <a:latin typeface="Cambria Math" panose="02040503050406030204" pitchFamily="18" charset="0"/>
                        </a:rPr>
                        <m:t>∗</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𝑹</m:t>
                          </m:r>
                        </m:e>
                        <m:sub>
                          <m:r>
                            <a:rPr lang="en-US" sz="2000" b="1" i="1" smtClean="0">
                              <a:latin typeface="Cambria Math" panose="02040503050406030204" pitchFamily="18" charset="0"/>
                            </a:rPr>
                            <m:t>𝟏</m:t>
                          </m:r>
                        </m:sub>
                      </m:sSub>
                    </m:oMath>
                  </m:oMathPara>
                </a14:m>
                <a:endParaRPr lang="en-PK" sz="2000" b="1" dirty="0"/>
              </a:p>
            </p:txBody>
          </p:sp>
        </mc:Choice>
        <mc:Fallback>
          <p:sp>
            <p:nvSpPr>
              <p:cNvPr id="9" name="TextBox 8">
                <a:extLst>
                  <a:ext uri="{FF2B5EF4-FFF2-40B4-BE49-F238E27FC236}">
                    <a16:creationId xmlns:a16="http://schemas.microsoft.com/office/drawing/2014/main" id="{572F4EC4-C760-E767-CD9A-68ADD7E7E608}"/>
                  </a:ext>
                </a:extLst>
              </p:cNvPr>
              <p:cNvSpPr txBox="1">
                <a:spLocks noRot="1" noChangeAspect="1" noMove="1" noResize="1" noEditPoints="1" noAdjustHandles="1" noChangeArrowheads="1" noChangeShapeType="1" noTextEdit="1"/>
              </p:cNvSpPr>
              <p:nvPr/>
            </p:nvSpPr>
            <p:spPr>
              <a:xfrm>
                <a:off x="3503853" y="3281629"/>
                <a:ext cx="1356975" cy="307777"/>
              </a:xfrm>
              <a:prstGeom prst="rect">
                <a:avLst/>
              </a:prstGeom>
              <a:blipFill>
                <a:blip r:embed="rId5"/>
                <a:stretch>
                  <a:fillRect l="-3571" r="-1786" b="-1320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10281345-C7F5-9BE7-A911-9DF3EA809870}"/>
                  </a:ext>
                </a:extLst>
              </p:cNvPr>
              <p:cNvSpPr txBox="1"/>
              <p:nvPr/>
            </p:nvSpPr>
            <p:spPr>
              <a:xfrm>
                <a:off x="3531989" y="3734599"/>
                <a:ext cx="965649" cy="307777"/>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PK" sz="2000" b="1" i="1" smtClean="0">
                              <a:latin typeface="Cambria Math" panose="02040503050406030204" pitchFamily="18" charset="0"/>
                            </a:rPr>
                          </m:ctrlPr>
                        </m:sSubPr>
                        <m:e>
                          <m:r>
                            <a:rPr lang="en-US" sz="2000" b="1" i="1" smtClean="0">
                              <a:latin typeface="Cambria Math" panose="02040503050406030204" pitchFamily="18" charset="0"/>
                            </a:rPr>
                            <m:t>𝑹</m:t>
                          </m:r>
                        </m:e>
                        <m:sub>
                          <m:r>
                            <a:rPr lang="en-GB" sz="2000" b="1" i="1" smtClean="0">
                              <a:latin typeface="Cambria Math" panose="02040503050406030204" pitchFamily="18" charset="0"/>
                            </a:rPr>
                            <m:t>𝟑</m:t>
                          </m:r>
                        </m:sub>
                      </m:sSub>
                      <m:r>
                        <a:rPr lang="en-US" sz="2000" b="1" i="1" smtClean="0">
                          <a:latin typeface="Cambria Math" panose="02040503050406030204" pitchFamily="18" charset="0"/>
                        </a:rPr>
                        <m:t>−</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𝑹</m:t>
                          </m:r>
                        </m:e>
                        <m:sub>
                          <m:r>
                            <a:rPr lang="en-US" sz="2000" b="1" i="1" smtClean="0">
                              <a:latin typeface="Cambria Math" panose="02040503050406030204" pitchFamily="18" charset="0"/>
                            </a:rPr>
                            <m:t>𝟏</m:t>
                          </m:r>
                        </m:sub>
                      </m:sSub>
                    </m:oMath>
                  </m:oMathPara>
                </a14:m>
                <a:endParaRPr lang="en-PK" sz="2000" b="1" dirty="0"/>
              </a:p>
            </p:txBody>
          </p:sp>
        </mc:Choice>
        <mc:Fallback>
          <p:sp>
            <p:nvSpPr>
              <p:cNvPr id="10" name="TextBox 9">
                <a:extLst>
                  <a:ext uri="{FF2B5EF4-FFF2-40B4-BE49-F238E27FC236}">
                    <a16:creationId xmlns:a16="http://schemas.microsoft.com/office/drawing/2014/main" id="{10281345-C7F5-9BE7-A911-9DF3EA809870}"/>
                  </a:ext>
                </a:extLst>
              </p:cNvPr>
              <p:cNvSpPr txBox="1">
                <a:spLocks noRot="1" noChangeAspect="1" noMove="1" noResize="1" noEditPoints="1" noAdjustHandles="1" noChangeArrowheads="1" noChangeShapeType="1" noTextEdit="1"/>
              </p:cNvSpPr>
              <p:nvPr/>
            </p:nvSpPr>
            <p:spPr>
              <a:xfrm>
                <a:off x="3531989" y="3734599"/>
                <a:ext cx="965649" cy="307777"/>
              </a:xfrm>
              <a:prstGeom prst="rect">
                <a:avLst/>
              </a:prstGeom>
              <a:blipFill>
                <a:blip r:embed="rId6"/>
                <a:stretch>
                  <a:fillRect l="-4969" r="-1863" b="-1538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ECAF4A20-035E-3263-70DB-F7D7E3B622F7}"/>
                  </a:ext>
                </a:extLst>
              </p:cNvPr>
              <p:cNvSpPr txBox="1"/>
              <p:nvPr/>
            </p:nvSpPr>
            <p:spPr>
              <a:xfrm>
                <a:off x="3621194" y="4987710"/>
                <a:ext cx="965649" cy="307777"/>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PK" sz="2000" b="1" i="1" smtClean="0">
                              <a:latin typeface="Cambria Math" panose="02040503050406030204" pitchFamily="18" charset="0"/>
                            </a:rPr>
                          </m:ctrlPr>
                        </m:sSubPr>
                        <m:e>
                          <m:r>
                            <a:rPr lang="en-US" sz="2000" b="1" i="1" smtClean="0">
                              <a:latin typeface="Cambria Math" panose="02040503050406030204" pitchFamily="18" charset="0"/>
                            </a:rPr>
                            <m:t>𝑹</m:t>
                          </m:r>
                        </m:e>
                        <m:sub>
                          <m:r>
                            <a:rPr lang="en-GB" sz="2000" b="1" i="1" smtClean="0">
                              <a:latin typeface="Cambria Math" panose="02040503050406030204" pitchFamily="18" charset="0"/>
                            </a:rPr>
                            <m:t>𝟏</m:t>
                          </m:r>
                        </m:sub>
                      </m:sSub>
                      <m:r>
                        <a:rPr lang="en-US" sz="2000" b="1" i="1" smtClean="0">
                          <a:latin typeface="Cambria Math" panose="02040503050406030204" pitchFamily="18" charset="0"/>
                        </a:rPr>
                        <m:t>−</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𝑹</m:t>
                          </m:r>
                        </m:e>
                        <m:sub>
                          <m:r>
                            <a:rPr lang="en-GB" sz="2000" b="1" i="1" smtClean="0">
                              <a:latin typeface="Cambria Math" panose="02040503050406030204" pitchFamily="18" charset="0"/>
                            </a:rPr>
                            <m:t>𝟐</m:t>
                          </m:r>
                        </m:sub>
                      </m:sSub>
                    </m:oMath>
                  </m:oMathPara>
                </a14:m>
                <a:endParaRPr lang="en-PK" sz="2000" b="1" dirty="0"/>
              </a:p>
            </p:txBody>
          </p:sp>
        </mc:Choice>
        <mc:Fallback>
          <p:sp>
            <p:nvSpPr>
              <p:cNvPr id="11" name="TextBox 10">
                <a:extLst>
                  <a:ext uri="{FF2B5EF4-FFF2-40B4-BE49-F238E27FC236}">
                    <a16:creationId xmlns:a16="http://schemas.microsoft.com/office/drawing/2014/main" id="{ECAF4A20-035E-3263-70DB-F7D7E3B622F7}"/>
                  </a:ext>
                </a:extLst>
              </p:cNvPr>
              <p:cNvSpPr txBox="1">
                <a:spLocks noRot="1" noChangeAspect="1" noMove="1" noResize="1" noEditPoints="1" noAdjustHandles="1" noChangeArrowheads="1" noChangeShapeType="1" noTextEdit="1"/>
              </p:cNvSpPr>
              <p:nvPr/>
            </p:nvSpPr>
            <p:spPr>
              <a:xfrm>
                <a:off x="3621194" y="4987710"/>
                <a:ext cx="965649" cy="307777"/>
              </a:xfrm>
              <a:prstGeom prst="rect">
                <a:avLst/>
              </a:prstGeom>
              <a:blipFill>
                <a:blip r:embed="rId7"/>
                <a:stretch>
                  <a:fillRect l="-5000" r="-2500" b="-1320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5F767F3A-76AE-4DD1-185E-F23A499B4D04}"/>
                  </a:ext>
                </a:extLst>
              </p:cNvPr>
              <p:cNvSpPr txBox="1"/>
              <p:nvPr/>
            </p:nvSpPr>
            <p:spPr>
              <a:xfrm>
                <a:off x="3649330" y="5440680"/>
                <a:ext cx="965649" cy="307777"/>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PK" sz="2000" b="1" i="1" smtClean="0">
                              <a:latin typeface="Cambria Math" panose="02040503050406030204" pitchFamily="18" charset="0"/>
                            </a:rPr>
                          </m:ctrlPr>
                        </m:sSubPr>
                        <m:e>
                          <m:r>
                            <a:rPr lang="en-US" sz="2000" b="1" i="1" smtClean="0">
                              <a:latin typeface="Cambria Math" panose="02040503050406030204" pitchFamily="18" charset="0"/>
                            </a:rPr>
                            <m:t>𝑹</m:t>
                          </m:r>
                        </m:e>
                        <m:sub>
                          <m:r>
                            <a:rPr lang="en-GB" sz="2000" b="1" i="1" smtClean="0">
                              <a:latin typeface="Cambria Math" panose="02040503050406030204" pitchFamily="18" charset="0"/>
                            </a:rPr>
                            <m:t>𝟑</m:t>
                          </m:r>
                        </m:sub>
                      </m:sSub>
                      <m:r>
                        <a:rPr lang="en-US" sz="2000" b="1" i="1" smtClean="0">
                          <a:latin typeface="Cambria Math" panose="02040503050406030204" pitchFamily="18" charset="0"/>
                        </a:rPr>
                        <m:t>−</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𝑹</m:t>
                          </m:r>
                        </m:e>
                        <m:sub>
                          <m:r>
                            <a:rPr lang="en-GB" sz="2000" b="1" i="1" smtClean="0">
                              <a:latin typeface="Cambria Math" panose="02040503050406030204" pitchFamily="18" charset="0"/>
                            </a:rPr>
                            <m:t>𝟐</m:t>
                          </m:r>
                        </m:sub>
                      </m:sSub>
                    </m:oMath>
                  </m:oMathPara>
                </a14:m>
                <a:endParaRPr lang="en-PK" sz="2000" b="1" dirty="0"/>
              </a:p>
            </p:txBody>
          </p:sp>
        </mc:Choice>
        <mc:Fallback>
          <p:sp>
            <p:nvSpPr>
              <p:cNvPr id="12" name="TextBox 11">
                <a:extLst>
                  <a:ext uri="{FF2B5EF4-FFF2-40B4-BE49-F238E27FC236}">
                    <a16:creationId xmlns:a16="http://schemas.microsoft.com/office/drawing/2014/main" id="{5F767F3A-76AE-4DD1-185E-F23A499B4D04}"/>
                  </a:ext>
                </a:extLst>
              </p:cNvPr>
              <p:cNvSpPr txBox="1">
                <a:spLocks noRot="1" noChangeAspect="1" noMove="1" noResize="1" noEditPoints="1" noAdjustHandles="1" noChangeArrowheads="1" noChangeShapeType="1" noTextEdit="1"/>
              </p:cNvSpPr>
              <p:nvPr/>
            </p:nvSpPr>
            <p:spPr>
              <a:xfrm>
                <a:off x="3649330" y="5440680"/>
                <a:ext cx="965649" cy="307777"/>
              </a:xfrm>
              <a:prstGeom prst="rect">
                <a:avLst/>
              </a:prstGeom>
              <a:blipFill>
                <a:blip r:embed="rId8"/>
                <a:stretch>
                  <a:fillRect l="-5625" r="-2500" b="-13462"/>
                </a:stretch>
              </a:blipFill>
            </p:spPr>
            <p:txBody>
              <a:bodyPr/>
              <a:lstStyle/>
              <a:p>
                <a:r>
                  <a:rPr lang="en-US">
                    <a:noFill/>
                  </a:rPr>
                  <a:t> </a:t>
                </a:r>
              </a:p>
            </p:txBody>
          </p:sp>
        </mc:Fallback>
      </mc:AlternateContent>
      <p:cxnSp>
        <p:nvCxnSpPr>
          <p:cNvPr id="13" name="Straight Connector 12">
            <a:extLst>
              <a:ext uri="{FF2B5EF4-FFF2-40B4-BE49-F238E27FC236}">
                <a16:creationId xmlns:a16="http://schemas.microsoft.com/office/drawing/2014/main" id="{02BB36B4-06C1-06F0-5BEB-6C1DA59ABEF1}"/>
              </a:ext>
            </a:extLst>
          </p:cNvPr>
          <p:cNvCxnSpPr>
            <a:cxnSpLocks/>
          </p:cNvCxnSpPr>
          <p:nvPr/>
        </p:nvCxnSpPr>
        <p:spPr>
          <a:xfrm>
            <a:off x="5488307" y="1270697"/>
            <a:ext cx="0" cy="4651751"/>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3934AF6E-7446-B6E5-46A4-51E5AEC5BB6C}"/>
              </a:ext>
            </a:extLst>
          </p:cNvPr>
          <p:cNvSpPr txBox="1"/>
          <p:nvPr/>
        </p:nvSpPr>
        <p:spPr>
          <a:xfrm>
            <a:off x="5645401" y="1405802"/>
            <a:ext cx="3961047" cy="461665"/>
          </a:xfrm>
          <a:prstGeom prst="rect">
            <a:avLst/>
          </a:prstGeom>
          <a:noFill/>
        </p:spPr>
        <p:txBody>
          <a:bodyPr wrap="square">
            <a:spAutoFit/>
          </a:bodyPr>
          <a:lstStyle/>
          <a:p>
            <a:r>
              <a:rPr lang="en-US" sz="2400" dirty="0">
                <a:solidFill>
                  <a:srgbClr val="002060"/>
                </a:solidFill>
                <a:latin typeface="Times New Roman" panose="02020603050405020304" pitchFamily="18" charset="0"/>
                <a:cs typeface="Times New Roman" panose="02020603050405020304" pitchFamily="18" charset="0"/>
              </a:rPr>
              <a:t>Rewriting as equations:</a:t>
            </a:r>
          </a:p>
        </p:txBody>
      </p:sp>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FADB6DD4-CA4E-DD3E-DC1F-E0370942B969}"/>
                  </a:ext>
                </a:extLst>
              </p:cNvPr>
              <p:cNvSpPr txBox="1"/>
              <p:nvPr/>
            </p:nvSpPr>
            <p:spPr>
              <a:xfrm>
                <a:off x="6115787" y="1983914"/>
                <a:ext cx="268124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400" b="0" i="1" smtClean="0">
                          <a:solidFill>
                            <a:schemeClr val="accent2">
                              <a:lumMod val="50000"/>
                            </a:schemeClr>
                          </a:solidFill>
                          <a:latin typeface="Cambria Math" panose="02040503050406030204" pitchFamily="18" charset="0"/>
                        </a:rPr>
                        <m:t>𝑥</m:t>
                      </m:r>
                      <m:r>
                        <a:rPr lang="en-GB" sz="2400" b="0" i="1" smtClean="0">
                          <a:solidFill>
                            <a:schemeClr val="accent2">
                              <a:lumMod val="50000"/>
                            </a:schemeClr>
                          </a:solidFill>
                          <a:latin typeface="Cambria Math" panose="02040503050406030204" pitchFamily="18" charset="0"/>
                        </a:rPr>
                        <m:t>−</m:t>
                      </m:r>
                      <m:r>
                        <a:rPr lang="en-GB" sz="2400" b="0" i="1" smtClean="0">
                          <a:solidFill>
                            <a:schemeClr val="accent2">
                              <a:lumMod val="50000"/>
                            </a:schemeClr>
                          </a:solidFill>
                          <a:latin typeface="Cambria Math" panose="02040503050406030204" pitchFamily="18" charset="0"/>
                        </a:rPr>
                        <m:t>𝑧</m:t>
                      </m:r>
                      <m:r>
                        <a:rPr lang="en-GB" sz="2400" b="0" i="1" smtClean="0">
                          <a:solidFill>
                            <a:schemeClr val="accent2">
                              <a:lumMod val="50000"/>
                            </a:schemeClr>
                          </a:solidFill>
                          <a:latin typeface="Cambria Math" panose="02040503050406030204" pitchFamily="18" charset="0"/>
                        </a:rPr>
                        <m:t>=0⇒</m:t>
                      </m:r>
                      <m:r>
                        <a:rPr lang="en-GB" sz="2400" b="0" i="1" smtClean="0">
                          <a:solidFill>
                            <a:schemeClr val="accent2">
                              <a:lumMod val="50000"/>
                            </a:schemeClr>
                          </a:solidFill>
                          <a:latin typeface="Cambria Math" panose="02040503050406030204" pitchFamily="18" charset="0"/>
                          <a:ea typeface="Cambria Math" panose="02040503050406030204" pitchFamily="18" charset="0"/>
                        </a:rPr>
                        <m:t>𝑥</m:t>
                      </m:r>
                      <m:r>
                        <a:rPr lang="en-GB" sz="2400" b="0" i="1" smtClean="0">
                          <a:solidFill>
                            <a:schemeClr val="accent2">
                              <a:lumMod val="50000"/>
                            </a:schemeClr>
                          </a:solidFill>
                          <a:latin typeface="Cambria Math" panose="02040503050406030204" pitchFamily="18" charset="0"/>
                          <a:ea typeface="Cambria Math" panose="02040503050406030204" pitchFamily="18" charset="0"/>
                        </a:rPr>
                        <m:t>=</m:t>
                      </m:r>
                      <m:r>
                        <a:rPr lang="en-GB" sz="2400" b="0" i="1" smtClean="0">
                          <a:solidFill>
                            <a:schemeClr val="accent2">
                              <a:lumMod val="50000"/>
                            </a:schemeClr>
                          </a:solidFill>
                          <a:latin typeface="Cambria Math" panose="02040503050406030204" pitchFamily="18" charset="0"/>
                          <a:ea typeface="Cambria Math" panose="02040503050406030204" pitchFamily="18" charset="0"/>
                        </a:rPr>
                        <m:t>𝑧</m:t>
                      </m:r>
                    </m:oMath>
                  </m:oMathPara>
                </a14:m>
                <a:endParaRPr lang="en-US" sz="2400" dirty="0">
                  <a:solidFill>
                    <a:schemeClr val="accent2">
                      <a:lumMod val="50000"/>
                    </a:schemeClr>
                  </a:solidFill>
                </a:endParaRPr>
              </a:p>
            </p:txBody>
          </p:sp>
        </mc:Choice>
        <mc:Fallback>
          <p:sp>
            <p:nvSpPr>
              <p:cNvPr id="18" name="TextBox 17">
                <a:extLst>
                  <a:ext uri="{FF2B5EF4-FFF2-40B4-BE49-F238E27FC236}">
                    <a16:creationId xmlns:a16="http://schemas.microsoft.com/office/drawing/2014/main" id="{FADB6DD4-CA4E-DD3E-DC1F-E0370942B969}"/>
                  </a:ext>
                </a:extLst>
              </p:cNvPr>
              <p:cNvSpPr txBox="1">
                <a:spLocks noRot="1" noChangeAspect="1" noMove="1" noResize="1" noEditPoints="1" noAdjustHandles="1" noChangeArrowheads="1" noChangeShapeType="1" noTextEdit="1"/>
              </p:cNvSpPr>
              <p:nvPr/>
            </p:nvSpPr>
            <p:spPr>
              <a:xfrm>
                <a:off x="6115787" y="1983914"/>
                <a:ext cx="2681247" cy="46166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365A0E63-D5F8-2089-D610-28A520B45C04}"/>
                  </a:ext>
                </a:extLst>
              </p:cNvPr>
              <p:cNvSpPr txBox="1"/>
              <p:nvPr/>
            </p:nvSpPr>
            <p:spPr>
              <a:xfrm>
                <a:off x="6115787" y="2593618"/>
                <a:ext cx="424468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400" b="0" i="1" smtClean="0">
                          <a:solidFill>
                            <a:schemeClr val="accent2">
                              <a:lumMod val="50000"/>
                            </a:schemeClr>
                          </a:solidFill>
                          <a:latin typeface="Cambria Math" panose="02040503050406030204" pitchFamily="18" charset="0"/>
                        </a:rPr>
                        <m:t>𝑦</m:t>
                      </m:r>
                      <m:r>
                        <a:rPr lang="en-GB" sz="2400" b="0" i="1" smtClean="0">
                          <a:solidFill>
                            <a:schemeClr val="accent2">
                              <a:lumMod val="50000"/>
                            </a:schemeClr>
                          </a:solidFill>
                          <a:latin typeface="Cambria Math" panose="02040503050406030204" pitchFamily="18" charset="0"/>
                        </a:rPr>
                        <m:t>+2</m:t>
                      </m:r>
                      <m:r>
                        <a:rPr lang="en-GB" sz="2400" b="0" i="1" smtClean="0">
                          <a:solidFill>
                            <a:schemeClr val="accent2">
                              <a:lumMod val="50000"/>
                            </a:schemeClr>
                          </a:solidFill>
                          <a:latin typeface="Cambria Math" panose="02040503050406030204" pitchFamily="18" charset="0"/>
                        </a:rPr>
                        <m:t>𝑧</m:t>
                      </m:r>
                      <m:r>
                        <a:rPr lang="en-GB" sz="2400" b="0" i="1" smtClean="0">
                          <a:solidFill>
                            <a:schemeClr val="accent2">
                              <a:lumMod val="50000"/>
                            </a:schemeClr>
                          </a:solidFill>
                          <a:latin typeface="Cambria Math" panose="02040503050406030204" pitchFamily="18" charset="0"/>
                        </a:rPr>
                        <m:t>=100⇒</m:t>
                      </m:r>
                      <m:r>
                        <a:rPr lang="en-GB" sz="2400" b="0" i="1" smtClean="0">
                          <a:solidFill>
                            <a:schemeClr val="accent2">
                              <a:lumMod val="50000"/>
                            </a:schemeClr>
                          </a:solidFill>
                          <a:latin typeface="Cambria Math" panose="02040503050406030204" pitchFamily="18" charset="0"/>
                          <a:ea typeface="Cambria Math" panose="02040503050406030204" pitchFamily="18" charset="0"/>
                        </a:rPr>
                        <m:t>𝑦</m:t>
                      </m:r>
                      <m:r>
                        <a:rPr lang="en-GB" sz="2400" b="0" i="1" smtClean="0">
                          <a:solidFill>
                            <a:schemeClr val="accent2">
                              <a:lumMod val="50000"/>
                            </a:schemeClr>
                          </a:solidFill>
                          <a:latin typeface="Cambria Math" panose="02040503050406030204" pitchFamily="18" charset="0"/>
                          <a:ea typeface="Cambria Math" panose="02040503050406030204" pitchFamily="18" charset="0"/>
                        </a:rPr>
                        <m:t>=100−2</m:t>
                      </m:r>
                      <m:r>
                        <a:rPr lang="en-GB" sz="2400" b="0" i="1" smtClean="0">
                          <a:solidFill>
                            <a:schemeClr val="accent2">
                              <a:lumMod val="50000"/>
                            </a:schemeClr>
                          </a:solidFill>
                          <a:latin typeface="Cambria Math" panose="02040503050406030204" pitchFamily="18" charset="0"/>
                          <a:ea typeface="Cambria Math" panose="02040503050406030204" pitchFamily="18" charset="0"/>
                        </a:rPr>
                        <m:t>𝑧</m:t>
                      </m:r>
                    </m:oMath>
                  </m:oMathPara>
                </a14:m>
                <a:endParaRPr lang="en-US" sz="2400" dirty="0">
                  <a:solidFill>
                    <a:schemeClr val="accent2">
                      <a:lumMod val="50000"/>
                    </a:schemeClr>
                  </a:solidFill>
                </a:endParaRPr>
              </a:p>
            </p:txBody>
          </p:sp>
        </mc:Choice>
        <mc:Fallback>
          <p:sp>
            <p:nvSpPr>
              <p:cNvPr id="19" name="TextBox 18">
                <a:extLst>
                  <a:ext uri="{FF2B5EF4-FFF2-40B4-BE49-F238E27FC236}">
                    <a16:creationId xmlns:a16="http://schemas.microsoft.com/office/drawing/2014/main" id="{365A0E63-D5F8-2089-D610-28A520B45C04}"/>
                  </a:ext>
                </a:extLst>
              </p:cNvPr>
              <p:cNvSpPr txBox="1">
                <a:spLocks noRot="1" noChangeAspect="1" noMove="1" noResize="1" noEditPoints="1" noAdjustHandles="1" noChangeArrowheads="1" noChangeShapeType="1" noTextEdit="1"/>
              </p:cNvSpPr>
              <p:nvPr/>
            </p:nvSpPr>
            <p:spPr>
              <a:xfrm>
                <a:off x="6115787" y="2593618"/>
                <a:ext cx="4244688" cy="461665"/>
              </a:xfrm>
              <a:prstGeom prst="rect">
                <a:avLst/>
              </a:prstGeom>
              <a:blipFill>
                <a:blip r:embed="rId10"/>
                <a:stretch>
                  <a:fillRect b="-10526"/>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0AAEFA75-0978-2253-D406-56D79D1E6AA8}"/>
              </a:ext>
            </a:extLst>
          </p:cNvPr>
          <p:cNvSpPr txBox="1"/>
          <p:nvPr/>
        </p:nvSpPr>
        <p:spPr>
          <a:xfrm>
            <a:off x="5614264" y="3863187"/>
            <a:ext cx="3961047" cy="461665"/>
          </a:xfrm>
          <a:prstGeom prst="rect">
            <a:avLst/>
          </a:prstGeom>
          <a:noFill/>
        </p:spPr>
        <p:txBody>
          <a:bodyPr wrap="square">
            <a:spAutoFit/>
          </a:bodyPr>
          <a:lstStyle/>
          <a:p>
            <a:r>
              <a:rPr lang="en-US" sz="2400" dirty="0">
                <a:solidFill>
                  <a:srgbClr val="002060"/>
                </a:solidFill>
                <a:latin typeface="Times New Roman" panose="02020603050405020304" pitchFamily="18" charset="0"/>
                <a:cs typeface="Times New Roman" panose="02020603050405020304" pitchFamily="18" charset="0"/>
              </a:rPr>
              <a:t>Thus the solution is:</a:t>
            </a:r>
          </a:p>
        </p:txBody>
      </p:sp>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945B3881-ACA4-E5B7-F6A3-AB3D36D82FE7}"/>
                  </a:ext>
                </a:extLst>
              </p:cNvPr>
              <p:cNvSpPr txBox="1"/>
              <p:nvPr/>
            </p:nvSpPr>
            <p:spPr>
              <a:xfrm>
                <a:off x="6887546" y="4472254"/>
                <a:ext cx="1297514" cy="369332"/>
              </a:xfrm>
              <a:prstGeom prst="rect">
                <a:avLst/>
              </a:prstGeom>
              <a:solidFill>
                <a:schemeClr val="accent6">
                  <a:lumMod val="40000"/>
                  <a:lumOff val="60000"/>
                </a:schemeClr>
              </a:solidFill>
              <a:ln w="28575">
                <a:solidFill>
                  <a:schemeClr val="accent6">
                    <a:lumMod val="50000"/>
                  </a:schemeClr>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1" i="1" smtClean="0">
                          <a:solidFill>
                            <a:srgbClr val="00B050"/>
                          </a:solidFill>
                          <a:latin typeface="Cambria Math" panose="02040503050406030204" pitchFamily="18" charset="0"/>
                        </a:rPr>
                        <m:t>𝒙</m:t>
                      </m:r>
                      <m:r>
                        <a:rPr lang="en-US" sz="2400" b="1" i="1" smtClean="0">
                          <a:solidFill>
                            <a:srgbClr val="00B050"/>
                          </a:solidFill>
                          <a:latin typeface="Cambria Math" panose="02040503050406030204" pitchFamily="18" charset="0"/>
                        </a:rPr>
                        <m:t>=</m:t>
                      </m:r>
                      <m:r>
                        <a:rPr lang="en-GB" sz="2400" b="1" i="1" smtClean="0">
                          <a:solidFill>
                            <a:srgbClr val="00B050"/>
                          </a:solidFill>
                          <a:latin typeface="Cambria Math" panose="02040503050406030204" pitchFamily="18" charset="0"/>
                        </a:rPr>
                        <m:t>𝒕</m:t>
                      </m:r>
                    </m:oMath>
                  </m:oMathPara>
                </a14:m>
                <a:endParaRPr lang="en-PK" sz="2400" b="1" dirty="0">
                  <a:solidFill>
                    <a:srgbClr val="00B050"/>
                  </a:solidFill>
                </a:endParaRPr>
              </a:p>
            </p:txBody>
          </p:sp>
        </mc:Choice>
        <mc:Fallback>
          <p:sp>
            <p:nvSpPr>
              <p:cNvPr id="21" name="TextBox 20">
                <a:extLst>
                  <a:ext uri="{FF2B5EF4-FFF2-40B4-BE49-F238E27FC236}">
                    <a16:creationId xmlns:a16="http://schemas.microsoft.com/office/drawing/2014/main" id="{945B3881-ACA4-E5B7-F6A3-AB3D36D82FE7}"/>
                  </a:ext>
                </a:extLst>
              </p:cNvPr>
              <p:cNvSpPr txBox="1">
                <a:spLocks noRot="1" noChangeAspect="1" noMove="1" noResize="1" noEditPoints="1" noAdjustHandles="1" noChangeArrowheads="1" noChangeShapeType="1" noTextEdit="1"/>
              </p:cNvSpPr>
              <p:nvPr/>
            </p:nvSpPr>
            <p:spPr>
              <a:xfrm>
                <a:off x="6887546" y="4472254"/>
                <a:ext cx="1297514" cy="369332"/>
              </a:xfrm>
              <a:prstGeom prst="rect">
                <a:avLst/>
              </a:prstGeom>
              <a:blipFill>
                <a:blip r:embed="rId11"/>
                <a:stretch>
                  <a:fillRect/>
                </a:stretch>
              </a:blipFill>
              <a:ln w="28575">
                <a:solidFill>
                  <a:schemeClr val="accent6">
                    <a:lumMod val="50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BED65B6D-099D-6F91-0B27-6823FED83D31}"/>
                  </a:ext>
                </a:extLst>
              </p:cNvPr>
              <p:cNvSpPr txBox="1"/>
              <p:nvPr/>
            </p:nvSpPr>
            <p:spPr>
              <a:xfrm>
                <a:off x="6864834" y="4967332"/>
                <a:ext cx="2389264" cy="369332"/>
              </a:xfrm>
              <a:prstGeom prst="rect">
                <a:avLst/>
              </a:prstGeom>
              <a:solidFill>
                <a:schemeClr val="accent6">
                  <a:lumMod val="40000"/>
                  <a:lumOff val="60000"/>
                </a:schemeClr>
              </a:solidFill>
              <a:ln w="28575">
                <a:solidFill>
                  <a:schemeClr val="accent6">
                    <a:lumMod val="50000"/>
                  </a:schemeClr>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1" i="1" smtClean="0">
                          <a:solidFill>
                            <a:srgbClr val="00B050"/>
                          </a:solidFill>
                          <a:latin typeface="Cambria Math" panose="02040503050406030204" pitchFamily="18" charset="0"/>
                        </a:rPr>
                        <m:t>𝒚</m:t>
                      </m:r>
                      <m:r>
                        <a:rPr lang="en-US" sz="2400" b="1" i="1" smtClean="0">
                          <a:solidFill>
                            <a:srgbClr val="00B050"/>
                          </a:solidFill>
                          <a:latin typeface="Cambria Math" panose="02040503050406030204" pitchFamily="18" charset="0"/>
                        </a:rPr>
                        <m:t>=</m:t>
                      </m:r>
                      <m:r>
                        <a:rPr lang="en-GB" sz="2400" b="1" i="1" smtClean="0">
                          <a:solidFill>
                            <a:srgbClr val="00B050"/>
                          </a:solidFill>
                          <a:latin typeface="Cambria Math" panose="02040503050406030204" pitchFamily="18" charset="0"/>
                        </a:rPr>
                        <m:t>𝟏𝟎𝟎</m:t>
                      </m:r>
                      <m:r>
                        <a:rPr lang="en-GB" sz="2400" b="1" i="1" smtClean="0">
                          <a:solidFill>
                            <a:srgbClr val="00B050"/>
                          </a:solidFill>
                          <a:latin typeface="Cambria Math" panose="02040503050406030204" pitchFamily="18" charset="0"/>
                        </a:rPr>
                        <m:t>−</m:t>
                      </m:r>
                      <m:r>
                        <a:rPr lang="en-GB" sz="2400" b="1" i="1" smtClean="0">
                          <a:solidFill>
                            <a:srgbClr val="00B050"/>
                          </a:solidFill>
                          <a:latin typeface="Cambria Math" panose="02040503050406030204" pitchFamily="18" charset="0"/>
                        </a:rPr>
                        <m:t>𝟐</m:t>
                      </m:r>
                      <m:r>
                        <a:rPr lang="en-GB" sz="2400" b="1" i="1" smtClean="0">
                          <a:solidFill>
                            <a:srgbClr val="00B050"/>
                          </a:solidFill>
                          <a:latin typeface="Cambria Math" panose="02040503050406030204" pitchFamily="18" charset="0"/>
                        </a:rPr>
                        <m:t>𝒕</m:t>
                      </m:r>
                    </m:oMath>
                  </m:oMathPara>
                </a14:m>
                <a:endParaRPr lang="en-PK" sz="2400" b="1" dirty="0">
                  <a:solidFill>
                    <a:srgbClr val="00B050"/>
                  </a:solidFill>
                </a:endParaRPr>
              </a:p>
            </p:txBody>
          </p:sp>
        </mc:Choice>
        <mc:Fallback>
          <p:sp>
            <p:nvSpPr>
              <p:cNvPr id="22" name="TextBox 21">
                <a:extLst>
                  <a:ext uri="{FF2B5EF4-FFF2-40B4-BE49-F238E27FC236}">
                    <a16:creationId xmlns:a16="http://schemas.microsoft.com/office/drawing/2014/main" id="{BED65B6D-099D-6F91-0B27-6823FED83D31}"/>
                  </a:ext>
                </a:extLst>
              </p:cNvPr>
              <p:cNvSpPr txBox="1">
                <a:spLocks noRot="1" noChangeAspect="1" noMove="1" noResize="1" noEditPoints="1" noAdjustHandles="1" noChangeArrowheads="1" noChangeShapeType="1" noTextEdit="1"/>
              </p:cNvSpPr>
              <p:nvPr/>
            </p:nvSpPr>
            <p:spPr>
              <a:xfrm>
                <a:off x="6864834" y="4967332"/>
                <a:ext cx="2389264" cy="369332"/>
              </a:xfrm>
              <a:prstGeom prst="rect">
                <a:avLst/>
              </a:prstGeom>
              <a:blipFill>
                <a:blip r:embed="rId12"/>
                <a:stretch>
                  <a:fillRect b="-20000"/>
                </a:stretch>
              </a:blipFill>
              <a:ln w="28575">
                <a:solidFill>
                  <a:schemeClr val="accent6">
                    <a:lumMod val="50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3" name="TextBox 22">
                <a:extLst>
                  <a:ext uri="{FF2B5EF4-FFF2-40B4-BE49-F238E27FC236}">
                    <a16:creationId xmlns:a16="http://schemas.microsoft.com/office/drawing/2014/main" id="{96E1EE95-EB7D-4DBF-6092-9AA13E02E345}"/>
                  </a:ext>
                </a:extLst>
              </p:cNvPr>
              <p:cNvSpPr txBox="1"/>
              <p:nvPr/>
            </p:nvSpPr>
            <p:spPr>
              <a:xfrm>
                <a:off x="6878902" y="5517067"/>
                <a:ext cx="2347059" cy="369332"/>
              </a:xfrm>
              <a:prstGeom prst="rect">
                <a:avLst/>
              </a:prstGeom>
              <a:solidFill>
                <a:schemeClr val="accent6">
                  <a:lumMod val="40000"/>
                  <a:lumOff val="60000"/>
                </a:schemeClr>
              </a:solidFill>
              <a:ln w="28575">
                <a:solidFill>
                  <a:schemeClr val="accent6">
                    <a:lumMod val="50000"/>
                  </a:schemeClr>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1" i="1" smtClean="0">
                          <a:solidFill>
                            <a:srgbClr val="00B050"/>
                          </a:solidFill>
                          <a:latin typeface="Cambria Math" panose="02040503050406030204" pitchFamily="18" charset="0"/>
                        </a:rPr>
                        <m:t>𝒛</m:t>
                      </m:r>
                      <m:r>
                        <a:rPr lang="en-US" sz="2400" b="1" i="1" smtClean="0">
                          <a:solidFill>
                            <a:srgbClr val="00B050"/>
                          </a:solidFill>
                          <a:latin typeface="Cambria Math" panose="02040503050406030204" pitchFamily="18" charset="0"/>
                        </a:rPr>
                        <m:t>=</m:t>
                      </m:r>
                      <m:r>
                        <a:rPr lang="en-GB" sz="2400" b="1" i="1" smtClean="0">
                          <a:solidFill>
                            <a:srgbClr val="00B050"/>
                          </a:solidFill>
                          <a:latin typeface="Cambria Math" panose="02040503050406030204" pitchFamily="18" charset="0"/>
                        </a:rPr>
                        <m:t>𝒕</m:t>
                      </m:r>
                    </m:oMath>
                  </m:oMathPara>
                </a14:m>
                <a:endParaRPr lang="en-PK" sz="2400" b="1" dirty="0">
                  <a:solidFill>
                    <a:srgbClr val="00B050"/>
                  </a:solidFill>
                </a:endParaRPr>
              </a:p>
            </p:txBody>
          </p:sp>
        </mc:Choice>
        <mc:Fallback>
          <p:sp>
            <p:nvSpPr>
              <p:cNvPr id="23" name="TextBox 22">
                <a:extLst>
                  <a:ext uri="{FF2B5EF4-FFF2-40B4-BE49-F238E27FC236}">
                    <a16:creationId xmlns:a16="http://schemas.microsoft.com/office/drawing/2014/main" id="{96E1EE95-EB7D-4DBF-6092-9AA13E02E345}"/>
                  </a:ext>
                </a:extLst>
              </p:cNvPr>
              <p:cNvSpPr txBox="1">
                <a:spLocks noRot="1" noChangeAspect="1" noMove="1" noResize="1" noEditPoints="1" noAdjustHandles="1" noChangeArrowheads="1" noChangeShapeType="1" noTextEdit="1"/>
              </p:cNvSpPr>
              <p:nvPr/>
            </p:nvSpPr>
            <p:spPr>
              <a:xfrm>
                <a:off x="6878902" y="5517067"/>
                <a:ext cx="2347059" cy="369332"/>
              </a:xfrm>
              <a:prstGeom prst="rect">
                <a:avLst/>
              </a:prstGeom>
              <a:blipFill>
                <a:blip r:embed="rId13"/>
                <a:stretch>
                  <a:fillRect/>
                </a:stretch>
              </a:blipFill>
              <a:ln w="28575">
                <a:solidFill>
                  <a:schemeClr val="accent6">
                    <a:lumMod val="50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1545F8DE-557D-F63B-2607-AB3211593686}"/>
                  </a:ext>
                </a:extLst>
              </p:cNvPr>
              <p:cNvSpPr txBox="1"/>
              <p:nvPr/>
            </p:nvSpPr>
            <p:spPr>
              <a:xfrm>
                <a:off x="5614264" y="3272934"/>
                <a:ext cx="6093500" cy="461665"/>
              </a:xfrm>
              <a:prstGeom prst="rect">
                <a:avLst/>
              </a:prstGeom>
              <a:noFill/>
            </p:spPr>
            <p:txBody>
              <a:bodyPr wrap="square">
                <a:spAutoFit/>
              </a:bodyPr>
              <a:lstStyle/>
              <a:p>
                <a:r>
                  <a:rPr lang="en-US" sz="2400" dirty="0">
                    <a:solidFill>
                      <a:srgbClr val="002060"/>
                    </a:solidFill>
                    <a:latin typeface="Times New Roman" panose="02020603050405020304" pitchFamily="18" charset="0"/>
                    <a:cs typeface="Times New Roman" panose="02020603050405020304" pitchFamily="18" charset="0"/>
                  </a:rPr>
                  <a:t>Let </a:t>
                </a:r>
                <a14:m>
                  <m:oMath xmlns:m="http://schemas.openxmlformats.org/officeDocument/2006/math">
                    <m:r>
                      <a:rPr lang="en-US" sz="2400" b="1" i="1" dirty="0" smtClean="0">
                        <a:solidFill>
                          <a:srgbClr val="002060"/>
                        </a:solidFill>
                        <a:latin typeface="Cambria Math" panose="02040503050406030204" pitchFamily="18" charset="0"/>
                      </a:rPr>
                      <m:t>𝒛</m:t>
                    </m:r>
                    <m:r>
                      <a:rPr lang="en-US" sz="2400" b="1" i="1" dirty="0" smtClean="0">
                        <a:solidFill>
                          <a:srgbClr val="002060"/>
                        </a:solidFill>
                        <a:latin typeface="Cambria Math" panose="02040503050406030204" pitchFamily="18" charset="0"/>
                      </a:rPr>
                      <m:t>=</m:t>
                    </m:r>
                    <m:r>
                      <a:rPr lang="en-US" sz="2400" b="1" i="1" dirty="0" smtClean="0">
                        <a:solidFill>
                          <a:srgbClr val="002060"/>
                        </a:solidFill>
                        <a:latin typeface="Cambria Math" panose="02040503050406030204" pitchFamily="18" charset="0"/>
                      </a:rPr>
                      <m:t>𝒕</m:t>
                    </m:r>
                  </m:oMath>
                </a14:m>
                <a:r>
                  <a:rPr lang="en-US" sz="2400" dirty="0">
                    <a:solidFill>
                      <a:srgbClr val="002060"/>
                    </a:solidFill>
                    <a:latin typeface="Times New Roman" panose="02020603050405020304" pitchFamily="18" charset="0"/>
                    <a:cs typeface="Times New Roman" panose="02020603050405020304" pitchFamily="18" charset="0"/>
                  </a:rPr>
                  <a:t> (since it can take any real value).</a:t>
                </a:r>
              </a:p>
            </p:txBody>
          </p:sp>
        </mc:Choice>
        <mc:Fallback>
          <p:sp>
            <p:nvSpPr>
              <p:cNvPr id="24" name="TextBox 23">
                <a:extLst>
                  <a:ext uri="{FF2B5EF4-FFF2-40B4-BE49-F238E27FC236}">
                    <a16:creationId xmlns:a16="http://schemas.microsoft.com/office/drawing/2014/main" id="{1545F8DE-557D-F63B-2607-AB3211593686}"/>
                  </a:ext>
                </a:extLst>
              </p:cNvPr>
              <p:cNvSpPr txBox="1">
                <a:spLocks noRot="1" noChangeAspect="1" noMove="1" noResize="1" noEditPoints="1" noAdjustHandles="1" noChangeArrowheads="1" noChangeShapeType="1" noTextEdit="1"/>
              </p:cNvSpPr>
              <p:nvPr/>
            </p:nvSpPr>
            <p:spPr>
              <a:xfrm>
                <a:off x="5614264" y="3272934"/>
                <a:ext cx="6093500" cy="461665"/>
              </a:xfrm>
              <a:prstGeom prst="rect">
                <a:avLst/>
              </a:prstGeom>
              <a:blipFill>
                <a:blip r:embed="rId14"/>
                <a:stretch>
                  <a:fillRect l="-1600" t="-10526" b="-28947"/>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E873D2B2-7BE0-70D4-6075-12339E90BDD4}"/>
              </a:ext>
            </a:extLst>
          </p:cNvPr>
          <p:cNvSpPr txBox="1"/>
          <p:nvPr/>
        </p:nvSpPr>
        <p:spPr>
          <a:xfrm>
            <a:off x="324582" y="6016067"/>
            <a:ext cx="11802794" cy="830997"/>
          </a:xfrm>
          <a:prstGeom prst="rect">
            <a:avLst/>
          </a:prstGeom>
          <a:noFill/>
        </p:spPr>
        <p:txBody>
          <a:bodyPr wrap="square">
            <a:spAutoFit/>
          </a:bodyPr>
          <a:lstStyle/>
          <a:p>
            <a:r>
              <a:rPr lang="en-US" sz="2400" dirty="0">
                <a:solidFill>
                  <a:srgbClr val="002060"/>
                </a:solidFill>
                <a:latin typeface="Times New Roman" panose="02020603050405020304" pitchFamily="18" charset="0"/>
                <a:cs typeface="Times New Roman" panose="02020603050405020304" pitchFamily="18" charset="0"/>
              </a:rPr>
              <a:t>Since </a:t>
            </a:r>
            <a:r>
              <a:rPr lang="en-US" sz="2400" b="1" dirty="0">
                <a:solidFill>
                  <a:srgbClr val="002060"/>
                </a:solidFill>
                <a:latin typeface="Times New Roman" panose="02020603050405020304" pitchFamily="18" charset="0"/>
                <a:cs typeface="Times New Roman" panose="02020603050405020304" pitchFamily="18" charset="0"/>
              </a:rPr>
              <a:t>z can take any real value</a:t>
            </a:r>
            <a:r>
              <a:rPr lang="en-US" sz="2400" dirty="0">
                <a:solidFill>
                  <a:srgbClr val="002060"/>
                </a:solidFill>
                <a:latin typeface="Times New Roman" panose="02020603050405020304" pitchFamily="18" charset="0"/>
                <a:cs typeface="Times New Roman" panose="02020603050405020304" pitchFamily="18" charset="0"/>
              </a:rPr>
              <a:t>, there are </a:t>
            </a:r>
            <a:r>
              <a:rPr lang="en-US" sz="2400" b="1" dirty="0">
                <a:solidFill>
                  <a:srgbClr val="002060"/>
                </a:solidFill>
                <a:latin typeface="Times New Roman" panose="02020603050405020304" pitchFamily="18" charset="0"/>
                <a:cs typeface="Times New Roman" panose="02020603050405020304" pitchFamily="18" charset="0"/>
              </a:rPr>
              <a:t>infinitely many solutions</a:t>
            </a:r>
            <a:r>
              <a:rPr lang="en-US" sz="2400" dirty="0">
                <a:solidFill>
                  <a:srgbClr val="002060"/>
                </a:solidFill>
                <a:latin typeface="Times New Roman" panose="02020603050405020304" pitchFamily="18" charset="0"/>
                <a:cs typeface="Times New Roman" panose="02020603050405020304" pitchFamily="18" charset="0"/>
              </a:rPr>
              <a:t>, meaning multiple ways to distribute requests across the servers.</a:t>
            </a:r>
          </a:p>
        </p:txBody>
      </p:sp>
    </p:spTree>
    <p:extLst>
      <p:ext uri="{BB962C8B-B14F-4D97-AF65-F5344CB8AC3E}">
        <p14:creationId xmlns:p14="http://schemas.microsoft.com/office/powerpoint/2010/main" val="2305526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anim calcmode="lin" valueType="num">
                                      <p:cBhvr>
                                        <p:cTn id="14" dur="1000" fill="hold"/>
                                        <p:tgtEl>
                                          <p:spTgt spid="4"/>
                                        </p:tgtEl>
                                        <p:attrNameLst>
                                          <p:attrName>ppt_x</p:attrName>
                                        </p:attrNameLst>
                                      </p:cBhvr>
                                      <p:tavLst>
                                        <p:tav tm="0">
                                          <p:val>
                                            <p:strVal val="#ppt_x"/>
                                          </p:val>
                                        </p:tav>
                                        <p:tav tm="100000">
                                          <p:val>
                                            <p:strVal val="#ppt_x"/>
                                          </p:val>
                                        </p:tav>
                                      </p:tavLst>
                                    </p:anim>
                                    <p:anim calcmode="lin" valueType="num">
                                      <p:cBhvr>
                                        <p:cTn id="1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 calcmode="lin" valueType="num">
                                      <p:cBhvr additive="base">
                                        <p:cTn id="20" dur="500" fill="hold"/>
                                        <p:tgtEl>
                                          <p:spTgt spid="9"/>
                                        </p:tgtEl>
                                        <p:attrNameLst>
                                          <p:attrName>ppt_x</p:attrName>
                                        </p:attrNameLst>
                                      </p:cBhvr>
                                      <p:tavLst>
                                        <p:tav tm="0">
                                          <p:val>
                                            <p:strVal val="#ppt_x"/>
                                          </p:val>
                                        </p:tav>
                                        <p:tav tm="100000">
                                          <p:val>
                                            <p:strVal val="#ppt_x"/>
                                          </p:val>
                                        </p:tav>
                                      </p:tavLst>
                                    </p:anim>
                                    <p:anim calcmode="lin" valueType="num">
                                      <p:cBhvr additive="base">
                                        <p:cTn id="21"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 calcmode="lin" valueType="num">
                                      <p:cBhvr additive="base">
                                        <p:cTn id="26" dur="500" fill="hold"/>
                                        <p:tgtEl>
                                          <p:spTgt spid="10"/>
                                        </p:tgtEl>
                                        <p:attrNameLst>
                                          <p:attrName>ppt_x</p:attrName>
                                        </p:attrNameLst>
                                      </p:cBhvr>
                                      <p:tavLst>
                                        <p:tav tm="0">
                                          <p:val>
                                            <p:strVal val="#ppt_x"/>
                                          </p:val>
                                        </p:tav>
                                        <p:tav tm="100000">
                                          <p:val>
                                            <p:strVal val="#ppt_x"/>
                                          </p:val>
                                        </p:tav>
                                      </p:tavLst>
                                    </p:anim>
                                    <p:anim calcmode="lin" valueType="num">
                                      <p:cBhvr additive="base">
                                        <p:cTn id="27"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1000"/>
                                        <p:tgtEl>
                                          <p:spTgt spid="7"/>
                                        </p:tgtEl>
                                      </p:cBhvr>
                                    </p:animEffect>
                                    <p:anim calcmode="lin" valueType="num">
                                      <p:cBhvr>
                                        <p:cTn id="33" dur="1000" fill="hold"/>
                                        <p:tgtEl>
                                          <p:spTgt spid="7"/>
                                        </p:tgtEl>
                                        <p:attrNameLst>
                                          <p:attrName>ppt_x</p:attrName>
                                        </p:attrNameLst>
                                      </p:cBhvr>
                                      <p:tavLst>
                                        <p:tav tm="0">
                                          <p:val>
                                            <p:strVal val="#ppt_x"/>
                                          </p:val>
                                        </p:tav>
                                        <p:tav tm="100000">
                                          <p:val>
                                            <p:strVal val="#ppt_x"/>
                                          </p:val>
                                        </p:tav>
                                      </p:tavLst>
                                    </p:anim>
                                    <p:anim calcmode="lin" valueType="num">
                                      <p:cBhvr>
                                        <p:cTn id="3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500" fill="hold"/>
                                        <p:tgtEl>
                                          <p:spTgt spid="11"/>
                                        </p:tgtEl>
                                        <p:attrNameLst>
                                          <p:attrName>ppt_x</p:attrName>
                                        </p:attrNameLst>
                                      </p:cBhvr>
                                      <p:tavLst>
                                        <p:tav tm="0">
                                          <p:val>
                                            <p:strVal val="#ppt_x"/>
                                          </p:val>
                                        </p:tav>
                                        <p:tav tm="100000">
                                          <p:val>
                                            <p:strVal val="#ppt_x"/>
                                          </p:val>
                                        </p:tav>
                                      </p:tavLst>
                                    </p:anim>
                                    <p:anim calcmode="lin" valueType="num">
                                      <p:cBhvr additive="base">
                                        <p:cTn id="4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additive="base">
                                        <p:cTn id="45" dur="500" fill="hold"/>
                                        <p:tgtEl>
                                          <p:spTgt spid="12"/>
                                        </p:tgtEl>
                                        <p:attrNameLst>
                                          <p:attrName>ppt_x</p:attrName>
                                        </p:attrNameLst>
                                      </p:cBhvr>
                                      <p:tavLst>
                                        <p:tav tm="0">
                                          <p:val>
                                            <p:strVal val="#ppt_x"/>
                                          </p:val>
                                        </p:tav>
                                        <p:tav tm="100000">
                                          <p:val>
                                            <p:strVal val="#ppt_x"/>
                                          </p:val>
                                        </p:tav>
                                      </p:tavLst>
                                    </p:anim>
                                    <p:anim calcmode="lin" valueType="num">
                                      <p:cBhvr additive="base">
                                        <p:cTn id="4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8"/>
                                        </p:tgtEl>
                                        <p:attrNameLst>
                                          <p:attrName>style.visibility</p:attrName>
                                        </p:attrNameLst>
                                      </p:cBhvr>
                                      <p:to>
                                        <p:strVal val="visible"/>
                                      </p:to>
                                    </p:set>
                                    <p:animEffect transition="in" filter="fade">
                                      <p:cBhvr>
                                        <p:cTn id="51" dur="1000"/>
                                        <p:tgtEl>
                                          <p:spTgt spid="8"/>
                                        </p:tgtEl>
                                      </p:cBhvr>
                                    </p:animEffect>
                                    <p:anim calcmode="lin" valueType="num">
                                      <p:cBhvr>
                                        <p:cTn id="52" dur="1000" fill="hold"/>
                                        <p:tgtEl>
                                          <p:spTgt spid="8"/>
                                        </p:tgtEl>
                                        <p:attrNameLst>
                                          <p:attrName>ppt_x</p:attrName>
                                        </p:attrNameLst>
                                      </p:cBhvr>
                                      <p:tavLst>
                                        <p:tav tm="0">
                                          <p:val>
                                            <p:strVal val="#ppt_x"/>
                                          </p:val>
                                        </p:tav>
                                        <p:tav tm="100000">
                                          <p:val>
                                            <p:strVal val="#ppt_x"/>
                                          </p:val>
                                        </p:tav>
                                      </p:tavLst>
                                    </p:anim>
                                    <p:anim calcmode="lin" valueType="num">
                                      <p:cBhvr>
                                        <p:cTn id="5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nodeType="clickEffect">
                                  <p:stCondLst>
                                    <p:cond delay="0"/>
                                  </p:stCondLst>
                                  <p:childTnLst>
                                    <p:set>
                                      <p:cBhvr>
                                        <p:cTn id="57" dur="1" fill="hold">
                                          <p:stCondLst>
                                            <p:cond delay="0"/>
                                          </p:stCondLst>
                                        </p:cTn>
                                        <p:tgtEl>
                                          <p:spTgt spid="13"/>
                                        </p:tgtEl>
                                        <p:attrNameLst>
                                          <p:attrName>style.visibility</p:attrName>
                                        </p:attrNameLst>
                                      </p:cBhvr>
                                      <p:to>
                                        <p:strVal val="visible"/>
                                      </p:to>
                                    </p:set>
                                    <p:animEffect transition="in" filter="wipe(up)">
                                      <p:cBhvr>
                                        <p:cTn id="58" dur="500"/>
                                        <p:tgtEl>
                                          <p:spTgt spid="13"/>
                                        </p:tgtEl>
                                      </p:cBhvr>
                                    </p:animEffect>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17"/>
                                        </p:tgtEl>
                                        <p:attrNameLst>
                                          <p:attrName>style.visibility</p:attrName>
                                        </p:attrNameLst>
                                      </p:cBhvr>
                                      <p:to>
                                        <p:strVal val="visible"/>
                                      </p:to>
                                    </p:set>
                                    <p:anim calcmode="lin" valueType="num">
                                      <p:cBhvr additive="base">
                                        <p:cTn id="63" dur="500" fill="hold"/>
                                        <p:tgtEl>
                                          <p:spTgt spid="17"/>
                                        </p:tgtEl>
                                        <p:attrNameLst>
                                          <p:attrName>ppt_x</p:attrName>
                                        </p:attrNameLst>
                                      </p:cBhvr>
                                      <p:tavLst>
                                        <p:tav tm="0">
                                          <p:val>
                                            <p:strVal val="#ppt_x"/>
                                          </p:val>
                                        </p:tav>
                                        <p:tav tm="100000">
                                          <p:val>
                                            <p:strVal val="#ppt_x"/>
                                          </p:val>
                                        </p:tav>
                                      </p:tavLst>
                                    </p:anim>
                                    <p:anim calcmode="lin" valueType="num">
                                      <p:cBhvr additive="base">
                                        <p:cTn id="6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18"/>
                                        </p:tgtEl>
                                        <p:attrNameLst>
                                          <p:attrName>style.visibility</p:attrName>
                                        </p:attrNameLst>
                                      </p:cBhvr>
                                      <p:to>
                                        <p:strVal val="visible"/>
                                      </p:to>
                                    </p:set>
                                    <p:anim calcmode="lin" valueType="num">
                                      <p:cBhvr additive="base">
                                        <p:cTn id="69" dur="500" fill="hold"/>
                                        <p:tgtEl>
                                          <p:spTgt spid="18"/>
                                        </p:tgtEl>
                                        <p:attrNameLst>
                                          <p:attrName>ppt_x</p:attrName>
                                        </p:attrNameLst>
                                      </p:cBhvr>
                                      <p:tavLst>
                                        <p:tav tm="0">
                                          <p:val>
                                            <p:strVal val="#ppt_x"/>
                                          </p:val>
                                        </p:tav>
                                        <p:tav tm="100000">
                                          <p:val>
                                            <p:strVal val="#ppt_x"/>
                                          </p:val>
                                        </p:tav>
                                      </p:tavLst>
                                    </p:anim>
                                    <p:anim calcmode="lin" valueType="num">
                                      <p:cBhvr additive="base">
                                        <p:cTn id="70"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grpId="0" nodeType="clickEffect">
                                  <p:stCondLst>
                                    <p:cond delay="0"/>
                                  </p:stCondLst>
                                  <p:childTnLst>
                                    <p:set>
                                      <p:cBhvr>
                                        <p:cTn id="74" dur="1" fill="hold">
                                          <p:stCondLst>
                                            <p:cond delay="0"/>
                                          </p:stCondLst>
                                        </p:cTn>
                                        <p:tgtEl>
                                          <p:spTgt spid="19"/>
                                        </p:tgtEl>
                                        <p:attrNameLst>
                                          <p:attrName>style.visibility</p:attrName>
                                        </p:attrNameLst>
                                      </p:cBhvr>
                                      <p:to>
                                        <p:strVal val="visible"/>
                                      </p:to>
                                    </p:set>
                                    <p:anim calcmode="lin" valueType="num">
                                      <p:cBhvr additive="base">
                                        <p:cTn id="75" dur="500" fill="hold"/>
                                        <p:tgtEl>
                                          <p:spTgt spid="19"/>
                                        </p:tgtEl>
                                        <p:attrNameLst>
                                          <p:attrName>ppt_x</p:attrName>
                                        </p:attrNameLst>
                                      </p:cBhvr>
                                      <p:tavLst>
                                        <p:tav tm="0">
                                          <p:val>
                                            <p:strVal val="#ppt_x"/>
                                          </p:val>
                                        </p:tav>
                                        <p:tav tm="100000">
                                          <p:val>
                                            <p:strVal val="#ppt_x"/>
                                          </p:val>
                                        </p:tav>
                                      </p:tavLst>
                                    </p:anim>
                                    <p:anim calcmode="lin" valueType="num">
                                      <p:cBhvr additive="base">
                                        <p:cTn id="7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 presetClass="entr" presetSubtype="4" fill="hold" grpId="0" nodeType="clickEffect">
                                  <p:stCondLst>
                                    <p:cond delay="0"/>
                                  </p:stCondLst>
                                  <p:childTnLst>
                                    <p:set>
                                      <p:cBhvr>
                                        <p:cTn id="80" dur="1" fill="hold">
                                          <p:stCondLst>
                                            <p:cond delay="0"/>
                                          </p:stCondLst>
                                        </p:cTn>
                                        <p:tgtEl>
                                          <p:spTgt spid="24"/>
                                        </p:tgtEl>
                                        <p:attrNameLst>
                                          <p:attrName>style.visibility</p:attrName>
                                        </p:attrNameLst>
                                      </p:cBhvr>
                                      <p:to>
                                        <p:strVal val="visible"/>
                                      </p:to>
                                    </p:set>
                                    <p:anim calcmode="lin" valueType="num">
                                      <p:cBhvr additive="base">
                                        <p:cTn id="81" dur="500" fill="hold"/>
                                        <p:tgtEl>
                                          <p:spTgt spid="24"/>
                                        </p:tgtEl>
                                        <p:attrNameLst>
                                          <p:attrName>ppt_x</p:attrName>
                                        </p:attrNameLst>
                                      </p:cBhvr>
                                      <p:tavLst>
                                        <p:tav tm="0">
                                          <p:val>
                                            <p:strVal val="#ppt_x"/>
                                          </p:val>
                                        </p:tav>
                                        <p:tav tm="100000">
                                          <p:val>
                                            <p:strVal val="#ppt_x"/>
                                          </p:val>
                                        </p:tav>
                                      </p:tavLst>
                                    </p:anim>
                                    <p:anim calcmode="lin" valueType="num">
                                      <p:cBhvr additive="base">
                                        <p:cTn id="82"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42" presetClass="entr" presetSubtype="0" fill="hold" grpId="0" nodeType="clickEffect">
                                  <p:stCondLst>
                                    <p:cond delay="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1000"/>
                                        <p:tgtEl>
                                          <p:spTgt spid="20"/>
                                        </p:tgtEl>
                                      </p:cBhvr>
                                    </p:animEffect>
                                    <p:anim calcmode="lin" valueType="num">
                                      <p:cBhvr>
                                        <p:cTn id="88" dur="1000" fill="hold"/>
                                        <p:tgtEl>
                                          <p:spTgt spid="20"/>
                                        </p:tgtEl>
                                        <p:attrNameLst>
                                          <p:attrName>ppt_x</p:attrName>
                                        </p:attrNameLst>
                                      </p:cBhvr>
                                      <p:tavLst>
                                        <p:tav tm="0">
                                          <p:val>
                                            <p:strVal val="#ppt_x"/>
                                          </p:val>
                                        </p:tav>
                                        <p:tav tm="100000">
                                          <p:val>
                                            <p:strVal val="#ppt_x"/>
                                          </p:val>
                                        </p:tav>
                                      </p:tavLst>
                                    </p:anim>
                                    <p:anim calcmode="lin" valueType="num">
                                      <p:cBhvr>
                                        <p:cTn id="89"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2" presetClass="entr" presetSubtype="4" fill="hold" grpId="0" nodeType="clickEffect">
                                  <p:stCondLst>
                                    <p:cond delay="0"/>
                                  </p:stCondLst>
                                  <p:childTnLst>
                                    <p:set>
                                      <p:cBhvr>
                                        <p:cTn id="93" dur="1" fill="hold">
                                          <p:stCondLst>
                                            <p:cond delay="0"/>
                                          </p:stCondLst>
                                        </p:cTn>
                                        <p:tgtEl>
                                          <p:spTgt spid="21"/>
                                        </p:tgtEl>
                                        <p:attrNameLst>
                                          <p:attrName>style.visibility</p:attrName>
                                        </p:attrNameLst>
                                      </p:cBhvr>
                                      <p:to>
                                        <p:strVal val="visible"/>
                                      </p:to>
                                    </p:set>
                                    <p:anim calcmode="lin" valueType="num">
                                      <p:cBhvr additive="base">
                                        <p:cTn id="94" dur="500" fill="hold"/>
                                        <p:tgtEl>
                                          <p:spTgt spid="21"/>
                                        </p:tgtEl>
                                        <p:attrNameLst>
                                          <p:attrName>ppt_x</p:attrName>
                                        </p:attrNameLst>
                                      </p:cBhvr>
                                      <p:tavLst>
                                        <p:tav tm="0">
                                          <p:val>
                                            <p:strVal val="#ppt_x"/>
                                          </p:val>
                                        </p:tav>
                                        <p:tav tm="100000">
                                          <p:val>
                                            <p:strVal val="#ppt_x"/>
                                          </p:val>
                                        </p:tav>
                                      </p:tavLst>
                                    </p:anim>
                                    <p:anim calcmode="lin" valueType="num">
                                      <p:cBhvr additive="base">
                                        <p:cTn id="95" dur="500" fill="hold"/>
                                        <p:tgtEl>
                                          <p:spTgt spid="21"/>
                                        </p:tgtEl>
                                        <p:attrNameLst>
                                          <p:attrName>ppt_y</p:attrName>
                                        </p:attrNameLst>
                                      </p:cBhvr>
                                      <p:tavLst>
                                        <p:tav tm="0">
                                          <p:val>
                                            <p:strVal val="1+#ppt_h/2"/>
                                          </p:val>
                                        </p:tav>
                                        <p:tav tm="100000">
                                          <p:val>
                                            <p:strVal val="#ppt_y"/>
                                          </p:val>
                                        </p:tav>
                                      </p:tavLst>
                                    </p:anim>
                                  </p:childTnLst>
                                </p:cTn>
                              </p:par>
                              <p:par>
                                <p:cTn id="96" presetID="2" presetClass="entr" presetSubtype="4" fill="hold" grpId="0" nodeType="withEffect">
                                  <p:stCondLst>
                                    <p:cond delay="0"/>
                                  </p:stCondLst>
                                  <p:childTnLst>
                                    <p:set>
                                      <p:cBhvr>
                                        <p:cTn id="97" dur="1" fill="hold">
                                          <p:stCondLst>
                                            <p:cond delay="0"/>
                                          </p:stCondLst>
                                        </p:cTn>
                                        <p:tgtEl>
                                          <p:spTgt spid="22"/>
                                        </p:tgtEl>
                                        <p:attrNameLst>
                                          <p:attrName>style.visibility</p:attrName>
                                        </p:attrNameLst>
                                      </p:cBhvr>
                                      <p:to>
                                        <p:strVal val="visible"/>
                                      </p:to>
                                    </p:set>
                                    <p:anim calcmode="lin" valueType="num">
                                      <p:cBhvr additive="base">
                                        <p:cTn id="98" dur="500" fill="hold"/>
                                        <p:tgtEl>
                                          <p:spTgt spid="22"/>
                                        </p:tgtEl>
                                        <p:attrNameLst>
                                          <p:attrName>ppt_x</p:attrName>
                                        </p:attrNameLst>
                                      </p:cBhvr>
                                      <p:tavLst>
                                        <p:tav tm="0">
                                          <p:val>
                                            <p:strVal val="#ppt_x"/>
                                          </p:val>
                                        </p:tav>
                                        <p:tav tm="100000">
                                          <p:val>
                                            <p:strVal val="#ppt_x"/>
                                          </p:val>
                                        </p:tav>
                                      </p:tavLst>
                                    </p:anim>
                                    <p:anim calcmode="lin" valueType="num">
                                      <p:cBhvr additive="base">
                                        <p:cTn id="99" dur="500" fill="hold"/>
                                        <p:tgtEl>
                                          <p:spTgt spid="22"/>
                                        </p:tgtEl>
                                        <p:attrNameLst>
                                          <p:attrName>ppt_y</p:attrName>
                                        </p:attrNameLst>
                                      </p:cBhvr>
                                      <p:tavLst>
                                        <p:tav tm="0">
                                          <p:val>
                                            <p:strVal val="1+#ppt_h/2"/>
                                          </p:val>
                                        </p:tav>
                                        <p:tav tm="100000">
                                          <p:val>
                                            <p:strVal val="#ppt_y"/>
                                          </p:val>
                                        </p:tav>
                                      </p:tavLst>
                                    </p:anim>
                                  </p:childTnLst>
                                </p:cTn>
                              </p:par>
                              <p:par>
                                <p:cTn id="100" presetID="2" presetClass="entr" presetSubtype="4" fill="hold" grpId="0" nodeType="withEffect">
                                  <p:stCondLst>
                                    <p:cond delay="0"/>
                                  </p:stCondLst>
                                  <p:childTnLst>
                                    <p:set>
                                      <p:cBhvr>
                                        <p:cTn id="101" dur="1" fill="hold">
                                          <p:stCondLst>
                                            <p:cond delay="0"/>
                                          </p:stCondLst>
                                        </p:cTn>
                                        <p:tgtEl>
                                          <p:spTgt spid="23"/>
                                        </p:tgtEl>
                                        <p:attrNameLst>
                                          <p:attrName>style.visibility</p:attrName>
                                        </p:attrNameLst>
                                      </p:cBhvr>
                                      <p:to>
                                        <p:strVal val="visible"/>
                                      </p:to>
                                    </p:set>
                                    <p:anim calcmode="lin" valueType="num">
                                      <p:cBhvr additive="base">
                                        <p:cTn id="102" dur="500" fill="hold"/>
                                        <p:tgtEl>
                                          <p:spTgt spid="23"/>
                                        </p:tgtEl>
                                        <p:attrNameLst>
                                          <p:attrName>ppt_x</p:attrName>
                                        </p:attrNameLst>
                                      </p:cBhvr>
                                      <p:tavLst>
                                        <p:tav tm="0">
                                          <p:val>
                                            <p:strVal val="#ppt_x"/>
                                          </p:val>
                                        </p:tav>
                                        <p:tav tm="100000">
                                          <p:val>
                                            <p:strVal val="#ppt_x"/>
                                          </p:val>
                                        </p:tav>
                                      </p:tavLst>
                                    </p:anim>
                                    <p:anim calcmode="lin" valueType="num">
                                      <p:cBhvr additive="base">
                                        <p:cTn id="103"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104" fill="hold">
                      <p:stCondLst>
                        <p:cond delay="indefinite"/>
                      </p:stCondLst>
                      <p:childTnLst>
                        <p:par>
                          <p:cTn id="105" fill="hold">
                            <p:stCondLst>
                              <p:cond delay="0"/>
                            </p:stCondLst>
                            <p:childTnLst>
                              <p:par>
                                <p:cTn id="106" presetID="2" presetClass="entr" presetSubtype="4" fill="hold" grpId="0" nodeType="clickEffect">
                                  <p:stCondLst>
                                    <p:cond delay="0"/>
                                  </p:stCondLst>
                                  <p:childTnLst>
                                    <p:set>
                                      <p:cBhvr>
                                        <p:cTn id="107" dur="1" fill="hold">
                                          <p:stCondLst>
                                            <p:cond delay="0"/>
                                          </p:stCondLst>
                                        </p:cTn>
                                        <p:tgtEl>
                                          <p:spTgt spid="3"/>
                                        </p:tgtEl>
                                        <p:attrNameLst>
                                          <p:attrName>style.visibility</p:attrName>
                                        </p:attrNameLst>
                                      </p:cBhvr>
                                      <p:to>
                                        <p:strVal val="visible"/>
                                      </p:to>
                                    </p:set>
                                    <p:anim calcmode="lin" valueType="num">
                                      <p:cBhvr additive="base">
                                        <p:cTn id="108" dur="500" fill="hold"/>
                                        <p:tgtEl>
                                          <p:spTgt spid="3"/>
                                        </p:tgtEl>
                                        <p:attrNameLst>
                                          <p:attrName>ppt_x</p:attrName>
                                        </p:attrNameLst>
                                      </p:cBhvr>
                                      <p:tavLst>
                                        <p:tav tm="0">
                                          <p:val>
                                            <p:strVal val="#ppt_x"/>
                                          </p:val>
                                        </p:tav>
                                        <p:tav tm="100000">
                                          <p:val>
                                            <p:strVal val="#ppt_x"/>
                                          </p:val>
                                        </p:tav>
                                      </p:tavLst>
                                    </p:anim>
                                    <p:anim calcmode="lin" valueType="num">
                                      <p:cBhvr additive="base">
                                        <p:cTn id="109"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P spid="7" grpId="0"/>
      <p:bldP spid="8" grpId="0"/>
      <p:bldP spid="9" grpId="0" animBg="1"/>
      <p:bldP spid="10" grpId="0" animBg="1"/>
      <p:bldP spid="11" grpId="0" animBg="1"/>
      <p:bldP spid="12" grpId="0" animBg="1"/>
      <p:bldP spid="17" grpId="0"/>
      <p:bldP spid="18" grpId="0"/>
      <p:bldP spid="19" grpId="0"/>
      <p:bldP spid="20" grpId="0"/>
      <p:bldP spid="21" grpId="0" animBg="1"/>
      <p:bldP spid="22" grpId="0" animBg="1"/>
      <p:bldP spid="23" grpId="0" animBg="1"/>
      <p:bldP spid="24" grpId="0"/>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B8A379-BCF1-05EB-FC5C-32CAC0CA152E}"/>
              </a:ext>
            </a:extLst>
          </p:cNvPr>
          <p:cNvSpPr txBox="1"/>
          <p:nvPr/>
        </p:nvSpPr>
        <p:spPr>
          <a:xfrm>
            <a:off x="10548" y="19313"/>
            <a:ext cx="9471074" cy="523220"/>
          </a:xfrm>
          <a:prstGeom prst="rect">
            <a:avLst/>
          </a:prstGeom>
          <a:solidFill>
            <a:schemeClr val="accent2">
              <a:lumMod val="20000"/>
              <a:lumOff val="80000"/>
            </a:schemeClr>
          </a:solidFill>
          <a:ln w="28575">
            <a:solidFill>
              <a:srgbClr val="C00000"/>
            </a:solidFill>
          </a:ln>
        </p:spPr>
        <p:txBody>
          <a:bodyPr wrap="square">
            <a:spAutoFit/>
          </a:bodyPr>
          <a:lstStyle/>
          <a:p>
            <a:r>
              <a:rPr lang="en-US" sz="2800" dirty="0">
                <a:solidFill>
                  <a:srgbClr val="C00000"/>
                </a:solidFill>
                <a:latin typeface="Times New Roman" panose="02020603050405020304" pitchFamily="18" charset="0"/>
                <a:cs typeface="Times New Roman" panose="02020603050405020304" pitchFamily="18" charset="0"/>
              </a:rPr>
              <a:t>Real-World Scenario for No Solution Case (Inconsistent System)</a:t>
            </a:r>
          </a:p>
        </p:txBody>
      </p:sp>
      <p:sp>
        <p:nvSpPr>
          <p:cNvPr id="7" name="TextBox 6">
            <a:extLst>
              <a:ext uri="{FF2B5EF4-FFF2-40B4-BE49-F238E27FC236}">
                <a16:creationId xmlns:a16="http://schemas.microsoft.com/office/drawing/2014/main" id="{A46D47E2-09F9-CFAB-DC79-86BEF2ED5DD3}"/>
              </a:ext>
            </a:extLst>
          </p:cNvPr>
          <p:cNvSpPr txBox="1"/>
          <p:nvPr/>
        </p:nvSpPr>
        <p:spPr>
          <a:xfrm>
            <a:off x="10548" y="630256"/>
            <a:ext cx="12045464" cy="2241960"/>
          </a:xfrm>
          <a:prstGeom prst="rect">
            <a:avLst/>
          </a:prstGeom>
          <a:noFill/>
        </p:spPr>
        <p:txBody>
          <a:bodyPr wrap="square">
            <a:spAutoFit/>
          </a:bodyPr>
          <a:lstStyle/>
          <a:p>
            <a:pPr>
              <a:lnSpc>
                <a:spcPct val="150000"/>
              </a:lnSpc>
            </a:pPr>
            <a:r>
              <a:rPr lang="en-US" sz="2400" dirty="0">
                <a:solidFill>
                  <a:srgbClr val="002060"/>
                </a:solidFill>
                <a:latin typeface="Times New Roman" panose="02020603050405020304" pitchFamily="18" charset="0"/>
                <a:cs typeface="Times New Roman" panose="02020603050405020304" pitchFamily="18" charset="0"/>
              </a:rPr>
              <a:t>A </a:t>
            </a:r>
            <a:r>
              <a:rPr lang="en-US" sz="2400" b="1" dirty="0">
                <a:solidFill>
                  <a:srgbClr val="002060"/>
                </a:solidFill>
                <a:latin typeface="Times New Roman" panose="02020603050405020304" pitchFamily="18" charset="0"/>
                <a:cs typeface="Times New Roman" panose="02020603050405020304" pitchFamily="18" charset="0"/>
              </a:rPr>
              <a:t>drone delivery company</a:t>
            </a:r>
            <a:r>
              <a:rPr lang="en-US" sz="2400" dirty="0">
                <a:solidFill>
                  <a:srgbClr val="002060"/>
                </a:solidFill>
                <a:latin typeface="Times New Roman" panose="02020603050405020304" pitchFamily="18" charset="0"/>
                <a:cs typeface="Times New Roman" panose="02020603050405020304" pitchFamily="18" charset="0"/>
              </a:rPr>
              <a:t> is managing flight routes for three drones (D₁, D₂, and D₃) that deliver packages across three cities (City A, City B, and City C). Due to specific fuel, time, and distance constraints, they try to solve a set of conditions that govern how many trips each drone can make per day. </a:t>
            </a:r>
          </a:p>
        </p:txBody>
      </p:sp>
      <p:sp>
        <p:nvSpPr>
          <p:cNvPr id="9" name="TextBox 8">
            <a:extLst>
              <a:ext uri="{FF2B5EF4-FFF2-40B4-BE49-F238E27FC236}">
                <a16:creationId xmlns:a16="http://schemas.microsoft.com/office/drawing/2014/main" id="{6BFC279A-AB6F-AB04-1ABA-FC60156C737B}"/>
              </a:ext>
            </a:extLst>
          </p:cNvPr>
          <p:cNvSpPr txBox="1"/>
          <p:nvPr/>
        </p:nvSpPr>
        <p:spPr>
          <a:xfrm>
            <a:off x="51580" y="2872216"/>
            <a:ext cx="12140419" cy="830997"/>
          </a:xfrm>
          <a:prstGeom prst="rect">
            <a:avLst/>
          </a:prstGeom>
          <a:noFill/>
        </p:spPr>
        <p:txBody>
          <a:bodyPr wrap="square">
            <a:spAutoFit/>
          </a:bodyPr>
          <a:lstStyle/>
          <a:p>
            <a:r>
              <a:rPr lang="en-US" sz="2400" dirty="0">
                <a:solidFill>
                  <a:srgbClr val="7030A0"/>
                </a:solidFill>
                <a:latin typeface="Times New Roman" panose="02020603050405020304" pitchFamily="18" charset="0"/>
                <a:cs typeface="Times New Roman" panose="02020603050405020304" pitchFamily="18" charset="0"/>
              </a:rPr>
              <a:t>The company sets the following constraints based on drone capacity, flight range, and operational limits:</a:t>
            </a:r>
          </a:p>
        </p:txBody>
      </p:sp>
      <p:sp>
        <p:nvSpPr>
          <p:cNvPr id="11" name="TextBox 10">
            <a:extLst>
              <a:ext uri="{FF2B5EF4-FFF2-40B4-BE49-F238E27FC236}">
                <a16:creationId xmlns:a16="http://schemas.microsoft.com/office/drawing/2014/main" id="{8C4B8CA3-83FE-C421-EA24-B9F92A781871}"/>
              </a:ext>
            </a:extLst>
          </p:cNvPr>
          <p:cNvSpPr txBox="1"/>
          <p:nvPr/>
        </p:nvSpPr>
        <p:spPr>
          <a:xfrm>
            <a:off x="-73860" y="3692556"/>
            <a:ext cx="10793440" cy="461665"/>
          </a:xfrm>
          <a:prstGeom prst="rect">
            <a:avLst/>
          </a:prstGeom>
          <a:noFill/>
        </p:spPr>
        <p:txBody>
          <a:bodyPr wrap="square">
            <a:spAutoFit/>
          </a:bodyPr>
          <a:lstStyle/>
          <a:p>
            <a:r>
              <a:rPr lang="en-US" sz="2400" dirty="0">
                <a:solidFill>
                  <a:srgbClr val="002060"/>
                </a:solidFill>
                <a:latin typeface="Times New Roman" panose="02020603050405020304" pitchFamily="18" charset="0"/>
                <a:cs typeface="Times New Roman" panose="02020603050405020304" pitchFamily="18" charset="0"/>
              </a:rPr>
              <a:t>1️⃣ The total number of trips made by all drones must equal </a:t>
            </a:r>
            <a:r>
              <a:rPr lang="en-US" sz="2400" b="1" dirty="0">
                <a:solidFill>
                  <a:srgbClr val="002060"/>
                </a:solidFill>
                <a:latin typeface="Times New Roman" panose="02020603050405020304" pitchFamily="18" charset="0"/>
                <a:cs typeface="Times New Roman" panose="02020603050405020304" pitchFamily="18" charset="0"/>
              </a:rPr>
              <a:t>50 trips per day</a:t>
            </a:r>
            <a:r>
              <a:rPr lang="en-US" sz="2400" dirty="0">
                <a:solidFill>
                  <a:srgbClr val="002060"/>
                </a:solidFill>
                <a:latin typeface="Times New Roman" panose="02020603050405020304" pitchFamily="18" charset="0"/>
                <a:cs typeface="Times New Roman" panose="02020603050405020304" pitchFamily="18" charset="0"/>
              </a:rPr>
              <a:t>:</a:t>
            </a:r>
          </a:p>
        </p:txBody>
      </p:sp>
      <p:sp>
        <p:nvSpPr>
          <p:cNvPr id="13" name="TextBox 12">
            <a:extLst>
              <a:ext uri="{FF2B5EF4-FFF2-40B4-BE49-F238E27FC236}">
                <a16:creationId xmlns:a16="http://schemas.microsoft.com/office/drawing/2014/main" id="{7F1B7AFD-74F7-5A41-FB25-6020B86A89C1}"/>
              </a:ext>
            </a:extLst>
          </p:cNvPr>
          <p:cNvSpPr txBox="1"/>
          <p:nvPr/>
        </p:nvSpPr>
        <p:spPr>
          <a:xfrm>
            <a:off x="-60963" y="4791010"/>
            <a:ext cx="12004432" cy="461665"/>
          </a:xfrm>
          <a:prstGeom prst="rect">
            <a:avLst/>
          </a:prstGeom>
          <a:noFill/>
        </p:spPr>
        <p:txBody>
          <a:bodyPr wrap="square">
            <a:spAutoFit/>
          </a:bodyPr>
          <a:lstStyle/>
          <a:p>
            <a:r>
              <a:rPr lang="en-US" sz="2400" dirty="0">
                <a:solidFill>
                  <a:srgbClr val="002060"/>
                </a:solidFill>
                <a:latin typeface="Times New Roman" panose="02020603050405020304" pitchFamily="18" charset="0"/>
                <a:cs typeface="Times New Roman" panose="02020603050405020304" pitchFamily="18" charset="0"/>
              </a:rPr>
              <a:t>2️⃣ Due to fuel limitations, the combined total of trips by Drone 1 and Drone 2 must be </a:t>
            </a:r>
            <a:r>
              <a:rPr lang="en-US" sz="2400" b="1" dirty="0">
                <a:solidFill>
                  <a:srgbClr val="002060"/>
                </a:solidFill>
                <a:latin typeface="Times New Roman" panose="02020603050405020304" pitchFamily="18" charset="0"/>
                <a:cs typeface="Times New Roman" panose="02020603050405020304" pitchFamily="18" charset="0"/>
              </a:rPr>
              <a:t>60 trips</a:t>
            </a:r>
            <a:r>
              <a:rPr lang="en-US" sz="2400" dirty="0">
                <a:solidFill>
                  <a:srgbClr val="002060"/>
                </a:solidFill>
                <a:latin typeface="Times New Roman" panose="02020603050405020304" pitchFamily="18" charset="0"/>
                <a:cs typeface="Times New Roman" panose="02020603050405020304" pitchFamily="18" charset="0"/>
              </a:rPr>
              <a:t>:</a:t>
            </a:r>
          </a:p>
        </p:txBody>
      </p:sp>
      <p:sp>
        <p:nvSpPr>
          <p:cNvPr id="15" name="TextBox 14">
            <a:extLst>
              <a:ext uri="{FF2B5EF4-FFF2-40B4-BE49-F238E27FC236}">
                <a16:creationId xmlns:a16="http://schemas.microsoft.com/office/drawing/2014/main" id="{DD9B5C09-C540-08DC-F99F-219123A755AD}"/>
              </a:ext>
            </a:extLst>
          </p:cNvPr>
          <p:cNvSpPr txBox="1"/>
          <p:nvPr/>
        </p:nvSpPr>
        <p:spPr>
          <a:xfrm>
            <a:off x="-46897" y="5808466"/>
            <a:ext cx="12004431" cy="461665"/>
          </a:xfrm>
          <a:prstGeom prst="rect">
            <a:avLst/>
          </a:prstGeom>
          <a:noFill/>
        </p:spPr>
        <p:txBody>
          <a:bodyPr wrap="square">
            <a:spAutoFit/>
          </a:bodyPr>
          <a:lstStyle/>
          <a:p>
            <a:r>
              <a:rPr lang="en-US" sz="2400" dirty="0">
                <a:solidFill>
                  <a:srgbClr val="002060"/>
                </a:solidFill>
                <a:latin typeface="Times New Roman" panose="02020603050405020304" pitchFamily="18" charset="0"/>
                <a:cs typeface="Times New Roman" panose="02020603050405020304" pitchFamily="18" charset="0"/>
              </a:rPr>
              <a:t>3️⃣ A delivery quota requires Drones 2 and 3 to make a total of </a:t>
            </a:r>
            <a:r>
              <a:rPr lang="en-US" sz="2400" b="1" dirty="0">
                <a:solidFill>
                  <a:srgbClr val="002060"/>
                </a:solidFill>
                <a:latin typeface="Times New Roman" panose="02020603050405020304" pitchFamily="18" charset="0"/>
                <a:cs typeface="Times New Roman" panose="02020603050405020304" pitchFamily="18" charset="0"/>
              </a:rPr>
              <a:t>30 trips</a:t>
            </a:r>
            <a:r>
              <a:rPr lang="en-US" sz="2400" dirty="0">
                <a:solidFill>
                  <a:srgbClr val="002060"/>
                </a:solidFill>
                <a:latin typeface="Times New Roman" panose="02020603050405020304" pitchFamily="18"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84D4C9C-B77F-EDFD-52A9-F6BD6F59FCAF}"/>
                  </a:ext>
                </a:extLst>
              </p:cNvPr>
              <p:cNvSpPr txBox="1"/>
              <p:nvPr/>
            </p:nvSpPr>
            <p:spPr>
              <a:xfrm>
                <a:off x="4324643" y="4121201"/>
                <a:ext cx="2229648" cy="461665"/>
              </a:xfrm>
              <a:prstGeom prst="rect">
                <a:avLst/>
              </a:prstGeom>
              <a:solidFill>
                <a:schemeClr val="accent5">
                  <a:lumMod val="20000"/>
                  <a:lumOff val="80000"/>
                </a:schemeClr>
              </a:solidFill>
              <a:ln w="28575">
                <a:solidFill>
                  <a:srgbClr val="0070C0"/>
                </a:solid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400" b="0" i="1" smtClean="0">
                          <a:solidFill>
                            <a:srgbClr val="002060"/>
                          </a:solidFill>
                          <a:latin typeface="Cambria Math" panose="02040503050406030204" pitchFamily="18" charset="0"/>
                        </a:rPr>
                        <m:t>𝑥</m:t>
                      </m:r>
                      <m:r>
                        <a:rPr lang="en-GB" sz="2400" b="0" i="1" smtClean="0">
                          <a:solidFill>
                            <a:srgbClr val="002060"/>
                          </a:solidFill>
                          <a:latin typeface="Cambria Math" panose="02040503050406030204" pitchFamily="18" charset="0"/>
                        </a:rPr>
                        <m:t>+</m:t>
                      </m:r>
                      <m:r>
                        <a:rPr lang="en-GB" sz="2400" b="0" i="1" smtClean="0">
                          <a:solidFill>
                            <a:srgbClr val="002060"/>
                          </a:solidFill>
                          <a:latin typeface="Cambria Math" panose="02040503050406030204" pitchFamily="18" charset="0"/>
                        </a:rPr>
                        <m:t>𝑦</m:t>
                      </m:r>
                      <m:r>
                        <a:rPr lang="en-GB" sz="2400" b="0" i="1" smtClean="0">
                          <a:solidFill>
                            <a:srgbClr val="002060"/>
                          </a:solidFill>
                          <a:latin typeface="Cambria Math" panose="02040503050406030204" pitchFamily="18" charset="0"/>
                        </a:rPr>
                        <m:t>+</m:t>
                      </m:r>
                      <m:r>
                        <a:rPr lang="en-GB" sz="2400" b="0" i="1" smtClean="0">
                          <a:solidFill>
                            <a:srgbClr val="002060"/>
                          </a:solidFill>
                          <a:latin typeface="Cambria Math" panose="02040503050406030204" pitchFamily="18" charset="0"/>
                        </a:rPr>
                        <m:t>𝑧</m:t>
                      </m:r>
                      <m:r>
                        <a:rPr lang="en-GB" sz="2400" b="0" i="1" smtClean="0">
                          <a:solidFill>
                            <a:srgbClr val="002060"/>
                          </a:solidFill>
                          <a:latin typeface="Cambria Math" panose="02040503050406030204" pitchFamily="18" charset="0"/>
                        </a:rPr>
                        <m:t>=</m:t>
                      </m:r>
                      <m:r>
                        <a:rPr lang="en-GB" sz="2400" b="0" i="1" smtClean="0">
                          <a:solidFill>
                            <a:srgbClr val="002060"/>
                          </a:solidFill>
                          <a:latin typeface="Cambria Math" panose="02040503050406030204" pitchFamily="18" charset="0"/>
                        </a:rPr>
                        <m:t>50</m:t>
                      </m:r>
                    </m:oMath>
                  </m:oMathPara>
                </a14:m>
                <a:endParaRPr lang="en-US" sz="2400" dirty="0">
                  <a:solidFill>
                    <a:srgbClr val="002060"/>
                  </a:solidFill>
                </a:endParaRPr>
              </a:p>
            </p:txBody>
          </p:sp>
        </mc:Choice>
        <mc:Fallback xmlns="">
          <p:sp>
            <p:nvSpPr>
              <p:cNvPr id="16" name="TextBox 15">
                <a:extLst>
                  <a:ext uri="{FF2B5EF4-FFF2-40B4-BE49-F238E27FC236}">
                    <a16:creationId xmlns:a16="http://schemas.microsoft.com/office/drawing/2014/main" id="{884D4C9C-B77F-EDFD-52A9-F6BD6F59FCAF}"/>
                  </a:ext>
                </a:extLst>
              </p:cNvPr>
              <p:cNvSpPr txBox="1">
                <a:spLocks noRot="1" noChangeAspect="1" noMove="1" noResize="1" noEditPoints="1" noAdjustHandles="1" noChangeArrowheads="1" noChangeShapeType="1" noTextEdit="1"/>
              </p:cNvSpPr>
              <p:nvPr/>
            </p:nvSpPr>
            <p:spPr>
              <a:xfrm>
                <a:off x="4324643" y="4121201"/>
                <a:ext cx="2229648" cy="461665"/>
              </a:xfrm>
              <a:prstGeom prst="rect">
                <a:avLst/>
              </a:prstGeom>
              <a:blipFill>
                <a:blip r:embed="rId2"/>
                <a:stretch>
                  <a:fillRect b="-6173"/>
                </a:stretch>
              </a:blipFill>
              <a:ln w="28575">
                <a:solidFill>
                  <a:srgbClr val="0070C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04A8DA7-13EA-455F-6FEC-2708CFE44A6C}"/>
                  </a:ext>
                </a:extLst>
              </p:cNvPr>
              <p:cNvSpPr txBox="1"/>
              <p:nvPr/>
            </p:nvSpPr>
            <p:spPr>
              <a:xfrm>
                <a:off x="4301197" y="5257147"/>
                <a:ext cx="1709250" cy="461665"/>
              </a:xfrm>
              <a:prstGeom prst="rect">
                <a:avLst/>
              </a:prstGeom>
              <a:solidFill>
                <a:schemeClr val="accent5">
                  <a:lumMod val="20000"/>
                  <a:lumOff val="80000"/>
                </a:schemeClr>
              </a:solidFill>
              <a:ln w="28575">
                <a:solidFill>
                  <a:srgbClr val="0070C0"/>
                </a:solid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400" b="0" i="1" smtClean="0">
                          <a:solidFill>
                            <a:srgbClr val="002060"/>
                          </a:solidFill>
                          <a:latin typeface="Cambria Math" panose="02040503050406030204" pitchFamily="18" charset="0"/>
                        </a:rPr>
                        <m:t>𝑥</m:t>
                      </m:r>
                      <m:r>
                        <a:rPr lang="en-GB" sz="2400" b="0" i="1" smtClean="0">
                          <a:solidFill>
                            <a:srgbClr val="002060"/>
                          </a:solidFill>
                          <a:latin typeface="Cambria Math" panose="02040503050406030204" pitchFamily="18" charset="0"/>
                        </a:rPr>
                        <m:t>+</m:t>
                      </m:r>
                      <m:r>
                        <a:rPr lang="en-GB" sz="2400" b="0" i="1" smtClean="0">
                          <a:solidFill>
                            <a:srgbClr val="002060"/>
                          </a:solidFill>
                          <a:latin typeface="Cambria Math" panose="02040503050406030204" pitchFamily="18" charset="0"/>
                        </a:rPr>
                        <m:t>𝑦</m:t>
                      </m:r>
                      <m:r>
                        <a:rPr lang="en-GB" sz="2400" b="0" i="1" smtClean="0">
                          <a:solidFill>
                            <a:srgbClr val="002060"/>
                          </a:solidFill>
                          <a:latin typeface="Cambria Math" panose="02040503050406030204" pitchFamily="18" charset="0"/>
                        </a:rPr>
                        <m:t>=</m:t>
                      </m:r>
                      <m:r>
                        <a:rPr lang="en-GB" sz="2400" b="0" i="1" smtClean="0">
                          <a:solidFill>
                            <a:srgbClr val="002060"/>
                          </a:solidFill>
                          <a:latin typeface="Cambria Math" panose="02040503050406030204" pitchFamily="18" charset="0"/>
                        </a:rPr>
                        <m:t>60</m:t>
                      </m:r>
                    </m:oMath>
                  </m:oMathPara>
                </a14:m>
                <a:endParaRPr lang="en-US" sz="2400" dirty="0">
                  <a:solidFill>
                    <a:srgbClr val="002060"/>
                  </a:solidFill>
                </a:endParaRPr>
              </a:p>
            </p:txBody>
          </p:sp>
        </mc:Choice>
        <mc:Fallback xmlns="">
          <p:sp>
            <p:nvSpPr>
              <p:cNvPr id="17" name="TextBox 16">
                <a:extLst>
                  <a:ext uri="{FF2B5EF4-FFF2-40B4-BE49-F238E27FC236}">
                    <a16:creationId xmlns:a16="http://schemas.microsoft.com/office/drawing/2014/main" id="{904A8DA7-13EA-455F-6FEC-2708CFE44A6C}"/>
                  </a:ext>
                </a:extLst>
              </p:cNvPr>
              <p:cNvSpPr txBox="1">
                <a:spLocks noRot="1" noChangeAspect="1" noMove="1" noResize="1" noEditPoints="1" noAdjustHandles="1" noChangeArrowheads="1" noChangeShapeType="1" noTextEdit="1"/>
              </p:cNvSpPr>
              <p:nvPr/>
            </p:nvSpPr>
            <p:spPr>
              <a:xfrm>
                <a:off x="4301197" y="5257147"/>
                <a:ext cx="1709250" cy="461665"/>
              </a:xfrm>
              <a:prstGeom prst="rect">
                <a:avLst/>
              </a:prstGeom>
              <a:blipFill>
                <a:blip r:embed="rId3"/>
                <a:stretch>
                  <a:fillRect b="-6173"/>
                </a:stretch>
              </a:blipFill>
              <a:ln w="28575">
                <a:solidFill>
                  <a:srgbClr val="0070C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FF5E055-0972-12A5-86CB-95E59C30C471}"/>
                  </a:ext>
                </a:extLst>
              </p:cNvPr>
              <p:cNvSpPr txBox="1"/>
              <p:nvPr/>
            </p:nvSpPr>
            <p:spPr>
              <a:xfrm>
                <a:off x="4336369" y="6341558"/>
                <a:ext cx="1690784" cy="461665"/>
              </a:xfrm>
              <a:prstGeom prst="rect">
                <a:avLst/>
              </a:prstGeom>
              <a:solidFill>
                <a:schemeClr val="accent5">
                  <a:lumMod val="20000"/>
                  <a:lumOff val="80000"/>
                </a:schemeClr>
              </a:solidFill>
              <a:ln w="28575">
                <a:solidFill>
                  <a:srgbClr val="0070C0"/>
                </a:solid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400" b="0" i="1" smtClean="0">
                          <a:solidFill>
                            <a:srgbClr val="002060"/>
                          </a:solidFill>
                          <a:latin typeface="Cambria Math" panose="02040503050406030204" pitchFamily="18" charset="0"/>
                        </a:rPr>
                        <m:t>𝑦</m:t>
                      </m:r>
                      <m:r>
                        <a:rPr lang="en-GB" sz="2400" b="0" i="1" smtClean="0">
                          <a:solidFill>
                            <a:srgbClr val="002060"/>
                          </a:solidFill>
                          <a:latin typeface="Cambria Math" panose="02040503050406030204" pitchFamily="18" charset="0"/>
                        </a:rPr>
                        <m:t>+</m:t>
                      </m:r>
                      <m:r>
                        <a:rPr lang="en-GB" sz="2400" b="0" i="1" smtClean="0">
                          <a:solidFill>
                            <a:srgbClr val="002060"/>
                          </a:solidFill>
                          <a:latin typeface="Cambria Math" panose="02040503050406030204" pitchFamily="18" charset="0"/>
                        </a:rPr>
                        <m:t>𝑧</m:t>
                      </m:r>
                      <m:r>
                        <a:rPr lang="en-GB" sz="2400" b="0" i="1" smtClean="0">
                          <a:solidFill>
                            <a:srgbClr val="002060"/>
                          </a:solidFill>
                          <a:latin typeface="Cambria Math" panose="02040503050406030204" pitchFamily="18" charset="0"/>
                        </a:rPr>
                        <m:t>=</m:t>
                      </m:r>
                      <m:r>
                        <a:rPr lang="en-GB" sz="2400" b="0" i="1" smtClean="0">
                          <a:solidFill>
                            <a:srgbClr val="002060"/>
                          </a:solidFill>
                          <a:latin typeface="Cambria Math" panose="02040503050406030204" pitchFamily="18" charset="0"/>
                        </a:rPr>
                        <m:t>30</m:t>
                      </m:r>
                    </m:oMath>
                  </m:oMathPara>
                </a14:m>
                <a:endParaRPr lang="en-US" sz="2400" dirty="0">
                  <a:solidFill>
                    <a:srgbClr val="002060"/>
                  </a:solidFill>
                </a:endParaRPr>
              </a:p>
            </p:txBody>
          </p:sp>
        </mc:Choice>
        <mc:Fallback xmlns="">
          <p:sp>
            <p:nvSpPr>
              <p:cNvPr id="18" name="TextBox 17">
                <a:extLst>
                  <a:ext uri="{FF2B5EF4-FFF2-40B4-BE49-F238E27FC236}">
                    <a16:creationId xmlns:a16="http://schemas.microsoft.com/office/drawing/2014/main" id="{4FF5E055-0972-12A5-86CB-95E59C30C471}"/>
                  </a:ext>
                </a:extLst>
              </p:cNvPr>
              <p:cNvSpPr txBox="1">
                <a:spLocks noRot="1" noChangeAspect="1" noMove="1" noResize="1" noEditPoints="1" noAdjustHandles="1" noChangeArrowheads="1" noChangeShapeType="1" noTextEdit="1"/>
              </p:cNvSpPr>
              <p:nvPr/>
            </p:nvSpPr>
            <p:spPr>
              <a:xfrm>
                <a:off x="4336369" y="6341558"/>
                <a:ext cx="1690784" cy="461665"/>
              </a:xfrm>
              <a:prstGeom prst="rect">
                <a:avLst/>
              </a:prstGeom>
              <a:blipFill>
                <a:blip r:embed="rId4"/>
                <a:stretch>
                  <a:fillRect b="-6173"/>
                </a:stretch>
              </a:blipFill>
              <a:ln w="28575">
                <a:solidFill>
                  <a:srgbClr val="0070C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Speech Bubble: Rectangle with Corners Rounded 18">
                <a:extLst>
                  <a:ext uri="{FF2B5EF4-FFF2-40B4-BE49-F238E27FC236}">
                    <a16:creationId xmlns:a16="http://schemas.microsoft.com/office/drawing/2014/main" id="{B508C7C3-C192-A764-900C-C1DF7EF38256}"/>
                  </a:ext>
                </a:extLst>
              </p:cNvPr>
              <p:cNvSpPr/>
              <p:nvPr/>
            </p:nvSpPr>
            <p:spPr>
              <a:xfrm>
                <a:off x="6307014" y="1826488"/>
                <a:ext cx="5148775" cy="2180122"/>
              </a:xfrm>
              <a:prstGeom prst="wedgeRoundRectCallout">
                <a:avLst>
                  <a:gd name="adj1" fmla="val -72380"/>
                  <a:gd name="adj2" fmla="val 56679"/>
                  <a:gd name="adj3" fmla="val 16667"/>
                </a:avLst>
              </a:prstGeom>
              <a:solidFill>
                <a:schemeClr val="accent6">
                  <a:lumMod val="20000"/>
                  <a:lumOff val="80000"/>
                </a:schemeClr>
              </a:solid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sz="2400" dirty="0">
                    <a:solidFill>
                      <a:schemeClr val="accent6">
                        <a:lumMod val="50000"/>
                      </a:schemeClr>
                    </a:solidFill>
                    <a:latin typeface="Times New Roman" panose="02020603050405020304" pitchFamily="18" charset="0"/>
                    <a:cs typeface="Times New Roman" panose="02020603050405020304" pitchFamily="18" charset="0"/>
                  </a:rPr>
                  <a:t>Where:</a:t>
                </a:r>
              </a:p>
              <a:p>
                <a:pPr>
                  <a:lnSpc>
                    <a:spcPct val="150000"/>
                  </a:lnSpc>
                </a:pPr>
                <a14:m>
                  <m:oMath xmlns:m="http://schemas.openxmlformats.org/officeDocument/2006/math">
                    <m:r>
                      <a:rPr lang="en-GB" sz="2400" b="0" i="1" smtClean="0">
                        <a:solidFill>
                          <a:schemeClr val="accent6">
                            <a:lumMod val="50000"/>
                          </a:schemeClr>
                        </a:solidFill>
                        <a:latin typeface="Cambria Math" panose="02040503050406030204" pitchFamily="18" charset="0"/>
                      </a:rPr>
                      <m:t>𝑥</m:t>
                    </m:r>
                    <m:r>
                      <a:rPr lang="en-GB" sz="2400" b="0" i="1" smtClean="0">
                        <a:solidFill>
                          <a:schemeClr val="accent6">
                            <a:lumMod val="50000"/>
                          </a:schemeClr>
                        </a:solidFill>
                        <a:latin typeface="Cambria Math" panose="02040503050406030204" pitchFamily="18" charset="0"/>
                      </a:rPr>
                      <m:t>=</m:t>
                    </m:r>
                  </m:oMath>
                </a14:m>
                <a:r>
                  <a:rPr lang="en-US" sz="2400" dirty="0">
                    <a:solidFill>
                      <a:schemeClr val="accent6">
                        <a:lumMod val="50000"/>
                      </a:schemeClr>
                    </a:solidFill>
                    <a:latin typeface="Times New Roman" panose="02020603050405020304" pitchFamily="18" charset="0"/>
                    <a:cs typeface="Times New Roman" panose="02020603050405020304" pitchFamily="18" charset="0"/>
                  </a:rPr>
                  <a:t> Number of trips by </a:t>
                </a:r>
                <a:r>
                  <a:rPr lang="en-US" sz="2400" b="1" dirty="0">
                    <a:solidFill>
                      <a:schemeClr val="accent6">
                        <a:lumMod val="50000"/>
                      </a:schemeClr>
                    </a:solidFill>
                    <a:latin typeface="Times New Roman" panose="02020603050405020304" pitchFamily="18" charset="0"/>
                    <a:cs typeface="Times New Roman" panose="02020603050405020304" pitchFamily="18" charset="0"/>
                  </a:rPr>
                  <a:t>Drone 1 (</a:t>
                </a:r>
                <a14:m>
                  <m:oMath xmlns:m="http://schemas.openxmlformats.org/officeDocument/2006/math">
                    <m:sSub>
                      <m:sSubPr>
                        <m:ctrlPr>
                          <a:rPr lang="en-GB" sz="2400" b="1" i="1" dirty="0" smtClean="0">
                            <a:solidFill>
                              <a:schemeClr val="accent6">
                                <a:lumMod val="50000"/>
                              </a:schemeClr>
                            </a:solidFill>
                            <a:latin typeface="Cambria Math" panose="02040503050406030204" pitchFamily="18" charset="0"/>
                            <a:cs typeface="Times New Roman" panose="02020603050405020304" pitchFamily="18" charset="0"/>
                          </a:rPr>
                        </m:ctrlPr>
                      </m:sSubPr>
                      <m:e>
                        <m:r>
                          <a:rPr lang="en-US" sz="2400" b="1" i="1" dirty="0" smtClean="0">
                            <a:solidFill>
                              <a:schemeClr val="accent6">
                                <a:lumMod val="50000"/>
                              </a:schemeClr>
                            </a:solidFill>
                            <a:latin typeface="Cambria Math" panose="02040503050406030204" pitchFamily="18" charset="0"/>
                            <a:cs typeface="Times New Roman" panose="02020603050405020304" pitchFamily="18" charset="0"/>
                          </a:rPr>
                          <m:t>𝑫</m:t>
                        </m:r>
                      </m:e>
                      <m:sub>
                        <m:r>
                          <a:rPr lang="en-GB" sz="2400" b="1" i="1" dirty="0" smtClean="0">
                            <a:solidFill>
                              <a:schemeClr val="accent6">
                                <a:lumMod val="50000"/>
                              </a:schemeClr>
                            </a:solidFill>
                            <a:latin typeface="Cambria Math" panose="02040503050406030204" pitchFamily="18" charset="0"/>
                            <a:cs typeface="Times New Roman" panose="02020603050405020304" pitchFamily="18" charset="0"/>
                          </a:rPr>
                          <m:t>𝟏</m:t>
                        </m:r>
                      </m:sub>
                    </m:sSub>
                  </m:oMath>
                </a14:m>
                <a:r>
                  <a:rPr lang="en-US" sz="2400" b="1" dirty="0">
                    <a:solidFill>
                      <a:schemeClr val="accent6">
                        <a:lumMod val="50000"/>
                      </a:schemeClr>
                    </a:solidFill>
                    <a:latin typeface="Times New Roman" panose="02020603050405020304" pitchFamily="18" charset="0"/>
                    <a:cs typeface="Times New Roman" panose="02020603050405020304" pitchFamily="18" charset="0"/>
                  </a:rPr>
                  <a:t>)</a:t>
                </a:r>
              </a:p>
              <a:p>
                <a:pPr>
                  <a:lnSpc>
                    <a:spcPct val="150000"/>
                  </a:lnSpc>
                </a:pPr>
                <a14:m>
                  <m:oMath xmlns:m="http://schemas.openxmlformats.org/officeDocument/2006/math">
                    <m:r>
                      <a:rPr lang="en-GB" sz="2400" b="0" i="1" smtClean="0">
                        <a:solidFill>
                          <a:schemeClr val="accent6">
                            <a:lumMod val="50000"/>
                          </a:schemeClr>
                        </a:solidFill>
                        <a:latin typeface="Cambria Math" panose="02040503050406030204" pitchFamily="18" charset="0"/>
                      </a:rPr>
                      <m:t>𝑦</m:t>
                    </m:r>
                    <m:r>
                      <a:rPr lang="en-GB" sz="2400" b="0" i="1" smtClean="0">
                        <a:solidFill>
                          <a:schemeClr val="accent6">
                            <a:lumMod val="50000"/>
                          </a:schemeClr>
                        </a:solidFill>
                        <a:latin typeface="Cambria Math" panose="02040503050406030204" pitchFamily="18" charset="0"/>
                      </a:rPr>
                      <m:t>=</m:t>
                    </m:r>
                  </m:oMath>
                </a14:m>
                <a:r>
                  <a:rPr lang="en-US" sz="2400" dirty="0">
                    <a:solidFill>
                      <a:schemeClr val="accent6">
                        <a:lumMod val="50000"/>
                      </a:schemeClr>
                    </a:solidFill>
                    <a:latin typeface="Times New Roman" panose="02020603050405020304" pitchFamily="18" charset="0"/>
                    <a:cs typeface="Times New Roman" panose="02020603050405020304" pitchFamily="18" charset="0"/>
                  </a:rPr>
                  <a:t> Number of trips by </a:t>
                </a:r>
                <a:r>
                  <a:rPr lang="en-US" sz="2400" b="1" dirty="0">
                    <a:solidFill>
                      <a:schemeClr val="accent6">
                        <a:lumMod val="50000"/>
                      </a:schemeClr>
                    </a:solidFill>
                    <a:latin typeface="Times New Roman" panose="02020603050405020304" pitchFamily="18" charset="0"/>
                    <a:cs typeface="Times New Roman" panose="02020603050405020304" pitchFamily="18" charset="0"/>
                  </a:rPr>
                  <a:t>Drone 2 (</a:t>
                </a:r>
                <a14:m>
                  <m:oMath xmlns:m="http://schemas.openxmlformats.org/officeDocument/2006/math">
                    <m:sSub>
                      <m:sSubPr>
                        <m:ctrlPr>
                          <a:rPr lang="en-GB" sz="2400" b="1" i="1" dirty="0">
                            <a:solidFill>
                              <a:schemeClr val="accent6">
                                <a:lumMod val="50000"/>
                              </a:schemeClr>
                            </a:solidFill>
                            <a:latin typeface="Cambria Math" panose="02040503050406030204" pitchFamily="18" charset="0"/>
                            <a:cs typeface="Times New Roman" panose="02020603050405020304" pitchFamily="18" charset="0"/>
                          </a:rPr>
                        </m:ctrlPr>
                      </m:sSubPr>
                      <m:e>
                        <m:r>
                          <a:rPr lang="en-US" sz="2400" b="1" i="1" dirty="0">
                            <a:solidFill>
                              <a:schemeClr val="accent6">
                                <a:lumMod val="50000"/>
                              </a:schemeClr>
                            </a:solidFill>
                            <a:latin typeface="Cambria Math" panose="02040503050406030204" pitchFamily="18" charset="0"/>
                            <a:cs typeface="Times New Roman" panose="02020603050405020304" pitchFamily="18" charset="0"/>
                          </a:rPr>
                          <m:t>𝑫</m:t>
                        </m:r>
                      </m:e>
                      <m:sub>
                        <m:r>
                          <a:rPr lang="en-GB" sz="2400" b="1" i="1" dirty="0" smtClean="0">
                            <a:solidFill>
                              <a:schemeClr val="accent6">
                                <a:lumMod val="50000"/>
                              </a:schemeClr>
                            </a:solidFill>
                            <a:latin typeface="Cambria Math" panose="02040503050406030204" pitchFamily="18" charset="0"/>
                            <a:cs typeface="Times New Roman" panose="02020603050405020304" pitchFamily="18" charset="0"/>
                          </a:rPr>
                          <m:t>𝟐</m:t>
                        </m:r>
                      </m:sub>
                    </m:sSub>
                  </m:oMath>
                </a14:m>
                <a:r>
                  <a:rPr lang="en-US" sz="2400" b="1" dirty="0">
                    <a:solidFill>
                      <a:schemeClr val="accent6">
                        <a:lumMod val="50000"/>
                      </a:schemeClr>
                    </a:solidFill>
                    <a:latin typeface="Times New Roman" panose="02020603050405020304" pitchFamily="18" charset="0"/>
                    <a:cs typeface="Times New Roman" panose="02020603050405020304" pitchFamily="18" charset="0"/>
                  </a:rPr>
                  <a:t>)</a:t>
                </a:r>
                <a:endParaRPr lang="en-US" sz="2400" dirty="0">
                  <a:solidFill>
                    <a:schemeClr val="accent6">
                      <a:lumMod val="50000"/>
                    </a:schemeClr>
                  </a:solidFill>
                  <a:latin typeface="Times New Roman" panose="02020603050405020304" pitchFamily="18" charset="0"/>
                  <a:cs typeface="Times New Roman" panose="02020603050405020304" pitchFamily="18" charset="0"/>
                </a:endParaRPr>
              </a:p>
              <a:p>
                <a:pPr>
                  <a:lnSpc>
                    <a:spcPct val="150000"/>
                  </a:lnSpc>
                </a:pPr>
                <a14:m>
                  <m:oMath xmlns:m="http://schemas.openxmlformats.org/officeDocument/2006/math">
                    <m:r>
                      <a:rPr lang="en-GB" sz="2400" b="0" i="1" smtClean="0">
                        <a:solidFill>
                          <a:schemeClr val="accent6">
                            <a:lumMod val="50000"/>
                          </a:schemeClr>
                        </a:solidFill>
                        <a:latin typeface="Cambria Math" panose="02040503050406030204" pitchFamily="18" charset="0"/>
                      </a:rPr>
                      <m:t>𝑧</m:t>
                    </m:r>
                    <m:r>
                      <a:rPr lang="en-GB" sz="2400" b="0" i="1" smtClean="0">
                        <a:solidFill>
                          <a:schemeClr val="accent6">
                            <a:lumMod val="50000"/>
                          </a:schemeClr>
                        </a:solidFill>
                        <a:latin typeface="Cambria Math" panose="02040503050406030204" pitchFamily="18" charset="0"/>
                      </a:rPr>
                      <m:t>=</m:t>
                    </m:r>
                  </m:oMath>
                </a14:m>
                <a:r>
                  <a:rPr lang="en-US" sz="2400" dirty="0">
                    <a:solidFill>
                      <a:schemeClr val="accent6">
                        <a:lumMod val="50000"/>
                      </a:schemeClr>
                    </a:solidFill>
                    <a:latin typeface="Times New Roman" panose="02020603050405020304" pitchFamily="18" charset="0"/>
                    <a:cs typeface="Times New Roman" panose="02020603050405020304" pitchFamily="18" charset="0"/>
                  </a:rPr>
                  <a:t> Number of trips by </a:t>
                </a:r>
                <a:r>
                  <a:rPr lang="en-US" sz="2400" b="1" dirty="0">
                    <a:solidFill>
                      <a:schemeClr val="accent6">
                        <a:lumMod val="50000"/>
                      </a:schemeClr>
                    </a:solidFill>
                    <a:latin typeface="Times New Roman" panose="02020603050405020304" pitchFamily="18" charset="0"/>
                    <a:cs typeface="Times New Roman" panose="02020603050405020304" pitchFamily="18" charset="0"/>
                  </a:rPr>
                  <a:t>Drone 1 (</a:t>
                </a:r>
                <a14:m>
                  <m:oMath xmlns:m="http://schemas.openxmlformats.org/officeDocument/2006/math">
                    <m:sSub>
                      <m:sSubPr>
                        <m:ctrlPr>
                          <a:rPr lang="en-GB" sz="2400" b="1" i="1" dirty="0">
                            <a:solidFill>
                              <a:schemeClr val="accent6">
                                <a:lumMod val="50000"/>
                              </a:schemeClr>
                            </a:solidFill>
                            <a:latin typeface="Cambria Math" panose="02040503050406030204" pitchFamily="18" charset="0"/>
                            <a:cs typeface="Times New Roman" panose="02020603050405020304" pitchFamily="18" charset="0"/>
                          </a:rPr>
                        </m:ctrlPr>
                      </m:sSubPr>
                      <m:e>
                        <m:r>
                          <a:rPr lang="en-US" sz="2400" b="1" i="1" dirty="0">
                            <a:solidFill>
                              <a:schemeClr val="accent6">
                                <a:lumMod val="50000"/>
                              </a:schemeClr>
                            </a:solidFill>
                            <a:latin typeface="Cambria Math" panose="02040503050406030204" pitchFamily="18" charset="0"/>
                            <a:cs typeface="Times New Roman" panose="02020603050405020304" pitchFamily="18" charset="0"/>
                          </a:rPr>
                          <m:t>𝑫</m:t>
                        </m:r>
                      </m:e>
                      <m:sub>
                        <m:r>
                          <a:rPr lang="en-GB" sz="2400" b="1" i="1" dirty="0" smtClean="0">
                            <a:solidFill>
                              <a:schemeClr val="accent6">
                                <a:lumMod val="50000"/>
                              </a:schemeClr>
                            </a:solidFill>
                            <a:latin typeface="Cambria Math" panose="02040503050406030204" pitchFamily="18" charset="0"/>
                            <a:cs typeface="Times New Roman" panose="02020603050405020304" pitchFamily="18" charset="0"/>
                          </a:rPr>
                          <m:t>𝟑</m:t>
                        </m:r>
                      </m:sub>
                    </m:sSub>
                  </m:oMath>
                </a14:m>
                <a:r>
                  <a:rPr lang="en-US" sz="2400" b="1" dirty="0">
                    <a:solidFill>
                      <a:schemeClr val="accent6">
                        <a:lumMod val="50000"/>
                      </a:schemeClr>
                    </a:solidFill>
                    <a:latin typeface="Times New Roman" panose="02020603050405020304" pitchFamily="18" charset="0"/>
                    <a:cs typeface="Times New Roman" panose="02020603050405020304" pitchFamily="18" charset="0"/>
                  </a:rPr>
                  <a:t>)</a:t>
                </a:r>
                <a:endParaRPr lang="en-US" sz="2400" dirty="0">
                  <a:solidFill>
                    <a:schemeClr val="accent6">
                      <a:lumMod val="50000"/>
                    </a:schemeClr>
                  </a:solidFill>
                  <a:latin typeface="Times New Roman" panose="02020603050405020304" pitchFamily="18" charset="0"/>
                  <a:cs typeface="Times New Roman" panose="02020603050405020304" pitchFamily="18" charset="0"/>
                </a:endParaRPr>
              </a:p>
            </p:txBody>
          </p:sp>
        </mc:Choice>
        <mc:Fallback xmlns="">
          <p:sp>
            <p:nvSpPr>
              <p:cNvPr id="19" name="Speech Bubble: Rectangle with Corners Rounded 18">
                <a:extLst>
                  <a:ext uri="{FF2B5EF4-FFF2-40B4-BE49-F238E27FC236}">
                    <a16:creationId xmlns:a16="http://schemas.microsoft.com/office/drawing/2014/main" id="{B508C7C3-C192-A764-900C-C1DF7EF38256}"/>
                  </a:ext>
                </a:extLst>
              </p:cNvPr>
              <p:cNvSpPr>
                <a:spLocks noRot="1" noChangeAspect="1" noMove="1" noResize="1" noEditPoints="1" noAdjustHandles="1" noChangeArrowheads="1" noChangeShapeType="1" noTextEdit="1"/>
              </p:cNvSpPr>
              <p:nvPr/>
            </p:nvSpPr>
            <p:spPr>
              <a:xfrm>
                <a:off x="6307014" y="1826488"/>
                <a:ext cx="5148775" cy="2180122"/>
              </a:xfrm>
              <a:prstGeom prst="wedgeRoundRectCallout">
                <a:avLst>
                  <a:gd name="adj1" fmla="val -72380"/>
                  <a:gd name="adj2" fmla="val 56679"/>
                  <a:gd name="adj3" fmla="val 16667"/>
                </a:avLst>
              </a:prstGeom>
              <a:blipFill>
                <a:blip r:embed="rId5"/>
                <a:stretch>
                  <a:fillRect/>
                </a:stretch>
              </a:blipFill>
              <a:ln w="28575">
                <a:solidFill>
                  <a:srgbClr val="00B050"/>
                </a:solidFill>
              </a:ln>
            </p:spPr>
            <p:txBody>
              <a:bodyPr/>
              <a:lstStyle/>
              <a:p>
                <a:r>
                  <a:rPr lang="en-US">
                    <a:noFill/>
                  </a:rPr>
                  <a:t> </a:t>
                </a:r>
              </a:p>
            </p:txBody>
          </p:sp>
        </mc:Fallback>
      </mc:AlternateContent>
    </p:spTree>
    <p:extLst>
      <p:ext uri="{BB962C8B-B14F-4D97-AF65-F5344CB8AC3E}">
        <p14:creationId xmlns:p14="http://schemas.microsoft.com/office/powerpoint/2010/main" val="2961834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1000"/>
                                        <p:tgtEl>
                                          <p:spTgt spid="16"/>
                                        </p:tgtEl>
                                      </p:cBhvr>
                                    </p:animEffect>
                                    <p:anim calcmode="lin" valueType="num">
                                      <p:cBhvr>
                                        <p:cTn id="20" dur="1000" fill="hold"/>
                                        <p:tgtEl>
                                          <p:spTgt spid="16"/>
                                        </p:tgtEl>
                                        <p:attrNameLst>
                                          <p:attrName>ppt_x</p:attrName>
                                        </p:attrNameLst>
                                      </p:cBhvr>
                                      <p:tavLst>
                                        <p:tav tm="0">
                                          <p:val>
                                            <p:strVal val="#ppt_x"/>
                                          </p:val>
                                        </p:tav>
                                        <p:tav tm="100000">
                                          <p:val>
                                            <p:strVal val="#ppt_x"/>
                                          </p:val>
                                        </p:tav>
                                      </p:tavLst>
                                    </p:anim>
                                    <p:anim calcmode="lin" valueType="num">
                                      <p:cBhvr>
                                        <p:cTn id="21"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19"/>
                                        </p:tgtEl>
                                        <p:attrNameLst>
                                          <p:attrName>style.visibility</p:attrName>
                                        </p:attrNameLst>
                                      </p:cBhvr>
                                      <p:to>
                                        <p:strVal val="visible"/>
                                      </p:to>
                                    </p:set>
                                    <p:anim calcmode="lin" valueType="num">
                                      <p:cBhvr additive="base">
                                        <p:cTn id="26" dur="500" fill="hold"/>
                                        <p:tgtEl>
                                          <p:spTgt spid="19"/>
                                        </p:tgtEl>
                                        <p:attrNameLst>
                                          <p:attrName>ppt_x</p:attrName>
                                        </p:attrNameLst>
                                      </p:cBhvr>
                                      <p:tavLst>
                                        <p:tav tm="0">
                                          <p:val>
                                            <p:strVal val="#ppt_x"/>
                                          </p:val>
                                        </p:tav>
                                        <p:tav tm="100000">
                                          <p:val>
                                            <p:strVal val="#ppt_x"/>
                                          </p:val>
                                        </p:tav>
                                      </p:tavLst>
                                    </p:anim>
                                    <p:anim calcmode="lin" valueType="num">
                                      <p:cBhvr additive="base">
                                        <p:cTn id="27"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xit" presetSubtype="4" fill="hold" grpId="2" nodeType="clickEffect">
                                  <p:stCondLst>
                                    <p:cond delay="0"/>
                                  </p:stCondLst>
                                  <p:childTnLst>
                                    <p:anim calcmode="lin" valueType="num">
                                      <p:cBhvr additive="base">
                                        <p:cTn id="31" dur="1300"/>
                                        <p:tgtEl>
                                          <p:spTgt spid="19"/>
                                        </p:tgtEl>
                                        <p:attrNameLst>
                                          <p:attrName>ppt_x</p:attrName>
                                        </p:attrNameLst>
                                      </p:cBhvr>
                                      <p:tavLst>
                                        <p:tav tm="0">
                                          <p:val>
                                            <p:strVal val="ppt_x"/>
                                          </p:val>
                                        </p:tav>
                                        <p:tav tm="100000">
                                          <p:val>
                                            <p:strVal val="ppt_x"/>
                                          </p:val>
                                        </p:tav>
                                      </p:tavLst>
                                    </p:anim>
                                    <p:anim calcmode="lin" valueType="num">
                                      <p:cBhvr additive="base">
                                        <p:cTn id="32" dur="1300"/>
                                        <p:tgtEl>
                                          <p:spTgt spid="19"/>
                                        </p:tgtEl>
                                        <p:attrNameLst>
                                          <p:attrName>ppt_y</p:attrName>
                                        </p:attrNameLst>
                                      </p:cBhvr>
                                      <p:tavLst>
                                        <p:tav tm="0">
                                          <p:val>
                                            <p:strVal val="ppt_y"/>
                                          </p:val>
                                        </p:tav>
                                        <p:tav tm="100000">
                                          <p:val>
                                            <p:strVal val="1+ppt_h/2"/>
                                          </p:val>
                                        </p:tav>
                                      </p:tavLst>
                                    </p:anim>
                                    <p:set>
                                      <p:cBhvr>
                                        <p:cTn id="33" dur="1" fill="hold">
                                          <p:stCondLst>
                                            <p:cond delay="1299"/>
                                          </p:stCondLst>
                                        </p:cTn>
                                        <p:tgtEl>
                                          <p:spTgt spid="19"/>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13"/>
                                        </p:tgtEl>
                                        <p:attrNameLst>
                                          <p:attrName>style.visibility</p:attrName>
                                        </p:attrNameLst>
                                      </p:cBhvr>
                                      <p:to>
                                        <p:strVal val="visible"/>
                                      </p:to>
                                    </p:set>
                                    <p:anim calcmode="lin" valueType="num">
                                      <p:cBhvr additive="base">
                                        <p:cTn id="38" dur="500" fill="hold"/>
                                        <p:tgtEl>
                                          <p:spTgt spid="13"/>
                                        </p:tgtEl>
                                        <p:attrNameLst>
                                          <p:attrName>ppt_x</p:attrName>
                                        </p:attrNameLst>
                                      </p:cBhvr>
                                      <p:tavLst>
                                        <p:tav tm="0">
                                          <p:val>
                                            <p:strVal val="#ppt_x"/>
                                          </p:val>
                                        </p:tav>
                                        <p:tav tm="100000">
                                          <p:val>
                                            <p:strVal val="#ppt_x"/>
                                          </p:val>
                                        </p:tav>
                                      </p:tavLst>
                                    </p:anim>
                                    <p:anim calcmode="lin" valueType="num">
                                      <p:cBhvr additive="base">
                                        <p:cTn id="39"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1000"/>
                                        <p:tgtEl>
                                          <p:spTgt spid="17"/>
                                        </p:tgtEl>
                                      </p:cBhvr>
                                    </p:animEffect>
                                    <p:anim calcmode="lin" valueType="num">
                                      <p:cBhvr>
                                        <p:cTn id="45" dur="1000" fill="hold"/>
                                        <p:tgtEl>
                                          <p:spTgt spid="17"/>
                                        </p:tgtEl>
                                        <p:attrNameLst>
                                          <p:attrName>ppt_x</p:attrName>
                                        </p:attrNameLst>
                                      </p:cBhvr>
                                      <p:tavLst>
                                        <p:tav tm="0">
                                          <p:val>
                                            <p:strVal val="#ppt_x"/>
                                          </p:val>
                                        </p:tav>
                                        <p:tav tm="100000">
                                          <p:val>
                                            <p:strVal val="#ppt_x"/>
                                          </p:val>
                                        </p:tav>
                                      </p:tavLst>
                                    </p:anim>
                                    <p:anim calcmode="lin" valueType="num">
                                      <p:cBhvr>
                                        <p:cTn id="46"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anim calcmode="lin" valueType="num">
                                      <p:cBhvr additive="base">
                                        <p:cTn id="51" dur="500" fill="hold"/>
                                        <p:tgtEl>
                                          <p:spTgt spid="15"/>
                                        </p:tgtEl>
                                        <p:attrNameLst>
                                          <p:attrName>ppt_x</p:attrName>
                                        </p:attrNameLst>
                                      </p:cBhvr>
                                      <p:tavLst>
                                        <p:tav tm="0">
                                          <p:val>
                                            <p:strVal val="#ppt_x"/>
                                          </p:val>
                                        </p:tav>
                                        <p:tav tm="100000">
                                          <p:val>
                                            <p:strVal val="#ppt_x"/>
                                          </p:val>
                                        </p:tav>
                                      </p:tavLst>
                                    </p:anim>
                                    <p:anim calcmode="lin" valueType="num">
                                      <p:cBhvr additive="base">
                                        <p:cTn id="5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grpId="0" nodeType="click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1000"/>
                                        <p:tgtEl>
                                          <p:spTgt spid="18"/>
                                        </p:tgtEl>
                                      </p:cBhvr>
                                    </p:animEffect>
                                    <p:anim calcmode="lin" valueType="num">
                                      <p:cBhvr>
                                        <p:cTn id="58" dur="1000" fill="hold"/>
                                        <p:tgtEl>
                                          <p:spTgt spid="18"/>
                                        </p:tgtEl>
                                        <p:attrNameLst>
                                          <p:attrName>ppt_x</p:attrName>
                                        </p:attrNameLst>
                                      </p:cBhvr>
                                      <p:tavLst>
                                        <p:tav tm="0">
                                          <p:val>
                                            <p:strVal val="#ppt_x"/>
                                          </p:val>
                                        </p:tav>
                                        <p:tav tm="100000">
                                          <p:val>
                                            <p:strVal val="#ppt_x"/>
                                          </p:val>
                                        </p:tav>
                                      </p:tavLst>
                                    </p:anim>
                                    <p:anim calcmode="lin" valueType="num">
                                      <p:cBhvr>
                                        <p:cTn id="5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6" grpId="0" animBg="1"/>
      <p:bldP spid="17" grpId="0" animBg="1"/>
      <p:bldP spid="18" grpId="0" animBg="1"/>
      <p:bldP spid="19" grpId="0" animBg="1"/>
      <p:bldP spid="19" grpId="2"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939E2B9-4164-83E5-9173-691F04DC3BB6}"/>
                  </a:ext>
                </a:extLst>
              </p:cNvPr>
              <p:cNvSpPr txBox="1"/>
              <p:nvPr/>
            </p:nvSpPr>
            <p:spPr>
              <a:xfrm>
                <a:off x="426181" y="1699477"/>
                <a:ext cx="2935484" cy="12405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m>
                            <m:mPr>
                              <m:mcs>
                                <m:mc>
                                  <m:mcPr>
                                    <m:count m:val="4"/>
                                    <m:mcJc m:val="center"/>
                                  </m:mcPr>
                                </m:mc>
                              </m:mcs>
                              <m:ctrlPr>
                                <a:rPr lang="en-US" sz="2800" i="1" smtClean="0">
                                  <a:latin typeface="Cambria Math" panose="02040503050406030204" pitchFamily="18" charset="0"/>
                                </a:rPr>
                              </m:ctrlPr>
                            </m:mPr>
                            <m:mr>
                              <m:e>
                                <m:r>
                                  <m:rPr>
                                    <m:brk m:alnAt="7"/>
                                  </m:rPr>
                                  <a:rPr lang="en-GB" sz="2800" b="0" i="1" smtClean="0">
                                    <a:latin typeface="Cambria Math" panose="02040503050406030204" pitchFamily="18" charset="0"/>
                                  </a:rPr>
                                  <m:t>1</m:t>
                                </m:r>
                              </m:e>
                              <m:e>
                                <m:r>
                                  <a:rPr lang="en-GB" sz="2800" b="0" i="1" smtClean="0">
                                    <a:latin typeface="Cambria Math" panose="02040503050406030204" pitchFamily="18" charset="0"/>
                                  </a:rPr>
                                  <m:t>1</m:t>
                                </m:r>
                              </m:e>
                              <m:e>
                                <m:r>
                                  <a:rPr lang="en-GB" sz="2800" b="0" i="1" smtClean="0">
                                    <a:latin typeface="Cambria Math" panose="02040503050406030204" pitchFamily="18" charset="0"/>
                                  </a:rPr>
                                  <m:t>1</m:t>
                                </m:r>
                              </m:e>
                              <m:e>
                                <m:r>
                                  <a:rPr lang="en-GB" sz="2800" b="0" i="1" smtClean="0">
                                    <a:latin typeface="Cambria Math" panose="02040503050406030204" pitchFamily="18" charset="0"/>
                                  </a:rPr>
                                  <m:t>:</m:t>
                                </m:r>
                                <m:r>
                                  <a:rPr lang="en-GB" sz="2800" b="0" i="1" smtClean="0">
                                    <a:solidFill>
                                      <a:srgbClr val="FFC000"/>
                                    </a:solidFill>
                                    <a:latin typeface="Cambria Math" panose="02040503050406030204" pitchFamily="18" charset="0"/>
                                  </a:rPr>
                                  <m:t>50</m:t>
                                </m:r>
                              </m:e>
                            </m:mr>
                            <m:mr>
                              <m:e>
                                <m:r>
                                  <a:rPr lang="en-GB" sz="2800" b="0" i="1" smtClean="0">
                                    <a:latin typeface="Cambria Math" panose="02040503050406030204" pitchFamily="18" charset="0"/>
                                  </a:rPr>
                                  <m:t>1</m:t>
                                </m:r>
                              </m:e>
                              <m:e>
                                <m:r>
                                  <a:rPr lang="en-GB" sz="2800" b="0" i="1" smtClean="0">
                                    <a:latin typeface="Cambria Math" panose="02040503050406030204" pitchFamily="18" charset="0"/>
                                  </a:rPr>
                                  <m:t>1</m:t>
                                </m:r>
                              </m:e>
                              <m:e>
                                <m:r>
                                  <a:rPr lang="en-GB" sz="2800" b="0" i="1" smtClean="0">
                                    <a:latin typeface="Cambria Math" panose="02040503050406030204" pitchFamily="18" charset="0"/>
                                  </a:rPr>
                                  <m:t>0</m:t>
                                </m:r>
                              </m:e>
                              <m:e>
                                <m:r>
                                  <a:rPr lang="en-GB" sz="2800" b="0" i="1" smtClean="0">
                                    <a:latin typeface="Cambria Math" panose="02040503050406030204" pitchFamily="18" charset="0"/>
                                  </a:rPr>
                                  <m:t>: </m:t>
                                </m:r>
                                <m:r>
                                  <a:rPr lang="en-GB" sz="2800" b="0" i="1" smtClean="0">
                                    <a:solidFill>
                                      <a:srgbClr val="FFC000"/>
                                    </a:solidFill>
                                    <a:latin typeface="Cambria Math" panose="02040503050406030204" pitchFamily="18" charset="0"/>
                                  </a:rPr>
                                  <m:t>60</m:t>
                                </m:r>
                              </m:e>
                            </m:mr>
                            <m:mr>
                              <m:e>
                                <m:r>
                                  <a:rPr lang="en-GB" sz="2800" b="0" i="1" smtClean="0">
                                    <a:latin typeface="Cambria Math" panose="02040503050406030204" pitchFamily="18" charset="0"/>
                                  </a:rPr>
                                  <m:t>0</m:t>
                                </m:r>
                              </m:e>
                              <m:e>
                                <m:r>
                                  <a:rPr lang="en-GB" sz="2800" b="0" i="1" smtClean="0">
                                    <a:latin typeface="Cambria Math" panose="02040503050406030204" pitchFamily="18" charset="0"/>
                                  </a:rPr>
                                  <m:t>1</m:t>
                                </m:r>
                              </m:e>
                              <m:e>
                                <m:r>
                                  <a:rPr lang="en-GB" sz="2800" b="0" i="1" smtClean="0">
                                    <a:latin typeface="Cambria Math" panose="02040503050406030204" pitchFamily="18" charset="0"/>
                                  </a:rPr>
                                  <m:t>1</m:t>
                                </m:r>
                              </m:e>
                              <m:e>
                                <m:r>
                                  <a:rPr lang="en-GB" sz="2800" b="0" i="1" smtClean="0">
                                    <a:latin typeface="Cambria Math" panose="02040503050406030204" pitchFamily="18" charset="0"/>
                                  </a:rPr>
                                  <m:t>:  </m:t>
                                </m:r>
                                <m:r>
                                  <a:rPr lang="en-GB" sz="2800" b="0" i="1" smtClean="0">
                                    <a:solidFill>
                                      <a:srgbClr val="FFC000"/>
                                    </a:solidFill>
                                    <a:latin typeface="Cambria Math" panose="02040503050406030204" pitchFamily="18" charset="0"/>
                                  </a:rPr>
                                  <m:t>30</m:t>
                                </m:r>
                              </m:e>
                            </m:mr>
                          </m:m>
                        </m:e>
                      </m:d>
                    </m:oMath>
                  </m:oMathPara>
                </a14:m>
                <a:endParaRPr lang="en-US" sz="2800" dirty="0"/>
              </a:p>
            </p:txBody>
          </p:sp>
        </mc:Choice>
        <mc:Fallback xmlns="">
          <p:sp>
            <p:nvSpPr>
              <p:cNvPr id="4" name="TextBox 3">
                <a:extLst>
                  <a:ext uri="{FF2B5EF4-FFF2-40B4-BE49-F238E27FC236}">
                    <a16:creationId xmlns:a16="http://schemas.microsoft.com/office/drawing/2014/main" id="{1939E2B9-4164-83E5-9173-691F04DC3BB6}"/>
                  </a:ext>
                </a:extLst>
              </p:cNvPr>
              <p:cNvSpPr txBox="1">
                <a:spLocks noRot="1" noChangeAspect="1" noMove="1" noResize="1" noEditPoints="1" noAdjustHandles="1" noChangeArrowheads="1" noChangeShapeType="1" noTextEdit="1"/>
              </p:cNvSpPr>
              <p:nvPr/>
            </p:nvSpPr>
            <p:spPr>
              <a:xfrm>
                <a:off x="426181" y="1699477"/>
                <a:ext cx="2935484" cy="1240532"/>
              </a:xfrm>
              <a:prstGeom prst="rect">
                <a:avLst/>
              </a:prstGeom>
              <a:blipFill>
                <a:blip r:embed="rId2"/>
                <a:stretch>
                  <a:fillRect/>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A8785010-5AB3-3ADB-66E5-B1F75C4F0FA3}"/>
              </a:ext>
            </a:extLst>
          </p:cNvPr>
          <p:cNvSpPr txBox="1"/>
          <p:nvPr/>
        </p:nvSpPr>
        <p:spPr>
          <a:xfrm>
            <a:off x="0" y="1"/>
            <a:ext cx="12192000" cy="584775"/>
          </a:xfrm>
          <a:prstGeom prst="rect">
            <a:avLst/>
          </a:prstGeom>
          <a:solidFill>
            <a:schemeClr val="accent2">
              <a:lumMod val="20000"/>
              <a:lumOff val="80000"/>
            </a:schemeClr>
          </a:solidFill>
          <a:ln w="28575">
            <a:solidFill>
              <a:srgbClr val="C00000"/>
            </a:solidFill>
          </a:ln>
        </p:spPr>
        <p:txBody>
          <a:bodyPr wrap="square">
            <a:spAutoFit/>
          </a:bodyPr>
          <a:lstStyle/>
          <a:p>
            <a:r>
              <a:rPr lang="en-US" sz="3200" dirty="0">
                <a:solidFill>
                  <a:srgbClr val="C00000"/>
                </a:solidFill>
                <a:latin typeface="Times New Roman" panose="02020603050405020304" pitchFamily="18" charset="0"/>
                <a:cs typeface="Times New Roman" panose="02020603050405020304" pitchFamily="18" charset="0"/>
              </a:rPr>
              <a:t>Solution using Gauss-Jordan Elimination Method</a:t>
            </a:r>
          </a:p>
        </p:txBody>
      </p:sp>
      <p:sp>
        <p:nvSpPr>
          <p:cNvPr id="6" name="TextBox 5">
            <a:extLst>
              <a:ext uri="{FF2B5EF4-FFF2-40B4-BE49-F238E27FC236}">
                <a16:creationId xmlns:a16="http://schemas.microsoft.com/office/drawing/2014/main" id="{C1C0DE3B-2B05-1F1E-54FC-289015A70035}"/>
              </a:ext>
            </a:extLst>
          </p:cNvPr>
          <p:cNvSpPr txBox="1"/>
          <p:nvPr/>
        </p:nvSpPr>
        <p:spPr>
          <a:xfrm>
            <a:off x="235635" y="891513"/>
            <a:ext cx="6854482" cy="430887"/>
          </a:xfrm>
          <a:prstGeom prst="rect">
            <a:avLst/>
          </a:prstGeom>
          <a:solidFill>
            <a:schemeClr val="accent5">
              <a:lumMod val="20000"/>
              <a:lumOff val="80000"/>
            </a:schemeClr>
          </a:solidFill>
          <a:ln w="28575">
            <a:solidFill>
              <a:srgbClr val="002060"/>
            </a:solidFill>
          </a:ln>
        </p:spPr>
        <p:txBody>
          <a:bodyPr wrap="square">
            <a:spAutoFit/>
          </a:bodyPr>
          <a:lstStyle/>
          <a:p>
            <a:r>
              <a:rPr lang="en-US" sz="2200" dirty="0">
                <a:solidFill>
                  <a:srgbClr val="0070C0"/>
                </a:solidFill>
                <a:latin typeface="Times New Roman" panose="02020603050405020304" pitchFamily="18" charset="0"/>
                <a:cs typeface="Times New Roman" panose="02020603050405020304" pitchFamily="18" charset="0"/>
              </a:rPr>
              <a:t>We represent the system as an </a:t>
            </a:r>
            <a:r>
              <a:rPr lang="en-US" sz="2200" b="1" dirty="0">
                <a:solidFill>
                  <a:srgbClr val="0070C0"/>
                </a:solidFill>
                <a:latin typeface="Times New Roman" panose="02020603050405020304" pitchFamily="18" charset="0"/>
                <a:cs typeface="Times New Roman" panose="02020603050405020304" pitchFamily="18" charset="0"/>
              </a:rPr>
              <a:t>augmented matrix</a:t>
            </a:r>
            <a:r>
              <a:rPr lang="en-US" sz="2200" dirty="0">
                <a:solidFill>
                  <a:srgbClr val="0070C0"/>
                </a:solidFill>
                <a:latin typeface="Times New Roman" panose="02020603050405020304" pitchFamily="18"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5C2E91D-FCF9-C1B8-7301-E467FE9E9A8F}"/>
                  </a:ext>
                </a:extLst>
              </p:cNvPr>
              <p:cNvSpPr txBox="1"/>
              <p:nvPr/>
            </p:nvSpPr>
            <p:spPr>
              <a:xfrm>
                <a:off x="426180" y="3237961"/>
                <a:ext cx="3046090" cy="12405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m>
                            <m:mPr>
                              <m:mcs>
                                <m:mc>
                                  <m:mcPr>
                                    <m:count m:val="4"/>
                                    <m:mcJc m:val="center"/>
                                  </m:mcPr>
                                </m:mc>
                              </m:mcs>
                              <m:ctrlPr>
                                <a:rPr lang="en-US" sz="2800" i="1" smtClean="0">
                                  <a:latin typeface="Cambria Math" panose="02040503050406030204" pitchFamily="18" charset="0"/>
                                </a:rPr>
                              </m:ctrlPr>
                            </m:mPr>
                            <m:mr>
                              <m:e>
                                <m:r>
                                  <m:rPr>
                                    <m:brk m:alnAt="7"/>
                                  </m:rPr>
                                  <a:rPr lang="en-GB" sz="2800" b="0" i="1" smtClean="0">
                                    <a:latin typeface="Cambria Math" panose="02040503050406030204" pitchFamily="18" charset="0"/>
                                  </a:rPr>
                                  <m:t>1</m:t>
                                </m:r>
                              </m:e>
                              <m:e>
                                <m:r>
                                  <a:rPr lang="en-GB" sz="2800" b="0" i="1" smtClean="0">
                                    <a:latin typeface="Cambria Math" panose="02040503050406030204" pitchFamily="18" charset="0"/>
                                  </a:rPr>
                                  <m:t>1</m:t>
                                </m:r>
                              </m:e>
                              <m:e>
                                <m:r>
                                  <a:rPr lang="en-GB" sz="2800" b="0" i="1" smtClean="0">
                                    <a:latin typeface="Cambria Math" panose="02040503050406030204" pitchFamily="18" charset="0"/>
                                  </a:rPr>
                                  <m:t>1</m:t>
                                </m:r>
                              </m:e>
                              <m:e>
                                <m:r>
                                  <a:rPr lang="en-GB" sz="2800" b="0" i="1" smtClean="0">
                                    <a:latin typeface="Cambria Math" panose="02040503050406030204" pitchFamily="18" charset="0"/>
                                  </a:rPr>
                                  <m:t>:</m:t>
                                </m:r>
                                <m:r>
                                  <a:rPr lang="en-GB" sz="2800" b="0" i="1" smtClean="0">
                                    <a:solidFill>
                                      <a:srgbClr val="FFC000"/>
                                    </a:solidFill>
                                    <a:latin typeface="Cambria Math" panose="02040503050406030204" pitchFamily="18" charset="0"/>
                                  </a:rPr>
                                  <m:t>50</m:t>
                                </m:r>
                              </m:e>
                            </m:mr>
                            <m:mr>
                              <m:e>
                                <m:r>
                                  <a:rPr lang="en-GB" sz="2800" b="0" i="1" smtClean="0">
                                    <a:latin typeface="Cambria Math" panose="02040503050406030204" pitchFamily="18" charset="0"/>
                                  </a:rPr>
                                  <m:t>0</m:t>
                                </m:r>
                              </m:e>
                              <m:e>
                                <m:r>
                                  <a:rPr lang="en-GB" sz="2800" b="0" i="1" smtClean="0">
                                    <a:latin typeface="Cambria Math" panose="02040503050406030204" pitchFamily="18" charset="0"/>
                                  </a:rPr>
                                  <m:t>0</m:t>
                                </m:r>
                              </m:e>
                              <m:e>
                                <m:r>
                                  <a:rPr lang="en-GB" sz="2800" b="0" i="1" smtClean="0">
                                    <a:latin typeface="Cambria Math" panose="02040503050406030204" pitchFamily="18" charset="0"/>
                                  </a:rPr>
                                  <m:t>−1</m:t>
                                </m:r>
                              </m:e>
                              <m:e>
                                <m:r>
                                  <a:rPr lang="en-GB" sz="2800" b="0" i="1" smtClean="0">
                                    <a:latin typeface="Cambria Math" panose="02040503050406030204" pitchFamily="18" charset="0"/>
                                  </a:rPr>
                                  <m:t>:</m:t>
                                </m:r>
                                <m:r>
                                  <a:rPr lang="en-GB" sz="2800" b="0" i="1" smtClean="0">
                                    <a:solidFill>
                                      <a:srgbClr val="FFC000"/>
                                    </a:solidFill>
                                    <a:latin typeface="Cambria Math" panose="02040503050406030204" pitchFamily="18" charset="0"/>
                                  </a:rPr>
                                  <m:t>10</m:t>
                                </m:r>
                              </m:e>
                            </m:mr>
                            <m:mr>
                              <m:e>
                                <m:r>
                                  <a:rPr lang="en-GB" sz="2800" b="0" i="1" smtClean="0">
                                    <a:latin typeface="Cambria Math" panose="02040503050406030204" pitchFamily="18" charset="0"/>
                                  </a:rPr>
                                  <m:t>0</m:t>
                                </m:r>
                              </m:e>
                              <m:e>
                                <m:r>
                                  <a:rPr lang="en-GB" sz="2800" b="0" i="1" smtClean="0">
                                    <a:latin typeface="Cambria Math" panose="02040503050406030204" pitchFamily="18" charset="0"/>
                                  </a:rPr>
                                  <m:t>1</m:t>
                                </m:r>
                              </m:e>
                              <m:e>
                                <m:r>
                                  <a:rPr lang="en-GB" sz="2800" b="0" i="1" smtClean="0">
                                    <a:latin typeface="Cambria Math" panose="02040503050406030204" pitchFamily="18" charset="0"/>
                                  </a:rPr>
                                  <m:t>1</m:t>
                                </m:r>
                              </m:e>
                              <m:e>
                                <m:r>
                                  <a:rPr lang="en-GB" sz="2800" b="0" i="1" smtClean="0">
                                    <a:latin typeface="Cambria Math" panose="02040503050406030204" pitchFamily="18" charset="0"/>
                                  </a:rPr>
                                  <m:t>:</m:t>
                                </m:r>
                                <m:r>
                                  <a:rPr lang="en-GB" sz="2800" b="0" i="1" smtClean="0">
                                    <a:solidFill>
                                      <a:srgbClr val="FFC000"/>
                                    </a:solidFill>
                                    <a:latin typeface="Cambria Math" panose="02040503050406030204" pitchFamily="18" charset="0"/>
                                  </a:rPr>
                                  <m:t>30</m:t>
                                </m:r>
                              </m:e>
                            </m:mr>
                          </m:m>
                        </m:e>
                      </m:d>
                    </m:oMath>
                  </m:oMathPara>
                </a14:m>
                <a:endParaRPr lang="en-US" sz="2800" dirty="0"/>
              </a:p>
            </p:txBody>
          </p:sp>
        </mc:Choice>
        <mc:Fallback xmlns="">
          <p:sp>
            <p:nvSpPr>
              <p:cNvPr id="7" name="TextBox 6">
                <a:extLst>
                  <a:ext uri="{FF2B5EF4-FFF2-40B4-BE49-F238E27FC236}">
                    <a16:creationId xmlns:a16="http://schemas.microsoft.com/office/drawing/2014/main" id="{65C2E91D-FCF9-C1B8-7301-E467FE9E9A8F}"/>
                  </a:ext>
                </a:extLst>
              </p:cNvPr>
              <p:cNvSpPr txBox="1">
                <a:spLocks noRot="1" noChangeAspect="1" noMove="1" noResize="1" noEditPoints="1" noAdjustHandles="1" noChangeArrowheads="1" noChangeShapeType="1" noTextEdit="1"/>
              </p:cNvSpPr>
              <p:nvPr/>
            </p:nvSpPr>
            <p:spPr>
              <a:xfrm>
                <a:off x="426180" y="3237961"/>
                <a:ext cx="3046090" cy="12405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5E69A51-E049-8C4E-B5F1-BAD8B5A2C9D2}"/>
                  </a:ext>
                </a:extLst>
              </p:cNvPr>
              <p:cNvSpPr txBox="1"/>
              <p:nvPr/>
            </p:nvSpPr>
            <p:spPr>
              <a:xfrm>
                <a:off x="434387" y="4908412"/>
                <a:ext cx="3046090" cy="12405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m>
                            <m:mPr>
                              <m:mcs>
                                <m:mc>
                                  <m:mcPr>
                                    <m:count m:val="4"/>
                                    <m:mcJc m:val="center"/>
                                  </m:mcPr>
                                </m:mc>
                              </m:mcs>
                              <m:ctrlPr>
                                <a:rPr lang="en-US" sz="2800" i="1" smtClean="0">
                                  <a:latin typeface="Cambria Math" panose="02040503050406030204" pitchFamily="18" charset="0"/>
                                </a:rPr>
                              </m:ctrlPr>
                            </m:mPr>
                            <m:mr>
                              <m:e>
                                <m:r>
                                  <m:rPr>
                                    <m:brk m:alnAt="7"/>
                                  </m:rPr>
                                  <a:rPr lang="en-GB" sz="2800" b="0" i="1" smtClean="0">
                                    <a:latin typeface="Cambria Math" panose="02040503050406030204" pitchFamily="18" charset="0"/>
                                  </a:rPr>
                                  <m:t>1</m:t>
                                </m:r>
                              </m:e>
                              <m:e>
                                <m:r>
                                  <a:rPr lang="en-GB" sz="2800" b="0" i="1" smtClean="0">
                                    <a:latin typeface="Cambria Math" panose="02040503050406030204" pitchFamily="18" charset="0"/>
                                  </a:rPr>
                                  <m:t>1</m:t>
                                </m:r>
                              </m:e>
                              <m:e>
                                <m:r>
                                  <a:rPr lang="en-GB" sz="2800" b="0" i="1" smtClean="0">
                                    <a:latin typeface="Cambria Math" panose="02040503050406030204" pitchFamily="18" charset="0"/>
                                  </a:rPr>
                                  <m:t>1</m:t>
                                </m:r>
                              </m:e>
                              <m:e>
                                <m:r>
                                  <a:rPr lang="en-GB" sz="2800" b="0" i="1" smtClean="0">
                                    <a:latin typeface="Cambria Math" panose="02040503050406030204" pitchFamily="18" charset="0"/>
                                  </a:rPr>
                                  <m:t>:</m:t>
                                </m:r>
                                <m:r>
                                  <a:rPr lang="en-GB" sz="2800" b="0" i="1" smtClean="0">
                                    <a:solidFill>
                                      <a:srgbClr val="FFC000"/>
                                    </a:solidFill>
                                    <a:latin typeface="Cambria Math" panose="02040503050406030204" pitchFamily="18" charset="0"/>
                                  </a:rPr>
                                  <m:t>50</m:t>
                                </m:r>
                              </m:e>
                            </m:mr>
                            <m:mr>
                              <m:e>
                                <m:r>
                                  <a:rPr lang="en-GB" sz="2800" b="0" i="1" smtClean="0">
                                    <a:latin typeface="Cambria Math" panose="02040503050406030204" pitchFamily="18" charset="0"/>
                                  </a:rPr>
                                  <m:t>0</m:t>
                                </m:r>
                              </m:e>
                              <m:e>
                                <m:r>
                                  <a:rPr lang="en-GB" sz="2800" b="0" i="1" smtClean="0">
                                    <a:latin typeface="Cambria Math" panose="02040503050406030204" pitchFamily="18" charset="0"/>
                                  </a:rPr>
                                  <m:t>1</m:t>
                                </m:r>
                              </m:e>
                              <m:e>
                                <m:r>
                                  <a:rPr lang="en-GB" sz="2800" b="0" i="1" smtClean="0">
                                    <a:latin typeface="Cambria Math" panose="02040503050406030204" pitchFamily="18" charset="0"/>
                                  </a:rPr>
                                  <m:t>1</m:t>
                                </m:r>
                              </m:e>
                              <m:e>
                                <m:r>
                                  <a:rPr lang="en-GB" sz="2800" b="0" i="1" smtClean="0">
                                    <a:latin typeface="Cambria Math" panose="02040503050406030204" pitchFamily="18" charset="0"/>
                                  </a:rPr>
                                  <m:t>:</m:t>
                                </m:r>
                                <m:r>
                                  <a:rPr lang="en-GB" sz="2800" b="0" i="1" smtClean="0">
                                    <a:solidFill>
                                      <a:srgbClr val="FFC000"/>
                                    </a:solidFill>
                                    <a:latin typeface="Cambria Math" panose="02040503050406030204" pitchFamily="18" charset="0"/>
                                  </a:rPr>
                                  <m:t>30</m:t>
                                </m:r>
                              </m:e>
                            </m:mr>
                            <m:mr>
                              <m:e>
                                <m:r>
                                  <a:rPr lang="en-GB" sz="2800" b="0" i="1" smtClean="0">
                                    <a:latin typeface="Cambria Math" panose="02040503050406030204" pitchFamily="18" charset="0"/>
                                  </a:rPr>
                                  <m:t>0</m:t>
                                </m:r>
                              </m:e>
                              <m:e>
                                <m:r>
                                  <a:rPr lang="en-GB" sz="2800" b="0" i="1" smtClean="0">
                                    <a:latin typeface="Cambria Math" panose="02040503050406030204" pitchFamily="18" charset="0"/>
                                  </a:rPr>
                                  <m:t>0</m:t>
                                </m:r>
                              </m:e>
                              <m:e>
                                <m:r>
                                  <a:rPr lang="en-GB" sz="2800" b="0" i="1" smtClean="0">
                                    <a:latin typeface="Cambria Math" panose="02040503050406030204" pitchFamily="18" charset="0"/>
                                  </a:rPr>
                                  <m:t>−1</m:t>
                                </m:r>
                              </m:e>
                              <m:e>
                                <m:r>
                                  <a:rPr lang="en-GB" sz="2800" b="0" i="1" smtClean="0">
                                    <a:latin typeface="Cambria Math" panose="02040503050406030204" pitchFamily="18" charset="0"/>
                                  </a:rPr>
                                  <m:t>:</m:t>
                                </m:r>
                                <m:r>
                                  <a:rPr lang="en-GB" sz="2800" b="0" i="1" smtClean="0">
                                    <a:solidFill>
                                      <a:srgbClr val="FFC000"/>
                                    </a:solidFill>
                                    <a:latin typeface="Cambria Math" panose="02040503050406030204" pitchFamily="18" charset="0"/>
                                  </a:rPr>
                                  <m:t>10</m:t>
                                </m:r>
                              </m:e>
                            </m:mr>
                          </m:m>
                        </m:e>
                      </m:d>
                    </m:oMath>
                  </m:oMathPara>
                </a14:m>
                <a:endParaRPr lang="en-US" sz="2800" dirty="0"/>
              </a:p>
            </p:txBody>
          </p:sp>
        </mc:Choice>
        <mc:Fallback xmlns="">
          <p:sp>
            <p:nvSpPr>
              <p:cNvPr id="8" name="TextBox 7">
                <a:extLst>
                  <a:ext uri="{FF2B5EF4-FFF2-40B4-BE49-F238E27FC236}">
                    <a16:creationId xmlns:a16="http://schemas.microsoft.com/office/drawing/2014/main" id="{05E69A51-E049-8C4E-B5F1-BAD8B5A2C9D2}"/>
                  </a:ext>
                </a:extLst>
              </p:cNvPr>
              <p:cNvSpPr txBox="1">
                <a:spLocks noRot="1" noChangeAspect="1" noMove="1" noResize="1" noEditPoints="1" noAdjustHandles="1" noChangeArrowheads="1" noChangeShapeType="1" noTextEdit="1"/>
              </p:cNvSpPr>
              <p:nvPr/>
            </p:nvSpPr>
            <p:spPr>
              <a:xfrm>
                <a:off x="434387" y="4908412"/>
                <a:ext cx="3046090" cy="12405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867B911-FEF4-EE9E-5826-B1B425814157}"/>
                  </a:ext>
                </a:extLst>
              </p:cNvPr>
              <p:cNvSpPr txBox="1"/>
              <p:nvPr/>
            </p:nvSpPr>
            <p:spPr>
              <a:xfrm>
                <a:off x="3561909" y="3499340"/>
                <a:ext cx="965649" cy="307777"/>
              </a:xfrm>
              <a:prstGeom prst="rect">
                <a:avLst/>
              </a:prstGeom>
            </p:spPr>
            <p:style>
              <a:lnRef idx="2">
                <a:schemeClr val="dk1"/>
              </a:lnRef>
              <a:fillRef idx="1">
                <a:schemeClr val="lt1"/>
              </a:fillRef>
              <a:effectRef idx="0">
                <a:schemeClr val="dk1"/>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PK" sz="2000" b="1" i="1" smtClean="0">
                              <a:latin typeface="Cambria Math" panose="02040503050406030204" pitchFamily="18" charset="0"/>
                            </a:rPr>
                          </m:ctrlPr>
                        </m:sSubPr>
                        <m:e>
                          <m:r>
                            <a:rPr lang="en-US" sz="2000" b="1" i="1" smtClean="0">
                              <a:latin typeface="Cambria Math" panose="02040503050406030204" pitchFamily="18" charset="0"/>
                            </a:rPr>
                            <m:t>𝑹</m:t>
                          </m:r>
                        </m:e>
                        <m:sub>
                          <m:r>
                            <a:rPr lang="en-US" sz="2000" b="1" i="1" smtClean="0">
                              <a:latin typeface="Cambria Math" panose="02040503050406030204" pitchFamily="18" charset="0"/>
                            </a:rPr>
                            <m:t>𝟐</m:t>
                          </m:r>
                        </m:sub>
                      </m:sSub>
                      <m:r>
                        <a:rPr lang="en-US" sz="2000" b="1" i="1" smtClean="0">
                          <a:latin typeface="Cambria Math" panose="02040503050406030204" pitchFamily="18" charset="0"/>
                        </a:rPr>
                        <m:t>−</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𝑹</m:t>
                          </m:r>
                        </m:e>
                        <m:sub>
                          <m:r>
                            <a:rPr lang="en-US" sz="2000" b="1" i="1" smtClean="0">
                              <a:latin typeface="Cambria Math" panose="02040503050406030204" pitchFamily="18" charset="0"/>
                            </a:rPr>
                            <m:t>𝟏</m:t>
                          </m:r>
                        </m:sub>
                      </m:sSub>
                    </m:oMath>
                  </m:oMathPara>
                </a14:m>
                <a:endParaRPr lang="en-PK" sz="2000" b="1" dirty="0"/>
              </a:p>
            </p:txBody>
          </p:sp>
        </mc:Choice>
        <mc:Fallback xmlns="">
          <p:sp>
            <p:nvSpPr>
              <p:cNvPr id="9" name="TextBox 8">
                <a:extLst>
                  <a:ext uri="{FF2B5EF4-FFF2-40B4-BE49-F238E27FC236}">
                    <a16:creationId xmlns:a16="http://schemas.microsoft.com/office/drawing/2014/main" id="{2867B911-FEF4-EE9E-5826-B1B425814157}"/>
                  </a:ext>
                </a:extLst>
              </p:cNvPr>
              <p:cNvSpPr txBox="1">
                <a:spLocks noRot="1" noChangeAspect="1" noMove="1" noResize="1" noEditPoints="1" noAdjustHandles="1" noChangeArrowheads="1" noChangeShapeType="1" noTextEdit="1"/>
              </p:cNvSpPr>
              <p:nvPr/>
            </p:nvSpPr>
            <p:spPr>
              <a:xfrm>
                <a:off x="3561909" y="3499340"/>
                <a:ext cx="965649" cy="307777"/>
              </a:xfrm>
              <a:prstGeom prst="rect">
                <a:avLst/>
              </a:prstGeom>
              <a:blipFill>
                <a:blip r:embed="rId5"/>
                <a:stretch>
                  <a:fillRect l="-4969" r="-1863" b="-132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6744BFB-972C-2650-9A56-CB74BF801BD9}"/>
                  </a:ext>
                </a:extLst>
              </p:cNvPr>
              <p:cNvSpPr txBox="1"/>
              <p:nvPr/>
            </p:nvSpPr>
            <p:spPr>
              <a:xfrm>
                <a:off x="3414623" y="5458315"/>
                <a:ext cx="1713021" cy="307777"/>
              </a:xfrm>
              <a:prstGeom prst="rect">
                <a:avLst/>
              </a:prstGeom>
            </p:spPr>
            <p:style>
              <a:lnRef idx="2">
                <a:schemeClr val="dk1"/>
              </a:lnRef>
              <a:fillRef idx="1">
                <a:schemeClr val="lt1"/>
              </a:fillRef>
              <a:effectRef idx="0">
                <a:schemeClr val="dk1"/>
              </a:effectRef>
              <a:fontRef idx="minor">
                <a:schemeClr val="dk1"/>
              </a:fontRef>
            </p:style>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PK" sz="2000" b="1" i="1" smtClean="0">
                              <a:latin typeface="Cambria Math" panose="02040503050406030204" pitchFamily="18" charset="0"/>
                            </a:rPr>
                          </m:ctrlPr>
                        </m:sSubPr>
                        <m:e>
                          <m:r>
                            <a:rPr lang="en-US" sz="2000" b="1" i="1" smtClean="0">
                              <a:latin typeface="Cambria Math" panose="02040503050406030204" pitchFamily="18" charset="0"/>
                            </a:rPr>
                            <m:t>𝑹</m:t>
                          </m:r>
                        </m:e>
                        <m:sub>
                          <m:r>
                            <a:rPr lang="en-GB" sz="2000" b="1" i="1" smtClean="0">
                              <a:latin typeface="Cambria Math" panose="02040503050406030204" pitchFamily="18" charset="0"/>
                            </a:rPr>
                            <m:t>𝟑</m:t>
                          </m:r>
                        </m:sub>
                      </m:sSub>
                      <m:r>
                        <a:rPr lang="en-GB" sz="2000" b="1" i="1" smtClean="0">
                          <a:latin typeface="Cambria Math" panose="02040503050406030204" pitchFamily="18" charset="0"/>
                          <a:ea typeface="Cambria Math" panose="02040503050406030204" pitchFamily="18" charset="0"/>
                        </a:rPr>
                        <m:t>⟷</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𝑹</m:t>
                          </m:r>
                        </m:e>
                        <m:sub>
                          <m:r>
                            <a:rPr lang="en-GB" sz="2000" b="1" i="1" smtClean="0">
                              <a:latin typeface="Cambria Math" panose="02040503050406030204" pitchFamily="18" charset="0"/>
                            </a:rPr>
                            <m:t>𝟐</m:t>
                          </m:r>
                        </m:sub>
                      </m:sSub>
                    </m:oMath>
                  </m:oMathPara>
                </a14:m>
                <a:endParaRPr lang="en-PK" sz="2000" b="1" dirty="0"/>
              </a:p>
            </p:txBody>
          </p:sp>
        </mc:Choice>
        <mc:Fallback xmlns="">
          <p:sp>
            <p:nvSpPr>
              <p:cNvPr id="12" name="TextBox 11">
                <a:extLst>
                  <a:ext uri="{FF2B5EF4-FFF2-40B4-BE49-F238E27FC236}">
                    <a16:creationId xmlns:a16="http://schemas.microsoft.com/office/drawing/2014/main" id="{56744BFB-972C-2650-9A56-CB74BF801BD9}"/>
                  </a:ext>
                </a:extLst>
              </p:cNvPr>
              <p:cNvSpPr txBox="1">
                <a:spLocks noRot="1" noChangeAspect="1" noMove="1" noResize="1" noEditPoints="1" noAdjustHandles="1" noChangeArrowheads="1" noChangeShapeType="1" noTextEdit="1"/>
              </p:cNvSpPr>
              <p:nvPr/>
            </p:nvSpPr>
            <p:spPr>
              <a:xfrm>
                <a:off x="3414623" y="5458315"/>
                <a:ext cx="1713021" cy="307777"/>
              </a:xfrm>
              <a:prstGeom prst="rect">
                <a:avLst/>
              </a:prstGeom>
              <a:blipFill>
                <a:blip r:embed="rId6"/>
                <a:stretch>
                  <a:fillRect b="-13208"/>
                </a:stretch>
              </a:blipFill>
            </p:spPr>
            <p:txBody>
              <a:bodyPr/>
              <a:lstStyle/>
              <a:p>
                <a:r>
                  <a:rPr lang="en-US">
                    <a:noFill/>
                  </a:rPr>
                  <a:t> </a:t>
                </a:r>
              </a:p>
            </p:txBody>
          </p:sp>
        </mc:Fallback>
      </mc:AlternateContent>
      <p:cxnSp>
        <p:nvCxnSpPr>
          <p:cNvPr id="13" name="Straight Connector 12">
            <a:extLst>
              <a:ext uri="{FF2B5EF4-FFF2-40B4-BE49-F238E27FC236}">
                <a16:creationId xmlns:a16="http://schemas.microsoft.com/office/drawing/2014/main" id="{C7D97D6F-28B2-C5CA-E923-CFE6F1FF4FDE}"/>
              </a:ext>
            </a:extLst>
          </p:cNvPr>
          <p:cNvCxnSpPr>
            <a:cxnSpLocks/>
          </p:cNvCxnSpPr>
          <p:nvPr/>
        </p:nvCxnSpPr>
        <p:spPr>
          <a:xfrm>
            <a:off x="5166532" y="1488408"/>
            <a:ext cx="0" cy="5053069"/>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9D3A6E5D-3900-5157-EC6D-AC10C627A7EB}"/>
                  </a:ext>
                </a:extLst>
              </p:cNvPr>
              <p:cNvSpPr txBox="1"/>
              <p:nvPr/>
            </p:nvSpPr>
            <p:spPr>
              <a:xfrm>
                <a:off x="5205421" y="1438276"/>
                <a:ext cx="4332474" cy="400110"/>
              </a:xfrm>
              <a:prstGeom prst="rect">
                <a:avLst/>
              </a:prstGeom>
              <a:noFill/>
            </p:spPr>
            <p:txBody>
              <a:bodyPr wrap="square">
                <a:spAutoFit/>
              </a:bodyPr>
              <a:lstStyle/>
              <a:p>
                <a:pPr>
                  <a:buNone/>
                </a:pPr>
                <a:r>
                  <a:rPr lang="en-US" sz="2000" dirty="0">
                    <a:solidFill>
                      <a:srgbClr val="002060"/>
                    </a:solidFill>
                    <a:latin typeface="Times New Roman" panose="02020603050405020304" pitchFamily="18" charset="0"/>
                    <a:cs typeface="Times New Roman" panose="02020603050405020304" pitchFamily="18" charset="0"/>
                  </a:rPr>
                  <a:t>Now, the system gives </a:t>
                </a:r>
                <a14:m>
                  <m:oMath xmlns:m="http://schemas.openxmlformats.org/officeDocument/2006/math">
                    <m:r>
                      <a:rPr lang="en-US" sz="2000" i="1" dirty="0">
                        <a:solidFill>
                          <a:srgbClr val="002060"/>
                        </a:solidFill>
                        <a:latin typeface="Cambria Math" panose="02040503050406030204" pitchFamily="18" charset="0"/>
                      </a:rPr>
                      <m:t> </m:t>
                    </m:r>
                    <m:r>
                      <a:rPr lang="en-US" sz="2000" i="1" dirty="0" smtClean="0">
                        <a:solidFill>
                          <a:srgbClr val="002060"/>
                        </a:solidFill>
                        <a:latin typeface="Cambria Math" panose="02040503050406030204" pitchFamily="18" charset="0"/>
                      </a:rPr>
                      <m:t>𝑧</m:t>
                    </m:r>
                    <m:r>
                      <a:rPr lang="en-US" sz="2000" i="1" dirty="0" smtClean="0">
                        <a:solidFill>
                          <a:srgbClr val="002060"/>
                        </a:solidFill>
                        <a:latin typeface="Cambria Math" panose="02040503050406030204" pitchFamily="18" charset="0"/>
                      </a:rPr>
                      <m:t>=−10</m:t>
                    </m:r>
                  </m:oMath>
                </a14:m>
                <a:endParaRPr lang="en-US" sz="2000"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26" name="TextBox 25">
                <a:extLst>
                  <a:ext uri="{FF2B5EF4-FFF2-40B4-BE49-F238E27FC236}">
                    <a16:creationId xmlns:a16="http://schemas.microsoft.com/office/drawing/2014/main" id="{9D3A6E5D-3900-5157-EC6D-AC10C627A7EB}"/>
                  </a:ext>
                </a:extLst>
              </p:cNvPr>
              <p:cNvSpPr txBox="1">
                <a:spLocks noRot="1" noChangeAspect="1" noMove="1" noResize="1" noEditPoints="1" noAdjustHandles="1" noChangeArrowheads="1" noChangeShapeType="1" noTextEdit="1"/>
              </p:cNvSpPr>
              <p:nvPr/>
            </p:nvSpPr>
            <p:spPr>
              <a:xfrm>
                <a:off x="5205421" y="1438276"/>
                <a:ext cx="4332474" cy="400110"/>
              </a:xfrm>
              <a:prstGeom prst="rect">
                <a:avLst/>
              </a:prstGeom>
              <a:blipFill>
                <a:blip r:embed="rId7"/>
                <a:stretch>
                  <a:fillRect l="-1547" t="-9091" b="-257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D265A5D8-AF46-B09F-9B51-4680B2227196}"/>
                  </a:ext>
                </a:extLst>
              </p:cNvPr>
              <p:cNvSpPr txBox="1"/>
              <p:nvPr/>
            </p:nvSpPr>
            <p:spPr>
              <a:xfrm>
                <a:off x="5230695" y="1860668"/>
                <a:ext cx="6914863" cy="1631216"/>
              </a:xfrm>
              <a:prstGeom prst="rect">
                <a:avLst/>
              </a:prstGeom>
              <a:noFill/>
            </p:spPr>
            <p:txBody>
              <a:bodyPr wrap="square">
                <a:spAutoFit/>
              </a:bodyPr>
              <a:lstStyle/>
              <a:p>
                <a:pPr>
                  <a:buNone/>
                </a:pPr>
                <a:r>
                  <a:rPr lang="en-US" sz="2000" dirty="0">
                    <a:solidFill>
                      <a:srgbClr val="002060"/>
                    </a:solidFill>
                    <a:latin typeface="Times New Roman" panose="02020603050405020304" pitchFamily="18" charset="0"/>
                    <a:cs typeface="Times New Roman" panose="02020603050405020304" pitchFamily="18" charset="0"/>
                  </a:rPr>
                  <a:t>However, in the context of drone trips, </a:t>
                </a:r>
                <a:r>
                  <a:rPr lang="en-US" sz="2000" b="1" dirty="0">
                    <a:solidFill>
                      <a:srgbClr val="002060"/>
                    </a:solidFill>
                    <a:latin typeface="Times New Roman" panose="02020603050405020304" pitchFamily="18" charset="0"/>
                    <a:cs typeface="Times New Roman" panose="02020603050405020304" pitchFamily="18" charset="0"/>
                  </a:rPr>
                  <a:t>negative values don’t make sense</a:t>
                </a:r>
                <a:r>
                  <a:rPr lang="en-US" sz="2000" dirty="0">
                    <a:solidFill>
                      <a:srgbClr val="002060"/>
                    </a:solidFill>
                    <a:latin typeface="Times New Roman" panose="02020603050405020304" pitchFamily="18" charset="0"/>
                    <a:cs typeface="Times New Roman" panose="02020603050405020304" pitchFamily="18" charset="0"/>
                  </a:rPr>
                  <a:t> because </a:t>
                </a:r>
                <a14:m>
                  <m:oMath xmlns:m="http://schemas.openxmlformats.org/officeDocument/2006/math">
                    <m:r>
                      <a:rPr lang="en-US" sz="2000" i="1" dirty="0" smtClean="0">
                        <a:solidFill>
                          <a:srgbClr val="002060"/>
                        </a:solidFill>
                        <a:latin typeface="Cambria Math" panose="02040503050406030204" pitchFamily="18" charset="0"/>
                      </a:rPr>
                      <m:t>𝑧</m:t>
                    </m:r>
                  </m:oMath>
                </a14:m>
                <a:r>
                  <a:rPr lang="en-US" sz="2000" dirty="0">
                    <a:solidFill>
                      <a:srgbClr val="002060"/>
                    </a:solidFill>
                    <a:latin typeface="Times New Roman" panose="02020603050405020304" pitchFamily="18" charset="0"/>
                    <a:cs typeface="Times New Roman" panose="02020603050405020304" pitchFamily="18" charset="0"/>
                  </a:rPr>
                  <a:t> represents the number of trips by Drone 3. You can’t have </a:t>
                </a:r>
                <a:r>
                  <a:rPr lang="en-US" sz="2000" b="1" dirty="0">
                    <a:solidFill>
                      <a:srgbClr val="002060"/>
                    </a:solidFill>
                    <a:latin typeface="Times New Roman" panose="02020603050405020304" pitchFamily="18" charset="0"/>
                    <a:cs typeface="Times New Roman" panose="02020603050405020304" pitchFamily="18" charset="0"/>
                  </a:rPr>
                  <a:t>-10 trips</a:t>
                </a:r>
                <a:r>
                  <a:rPr lang="en-US" sz="2000" dirty="0">
                    <a:solidFill>
                      <a:srgbClr val="002060"/>
                    </a:solidFill>
                    <a:latin typeface="Times New Roman" panose="02020603050405020304" pitchFamily="18" charset="0"/>
                    <a:cs typeface="Times New Roman" panose="02020603050405020304" pitchFamily="18" charset="0"/>
                  </a:rPr>
                  <a:t>!</a:t>
                </a:r>
              </a:p>
              <a:p>
                <a:r>
                  <a:rPr lang="en-US" sz="2000" dirty="0">
                    <a:solidFill>
                      <a:srgbClr val="002060"/>
                    </a:solidFill>
                    <a:latin typeface="Times New Roman" panose="02020603050405020304" pitchFamily="18" charset="0"/>
                    <a:cs typeface="Times New Roman" panose="02020603050405020304" pitchFamily="18" charset="0"/>
                  </a:rPr>
                  <a:t>This is a clear </a:t>
                </a:r>
                <a:r>
                  <a:rPr lang="en-US" sz="2000" b="1" dirty="0">
                    <a:solidFill>
                      <a:srgbClr val="002060"/>
                    </a:solidFill>
                    <a:latin typeface="Times New Roman" panose="02020603050405020304" pitchFamily="18" charset="0"/>
                    <a:cs typeface="Times New Roman" panose="02020603050405020304" pitchFamily="18" charset="0"/>
                  </a:rPr>
                  <a:t>real-world inconsistency</a:t>
                </a:r>
                <a:r>
                  <a:rPr lang="en-US" sz="2000" dirty="0">
                    <a:solidFill>
                      <a:srgbClr val="002060"/>
                    </a:solidFill>
                    <a:latin typeface="Times New Roman" panose="02020603050405020304" pitchFamily="18" charset="0"/>
                    <a:cs typeface="Times New Roman" panose="02020603050405020304" pitchFamily="18" charset="0"/>
                  </a:rPr>
                  <a:t>. The system of equations has </a:t>
                </a:r>
                <a:r>
                  <a:rPr lang="en-US" sz="2000" b="1" dirty="0">
                    <a:solidFill>
                      <a:srgbClr val="002060"/>
                    </a:solidFill>
                    <a:latin typeface="Times New Roman" panose="02020603050405020304" pitchFamily="18" charset="0"/>
                    <a:cs typeface="Times New Roman" panose="02020603050405020304" pitchFamily="18" charset="0"/>
                  </a:rPr>
                  <a:t>no solution</a:t>
                </a:r>
                <a:r>
                  <a:rPr lang="en-US" sz="2000" dirty="0">
                    <a:solidFill>
                      <a:srgbClr val="002060"/>
                    </a:solidFill>
                    <a:latin typeface="Times New Roman" panose="02020603050405020304" pitchFamily="18" charset="0"/>
                    <a:cs typeface="Times New Roman" panose="02020603050405020304" pitchFamily="18" charset="0"/>
                  </a:rPr>
                  <a:t>, which means the constraints are contradictory.</a:t>
                </a:r>
              </a:p>
            </p:txBody>
          </p:sp>
        </mc:Choice>
        <mc:Fallback xmlns="">
          <p:sp>
            <p:nvSpPr>
              <p:cNvPr id="28" name="TextBox 27">
                <a:extLst>
                  <a:ext uri="{FF2B5EF4-FFF2-40B4-BE49-F238E27FC236}">
                    <a16:creationId xmlns:a16="http://schemas.microsoft.com/office/drawing/2014/main" id="{D265A5D8-AF46-B09F-9B51-4680B2227196}"/>
                  </a:ext>
                </a:extLst>
              </p:cNvPr>
              <p:cNvSpPr txBox="1">
                <a:spLocks noRot="1" noChangeAspect="1" noMove="1" noResize="1" noEditPoints="1" noAdjustHandles="1" noChangeArrowheads="1" noChangeShapeType="1" noTextEdit="1"/>
              </p:cNvSpPr>
              <p:nvPr/>
            </p:nvSpPr>
            <p:spPr>
              <a:xfrm>
                <a:off x="5230695" y="1860668"/>
                <a:ext cx="6914863" cy="1631216"/>
              </a:xfrm>
              <a:prstGeom prst="rect">
                <a:avLst/>
              </a:prstGeom>
              <a:blipFill>
                <a:blip r:embed="rId8"/>
                <a:stretch>
                  <a:fillRect l="-882" t="-1866" r="-1764" b="-5597"/>
                </a:stretch>
              </a:blipFill>
            </p:spPr>
            <p:txBody>
              <a:bodyPr/>
              <a:lstStyle/>
              <a:p>
                <a:r>
                  <a:rPr lang="en-US">
                    <a:noFill/>
                  </a:rPr>
                  <a:t> </a:t>
                </a:r>
              </a:p>
            </p:txBody>
          </p:sp>
        </mc:Fallback>
      </mc:AlternateContent>
      <p:sp>
        <p:nvSpPr>
          <p:cNvPr id="30" name="TextBox 29">
            <a:extLst>
              <a:ext uri="{FF2B5EF4-FFF2-40B4-BE49-F238E27FC236}">
                <a16:creationId xmlns:a16="http://schemas.microsoft.com/office/drawing/2014/main" id="{CB56D0A0-B454-A639-4C83-2EFDD4E055C9}"/>
              </a:ext>
            </a:extLst>
          </p:cNvPr>
          <p:cNvSpPr txBox="1"/>
          <p:nvPr/>
        </p:nvSpPr>
        <p:spPr>
          <a:xfrm>
            <a:off x="5285343" y="3613613"/>
            <a:ext cx="6860209" cy="2800767"/>
          </a:xfrm>
          <a:prstGeom prst="rect">
            <a:avLst/>
          </a:prstGeom>
          <a:noFill/>
        </p:spPr>
        <p:txBody>
          <a:bodyPr wrap="square">
            <a:spAutoFit/>
          </a:bodyPr>
          <a:lstStyle/>
          <a:p>
            <a:pPr algn="just">
              <a:buNone/>
            </a:pPr>
            <a:r>
              <a:rPr lang="en-US" sz="2200" dirty="0">
                <a:solidFill>
                  <a:schemeClr val="accent2">
                    <a:lumMod val="50000"/>
                  </a:schemeClr>
                </a:solidFill>
                <a:latin typeface="Times New Roman" panose="02020603050405020304" pitchFamily="18" charset="0"/>
                <a:cs typeface="Times New Roman" panose="02020603050405020304" pitchFamily="18" charset="0"/>
              </a:rPr>
              <a:t>In practical terms, this inconsistency could indicate:</a:t>
            </a:r>
          </a:p>
          <a:p>
            <a:pPr algn="just">
              <a:buFont typeface="+mj-lt"/>
              <a:buAutoNum type="arabicPeriod"/>
            </a:pPr>
            <a:r>
              <a:rPr lang="en-US" sz="2200" b="1" dirty="0">
                <a:solidFill>
                  <a:schemeClr val="accent2">
                    <a:lumMod val="50000"/>
                  </a:schemeClr>
                </a:solidFill>
                <a:latin typeface="Times New Roman" panose="02020603050405020304" pitchFamily="18" charset="0"/>
                <a:cs typeface="Times New Roman" panose="02020603050405020304" pitchFamily="18" charset="0"/>
              </a:rPr>
              <a:t>Conflicting Operational Constraints:</a:t>
            </a:r>
            <a:r>
              <a:rPr lang="en-US" sz="2200" dirty="0">
                <a:solidFill>
                  <a:schemeClr val="accent2">
                    <a:lumMod val="50000"/>
                  </a:schemeClr>
                </a:solidFill>
                <a:latin typeface="Times New Roman" panose="02020603050405020304" pitchFamily="18" charset="0"/>
                <a:cs typeface="Times New Roman" panose="02020603050405020304" pitchFamily="18" charset="0"/>
              </a:rPr>
              <a:t> The company may have set impossible rules, like assigning more trips than the total capacity.</a:t>
            </a:r>
          </a:p>
          <a:p>
            <a:pPr algn="just">
              <a:buFont typeface="+mj-lt"/>
              <a:buAutoNum type="arabicPeriod"/>
            </a:pPr>
            <a:r>
              <a:rPr lang="en-US" sz="2200" b="1" dirty="0">
                <a:solidFill>
                  <a:schemeClr val="accent2">
                    <a:lumMod val="50000"/>
                  </a:schemeClr>
                </a:solidFill>
                <a:latin typeface="Times New Roman" panose="02020603050405020304" pitchFamily="18" charset="0"/>
                <a:cs typeface="Times New Roman" panose="02020603050405020304" pitchFamily="18" charset="0"/>
              </a:rPr>
              <a:t>Resource Allocation Error:</a:t>
            </a:r>
            <a:r>
              <a:rPr lang="en-US" sz="2200" dirty="0">
                <a:solidFill>
                  <a:schemeClr val="accent2">
                    <a:lumMod val="50000"/>
                  </a:schemeClr>
                </a:solidFill>
                <a:latin typeface="Times New Roman" panose="02020603050405020304" pitchFamily="18" charset="0"/>
                <a:cs typeface="Times New Roman" panose="02020603050405020304" pitchFamily="18" charset="0"/>
              </a:rPr>
              <a:t> Trying to distribute trips in a way that exceeds drone capabilities.</a:t>
            </a:r>
          </a:p>
          <a:p>
            <a:pPr algn="just">
              <a:buFont typeface="+mj-lt"/>
              <a:buAutoNum type="arabicPeriod"/>
            </a:pPr>
            <a:r>
              <a:rPr lang="en-US" sz="2200" b="1" dirty="0">
                <a:solidFill>
                  <a:schemeClr val="accent2">
                    <a:lumMod val="50000"/>
                  </a:schemeClr>
                </a:solidFill>
                <a:latin typeface="Times New Roman" panose="02020603050405020304" pitchFamily="18" charset="0"/>
                <a:cs typeface="Times New Roman" panose="02020603050405020304" pitchFamily="18" charset="0"/>
              </a:rPr>
              <a:t>Error in Planning:</a:t>
            </a:r>
            <a:r>
              <a:rPr lang="en-US" sz="2200" dirty="0">
                <a:solidFill>
                  <a:schemeClr val="accent2">
                    <a:lumMod val="50000"/>
                  </a:schemeClr>
                </a:solidFill>
                <a:latin typeface="Times New Roman" panose="02020603050405020304" pitchFamily="18" charset="0"/>
                <a:cs typeface="Times New Roman" panose="02020603050405020304" pitchFamily="18" charset="0"/>
              </a:rPr>
              <a:t> The constraints don’t align with the reality of the system, and adjustments are needed.</a:t>
            </a:r>
          </a:p>
        </p:txBody>
      </p:sp>
    </p:spTree>
    <p:extLst>
      <p:ext uri="{BB962C8B-B14F-4D97-AF65-F5344CB8AC3E}">
        <p14:creationId xmlns:p14="http://schemas.microsoft.com/office/powerpoint/2010/main" val="3916105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anim calcmode="lin" valueType="num">
                                      <p:cBhvr>
                                        <p:cTn id="14" dur="1000" fill="hold"/>
                                        <p:tgtEl>
                                          <p:spTgt spid="4"/>
                                        </p:tgtEl>
                                        <p:attrNameLst>
                                          <p:attrName>ppt_x</p:attrName>
                                        </p:attrNameLst>
                                      </p:cBhvr>
                                      <p:tavLst>
                                        <p:tav tm="0">
                                          <p:val>
                                            <p:strVal val="#ppt_x"/>
                                          </p:val>
                                        </p:tav>
                                        <p:tav tm="100000">
                                          <p:val>
                                            <p:strVal val="#ppt_x"/>
                                          </p:val>
                                        </p:tav>
                                      </p:tavLst>
                                    </p:anim>
                                    <p:anim calcmode="lin" valueType="num">
                                      <p:cBhvr>
                                        <p:cTn id="1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 calcmode="lin" valueType="num">
                                      <p:cBhvr additive="base">
                                        <p:cTn id="20" dur="500" fill="hold"/>
                                        <p:tgtEl>
                                          <p:spTgt spid="9"/>
                                        </p:tgtEl>
                                        <p:attrNameLst>
                                          <p:attrName>ppt_x</p:attrName>
                                        </p:attrNameLst>
                                      </p:cBhvr>
                                      <p:tavLst>
                                        <p:tav tm="0">
                                          <p:val>
                                            <p:strVal val="#ppt_x"/>
                                          </p:val>
                                        </p:tav>
                                        <p:tav tm="100000">
                                          <p:val>
                                            <p:strVal val="#ppt_x"/>
                                          </p:val>
                                        </p:tav>
                                      </p:tavLst>
                                    </p:anim>
                                    <p:anim calcmode="lin" valueType="num">
                                      <p:cBhvr additive="base">
                                        <p:cTn id="21"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1000"/>
                                        <p:tgtEl>
                                          <p:spTgt spid="7"/>
                                        </p:tgtEl>
                                      </p:cBhvr>
                                    </p:animEffect>
                                    <p:anim calcmode="lin" valueType="num">
                                      <p:cBhvr>
                                        <p:cTn id="27" dur="1000" fill="hold"/>
                                        <p:tgtEl>
                                          <p:spTgt spid="7"/>
                                        </p:tgtEl>
                                        <p:attrNameLst>
                                          <p:attrName>ppt_x</p:attrName>
                                        </p:attrNameLst>
                                      </p:cBhvr>
                                      <p:tavLst>
                                        <p:tav tm="0">
                                          <p:val>
                                            <p:strVal val="#ppt_x"/>
                                          </p:val>
                                        </p:tav>
                                        <p:tav tm="100000">
                                          <p:val>
                                            <p:strVal val="#ppt_x"/>
                                          </p:val>
                                        </p:tav>
                                      </p:tavLst>
                                    </p:anim>
                                    <p:anim calcmode="lin" valueType="num">
                                      <p:cBhvr>
                                        <p:cTn id="28"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00" fill="hold"/>
                                        <p:tgtEl>
                                          <p:spTgt spid="12"/>
                                        </p:tgtEl>
                                        <p:attrNameLst>
                                          <p:attrName>ppt_x</p:attrName>
                                        </p:attrNameLst>
                                      </p:cBhvr>
                                      <p:tavLst>
                                        <p:tav tm="0">
                                          <p:val>
                                            <p:strVal val="#ppt_x"/>
                                          </p:val>
                                        </p:tav>
                                        <p:tav tm="100000">
                                          <p:val>
                                            <p:strVal val="#ppt_x"/>
                                          </p:val>
                                        </p:tav>
                                      </p:tavLst>
                                    </p:anim>
                                    <p:anim calcmode="lin" valueType="num">
                                      <p:cBhvr additive="base">
                                        <p:cTn id="3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1000"/>
                                        <p:tgtEl>
                                          <p:spTgt spid="8"/>
                                        </p:tgtEl>
                                      </p:cBhvr>
                                    </p:animEffect>
                                    <p:anim calcmode="lin" valueType="num">
                                      <p:cBhvr>
                                        <p:cTn id="40" dur="1000" fill="hold"/>
                                        <p:tgtEl>
                                          <p:spTgt spid="8"/>
                                        </p:tgtEl>
                                        <p:attrNameLst>
                                          <p:attrName>ppt_x</p:attrName>
                                        </p:attrNameLst>
                                      </p:cBhvr>
                                      <p:tavLst>
                                        <p:tav tm="0">
                                          <p:val>
                                            <p:strVal val="#ppt_x"/>
                                          </p:val>
                                        </p:tav>
                                        <p:tav tm="100000">
                                          <p:val>
                                            <p:strVal val="#ppt_x"/>
                                          </p:val>
                                        </p:tav>
                                      </p:tavLst>
                                    </p:anim>
                                    <p:anim calcmode="lin" valueType="num">
                                      <p:cBhvr>
                                        <p:cTn id="4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wipe(up)">
                                      <p:cBhvr>
                                        <p:cTn id="46" dur="500"/>
                                        <p:tgtEl>
                                          <p:spTgt spid="13"/>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26"/>
                                        </p:tgtEl>
                                        <p:attrNameLst>
                                          <p:attrName>style.visibility</p:attrName>
                                        </p:attrNameLst>
                                      </p:cBhvr>
                                      <p:to>
                                        <p:strVal val="visible"/>
                                      </p:to>
                                    </p:set>
                                    <p:anim calcmode="lin" valueType="num">
                                      <p:cBhvr additive="base">
                                        <p:cTn id="51" dur="500" fill="hold"/>
                                        <p:tgtEl>
                                          <p:spTgt spid="26"/>
                                        </p:tgtEl>
                                        <p:attrNameLst>
                                          <p:attrName>ppt_x</p:attrName>
                                        </p:attrNameLst>
                                      </p:cBhvr>
                                      <p:tavLst>
                                        <p:tav tm="0">
                                          <p:val>
                                            <p:strVal val="#ppt_x"/>
                                          </p:val>
                                        </p:tav>
                                        <p:tav tm="100000">
                                          <p:val>
                                            <p:strVal val="#ppt_x"/>
                                          </p:val>
                                        </p:tav>
                                      </p:tavLst>
                                    </p:anim>
                                    <p:anim calcmode="lin" valueType="num">
                                      <p:cBhvr additive="base">
                                        <p:cTn id="52"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28"/>
                                        </p:tgtEl>
                                        <p:attrNameLst>
                                          <p:attrName>style.visibility</p:attrName>
                                        </p:attrNameLst>
                                      </p:cBhvr>
                                      <p:to>
                                        <p:strVal val="visible"/>
                                      </p:to>
                                    </p:set>
                                    <p:anim calcmode="lin" valueType="num">
                                      <p:cBhvr additive="base">
                                        <p:cTn id="57" dur="500" fill="hold"/>
                                        <p:tgtEl>
                                          <p:spTgt spid="28"/>
                                        </p:tgtEl>
                                        <p:attrNameLst>
                                          <p:attrName>ppt_x</p:attrName>
                                        </p:attrNameLst>
                                      </p:cBhvr>
                                      <p:tavLst>
                                        <p:tav tm="0">
                                          <p:val>
                                            <p:strVal val="#ppt_x"/>
                                          </p:val>
                                        </p:tav>
                                        <p:tav tm="100000">
                                          <p:val>
                                            <p:strVal val="#ppt_x"/>
                                          </p:val>
                                        </p:tav>
                                      </p:tavLst>
                                    </p:anim>
                                    <p:anim calcmode="lin" valueType="num">
                                      <p:cBhvr additive="base">
                                        <p:cTn id="58"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nodeType="clickEffect">
                                  <p:stCondLst>
                                    <p:cond delay="0"/>
                                  </p:stCondLst>
                                  <p:childTnLst>
                                    <p:set>
                                      <p:cBhvr>
                                        <p:cTn id="62" dur="1" fill="hold">
                                          <p:stCondLst>
                                            <p:cond delay="0"/>
                                          </p:stCondLst>
                                        </p:cTn>
                                        <p:tgtEl>
                                          <p:spTgt spid="30">
                                            <p:txEl>
                                              <p:pRg st="0" end="0"/>
                                            </p:txEl>
                                          </p:spTgt>
                                        </p:tgtEl>
                                        <p:attrNameLst>
                                          <p:attrName>style.visibility</p:attrName>
                                        </p:attrNameLst>
                                      </p:cBhvr>
                                      <p:to>
                                        <p:strVal val="visible"/>
                                      </p:to>
                                    </p:set>
                                    <p:animEffect transition="in" filter="wipe(down)">
                                      <p:cBhvr>
                                        <p:cTn id="63" dur="500"/>
                                        <p:tgtEl>
                                          <p:spTgt spid="30">
                                            <p:txEl>
                                              <p:pRg st="0" end="0"/>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nodeType="clickEffect">
                                  <p:stCondLst>
                                    <p:cond delay="0"/>
                                  </p:stCondLst>
                                  <p:childTnLst>
                                    <p:set>
                                      <p:cBhvr>
                                        <p:cTn id="67" dur="1" fill="hold">
                                          <p:stCondLst>
                                            <p:cond delay="0"/>
                                          </p:stCondLst>
                                        </p:cTn>
                                        <p:tgtEl>
                                          <p:spTgt spid="30">
                                            <p:txEl>
                                              <p:pRg st="1" end="1"/>
                                            </p:txEl>
                                          </p:spTgt>
                                        </p:tgtEl>
                                        <p:attrNameLst>
                                          <p:attrName>style.visibility</p:attrName>
                                        </p:attrNameLst>
                                      </p:cBhvr>
                                      <p:to>
                                        <p:strVal val="visible"/>
                                      </p:to>
                                    </p:set>
                                    <p:animEffect transition="in" filter="fade">
                                      <p:cBhvr>
                                        <p:cTn id="68" dur="1000"/>
                                        <p:tgtEl>
                                          <p:spTgt spid="30">
                                            <p:txEl>
                                              <p:pRg st="1" end="1"/>
                                            </p:txEl>
                                          </p:spTgt>
                                        </p:tgtEl>
                                      </p:cBhvr>
                                    </p:animEffect>
                                    <p:anim calcmode="lin" valueType="num">
                                      <p:cBhvr>
                                        <p:cTn id="69" dur="1000" fill="hold"/>
                                        <p:tgtEl>
                                          <p:spTgt spid="30">
                                            <p:txEl>
                                              <p:pRg st="1" end="1"/>
                                            </p:txEl>
                                          </p:spTgt>
                                        </p:tgtEl>
                                        <p:attrNameLst>
                                          <p:attrName>ppt_x</p:attrName>
                                        </p:attrNameLst>
                                      </p:cBhvr>
                                      <p:tavLst>
                                        <p:tav tm="0">
                                          <p:val>
                                            <p:strVal val="#ppt_x"/>
                                          </p:val>
                                        </p:tav>
                                        <p:tav tm="100000">
                                          <p:val>
                                            <p:strVal val="#ppt_x"/>
                                          </p:val>
                                        </p:tav>
                                      </p:tavLst>
                                    </p:anim>
                                    <p:anim calcmode="lin" valueType="num">
                                      <p:cBhvr>
                                        <p:cTn id="70" dur="1000" fill="hold"/>
                                        <p:tgtEl>
                                          <p:spTgt spid="3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nodeType="clickEffect">
                                  <p:stCondLst>
                                    <p:cond delay="0"/>
                                  </p:stCondLst>
                                  <p:childTnLst>
                                    <p:set>
                                      <p:cBhvr>
                                        <p:cTn id="74" dur="1" fill="hold">
                                          <p:stCondLst>
                                            <p:cond delay="0"/>
                                          </p:stCondLst>
                                        </p:cTn>
                                        <p:tgtEl>
                                          <p:spTgt spid="30">
                                            <p:txEl>
                                              <p:pRg st="2" end="2"/>
                                            </p:txEl>
                                          </p:spTgt>
                                        </p:tgtEl>
                                        <p:attrNameLst>
                                          <p:attrName>style.visibility</p:attrName>
                                        </p:attrNameLst>
                                      </p:cBhvr>
                                      <p:to>
                                        <p:strVal val="visible"/>
                                      </p:to>
                                    </p:set>
                                    <p:animEffect transition="in" filter="fade">
                                      <p:cBhvr>
                                        <p:cTn id="75" dur="1000"/>
                                        <p:tgtEl>
                                          <p:spTgt spid="30">
                                            <p:txEl>
                                              <p:pRg st="2" end="2"/>
                                            </p:txEl>
                                          </p:spTgt>
                                        </p:tgtEl>
                                      </p:cBhvr>
                                    </p:animEffect>
                                    <p:anim calcmode="lin" valueType="num">
                                      <p:cBhvr>
                                        <p:cTn id="76" dur="1000" fill="hold"/>
                                        <p:tgtEl>
                                          <p:spTgt spid="30">
                                            <p:txEl>
                                              <p:pRg st="2" end="2"/>
                                            </p:txEl>
                                          </p:spTgt>
                                        </p:tgtEl>
                                        <p:attrNameLst>
                                          <p:attrName>ppt_x</p:attrName>
                                        </p:attrNameLst>
                                      </p:cBhvr>
                                      <p:tavLst>
                                        <p:tav tm="0">
                                          <p:val>
                                            <p:strVal val="#ppt_x"/>
                                          </p:val>
                                        </p:tav>
                                        <p:tav tm="100000">
                                          <p:val>
                                            <p:strVal val="#ppt_x"/>
                                          </p:val>
                                        </p:tav>
                                      </p:tavLst>
                                    </p:anim>
                                    <p:anim calcmode="lin" valueType="num">
                                      <p:cBhvr>
                                        <p:cTn id="77" dur="1000" fill="hold"/>
                                        <p:tgtEl>
                                          <p:spTgt spid="3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42" presetClass="entr" presetSubtype="0" fill="hold" nodeType="clickEffect">
                                  <p:stCondLst>
                                    <p:cond delay="0"/>
                                  </p:stCondLst>
                                  <p:childTnLst>
                                    <p:set>
                                      <p:cBhvr>
                                        <p:cTn id="81" dur="1" fill="hold">
                                          <p:stCondLst>
                                            <p:cond delay="0"/>
                                          </p:stCondLst>
                                        </p:cTn>
                                        <p:tgtEl>
                                          <p:spTgt spid="30">
                                            <p:txEl>
                                              <p:pRg st="3" end="3"/>
                                            </p:txEl>
                                          </p:spTgt>
                                        </p:tgtEl>
                                        <p:attrNameLst>
                                          <p:attrName>style.visibility</p:attrName>
                                        </p:attrNameLst>
                                      </p:cBhvr>
                                      <p:to>
                                        <p:strVal val="visible"/>
                                      </p:to>
                                    </p:set>
                                    <p:animEffect transition="in" filter="fade">
                                      <p:cBhvr>
                                        <p:cTn id="82" dur="1000"/>
                                        <p:tgtEl>
                                          <p:spTgt spid="30">
                                            <p:txEl>
                                              <p:pRg st="3" end="3"/>
                                            </p:txEl>
                                          </p:spTgt>
                                        </p:tgtEl>
                                      </p:cBhvr>
                                    </p:animEffect>
                                    <p:anim calcmode="lin" valueType="num">
                                      <p:cBhvr>
                                        <p:cTn id="83" dur="1000" fill="hold"/>
                                        <p:tgtEl>
                                          <p:spTgt spid="30">
                                            <p:txEl>
                                              <p:pRg st="3" end="3"/>
                                            </p:txEl>
                                          </p:spTgt>
                                        </p:tgtEl>
                                        <p:attrNameLst>
                                          <p:attrName>ppt_x</p:attrName>
                                        </p:attrNameLst>
                                      </p:cBhvr>
                                      <p:tavLst>
                                        <p:tav tm="0">
                                          <p:val>
                                            <p:strVal val="#ppt_x"/>
                                          </p:val>
                                        </p:tav>
                                        <p:tav tm="100000">
                                          <p:val>
                                            <p:strVal val="#ppt_x"/>
                                          </p:val>
                                        </p:tav>
                                      </p:tavLst>
                                    </p:anim>
                                    <p:anim calcmode="lin" valueType="num">
                                      <p:cBhvr>
                                        <p:cTn id="84" dur="1000" fill="hold"/>
                                        <p:tgtEl>
                                          <p:spTgt spid="3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P spid="7" grpId="0"/>
      <p:bldP spid="8" grpId="0"/>
      <p:bldP spid="9" grpId="0" animBg="1"/>
      <p:bldP spid="12" grpId="0" animBg="1"/>
      <p:bldP spid="26" grpId="0"/>
      <p:bldP spid="2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887BE82-959D-4C13-9162-AB59457F428F}"/>
              </a:ext>
            </a:extLst>
          </p:cNvPr>
          <p:cNvSpPr txBox="1"/>
          <p:nvPr/>
        </p:nvSpPr>
        <p:spPr>
          <a:xfrm>
            <a:off x="0" y="1"/>
            <a:ext cx="5148775" cy="646331"/>
          </a:xfrm>
          <a:prstGeom prst="rect">
            <a:avLst/>
          </a:prstGeom>
          <a:solidFill>
            <a:schemeClr val="accent2">
              <a:lumMod val="20000"/>
              <a:lumOff val="80000"/>
            </a:schemeClr>
          </a:solidFill>
          <a:ln>
            <a:solidFill>
              <a:srgbClr val="C00000"/>
            </a:solidFill>
          </a:ln>
        </p:spPr>
        <p:txBody>
          <a:bodyPr wrap="square">
            <a:spAutoFit/>
          </a:bodyPr>
          <a:lstStyle/>
          <a:p>
            <a:pPr algn="ctr"/>
            <a:r>
              <a:rPr lang="en-US" sz="3600" dirty="0">
                <a:solidFill>
                  <a:srgbClr val="C00000"/>
                </a:solidFill>
                <a:latin typeface="Times New Roman" panose="02020603050405020304" pitchFamily="18" charset="0"/>
                <a:cs typeface="Times New Roman" panose="02020603050405020304" pitchFamily="18" charset="0"/>
              </a:rPr>
              <a:t>Design of Traffic Patterns</a:t>
            </a:r>
            <a:endParaRPr lang="en-US" sz="3600" b="1" dirty="0">
              <a:solidFill>
                <a:srgbClr val="C00000"/>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964CDA9-8A27-AE0B-F4C5-8D01757428B4}"/>
              </a:ext>
            </a:extLst>
          </p:cNvPr>
          <p:cNvSpPr txBox="1"/>
          <p:nvPr/>
        </p:nvSpPr>
        <p:spPr>
          <a:xfrm>
            <a:off x="0" y="646333"/>
            <a:ext cx="12192000" cy="6119945"/>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The network in Figure (next slide)  shows a proposed plan for the traffic flow around a new park that will house the Liberty Bell in Philadelphia, Pennsylvania. The plan calls for a computerized traffic light at the north exit on Fifth Street, and the diagram indicates the average number of vehicles per hour that are expected to flow in and out of the streets that border the complex. All streets are one-way.</a:t>
            </a:r>
          </a:p>
          <a:p>
            <a:pPr algn="just">
              <a:lnSpc>
                <a:spcPct val="150000"/>
              </a:lnSpc>
            </a:pPr>
            <a:r>
              <a:rPr lang="en-US" sz="2400" dirty="0">
                <a:solidFill>
                  <a:srgbClr val="002060"/>
                </a:solidFill>
                <a:latin typeface="Times New Roman" panose="02020603050405020304" pitchFamily="18" charset="0"/>
                <a:cs typeface="Times New Roman" panose="02020603050405020304" pitchFamily="18" charset="0"/>
              </a:rPr>
              <a:t>(a) How many vehicles per hour should the traffic light let through to ensure that the average number of vehicles per hour flowing into the complex is the same as the average number of vehicles flowing out?</a:t>
            </a:r>
          </a:p>
          <a:p>
            <a:pPr algn="just">
              <a:lnSpc>
                <a:spcPct val="150000"/>
              </a:lnSpc>
            </a:pPr>
            <a:r>
              <a:rPr lang="en-US" sz="2400" dirty="0">
                <a:solidFill>
                  <a:srgbClr val="7030A0"/>
                </a:solidFill>
                <a:latin typeface="Times New Roman" panose="02020603050405020304" pitchFamily="18" charset="0"/>
                <a:cs typeface="Times New Roman" panose="02020603050405020304" pitchFamily="18" charset="0"/>
              </a:rPr>
              <a:t>(b) Assuming that the traffic light has been set to balance the total flow in and out of the complex, what can you say about the average number of vehicles per hour that will flow along the streets that border the complex?</a:t>
            </a:r>
          </a:p>
        </p:txBody>
      </p:sp>
    </p:spTree>
    <p:extLst>
      <p:ext uri="{BB962C8B-B14F-4D97-AF65-F5344CB8AC3E}">
        <p14:creationId xmlns:p14="http://schemas.microsoft.com/office/powerpoint/2010/main" val="4173935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1000"/>
                                        <p:tgtEl>
                                          <p:spTgt spid="6">
                                            <p:txEl>
                                              <p:pRg st="1" end="1"/>
                                            </p:txEl>
                                          </p:spTgt>
                                        </p:tgtEl>
                                      </p:cBhvr>
                                    </p:animEffect>
                                    <p:anim calcmode="lin" valueType="num">
                                      <p:cBhvr>
                                        <p:cTn id="8"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xEl>
                                              <p:pRg st="2" end="2"/>
                                            </p:txEl>
                                          </p:spTgt>
                                        </p:tgtEl>
                                        <p:attrNameLst>
                                          <p:attrName>style.visibility</p:attrName>
                                        </p:attrNameLst>
                                      </p:cBhvr>
                                      <p:to>
                                        <p:strVal val="visible"/>
                                      </p:to>
                                    </p:set>
                                    <p:animEffect transition="in" filter="fade">
                                      <p:cBhvr>
                                        <p:cTn id="14" dur="1000"/>
                                        <p:tgtEl>
                                          <p:spTgt spid="6">
                                            <p:txEl>
                                              <p:pRg st="2" end="2"/>
                                            </p:txEl>
                                          </p:spTgt>
                                        </p:tgtEl>
                                      </p:cBhvr>
                                    </p:animEffect>
                                    <p:anim calcmode="lin" valueType="num">
                                      <p:cBhvr>
                                        <p:cTn id="15"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0867C37-06F8-C98F-4190-5A3895562D76}"/>
              </a:ext>
            </a:extLst>
          </p:cNvPr>
          <p:cNvPicPr>
            <a:picLocks noChangeAspect="1"/>
          </p:cNvPicPr>
          <p:nvPr/>
        </p:nvPicPr>
        <p:blipFill>
          <a:blip r:embed="rId2"/>
          <a:stretch>
            <a:fillRect/>
          </a:stretch>
        </p:blipFill>
        <p:spPr>
          <a:xfrm>
            <a:off x="921262" y="-1758"/>
            <a:ext cx="10349475" cy="3970669"/>
          </a:xfrm>
          <a:prstGeom prst="rect">
            <a:avLst/>
          </a:prstGeom>
        </p:spPr>
      </p:pic>
      <p:pic>
        <p:nvPicPr>
          <p:cNvPr id="7" name="Picture 6">
            <a:extLst>
              <a:ext uri="{FF2B5EF4-FFF2-40B4-BE49-F238E27FC236}">
                <a16:creationId xmlns:a16="http://schemas.microsoft.com/office/drawing/2014/main" id="{B3DCE5BE-EFC6-43EB-330D-F9295E93EA16}"/>
              </a:ext>
            </a:extLst>
          </p:cNvPr>
          <p:cNvPicPr>
            <a:picLocks noChangeAspect="1"/>
          </p:cNvPicPr>
          <p:nvPr/>
        </p:nvPicPr>
        <p:blipFill>
          <a:blip r:embed="rId3"/>
          <a:stretch>
            <a:fillRect/>
          </a:stretch>
        </p:blipFill>
        <p:spPr>
          <a:xfrm>
            <a:off x="135987" y="3921053"/>
            <a:ext cx="11258843" cy="2987040"/>
          </a:xfrm>
          <a:prstGeom prst="rect">
            <a:avLst/>
          </a:prstGeom>
        </p:spPr>
      </p:pic>
    </p:spTree>
    <p:extLst>
      <p:ext uri="{BB962C8B-B14F-4D97-AF65-F5344CB8AC3E}">
        <p14:creationId xmlns:p14="http://schemas.microsoft.com/office/powerpoint/2010/main" val="2297291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D6682E1-372D-A2B6-FF1A-C256B6EFA0BC}"/>
              </a:ext>
            </a:extLst>
          </p:cNvPr>
          <p:cNvPicPr>
            <a:picLocks noChangeAspect="1"/>
          </p:cNvPicPr>
          <p:nvPr/>
        </p:nvPicPr>
        <p:blipFill>
          <a:blip r:embed="rId2"/>
          <a:stretch>
            <a:fillRect/>
          </a:stretch>
        </p:blipFill>
        <p:spPr>
          <a:xfrm>
            <a:off x="209403" y="0"/>
            <a:ext cx="11982597" cy="3266126"/>
          </a:xfrm>
          <a:prstGeom prst="rect">
            <a:avLst/>
          </a:prstGeom>
        </p:spPr>
      </p:pic>
      <p:pic>
        <p:nvPicPr>
          <p:cNvPr id="7" name="Picture 6">
            <a:extLst>
              <a:ext uri="{FF2B5EF4-FFF2-40B4-BE49-F238E27FC236}">
                <a16:creationId xmlns:a16="http://schemas.microsoft.com/office/drawing/2014/main" id="{FBD16D0A-6E5A-D321-EC2A-F32FE44AB5E2}"/>
              </a:ext>
            </a:extLst>
          </p:cNvPr>
          <p:cNvPicPr>
            <a:picLocks noChangeAspect="1"/>
          </p:cNvPicPr>
          <p:nvPr/>
        </p:nvPicPr>
        <p:blipFill>
          <a:blip r:embed="rId3"/>
          <a:stretch>
            <a:fillRect/>
          </a:stretch>
        </p:blipFill>
        <p:spPr>
          <a:xfrm>
            <a:off x="167199" y="3634079"/>
            <a:ext cx="11704503" cy="2640113"/>
          </a:xfrm>
          <a:prstGeom prst="rect">
            <a:avLst/>
          </a:prstGeom>
        </p:spPr>
      </p:pic>
    </p:spTree>
    <p:extLst>
      <p:ext uri="{BB962C8B-B14F-4D97-AF65-F5344CB8AC3E}">
        <p14:creationId xmlns:p14="http://schemas.microsoft.com/office/powerpoint/2010/main" val="2681690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35AF4E5-4691-4663-1193-BDA1D1CDF7C2}"/>
                  </a:ext>
                </a:extLst>
              </p:cNvPr>
              <p:cNvSpPr txBox="1"/>
              <p:nvPr/>
            </p:nvSpPr>
            <p:spPr>
              <a:xfrm>
                <a:off x="239150" y="28133"/>
                <a:ext cx="11145102" cy="2308324"/>
              </a:xfrm>
              <a:prstGeom prst="rect">
                <a:avLst/>
              </a:prstGeom>
              <a:noFill/>
            </p:spPr>
            <p:txBody>
              <a:bodyPr wrap="none" rtlCol="0">
                <a:spAutoFit/>
              </a:bodyPr>
              <a:lstStyle/>
              <a:p>
                <a:pPr>
                  <a:lnSpc>
                    <a:spcPct val="150000"/>
                  </a:lnSpc>
                </a:pPr>
                <a:r>
                  <a:rPr lang="en-GB" sz="3200" dirty="0">
                    <a:solidFill>
                      <a:srgbClr val="C00000"/>
                    </a:solidFill>
                    <a:latin typeface="Times New Roman" panose="02020603050405020304" pitchFamily="18" charset="0"/>
                    <a:cs typeface="Times New Roman" panose="02020603050405020304" pitchFamily="18" charset="0"/>
                  </a:rPr>
                  <a:t>By Gauss-Jordan Method</a:t>
                </a:r>
              </a:p>
              <a:p>
                <a:pPr>
                  <a:lnSpc>
                    <a:spcPct val="150000"/>
                  </a:lnSpc>
                </a:pPr>
                <a:r>
                  <a:rPr lang="en-GB" sz="3200" dirty="0">
                    <a:latin typeface="Times New Roman" panose="02020603050405020304" pitchFamily="18" charset="0"/>
                    <a:cs typeface="Times New Roman" panose="02020603050405020304" pitchFamily="18" charset="0"/>
                  </a:rPr>
                  <a:t>We have </a:t>
                </a:r>
              </a:p>
              <a:p>
                <a:pPr>
                  <a:lnSpc>
                    <a:spcPct val="150000"/>
                  </a:lnSpc>
                </a:pPr>
                <a14:m>
                  <m:oMathPara xmlns:m="http://schemas.openxmlformats.org/officeDocument/2006/math">
                    <m:oMathParaPr>
                      <m:jc m:val="centerGroup"/>
                    </m:oMathParaPr>
                    <m:oMath xmlns:m="http://schemas.openxmlformats.org/officeDocument/2006/math">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rPr>
                            <m:t>𝑥</m:t>
                          </m:r>
                        </m:e>
                        <m:sub>
                          <m:r>
                            <a:rPr lang="en-GB" sz="3200" b="0" i="1" smtClean="0">
                              <a:latin typeface="Cambria Math" panose="02040503050406030204" pitchFamily="18" charset="0"/>
                            </a:rPr>
                            <m:t>1</m:t>
                          </m:r>
                        </m:sub>
                      </m:sSub>
                      <m:r>
                        <a:rPr lang="en-GB" sz="3200" b="0" i="1" smtClean="0">
                          <a:latin typeface="Cambria Math" panose="02040503050406030204" pitchFamily="18" charset="0"/>
                        </a:rPr>
                        <m:t>=</m:t>
                      </m:r>
                      <m:r>
                        <a:rPr lang="en-GB" sz="3200" b="0" i="1" smtClean="0">
                          <a:latin typeface="Cambria Math" panose="02040503050406030204" pitchFamily="18" charset="0"/>
                        </a:rPr>
                        <m:t>700</m:t>
                      </m:r>
                      <m:r>
                        <a:rPr lang="en-GB" sz="3200" b="0" i="1" smtClean="0">
                          <a:latin typeface="Cambria Math" panose="02040503050406030204" pitchFamily="18" charset="0"/>
                        </a:rPr>
                        <m:t>−</m:t>
                      </m:r>
                      <m:r>
                        <a:rPr lang="en-GB" sz="3200" b="0" i="1" smtClean="0">
                          <a:latin typeface="Cambria Math" panose="02040503050406030204" pitchFamily="18" charset="0"/>
                        </a:rPr>
                        <m:t>𝑡</m:t>
                      </m:r>
                      <m:r>
                        <a:rPr lang="en-GB" sz="3200" b="0" i="1" smtClean="0">
                          <a:latin typeface="Cambria Math" panose="02040503050406030204" pitchFamily="18" charset="0"/>
                        </a:rPr>
                        <m:t>,  </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rPr>
                            <m:t>𝑥</m:t>
                          </m:r>
                        </m:e>
                        <m:sub>
                          <m:r>
                            <a:rPr lang="en-GB" sz="3200" b="0" i="1" smtClean="0">
                              <a:latin typeface="Cambria Math" panose="02040503050406030204" pitchFamily="18" charset="0"/>
                            </a:rPr>
                            <m:t>2</m:t>
                          </m:r>
                        </m:sub>
                      </m:sSub>
                      <m:r>
                        <a:rPr lang="en-GB" sz="3200" b="0" i="1" smtClean="0">
                          <a:latin typeface="Cambria Math" panose="02040503050406030204" pitchFamily="18" charset="0"/>
                        </a:rPr>
                        <m:t>=</m:t>
                      </m:r>
                      <m:r>
                        <a:rPr lang="en-GB" sz="3200" b="0" i="1" smtClean="0">
                          <a:latin typeface="Cambria Math" panose="02040503050406030204" pitchFamily="18" charset="0"/>
                        </a:rPr>
                        <m:t>300</m:t>
                      </m:r>
                      <m:r>
                        <a:rPr lang="en-GB" sz="3200" b="0" i="1" smtClean="0">
                          <a:latin typeface="Cambria Math" panose="02040503050406030204" pitchFamily="18" charset="0"/>
                        </a:rPr>
                        <m:t>+</m:t>
                      </m:r>
                      <m:r>
                        <a:rPr lang="en-GB" sz="3200" b="0" i="1" smtClean="0">
                          <a:latin typeface="Cambria Math" panose="02040503050406030204" pitchFamily="18" charset="0"/>
                        </a:rPr>
                        <m:t>𝑡</m:t>
                      </m:r>
                      <m:r>
                        <a:rPr lang="en-GB" sz="3200" b="0" i="1" smtClean="0">
                          <a:latin typeface="Cambria Math" panose="02040503050406030204" pitchFamily="18" charset="0"/>
                        </a:rPr>
                        <m:t>,   </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rPr>
                            <m:t>𝑥</m:t>
                          </m:r>
                        </m:e>
                        <m:sub>
                          <m:r>
                            <a:rPr lang="en-GB" sz="3200" b="0" i="1" smtClean="0">
                              <a:latin typeface="Cambria Math" panose="02040503050406030204" pitchFamily="18" charset="0"/>
                            </a:rPr>
                            <m:t>3</m:t>
                          </m:r>
                        </m:sub>
                      </m:sSub>
                      <m:r>
                        <a:rPr lang="en-GB" sz="3200" b="0" i="1" smtClean="0">
                          <a:latin typeface="Cambria Math" panose="02040503050406030204" pitchFamily="18" charset="0"/>
                        </a:rPr>
                        <m:t>=</m:t>
                      </m:r>
                      <m:r>
                        <a:rPr lang="en-GB" sz="3200" b="0" i="1" smtClean="0">
                          <a:latin typeface="Cambria Math" panose="02040503050406030204" pitchFamily="18" charset="0"/>
                        </a:rPr>
                        <m:t>700</m:t>
                      </m:r>
                      <m:r>
                        <a:rPr lang="en-GB" sz="3200" b="0" i="1" smtClean="0">
                          <a:latin typeface="Cambria Math" panose="02040503050406030204" pitchFamily="18" charset="0"/>
                        </a:rPr>
                        <m:t>−</m:t>
                      </m:r>
                      <m:r>
                        <a:rPr lang="en-GB" sz="3200" b="0" i="1" smtClean="0">
                          <a:latin typeface="Cambria Math" panose="02040503050406030204" pitchFamily="18" charset="0"/>
                        </a:rPr>
                        <m:t>𝑡</m:t>
                      </m:r>
                      <m:r>
                        <a:rPr lang="en-GB" sz="3200" b="0" i="1" smtClean="0">
                          <a:latin typeface="Cambria Math" panose="02040503050406030204" pitchFamily="18" charset="0"/>
                        </a:rPr>
                        <m:t>,  </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rPr>
                            <m:t>𝑥</m:t>
                          </m:r>
                        </m:e>
                        <m:sub>
                          <m:r>
                            <a:rPr lang="en-GB" sz="3200" b="0" i="1" smtClean="0">
                              <a:latin typeface="Cambria Math" panose="02040503050406030204" pitchFamily="18" charset="0"/>
                            </a:rPr>
                            <m:t>4</m:t>
                          </m:r>
                        </m:sub>
                      </m:sSub>
                      <m:r>
                        <a:rPr lang="en-GB" sz="3200" b="0" i="1" smtClean="0">
                          <a:latin typeface="Cambria Math" panose="02040503050406030204" pitchFamily="18" charset="0"/>
                        </a:rPr>
                        <m:t>=</m:t>
                      </m:r>
                      <m:r>
                        <a:rPr lang="en-GB" sz="3200" b="0" i="1" smtClean="0">
                          <a:latin typeface="Cambria Math" panose="02040503050406030204" pitchFamily="18" charset="0"/>
                        </a:rPr>
                        <m:t>𝑡</m:t>
                      </m:r>
                    </m:oMath>
                  </m:oMathPara>
                </a14:m>
                <a:endParaRPr lang="en-US" sz="3200" dirty="0">
                  <a:latin typeface="Times New Roman" panose="02020603050405020304" pitchFamily="18"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235AF4E5-4691-4663-1193-BDA1D1CDF7C2}"/>
                  </a:ext>
                </a:extLst>
              </p:cNvPr>
              <p:cNvSpPr txBox="1">
                <a:spLocks noRot="1" noChangeAspect="1" noMove="1" noResize="1" noEditPoints="1" noAdjustHandles="1" noChangeArrowheads="1" noChangeShapeType="1" noTextEdit="1"/>
              </p:cNvSpPr>
              <p:nvPr/>
            </p:nvSpPr>
            <p:spPr>
              <a:xfrm>
                <a:off x="239150" y="28133"/>
                <a:ext cx="11145102" cy="2308324"/>
              </a:xfrm>
              <a:prstGeom prst="rect">
                <a:avLst/>
              </a:prstGeom>
              <a:blipFill>
                <a:blip r:embed="rId2"/>
                <a:stretch>
                  <a:fillRect l="-1368"/>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053AAB6A-BB68-70D3-4CEA-69102FAE576D}"/>
              </a:ext>
            </a:extLst>
          </p:cNvPr>
          <p:cNvSpPr txBox="1"/>
          <p:nvPr/>
        </p:nvSpPr>
        <p:spPr>
          <a:xfrm>
            <a:off x="239150" y="2553677"/>
            <a:ext cx="11310425" cy="1384995"/>
          </a:xfrm>
          <a:prstGeom prst="rect">
            <a:avLst/>
          </a:prstGeom>
          <a:noFill/>
        </p:spPr>
        <p:txBody>
          <a:bodyPr wrap="square">
            <a:spAutoFit/>
          </a:bodyPr>
          <a:lstStyle/>
          <a:p>
            <a:r>
              <a:rPr lang="en-US" sz="2800" dirty="0">
                <a:solidFill>
                  <a:srgbClr val="002060"/>
                </a:solidFill>
                <a:latin typeface="Times New Roman" panose="02020603050405020304" pitchFamily="18" charset="0"/>
                <a:cs typeface="Times New Roman" panose="02020603050405020304" pitchFamily="18" charset="0"/>
              </a:rPr>
              <a:t>However, the parameter </a:t>
            </a:r>
            <a:r>
              <a:rPr lang="en-US" sz="2800" b="1" dirty="0">
                <a:solidFill>
                  <a:srgbClr val="002060"/>
                </a:solidFill>
                <a:latin typeface="Times New Roman" panose="02020603050405020304" pitchFamily="18" charset="0"/>
                <a:cs typeface="Times New Roman" panose="02020603050405020304" pitchFamily="18" charset="0"/>
              </a:rPr>
              <a:t>t</a:t>
            </a:r>
            <a:r>
              <a:rPr lang="en-US" sz="2800" dirty="0">
                <a:solidFill>
                  <a:srgbClr val="002060"/>
                </a:solidFill>
                <a:latin typeface="Times New Roman" panose="02020603050405020304" pitchFamily="18" charset="0"/>
                <a:cs typeface="Times New Roman" panose="02020603050405020304" pitchFamily="18" charset="0"/>
              </a:rPr>
              <a:t> is not completely arbitrary here, since there are physical constraints to be considered.</a:t>
            </a:r>
          </a:p>
          <a:p>
            <a:r>
              <a:rPr lang="en-US" sz="2800" dirty="0">
                <a:solidFill>
                  <a:srgbClr val="002060"/>
                </a:solidFill>
                <a:latin typeface="Times New Roman" panose="02020603050405020304" pitchFamily="18" charset="0"/>
                <a:cs typeface="Times New Roman" panose="02020603050405020304" pitchFamily="18" charset="0"/>
              </a:rPr>
              <a:t>So, we have</a:t>
            </a:r>
            <a:endParaRPr lang="en-GB" sz="2800" dirty="0">
              <a:solidFill>
                <a:srgbClr val="002060"/>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E102F024-6B1C-DC42-C66D-B1996F200A2C}"/>
                  </a:ext>
                </a:extLst>
              </p:cNvPr>
              <p:cNvSpPr txBox="1"/>
              <p:nvPr/>
            </p:nvSpPr>
            <p:spPr>
              <a:xfrm>
                <a:off x="3046828" y="3786277"/>
                <a:ext cx="6098344" cy="2677656"/>
              </a:xfrm>
              <a:prstGeom prst="rect">
                <a:avLst/>
              </a:prstGeom>
              <a:noFill/>
            </p:spPr>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r>
                        <a:rPr lang="en-GB" sz="2800" b="0" i="1" smtClean="0">
                          <a:solidFill>
                            <a:srgbClr val="002060"/>
                          </a:solidFill>
                          <a:latin typeface="Cambria Math" panose="02040503050406030204" pitchFamily="18" charset="0"/>
                          <a:cs typeface="Times New Roman" panose="02020603050405020304" pitchFamily="18" charset="0"/>
                        </a:rPr>
                        <m:t>0</m:t>
                      </m:r>
                      <m:r>
                        <a:rPr lang="en-GB" sz="2800" b="0" i="1" smtClean="0">
                          <a:solidFill>
                            <a:srgbClr val="002060"/>
                          </a:solidFill>
                          <a:latin typeface="Cambria Math" panose="02040503050406030204" pitchFamily="18" charset="0"/>
                          <a:cs typeface="Times New Roman" panose="02020603050405020304" pitchFamily="18" charset="0"/>
                        </a:rPr>
                        <m:t>≤</m:t>
                      </m:r>
                      <m:sSub>
                        <m:sSubPr>
                          <m:ctrlPr>
                            <a:rPr lang="en-GB" sz="2800" b="0" i="1" smtClean="0">
                              <a:solidFill>
                                <a:srgbClr val="002060"/>
                              </a:solidFill>
                              <a:latin typeface="Cambria Math" panose="02040503050406030204" pitchFamily="18" charset="0"/>
                              <a:cs typeface="Times New Roman" panose="02020603050405020304" pitchFamily="18" charset="0"/>
                            </a:rPr>
                          </m:ctrlPr>
                        </m:sSubPr>
                        <m:e>
                          <m:r>
                            <a:rPr lang="en-GB" sz="2800" b="0" i="1" smtClean="0">
                              <a:solidFill>
                                <a:srgbClr val="002060"/>
                              </a:solidFill>
                              <a:latin typeface="Cambria Math" panose="02040503050406030204" pitchFamily="18" charset="0"/>
                              <a:cs typeface="Times New Roman" panose="02020603050405020304" pitchFamily="18" charset="0"/>
                            </a:rPr>
                            <m:t>𝑥</m:t>
                          </m:r>
                        </m:e>
                        <m:sub>
                          <m:r>
                            <a:rPr lang="en-GB" sz="2800" b="0" i="1" smtClean="0">
                              <a:solidFill>
                                <a:srgbClr val="002060"/>
                              </a:solidFill>
                              <a:latin typeface="Cambria Math" panose="02040503050406030204" pitchFamily="18" charset="0"/>
                              <a:cs typeface="Times New Roman" panose="02020603050405020304" pitchFamily="18" charset="0"/>
                            </a:rPr>
                            <m:t>1</m:t>
                          </m:r>
                        </m:sub>
                      </m:sSub>
                      <m:r>
                        <a:rPr lang="en-GB" sz="2800" b="0" i="1" smtClean="0">
                          <a:solidFill>
                            <a:srgbClr val="002060"/>
                          </a:solidFill>
                          <a:latin typeface="Cambria Math" panose="02040503050406030204" pitchFamily="18" charset="0"/>
                          <a:cs typeface="Times New Roman" panose="02020603050405020304" pitchFamily="18" charset="0"/>
                        </a:rPr>
                        <m:t>≤</m:t>
                      </m:r>
                      <m:r>
                        <a:rPr lang="en-GB" sz="2800" b="0" i="1" smtClean="0">
                          <a:solidFill>
                            <a:srgbClr val="002060"/>
                          </a:solidFill>
                          <a:latin typeface="Cambria Math" panose="02040503050406030204" pitchFamily="18" charset="0"/>
                          <a:cs typeface="Times New Roman" panose="02020603050405020304" pitchFamily="18" charset="0"/>
                        </a:rPr>
                        <m:t>700</m:t>
                      </m:r>
                    </m:oMath>
                  </m:oMathPara>
                </a14:m>
                <a:endParaRPr lang="en-GB" sz="2800" b="0" dirty="0">
                  <a:solidFill>
                    <a:srgbClr val="002060"/>
                  </a:solidFill>
                  <a:latin typeface="Times New Roman" panose="02020603050405020304" pitchFamily="18" charset="0"/>
                  <a:cs typeface="Times New Roman" panose="020206030504050203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en-GB" sz="2800" b="0" i="1" smtClean="0">
                          <a:solidFill>
                            <a:srgbClr val="002060"/>
                          </a:solidFill>
                          <a:latin typeface="Cambria Math" panose="02040503050406030204" pitchFamily="18" charset="0"/>
                          <a:cs typeface="Times New Roman" panose="02020603050405020304" pitchFamily="18" charset="0"/>
                        </a:rPr>
                        <m:t>30</m:t>
                      </m:r>
                      <m:r>
                        <a:rPr lang="en-GB" sz="2800" i="1">
                          <a:solidFill>
                            <a:srgbClr val="002060"/>
                          </a:solidFill>
                          <a:latin typeface="Cambria Math" panose="02040503050406030204" pitchFamily="18" charset="0"/>
                          <a:cs typeface="Times New Roman" panose="02020603050405020304" pitchFamily="18" charset="0"/>
                        </a:rPr>
                        <m:t>0</m:t>
                      </m:r>
                      <m:r>
                        <a:rPr lang="en-GB" sz="2800" i="1">
                          <a:solidFill>
                            <a:srgbClr val="002060"/>
                          </a:solidFill>
                          <a:latin typeface="Cambria Math" panose="02040503050406030204" pitchFamily="18" charset="0"/>
                          <a:cs typeface="Times New Roman" panose="02020603050405020304" pitchFamily="18" charset="0"/>
                        </a:rPr>
                        <m:t>≤</m:t>
                      </m:r>
                      <m:sSub>
                        <m:sSubPr>
                          <m:ctrlPr>
                            <a:rPr lang="en-GB" sz="2800" i="1">
                              <a:solidFill>
                                <a:srgbClr val="002060"/>
                              </a:solidFill>
                              <a:latin typeface="Cambria Math" panose="02040503050406030204" pitchFamily="18" charset="0"/>
                              <a:cs typeface="Times New Roman" panose="02020603050405020304" pitchFamily="18" charset="0"/>
                            </a:rPr>
                          </m:ctrlPr>
                        </m:sSubPr>
                        <m:e>
                          <m:r>
                            <a:rPr lang="en-GB" sz="2800" i="1">
                              <a:solidFill>
                                <a:srgbClr val="002060"/>
                              </a:solidFill>
                              <a:latin typeface="Cambria Math" panose="02040503050406030204" pitchFamily="18" charset="0"/>
                              <a:cs typeface="Times New Roman" panose="02020603050405020304" pitchFamily="18" charset="0"/>
                            </a:rPr>
                            <m:t>𝑥</m:t>
                          </m:r>
                        </m:e>
                        <m:sub>
                          <m:r>
                            <a:rPr lang="en-GB" sz="2800" b="0" i="1" smtClean="0">
                              <a:solidFill>
                                <a:srgbClr val="002060"/>
                              </a:solidFill>
                              <a:latin typeface="Cambria Math" panose="02040503050406030204" pitchFamily="18" charset="0"/>
                              <a:cs typeface="Times New Roman" panose="02020603050405020304" pitchFamily="18" charset="0"/>
                            </a:rPr>
                            <m:t>2</m:t>
                          </m:r>
                        </m:sub>
                      </m:sSub>
                      <m:r>
                        <a:rPr lang="en-GB" sz="2800" i="1">
                          <a:solidFill>
                            <a:srgbClr val="002060"/>
                          </a:solidFill>
                          <a:latin typeface="Cambria Math" panose="02040503050406030204" pitchFamily="18" charset="0"/>
                          <a:cs typeface="Times New Roman" panose="02020603050405020304" pitchFamily="18" charset="0"/>
                        </a:rPr>
                        <m:t>≤</m:t>
                      </m:r>
                      <m:r>
                        <a:rPr lang="en-GB" sz="2800" b="0" i="1" smtClean="0">
                          <a:solidFill>
                            <a:srgbClr val="002060"/>
                          </a:solidFill>
                          <a:latin typeface="Cambria Math" panose="02040503050406030204" pitchFamily="18" charset="0"/>
                          <a:cs typeface="Times New Roman" panose="02020603050405020304" pitchFamily="18" charset="0"/>
                        </a:rPr>
                        <m:t>10</m:t>
                      </m:r>
                      <m:r>
                        <a:rPr lang="en-GB" sz="2800" i="1">
                          <a:solidFill>
                            <a:srgbClr val="002060"/>
                          </a:solidFill>
                          <a:latin typeface="Cambria Math" panose="02040503050406030204" pitchFamily="18" charset="0"/>
                          <a:cs typeface="Times New Roman" panose="02020603050405020304" pitchFamily="18" charset="0"/>
                        </a:rPr>
                        <m:t>00</m:t>
                      </m:r>
                    </m:oMath>
                  </m:oMathPara>
                </a14:m>
                <a:endParaRPr lang="en-GB" sz="2800" dirty="0">
                  <a:solidFill>
                    <a:srgbClr val="002060"/>
                  </a:solidFill>
                  <a:latin typeface="Times New Roman" panose="02020603050405020304" pitchFamily="18" charset="0"/>
                  <a:cs typeface="Times New Roman" panose="020206030504050203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en-GB" sz="2800" b="0" i="1" smtClean="0">
                          <a:solidFill>
                            <a:srgbClr val="002060"/>
                          </a:solidFill>
                          <a:latin typeface="Cambria Math" panose="02040503050406030204" pitchFamily="18" charset="0"/>
                          <a:cs typeface="Times New Roman" panose="02020603050405020304" pitchFamily="18" charset="0"/>
                        </a:rPr>
                        <m:t>0</m:t>
                      </m:r>
                      <m:r>
                        <a:rPr lang="en-GB" sz="2800" b="0" i="1" smtClean="0">
                          <a:solidFill>
                            <a:srgbClr val="002060"/>
                          </a:solidFill>
                          <a:latin typeface="Cambria Math" panose="02040503050406030204" pitchFamily="18" charset="0"/>
                          <a:cs typeface="Times New Roman" panose="02020603050405020304" pitchFamily="18" charset="0"/>
                        </a:rPr>
                        <m:t>≤</m:t>
                      </m:r>
                      <m:sSub>
                        <m:sSubPr>
                          <m:ctrlPr>
                            <a:rPr lang="en-GB" sz="2800" b="0" i="1" smtClean="0">
                              <a:solidFill>
                                <a:srgbClr val="002060"/>
                              </a:solidFill>
                              <a:latin typeface="Cambria Math" panose="02040503050406030204" pitchFamily="18" charset="0"/>
                              <a:cs typeface="Times New Roman" panose="02020603050405020304" pitchFamily="18" charset="0"/>
                            </a:rPr>
                          </m:ctrlPr>
                        </m:sSubPr>
                        <m:e>
                          <m:r>
                            <a:rPr lang="en-GB" sz="2800" b="0" i="1" smtClean="0">
                              <a:solidFill>
                                <a:srgbClr val="002060"/>
                              </a:solidFill>
                              <a:latin typeface="Cambria Math" panose="02040503050406030204" pitchFamily="18" charset="0"/>
                              <a:cs typeface="Times New Roman" panose="02020603050405020304" pitchFamily="18" charset="0"/>
                            </a:rPr>
                            <m:t>𝑥</m:t>
                          </m:r>
                        </m:e>
                        <m:sub>
                          <m:r>
                            <a:rPr lang="en-GB" sz="2800" b="0" i="1" smtClean="0">
                              <a:solidFill>
                                <a:srgbClr val="002060"/>
                              </a:solidFill>
                              <a:latin typeface="Cambria Math" panose="02040503050406030204" pitchFamily="18" charset="0"/>
                              <a:cs typeface="Times New Roman" panose="02020603050405020304" pitchFamily="18" charset="0"/>
                            </a:rPr>
                            <m:t>3</m:t>
                          </m:r>
                        </m:sub>
                      </m:sSub>
                      <m:r>
                        <a:rPr lang="en-GB" sz="2800" b="0" i="1" smtClean="0">
                          <a:solidFill>
                            <a:srgbClr val="002060"/>
                          </a:solidFill>
                          <a:latin typeface="Cambria Math" panose="02040503050406030204" pitchFamily="18" charset="0"/>
                          <a:cs typeface="Times New Roman" panose="02020603050405020304" pitchFamily="18" charset="0"/>
                        </a:rPr>
                        <m:t>≤</m:t>
                      </m:r>
                      <m:r>
                        <a:rPr lang="en-GB" sz="2800" b="0" i="1" smtClean="0">
                          <a:solidFill>
                            <a:srgbClr val="002060"/>
                          </a:solidFill>
                          <a:latin typeface="Cambria Math" panose="02040503050406030204" pitchFamily="18" charset="0"/>
                          <a:cs typeface="Times New Roman" panose="02020603050405020304" pitchFamily="18" charset="0"/>
                        </a:rPr>
                        <m:t>700</m:t>
                      </m:r>
                    </m:oMath>
                  </m:oMathPara>
                </a14:m>
                <a:endParaRPr lang="en-GB" sz="2800" b="0" dirty="0">
                  <a:solidFill>
                    <a:srgbClr val="002060"/>
                  </a:solidFill>
                  <a:latin typeface="Times New Roman" panose="02020603050405020304" pitchFamily="18" charset="0"/>
                  <a:cs typeface="Times New Roman" panose="020206030504050203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en-GB" sz="2800" b="0" i="1" smtClean="0">
                          <a:solidFill>
                            <a:srgbClr val="002060"/>
                          </a:solidFill>
                          <a:latin typeface="Cambria Math" panose="02040503050406030204" pitchFamily="18" charset="0"/>
                          <a:cs typeface="Times New Roman" panose="02020603050405020304" pitchFamily="18" charset="0"/>
                        </a:rPr>
                        <m:t>0</m:t>
                      </m:r>
                      <m:r>
                        <a:rPr lang="en-GB" sz="2800" b="0" i="1" smtClean="0">
                          <a:solidFill>
                            <a:srgbClr val="002060"/>
                          </a:solidFill>
                          <a:latin typeface="Cambria Math" panose="02040503050406030204" pitchFamily="18" charset="0"/>
                          <a:cs typeface="Times New Roman" panose="02020603050405020304" pitchFamily="18" charset="0"/>
                        </a:rPr>
                        <m:t>≤</m:t>
                      </m:r>
                      <m:sSub>
                        <m:sSubPr>
                          <m:ctrlPr>
                            <a:rPr lang="en-GB" sz="2800" b="0" i="1" smtClean="0">
                              <a:solidFill>
                                <a:srgbClr val="002060"/>
                              </a:solidFill>
                              <a:latin typeface="Cambria Math" panose="02040503050406030204" pitchFamily="18" charset="0"/>
                              <a:cs typeface="Times New Roman" panose="02020603050405020304" pitchFamily="18" charset="0"/>
                            </a:rPr>
                          </m:ctrlPr>
                        </m:sSubPr>
                        <m:e>
                          <m:r>
                            <a:rPr lang="en-GB" sz="2800" b="0" i="1" smtClean="0">
                              <a:solidFill>
                                <a:srgbClr val="002060"/>
                              </a:solidFill>
                              <a:latin typeface="Cambria Math" panose="02040503050406030204" pitchFamily="18" charset="0"/>
                              <a:cs typeface="Times New Roman" panose="02020603050405020304" pitchFamily="18" charset="0"/>
                            </a:rPr>
                            <m:t>𝑥</m:t>
                          </m:r>
                        </m:e>
                        <m:sub>
                          <m:r>
                            <a:rPr lang="en-GB" sz="2800" b="0" i="1" smtClean="0">
                              <a:solidFill>
                                <a:srgbClr val="002060"/>
                              </a:solidFill>
                              <a:latin typeface="Cambria Math" panose="02040503050406030204" pitchFamily="18" charset="0"/>
                              <a:cs typeface="Times New Roman" panose="02020603050405020304" pitchFamily="18" charset="0"/>
                            </a:rPr>
                            <m:t>4</m:t>
                          </m:r>
                        </m:sub>
                      </m:sSub>
                      <m:r>
                        <a:rPr lang="en-GB" sz="2800" b="0" i="1" smtClean="0">
                          <a:solidFill>
                            <a:srgbClr val="002060"/>
                          </a:solidFill>
                          <a:latin typeface="Cambria Math" panose="02040503050406030204" pitchFamily="18" charset="0"/>
                          <a:cs typeface="Times New Roman" panose="02020603050405020304" pitchFamily="18" charset="0"/>
                        </a:rPr>
                        <m:t>≤</m:t>
                      </m:r>
                      <m:r>
                        <a:rPr lang="en-GB" sz="2800" b="0" i="1" smtClean="0">
                          <a:solidFill>
                            <a:srgbClr val="002060"/>
                          </a:solidFill>
                          <a:latin typeface="Cambria Math" panose="02040503050406030204" pitchFamily="18" charset="0"/>
                          <a:cs typeface="Times New Roman" panose="02020603050405020304" pitchFamily="18" charset="0"/>
                        </a:rPr>
                        <m:t>700</m:t>
                      </m:r>
                    </m:oMath>
                  </m:oMathPara>
                </a14:m>
                <a:endParaRPr lang="en-US" sz="2800" dirty="0"/>
              </a:p>
            </p:txBody>
          </p:sp>
        </mc:Choice>
        <mc:Fallback>
          <p:sp>
            <p:nvSpPr>
              <p:cNvPr id="3" name="TextBox 2">
                <a:extLst>
                  <a:ext uri="{FF2B5EF4-FFF2-40B4-BE49-F238E27FC236}">
                    <a16:creationId xmlns:a16="http://schemas.microsoft.com/office/drawing/2014/main" id="{E102F024-6B1C-DC42-C66D-B1996F200A2C}"/>
                  </a:ext>
                </a:extLst>
              </p:cNvPr>
              <p:cNvSpPr txBox="1">
                <a:spLocks noRot="1" noChangeAspect="1" noMove="1" noResize="1" noEditPoints="1" noAdjustHandles="1" noChangeArrowheads="1" noChangeShapeType="1" noTextEdit="1"/>
              </p:cNvSpPr>
              <p:nvPr/>
            </p:nvSpPr>
            <p:spPr>
              <a:xfrm>
                <a:off x="3046828" y="3786277"/>
                <a:ext cx="6098344" cy="2677656"/>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7514066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Text gif. White, green, yellow, pink, and blue stripes cycle through text that reads, &quot;Thanks.&quot;">
            <a:extLst>
              <a:ext uri="{FF2B5EF4-FFF2-40B4-BE49-F238E27FC236}">
                <a16:creationId xmlns:a16="http://schemas.microsoft.com/office/drawing/2014/main" id="{3B4AEE5E-29B2-06C7-CEB2-8EDC18B7C0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5166" y="164252"/>
            <a:ext cx="9794244" cy="65294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9153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26657</TotalTime>
  <Words>1252</Words>
  <Application>Microsoft Office PowerPoint</Application>
  <PresentationFormat>Widescreen</PresentationFormat>
  <Paragraphs>103</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Calibri Light</vt:lpstr>
      <vt:lpstr>Cambria Math</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Adnan Rafiq Siddiqui</dc:creator>
  <cp:lastModifiedBy>Adnan Rafiq Siddiqui</cp:lastModifiedBy>
  <cp:revision>107</cp:revision>
  <dcterms:created xsi:type="dcterms:W3CDTF">2025-02-25T06:33:15Z</dcterms:created>
  <dcterms:modified xsi:type="dcterms:W3CDTF">2025-03-27T04:17:10Z</dcterms:modified>
</cp:coreProperties>
</file>