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636" r:id="rId2"/>
    <p:sldId id="694" r:id="rId3"/>
    <p:sldId id="695" r:id="rId4"/>
    <p:sldId id="689" r:id="rId5"/>
    <p:sldId id="697" r:id="rId6"/>
    <p:sldId id="704" r:id="rId7"/>
    <p:sldId id="701" r:id="rId8"/>
    <p:sldId id="702" r:id="rId9"/>
    <p:sldId id="705" r:id="rId10"/>
    <p:sldId id="703" r:id="rId11"/>
    <p:sldId id="706" r:id="rId12"/>
    <p:sldId id="707" r:id="rId13"/>
    <p:sldId id="698" r:id="rId14"/>
    <p:sldId id="708" r:id="rId15"/>
    <p:sldId id="709" r:id="rId16"/>
    <p:sldId id="710" r:id="rId17"/>
    <p:sldId id="711" r:id="rId18"/>
    <p:sldId id="712" r:id="rId19"/>
    <p:sldId id="715" r:id="rId20"/>
    <p:sldId id="713" r:id="rId21"/>
    <p:sldId id="714" r:id="rId22"/>
    <p:sldId id="70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AB4DA0-B54F-4A0E-AE82-BFA73F20BFA4}" type="datetimeFigureOut">
              <a:rPr lang="en-PK" smtClean="0"/>
              <a:t>06/10/2026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53DBD-D0B1-41AD-9FB2-7ABED11D6AA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7999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AA8D-B63D-178A-B4D5-4BF7CDA3D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BCE04-E214-5915-7AAB-A4A62471C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1E888-0D7C-64B0-1D51-277C6371D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10-Jun-26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C642E-9950-EE7B-A3A6-664652A4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F438A-D115-6A9C-4C7A-F42FF124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72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858C1-A12A-DE9C-19A6-7D5A3852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28209-F6DE-046B-DB11-125486B3C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24765-0A5B-2B73-1D51-2E3330F5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10-Jun-26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088DA-AE2F-C750-2E45-6C77FD66E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C2CF6-E962-662D-F3A8-59594ADC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2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7350C-4A8F-F82B-1E15-35E290B15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6651A-4A28-2028-CBCD-7BA5B05AC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4BA3C-AFEC-38E5-CEEF-7200C0FFD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10-Jun-26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99CD7-1B0B-5377-2D14-2B604E09C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C203D-B31F-F3B4-A959-7147494F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6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B4588-B22C-59C2-B5FF-708AB875E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ED149-4A8D-6B84-CF9A-1035D7D9C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B6B30-A768-65F0-1EE3-B0DB01663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58964-7687-DA0C-6F40-7C302E390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10-Jun-26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634BB-8450-752A-C68B-F38BF7403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1E264-7C5F-D2FC-F117-B7519F16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5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93F15-26E7-0320-3F26-49C19B3B6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6F42C-6555-FF39-7C5A-5D8106870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77F0B-765A-F1DA-8D3F-260298E90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E52EE-B7D3-3064-5F05-5DB77C30A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E2ABC-63B9-802B-EFA7-6EA47F33D9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22F41D-4290-DEEC-04F9-DBA249A14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10-Jun-26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B6068D-1526-8321-F683-35249D97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536DFC-E5A6-F996-D332-14D37B4F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6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9E0C-425B-9B8A-B6A4-6991A829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0970F-EAFB-F6D1-2FA7-60325C1A2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10-Jun-26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3EC19-BFD6-DB73-FC6F-F3D0B41F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64A0B-C45A-98D5-4ED7-23B8144D9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AA079-1724-5847-7AAD-85B911BAF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10-Jun-26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70F25-B8BE-B2CE-87D5-33BD988A3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38F2-EF48-C818-C62D-E35DC09E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15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32F-EC43-2073-1F92-45C3AC7B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51507-8DE7-5766-32E0-321DD6079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5DC37-67B8-DF89-BD3D-2FFB0A120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734D2-9BFB-8219-C36B-D4E2B6DE4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10-Jun-26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D35E2-59BD-1164-8209-E37AD75E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450CC-1E1F-B48D-F131-F2F12CE4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37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CD33-5626-E165-2B17-707467F7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43335F-2146-1FEF-AA90-EC9A06838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E4209-A544-6FA3-9829-6695E75E7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7D6B5-64F2-2938-C0A1-645505FCB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10-Jun-26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8CD6E-E37E-9D73-49B2-BC2E5E35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2516B-36C0-9C0A-87D3-FA7C96FE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2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6939D-E405-D503-A206-BE6C8BBA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91992-254C-C8B6-B2F6-495C2BAE2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2C9DA-A59D-0A94-93C8-60E78CCE5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10-Jun-26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740FB-9338-DD34-7063-56101D715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886B6-407A-A1D9-33B9-8BD4CE19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5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3FFB99-F4CE-E110-76B7-7465A2761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C0AB0-9D82-DFA9-CD30-65B2E85CE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A59F5-E4AB-5358-3F46-CB338CFD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10-Jun-26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2B9F6-1C99-1D5B-7D38-0CDDF982A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47800-9FDB-F0E5-EBBC-A5E81286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33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EF0EA6-D84B-B2CB-8ED7-1C929B5FE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5FB55-CF91-F872-8245-B337082C1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943BA-DB40-8A7D-46E7-64E557EB9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19DFC-27CE-4B34-AD4D-CDDA795D7CAD}" type="datetimeFigureOut">
              <a:rPr lang="en-US" smtClean="0"/>
              <a:t>10-Jun-26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C99C3-EF4C-67CC-5905-BB61430C5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2B177-2BF0-F59B-8065-95E02F384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E6DF62F9-7264-4E25-F504-5B1B797356DD}"/>
              </a:ext>
            </a:extLst>
          </p:cNvPr>
          <p:cNvSpPr/>
          <p:nvPr/>
        </p:nvSpPr>
        <p:spPr>
          <a:xfrm>
            <a:off x="0" y="2173574"/>
            <a:ext cx="12206990" cy="4699416"/>
          </a:xfrm>
          <a:custGeom>
            <a:avLst/>
            <a:gdLst>
              <a:gd name="connsiteX0" fmla="*/ 0 w 12192000"/>
              <a:gd name="connsiteY0" fmla="*/ 4684426 h 4684426"/>
              <a:gd name="connsiteX1" fmla="*/ 0 w 12192000"/>
              <a:gd name="connsiteY1" fmla="*/ 0 h 4684426"/>
              <a:gd name="connsiteX2" fmla="*/ 12192000 w 12192000"/>
              <a:gd name="connsiteY2" fmla="*/ 4684426 h 4684426"/>
              <a:gd name="connsiteX3" fmla="*/ 0 w 12192000"/>
              <a:gd name="connsiteY3" fmla="*/ 4684426 h 4684426"/>
              <a:gd name="connsiteX0" fmla="*/ 0 w 12192000"/>
              <a:gd name="connsiteY0" fmla="*/ 4684426 h 4684426"/>
              <a:gd name="connsiteX1" fmla="*/ 0 w 12192000"/>
              <a:gd name="connsiteY1" fmla="*/ 0 h 4684426"/>
              <a:gd name="connsiteX2" fmla="*/ 12192000 w 12192000"/>
              <a:gd name="connsiteY2" fmla="*/ 4684426 h 4684426"/>
              <a:gd name="connsiteX3" fmla="*/ 0 w 12192000"/>
              <a:gd name="connsiteY3" fmla="*/ 4684426 h 4684426"/>
              <a:gd name="connsiteX0" fmla="*/ 0 w 12206990"/>
              <a:gd name="connsiteY0" fmla="*/ 4684426 h 4699416"/>
              <a:gd name="connsiteX1" fmla="*/ 0 w 12206990"/>
              <a:gd name="connsiteY1" fmla="*/ 0 h 4699416"/>
              <a:gd name="connsiteX2" fmla="*/ 12206990 w 12206990"/>
              <a:gd name="connsiteY2" fmla="*/ 4699416 h 4699416"/>
              <a:gd name="connsiteX3" fmla="*/ 0 w 12206990"/>
              <a:gd name="connsiteY3" fmla="*/ 4684426 h 4699416"/>
              <a:gd name="connsiteX0" fmla="*/ 0 w 12206990"/>
              <a:gd name="connsiteY0" fmla="*/ 4684426 h 4699416"/>
              <a:gd name="connsiteX1" fmla="*/ 0 w 12206990"/>
              <a:gd name="connsiteY1" fmla="*/ 0 h 4699416"/>
              <a:gd name="connsiteX2" fmla="*/ 12206990 w 12206990"/>
              <a:gd name="connsiteY2" fmla="*/ 4699416 h 4699416"/>
              <a:gd name="connsiteX3" fmla="*/ 0 w 12206990"/>
              <a:gd name="connsiteY3" fmla="*/ 4684426 h 4699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06990" h="4699416">
                <a:moveTo>
                  <a:pt x="0" y="4684426"/>
                </a:moveTo>
                <a:lnTo>
                  <a:pt x="0" y="0"/>
                </a:lnTo>
                <a:cubicBezTo>
                  <a:pt x="4378793" y="946879"/>
                  <a:pt x="6703934" y="3242872"/>
                  <a:pt x="12206990" y="4699416"/>
                </a:cubicBezTo>
                <a:lnTo>
                  <a:pt x="0" y="4684426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ight Triangle 4">
            <a:extLst>
              <a:ext uri="{FF2B5EF4-FFF2-40B4-BE49-F238E27FC236}">
                <a16:creationId xmlns:a16="http://schemas.microsoft.com/office/drawing/2014/main" id="{3AFED4F9-C06A-55DD-B7F1-6CF5A4D5E64F}"/>
              </a:ext>
            </a:extLst>
          </p:cNvPr>
          <p:cNvSpPr/>
          <p:nvPr/>
        </p:nvSpPr>
        <p:spPr>
          <a:xfrm rot="10800000">
            <a:off x="-14990" y="0"/>
            <a:ext cx="12206990" cy="4699416"/>
          </a:xfrm>
          <a:custGeom>
            <a:avLst/>
            <a:gdLst>
              <a:gd name="connsiteX0" fmla="*/ 0 w 12192000"/>
              <a:gd name="connsiteY0" fmla="*/ 4684426 h 4684426"/>
              <a:gd name="connsiteX1" fmla="*/ 0 w 12192000"/>
              <a:gd name="connsiteY1" fmla="*/ 0 h 4684426"/>
              <a:gd name="connsiteX2" fmla="*/ 12192000 w 12192000"/>
              <a:gd name="connsiteY2" fmla="*/ 4684426 h 4684426"/>
              <a:gd name="connsiteX3" fmla="*/ 0 w 12192000"/>
              <a:gd name="connsiteY3" fmla="*/ 4684426 h 4684426"/>
              <a:gd name="connsiteX0" fmla="*/ 0 w 12192000"/>
              <a:gd name="connsiteY0" fmla="*/ 4684426 h 4684426"/>
              <a:gd name="connsiteX1" fmla="*/ 0 w 12192000"/>
              <a:gd name="connsiteY1" fmla="*/ 0 h 4684426"/>
              <a:gd name="connsiteX2" fmla="*/ 12192000 w 12192000"/>
              <a:gd name="connsiteY2" fmla="*/ 4684426 h 4684426"/>
              <a:gd name="connsiteX3" fmla="*/ 0 w 12192000"/>
              <a:gd name="connsiteY3" fmla="*/ 4684426 h 4684426"/>
              <a:gd name="connsiteX0" fmla="*/ 0 w 12206990"/>
              <a:gd name="connsiteY0" fmla="*/ 4684426 h 4699416"/>
              <a:gd name="connsiteX1" fmla="*/ 0 w 12206990"/>
              <a:gd name="connsiteY1" fmla="*/ 0 h 4699416"/>
              <a:gd name="connsiteX2" fmla="*/ 12206990 w 12206990"/>
              <a:gd name="connsiteY2" fmla="*/ 4699416 h 4699416"/>
              <a:gd name="connsiteX3" fmla="*/ 0 w 12206990"/>
              <a:gd name="connsiteY3" fmla="*/ 4684426 h 4699416"/>
              <a:gd name="connsiteX0" fmla="*/ 0 w 12206990"/>
              <a:gd name="connsiteY0" fmla="*/ 4684426 h 4699416"/>
              <a:gd name="connsiteX1" fmla="*/ 0 w 12206990"/>
              <a:gd name="connsiteY1" fmla="*/ 0 h 4699416"/>
              <a:gd name="connsiteX2" fmla="*/ 12206990 w 12206990"/>
              <a:gd name="connsiteY2" fmla="*/ 4699416 h 4699416"/>
              <a:gd name="connsiteX3" fmla="*/ 0 w 12206990"/>
              <a:gd name="connsiteY3" fmla="*/ 4684426 h 4699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06990" h="4699416">
                <a:moveTo>
                  <a:pt x="0" y="4684426"/>
                </a:moveTo>
                <a:lnTo>
                  <a:pt x="0" y="0"/>
                </a:lnTo>
                <a:cubicBezTo>
                  <a:pt x="4378793" y="946879"/>
                  <a:pt x="6703934" y="3242872"/>
                  <a:pt x="12206990" y="4699416"/>
                </a:cubicBezTo>
                <a:lnTo>
                  <a:pt x="0" y="4684426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A32502-A715-3606-EE7D-A34CB9A00AAA}"/>
              </a:ext>
            </a:extLst>
          </p:cNvPr>
          <p:cNvSpPr/>
          <p:nvPr/>
        </p:nvSpPr>
        <p:spPr>
          <a:xfrm>
            <a:off x="0" y="0"/>
            <a:ext cx="12192000" cy="85869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13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Principal Component Analysis(PCA)</a:t>
            </a:r>
          </a:p>
          <a:p>
            <a:pPr algn="ctr"/>
            <a:endParaRPr lang="en-US" sz="13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916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13D8C-84FC-A0D0-3461-DBE756E5BB32}"/>
              </a:ext>
            </a:extLst>
          </p:cNvPr>
          <p:cNvSpPr txBox="1"/>
          <p:nvPr/>
        </p:nvSpPr>
        <p:spPr>
          <a:xfrm>
            <a:off x="0" y="1"/>
            <a:ext cx="121920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– The Real-World Power of Eigenvectors</a:t>
            </a:r>
            <a:endParaRPr lang="en-US" sz="8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A719F-BB0C-4CB3-AA69-32606164D2F3}"/>
              </a:ext>
            </a:extLst>
          </p:cNvPr>
          <p:cNvSpPr txBox="1"/>
          <p:nvPr/>
        </p:nvSpPr>
        <p:spPr>
          <a:xfrm>
            <a:off x="0" y="1195666"/>
            <a:ext cx="12192000" cy="48667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Analysis, or PCA, is a technique that reduces complex data into fewer dimensions while keeping as much important variation as possible.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like summarizing a whole book into a few powerful sentences without losing the meaning.</a:t>
            </a:r>
          </a:p>
        </p:txBody>
      </p:sp>
    </p:spTree>
    <p:extLst>
      <p:ext uri="{BB962C8B-B14F-4D97-AF65-F5344CB8AC3E}">
        <p14:creationId xmlns:p14="http://schemas.microsoft.com/office/powerpoint/2010/main" val="23908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13D8C-84FC-A0D0-3461-DBE756E5BB32}"/>
              </a:ext>
            </a:extLst>
          </p:cNvPr>
          <p:cNvSpPr txBox="1"/>
          <p:nvPr/>
        </p:nvSpPr>
        <p:spPr>
          <a:xfrm>
            <a:off x="0" y="1"/>
            <a:ext cx="121920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Eigenvectors &amp; Eigenvalues in PCA</a:t>
            </a:r>
            <a:endParaRPr lang="en-US" sz="8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A719F-BB0C-4CB3-AA69-32606164D2F3}"/>
              </a:ext>
            </a:extLst>
          </p:cNvPr>
          <p:cNvSpPr txBox="1"/>
          <p:nvPr/>
        </p:nvSpPr>
        <p:spPr>
          <a:xfrm>
            <a:off x="0" y="916530"/>
            <a:ext cx="12192000" cy="59352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Eigenvectors → Directions of Maximum Variance</a:t>
            </a:r>
            <a:b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point to the new coordinate axes (principal components) that best capture the spread of the data.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Eigenvalues → Amount of Variance Captured</a:t>
            </a:r>
            <a:b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tell us how much information (variance) is preserved along each eigenvector.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Ranking by Eigenvalues</a:t>
            </a:r>
            <a:b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larger the eigenvalue, the more important that direction is.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b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keeping only the top eigenvectors (with largest eigenvalues), we reduce features while still preserving most of the information.</a:t>
            </a:r>
            <a:endParaRPr lang="en-PK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24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DC2CE-1551-BC9A-8240-316840461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2D03C8-C4CD-A9E3-2318-BD5D5F4FC9B7}"/>
              </a:ext>
            </a:extLst>
          </p:cNvPr>
          <p:cNvSpPr txBox="1"/>
          <p:nvPr/>
        </p:nvSpPr>
        <p:spPr>
          <a:xfrm>
            <a:off x="0" y="1"/>
            <a:ext cx="12192000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Housing Dataset </a:t>
            </a:r>
            <a:endParaRPr lang="en-US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CF24B6-EEBC-4FBD-A394-D78E5FC91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162897"/>
              </p:ext>
            </p:extLst>
          </p:nvPr>
        </p:nvGraphicFramePr>
        <p:xfrm>
          <a:off x="0" y="703380"/>
          <a:ext cx="12191999" cy="6134707"/>
        </p:xfrm>
        <a:graphic>
          <a:graphicData uri="http://schemas.openxmlformats.org/drawingml/2006/table">
            <a:tbl>
              <a:tblPr/>
              <a:tblGrid>
                <a:gridCol w="1444086">
                  <a:extLst>
                    <a:ext uri="{9D8B030D-6E8A-4147-A177-3AD203B41FA5}">
                      <a16:colId xmlns:a16="http://schemas.microsoft.com/office/drawing/2014/main" val="3018910917"/>
                    </a:ext>
                  </a:extLst>
                </a:gridCol>
                <a:gridCol w="1411656">
                  <a:extLst>
                    <a:ext uri="{9D8B030D-6E8A-4147-A177-3AD203B41FA5}">
                      <a16:colId xmlns:a16="http://schemas.microsoft.com/office/drawing/2014/main" val="244864609"/>
                    </a:ext>
                  </a:extLst>
                </a:gridCol>
                <a:gridCol w="1448972">
                  <a:extLst>
                    <a:ext uri="{9D8B030D-6E8A-4147-A177-3AD203B41FA5}">
                      <a16:colId xmlns:a16="http://schemas.microsoft.com/office/drawing/2014/main" val="1808432932"/>
                    </a:ext>
                  </a:extLst>
                </a:gridCol>
                <a:gridCol w="1471630">
                  <a:extLst>
                    <a:ext uri="{9D8B030D-6E8A-4147-A177-3AD203B41FA5}">
                      <a16:colId xmlns:a16="http://schemas.microsoft.com/office/drawing/2014/main" val="808181763"/>
                    </a:ext>
                  </a:extLst>
                </a:gridCol>
                <a:gridCol w="2608001">
                  <a:extLst>
                    <a:ext uri="{9D8B030D-6E8A-4147-A177-3AD203B41FA5}">
                      <a16:colId xmlns:a16="http://schemas.microsoft.com/office/drawing/2014/main" val="2501224605"/>
                    </a:ext>
                  </a:extLst>
                </a:gridCol>
                <a:gridCol w="2062715">
                  <a:extLst>
                    <a:ext uri="{9D8B030D-6E8A-4147-A177-3AD203B41FA5}">
                      <a16:colId xmlns:a16="http://schemas.microsoft.com/office/drawing/2014/main" val="4013247249"/>
                    </a:ext>
                  </a:extLst>
                </a:gridCol>
                <a:gridCol w="1744939">
                  <a:extLst>
                    <a:ext uri="{9D8B030D-6E8A-4147-A177-3AD203B41FA5}">
                      <a16:colId xmlns:a16="http://schemas.microsoft.com/office/drawing/2014/main" val="1451234549"/>
                    </a:ext>
                  </a:extLst>
                </a:gridCol>
              </a:tblGrid>
              <a:tr h="853183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HouseID</a:t>
                      </a:r>
                      <a:endParaRPr lang="en-US" sz="2400" b="1" i="0" u="none" strike="noStrike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Area_sqft</a:t>
                      </a:r>
                      <a:endParaRPr lang="en-US" sz="2400" b="1" i="0" u="none" strike="noStrike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Bedrooms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Age_years</a:t>
                      </a:r>
                      <a:endParaRPr lang="en-US" sz="2400" b="1" i="0" u="none" strike="noStrike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Dist_to_Center_km</a:t>
                      </a:r>
                      <a:endParaRPr lang="en-US" sz="2400" b="1" i="0" u="none" strike="noStrike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Crime Index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Price_kUSD</a:t>
                      </a:r>
                      <a:endParaRPr lang="en-US" sz="2400" b="1" i="0" u="none" strike="noStrike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79888"/>
                  </a:ext>
                </a:extLst>
              </a:tr>
              <a:tr h="44012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691209"/>
                  </a:ext>
                </a:extLst>
              </a:tr>
              <a:tr h="44012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6646"/>
                  </a:ext>
                </a:extLst>
              </a:tr>
              <a:tr h="44012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805138"/>
                  </a:ext>
                </a:extLst>
              </a:tr>
              <a:tr h="44012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0529324"/>
                  </a:ext>
                </a:extLst>
              </a:tr>
              <a:tr h="44012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089003"/>
                  </a:ext>
                </a:extLst>
              </a:tr>
              <a:tr h="44012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234933"/>
                  </a:ext>
                </a:extLst>
              </a:tr>
              <a:tr h="44012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404562"/>
                  </a:ext>
                </a:extLst>
              </a:tr>
              <a:tr h="44012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036980"/>
                  </a:ext>
                </a:extLst>
              </a:tr>
              <a:tr h="44012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70797"/>
                  </a:ext>
                </a:extLst>
              </a:tr>
              <a:tr h="44012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144153"/>
                  </a:ext>
                </a:extLst>
              </a:tr>
              <a:tr h="44012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905422"/>
                  </a:ext>
                </a:extLst>
              </a:tr>
              <a:tr h="44012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556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3910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13D8C-84FC-A0D0-3461-DBE756E5BB32}"/>
              </a:ext>
            </a:extLst>
          </p:cNvPr>
          <p:cNvSpPr txBox="1"/>
          <p:nvPr/>
        </p:nvSpPr>
        <p:spPr>
          <a:xfrm>
            <a:off x="0" y="1"/>
            <a:ext cx="121920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 are going to do?</a:t>
            </a:r>
            <a:endParaRPr lang="en-US" sz="8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A719F-BB0C-4CB3-AA69-32606164D2F3}"/>
              </a:ext>
            </a:extLst>
          </p:cNvPr>
          <p:cNvSpPr txBox="1"/>
          <p:nvPr/>
        </p:nvSpPr>
        <p:spPr>
          <a:xfrm>
            <a:off x="0" y="1226022"/>
            <a:ext cx="12192000" cy="51938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in real life, we have many features — like in housing data: size, bedrooms, age, price, location. Too many dimensions make patterns hard to see.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 helps us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the data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creating new axes (principal components) that capture the most important variation.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trick: these new axes are built from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eigenvectors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data’s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covariance matrix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eigenvalues tell us how much information each axis captures.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instead of staring at 6 messy features, we can look at just 2 or 3 principal components that explain most of the story.</a:t>
            </a:r>
            <a:endParaRPr lang="en-PK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7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13D8C-84FC-A0D0-3461-DBE756E5BB32}"/>
              </a:ext>
            </a:extLst>
          </p:cNvPr>
          <p:cNvSpPr txBox="1"/>
          <p:nvPr/>
        </p:nvSpPr>
        <p:spPr>
          <a:xfrm>
            <a:off x="0" y="1"/>
            <a:ext cx="121920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Case Study: Reducing 2D Data to 1D</a:t>
            </a:r>
            <a:endParaRPr lang="en-US" sz="8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14F540-156F-4C6D-92C6-6A165CA56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754669"/>
              </p:ext>
            </p:extLst>
          </p:nvPr>
        </p:nvGraphicFramePr>
        <p:xfrm>
          <a:off x="0" y="811530"/>
          <a:ext cx="2619376" cy="2617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9688">
                  <a:extLst>
                    <a:ext uri="{9D8B030D-6E8A-4147-A177-3AD203B41FA5}">
                      <a16:colId xmlns:a16="http://schemas.microsoft.com/office/drawing/2014/main" val="3802825944"/>
                    </a:ext>
                  </a:extLst>
                </a:gridCol>
                <a:gridCol w="1309688">
                  <a:extLst>
                    <a:ext uri="{9D8B030D-6E8A-4147-A177-3AD203B41FA5}">
                      <a16:colId xmlns:a16="http://schemas.microsoft.com/office/drawing/2014/main" val="395513475"/>
                    </a:ext>
                  </a:extLst>
                </a:gridCol>
              </a:tblGrid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1230110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9595730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0099543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8530804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525605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410580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8D1265C-F581-4895-9098-DA3EF65F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61443"/>
            <a:ext cx="6029326" cy="57383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C388D8-D18F-4B52-AC53-E4F18A7D9A17}"/>
                  </a:ext>
                </a:extLst>
              </p:cNvPr>
              <p:cNvSpPr txBox="1"/>
              <p:nvPr/>
            </p:nvSpPr>
            <p:spPr>
              <a:xfrm>
                <a:off x="66674" y="3699296"/>
                <a:ext cx="5310185" cy="251209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Centering the Data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2+3+4+5+6</m:t>
                        </m:r>
                      </m:num>
                      <m:den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</m:oMath>
                </a14:m>
                <a:endParaRPr lang="en-GB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3+5+4+7+8</m:t>
                        </m:r>
                      </m:num>
                      <m:den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=5.4</m:t>
                    </m:r>
                  </m:oMath>
                </a14:m>
                <a:endParaRPr lang="en-PK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C388D8-D18F-4B52-AC53-E4F18A7D9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4" y="3699296"/>
                <a:ext cx="5310185" cy="2512098"/>
              </a:xfrm>
              <a:prstGeom prst="rect">
                <a:avLst/>
              </a:prstGeom>
              <a:blipFill>
                <a:blip r:embed="rId3"/>
                <a:stretch>
                  <a:fillRect l="-2288" b="-168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215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13D8C-84FC-A0D0-3461-DBE756E5BB32}"/>
              </a:ext>
            </a:extLst>
          </p:cNvPr>
          <p:cNvSpPr txBox="1"/>
          <p:nvPr/>
        </p:nvSpPr>
        <p:spPr>
          <a:xfrm>
            <a:off x="0" y="1"/>
            <a:ext cx="121920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Case Study: Reducing 2D Data to 1D</a:t>
            </a:r>
            <a:endParaRPr lang="en-US" sz="8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14F540-156F-4C6D-92C6-6A165CA56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022357"/>
              </p:ext>
            </p:extLst>
          </p:nvPr>
        </p:nvGraphicFramePr>
        <p:xfrm>
          <a:off x="128587" y="1015990"/>
          <a:ext cx="2619376" cy="2617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9688">
                  <a:extLst>
                    <a:ext uri="{9D8B030D-6E8A-4147-A177-3AD203B41FA5}">
                      <a16:colId xmlns:a16="http://schemas.microsoft.com/office/drawing/2014/main" val="3802825944"/>
                    </a:ext>
                  </a:extLst>
                </a:gridCol>
                <a:gridCol w="1309688">
                  <a:extLst>
                    <a:ext uri="{9D8B030D-6E8A-4147-A177-3AD203B41FA5}">
                      <a16:colId xmlns:a16="http://schemas.microsoft.com/office/drawing/2014/main" val="395513475"/>
                    </a:ext>
                  </a:extLst>
                </a:gridCol>
              </a:tblGrid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1230110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9595730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0099543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8530804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525605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41058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1135CA-3CDB-4CA3-8429-D2147BC18A50}"/>
                  </a:ext>
                </a:extLst>
              </p:cNvPr>
              <p:cNvSpPr txBox="1"/>
              <p:nvPr/>
            </p:nvSpPr>
            <p:spPr>
              <a:xfrm>
                <a:off x="2933703" y="1015990"/>
                <a:ext cx="8853485" cy="26702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The Covariance Matrix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GB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GB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=2.5</m:t>
                    </m:r>
                  </m:oMath>
                </a14:m>
                <a:endParaRPr lang="en-GB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GB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GB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  <m:r>
                                      <a:rPr lang="en-GB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GB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r>
                      <a:rPr lang="en-GB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GB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GB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PK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1135CA-3CDB-4CA3-8429-D2147BC18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703" y="1015990"/>
                <a:ext cx="8853485" cy="2670283"/>
              </a:xfrm>
              <a:prstGeom prst="rect">
                <a:avLst/>
              </a:prstGeom>
              <a:blipFill>
                <a:blip r:embed="rId2"/>
                <a:stretch>
                  <a:fillRect l="-1305" b="-136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51FB64-4256-421A-AEED-A08E25DAFFFB}"/>
              </a:ext>
            </a:extLst>
          </p:cNvPr>
          <p:cNvCxnSpPr/>
          <p:nvPr/>
        </p:nvCxnSpPr>
        <p:spPr>
          <a:xfrm>
            <a:off x="7029451" y="1671637"/>
            <a:ext cx="0" cy="185645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4DA130-7FD4-45AB-BF3E-53C6CDD1FFA8}"/>
                  </a:ext>
                </a:extLst>
              </p:cNvPr>
              <p:cNvSpPr txBox="1"/>
              <p:nvPr/>
            </p:nvSpPr>
            <p:spPr>
              <a:xfrm>
                <a:off x="7029451" y="1946565"/>
                <a:ext cx="4676729" cy="8091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24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24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GB" sz="24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GB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GB" sz="24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GB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GB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sz="24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LID4096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4DA130-7FD4-45AB-BF3E-53C6CDD1F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451" y="1946565"/>
                <a:ext cx="4676729" cy="8091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C03E0F-2E2E-4B95-B664-840F8C8F2BC1}"/>
                  </a:ext>
                </a:extLst>
              </p:cNvPr>
              <p:cNvSpPr txBox="1"/>
              <p:nvPr/>
            </p:nvSpPr>
            <p:spPr>
              <a:xfrm>
                <a:off x="3153571" y="3804229"/>
                <a:ext cx="4976017" cy="2944460"/>
              </a:xfrm>
              <a:prstGeom prst="rect">
                <a:avLst/>
              </a:prstGeom>
              <a:noFill/>
              <a:ln w="28575"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chemeClr val="accent5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Covariance Matrix</a:t>
                </a:r>
              </a:p>
              <a:p>
                <a:endParaRPr lang="en-US" sz="2800" b="1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𝑎𝑟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𝑎𝑟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4.3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C03E0F-2E2E-4B95-B664-840F8C8F2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571" y="3804229"/>
                <a:ext cx="4976017" cy="2944460"/>
              </a:xfrm>
              <a:prstGeom prst="rect">
                <a:avLst/>
              </a:prstGeom>
              <a:blipFill>
                <a:blip r:embed="rId4"/>
                <a:stretch>
                  <a:fillRect l="-2190" t="-1639"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973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13D8C-84FC-A0D0-3461-DBE756E5BB32}"/>
              </a:ext>
            </a:extLst>
          </p:cNvPr>
          <p:cNvSpPr txBox="1"/>
          <p:nvPr/>
        </p:nvSpPr>
        <p:spPr>
          <a:xfrm>
            <a:off x="0" y="1"/>
            <a:ext cx="121920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Case Study: Reducing 2D Data to 1D</a:t>
            </a:r>
            <a:endParaRPr lang="en-US" sz="8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14F540-156F-4C6D-92C6-6A165CA56C75}"/>
              </a:ext>
            </a:extLst>
          </p:cNvPr>
          <p:cNvGraphicFramePr>
            <a:graphicFrameLocks noGrp="1"/>
          </p:cNvGraphicFramePr>
          <p:nvPr/>
        </p:nvGraphicFramePr>
        <p:xfrm>
          <a:off x="-1" y="1213157"/>
          <a:ext cx="2619376" cy="2617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9688">
                  <a:extLst>
                    <a:ext uri="{9D8B030D-6E8A-4147-A177-3AD203B41FA5}">
                      <a16:colId xmlns:a16="http://schemas.microsoft.com/office/drawing/2014/main" val="3802825944"/>
                    </a:ext>
                  </a:extLst>
                </a:gridCol>
                <a:gridCol w="1309688">
                  <a:extLst>
                    <a:ext uri="{9D8B030D-6E8A-4147-A177-3AD203B41FA5}">
                      <a16:colId xmlns:a16="http://schemas.microsoft.com/office/drawing/2014/main" val="395513475"/>
                    </a:ext>
                  </a:extLst>
                </a:gridCol>
              </a:tblGrid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1230110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9595730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0099543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8530804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525605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410580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C781DBC-81AB-4ADE-9CDB-63DD23191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693" y="1186665"/>
            <a:ext cx="9553674" cy="495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4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DC2CE-1551-BC9A-8240-316840461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2D03C8-C4CD-A9E3-2318-BD5D5F4FC9B7}"/>
              </a:ext>
            </a:extLst>
          </p:cNvPr>
          <p:cNvSpPr txBox="1"/>
          <p:nvPr/>
        </p:nvSpPr>
        <p:spPr>
          <a:xfrm>
            <a:off x="0" y="1"/>
            <a:ext cx="12192000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2-D Example</a:t>
            </a:r>
            <a:endParaRPr lang="en-US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2976689-71BD-4C96-A5FF-7D2E973EADDD}"/>
              </a:ext>
            </a:extLst>
          </p:cNvPr>
          <p:cNvGraphicFramePr>
            <a:graphicFrameLocks noGrp="1"/>
          </p:cNvGraphicFramePr>
          <p:nvPr/>
        </p:nvGraphicFramePr>
        <p:xfrm>
          <a:off x="35096" y="888478"/>
          <a:ext cx="2046918" cy="3247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544">
                  <a:extLst>
                    <a:ext uri="{9D8B030D-6E8A-4147-A177-3AD203B41FA5}">
                      <a16:colId xmlns:a16="http://schemas.microsoft.com/office/drawing/2014/main" val="2923890027"/>
                    </a:ext>
                  </a:extLst>
                </a:gridCol>
                <a:gridCol w="937374">
                  <a:extLst>
                    <a:ext uri="{9D8B030D-6E8A-4147-A177-3AD203B41FA5}">
                      <a16:colId xmlns:a16="http://schemas.microsoft.com/office/drawing/2014/main" val="3342096614"/>
                    </a:ext>
                  </a:extLst>
                </a:gridCol>
              </a:tblGrid>
              <a:tr h="54123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PK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PK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5649157"/>
                  </a:ext>
                </a:extLst>
              </a:tr>
              <a:tr h="54123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760649"/>
                  </a:ext>
                </a:extLst>
              </a:tr>
              <a:tr h="54123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56561"/>
                  </a:ext>
                </a:extLst>
              </a:tr>
              <a:tr h="54123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457510"/>
                  </a:ext>
                </a:extLst>
              </a:tr>
              <a:tr h="54123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PK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542613"/>
                  </a:ext>
                </a:extLst>
              </a:tr>
              <a:tr h="54123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PK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PK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0280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8D23B74-4F78-4043-8623-A61245C0796D}"/>
              </a:ext>
            </a:extLst>
          </p:cNvPr>
          <p:cNvSpPr txBox="1"/>
          <p:nvPr/>
        </p:nvSpPr>
        <p:spPr>
          <a:xfrm>
            <a:off x="3964003" y="775934"/>
            <a:ext cx="4373313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Explained Variance Ratio</a:t>
            </a:r>
            <a:endParaRPr lang="en-PK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B1BD3C-491D-4808-A686-422FB8801D9C}"/>
              </a:ext>
            </a:extLst>
          </p:cNvPr>
          <p:cNvSpPr txBox="1"/>
          <p:nvPr/>
        </p:nvSpPr>
        <p:spPr>
          <a:xfrm>
            <a:off x="3964004" y="1419648"/>
            <a:ext cx="45438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the proportion, or percentage, of the total variance of the original dataset that is captured by each new principal component.</a:t>
            </a:r>
            <a:endParaRPr lang="en-PK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A86FEC-542D-4DF5-82CE-148BE3D859B9}"/>
                  </a:ext>
                </a:extLst>
              </p:cNvPr>
              <p:cNvSpPr txBox="1"/>
              <p:nvPr/>
            </p:nvSpPr>
            <p:spPr>
              <a:xfrm>
                <a:off x="4328148" y="2505049"/>
                <a:ext cx="4265527" cy="8561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𝐸𝑉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PK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A86FEC-542D-4DF5-82CE-148BE3D85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148" y="2505049"/>
                <a:ext cx="4265527" cy="8561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F3BAE7-08DB-43C4-95E5-19CB28581D35}"/>
                  </a:ext>
                </a:extLst>
              </p:cNvPr>
              <p:cNvSpPr txBox="1"/>
              <p:nvPr/>
            </p:nvSpPr>
            <p:spPr>
              <a:xfrm>
                <a:off x="4240018" y="3505464"/>
                <a:ext cx="4794839" cy="7998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𝐸𝑉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6.53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6.53+0.27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=0.96 (96%)</m:t>
                      </m:r>
                    </m:oMath>
                  </m:oMathPara>
                </a14:m>
                <a:endParaRPr lang="en-PK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F3BAE7-08DB-43C4-95E5-19CB28581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018" y="3505464"/>
                <a:ext cx="4794839" cy="7998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83D1F7-8EA8-4B05-899D-106A97E6C2A2}"/>
                  </a:ext>
                </a:extLst>
              </p:cNvPr>
              <p:cNvSpPr txBox="1"/>
              <p:nvPr/>
            </p:nvSpPr>
            <p:spPr>
              <a:xfrm>
                <a:off x="4240018" y="4446582"/>
                <a:ext cx="4971874" cy="7923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𝐸𝑉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0.27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6.53+0.27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=0.0396 (4%)</m:t>
                      </m:r>
                    </m:oMath>
                  </m:oMathPara>
                </a14:m>
                <a:endParaRPr lang="en-PK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83D1F7-8EA8-4B05-899D-106A97E6C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018" y="4446582"/>
                <a:ext cx="4971874" cy="7923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95FD5D-9441-4BAB-8D29-C4FADB73CEF7}"/>
                  </a:ext>
                </a:extLst>
              </p:cNvPr>
              <p:cNvSpPr txBox="1"/>
              <p:nvPr/>
            </p:nvSpPr>
            <p:spPr>
              <a:xfrm>
                <a:off x="4004591" y="5711265"/>
                <a:ext cx="5161991" cy="6463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𝑷𝑪</m:t>
                      </m:r>
                      <m:r>
                        <a:rPr lang="en-US" sz="3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3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3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3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n-US" sz="3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sz="3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3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3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GB" sz="3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3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n-US" sz="3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sz="3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PK" sz="3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95FD5D-9441-4BAB-8D29-C4FADB73C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591" y="5711265"/>
                <a:ext cx="5161991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88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/>
      <p:bldP spid="12" grpId="0"/>
      <p:bldP spid="13" grpId="0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13D8C-84FC-A0D0-3461-DBE756E5BB32}"/>
              </a:ext>
            </a:extLst>
          </p:cNvPr>
          <p:cNvSpPr txBox="1"/>
          <p:nvPr/>
        </p:nvSpPr>
        <p:spPr>
          <a:xfrm>
            <a:off x="0" y="1"/>
            <a:ext cx="121920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Case Study: Reducing 2D Data to 1D</a:t>
            </a:r>
            <a:endParaRPr lang="en-US" sz="8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14F540-156F-4C6D-92C6-6A165CA56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15259"/>
              </p:ext>
            </p:extLst>
          </p:nvPr>
        </p:nvGraphicFramePr>
        <p:xfrm>
          <a:off x="-28577" y="841675"/>
          <a:ext cx="2619376" cy="2617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9688">
                  <a:extLst>
                    <a:ext uri="{9D8B030D-6E8A-4147-A177-3AD203B41FA5}">
                      <a16:colId xmlns:a16="http://schemas.microsoft.com/office/drawing/2014/main" val="3802825944"/>
                    </a:ext>
                  </a:extLst>
                </a:gridCol>
                <a:gridCol w="1309688">
                  <a:extLst>
                    <a:ext uri="{9D8B030D-6E8A-4147-A177-3AD203B41FA5}">
                      <a16:colId xmlns:a16="http://schemas.microsoft.com/office/drawing/2014/main" val="395513475"/>
                    </a:ext>
                  </a:extLst>
                </a:gridCol>
              </a:tblGrid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1230110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9595730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0099543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8530804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525605"/>
                  </a:ext>
                </a:extLst>
              </a:tr>
              <a:tr h="345495"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K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PK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410580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1DD3EB3-0343-4A64-8B83-2D0073ADB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050" y="1028059"/>
            <a:ext cx="9585665" cy="47726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2C6343-A7AE-451B-B848-E4668C62B259}"/>
                  </a:ext>
                </a:extLst>
              </p:cNvPr>
              <p:cNvSpPr txBox="1"/>
              <p:nvPr/>
            </p:nvSpPr>
            <p:spPr>
              <a:xfrm>
                <a:off x="0" y="3643312"/>
                <a:ext cx="2496261" cy="25533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i="1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Normalization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1.34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1.67</m:t>
                      </m:r>
                    </m:oMath>
                  </m:oMathPara>
                </a14:m>
                <a:endParaRPr lang="en-GB" sz="2000" dirty="0"/>
              </a:p>
              <a:p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1.67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GB" sz="2000" b="0" dirty="0"/>
              </a:p>
              <a:p>
                <a:endParaRPr lang="en-GB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1.34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1.67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LID4096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2C6343-A7AE-451B-B848-E4668C62B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43312"/>
                <a:ext cx="2496261" cy="2553391"/>
              </a:xfrm>
              <a:prstGeom prst="rect">
                <a:avLst/>
              </a:prstGeom>
              <a:blipFill>
                <a:blip r:embed="rId3"/>
                <a:stretch>
                  <a:fillRect l="-2445" t="-143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655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13D8C-84FC-A0D0-3461-DBE756E5BB32}"/>
              </a:ext>
            </a:extLst>
          </p:cNvPr>
          <p:cNvSpPr txBox="1"/>
          <p:nvPr/>
        </p:nvSpPr>
        <p:spPr>
          <a:xfrm>
            <a:off x="0" y="1"/>
            <a:ext cx="121920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Case Study: Reducing 2D Data to 1D</a:t>
            </a:r>
            <a:endParaRPr lang="en-US" sz="8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87E09F-7CD8-4B7D-979E-868F3446A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4" y="836695"/>
            <a:ext cx="10272713" cy="594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04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F1E78F-5687-4474-B9DF-946629EFD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40" y="904872"/>
            <a:ext cx="11549060" cy="57745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8B89D7-0C1A-4C94-924F-28BA787E2514}"/>
              </a:ext>
            </a:extLst>
          </p:cNvPr>
          <p:cNvSpPr txBox="1"/>
          <p:nvPr/>
        </p:nvSpPr>
        <p:spPr>
          <a:xfrm>
            <a:off x="0" y="1"/>
            <a:ext cx="121920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Case Study: Reducing 2D Data to 1D</a:t>
            </a:r>
            <a:endParaRPr lang="en-US" sz="8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902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13D8C-84FC-A0D0-3461-DBE756E5BB32}"/>
              </a:ext>
            </a:extLst>
          </p:cNvPr>
          <p:cNvSpPr txBox="1"/>
          <p:nvPr/>
        </p:nvSpPr>
        <p:spPr>
          <a:xfrm>
            <a:off x="0" y="1"/>
            <a:ext cx="121920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is Feature Extraction not Feature Selection</a:t>
            </a:r>
            <a:endParaRPr lang="en-US" sz="8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A719F-BB0C-4CB3-AA69-32606164D2F3}"/>
              </a:ext>
            </a:extLst>
          </p:cNvPr>
          <p:cNvSpPr txBox="1"/>
          <p:nvPr/>
        </p:nvSpPr>
        <p:spPr>
          <a:xfrm>
            <a:off x="0" y="846191"/>
            <a:ext cx="12192000" cy="418576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transforms raw data into a new, reduced set of features, while feature selection chooses a subset of the original features and discards the rest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Creates new features by combining, transforming, or reformatting existing ones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When to use: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High-dimensional data where you need to capture underlying patterns or when original features are too complex.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B82BB-218C-436B-8213-ECB2C59CC474}"/>
              </a:ext>
            </a:extLst>
          </p:cNvPr>
          <p:cNvSpPr txBox="1"/>
          <p:nvPr/>
        </p:nvSpPr>
        <p:spPr>
          <a:xfrm>
            <a:off x="0" y="5136840"/>
            <a:ext cx="12192000" cy="9826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aims to remove irrelevant or redundant original features to simplify models and improve generalization.</a:t>
            </a:r>
            <a:endParaRPr lang="en-PK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0F82F5-B469-411A-87AE-22078FE1070E}"/>
                  </a:ext>
                </a:extLst>
              </p:cNvPr>
              <p:cNvSpPr txBox="1"/>
              <p:nvPr/>
            </p:nvSpPr>
            <p:spPr>
              <a:xfrm>
                <a:off x="-28135" y="6274189"/>
                <a:ext cx="12271308" cy="5539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case of Housing, it may be </a:t>
                </a: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𝑷𝑪</m:t>
                    </m:r>
                    <m:r>
                      <a:rPr lang="en-US" sz="27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7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𝐒𝐢𝐳𝐞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𝐁𝐞𝐝𝐫𝐨𝐨𝐦𝐬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𝐀𝐠𝐞</m:t>
                    </m:r>
                  </m:oMath>
                </a14:m>
                <a:endParaRPr lang="en-PK" sz="27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0F82F5-B469-411A-87AE-22078FE10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135" y="6274189"/>
                <a:ext cx="12271308" cy="553998"/>
              </a:xfrm>
              <a:prstGeom prst="rect">
                <a:avLst/>
              </a:prstGeom>
              <a:blipFill>
                <a:blip r:embed="rId2"/>
                <a:stretch>
                  <a:fillRect l="-1091" t="-12766" b="-2978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49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C02141-03F9-4CCF-B19E-F510BEC4482F}"/>
                  </a:ext>
                </a:extLst>
              </p:cNvPr>
              <p:cNvSpPr txBox="1"/>
              <p:nvPr/>
            </p:nvSpPr>
            <p:spPr>
              <a:xfrm>
                <a:off x="0" y="1"/>
                <a:ext cx="12192000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</a:t>
                </a:r>
                <a:r>
                  <a:rPr lang="en-US" sz="4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dataset: 5 Houses </a:t>
                </a:r>
                <a14:m>
                  <m:oMath xmlns:m="http://schemas.openxmlformats.org/officeDocument/2006/math">
                    <m:r>
                      <a:rPr lang="en-US" sz="4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GB" sz="4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 Features</a:t>
                </a:r>
                <a:endParaRPr lang="en-US" sz="4000" b="1" i="0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C02141-03F9-4CCF-B19E-F510BEC44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"/>
                <a:ext cx="12192000" cy="707886"/>
              </a:xfrm>
              <a:prstGeom prst="rect">
                <a:avLst/>
              </a:prstGeom>
              <a:blipFill>
                <a:blip r:embed="rId2"/>
                <a:stretch>
                  <a:fillRect l="-1646" t="-13223" b="-32231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B74723-AF23-4D8A-B21E-B5534987B0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0091626"/>
                  </p:ext>
                </p:extLst>
              </p:nvPr>
            </p:nvGraphicFramePr>
            <p:xfrm>
              <a:off x="1043372" y="2269543"/>
              <a:ext cx="9672255" cy="3261810"/>
            </p:xfrm>
            <a:graphic>
              <a:graphicData uri="http://schemas.openxmlformats.org/drawingml/2006/table">
                <a:tbl>
                  <a:tblPr/>
                  <a:tblGrid>
                    <a:gridCol w="1934451">
                      <a:extLst>
                        <a:ext uri="{9D8B030D-6E8A-4147-A177-3AD203B41FA5}">
                          <a16:colId xmlns:a16="http://schemas.microsoft.com/office/drawing/2014/main" val="3387666439"/>
                        </a:ext>
                      </a:extLst>
                    </a:gridCol>
                    <a:gridCol w="1934451">
                      <a:extLst>
                        <a:ext uri="{9D8B030D-6E8A-4147-A177-3AD203B41FA5}">
                          <a16:colId xmlns:a16="http://schemas.microsoft.com/office/drawing/2014/main" val="1349271365"/>
                        </a:ext>
                      </a:extLst>
                    </a:gridCol>
                    <a:gridCol w="1934451">
                      <a:extLst>
                        <a:ext uri="{9D8B030D-6E8A-4147-A177-3AD203B41FA5}">
                          <a16:colId xmlns:a16="http://schemas.microsoft.com/office/drawing/2014/main" val="4109227039"/>
                        </a:ext>
                      </a:extLst>
                    </a:gridCol>
                    <a:gridCol w="1934451">
                      <a:extLst>
                        <a:ext uri="{9D8B030D-6E8A-4147-A177-3AD203B41FA5}">
                          <a16:colId xmlns:a16="http://schemas.microsoft.com/office/drawing/2014/main" val="676480838"/>
                        </a:ext>
                      </a:extLst>
                    </a:gridCol>
                    <a:gridCol w="1934451">
                      <a:extLst>
                        <a:ext uri="{9D8B030D-6E8A-4147-A177-3AD203B41FA5}">
                          <a16:colId xmlns:a16="http://schemas.microsoft.com/office/drawing/2014/main" val="282215155"/>
                        </a:ext>
                      </a:extLst>
                    </a:gridCol>
                  </a:tblGrid>
                  <a:tr h="861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House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Rooms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 (</a:t>
                          </a:r>
                          <a:r>
                            <a:rPr lang="en-US" sz="2400" b="1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yrs</a:t>
                          </a:r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Shops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Price (lakh)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24388639"/>
                      </a:ext>
                    </a:extLst>
                  </a:tr>
                  <a:tr h="4624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42418494"/>
                      </a:ext>
                    </a:extLst>
                  </a:tr>
                  <a:tr h="4624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40329345"/>
                      </a:ext>
                    </a:extLst>
                  </a:tr>
                  <a:tr h="4624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H3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8254827"/>
                      </a:ext>
                    </a:extLst>
                  </a:tr>
                  <a:tr h="4624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6968362"/>
                      </a:ext>
                    </a:extLst>
                  </a:tr>
                  <a:tr h="4624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87941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B74723-AF23-4D8A-B21E-B5534987B0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0091626"/>
                  </p:ext>
                </p:extLst>
              </p:nvPr>
            </p:nvGraphicFramePr>
            <p:xfrm>
              <a:off x="1043372" y="2269543"/>
              <a:ext cx="9672255" cy="3261810"/>
            </p:xfrm>
            <a:graphic>
              <a:graphicData uri="http://schemas.openxmlformats.org/drawingml/2006/table">
                <a:tbl>
                  <a:tblPr/>
                  <a:tblGrid>
                    <a:gridCol w="1934451">
                      <a:extLst>
                        <a:ext uri="{9D8B030D-6E8A-4147-A177-3AD203B41FA5}">
                          <a16:colId xmlns:a16="http://schemas.microsoft.com/office/drawing/2014/main" val="3387666439"/>
                        </a:ext>
                      </a:extLst>
                    </a:gridCol>
                    <a:gridCol w="1934451">
                      <a:extLst>
                        <a:ext uri="{9D8B030D-6E8A-4147-A177-3AD203B41FA5}">
                          <a16:colId xmlns:a16="http://schemas.microsoft.com/office/drawing/2014/main" val="1349271365"/>
                        </a:ext>
                      </a:extLst>
                    </a:gridCol>
                    <a:gridCol w="1934451">
                      <a:extLst>
                        <a:ext uri="{9D8B030D-6E8A-4147-A177-3AD203B41FA5}">
                          <a16:colId xmlns:a16="http://schemas.microsoft.com/office/drawing/2014/main" val="4109227039"/>
                        </a:ext>
                      </a:extLst>
                    </a:gridCol>
                    <a:gridCol w="1934451">
                      <a:extLst>
                        <a:ext uri="{9D8B030D-6E8A-4147-A177-3AD203B41FA5}">
                          <a16:colId xmlns:a16="http://schemas.microsoft.com/office/drawing/2014/main" val="676480838"/>
                        </a:ext>
                      </a:extLst>
                    </a:gridCol>
                    <a:gridCol w="1934451">
                      <a:extLst>
                        <a:ext uri="{9D8B030D-6E8A-4147-A177-3AD203B41FA5}">
                          <a16:colId xmlns:a16="http://schemas.microsoft.com/office/drawing/2014/main" val="282215155"/>
                        </a:ext>
                      </a:extLst>
                    </a:gridCol>
                  </a:tblGrid>
                  <a:tr h="861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House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521" r="-300000" b="-2915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631" t="-3521" r="-200946" b="-2915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686" t="-3521" r="-100314" b="-2915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Price (lakh)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24388639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42418494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40329345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H3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8254827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6968362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87941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tangle 2">
            <a:extLst>
              <a:ext uri="{FF2B5EF4-FFF2-40B4-BE49-F238E27FC236}">
                <a16:creationId xmlns:a16="http://schemas.microsoft.com/office/drawing/2014/main" id="{914527E8-B98B-4246-9169-8FEE2559B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83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LID4096" alt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AE95BE-C6C4-4AFB-975E-46AC9520BEA9}"/>
              </a:ext>
            </a:extLst>
          </p:cNvPr>
          <p:cNvSpPr txBox="1"/>
          <p:nvPr/>
        </p:nvSpPr>
        <p:spPr>
          <a:xfrm>
            <a:off x="0" y="877917"/>
            <a:ext cx="1219200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features: Rooms (count), Age (years), </a:t>
            </a:r>
            <a:r>
              <a:rPr lang="en-US" sz="2400" b="0" i="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NearbyShops</a:t>
            </a:r>
            <a:r>
              <a:rPr lang="en-US" sz="24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(count). We will compress this 3D data, 1D  and see how much information survives.</a:t>
            </a:r>
            <a:endParaRPr lang="LID4096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355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C02141-03F9-4CCF-B19E-F510BEC4482F}"/>
                  </a:ext>
                </a:extLst>
              </p:cNvPr>
              <p:cNvSpPr txBox="1"/>
              <p:nvPr/>
            </p:nvSpPr>
            <p:spPr>
              <a:xfrm>
                <a:off x="0" y="1"/>
                <a:ext cx="12192000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</a:t>
                </a:r>
                <a:r>
                  <a:rPr lang="en-US" sz="4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dataset: 5 Houses </a:t>
                </a:r>
                <a14:m>
                  <m:oMath xmlns:m="http://schemas.openxmlformats.org/officeDocument/2006/math">
                    <m:r>
                      <a:rPr lang="en-US" sz="4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GB" sz="4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 Features</a:t>
                </a:r>
                <a:endParaRPr lang="en-US" sz="4000" b="1" i="0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C02141-03F9-4CCF-B19E-F510BEC44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"/>
                <a:ext cx="12192000" cy="707886"/>
              </a:xfrm>
              <a:prstGeom prst="rect">
                <a:avLst/>
              </a:prstGeom>
              <a:blipFill>
                <a:blip r:embed="rId2"/>
                <a:stretch>
                  <a:fillRect l="-1646" t="-13223" b="-32231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>
            <a:extLst>
              <a:ext uri="{FF2B5EF4-FFF2-40B4-BE49-F238E27FC236}">
                <a16:creationId xmlns:a16="http://schemas.microsoft.com/office/drawing/2014/main" id="{914527E8-B98B-4246-9169-8FEE2559B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83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LID4096" alt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B7F19FC-9345-4389-B1CC-0A3BB0D65D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464221"/>
                  </p:ext>
                </p:extLst>
              </p:nvPr>
            </p:nvGraphicFramePr>
            <p:xfrm>
              <a:off x="298042" y="3278644"/>
              <a:ext cx="7102884" cy="3368040"/>
            </p:xfrm>
            <a:graphic>
              <a:graphicData uri="http://schemas.openxmlformats.org/drawingml/2006/table">
                <a:tbl>
                  <a:tblPr/>
                  <a:tblGrid>
                    <a:gridCol w="1775721">
                      <a:extLst>
                        <a:ext uri="{9D8B030D-6E8A-4147-A177-3AD203B41FA5}">
                          <a16:colId xmlns:a16="http://schemas.microsoft.com/office/drawing/2014/main" val="2374682615"/>
                        </a:ext>
                      </a:extLst>
                    </a:gridCol>
                    <a:gridCol w="1775721">
                      <a:extLst>
                        <a:ext uri="{9D8B030D-6E8A-4147-A177-3AD203B41FA5}">
                          <a16:colId xmlns:a16="http://schemas.microsoft.com/office/drawing/2014/main" val="69716495"/>
                        </a:ext>
                      </a:extLst>
                    </a:gridCol>
                    <a:gridCol w="1775721">
                      <a:extLst>
                        <a:ext uri="{9D8B030D-6E8A-4147-A177-3AD203B41FA5}">
                          <a16:colId xmlns:a16="http://schemas.microsoft.com/office/drawing/2014/main" val="1543478780"/>
                        </a:ext>
                      </a:extLst>
                    </a:gridCol>
                    <a:gridCol w="1775721">
                      <a:extLst>
                        <a:ext uri="{9D8B030D-6E8A-4147-A177-3AD203B41FA5}">
                          <a16:colId xmlns:a16="http://schemas.microsoft.com/office/drawing/2014/main" val="1905953315"/>
                        </a:ext>
                      </a:extLst>
                    </a:gridCol>
                  </a:tblGrid>
                  <a:tr h="4652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b="1" dirty="0">
                              <a:solidFill>
                                <a:srgbClr val="3D3D3A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House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600" b="1" i="1" smtClean="0">
                                    <a:solidFill>
                                      <a:srgbClr val="3D3D3A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GB" sz="3600" b="1" i="1" smtClean="0">
                                    <a:solidFill>
                                      <a:srgbClr val="3D3D3A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3600" b="0" i="1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3600" b="0" i="1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3600" b="1" dirty="0">
                            <a:solidFill>
                              <a:srgbClr val="3D3D3A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600" b="1" i="1" dirty="0" smtClean="0">
                                    <a:solidFill>
                                      <a:srgbClr val="3D3D3A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  <m:r>
                                  <a:rPr lang="en-GB" sz="3600" b="1" i="1" dirty="0" smtClean="0">
                                    <a:solidFill>
                                      <a:srgbClr val="3D3D3A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3600" b="0" i="1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3600" b="0" i="1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3600" b="1" dirty="0">
                            <a:solidFill>
                              <a:srgbClr val="3D3D3A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600" b="1" i="1" smtClean="0">
                                    <a:solidFill>
                                      <a:srgbClr val="3D3D3A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𝒛</m:t>
                                </m:r>
                                <m:r>
                                  <a:rPr lang="en-GB" sz="3600" b="1" i="1" smtClean="0">
                                    <a:solidFill>
                                      <a:srgbClr val="3D3D3A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3600" b="0" i="1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3600" b="0" i="1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3600" b="1" dirty="0">
                            <a:solidFill>
                              <a:srgbClr val="3D3D3A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9949432"/>
                      </a:ext>
                    </a:extLst>
                  </a:tr>
                  <a:tr h="4652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9.6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51250016"/>
                      </a:ext>
                    </a:extLst>
                  </a:tr>
                  <a:tr h="4652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4.6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50863"/>
                      </a:ext>
                    </a:extLst>
                  </a:tr>
                  <a:tr h="4652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H3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23549287"/>
                      </a:ext>
                    </a:extLst>
                  </a:tr>
                  <a:tr h="4652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-5.4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1933041"/>
                      </a:ext>
                    </a:extLst>
                  </a:tr>
                  <a:tr h="4652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-8.4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20417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B7F19FC-9345-4389-B1CC-0A3BB0D65D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464221"/>
                  </p:ext>
                </p:extLst>
              </p:nvPr>
            </p:nvGraphicFramePr>
            <p:xfrm>
              <a:off x="298042" y="3278644"/>
              <a:ext cx="7102884" cy="3368040"/>
            </p:xfrm>
            <a:graphic>
              <a:graphicData uri="http://schemas.openxmlformats.org/drawingml/2006/table">
                <a:tbl>
                  <a:tblPr/>
                  <a:tblGrid>
                    <a:gridCol w="1775721">
                      <a:extLst>
                        <a:ext uri="{9D8B030D-6E8A-4147-A177-3AD203B41FA5}">
                          <a16:colId xmlns:a16="http://schemas.microsoft.com/office/drawing/2014/main" val="2374682615"/>
                        </a:ext>
                      </a:extLst>
                    </a:gridCol>
                    <a:gridCol w="1775721">
                      <a:extLst>
                        <a:ext uri="{9D8B030D-6E8A-4147-A177-3AD203B41FA5}">
                          <a16:colId xmlns:a16="http://schemas.microsoft.com/office/drawing/2014/main" val="69716495"/>
                        </a:ext>
                      </a:extLst>
                    </a:gridCol>
                    <a:gridCol w="1775721">
                      <a:extLst>
                        <a:ext uri="{9D8B030D-6E8A-4147-A177-3AD203B41FA5}">
                          <a16:colId xmlns:a16="http://schemas.microsoft.com/office/drawing/2014/main" val="1543478780"/>
                        </a:ext>
                      </a:extLst>
                    </a:gridCol>
                    <a:gridCol w="1775721">
                      <a:extLst>
                        <a:ext uri="{9D8B030D-6E8A-4147-A177-3AD203B41FA5}">
                          <a16:colId xmlns:a16="http://schemas.microsoft.com/office/drawing/2014/main" val="1905953315"/>
                        </a:ext>
                      </a:extLst>
                    </a:gridCol>
                  </a:tblGrid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b="1" dirty="0">
                              <a:solidFill>
                                <a:srgbClr val="3D3D3A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House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42" t="-12844" r="-200342" b="-4311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031" t="-12844" r="-101031" b="-4311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2844" r="-685" b="-4311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9949432"/>
                      </a:ext>
                    </a:extLst>
                  </a:tr>
                  <a:tr h="5410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9.6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51250016"/>
                      </a:ext>
                    </a:extLst>
                  </a:tr>
                  <a:tr h="5410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4.6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50863"/>
                      </a:ext>
                    </a:extLst>
                  </a:tr>
                  <a:tr h="5410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H3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23549287"/>
                      </a:ext>
                    </a:extLst>
                  </a:tr>
                  <a:tr h="5410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-5.4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1933041"/>
                      </a:ext>
                    </a:extLst>
                  </a:tr>
                  <a:tr h="5410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-8.4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2800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20417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8080E6-3751-4C2D-B8D6-8EA99630F26D}"/>
                  </a:ext>
                </a:extLst>
              </p:cNvPr>
              <p:cNvSpPr txBox="1"/>
              <p:nvPr/>
            </p:nvSpPr>
            <p:spPr>
              <a:xfrm>
                <a:off x="140880" y="1678344"/>
                <a:ext cx="6215062" cy="123296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b="0" i="0" dirty="0">
                    <a:solidFill>
                      <a:srgbClr val="141413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mean(Rooms)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0" i="1" smtClean="0">
                            <a:solidFill>
                              <a:srgbClr val="141413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solidFill>
                              <a:srgbClr val="141413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b="0" i="0" dirty="0">
                    <a:solidFill>
                      <a:srgbClr val="141413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(1+2+3+4+5)/5 = </a:t>
                </a:r>
                <a:r>
                  <a:rPr lang="en-US" sz="2400" b="1" i="0" dirty="0">
                    <a:solidFill>
                      <a:srgbClr val="141413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3.0</a:t>
                </a:r>
                <a:r>
                  <a:rPr lang="en-US" sz="2400" b="0" i="0" dirty="0">
                    <a:solidFill>
                      <a:srgbClr val="141413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2400" b="0" i="0" dirty="0">
                    <a:solidFill>
                      <a:srgbClr val="141413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mean(Age)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0" i="1" smtClean="0">
                            <a:solidFill>
                              <a:srgbClr val="141413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solidFill>
                              <a:srgbClr val="141413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b="0" i="0" dirty="0">
                    <a:solidFill>
                      <a:srgbClr val="141413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(20+15+10+5+2)/5 = </a:t>
                </a:r>
                <a:r>
                  <a:rPr lang="en-US" sz="2400" b="1" i="0" dirty="0">
                    <a:solidFill>
                      <a:srgbClr val="141413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10.4</a:t>
                </a:r>
                <a:r>
                  <a:rPr lang="en-US" sz="2400" b="0" i="0" dirty="0">
                    <a:solidFill>
                      <a:srgbClr val="141413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2400" b="0" i="0" dirty="0">
                    <a:solidFill>
                      <a:srgbClr val="141413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mean(Shops)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0" i="1" smtClean="0">
                            <a:solidFill>
                              <a:srgbClr val="141413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solidFill>
                              <a:srgbClr val="141413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400" b="0" i="0" dirty="0">
                    <a:solidFill>
                      <a:srgbClr val="141413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(2+4+6+8+10)/5 = </a:t>
                </a:r>
                <a:r>
                  <a:rPr lang="en-US" sz="2400" b="1" i="0" dirty="0">
                    <a:solidFill>
                      <a:srgbClr val="141413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6.0</a:t>
                </a:r>
                <a:endParaRPr lang="LID4096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8080E6-3751-4C2D-B8D6-8EA99630F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80" y="1678344"/>
                <a:ext cx="6215062" cy="1232966"/>
              </a:xfrm>
              <a:prstGeom prst="rect">
                <a:avLst/>
              </a:prstGeom>
              <a:blipFill>
                <a:blip r:embed="rId4"/>
                <a:stretch>
                  <a:fillRect l="-1370" t="-3415" b="-6829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8435BC2-BEC9-477F-81CD-0DDC0EC2C08E}"/>
              </a:ext>
            </a:extLst>
          </p:cNvPr>
          <p:cNvSpPr txBox="1"/>
          <p:nvPr/>
        </p:nvSpPr>
        <p:spPr>
          <a:xfrm>
            <a:off x="16668" y="900171"/>
            <a:ext cx="5300663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 Mean center each column</a:t>
            </a:r>
            <a:endParaRPr lang="LID4096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0FEE433A-2522-447C-AC0C-DE837FC7F0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264043"/>
                  </p:ext>
                </p:extLst>
              </p:nvPr>
            </p:nvGraphicFramePr>
            <p:xfrm>
              <a:off x="7515225" y="854649"/>
              <a:ext cx="4535895" cy="2880360"/>
            </p:xfrm>
            <a:graphic>
              <a:graphicData uri="http://schemas.openxmlformats.org/drawingml/2006/table">
                <a:tbl>
                  <a:tblPr/>
                  <a:tblGrid>
                    <a:gridCol w="907179">
                      <a:extLst>
                        <a:ext uri="{9D8B030D-6E8A-4147-A177-3AD203B41FA5}">
                          <a16:colId xmlns:a16="http://schemas.microsoft.com/office/drawing/2014/main" val="3387666439"/>
                        </a:ext>
                      </a:extLst>
                    </a:gridCol>
                    <a:gridCol w="907179">
                      <a:extLst>
                        <a:ext uri="{9D8B030D-6E8A-4147-A177-3AD203B41FA5}">
                          <a16:colId xmlns:a16="http://schemas.microsoft.com/office/drawing/2014/main" val="1349271365"/>
                        </a:ext>
                      </a:extLst>
                    </a:gridCol>
                    <a:gridCol w="907179">
                      <a:extLst>
                        <a:ext uri="{9D8B030D-6E8A-4147-A177-3AD203B41FA5}">
                          <a16:colId xmlns:a16="http://schemas.microsoft.com/office/drawing/2014/main" val="4109227039"/>
                        </a:ext>
                      </a:extLst>
                    </a:gridCol>
                    <a:gridCol w="907179">
                      <a:extLst>
                        <a:ext uri="{9D8B030D-6E8A-4147-A177-3AD203B41FA5}">
                          <a16:colId xmlns:a16="http://schemas.microsoft.com/office/drawing/2014/main" val="676480838"/>
                        </a:ext>
                      </a:extLst>
                    </a:gridCol>
                    <a:gridCol w="907179">
                      <a:extLst>
                        <a:ext uri="{9D8B030D-6E8A-4147-A177-3AD203B41FA5}">
                          <a16:colId xmlns:a16="http://schemas.microsoft.com/office/drawing/2014/main" val="282215155"/>
                        </a:ext>
                      </a:extLst>
                    </a:gridCol>
                  </a:tblGrid>
                  <a:tr h="8004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House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Rooms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1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 (</a:t>
                          </a: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yrs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1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Shops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1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Price (lakh)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24388639"/>
                      </a:ext>
                    </a:extLst>
                  </a:tr>
                  <a:tr h="331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42418494"/>
                      </a:ext>
                    </a:extLst>
                  </a:tr>
                  <a:tr h="331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40329345"/>
                      </a:ext>
                    </a:extLst>
                  </a:tr>
                  <a:tr h="331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H3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8254827"/>
                      </a:ext>
                    </a:extLst>
                  </a:tr>
                  <a:tr h="331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6968362"/>
                      </a:ext>
                    </a:extLst>
                  </a:tr>
                  <a:tr h="331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87941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0FEE433A-2522-447C-AC0C-DE837FC7F0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264043"/>
                  </p:ext>
                </p:extLst>
              </p:nvPr>
            </p:nvGraphicFramePr>
            <p:xfrm>
              <a:off x="7515225" y="854649"/>
              <a:ext cx="4535895" cy="2880360"/>
            </p:xfrm>
            <a:graphic>
              <a:graphicData uri="http://schemas.openxmlformats.org/drawingml/2006/table">
                <a:tbl>
                  <a:tblPr/>
                  <a:tblGrid>
                    <a:gridCol w="907179">
                      <a:extLst>
                        <a:ext uri="{9D8B030D-6E8A-4147-A177-3AD203B41FA5}">
                          <a16:colId xmlns:a16="http://schemas.microsoft.com/office/drawing/2014/main" val="3387666439"/>
                        </a:ext>
                      </a:extLst>
                    </a:gridCol>
                    <a:gridCol w="907179">
                      <a:extLst>
                        <a:ext uri="{9D8B030D-6E8A-4147-A177-3AD203B41FA5}">
                          <a16:colId xmlns:a16="http://schemas.microsoft.com/office/drawing/2014/main" val="1349271365"/>
                        </a:ext>
                      </a:extLst>
                    </a:gridCol>
                    <a:gridCol w="907179">
                      <a:extLst>
                        <a:ext uri="{9D8B030D-6E8A-4147-A177-3AD203B41FA5}">
                          <a16:colId xmlns:a16="http://schemas.microsoft.com/office/drawing/2014/main" val="4109227039"/>
                        </a:ext>
                      </a:extLst>
                    </a:gridCol>
                    <a:gridCol w="907179">
                      <a:extLst>
                        <a:ext uri="{9D8B030D-6E8A-4147-A177-3AD203B41FA5}">
                          <a16:colId xmlns:a16="http://schemas.microsoft.com/office/drawing/2014/main" val="676480838"/>
                        </a:ext>
                      </a:extLst>
                    </a:gridCol>
                    <a:gridCol w="907179">
                      <a:extLst>
                        <a:ext uri="{9D8B030D-6E8A-4147-A177-3AD203B41FA5}">
                          <a16:colId xmlns:a16="http://schemas.microsoft.com/office/drawing/2014/main" val="282215155"/>
                        </a:ext>
                      </a:extLst>
                    </a:gridCol>
                  </a:tblGrid>
                  <a:tr h="9372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House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71" t="-1948" r="-301342" b="-2162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671" t="-1948" r="-201342" b="-2162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671" t="-1948" r="-101342" b="-2162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Price (lakh)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24388639"/>
                      </a:ext>
                    </a:extLst>
                  </a:tr>
                  <a:tr h="388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42418494"/>
                      </a:ext>
                    </a:extLst>
                  </a:tr>
                  <a:tr h="388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40329345"/>
                      </a:ext>
                    </a:extLst>
                  </a:tr>
                  <a:tr h="388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H3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8254827"/>
                      </a:ext>
                    </a:extLst>
                  </a:tr>
                  <a:tr h="388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6968362"/>
                      </a:ext>
                    </a:extLst>
                  </a:tr>
                  <a:tr h="388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87941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178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C02141-03F9-4CCF-B19E-F510BEC4482F}"/>
                  </a:ext>
                </a:extLst>
              </p:cNvPr>
              <p:cNvSpPr txBox="1"/>
              <p:nvPr/>
            </p:nvSpPr>
            <p:spPr>
              <a:xfrm>
                <a:off x="0" y="1"/>
                <a:ext cx="12192000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</a:t>
                </a:r>
                <a:r>
                  <a:rPr lang="en-US" sz="4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dataset: 5 Houses </a:t>
                </a:r>
                <a14:m>
                  <m:oMath xmlns:m="http://schemas.openxmlformats.org/officeDocument/2006/math">
                    <m:r>
                      <a:rPr lang="en-US" sz="4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GB" sz="4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 Features</a:t>
                </a:r>
                <a:endParaRPr lang="en-US" sz="4000" b="1" i="0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C02141-03F9-4CCF-B19E-F510BEC44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"/>
                <a:ext cx="12192000" cy="707886"/>
              </a:xfrm>
              <a:prstGeom prst="rect">
                <a:avLst/>
              </a:prstGeom>
              <a:blipFill>
                <a:blip r:embed="rId2"/>
                <a:stretch>
                  <a:fillRect l="-1646" t="-13223" b="-32231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>
            <a:extLst>
              <a:ext uri="{FF2B5EF4-FFF2-40B4-BE49-F238E27FC236}">
                <a16:creationId xmlns:a16="http://schemas.microsoft.com/office/drawing/2014/main" id="{914527E8-B98B-4246-9169-8FEE2559B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83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LID4096" alt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435BC2-BEC9-477F-81CD-0DDC0EC2C08E}"/>
              </a:ext>
            </a:extLst>
          </p:cNvPr>
          <p:cNvSpPr txBox="1"/>
          <p:nvPr/>
        </p:nvSpPr>
        <p:spPr>
          <a:xfrm>
            <a:off x="16668" y="900171"/>
            <a:ext cx="5300663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 Co-Variance </a:t>
            </a:r>
            <a:endParaRPr lang="LID4096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4">
                <a:extLst>
                  <a:ext uri="{FF2B5EF4-FFF2-40B4-BE49-F238E27FC236}">
                    <a16:creationId xmlns:a16="http://schemas.microsoft.com/office/drawing/2014/main" id="{41979527-74C5-4AD7-854B-A51DE05715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860918"/>
                  </p:ext>
                </p:extLst>
              </p:nvPr>
            </p:nvGraphicFramePr>
            <p:xfrm>
              <a:off x="256633" y="1615675"/>
              <a:ext cx="11678733" cy="455028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583267">
                      <a:extLst>
                        <a:ext uri="{9D8B030D-6E8A-4147-A177-3AD203B41FA5}">
                          <a16:colId xmlns:a16="http://schemas.microsoft.com/office/drawing/2014/main" val="1501839573"/>
                        </a:ext>
                      </a:extLst>
                    </a:gridCol>
                    <a:gridCol w="879904">
                      <a:extLst>
                        <a:ext uri="{9D8B030D-6E8A-4147-A177-3AD203B41FA5}">
                          <a16:colId xmlns:a16="http://schemas.microsoft.com/office/drawing/2014/main" val="2500974459"/>
                        </a:ext>
                      </a:extLst>
                    </a:gridCol>
                    <a:gridCol w="937671">
                      <a:extLst>
                        <a:ext uri="{9D8B030D-6E8A-4147-A177-3AD203B41FA5}">
                          <a16:colId xmlns:a16="http://schemas.microsoft.com/office/drawing/2014/main" val="3748264"/>
                        </a:ext>
                      </a:extLst>
                    </a:gridCol>
                    <a:gridCol w="905416">
                      <a:extLst>
                        <a:ext uri="{9D8B030D-6E8A-4147-A177-3AD203B41FA5}">
                          <a16:colId xmlns:a16="http://schemas.microsoft.com/office/drawing/2014/main" val="1253063235"/>
                        </a:ext>
                      </a:extLst>
                    </a:gridCol>
                    <a:gridCol w="1114425">
                      <a:extLst>
                        <a:ext uri="{9D8B030D-6E8A-4147-A177-3AD203B41FA5}">
                          <a16:colId xmlns:a16="http://schemas.microsoft.com/office/drawing/2014/main" val="3281117075"/>
                        </a:ext>
                      </a:extLst>
                    </a:gridCol>
                    <a:gridCol w="1300163">
                      <a:extLst>
                        <a:ext uri="{9D8B030D-6E8A-4147-A177-3AD203B41FA5}">
                          <a16:colId xmlns:a16="http://schemas.microsoft.com/office/drawing/2014/main" val="1901303356"/>
                        </a:ext>
                      </a:extLst>
                    </a:gridCol>
                    <a:gridCol w="1228725">
                      <a:extLst>
                        <a:ext uri="{9D8B030D-6E8A-4147-A177-3AD203B41FA5}">
                          <a16:colId xmlns:a16="http://schemas.microsoft.com/office/drawing/2014/main" val="2583734073"/>
                        </a:ext>
                      </a:extLst>
                    </a:gridCol>
                    <a:gridCol w="1494884">
                      <a:extLst>
                        <a:ext uri="{9D8B030D-6E8A-4147-A177-3AD203B41FA5}">
                          <a16:colId xmlns:a16="http://schemas.microsoft.com/office/drawing/2014/main" val="3973104798"/>
                        </a:ext>
                      </a:extLst>
                    </a:gridCol>
                    <a:gridCol w="1714500">
                      <a:extLst>
                        <a:ext uri="{9D8B030D-6E8A-4147-A177-3AD203B41FA5}">
                          <a16:colId xmlns:a16="http://schemas.microsoft.com/office/drawing/2014/main" val="791938834"/>
                        </a:ext>
                      </a:extLst>
                    </a:gridCol>
                    <a:gridCol w="1519778">
                      <a:extLst>
                        <a:ext uri="{9D8B030D-6E8A-4147-A177-3AD203B41FA5}">
                          <a16:colId xmlns:a16="http://schemas.microsoft.com/office/drawing/2014/main" val="1815249338"/>
                        </a:ext>
                      </a:extLst>
                    </a:gridCol>
                  </a:tblGrid>
                  <a:tr h="8674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3D3D3A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House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smtClean="0">
                                    <a:solidFill>
                                      <a:srgbClr val="3D3D3A"/>
                                    </a:solidFill>
                                    <a:effectLst/>
                                  </a:rPr>
                                  <m:t>𝒙</m:t>
                                </m:r>
                                <m:r>
                                  <a:rPr lang="en-GB" sz="2400" b="1" smtClean="0">
                                    <a:solidFill>
                                      <a:srgbClr val="3D3D3A"/>
                                    </a:solidFill>
                                    <a:effectLst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b="0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3D3D3A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dirty="0" smtClean="0">
                                    <a:solidFill>
                                      <a:srgbClr val="3D3D3A"/>
                                    </a:solidFill>
                                    <a:effectLst/>
                                  </a:rPr>
                                  <m:t>𝒚</m:t>
                                </m:r>
                                <m:r>
                                  <a:rPr lang="en-GB" sz="2400" b="1" dirty="0" smtClean="0">
                                    <a:solidFill>
                                      <a:srgbClr val="3D3D3A"/>
                                    </a:solidFill>
                                    <a:effectLst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b="0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3D3D3A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smtClean="0">
                                    <a:solidFill>
                                      <a:srgbClr val="3D3D3A"/>
                                    </a:solidFill>
                                    <a:effectLst/>
                                  </a:rPr>
                                  <m:t>𝒛</m:t>
                                </m:r>
                                <m:r>
                                  <a:rPr lang="en-GB" sz="2400" b="1" smtClean="0">
                                    <a:solidFill>
                                      <a:srgbClr val="3D3D3A"/>
                                    </a:solidFill>
                                    <a:effectLst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b="0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</a:rPr>
                                      <m:t>𝑧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3D3D3A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rgbClr val="141413"/>
                            </a:solidFill>
                            <a:effectLst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2400" b="0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GB" sz="2400" b="1" smtClean="0">
                                            <a:solidFill>
                                              <a:srgbClr val="3D3D3A"/>
                                            </a:solidFill>
                                            <a:effectLst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2400" b="1" smtClean="0">
                                            <a:solidFill>
                                              <a:srgbClr val="3D3D3A"/>
                                            </a:solidFill>
                                            <a:effectLst/>
                                          </a:rPr>
                                          <m:t>𝒙</m:t>
                                        </m:r>
                                        <m:r>
                                          <a:rPr lang="en-GB" sz="2400" b="1" smtClean="0">
                                            <a:solidFill>
                                              <a:srgbClr val="3D3D3A"/>
                                            </a:solidFill>
                                            <a:effectLst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2400" b="0" smtClean="0">
                                                <a:solidFill>
                                                  <a:srgbClr val="141413"/>
                                                </a:solidFill>
                                                <a:effectLst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GB" sz="2400" b="0" smtClean="0">
                                                <a:solidFill>
                                                  <a:srgbClr val="141413"/>
                                                </a:solidFill>
                                                <a:effectLst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GB" sz="2400" b="0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3D3D3A"/>
                            </a:solidFill>
                            <a:effectLst/>
                          </a:endParaRPr>
                        </a:p>
                        <a:p>
                          <a:pPr algn="ctr"/>
                          <a:r>
                            <a:rPr lang="en-US" sz="2400" b="1" dirty="0">
                              <a:solidFill>
                                <a:srgbClr val="3D3D3A"/>
                              </a:solidFill>
                              <a:effectLst/>
                            </a:rPr>
                            <a:t> </a:t>
                          </a:r>
                          <a:endParaRPr lang="en-US" sz="2400" b="1" dirty="0">
                            <a:solidFill>
                              <a:srgbClr val="3D3D3A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2400" b="0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GB" sz="2400" b="1" dirty="0" smtClean="0">
                                            <a:solidFill>
                                              <a:srgbClr val="3D3D3A"/>
                                            </a:solidFill>
                                            <a:effectLst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2400" b="1" dirty="0" smtClean="0">
                                            <a:solidFill>
                                              <a:srgbClr val="3D3D3A"/>
                                            </a:solidFill>
                                            <a:effectLst/>
                                          </a:rPr>
                                          <m:t>𝒚</m:t>
                                        </m:r>
                                        <m:r>
                                          <a:rPr lang="en-GB" sz="2400" b="1" dirty="0" smtClean="0">
                                            <a:solidFill>
                                              <a:srgbClr val="3D3D3A"/>
                                            </a:solidFill>
                                            <a:effectLst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2400" b="0" smtClean="0">
                                                <a:solidFill>
                                                  <a:srgbClr val="141413"/>
                                                </a:solidFill>
                                                <a:effectLst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GB" sz="2400" b="0" smtClean="0">
                                                <a:solidFill>
                                                  <a:srgbClr val="141413"/>
                                                </a:solidFill>
                                                <a:effectLst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GB" sz="2400" b="0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3D3D3A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2400" b="0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GB" sz="2400" b="1" smtClean="0">
                                            <a:solidFill>
                                              <a:srgbClr val="3D3D3A"/>
                                            </a:solidFill>
                                            <a:effectLst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2400" b="1" smtClean="0">
                                            <a:solidFill>
                                              <a:srgbClr val="3D3D3A"/>
                                            </a:solidFill>
                                            <a:effectLst/>
                                          </a:rPr>
                                          <m:t>𝒛</m:t>
                                        </m:r>
                                        <m:r>
                                          <a:rPr lang="en-GB" sz="2400" b="1" smtClean="0">
                                            <a:solidFill>
                                              <a:srgbClr val="3D3D3A"/>
                                            </a:solidFill>
                                            <a:effectLst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2400" b="0" smtClean="0">
                                                <a:solidFill>
                                                  <a:srgbClr val="141413"/>
                                                </a:solidFill>
                                                <a:effectLst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GB" sz="2400" b="0" smtClean="0">
                                                <a:solidFill>
                                                  <a:srgbClr val="141413"/>
                                                </a:solidFill>
                                                <a:effectLst/>
                                              </a:rPr>
                                              <m:t>𝑧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GB" sz="2400" b="0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3D3D3A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2400" b="0" dirty="0" smtClean="0">
                                        <a:solidFill>
                                          <a:srgbClr val="002060"/>
                                        </a:solidFill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>
                                        <a:solidFill>
                                          <a:srgbClr val="002060"/>
                                        </a:solidFill>
                                      </a:rPr>
                                      <m:t>𝑥</m:t>
                                    </m:r>
                                    <m:r>
                                      <a:rPr lang="en-GB" sz="2400">
                                        <a:solidFill>
                                          <a:srgbClr val="002060"/>
                                        </a:solidFill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2400">
                                            <a:solidFill>
                                              <a:srgbClr val="002060"/>
                                            </a:solidFill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2400">
                                            <a:solidFill>
                                              <a:srgbClr val="002060"/>
                                            </a:solidFill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  <m:d>
                                  <m:dPr>
                                    <m:ctrlPr>
                                      <a:rPr lang="en-GB" sz="2400" b="0" dirty="0" smtClean="0">
                                        <a:solidFill>
                                          <a:srgbClr val="002060"/>
                                        </a:solidFill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dirty="0" smtClean="0">
                                        <a:solidFill>
                                          <a:srgbClr val="002060"/>
                                        </a:solidFill>
                                      </a:rPr>
                                      <m:t>𝑦</m:t>
                                    </m:r>
                                    <m:r>
                                      <a:rPr lang="en-GB" sz="2400">
                                        <a:solidFill>
                                          <a:srgbClr val="002060"/>
                                        </a:solidFill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2400">
                                            <a:solidFill>
                                              <a:srgbClr val="002060"/>
                                            </a:solidFill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2400" b="0" smtClean="0">
                                            <a:solidFill>
                                              <a:srgbClr val="002060"/>
                                            </a:solidFill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LID4096" sz="2400" dirty="0"/>
                        </a:p>
                        <a:p>
                          <a:pPr algn="ctr"/>
                          <a:endParaRPr lang="en-US" sz="2400" b="1" dirty="0">
                            <a:solidFill>
                              <a:srgbClr val="3D3D3A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2400" b="0" dirty="0" smtClean="0">
                                        <a:solidFill>
                                          <a:srgbClr val="002060"/>
                                        </a:solidFill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>
                                        <a:solidFill>
                                          <a:srgbClr val="002060"/>
                                        </a:solidFill>
                                      </a:rPr>
                                      <m:t>𝑥</m:t>
                                    </m:r>
                                    <m:r>
                                      <a:rPr lang="en-GB" sz="2400">
                                        <a:solidFill>
                                          <a:srgbClr val="002060"/>
                                        </a:solidFill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2400">
                                            <a:solidFill>
                                              <a:srgbClr val="002060"/>
                                            </a:solidFill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2400">
                                            <a:solidFill>
                                              <a:srgbClr val="002060"/>
                                            </a:solidFill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  <m:d>
                                  <m:dPr>
                                    <m:ctrlPr>
                                      <a:rPr lang="en-GB" sz="2400" b="0" dirty="0" smtClean="0">
                                        <a:solidFill>
                                          <a:srgbClr val="002060"/>
                                        </a:solidFill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1" dirty="0" smtClean="0">
                                        <a:solidFill>
                                          <a:srgbClr val="002060"/>
                                        </a:solidFill>
                                      </a:rPr>
                                      <m:t>𝒛</m:t>
                                    </m:r>
                                    <m:r>
                                      <a:rPr lang="en-GB" sz="2400" b="1" dirty="0" smtClean="0">
                                        <a:solidFill>
                                          <a:srgbClr val="002060"/>
                                        </a:solidFill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2400">
                                            <a:solidFill>
                                              <a:srgbClr val="002060"/>
                                            </a:solidFill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2400" b="0" smtClean="0">
                                            <a:solidFill>
                                              <a:srgbClr val="002060"/>
                                            </a:solidFill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LID4096" sz="2400" dirty="0"/>
                        </a:p>
                        <a:p>
                          <a:pPr algn="ctr"/>
                          <a:endParaRPr lang="en-US" sz="2400" b="1" dirty="0">
                            <a:solidFill>
                              <a:srgbClr val="3D3D3A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2400" b="0" dirty="0" smtClean="0">
                                        <a:solidFill>
                                          <a:srgbClr val="002060"/>
                                        </a:solidFill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1" dirty="0" smtClean="0">
                                        <a:solidFill>
                                          <a:srgbClr val="002060"/>
                                        </a:solidFill>
                                      </a:rPr>
                                      <m:t>𝒚</m:t>
                                    </m:r>
                                    <m:r>
                                      <a:rPr lang="en-GB" sz="2400">
                                        <a:solidFill>
                                          <a:srgbClr val="002060"/>
                                        </a:solidFill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2400">
                                            <a:solidFill>
                                              <a:srgbClr val="002060"/>
                                            </a:solidFill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2400" b="1" smtClean="0">
                                            <a:solidFill>
                                              <a:srgbClr val="002060"/>
                                            </a:solidFill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</m:d>
                                <m:d>
                                  <m:dPr>
                                    <m:ctrlPr>
                                      <a:rPr lang="en-GB" sz="2400" b="0" dirty="0" smtClean="0">
                                        <a:solidFill>
                                          <a:srgbClr val="002060"/>
                                        </a:solidFill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1" dirty="0" smtClean="0">
                                        <a:solidFill>
                                          <a:srgbClr val="002060"/>
                                        </a:solidFill>
                                      </a:rPr>
                                      <m:t>𝒛</m:t>
                                    </m:r>
                                    <m:r>
                                      <a:rPr lang="en-GB" sz="2400">
                                        <a:solidFill>
                                          <a:srgbClr val="002060"/>
                                        </a:solidFill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2400">
                                            <a:solidFill>
                                              <a:srgbClr val="002060"/>
                                            </a:solidFill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2400" b="0" smtClean="0">
                                            <a:solidFill>
                                              <a:srgbClr val="002060"/>
                                            </a:solidFill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LID4096" sz="2400" dirty="0"/>
                        </a:p>
                        <a:p>
                          <a:endParaRPr lang="en-GB" sz="2400" b="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73250966"/>
                      </a:ext>
                    </a:extLst>
                  </a:tr>
                  <a:tr h="37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</a:rPr>
                            <a:t>-2</a:t>
                          </a:r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</a:rPr>
                            <a:t>9.6</a:t>
                          </a:r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</a:rPr>
                            <a:t>-4</a:t>
                          </a:r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4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92.16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16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−19.2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8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−38.4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60649750"/>
                      </a:ext>
                    </a:extLst>
                  </a:tr>
                  <a:tr h="37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</a:rPr>
                            <a:t>-1</a:t>
                          </a:r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</a:rPr>
                            <a:t>4.6</a:t>
                          </a:r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</a:rPr>
                            <a:t>-2</a:t>
                          </a:r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1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21.16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4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−4.6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2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−9.2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6347239"/>
                      </a:ext>
                    </a:extLst>
                  </a:tr>
                  <a:tr h="37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H3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73726C"/>
                              </a:solidFill>
                              <a:effectLst/>
                            </a:rPr>
                            <a:t>0</a:t>
                          </a:r>
                          <a:endParaRPr lang="en-PK" b="0" dirty="0">
                            <a:solidFill>
                              <a:srgbClr val="73726C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</a:rPr>
                            <a:t>-0.4</a:t>
                          </a:r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73726C"/>
                              </a:solidFill>
                              <a:effectLst/>
                            </a:rPr>
                            <a:t>0</a:t>
                          </a:r>
                          <a:endParaRPr lang="en-PK" b="0" dirty="0">
                            <a:solidFill>
                              <a:srgbClr val="73726C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0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0.16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0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0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0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0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39287805"/>
                      </a:ext>
                    </a:extLst>
                  </a:tr>
                  <a:tr h="37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</a:rPr>
                            <a:t>1</a:t>
                          </a:r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</a:rPr>
                            <a:t>-5.4</a:t>
                          </a:r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</a:rPr>
                            <a:t>2</a:t>
                          </a:r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1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29.16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4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−5.4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2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−10.8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127835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</a:rPr>
                            <a:t>2</a:t>
                          </a:r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</a:rPr>
                            <a:t>-8.4</a:t>
                          </a:r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</a:rPr>
                            <a:t>4</a:t>
                          </a:r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4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70.56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16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−16.8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8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−33.6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135246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73726C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mtClean="0"/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GB" b="0" smtClean="0"/>
                                      <m:t>=10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mtClean="0"/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GB" b="0" smtClean="0"/>
                                      <m:t>=</m:t>
                                    </m:r>
                                    <m:r>
                                      <a:rPr lang="en-GB" b="0" smtClean="0"/>
                                      <m:t>213.2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LID4096" dirty="0"/>
                        </a:p>
                        <a:p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mtClean="0"/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GB" b="0" smtClean="0"/>
                                      <m:t>=</m:t>
                                    </m:r>
                                    <m:r>
                                      <a:rPr lang="en-GB" b="0" smtClean="0"/>
                                      <m:t>4</m:t>
                                    </m:r>
                                    <m:r>
                                      <a:rPr lang="en-GB" b="0" smtClean="0"/>
                                      <m:t>0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LID4096" dirty="0"/>
                        </a:p>
                        <a:p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mtClean="0"/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GB" b="0" smtClean="0"/>
                                      <m:t>=</m:t>
                                    </m:r>
                                    <m:r>
                                      <a:rPr lang="en-GB" b="0" smtClean="0"/>
                                      <m:t>−46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LID4096" dirty="0"/>
                        </a:p>
                        <a:p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mtClean="0"/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GB" b="0" smtClean="0"/>
                                      <m:t>=</m:t>
                                    </m:r>
                                    <m:r>
                                      <a:rPr lang="en-GB" b="0" smtClean="0"/>
                                      <m:t>2</m:t>
                                    </m:r>
                                    <m:r>
                                      <a:rPr lang="en-GB" b="0" smtClean="0"/>
                                      <m:t>0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LID4096" dirty="0"/>
                        </a:p>
                        <a:p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mtClean="0"/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GB" b="0" smtClean="0"/>
                                      <m:t>=</m:t>
                                    </m:r>
                                    <m:r>
                                      <a:rPr lang="en-GB" b="0" smtClean="0"/>
                                      <m:t>−92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LID4096" dirty="0"/>
                        </a:p>
                        <a:p>
                          <a:endParaRPr lang="LID4096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882344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4">
                <a:extLst>
                  <a:ext uri="{FF2B5EF4-FFF2-40B4-BE49-F238E27FC236}">
                    <a16:creationId xmlns:a16="http://schemas.microsoft.com/office/drawing/2014/main" id="{41979527-74C5-4AD7-854B-A51DE05715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860918"/>
                  </p:ext>
                </p:extLst>
              </p:nvPr>
            </p:nvGraphicFramePr>
            <p:xfrm>
              <a:off x="256633" y="1615675"/>
              <a:ext cx="11678733" cy="455028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583267">
                      <a:extLst>
                        <a:ext uri="{9D8B030D-6E8A-4147-A177-3AD203B41FA5}">
                          <a16:colId xmlns:a16="http://schemas.microsoft.com/office/drawing/2014/main" val="1501839573"/>
                        </a:ext>
                      </a:extLst>
                    </a:gridCol>
                    <a:gridCol w="879904">
                      <a:extLst>
                        <a:ext uri="{9D8B030D-6E8A-4147-A177-3AD203B41FA5}">
                          <a16:colId xmlns:a16="http://schemas.microsoft.com/office/drawing/2014/main" val="2500974459"/>
                        </a:ext>
                      </a:extLst>
                    </a:gridCol>
                    <a:gridCol w="937671">
                      <a:extLst>
                        <a:ext uri="{9D8B030D-6E8A-4147-A177-3AD203B41FA5}">
                          <a16:colId xmlns:a16="http://schemas.microsoft.com/office/drawing/2014/main" val="3748264"/>
                        </a:ext>
                      </a:extLst>
                    </a:gridCol>
                    <a:gridCol w="905416">
                      <a:extLst>
                        <a:ext uri="{9D8B030D-6E8A-4147-A177-3AD203B41FA5}">
                          <a16:colId xmlns:a16="http://schemas.microsoft.com/office/drawing/2014/main" val="1253063235"/>
                        </a:ext>
                      </a:extLst>
                    </a:gridCol>
                    <a:gridCol w="1114425">
                      <a:extLst>
                        <a:ext uri="{9D8B030D-6E8A-4147-A177-3AD203B41FA5}">
                          <a16:colId xmlns:a16="http://schemas.microsoft.com/office/drawing/2014/main" val="3281117075"/>
                        </a:ext>
                      </a:extLst>
                    </a:gridCol>
                    <a:gridCol w="1300163">
                      <a:extLst>
                        <a:ext uri="{9D8B030D-6E8A-4147-A177-3AD203B41FA5}">
                          <a16:colId xmlns:a16="http://schemas.microsoft.com/office/drawing/2014/main" val="1901303356"/>
                        </a:ext>
                      </a:extLst>
                    </a:gridCol>
                    <a:gridCol w="1228725">
                      <a:extLst>
                        <a:ext uri="{9D8B030D-6E8A-4147-A177-3AD203B41FA5}">
                          <a16:colId xmlns:a16="http://schemas.microsoft.com/office/drawing/2014/main" val="2583734073"/>
                        </a:ext>
                      </a:extLst>
                    </a:gridCol>
                    <a:gridCol w="1494884">
                      <a:extLst>
                        <a:ext uri="{9D8B030D-6E8A-4147-A177-3AD203B41FA5}">
                          <a16:colId xmlns:a16="http://schemas.microsoft.com/office/drawing/2014/main" val="3973104798"/>
                        </a:ext>
                      </a:extLst>
                    </a:gridCol>
                    <a:gridCol w="1714500">
                      <a:extLst>
                        <a:ext uri="{9D8B030D-6E8A-4147-A177-3AD203B41FA5}">
                          <a16:colId xmlns:a16="http://schemas.microsoft.com/office/drawing/2014/main" val="791938834"/>
                        </a:ext>
                      </a:extLst>
                    </a:gridCol>
                    <a:gridCol w="1519778">
                      <a:extLst>
                        <a:ext uri="{9D8B030D-6E8A-4147-A177-3AD203B41FA5}">
                          <a16:colId xmlns:a16="http://schemas.microsoft.com/office/drawing/2014/main" val="1815249338"/>
                        </a:ext>
                      </a:extLst>
                    </a:gridCol>
                  </a:tblGrid>
                  <a:tr h="15771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3D3D3A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House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7361" t="-37838" r="-1165278" b="-189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6494" t="-37838" r="-989610" b="-189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6892" t="-37838" r="-929730" b="-189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721" t="-37838" r="-651913" b="-189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252" t="-37838" r="-457477" b="-189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7662" t="-37838" r="-387065" b="-189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5714" t="-37838" r="-217551" b="-189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1489" t="-37838" r="-89007" b="-189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9880" t="-37838" r="-803" b="-1891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3250966"/>
                      </a:ext>
                    </a:extLst>
                  </a:tr>
                  <a:tr h="388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</a:rPr>
                            <a:t>-2</a:t>
                          </a:r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</a:rPr>
                            <a:t>9.6</a:t>
                          </a:r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</a:rPr>
                            <a:t>-4</a:t>
                          </a:r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721" t="-557813" r="-651913" b="-66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252" t="-557813" r="-457477" b="-66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7662" t="-557813" r="-387065" b="-66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5714" t="-557813" r="-217551" b="-66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1489" t="-557813" r="-89007" b="-66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9880" t="-557813" r="-803" b="-66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60649750"/>
                      </a:ext>
                    </a:extLst>
                  </a:tr>
                  <a:tr h="388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</a:rPr>
                            <a:t>-1</a:t>
                          </a:r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</a:rPr>
                            <a:t>4.6</a:t>
                          </a:r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</a:rPr>
                            <a:t>-2</a:t>
                          </a:r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721" t="-657813" r="-651913" b="-56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252" t="-657813" r="-457477" b="-56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7662" t="-657813" r="-387065" b="-56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5714" t="-657813" r="-217551" b="-56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1489" t="-657813" r="-89007" b="-56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9880" t="-657813" r="-803" b="-56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6347239"/>
                      </a:ext>
                    </a:extLst>
                  </a:tr>
                  <a:tr h="388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H3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73726C"/>
                              </a:solidFill>
                              <a:effectLst/>
                            </a:rPr>
                            <a:t>0</a:t>
                          </a:r>
                          <a:endParaRPr lang="en-PK" b="0" dirty="0">
                            <a:solidFill>
                              <a:srgbClr val="73726C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</a:rPr>
                            <a:t>-0.4</a:t>
                          </a:r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73726C"/>
                              </a:solidFill>
                              <a:effectLst/>
                            </a:rPr>
                            <a:t>0</a:t>
                          </a:r>
                          <a:endParaRPr lang="en-PK" b="0" dirty="0">
                            <a:solidFill>
                              <a:srgbClr val="73726C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721" t="-769841" r="-651913" b="-474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252" t="-769841" r="-457477" b="-474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7662" t="-769841" r="-387065" b="-474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5714" t="-769841" r="-217551" b="-474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1489" t="-769841" r="-89007" b="-474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9880" t="-769841" r="-803" b="-4746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9287805"/>
                      </a:ext>
                    </a:extLst>
                  </a:tr>
                  <a:tr h="388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</a:rPr>
                            <a:t>1</a:t>
                          </a:r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</a:rPr>
                            <a:t>-5.4</a:t>
                          </a:r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</a:rPr>
                            <a:t>2</a:t>
                          </a:r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721" t="-856250" r="-651913" b="-3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252" t="-856250" r="-457477" b="-3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7662" t="-856250" r="-387065" b="-3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5714" t="-856250" r="-217551" b="-3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1489" t="-856250" r="-89007" b="-3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9880" t="-856250" r="-803" b="-36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1278351"/>
                      </a:ext>
                    </a:extLst>
                  </a:tr>
                  <a:tr h="388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</a:rPr>
                            <a:t>2</a:t>
                          </a:r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</a:rPr>
                            <a:t>-8.4</a:t>
                          </a:r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</a:rPr>
                            <a:t>4</a:t>
                          </a:r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721" t="-956250" r="-651913" b="-2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252" t="-956250" r="-457477" b="-2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7662" t="-956250" r="-387065" b="-2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5714" t="-956250" r="-217551" b="-2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1489" t="-956250" r="-89007" b="-2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9880" t="-956250" r="-803" b="-26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1352463"/>
                      </a:ext>
                    </a:extLst>
                  </a:tr>
                  <a:tr h="1030034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73726C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b="0" dirty="0">
                            <a:solidFill>
                              <a:srgbClr val="A32D2D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b="0" dirty="0">
                            <a:solidFill>
                              <a:srgbClr val="185FA5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721" t="-400000" r="-651913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252" t="-400000" r="-457477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7662" t="-400000" r="-387065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5714" t="-400000" r="-217551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1489" t="-400000" r="-89007" b="-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9880" t="-400000" r="-803" b="-11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82344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69725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A12956-0E8D-4BEC-A5D2-975D498E957F}"/>
                  </a:ext>
                </a:extLst>
              </p:cNvPr>
              <p:cNvSpPr txBox="1"/>
              <p:nvPr/>
            </p:nvSpPr>
            <p:spPr>
              <a:xfrm>
                <a:off x="276228" y="1158865"/>
                <a:ext cx="10982322" cy="51307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GB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GB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num>
                      <m:den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=2.5</m:t>
                    </m:r>
                  </m:oMath>
                </a14:m>
                <a:endParaRPr lang="en-GB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en-GB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GB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  <m:r>
                                      <a:rPr lang="en-GB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GB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r>
                      <a:rPr lang="en-GB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213.2</m:t>
                        </m:r>
                      </m:num>
                      <m:den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=53.3</m:t>
                    </m:r>
                  </m:oMath>
                </a14:m>
                <a:endParaRPr lang="en-GB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GB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GB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  <m:r>
                                      <a:rPr lang="en-GB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GB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r>
                      <a:rPr lang="en-GB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num>
                      <m:den>
                        <m:r>
                          <a:rPr lang="en-GB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GB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</m:t>
                    </m:r>
                  </m:oMath>
                </a14:m>
                <a:endParaRPr lang="en-GB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GB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GB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PK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A12956-0E8D-4BEC-A5D2-975D498E9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8" y="1158865"/>
                <a:ext cx="10982322" cy="5130700"/>
              </a:xfrm>
              <a:prstGeom prst="rect">
                <a:avLst/>
              </a:prstGeom>
              <a:blipFill>
                <a:blip r:embed="rId2"/>
                <a:stretch>
                  <a:fillRect l="-105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9333B3A-601A-4CC2-8863-92606D4B1B71}"/>
              </a:ext>
            </a:extLst>
          </p:cNvPr>
          <p:cNvSpPr txBox="1"/>
          <p:nvPr/>
        </p:nvSpPr>
        <p:spPr>
          <a:xfrm>
            <a:off x="0" y="285810"/>
            <a:ext cx="6529388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Variance and Co-Variance Calculations</a:t>
            </a:r>
            <a:endParaRPr lang="LID4096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15B2E6A-ABC5-459C-AE70-9C7B4CC75CDC}"/>
              </a:ext>
            </a:extLst>
          </p:cNvPr>
          <p:cNvCxnSpPr>
            <a:cxnSpLocks/>
          </p:cNvCxnSpPr>
          <p:nvPr/>
        </p:nvCxnSpPr>
        <p:spPr>
          <a:xfrm>
            <a:off x="5486402" y="1500187"/>
            <a:ext cx="0" cy="40862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DA5C66-334A-45E3-B629-3666C4059C11}"/>
                  </a:ext>
                </a:extLst>
              </p:cNvPr>
              <p:cNvSpPr txBox="1"/>
              <p:nvPr/>
            </p:nvSpPr>
            <p:spPr>
              <a:xfrm>
                <a:off x="5570407" y="1364355"/>
                <a:ext cx="5478358" cy="6896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20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GB" sz="20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GB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GB" sz="20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GB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sz="20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0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46.4</m:t>
                          </m:r>
                        </m:num>
                        <m:den>
                          <m:r>
                            <a:rPr lang="en-GB" sz="20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0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=−11.5</m:t>
                      </m:r>
                    </m:oMath>
                  </m:oMathPara>
                </a14:m>
                <a:endParaRPr lang="LID4096" sz="20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DA5C66-334A-45E3-B629-3666C4059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407" y="1364355"/>
                <a:ext cx="5478358" cy="6896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80EA67-0C95-40FB-B74C-B35EB795CE45}"/>
                  </a:ext>
                </a:extLst>
              </p:cNvPr>
              <p:cNvSpPr txBox="1"/>
              <p:nvPr/>
            </p:nvSpPr>
            <p:spPr>
              <a:xfrm>
                <a:off x="6096000" y="2752971"/>
                <a:ext cx="5071004" cy="1902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GB" sz="20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20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GB" sz="20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GB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GB" sz="20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  <m:r>
                                    <a:rPr lang="en-GB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sz="20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0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sz="2000" dirty="0">
                  <a:solidFill>
                    <a:srgbClr val="002060"/>
                  </a:solidFill>
                </a:endParaRPr>
              </a:p>
              <a:p>
                <a:pPr/>
                <a:endParaRPr lang="en-GB" sz="2000" dirty="0">
                  <a:solidFill>
                    <a:srgbClr val="002060"/>
                  </a:solidFill>
                </a:endParaRPr>
              </a:p>
              <a:p>
                <a:pPr/>
                <a:endParaRPr lang="en-GB" sz="2000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GB" sz="20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20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GB" sz="20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GB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GB" sz="20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GB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sz="20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92</m:t>
                          </m:r>
                        </m:num>
                        <m:den>
                          <m:r>
                            <a:rPr lang="en-GB" sz="20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0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=−23</m:t>
                      </m:r>
                    </m:oMath>
                  </m:oMathPara>
                </a14:m>
                <a:endParaRPr lang="LID4096" sz="20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80EA67-0C95-40FB-B74C-B35EB795C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52971"/>
                <a:ext cx="5071004" cy="19025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5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C73DBD-7D8A-426E-8C4F-5ACE93C9ED9E}"/>
              </a:ext>
            </a:extLst>
          </p:cNvPr>
          <p:cNvSpPr txBox="1"/>
          <p:nvPr/>
        </p:nvSpPr>
        <p:spPr>
          <a:xfrm>
            <a:off x="0" y="285809"/>
            <a:ext cx="5300663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Co-Variance Matrix</a:t>
            </a:r>
            <a:endParaRPr lang="LID4096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1F1FEE-12B3-4DD6-BDD6-7BCB674AF14A}"/>
                  </a:ext>
                </a:extLst>
              </p:cNvPr>
              <p:cNvSpPr txBox="1"/>
              <p:nvPr/>
            </p:nvSpPr>
            <p:spPr>
              <a:xfrm>
                <a:off x="285750" y="1171574"/>
                <a:ext cx="10733579" cy="14618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𝑣𝑎𝑟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𝐶𝑜𝑉𝑎𝑟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𝐶𝑜𝑉𝑎𝑟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𝑐𝑜𝑣𝑎𝑟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𝑣𝑎𝑟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𝑐𝑜𝑣𝑎𝑟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𝑐𝑜𝑣𝑎𝑟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𝑐𝑜𝑣𝑎𝑟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𝑣𝑎𝑟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−11.5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−11.5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53.3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−23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−23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LID4096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1F1FEE-12B3-4DD6-BDD6-7BCB674AF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" y="1171574"/>
                <a:ext cx="10733579" cy="14618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6CA5FDF-29C3-4B2C-9080-873B09071CEE}"/>
              </a:ext>
            </a:extLst>
          </p:cNvPr>
          <p:cNvSpPr txBox="1"/>
          <p:nvPr/>
        </p:nvSpPr>
        <p:spPr>
          <a:xfrm>
            <a:off x="166688" y="3092135"/>
            <a:ext cx="4748213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 Values</a:t>
            </a:r>
            <a:endParaRPr lang="LID4096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BEF799-A9DA-4981-BC3A-52A62FD0E7D4}"/>
                  </a:ext>
                </a:extLst>
              </p:cNvPr>
              <p:cNvSpPr txBox="1"/>
              <p:nvPr/>
            </p:nvSpPr>
            <p:spPr>
              <a:xfrm>
                <a:off x="485775" y="3943348"/>
                <a:ext cx="5300662" cy="1240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−11.5</m:t>
                                </m:r>
                              </m:e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−11.5</m:t>
                                </m:r>
                              </m:e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53.3−</m:t>
                                </m:r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−23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−23</m:t>
                                </m:r>
                              </m:e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10−</m:t>
                                </m:r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LID4096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BEF799-A9DA-4981-BC3A-52A62FD0E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3943348"/>
                <a:ext cx="5300662" cy="12405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C4F185-2AF8-40EB-9A96-C427D320794D}"/>
                  </a:ext>
                </a:extLst>
              </p:cNvPr>
              <p:cNvSpPr txBox="1"/>
              <p:nvPr/>
            </p:nvSpPr>
            <p:spPr>
              <a:xfrm>
                <a:off x="757238" y="5310516"/>
                <a:ext cx="354353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−65.8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LID4096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C4F185-2AF8-40EB-9A96-C427D3207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38" y="5310516"/>
                <a:ext cx="354353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0A6EA4-379B-4768-819B-E8EEF7A8DABE}"/>
                  </a:ext>
                </a:extLst>
              </p:cNvPr>
              <p:cNvSpPr txBox="1"/>
              <p:nvPr/>
            </p:nvSpPr>
            <p:spPr>
              <a:xfrm>
                <a:off x="977971" y="6035093"/>
                <a:ext cx="404841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=0,  65.7,  0.07</m:t>
                      </m:r>
                    </m:oMath>
                  </m:oMathPara>
                </a14:m>
                <a:endParaRPr lang="LID4096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0A6EA4-379B-4768-819B-E8EEF7A8D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71" y="6035093"/>
                <a:ext cx="404841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D71DBE-C10A-467C-A1D4-C5531A4E20B6}"/>
              </a:ext>
            </a:extLst>
          </p:cNvPr>
          <p:cNvCxnSpPr>
            <a:cxnSpLocks/>
          </p:cNvCxnSpPr>
          <p:nvPr/>
        </p:nvCxnSpPr>
        <p:spPr>
          <a:xfrm>
            <a:off x="5900739" y="3092135"/>
            <a:ext cx="0" cy="320035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D40FCA9-894F-4CA5-B4FB-964EB45B70DF}"/>
              </a:ext>
            </a:extLst>
          </p:cNvPr>
          <p:cNvSpPr txBox="1"/>
          <p:nvPr/>
        </p:nvSpPr>
        <p:spPr>
          <a:xfrm>
            <a:off x="6124810" y="2995929"/>
            <a:ext cx="357640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 Vectors</a:t>
            </a:r>
            <a:endParaRPr lang="LID4096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79740FD-7EDB-4C51-854F-F1EF2A86A33D}"/>
                  </a:ext>
                </a:extLst>
              </p:cNvPr>
              <p:cNvSpPr txBox="1"/>
              <p:nvPr/>
            </p:nvSpPr>
            <p:spPr>
              <a:xfrm>
                <a:off x="5900739" y="3881694"/>
                <a:ext cx="52595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=65.7,  [0.5, −2.3, 1] </m:t>
                      </m:r>
                    </m:oMath>
                  </m:oMathPara>
                </a14:m>
                <a:endParaRPr lang="LID4096" sz="28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79740FD-7EDB-4C51-854F-F1EF2A86A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739" y="3881694"/>
                <a:ext cx="525958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F551D18-E24F-410B-9B59-6A8C37F04139}"/>
                  </a:ext>
                </a:extLst>
              </p:cNvPr>
              <p:cNvSpPr txBox="1"/>
              <p:nvPr/>
            </p:nvSpPr>
            <p:spPr>
              <a:xfrm>
                <a:off x="5963987" y="4861458"/>
                <a:ext cx="507042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=0.07,  [0.5, 0.54, 1] </m:t>
                      </m:r>
                    </m:oMath>
                  </m:oMathPara>
                </a14:m>
                <a:endParaRPr lang="LID4096" sz="28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F551D18-E24F-410B-9B59-6A8C37F04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987" y="4861458"/>
                <a:ext cx="507042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EEDD25-2902-4614-BC6E-87E5584678C4}"/>
                  </a:ext>
                </a:extLst>
              </p:cNvPr>
              <p:cNvSpPr txBox="1"/>
              <p:nvPr/>
            </p:nvSpPr>
            <p:spPr>
              <a:xfrm>
                <a:off x="6067658" y="5736209"/>
                <a:ext cx="40445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=0,  [−2, 0, 1] </m:t>
                      </m:r>
                    </m:oMath>
                  </m:oMathPara>
                </a14:m>
                <a:endParaRPr lang="LID4096" sz="28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EEDD25-2902-4614-BC6E-87E558467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658" y="5736209"/>
                <a:ext cx="404450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7974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4CC2F7-0D88-4605-A577-EB937E4269EF}"/>
              </a:ext>
            </a:extLst>
          </p:cNvPr>
          <p:cNvSpPr txBox="1"/>
          <p:nvPr/>
        </p:nvSpPr>
        <p:spPr>
          <a:xfrm>
            <a:off x="535003" y="518759"/>
            <a:ext cx="4373313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Explained Variance Ratio</a:t>
            </a:r>
            <a:endParaRPr lang="en-PK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2017A8-BA81-4008-8020-4B48081135AB}"/>
                  </a:ext>
                </a:extLst>
              </p:cNvPr>
              <p:cNvSpPr txBox="1"/>
              <p:nvPr/>
            </p:nvSpPr>
            <p:spPr>
              <a:xfrm>
                <a:off x="5042523" y="383080"/>
                <a:ext cx="4265527" cy="8561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𝐸𝑉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PK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2017A8-BA81-4008-8020-4B4808113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523" y="383080"/>
                <a:ext cx="4265527" cy="8561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9996C4-8F86-4108-805D-157454B6538C}"/>
                  </a:ext>
                </a:extLst>
              </p:cNvPr>
              <p:cNvSpPr txBox="1"/>
              <p:nvPr/>
            </p:nvSpPr>
            <p:spPr>
              <a:xfrm>
                <a:off x="535003" y="1914410"/>
                <a:ext cx="4562980" cy="7998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𝐸𝑉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5.7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5.7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+0.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+0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0.999</m:t>
                      </m:r>
                    </m:oMath>
                  </m:oMathPara>
                </a14:m>
                <a:endParaRPr lang="en-PK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9996C4-8F86-4108-805D-157454B65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03" y="1914410"/>
                <a:ext cx="4562980" cy="7998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D7AE50-2C3B-4412-9610-13A356501064}"/>
                  </a:ext>
                </a:extLst>
              </p:cNvPr>
              <p:cNvSpPr txBox="1"/>
              <p:nvPr/>
            </p:nvSpPr>
            <p:spPr>
              <a:xfrm>
                <a:off x="535003" y="3128987"/>
                <a:ext cx="4698337" cy="7923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𝐸𝑉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07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5.7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+0.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+0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=0.0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01</m:t>
                      </m:r>
                    </m:oMath>
                  </m:oMathPara>
                </a14:m>
                <a:endParaRPr lang="en-PK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D7AE50-2C3B-4412-9610-13A356501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03" y="3128987"/>
                <a:ext cx="4698337" cy="7923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E3DD38-0AC4-4184-B668-8A7961930E3C}"/>
                  </a:ext>
                </a:extLst>
              </p:cNvPr>
              <p:cNvSpPr txBox="1"/>
              <p:nvPr/>
            </p:nvSpPr>
            <p:spPr>
              <a:xfrm>
                <a:off x="535003" y="4481537"/>
                <a:ext cx="3997826" cy="7923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𝐸𝑉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5.7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+0.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+0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K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E3DD38-0AC4-4184-B668-8A7961930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03" y="4481537"/>
                <a:ext cx="3997826" cy="7923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141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FBAFC9-CB5D-4C37-BB2B-910A09954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153136"/>
              </p:ext>
            </p:extLst>
          </p:nvPr>
        </p:nvGraphicFramePr>
        <p:xfrm>
          <a:off x="1209673" y="2683590"/>
          <a:ext cx="9220200" cy="3605371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4185832390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345486481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3609287765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4195376573"/>
                    </a:ext>
                  </a:extLst>
                </a:gridCol>
              </a:tblGrid>
              <a:tr h="1346713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3D3D3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PC1 (</a:t>
                      </a:r>
                      <a:r>
                        <a:rPr lang="el-GR" sz="2800" b="0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λ=</a:t>
                      </a:r>
                      <a:r>
                        <a:rPr lang="en-GB" sz="2800" b="0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65.7</a:t>
                      </a:r>
                      <a:r>
                        <a:rPr lang="el-GR" sz="2800" b="0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PC2 (</a:t>
                      </a:r>
                      <a:r>
                        <a:rPr lang="el-GR" sz="2800" b="0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λ=0.</a:t>
                      </a:r>
                      <a:r>
                        <a:rPr lang="en-GB" sz="2800" b="0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  <a:r>
                        <a:rPr lang="el-GR" sz="2800" b="0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PC3 (</a:t>
                      </a:r>
                      <a:r>
                        <a:rPr lang="el-GR" sz="2800" b="0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λ=0)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93255"/>
                  </a:ext>
                </a:extLst>
              </a:tr>
              <a:tr h="752886">
                <a:tc>
                  <a:txBody>
                    <a:bodyPr/>
                    <a:lstStyle/>
                    <a:p>
                      <a:pPr algn="r"/>
                      <a:r>
                        <a:rPr lang="en-US" sz="2800" b="0" dirty="0">
                          <a:solidFill>
                            <a:srgbClr val="3D3D3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Rooms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800" b="1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GB" sz="2800" b="1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sz="2800" b="1" dirty="0">
                        <a:solidFill>
                          <a:srgbClr val="08504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800" b="1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GB" sz="2800" b="1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.4</a:t>
                      </a:r>
                      <a:endParaRPr lang="en-PK" sz="2800" b="1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800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GB" sz="2800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PK" sz="2800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560091"/>
                  </a:ext>
                </a:extLst>
              </a:tr>
              <a:tr h="752886">
                <a:tc>
                  <a:txBody>
                    <a:bodyPr/>
                    <a:lstStyle/>
                    <a:p>
                      <a:pPr algn="r"/>
                      <a:r>
                        <a:rPr lang="en-US" sz="2800" b="0">
                          <a:solidFill>
                            <a:srgbClr val="3D3D3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800" b="1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GB" sz="2800" b="1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PK" sz="2800" b="1" dirty="0">
                        <a:solidFill>
                          <a:srgbClr val="08504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800" b="1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GB" sz="2800" b="1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  <a:endParaRPr lang="en-PK" sz="2800" b="1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800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5374147"/>
                  </a:ext>
                </a:extLst>
              </a:tr>
              <a:tr h="752886">
                <a:tc>
                  <a:txBody>
                    <a:bodyPr/>
                    <a:lstStyle/>
                    <a:p>
                      <a:pPr algn="r"/>
                      <a:r>
                        <a:rPr lang="en-US" sz="2800" b="0">
                          <a:solidFill>
                            <a:srgbClr val="3D3D3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Shops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</a:t>
                      </a:r>
                      <a:endParaRPr lang="en-PK" sz="2800" b="1" dirty="0">
                        <a:solidFill>
                          <a:srgbClr val="08504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  <a:endParaRPr lang="en-PK" sz="2800" b="1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</a:t>
                      </a:r>
                      <a:endParaRPr lang="en-PK" sz="2800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79241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1476E83-0D3C-4289-A21C-1654C4083251}"/>
              </a:ext>
            </a:extLst>
          </p:cNvPr>
          <p:cNvSpPr txBox="1"/>
          <p:nvPr/>
        </p:nvSpPr>
        <p:spPr>
          <a:xfrm>
            <a:off x="0" y="1"/>
            <a:ext cx="12192000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Eigenvectors: the new axis directions</a:t>
            </a:r>
            <a:endParaRPr lang="en-US" sz="4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7E64D-DC1B-45FE-9521-B9F249AD8B18}"/>
              </a:ext>
            </a:extLst>
          </p:cNvPr>
          <p:cNvSpPr txBox="1"/>
          <p:nvPr/>
        </p:nvSpPr>
        <p:spPr>
          <a:xfrm>
            <a:off x="128588" y="910908"/>
            <a:ext cx="5300663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Normalization</a:t>
            </a:r>
            <a:endParaRPr lang="LID4096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221E1D-DC5C-4A30-A6E5-82829E4847F0}"/>
                  </a:ext>
                </a:extLst>
              </p:cNvPr>
              <p:cNvSpPr txBox="1"/>
              <p:nvPr/>
            </p:nvSpPr>
            <p:spPr>
              <a:xfrm>
                <a:off x="6096000" y="910908"/>
                <a:ext cx="5906810" cy="5232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PC1: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0.5, −2.3, 1</m:t>
                        </m:r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⇒[0.2, −0.9, 0.39]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LID4096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221E1D-DC5C-4A30-A6E5-82829E484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910908"/>
                <a:ext cx="5906810" cy="523220"/>
              </a:xfrm>
              <a:prstGeom prst="rect">
                <a:avLst/>
              </a:prstGeom>
              <a:blipFill>
                <a:blip r:embed="rId2"/>
                <a:stretch>
                  <a:fillRect l="-1848" t="-9890" b="-25275"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B35B49-785D-49F7-9480-44E2B9DEE46A}"/>
                  </a:ext>
                </a:extLst>
              </p:cNvPr>
              <p:cNvSpPr txBox="1"/>
              <p:nvPr/>
            </p:nvSpPr>
            <p:spPr>
              <a:xfrm>
                <a:off x="0" y="1797249"/>
                <a:ext cx="5768952" cy="5232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PC2: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0.5, 0.54, 1</m:t>
                        </m:r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⇒[0.4, 0.44, 0.81]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LID4096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B35B49-785D-49F7-9480-44E2B9DEE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97249"/>
                <a:ext cx="5768952" cy="523220"/>
              </a:xfrm>
              <a:prstGeom prst="rect">
                <a:avLst/>
              </a:prstGeom>
              <a:blipFill>
                <a:blip r:embed="rId3"/>
                <a:stretch>
                  <a:fillRect l="-1893" t="-10989" b="-25275"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6FF33D-FACA-4931-9FDC-FDFF0F26DE5D}"/>
                  </a:ext>
                </a:extLst>
              </p:cNvPr>
              <p:cNvSpPr txBox="1"/>
              <p:nvPr/>
            </p:nvSpPr>
            <p:spPr>
              <a:xfrm>
                <a:off x="6205535" y="1797249"/>
                <a:ext cx="5228226" cy="5232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PC3: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−2, 0, 1</m:t>
                        </m:r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⇒[−0.89,0, 0.45]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LID4096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6FF33D-FACA-4931-9FDC-FDFF0F26D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535" y="1797249"/>
                <a:ext cx="5228226" cy="523220"/>
              </a:xfrm>
              <a:prstGeom prst="rect">
                <a:avLst/>
              </a:prstGeom>
              <a:blipFill>
                <a:blip r:embed="rId4"/>
                <a:stretch>
                  <a:fillRect l="-2202" t="-10989" b="-25275"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366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B3B123-F6A5-4BE9-8230-ECAE3BD299DD}"/>
              </a:ext>
            </a:extLst>
          </p:cNvPr>
          <p:cNvSpPr txBox="1"/>
          <p:nvPr/>
        </p:nvSpPr>
        <p:spPr>
          <a:xfrm>
            <a:off x="0" y="1"/>
            <a:ext cx="12192000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to 1D</a:t>
            </a:r>
            <a:endParaRPr lang="en-US" sz="4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A221D5-2578-4BB8-8910-95E98CF6D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611680"/>
              </p:ext>
            </p:extLst>
          </p:nvPr>
        </p:nvGraphicFramePr>
        <p:xfrm>
          <a:off x="200025" y="3300415"/>
          <a:ext cx="8172450" cy="3502607"/>
        </p:xfrm>
        <a:graphic>
          <a:graphicData uri="http://schemas.openxmlformats.org/drawingml/2006/table">
            <a:tbl>
              <a:tblPr/>
              <a:tblGrid>
                <a:gridCol w="1362075">
                  <a:extLst>
                    <a:ext uri="{9D8B030D-6E8A-4147-A177-3AD203B41FA5}">
                      <a16:colId xmlns:a16="http://schemas.microsoft.com/office/drawing/2014/main" val="1573287159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2876564144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2158340742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3679607458"/>
                    </a:ext>
                  </a:extLst>
                </a:gridCol>
                <a:gridCol w="1595437">
                  <a:extLst>
                    <a:ext uri="{9D8B030D-6E8A-4147-A177-3AD203B41FA5}">
                      <a16:colId xmlns:a16="http://schemas.microsoft.com/office/drawing/2014/main" val="540870885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1952281123"/>
                    </a:ext>
                  </a:extLst>
                </a:gridCol>
              </a:tblGrid>
              <a:tr h="1102307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House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Rooms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Shops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PC1 score (only)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077669"/>
                  </a:ext>
                </a:extLst>
              </a:tr>
              <a:tr h="4367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b="1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GB" sz="2400" b="1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10.6</a:t>
                      </a:r>
                      <a:endParaRPr lang="en-PK" sz="2400" b="1" dirty="0">
                        <a:solidFill>
                          <a:srgbClr val="08504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b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3065956"/>
                  </a:ext>
                </a:extLst>
              </a:tr>
              <a:tr h="4367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H2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b="1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GB" sz="2400" b="1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5.12</a:t>
                      </a:r>
                      <a:endParaRPr lang="en-PK" sz="2400" b="1" dirty="0">
                        <a:solidFill>
                          <a:srgbClr val="08504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b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944165"/>
                  </a:ext>
                </a:extLst>
              </a:tr>
              <a:tr h="4367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H3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b="1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GB" sz="2400" b="1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en-PK" sz="2400" b="1" dirty="0">
                        <a:solidFill>
                          <a:srgbClr val="08504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b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196697"/>
                  </a:ext>
                </a:extLst>
              </a:tr>
              <a:tr h="4367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H4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5.84</a:t>
                      </a:r>
                      <a:endParaRPr lang="en-PK" sz="2400" b="1" dirty="0">
                        <a:solidFill>
                          <a:srgbClr val="08504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b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188946"/>
                  </a:ext>
                </a:extLst>
              </a:tr>
              <a:tr h="4367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H5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rgbClr val="08504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9.52</a:t>
                      </a:r>
                      <a:endParaRPr lang="en-PK" sz="2400" b="1" dirty="0">
                        <a:solidFill>
                          <a:srgbClr val="08504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b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marL="104775" marR="10477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304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1BCAE1B-4584-47F0-A062-BA65F0E4DAC9}"/>
              </a:ext>
            </a:extLst>
          </p:cNvPr>
          <p:cNvSpPr txBox="1"/>
          <p:nvPr/>
        </p:nvSpPr>
        <p:spPr>
          <a:xfrm>
            <a:off x="200025" y="848676"/>
            <a:ext cx="5772150" cy="2345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1414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H1: 0.2×(-2) + (−0.9)×(9.6) + 0.39×(-4) = </a:t>
            </a:r>
            <a:r>
              <a:rPr lang="pt-BR" sz="2000" b="1" i="0" dirty="0">
                <a:solidFill>
                  <a:srgbClr val="085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-10.6</a:t>
            </a:r>
            <a:r>
              <a:rPr lang="pt-BR" sz="2000" b="0" i="0" dirty="0">
                <a:solidFill>
                  <a:srgbClr val="1414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1414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H2: 0.2 ×(-1) + (−0.9)×(4.6) + 0. 39×(-2) =  </a:t>
            </a:r>
            <a:r>
              <a:rPr lang="pt-BR" sz="2000" b="1" i="0" dirty="0">
                <a:solidFill>
                  <a:srgbClr val="085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-5.12</a:t>
            </a:r>
            <a:r>
              <a:rPr lang="pt-BR" sz="2000" b="0" i="0" dirty="0">
                <a:solidFill>
                  <a:srgbClr val="1414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1414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H3: 0.2 ×(0) + (−0.9)×(-0.4) + 0. 39×(0) =  </a:t>
            </a:r>
            <a:r>
              <a:rPr lang="pt-BR" sz="2000" b="1" i="0" dirty="0">
                <a:solidFill>
                  <a:srgbClr val="085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0.36</a:t>
            </a:r>
            <a:r>
              <a:rPr lang="pt-BR" sz="2000" b="0" i="0" dirty="0">
                <a:solidFill>
                  <a:srgbClr val="1414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1414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H4: 0.2 ×(1) + (−0.9)×(-5.4) + 0. 39×(2) =  </a:t>
            </a:r>
            <a:r>
              <a:rPr lang="pt-BR" sz="2000" b="1" i="0" dirty="0">
                <a:solidFill>
                  <a:srgbClr val="085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5.84</a:t>
            </a:r>
            <a:r>
              <a:rPr lang="pt-BR" sz="2000" b="0" i="0" dirty="0">
                <a:solidFill>
                  <a:srgbClr val="1414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1414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H5: 0.2 ×(2) + (−0.9)×(-8.4) + 0. 39×(4) =  </a:t>
            </a:r>
            <a:r>
              <a:rPr lang="pt-BR" sz="2000" b="1" dirty="0">
                <a:solidFill>
                  <a:srgbClr val="0850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9.52</a:t>
            </a:r>
            <a:endParaRPr lang="LID4096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2785D16C-D7A1-4245-8797-9070F2AB85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1128733"/>
                  </p:ext>
                </p:extLst>
              </p:nvPr>
            </p:nvGraphicFramePr>
            <p:xfrm>
              <a:off x="7176091" y="848676"/>
              <a:ext cx="4425360" cy="2423160"/>
            </p:xfrm>
            <a:graphic>
              <a:graphicData uri="http://schemas.openxmlformats.org/drawingml/2006/table">
                <a:tbl>
                  <a:tblPr/>
                  <a:tblGrid>
                    <a:gridCol w="1106340">
                      <a:extLst>
                        <a:ext uri="{9D8B030D-6E8A-4147-A177-3AD203B41FA5}">
                          <a16:colId xmlns:a16="http://schemas.microsoft.com/office/drawing/2014/main" val="2374682615"/>
                        </a:ext>
                      </a:extLst>
                    </a:gridCol>
                    <a:gridCol w="1106340">
                      <a:extLst>
                        <a:ext uri="{9D8B030D-6E8A-4147-A177-3AD203B41FA5}">
                          <a16:colId xmlns:a16="http://schemas.microsoft.com/office/drawing/2014/main" val="69716495"/>
                        </a:ext>
                      </a:extLst>
                    </a:gridCol>
                    <a:gridCol w="1106340">
                      <a:extLst>
                        <a:ext uri="{9D8B030D-6E8A-4147-A177-3AD203B41FA5}">
                          <a16:colId xmlns:a16="http://schemas.microsoft.com/office/drawing/2014/main" val="1543478780"/>
                        </a:ext>
                      </a:extLst>
                    </a:gridCol>
                    <a:gridCol w="1106340">
                      <a:extLst>
                        <a:ext uri="{9D8B030D-6E8A-4147-A177-3AD203B41FA5}">
                          <a16:colId xmlns:a16="http://schemas.microsoft.com/office/drawing/2014/main" val="1905953315"/>
                        </a:ext>
                      </a:extLst>
                    </a:gridCol>
                  </a:tblGrid>
                  <a:tr h="3441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3D3D3A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House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smtClean="0">
                                    <a:solidFill>
                                      <a:srgbClr val="3D3D3A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GB" sz="2400" b="1" i="1" smtClean="0">
                                    <a:solidFill>
                                      <a:srgbClr val="3D3D3A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i="1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3D3D3A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solidFill>
                                      <a:srgbClr val="3D3D3A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  <m:r>
                                  <a:rPr lang="en-GB" sz="2400" b="1" i="1" dirty="0" smtClean="0">
                                    <a:solidFill>
                                      <a:srgbClr val="3D3D3A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i="1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3D3D3A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smtClean="0">
                                    <a:solidFill>
                                      <a:srgbClr val="3D3D3A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𝒛</m:t>
                                </m:r>
                                <m:r>
                                  <a:rPr lang="en-GB" sz="2400" b="1" i="1" smtClean="0">
                                    <a:solidFill>
                                      <a:srgbClr val="3D3D3A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i="1" smtClean="0">
                                        <a:solidFill>
                                          <a:srgbClr val="14141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3D3D3A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9949432"/>
                      </a:ext>
                    </a:extLst>
                  </a:tr>
                  <a:tr h="278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9.6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51250016"/>
                      </a:ext>
                    </a:extLst>
                  </a:tr>
                  <a:tr h="278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4.6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50863"/>
                      </a:ext>
                    </a:extLst>
                  </a:tr>
                  <a:tr h="278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H3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23549287"/>
                      </a:ext>
                    </a:extLst>
                  </a:tr>
                  <a:tr h="278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-5.4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1933041"/>
                      </a:ext>
                    </a:extLst>
                  </a:tr>
                  <a:tr h="278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-8.4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20417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2785D16C-D7A1-4245-8797-9070F2AB85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1128733"/>
                  </p:ext>
                </p:extLst>
              </p:nvPr>
            </p:nvGraphicFramePr>
            <p:xfrm>
              <a:off x="7176091" y="848676"/>
              <a:ext cx="4425360" cy="2423160"/>
            </p:xfrm>
            <a:graphic>
              <a:graphicData uri="http://schemas.openxmlformats.org/drawingml/2006/table">
                <a:tbl>
                  <a:tblPr/>
                  <a:tblGrid>
                    <a:gridCol w="1106340">
                      <a:extLst>
                        <a:ext uri="{9D8B030D-6E8A-4147-A177-3AD203B41FA5}">
                          <a16:colId xmlns:a16="http://schemas.microsoft.com/office/drawing/2014/main" val="2374682615"/>
                        </a:ext>
                      </a:extLst>
                    </a:gridCol>
                    <a:gridCol w="1106340">
                      <a:extLst>
                        <a:ext uri="{9D8B030D-6E8A-4147-A177-3AD203B41FA5}">
                          <a16:colId xmlns:a16="http://schemas.microsoft.com/office/drawing/2014/main" val="69716495"/>
                        </a:ext>
                      </a:extLst>
                    </a:gridCol>
                    <a:gridCol w="1106340">
                      <a:extLst>
                        <a:ext uri="{9D8B030D-6E8A-4147-A177-3AD203B41FA5}">
                          <a16:colId xmlns:a16="http://schemas.microsoft.com/office/drawing/2014/main" val="1543478780"/>
                        </a:ext>
                      </a:extLst>
                    </a:gridCol>
                    <a:gridCol w="1106340">
                      <a:extLst>
                        <a:ext uri="{9D8B030D-6E8A-4147-A177-3AD203B41FA5}">
                          <a16:colId xmlns:a16="http://schemas.microsoft.com/office/drawing/2014/main" val="1905953315"/>
                        </a:ext>
                      </a:extLst>
                    </a:gridCol>
                  </a:tblGrid>
                  <a:tr h="48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3D3D3A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House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49" t="-7595" r="-200549" b="-421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57" t="-7595" r="-101657" b="-421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7595" r="-1099" b="-421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9949432"/>
                      </a:ext>
                    </a:extLst>
                  </a:tr>
                  <a:tr h="388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9.6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51250016"/>
                      </a:ext>
                    </a:extLst>
                  </a:tr>
                  <a:tr h="388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4.6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50863"/>
                      </a:ext>
                    </a:extLst>
                  </a:tr>
                  <a:tr h="388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H3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23549287"/>
                      </a:ext>
                    </a:extLst>
                  </a:tr>
                  <a:tr h="388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-5.4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1933041"/>
                      </a:ext>
                    </a:extLst>
                  </a:tr>
                  <a:tr h="388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73726C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H5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A32D2D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-8.4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b="0" dirty="0">
                              <a:solidFill>
                                <a:srgbClr val="185FA5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104775" marR="104775" marT="57150" marB="571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20417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B9D9671-C519-4559-A13E-F41B6E6BD8F6}"/>
              </a:ext>
            </a:extLst>
          </p:cNvPr>
          <p:cNvSpPr txBox="1"/>
          <p:nvPr/>
        </p:nvSpPr>
        <p:spPr>
          <a:xfrm>
            <a:off x="8520109" y="3598365"/>
            <a:ext cx="3600451" cy="2795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negative (H1 = −10.6) → cheapest (20 lakh).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positive (H5 = +9.52) 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most expensive 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(90 lakh).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264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73A72F-D052-4F22-892D-64934FC7EF69}"/>
              </a:ext>
            </a:extLst>
          </p:cNvPr>
          <p:cNvSpPr txBox="1"/>
          <p:nvPr/>
        </p:nvSpPr>
        <p:spPr>
          <a:xfrm>
            <a:off x="106410" y="0"/>
            <a:ext cx="64000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PK" sz="9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680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62817</TotalTime>
  <Words>1503</Words>
  <Application>Microsoft Office PowerPoint</Application>
  <PresentationFormat>Widescreen</PresentationFormat>
  <Paragraphs>492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Rafiq Siddiqui</dc:creator>
  <cp:lastModifiedBy>Adnan Rafiq Siddiqui</cp:lastModifiedBy>
  <cp:revision>253</cp:revision>
  <dcterms:created xsi:type="dcterms:W3CDTF">2025-02-25T06:33:15Z</dcterms:created>
  <dcterms:modified xsi:type="dcterms:W3CDTF">2026-06-11T07:40:17Z</dcterms:modified>
</cp:coreProperties>
</file>