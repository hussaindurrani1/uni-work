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>
  <p:sldMasterIdLst>
    <p:sldMasterId id="2147483648" r:id="rId1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4608"/>
        <p:guide pos="2592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555568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314271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73669847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43944890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76679703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5531467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30926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40885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82093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39829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2357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0399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55631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36215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7730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01913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4601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35650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3320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77644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633118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6622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40235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870333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3488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73971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03696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8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0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2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1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17590019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413888822" name="Shape 0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44430462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2839214" y="7749539"/>
            <a:ext cx="1722604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2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1761923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74513634" name="Shape 0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799864348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2839214" y="7749539"/>
            <a:ext cx="1722604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3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1847727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890325775" name="Shape 0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83244801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2839214" y="7749539"/>
            <a:ext cx="1722604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4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9272951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01763897" name="Shape 0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90873959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2839214" y="7749539"/>
            <a:ext cx="1722604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5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95041169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734865592" name="Shape 0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30820047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2839214" y="7749539"/>
            <a:ext cx="1722604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6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3329310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161558535" name="Shape 0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92453540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2839214" y="7749539"/>
            <a:ext cx="1722604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7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4051762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088634339" name="Shape 0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469676031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2839214" y="7749539"/>
            <a:ext cx="1722604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0432967" name="Image 0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96261560" name="Text 0"/>
          <p:cNvSpPr/>
          <p:nvPr/>
        </p:nvSpPr>
        <p:spPr bwMode="auto">
          <a:xfrm>
            <a:off x="758309" y="3422571"/>
            <a:ext cx="7218283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  <a:defRPr/>
            </a:pPr>
            <a:r>
              <a:rPr lang="en-US" sz="4450" b="1">
                <a:solidFill>
                  <a:srgbClr val="2E3C4E"/>
                </a:solidFill>
                <a:latin typeface="Barlow Bold"/>
                <a:ea typeface="Barlow Bold"/>
                <a:cs typeface="Barlow Bold"/>
              </a:rPr>
              <a:t>AI Risks &amp; Threat Landscape</a:t>
            </a:r>
            <a:endParaRPr lang="en-US" sz="4450"/>
          </a:p>
        </p:txBody>
      </p:sp>
      <p:sp>
        <p:nvSpPr>
          <p:cNvPr id="1590477053" name="Text 1"/>
          <p:cNvSpPr/>
          <p:nvPr/>
        </p:nvSpPr>
        <p:spPr bwMode="auto">
          <a:xfrm>
            <a:off x="758309" y="4460200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  <a:defRPr/>
            </a:pPr>
            <a:r>
              <a:rPr lang="en-US" sz="1700">
                <a:solidFill>
                  <a:srgbClr val="384653"/>
                </a:solidFill>
                <a:latin typeface="Montserrat"/>
                <a:ea typeface="Montserrat"/>
                <a:cs typeface="Montserrat"/>
              </a:rPr>
              <a:t>Ethics, Security, and Legal Challenges in Intelligent Systems</a:t>
            </a:r>
            <a:endParaRPr lang="en-US" sz="17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6592343" name="Image 0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14630400" cy="2843570"/>
          </a:xfrm>
          <a:prstGeom prst="rect">
            <a:avLst/>
          </a:prstGeom>
        </p:spPr>
      </p:pic>
      <p:sp>
        <p:nvSpPr>
          <p:cNvPr id="195247983" name="Text 0"/>
          <p:cNvSpPr/>
          <p:nvPr/>
        </p:nvSpPr>
        <p:spPr bwMode="auto">
          <a:xfrm>
            <a:off x="758309" y="3560564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  <a:defRPr/>
            </a:pPr>
            <a:r>
              <a:rPr lang="en-US" sz="4450" b="1">
                <a:solidFill>
                  <a:srgbClr val="2E3C4E"/>
                </a:solidFill>
                <a:latin typeface="Barlow Bold"/>
                <a:ea typeface="Barlow Bold"/>
                <a:cs typeface="Barlow Bold"/>
              </a:rPr>
              <a:t>Categories of Risk</a:t>
            </a:r>
            <a:endParaRPr lang="en-US" sz="4450"/>
          </a:p>
        </p:txBody>
      </p:sp>
      <p:sp>
        <p:nvSpPr>
          <p:cNvPr id="2011426168" name="Shape 1"/>
          <p:cNvSpPr/>
          <p:nvPr/>
        </p:nvSpPr>
        <p:spPr bwMode="auto">
          <a:xfrm>
            <a:off x="758309" y="4598194"/>
            <a:ext cx="6448544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644763291" name="Text 2"/>
          <p:cNvSpPr/>
          <p:nvPr/>
        </p:nvSpPr>
        <p:spPr bwMode="auto">
          <a:xfrm>
            <a:off x="982504" y="482238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200" b="1">
                <a:solidFill>
                  <a:srgbClr val="384653"/>
                </a:solidFill>
                <a:latin typeface="Barlow Bold"/>
                <a:ea typeface="Barlow Bold"/>
                <a:cs typeface="Barlow Bold"/>
              </a:rPr>
              <a:t>Ethical</a:t>
            </a:r>
            <a:endParaRPr lang="en-US" sz="2200"/>
          </a:p>
        </p:txBody>
      </p:sp>
      <p:sp>
        <p:nvSpPr>
          <p:cNvPr id="1325051115" name="Text 3"/>
          <p:cNvSpPr/>
          <p:nvPr/>
        </p:nvSpPr>
        <p:spPr bwMode="auto">
          <a:xfrm>
            <a:off x="982504" y="5308520"/>
            <a:ext cx="600015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  <a:defRPr/>
            </a:pPr>
            <a:r>
              <a:rPr lang="en-US" sz="1700">
                <a:solidFill>
                  <a:srgbClr val="384653"/>
                </a:solidFill>
                <a:latin typeface="Montserrat"/>
                <a:ea typeface="Montserrat"/>
                <a:cs typeface="Montserrat"/>
              </a:rPr>
              <a:t>Bias, dignity, and social impact</a:t>
            </a:r>
            <a:endParaRPr lang="en-US" sz="1700"/>
          </a:p>
        </p:txBody>
      </p:sp>
      <p:sp>
        <p:nvSpPr>
          <p:cNvPr id="256239541" name="Shape 4"/>
          <p:cNvSpPr/>
          <p:nvPr/>
        </p:nvSpPr>
        <p:spPr bwMode="auto">
          <a:xfrm>
            <a:off x="7423428" y="4598194"/>
            <a:ext cx="6448663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329712941" name="Text 5"/>
          <p:cNvSpPr/>
          <p:nvPr/>
        </p:nvSpPr>
        <p:spPr bwMode="auto">
          <a:xfrm>
            <a:off x="7647623" y="482238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200" b="1">
                <a:solidFill>
                  <a:srgbClr val="384653"/>
                </a:solidFill>
                <a:latin typeface="Barlow Bold"/>
                <a:ea typeface="Barlow Bold"/>
                <a:cs typeface="Barlow Bold"/>
              </a:rPr>
              <a:t>Reliability</a:t>
            </a:r>
            <a:endParaRPr lang="en-US" sz="2200"/>
          </a:p>
        </p:txBody>
      </p:sp>
      <p:sp>
        <p:nvSpPr>
          <p:cNvPr id="500196542" name="Text 6"/>
          <p:cNvSpPr/>
          <p:nvPr/>
        </p:nvSpPr>
        <p:spPr bwMode="auto">
          <a:xfrm>
            <a:off x="7647623" y="5308520"/>
            <a:ext cx="600027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  <a:defRPr/>
            </a:pPr>
            <a:r>
              <a:rPr lang="en-US" sz="1700">
                <a:solidFill>
                  <a:srgbClr val="384653"/>
                </a:solidFill>
                <a:latin typeface="Montserrat"/>
                <a:ea typeface="Montserrat"/>
                <a:cs typeface="Montserrat"/>
              </a:rPr>
              <a:t>Errors, hallucinations, and validation</a:t>
            </a:r>
            <a:endParaRPr lang="en-US" sz="1700"/>
          </a:p>
        </p:txBody>
      </p:sp>
      <p:sp>
        <p:nvSpPr>
          <p:cNvPr id="967911610" name="Shape 7"/>
          <p:cNvSpPr/>
          <p:nvPr/>
        </p:nvSpPr>
        <p:spPr bwMode="auto">
          <a:xfrm>
            <a:off x="758309" y="6096000"/>
            <a:ext cx="6448544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91457877" name="Text 8"/>
          <p:cNvSpPr/>
          <p:nvPr/>
        </p:nvSpPr>
        <p:spPr bwMode="auto">
          <a:xfrm>
            <a:off x="982504" y="632019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200" b="1">
                <a:solidFill>
                  <a:srgbClr val="384653"/>
                </a:solidFill>
                <a:latin typeface="Barlow Bold"/>
                <a:ea typeface="Barlow Bold"/>
                <a:cs typeface="Barlow Bold"/>
              </a:rPr>
              <a:t>Security</a:t>
            </a:r>
            <a:endParaRPr lang="en-US" sz="2200"/>
          </a:p>
        </p:txBody>
      </p:sp>
      <p:sp>
        <p:nvSpPr>
          <p:cNvPr id="491416898" name="Text 9"/>
          <p:cNvSpPr/>
          <p:nvPr/>
        </p:nvSpPr>
        <p:spPr bwMode="auto">
          <a:xfrm>
            <a:off x="982504" y="6806327"/>
            <a:ext cx="600015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  <a:defRPr/>
            </a:pPr>
            <a:r>
              <a:rPr lang="en-US" sz="1700">
                <a:solidFill>
                  <a:srgbClr val="384653"/>
                </a:solidFill>
                <a:latin typeface="Montserrat"/>
                <a:ea typeface="Montserrat"/>
                <a:cs typeface="Montserrat"/>
              </a:rPr>
              <a:t>Hacking, theft, and malicious use</a:t>
            </a:r>
            <a:endParaRPr lang="en-US" sz="1700"/>
          </a:p>
        </p:txBody>
      </p:sp>
      <p:sp>
        <p:nvSpPr>
          <p:cNvPr id="141903456" name="Shape 10"/>
          <p:cNvSpPr/>
          <p:nvPr/>
        </p:nvSpPr>
        <p:spPr bwMode="auto">
          <a:xfrm>
            <a:off x="7423428" y="6096000"/>
            <a:ext cx="6448663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42719691" name="Text 11"/>
          <p:cNvSpPr/>
          <p:nvPr/>
        </p:nvSpPr>
        <p:spPr bwMode="auto">
          <a:xfrm>
            <a:off x="7647623" y="632019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200" b="1">
                <a:solidFill>
                  <a:srgbClr val="384653"/>
                </a:solidFill>
                <a:latin typeface="Barlow Bold"/>
                <a:ea typeface="Barlow Bold"/>
                <a:cs typeface="Barlow Bold"/>
              </a:rPr>
              <a:t>Legal</a:t>
            </a:r>
            <a:endParaRPr lang="en-US" sz="2200"/>
          </a:p>
        </p:txBody>
      </p:sp>
      <p:sp>
        <p:nvSpPr>
          <p:cNvPr id="1594676542" name="Text 12"/>
          <p:cNvSpPr/>
          <p:nvPr/>
        </p:nvSpPr>
        <p:spPr bwMode="auto">
          <a:xfrm>
            <a:off x="7647623" y="6806327"/>
            <a:ext cx="600027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  <a:defRPr/>
            </a:pPr>
            <a:r>
              <a:rPr lang="en-US" sz="1700">
                <a:solidFill>
                  <a:srgbClr val="384653"/>
                </a:solidFill>
                <a:latin typeface="Montserrat"/>
                <a:ea typeface="Montserrat"/>
                <a:cs typeface="Montserrat"/>
              </a:rPr>
              <a:t>Malpractice, fraud, and compliance</a:t>
            </a:r>
            <a:endParaRPr lang="en-US" sz="17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50151970" name="Image 0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14630400" cy="2843570"/>
          </a:xfrm>
          <a:prstGeom prst="rect">
            <a:avLst/>
          </a:prstGeom>
        </p:spPr>
      </p:pic>
      <p:sp>
        <p:nvSpPr>
          <p:cNvPr id="1649109124" name="Text 0"/>
          <p:cNvSpPr/>
          <p:nvPr/>
        </p:nvSpPr>
        <p:spPr bwMode="auto">
          <a:xfrm>
            <a:off x="758309" y="4113252"/>
            <a:ext cx="5920859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  <a:defRPr/>
            </a:pPr>
            <a:r>
              <a:rPr lang="en-US" sz="4450" b="1">
                <a:solidFill>
                  <a:srgbClr val="2E3C4E"/>
                </a:solidFill>
                <a:latin typeface="Barlow Bold"/>
                <a:ea typeface="Barlow Bold"/>
                <a:cs typeface="Barlow Bold"/>
              </a:rPr>
              <a:t>Bias and Discrimination</a:t>
            </a:r>
            <a:endParaRPr lang="en-US" sz="4450"/>
          </a:p>
        </p:txBody>
      </p:sp>
      <p:sp>
        <p:nvSpPr>
          <p:cNvPr id="2021802160" name="Shape 1"/>
          <p:cNvSpPr/>
          <p:nvPr/>
        </p:nvSpPr>
        <p:spPr bwMode="auto">
          <a:xfrm>
            <a:off x="758309" y="5150882"/>
            <a:ext cx="4226838" cy="1673662"/>
          </a:xfrm>
          <a:prstGeom prst="roundRect">
            <a:avLst>
              <a:gd name="adj" fmla="val 8742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pic>
        <p:nvPicPr>
          <p:cNvPr id="1663816329" name="Image 1" descr="preencoded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727829" y="5150882"/>
            <a:ext cx="121920" cy="1673662"/>
          </a:xfrm>
          <a:prstGeom prst="rect">
            <a:avLst/>
          </a:prstGeom>
        </p:spPr>
      </p:pic>
      <p:sp>
        <p:nvSpPr>
          <p:cNvPr id="20931717" name="Text 2"/>
          <p:cNvSpPr/>
          <p:nvPr/>
        </p:nvSpPr>
        <p:spPr bwMode="auto">
          <a:xfrm>
            <a:off x="1096804" y="539793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200" b="1">
                <a:solidFill>
                  <a:srgbClr val="384653"/>
                </a:solidFill>
                <a:latin typeface="Barlow Bold"/>
                <a:ea typeface="Barlow Bold"/>
                <a:cs typeface="Barlow Bold"/>
              </a:rPr>
              <a:t>Core Mandate</a:t>
            </a:r>
            <a:endParaRPr lang="en-US" sz="2200"/>
          </a:p>
        </p:txBody>
      </p:sp>
      <p:sp>
        <p:nvSpPr>
          <p:cNvPr id="368526567" name="Text 3"/>
          <p:cNvSpPr/>
          <p:nvPr/>
        </p:nvSpPr>
        <p:spPr bwMode="auto">
          <a:xfrm>
            <a:off x="1096804" y="5884069"/>
            <a:ext cx="364128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  <a:defRPr/>
            </a:pPr>
            <a:r>
              <a:rPr lang="en-US" sz="1700">
                <a:solidFill>
                  <a:srgbClr val="384653"/>
                </a:solidFill>
                <a:latin typeface="Montserrat"/>
                <a:ea typeface="Montserrat"/>
                <a:cs typeface="Montserrat"/>
              </a:rPr>
              <a:t>"Be fair and take action not to discriminate"</a:t>
            </a:r>
            <a:endParaRPr lang="en-US" sz="1700"/>
          </a:p>
        </p:txBody>
      </p:sp>
      <p:sp>
        <p:nvSpPr>
          <p:cNvPr id="487751744" name="Shape 4"/>
          <p:cNvSpPr/>
          <p:nvPr/>
        </p:nvSpPr>
        <p:spPr bwMode="auto">
          <a:xfrm>
            <a:off x="5201722" y="5150882"/>
            <a:ext cx="4226838" cy="1673662"/>
          </a:xfrm>
          <a:prstGeom prst="roundRect">
            <a:avLst>
              <a:gd name="adj" fmla="val 8742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pic>
        <p:nvPicPr>
          <p:cNvPr id="1634078061" name="Image 2" descr="preencoded.png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5171242" y="5150882"/>
            <a:ext cx="121920" cy="1673662"/>
          </a:xfrm>
          <a:prstGeom prst="rect">
            <a:avLst/>
          </a:prstGeom>
        </p:spPr>
      </p:pic>
      <p:sp>
        <p:nvSpPr>
          <p:cNvPr id="1028672704" name="Text 5"/>
          <p:cNvSpPr/>
          <p:nvPr/>
        </p:nvSpPr>
        <p:spPr bwMode="auto">
          <a:xfrm>
            <a:off x="5540216" y="539793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200" b="1">
                <a:solidFill>
                  <a:srgbClr val="384653"/>
                </a:solidFill>
                <a:latin typeface="Barlow Bold"/>
                <a:ea typeface="Barlow Bold"/>
                <a:cs typeface="Barlow Bold"/>
              </a:rPr>
              <a:t>Leadership Duty</a:t>
            </a:r>
            <a:endParaRPr lang="en-US" sz="2200"/>
          </a:p>
        </p:txBody>
      </p:sp>
      <p:sp>
        <p:nvSpPr>
          <p:cNvPr id="457297064" name="Text 6"/>
          <p:cNvSpPr/>
          <p:nvPr/>
        </p:nvSpPr>
        <p:spPr bwMode="auto">
          <a:xfrm>
            <a:off x="5540216" y="5884069"/>
            <a:ext cx="364128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  <a:defRPr/>
            </a:pPr>
            <a:r>
              <a:rPr lang="en-US" sz="1700">
                <a:solidFill>
                  <a:srgbClr val="384653"/>
                </a:solidFill>
                <a:latin typeface="Montserrat"/>
                <a:ea typeface="Montserrat"/>
                <a:cs typeface="Montserrat"/>
              </a:rPr>
              <a:t>Protect user dignity</a:t>
            </a:r>
            <a:endParaRPr lang="en-US" sz="1700"/>
          </a:p>
        </p:txBody>
      </p:sp>
      <p:sp>
        <p:nvSpPr>
          <p:cNvPr id="2009568750" name="Shape 7"/>
          <p:cNvSpPr/>
          <p:nvPr/>
        </p:nvSpPr>
        <p:spPr bwMode="auto">
          <a:xfrm>
            <a:off x="9645134" y="5150882"/>
            <a:ext cx="4226957" cy="1673662"/>
          </a:xfrm>
          <a:prstGeom prst="roundRect">
            <a:avLst>
              <a:gd name="adj" fmla="val 8742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pic>
        <p:nvPicPr>
          <p:cNvPr id="729645868" name="Image 3" descr="preencoded.png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9614654" y="5150882"/>
            <a:ext cx="121920" cy="1673662"/>
          </a:xfrm>
          <a:prstGeom prst="rect">
            <a:avLst/>
          </a:prstGeom>
        </p:spPr>
      </p:pic>
      <p:sp>
        <p:nvSpPr>
          <p:cNvPr id="871290028" name="Text 8"/>
          <p:cNvSpPr/>
          <p:nvPr/>
        </p:nvSpPr>
        <p:spPr bwMode="auto">
          <a:xfrm>
            <a:off x="9983629" y="539793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200" b="1">
                <a:solidFill>
                  <a:srgbClr val="384653"/>
                </a:solidFill>
                <a:latin typeface="Barlow Bold"/>
                <a:ea typeface="Barlow Bold"/>
                <a:cs typeface="Barlow Bold"/>
              </a:rPr>
              <a:t>Social Risk</a:t>
            </a:r>
            <a:endParaRPr lang="en-US" sz="2200"/>
          </a:p>
        </p:txBody>
      </p:sp>
      <p:sp>
        <p:nvSpPr>
          <p:cNvPr id="1022634212" name="Text 9"/>
          <p:cNvSpPr/>
          <p:nvPr/>
        </p:nvSpPr>
        <p:spPr bwMode="auto">
          <a:xfrm>
            <a:off x="9983629" y="5884069"/>
            <a:ext cx="364140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  <a:defRPr/>
            </a:pPr>
            <a:r>
              <a:rPr lang="en-US" sz="1700">
                <a:solidFill>
                  <a:srgbClr val="384653"/>
                </a:solidFill>
                <a:latin typeface="Montserrat"/>
                <a:ea typeface="Montserrat"/>
                <a:cs typeface="Montserrat"/>
              </a:rPr>
              <a:t>Cyberstalking and unchecked harassment</a:t>
            </a:r>
            <a:endParaRPr lang="en-US" sz="17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900335" name="Text 0"/>
          <p:cNvSpPr/>
          <p:nvPr/>
        </p:nvSpPr>
        <p:spPr bwMode="auto">
          <a:xfrm>
            <a:off x="758309" y="888087"/>
            <a:ext cx="8898850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  <a:defRPr/>
            </a:pPr>
            <a:r>
              <a:rPr lang="en-US" sz="4450" b="1">
                <a:solidFill>
                  <a:srgbClr val="2E3C4E"/>
                </a:solidFill>
                <a:latin typeface="Barlow Bold"/>
                <a:ea typeface="Barlow Bold"/>
                <a:cs typeface="Barlow Bold"/>
              </a:rPr>
              <a:t>Unreliable Outputs &amp; System Errors</a:t>
            </a:r>
            <a:endParaRPr lang="en-US" sz="4450"/>
          </a:p>
        </p:txBody>
      </p:sp>
      <p:sp>
        <p:nvSpPr>
          <p:cNvPr id="1201911456" name="Shape 1"/>
          <p:cNvSpPr/>
          <p:nvPr/>
        </p:nvSpPr>
        <p:spPr bwMode="auto">
          <a:xfrm>
            <a:off x="758309" y="2169438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030046226" name="Text 2"/>
          <p:cNvSpPr/>
          <p:nvPr/>
        </p:nvSpPr>
        <p:spPr bwMode="auto">
          <a:xfrm>
            <a:off x="1462326" y="224385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200" b="1">
                <a:solidFill>
                  <a:srgbClr val="384653"/>
                </a:solidFill>
                <a:latin typeface="Barlow Bold"/>
                <a:ea typeface="Barlow Bold"/>
                <a:cs typeface="Barlow Bold"/>
              </a:rPr>
              <a:t>Golden Rule</a:t>
            </a:r>
            <a:endParaRPr lang="en-US" sz="2200"/>
          </a:p>
        </p:txBody>
      </p:sp>
      <p:sp>
        <p:nvSpPr>
          <p:cNvPr id="1301772783" name="Text 3"/>
          <p:cNvSpPr/>
          <p:nvPr/>
        </p:nvSpPr>
        <p:spPr bwMode="auto">
          <a:xfrm>
            <a:off x="1462326" y="2816662"/>
            <a:ext cx="298894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  <a:defRPr/>
            </a:pPr>
            <a:r>
              <a:rPr lang="en-US" sz="1700">
                <a:solidFill>
                  <a:srgbClr val="384653"/>
                </a:solidFill>
                <a:latin typeface="Montserrat"/>
                <a:ea typeface="Montserrat"/>
                <a:cs typeface="Montserrat"/>
              </a:rPr>
              <a:t>Don't assume software is safe</a:t>
            </a:r>
            <a:endParaRPr lang="en-US" sz="1700"/>
          </a:p>
        </p:txBody>
      </p:sp>
      <p:sp>
        <p:nvSpPr>
          <p:cNvPr id="58338959" name="Shape 4"/>
          <p:cNvSpPr/>
          <p:nvPr/>
        </p:nvSpPr>
        <p:spPr bwMode="auto">
          <a:xfrm>
            <a:off x="4722019" y="2169438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679604272" name="Text 5"/>
          <p:cNvSpPr/>
          <p:nvPr/>
        </p:nvSpPr>
        <p:spPr bwMode="auto">
          <a:xfrm>
            <a:off x="5426034" y="224385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200" b="1">
                <a:solidFill>
                  <a:srgbClr val="384653"/>
                </a:solidFill>
                <a:latin typeface="Barlow Bold"/>
                <a:ea typeface="Barlow Bold"/>
                <a:cs typeface="Barlow Bold"/>
              </a:rPr>
              <a:t>Requirement</a:t>
            </a:r>
            <a:endParaRPr lang="en-US" sz="2200"/>
          </a:p>
        </p:txBody>
      </p:sp>
      <p:sp>
        <p:nvSpPr>
          <p:cNvPr id="1051984977" name="Text 6"/>
          <p:cNvSpPr/>
          <p:nvPr/>
        </p:nvSpPr>
        <p:spPr bwMode="auto">
          <a:xfrm>
            <a:off x="5426034" y="2816662"/>
            <a:ext cx="298906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  <a:defRPr/>
            </a:pPr>
            <a:r>
              <a:rPr lang="en-US" sz="1700">
                <a:solidFill>
                  <a:srgbClr val="384653"/>
                </a:solidFill>
                <a:latin typeface="Montserrat"/>
                <a:ea typeface="Montserrat"/>
                <a:cs typeface="Montserrat"/>
              </a:rPr>
              <a:t>Review, test, and validate</a:t>
            </a:r>
            <a:endParaRPr lang="en-US" sz="1700"/>
          </a:p>
        </p:txBody>
      </p:sp>
      <p:sp>
        <p:nvSpPr>
          <p:cNvPr id="697517683" name="Shape 7"/>
          <p:cNvSpPr/>
          <p:nvPr/>
        </p:nvSpPr>
        <p:spPr bwMode="auto">
          <a:xfrm>
            <a:off x="758309" y="3943350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657453445" name="Text 8"/>
          <p:cNvSpPr/>
          <p:nvPr/>
        </p:nvSpPr>
        <p:spPr bwMode="auto">
          <a:xfrm>
            <a:off x="1462326" y="401776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200" b="1">
                <a:solidFill>
                  <a:srgbClr val="384653"/>
                </a:solidFill>
                <a:latin typeface="Barlow Bold"/>
                <a:ea typeface="Barlow Bold"/>
                <a:cs typeface="Barlow Bold"/>
              </a:rPr>
              <a:t>Transparency</a:t>
            </a:r>
            <a:endParaRPr lang="en-US" sz="2200"/>
          </a:p>
        </p:txBody>
      </p:sp>
      <p:sp>
        <p:nvSpPr>
          <p:cNvPr id="678210322" name="Text 9"/>
          <p:cNvSpPr/>
          <p:nvPr/>
        </p:nvSpPr>
        <p:spPr bwMode="auto">
          <a:xfrm>
            <a:off x="1462326" y="4590574"/>
            <a:ext cx="695277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  <a:defRPr/>
            </a:pPr>
            <a:r>
              <a:rPr lang="en-US" sz="1700">
                <a:solidFill>
                  <a:srgbClr val="384653"/>
                </a:solidFill>
                <a:latin typeface="Montserrat"/>
                <a:ea typeface="Montserrat"/>
                <a:cs typeface="Montserrat"/>
              </a:rPr>
              <a:t>Be honest about limitations</a:t>
            </a:r>
            <a:endParaRPr lang="en-US" sz="1700"/>
          </a:p>
        </p:txBody>
      </p:sp>
      <p:pic>
        <p:nvPicPr>
          <p:cNvPr id="1450575565" name="Image 0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8951357" y="2169438"/>
            <a:ext cx="4928235" cy="49282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9353691" name="Image 0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958269223" name="Text 0"/>
          <p:cNvSpPr/>
          <p:nvPr/>
        </p:nvSpPr>
        <p:spPr bwMode="auto">
          <a:xfrm>
            <a:off x="758309" y="1812369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  <a:defRPr/>
            </a:pPr>
            <a:r>
              <a:rPr lang="en-US" sz="4450" b="1">
                <a:solidFill>
                  <a:srgbClr val="2E3C4E"/>
                </a:solidFill>
                <a:latin typeface="Barlow Bold"/>
                <a:ea typeface="Barlow Bold"/>
                <a:cs typeface="Barlow Bold"/>
              </a:rPr>
              <a:t>Data Privacy Risks</a:t>
            </a:r>
            <a:endParaRPr lang="en-US" sz="4450"/>
          </a:p>
        </p:txBody>
      </p:sp>
      <p:sp>
        <p:nvSpPr>
          <p:cNvPr id="1082476239" name="Text 1"/>
          <p:cNvSpPr/>
          <p:nvPr/>
        </p:nvSpPr>
        <p:spPr bwMode="auto">
          <a:xfrm>
            <a:off x="758309" y="2849999"/>
            <a:ext cx="216575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  <a:defRPr/>
            </a:pPr>
            <a:r>
              <a:rPr lang="en-US" sz="1700">
                <a:solidFill>
                  <a:srgbClr val="384653"/>
                </a:solidFill>
                <a:latin typeface="Barlow Light"/>
                <a:ea typeface="Barlow Light"/>
                <a:cs typeface="Barlow Light"/>
              </a:rPr>
              <a:t>01</a:t>
            </a:r>
            <a:endParaRPr lang="en-US" sz="1700"/>
          </a:p>
        </p:txBody>
      </p:sp>
      <p:pic>
        <p:nvPicPr>
          <p:cNvPr id="777640397" name="Image 1" descr="preencoded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758309" y="3187541"/>
            <a:ext cx="3705344" cy="30480"/>
          </a:xfrm>
          <a:prstGeom prst="rect">
            <a:avLst/>
          </a:prstGeom>
        </p:spPr>
      </p:pic>
      <p:sp>
        <p:nvSpPr>
          <p:cNvPr id="1537133234" name="Text 2"/>
          <p:cNvSpPr/>
          <p:nvPr/>
        </p:nvSpPr>
        <p:spPr bwMode="auto">
          <a:xfrm>
            <a:off x="758309" y="335672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200" b="1">
                <a:solidFill>
                  <a:srgbClr val="384653"/>
                </a:solidFill>
                <a:latin typeface="Barlow Bold"/>
                <a:ea typeface="Barlow Bold"/>
                <a:cs typeface="Barlow Bold"/>
              </a:rPr>
              <a:t>Confidentiality</a:t>
            </a:r>
            <a:endParaRPr lang="en-US" sz="2200"/>
          </a:p>
        </p:txBody>
      </p:sp>
      <p:sp>
        <p:nvSpPr>
          <p:cNvPr id="310734509" name="Text 3"/>
          <p:cNvSpPr/>
          <p:nvPr/>
        </p:nvSpPr>
        <p:spPr bwMode="auto">
          <a:xfrm>
            <a:off x="758309" y="3842861"/>
            <a:ext cx="370534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  <a:defRPr/>
            </a:pPr>
            <a:r>
              <a:rPr lang="en-US" sz="1700">
                <a:solidFill>
                  <a:srgbClr val="384653"/>
                </a:solidFill>
                <a:latin typeface="Montserrat"/>
                <a:ea typeface="Montserrat"/>
                <a:cs typeface="Montserrat"/>
              </a:rPr>
              <a:t>Obligation to protect sensitive data</a:t>
            </a:r>
            <a:endParaRPr lang="en-US" sz="1700"/>
          </a:p>
        </p:txBody>
      </p:sp>
      <p:sp>
        <p:nvSpPr>
          <p:cNvPr id="406459761" name="Text 4"/>
          <p:cNvSpPr/>
          <p:nvPr/>
        </p:nvSpPr>
        <p:spPr bwMode="auto">
          <a:xfrm>
            <a:off x="4680228" y="2849999"/>
            <a:ext cx="216575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  <a:defRPr/>
            </a:pPr>
            <a:r>
              <a:rPr lang="en-US" sz="1700">
                <a:solidFill>
                  <a:srgbClr val="384653"/>
                </a:solidFill>
                <a:latin typeface="Barlow Light"/>
                <a:ea typeface="Barlow Light"/>
                <a:cs typeface="Barlow Light"/>
              </a:rPr>
              <a:t>02</a:t>
            </a:r>
            <a:endParaRPr lang="en-US" sz="1700"/>
          </a:p>
        </p:txBody>
      </p:sp>
      <p:pic>
        <p:nvPicPr>
          <p:cNvPr id="75549665" name="Image 2" descr="preencoded.png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4680228" y="3209092"/>
            <a:ext cx="3705463" cy="30480"/>
          </a:xfrm>
          <a:prstGeom prst="rect">
            <a:avLst/>
          </a:prstGeom>
        </p:spPr>
      </p:pic>
      <p:sp>
        <p:nvSpPr>
          <p:cNvPr id="714699423" name="Text 5"/>
          <p:cNvSpPr/>
          <p:nvPr/>
        </p:nvSpPr>
        <p:spPr bwMode="auto">
          <a:xfrm>
            <a:off x="4680228" y="335672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200" b="1">
                <a:solidFill>
                  <a:srgbClr val="384653"/>
                </a:solidFill>
                <a:latin typeface="Barlow Bold"/>
                <a:ea typeface="Barlow Bold"/>
                <a:cs typeface="Barlow Bold"/>
              </a:rPr>
              <a:t>Identity Theft</a:t>
            </a:r>
            <a:endParaRPr lang="en-US" sz="2200"/>
          </a:p>
        </p:txBody>
      </p:sp>
      <p:sp>
        <p:nvSpPr>
          <p:cNvPr id="1248087820" name="Text 6"/>
          <p:cNvSpPr/>
          <p:nvPr/>
        </p:nvSpPr>
        <p:spPr bwMode="auto">
          <a:xfrm>
            <a:off x="4680228" y="3842861"/>
            <a:ext cx="370546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  <a:defRPr/>
            </a:pPr>
            <a:r>
              <a:rPr lang="en-US" sz="1700">
                <a:solidFill>
                  <a:srgbClr val="384653"/>
                </a:solidFill>
                <a:latin typeface="Montserrat"/>
                <a:ea typeface="Montserrat"/>
                <a:cs typeface="Montserrat"/>
              </a:rPr>
              <a:t>Phishing and Pharming attacks</a:t>
            </a:r>
            <a:endParaRPr lang="en-US" sz="1700"/>
          </a:p>
        </p:txBody>
      </p:sp>
      <p:sp>
        <p:nvSpPr>
          <p:cNvPr id="1468268535" name="Text 7"/>
          <p:cNvSpPr/>
          <p:nvPr/>
        </p:nvSpPr>
        <p:spPr bwMode="auto">
          <a:xfrm>
            <a:off x="758309" y="4915257"/>
            <a:ext cx="216575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  <a:defRPr/>
            </a:pPr>
            <a:r>
              <a:rPr lang="en-US" sz="1700">
                <a:solidFill>
                  <a:srgbClr val="384653"/>
                </a:solidFill>
                <a:latin typeface="Barlow Light"/>
                <a:ea typeface="Barlow Light"/>
                <a:cs typeface="Barlow Light"/>
              </a:rPr>
              <a:t>03</a:t>
            </a:r>
            <a:endParaRPr lang="en-US" sz="1700"/>
          </a:p>
        </p:txBody>
      </p:sp>
      <p:pic>
        <p:nvPicPr>
          <p:cNvPr id="1128178309" name="Image 3" descr="preencoded.png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758309" y="5231130"/>
            <a:ext cx="7627382" cy="30480"/>
          </a:xfrm>
          <a:prstGeom prst="rect">
            <a:avLst/>
          </a:prstGeom>
        </p:spPr>
      </p:pic>
      <p:sp>
        <p:nvSpPr>
          <p:cNvPr id="1603870979" name="Text 8"/>
          <p:cNvSpPr/>
          <p:nvPr/>
        </p:nvSpPr>
        <p:spPr bwMode="auto">
          <a:xfrm>
            <a:off x="758309" y="542198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200" b="1">
                <a:solidFill>
                  <a:srgbClr val="384653"/>
                </a:solidFill>
                <a:latin typeface="Barlow Bold"/>
                <a:ea typeface="Barlow Bold"/>
                <a:cs typeface="Barlow Bold"/>
              </a:rPr>
              <a:t>Misuse</a:t>
            </a:r>
            <a:endParaRPr lang="en-US" sz="2200"/>
          </a:p>
        </p:txBody>
      </p:sp>
      <p:sp>
        <p:nvSpPr>
          <p:cNvPr id="1228930192" name="Text 9"/>
          <p:cNvSpPr/>
          <p:nvPr/>
        </p:nvSpPr>
        <p:spPr bwMode="auto">
          <a:xfrm>
            <a:off x="758309" y="5908119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  <a:defRPr/>
            </a:pPr>
            <a:r>
              <a:rPr lang="en-US" sz="1700">
                <a:solidFill>
                  <a:srgbClr val="384653"/>
                </a:solidFill>
                <a:latin typeface="Montserrat"/>
                <a:ea typeface="Montserrat"/>
                <a:cs typeface="Montserrat"/>
              </a:rPr>
              <a:t>Inappropriate sharing of corporate info</a:t>
            </a:r>
            <a:endParaRPr lang="en-US" sz="17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1384886" name="Image 0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2121643381" name="Text 0"/>
          <p:cNvSpPr/>
          <p:nvPr/>
        </p:nvSpPr>
        <p:spPr bwMode="auto">
          <a:xfrm>
            <a:off x="6244709" y="1646039"/>
            <a:ext cx="629197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  <a:defRPr/>
            </a:pPr>
            <a:r>
              <a:rPr lang="en-US" sz="4450" b="1">
                <a:solidFill>
                  <a:srgbClr val="2E3C4E"/>
                </a:solidFill>
                <a:latin typeface="Barlow Bold"/>
                <a:ea typeface="Barlow Bold"/>
                <a:cs typeface="Barlow Bold"/>
              </a:rPr>
              <a:t>The AI Threat Landscape</a:t>
            </a:r>
            <a:endParaRPr lang="en-US" sz="4450"/>
          </a:p>
        </p:txBody>
      </p:sp>
      <p:pic>
        <p:nvPicPr>
          <p:cNvPr id="2015998905" name="Image 1" descr="preencoded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244709" y="2683669"/>
            <a:ext cx="1083231" cy="1299924"/>
          </a:xfrm>
          <a:prstGeom prst="rect">
            <a:avLst/>
          </a:prstGeom>
        </p:spPr>
      </p:pic>
      <p:sp>
        <p:nvSpPr>
          <p:cNvPr id="754888927" name="Text 1"/>
          <p:cNvSpPr/>
          <p:nvPr/>
        </p:nvSpPr>
        <p:spPr bwMode="auto">
          <a:xfrm>
            <a:off x="7544514" y="290024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200" b="1">
                <a:solidFill>
                  <a:srgbClr val="384653"/>
                </a:solidFill>
                <a:latin typeface="Barlow Bold"/>
                <a:ea typeface="Barlow Bold"/>
                <a:cs typeface="Barlow Bold"/>
              </a:rPr>
              <a:t>Hacking</a:t>
            </a:r>
            <a:endParaRPr lang="en-US" sz="2200"/>
          </a:p>
        </p:txBody>
      </p:sp>
      <p:sp>
        <p:nvSpPr>
          <p:cNvPr id="2045724194" name="Text 2"/>
          <p:cNvSpPr/>
          <p:nvPr/>
        </p:nvSpPr>
        <p:spPr bwMode="auto">
          <a:xfrm>
            <a:off x="7544514" y="3386376"/>
            <a:ext cx="632757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  <a:defRPr/>
            </a:pPr>
            <a:r>
              <a:rPr lang="en-US" sz="1700">
                <a:solidFill>
                  <a:srgbClr val="384653"/>
                </a:solidFill>
                <a:latin typeface="Montserrat"/>
                <a:ea typeface="Montserrat"/>
                <a:cs typeface="Montserrat"/>
              </a:rPr>
              <a:t>Unauthorized access and shutdowns</a:t>
            </a:r>
            <a:endParaRPr lang="en-US" sz="1700"/>
          </a:p>
        </p:txBody>
      </p:sp>
      <p:pic>
        <p:nvPicPr>
          <p:cNvPr id="1157017082" name="Image 2" descr="preencoded.png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6244709" y="3983593"/>
            <a:ext cx="1083231" cy="1299924"/>
          </a:xfrm>
          <a:prstGeom prst="rect">
            <a:avLst/>
          </a:prstGeom>
        </p:spPr>
      </p:pic>
      <p:sp>
        <p:nvSpPr>
          <p:cNvPr id="704730100" name="Text 3"/>
          <p:cNvSpPr/>
          <p:nvPr/>
        </p:nvSpPr>
        <p:spPr bwMode="auto">
          <a:xfrm>
            <a:off x="7544514" y="420016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200" b="1">
                <a:solidFill>
                  <a:srgbClr val="384653"/>
                </a:solidFill>
                <a:latin typeface="Barlow Bold"/>
                <a:ea typeface="Barlow Bold"/>
                <a:cs typeface="Barlow Bold"/>
              </a:rPr>
              <a:t>Theft</a:t>
            </a:r>
            <a:endParaRPr lang="en-US" sz="2200"/>
          </a:p>
        </p:txBody>
      </p:sp>
      <p:sp>
        <p:nvSpPr>
          <p:cNvPr id="2093191607" name="Text 4"/>
          <p:cNvSpPr/>
          <p:nvPr/>
        </p:nvSpPr>
        <p:spPr bwMode="auto">
          <a:xfrm>
            <a:off x="7544514" y="4686300"/>
            <a:ext cx="632757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  <a:defRPr/>
            </a:pPr>
            <a:r>
              <a:rPr lang="en-US" sz="1700">
                <a:solidFill>
                  <a:srgbClr val="384653"/>
                </a:solidFill>
                <a:latin typeface="Montserrat"/>
                <a:ea typeface="Montserrat"/>
                <a:cs typeface="Montserrat"/>
              </a:rPr>
              <a:t>Stealing Model Weights (Trade Secrets)</a:t>
            </a:r>
            <a:endParaRPr lang="en-US" sz="1700"/>
          </a:p>
        </p:txBody>
      </p:sp>
      <p:pic>
        <p:nvPicPr>
          <p:cNvPr id="1990998597" name="Image 3" descr="preencoded.png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6244709" y="5283518"/>
            <a:ext cx="1083231" cy="1299924"/>
          </a:xfrm>
          <a:prstGeom prst="rect">
            <a:avLst/>
          </a:prstGeom>
        </p:spPr>
      </p:pic>
      <p:sp>
        <p:nvSpPr>
          <p:cNvPr id="2004183090" name="Text 5"/>
          <p:cNvSpPr/>
          <p:nvPr/>
        </p:nvSpPr>
        <p:spPr bwMode="auto">
          <a:xfrm>
            <a:off x="7544514" y="550009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  <a:defRPr/>
            </a:pPr>
            <a:r>
              <a:rPr lang="en-US" sz="2200" b="1">
                <a:solidFill>
                  <a:srgbClr val="384653"/>
                </a:solidFill>
                <a:latin typeface="Barlow Bold"/>
                <a:ea typeface="Barlow Bold"/>
                <a:cs typeface="Barlow Bold"/>
              </a:rPr>
              <a:t>Piracy</a:t>
            </a:r>
            <a:endParaRPr lang="en-US" sz="2200"/>
          </a:p>
        </p:txBody>
      </p:sp>
      <p:sp>
        <p:nvSpPr>
          <p:cNvPr id="1437392253" name="Text 6"/>
          <p:cNvSpPr/>
          <p:nvPr/>
        </p:nvSpPr>
        <p:spPr bwMode="auto">
          <a:xfrm>
            <a:off x="7544514" y="5986224"/>
            <a:ext cx="632757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  <a:defRPr/>
            </a:pPr>
            <a:r>
              <a:rPr lang="en-US" sz="1700">
                <a:solidFill>
                  <a:srgbClr val="384653"/>
                </a:solidFill>
                <a:latin typeface="Montserrat"/>
                <a:ea typeface="Montserrat"/>
                <a:cs typeface="Montserrat"/>
              </a:rPr>
              <a:t>Illegal copying or access enabling</a:t>
            </a:r>
            <a:endParaRPr lang="en-US" sz="17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01008" name="Image 0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14630400" cy="2807137"/>
          </a:xfrm>
          <a:prstGeom prst="rect">
            <a:avLst/>
          </a:prstGeom>
        </p:spPr>
      </p:pic>
      <p:sp>
        <p:nvSpPr>
          <p:cNvPr id="2069282182" name="Text 0"/>
          <p:cNvSpPr/>
          <p:nvPr/>
        </p:nvSpPr>
        <p:spPr bwMode="auto">
          <a:xfrm>
            <a:off x="748546" y="3261836"/>
            <a:ext cx="6113859" cy="703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  <a:defRPr/>
            </a:pPr>
            <a:r>
              <a:rPr lang="en-US" sz="4400" b="1">
                <a:solidFill>
                  <a:srgbClr val="2E3C4E"/>
                </a:solidFill>
                <a:latin typeface="Barlow Bold"/>
                <a:ea typeface="Barlow Bold"/>
                <a:cs typeface="Barlow Bold"/>
              </a:rPr>
              <a:t>Consequences of Failure</a:t>
            </a:r>
            <a:endParaRPr lang="en-US" sz="4400"/>
          </a:p>
        </p:txBody>
      </p:sp>
      <p:sp>
        <p:nvSpPr>
          <p:cNvPr id="183944657" name="Shape 1"/>
          <p:cNvSpPr/>
          <p:nvPr/>
        </p:nvSpPr>
        <p:spPr bwMode="auto">
          <a:xfrm>
            <a:off x="748546" y="5963602"/>
            <a:ext cx="13133308" cy="30480"/>
          </a:xfrm>
          <a:prstGeom prst="roundRect">
            <a:avLst>
              <a:gd name="adj" fmla="val 1052607"/>
            </a:avLst>
          </a:prstGeom>
          <a:solidFill>
            <a:srgbClr val="BACFDD"/>
          </a:solidFill>
          <a:ln/>
        </p:spPr>
      </p:sp>
      <p:sp>
        <p:nvSpPr>
          <p:cNvPr id="2007457566" name="Shape 2"/>
          <p:cNvSpPr/>
          <p:nvPr/>
        </p:nvSpPr>
        <p:spPr bwMode="auto">
          <a:xfrm>
            <a:off x="3949779" y="5321975"/>
            <a:ext cx="30480" cy="641628"/>
          </a:xfrm>
          <a:prstGeom prst="roundRect">
            <a:avLst>
              <a:gd name="adj" fmla="val 1052607"/>
            </a:avLst>
          </a:prstGeom>
          <a:solidFill>
            <a:srgbClr val="BACFDD"/>
          </a:solidFill>
          <a:ln/>
        </p:spPr>
      </p:sp>
      <p:sp>
        <p:nvSpPr>
          <p:cNvPr id="1556969164" name="Shape 3"/>
          <p:cNvSpPr/>
          <p:nvPr/>
        </p:nvSpPr>
        <p:spPr bwMode="auto">
          <a:xfrm>
            <a:off x="3724394" y="5722977"/>
            <a:ext cx="481251" cy="481251"/>
          </a:xfrm>
          <a:prstGeom prst="roundRect">
            <a:avLst>
              <a:gd name="adj" fmla="val 66667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189442456" name="Text 4"/>
          <p:cNvSpPr/>
          <p:nvPr/>
        </p:nvSpPr>
        <p:spPr bwMode="auto">
          <a:xfrm>
            <a:off x="3796189" y="5752564"/>
            <a:ext cx="337661" cy="422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  <a:defRPr/>
            </a:pPr>
            <a:r>
              <a:rPr lang="en-US" sz="2650" b="1">
                <a:solidFill>
                  <a:srgbClr val="384653"/>
                </a:solidFill>
                <a:latin typeface="Barlow Bold"/>
                <a:ea typeface="Barlow Bold"/>
                <a:cs typeface="Barlow Bold"/>
              </a:rPr>
              <a:t>1</a:t>
            </a:r>
            <a:endParaRPr lang="en-US" sz="2650"/>
          </a:p>
        </p:txBody>
      </p:sp>
      <p:sp>
        <p:nvSpPr>
          <p:cNvPr id="113784572" name="Text 5"/>
          <p:cNvSpPr/>
          <p:nvPr/>
        </p:nvSpPr>
        <p:spPr bwMode="auto">
          <a:xfrm>
            <a:off x="2557820" y="4286012"/>
            <a:ext cx="2814280" cy="351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  <a:defRPr/>
            </a:pPr>
            <a:r>
              <a:rPr lang="en-US" sz="2200" b="1">
                <a:solidFill>
                  <a:srgbClr val="384653"/>
                </a:solidFill>
                <a:latin typeface="Barlow Bold"/>
                <a:ea typeface="Barlow Bold"/>
                <a:cs typeface="Barlow Bold"/>
              </a:rPr>
              <a:t>Legal</a:t>
            </a:r>
            <a:endParaRPr lang="en-US" sz="2200"/>
          </a:p>
        </p:txBody>
      </p:sp>
      <p:sp>
        <p:nvSpPr>
          <p:cNvPr id="1801326195" name="Text 6"/>
          <p:cNvSpPr/>
          <p:nvPr/>
        </p:nvSpPr>
        <p:spPr bwMode="auto">
          <a:xfrm>
            <a:off x="962382" y="4766072"/>
            <a:ext cx="6005274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  <a:defRPr/>
            </a:pPr>
            <a:r>
              <a:rPr lang="en-US" sz="1650">
                <a:solidFill>
                  <a:srgbClr val="384653"/>
                </a:solidFill>
                <a:latin typeface="Montserrat"/>
                <a:ea typeface="Montserrat"/>
                <a:cs typeface="Montserrat"/>
              </a:rPr>
              <a:t>Malpractice and Breach of Contract</a:t>
            </a:r>
            <a:endParaRPr lang="en-US" sz="1650"/>
          </a:p>
        </p:txBody>
      </p:sp>
      <p:sp>
        <p:nvSpPr>
          <p:cNvPr id="1283097563" name="Shape 7"/>
          <p:cNvSpPr/>
          <p:nvPr/>
        </p:nvSpPr>
        <p:spPr bwMode="auto">
          <a:xfrm>
            <a:off x="7299841" y="5963602"/>
            <a:ext cx="30480" cy="641628"/>
          </a:xfrm>
          <a:prstGeom prst="roundRect">
            <a:avLst>
              <a:gd name="adj" fmla="val 1052607"/>
            </a:avLst>
          </a:prstGeom>
          <a:solidFill>
            <a:srgbClr val="BACFDD"/>
          </a:solidFill>
          <a:ln/>
        </p:spPr>
      </p:sp>
      <p:sp>
        <p:nvSpPr>
          <p:cNvPr id="1587904153" name="Shape 8"/>
          <p:cNvSpPr/>
          <p:nvPr/>
        </p:nvSpPr>
        <p:spPr bwMode="auto">
          <a:xfrm>
            <a:off x="7074456" y="5722977"/>
            <a:ext cx="481251" cy="481251"/>
          </a:xfrm>
          <a:prstGeom prst="roundRect">
            <a:avLst>
              <a:gd name="adj" fmla="val 66667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172223820" name="Text 9"/>
          <p:cNvSpPr/>
          <p:nvPr/>
        </p:nvSpPr>
        <p:spPr bwMode="auto">
          <a:xfrm>
            <a:off x="7146250" y="5752564"/>
            <a:ext cx="337661" cy="422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  <a:defRPr/>
            </a:pPr>
            <a:r>
              <a:rPr lang="en-US" sz="2650" b="1">
                <a:solidFill>
                  <a:srgbClr val="384653"/>
                </a:solidFill>
                <a:latin typeface="Barlow Bold"/>
                <a:ea typeface="Barlow Bold"/>
                <a:cs typeface="Barlow Bold"/>
              </a:rPr>
              <a:t>2</a:t>
            </a:r>
            <a:endParaRPr lang="en-US" sz="2650"/>
          </a:p>
        </p:txBody>
      </p:sp>
      <p:sp>
        <p:nvSpPr>
          <p:cNvPr id="952506484" name="Text 10"/>
          <p:cNvSpPr/>
          <p:nvPr/>
        </p:nvSpPr>
        <p:spPr bwMode="auto">
          <a:xfrm>
            <a:off x="5908000" y="6819067"/>
            <a:ext cx="2814280" cy="351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  <a:defRPr/>
            </a:pPr>
            <a:r>
              <a:rPr lang="en-US" sz="2200" b="1">
                <a:solidFill>
                  <a:srgbClr val="384653"/>
                </a:solidFill>
                <a:latin typeface="Barlow Bold"/>
                <a:ea typeface="Barlow Bold"/>
                <a:cs typeface="Barlow Bold"/>
              </a:rPr>
              <a:t>Reputation</a:t>
            </a:r>
            <a:endParaRPr lang="en-US" sz="2200"/>
          </a:p>
        </p:txBody>
      </p:sp>
      <p:sp>
        <p:nvSpPr>
          <p:cNvPr id="1116646272" name="Text 11"/>
          <p:cNvSpPr/>
          <p:nvPr/>
        </p:nvSpPr>
        <p:spPr bwMode="auto">
          <a:xfrm>
            <a:off x="4312444" y="7299127"/>
            <a:ext cx="6005393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  <a:defRPr/>
            </a:pPr>
            <a:r>
              <a:rPr lang="en-US" sz="1650">
                <a:solidFill>
                  <a:srgbClr val="384653"/>
                </a:solidFill>
                <a:latin typeface="Montserrat"/>
                <a:ea typeface="Montserrat"/>
                <a:cs typeface="Montserrat"/>
              </a:rPr>
              <a:t>Whistle-blowing and public trust</a:t>
            </a:r>
            <a:endParaRPr lang="en-US" sz="1650"/>
          </a:p>
        </p:txBody>
      </p:sp>
      <p:sp>
        <p:nvSpPr>
          <p:cNvPr id="567878502" name="Shape 12"/>
          <p:cNvSpPr/>
          <p:nvPr/>
        </p:nvSpPr>
        <p:spPr bwMode="auto">
          <a:xfrm>
            <a:off x="10650022" y="5321975"/>
            <a:ext cx="30480" cy="641628"/>
          </a:xfrm>
          <a:prstGeom prst="roundRect">
            <a:avLst>
              <a:gd name="adj" fmla="val 1052607"/>
            </a:avLst>
          </a:prstGeom>
          <a:solidFill>
            <a:srgbClr val="BACFDD"/>
          </a:solidFill>
          <a:ln/>
        </p:spPr>
      </p:sp>
      <p:sp>
        <p:nvSpPr>
          <p:cNvPr id="2010698403" name="Shape 13"/>
          <p:cNvSpPr/>
          <p:nvPr/>
        </p:nvSpPr>
        <p:spPr bwMode="auto">
          <a:xfrm>
            <a:off x="10424636" y="5722977"/>
            <a:ext cx="481251" cy="481251"/>
          </a:xfrm>
          <a:prstGeom prst="roundRect">
            <a:avLst>
              <a:gd name="adj" fmla="val 66667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808563239" name="Text 14"/>
          <p:cNvSpPr/>
          <p:nvPr/>
        </p:nvSpPr>
        <p:spPr bwMode="auto">
          <a:xfrm>
            <a:off x="10496431" y="5752564"/>
            <a:ext cx="337661" cy="422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  <a:defRPr/>
            </a:pPr>
            <a:r>
              <a:rPr lang="en-US" sz="2650" b="1">
                <a:solidFill>
                  <a:srgbClr val="384653"/>
                </a:solidFill>
                <a:latin typeface="Barlow Bold"/>
                <a:ea typeface="Barlow Bold"/>
                <a:cs typeface="Barlow Bold"/>
              </a:rPr>
              <a:t>3</a:t>
            </a:r>
            <a:endParaRPr lang="en-US" sz="2650"/>
          </a:p>
        </p:txBody>
      </p:sp>
      <p:sp>
        <p:nvSpPr>
          <p:cNvPr id="443721852" name="Text 15"/>
          <p:cNvSpPr/>
          <p:nvPr/>
        </p:nvSpPr>
        <p:spPr bwMode="auto">
          <a:xfrm>
            <a:off x="9258181" y="4286012"/>
            <a:ext cx="2814280" cy="351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  <a:defRPr/>
            </a:pPr>
            <a:r>
              <a:rPr lang="en-US" sz="2200" b="1">
                <a:solidFill>
                  <a:srgbClr val="384653"/>
                </a:solidFill>
                <a:latin typeface="Barlow Bold"/>
                <a:ea typeface="Barlow Bold"/>
                <a:cs typeface="Barlow Bold"/>
              </a:rPr>
              <a:t>Financial</a:t>
            </a:r>
            <a:endParaRPr lang="en-US" sz="2200"/>
          </a:p>
        </p:txBody>
      </p:sp>
      <p:sp>
        <p:nvSpPr>
          <p:cNvPr id="666813936" name="Text 16"/>
          <p:cNvSpPr/>
          <p:nvPr/>
        </p:nvSpPr>
        <p:spPr bwMode="auto">
          <a:xfrm>
            <a:off x="7662624" y="4766072"/>
            <a:ext cx="6005393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  <a:defRPr/>
            </a:pPr>
            <a:r>
              <a:rPr lang="en-US" sz="1650">
                <a:solidFill>
                  <a:srgbClr val="384653"/>
                </a:solidFill>
                <a:latin typeface="Montserrat"/>
                <a:ea typeface="Montserrat"/>
                <a:cs typeface="Montserrat"/>
              </a:rPr>
              <a:t>Fraud and misrepresentation damages</a:t>
            </a:r>
            <a:endParaRPr lang="en-US" sz="16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ONLYOFFICE/9.0.4.50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2</cp:revision>
  <dcterms:created xsi:type="dcterms:W3CDTF">2026-01-06T16:53:13Z</dcterms:created>
  <dcterms:modified xsi:type="dcterms:W3CDTF">2026-01-06T16:59:10Z</dcterms:modified>
</cp:coreProperties>
</file>