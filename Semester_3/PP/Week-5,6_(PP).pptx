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6"/>
  </p:notesMasterIdLst>
  <p:sldIdLst>
    <p:sldId id="257" r:id="rId2"/>
    <p:sldId id="293"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9" r:id="rId21"/>
    <p:sldId id="276" r:id="rId22"/>
    <p:sldId id="277" r:id="rId23"/>
    <p:sldId id="296" r:id="rId24"/>
    <p:sldId id="278" r:id="rId25"/>
    <p:sldId id="279" r:id="rId26"/>
    <p:sldId id="294" r:id="rId27"/>
    <p:sldId id="295" r:id="rId28"/>
    <p:sldId id="281" r:id="rId29"/>
    <p:sldId id="290" r:id="rId30"/>
    <p:sldId id="283" r:id="rId31"/>
    <p:sldId id="285" r:id="rId32"/>
    <p:sldId id="286" r:id="rId33"/>
    <p:sldId id="287" r:id="rId34"/>
    <p:sldId id="288"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87956" autoAdjust="0"/>
  </p:normalViewPr>
  <p:slideViewPr>
    <p:cSldViewPr>
      <p:cViewPr varScale="1">
        <p:scale>
          <a:sx n="62" d="100"/>
          <a:sy n="62" d="100"/>
        </p:scale>
        <p:origin x="1404" y="3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3A343F-2F65-46C1-9371-223666C409F2}" type="datetimeFigureOut">
              <a:rPr lang="en-US" smtClean="0"/>
              <a:t>8/6/2019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38DD537-98A7-45AC-BABB-40151CDDAFEB}" type="slidenum">
              <a:rPr lang="en-US" smtClean="0"/>
              <a:t>‹#›</a:t>
            </a:fld>
            <a:endParaRPr lang="en-US"/>
          </a:p>
        </p:txBody>
      </p:sp>
    </p:spTree>
    <p:extLst>
      <p:ext uri="{BB962C8B-B14F-4D97-AF65-F5344CB8AC3E}">
        <p14:creationId xmlns:p14="http://schemas.microsoft.com/office/powerpoint/2010/main" val="1165843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B608EFFE-5BCD-442E-BF82-EB0D980450D5}" type="slidenum">
              <a:rPr lang="en-US" altLang="en-US" sz="1200">
                <a:solidFill>
                  <a:schemeClr val="tx1"/>
                </a:solidFill>
              </a:rPr>
              <a:pPr eaLnBrk="1" hangingPunct="1"/>
              <a:t>2</a:t>
            </a:fld>
            <a:endParaRPr lang="en-US" altLang="en-US" sz="1200">
              <a:solidFill>
                <a:schemeClr val="tx1"/>
              </a:solidFill>
            </a:endParaRPr>
          </a:p>
        </p:txBody>
      </p:sp>
      <p:sp>
        <p:nvSpPr>
          <p:cNvPr id="61443" name="Rectangle 1026"/>
          <p:cNvSpPr>
            <a:spLocks noGrp="1" noRot="1" noChangeAspect="1" noChangeArrowheads="1" noTextEdit="1"/>
          </p:cNvSpPr>
          <p:nvPr>
            <p:ph type="sldImg"/>
          </p:nvPr>
        </p:nvSpPr>
        <p:spPr>
          <a:ln/>
        </p:spPr>
      </p:sp>
      <p:sp>
        <p:nvSpPr>
          <p:cNvPr id="6144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347804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8DD537-98A7-45AC-BABB-40151CDDAFEB}" type="slidenum">
              <a:rPr lang="en-US" smtClean="0"/>
              <a:t>3</a:t>
            </a:fld>
            <a:endParaRPr lang="en-US"/>
          </a:p>
        </p:txBody>
      </p:sp>
    </p:spTree>
    <p:extLst>
      <p:ext uri="{BB962C8B-B14F-4D97-AF65-F5344CB8AC3E}">
        <p14:creationId xmlns:p14="http://schemas.microsoft.com/office/powerpoint/2010/main" val="2497762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5D2C5E-54FE-42AE-9A16-E0E7A42FC00C}" type="slidenum">
              <a:rPr lang="en-US"/>
              <a:pPr/>
              <a:t>12</a:t>
            </a:fld>
            <a:endParaRPr lang="en-US"/>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r>
              <a:rPr lang="en-US" dirty="0"/>
              <a:t>Except for hackers, these are not new to computer technology.  Before computers, files were stolen, receipts were stolen, information was requested under false pretenses and employees were bribed. But, with computers, the extent and impact have grown.</a:t>
            </a:r>
          </a:p>
        </p:txBody>
      </p:sp>
    </p:spTree>
    <p:extLst>
      <p:ext uri="{BB962C8B-B14F-4D97-AF65-F5344CB8AC3E}">
        <p14:creationId xmlns:p14="http://schemas.microsoft.com/office/powerpoint/2010/main" val="2734845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8DD537-98A7-45AC-BABB-40151CDDAFEB}" type="slidenum">
              <a:rPr lang="en-US" smtClean="0"/>
              <a:t>23</a:t>
            </a:fld>
            <a:endParaRPr lang="en-US"/>
          </a:p>
        </p:txBody>
      </p:sp>
    </p:spTree>
    <p:extLst>
      <p:ext uri="{BB962C8B-B14F-4D97-AF65-F5344CB8AC3E}">
        <p14:creationId xmlns:p14="http://schemas.microsoft.com/office/powerpoint/2010/main" val="1264311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C00793EC-44FC-4296-84F2-0C0E8486F173}" type="slidenum">
              <a:rPr lang="en-US" altLang="en-US" sz="1200">
                <a:solidFill>
                  <a:schemeClr val="tx1"/>
                </a:solidFill>
              </a:rPr>
              <a:pPr eaLnBrk="1" hangingPunct="1"/>
              <a:t>26</a:t>
            </a:fld>
            <a:endParaRPr lang="en-US" altLang="en-US" sz="1200">
              <a:solidFill>
                <a:schemeClr val="tx1"/>
              </a:solidFill>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042161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eaLnBrk="1" hangingPunct="1"/>
            <a:fld id="{25DA9AA0-AD89-4D74-BA95-BABCE7F946F8}" type="slidenum">
              <a:rPr lang="en-US" altLang="en-US" sz="1200">
                <a:solidFill>
                  <a:schemeClr val="tx1"/>
                </a:solidFill>
              </a:rPr>
              <a:pPr eaLnBrk="1" hangingPunct="1"/>
              <a:t>27</a:t>
            </a:fld>
            <a:endParaRPr lang="en-US" altLang="en-US" sz="1200">
              <a:solidFill>
                <a:schemeClr val="tx1"/>
              </a:solidFill>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317171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B98FA0-A2D6-4890-9D3D-ABD8C814227B}" type="slidenum">
              <a:rPr lang="en-US"/>
              <a:pPr/>
              <a:t>34</a:t>
            </a:fld>
            <a:endParaRPr lang="en-US"/>
          </a:p>
        </p:txBody>
      </p:sp>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625387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788454"/>
            <a:ext cx="6270922" cy="2098226"/>
          </a:xfrm>
        </p:spPr>
        <p:txBody>
          <a:bodyPr anchor="b">
            <a:noAutofit/>
          </a:bodyPr>
          <a:lstStyle>
            <a:lvl1pPr algn="ctr">
              <a:defRPr sz="60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009930" y="3956280"/>
            <a:ext cx="5123755" cy="1086237"/>
          </a:xfrm>
        </p:spPr>
        <p:txBody>
          <a:bodyPr>
            <a:normAutofit/>
          </a:bodyPr>
          <a:lstStyle>
            <a:lvl1pPr marL="0" indent="0" algn="ctr">
              <a:lnSpc>
                <a:spcPct val="112000"/>
              </a:lnSpc>
              <a:spcBef>
                <a:spcPts val="0"/>
              </a:spcBef>
              <a:spcAft>
                <a:spcPts val="0"/>
              </a:spcAf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564644" y="6453386"/>
            <a:ext cx="1205958" cy="404614"/>
          </a:xfrm>
        </p:spPr>
        <p:txBody>
          <a:bodyPr/>
          <a:lstStyle>
            <a:lvl1pPr>
              <a:defRPr baseline="0">
                <a:solidFill>
                  <a:schemeClr val="tx2"/>
                </a:solidFill>
              </a:defRPr>
            </a:lvl1pPr>
          </a:lstStyle>
          <a:p>
            <a:fld id="{1D8BD707-D9CF-40AE-B4C6-C98DA3205C09}" type="datetimeFigureOut">
              <a:rPr lang="en-US" smtClean="0"/>
              <a:pPr/>
              <a:t>8/6/2019</a:t>
            </a:fld>
            <a:endParaRPr lang="en-US"/>
          </a:p>
        </p:txBody>
      </p:sp>
      <p:sp>
        <p:nvSpPr>
          <p:cNvPr id="5" name="Footer Placeholder 4"/>
          <p:cNvSpPr>
            <a:spLocks noGrp="1"/>
          </p:cNvSpPr>
          <p:nvPr>
            <p:ph type="ftr" sz="quarter" idx="11"/>
          </p:nvPr>
        </p:nvSpPr>
        <p:spPr>
          <a:xfrm>
            <a:off x="1938041" y="6453386"/>
            <a:ext cx="5267533"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baseline="0">
                <a:solidFill>
                  <a:schemeClr val="tx2"/>
                </a:solidFill>
              </a:defRPr>
            </a:lvl1pPr>
          </a:lstStyle>
          <a:p>
            <a:fld id="{B6F15528-21DE-4FAA-801E-634DDDAF4B2B}" type="slidenum">
              <a:rPr lang="en-US" smtClean="0"/>
              <a:pPr/>
              <a:t>‹#›</a:t>
            </a:fld>
            <a:endParaRPr lang="en-US"/>
          </a:p>
        </p:txBody>
      </p:sp>
      <p:grpSp>
        <p:nvGrpSpPr>
          <p:cNvPr id="8" name="Group 7"/>
          <p:cNvGrpSpPr/>
          <p:nvPr/>
        </p:nvGrpSpPr>
        <p:grpSpPr>
          <a:xfrm>
            <a:off x="564643" y="744469"/>
            <a:ext cx="8005589" cy="5349671"/>
            <a:chOff x="564643" y="744469"/>
            <a:chExt cx="8005589" cy="5349671"/>
          </a:xfrm>
        </p:grpSpPr>
        <p:sp>
          <p:nvSpPr>
            <p:cNvPr id="11" name="Freeform 6"/>
            <p:cNvSpPr/>
            <p:nvPr/>
          </p:nvSpPr>
          <p:spPr bwMode="auto">
            <a:xfrm>
              <a:off x="6113972" y="1685652"/>
              <a:ext cx="2456260" cy="4408488"/>
            </a:xfrm>
            <a:custGeom>
              <a:avLst/>
              <a:gdLst/>
              <a:ahLst/>
              <a:cxnLst/>
              <a:rect l="l" t="t" r="r" b="b"/>
              <a:pathLst>
                <a:path w="10000" h="10000">
                  <a:moveTo>
                    <a:pt x="8761" y="0"/>
                  </a:moveTo>
                  <a:lnTo>
                    <a:pt x="10000" y="0"/>
                  </a:lnTo>
                  <a:lnTo>
                    <a:pt x="10000" y="10000"/>
                  </a:lnTo>
                  <a:lnTo>
                    <a:pt x="0" y="10000"/>
                  </a:lnTo>
                  <a:lnTo>
                    <a:pt x="0" y="9357"/>
                  </a:lnTo>
                  <a:lnTo>
                    <a:pt x="8761" y="935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564643" y="744469"/>
              <a:ext cx="2456505" cy="4408488"/>
            </a:xfrm>
            <a:custGeom>
              <a:avLst/>
              <a:gdLst/>
              <a:ahLst/>
              <a:cxnLst/>
              <a:rect l="l" t="t" r="r" b="b"/>
              <a:pathLst>
                <a:path w="10001" h="1000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038346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3142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1301361"/>
            <a:ext cx="7209728" cy="2852737"/>
          </a:xfrm>
        </p:spPr>
        <p:txBody>
          <a:bodyPr anchor="b">
            <a:normAutofit/>
          </a:bodyPr>
          <a:lstStyle>
            <a:lvl1pPr algn="r">
              <a:defRPr sz="60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73769" y="4216328"/>
            <a:ext cx="7209728" cy="1143324"/>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554181" y="6453386"/>
            <a:ext cx="1216807" cy="404614"/>
          </a:xfrm>
        </p:spPr>
        <p:txBody>
          <a:bodyPr/>
          <a:lstStyle>
            <a:lvl1pPr>
              <a:defRPr>
                <a:solidFill>
                  <a:schemeClr val="tx2"/>
                </a:solidFill>
              </a:defRPr>
            </a:lvl1pPr>
          </a:lstStyle>
          <a:p>
            <a:fld id="{1D8BD707-D9CF-40AE-B4C6-C98DA3205C09}" type="datetimeFigureOut">
              <a:rPr lang="en-US" smtClean="0"/>
              <a:pPr/>
              <a:t>8/6/2019</a:t>
            </a:fld>
            <a:endParaRPr lang="en-US"/>
          </a:p>
        </p:txBody>
      </p:sp>
      <p:sp>
        <p:nvSpPr>
          <p:cNvPr id="5" name="Footer Placeholder 4"/>
          <p:cNvSpPr>
            <a:spLocks noGrp="1"/>
          </p:cNvSpPr>
          <p:nvPr>
            <p:ph type="ftr" sz="quarter" idx="11"/>
          </p:nvPr>
        </p:nvSpPr>
        <p:spPr>
          <a:xfrm>
            <a:off x="1938234" y="6453386"/>
            <a:ext cx="5267533"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7373012" y="6453386"/>
            <a:ext cx="1197219" cy="404614"/>
          </a:xfrm>
        </p:spPr>
        <p:txBody>
          <a:bodyPr/>
          <a:lstStyle>
            <a:lvl1pPr>
              <a:defRPr>
                <a:solidFill>
                  <a:schemeClr val="tx2"/>
                </a:solidFill>
              </a:defRPr>
            </a:lvl1pPr>
          </a:lstStyle>
          <a:p>
            <a:fld id="{B6F15528-21DE-4FAA-801E-634DDDAF4B2B}" type="slidenum">
              <a:rPr lang="en-US" smtClean="0"/>
              <a:pPr/>
              <a:t>‹#›</a:t>
            </a:fld>
            <a:endParaRPr lang="en-US"/>
          </a:p>
        </p:txBody>
      </p:sp>
      <p:sp>
        <p:nvSpPr>
          <p:cNvPr id="7" name="Freeform 6"/>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bg2"/>
          </a:solidFill>
          <a:ln w="0">
            <a:noFill/>
            <a:prstDash val="solid"/>
            <a:round/>
            <a:headEnd/>
            <a:tailEnd/>
          </a:ln>
        </p:spPr>
      </p:sp>
      <p:sp>
        <p:nvSpPr>
          <p:cNvPr id="8" name="Freeform 7" title="Crop Mark"/>
          <p:cNvSpPr/>
          <p:nvPr/>
        </p:nvSpPr>
        <p:spPr bwMode="auto">
          <a:xfrm>
            <a:off x="6113972" y="1685652"/>
            <a:ext cx="2456260"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2895296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028700" y="2286000"/>
            <a:ext cx="3335840"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94052" y="2286000"/>
            <a:ext cx="3335840"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74775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685800"/>
            <a:ext cx="72009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28700" y="2340230"/>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1028700" y="3305208"/>
            <a:ext cx="3335839"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893760" y="2349754"/>
            <a:ext cx="3335840" cy="823912"/>
          </a:xfrm>
        </p:spPr>
        <p:txBody>
          <a:bodyPr anchor="b">
            <a:noAutofit/>
          </a:bodyPr>
          <a:lstStyle>
            <a:lvl1pPr marL="0" indent="0">
              <a:lnSpc>
                <a:spcPct val="84000"/>
              </a:lnSpc>
              <a:spcBef>
                <a:spcPts val="0"/>
              </a:spcBef>
              <a:spcAft>
                <a:spcPts val="0"/>
              </a:spcAft>
              <a:buNone/>
              <a:defRPr sz="240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893760" y="3305208"/>
            <a:ext cx="3335840"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5469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04068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80573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Autofit/>
          </a:bodyPr>
          <a:lstStyle>
            <a:lvl1pPr>
              <a:lnSpc>
                <a:spcPct val="84000"/>
              </a:lnSpc>
              <a:defRPr sz="44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92015" y="685801"/>
            <a:ext cx="3909060" cy="5175250"/>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42925" y="2856344"/>
            <a:ext cx="2891790" cy="3011056"/>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1D8BD707-D9CF-40AE-B4C6-C98DA3205C09}" type="datetimeFigureOut">
              <a:rPr lang="en-US" smtClean="0"/>
              <a:pPr/>
              <a:t>8/6/2019</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B6F15528-21DE-4FAA-801E-634DDDAF4B2B}" type="slidenum">
              <a:rPr lang="en-US" smtClean="0"/>
              <a:pPr/>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81099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397764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685800"/>
            <a:ext cx="2891790" cy="2157884"/>
          </a:xfrm>
        </p:spPr>
        <p:txBody>
          <a:bodyPr anchor="t">
            <a:normAutofit/>
          </a:bodyPr>
          <a:lstStyle>
            <a:lvl1pPr>
              <a:lnSpc>
                <a:spcPct val="84000"/>
              </a:lnSpc>
              <a:defRPr sz="44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149090" y="1"/>
            <a:ext cx="4994910" cy="68579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542925" y="2855968"/>
            <a:ext cx="2891790" cy="3011432"/>
          </a:xfrm>
        </p:spPr>
        <p:txBody>
          <a:bodyPr>
            <a:normAutofit/>
          </a:bodyPr>
          <a:lstStyle>
            <a:lvl1pPr marL="0" indent="0">
              <a:lnSpc>
                <a:spcPct val="113000"/>
              </a:lnSpc>
              <a:spcBef>
                <a:spcPts val="0"/>
              </a:spcBef>
              <a:spcAft>
                <a:spcPts val="1500"/>
              </a:spcAft>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a:xfrm>
            <a:off x="542925" y="6453386"/>
            <a:ext cx="903429" cy="404614"/>
          </a:xfrm>
        </p:spPr>
        <p:txBody>
          <a:bodyPr/>
          <a:lstStyle>
            <a:lvl1pPr>
              <a:defRPr>
                <a:solidFill>
                  <a:schemeClr val="tx2"/>
                </a:solidFill>
              </a:defRPr>
            </a:lvl1pPr>
          </a:lstStyle>
          <a:p>
            <a:fld id="{1D8BD707-D9CF-40AE-B4C6-C98DA3205C09}" type="datetimeFigureOut">
              <a:rPr lang="en-US" smtClean="0"/>
              <a:pPr/>
              <a:t>8/6/2019</a:t>
            </a:fld>
            <a:endParaRPr lang="en-US"/>
          </a:p>
        </p:txBody>
      </p:sp>
      <p:sp>
        <p:nvSpPr>
          <p:cNvPr id="6" name="Footer Placeholder 5"/>
          <p:cNvSpPr>
            <a:spLocks noGrp="1"/>
          </p:cNvSpPr>
          <p:nvPr>
            <p:ph type="ftr" sz="quarter" idx="11"/>
          </p:nvPr>
        </p:nvSpPr>
        <p:spPr>
          <a:xfrm>
            <a:off x="1654459" y="6453386"/>
            <a:ext cx="1780256"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7412355" y="6453386"/>
            <a:ext cx="1197219" cy="404614"/>
          </a:xfrm>
        </p:spPr>
        <p:txBody>
          <a:bodyPr/>
          <a:lstStyle>
            <a:lvl1pPr>
              <a:defRPr>
                <a:solidFill>
                  <a:schemeClr val="tx2"/>
                </a:solidFill>
              </a:defRPr>
            </a:lvl1pPr>
          </a:lstStyle>
          <a:p>
            <a:fld id="{B6F15528-21DE-4FAA-801E-634DDDAF4B2B}" type="slidenum">
              <a:rPr lang="en-US" smtClean="0"/>
              <a:pPr/>
              <a:t>‹#›</a:t>
            </a:fld>
            <a:endParaRPr lang="en-US"/>
          </a:p>
        </p:txBody>
      </p:sp>
      <p:sp>
        <p:nvSpPr>
          <p:cNvPr id="9" name="Rectangle 8"/>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title="Divider Bar"/>
          <p:cNvSpPr/>
          <p:nvPr/>
        </p:nvSpPr>
        <p:spPr>
          <a:xfrm>
            <a:off x="3977640"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86923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8700" y="2295526"/>
            <a:ext cx="72009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90671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0797" y="624156"/>
            <a:ext cx="1490950"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8700" y="624156"/>
            <a:ext cx="5724525"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78591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685800"/>
            <a:ext cx="72009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8700" y="2286000"/>
            <a:ext cx="72009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42987" y="6453386"/>
            <a:ext cx="903429" cy="404614"/>
          </a:xfrm>
          <a:prstGeom prst="rect">
            <a:avLst/>
          </a:prstGeom>
        </p:spPr>
        <p:txBody>
          <a:bodyPr vert="horz" lIns="91440" tIns="45720" rIns="91440" bIns="45720" rtlCol="0" anchor="ctr"/>
          <a:lstStyle>
            <a:lvl1pPr algn="l">
              <a:defRPr sz="1000" baseline="0">
                <a:solidFill>
                  <a:schemeClr val="tx2"/>
                </a:solidFill>
              </a:defRPr>
            </a:lvl1pPr>
          </a:lstStyle>
          <a:p>
            <a:fld id="{1D8BD707-D9CF-40AE-B4C6-C98DA3205C09}" type="datetimeFigureOut">
              <a:rPr lang="en-US" smtClean="0"/>
              <a:pPr/>
              <a:t>8/6/2019</a:t>
            </a:fld>
            <a:endParaRPr lang="en-US"/>
          </a:p>
        </p:txBody>
      </p:sp>
      <p:sp>
        <p:nvSpPr>
          <p:cNvPr id="5" name="Footer Placeholder 4"/>
          <p:cNvSpPr>
            <a:spLocks noGrp="1"/>
          </p:cNvSpPr>
          <p:nvPr>
            <p:ph type="ftr" sz="quarter" idx="3"/>
          </p:nvPr>
        </p:nvSpPr>
        <p:spPr>
          <a:xfrm>
            <a:off x="2170173" y="6453386"/>
            <a:ext cx="4710623" cy="404614"/>
          </a:xfrm>
          <a:prstGeom prst="rect">
            <a:avLst/>
          </a:prstGeom>
        </p:spPr>
        <p:txBody>
          <a:bodyPr vert="horz" lIns="91440" tIns="45720" rIns="91440" bIns="45720" rtlCol="0" anchor="ctr"/>
          <a:lstStyle>
            <a:lvl1pPr algn="l">
              <a:defRPr sz="1000" baseline="0">
                <a:solidFill>
                  <a:schemeClr val="tx2"/>
                </a:solidFill>
              </a:defRPr>
            </a:lvl1pPr>
          </a:lstStyle>
          <a:p>
            <a:endParaRPr lang="en-US"/>
          </a:p>
        </p:txBody>
      </p:sp>
      <p:sp>
        <p:nvSpPr>
          <p:cNvPr id="6" name="Slide Number Placeholder 5"/>
          <p:cNvSpPr>
            <a:spLocks noGrp="1"/>
          </p:cNvSpPr>
          <p:nvPr>
            <p:ph type="sldNum" sz="quarter" idx="4"/>
          </p:nvPr>
        </p:nvSpPr>
        <p:spPr>
          <a:xfrm>
            <a:off x="7104552" y="6453386"/>
            <a:ext cx="1197219" cy="404614"/>
          </a:xfrm>
          <a:prstGeom prst="rect">
            <a:avLst/>
          </a:prstGeom>
        </p:spPr>
        <p:txBody>
          <a:bodyPr vert="horz" lIns="91440" tIns="45720" rIns="91440" bIns="45720" rtlCol="0" anchor="ctr"/>
          <a:lstStyle>
            <a:lvl1pPr algn="r">
              <a:defRPr sz="1000" baseline="0">
                <a:solidFill>
                  <a:schemeClr val="tx2"/>
                </a:solidFill>
              </a:defRPr>
            </a:lvl1pPr>
          </a:lstStyle>
          <a:p>
            <a:fld id="{B6F15528-21DE-4FAA-801E-634DDDAF4B2B}" type="slidenum">
              <a:rPr lang="en-US" smtClean="0"/>
              <a:pPr/>
              <a:t>‹#›</a:t>
            </a:fld>
            <a:endParaRPr lang="en-US"/>
          </a:p>
        </p:txBody>
      </p:sp>
      <p:sp>
        <p:nvSpPr>
          <p:cNvPr id="9" name="Rectangle 8"/>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title="Side bar"/>
          <p:cNvSpPr/>
          <p:nvPr/>
        </p:nvSpPr>
        <p:spPr>
          <a:xfrm>
            <a:off x="358571" y="376"/>
            <a:ext cx="17145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7112983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858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6858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6858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12">
          <p15:clr>
            <a:srgbClr val="F26B43"/>
          </p15:clr>
        </p15:guide>
        <p15:guide id="2" pos="936">
          <p15:clr>
            <a:srgbClr val="F26B43"/>
          </p15:clr>
        </p15:guide>
        <p15:guide id="3" pos="864">
          <p15:clr>
            <a:srgbClr val="F26B43"/>
          </p15:clr>
        </p15:guide>
        <p15:guide id="0" orient="horz" pos="1368">
          <p15:clr>
            <a:srgbClr val="F26B43"/>
          </p15:clr>
        </p15:guide>
        <p15:guide id="4" orient="horz" pos="1440">
          <p15:clr>
            <a:srgbClr val="F26B43"/>
          </p15:clr>
        </p15:guide>
        <p15:guide id="5" orient="horz" pos="3696">
          <p15:clr>
            <a:srgbClr val="F26B43"/>
          </p15:clr>
        </p15:guide>
        <p15:guide id="6" orient="horz" pos="432">
          <p15:clr>
            <a:srgbClr val="F26B43"/>
          </p15:clr>
        </p15:guide>
        <p15:guide id="7" orient="horz" pos="1512">
          <p15:clr>
            <a:srgbClr val="F26B43"/>
          </p15:clr>
        </p15:guide>
        <p15:guide id="8" pos="5184">
          <p15:clr>
            <a:srgbClr val="F26B43"/>
          </p15:clr>
        </p15:guide>
        <p15:guide id="9" pos="702">
          <p15:clr>
            <a:srgbClr val="F26B43"/>
          </p15:clr>
        </p15:guide>
        <p15:guide id="10" pos="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ph type="ctrTitle"/>
          </p:nvPr>
        </p:nvSpPr>
        <p:spPr>
          <a:xfrm>
            <a:off x="685800" y="1524000"/>
            <a:ext cx="7772400" cy="1524000"/>
          </a:xfrm>
        </p:spPr>
        <p:txBody>
          <a:bodyPr>
            <a:normAutofit fontScale="90000"/>
          </a:bodyPr>
          <a:lstStyle/>
          <a:p>
            <a:r>
              <a:rPr lang="en-US" sz="7200" dirty="0"/>
              <a:t> </a:t>
            </a:r>
            <a:r>
              <a:rPr lang="en-US" sz="4400" dirty="0" smtClean="0"/>
              <a:t>PRIVACY</a:t>
            </a:r>
            <a:r>
              <a:rPr lang="en-US" sz="4400" dirty="0"/>
              <a:t/>
            </a:r>
            <a:br>
              <a:rPr lang="en-US" sz="4400" dirty="0"/>
            </a:br>
            <a:endParaRPr lang="en-US" sz="4400" dirty="0"/>
          </a:p>
        </p:txBody>
      </p:sp>
      <p:sp>
        <p:nvSpPr>
          <p:cNvPr id="20485" name="Rectangle 5"/>
          <p:cNvSpPr>
            <a:spLocks noGrp="1" noChangeArrowheads="1"/>
          </p:cNvSpPr>
          <p:nvPr>
            <p:ph type="subTitle" idx="1"/>
          </p:nvPr>
        </p:nvSpPr>
        <p:spPr/>
        <p:txBody>
          <a:bodyPr>
            <a:normAutofit fontScale="77500" lnSpcReduction="20000"/>
          </a:bodyPr>
          <a:lstStyle/>
          <a:p>
            <a:r>
              <a:rPr lang="en-US" dirty="0" smtClean="0"/>
              <a:t>Book: A </a:t>
            </a:r>
            <a:r>
              <a:rPr lang="en-US" dirty="0"/>
              <a:t>Gift of </a:t>
            </a:r>
            <a:r>
              <a:rPr lang="en-US" dirty="0" smtClean="0"/>
              <a:t>Fire </a:t>
            </a:r>
          </a:p>
          <a:p>
            <a:r>
              <a:rPr lang="en-US" dirty="0" smtClean="0"/>
              <a:t>Chapter 2</a:t>
            </a:r>
          </a:p>
          <a:p>
            <a:r>
              <a:rPr lang="en-US" dirty="0" smtClean="0"/>
              <a:t>Book: Ethics in Information Technology </a:t>
            </a:r>
          </a:p>
          <a:p>
            <a:r>
              <a:rPr lang="en-US" dirty="0" smtClean="0"/>
              <a:t>Chapter 4</a:t>
            </a:r>
            <a:r>
              <a:rPr lang="en-US" dirty="0"/>
              <a:t/>
            </a:r>
            <a:br>
              <a:rPr lang="en-US" dirty="0"/>
            </a:br>
            <a:endParaRPr lang="en-US" dirty="0"/>
          </a:p>
        </p:txBody>
      </p:sp>
      <p:sp>
        <p:nvSpPr>
          <p:cNvPr id="5" name="Rectangle 8"/>
          <p:cNvSpPr>
            <a:spLocks noGrp="1" noChangeArrowheads="1"/>
          </p:cNvSpPr>
          <p:nvPr>
            <p:ph type="ftr" sz="quarter" idx="11"/>
          </p:nvPr>
        </p:nvSpPr>
        <p:spPr>
          <a:xfrm>
            <a:off x="3124200" y="6248400"/>
            <a:ext cx="2895600" cy="457200"/>
          </a:xfrm>
          <a:prstGeom prst="rect">
            <a:avLst/>
          </a:prstGeom>
        </p:spPr>
        <p:txBody>
          <a:bodyPr/>
          <a:lstStyle/>
          <a:p>
            <a:r>
              <a:rPr lang="en-US" smtClean="0"/>
              <a:t>chapter9</a:t>
            </a:r>
            <a:endParaRPr lang="en-US" dirty="0"/>
          </a:p>
        </p:txBody>
      </p:sp>
    </p:spTree>
    <p:extLst>
      <p:ext uri="{BB962C8B-B14F-4D97-AF65-F5344CB8AC3E}">
        <p14:creationId xmlns:p14="http://schemas.microsoft.com/office/powerpoint/2010/main" val="12548180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smtClean="0"/>
              <a:t>Information Privacy</a:t>
            </a:r>
          </a:p>
        </p:txBody>
      </p:sp>
      <p:sp>
        <p:nvSpPr>
          <p:cNvPr id="17411" name="Rectangle 3"/>
          <p:cNvSpPr>
            <a:spLocks noGrp="1" noChangeArrowheads="1"/>
          </p:cNvSpPr>
          <p:nvPr>
            <p:ph type="body" idx="1"/>
          </p:nvPr>
        </p:nvSpPr>
        <p:spPr/>
        <p:txBody>
          <a:bodyPr>
            <a:normAutofit/>
          </a:bodyPr>
          <a:lstStyle/>
          <a:p>
            <a:pPr eaLnBrk="1" hangingPunct="1"/>
            <a:r>
              <a:rPr lang="en-US" altLang="en-US" dirty="0" smtClean="0"/>
              <a:t>Definition of privacy</a:t>
            </a:r>
          </a:p>
          <a:p>
            <a:pPr lvl="1" eaLnBrk="1" hangingPunct="1"/>
            <a:r>
              <a:rPr lang="en-US" altLang="en-US" dirty="0" smtClean="0"/>
              <a:t>“The right to be left alone”</a:t>
            </a:r>
          </a:p>
          <a:p>
            <a:pPr lvl="1" eaLnBrk="1" hangingPunct="1"/>
            <a:endParaRPr lang="en-US" altLang="en-US" dirty="0" smtClean="0"/>
          </a:p>
          <a:p>
            <a:pPr eaLnBrk="1" hangingPunct="1"/>
            <a:r>
              <a:rPr lang="en-US" altLang="en-US" dirty="0" smtClean="0"/>
              <a:t>Information privacy is a combination of:</a:t>
            </a:r>
          </a:p>
          <a:p>
            <a:pPr lvl="1" eaLnBrk="1" hangingPunct="1"/>
            <a:r>
              <a:rPr lang="en-US" altLang="en-US" dirty="0" smtClean="0"/>
              <a:t>Communications privacy</a:t>
            </a:r>
          </a:p>
          <a:p>
            <a:pPr lvl="1" eaLnBrk="1" hangingPunct="1"/>
            <a:r>
              <a:rPr lang="en-US" altLang="en-US" dirty="0" smtClean="0"/>
              <a:t>Data privacy</a:t>
            </a:r>
          </a:p>
          <a:p>
            <a:pPr marL="0" indent="0" eaLnBrk="1" hangingPunct="1">
              <a:buNone/>
            </a:pPr>
            <a:endParaRPr lang="en-US" altLang="en-US" dirty="0" smtClean="0"/>
          </a:p>
        </p:txBody>
      </p:sp>
    </p:spTree>
    <p:extLst>
      <p:ext uri="{BB962C8B-B14F-4D97-AF65-F5344CB8AC3E}">
        <p14:creationId xmlns:p14="http://schemas.microsoft.com/office/powerpoint/2010/main" val="1269530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dirty="0"/>
              <a:t>Privacy and Computer Technology</a:t>
            </a:r>
          </a:p>
        </p:txBody>
      </p:sp>
      <p:sp>
        <p:nvSpPr>
          <p:cNvPr id="40963" name="Rectangle 3"/>
          <p:cNvSpPr>
            <a:spLocks noGrp="1" noChangeArrowheads="1"/>
          </p:cNvSpPr>
          <p:nvPr>
            <p:ph type="body" idx="1"/>
          </p:nvPr>
        </p:nvSpPr>
        <p:spPr/>
        <p:txBody>
          <a:bodyPr>
            <a:normAutofit lnSpcReduction="10000"/>
          </a:bodyPr>
          <a:lstStyle/>
          <a:p>
            <a:pPr algn="just"/>
            <a:r>
              <a:rPr lang="en-US" dirty="0"/>
              <a:t>Computer technology is not necessary for the invasion of </a:t>
            </a:r>
            <a:r>
              <a:rPr lang="en-US" dirty="0" smtClean="0"/>
              <a:t>privacy.</a:t>
            </a:r>
          </a:p>
          <a:p>
            <a:pPr algn="just"/>
            <a:r>
              <a:rPr lang="en-US" dirty="0" smtClean="0"/>
              <a:t>Computer technologies—databases, digital </a:t>
            </a:r>
            <a:r>
              <a:rPr lang="en-US" dirty="0"/>
              <a:t>cameras, the Web, smartphones, and global positioning system (GPS) devices</a:t>
            </a:r>
            <a:r>
              <a:rPr lang="en-US" dirty="0" smtClean="0"/>
              <a:t>, among </a:t>
            </a:r>
            <a:r>
              <a:rPr lang="en-US" dirty="0"/>
              <a:t>others—have profoundly changed what people can know about us and how </a:t>
            </a:r>
            <a:r>
              <a:rPr lang="en-US" dirty="0" smtClean="0"/>
              <a:t>they can </a:t>
            </a:r>
            <a:r>
              <a:rPr lang="en-US" dirty="0"/>
              <a:t>use that information. </a:t>
            </a:r>
            <a:endParaRPr lang="en-US" dirty="0" smtClean="0"/>
          </a:p>
          <a:p>
            <a:pPr algn="just"/>
            <a:r>
              <a:rPr lang="en-US" dirty="0" smtClean="0"/>
              <a:t>Understanding </a:t>
            </a:r>
            <a:r>
              <a:rPr lang="en-US" dirty="0"/>
              <a:t>the risks and problems is a first step </a:t>
            </a:r>
            <a:r>
              <a:rPr lang="en-US" dirty="0" smtClean="0"/>
              <a:t>towards protecting </a:t>
            </a:r>
            <a:r>
              <a:rPr lang="en-US" dirty="0"/>
              <a:t>privacy</a:t>
            </a:r>
            <a:r>
              <a:rPr lang="en-US" dirty="0" smtClean="0"/>
              <a:t>.</a:t>
            </a:r>
          </a:p>
          <a:p>
            <a:pPr algn="just"/>
            <a:r>
              <a:rPr lang="en-US" dirty="0" smtClean="0"/>
              <a:t> </a:t>
            </a:r>
            <a:r>
              <a:rPr lang="en-US" b="1" i="1" dirty="0"/>
              <a:t>For computer professionals, understanding the risks and problems </a:t>
            </a:r>
            <a:r>
              <a:rPr lang="en-US" b="1" i="1" dirty="0" smtClean="0"/>
              <a:t>is a </a:t>
            </a:r>
            <a:r>
              <a:rPr lang="en-US" b="1" i="1" dirty="0"/>
              <a:t>step </a:t>
            </a:r>
            <a:r>
              <a:rPr lang="en-US" b="1" i="1" dirty="0" smtClean="0"/>
              <a:t>towards </a:t>
            </a:r>
            <a:r>
              <a:rPr lang="en-US" b="1" i="1" dirty="0"/>
              <a:t>designing systems with built-in privacy protections and less risk.</a:t>
            </a:r>
          </a:p>
          <a:p>
            <a:pPr marL="0" indent="0">
              <a:buNone/>
            </a:pPr>
            <a:endParaRPr lang="en-US" dirty="0"/>
          </a:p>
        </p:txBody>
      </p:sp>
    </p:spTree>
    <p:extLst>
      <p:ext uri="{BB962C8B-B14F-4D97-AF65-F5344CB8AC3E}">
        <p14:creationId xmlns:p14="http://schemas.microsoft.com/office/powerpoint/2010/main" val="28178666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dirty="0"/>
              <a:t>Privacy and Computer Technology</a:t>
            </a:r>
          </a:p>
        </p:txBody>
      </p:sp>
      <p:sp>
        <p:nvSpPr>
          <p:cNvPr id="39939" name="Rectangle 3"/>
          <p:cNvSpPr>
            <a:spLocks noGrp="1" noChangeArrowheads="1"/>
          </p:cNvSpPr>
          <p:nvPr>
            <p:ph type="body" idx="1"/>
          </p:nvPr>
        </p:nvSpPr>
        <p:spPr/>
        <p:txBody>
          <a:bodyPr/>
          <a:lstStyle/>
          <a:p>
            <a:pPr>
              <a:buFontTx/>
              <a:buNone/>
            </a:pPr>
            <a:r>
              <a:rPr lang="en-US" dirty="0"/>
              <a:t>Key Aspects of Privacy:</a:t>
            </a:r>
          </a:p>
          <a:p>
            <a:r>
              <a:rPr lang="en-US" dirty="0"/>
              <a:t>Freedom from intrusion (being left alone)</a:t>
            </a:r>
          </a:p>
          <a:p>
            <a:r>
              <a:rPr lang="en-US" dirty="0"/>
              <a:t>Control of information about oneself</a:t>
            </a:r>
          </a:p>
          <a:p>
            <a:r>
              <a:rPr lang="en-US" dirty="0"/>
              <a:t>Freedom from surveillance (being tracked, followed, watched)</a:t>
            </a:r>
          </a:p>
          <a:p>
            <a:endParaRPr lang="en-US" dirty="0"/>
          </a:p>
        </p:txBody>
      </p:sp>
    </p:spTree>
    <p:extLst>
      <p:ext uri="{BB962C8B-B14F-4D97-AF65-F5344CB8AC3E}">
        <p14:creationId xmlns:p14="http://schemas.microsoft.com/office/powerpoint/2010/main" val="26811692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dirty="0"/>
              <a:t>Privacy threats come in several categories</a:t>
            </a:r>
          </a:p>
        </p:txBody>
      </p:sp>
      <p:sp>
        <p:nvSpPr>
          <p:cNvPr id="40963" name="Rectangle 3"/>
          <p:cNvSpPr>
            <a:spLocks noGrp="1" noChangeArrowheads="1"/>
          </p:cNvSpPr>
          <p:nvPr>
            <p:ph type="body" idx="1"/>
          </p:nvPr>
        </p:nvSpPr>
        <p:spPr/>
        <p:txBody>
          <a:bodyPr>
            <a:normAutofit lnSpcReduction="10000"/>
          </a:bodyPr>
          <a:lstStyle/>
          <a:p>
            <a:r>
              <a:rPr lang="en-US" dirty="0" smtClean="0"/>
              <a:t>Intentional</a:t>
            </a:r>
            <a:r>
              <a:rPr lang="en-US" dirty="0"/>
              <a:t>, institutional uses of personal information (in the government </a:t>
            </a:r>
            <a:r>
              <a:rPr lang="en-US" dirty="0" smtClean="0"/>
              <a:t>sector primarily </a:t>
            </a:r>
            <a:r>
              <a:rPr lang="en-US" dirty="0"/>
              <a:t>for law enforcement and tax collection, and in the private sector </a:t>
            </a:r>
            <a:r>
              <a:rPr lang="en-US" dirty="0" smtClean="0"/>
              <a:t>primarily for </a:t>
            </a:r>
            <a:r>
              <a:rPr lang="en-US" dirty="0"/>
              <a:t>marketing and decision making)</a:t>
            </a:r>
          </a:p>
          <a:p>
            <a:r>
              <a:rPr lang="en-US" dirty="0" smtClean="0"/>
              <a:t>Unauthorized </a:t>
            </a:r>
            <a:r>
              <a:rPr lang="en-US" dirty="0"/>
              <a:t>use or release by “insiders,” the people who maintain the information</a:t>
            </a:r>
          </a:p>
          <a:p>
            <a:r>
              <a:rPr lang="en-US" dirty="0" smtClean="0"/>
              <a:t> </a:t>
            </a:r>
            <a:r>
              <a:rPr lang="en-US" dirty="0"/>
              <a:t>Theft of information</a:t>
            </a:r>
          </a:p>
          <a:p>
            <a:r>
              <a:rPr lang="en-US" dirty="0" smtClean="0"/>
              <a:t>Inadvertent </a:t>
            </a:r>
            <a:r>
              <a:rPr lang="en-US" dirty="0"/>
              <a:t>leakage of information through negligence or carelessness</a:t>
            </a:r>
          </a:p>
          <a:p>
            <a:r>
              <a:rPr lang="en-US" dirty="0" smtClean="0"/>
              <a:t>Our </a:t>
            </a:r>
            <a:r>
              <a:rPr lang="en-US" dirty="0"/>
              <a:t>own actions </a:t>
            </a:r>
            <a:r>
              <a:rPr lang="en-US" dirty="0" smtClean="0"/>
              <a:t>(sometimes </a:t>
            </a:r>
            <a:r>
              <a:rPr lang="en-US" dirty="0"/>
              <a:t>when we </a:t>
            </a:r>
            <a:r>
              <a:rPr lang="en-US" dirty="0" smtClean="0"/>
              <a:t>are unaware </a:t>
            </a:r>
            <a:r>
              <a:rPr lang="en-US" dirty="0"/>
              <a:t>of the risks)</a:t>
            </a:r>
          </a:p>
          <a:p>
            <a:pPr marL="0" indent="0">
              <a:buNone/>
            </a:pPr>
            <a:endParaRPr lang="en-US" dirty="0"/>
          </a:p>
        </p:txBody>
      </p:sp>
    </p:spTree>
    <p:extLst>
      <p:ext uri="{BB962C8B-B14F-4D97-AF65-F5344CB8AC3E}">
        <p14:creationId xmlns:p14="http://schemas.microsoft.com/office/powerpoint/2010/main" val="36801472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a:bodyPr>
          <a:lstStyle/>
          <a:p>
            <a:r>
              <a:rPr lang="en-US" dirty="0"/>
              <a:t>Privacy and Computer Technology (cont.)</a:t>
            </a:r>
          </a:p>
        </p:txBody>
      </p:sp>
      <p:sp>
        <p:nvSpPr>
          <p:cNvPr id="41987" name="Rectangle 3"/>
          <p:cNvSpPr>
            <a:spLocks noGrp="1" noChangeArrowheads="1"/>
          </p:cNvSpPr>
          <p:nvPr>
            <p:ph type="body" idx="1"/>
          </p:nvPr>
        </p:nvSpPr>
        <p:spPr/>
        <p:txBody>
          <a:bodyPr/>
          <a:lstStyle/>
          <a:p>
            <a:pPr>
              <a:buFontTx/>
              <a:buNone/>
            </a:pPr>
            <a:r>
              <a:rPr lang="en-US" dirty="0"/>
              <a:t>New Technology, New Risks:</a:t>
            </a:r>
          </a:p>
          <a:p>
            <a:r>
              <a:rPr lang="en-US" dirty="0"/>
              <a:t>Government and private databases</a:t>
            </a:r>
          </a:p>
          <a:p>
            <a:r>
              <a:rPr lang="en-US" dirty="0"/>
              <a:t>Sophisticated tools for surveillance and data analysis</a:t>
            </a:r>
          </a:p>
          <a:p>
            <a:r>
              <a:rPr lang="en-US" dirty="0"/>
              <a:t>Vulnerability of data</a:t>
            </a:r>
          </a:p>
        </p:txBody>
      </p:sp>
    </p:spTree>
    <p:extLst>
      <p:ext uri="{BB962C8B-B14F-4D97-AF65-F5344CB8AC3E}">
        <p14:creationId xmlns:p14="http://schemas.microsoft.com/office/powerpoint/2010/main" val="37153999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dirty="0"/>
              <a:t>Government and private databases</a:t>
            </a:r>
          </a:p>
        </p:txBody>
      </p:sp>
      <p:sp>
        <p:nvSpPr>
          <p:cNvPr id="25603" name="Rectangle 3"/>
          <p:cNvSpPr>
            <a:spLocks noGrp="1" noChangeArrowheads="1"/>
          </p:cNvSpPr>
          <p:nvPr>
            <p:ph type="body" idx="1"/>
          </p:nvPr>
        </p:nvSpPr>
        <p:spPr/>
        <p:txBody>
          <a:bodyPr>
            <a:normAutofit lnSpcReduction="10000"/>
          </a:bodyPr>
          <a:lstStyle/>
          <a:p>
            <a:pPr algn="just">
              <a:lnSpc>
                <a:spcPct val="120000"/>
              </a:lnSpc>
            </a:pPr>
            <a:r>
              <a:rPr lang="en-US" dirty="0"/>
              <a:t>Today there are thousands (probably millions) of databases, both government </a:t>
            </a:r>
            <a:r>
              <a:rPr lang="en-US" dirty="0" smtClean="0"/>
              <a:t>and  private</a:t>
            </a:r>
            <a:r>
              <a:rPr lang="en-US" dirty="0"/>
              <a:t>, containing personal information about us. In the past, there was simply </a:t>
            </a:r>
            <a:r>
              <a:rPr lang="en-US" dirty="0" smtClean="0"/>
              <a:t>no record </a:t>
            </a:r>
            <a:r>
              <a:rPr lang="en-US" dirty="0"/>
              <a:t>of some of this information, such as our specific purchases of groceries and books</a:t>
            </a:r>
            <a:r>
              <a:rPr lang="en-US" dirty="0" smtClean="0"/>
              <a:t>. Government </a:t>
            </a:r>
            <a:r>
              <a:rPr lang="en-US" dirty="0"/>
              <a:t>documents like divorce and bankruptcy records have long been in </a:t>
            </a:r>
            <a:r>
              <a:rPr lang="en-US" dirty="0" smtClean="0"/>
              <a:t>public  records</a:t>
            </a:r>
            <a:r>
              <a:rPr lang="en-US" dirty="0"/>
              <a:t>, but accessing such information took a lot of time and effort. When we browsed </a:t>
            </a:r>
            <a:r>
              <a:rPr lang="en-US" dirty="0" smtClean="0"/>
              <a:t>in a </a:t>
            </a:r>
            <a:r>
              <a:rPr lang="en-US" dirty="0"/>
              <a:t>library or store, no one knew what we read or looked at. It was not easy to link </a:t>
            </a:r>
            <a:r>
              <a:rPr lang="en-US" dirty="0" smtClean="0"/>
              <a:t>together our </a:t>
            </a:r>
            <a:r>
              <a:rPr lang="en-US" dirty="0"/>
              <a:t>financial, work, and family records. </a:t>
            </a:r>
          </a:p>
        </p:txBody>
      </p:sp>
    </p:spTree>
    <p:extLst>
      <p:ext uri="{BB962C8B-B14F-4D97-AF65-F5344CB8AC3E}">
        <p14:creationId xmlns:p14="http://schemas.microsoft.com/office/powerpoint/2010/main" val="18837698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dirty="0"/>
              <a:t>Government and private databases</a:t>
            </a:r>
          </a:p>
        </p:txBody>
      </p:sp>
      <p:sp>
        <p:nvSpPr>
          <p:cNvPr id="25603" name="Rectangle 3"/>
          <p:cNvSpPr>
            <a:spLocks noGrp="1" noChangeArrowheads="1"/>
          </p:cNvSpPr>
          <p:nvPr>
            <p:ph type="body" idx="1"/>
          </p:nvPr>
        </p:nvSpPr>
        <p:spPr/>
        <p:txBody>
          <a:bodyPr>
            <a:noAutofit/>
          </a:bodyPr>
          <a:lstStyle/>
          <a:p>
            <a:pPr algn="just">
              <a:lnSpc>
                <a:spcPct val="120000"/>
              </a:lnSpc>
            </a:pPr>
            <a:r>
              <a:rPr lang="en-US" sz="1800" dirty="0"/>
              <a:t>Now, large companies that operate video, email, social network, and search services can combine information from a member’s use of all of them to obtain a detailed picture of the person’s interests, opinions, </a:t>
            </a:r>
            <a:r>
              <a:rPr lang="en-US" sz="1800" dirty="0" smtClean="0"/>
              <a:t>relationships, </a:t>
            </a:r>
            <a:r>
              <a:rPr lang="en-US" sz="1800" dirty="0"/>
              <a:t>habits, and activities.</a:t>
            </a:r>
          </a:p>
          <a:p>
            <a:pPr algn="just">
              <a:lnSpc>
                <a:spcPct val="120000"/>
              </a:lnSpc>
            </a:pPr>
            <a:r>
              <a:rPr lang="en-US" sz="1800" dirty="0"/>
              <a:t> Even if we do not log in as members, software tracks our activity on the Web. In the past, conversations disappeared when people finished speaking, and only the sender and the recipient normally read personal communications.</a:t>
            </a:r>
          </a:p>
          <a:p>
            <a:pPr algn="just">
              <a:lnSpc>
                <a:spcPct val="120000"/>
              </a:lnSpc>
            </a:pPr>
            <a:r>
              <a:rPr lang="en-US" sz="1800" dirty="0"/>
              <a:t> Now, when we communicate by texting, email, social networks, and so on, there is a record of our words that others can copy, forward, distribute widely, and read years later.</a:t>
            </a:r>
          </a:p>
        </p:txBody>
      </p:sp>
    </p:spTree>
    <p:extLst>
      <p:ext uri="{BB962C8B-B14F-4D97-AF65-F5344CB8AC3E}">
        <p14:creationId xmlns:p14="http://schemas.microsoft.com/office/powerpoint/2010/main" val="2980823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r>
              <a:rPr lang="en-US" dirty="0"/>
              <a:t>Sophisticated tools for surveillance and data analysis</a:t>
            </a:r>
          </a:p>
        </p:txBody>
      </p:sp>
      <p:sp>
        <p:nvSpPr>
          <p:cNvPr id="25603" name="Rectangle 3"/>
          <p:cNvSpPr>
            <a:spLocks noGrp="1" noChangeArrowheads="1"/>
          </p:cNvSpPr>
          <p:nvPr>
            <p:ph type="body" idx="1"/>
          </p:nvPr>
        </p:nvSpPr>
        <p:spPr/>
        <p:txBody>
          <a:bodyPr>
            <a:normAutofit fontScale="92500" lnSpcReduction="10000"/>
          </a:bodyPr>
          <a:lstStyle/>
          <a:p>
            <a:pPr algn="just">
              <a:lnSpc>
                <a:spcPct val="120000"/>
              </a:lnSpc>
            </a:pPr>
            <a:r>
              <a:rPr lang="en-US" dirty="0"/>
              <a:t> </a:t>
            </a:r>
            <a:r>
              <a:rPr lang="en-US" dirty="0" smtClean="0"/>
              <a:t>Miniaturization of </a:t>
            </a:r>
            <a:r>
              <a:rPr lang="en-US" dirty="0"/>
              <a:t>processors and sensors put tiny cameras in cellphones that millions of people </a:t>
            </a:r>
            <a:r>
              <a:rPr lang="en-US" dirty="0" smtClean="0"/>
              <a:t>carry everywhere</a:t>
            </a:r>
            <a:r>
              <a:rPr lang="en-US" dirty="0"/>
              <a:t>. Cameras in some 3-D television sets warn children if they are sitting </a:t>
            </a:r>
            <a:r>
              <a:rPr lang="en-US" dirty="0" smtClean="0"/>
              <a:t>too close</a:t>
            </a:r>
            <a:r>
              <a:rPr lang="en-US" dirty="0"/>
              <a:t>. What else might such cameras record, and who might see it</a:t>
            </a:r>
            <a:r>
              <a:rPr lang="en-US" dirty="0" smtClean="0"/>
              <a:t>?</a:t>
            </a:r>
          </a:p>
          <a:p>
            <a:pPr algn="just">
              <a:lnSpc>
                <a:spcPct val="120000"/>
              </a:lnSpc>
            </a:pPr>
            <a:r>
              <a:rPr lang="en-US" dirty="0" smtClean="0"/>
              <a:t> </a:t>
            </a:r>
            <a:r>
              <a:rPr lang="en-US" dirty="0"/>
              <a:t>The wireless </a:t>
            </a:r>
            <a:r>
              <a:rPr lang="en-US" dirty="0" smtClean="0"/>
              <a:t>appliances  we </a:t>
            </a:r>
            <a:r>
              <a:rPr lang="en-US" dirty="0"/>
              <a:t>carry contain GPS and other location devices. They enable others to determine </a:t>
            </a:r>
            <a:r>
              <a:rPr lang="en-US" dirty="0" smtClean="0"/>
              <a:t>our location </a:t>
            </a:r>
            <a:r>
              <a:rPr lang="en-US" dirty="0"/>
              <a:t>and track our movements</a:t>
            </a:r>
            <a:r>
              <a:rPr lang="en-US" dirty="0" smtClean="0"/>
              <a:t>.</a:t>
            </a:r>
          </a:p>
          <a:p>
            <a:pPr algn="just">
              <a:lnSpc>
                <a:spcPct val="120000"/>
              </a:lnSpc>
            </a:pPr>
            <a:r>
              <a:rPr lang="en-US" dirty="0" smtClean="0"/>
              <a:t> </a:t>
            </a:r>
            <a:r>
              <a:rPr lang="en-US" dirty="0"/>
              <a:t>Patients refill prescriptions and check the results </a:t>
            </a:r>
            <a:r>
              <a:rPr lang="en-US" dirty="0" smtClean="0"/>
              <a:t>of medical </a:t>
            </a:r>
            <a:r>
              <a:rPr lang="en-US" dirty="0"/>
              <a:t>tests on the Web. They correspond with doctors by email. </a:t>
            </a:r>
          </a:p>
        </p:txBody>
      </p:sp>
    </p:spTree>
    <p:extLst>
      <p:ext uri="{BB962C8B-B14F-4D97-AF65-F5344CB8AC3E}">
        <p14:creationId xmlns:p14="http://schemas.microsoft.com/office/powerpoint/2010/main" val="34521365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r>
              <a:rPr lang="en-US" dirty="0"/>
              <a:t>Sophisticated tools for surveillance and data analysis</a:t>
            </a:r>
          </a:p>
        </p:txBody>
      </p:sp>
      <p:sp>
        <p:nvSpPr>
          <p:cNvPr id="25603" name="Rectangle 3"/>
          <p:cNvSpPr>
            <a:spLocks noGrp="1" noChangeArrowheads="1"/>
          </p:cNvSpPr>
          <p:nvPr>
            <p:ph type="body" idx="1"/>
          </p:nvPr>
        </p:nvSpPr>
        <p:spPr/>
        <p:txBody>
          <a:bodyPr>
            <a:normAutofit/>
          </a:bodyPr>
          <a:lstStyle/>
          <a:p>
            <a:pPr algn="just">
              <a:lnSpc>
                <a:spcPct val="120000"/>
              </a:lnSpc>
            </a:pPr>
            <a:r>
              <a:rPr lang="en-US" dirty="0" smtClean="0"/>
              <a:t>We </a:t>
            </a:r>
            <a:r>
              <a:rPr lang="en-US" dirty="0"/>
              <a:t>store our </a:t>
            </a:r>
            <a:r>
              <a:rPr lang="en-US" dirty="0" smtClean="0"/>
              <a:t>photos  and </a:t>
            </a:r>
            <a:r>
              <a:rPr lang="en-US" dirty="0"/>
              <a:t>videos, do our taxes, and create and store documents and financial spreadsheets in </a:t>
            </a:r>
            <a:r>
              <a:rPr lang="en-US" dirty="0" smtClean="0"/>
              <a:t>a  cloud </a:t>
            </a:r>
            <a:r>
              <a:rPr lang="en-US" dirty="0"/>
              <a:t>of remote servers instead of on our own </a:t>
            </a:r>
            <a:r>
              <a:rPr lang="en-US" dirty="0" smtClean="0"/>
              <a:t>computer.</a:t>
            </a:r>
          </a:p>
          <a:p>
            <a:pPr algn="just">
              <a:lnSpc>
                <a:spcPct val="120000"/>
              </a:lnSpc>
            </a:pPr>
            <a:r>
              <a:rPr lang="en-US" dirty="0" smtClean="0"/>
              <a:t> Law enforcement agencies </a:t>
            </a:r>
            <a:r>
              <a:rPr lang="en-US" dirty="0"/>
              <a:t>have very sophisticated tools for eavesdropping, surveillance, and collecting </a:t>
            </a:r>
            <a:r>
              <a:rPr lang="en-US" dirty="0" smtClean="0"/>
              <a:t>and analyzing </a:t>
            </a:r>
            <a:r>
              <a:rPr lang="en-US" dirty="0"/>
              <a:t>data about people’s activities, tools that can help reduce crime and </a:t>
            </a:r>
            <a:r>
              <a:rPr lang="en-US" dirty="0" smtClean="0"/>
              <a:t>increase security—or </a:t>
            </a:r>
            <a:r>
              <a:rPr lang="en-US" dirty="0"/>
              <a:t>threaten privacy and liberty.</a:t>
            </a:r>
          </a:p>
          <a:p>
            <a:pPr marL="0" indent="0" algn="just">
              <a:lnSpc>
                <a:spcPct val="120000"/>
              </a:lnSpc>
              <a:buNone/>
            </a:pPr>
            <a:endParaRPr lang="en-US" dirty="0"/>
          </a:p>
        </p:txBody>
      </p:sp>
    </p:spTree>
    <p:extLst>
      <p:ext uri="{BB962C8B-B14F-4D97-AF65-F5344CB8AC3E}">
        <p14:creationId xmlns:p14="http://schemas.microsoft.com/office/powerpoint/2010/main" val="23712500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dirty="0"/>
              <a:t>Vulnerability of data</a:t>
            </a:r>
          </a:p>
        </p:txBody>
      </p:sp>
      <p:sp>
        <p:nvSpPr>
          <p:cNvPr id="25603" name="Rectangle 3"/>
          <p:cNvSpPr>
            <a:spLocks noGrp="1" noChangeArrowheads="1"/>
          </p:cNvSpPr>
          <p:nvPr>
            <p:ph type="body" idx="1"/>
          </p:nvPr>
        </p:nvSpPr>
        <p:spPr>
          <a:xfrm>
            <a:off x="1028700" y="2057400"/>
            <a:ext cx="7200900" cy="3810000"/>
          </a:xfrm>
        </p:spPr>
        <p:txBody>
          <a:bodyPr>
            <a:normAutofit/>
          </a:bodyPr>
          <a:lstStyle/>
          <a:p>
            <a:pPr algn="just"/>
            <a:r>
              <a:rPr lang="en-US" dirty="0"/>
              <a:t>Combining powerful new tools and applications can have astonishing results. It </a:t>
            </a:r>
            <a:r>
              <a:rPr lang="en-US" dirty="0" smtClean="0"/>
              <a:t>is possible </a:t>
            </a:r>
            <a:r>
              <a:rPr lang="en-US" dirty="0"/>
              <a:t>to snap a photo of someone on the street, match the photo to one on a </a:t>
            </a:r>
            <a:r>
              <a:rPr lang="en-US" dirty="0" smtClean="0"/>
              <a:t>social network</a:t>
            </a:r>
            <a:r>
              <a:rPr lang="en-US" dirty="0"/>
              <a:t>, and use a trove of publicly accessible information to guess, with high </a:t>
            </a:r>
            <a:r>
              <a:rPr lang="en-US" dirty="0" smtClean="0"/>
              <a:t>probability of </a:t>
            </a:r>
            <a:r>
              <a:rPr lang="en-US" dirty="0"/>
              <a:t>accuracy, the person’s name, birth date, and most of his or her Social Security number</a:t>
            </a:r>
            <a:r>
              <a:rPr lang="en-US" dirty="0" smtClean="0"/>
              <a:t>.</a:t>
            </a:r>
          </a:p>
          <a:p>
            <a:pPr algn="just"/>
            <a:r>
              <a:rPr lang="en-US" dirty="0" smtClean="0"/>
              <a:t> This </a:t>
            </a:r>
            <a:r>
              <a:rPr lang="en-US" dirty="0"/>
              <a:t>does not require a supercomputer; it is done with a smartphone app. We see </a:t>
            </a:r>
            <a:r>
              <a:rPr lang="en-US" dirty="0" smtClean="0"/>
              <a:t>such systems </a:t>
            </a:r>
            <a:r>
              <a:rPr lang="en-US" dirty="0"/>
              <a:t>in television shows and movies, but to most people they seem exaggerated or </a:t>
            </a:r>
            <a:r>
              <a:rPr lang="en-US" dirty="0" smtClean="0"/>
              <a:t>way off </a:t>
            </a:r>
            <a:r>
              <a:rPr lang="en-US" dirty="0"/>
              <a:t>in the future</a:t>
            </a:r>
            <a:r>
              <a:rPr lang="en-US" dirty="0" smtClean="0"/>
              <a:t>. All </a:t>
            </a:r>
            <a:r>
              <a:rPr lang="en-US" dirty="0"/>
              <a:t>these gadgets, services, and activities have benefits, of course, but they expose </a:t>
            </a:r>
            <a:r>
              <a:rPr lang="en-US" dirty="0" smtClean="0"/>
              <a:t>us to </a:t>
            </a:r>
            <a:r>
              <a:rPr lang="en-US" dirty="0"/>
              <a:t>new risks. The implications for privacy are profound.</a:t>
            </a:r>
          </a:p>
          <a:p>
            <a:pPr marL="0" indent="0" algn="just">
              <a:buNone/>
            </a:pPr>
            <a:endParaRPr lang="en-US" dirty="0"/>
          </a:p>
        </p:txBody>
      </p:sp>
    </p:spTree>
    <p:extLst>
      <p:ext uri="{BB962C8B-B14F-4D97-AF65-F5344CB8AC3E}">
        <p14:creationId xmlns:p14="http://schemas.microsoft.com/office/powerpoint/2010/main" val="244172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4"/>
          <p:cNvSpPr>
            <a:spLocks noGrp="1" noChangeArrowheads="1"/>
          </p:cNvSpPr>
          <p:nvPr>
            <p:ph type="title"/>
          </p:nvPr>
        </p:nvSpPr>
        <p:spPr>
          <a:xfrm>
            <a:off x="457200" y="685800"/>
            <a:ext cx="8229600" cy="1143000"/>
          </a:xfrm>
        </p:spPr>
        <p:txBody>
          <a:bodyPr>
            <a:normAutofit fontScale="90000"/>
          </a:bodyPr>
          <a:lstStyle/>
          <a:p>
            <a:r>
              <a:rPr lang="en-US" dirty="0"/>
              <a:t>Stolen and Lost </a:t>
            </a:r>
            <a:r>
              <a:rPr lang="en-US" dirty="0" smtClean="0"/>
              <a:t>Data</a:t>
            </a:r>
            <a:r>
              <a:rPr lang="en-US" dirty="0"/>
              <a:t/>
            </a:r>
            <a:br>
              <a:rPr lang="en-US" dirty="0"/>
            </a:br>
            <a:endParaRPr lang="en-US" dirty="0"/>
          </a:p>
        </p:txBody>
      </p:sp>
      <p:sp>
        <p:nvSpPr>
          <p:cNvPr id="58373" name="Rectangle 5"/>
          <p:cNvSpPr>
            <a:spLocks noGrp="1" noChangeArrowheads="1"/>
          </p:cNvSpPr>
          <p:nvPr>
            <p:ph type="body" idx="1"/>
          </p:nvPr>
        </p:nvSpPr>
        <p:spPr/>
        <p:txBody>
          <a:bodyPr/>
          <a:lstStyle/>
          <a:p>
            <a:r>
              <a:rPr lang="en-US" dirty="0" smtClean="0"/>
              <a:t>Hackers</a:t>
            </a:r>
            <a:endParaRPr lang="en-US" dirty="0"/>
          </a:p>
          <a:p>
            <a:r>
              <a:rPr lang="en-US" dirty="0"/>
              <a:t>Physical theft (laptops, thumb-drives, etc.)</a:t>
            </a:r>
          </a:p>
          <a:p>
            <a:r>
              <a:rPr lang="en-US" dirty="0"/>
              <a:t>Requesting information under false pretenses</a:t>
            </a:r>
          </a:p>
          <a:p>
            <a:r>
              <a:rPr lang="en-US" dirty="0"/>
              <a:t>Bribery of employees who have access</a:t>
            </a:r>
          </a:p>
          <a:p>
            <a:endParaRPr lang="en-US" dirty="0"/>
          </a:p>
        </p:txBody>
      </p:sp>
    </p:spTree>
    <p:extLst>
      <p:ext uri="{BB962C8B-B14F-4D97-AF65-F5344CB8AC3E}">
        <p14:creationId xmlns:p14="http://schemas.microsoft.com/office/powerpoint/2010/main" val="35106628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a:bodyPr>
          <a:lstStyle/>
          <a:p>
            <a:r>
              <a:rPr lang="en-US" b="1" dirty="0"/>
              <a:t>Stolen and lost data</a:t>
            </a:r>
            <a:r>
              <a:rPr lang="en-US" dirty="0"/>
              <a:t/>
            </a:r>
            <a:br>
              <a:rPr lang="en-US" dirty="0"/>
            </a:br>
            <a:endParaRPr lang="en-US" dirty="0"/>
          </a:p>
        </p:txBody>
      </p:sp>
      <p:sp>
        <p:nvSpPr>
          <p:cNvPr id="25603" name="Rectangle 3"/>
          <p:cNvSpPr>
            <a:spLocks noGrp="1" noChangeArrowheads="1"/>
          </p:cNvSpPr>
          <p:nvPr>
            <p:ph type="body" idx="1"/>
          </p:nvPr>
        </p:nvSpPr>
        <p:spPr/>
        <p:txBody>
          <a:bodyPr>
            <a:normAutofit fontScale="92500" lnSpcReduction="20000"/>
          </a:bodyPr>
          <a:lstStyle/>
          <a:p>
            <a:pPr algn="just"/>
            <a:r>
              <a:rPr lang="en-US" dirty="0"/>
              <a:t>Criminals steal personal data by hacking into computer systems, by stealing </a:t>
            </a:r>
            <a:r>
              <a:rPr lang="en-US" dirty="0" smtClean="0"/>
              <a:t>computers and </a:t>
            </a:r>
            <a:r>
              <a:rPr lang="en-US" dirty="0"/>
              <a:t>disks, by buying or requesting records under false pretenses, and by bribing </a:t>
            </a:r>
            <a:r>
              <a:rPr lang="en-US" dirty="0" smtClean="0"/>
              <a:t>employees of </a:t>
            </a:r>
            <a:r>
              <a:rPr lang="en-US" dirty="0"/>
              <a:t>companies that store the data</a:t>
            </a:r>
            <a:r>
              <a:rPr lang="en-US" dirty="0" smtClean="0"/>
              <a:t>.</a:t>
            </a:r>
          </a:p>
          <a:p>
            <a:pPr algn="just"/>
            <a:r>
              <a:rPr lang="en-US" dirty="0" smtClean="0"/>
              <a:t> </a:t>
            </a:r>
            <a:r>
              <a:rPr lang="en-US" dirty="0"/>
              <a:t>Shady information brokers sell data </a:t>
            </a:r>
            <a:r>
              <a:rPr lang="en-US" dirty="0" smtClean="0"/>
              <a:t>(</a:t>
            </a:r>
            <a:r>
              <a:rPr lang="en-US" dirty="0"/>
              <a:t>including cellphone records, credit reports, credit card statements</a:t>
            </a:r>
            <a:r>
              <a:rPr lang="en-US" dirty="0" smtClean="0"/>
              <a:t>, medical </a:t>
            </a:r>
            <a:r>
              <a:rPr lang="en-US" dirty="0"/>
              <a:t>and work records, and location of relatives, as well as information about </a:t>
            </a:r>
            <a:r>
              <a:rPr lang="en-US" dirty="0" smtClean="0"/>
              <a:t>financial and </a:t>
            </a:r>
            <a:r>
              <a:rPr lang="en-US" dirty="0"/>
              <a:t>investment accounts) that they obtain illegally or by questionable means</a:t>
            </a:r>
            <a:r>
              <a:rPr lang="en-US" dirty="0" smtClean="0"/>
              <a:t>.</a:t>
            </a:r>
          </a:p>
          <a:p>
            <a:pPr algn="just"/>
            <a:r>
              <a:rPr lang="en-US" dirty="0" smtClean="0"/>
              <a:t> </a:t>
            </a:r>
            <a:r>
              <a:rPr lang="en-US" dirty="0"/>
              <a:t>Criminals</a:t>
            </a:r>
            <a:r>
              <a:rPr lang="en-US" dirty="0" smtClean="0"/>
              <a:t>, lawyers</a:t>
            </a:r>
            <a:r>
              <a:rPr lang="en-US" dirty="0"/>
              <a:t>, private investigators, spouses, ex-spouses, and law enforcement agents are </a:t>
            </a:r>
            <a:r>
              <a:rPr lang="en-US" dirty="0" smtClean="0"/>
              <a:t>among the </a:t>
            </a:r>
            <a:r>
              <a:rPr lang="en-US" dirty="0"/>
              <a:t>buyers. A private investigator could have obtained some of this information in </a:t>
            </a:r>
            <a:r>
              <a:rPr lang="en-US" dirty="0" smtClean="0"/>
              <a:t>the past</a:t>
            </a:r>
            <a:r>
              <a:rPr lang="en-US" dirty="0"/>
              <a:t>, but not nearly so easily, cheaply, and quickly.</a:t>
            </a:r>
          </a:p>
          <a:p>
            <a:pPr marL="0" indent="0" algn="just">
              <a:buNone/>
            </a:pPr>
            <a:endParaRPr lang="en-US" dirty="0"/>
          </a:p>
        </p:txBody>
      </p:sp>
    </p:spTree>
    <p:extLst>
      <p:ext uri="{BB962C8B-B14F-4D97-AF65-F5344CB8AC3E}">
        <p14:creationId xmlns:p14="http://schemas.microsoft.com/office/powerpoint/2010/main" val="14796675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304800"/>
            <a:ext cx="8229600" cy="1143000"/>
          </a:xfrm>
        </p:spPr>
        <p:txBody>
          <a:bodyPr/>
          <a:lstStyle/>
          <a:p>
            <a:r>
              <a:rPr lang="en-US" b="1" dirty="0"/>
              <a:t>Stolen and lost data</a:t>
            </a:r>
            <a:endParaRPr lang="en-US" dirty="0"/>
          </a:p>
        </p:txBody>
      </p:sp>
      <p:sp>
        <p:nvSpPr>
          <p:cNvPr id="25603" name="Rectangle 3"/>
          <p:cNvSpPr>
            <a:spLocks noGrp="1" noChangeArrowheads="1"/>
          </p:cNvSpPr>
          <p:nvPr>
            <p:ph type="body" idx="1"/>
          </p:nvPr>
        </p:nvSpPr>
        <p:spPr/>
        <p:txBody>
          <a:bodyPr>
            <a:normAutofit lnSpcReduction="10000"/>
          </a:bodyPr>
          <a:lstStyle/>
          <a:p>
            <a:pPr algn="just"/>
            <a:r>
              <a:rPr lang="en-US" dirty="0"/>
              <a:t>Another risk is accidental (sometimes quite careless) loss. Businesses, </a:t>
            </a:r>
            <a:r>
              <a:rPr lang="en-US" dirty="0" smtClean="0"/>
              <a:t>government agencies</a:t>
            </a:r>
            <a:r>
              <a:rPr lang="en-US" dirty="0"/>
              <a:t>, and other institutions lose computers, disks, memory cards, and laptops </a:t>
            </a:r>
            <a:r>
              <a:rPr lang="en-US" dirty="0" smtClean="0"/>
              <a:t>containing  sensitive </a:t>
            </a:r>
            <a:r>
              <a:rPr lang="en-US" dirty="0"/>
              <a:t>personal data (such as Social Security numbers and credit card numbers</a:t>
            </a:r>
            <a:r>
              <a:rPr lang="en-US" dirty="0" smtClean="0"/>
              <a:t>) on </a:t>
            </a:r>
            <a:r>
              <a:rPr lang="en-US" dirty="0"/>
              <a:t>thousands or millions of people, exposing people to potential misuse of their </a:t>
            </a:r>
            <a:r>
              <a:rPr lang="en-US" dirty="0" smtClean="0"/>
              <a:t>information and </a:t>
            </a:r>
            <a:r>
              <a:rPr lang="en-US" dirty="0"/>
              <a:t>lingering uncertainty</a:t>
            </a:r>
            <a:r>
              <a:rPr lang="en-US" dirty="0" smtClean="0"/>
              <a:t>.</a:t>
            </a:r>
          </a:p>
          <a:p>
            <a:pPr algn="just"/>
            <a:r>
              <a:rPr lang="en-US" dirty="0" smtClean="0"/>
              <a:t> </a:t>
            </a:r>
            <a:r>
              <a:rPr lang="en-US" dirty="0"/>
              <a:t>They inadvertently allow sensitive files to be </a:t>
            </a:r>
            <a:r>
              <a:rPr lang="en-US" dirty="0" smtClean="0"/>
              <a:t>public on the Web</a:t>
            </a:r>
            <a:r>
              <a:rPr lang="en-US" dirty="0"/>
              <a:t>. Researchers found medical information, Social Security numbers, and </a:t>
            </a:r>
            <a:r>
              <a:rPr lang="en-US" dirty="0" smtClean="0"/>
              <a:t>other sensitive </a:t>
            </a:r>
            <a:r>
              <a:rPr lang="en-US" dirty="0"/>
              <a:t>personal or confidential information about thousands of people in files on </a:t>
            </a:r>
            <a:r>
              <a:rPr lang="en-US" dirty="0" smtClean="0"/>
              <a:t>the Web </a:t>
            </a:r>
            <a:r>
              <a:rPr lang="en-US" dirty="0"/>
              <a:t>that simply had the wrong access status.</a:t>
            </a:r>
          </a:p>
          <a:p>
            <a:pPr marL="0" indent="0" algn="just">
              <a:buNone/>
            </a:pPr>
            <a:endParaRPr lang="en-US" dirty="0"/>
          </a:p>
        </p:txBody>
      </p:sp>
    </p:spTree>
    <p:extLst>
      <p:ext uri="{BB962C8B-B14F-4D97-AF65-F5344CB8AC3E}">
        <p14:creationId xmlns:p14="http://schemas.microsoft.com/office/powerpoint/2010/main" val="12474909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b="1" dirty="0"/>
              <a:t>Stolen and lost data</a:t>
            </a:r>
            <a:endParaRPr lang="en-US" dirty="0"/>
          </a:p>
        </p:txBody>
      </p:sp>
      <p:sp>
        <p:nvSpPr>
          <p:cNvPr id="25603" name="Rectangle 3"/>
          <p:cNvSpPr>
            <a:spLocks noGrp="1" noChangeArrowheads="1"/>
          </p:cNvSpPr>
          <p:nvPr>
            <p:ph type="body" idx="1"/>
          </p:nvPr>
        </p:nvSpPr>
        <p:spPr/>
        <p:txBody>
          <a:bodyPr>
            <a:normAutofit/>
          </a:bodyPr>
          <a:lstStyle/>
          <a:p>
            <a:pPr algn="just"/>
            <a:r>
              <a:rPr lang="en-US" dirty="0"/>
              <a:t>The websites of some businesses, organizations, and government agencies that </a:t>
            </a:r>
            <a:r>
              <a:rPr lang="en-US" dirty="0" smtClean="0"/>
              <a:t>make account </a:t>
            </a:r>
            <a:r>
              <a:rPr lang="en-US" dirty="0"/>
              <a:t>information available on </a:t>
            </a:r>
            <a:r>
              <a:rPr lang="en-US" dirty="0" smtClean="0"/>
              <a:t>the Web </a:t>
            </a:r>
            <a:r>
              <a:rPr lang="en-US" dirty="0"/>
              <a:t>do not sufficiently authenticate the person </a:t>
            </a:r>
            <a:r>
              <a:rPr lang="en-US" dirty="0" smtClean="0"/>
              <a:t>accessing </a:t>
            </a:r>
            <a:r>
              <a:rPr lang="en-US" dirty="0"/>
              <a:t>the information, allowing imposters access</a:t>
            </a:r>
            <a:r>
              <a:rPr lang="en-US" dirty="0" smtClean="0"/>
              <a:t>.</a:t>
            </a:r>
          </a:p>
          <a:p>
            <a:pPr algn="just"/>
            <a:r>
              <a:rPr lang="en-US" dirty="0" smtClean="0"/>
              <a:t>Data </a:t>
            </a:r>
            <a:r>
              <a:rPr lang="en-US" dirty="0"/>
              <a:t>thieves </a:t>
            </a:r>
            <a:r>
              <a:rPr lang="en-US" dirty="0" smtClean="0"/>
              <a:t>often get </a:t>
            </a:r>
            <a:r>
              <a:rPr lang="en-US" dirty="0"/>
              <a:t>sensitive information by telephone by pretending to be the </a:t>
            </a:r>
            <a:r>
              <a:rPr lang="en-US" dirty="0" smtClean="0"/>
              <a:t>person whose </a:t>
            </a:r>
            <a:r>
              <a:rPr lang="en-US" dirty="0"/>
              <a:t>records they seek. They provide some personal </a:t>
            </a:r>
            <a:r>
              <a:rPr lang="en-US" dirty="0" smtClean="0"/>
              <a:t>information about </a:t>
            </a:r>
            <a:r>
              <a:rPr lang="en-US" dirty="0"/>
              <a:t>their target to make their request seem legitimate. That is </a:t>
            </a:r>
            <a:r>
              <a:rPr lang="en-US" dirty="0" smtClean="0"/>
              <a:t>one reason </a:t>
            </a:r>
            <a:r>
              <a:rPr lang="en-US" dirty="0"/>
              <a:t>why it is important to be cautious even with data that is not particularly </a:t>
            </a:r>
            <a:r>
              <a:rPr lang="en-US" dirty="0" smtClean="0"/>
              <a:t>sensitive by </a:t>
            </a:r>
            <a:r>
              <a:rPr lang="en-US" dirty="0"/>
              <a:t>itself.</a:t>
            </a:r>
          </a:p>
          <a:p>
            <a:pPr marL="0" indent="0" algn="just">
              <a:buNone/>
            </a:pPr>
            <a:endParaRPr lang="en-US" dirty="0"/>
          </a:p>
        </p:txBody>
      </p:sp>
    </p:spTree>
    <p:extLst>
      <p:ext uri="{BB962C8B-B14F-4D97-AF65-F5344CB8AC3E}">
        <p14:creationId xmlns:p14="http://schemas.microsoft.com/office/powerpoint/2010/main" val="7189207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b="1" dirty="0"/>
              <a:t>A summary of risks</a:t>
            </a:r>
            <a:endParaRPr lang="en-US" dirty="0"/>
          </a:p>
        </p:txBody>
      </p:sp>
      <p:sp>
        <p:nvSpPr>
          <p:cNvPr id="25603" name="Rectangle 3"/>
          <p:cNvSpPr>
            <a:spLocks noGrp="1" noChangeArrowheads="1"/>
          </p:cNvSpPr>
          <p:nvPr>
            <p:ph type="body" idx="1"/>
          </p:nvPr>
        </p:nvSpPr>
        <p:spPr/>
        <p:txBody>
          <a:bodyPr>
            <a:normAutofit lnSpcReduction="10000"/>
          </a:bodyPr>
          <a:lstStyle/>
          <a:p>
            <a:r>
              <a:rPr lang="en-US" dirty="0" smtClean="0"/>
              <a:t> </a:t>
            </a:r>
            <a:r>
              <a:rPr lang="en-US" dirty="0"/>
              <a:t>Anything we do in cyberspace is recorded, at least briefly, and linked to </a:t>
            </a:r>
            <a:r>
              <a:rPr lang="en-US" dirty="0" smtClean="0"/>
              <a:t>our computer </a:t>
            </a:r>
            <a:r>
              <a:rPr lang="en-US" dirty="0"/>
              <a:t>or phone, and possibly our name.</a:t>
            </a:r>
          </a:p>
          <a:p>
            <a:r>
              <a:rPr lang="en-US" dirty="0" smtClean="0"/>
              <a:t> </a:t>
            </a:r>
            <a:r>
              <a:rPr lang="en-US" dirty="0"/>
              <a:t>With the huge amount of storage space available, companies, organizations, </a:t>
            </a:r>
            <a:r>
              <a:rPr lang="en-US" dirty="0" smtClean="0"/>
              <a:t>and governments </a:t>
            </a:r>
            <a:r>
              <a:rPr lang="en-US" dirty="0"/>
              <a:t>save huge amounts of data that no one would have imagined </a:t>
            </a:r>
            <a:r>
              <a:rPr lang="en-US" dirty="0" smtClean="0"/>
              <a:t>saving in </a:t>
            </a:r>
            <a:r>
              <a:rPr lang="en-US" dirty="0"/>
              <a:t>the recent past.</a:t>
            </a:r>
          </a:p>
          <a:p>
            <a:r>
              <a:rPr lang="en-US" dirty="0" smtClean="0"/>
              <a:t> </a:t>
            </a:r>
            <a:r>
              <a:rPr lang="en-US" dirty="0"/>
              <a:t>People often are not aware of the collection of information about them and </a:t>
            </a:r>
            <a:r>
              <a:rPr lang="en-US" dirty="0" smtClean="0"/>
              <a:t>their activities</a:t>
            </a:r>
            <a:r>
              <a:rPr lang="en-US" dirty="0"/>
              <a:t>.</a:t>
            </a:r>
          </a:p>
          <a:p>
            <a:r>
              <a:rPr lang="en-US" dirty="0" smtClean="0"/>
              <a:t>Software </a:t>
            </a:r>
            <a:r>
              <a:rPr lang="en-US" dirty="0"/>
              <a:t>is extremely complex. Sometimes businesses, organizations, and </a:t>
            </a:r>
            <a:r>
              <a:rPr lang="en-US" dirty="0" smtClean="0"/>
              <a:t>website managers </a:t>
            </a:r>
            <a:r>
              <a:rPr lang="en-US" dirty="0"/>
              <a:t>do not even know what the software they use collects and </a:t>
            </a:r>
            <a:r>
              <a:rPr lang="en-US" dirty="0" smtClean="0"/>
              <a:t>stores.</a:t>
            </a:r>
            <a:endParaRPr lang="en-US" dirty="0"/>
          </a:p>
        </p:txBody>
      </p:sp>
    </p:spTree>
    <p:extLst>
      <p:ext uri="{BB962C8B-B14F-4D97-AF65-F5344CB8AC3E}">
        <p14:creationId xmlns:p14="http://schemas.microsoft.com/office/powerpoint/2010/main" val="30573736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b="1" dirty="0"/>
              <a:t>A summary of risks</a:t>
            </a:r>
            <a:endParaRPr lang="en-US" dirty="0"/>
          </a:p>
        </p:txBody>
      </p:sp>
      <p:sp>
        <p:nvSpPr>
          <p:cNvPr id="25603" name="Rectangle 3"/>
          <p:cNvSpPr>
            <a:spLocks noGrp="1" noChangeArrowheads="1"/>
          </p:cNvSpPr>
          <p:nvPr>
            <p:ph type="body" idx="1"/>
          </p:nvPr>
        </p:nvSpPr>
        <p:spPr/>
        <p:txBody>
          <a:bodyPr>
            <a:normAutofit/>
          </a:bodyPr>
          <a:lstStyle/>
          <a:p>
            <a:pPr algn="just"/>
            <a:r>
              <a:rPr lang="en-US" dirty="0" smtClean="0"/>
              <a:t> </a:t>
            </a:r>
            <a:r>
              <a:rPr lang="en-US" dirty="0"/>
              <a:t>Leaks happen. The existence of the data presents a risk.</a:t>
            </a:r>
          </a:p>
          <a:p>
            <a:pPr algn="just"/>
            <a:r>
              <a:rPr lang="en-US" dirty="0"/>
              <a:t> </a:t>
            </a:r>
            <a:r>
              <a:rPr lang="en-US" dirty="0" smtClean="0"/>
              <a:t>A </a:t>
            </a:r>
            <a:r>
              <a:rPr lang="en-US" dirty="0"/>
              <a:t>collection of many small items of information can give a fairly detailed </a:t>
            </a:r>
            <a:r>
              <a:rPr lang="en-US" dirty="0" smtClean="0"/>
              <a:t>picture of </a:t>
            </a:r>
            <a:r>
              <a:rPr lang="en-US" dirty="0"/>
              <a:t>a person’s life.</a:t>
            </a:r>
          </a:p>
          <a:p>
            <a:pPr algn="just"/>
            <a:r>
              <a:rPr lang="en-US" dirty="0" smtClean="0"/>
              <a:t>Direct </a:t>
            </a:r>
            <a:r>
              <a:rPr lang="en-US" dirty="0"/>
              <a:t>association with a person’s name is not essential for compromising privacy</a:t>
            </a:r>
            <a:r>
              <a:rPr lang="en-US" dirty="0" smtClean="0"/>
              <a:t>. Re-identification </a:t>
            </a:r>
            <a:r>
              <a:rPr lang="en-US" dirty="0"/>
              <a:t>has become much easier due to the quantity of personal </a:t>
            </a:r>
            <a:r>
              <a:rPr lang="en-US" dirty="0" smtClean="0"/>
              <a:t>information stored </a:t>
            </a:r>
            <a:r>
              <a:rPr lang="en-US" dirty="0"/>
              <a:t>and the power of data search and analysis tools.</a:t>
            </a:r>
          </a:p>
          <a:p>
            <a:pPr algn="just"/>
            <a:r>
              <a:rPr lang="en-US" dirty="0" smtClean="0"/>
              <a:t> </a:t>
            </a:r>
            <a:r>
              <a:rPr lang="en-US" dirty="0"/>
              <a:t>If information is on a public website, people other than those for whom it </a:t>
            </a:r>
            <a:r>
              <a:rPr lang="en-US" dirty="0" smtClean="0"/>
              <a:t>was intended </a:t>
            </a:r>
            <a:r>
              <a:rPr lang="en-US" dirty="0"/>
              <a:t>will find it. It is available to everyone.</a:t>
            </a:r>
          </a:p>
          <a:p>
            <a:pPr marL="0" indent="0">
              <a:buNone/>
            </a:pPr>
            <a:endParaRPr lang="en-US" dirty="0"/>
          </a:p>
        </p:txBody>
      </p:sp>
    </p:spTree>
    <p:extLst>
      <p:ext uri="{BB962C8B-B14F-4D97-AF65-F5344CB8AC3E}">
        <p14:creationId xmlns:p14="http://schemas.microsoft.com/office/powerpoint/2010/main" val="7980421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b="1" dirty="0"/>
              <a:t>A summary of risks</a:t>
            </a:r>
            <a:endParaRPr lang="en-US" dirty="0"/>
          </a:p>
        </p:txBody>
      </p:sp>
      <p:sp>
        <p:nvSpPr>
          <p:cNvPr id="25603" name="Rectangle 3"/>
          <p:cNvSpPr>
            <a:spLocks noGrp="1" noChangeArrowheads="1"/>
          </p:cNvSpPr>
          <p:nvPr>
            <p:ph type="body" idx="1"/>
          </p:nvPr>
        </p:nvSpPr>
        <p:spPr/>
        <p:txBody>
          <a:bodyPr>
            <a:normAutofit fontScale="32500" lnSpcReduction="20000"/>
          </a:bodyPr>
          <a:lstStyle/>
          <a:p>
            <a:pPr algn="just"/>
            <a:r>
              <a:rPr lang="en-US" sz="5600" dirty="0" smtClean="0"/>
              <a:t> </a:t>
            </a:r>
            <a:r>
              <a:rPr lang="en-US" sz="5600" dirty="0"/>
              <a:t>Once information goes on the Internet or into a database, it seems to last forever</a:t>
            </a:r>
            <a:r>
              <a:rPr lang="en-US" sz="5600" dirty="0" smtClean="0"/>
              <a:t>. People </a:t>
            </a:r>
            <a:r>
              <a:rPr lang="en-US" sz="5600" dirty="0"/>
              <a:t>(and automated software) quickly make and distribute copies. It is </a:t>
            </a:r>
            <a:r>
              <a:rPr lang="en-US" sz="5600" dirty="0" smtClean="0"/>
              <a:t>almost impossible </a:t>
            </a:r>
            <a:r>
              <a:rPr lang="en-US" sz="5600" dirty="0"/>
              <a:t>to remove released information from circulation.</a:t>
            </a:r>
          </a:p>
          <a:p>
            <a:pPr algn="just"/>
            <a:r>
              <a:rPr lang="en-US" sz="5600" dirty="0" smtClean="0"/>
              <a:t>It </a:t>
            </a:r>
            <a:r>
              <a:rPr lang="en-US" sz="5600" dirty="0"/>
              <a:t>is extremely likely that data collected for one purpose (such as making a </a:t>
            </a:r>
            <a:r>
              <a:rPr lang="en-US" sz="5600" dirty="0" smtClean="0"/>
              <a:t>phone call </a:t>
            </a:r>
            <a:r>
              <a:rPr lang="en-US" sz="5600" dirty="0"/>
              <a:t>or responding to a search query) will find other uses (such as business planning</a:t>
            </a:r>
            <a:r>
              <a:rPr lang="en-US" sz="5600" dirty="0" smtClean="0"/>
              <a:t>, tracking</a:t>
            </a:r>
            <a:r>
              <a:rPr lang="en-US" sz="5600" dirty="0"/>
              <a:t>, marketing, or criminal investigations).</a:t>
            </a:r>
          </a:p>
          <a:p>
            <a:pPr algn="just"/>
            <a:r>
              <a:rPr lang="en-US" sz="5600" dirty="0" smtClean="0"/>
              <a:t>The </a:t>
            </a:r>
            <a:r>
              <a:rPr lang="en-US" sz="5600" dirty="0"/>
              <a:t>government sometimes requests or demands sensitive personal data held </a:t>
            </a:r>
            <a:r>
              <a:rPr lang="en-US" sz="5600" dirty="0" smtClean="0"/>
              <a:t>by businesses </a:t>
            </a:r>
            <a:r>
              <a:rPr lang="en-US" sz="5600" dirty="0"/>
              <a:t>and organizations.</a:t>
            </a:r>
          </a:p>
          <a:p>
            <a:pPr algn="just"/>
            <a:r>
              <a:rPr lang="en-US" sz="5600" dirty="0" smtClean="0"/>
              <a:t> </a:t>
            </a:r>
            <a:r>
              <a:rPr lang="en-US" sz="5600" dirty="0"/>
              <a:t>We often cannot directly protect information about ourselves. We depend on </a:t>
            </a:r>
            <a:r>
              <a:rPr lang="en-US" sz="5600" dirty="0" smtClean="0"/>
              <a:t>the businesses </a:t>
            </a:r>
            <a:r>
              <a:rPr lang="en-US" sz="5600" dirty="0"/>
              <a:t>and organizations that manage it to protect it from thieves, </a:t>
            </a:r>
            <a:r>
              <a:rPr lang="en-US" sz="5600" dirty="0" smtClean="0"/>
              <a:t>accidental collection</a:t>
            </a:r>
            <a:r>
              <a:rPr lang="en-US" sz="5600" dirty="0"/>
              <a:t>, leaks, and government prying.</a:t>
            </a:r>
          </a:p>
          <a:p>
            <a:pPr marL="0" indent="0" algn="just">
              <a:buNone/>
            </a:pPr>
            <a:endParaRPr lang="en-US" dirty="0"/>
          </a:p>
        </p:txBody>
      </p:sp>
    </p:spTree>
    <p:extLst>
      <p:ext uri="{BB962C8B-B14F-4D97-AF65-F5344CB8AC3E}">
        <p14:creationId xmlns:p14="http://schemas.microsoft.com/office/powerpoint/2010/main" val="8516306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p:txBody>
          <a:bodyPr>
            <a:normAutofit/>
          </a:bodyPr>
          <a:lstStyle/>
          <a:p>
            <a:r>
              <a:rPr lang="en-US" dirty="0" smtClean="0"/>
              <a:t>Key Issues of Privacy</a:t>
            </a:r>
            <a:endParaRPr lang="en-US" dirty="0"/>
          </a:p>
        </p:txBody>
      </p:sp>
      <p:sp>
        <p:nvSpPr>
          <p:cNvPr id="43013" name="Rectangle 5"/>
          <p:cNvSpPr>
            <a:spLocks noGrp="1" noChangeArrowheads="1"/>
          </p:cNvSpPr>
          <p:nvPr>
            <p:ph type="body" idx="1"/>
          </p:nvPr>
        </p:nvSpPr>
        <p:spPr>
          <a:xfrm>
            <a:off x="685800" y="2171700"/>
            <a:ext cx="8229600" cy="4525963"/>
          </a:xfrm>
        </p:spPr>
        <p:txBody>
          <a:bodyPr>
            <a:normAutofit fontScale="32500" lnSpcReduction="20000"/>
          </a:bodyPr>
          <a:lstStyle/>
          <a:p>
            <a:pPr>
              <a:lnSpc>
                <a:spcPct val="170000"/>
              </a:lnSpc>
              <a:buFontTx/>
              <a:buNone/>
            </a:pPr>
            <a:r>
              <a:rPr lang="en-US" sz="6700" b="1" i="1" dirty="0" smtClean="0"/>
              <a:t>Term : Personal information </a:t>
            </a:r>
            <a:r>
              <a:rPr lang="en-US" sz="6700" dirty="0" smtClean="0"/>
              <a:t>  </a:t>
            </a:r>
          </a:p>
          <a:p>
            <a:pPr marL="0" indent="0" algn="just">
              <a:buNone/>
            </a:pPr>
            <a:endParaRPr lang="en-US" sz="6700" dirty="0" smtClean="0"/>
          </a:p>
          <a:p>
            <a:pPr marL="0" indent="0" algn="just">
              <a:buNone/>
            </a:pPr>
            <a:r>
              <a:rPr lang="en-US" sz="7200" dirty="0" smtClean="0"/>
              <a:t> </a:t>
            </a:r>
            <a:r>
              <a:rPr lang="en-US" sz="7200" dirty="0"/>
              <a:t>In the context of privacy </a:t>
            </a:r>
            <a:r>
              <a:rPr lang="en-US" sz="7200" dirty="0" smtClean="0"/>
              <a:t>issues, it </a:t>
            </a:r>
            <a:r>
              <a:rPr lang="en-US" sz="7200" dirty="0"/>
              <a:t>includes any information relating to, or traceable to, an individual </a:t>
            </a:r>
            <a:r>
              <a:rPr lang="en-US" sz="7200" dirty="0" smtClean="0"/>
              <a:t>person</a:t>
            </a:r>
          </a:p>
          <a:p>
            <a:pPr marL="0" indent="0" algn="just">
              <a:buNone/>
            </a:pPr>
            <a:r>
              <a:rPr lang="en-US" sz="7200" dirty="0" smtClean="0"/>
              <a:t>It </a:t>
            </a:r>
            <a:r>
              <a:rPr lang="en-US" sz="7200" dirty="0"/>
              <a:t>also includes information associated with a particular person’s </a:t>
            </a:r>
            <a:r>
              <a:rPr lang="en-US" sz="7200" dirty="0" smtClean="0"/>
              <a:t> user </a:t>
            </a:r>
            <a:r>
              <a:rPr lang="en-US" sz="7200" dirty="0"/>
              <a:t>name, online </a:t>
            </a:r>
            <a:r>
              <a:rPr lang="en-US" sz="7200" dirty="0" smtClean="0"/>
              <a:t>nickname</a:t>
            </a:r>
            <a:r>
              <a:rPr lang="en-US" sz="7200" dirty="0"/>
              <a:t>, identification number, email address, or phone number</a:t>
            </a:r>
            <a:r>
              <a:rPr lang="en-US" sz="7200" dirty="0" smtClean="0"/>
              <a:t>. </a:t>
            </a:r>
          </a:p>
          <a:p>
            <a:pPr marL="0" indent="0" algn="just">
              <a:buNone/>
            </a:pPr>
            <a:r>
              <a:rPr lang="en-US" sz="7200" dirty="0" smtClean="0"/>
              <a:t>Nor does </a:t>
            </a:r>
            <a:r>
              <a:rPr lang="en-US" sz="7200" dirty="0"/>
              <a:t>it refer only to text. It extends to any information, including images, from </a:t>
            </a:r>
            <a:r>
              <a:rPr lang="en-US" sz="7200" dirty="0" smtClean="0"/>
              <a:t>which someone </a:t>
            </a:r>
            <a:r>
              <a:rPr lang="en-US" sz="7200" dirty="0"/>
              <a:t>can identify a living individual</a:t>
            </a:r>
            <a:r>
              <a:rPr lang="en-US" sz="7200" dirty="0" smtClean="0"/>
              <a:t>.</a:t>
            </a:r>
            <a:r>
              <a:rPr lang="en-US" sz="2400" dirty="0" smtClean="0"/>
              <a:t>     </a:t>
            </a:r>
          </a:p>
          <a:p>
            <a:pPr marL="0" indent="0">
              <a:lnSpc>
                <a:spcPct val="90000"/>
              </a:lnSpc>
              <a:buNone/>
            </a:pPr>
            <a:r>
              <a:rPr lang="en-US" dirty="0"/>
              <a:t>	</a:t>
            </a:r>
            <a:endParaRPr lang="en-US" dirty="0" smtClean="0"/>
          </a:p>
          <a:p>
            <a:pPr marL="0" indent="0">
              <a:lnSpc>
                <a:spcPct val="90000"/>
              </a:lnSpc>
              <a:buNone/>
            </a:pPr>
            <a:r>
              <a:rPr lang="en-US" dirty="0"/>
              <a:t> </a:t>
            </a:r>
            <a:r>
              <a:rPr lang="en-US" dirty="0" smtClean="0"/>
              <a:t>         </a:t>
            </a:r>
            <a:endParaRPr lang="en-US" dirty="0"/>
          </a:p>
          <a:p>
            <a:pPr marL="0" indent="0">
              <a:lnSpc>
                <a:spcPct val="90000"/>
              </a:lnSpc>
              <a:buNone/>
            </a:pPr>
            <a:endParaRPr lang="en-US" dirty="0"/>
          </a:p>
        </p:txBody>
      </p:sp>
    </p:spTree>
    <p:extLst>
      <p:ext uri="{BB962C8B-B14F-4D97-AF65-F5344CB8AC3E}">
        <p14:creationId xmlns:p14="http://schemas.microsoft.com/office/powerpoint/2010/main" val="35746602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p:txBody>
          <a:bodyPr>
            <a:normAutofit/>
          </a:bodyPr>
          <a:lstStyle/>
          <a:p>
            <a:r>
              <a:rPr lang="en-US" b="1" dirty="0" smtClean="0"/>
              <a:t>1. Invisible Information Gathering</a:t>
            </a:r>
            <a:r>
              <a:rPr lang="en-US" dirty="0" smtClean="0"/>
              <a:t> </a:t>
            </a:r>
            <a:endParaRPr lang="en-US" dirty="0"/>
          </a:p>
        </p:txBody>
      </p:sp>
      <p:sp>
        <p:nvSpPr>
          <p:cNvPr id="43013" name="Rectangle 5"/>
          <p:cNvSpPr>
            <a:spLocks noGrp="1" noChangeArrowheads="1"/>
          </p:cNvSpPr>
          <p:nvPr>
            <p:ph type="body" idx="1"/>
          </p:nvPr>
        </p:nvSpPr>
        <p:spPr>
          <a:xfrm>
            <a:off x="514350" y="2057400"/>
            <a:ext cx="8229600" cy="4525963"/>
          </a:xfrm>
        </p:spPr>
        <p:txBody>
          <a:bodyPr>
            <a:noAutofit/>
          </a:bodyPr>
          <a:lstStyle/>
          <a:p>
            <a:pPr algn="just">
              <a:lnSpc>
                <a:spcPct val="170000"/>
              </a:lnSpc>
            </a:pPr>
            <a:r>
              <a:rPr lang="en-US" sz="1800" dirty="0" smtClean="0"/>
              <a:t>Collection </a:t>
            </a:r>
            <a:r>
              <a:rPr lang="en-US" sz="1800" dirty="0"/>
              <a:t>of personal information about someone without the person’s </a:t>
            </a:r>
            <a:r>
              <a:rPr lang="en-US" sz="1800" dirty="0" smtClean="0"/>
              <a:t>knowledge</a:t>
            </a:r>
            <a:r>
              <a:rPr lang="en-US" sz="1800" dirty="0"/>
              <a:t> </a:t>
            </a:r>
            <a:endParaRPr lang="en-US" sz="1800" dirty="0" smtClean="0"/>
          </a:p>
          <a:p>
            <a:pPr algn="just">
              <a:lnSpc>
                <a:spcPct val="170000"/>
              </a:lnSpc>
            </a:pPr>
            <a:r>
              <a:rPr lang="en-US" sz="1800" dirty="0" smtClean="0"/>
              <a:t>The </a:t>
            </a:r>
            <a:r>
              <a:rPr lang="en-US" sz="1800" dirty="0"/>
              <a:t>important ethical issue is that if someone is not aware of </a:t>
            </a:r>
            <a:r>
              <a:rPr lang="en-US" sz="1800" dirty="0" smtClean="0"/>
              <a:t>the collection </a:t>
            </a:r>
            <a:r>
              <a:rPr lang="en-US" sz="1800" dirty="0"/>
              <a:t>and use, he or she has no opportunity to consent or withhold consent</a:t>
            </a:r>
            <a:r>
              <a:rPr lang="en-US" sz="1800" dirty="0" smtClean="0"/>
              <a:t>.</a:t>
            </a:r>
          </a:p>
          <a:p>
            <a:pPr algn="just">
              <a:lnSpc>
                <a:spcPct val="170000"/>
              </a:lnSpc>
            </a:pPr>
            <a:r>
              <a:rPr lang="en-US" sz="1800" dirty="0"/>
              <a:t>Whether or not a particular example of data collection is invisible information </a:t>
            </a:r>
            <a:r>
              <a:rPr lang="en-US" sz="1800" dirty="0" smtClean="0"/>
              <a:t>gathering can </a:t>
            </a:r>
            <a:r>
              <a:rPr lang="en-US" sz="1800" dirty="0"/>
              <a:t>depend on the level of public awareness</a:t>
            </a:r>
            <a:r>
              <a:rPr lang="en-US" sz="1800" dirty="0" smtClean="0"/>
              <a:t>.</a:t>
            </a:r>
          </a:p>
          <a:p>
            <a:pPr algn="just">
              <a:lnSpc>
                <a:spcPct val="170000"/>
              </a:lnSpc>
            </a:pPr>
            <a:r>
              <a:rPr lang="en-US" sz="1800" dirty="0" smtClean="0"/>
              <a:t>Example: Cartoon character cursor, spyware, event data recorders </a:t>
            </a:r>
            <a:r>
              <a:rPr lang="en-US" sz="1800" dirty="0" err="1" smtClean="0"/>
              <a:t>etc</a:t>
            </a:r>
            <a:endParaRPr lang="en-US" sz="300" dirty="0" smtClean="0"/>
          </a:p>
          <a:p>
            <a:pPr>
              <a:lnSpc>
                <a:spcPct val="90000"/>
              </a:lnSpc>
            </a:pPr>
            <a:endParaRPr lang="en-US" sz="300" dirty="0" smtClean="0"/>
          </a:p>
          <a:p>
            <a:pPr marL="0" indent="0">
              <a:lnSpc>
                <a:spcPct val="90000"/>
              </a:lnSpc>
              <a:buNone/>
            </a:pPr>
            <a:r>
              <a:rPr lang="en-US" sz="300" dirty="0" smtClean="0"/>
              <a:t>     </a:t>
            </a:r>
          </a:p>
          <a:p>
            <a:pPr marL="0" indent="0">
              <a:lnSpc>
                <a:spcPct val="90000"/>
              </a:lnSpc>
              <a:buNone/>
            </a:pPr>
            <a:r>
              <a:rPr lang="en-US" sz="300" dirty="0"/>
              <a:t>	</a:t>
            </a:r>
            <a:endParaRPr lang="en-US" sz="300" dirty="0" smtClean="0"/>
          </a:p>
          <a:p>
            <a:pPr marL="0" indent="0">
              <a:lnSpc>
                <a:spcPct val="90000"/>
              </a:lnSpc>
              <a:buNone/>
            </a:pPr>
            <a:r>
              <a:rPr lang="en-US" sz="300" dirty="0"/>
              <a:t> </a:t>
            </a:r>
            <a:r>
              <a:rPr lang="en-US" sz="300" dirty="0" smtClean="0"/>
              <a:t>         </a:t>
            </a:r>
            <a:endParaRPr lang="en-US" sz="300" dirty="0"/>
          </a:p>
          <a:p>
            <a:pPr marL="0" indent="0">
              <a:lnSpc>
                <a:spcPct val="90000"/>
              </a:lnSpc>
              <a:buNone/>
            </a:pPr>
            <a:endParaRPr lang="en-US" sz="300" dirty="0"/>
          </a:p>
        </p:txBody>
      </p:sp>
    </p:spTree>
    <p:extLst>
      <p:ext uri="{BB962C8B-B14F-4D97-AF65-F5344CB8AC3E}">
        <p14:creationId xmlns:p14="http://schemas.microsoft.com/office/powerpoint/2010/main" val="17580206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a:xfrm>
            <a:off x="685799" y="0"/>
            <a:ext cx="7972567" cy="1143000"/>
          </a:xfrm>
        </p:spPr>
        <p:txBody>
          <a:bodyPr>
            <a:normAutofit fontScale="90000"/>
          </a:bodyPr>
          <a:lstStyle/>
          <a:p>
            <a:pPr>
              <a:lnSpc>
                <a:spcPct val="170000"/>
              </a:lnSpc>
            </a:pPr>
            <a:r>
              <a:rPr lang="en-US" b="1" dirty="0" smtClean="0"/>
              <a:t>Invisible Information </a:t>
            </a:r>
            <a:r>
              <a:rPr lang="en-US" b="1" dirty="0"/>
              <a:t>Gathering</a:t>
            </a:r>
            <a:r>
              <a:rPr lang="en-US" dirty="0"/>
              <a:t> </a:t>
            </a:r>
            <a:endParaRPr lang="en-US" b="1" i="1" dirty="0"/>
          </a:p>
        </p:txBody>
      </p:sp>
      <p:sp>
        <p:nvSpPr>
          <p:cNvPr id="43013" name="Rectangle 5"/>
          <p:cNvSpPr>
            <a:spLocks noGrp="1" noChangeArrowheads="1"/>
          </p:cNvSpPr>
          <p:nvPr>
            <p:ph type="body" idx="1"/>
          </p:nvPr>
        </p:nvSpPr>
        <p:spPr>
          <a:xfrm>
            <a:off x="557282" y="1828800"/>
            <a:ext cx="8229600" cy="4525963"/>
          </a:xfrm>
        </p:spPr>
        <p:txBody>
          <a:bodyPr>
            <a:normAutofit fontScale="25000" lnSpcReduction="20000"/>
          </a:bodyPr>
          <a:lstStyle/>
          <a:p>
            <a:pPr marL="0" indent="0" algn="just">
              <a:buNone/>
            </a:pPr>
            <a:r>
              <a:rPr lang="en-US" sz="9600" dirty="0" smtClean="0"/>
              <a:t>When our computers and phones communicate with websites, they must provide information about their configuration (e.g., the Web browser used). </a:t>
            </a:r>
          </a:p>
          <a:p>
            <a:pPr marL="0" indent="0" algn="just">
              <a:buNone/>
            </a:pPr>
            <a:endParaRPr lang="en-US" sz="9600" dirty="0" smtClean="0"/>
          </a:p>
          <a:p>
            <a:pPr marL="0" indent="0" algn="just">
              <a:buNone/>
            </a:pPr>
            <a:r>
              <a:rPr lang="en-US" sz="9600" dirty="0" smtClean="0"/>
              <a:t>Some companies provide device fingerprinting software for combating fraud and intellectual property theft and for tracking people’s online activity.</a:t>
            </a:r>
          </a:p>
          <a:p>
            <a:pPr marL="0" indent="0" algn="just">
              <a:buNone/>
            </a:pPr>
            <a:endParaRPr lang="en-US" sz="9600" dirty="0" smtClean="0"/>
          </a:p>
          <a:p>
            <a:pPr marL="0" indent="0" algn="just">
              <a:buNone/>
            </a:pPr>
            <a:r>
              <a:rPr lang="en-US" sz="9600" dirty="0" smtClean="0"/>
              <a:t> Both collection of configuration information and building of activity profiles are invisible. Financial firms that use device fingerprinting for security of customer accounts are likely to say so in a privacy policy. We are less likely to know when someone is using it to build marketing profiles.</a:t>
            </a:r>
          </a:p>
          <a:p>
            <a:pPr algn="just">
              <a:lnSpc>
                <a:spcPct val="170000"/>
              </a:lnSpc>
            </a:pPr>
            <a:endParaRPr lang="en-US" sz="9600" dirty="0" smtClean="0"/>
          </a:p>
          <a:p>
            <a:pPr>
              <a:lnSpc>
                <a:spcPct val="90000"/>
              </a:lnSpc>
            </a:pPr>
            <a:endParaRPr lang="en-US" sz="9600" dirty="0" smtClean="0"/>
          </a:p>
          <a:p>
            <a:pPr marL="0" indent="0">
              <a:lnSpc>
                <a:spcPct val="90000"/>
              </a:lnSpc>
              <a:buNone/>
            </a:pPr>
            <a:r>
              <a:rPr lang="en-US" sz="9600" dirty="0" smtClean="0"/>
              <a:t>     </a:t>
            </a:r>
          </a:p>
          <a:p>
            <a:pPr marL="0" indent="0">
              <a:lnSpc>
                <a:spcPct val="90000"/>
              </a:lnSpc>
              <a:buNone/>
            </a:pPr>
            <a:r>
              <a:rPr lang="en-US" sz="9600" dirty="0"/>
              <a:t>	</a:t>
            </a:r>
            <a:endParaRPr lang="en-US" sz="9600" dirty="0" smtClean="0"/>
          </a:p>
          <a:p>
            <a:pPr marL="0" indent="0">
              <a:lnSpc>
                <a:spcPct val="90000"/>
              </a:lnSpc>
              <a:buNone/>
            </a:pPr>
            <a:r>
              <a:rPr lang="en-US" sz="9600" dirty="0"/>
              <a:t> </a:t>
            </a:r>
            <a:r>
              <a:rPr lang="en-US" sz="9600" dirty="0" smtClean="0"/>
              <a:t>         </a:t>
            </a:r>
            <a:endParaRPr lang="en-US" sz="9600" dirty="0"/>
          </a:p>
          <a:p>
            <a:pPr marL="0" indent="0">
              <a:lnSpc>
                <a:spcPct val="90000"/>
              </a:lnSpc>
              <a:buNone/>
            </a:pPr>
            <a:endParaRPr lang="en-US" dirty="0"/>
          </a:p>
        </p:txBody>
      </p:sp>
    </p:spTree>
    <p:extLst>
      <p:ext uri="{BB962C8B-B14F-4D97-AF65-F5344CB8AC3E}">
        <p14:creationId xmlns:p14="http://schemas.microsoft.com/office/powerpoint/2010/main" val="29470024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a:xfrm>
            <a:off x="457200" y="-228600"/>
            <a:ext cx="8229600" cy="1143000"/>
          </a:xfrm>
        </p:spPr>
        <p:txBody>
          <a:bodyPr>
            <a:normAutofit fontScale="90000"/>
          </a:bodyPr>
          <a:lstStyle/>
          <a:p>
            <a:pPr>
              <a:lnSpc>
                <a:spcPct val="170000"/>
              </a:lnSpc>
            </a:pPr>
            <a:r>
              <a:rPr lang="en-US" b="1" i="1" dirty="0"/>
              <a:t>Invisible information gathering</a:t>
            </a:r>
          </a:p>
        </p:txBody>
      </p:sp>
      <p:sp>
        <p:nvSpPr>
          <p:cNvPr id="43013" name="Rectangle 5"/>
          <p:cNvSpPr>
            <a:spLocks noGrp="1" noChangeArrowheads="1"/>
          </p:cNvSpPr>
          <p:nvPr>
            <p:ph type="body" idx="1"/>
          </p:nvPr>
        </p:nvSpPr>
        <p:spPr>
          <a:xfrm>
            <a:off x="457200" y="960437"/>
            <a:ext cx="8229600" cy="4525963"/>
          </a:xfrm>
        </p:spPr>
        <p:txBody>
          <a:bodyPr>
            <a:noAutofit/>
          </a:bodyPr>
          <a:lstStyle/>
          <a:p>
            <a:pPr algn="just"/>
            <a:r>
              <a:rPr lang="en-US" sz="2400" b="1" i="1" dirty="0" smtClean="0"/>
              <a:t>Cookies</a:t>
            </a:r>
            <a:r>
              <a:rPr lang="en-US" sz="2400" i="1" dirty="0" smtClean="0"/>
              <a:t> </a:t>
            </a:r>
            <a:r>
              <a:rPr lang="en-US" sz="2400" dirty="0"/>
              <a:t>are files a website stores on a </a:t>
            </a:r>
            <a:r>
              <a:rPr lang="en-US" sz="2400" dirty="0" smtClean="0"/>
              <a:t>visitor’s computer. </a:t>
            </a:r>
            <a:r>
              <a:rPr lang="en-US" sz="2400" dirty="0"/>
              <a:t>Within the cookie, the site </a:t>
            </a:r>
            <a:r>
              <a:rPr lang="en-US" sz="2400" dirty="0" smtClean="0"/>
              <a:t>stores  and </a:t>
            </a:r>
            <a:r>
              <a:rPr lang="en-US" sz="2400" dirty="0"/>
              <a:t>then uses information about the </a:t>
            </a:r>
            <a:r>
              <a:rPr lang="en-US" sz="2400" dirty="0" smtClean="0"/>
              <a:t>visitor’s  activity.</a:t>
            </a:r>
          </a:p>
          <a:p>
            <a:pPr algn="just"/>
            <a:r>
              <a:rPr lang="en-US" sz="2400" dirty="0" smtClean="0"/>
              <a:t> </a:t>
            </a:r>
            <a:r>
              <a:rPr lang="en-US" sz="2400" dirty="0"/>
              <a:t>For example, a retail site might </a:t>
            </a:r>
            <a:r>
              <a:rPr lang="en-US" sz="2400" dirty="0" smtClean="0"/>
              <a:t>store  information </a:t>
            </a:r>
            <a:r>
              <a:rPr lang="en-US" sz="2400" dirty="0"/>
              <a:t>about products we looked at </a:t>
            </a:r>
            <a:r>
              <a:rPr lang="en-US" sz="2400" dirty="0" smtClean="0"/>
              <a:t>and  the </a:t>
            </a:r>
            <a:r>
              <a:rPr lang="en-US" sz="2400" dirty="0"/>
              <a:t>contents of our virtual “shopping cart</a:t>
            </a:r>
            <a:r>
              <a:rPr lang="en-US" sz="2400" dirty="0" smtClean="0"/>
              <a:t>.” On  subsequent </a:t>
            </a:r>
            <a:r>
              <a:rPr lang="en-US" sz="2400" dirty="0"/>
              <a:t>visits, the site retrieves </a:t>
            </a:r>
            <a:r>
              <a:rPr lang="en-US" sz="2400" dirty="0" smtClean="0"/>
              <a:t>information  from </a:t>
            </a:r>
            <a:r>
              <a:rPr lang="en-US" sz="2400" dirty="0"/>
              <a:t>the cookie. Cookies help </a:t>
            </a:r>
            <a:r>
              <a:rPr lang="en-US" sz="2400" dirty="0" smtClean="0"/>
              <a:t>companies  provide </a:t>
            </a:r>
            <a:r>
              <a:rPr lang="en-US" sz="2400" dirty="0"/>
              <a:t>personalized customer service </a:t>
            </a:r>
            <a:r>
              <a:rPr lang="en-US" sz="2400" dirty="0" smtClean="0"/>
              <a:t>and target </a:t>
            </a:r>
            <a:r>
              <a:rPr lang="en-US" sz="2400" dirty="0"/>
              <a:t>advertising to the interests of each </a:t>
            </a:r>
            <a:r>
              <a:rPr lang="en-US" sz="2400" dirty="0" smtClean="0"/>
              <a:t>visitor. They </a:t>
            </a:r>
            <a:r>
              <a:rPr lang="en-US" sz="2400" dirty="0"/>
              <a:t>can also track our activities on </a:t>
            </a:r>
            <a:r>
              <a:rPr lang="en-US" sz="2400" dirty="0" smtClean="0"/>
              <a:t>many sites </a:t>
            </a:r>
            <a:r>
              <a:rPr lang="en-US" sz="2400" dirty="0"/>
              <a:t>and combine the </a:t>
            </a:r>
            <a:r>
              <a:rPr lang="en-US" sz="2400" dirty="0" smtClean="0"/>
              <a:t>information. </a:t>
            </a:r>
            <a:r>
              <a:rPr lang="en-US" sz="2400" dirty="0"/>
              <a:t>Today, </a:t>
            </a:r>
            <a:r>
              <a:rPr lang="en-US" sz="2400" dirty="0" smtClean="0"/>
              <a:t>more people </a:t>
            </a:r>
            <a:r>
              <a:rPr lang="en-US" sz="2400" dirty="0"/>
              <a:t>are aware of cookies and use tools </a:t>
            </a:r>
            <a:r>
              <a:rPr lang="en-US" sz="2400" dirty="0" smtClean="0"/>
              <a:t>to prevent </a:t>
            </a:r>
            <a:r>
              <a:rPr lang="en-US" sz="2400" dirty="0"/>
              <a:t>or delete </a:t>
            </a:r>
            <a:r>
              <a:rPr lang="en-US" sz="2400" dirty="0" smtClean="0"/>
              <a:t>them.</a:t>
            </a:r>
            <a:endParaRPr lang="en-US" sz="2400" dirty="0"/>
          </a:p>
          <a:p>
            <a:pPr algn="just">
              <a:lnSpc>
                <a:spcPct val="170000"/>
              </a:lnSpc>
            </a:pPr>
            <a:endParaRPr lang="en-US" sz="2400" dirty="0" smtClean="0"/>
          </a:p>
          <a:p>
            <a:pPr>
              <a:lnSpc>
                <a:spcPct val="90000"/>
              </a:lnSpc>
            </a:pPr>
            <a:endParaRPr lang="en-US" sz="2400" dirty="0" smtClean="0"/>
          </a:p>
          <a:p>
            <a:pPr marL="0" indent="0">
              <a:lnSpc>
                <a:spcPct val="90000"/>
              </a:lnSpc>
              <a:buNone/>
            </a:pPr>
            <a:r>
              <a:rPr lang="en-US" sz="2400" dirty="0" smtClean="0"/>
              <a:t>     </a:t>
            </a:r>
          </a:p>
          <a:p>
            <a:pPr marL="0" indent="0">
              <a:lnSpc>
                <a:spcPct val="90000"/>
              </a:lnSpc>
              <a:buNone/>
            </a:pPr>
            <a:r>
              <a:rPr lang="en-US" sz="2400" dirty="0"/>
              <a:t>	</a:t>
            </a:r>
            <a:endParaRPr lang="en-US" sz="2400" dirty="0" smtClean="0"/>
          </a:p>
          <a:p>
            <a:pPr marL="0" indent="0">
              <a:lnSpc>
                <a:spcPct val="90000"/>
              </a:lnSpc>
              <a:buNone/>
            </a:pPr>
            <a:r>
              <a:rPr lang="en-US" sz="2400" dirty="0"/>
              <a:t> </a:t>
            </a:r>
            <a:r>
              <a:rPr lang="en-US" sz="2400" dirty="0" smtClean="0"/>
              <a:t>         </a:t>
            </a:r>
            <a:endParaRPr lang="en-US" sz="2400" dirty="0"/>
          </a:p>
          <a:p>
            <a:pPr marL="0" indent="0">
              <a:lnSpc>
                <a:spcPct val="90000"/>
              </a:lnSpc>
              <a:buNone/>
            </a:pPr>
            <a:endParaRPr lang="en-US" sz="2400" dirty="0"/>
          </a:p>
        </p:txBody>
      </p:sp>
    </p:spTree>
    <p:extLst>
      <p:ext uri="{BB962C8B-B14F-4D97-AF65-F5344CB8AC3E}">
        <p14:creationId xmlns:p14="http://schemas.microsoft.com/office/powerpoint/2010/main" val="246936067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Personalization software </a:t>
            </a:r>
            <a:endParaRPr lang="en-US" dirty="0"/>
          </a:p>
        </p:txBody>
      </p:sp>
      <p:sp>
        <p:nvSpPr>
          <p:cNvPr id="3" name="Content Placeholder 2"/>
          <p:cNvSpPr>
            <a:spLocks noGrp="1"/>
          </p:cNvSpPr>
          <p:nvPr>
            <p:ph idx="1"/>
          </p:nvPr>
        </p:nvSpPr>
        <p:spPr/>
        <p:txBody>
          <a:bodyPr/>
          <a:lstStyle/>
          <a:p>
            <a:r>
              <a:rPr lang="en-US" dirty="0" smtClean="0"/>
              <a:t>Rule based personalization software</a:t>
            </a:r>
          </a:p>
          <a:p>
            <a:r>
              <a:rPr lang="en-US" dirty="0" smtClean="0"/>
              <a:t>Collaborative filtering</a:t>
            </a:r>
          </a:p>
          <a:p>
            <a:r>
              <a:rPr lang="en-US" dirty="0" smtClean="0"/>
              <a:t>Demographic  filtering </a:t>
            </a:r>
          </a:p>
          <a:p>
            <a:r>
              <a:rPr lang="en-US" dirty="0" smtClean="0"/>
              <a:t>Contextual commerce </a:t>
            </a:r>
          </a:p>
        </p:txBody>
      </p:sp>
    </p:spTree>
    <p:extLst>
      <p:ext uri="{BB962C8B-B14F-4D97-AF65-F5344CB8AC3E}">
        <p14:creationId xmlns:p14="http://schemas.microsoft.com/office/powerpoint/2010/main" val="2082907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p:txBody>
          <a:bodyPr>
            <a:normAutofit/>
          </a:bodyPr>
          <a:lstStyle/>
          <a:p>
            <a:r>
              <a:rPr lang="en-US" b="1" i="1" dirty="0" smtClean="0"/>
              <a:t>2. Secondary </a:t>
            </a:r>
            <a:r>
              <a:rPr lang="en-US" b="1" i="1" dirty="0"/>
              <a:t>use</a:t>
            </a:r>
            <a:r>
              <a:rPr lang="en-US" dirty="0"/>
              <a:t> </a:t>
            </a:r>
          </a:p>
        </p:txBody>
      </p:sp>
      <p:sp>
        <p:nvSpPr>
          <p:cNvPr id="43013" name="Rectangle 5"/>
          <p:cNvSpPr>
            <a:spLocks noGrp="1" noChangeArrowheads="1"/>
          </p:cNvSpPr>
          <p:nvPr>
            <p:ph type="body" idx="1"/>
          </p:nvPr>
        </p:nvSpPr>
        <p:spPr/>
        <p:txBody>
          <a:bodyPr>
            <a:normAutofit/>
          </a:bodyPr>
          <a:lstStyle/>
          <a:p>
            <a:pPr algn="just">
              <a:lnSpc>
                <a:spcPct val="90000"/>
              </a:lnSpc>
            </a:pPr>
            <a:r>
              <a:rPr lang="en-US" dirty="0" smtClean="0"/>
              <a:t>use of personal information for a purpose other than the one it was provided for </a:t>
            </a:r>
          </a:p>
          <a:p>
            <a:pPr algn="just">
              <a:lnSpc>
                <a:spcPct val="90000"/>
              </a:lnSpc>
            </a:pPr>
            <a:r>
              <a:rPr lang="en-US" dirty="0"/>
              <a:t>Examples include sale of consumer information to marketers </a:t>
            </a:r>
            <a:r>
              <a:rPr lang="en-US" dirty="0" smtClean="0"/>
              <a:t>or other businesses</a:t>
            </a:r>
            <a:r>
              <a:rPr lang="en-US" dirty="0"/>
              <a:t>.</a:t>
            </a:r>
            <a:endParaRPr lang="en-US" dirty="0" smtClean="0"/>
          </a:p>
          <a:p>
            <a:pPr>
              <a:lnSpc>
                <a:spcPct val="90000"/>
              </a:lnSpc>
            </a:pPr>
            <a:endParaRPr lang="en-US" dirty="0" smtClean="0"/>
          </a:p>
          <a:p>
            <a:pPr>
              <a:lnSpc>
                <a:spcPct val="90000"/>
              </a:lnSpc>
            </a:pPr>
            <a:endParaRPr lang="en-US" sz="2400" dirty="0" smtClean="0"/>
          </a:p>
          <a:p>
            <a:pPr>
              <a:lnSpc>
                <a:spcPct val="90000"/>
              </a:lnSpc>
            </a:pPr>
            <a:endParaRPr lang="en-US" dirty="0"/>
          </a:p>
        </p:txBody>
      </p:sp>
    </p:spTree>
    <p:extLst>
      <p:ext uri="{BB962C8B-B14F-4D97-AF65-F5344CB8AC3E}">
        <p14:creationId xmlns:p14="http://schemas.microsoft.com/office/powerpoint/2010/main" val="40034404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4"/>
          <p:cNvSpPr>
            <a:spLocks noGrp="1" noChangeArrowheads="1"/>
          </p:cNvSpPr>
          <p:nvPr>
            <p:ph type="title"/>
          </p:nvPr>
        </p:nvSpPr>
        <p:spPr/>
        <p:txBody>
          <a:bodyPr>
            <a:normAutofit/>
          </a:bodyPr>
          <a:lstStyle/>
          <a:p>
            <a:r>
              <a:rPr lang="en-US" dirty="0" smtClean="0"/>
              <a:t>Data Mining, Matching &amp; Profiling</a:t>
            </a:r>
            <a:endParaRPr lang="en-US" dirty="0"/>
          </a:p>
        </p:txBody>
      </p:sp>
      <p:sp>
        <p:nvSpPr>
          <p:cNvPr id="44037" name="Rectangle 5"/>
          <p:cNvSpPr>
            <a:spLocks noGrp="1" noChangeArrowheads="1"/>
          </p:cNvSpPr>
          <p:nvPr>
            <p:ph type="body" idx="1"/>
          </p:nvPr>
        </p:nvSpPr>
        <p:spPr>
          <a:xfrm>
            <a:off x="914400" y="2286000"/>
            <a:ext cx="7200900" cy="3581400"/>
          </a:xfrm>
        </p:spPr>
        <p:txBody>
          <a:bodyPr/>
          <a:lstStyle/>
          <a:p>
            <a:pPr>
              <a:lnSpc>
                <a:spcPct val="90000"/>
              </a:lnSpc>
            </a:pPr>
            <a:r>
              <a:rPr lang="en-US" b="1" i="1" dirty="0" smtClean="0"/>
              <a:t>Data </a:t>
            </a:r>
            <a:r>
              <a:rPr lang="en-US" b="1" i="1" dirty="0"/>
              <a:t>mining</a:t>
            </a:r>
            <a:r>
              <a:rPr lang="en-US" dirty="0"/>
              <a:t> - searching and analyzing masses of data to find patterns and develop new information or knowledge</a:t>
            </a:r>
          </a:p>
          <a:p>
            <a:pPr>
              <a:lnSpc>
                <a:spcPct val="90000"/>
              </a:lnSpc>
            </a:pPr>
            <a:r>
              <a:rPr lang="en-US" b="1" i="1" dirty="0"/>
              <a:t>Computer matching</a:t>
            </a:r>
            <a:r>
              <a:rPr lang="en-US" dirty="0"/>
              <a:t> - combining and comparing information from different databases (using social security number, for example, to match records</a:t>
            </a:r>
            <a:r>
              <a:rPr lang="en-US" dirty="0" smtClean="0"/>
              <a:t>)</a:t>
            </a:r>
          </a:p>
          <a:p>
            <a:pPr>
              <a:lnSpc>
                <a:spcPct val="90000"/>
              </a:lnSpc>
            </a:pPr>
            <a:r>
              <a:rPr lang="en-US" b="1" i="1" dirty="0"/>
              <a:t>Computer profiling</a:t>
            </a:r>
            <a:r>
              <a:rPr lang="en-US" dirty="0"/>
              <a:t> - analyzing data in computer files to determine characteristics of people most likely to engage in certain </a:t>
            </a:r>
            <a:r>
              <a:rPr lang="en-US" dirty="0" smtClean="0"/>
              <a:t>behavior </a:t>
            </a:r>
            <a:endParaRPr lang="en-US" dirty="0"/>
          </a:p>
          <a:p>
            <a:pPr>
              <a:lnSpc>
                <a:spcPct val="90000"/>
              </a:lnSpc>
            </a:pPr>
            <a:endParaRPr lang="en-US" dirty="0"/>
          </a:p>
        </p:txBody>
      </p:sp>
    </p:spTree>
    <p:extLst>
      <p:ext uri="{BB962C8B-B14F-4D97-AF65-F5344CB8AC3E}">
        <p14:creationId xmlns:p14="http://schemas.microsoft.com/office/powerpoint/2010/main" val="4260001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dirty="0" smtClean="0"/>
              <a:t>3. Identity Theft</a:t>
            </a:r>
          </a:p>
        </p:txBody>
      </p:sp>
      <p:sp>
        <p:nvSpPr>
          <p:cNvPr id="37891" name="Rectangle 3"/>
          <p:cNvSpPr>
            <a:spLocks noGrp="1" noChangeArrowheads="1"/>
          </p:cNvSpPr>
          <p:nvPr>
            <p:ph type="body" idx="1"/>
          </p:nvPr>
        </p:nvSpPr>
        <p:spPr/>
        <p:txBody>
          <a:bodyPr/>
          <a:lstStyle/>
          <a:p>
            <a:pPr eaLnBrk="1" hangingPunct="1"/>
            <a:r>
              <a:rPr lang="en-US" altLang="en-US" dirty="0" smtClean="0"/>
              <a:t>Theft of key pieces of personal information to impersonate a person, including:</a:t>
            </a:r>
          </a:p>
          <a:p>
            <a:pPr lvl="1" eaLnBrk="1" hangingPunct="1"/>
            <a:r>
              <a:rPr lang="en-US" altLang="en-US" dirty="0" smtClean="0"/>
              <a:t>Name</a:t>
            </a:r>
          </a:p>
          <a:p>
            <a:pPr lvl="1" eaLnBrk="1" hangingPunct="1"/>
            <a:r>
              <a:rPr lang="en-US" altLang="en-US" dirty="0" smtClean="0"/>
              <a:t>Address</a:t>
            </a:r>
          </a:p>
          <a:p>
            <a:pPr lvl="1" eaLnBrk="1" hangingPunct="1"/>
            <a:r>
              <a:rPr lang="en-US" altLang="en-US" dirty="0" smtClean="0"/>
              <a:t>Date of birth</a:t>
            </a:r>
          </a:p>
          <a:p>
            <a:pPr lvl="1" eaLnBrk="1" hangingPunct="1"/>
            <a:r>
              <a:rPr lang="en-US" altLang="en-US" dirty="0" smtClean="0"/>
              <a:t>Social Security number</a:t>
            </a:r>
          </a:p>
          <a:p>
            <a:pPr lvl="1" eaLnBrk="1" hangingPunct="1"/>
            <a:r>
              <a:rPr lang="en-US" altLang="en-US" dirty="0" smtClean="0"/>
              <a:t>Passport number</a:t>
            </a:r>
          </a:p>
          <a:p>
            <a:pPr lvl="1" eaLnBrk="1" hangingPunct="1"/>
            <a:r>
              <a:rPr lang="en-US" altLang="en-US" dirty="0" smtClean="0"/>
              <a:t>Driver’s license number</a:t>
            </a:r>
          </a:p>
          <a:p>
            <a:pPr lvl="1" eaLnBrk="1" hangingPunct="1"/>
            <a:r>
              <a:rPr lang="en-US" altLang="en-US" dirty="0" smtClean="0"/>
              <a:t>Mother’s maiden name</a:t>
            </a:r>
          </a:p>
        </p:txBody>
      </p:sp>
    </p:spTree>
    <p:extLst>
      <p:ext uri="{BB962C8B-B14F-4D97-AF65-F5344CB8AC3E}">
        <p14:creationId xmlns:p14="http://schemas.microsoft.com/office/powerpoint/2010/main" val="3747350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t>Identity Theft (cont’d.)</a:t>
            </a:r>
          </a:p>
        </p:txBody>
      </p:sp>
      <p:sp>
        <p:nvSpPr>
          <p:cNvPr id="38915" name="Rectangle 3"/>
          <p:cNvSpPr>
            <a:spLocks noGrp="1" noChangeArrowheads="1"/>
          </p:cNvSpPr>
          <p:nvPr>
            <p:ph type="body" idx="1"/>
          </p:nvPr>
        </p:nvSpPr>
        <p:spPr/>
        <p:txBody>
          <a:bodyPr/>
          <a:lstStyle/>
          <a:p>
            <a:pPr eaLnBrk="1" hangingPunct="1"/>
            <a:r>
              <a:rPr lang="en-US" altLang="en-US" dirty="0" smtClean="0"/>
              <a:t>Four approaches used by identity thieves</a:t>
            </a:r>
          </a:p>
          <a:p>
            <a:pPr lvl="1" eaLnBrk="1" hangingPunct="1"/>
            <a:r>
              <a:rPr lang="en-US" altLang="en-US" dirty="0" smtClean="0"/>
              <a:t>Create a data breach (caused by hacking, theft.)</a:t>
            </a:r>
          </a:p>
          <a:p>
            <a:pPr lvl="1" eaLnBrk="1" hangingPunct="1"/>
            <a:r>
              <a:rPr lang="en-US" altLang="en-US" dirty="0" smtClean="0"/>
              <a:t>Purchase personal data</a:t>
            </a:r>
          </a:p>
          <a:p>
            <a:pPr lvl="1" eaLnBrk="1" hangingPunct="1"/>
            <a:r>
              <a:rPr lang="en-US" altLang="en-US" dirty="0" smtClean="0"/>
              <a:t>Use phishing to entice users to give up data</a:t>
            </a:r>
          </a:p>
          <a:p>
            <a:pPr lvl="1" eaLnBrk="1" hangingPunct="1"/>
            <a:r>
              <a:rPr lang="en-US" altLang="en-US" dirty="0" smtClean="0"/>
              <a:t>Install spyware to capture keystrokes of victims</a:t>
            </a:r>
          </a:p>
        </p:txBody>
      </p:sp>
    </p:spTree>
    <p:extLst>
      <p:ext uri="{BB962C8B-B14F-4D97-AF65-F5344CB8AC3E}">
        <p14:creationId xmlns:p14="http://schemas.microsoft.com/office/powerpoint/2010/main" val="3544407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a:bodyPr>
          <a:lstStyle/>
          <a:p>
            <a:r>
              <a:rPr lang="en-US"/>
              <a:t>Privacy and Computer Technology (cont.)</a:t>
            </a:r>
          </a:p>
        </p:txBody>
      </p:sp>
      <p:sp>
        <p:nvSpPr>
          <p:cNvPr id="46083" name="Rectangle 3"/>
          <p:cNvSpPr>
            <a:spLocks noGrp="1" noChangeArrowheads="1"/>
          </p:cNvSpPr>
          <p:nvPr>
            <p:ph type="body" idx="1"/>
          </p:nvPr>
        </p:nvSpPr>
        <p:spPr/>
        <p:txBody>
          <a:bodyPr/>
          <a:lstStyle/>
          <a:p>
            <a:pPr>
              <a:buFontTx/>
              <a:buNone/>
            </a:pPr>
            <a:r>
              <a:rPr lang="en-US" dirty="0"/>
              <a:t>Principles for Data Collection and Use:</a:t>
            </a:r>
          </a:p>
          <a:p>
            <a:r>
              <a:rPr lang="en-US" dirty="0"/>
              <a:t>Informed consent</a:t>
            </a:r>
          </a:p>
          <a:p>
            <a:r>
              <a:rPr lang="en-US" dirty="0"/>
              <a:t>Opt-in and opt-out policies</a:t>
            </a:r>
          </a:p>
          <a:p>
            <a:r>
              <a:rPr lang="en-US" dirty="0"/>
              <a:t>Fair Information Principles (or </a:t>
            </a:r>
            <a:r>
              <a:rPr lang="en-US" dirty="0" smtClean="0"/>
              <a:t>Practices)</a:t>
            </a:r>
            <a:endParaRPr lang="en-US" dirty="0"/>
          </a:p>
        </p:txBody>
      </p:sp>
    </p:spTree>
    <p:extLst>
      <p:ext uri="{BB962C8B-B14F-4D97-AF65-F5344CB8AC3E}">
        <p14:creationId xmlns:p14="http://schemas.microsoft.com/office/powerpoint/2010/main" val="105618948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Grp="1" noChangeArrowheads="1"/>
          </p:cNvSpPr>
          <p:nvPr>
            <p:ph type="title"/>
          </p:nvPr>
        </p:nvSpPr>
        <p:spPr/>
        <p:txBody>
          <a:bodyPr>
            <a:normAutofit/>
          </a:bodyPr>
          <a:lstStyle/>
          <a:p>
            <a:r>
              <a:rPr lang="en-US" b="1" dirty="0" smtClean="0"/>
              <a:t>Informed consent</a:t>
            </a:r>
            <a:endParaRPr lang="en-US" b="1" dirty="0"/>
          </a:p>
        </p:txBody>
      </p:sp>
      <p:sp>
        <p:nvSpPr>
          <p:cNvPr id="43013" name="Rectangle 5"/>
          <p:cNvSpPr>
            <a:spLocks noGrp="1" noChangeArrowheads="1"/>
          </p:cNvSpPr>
          <p:nvPr>
            <p:ph type="body" idx="1"/>
          </p:nvPr>
        </p:nvSpPr>
        <p:spPr>
          <a:xfrm>
            <a:off x="514350" y="2057400"/>
            <a:ext cx="8229600" cy="4525963"/>
          </a:xfrm>
        </p:spPr>
        <p:txBody>
          <a:bodyPr>
            <a:noAutofit/>
          </a:bodyPr>
          <a:lstStyle/>
          <a:p>
            <a:pPr algn="just">
              <a:lnSpc>
                <a:spcPct val="170000"/>
              </a:lnSpc>
            </a:pPr>
            <a:r>
              <a:rPr lang="en-US" sz="1800" dirty="0" smtClean="0"/>
              <a:t>There is an extra ordinary range to amount of privacy different people want. Some blog about their married life and affairs however others do not leave without a record of their purchase. They get angry if anyone collects information about them. </a:t>
            </a:r>
          </a:p>
          <a:p>
            <a:pPr algn="just">
              <a:lnSpc>
                <a:spcPct val="170000"/>
              </a:lnSpc>
            </a:pPr>
            <a:r>
              <a:rPr lang="en-US" sz="1800" dirty="0" smtClean="0"/>
              <a:t>If any company collects data about individual and let them know the use policies person can decide according to his/her own values. </a:t>
            </a:r>
          </a:p>
          <a:p>
            <a:endParaRPr lang="en-US" sz="300" dirty="0" smtClean="0"/>
          </a:p>
          <a:p>
            <a:pPr>
              <a:lnSpc>
                <a:spcPct val="90000"/>
              </a:lnSpc>
            </a:pPr>
            <a:endParaRPr lang="en-US" sz="300" dirty="0" smtClean="0"/>
          </a:p>
          <a:p>
            <a:pPr marL="0" indent="0">
              <a:lnSpc>
                <a:spcPct val="90000"/>
              </a:lnSpc>
              <a:buNone/>
            </a:pPr>
            <a:r>
              <a:rPr lang="en-US" sz="300" dirty="0" smtClean="0"/>
              <a:t>     </a:t>
            </a:r>
          </a:p>
          <a:p>
            <a:pPr marL="0" indent="0">
              <a:lnSpc>
                <a:spcPct val="90000"/>
              </a:lnSpc>
              <a:buNone/>
            </a:pPr>
            <a:r>
              <a:rPr lang="en-US" sz="300" dirty="0"/>
              <a:t>	</a:t>
            </a:r>
            <a:endParaRPr lang="en-US" sz="300" dirty="0" smtClean="0"/>
          </a:p>
          <a:p>
            <a:pPr marL="0" indent="0">
              <a:lnSpc>
                <a:spcPct val="90000"/>
              </a:lnSpc>
              <a:buNone/>
            </a:pPr>
            <a:r>
              <a:rPr lang="en-US" sz="300" dirty="0"/>
              <a:t> </a:t>
            </a:r>
            <a:r>
              <a:rPr lang="en-US" sz="300" dirty="0" smtClean="0"/>
              <a:t>         </a:t>
            </a:r>
            <a:endParaRPr lang="en-US" sz="300" dirty="0"/>
          </a:p>
          <a:p>
            <a:pPr marL="0" indent="0">
              <a:lnSpc>
                <a:spcPct val="90000"/>
              </a:lnSpc>
              <a:buNone/>
            </a:pPr>
            <a:endParaRPr lang="en-US" sz="300" dirty="0"/>
          </a:p>
        </p:txBody>
      </p:sp>
    </p:spTree>
    <p:extLst>
      <p:ext uri="{BB962C8B-B14F-4D97-AF65-F5344CB8AC3E}">
        <p14:creationId xmlns:p14="http://schemas.microsoft.com/office/powerpoint/2010/main" val="16945782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a:bodyPr>
          <a:lstStyle/>
          <a:p>
            <a:r>
              <a:rPr lang="en-US" b="1" dirty="0"/>
              <a:t>Opt in- opt out policies</a:t>
            </a:r>
          </a:p>
        </p:txBody>
      </p:sp>
      <p:sp>
        <p:nvSpPr>
          <p:cNvPr id="46083" name="Rectangle 3"/>
          <p:cNvSpPr>
            <a:spLocks noGrp="1" noChangeArrowheads="1"/>
          </p:cNvSpPr>
          <p:nvPr>
            <p:ph type="body" idx="1"/>
          </p:nvPr>
        </p:nvSpPr>
        <p:spPr/>
        <p:txBody>
          <a:bodyPr>
            <a:normAutofit/>
          </a:bodyPr>
          <a:lstStyle/>
          <a:p>
            <a:r>
              <a:rPr lang="en-US" dirty="0" smtClean="0"/>
              <a:t>Under </a:t>
            </a:r>
            <a:r>
              <a:rPr lang="en-US" dirty="0"/>
              <a:t>an opt-out policy, one must check or click a </a:t>
            </a:r>
            <a:r>
              <a:rPr lang="en-US" dirty="0" smtClean="0"/>
              <a:t>box on </a:t>
            </a:r>
            <a:r>
              <a:rPr lang="en-US" dirty="0"/>
              <a:t>a contract, membership form, or agreement or contact the organization to request </a:t>
            </a:r>
            <a:r>
              <a:rPr lang="en-US" dirty="0" smtClean="0"/>
              <a:t>that they </a:t>
            </a:r>
            <a:r>
              <a:rPr lang="en-US" dirty="0"/>
              <a:t>not use one’s information in a particular way. If the person does not take action, </a:t>
            </a:r>
            <a:r>
              <a:rPr lang="en-US" dirty="0" smtClean="0"/>
              <a:t>the presumption </a:t>
            </a:r>
            <a:r>
              <a:rPr lang="en-US" dirty="0"/>
              <a:t>is that the organization may use the information</a:t>
            </a:r>
            <a:r>
              <a:rPr lang="en-US" dirty="0" smtClean="0"/>
              <a:t>.</a:t>
            </a:r>
          </a:p>
          <a:p>
            <a:pPr algn="just"/>
            <a:r>
              <a:rPr lang="en-US" dirty="0" smtClean="0"/>
              <a:t> Under </a:t>
            </a:r>
            <a:r>
              <a:rPr lang="en-US" dirty="0"/>
              <a:t>an opt-in policy, </a:t>
            </a:r>
            <a:r>
              <a:rPr lang="en-US" dirty="0" smtClean="0"/>
              <a:t>the collector </a:t>
            </a:r>
            <a:r>
              <a:rPr lang="en-US" dirty="0"/>
              <a:t>of the information may not use it for secondary uses unless the person </a:t>
            </a:r>
            <a:r>
              <a:rPr lang="en-US" dirty="0" smtClean="0"/>
              <a:t>explicitly checks </a:t>
            </a:r>
            <a:r>
              <a:rPr lang="en-US" dirty="0"/>
              <a:t>or clicks a box or signs a form permitting the use</a:t>
            </a:r>
            <a:r>
              <a:rPr lang="en-US" dirty="0" smtClean="0"/>
              <a:t>.</a:t>
            </a:r>
            <a:endParaRPr lang="en-US" dirty="0"/>
          </a:p>
        </p:txBody>
      </p:sp>
    </p:spTree>
    <p:extLst>
      <p:ext uri="{BB962C8B-B14F-4D97-AF65-F5344CB8AC3E}">
        <p14:creationId xmlns:p14="http://schemas.microsoft.com/office/powerpoint/2010/main" val="8178029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a:bodyPr>
          <a:lstStyle/>
          <a:p>
            <a:r>
              <a:rPr lang="en-US" b="1" i="1" dirty="0"/>
              <a:t>Fair Information Principles (or Practices)</a:t>
            </a:r>
          </a:p>
        </p:txBody>
      </p:sp>
      <p:sp>
        <p:nvSpPr>
          <p:cNvPr id="46083" name="Rectangle 3"/>
          <p:cNvSpPr>
            <a:spLocks noGrp="1" noChangeArrowheads="1"/>
          </p:cNvSpPr>
          <p:nvPr>
            <p:ph type="body" idx="1"/>
          </p:nvPr>
        </p:nvSpPr>
        <p:spPr/>
        <p:txBody>
          <a:bodyPr>
            <a:normAutofit/>
          </a:bodyPr>
          <a:lstStyle/>
          <a:p>
            <a:pPr algn="just"/>
            <a:r>
              <a:rPr lang="en-US" dirty="0" smtClean="0"/>
              <a:t>Inform </a:t>
            </a:r>
            <a:r>
              <a:rPr lang="en-US" dirty="0"/>
              <a:t>people when you collect information about them, what you collect, and how </a:t>
            </a:r>
            <a:r>
              <a:rPr lang="en-US" dirty="0" smtClean="0"/>
              <a:t>you use it. Some important points are :-</a:t>
            </a:r>
          </a:p>
          <a:p>
            <a:r>
              <a:rPr lang="en-US" dirty="0"/>
              <a:t> Collect only the data needed</a:t>
            </a:r>
            <a:r>
              <a:rPr lang="en-US" dirty="0" smtClean="0"/>
              <a:t>.</a:t>
            </a:r>
          </a:p>
          <a:p>
            <a:pPr algn="just"/>
            <a:r>
              <a:rPr lang="en-US" dirty="0"/>
              <a:t>Offer a way for people to opt out from mailing lists, advertising, and other </a:t>
            </a:r>
            <a:r>
              <a:rPr lang="en-US" dirty="0" smtClean="0"/>
              <a:t>secondary uses</a:t>
            </a:r>
            <a:r>
              <a:rPr lang="en-US" dirty="0"/>
              <a:t>. Offer a way for people to opt out from features and services that expose </a:t>
            </a:r>
            <a:r>
              <a:rPr lang="en-US" dirty="0" smtClean="0"/>
              <a:t>personal information</a:t>
            </a:r>
            <a:r>
              <a:rPr lang="en-US" dirty="0"/>
              <a:t>.</a:t>
            </a:r>
          </a:p>
          <a:p>
            <a:endParaRPr lang="en-US" dirty="0" smtClean="0"/>
          </a:p>
          <a:p>
            <a:endParaRPr lang="en-US" dirty="0"/>
          </a:p>
          <a:p>
            <a:endParaRPr lang="en-US" dirty="0"/>
          </a:p>
        </p:txBody>
      </p:sp>
    </p:spTree>
    <p:extLst>
      <p:ext uri="{BB962C8B-B14F-4D97-AF65-F5344CB8AC3E}">
        <p14:creationId xmlns:p14="http://schemas.microsoft.com/office/powerpoint/2010/main" val="33418228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a:bodyPr>
          <a:lstStyle/>
          <a:p>
            <a:r>
              <a:rPr lang="en-US" b="1" i="1" dirty="0"/>
              <a:t>Fair Information Principles (or Practices)</a:t>
            </a:r>
          </a:p>
        </p:txBody>
      </p:sp>
      <p:sp>
        <p:nvSpPr>
          <p:cNvPr id="46083" name="Rectangle 3"/>
          <p:cNvSpPr>
            <a:spLocks noGrp="1" noChangeArrowheads="1"/>
          </p:cNvSpPr>
          <p:nvPr>
            <p:ph type="body" idx="1"/>
          </p:nvPr>
        </p:nvSpPr>
        <p:spPr>
          <a:xfrm>
            <a:off x="514350" y="2202407"/>
            <a:ext cx="8229600" cy="4525963"/>
          </a:xfrm>
        </p:spPr>
        <p:txBody>
          <a:bodyPr>
            <a:normAutofit/>
          </a:bodyPr>
          <a:lstStyle/>
          <a:p>
            <a:r>
              <a:rPr lang="en-US" dirty="0" smtClean="0"/>
              <a:t>Keep </a:t>
            </a:r>
            <a:r>
              <a:rPr lang="en-US" dirty="0"/>
              <a:t>data only as long as needed</a:t>
            </a:r>
            <a:r>
              <a:rPr lang="en-US" dirty="0" smtClean="0"/>
              <a:t>.</a:t>
            </a:r>
          </a:p>
          <a:p>
            <a:pPr algn="just"/>
            <a:r>
              <a:rPr lang="en-US" dirty="0" smtClean="0"/>
              <a:t> </a:t>
            </a:r>
            <a:r>
              <a:rPr lang="en-US" dirty="0"/>
              <a:t>Maintain accuracy of data. Where </a:t>
            </a:r>
            <a:r>
              <a:rPr lang="en-US" dirty="0" smtClean="0"/>
              <a:t>appropriate </a:t>
            </a:r>
            <a:r>
              <a:rPr lang="en-US" dirty="0"/>
              <a:t>and reasonable, provide a way for </a:t>
            </a:r>
            <a:r>
              <a:rPr lang="en-US" dirty="0" smtClean="0"/>
              <a:t>people to </a:t>
            </a:r>
            <a:r>
              <a:rPr lang="en-US" dirty="0"/>
              <a:t>access and correct data stored about them</a:t>
            </a:r>
            <a:r>
              <a:rPr lang="en-US" dirty="0" smtClean="0"/>
              <a:t>.</a:t>
            </a:r>
            <a:r>
              <a:rPr lang="en-US" dirty="0"/>
              <a:t> </a:t>
            </a:r>
            <a:endParaRPr lang="en-US" dirty="0" smtClean="0"/>
          </a:p>
          <a:p>
            <a:pPr algn="just"/>
            <a:r>
              <a:rPr lang="en-US" dirty="0" smtClean="0"/>
              <a:t>Protect </a:t>
            </a:r>
            <a:r>
              <a:rPr lang="en-US" dirty="0"/>
              <a:t>security of data (from theft and from accidental leaks). Provide stronger </a:t>
            </a:r>
            <a:r>
              <a:rPr lang="en-US" dirty="0" smtClean="0"/>
              <a:t>protection for </a:t>
            </a:r>
            <a:r>
              <a:rPr lang="en-US" dirty="0"/>
              <a:t>sensitive data</a:t>
            </a:r>
            <a:r>
              <a:rPr lang="en-US" dirty="0" smtClean="0"/>
              <a:t>.</a:t>
            </a:r>
          </a:p>
          <a:p>
            <a:pPr algn="just"/>
            <a:r>
              <a:rPr lang="en-US" dirty="0"/>
              <a:t> Develop policies for responding to law enforcement requests for data.</a:t>
            </a:r>
          </a:p>
          <a:p>
            <a:endParaRPr lang="en-US" dirty="0" smtClean="0"/>
          </a:p>
          <a:p>
            <a:endParaRPr lang="en-US" dirty="0"/>
          </a:p>
          <a:p>
            <a:endParaRPr lang="en-US" dirty="0"/>
          </a:p>
        </p:txBody>
      </p:sp>
    </p:spTree>
    <p:extLst>
      <p:ext uri="{BB962C8B-B14F-4D97-AF65-F5344CB8AC3E}">
        <p14:creationId xmlns:p14="http://schemas.microsoft.com/office/powerpoint/2010/main" val="38109296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a:bodyPr>
          <a:lstStyle/>
          <a:p>
            <a:r>
              <a:rPr lang="en-US" b="1" i="1" dirty="0"/>
              <a:t>Fair Information Principles (or Practices)</a:t>
            </a:r>
            <a:endParaRPr lang="en-US" dirty="0"/>
          </a:p>
        </p:txBody>
      </p:sp>
      <p:sp>
        <p:nvSpPr>
          <p:cNvPr id="46083" name="Rectangle 3"/>
          <p:cNvSpPr>
            <a:spLocks noGrp="1" noChangeArrowheads="1"/>
          </p:cNvSpPr>
          <p:nvPr>
            <p:ph type="body" idx="1"/>
          </p:nvPr>
        </p:nvSpPr>
        <p:spPr>
          <a:xfrm>
            <a:off x="514350" y="1981200"/>
            <a:ext cx="8229600" cy="4525963"/>
          </a:xfrm>
        </p:spPr>
        <p:txBody>
          <a:bodyPr>
            <a:normAutofit fontScale="62500" lnSpcReduction="20000"/>
          </a:bodyPr>
          <a:lstStyle/>
          <a:p>
            <a:pPr algn="just"/>
            <a:r>
              <a:rPr lang="en-US" sz="3800" dirty="0"/>
              <a:t>It can be difficult to apply the fair information principles to some new </a:t>
            </a:r>
            <a:r>
              <a:rPr lang="en-US" sz="3800" dirty="0" smtClean="0"/>
              <a:t>technologies and applications</a:t>
            </a:r>
          </a:p>
          <a:p>
            <a:pPr algn="just"/>
            <a:r>
              <a:rPr lang="en-US" sz="3800" dirty="0" smtClean="0"/>
              <a:t>the increase </a:t>
            </a:r>
            <a:r>
              <a:rPr lang="en-US" sz="3800" dirty="0"/>
              <a:t>of cameras in public places </a:t>
            </a:r>
            <a:endParaRPr lang="en-US" sz="3800" dirty="0" smtClean="0"/>
          </a:p>
          <a:p>
            <a:pPr algn="just"/>
            <a:r>
              <a:rPr lang="en-US" sz="3800" dirty="0" smtClean="0"/>
              <a:t>the </a:t>
            </a:r>
            <a:r>
              <a:rPr lang="en-US" sz="3800" dirty="0"/>
              <a:t>enormous amount of personal information people share in social networks</a:t>
            </a:r>
            <a:r>
              <a:rPr lang="en-US" sz="3800" dirty="0" smtClean="0"/>
              <a:t>, and the  </a:t>
            </a:r>
            <a:r>
              <a:rPr lang="en-US" sz="3800" dirty="0"/>
              <a:t>power of smartphones. </a:t>
            </a:r>
            <a:endParaRPr lang="en-US" sz="3800" dirty="0" smtClean="0"/>
          </a:p>
          <a:p>
            <a:pPr algn="just"/>
            <a:r>
              <a:rPr lang="en-US" sz="3800" dirty="0" smtClean="0"/>
              <a:t>For </a:t>
            </a:r>
            <a:r>
              <a:rPr lang="en-US" sz="3800" dirty="0"/>
              <a:t>example, when someone puts </a:t>
            </a:r>
            <a:r>
              <a:rPr lang="en-US" sz="3800" dirty="0" smtClean="0"/>
              <a:t>personal information </a:t>
            </a:r>
            <a:r>
              <a:rPr lang="en-US" sz="3800" dirty="0"/>
              <a:t>in a tweet to thousands of people, </a:t>
            </a:r>
            <a:r>
              <a:rPr lang="en-US" sz="3800" dirty="0" smtClean="0"/>
              <a:t>how do we </a:t>
            </a:r>
            <a:r>
              <a:rPr lang="en-US" sz="3800" dirty="0"/>
              <a:t>determine the purpose for </a:t>
            </a:r>
            <a:r>
              <a:rPr lang="en-US" sz="3800" dirty="0" smtClean="0"/>
              <a:t>which he </a:t>
            </a:r>
            <a:r>
              <a:rPr lang="en-US" sz="3800" dirty="0"/>
              <a:t>or she supplied the information? Can any recipient use the information in any way</a:t>
            </a:r>
            <a:r>
              <a:rPr lang="en-US" sz="3800" dirty="0" smtClean="0"/>
              <a:t>? How </a:t>
            </a:r>
            <a:r>
              <a:rPr lang="en-US" sz="3800" dirty="0"/>
              <a:t>widely distributed must information be before it is public in the sense that </a:t>
            </a:r>
            <a:r>
              <a:rPr lang="en-US" sz="3800" dirty="0" smtClean="0"/>
              <a:t>anyone can </a:t>
            </a:r>
            <a:r>
              <a:rPr lang="en-US" sz="3800" dirty="0"/>
              <a:t>see or use it? </a:t>
            </a:r>
            <a:endParaRPr lang="en-US" sz="3800" dirty="0" smtClean="0"/>
          </a:p>
          <a:p>
            <a:pPr marL="0" indent="0" algn="just">
              <a:buNone/>
            </a:pPr>
            <a:r>
              <a:rPr lang="en-US" sz="3800" dirty="0" smtClean="0"/>
              <a:t> </a:t>
            </a:r>
          </a:p>
          <a:p>
            <a:pPr algn="just"/>
            <a:endParaRPr lang="en-US" sz="3800" dirty="0" smtClean="0"/>
          </a:p>
          <a:p>
            <a:pPr marL="0" indent="0">
              <a:buNone/>
            </a:pPr>
            <a:endParaRPr lang="en-US" dirty="0"/>
          </a:p>
        </p:txBody>
      </p:sp>
    </p:spTree>
    <p:extLst>
      <p:ext uri="{BB962C8B-B14F-4D97-AF65-F5344CB8AC3E}">
        <p14:creationId xmlns:p14="http://schemas.microsoft.com/office/powerpoint/2010/main" val="324753546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a:bodyPr>
          <a:lstStyle/>
          <a:p>
            <a:r>
              <a:rPr lang="en-US" dirty="0"/>
              <a:t/>
            </a:r>
            <a:br>
              <a:rPr lang="en-US" dirty="0"/>
            </a:br>
            <a:r>
              <a:rPr lang="en-US" dirty="0"/>
              <a:t>Discussion Questions</a:t>
            </a:r>
          </a:p>
        </p:txBody>
      </p:sp>
      <p:sp>
        <p:nvSpPr>
          <p:cNvPr id="47107" name="Rectangle 3"/>
          <p:cNvSpPr>
            <a:spLocks noGrp="1" noChangeArrowheads="1"/>
          </p:cNvSpPr>
          <p:nvPr>
            <p:ph type="body" idx="1"/>
          </p:nvPr>
        </p:nvSpPr>
        <p:spPr>
          <a:xfrm>
            <a:off x="685800" y="2362200"/>
            <a:ext cx="7772400" cy="3581400"/>
          </a:xfrm>
        </p:spPr>
        <p:txBody>
          <a:bodyPr/>
          <a:lstStyle/>
          <a:p>
            <a:r>
              <a:rPr lang="en-US" dirty="0"/>
              <a:t>Have you seen opt-in and opt-out choices? Where? How were they worded?  </a:t>
            </a:r>
          </a:p>
          <a:p>
            <a:r>
              <a:rPr lang="en-US" dirty="0"/>
              <a:t>Were any of them deceptive?</a:t>
            </a:r>
          </a:p>
          <a:p>
            <a:r>
              <a:rPr lang="en-US" dirty="0"/>
              <a:t>What are some common elements of privacy policies you have read</a:t>
            </a:r>
            <a:r>
              <a:rPr lang="en-US" dirty="0" smtClean="0"/>
              <a:t>?</a:t>
            </a:r>
          </a:p>
          <a:p>
            <a:pPr marL="0" indent="0">
              <a:buNone/>
            </a:pPr>
            <a:endParaRPr lang="en-US" dirty="0"/>
          </a:p>
        </p:txBody>
      </p:sp>
    </p:spTree>
    <p:extLst>
      <p:ext uri="{BB962C8B-B14F-4D97-AF65-F5344CB8AC3E}">
        <p14:creationId xmlns:p14="http://schemas.microsoft.com/office/powerpoint/2010/main" val="972444572"/>
      </p:ext>
    </p:extLst>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Crop</Template>
  <TotalTime>224</TotalTime>
  <Words>2633</Words>
  <Application>Microsoft Office PowerPoint</Application>
  <PresentationFormat>On-screen Show (4:3)</PresentationFormat>
  <Paragraphs>189</Paragraphs>
  <Slides>34</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Calibri</vt:lpstr>
      <vt:lpstr>Franklin Gothic Book</vt:lpstr>
      <vt:lpstr>Times New Roman</vt:lpstr>
      <vt:lpstr>Crop</vt:lpstr>
      <vt:lpstr> PRIVACY </vt:lpstr>
      <vt:lpstr>Information Privacy</vt:lpstr>
      <vt:lpstr>Privacy and Computer Technology</vt:lpstr>
      <vt:lpstr>Privacy and Computer Technology</vt:lpstr>
      <vt:lpstr>Privacy threats come in several categories</vt:lpstr>
      <vt:lpstr>Privacy and Computer Technology (cont.)</vt:lpstr>
      <vt:lpstr>Government and private databases</vt:lpstr>
      <vt:lpstr>Government and private databases</vt:lpstr>
      <vt:lpstr>Sophisticated tools for surveillance and data analysis</vt:lpstr>
      <vt:lpstr>Sophisticated tools for surveillance and data analysis</vt:lpstr>
      <vt:lpstr>Vulnerability of data</vt:lpstr>
      <vt:lpstr>Stolen and Lost Data </vt:lpstr>
      <vt:lpstr>Stolen and lost data </vt:lpstr>
      <vt:lpstr>Stolen and lost data</vt:lpstr>
      <vt:lpstr>Stolen and lost data</vt:lpstr>
      <vt:lpstr>A summary of risks</vt:lpstr>
      <vt:lpstr>A summary of risks</vt:lpstr>
      <vt:lpstr>A summary of risks</vt:lpstr>
      <vt:lpstr>Key Issues of Privacy</vt:lpstr>
      <vt:lpstr>1. Invisible Information Gathering </vt:lpstr>
      <vt:lpstr>Invisible Information Gathering </vt:lpstr>
      <vt:lpstr>Invisible information gathering</vt:lpstr>
      <vt:lpstr>Personalization software </vt:lpstr>
      <vt:lpstr>2. Secondary use </vt:lpstr>
      <vt:lpstr>Data Mining, Matching &amp; Profiling</vt:lpstr>
      <vt:lpstr>3. Identity Theft</vt:lpstr>
      <vt:lpstr>Identity Theft (cont’d.)</vt:lpstr>
      <vt:lpstr>Privacy and Computer Technology (cont.)</vt:lpstr>
      <vt:lpstr>Informed consent</vt:lpstr>
      <vt:lpstr>Opt in- opt out policies</vt:lpstr>
      <vt:lpstr>Fair Information Principles (or Practices)</vt:lpstr>
      <vt:lpstr>Fair Information Principles (or Practices)</vt:lpstr>
      <vt:lpstr>Fair Information Principles (or Practices)</vt:lpstr>
      <vt:lpstr> Discussion Questions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Gift of Fire Third edition Sara Baase</dc:title>
  <dc:creator>Faculty</dc:creator>
  <cp:lastModifiedBy>nagesh.kumar</cp:lastModifiedBy>
  <cp:revision>72</cp:revision>
  <dcterms:created xsi:type="dcterms:W3CDTF">2006-08-16T00:00:00Z</dcterms:created>
  <dcterms:modified xsi:type="dcterms:W3CDTF">2019-08-06T07:45:22Z</dcterms:modified>
</cp:coreProperties>
</file>