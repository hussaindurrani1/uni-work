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257" r:id="rId3"/>
    <p:sldId id="284" r:id="rId4"/>
    <p:sldId id="285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07" r:id="rId15"/>
    <p:sldId id="287" r:id="rId16"/>
    <p:sldId id="291" r:id="rId17"/>
    <p:sldId id="292" r:id="rId18"/>
    <p:sldId id="293" r:id="rId19"/>
    <p:sldId id="294" r:id="rId20"/>
    <p:sldId id="306" r:id="rId21"/>
    <p:sldId id="295" r:id="rId22"/>
    <p:sldId id="296" r:id="rId23"/>
    <p:sldId id="297" r:id="rId24"/>
    <p:sldId id="298" r:id="rId25"/>
    <p:sldId id="300" r:id="rId26"/>
    <p:sldId id="301" r:id="rId27"/>
    <p:sldId id="302" r:id="rId28"/>
    <p:sldId id="308" r:id="rId29"/>
    <p:sldId id="309" r:id="rId30"/>
    <p:sldId id="310" r:id="rId31"/>
    <p:sldId id="311" r:id="rId32"/>
    <p:sldId id="312" r:id="rId33"/>
    <p:sldId id="313" r:id="rId34"/>
    <p:sldId id="315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82" autoAdjust="0"/>
    <p:restoredTop sz="95179" autoAdjust="0"/>
  </p:normalViewPr>
  <p:slideViewPr>
    <p:cSldViewPr>
      <p:cViewPr varScale="1">
        <p:scale>
          <a:sx n="86" d="100"/>
          <a:sy n="86" d="100"/>
        </p:scale>
        <p:origin x="109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3A343F-2F65-46C1-9371-223666C409F2}" type="datetimeFigureOut">
              <a:rPr lang="en-US" smtClean="0"/>
              <a:t>04/30/2020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8DD537-98A7-45AC-BABB-40151CDDAF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43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D537-98A7-45AC-BABB-40151CDDAFE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23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DD537-98A7-45AC-BABB-40151CDDAFE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690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04/30/2020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70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1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306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806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09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909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08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275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151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0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583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D8BD707-D9CF-40AE-B4C6-C98DA3205C09}" type="datetimeFigureOut">
              <a:rPr lang="en-US" smtClean="0"/>
              <a:pPr/>
              <a:t>04/30/2020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1076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1600200"/>
            <a:ext cx="7772400" cy="1447800"/>
          </a:xfrm>
        </p:spPr>
        <p:txBody>
          <a:bodyPr>
            <a:normAutofit fontScale="90000"/>
          </a:bodyPr>
          <a:lstStyle/>
          <a:p>
            <a:r>
              <a:rPr lang="en-US" sz="7200" dirty="0"/>
              <a:t>A Gift of Fire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 smtClean="0"/>
              <a:t>Fourth </a:t>
            </a:r>
            <a:r>
              <a:rPr lang="en-US" sz="2400" dirty="0"/>
              <a:t>edition</a:t>
            </a:r>
            <a:br>
              <a:rPr lang="en-US" sz="2400" dirty="0"/>
            </a:br>
            <a:r>
              <a:rPr lang="en-US" sz="4800" dirty="0"/>
              <a:t>Sara </a:t>
            </a:r>
            <a:r>
              <a:rPr lang="en-US" sz="4800" dirty="0" err="1"/>
              <a:t>Baase</a:t>
            </a:r>
            <a:endParaRPr lang="en-US" dirty="0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5: Crime</a:t>
            </a:r>
          </a:p>
        </p:txBody>
      </p:sp>
    </p:spTree>
    <p:extLst>
      <p:ext uri="{BB962C8B-B14F-4D97-AF65-F5344CB8AC3E}">
        <p14:creationId xmlns:p14="http://schemas.microsoft.com/office/powerpoint/2010/main" val="374258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 Will Cover</a:t>
            </a:r>
          </a:p>
        </p:txBody>
      </p:sp>
      <p:sp>
        <p:nvSpPr>
          <p:cNvPr id="2560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Hacking</a:t>
            </a:r>
          </a:p>
          <a:p>
            <a:r>
              <a:rPr lang="en-US" dirty="0"/>
              <a:t>Identity Theft and Credit Card Fraud</a:t>
            </a:r>
          </a:p>
          <a:p>
            <a:r>
              <a:rPr lang="en-US" dirty="0"/>
              <a:t>Scams and Forgery</a:t>
            </a:r>
          </a:p>
          <a:p>
            <a:r>
              <a:rPr lang="en-US" dirty="0" smtClean="0"/>
              <a:t>Laws </a:t>
            </a:r>
            <a:r>
              <a:rPr lang="en-US" dirty="0"/>
              <a:t>That Rule the Web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823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Hacking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n-US" b="1" i="1" dirty="0" smtClean="0"/>
          </a:p>
          <a:p>
            <a:pPr marL="0" indent="0" algn="just">
              <a:buNone/>
            </a:pPr>
            <a:r>
              <a:rPr lang="en-US" b="1" dirty="0" smtClean="0"/>
              <a:t>Hacking—intentional</a:t>
            </a:r>
            <a:r>
              <a:rPr lang="en-US" b="1" dirty="0"/>
              <a:t>, unauthorized access to computer systems—includes a wide range of activities from minor pranks to huge thefts and shutdowns of services on which lives and livelihoods depend.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11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Hacking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Crimes committed with computing technology are more devastating and harder </a:t>
            </a:r>
            <a:r>
              <a:rPr lang="en-US" dirty="0" smtClean="0"/>
              <a:t>to detect </a:t>
            </a:r>
            <a:r>
              <a:rPr lang="en-US" dirty="0"/>
              <a:t>than similar crimes committed without it.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A </a:t>
            </a:r>
            <a:r>
              <a:rPr lang="en-US" dirty="0"/>
              <a:t>robber who enters a bank and </a:t>
            </a:r>
            <a:r>
              <a:rPr lang="en-US" dirty="0" smtClean="0"/>
              <a:t>uses a </a:t>
            </a:r>
            <a:r>
              <a:rPr lang="en-US" dirty="0"/>
              <a:t>gun gets $2,500–$5000 on average. </a:t>
            </a:r>
            <a:r>
              <a:rPr lang="en-US" b="1" i="1" dirty="0"/>
              <a:t>The average loss from a computer fraud is </a:t>
            </a:r>
            <a:r>
              <a:rPr lang="en-US" b="1" i="1" dirty="0" smtClean="0"/>
              <a:t>more than </a:t>
            </a:r>
            <a:r>
              <a:rPr lang="en-US" b="1" i="1" dirty="0"/>
              <a:t>$100,000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 </a:t>
            </a:r>
            <a:r>
              <a:rPr lang="en-US" dirty="0"/>
              <a:t>A thief who steals a credit card (or a credit card number) gains access </a:t>
            </a:r>
            <a:r>
              <a:rPr lang="en-US" dirty="0" smtClean="0"/>
              <a:t>to a </a:t>
            </a:r>
            <a:r>
              <a:rPr lang="en-US" dirty="0"/>
              <a:t>much larger amount of money than the thief of the past who stole a wallet </a:t>
            </a:r>
            <a:r>
              <a:rPr lang="en-US" dirty="0" smtClean="0"/>
              <a:t>containing only </a:t>
            </a:r>
            <a:r>
              <a:rPr lang="en-US" dirty="0"/>
              <a:t>cash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 </a:t>
            </a:r>
            <a:r>
              <a:rPr lang="en-US" dirty="0"/>
              <a:t>A hacker who breaks into a retailer’s or bank’s computer might steal not one </a:t>
            </a:r>
            <a:r>
              <a:rPr lang="en-US" dirty="0" smtClean="0"/>
              <a:t>or a </a:t>
            </a:r>
            <a:r>
              <a:rPr lang="en-US" dirty="0"/>
              <a:t>dozen but thousands or millions of credit card numbers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11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 bwMode="auto">
          <a:xfrm>
            <a:off x="693821" y="838200"/>
            <a:ext cx="7290054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Who is hacker?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10499"/>
            <a:ext cx="8229600" cy="4421188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A computer hacker is someone who develops, changes or attempts to circumvent computer security hardware or software.</a:t>
            </a:r>
          </a:p>
          <a:p>
            <a:pPr>
              <a:defRPr/>
            </a:pPr>
            <a:r>
              <a:rPr lang="en-US" dirty="0" smtClean="0"/>
              <a:t>Intelligent, having advance knowledge of  hardware and software.</a:t>
            </a:r>
          </a:p>
          <a:p>
            <a:pPr>
              <a:defRPr/>
            </a:pPr>
            <a:r>
              <a:rPr lang="en-US" dirty="0" smtClean="0"/>
              <a:t>Can either happen for negative (criminal) or positive reasons. </a:t>
            </a:r>
          </a:p>
          <a:p>
            <a:pPr>
              <a:defRPr/>
            </a:pPr>
            <a:r>
              <a:rPr lang="en-US" dirty="0" smtClean="0"/>
              <a:t>Criminal hackers develop computer malware or spyware to gain access to confidential information.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518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 bwMode="auto">
          <a:xfrm>
            <a:off x="609600" y="914400"/>
            <a:ext cx="7290054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Types of hacking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83228"/>
            <a:ext cx="8305800" cy="4954588"/>
          </a:xfrm>
        </p:spPr>
        <p:txBody>
          <a:bodyPr/>
          <a:lstStyle/>
          <a:p>
            <a:pPr>
              <a:defRPr/>
            </a:pPr>
            <a:r>
              <a:rPr lang="en-US" sz="2300" dirty="0" smtClean="0"/>
              <a:t>Website Hacking</a:t>
            </a:r>
          </a:p>
          <a:p>
            <a:pPr>
              <a:defRPr/>
            </a:pPr>
            <a:r>
              <a:rPr lang="en-US" sz="2300" dirty="0" smtClean="0"/>
              <a:t>Net Hacking</a:t>
            </a:r>
          </a:p>
          <a:p>
            <a:pPr>
              <a:defRPr/>
            </a:pPr>
            <a:r>
              <a:rPr lang="en-US" sz="2300" dirty="0" smtClean="0"/>
              <a:t>Password Hacking</a:t>
            </a:r>
          </a:p>
          <a:p>
            <a:pPr>
              <a:defRPr/>
            </a:pPr>
            <a:r>
              <a:rPr lang="en-US" sz="2300" dirty="0" smtClean="0"/>
              <a:t>Software Hacking</a:t>
            </a:r>
          </a:p>
          <a:p>
            <a:pPr>
              <a:defRPr/>
            </a:pPr>
            <a:r>
              <a:rPr lang="en-US" sz="2300" dirty="0" smtClean="0"/>
              <a:t>Ethical Hacking</a:t>
            </a:r>
          </a:p>
          <a:p>
            <a:pPr>
              <a:defRPr/>
            </a:pPr>
            <a:r>
              <a:rPr lang="en-US" sz="2300" dirty="0" smtClean="0"/>
              <a:t>Email Hacking</a:t>
            </a:r>
          </a:p>
          <a:p>
            <a:pPr>
              <a:defRPr/>
            </a:pPr>
            <a:r>
              <a:rPr lang="en-US" sz="2300" dirty="0" smtClean="0"/>
              <a:t>Computer Hacking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692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 bwMode="auto">
          <a:xfrm>
            <a:off x="685800" y="885317"/>
            <a:ext cx="7290054" cy="86728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Website Hacking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3400" y="2209800"/>
            <a:ext cx="8229600" cy="4421188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Hacking a website means taking control from the website owner to a person who hacks the website.</a:t>
            </a:r>
          </a:p>
          <a:p>
            <a:pPr>
              <a:defRPr/>
            </a:pPr>
            <a:endParaRPr lang="en-US" dirty="0" smtClean="0"/>
          </a:p>
          <a:p>
            <a:pPr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pic>
        <p:nvPicPr>
          <p:cNvPr id="6148" name="Picture 5" descr="2016-11-15_102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743200"/>
            <a:ext cx="4953000" cy="277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1543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 bwMode="auto">
          <a:xfrm>
            <a:off x="748845" y="914400"/>
            <a:ext cx="7290054" cy="14996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Net Hacking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845" y="2286000"/>
            <a:ext cx="8229600" cy="4421188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Gathering information about the domain</a:t>
            </a:r>
          </a:p>
          <a:p>
            <a:pPr>
              <a:defRPr/>
            </a:pPr>
            <a:r>
              <a:rPr lang="en-US" dirty="0" smtClean="0"/>
              <a:t>IP address (Address of your computer in the internet)</a:t>
            </a:r>
          </a:p>
          <a:p>
            <a:pPr>
              <a:defRPr/>
            </a:pPr>
            <a:r>
              <a:rPr lang="en-US" dirty="0" smtClean="0"/>
              <a:t>Port (It is logical port on your computer which hacker can use to enter in the system)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174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 bwMode="auto">
          <a:xfrm>
            <a:off x="569495" y="838200"/>
            <a:ext cx="7290054" cy="14996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Password Hacking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436812"/>
            <a:ext cx="8229600" cy="4421188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Password Hacking or Password cracking is the process of recovering secret passwords from data that has been stored in or transmitted by a computer system.</a:t>
            </a:r>
          </a:p>
          <a:p>
            <a:pPr>
              <a:defRPr/>
            </a:pPr>
            <a:r>
              <a:rPr lang="en-US" b="1" dirty="0" smtClean="0"/>
              <a:t>Brute force</a:t>
            </a:r>
            <a:r>
              <a:rPr lang="en-US" dirty="0" smtClean="0"/>
              <a:t> (Hackers try out all the combination of all keyboard letters)</a:t>
            </a:r>
          </a:p>
          <a:p>
            <a:pPr>
              <a:defRPr/>
            </a:pPr>
            <a:r>
              <a:rPr lang="en-US" b="1" dirty="0" smtClean="0"/>
              <a:t>Dictionary based  </a:t>
            </a:r>
            <a:r>
              <a:rPr lang="en-US" dirty="0" smtClean="0"/>
              <a:t>(Hackers use predefine passwords. It is unsuccessful method)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315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 bwMode="auto">
          <a:xfrm>
            <a:off x="685800" y="838200"/>
            <a:ext cx="7290054" cy="14996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Software Hacking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4421188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In that hackers changes the look &amp; execution way of that software. For example change the demo version into the full version of that software.</a:t>
            </a:r>
          </a:p>
          <a:p>
            <a:pPr>
              <a:defRPr/>
            </a:pPr>
            <a:r>
              <a:rPr lang="en-US" dirty="0" smtClean="0"/>
              <a:t>Modifying existing features of the software.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538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 bwMode="auto">
          <a:xfrm>
            <a:off x="685800" y="838200"/>
            <a:ext cx="7290054" cy="1066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Ethical Hacking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436812"/>
            <a:ext cx="8229600" cy="4421188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The process in which a person hacks to find weakness in a system and then usually patches them.</a:t>
            </a:r>
          </a:p>
          <a:p>
            <a:pPr>
              <a:defRPr/>
            </a:pPr>
            <a:r>
              <a:rPr lang="en-US" dirty="0" smtClean="0"/>
              <a:t>Can be used to recover lost information where the computer password has been lost.</a:t>
            </a:r>
          </a:p>
          <a:p>
            <a:pPr>
              <a:defRPr/>
            </a:pPr>
            <a:r>
              <a:rPr lang="en-US" dirty="0" smtClean="0"/>
              <a:t>To test security of the system.</a:t>
            </a:r>
          </a:p>
          <a:p>
            <a:pPr>
              <a:defRPr/>
            </a:pPr>
            <a:r>
              <a:rPr lang="en-US" dirty="0" smtClean="0"/>
              <a:t>Also called white hat computer hacking.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081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 bwMode="auto">
          <a:xfrm>
            <a:off x="571099" y="838200"/>
            <a:ext cx="7290054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Email Hacking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084832"/>
            <a:ext cx="8229600" cy="4421188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Email hacking is unauthorized access to an email account or email correspondence.</a:t>
            </a:r>
          </a:p>
        </p:txBody>
      </p:sp>
    </p:spTree>
    <p:extLst>
      <p:ext uri="{BB962C8B-B14F-4D97-AF65-F5344CB8AC3E}">
        <p14:creationId xmlns:p14="http://schemas.microsoft.com/office/powerpoint/2010/main" val="1701753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 bwMode="auto">
          <a:xfrm>
            <a:off x="609600" y="838200"/>
            <a:ext cx="7290054" cy="14996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Computer Hacking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84832"/>
            <a:ext cx="8229600" cy="4421188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Computer Hacking is when files on computer are viewed, created, edited or deleted without authorization.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157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Hacker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Irresponsible destructive criminal </a:t>
            </a:r>
          </a:p>
          <a:p>
            <a:r>
              <a:rPr lang="en-US" dirty="0" smtClean="0"/>
              <a:t>Breaks into computer systems </a:t>
            </a:r>
          </a:p>
          <a:p>
            <a:r>
              <a:rPr lang="en-US" dirty="0" smtClean="0"/>
              <a:t>Intentionally release viruses</a:t>
            </a:r>
          </a:p>
          <a:p>
            <a:r>
              <a:rPr lang="en-US" dirty="0" smtClean="0"/>
              <a:t>Steal personal &amp; business information </a:t>
            </a:r>
          </a:p>
          <a:p>
            <a:r>
              <a:rPr lang="en-US" dirty="0" smtClean="0"/>
              <a:t>Steal money , crash websites &amp; destroy files </a:t>
            </a:r>
            <a:r>
              <a:rPr lang="en-US" dirty="0" err="1" smtClean="0"/>
              <a:t>etc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What hackers call themselves?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084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Phase 1—(1960s </a:t>
            </a:r>
            <a:r>
              <a:rPr lang="en-US" sz="3600" dirty="0"/>
              <a:t>and 1970s</a:t>
            </a:r>
            <a:r>
              <a:rPr lang="en-US" sz="3600" dirty="0" smtClean="0"/>
              <a:t>) </a:t>
            </a:r>
            <a:br>
              <a:rPr lang="en-US" sz="3600" dirty="0" smtClean="0"/>
            </a:b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 smtClean="0"/>
              <a:t>The Joy of Programming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It was a positive term</a:t>
            </a:r>
          </a:p>
          <a:p>
            <a:pPr marL="0" indent="0" algn="just">
              <a:buNone/>
            </a:pPr>
            <a:r>
              <a:rPr lang="en-US" dirty="0" smtClean="0"/>
              <a:t>A “hacker” was a creative programmer who wrote very elegant or clever programs.</a:t>
            </a:r>
          </a:p>
          <a:p>
            <a:pPr marL="0" indent="0" algn="just">
              <a:buNone/>
            </a:pPr>
            <a:r>
              <a:rPr lang="en-US" dirty="0" smtClean="0"/>
              <a:t> A “good hack” was an especially clever piece of code. </a:t>
            </a:r>
          </a:p>
          <a:p>
            <a:pPr marL="0" indent="0" algn="just">
              <a:buNone/>
            </a:pPr>
            <a:r>
              <a:rPr lang="en-US" dirty="0" smtClean="0"/>
              <a:t>Hackers created </a:t>
            </a:r>
            <a:r>
              <a:rPr lang="en-US" dirty="0"/>
              <a:t>many of the first computer games and </a:t>
            </a:r>
            <a:r>
              <a:rPr lang="en-US" dirty="0" smtClean="0"/>
              <a:t>operating systems.</a:t>
            </a:r>
          </a:p>
          <a:p>
            <a:pPr marL="0" indent="0" algn="just">
              <a:buNone/>
            </a:pPr>
            <a:r>
              <a:rPr lang="en-US" dirty="0" smtClean="0"/>
              <a:t> </a:t>
            </a:r>
            <a:r>
              <a:rPr lang="en-US" dirty="0"/>
              <a:t>Many were high school </a:t>
            </a:r>
            <a:r>
              <a:rPr lang="en-US" dirty="0" smtClean="0"/>
              <a:t>and college </a:t>
            </a:r>
            <a:r>
              <a:rPr lang="en-US" dirty="0"/>
              <a:t>students—or drop-outs.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Although </a:t>
            </a:r>
            <a:r>
              <a:rPr lang="en-US" dirty="0"/>
              <a:t>they sometimes found ways into systems </a:t>
            </a:r>
            <a:r>
              <a:rPr lang="en-US" dirty="0" smtClean="0"/>
              <a:t>where they </a:t>
            </a:r>
            <a:r>
              <a:rPr lang="en-US" dirty="0"/>
              <a:t>were not authorized users, the early hackers mostly sought knowledge and </a:t>
            </a:r>
            <a:r>
              <a:rPr lang="en-US" dirty="0" smtClean="0"/>
              <a:t>intellectual challenges—and</a:t>
            </a:r>
            <a:r>
              <a:rPr lang="en-US" dirty="0"/>
              <a:t>, sometimes, the thrill of going where they did not </a:t>
            </a:r>
            <a:r>
              <a:rPr lang="en-US" dirty="0" smtClean="0"/>
              <a:t>belong.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11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Phase 2</a:t>
            </a:r>
            <a:r>
              <a:rPr lang="en-US" sz="3600" dirty="0" smtClean="0"/>
              <a:t>: </a:t>
            </a:r>
            <a:r>
              <a:rPr lang="en-US" sz="3600" dirty="0"/>
              <a:t>1970s to the mid-1990s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</a:t>
            </a:r>
            <a:r>
              <a:rPr lang="en-US" dirty="0" smtClean="0"/>
              <a:t>meaning of </a:t>
            </a:r>
            <a:r>
              <a:rPr lang="en-US" dirty="0"/>
              <a:t>the word “hacker” changed as more </a:t>
            </a:r>
            <a:r>
              <a:rPr lang="en-US" dirty="0" smtClean="0"/>
              <a:t>people began </a:t>
            </a:r>
            <a:r>
              <a:rPr lang="en-US" dirty="0"/>
              <a:t>using </a:t>
            </a:r>
            <a:r>
              <a:rPr lang="en-US" dirty="0" smtClean="0"/>
              <a:t>computers. </a:t>
            </a:r>
          </a:p>
          <a:p>
            <a:pPr marL="0" indent="0" algn="just">
              <a:buNone/>
            </a:pPr>
            <a:r>
              <a:rPr lang="en-US" dirty="0" smtClean="0"/>
              <a:t>breaking </a:t>
            </a:r>
            <a:r>
              <a:rPr lang="en-US" dirty="0"/>
              <a:t>into computers for which the </a:t>
            </a:r>
            <a:r>
              <a:rPr lang="en-US" dirty="0" smtClean="0"/>
              <a:t>hacker does </a:t>
            </a:r>
            <a:r>
              <a:rPr lang="en-US" dirty="0"/>
              <a:t>not have authorized access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hacking </a:t>
            </a:r>
            <a:r>
              <a:rPr lang="en-US" dirty="0"/>
              <a:t>also included spreading </a:t>
            </a:r>
            <a:r>
              <a:rPr lang="en-US" dirty="0" smtClean="0"/>
              <a:t>computer viruses</a:t>
            </a:r>
            <a:r>
              <a:rPr lang="en-US" dirty="0"/>
              <a:t>, then mostly in software traded on floppy disks</a:t>
            </a:r>
            <a:r>
              <a:rPr lang="en-US" dirty="0" smtClean="0"/>
              <a:t>.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behavior included thefts </a:t>
            </a:r>
            <a:r>
              <a:rPr lang="en-US" dirty="0"/>
              <a:t>(of information, software, and sometimes money),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Hackers </a:t>
            </a:r>
            <a:r>
              <a:rPr lang="en-US" dirty="0"/>
              <a:t>obtained passwords by sophisticated </a:t>
            </a:r>
            <a:r>
              <a:rPr lang="en-US" dirty="0" smtClean="0"/>
              <a:t>techniques.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37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Phase 2</a:t>
            </a:r>
            <a:r>
              <a:rPr lang="en-US" sz="3600" dirty="0" smtClean="0"/>
              <a:t>: </a:t>
            </a:r>
            <a:r>
              <a:rPr lang="en-US" sz="3600" dirty="0"/>
              <a:t>1970s to the mid-1990s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A program known as the Internet Worm demonstrated the vulnerability of </a:t>
            </a:r>
            <a:r>
              <a:rPr lang="en-US" dirty="0" smtClean="0"/>
              <a:t>the Internet </a:t>
            </a:r>
            <a:r>
              <a:rPr lang="en-US" dirty="0"/>
              <a:t>as a whole in 1988.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A </a:t>
            </a:r>
            <a:r>
              <a:rPr lang="en-US" dirty="0"/>
              <a:t>graduate student at </a:t>
            </a:r>
            <a:r>
              <a:rPr lang="en-US" dirty="0" smtClean="0"/>
              <a:t>Cornell University </a:t>
            </a:r>
            <a:r>
              <a:rPr lang="en-US" dirty="0"/>
              <a:t>wrote the worm </a:t>
            </a:r>
            <a:r>
              <a:rPr lang="en-US" dirty="0" smtClean="0"/>
              <a:t>and released </a:t>
            </a:r>
            <a:r>
              <a:rPr lang="en-US" dirty="0"/>
              <a:t>it onto the </a:t>
            </a:r>
            <a:r>
              <a:rPr lang="en-US" dirty="0" smtClean="0"/>
              <a:t>Internet. It</a:t>
            </a:r>
            <a:r>
              <a:rPr lang="en-US" i="1" dirty="0" smtClean="0"/>
              <a:t> s</a:t>
            </a:r>
            <a:r>
              <a:rPr lang="en-US" dirty="0" smtClean="0"/>
              <a:t>pread </a:t>
            </a:r>
            <a:r>
              <a:rPr lang="en-US" dirty="0"/>
              <a:t>quickly to computers running particular </a:t>
            </a:r>
            <a:r>
              <a:rPr lang="en-US" dirty="0" smtClean="0"/>
              <a:t>versions of </a:t>
            </a:r>
            <a:r>
              <a:rPr lang="en-US" dirty="0"/>
              <a:t>the UNIX operating system, jamming them up and preventing normal processing. </a:t>
            </a:r>
            <a:r>
              <a:rPr lang="en-US" dirty="0" smtClean="0"/>
              <a:t>The worm </a:t>
            </a:r>
            <a:r>
              <a:rPr lang="en-US" dirty="0"/>
              <a:t>affected a few thousand computers (a large portion of the Internet at the time</a:t>
            </a:r>
            <a:r>
              <a:rPr lang="en-US" dirty="0" smtClean="0"/>
              <a:t>). </a:t>
            </a:r>
          </a:p>
          <a:p>
            <a:pPr marL="0" indent="0" algn="just">
              <a:buNone/>
            </a:pPr>
            <a:r>
              <a:rPr lang="en-US" dirty="0" smtClean="0"/>
              <a:t>It </a:t>
            </a:r>
            <a:r>
              <a:rPr lang="en-US" dirty="0"/>
              <a:t>took a few days for systems programmers to discover, decode, and rid their </a:t>
            </a:r>
            <a:r>
              <a:rPr lang="en-US" dirty="0" smtClean="0"/>
              <a:t>systems of </a:t>
            </a:r>
            <a:r>
              <a:rPr lang="en-US" dirty="0"/>
              <a:t>the worm. The worm disrupted work and inconvenienced a large number of people</a:t>
            </a:r>
            <a:r>
              <a:rPr lang="en-US" dirty="0" smtClean="0"/>
              <a:t>. </a:t>
            </a:r>
          </a:p>
          <a:p>
            <a:pPr marL="0" indent="0" algn="just">
              <a:buNone/>
            </a:pPr>
            <a:r>
              <a:rPr lang="en-US" b="1" dirty="0" smtClean="0"/>
              <a:t>This </a:t>
            </a:r>
            <a:r>
              <a:rPr lang="en-US" b="1" dirty="0"/>
              <a:t>incident raised concern about the potential to disrupt critical computer services </a:t>
            </a:r>
            <a:r>
              <a:rPr lang="en-US" b="1" dirty="0" smtClean="0"/>
              <a:t>and cause </a:t>
            </a:r>
            <a:r>
              <a:rPr lang="en-US" b="1" dirty="0"/>
              <a:t>social disruption</a:t>
            </a:r>
            <a:r>
              <a:rPr lang="en-US" b="1" dirty="0" smtClean="0"/>
              <a:t>.</a:t>
            </a:r>
            <a:endParaRPr lang="en-US" b="1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61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Phase 2</a:t>
            </a:r>
            <a:r>
              <a:rPr lang="en-US" sz="3600" dirty="0" smtClean="0"/>
              <a:t>: </a:t>
            </a:r>
            <a:r>
              <a:rPr lang="en-US" sz="3600" dirty="0"/>
              <a:t>1970s to the mid-1990s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Adult criminals began to recognize the possibilities of hacking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Business espionage and </a:t>
            </a:r>
            <a:r>
              <a:rPr lang="en-US" dirty="0"/>
              <a:t>significant thefts and frauds joined the list of hacking activities in the </a:t>
            </a:r>
            <a:r>
              <a:rPr lang="en-US" dirty="0" smtClean="0"/>
              <a:t>1980s and 1990s.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Russian </a:t>
            </a:r>
            <a:r>
              <a:rPr lang="en-US" dirty="0"/>
              <a:t>man, with accomplices in several countries, used </a:t>
            </a:r>
            <a:r>
              <a:rPr lang="en-US" dirty="0" smtClean="0"/>
              <a:t>stolen passwords </a:t>
            </a:r>
            <a:r>
              <a:rPr lang="en-US" dirty="0"/>
              <a:t>to steal $400,000 </a:t>
            </a:r>
            <a:r>
              <a:rPr lang="en-US" dirty="0" smtClean="0"/>
              <a:t>. </a:t>
            </a:r>
            <a:r>
              <a:rPr lang="en-US" dirty="0"/>
              <a:t>He transferred another $11 million to </a:t>
            </a:r>
            <a:r>
              <a:rPr lang="en-US" dirty="0" smtClean="0"/>
              <a:t>bank accounts </a:t>
            </a:r>
            <a:r>
              <a:rPr lang="en-US" dirty="0"/>
              <a:t>in other countries. 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69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Phase 3: The growth of the Web and mobile </a:t>
            </a:r>
            <a:r>
              <a:rPr lang="en-US" sz="3600" dirty="0" smtClean="0"/>
              <a:t>devices-Mid 1990s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Beginning roughly in the mid-1990s, the </a:t>
            </a:r>
            <a:r>
              <a:rPr lang="en-US" dirty="0" smtClean="0"/>
              <a:t>growth of the Web </a:t>
            </a:r>
            <a:r>
              <a:rPr lang="en-US" dirty="0"/>
              <a:t>and </a:t>
            </a:r>
            <a:r>
              <a:rPr lang="en-US" dirty="0" smtClean="0"/>
              <a:t>the increased </a:t>
            </a:r>
            <a:r>
              <a:rPr lang="en-US" dirty="0"/>
              <a:t>use of the Internet for email and other communications, for sensitive information</a:t>
            </a:r>
            <a:r>
              <a:rPr lang="en-US" dirty="0" smtClean="0"/>
              <a:t>, and </a:t>
            </a:r>
            <a:r>
              <a:rPr lang="en-US" dirty="0"/>
              <a:t>for economic transactions made hacking more dangerous and </a:t>
            </a:r>
            <a:r>
              <a:rPr lang="en-US" dirty="0" smtClean="0"/>
              <a:t>damaging—and more </a:t>
            </a:r>
            <a:r>
              <a:rPr lang="en-US" dirty="0"/>
              <a:t>attractive to criminal gangs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/>
              <a:t>kind of accessible information expanded to </a:t>
            </a:r>
            <a:r>
              <a:rPr lang="en-US" dirty="0" smtClean="0"/>
              <a:t>include credit </a:t>
            </a:r>
            <a:r>
              <a:rPr lang="en-US" dirty="0"/>
              <a:t>reports, consumer profiles, medical records, tax records, confidential business information</a:t>
            </a:r>
            <a:r>
              <a:rPr lang="en-US" dirty="0" smtClean="0"/>
              <a:t>, and </a:t>
            </a:r>
            <a:r>
              <a:rPr lang="en-US" dirty="0"/>
              <a:t>other types of </a:t>
            </a:r>
            <a:r>
              <a:rPr lang="en-US" dirty="0" smtClean="0"/>
              <a:t>information which are threats </a:t>
            </a:r>
            <a:r>
              <a:rPr lang="en-US" dirty="0"/>
              <a:t>to privacy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04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Phase 3: The growth of the Web and mobile </a:t>
            </a:r>
            <a:r>
              <a:rPr lang="en-US" sz="3600" dirty="0" smtClean="0"/>
              <a:t>devices-Mid 1990s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With </a:t>
            </a:r>
            <a:r>
              <a:rPr lang="en-US" dirty="0"/>
              <a:t>basic infrastructure systems (for example, water and power, hospitals</a:t>
            </a:r>
            <a:r>
              <a:rPr lang="en-US" dirty="0" smtClean="0"/>
              <a:t>, transportation</a:t>
            </a:r>
            <a:r>
              <a:rPr lang="en-US" dirty="0"/>
              <a:t>, emergency services, in addition to the telephone system) </a:t>
            </a:r>
            <a:r>
              <a:rPr lang="en-US" dirty="0" smtClean="0"/>
              <a:t>accessible on </a:t>
            </a:r>
            <a:r>
              <a:rPr lang="en-US" dirty="0"/>
              <a:t>the Net, the risk increased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 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As the Web spread globally</a:t>
            </a:r>
            <a:r>
              <a:rPr lang="en-US" dirty="0"/>
              <a:t>, so did hacking. 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543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Phase 3: The growth of the Web and mobile </a:t>
            </a:r>
            <a:r>
              <a:rPr lang="en-US" sz="3600" dirty="0" smtClean="0"/>
              <a:t>devices-Mid 1990s</a:t>
            </a:r>
            <a:endParaRPr lang="en-US" sz="36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Pranksters modified the U.S. Department of Justice Web page to read “</a:t>
            </a:r>
            <a:r>
              <a:rPr lang="en-US" dirty="0" smtClean="0"/>
              <a:t>Department of </a:t>
            </a:r>
            <a:r>
              <a:rPr lang="en-US" dirty="0"/>
              <a:t>Injustice”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A </a:t>
            </a:r>
            <a:r>
              <a:rPr lang="en-US" dirty="0"/>
              <a:t>teenager crippled a computer system that handled communications between </a:t>
            </a:r>
            <a:r>
              <a:rPr lang="en-US" dirty="0" smtClean="0"/>
              <a:t>the airport </a:t>
            </a:r>
            <a:r>
              <a:rPr lang="en-US" dirty="0"/>
              <a:t>tower and incoming planes at a small airport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Hackers </a:t>
            </a:r>
            <a:r>
              <a:rPr lang="en-US" dirty="0"/>
              <a:t>in England impersonated </a:t>
            </a:r>
            <a:r>
              <a:rPr lang="en-US" dirty="0" smtClean="0"/>
              <a:t>air traffic </a:t>
            </a:r>
            <a:r>
              <a:rPr lang="en-US" dirty="0"/>
              <a:t>controllers and gave false instructions to pilots. 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52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Phase 3: The growth of the Web and mobile </a:t>
            </a:r>
            <a:r>
              <a:rPr lang="en-US" sz="3600" dirty="0" smtClean="0"/>
              <a:t>devices-Mid 1990s</a:t>
            </a:r>
            <a:endParaRPr lang="en-US" sz="36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 smtClean="0"/>
              <a:t>In </a:t>
            </a:r>
            <a:r>
              <a:rPr lang="en-US" sz="2400" dirty="0"/>
              <a:t>2000, the “Love Bug,” </a:t>
            </a:r>
            <a:r>
              <a:rPr lang="en-US" sz="2400" dirty="0" smtClean="0"/>
              <a:t> </a:t>
            </a:r>
            <a:r>
              <a:rPr lang="en-US" sz="2400" dirty="0"/>
              <a:t>spread around the world in a few hours. It destroyed image and music files, </a:t>
            </a:r>
            <a:r>
              <a:rPr lang="en-US" sz="2400" dirty="0" smtClean="0"/>
              <a:t>modified a </a:t>
            </a:r>
            <a:r>
              <a:rPr lang="en-US" sz="2400" dirty="0"/>
              <a:t>computer’s operating system and Internet browser, and collected passwords. This </a:t>
            </a:r>
            <a:r>
              <a:rPr lang="en-US" sz="2400" dirty="0" smtClean="0"/>
              <a:t>virus infected </a:t>
            </a:r>
            <a:r>
              <a:rPr lang="en-US" sz="2400" dirty="0"/>
              <a:t>major corporations like Ford and Siemens and 80% of U.S. federal agencies</a:t>
            </a:r>
            <a:r>
              <a:rPr lang="en-US" sz="2400" dirty="0" smtClean="0"/>
              <a:t>, including </a:t>
            </a:r>
            <a:r>
              <a:rPr lang="en-US" sz="2400" dirty="0"/>
              <a:t>the State Department and the Pentagon, along with members of the </a:t>
            </a:r>
            <a:r>
              <a:rPr lang="en-US" sz="2400" dirty="0" smtClean="0"/>
              <a:t>British Parliament </a:t>
            </a:r>
            <a:r>
              <a:rPr lang="en-US" sz="2400" dirty="0"/>
              <a:t>and the U.S. Congress. </a:t>
            </a:r>
            <a:r>
              <a:rPr lang="en-US" sz="2400" dirty="0" smtClean="0"/>
              <a:t>Many </a:t>
            </a:r>
            <a:r>
              <a:rPr lang="en-US" sz="2400" dirty="0"/>
              <a:t>businesses and government agencies had </a:t>
            </a:r>
            <a:r>
              <a:rPr lang="en-US" sz="2400" dirty="0" smtClean="0"/>
              <a:t>to shut </a:t>
            </a:r>
            <a:r>
              <a:rPr lang="en-US" sz="2400" dirty="0"/>
              <a:t>down their email servers. The virus hit tens of millions of computers worldwide </a:t>
            </a:r>
            <a:r>
              <a:rPr lang="en-US" sz="2400" dirty="0" smtClean="0"/>
              <a:t>and did </a:t>
            </a:r>
            <a:r>
              <a:rPr lang="en-US" sz="2400" dirty="0"/>
              <a:t>an estimated $10 billion in </a:t>
            </a:r>
            <a:r>
              <a:rPr lang="en-US" sz="2400" dirty="0" smtClean="0"/>
              <a:t>damage.</a:t>
            </a:r>
            <a:r>
              <a:rPr lang="en-US" sz="2400" i="1" dirty="0" smtClean="0"/>
              <a:t> </a:t>
            </a:r>
          </a:p>
          <a:p>
            <a:pPr marL="0" indent="0" algn="just">
              <a:buNone/>
            </a:pPr>
            <a:r>
              <a:rPr lang="en-US" sz="2400" dirty="0" smtClean="0"/>
              <a:t> Some viruses </a:t>
            </a:r>
            <a:r>
              <a:rPr lang="en-US" sz="2400" dirty="0"/>
              <a:t>set up a “back door” on infected computers that allowed later access to </a:t>
            </a:r>
            <a:r>
              <a:rPr lang="en-US" sz="2400" dirty="0" smtClean="0"/>
              <a:t>sensitive information </a:t>
            </a:r>
            <a:r>
              <a:rPr lang="en-US" sz="2400" dirty="0"/>
              <a:t>such as credit card numbers.</a:t>
            </a:r>
          </a:p>
          <a:p>
            <a:pPr marL="0" indent="0" algn="just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4308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Phase 3: The growth of the Web and mobile </a:t>
            </a:r>
            <a:r>
              <a:rPr lang="en-US" sz="3600" dirty="0" smtClean="0"/>
              <a:t>devices-Mid 1990s</a:t>
            </a:r>
            <a:endParaRPr lang="en-US" sz="36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Within about one week,</a:t>
            </a:r>
            <a:r>
              <a:rPr lang="en-US" b="1" dirty="0"/>
              <a:t> </a:t>
            </a:r>
            <a:r>
              <a:rPr lang="en-US" b="1" i="1" dirty="0"/>
              <a:t>denial-of-service attacks</a:t>
            </a:r>
            <a:r>
              <a:rPr lang="en-US" i="1" dirty="0"/>
              <a:t> </a:t>
            </a:r>
            <a:r>
              <a:rPr lang="en-US" dirty="0"/>
              <a:t>shut down almost a dozen </a:t>
            </a:r>
            <a:r>
              <a:rPr lang="en-US" dirty="0" smtClean="0"/>
              <a:t>major websites</a:t>
            </a:r>
            <a:r>
              <a:rPr lang="en-US" dirty="0"/>
              <a:t>, some for several hours. Victims included Yahoo, eBay, Amazon, </a:t>
            </a:r>
            <a:r>
              <a:rPr lang="en-US" dirty="0" err="1"/>
              <a:t>E∗Trade</a:t>
            </a:r>
            <a:r>
              <a:rPr lang="en-US" dirty="0" smtClean="0"/>
              <a:t>, Buy.com</a:t>
            </a:r>
            <a:r>
              <a:rPr lang="en-US" dirty="0"/>
              <a:t>, CNN, and others. In this kind of attack, hackers overload the target site </a:t>
            </a:r>
            <a:r>
              <a:rPr lang="en-US" dirty="0" smtClean="0"/>
              <a:t>with hundreds </a:t>
            </a:r>
            <a:r>
              <a:rPr lang="en-US" dirty="0"/>
              <a:t>of thousands of requests </a:t>
            </a:r>
            <a:r>
              <a:rPr lang="en-US" dirty="0" smtClean="0"/>
              <a:t>for Web </a:t>
            </a:r>
            <a:r>
              <a:rPr lang="en-US" dirty="0"/>
              <a:t>pages and other information</a:t>
            </a:r>
            <a:r>
              <a:rPr lang="en-US" dirty="0" smtClean="0"/>
              <a:t>. </a:t>
            </a:r>
            <a:r>
              <a:rPr lang="en-US" dirty="0"/>
              <a:t>Programs </a:t>
            </a:r>
            <a:r>
              <a:rPr lang="en-US" dirty="0" smtClean="0"/>
              <a:t>planted on </a:t>
            </a:r>
            <a:r>
              <a:rPr lang="en-US" dirty="0"/>
              <a:t>numerous other systems (many at universities), to disguise their origin, generate </a:t>
            </a:r>
            <a:r>
              <a:rPr lang="en-US" dirty="0" smtClean="0"/>
              <a:t>the requests</a:t>
            </a:r>
            <a:r>
              <a:rPr lang="en-US" dirty="0"/>
              <a:t>. Investigators traced the attack to a 15-year-old Canadian who used the </a:t>
            </a:r>
            <a:r>
              <a:rPr lang="en-US" dirty="0" smtClean="0"/>
              <a:t>name </a:t>
            </a:r>
            <a:r>
              <a:rPr lang="en-US" dirty="0" err="1" smtClean="0"/>
              <a:t>mafiaboy</a:t>
            </a:r>
            <a:r>
              <a:rPr lang="en-US" dirty="0"/>
              <a:t>; he pleaded guilty to a long list of charges. The U.S. government estimated </a:t>
            </a:r>
            <a:r>
              <a:rPr lang="en-US" dirty="0" smtClean="0"/>
              <a:t>the cost </a:t>
            </a:r>
            <a:r>
              <a:rPr lang="en-US" dirty="0"/>
              <a:t>of this incident at $1.7 billion</a:t>
            </a:r>
            <a:r>
              <a:rPr lang="en-US" dirty="0" smtClean="0"/>
              <a:t>.</a:t>
            </a:r>
            <a:r>
              <a:rPr lang="en-US" b="1" i="1" dirty="0" smtClean="0"/>
              <a:t> </a:t>
            </a:r>
            <a:r>
              <a:rPr lang="en-US" b="1" i="1" dirty="0"/>
              <a:t>One disturbing aspect of this case is that </a:t>
            </a:r>
            <a:r>
              <a:rPr lang="en-US" b="1" i="1" dirty="0" err="1" smtClean="0"/>
              <a:t>mafiaboy</a:t>
            </a:r>
            <a:r>
              <a:rPr lang="en-US" b="1" i="1" dirty="0" smtClean="0"/>
              <a:t> apparently </a:t>
            </a:r>
            <a:r>
              <a:rPr lang="en-US" b="1" i="1" dirty="0"/>
              <a:t>did not write the destructive programs himself. He found them on the Net</a:t>
            </a:r>
            <a:r>
              <a:rPr lang="en-US" b="1" i="1" dirty="0" smtClean="0"/>
              <a:t>, where </a:t>
            </a:r>
            <a:r>
              <a:rPr lang="en-US" b="1" i="1" dirty="0"/>
              <a:t>other 15-year-olds can find them too.</a:t>
            </a:r>
          </a:p>
        </p:txBody>
      </p:sp>
    </p:spTree>
    <p:extLst>
      <p:ext uri="{BB962C8B-B14F-4D97-AF65-F5344CB8AC3E}">
        <p14:creationId xmlns:p14="http://schemas.microsoft.com/office/powerpoint/2010/main" val="164308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Phase 3: The growth of the Web and mobile </a:t>
            </a:r>
            <a:r>
              <a:rPr lang="en-US" sz="3600" dirty="0" smtClean="0"/>
              <a:t>devices-Mid 1990s</a:t>
            </a:r>
            <a:endParaRPr lang="en-US" sz="36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The purposes </a:t>
            </a:r>
            <a:r>
              <a:rPr lang="en-US" dirty="0"/>
              <a:t>and techniques of hacking have shifted as the Web and the </a:t>
            </a:r>
            <a:r>
              <a:rPr lang="en-US" dirty="0" smtClean="0"/>
              <a:t>amount of </a:t>
            </a:r>
            <a:r>
              <a:rPr lang="en-US" dirty="0"/>
              <a:t>stored data of all kinds have grown. 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Hackers </a:t>
            </a:r>
            <a:r>
              <a:rPr lang="en-US" dirty="0"/>
              <a:t>steal millions of credit card </a:t>
            </a:r>
            <a:r>
              <a:rPr lang="en-US" dirty="0" smtClean="0"/>
              <a:t>numbers from </a:t>
            </a:r>
            <a:r>
              <a:rPr lang="en-US" dirty="0"/>
              <a:t>large retailers, restaurant chains, banks, and so on. Some are members of </a:t>
            </a:r>
            <a:r>
              <a:rPr lang="en-US" dirty="0" smtClean="0"/>
              <a:t>organized crime </a:t>
            </a:r>
            <a:r>
              <a:rPr lang="en-US" dirty="0"/>
              <a:t>groups; others sell the numbers to organized crime groups. Some demand </a:t>
            </a:r>
            <a:r>
              <a:rPr lang="en-US" dirty="0" smtClean="0"/>
              <a:t>extortion payments.</a:t>
            </a:r>
          </a:p>
          <a:p>
            <a:pPr marL="0" indent="0" algn="just">
              <a:buNone/>
            </a:pPr>
            <a:r>
              <a:rPr lang="en-US" b="1" i="1" dirty="0" smtClean="0"/>
              <a:t> 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64308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Phase 3: The growth of the Web and mobile </a:t>
            </a:r>
            <a:r>
              <a:rPr lang="en-US" sz="3600" dirty="0" smtClean="0"/>
              <a:t>devices-Mid 1990s</a:t>
            </a:r>
            <a:endParaRPr lang="en-US" sz="36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2105614"/>
            <a:ext cx="8229600" cy="4525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/>
              <a:t>As computer systems replaced human ticket sellers for transportation and other services, hackers found more opportunities for theft. For example, New York City accused several people of stealing $800,000 from the city’s subway system by taking advantage of an error in the software in the machines that sell fare cards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 Hackers continue to execute pranks and revenge attacks—some quite expensive. Hackers modified the programming at an online gambling site so that everyone won. The site lost $1.9 million.</a:t>
            </a:r>
          </a:p>
          <a:p>
            <a:pPr marL="0" indent="0" algn="just">
              <a:buNone/>
            </a:pPr>
            <a:r>
              <a:rPr lang="en-US" sz="2400" dirty="0" smtClean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4308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Phase 3: The growth of the Web and mobile </a:t>
            </a:r>
            <a:r>
              <a:rPr lang="en-US" sz="3600" dirty="0" smtClean="0"/>
              <a:t>devices-Mid 1990s</a:t>
            </a:r>
            <a:endParaRPr lang="en-US" sz="36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As social networks grew, they became targets of hackers. In 2011, hackers </a:t>
            </a:r>
            <a:r>
              <a:rPr lang="en-US" dirty="0" smtClean="0"/>
              <a:t>gained access </a:t>
            </a:r>
            <a:r>
              <a:rPr lang="en-US" dirty="0"/>
              <a:t>to Facebook member profile </a:t>
            </a:r>
            <a:r>
              <a:rPr lang="en-US" dirty="0" smtClean="0"/>
              <a:t>pages.</a:t>
            </a:r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/>
              <a:t>hackers had tricked members into running malware. It is a common tactic for </a:t>
            </a:r>
            <a:r>
              <a:rPr lang="en-US" dirty="0" smtClean="0"/>
              <a:t>hackers to </a:t>
            </a:r>
            <a:r>
              <a:rPr lang="en-US" dirty="0"/>
              <a:t>create fake offers of discounts, freebies, or just something funny or interesting. </a:t>
            </a:r>
            <a:r>
              <a:rPr lang="en-US" dirty="0" smtClean="0"/>
              <a:t>Clicking on </a:t>
            </a:r>
            <a:r>
              <a:rPr lang="en-US" dirty="0"/>
              <a:t>it initiates the malware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Similar </a:t>
            </a:r>
            <a:r>
              <a:rPr lang="en-US" dirty="0"/>
              <a:t>attacks </a:t>
            </a:r>
            <a:r>
              <a:rPr lang="en-US" dirty="0" smtClean="0"/>
              <a:t>encourage a </a:t>
            </a:r>
            <a:r>
              <a:rPr lang="en-US" dirty="0"/>
              <a:t>social media friend to view a video. The video site indicates that the user must </a:t>
            </a:r>
            <a:r>
              <a:rPr lang="en-US" dirty="0" smtClean="0"/>
              <a:t>install software </a:t>
            </a:r>
            <a:r>
              <a:rPr lang="en-US" dirty="0"/>
              <a:t>to view the clip; that software is malware. Social networks offer a huge pool </a:t>
            </a:r>
            <a:r>
              <a:rPr lang="en-US" dirty="0" smtClean="0"/>
              <a:t>of potential </a:t>
            </a:r>
            <a:r>
              <a:rPr lang="en-US" dirty="0"/>
              <a:t>victims who are used to </a:t>
            </a:r>
            <a:r>
              <a:rPr lang="en-US" dirty="0" smtClean="0"/>
              <a:t>sharing.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08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Phase 3: The growth of the Web and mobile </a:t>
            </a:r>
            <a:r>
              <a:rPr lang="en-US" sz="3600" dirty="0" smtClean="0"/>
              <a:t>devices-Mid 1990s</a:t>
            </a:r>
            <a:endParaRPr lang="en-US" sz="36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Hacking of mobile devices (other than stolen laptops) has not yet been a </a:t>
            </a:r>
            <a:r>
              <a:rPr lang="en-US" b="1" dirty="0" smtClean="0"/>
              <a:t>major problem  but smartphones acting </a:t>
            </a:r>
            <a:r>
              <a:rPr lang="en-US" b="1" dirty="0"/>
              <a:t>as electronic wallets and tablets synching to all one’s data in clouds, they will </a:t>
            </a:r>
            <a:r>
              <a:rPr lang="en-US" b="1" dirty="0" smtClean="0"/>
              <a:t>be attractive </a:t>
            </a:r>
            <a:r>
              <a:rPr lang="en-US" b="1" dirty="0"/>
              <a:t>targets.</a:t>
            </a:r>
          </a:p>
          <a:p>
            <a:pPr marL="0" indent="0" algn="just">
              <a:buNone/>
            </a:pP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64308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 harmless hacking harmless?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92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838200"/>
            <a:ext cx="7924800" cy="4648200"/>
          </a:xfrm>
        </p:spPr>
        <p:txBody>
          <a:bodyPr/>
          <a:lstStyle/>
          <a:p>
            <a:r>
              <a:rPr lang="en-US" dirty="0" smtClean="0"/>
              <a:t>Cannot immediately differentiate between a non-malicious hacker and a spy/thief /terrorist</a:t>
            </a:r>
          </a:p>
          <a:p>
            <a:endParaRPr lang="en-US" dirty="0"/>
          </a:p>
          <a:p>
            <a:r>
              <a:rPr lang="en-US" dirty="0" smtClean="0"/>
              <a:t>Uncertainty about intruder’s intentions </a:t>
            </a:r>
            <a:r>
              <a:rPr lang="en-US" dirty="0" smtClean="0">
                <a:sym typeface="Wingdings" panose="05000000000000000000" pitchFamily="2" charset="2"/>
              </a:rPr>
              <a:t> harm, expense </a:t>
            </a:r>
            <a:endParaRPr lang="en-US" dirty="0" smtClean="0"/>
          </a:p>
          <a:p>
            <a:r>
              <a:rPr lang="en-US" dirty="0" smtClean="0"/>
              <a:t>Example Boeing , National weather service computers</a:t>
            </a:r>
          </a:p>
          <a:p>
            <a:endParaRPr lang="en-US" dirty="0" smtClean="0"/>
          </a:p>
          <a:p>
            <a:r>
              <a:rPr lang="en-US" dirty="0" smtClean="0"/>
              <a:t>Hackers with good intentions can also make unintentional mistakes and can cause significant damage </a:t>
            </a:r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777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Hacktivism-Political Hacking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 drug message on a police website</a:t>
            </a:r>
          </a:p>
          <a:p>
            <a:r>
              <a:rPr lang="en-US" dirty="0" smtClean="0"/>
              <a:t>Disabling a website of real state agent </a:t>
            </a:r>
          </a:p>
          <a:p>
            <a:r>
              <a:rPr lang="en-US" dirty="0" smtClean="0"/>
              <a:t>Civil disobedience ??</a:t>
            </a:r>
          </a:p>
          <a:p>
            <a:r>
              <a:rPr lang="en-US" dirty="0" smtClean="0"/>
              <a:t>Is it freedom of speech?</a:t>
            </a:r>
          </a:p>
          <a:p>
            <a:pPr lvl="1"/>
            <a:r>
              <a:rPr lang="en-US" dirty="0" smtClean="0"/>
              <a:t>Crashing or defacing a website ??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254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8" name="Rectangle 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Identity Theft and Credit Card Fraud</a:t>
            </a:r>
          </a:p>
        </p:txBody>
      </p:sp>
      <p:sp>
        <p:nvSpPr>
          <p:cNvPr id="30729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Stealing Identities:</a:t>
            </a:r>
          </a:p>
          <a:p>
            <a:pPr>
              <a:lnSpc>
                <a:spcPct val="90000"/>
              </a:lnSpc>
            </a:pPr>
            <a:r>
              <a:rPr lang="en-US" sz="2400" b="1" i="1" dirty="0"/>
              <a:t>Identity Theft –various crimes in which a criminal or large group uses the identity of an unknowing, innocent person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Use credit/debit card numbers, personal information, and social security numbers</a:t>
            </a:r>
          </a:p>
          <a:p>
            <a:pPr lvl="1">
              <a:lnSpc>
                <a:spcPct val="90000"/>
              </a:lnSpc>
            </a:pPr>
            <a:endParaRPr lang="en-US" sz="2400" dirty="0" smtClean="0"/>
          </a:p>
          <a:p>
            <a:pPr lvl="1">
              <a:lnSpc>
                <a:spcPct val="90000"/>
              </a:lnSpc>
            </a:pPr>
            <a:r>
              <a:rPr lang="en-US" sz="2400" dirty="0" smtClean="0"/>
              <a:t>E-commerce </a:t>
            </a:r>
            <a:r>
              <a:rPr lang="en-US" sz="2400" dirty="0"/>
              <a:t>has made it easier to steal card numbers and use without having the physical card</a:t>
            </a:r>
          </a:p>
        </p:txBody>
      </p:sp>
    </p:spTree>
    <p:extLst>
      <p:ext uri="{BB962C8B-B14F-4D97-AF65-F5344CB8AC3E}">
        <p14:creationId xmlns:p14="http://schemas.microsoft.com/office/powerpoint/2010/main" val="3842668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Identity Theft and Credit Card Fraud (cont.)</a:t>
            </a: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sz="2400" b="1" dirty="0" smtClean="0"/>
              <a:t>Techniques</a:t>
            </a:r>
            <a:r>
              <a:rPr lang="en-US" sz="2400" dirty="0" smtClean="0"/>
              <a:t> </a:t>
            </a:r>
            <a:r>
              <a:rPr lang="en-US" sz="2400" dirty="0"/>
              <a:t>used to steal personal and financial </a:t>
            </a:r>
            <a:r>
              <a:rPr lang="en-US" sz="2400" dirty="0" smtClean="0"/>
              <a:t>information</a:t>
            </a:r>
          </a:p>
          <a:p>
            <a:pPr>
              <a:lnSpc>
                <a:spcPct val="80000"/>
              </a:lnSpc>
            </a:pP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400" b="1" dirty="0"/>
              <a:t>Phishing</a:t>
            </a:r>
            <a:r>
              <a:rPr lang="en-US" sz="2400" dirty="0"/>
              <a:t> - e-mail fishing for personal and financial information disguised as legitimate business </a:t>
            </a:r>
            <a:r>
              <a:rPr lang="en-US" sz="2400" dirty="0" smtClean="0"/>
              <a:t>e-mail </a:t>
            </a:r>
          </a:p>
          <a:p>
            <a:pPr lvl="1">
              <a:lnSpc>
                <a:spcPct val="80000"/>
              </a:lnSpc>
            </a:pPr>
            <a:r>
              <a:rPr lang="en-US" sz="2400" b="1" dirty="0" smtClean="0"/>
              <a:t>Smishing-</a:t>
            </a:r>
            <a:r>
              <a:rPr lang="en-US" sz="2400" dirty="0" smtClean="0"/>
              <a:t> spam in case of text messages</a:t>
            </a:r>
          </a:p>
          <a:p>
            <a:pPr lvl="1">
              <a:lnSpc>
                <a:spcPct val="80000"/>
              </a:lnSpc>
            </a:pPr>
            <a:r>
              <a:rPr lang="en-US" sz="2400" b="1" dirty="0" smtClean="0"/>
              <a:t>Vishing</a:t>
            </a:r>
            <a:r>
              <a:rPr lang="en-US" sz="2400" dirty="0" smtClean="0"/>
              <a:t> ??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400" b="1" dirty="0"/>
              <a:t>Pharming</a:t>
            </a:r>
            <a:r>
              <a:rPr lang="en-US" sz="2400" dirty="0"/>
              <a:t> - false Web sites that fish for personal and financial information by planting false URLs in Domain Name Servers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Online resumes and job hunting sites may reveal SSNs, work history, birth dates and other information that can be used in identity theft</a:t>
            </a:r>
          </a:p>
        </p:txBody>
      </p:sp>
    </p:spTree>
    <p:extLst>
      <p:ext uri="{BB962C8B-B14F-4D97-AF65-F5344CB8AC3E}">
        <p14:creationId xmlns:p14="http://schemas.microsoft.com/office/powerpoint/2010/main" val="3260289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Identity Theft and Credit Card Fraud (cont.)</a:t>
            </a:r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400" b="1" dirty="0" smtClean="0"/>
              <a:t>Techniques</a:t>
            </a:r>
            <a:r>
              <a:rPr lang="en-US" sz="2400" dirty="0" smtClean="0"/>
              <a:t> </a:t>
            </a:r>
            <a:r>
              <a:rPr lang="en-US" sz="2400" dirty="0"/>
              <a:t>used to protect personal and financial information</a:t>
            </a:r>
          </a:p>
          <a:p>
            <a:pPr lvl="1">
              <a:lnSpc>
                <a:spcPct val="80000"/>
              </a:lnSpc>
            </a:pPr>
            <a:endParaRPr lang="en-US" sz="2400" dirty="0" smtClean="0"/>
          </a:p>
          <a:p>
            <a:pPr lvl="1">
              <a:lnSpc>
                <a:spcPct val="80000"/>
              </a:lnSpc>
            </a:pPr>
            <a:r>
              <a:rPr lang="en-US" sz="2400" dirty="0" smtClean="0"/>
              <a:t>Activation </a:t>
            </a:r>
            <a:r>
              <a:rPr lang="en-US" sz="2400" dirty="0"/>
              <a:t>for new credit cards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Retailers do not print the full card number and expiration date on receipts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Software detects unusual spending activities and will prompt retailers to ask for identifying </a:t>
            </a:r>
            <a:r>
              <a:rPr lang="en-US" sz="2400" dirty="0" smtClean="0"/>
              <a:t>information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/>
              <a:t>Customers home computer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/>
              <a:t>Image </a:t>
            </a:r>
            <a:r>
              <a:rPr lang="en-US" sz="2400" dirty="0" smtClean="0"/>
              <a:t>based </a:t>
            </a:r>
            <a:r>
              <a:rPr lang="en-US" sz="2400" dirty="0" smtClean="0"/>
              <a:t>verification 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/>
              <a:t>Geographic location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44424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Identity Theft and Credit Card Fraud (cont.)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80000"/>
              </a:lnSpc>
              <a:buFontTx/>
              <a:buNone/>
            </a:pPr>
            <a:r>
              <a:rPr lang="en-US" sz="2800" dirty="0"/>
              <a:t>Biometrics:</a:t>
            </a:r>
          </a:p>
          <a:p>
            <a:pPr algn="just"/>
            <a:r>
              <a:rPr lang="en-US" sz="2800" dirty="0"/>
              <a:t>Biological characteristics unique to an </a:t>
            </a:r>
            <a:r>
              <a:rPr lang="en-US" sz="2800" dirty="0" smtClean="0"/>
              <a:t>individual </a:t>
            </a:r>
            <a:r>
              <a:rPr lang="en-US" sz="2800" dirty="0"/>
              <a:t> They </a:t>
            </a:r>
            <a:r>
              <a:rPr lang="en-US" sz="2800" dirty="0" smtClean="0"/>
              <a:t>include fingerprints</a:t>
            </a:r>
            <a:r>
              <a:rPr lang="en-US" sz="2800" dirty="0"/>
              <a:t>, voice prints, face structure, hand geometry, eye (iris or retina) patterns</a:t>
            </a:r>
            <a:r>
              <a:rPr lang="en-US" sz="2800" dirty="0" smtClean="0"/>
              <a:t>, and </a:t>
            </a:r>
            <a:r>
              <a:rPr lang="en-US" sz="2800" dirty="0"/>
              <a:t>DNA. Uses of DNA in the law enforcement and justice systems are well known</a:t>
            </a:r>
            <a:r>
              <a:rPr lang="en-US" sz="2800" dirty="0" smtClean="0"/>
              <a:t>. </a:t>
            </a:r>
            <a:r>
              <a:rPr lang="en-US" sz="2800" dirty="0" smtClean="0"/>
              <a:t>DNA matching </a:t>
            </a:r>
            <a:r>
              <a:rPr lang="en-US" sz="2800" dirty="0"/>
              <a:t>has freed numerous innocent people mistakenly convicted of such </a:t>
            </a:r>
            <a:r>
              <a:rPr lang="en-US" sz="2800" dirty="0" smtClean="0"/>
              <a:t>serious crimes </a:t>
            </a:r>
            <a:r>
              <a:rPr lang="en-US" sz="2800" dirty="0"/>
              <a:t>as  </a:t>
            </a:r>
            <a:r>
              <a:rPr lang="en-US" sz="2800" dirty="0" smtClean="0"/>
              <a:t>murder</a:t>
            </a:r>
            <a:r>
              <a:rPr lang="en-US" sz="2800" dirty="0"/>
              <a:t>. Along with fingerprints, DNA has been extremely </a:t>
            </a:r>
            <a:r>
              <a:rPr lang="en-US" sz="2800" dirty="0" smtClean="0"/>
              <a:t>effective for </a:t>
            </a:r>
            <a:r>
              <a:rPr lang="en-US" sz="2800" dirty="0"/>
              <a:t>identifying or eliminating suspects in crimes</a:t>
            </a:r>
            <a:r>
              <a:rPr lang="en-US" sz="2800" dirty="0" smtClean="0"/>
              <a:t>.</a:t>
            </a:r>
            <a:endParaRPr lang="en-US" sz="2800" dirty="0"/>
          </a:p>
          <a:p>
            <a:pPr algn="just">
              <a:lnSpc>
                <a:spcPct val="80000"/>
              </a:lnSpc>
            </a:pPr>
            <a:r>
              <a:rPr lang="en-US" sz="2800" dirty="0"/>
              <a:t>No external item (card, keys, etc.) to be </a:t>
            </a:r>
            <a:r>
              <a:rPr lang="en-US" sz="2800" dirty="0" smtClean="0"/>
              <a:t>stolen</a:t>
            </a:r>
            <a:endParaRPr lang="en-US" sz="2800" dirty="0"/>
          </a:p>
          <a:p>
            <a:pPr algn="just">
              <a:lnSpc>
                <a:spcPct val="80000"/>
              </a:lnSpc>
            </a:pPr>
            <a:r>
              <a:rPr lang="en-US" sz="2800" dirty="0"/>
              <a:t>Used in areas where security needs to be high, such as identifying airport </a:t>
            </a:r>
            <a:r>
              <a:rPr lang="en-US" sz="2800" dirty="0" smtClean="0"/>
              <a:t>personnel</a:t>
            </a:r>
            <a:endParaRPr lang="en-US" sz="2800" dirty="0"/>
          </a:p>
          <a:p>
            <a:pPr algn="just">
              <a:lnSpc>
                <a:spcPct val="80000"/>
              </a:lnSpc>
            </a:pPr>
            <a:r>
              <a:rPr lang="en-US" sz="2800" dirty="0"/>
              <a:t>Biometrics can be fooled, but more difficult to do so, especially as more sophisticated systems are developed</a:t>
            </a:r>
          </a:p>
          <a:p>
            <a:pPr lvl="1" algn="just">
              <a:lnSpc>
                <a:spcPct val="80000"/>
              </a:lnSpc>
              <a:buFont typeface="Arial" charset="0"/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95634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676</TotalTime>
  <Words>2167</Words>
  <Application>Microsoft Office PowerPoint</Application>
  <PresentationFormat>On-screen Show (4:3)</PresentationFormat>
  <Paragraphs>164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Tw Cen MT</vt:lpstr>
      <vt:lpstr>Tw Cen MT Condensed</vt:lpstr>
      <vt:lpstr>Wingdings</vt:lpstr>
      <vt:lpstr>Wingdings 3</vt:lpstr>
      <vt:lpstr>Integral</vt:lpstr>
      <vt:lpstr>A Gift of Fire Fourth edition Sara Baase</vt:lpstr>
      <vt:lpstr>What We Will Cover</vt:lpstr>
      <vt:lpstr>Hacking</vt:lpstr>
      <vt:lpstr>Hacking</vt:lpstr>
      <vt:lpstr>Who is hacker?</vt:lpstr>
      <vt:lpstr>Types of hacking</vt:lpstr>
      <vt:lpstr>Website Hacking</vt:lpstr>
      <vt:lpstr>Net Hacking</vt:lpstr>
      <vt:lpstr>Password Hacking</vt:lpstr>
      <vt:lpstr>Software Hacking</vt:lpstr>
      <vt:lpstr>Ethical Hacking</vt:lpstr>
      <vt:lpstr>Email Hacking</vt:lpstr>
      <vt:lpstr>Computer Hacking</vt:lpstr>
      <vt:lpstr>Hacker</vt:lpstr>
      <vt:lpstr> Phase 1—(1960s and 1970s)   The Joy of Programming </vt:lpstr>
      <vt:lpstr>Phase 2: 1970s to the mid-1990s</vt:lpstr>
      <vt:lpstr>Phase 2: 1970s to the mid-1990s</vt:lpstr>
      <vt:lpstr>Phase 2: 1970s to the mid-1990s</vt:lpstr>
      <vt:lpstr>Phase 3: The growth of the Web and mobile devices-Mid 1990s</vt:lpstr>
      <vt:lpstr>Phase 3: The growth of the Web and mobile devices-Mid 1990s</vt:lpstr>
      <vt:lpstr>Phase 3: The growth of the Web and mobile devices-Mid 1990s</vt:lpstr>
      <vt:lpstr>Phase 3: The growth of the Web and mobile devices-Mid 1990s</vt:lpstr>
      <vt:lpstr>Phase 3: The growth of the Web and mobile devices-Mid 1990s</vt:lpstr>
      <vt:lpstr>Phase 3: The growth of the Web and mobile devices-Mid 1990s</vt:lpstr>
      <vt:lpstr>Phase 3: The growth of the Web and mobile devices-Mid 1990s</vt:lpstr>
      <vt:lpstr>Phase 3: The growth of the Web and mobile devices-Mid 1990s</vt:lpstr>
      <vt:lpstr>Phase 3: The growth of the Web and mobile devices-Mid 1990s</vt:lpstr>
      <vt:lpstr>Is harmless hacking harmless?</vt:lpstr>
      <vt:lpstr>PowerPoint Presentation</vt:lpstr>
      <vt:lpstr>Hacktivism-Political Hacking </vt:lpstr>
      <vt:lpstr>Identity Theft and Credit Card Fraud</vt:lpstr>
      <vt:lpstr>Identity Theft and Credit Card Fraud (cont.)</vt:lpstr>
      <vt:lpstr>Identity Theft and Credit Card Fraud (cont.)</vt:lpstr>
      <vt:lpstr>Identity Theft and Credit Card Fraud (cont.)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Gift of Fire Third edition Sara Baase</dc:title>
  <dc:creator>Faculty</dc:creator>
  <cp:lastModifiedBy>Usman Younas</cp:lastModifiedBy>
  <cp:revision>55</cp:revision>
  <dcterms:created xsi:type="dcterms:W3CDTF">2006-08-16T00:00:00Z</dcterms:created>
  <dcterms:modified xsi:type="dcterms:W3CDTF">2020-04-30T07:17:48Z</dcterms:modified>
</cp:coreProperties>
</file>