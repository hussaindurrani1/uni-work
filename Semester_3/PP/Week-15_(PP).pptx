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256" r:id="rId2"/>
    <p:sldId id="257" r:id="rId3"/>
    <p:sldId id="318" r:id="rId4"/>
    <p:sldId id="319" r:id="rId5"/>
    <p:sldId id="321" r:id="rId6"/>
    <p:sldId id="323" r:id="rId7"/>
    <p:sldId id="320" r:id="rId8"/>
    <p:sldId id="327" r:id="rId9"/>
    <p:sldId id="324" r:id="rId10"/>
    <p:sldId id="328" r:id="rId11"/>
    <p:sldId id="325" r:id="rId12"/>
    <p:sldId id="329" r:id="rId13"/>
    <p:sldId id="326" r:id="rId14"/>
    <p:sldId id="330" r:id="rId15"/>
    <p:sldId id="335" r:id="rId16"/>
    <p:sldId id="331" r:id="rId17"/>
    <p:sldId id="336" r:id="rId18"/>
    <p:sldId id="337" r:id="rId19"/>
    <p:sldId id="332" r:id="rId20"/>
    <p:sldId id="333" r:id="rId21"/>
    <p:sldId id="334" r:id="rId22"/>
    <p:sldId id="343" r:id="rId23"/>
    <p:sldId id="344" r:id="rId24"/>
    <p:sldId id="339" r:id="rId25"/>
    <p:sldId id="340" r:id="rId26"/>
    <p:sldId id="345" r:id="rId27"/>
    <p:sldId id="346" r:id="rId28"/>
    <p:sldId id="347" r:id="rId29"/>
    <p:sldId id="348" r:id="rId30"/>
    <p:sldId id="349" r:id="rId31"/>
    <p:sldId id="350" r:id="rId32"/>
    <p:sldId id="351" r:id="rId33"/>
    <p:sldId id="352" r:id="rId34"/>
    <p:sldId id="353" r:id="rId35"/>
    <p:sldId id="354" r:id="rId36"/>
    <p:sldId id="355" r:id="rId37"/>
    <p:sldId id="356" r:id="rId38"/>
    <p:sldId id="357" r:id="rId39"/>
    <p:sldId id="358" r:id="rId40"/>
    <p:sldId id="359" r:id="rId41"/>
    <p:sldId id="360" r:id="rId42"/>
    <p:sldId id="361" r:id="rId43"/>
    <p:sldId id="362" r:id="rId44"/>
    <p:sldId id="363" r:id="rId45"/>
    <p:sldId id="364" r:id="rId46"/>
    <p:sldId id="365" r:id="rId47"/>
    <p:sldId id="366" r:id="rId48"/>
    <p:sldId id="367" r:id="rId49"/>
    <p:sldId id="368" r:id="rId50"/>
    <p:sldId id="369" r:id="rId51"/>
    <p:sldId id="370" r:id="rId52"/>
    <p:sldId id="371" r:id="rId53"/>
    <p:sldId id="372" r:id="rId54"/>
    <p:sldId id="373" r:id="rId55"/>
    <p:sldId id="374" r:id="rId56"/>
    <p:sldId id="375" r:id="rId57"/>
    <p:sldId id="376" r:id="rId58"/>
    <p:sldId id="377" r:id="rId59"/>
    <p:sldId id="378" r:id="rId60"/>
    <p:sldId id="379" r:id="rId61"/>
    <p:sldId id="380" r:id="rId62"/>
    <p:sldId id="381" r:id="rId63"/>
    <p:sldId id="382" r:id="rId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485" autoAdjust="0"/>
    <p:restoredTop sz="95179" autoAdjust="0"/>
  </p:normalViewPr>
  <p:slideViewPr>
    <p:cSldViewPr>
      <p:cViewPr>
        <p:scale>
          <a:sx n="100" d="100"/>
          <a:sy n="100" d="100"/>
        </p:scale>
        <p:origin x="762" y="-22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313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03A343F-2F65-46C1-9371-223666C409F2}" type="datetimeFigureOut">
              <a:rPr lang="en-US" smtClean="0"/>
              <a:t>06/11/2020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38DD537-98A7-45AC-BABB-40151CDDAFEB}" type="slidenum">
              <a:rPr lang="en-US" smtClean="0"/>
              <a:t>‹#›</a:t>
            </a:fld>
            <a:endParaRPr lang="en-US"/>
          </a:p>
        </p:txBody>
      </p:sp>
    </p:spTree>
    <p:extLst>
      <p:ext uri="{BB962C8B-B14F-4D97-AF65-F5344CB8AC3E}">
        <p14:creationId xmlns:p14="http://schemas.microsoft.com/office/powerpoint/2010/main" val="1165843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06/11/2020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06/11/2020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06/11/2020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06/11/2020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06/11/2020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06/11/2020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06/11/2020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06/11/2020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06/11/2020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06/11/2020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06/11/2020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06/11/2020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4"/>
          <p:cNvSpPr>
            <a:spLocks noGrp="1" noChangeArrowheads="1"/>
          </p:cNvSpPr>
          <p:nvPr>
            <p:ph type="ctrTitle"/>
          </p:nvPr>
        </p:nvSpPr>
        <p:spPr>
          <a:xfrm>
            <a:off x="685800" y="1600200"/>
            <a:ext cx="7772400" cy="1447800"/>
          </a:xfrm>
        </p:spPr>
        <p:txBody>
          <a:bodyPr>
            <a:normAutofit fontScale="90000"/>
          </a:bodyPr>
          <a:lstStyle/>
          <a:p>
            <a:r>
              <a:rPr lang="en-US" sz="7200" dirty="0"/>
              <a:t>A Gift of Fire</a:t>
            </a:r>
            <a:r>
              <a:rPr lang="en-US" dirty="0"/>
              <a:t/>
            </a:r>
            <a:br>
              <a:rPr lang="en-US" dirty="0"/>
            </a:br>
            <a:r>
              <a:rPr lang="en-US" sz="2400" dirty="0" smtClean="0"/>
              <a:t>Fourth </a:t>
            </a:r>
            <a:r>
              <a:rPr lang="en-US" sz="2400" dirty="0"/>
              <a:t>edition</a:t>
            </a:r>
            <a:br>
              <a:rPr lang="en-US" sz="2400" dirty="0"/>
            </a:br>
            <a:r>
              <a:rPr lang="en-US" sz="4800" dirty="0"/>
              <a:t>Sara </a:t>
            </a:r>
            <a:r>
              <a:rPr lang="en-US" sz="4800" dirty="0" err="1"/>
              <a:t>Baase</a:t>
            </a:r>
            <a:endParaRPr lang="en-US" dirty="0"/>
          </a:p>
        </p:txBody>
      </p:sp>
      <p:sp>
        <p:nvSpPr>
          <p:cNvPr id="20485" name="Rectangle 5"/>
          <p:cNvSpPr>
            <a:spLocks noGrp="1" noChangeArrowheads="1"/>
          </p:cNvSpPr>
          <p:nvPr>
            <p:ph type="subTitle" idx="1"/>
          </p:nvPr>
        </p:nvSpPr>
        <p:spPr/>
        <p:txBody>
          <a:bodyPr/>
          <a:lstStyle/>
          <a:p>
            <a:r>
              <a:rPr lang="en-US" dirty="0"/>
              <a:t>Chapter 5: Crime</a:t>
            </a:r>
          </a:p>
        </p:txBody>
      </p:sp>
    </p:spTree>
    <p:extLst>
      <p:ext uri="{BB962C8B-B14F-4D97-AF65-F5344CB8AC3E}">
        <p14:creationId xmlns:p14="http://schemas.microsoft.com/office/powerpoint/2010/main" val="37425894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4"/>
          <p:cNvSpPr>
            <a:spLocks noGrp="1" noChangeArrowheads="1"/>
          </p:cNvSpPr>
          <p:nvPr>
            <p:ph type="title"/>
          </p:nvPr>
        </p:nvSpPr>
        <p:spPr/>
        <p:txBody>
          <a:bodyPr/>
          <a:lstStyle/>
          <a:p>
            <a:r>
              <a:rPr lang="en-US"/>
              <a:t>What We Will Cover</a:t>
            </a:r>
          </a:p>
        </p:txBody>
      </p:sp>
      <p:sp>
        <p:nvSpPr>
          <p:cNvPr id="25605" name="Rectangle 5"/>
          <p:cNvSpPr>
            <a:spLocks noGrp="1" noChangeArrowheads="1"/>
          </p:cNvSpPr>
          <p:nvPr>
            <p:ph type="body" idx="1"/>
          </p:nvPr>
        </p:nvSpPr>
        <p:spPr/>
        <p:txBody>
          <a:bodyPr/>
          <a:lstStyle/>
          <a:p>
            <a:r>
              <a:rPr lang="en-US"/>
              <a:t>Hacking</a:t>
            </a:r>
          </a:p>
          <a:p>
            <a:r>
              <a:rPr lang="en-US"/>
              <a:t>Identity Theft and Credit Card Fraud</a:t>
            </a:r>
          </a:p>
          <a:p>
            <a:r>
              <a:rPr lang="en-US"/>
              <a:t>Scams and Forgery</a:t>
            </a:r>
          </a:p>
          <a:p>
            <a:r>
              <a:rPr lang="en-US"/>
              <a:t>Crime Fighting Versus Privacy and Civil Liberties</a:t>
            </a:r>
          </a:p>
          <a:p>
            <a:r>
              <a:rPr lang="en-US"/>
              <a:t>Laws That Rule the Web</a:t>
            </a:r>
          </a:p>
          <a:p>
            <a:endParaRPr lang="en-US"/>
          </a:p>
        </p:txBody>
      </p:sp>
    </p:spTree>
    <p:extLst>
      <p:ext uri="{BB962C8B-B14F-4D97-AF65-F5344CB8AC3E}">
        <p14:creationId xmlns:p14="http://schemas.microsoft.com/office/powerpoint/2010/main" val="20098236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rmAutofit fontScale="90000"/>
          </a:bodyPr>
          <a:lstStyle/>
          <a:p>
            <a:r>
              <a:rPr lang="en-US" b="1" dirty="0"/>
              <a:t>Hackers as Security Researchers</a:t>
            </a:r>
            <a:r>
              <a:rPr lang="en-US" dirty="0"/>
              <a:t/>
            </a:r>
            <a:br>
              <a:rPr lang="en-US" dirty="0"/>
            </a:br>
            <a:endParaRPr lang="en-US" dirty="0"/>
          </a:p>
        </p:txBody>
      </p:sp>
      <p:sp>
        <p:nvSpPr>
          <p:cNvPr id="2" name="Content Placeholder 1"/>
          <p:cNvSpPr>
            <a:spLocks noGrp="1"/>
          </p:cNvSpPr>
          <p:nvPr>
            <p:ph idx="1"/>
          </p:nvPr>
        </p:nvSpPr>
        <p:spPr/>
        <p:txBody>
          <a:bodyPr>
            <a:normAutofit fontScale="85000" lnSpcReduction="20000"/>
          </a:bodyPr>
          <a:lstStyle/>
          <a:p>
            <a:pPr marL="0" indent="0" algn="just">
              <a:buNone/>
            </a:pPr>
            <a:r>
              <a:rPr lang="en-US" dirty="0"/>
              <a:t>Since well before the advent of </a:t>
            </a:r>
            <a:r>
              <a:rPr lang="en-US" dirty="0" smtClean="0"/>
              <a:t>the Web </a:t>
            </a:r>
            <a:r>
              <a:rPr lang="en-US" dirty="0"/>
              <a:t>there has been a subculture of hackers who </a:t>
            </a:r>
            <a:r>
              <a:rPr lang="en-US" dirty="0" smtClean="0"/>
              <a:t>probe computer </a:t>
            </a:r>
            <a:r>
              <a:rPr lang="en-US" dirty="0"/>
              <a:t>systems, most often without permission, to find security flaws as an </a:t>
            </a:r>
            <a:r>
              <a:rPr lang="en-US" dirty="0" smtClean="0"/>
              <a:t>intellectual exercise </a:t>
            </a:r>
            <a:r>
              <a:rPr lang="en-US" dirty="0"/>
              <a:t>and, for some, as a public service. </a:t>
            </a:r>
            <a:endParaRPr lang="en-US" dirty="0" smtClean="0"/>
          </a:p>
          <a:p>
            <a:pPr marL="0" indent="0" algn="just">
              <a:buNone/>
            </a:pPr>
            <a:r>
              <a:rPr lang="en-US" dirty="0" smtClean="0"/>
              <a:t>They </a:t>
            </a:r>
            <a:r>
              <a:rPr lang="en-US" dirty="0"/>
              <a:t>sometimes call themselves “</a:t>
            </a:r>
            <a:r>
              <a:rPr lang="en-US" dirty="0" smtClean="0"/>
              <a:t>security researchers</a:t>
            </a:r>
            <a:r>
              <a:rPr lang="en-US" dirty="0"/>
              <a:t>” to avoid the now negative connotation of the term hacker</a:t>
            </a:r>
            <a:r>
              <a:rPr lang="en-US" dirty="0" smtClean="0"/>
              <a:t>.</a:t>
            </a:r>
          </a:p>
          <a:p>
            <a:pPr marL="0" indent="0" algn="just">
              <a:buNone/>
            </a:pPr>
            <a:r>
              <a:rPr lang="en-US" dirty="0" smtClean="0"/>
              <a:t> </a:t>
            </a:r>
            <a:r>
              <a:rPr lang="en-US" dirty="0"/>
              <a:t>In old </a:t>
            </a:r>
            <a:r>
              <a:rPr lang="en-US" dirty="0" smtClean="0"/>
              <a:t>cowboy movies</a:t>
            </a:r>
            <a:r>
              <a:rPr lang="en-US" dirty="0"/>
              <a:t>, the good guys wore white hats and the bad guys wore black hats. So some </a:t>
            </a:r>
            <a:r>
              <a:rPr lang="en-US" dirty="0" smtClean="0"/>
              <a:t>people use </a:t>
            </a:r>
            <a:r>
              <a:rPr lang="en-US" dirty="0"/>
              <a:t>the terms “white hat hacker” and “black hat hacker” for the cowboys of the </a:t>
            </a:r>
            <a:r>
              <a:rPr lang="en-US" dirty="0" smtClean="0"/>
              <a:t>computer frontier</a:t>
            </a:r>
            <a:r>
              <a:rPr lang="en-US" dirty="0"/>
              <a:t>. White hat hackers, for the most part, use their skills to demonstrate </a:t>
            </a:r>
            <a:r>
              <a:rPr lang="en-US" dirty="0" smtClean="0"/>
              <a:t>system vulnerabilities </a:t>
            </a:r>
            <a:r>
              <a:rPr lang="en-US" dirty="0"/>
              <a:t>and improve security. </a:t>
            </a:r>
            <a:endParaRPr lang="en-US" dirty="0" smtClean="0"/>
          </a:p>
          <a:p>
            <a:pPr marL="0" indent="0" algn="just">
              <a:buNone/>
            </a:pPr>
            <a:endParaRPr lang="en-US" dirty="0"/>
          </a:p>
        </p:txBody>
      </p:sp>
    </p:spTree>
    <p:extLst>
      <p:ext uri="{BB962C8B-B14F-4D97-AF65-F5344CB8AC3E}">
        <p14:creationId xmlns:p14="http://schemas.microsoft.com/office/powerpoint/2010/main" val="164216888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rmAutofit fontScale="90000"/>
          </a:bodyPr>
          <a:lstStyle/>
          <a:p>
            <a:r>
              <a:rPr lang="en-US" b="1" dirty="0"/>
              <a:t>Hackers as Security Researchers</a:t>
            </a:r>
            <a:r>
              <a:rPr lang="en-US" dirty="0"/>
              <a:t/>
            </a:r>
            <a:br>
              <a:rPr lang="en-US" dirty="0"/>
            </a:br>
            <a:endParaRPr lang="en-US" dirty="0"/>
          </a:p>
        </p:txBody>
      </p:sp>
      <p:sp>
        <p:nvSpPr>
          <p:cNvPr id="2" name="Content Placeholder 1"/>
          <p:cNvSpPr>
            <a:spLocks noGrp="1"/>
          </p:cNvSpPr>
          <p:nvPr>
            <p:ph idx="1"/>
          </p:nvPr>
        </p:nvSpPr>
        <p:spPr/>
        <p:txBody>
          <a:bodyPr>
            <a:normAutofit fontScale="77500" lnSpcReduction="20000"/>
          </a:bodyPr>
          <a:lstStyle/>
          <a:p>
            <a:pPr marL="0" indent="0" algn="just">
              <a:buNone/>
            </a:pPr>
            <a:r>
              <a:rPr lang="en-US" dirty="0" smtClean="0"/>
              <a:t>Those </a:t>
            </a:r>
            <a:r>
              <a:rPr lang="en-US" dirty="0"/>
              <a:t>who use methods of questionable legality </a:t>
            </a:r>
            <a:r>
              <a:rPr lang="en-US" dirty="0" smtClean="0"/>
              <a:t>or who </a:t>
            </a:r>
            <a:r>
              <a:rPr lang="en-US" dirty="0"/>
              <a:t>publicize vulnerabilities before informing the system owners are sometimes </a:t>
            </a:r>
            <a:r>
              <a:rPr lang="en-US" dirty="0" smtClean="0"/>
              <a:t>called “</a:t>
            </a:r>
            <a:r>
              <a:rPr lang="en-US" dirty="0"/>
              <a:t>gray hats.” </a:t>
            </a:r>
            <a:endParaRPr lang="en-US" dirty="0" smtClean="0"/>
          </a:p>
          <a:p>
            <a:pPr marL="0" indent="0" algn="just">
              <a:buNone/>
            </a:pPr>
            <a:r>
              <a:rPr lang="en-US" dirty="0" smtClean="0"/>
              <a:t>Many </a:t>
            </a:r>
            <a:r>
              <a:rPr lang="en-US" dirty="0"/>
              <a:t>are computer security professionals. Some spent time in jail or </a:t>
            </a:r>
            <a:r>
              <a:rPr lang="en-US" dirty="0" smtClean="0"/>
              <a:t>on probation </a:t>
            </a:r>
            <a:r>
              <a:rPr lang="en-US" dirty="0"/>
              <a:t>for hacking when in their teens. </a:t>
            </a:r>
            <a:endParaRPr lang="en-US" dirty="0" smtClean="0"/>
          </a:p>
          <a:p>
            <a:pPr marL="0" indent="0" algn="just">
              <a:buNone/>
            </a:pPr>
            <a:endParaRPr lang="en-US" dirty="0" smtClean="0"/>
          </a:p>
          <a:p>
            <a:pPr marL="0" indent="0" algn="just">
              <a:buNone/>
            </a:pPr>
            <a:r>
              <a:rPr lang="en-US" dirty="0" smtClean="0"/>
              <a:t>The </a:t>
            </a:r>
            <a:r>
              <a:rPr lang="en-US" dirty="0"/>
              <a:t>security researcher who found that </a:t>
            </a:r>
            <a:r>
              <a:rPr lang="en-US" dirty="0" smtClean="0"/>
              <a:t>some smartphones </a:t>
            </a:r>
            <a:r>
              <a:rPr lang="en-US" dirty="0"/>
              <a:t>sent location and ID data to Google and Apple is one example</a:t>
            </a:r>
            <a:r>
              <a:rPr lang="en-US" dirty="0" smtClean="0"/>
              <a:t>. Security </a:t>
            </a:r>
            <a:r>
              <a:rPr lang="en-US" dirty="0"/>
              <a:t>researcher hackers face ethical dilemmas</a:t>
            </a:r>
            <a:r>
              <a:rPr lang="en-US" dirty="0" smtClean="0"/>
              <a:t>.</a:t>
            </a:r>
          </a:p>
          <a:p>
            <a:pPr marL="0" indent="0" algn="just">
              <a:buNone/>
            </a:pPr>
            <a:endParaRPr lang="en-US" dirty="0" smtClean="0"/>
          </a:p>
          <a:p>
            <a:pPr marL="0" indent="0" algn="just">
              <a:buNone/>
            </a:pPr>
            <a:r>
              <a:rPr lang="en-US" dirty="0" smtClean="0"/>
              <a:t>The </a:t>
            </a:r>
            <a:r>
              <a:rPr lang="en-US" dirty="0"/>
              <a:t>most obvious is: Is it </a:t>
            </a:r>
            <a:r>
              <a:rPr lang="en-US" dirty="0" smtClean="0"/>
              <a:t>ethical to </a:t>
            </a:r>
            <a:r>
              <a:rPr lang="en-US" dirty="0"/>
              <a:t>break into a system without permission, even with good intentions</a:t>
            </a:r>
            <a:r>
              <a:rPr lang="en-US" dirty="0" smtClean="0"/>
              <a:t>?</a:t>
            </a:r>
            <a:endParaRPr lang="en-US" dirty="0"/>
          </a:p>
        </p:txBody>
      </p:sp>
    </p:spTree>
    <p:extLst>
      <p:ext uri="{BB962C8B-B14F-4D97-AF65-F5344CB8AC3E}">
        <p14:creationId xmlns:p14="http://schemas.microsoft.com/office/powerpoint/2010/main" val="41387313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rmAutofit fontScale="90000"/>
          </a:bodyPr>
          <a:lstStyle/>
          <a:p>
            <a:r>
              <a:rPr lang="en-US" b="1" dirty="0"/>
              <a:t>Hackers as Security Researchers</a:t>
            </a:r>
            <a:r>
              <a:rPr lang="en-US" dirty="0"/>
              <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pPr marL="0" indent="0" algn="just">
              <a:buNone/>
            </a:pPr>
            <a:r>
              <a:rPr lang="en-US" dirty="0"/>
              <a:t> Another dilemma is: How can people responsibly inform potential </a:t>
            </a:r>
            <a:r>
              <a:rPr lang="en-US" dirty="0" smtClean="0"/>
              <a:t>victims of </a:t>
            </a:r>
            <a:r>
              <a:rPr lang="en-US" dirty="0"/>
              <a:t>security vulnerabilities without informing malicious hackers who would exploit them</a:t>
            </a:r>
            <a:r>
              <a:rPr lang="en-US" dirty="0" smtClean="0"/>
              <a:t>? </a:t>
            </a:r>
          </a:p>
          <a:p>
            <a:pPr marL="0" indent="0" algn="just">
              <a:buNone/>
            </a:pPr>
            <a:r>
              <a:rPr lang="en-US" dirty="0" smtClean="0"/>
              <a:t>Some </a:t>
            </a:r>
            <a:r>
              <a:rPr lang="en-US" dirty="0"/>
              <a:t>post details about security weaknesses on the Internet</a:t>
            </a:r>
            <a:r>
              <a:rPr lang="en-US" dirty="0" smtClean="0"/>
              <a:t>.</a:t>
            </a:r>
          </a:p>
          <a:p>
            <a:pPr marL="0" indent="0" algn="just">
              <a:buNone/>
            </a:pPr>
            <a:r>
              <a:rPr lang="en-US" dirty="0" smtClean="0"/>
              <a:t> </a:t>
            </a:r>
            <a:r>
              <a:rPr lang="en-US" dirty="0"/>
              <a:t>Some work quietly </a:t>
            </a:r>
            <a:r>
              <a:rPr lang="en-US" dirty="0" smtClean="0"/>
              <a:t>with software </a:t>
            </a:r>
            <a:r>
              <a:rPr lang="en-US" dirty="0"/>
              <a:t>companies</a:t>
            </a:r>
            <a:r>
              <a:rPr lang="en-US" dirty="0" smtClean="0"/>
              <a:t>.</a:t>
            </a:r>
          </a:p>
          <a:p>
            <a:pPr marL="0" indent="0" algn="just">
              <a:buNone/>
            </a:pPr>
            <a:r>
              <a:rPr lang="en-US" dirty="0" smtClean="0"/>
              <a:t>Most </a:t>
            </a:r>
            <a:r>
              <a:rPr lang="en-US" dirty="0"/>
              <a:t>computer professionals are very critical of the first approach</a:t>
            </a:r>
            <a:r>
              <a:rPr lang="en-US" dirty="0" smtClean="0"/>
              <a:t>.</a:t>
            </a:r>
          </a:p>
          <a:p>
            <a:pPr marL="0" indent="0" algn="just">
              <a:buNone/>
            </a:pPr>
            <a:r>
              <a:rPr lang="en-US" dirty="0" smtClean="0"/>
              <a:t> Responsible </a:t>
            </a:r>
            <a:r>
              <a:rPr lang="en-US" dirty="0"/>
              <a:t>security professionals do not announce security flaws to the public as </a:t>
            </a:r>
            <a:r>
              <a:rPr lang="en-US" dirty="0" smtClean="0"/>
              <a:t>soon as </a:t>
            </a:r>
            <a:r>
              <a:rPr lang="en-US" dirty="0"/>
              <a:t>they discover them</a:t>
            </a:r>
            <a:r>
              <a:rPr lang="en-US" dirty="0" smtClean="0"/>
              <a:t>.</a:t>
            </a:r>
          </a:p>
          <a:p>
            <a:pPr marL="0" indent="0" algn="just">
              <a:buNone/>
            </a:pPr>
            <a:r>
              <a:rPr lang="en-US" dirty="0" smtClean="0"/>
              <a:t> </a:t>
            </a:r>
            <a:r>
              <a:rPr lang="en-US" dirty="0"/>
              <a:t>They inform the software company or system manager </a:t>
            </a:r>
            <a:r>
              <a:rPr lang="en-US" dirty="0" smtClean="0"/>
              <a:t>responsible for </a:t>
            </a:r>
            <a:r>
              <a:rPr lang="en-US" dirty="0"/>
              <a:t>the software and allow time for them to prepare patches (corrections) or </a:t>
            </a:r>
            <a:r>
              <a:rPr lang="en-US" dirty="0" smtClean="0"/>
              <a:t>close security </a:t>
            </a:r>
            <a:r>
              <a:rPr lang="en-US" dirty="0"/>
              <a:t>holes before making a public announcement. </a:t>
            </a:r>
          </a:p>
          <a:p>
            <a:pPr algn="just"/>
            <a:endParaRPr lang="en-US" dirty="0"/>
          </a:p>
        </p:txBody>
      </p:sp>
    </p:spTree>
    <p:extLst>
      <p:ext uri="{BB962C8B-B14F-4D97-AF65-F5344CB8AC3E}">
        <p14:creationId xmlns:p14="http://schemas.microsoft.com/office/powerpoint/2010/main" val="14708943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rmAutofit fontScale="90000"/>
          </a:bodyPr>
          <a:lstStyle/>
          <a:p>
            <a:r>
              <a:rPr lang="en-US" b="1" dirty="0"/>
              <a:t>Hackers as Security Researchers</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marL="0" indent="0" algn="just">
              <a:buNone/>
            </a:pPr>
            <a:r>
              <a:rPr lang="en-US" dirty="0" smtClean="0"/>
              <a:t>They </a:t>
            </a:r>
            <a:r>
              <a:rPr lang="en-US" dirty="0"/>
              <a:t>believe that when a </a:t>
            </a:r>
            <a:r>
              <a:rPr lang="en-US" dirty="0" smtClean="0"/>
              <a:t>security researcher </a:t>
            </a:r>
            <a:r>
              <a:rPr lang="en-US" dirty="0"/>
              <a:t>hacker discovers a security weakness in a system, he or she should do </a:t>
            </a:r>
            <a:r>
              <a:rPr lang="en-US" dirty="0" smtClean="0"/>
              <a:t>the same.</a:t>
            </a:r>
          </a:p>
          <a:p>
            <a:pPr marL="0" indent="0" algn="just">
              <a:buNone/>
            </a:pPr>
            <a:r>
              <a:rPr lang="en-US" dirty="0" smtClean="0"/>
              <a:t> Exposing </a:t>
            </a:r>
            <a:r>
              <a:rPr lang="en-US" dirty="0"/>
              <a:t>security flaws is not a legitimate justification for most hacking, but, as </a:t>
            </a:r>
            <a:r>
              <a:rPr lang="en-US" dirty="0" smtClean="0"/>
              <a:t>a side </a:t>
            </a:r>
            <a:r>
              <a:rPr lang="en-US" dirty="0"/>
              <a:t>effect, it does sometimes speed up security improvements. </a:t>
            </a:r>
            <a:endParaRPr lang="en-US" dirty="0" smtClean="0"/>
          </a:p>
          <a:p>
            <a:pPr marL="0" indent="0" algn="just">
              <a:buNone/>
            </a:pPr>
            <a:r>
              <a:rPr lang="en-US" dirty="0" smtClean="0"/>
              <a:t>As </a:t>
            </a:r>
            <a:r>
              <a:rPr lang="en-US" dirty="0"/>
              <a:t>software companies</a:t>
            </a:r>
            <a:r>
              <a:rPr lang="en-US" dirty="0" smtClean="0"/>
              <a:t>, financial </a:t>
            </a:r>
            <a:r>
              <a:rPr lang="en-US" dirty="0"/>
              <a:t>companies, and online retailers began taking security more seriously, some </a:t>
            </a:r>
            <a:r>
              <a:rPr lang="en-US" dirty="0" smtClean="0"/>
              <a:t>began treating </a:t>
            </a:r>
            <a:r>
              <a:rPr lang="en-US" dirty="0"/>
              <a:t>well-intentioned hackers as allies rather than enemies.</a:t>
            </a:r>
          </a:p>
          <a:p>
            <a:pPr algn="just"/>
            <a:endParaRPr lang="en-US" dirty="0"/>
          </a:p>
        </p:txBody>
      </p:sp>
    </p:spTree>
    <p:extLst>
      <p:ext uri="{BB962C8B-B14F-4D97-AF65-F5344CB8AC3E}">
        <p14:creationId xmlns:p14="http://schemas.microsoft.com/office/powerpoint/2010/main" val="7392916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rmAutofit/>
          </a:bodyPr>
          <a:lstStyle/>
          <a:p>
            <a:r>
              <a:rPr lang="en-US" b="1" dirty="0"/>
              <a:t>Hacking as Foreign Policy</a:t>
            </a:r>
            <a:endParaRPr lang="en-US" dirty="0"/>
          </a:p>
        </p:txBody>
      </p:sp>
      <p:sp>
        <p:nvSpPr>
          <p:cNvPr id="3" name="Content Placeholder 2"/>
          <p:cNvSpPr>
            <a:spLocks noGrp="1"/>
          </p:cNvSpPr>
          <p:nvPr>
            <p:ph idx="1"/>
          </p:nvPr>
        </p:nvSpPr>
        <p:spPr/>
        <p:txBody>
          <a:bodyPr>
            <a:normAutofit fontScale="85000" lnSpcReduction="10000"/>
          </a:bodyPr>
          <a:lstStyle/>
          <a:p>
            <a:pPr marL="0" indent="0" algn="just">
              <a:buNone/>
            </a:pPr>
            <a:r>
              <a:rPr lang="en-US" dirty="0"/>
              <a:t>Hacking by governments—for economic and military espionage and to disable </a:t>
            </a:r>
            <a:r>
              <a:rPr lang="en-US" dirty="0" smtClean="0"/>
              <a:t>enemies (</a:t>
            </a:r>
            <a:r>
              <a:rPr lang="en-US" dirty="0"/>
              <a:t>or future enemies)—has increased dramatically in the past few years. </a:t>
            </a:r>
            <a:endParaRPr lang="en-US" dirty="0" smtClean="0"/>
          </a:p>
          <a:p>
            <a:pPr marL="0" indent="0" algn="just">
              <a:buNone/>
            </a:pPr>
            <a:r>
              <a:rPr lang="en-US" dirty="0" smtClean="0"/>
              <a:t>The </a:t>
            </a:r>
            <a:r>
              <a:rPr lang="en-US" dirty="0"/>
              <a:t>first </a:t>
            </a:r>
            <a:r>
              <a:rPr lang="en-US" dirty="0" smtClean="0"/>
              <a:t>cyber attack </a:t>
            </a:r>
            <a:r>
              <a:rPr lang="en-US" dirty="0"/>
              <a:t>apparently coordinated with a military attack occurred in 2008 when the </a:t>
            </a:r>
            <a:r>
              <a:rPr lang="en-US" dirty="0" smtClean="0"/>
              <a:t>Russian military </a:t>
            </a:r>
            <a:r>
              <a:rPr lang="en-US" dirty="0"/>
              <a:t>moved into Georgia (the former Soviet republic). </a:t>
            </a:r>
            <a:endParaRPr lang="en-US" dirty="0" smtClean="0"/>
          </a:p>
          <a:p>
            <a:pPr marL="0" indent="0" algn="just">
              <a:buNone/>
            </a:pPr>
            <a:r>
              <a:rPr lang="en-US" dirty="0" smtClean="0"/>
              <a:t>Georgian </a:t>
            </a:r>
            <a:r>
              <a:rPr lang="en-US" dirty="0"/>
              <a:t>government </a:t>
            </a:r>
            <a:r>
              <a:rPr lang="en-US" dirty="0" smtClean="0"/>
              <a:t>websites were </a:t>
            </a:r>
            <a:r>
              <a:rPr lang="en-US" dirty="0"/>
              <a:t>attacked and some disabled</a:t>
            </a:r>
            <a:r>
              <a:rPr lang="en-US" dirty="0" smtClean="0"/>
              <a:t>.</a:t>
            </a:r>
          </a:p>
          <a:p>
            <a:pPr marL="0" indent="0" algn="just">
              <a:buNone/>
            </a:pPr>
            <a:r>
              <a:rPr lang="en-US" dirty="0" smtClean="0"/>
              <a:t>Internet </a:t>
            </a:r>
            <a:r>
              <a:rPr lang="en-US" dirty="0"/>
              <a:t>security experts and the Georgian </a:t>
            </a:r>
            <a:r>
              <a:rPr lang="en-US" dirty="0" smtClean="0"/>
              <a:t>government thought </a:t>
            </a:r>
            <a:r>
              <a:rPr lang="en-US" dirty="0"/>
              <a:t>it very likely that the Russian government was responsible. </a:t>
            </a:r>
          </a:p>
        </p:txBody>
      </p:sp>
    </p:spTree>
    <p:extLst>
      <p:ext uri="{BB962C8B-B14F-4D97-AF65-F5344CB8AC3E}">
        <p14:creationId xmlns:p14="http://schemas.microsoft.com/office/powerpoint/2010/main" val="1724120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rmAutofit/>
          </a:bodyPr>
          <a:lstStyle/>
          <a:p>
            <a:r>
              <a:rPr lang="en-US" b="1" dirty="0"/>
              <a:t>Hacking as Foreign Policy</a:t>
            </a:r>
            <a:endParaRPr lang="en-US" dirty="0"/>
          </a:p>
        </p:txBody>
      </p:sp>
      <p:sp>
        <p:nvSpPr>
          <p:cNvPr id="3" name="Content Placeholder 2"/>
          <p:cNvSpPr>
            <a:spLocks noGrp="1"/>
          </p:cNvSpPr>
          <p:nvPr>
            <p:ph idx="1"/>
          </p:nvPr>
        </p:nvSpPr>
        <p:spPr/>
        <p:txBody>
          <a:bodyPr>
            <a:normAutofit fontScale="92500" lnSpcReduction="20000"/>
          </a:bodyPr>
          <a:lstStyle/>
          <a:p>
            <a:pPr marL="0" indent="0" algn="just">
              <a:buNone/>
            </a:pPr>
            <a:r>
              <a:rPr lang="en-US" dirty="0" smtClean="0"/>
              <a:t>The </a:t>
            </a:r>
            <a:r>
              <a:rPr lang="en-US" dirty="0"/>
              <a:t>source of </a:t>
            </a:r>
            <a:r>
              <a:rPr lang="en-US" dirty="0" smtClean="0"/>
              <a:t>the  attack </a:t>
            </a:r>
            <a:r>
              <a:rPr lang="en-US" dirty="0"/>
              <a:t>could not be definitely determined, a frequent problem with </a:t>
            </a:r>
            <a:r>
              <a:rPr lang="en-US" dirty="0" smtClean="0"/>
              <a:t>cyber attacks</a:t>
            </a:r>
            <a:r>
              <a:rPr lang="en-US" dirty="0"/>
              <a:t>. </a:t>
            </a:r>
            <a:endParaRPr lang="en-US" dirty="0" smtClean="0"/>
          </a:p>
          <a:p>
            <a:pPr marL="0" indent="0" algn="just">
              <a:buNone/>
            </a:pPr>
            <a:r>
              <a:rPr lang="en-US" dirty="0" smtClean="0"/>
              <a:t>In </a:t>
            </a:r>
            <a:r>
              <a:rPr lang="en-US" dirty="0"/>
              <a:t>2011</a:t>
            </a:r>
            <a:r>
              <a:rPr lang="en-US" dirty="0" smtClean="0"/>
              <a:t>, the </a:t>
            </a:r>
            <a:r>
              <a:rPr lang="en-US" dirty="0"/>
              <a:t>government of Iran attempted to hack into the computers and phones of </a:t>
            </a:r>
            <a:r>
              <a:rPr lang="en-US" dirty="0" smtClean="0"/>
              <a:t>United Nations </a:t>
            </a:r>
            <a:r>
              <a:rPr lang="en-US" dirty="0"/>
              <a:t>nuclear inspectors who were attempting to learn whether Iran’s nuclear </a:t>
            </a:r>
            <a:r>
              <a:rPr lang="en-US" dirty="0" smtClean="0"/>
              <a:t>facilities are </a:t>
            </a:r>
            <a:r>
              <a:rPr lang="en-US" dirty="0"/>
              <a:t>for military purposes. </a:t>
            </a:r>
            <a:endParaRPr lang="en-US" dirty="0" smtClean="0"/>
          </a:p>
          <a:p>
            <a:pPr marL="0" indent="0" algn="just">
              <a:buNone/>
            </a:pPr>
            <a:r>
              <a:rPr lang="en-US" dirty="0" smtClean="0"/>
              <a:t>Whether </a:t>
            </a:r>
            <a:r>
              <a:rPr lang="en-US" dirty="0"/>
              <a:t>Iran’s intelligence agency was able to extract </a:t>
            </a:r>
            <a:r>
              <a:rPr lang="en-US" dirty="0" smtClean="0"/>
              <a:t>sensitive information </a:t>
            </a:r>
            <a:r>
              <a:rPr lang="en-US" dirty="0"/>
              <a:t>(what the inspectors found, who assisted the inspectors, and so on) </a:t>
            </a:r>
            <a:r>
              <a:rPr lang="en-US" dirty="0" smtClean="0"/>
              <a:t>was uncertain</a:t>
            </a:r>
            <a:r>
              <a:rPr lang="en-US" dirty="0"/>
              <a:t>.</a:t>
            </a:r>
          </a:p>
          <a:p>
            <a:pPr marL="0" indent="0" algn="just">
              <a:buNone/>
            </a:pPr>
            <a:endParaRPr lang="en-US" dirty="0"/>
          </a:p>
        </p:txBody>
      </p:sp>
    </p:spTree>
    <p:extLst>
      <p:ext uri="{BB962C8B-B14F-4D97-AF65-F5344CB8AC3E}">
        <p14:creationId xmlns:p14="http://schemas.microsoft.com/office/powerpoint/2010/main" val="42558670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rmAutofit/>
          </a:bodyPr>
          <a:lstStyle/>
          <a:p>
            <a:r>
              <a:rPr lang="en-US" b="1" dirty="0"/>
              <a:t>Hacking as Foreign Policy</a:t>
            </a:r>
            <a:endParaRPr lang="en-US" dirty="0"/>
          </a:p>
        </p:txBody>
      </p:sp>
      <p:sp>
        <p:nvSpPr>
          <p:cNvPr id="3" name="Content Placeholder 2"/>
          <p:cNvSpPr>
            <a:spLocks noGrp="1"/>
          </p:cNvSpPr>
          <p:nvPr>
            <p:ph idx="1"/>
          </p:nvPr>
        </p:nvSpPr>
        <p:spPr/>
        <p:txBody>
          <a:bodyPr>
            <a:normAutofit fontScale="62500" lnSpcReduction="20000"/>
          </a:bodyPr>
          <a:lstStyle/>
          <a:p>
            <a:pPr marL="0" indent="0" algn="just">
              <a:buNone/>
            </a:pPr>
            <a:r>
              <a:rPr lang="en-US" dirty="0"/>
              <a:t>Many cyber attacks come from China, and once again, it is difficult to prove </a:t>
            </a:r>
            <a:r>
              <a:rPr lang="en-US" dirty="0" smtClean="0"/>
              <a:t>that the </a:t>
            </a:r>
            <a:r>
              <a:rPr lang="en-US" dirty="0"/>
              <a:t>government is behind them. </a:t>
            </a:r>
            <a:endParaRPr lang="en-US" dirty="0" smtClean="0"/>
          </a:p>
          <a:p>
            <a:pPr marL="0" indent="0" algn="just">
              <a:buNone/>
            </a:pPr>
            <a:r>
              <a:rPr lang="en-US" dirty="0" smtClean="0"/>
              <a:t>However</a:t>
            </a:r>
            <a:r>
              <a:rPr lang="en-US" dirty="0"/>
              <a:t>, the nature and sophistication of the attacks</a:t>
            </a:r>
            <a:r>
              <a:rPr lang="en-US" dirty="0" smtClean="0"/>
              <a:t>, as </a:t>
            </a:r>
            <a:r>
              <a:rPr lang="en-US" dirty="0"/>
              <a:t>well as the type of targets lead security researchers to believe that they are the work </a:t>
            </a:r>
            <a:r>
              <a:rPr lang="en-US" dirty="0" smtClean="0"/>
              <a:t>of government </a:t>
            </a:r>
            <a:r>
              <a:rPr lang="en-US" dirty="0"/>
              <a:t>agencies, not civilian hackers. </a:t>
            </a:r>
            <a:endParaRPr lang="en-US" dirty="0" smtClean="0"/>
          </a:p>
          <a:p>
            <a:pPr marL="0" indent="0" algn="just">
              <a:buNone/>
            </a:pPr>
            <a:endParaRPr lang="en-US" dirty="0" smtClean="0"/>
          </a:p>
          <a:p>
            <a:pPr marL="0" indent="0" algn="just">
              <a:buNone/>
            </a:pPr>
            <a:r>
              <a:rPr lang="en-US" dirty="0" smtClean="0"/>
              <a:t>For </a:t>
            </a:r>
            <a:r>
              <a:rPr lang="en-US" dirty="0"/>
              <a:t>example, a Chinese </a:t>
            </a:r>
            <a:r>
              <a:rPr lang="en-US" dirty="0" smtClean="0"/>
              <a:t>government-owned company </a:t>
            </a:r>
            <a:r>
              <a:rPr lang="en-US" dirty="0"/>
              <a:t>sent false messages to the Internet routing system to reroute a large </a:t>
            </a:r>
            <a:r>
              <a:rPr lang="en-US" dirty="0" smtClean="0"/>
              <a:t>amount of </a:t>
            </a:r>
            <a:r>
              <a:rPr lang="en-US" dirty="0"/>
              <a:t>Internet traffic through servers in China</a:t>
            </a:r>
            <a:r>
              <a:rPr lang="en-US" dirty="0" smtClean="0"/>
              <a:t>.</a:t>
            </a:r>
          </a:p>
          <a:p>
            <a:pPr marL="0" indent="0" algn="just">
              <a:buNone/>
            </a:pPr>
            <a:endParaRPr lang="en-US" dirty="0" smtClean="0"/>
          </a:p>
          <a:p>
            <a:pPr marL="0" indent="0" algn="just">
              <a:buNone/>
            </a:pPr>
            <a:r>
              <a:rPr lang="en-US" dirty="0" smtClean="0"/>
              <a:t>The </a:t>
            </a:r>
            <a:r>
              <a:rPr lang="en-US" dirty="0"/>
              <a:t>intended (and eventual) </a:t>
            </a:r>
            <a:r>
              <a:rPr lang="en-US" dirty="0" smtClean="0"/>
              <a:t>destinations of </a:t>
            </a:r>
            <a:r>
              <a:rPr lang="en-US" dirty="0"/>
              <a:t>the rerouted traffic included U.S. military agencies and Congress</a:t>
            </a:r>
            <a:r>
              <a:rPr lang="en-US" dirty="0" smtClean="0"/>
              <a:t>.</a:t>
            </a:r>
          </a:p>
          <a:p>
            <a:pPr marL="0" indent="0" algn="just">
              <a:buNone/>
            </a:pPr>
            <a:endParaRPr lang="en-US" dirty="0"/>
          </a:p>
          <a:p>
            <a:pPr marL="0" indent="0" algn="just">
              <a:buNone/>
            </a:pPr>
            <a:r>
              <a:rPr lang="en-US" dirty="0" smtClean="0"/>
              <a:t>Clearly</a:t>
            </a:r>
            <a:r>
              <a:rPr lang="en-US" dirty="0"/>
              <a:t>, </a:t>
            </a:r>
            <a:r>
              <a:rPr lang="en-US" dirty="0" smtClean="0"/>
              <a:t>someone (</a:t>
            </a:r>
            <a:r>
              <a:rPr lang="en-US" dirty="0"/>
              <a:t>or a government) that does this could spy on, tamper with, or disrupt communications</a:t>
            </a:r>
            <a:r>
              <a:rPr lang="en-US" dirty="0" smtClean="0"/>
              <a:t>. </a:t>
            </a:r>
            <a:r>
              <a:rPr lang="en-US" i="1" dirty="0" smtClean="0"/>
              <a:t>_ </a:t>
            </a:r>
            <a:r>
              <a:rPr lang="en-US" dirty="0"/>
              <a:t>That is, the Internet Protocol address, a string of numbers that identifies a website</a:t>
            </a:r>
            <a:r>
              <a:rPr lang="en-US" dirty="0" smtClean="0"/>
              <a:t>.</a:t>
            </a:r>
            <a:endParaRPr lang="en-US" dirty="0"/>
          </a:p>
          <a:p>
            <a:pPr marL="0" indent="0" algn="just">
              <a:buNone/>
            </a:pPr>
            <a:endParaRPr lang="en-US" dirty="0"/>
          </a:p>
        </p:txBody>
      </p:sp>
    </p:spTree>
    <p:extLst>
      <p:ext uri="{BB962C8B-B14F-4D97-AF65-F5344CB8AC3E}">
        <p14:creationId xmlns:p14="http://schemas.microsoft.com/office/powerpoint/2010/main" val="21001344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rmAutofit/>
          </a:bodyPr>
          <a:lstStyle/>
          <a:p>
            <a:r>
              <a:rPr lang="en-US" b="1" dirty="0"/>
              <a:t>Hacking as Foreign Policy</a:t>
            </a:r>
            <a:endParaRPr lang="en-US" dirty="0"/>
          </a:p>
        </p:txBody>
      </p:sp>
      <p:sp>
        <p:nvSpPr>
          <p:cNvPr id="3" name="Content Placeholder 2"/>
          <p:cNvSpPr>
            <a:spLocks noGrp="1"/>
          </p:cNvSpPr>
          <p:nvPr>
            <p:ph idx="1"/>
          </p:nvPr>
        </p:nvSpPr>
        <p:spPr/>
        <p:txBody>
          <a:bodyPr>
            <a:normAutofit fontScale="70000" lnSpcReduction="20000"/>
          </a:bodyPr>
          <a:lstStyle/>
          <a:p>
            <a:pPr marL="0" indent="0" algn="just">
              <a:buNone/>
            </a:pPr>
            <a:r>
              <a:rPr lang="en-US" dirty="0" smtClean="0"/>
              <a:t>Hackers </a:t>
            </a:r>
            <a:r>
              <a:rPr lang="en-US" dirty="0"/>
              <a:t>stole several terabytes of information about the design of one of the </a:t>
            </a:r>
            <a:r>
              <a:rPr lang="en-US" dirty="0" smtClean="0"/>
              <a:t>Pentagon’s new </a:t>
            </a:r>
            <a:r>
              <a:rPr lang="en-US" dirty="0"/>
              <a:t>and extremely expensive fighter jets. The computer attack appeared to </a:t>
            </a:r>
            <a:r>
              <a:rPr lang="en-US" dirty="0" smtClean="0"/>
              <a:t>originate in </a:t>
            </a:r>
            <a:r>
              <a:rPr lang="en-US" dirty="0"/>
              <a:t>China</a:t>
            </a:r>
            <a:r>
              <a:rPr lang="en-US" dirty="0" smtClean="0"/>
              <a:t>.</a:t>
            </a:r>
          </a:p>
          <a:p>
            <a:pPr marL="0" indent="0" algn="just">
              <a:buNone/>
            </a:pPr>
            <a:r>
              <a:rPr lang="en-US" dirty="0" smtClean="0"/>
              <a:t> </a:t>
            </a:r>
            <a:r>
              <a:rPr lang="en-US" dirty="0"/>
              <a:t>Hackers, apparently in China, had high-level and widespread access to </a:t>
            </a:r>
            <a:r>
              <a:rPr lang="en-US" dirty="0" smtClean="0"/>
              <a:t>the computer </a:t>
            </a:r>
            <a:r>
              <a:rPr lang="en-US" dirty="0"/>
              <a:t>system of a large U.S. telecommunications company for almost 10 years. </a:t>
            </a:r>
            <a:endParaRPr lang="en-US" dirty="0" smtClean="0"/>
          </a:p>
          <a:p>
            <a:pPr marL="0" indent="0" algn="just">
              <a:buNone/>
            </a:pPr>
            <a:r>
              <a:rPr lang="en-US" dirty="0" smtClean="0"/>
              <a:t>They stole </a:t>
            </a:r>
            <a:r>
              <a:rPr lang="en-US" dirty="0"/>
              <a:t>technical documents, research reports, business plans, and email</a:t>
            </a:r>
            <a:r>
              <a:rPr lang="en-US" dirty="0" smtClean="0"/>
              <a:t>.</a:t>
            </a:r>
          </a:p>
          <a:p>
            <a:pPr marL="0" indent="0" algn="just">
              <a:buNone/>
            </a:pPr>
            <a:r>
              <a:rPr lang="en-US" dirty="0" smtClean="0"/>
              <a:t> </a:t>
            </a:r>
            <a:r>
              <a:rPr lang="en-US" dirty="0"/>
              <a:t>Security </a:t>
            </a:r>
            <a:r>
              <a:rPr lang="en-US" dirty="0" smtClean="0"/>
              <a:t>experts report </a:t>
            </a:r>
            <a:r>
              <a:rPr lang="en-US" dirty="0"/>
              <a:t>that Russian and Chinese hackers broke into computer networks that control </a:t>
            </a:r>
            <a:r>
              <a:rPr lang="en-US" dirty="0" smtClean="0"/>
              <a:t>the U.S</a:t>
            </a:r>
            <a:r>
              <a:rPr lang="en-US" dirty="0"/>
              <a:t>. electric power grid. They left behind code that could disrupt the system if activated</a:t>
            </a:r>
            <a:r>
              <a:rPr lang="en-US" dirty="0" smtClean="0"/>
              <a:t>. </a:t>
            </a:r>
          </a:p>
          <a:p>
            <a:pPr marL="0" indent="0" algn="just">
              <a:buNone/>
            </a:pPr>
            <a:r>
              <a:rPr lang="en-US" dirty="0" smtClean="0"/>
              <a:t>Hackers </a:t>
            </a:r>
            <a:r>
              <a:rPr lang="en-US" dirty="0"/>
              <a:t>intruded on U.S. satellites to the point where they could control, damage, </a:t>
            </a:r>
            <a:r>
              <a:rPr lang="en-US" dirty="0" smtClean="0"/>
              <a:t>or destroy </a:t>
            </a:r>
            <a:r>
              <a:rPr lang="en-US" dirty="0"/>
              <a:t>them (but did not do so). Hackers, apparently in China, systematically </a:t>
            </a:r>
            <a:r>
              <a:rPr lang="en-US" dirty="0" smtClean="0"/>
              <a:t>hacked oil </a:t>
            </a:r>
            <a:r>
              <a:rPr lang="en-US" dirty="0"/>
              <a:t>and gas companies worldwide.</a:t>
            </a:r>
          </a:p>
          <a:p>
            <a:pPr marL="0" indent="0" algn="just">
              <a:buNone/>
            </a:pPr>
            <a:endParaRPr lang="en-US" dirty="0"/>
          </a:p>
        </p:txBody>
      </p:sp>
    </p:spTree>
    <p:extLst>
      <p:ext uri="{BB962C8B-B14F-4D97-AF65-F5344CB8AC3E}">
        <p14:creationId xmlns:p14="http://schemas.microsoft.com/office/powerpoint/2010/main" val="316404964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rmAutofit/>
          </a:bodyPr>
          <a:lstStyle/>
          <a:p>
            <a:r>
              <a:rPr lang="en-US" b="1" dirty="0"/>
              <a:t>Hacking as Foreign Policy</a:t>
            </a:r>
            <a:endParaRPr lang="en-US" dirty="0"/>
          </a:p>
        </p:txBody>
      </p:sp>
      <p:sp>
        <p:nvSpPr>
          <p:cNvPr id="3" name="Content Placeholder 2"/>
          <p:cNvSpPr>
            <a:spLocks noGrp="1"/>
          </p:cNvSpPr>
          <p:nvPr>
            <p:ph idx="1"/>
          </p:nvPr>
        </p:nvSpPr>
        <p:spPr/>
        <p:txBody>
          <a:bodyPr>
            <a:normAutofit fontScale="77500" lnSpcReduction="20000"/>
          </a:bodyPr>
          <a:lstStyle/>
          <a:p>
            <a:pPr marL="0" indent="0" algn="just">
              <a:buNone/>
            </a:pPr>
            <a:r>
              <a:rPr lang="en-US" dirty="0"/>
              <a:t>A 2011 attack on the Gmail accounts of White House staffers, China policy experts</a:t>
            </a:r>
            <a:r>
              <a:rPr lang="en-US" dirty="0" smtClean="0"/>
              <a:t>, military </a:t>
            </a:r>
            <a:r>
              <a:rPr lang="en-US" dirty="0"/>
              <a:t>officials, human rights activists, and others originated in a Chinese </a:t>
            </a:r>
            <a:r>
              <a:rPr lang="en-US" dirty="0" smtClean="0"/>
              <a:t>city where </a:t>
            </a:r>
            <a:r>
              <a:rPr lang="en-US" dirty="0"/>
              <a:t>a major Chinese national security division is located</a:t>
            </a:r>
            <a:r>
              <a:rPr lang="en-US" dirty="0" smtClean="0"/>
              <a:t>.</a:t>
            </a:r>
          </a:p>
          <a:p>
            <a:pPr marL="0" indent="0" algn="just">
              <a:buNone/>
            </a:pPr>
            <a:r>
              <a:rPr lang="en-US" dirty="0" smtClean="0"/>
              <a:t> </a:t>
            </a:r>
            <a:r>
              <a:rPr lang="en-US" dirty="0"/>
              <a:t>This attack used email </a:t>
            </a:r>
            <a:r>
              <a:rPr lang="en-US" dirty="0" smtClean="0"/>
              <a:t>carefully written </a:t>
            </a:r>
            <a:r>
              <a:rPr lang="en-US" dirty="0"/>
              <a:t>in government jargon about State Department reports to fool the </a:t>
            </a:r>
            <a:r>
              <a:rPr lang="en-US" dirty="0" smtClean="0"/>
              <a:t>recipients into </a:t>
            </a:r>
            <a:r>
              <a:rPr lang="en-US" dirty="0"/>
              <a:t>thinking the email was authentic</a:t>
            </a:r>
            <a:r>
              <a:rPr lang="en-US" dirty="0" smtClean="0"/>
              <a:t>.</a:t>
            </a:r>
          </a:p>
          <a:p>
            <a:pPr marL="0" indent="0" algn="just">
              <a:buNone/>
            </a:pPr>
            <a:r>
              <a:rPr lang="en-US" dirty="0" smtClean="0"/>
              <a:t> </a:t>
            </a:r>
            <a:r>
              <a:rPr lang="en-US" dirty="0"/>
              <a:t>High-level government officials (and </a:t>
            </a:r>
            <a:r>
              <a:rPr lang="en-US" dirty="0" smtClean="0"/>
              <a:t>other people </a:t>
            </a:r>
            <a:r>
              <a:rPr lang="en-US" dirty="0"/>
              <a:t>targeted) disclosed their passwords, allowing the hackers to read their email </a:t>
            </a:r>
            <a:r>
              <a:rPr lang="en-US" dirty="0" smtClean="0"/>
              <a:t>for months.</a:t>
            </a:r>
          </a:p>
          <a:p>
            <a:pPr marL="0" indent="0" algn="just">
              <a:buNone/>
            </a:pPr>
            <a:r>
              <a:rPr lang="en-US" dirty="0" smtClean="0"/>
              <a:t> If </a:t>
            </a:r>
            <a:r>
              <a:rPr lang="en-US" dirty="0"/>
              <a:t>the </a:t>
            </a:r>
            <a:r>
              <a:rPr lang="en-US" dirty="0" smtClean="0"/>
              <a:t>attacks  </a:t>
            </a:r>
            <a:r>
              <a:rPr lang="en-US" dirty="0"/>
              <a:t>described are the work of foreign governments, they pose a </a:t>
            </a:r>
            <a:r>
              <a:rPr lang="en-US" dirty="0" smtClean="0"/>
              <a:t>huge threat </a:t>
            </a:r>
            <a:r>
              <a:rPr lang="en-US" dirty="0"/>
              <a:t>to safety and national security</a:t>
            </a:r>
            <a:r>
              <a:rPr lang="en-US" dirty="0" smtClean="0"/>
              <a:t>.</a:t>
            </a:r>
            <a:endParaRPr lang="en-US" dirty="0"/>
          </a:p>
        </p:txBody>
      </p:sp>
    </p:spTree>
    <p:extLst>
      <p:ext uri="{BB962C8B-B14F-4D97-AF65-F5344CB8AC3E}">
        <p14:creationId xmlns:p14="http://schemas.microsoft.com/office/powerpoint/2010/main" val="21001344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rmAutofit/>
          </a:bodyPr>
          <a:lstStyle/>
          <a:p>
            <a:r>
              <a:rPr lang="en-US" b="1" dirty="0"/>
              <a:t>Hacking as Foreign Policy</a:t>
            </a:r>
            <a:endParaRPr lang="en-US" dirty="0"/>
          </a:p>
        </p:txBody>
      </p:sp>
      <p:sp>
        <p:nvSpPr>
          <p:cNvPr id="3" name="Content Placeholder 2"/>
          <p:cNvSpPr>
            <a:spLocks noGrp="1"/>
          </p:cNvSpPr>
          <p:nvPr>
            <p:ph idx="1"/>
          </p:nvPr>
        </p:nvSpPr>
        <p:spPr/>
        <p:txBody>
          <a:bodyPr>
            <a:normAutofit fontScale="77500" lnSpcReduction="20000"/>
          </a:bodyPr>
          <a:lstStyle/>
          <a:p>
            <a:pPr marL="0" indent="0" algn="just">
              <a:buNone/>
            </a:pPr>
            <a:r>
              <a:rPr lang="en-US" dirty="0" smtClean="0"/>
              <a:t>Even </a:t>
            </a:r>
            <a:r>
              <a:rPr lang="en-US" dirty="0"/>
              <a:t>if not, they demonstrate the potential </a:t>
            </a:r>
            <a:r>
              <a:rPr lang="en-US" dirty="0" smtClean="0"/>
              <a:t>for hackers </a:t>
            </a:r>
            <a:r>
              <a:rPr lang="en-US" dirty="0"/>
              <a:t>with ill intent to cause significant damage to communication, financial, military</a:t>
            </a:r>
            <a:r>
              <a:rPr lang="en-US" dirty="0" smtClean="0"/>
              <a:t>, and </a:t>
            </a:r>
            <a:r>
              <a:rPr lang="en-US" dirty="0"/>
              <a:t>power systems</a:t>
            </a:r>
            <a:r>
              <a:rPr lang="en-US" dirty="0" smtClean="0"/>
              <a:t>. </a:t>
            </a:r>
          </a:p>
          <a:p>
            <a:pPr marL="0" indent="0" algn="just">
              <a:buNone/>
            </a:pPr>
            <a:r>
              <a:rPr lang="en-US" dirty="0" smtClean="0"/>
              <a:t>The </a:t>
            </a:r>
            <a:r>
              <a:rPr lang="en-US" dirty="0"/>
              <a:t>Pentagon announced that it would consider and treat some cyber attacks as </a:t>
            </a:r>
            <a:r>
              <a:rPr lang="en-US" dirty="0" smtClean="0"/>
              <a:t>acts of </a:t>
            </a:r>
            <a:r>
              <a:rPr lang="en-US" dirty="0"/>
              <a:t>war, and the United States might respond with military force</a:t>
            </a:r>
            <a:r>
              <a:rPr lang="en-US" dirty="0" smtClean="0"/>
              <a:t>.</a:t>
            </a:r>
          </a:p>
          <a:p>
            <a:pPr marL="0" indent="0" algn="just">
              <a:buNone/>
            </a:pPr>
            <a:r>
              <a:rPr lang="en-US" dirty="0" smtClean="0"/>
              <a:t> </a:t>
            </a:r>
            <a:r>
              <a:rPr lang="en-US" b="1" i="1" dirty="0"/>
              <a:t>Countries targeted </a:t>
            </a:r>
            <a:r>
              <a:rPr lang="en-US" b="1" i="1" dirty="0" smtClean="0"/>
              <a:t>with cyber </a:t>
            </a:r>
            <a:r>
              <a:rPr lang="en-US" b="1" i="1" dirty="0"/>
              <a:t>attacks must determine whether a foreign government or terrorist organization(or teenager) organized the attack. What level of certainty should there be before </a:t>
            </a:r>
            <a:r>
              <a:rPr lang="en-US" b="1" i="1" dirty="0" smtClean="0"/>
              <a:t>a counterattack</a:t>
            </a:r>
            <a:r>
              <a:rPr lang="en-US" b="1" i="1" dirty="0"/>
              <a:t>? When is a cyber attack an act of war? What responses are </a:t>
            </a:r>
            <a:r>
              <a:rPr lang="en-US" b="1" i="1" dirty="0" smtClean="0"/>
              <a:t>appropriate? Perhaps </a:t>
            </a:r>
            <a:r>
              <a:rPr lang="en-US" b="1" i="1" dirty="0"/>
              <a:t>more importantly, how can we make critical systems safer from attacks?</a:t>
            </a:r>
          </a:p>
          <a:p>
            <a:pPr marL="0" indent="0" algn="just">
              <a:buNone/>
            </a:pPr>
            <a:endParaRPr lang="en-US" dirty="0"/>
          </a:p>
        </p:txBody>
      </p:sp>
    </p:spTree>
    <p:extLst>
      <p:ext uri="{BB962C8B-B14F-4D97-AF65-F5344CB8AC3E}">
        <p14:creationId xmlns:p14="http://schemas.microsoft.com/office/powerpoint/2010/main" val="948968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rmAutofit/>
          </a:bodyPr>
          <a:lstStyle/>
          <a:p>
            <a:r>
              <a:rPr lang="en-US" b="1" dirty="0"/>
              <a:t>Security</a:t>
            </a:r>
            <a:endParaRPr lang="en-US" dirty="0"/>
          </a:p>
        </p:txBody>
      </p:sp>
      <p:sp>
        <p:nvSpPr>
          <p:cNvPr id="3" name="Content Placeholder 2"/>
          <p:cNvSpPr>
            <a:spLocks noGrp="1"/>
          </p:cNvSpPr>
          <p:nvPr>
            <p:ph idx="1"/>
          </p:nvPr>
        </p:nvSpPr>
        <p:spPr/>
        <p:txBody>
          <a:bodyPr>
            <a:normAutofit fontScale="77500" lnSpcReduction="20000"/>
          </a:bodyPr>
          <a:lstStyle/>
          <a:p>
            <a:pPr marL="0" indent="0" algn="just">
              <a:buNone/>
            </a:pPr>
            <a:r>
              <a:rPr lang="en-US" dirty="0"/>
              <a:t>Hacking and the spread of viruses are as much a comment on the security of computers</a:t>
            </a:r>
            <a:r>
              <a:rPr lang="en-US" dirty="0" smtClean="0"/>
              <a:t>, telecommunication </a:t>
            </a:r>
            <a:r>
              <a:rPr lang="en-US" dirty="0"/>
              <a:t>systems, and </a:t>
            </a:r>
            <a:r>
              <a:rPr lang="en-US" dirty="0" smtClean="0"/>
              <a:t>the Web </a:t>
            </a:r>
            <a:r>
              <a:rPr lang="en-US" dirty="0"/>
              <a:t>as they are on the skills and ethics of the hackers</a:t>
            </a:r>
            <a:r>
              <a:rPr lang="en-US" dirty="0" smtClean="0"/>
              <a:t>. </a:t>
            </a:r>
          </a:p>
          <a:p>
            <a:pPr marL="0" indent="0" algn="just">
              <a:buNone/>
            </a:pPr>
            <a:r>
              <a:rPr lang="en-US" dirty="0" smtClean="0"/>
              <a:t>Hacking </a:t>
            </a:r>
            <a:r>
              <a:rPr lang="en-US" dirty="0"/>
              <a:t>is a problem; so is poor security. </a:t>
            </a:r>
            <a:r>
              <a:rPr lang="en-US" dirty="0" smtClean="0"/>
              <a:t> </a:t>
            </a:r>
          </a:p>
          <a:p>
            <a:pPr marL="0" indent="0" algn="just">
              <a:buNone/>
            </a:pPr>
            <a:r>
              <a:rPr lang="en-US" dirty="0" smtClean="0"/>
              <a:t>A </a:t>
            </a:r>
            <a:r>
              <a:rPr lang="en-US" dirty="0"/>
              <a:t>variety of factors contribute to security weaknesses</a:t>
            </a:r>
            <a:r>
              <a:rPr lang="en-US" dirty="0" smtClean="0"/>
              <a:t>.</a:t>
            </a:r>
          </a:p>
          <a:p>
            <a:pPr marL="0" indent="0" algn="just">
              <a:buNone/>
            </a:pPr>
            <a:endParaRPr lang="en-US" dirty="0" smtClean="0"/>
          </a:p>
          <a:p>
            <a:pPr marL="0" indent="0" algn="just">
              <a:buNone/>
            </a:pPr>
            <a:r>
              <a:rPr lang="en-US" b="1" i="1" dirty="0" smtClean="0"/>
              <a:t>They </a:t>
            </a:r>
            <a:r>
              <a:rPr lang="en-US" b="1" i="1" dirty="0"/>
              <a:t>come from the history </a:t>
            </a:r>
            <a:r>
              <a:rPr lang="en-US" b="1" i="1" dirty="0" smtClean="0"/>
              <a:t>of the </a:t>
            </a:r>
            <a:r>
              <a:rPr lang="en-US" b="1" i="1" dirty="0"/>
              <a:t>Internet and </a:t>
            </a:r>
            <a:r>
              <a:rPr lang="en-US" b="1" i="1" dirty="0" smtClean="0"/>
              <a:t>the Web</a:t>
            </a:r>
            <a:r>
              <a:rPr lang="en-US" b="1" i="1" dirty="0"/>
              <a:t>, from the inherent complexity of computer systems (</a:t>
            </a:r>
            <a:r>
              <a:rPr lang="en-US" b="1" i="1" dirty="0" smtClean="0"/>
              <a:t>especially the </a:t>
            </a:r>
            <a:r>
              <a:rPr lang="en-US" b="1" i="1" dirty="0"/>
              <a:t>software and communications systems that run phones, the Web, industrial systems</a:t>
            </a:r>
            <a:r>
              <a:rPr lang="en-US" b="1" i="1" dirty="0" smtClean="0"/>
              <a:t>, and </a:t>
            </a:r>
            <a:r>
              <a:rPr lang="en-US" b="1" i="1" dirty="0"/>
              <a:t>the many interconnected devices we use), from the speed at which new </a:t>
            </a:r>
            <a:r>
              <a:rPr lang="en-US" b="1" i="1" dirty="0" smtClean="0"/>
              <a:t>applications develop</a:t>
            </a:r>
            <a:r>
              <a:rPr lang="en-US" b="1" i="1" dirty="0"/>
              <a:t>, from economic and business factors, and from human nature. </a:t>
            </a:r>
          </a:p>
          <a:p>
            <a:pPr marL="0" indent="0" algn="just">
              <a:buNone/>
            </a:pPr>
            <a:endParaRPr lang="en-US" dirty="0"/>
          </a:p>
        </p:txBody>
      </p:sp>
    </p:spTree>
    <p:extLst>
      <p:ext uri="{BB962C8B-B14F-4D97-AF65-F5344CB8AC3E}">
        <p14:creationId xmlns:p14="http://schemas.microsoft.com/office/powerpoint/2010/main" val="21001344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rmAutofit/>
          </a:bodyPr>
          <a:lstStyle/>
          <a:p>
            <a:r>
              <a:rPr lang="en-US" b="1" dirty="0"/>
              <a:t>Security</a:t>
            </a:r>
            <a:endParaRPr lang="en-US" dirty="0"/>
          </a:p>
        </p:txBody>
      </p:sp>
      <p:sp>
        <p:nvSpPr>
          <p:cNvPr id="2" name="Content Placeholder 1"/>
          <p:cNvSpPr>
            <a:spLocks noGrp="1"/>
          </p:cNvSpPr>
          <p:nvPr>
            <p:ph idx="1"/>
          </p:nvPr>
        </p:nvSpPr>
        <p:spPr/>
        <p:txBody>
          <a:bodyPr>
            <a:normAutofit fontScale="77500" lnSpcReduction="20000"/>
          </a:bodyPr>
          <a:lstStyle/>
          <a:p>
            <a:pPr marL="0" indent="0" algn="just">
              <a:buNone/>
            </a:pPr>
            <a:r>
              <a:rPr lang="en-US" dirty="0"/>
              <a:t>In its early years, the Internet was primarily a communications medium for researchers</a:t>
            </a:r>
            <a:r>
              <a:rPr lang="en-US" dirty="0" smtClean="0"/>
              <a:t>. </a:t>
            </a:r>
          </a:p>
          <a:p>
            <a:pPr marL="0" indent="0" algn="just">
              <a:buNone/>
            </a:pPr>
            <a:r>
              <a:rPr lang="en-US" dirty="0" smtClean="0"/>
              <a:t>The </a:t>
            </a:r>
            <a:r>
              <a:rPr lang="en-US" dirty="0"/>
              <a:t>focus was on open access, ease of use, and ease of sharing information</a:t>
            </a:r>
            <a:r>
              <a:rPr lang="en-US" dirty="0" smtClean="0"/>
              <a:t>.</a:t>
            </a:r>
          </a:p>
          <a:p>
            <a:pPr marL="0" indent="0" algn="just">
              <a:buNone/>
            </a:pPr>
            <a:r>
              <a:rPr lang="en-US" dirty="0" smtClean="0"/>
              <a:t> The </a:t>
            </a:r>
            <a:r>
              <a:rPr lang="en-US" dirty="0"/>
              <a:t>Internet was not designed for security against malicious intruders, teenage explorers</a:t>
            </a:r>
            <a:r>
              <a:rPr lang="en-US" dirty="0" smtClean="0"/>
              <a:t>, or </a:t>
            </a:r>
            <a:r>
              <a:rPr lang="en-US" dirty="0"/>
              <a:t>organized criminals</a:t>
            </a:r>
            <a:r>
              <a:rPr lang="en-US" dirty="0" smtClean="0"/>
              <a:t>.</a:t>
            </a:r>
          </a:p>
          <a:p>
            <a:pPr marL="0" indent="0" algn="just">
              <a:buNone/>
            </a:pPr>
            <a:r>
              <a:rPr lang="en-US" dirty="0" smtClean="0"/>
              <a:t>Many </a:t>
            </a:r>
            <a:r>
              <a:rPr lang="en-US" dirty="0"/>
              <a:t>early systems did not have passwords. </a:t>
            </a:r>
            <a:r>
              <a:rPr lang="en-US" dirty="0" smtClean="0"/>
              <a:t>Few early </a:t>
            </a:r>
            <a:r>
              <a:rPr lang="en-US" dirty="0"/>
              <a:t>systems </a:t>
            </a:r>
            <a:r>
              <a:rPr lang="en-US" dirty="0" smtClean="0"/>
              <a:t>connected to </a:t>
            </a:r>
            <a:r>
              <a:rPr lang="en-US" dirty="0"/>
              <a:t>telephone networks, so protection against intruders was not a concern. </a:t>
            </a:r>
            <a:r>
              <a:rPr lang="en-US" dirty="0" smtClean="0"/>
              <a:t>Security depended </a:t>
            </a:r>
            <a:r>
              <a:rPr lang="en-US" dirty="0"/>
              <a:t>primarily on trust. </a:t>
            </a:r>
            <a:endParaRPr lang="en-US" dirty="0" smtClean="0"/>
          </a:p>
          <a:p>
            <a:pPr marL="0" indent="0" algn="just">
              <a:buNone/>
            </a:pPr>
            <a:r>
              <a:rPr lang="en-US" dirty="0" smtClean="0"/>
              <a:t>The World Wide Web </a:t>
            </a:r>
            <a:r>
              <a:rPr lang="en-US" dirty="0"/>
              <a:t>developed as a communications </a:t>
            </a:r>
            <a:r>
              <a:rPr lang="en-US" dirty="0" smtClean="0"/>
              <a:t>tool for </a:t>
            </a:r>
            <a:r>
              <a:rPr lang="en-US" dirty="0"/>
              <a:t>physics researchers. Again, security was not a primary design concern. </a:t>
            </a:r>
          </a:p>
          <a:p>
            <a:pPr marL="0" indent="0" algn="just">
              <a:buNone/>
            </a:pPr>
            <a:endParaRPr lang="en-US" dirty="0"/>
          </a:p>
        </p:txBody>
      </p:sp>
    </p:spTree>
    <p:extLst>
      <p:ext uri="{BB962C8B-B14F-4D97-AF65-F5344CB8AC3E}">
        <p14:creationId xmlns:p14="http://schemas.microsoft.com/office/powerpoint/2010/main" val="330446609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rmAutofit/>
          </a:bodyPr>
          <a:lstStyle/>
          <a:p>
            <a:r>
              <a:rPr lang="en-US" b="1" dirty="0"/>
              <a:t>Security</a:t>
            </a:r>
            <a:endParaRPr lang="en-US" dirty="0"/>
          </a:p>
        </p:txBody>
      </p:sp>
      <p:sp>
        <p:nvSpPr>
          <p:cNvPr id="2" name="Content Placeholder 1"/>
          <p:cNvSpPr>
            <a:spLocks noGrp="1"/>
          </p:cNvSpPr>
          <p:nvPr>
            <p:ph idx="1"/>
          </p:nvPr>
        </p:nvSpPr>
        <p:spPr/>
        <p:txBody>
          <a:bodyPr>
            <a:normAutofit fontScale="85000" lnSpcReduction="10000"/>
          </a:bodyPr>
          <a:lstStyle/>
          <a:p>
            <a:pPr marL="0" indent="0" algn="just">
              <a:buNone/>
            </a:pPr>
            <a:r>
              <a:rPr lang="en-US" dirty="0" smtClean="0"/>
              <a:t>Security </a:t>
            </a:r>
            <a:r>
              <a:rPr lang="en-US" dirty="0"/>
              <a:t>on </a:t>
            </a:r>
            <a:r>
              <a:rPr lang="en-US" dirty="0" smtClean="0"/>
              <a:t>the early </a:t>
            </a:r>
            <a:r>
              <a:rPr lang="en-US" dirty="0"/>
              <a:t>Web was extremely weak. </a:t>
            </a:r>
            <a:endParaRPr lang="en-US" dirty="0" smtClean="0"/>
          </a:p>
          <a:p>
            <a:pPr marL="0" indent="0" algn="just">
              <a:buNone/>
            </a:pPr>
            <a:r>
              <a:rPr lang="en-US" dirty="0" smtClean="0"/>
              <a:t>When </a:t>
            </a:r>
            <a:r>
              <a:rPr lang="en-US" dirty="0"/>
              <a:t>businesses and government agencies began to </a:t>
            </a:r>
            <a:r>
              <a:rPr lang="en-US" dirty="0" smtClean="0"/>
              <a:t>set up </a:t>
            </a:r>
            <a:r>
              <a:rPr lang="en-US" dirty="0"/>
              <a:t>websites, Internet security expert Dan Farmer ran a program to probe the websites </a:t>
            </a:r>
            <a:r>
              <a:rPr lang="en-US" dirty="0" smtClean="0"/>
              <a:t>of banks</a:t>
            </a:r>
            <a:r>
              <a:rPr lang="en-US" dirty="0"/>
              <a:t>, newspapers, government agencies, and pornography sellers for software </a:t>
            </a:r>
            <a:r>
              <a:rPr lang="en-US" dirty="0" smtClean="0"/>
              <a:t>loopholes that </a:t>
            </a:r>
            <a:r>
              <a:rPr lang="en-US" dirty="0"/>
              <a:t>made it easy for hackers to invade and disable or damage the sites</a:t>
            </a:r>
            <a:r>
              <a:rPr lang="en-US" dirty="0" smtClean="0"/>
              <a:t>.</a:t>
            </a:r>
          </a:p>
          <a:p>
            <a:pPr marL="0" indent="0" algn="just">
              <a:buNone/>
            </a:pPr>
            <a:r>
              <a:rPr lang="en-US" dirty="0" smtClean="0"/>
              <a:t> </a:t>
            </a:r>
            <a:r>
              <a:rPr lang="en-US" dirty="0"/>
              <a:t>Of the 1700 </a:t>
            </a:r>
            <a:r>
              <a:rPr lang="en-US" dirty="0" smtClean="0"/>
              <a:t>sites he </a:t>
            </a:r>
            <a:r>
              <a:rPr lang="en-US" dirty="0"/>
              <a:t>examined, he found that about two-thirds had security weaknesses—and only </a:t>
            </a:r>
            <a:r>
              <a:rPr lang="en-US" dirty="0" smtClean="0"/>
              <a:t>four sites </a:t>
            </a:r>
            <a:r>
              <a:rPr lang="en-US" dirty="0"/>
              <a:t>apparently noticed that someone was probing their security. Farmer’s warnings </a:t>
            </a:r>
            <a:r>
              <a:rPr lang="en-US" dirty="0" smtClean="0"/>
              <a:t>had little </a:t>
            </a:r>
            <a:r>
              <a:rPr lang="en-US" dirty="0"/>
              <a:t>effect.</a:t>
            </a:r>
          </a:p>
          <a:p>
            <a:pPr marL="0" indent="0" algn="just">
              <a:buNone/>
            </a:pPr>
            <a:endParaRPr lang="en-US" dirty="0"/>
          </a:p>
        </p:txBody>
      </p:sp>
    </p:spTree>
    <p:extLst>
      <p:ext uri="{BB962C8B-B14F-4D97-AF65-F5344CB8AC3E}">
        <p14:creationId xmlns:p14="http://schemas.microsoft.com/office/powerpoint/2010/main" val="260647054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rmAutofit/>
          </a:bodyPr>
          <a:lstStyle/>
          <a:p>
            <a:r>
              <a:rPr lang="en-US" b="1" dirty="0"/>
              <a:t>Security</a:t>
            </a:r>
            <a:endParaRPr lang="en-US" dirty="0"/>
          </a:p>
        </p:txBody>
      </p:sp>
      <p:sp>
        <p:nvSpPr>
          <p:cNvPr id="2" name="Content Placeholder 1"/>
          <p:cNvSpPr>
            <a:spLocks noGrp="1"/>
          </p:cNvSpPr>
          <p:nvPr>
            <p:ph idx="1"/>
          </p:nvPr>
        </p:nvSpPr>
        <p:spPr/>
        <p:txBody>
          <a:bodyPr>
            <a:normAutofit fontScale="85000" lnSpcReduction="20000"/>
          </a:bodyPr>
          <a:lstStyle/>
          <a:p>
            <a:pPr marL="0" indent="0" algn="just">
              <a:buNone/>
            </a:pPr>
            <a:r>
              <a:rPr lang="en-US" dirty="0"/>
              <a:t>Attitudes about security in businesses, organizations, and government agencies </a:t>
            </a:r>
            <a:r>
              <a:rPr lang="en-US" dirty="0" smtClean="0"/>
              <a:t>were slow </a:t>
            </a:r>
            <a:r>
              <a:rPr lang="en-US" dirty="0"/>
              <a:t>to catch up with the risks. </a:t>
            </a:r>
            <a:endParaRPr lang="en-US" dirty="0" smtClean="0"/>
          </a:p>
          <a:p>
            <a:pPr marL="0" indent="0" algn="just">
              <a:buNone/>
            </a:pPr>
            <a:r>
              <a:rPr lang="en-US" dirty="0" smtClean="0"/>
              <a:t>Gradually</a:t>
            </a:r>
            <a:r>
              <a:rPr lang="en-US" dirty="0"/>
              <a:t>, computer scientists responded to </a:t>
            </a:r>
            <a:r>
              <a:rPr lang="en-US" dirty="0" smtClean="0"/>
              <a:t>increased security </a:t>
            </a:r>
            <a:r>
              <a:rPr lang="en-US" dirty="0"/>
              <a:t>threats with improved security technology, and entrepreneurs and the </a:t>
            </a:r>
            <a:r>
              <a:rPr lang="en-US" dirty="0" smtClean="0"/>
              <a:t>market responded </a:t>
            </a:r>
            <a:r>
              <a:rPr lang="en-US" dirty="0"/>
              <a:t>with the development of many security firms and consultants offering </a:t>
            </a:r>
            <a:r>
              <a:rPr lang="en-US" dirty="0" smtClean="0"/>
              <a:t>a variety </a:t>
            </a:r>
            <a:r>
              <a:rPr lang="en-US" dirty="0"/>
              <a:t>of software products and services. </a:t>
            </a:r>
            <a:endParaRPr lang="en-US" dirty="0" smtClean="0"/>
          </a:p>
          <a:p>
            <a:pPr marL="0" indent="0" algn="just">
              <a:buNone/>
            </a:pPr>
            <a:r>
              <a:rPr lang="en-US" dirty="0" smtClean="0"/>
              <a:t>Security </a:t>
            </a:r>
            <a:r>
              <a:rPr lang="en-US" dirty="0"/>
              <a:t>techniques and practices </a:t>
            </a:r>
            <a:r>
              <a:rPr lang="en-US" dirty="0" smtClean="0"/>
              <a:t>improved dramatically</a:t>
            </a:r>
            <a:r>
              <a:rPr lang="en-US" dirty="0"/>
              <a:t>. Many government agencies, businesses, and organizations have up-to-date</a:t>
            </a:r>
            <a:r>
              <a:rPr lang="en-US" dirty="0" smtClean="0"/>
              <a:t>, high-quality </a:t>
            </a:r>
            <a:r>
              <a:rPr lang="en-US" dirty="0"/>
              <a:t>security, but there are still serious weaknesses</a:t>
            </a:r>
            <a:r>
              <a:rPr lang="en-US" dirty="0" smtClean="0"/>
              <a:t>.</a:t>
            </a:r>
            <a:endParaRPr lang="en-US" dirty="0"/>
          </a:p>
        </p:txBody>
      </p:sp>
    </p:spTree>
    <p:extLst>
      <p:ext uri="{BB962C8B-B14F-4D97-AF65-F5344CB8AC3E}">
        <p14:creationId xmlns:p14="http://schemas.microsoft.com/office/powerpoint/2010/main" val="22445413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rmAutofit/>
          </a:bodyPr>
          <a:lstStyle/>
          <a:p>
            <a:r>
              <a:rPr lang="en-US" b="1" dirty="0"/>
              <a:t>Security</a:t>
            </a:r>
            <a:endParaRPr lang="en-US" dirty="0"/>
          </a:p>
        </p:txBody>
      </p:sp>
      <p:sp>
        <p:nvSpPr>
          <p:cNvPr id="2" name="Content Placeholder 1"/>
          <p:cNvSpPr>
            <a:spLocks noGrp="1"/>
          </p:cNvSpPr>
          <p:nvPr>
            <p:ph idx="1"/>
          </p:nvPr>
        </p:nvSpPr>
        <p:spPr/>
        <p:txBody>
          <a:bodyPr>
            <a:normAutofit fontScale="70000" lnSpcReduction="20000"/>
          </a:bodyPr>
          <a:lstStyle/>
          <a:p>
            <a:pPr marL="0" indent="0" algn="just">
              <a:buNone/>
            </a:pPr>
            <a:r>
              <a:rPr lang="en-US" dirty="0" smtClean="0"/>
              <a:t>News </a:t>
            </a:r>
            <a:r>
              <a:rPr lang="en-US" dirty="0"/>
              <a:t>reports of major </a:t>
            </a:r>
            <a:r>
              <a:rPr lang="en-US" dirty="0" err="1" smtClean="0"/>
              <a:t>breakins</a:t>
            </a:r>
            <a:r>
              <a:rPr lang="en-US" dirty="0" smtClean="0"/>
              <a:t> and </a:t>
            </a:r>
            <a:r>
              <a:rPr lang="en-US" dirty="0"/>
              <a:t>security lapses appear almost weekly</a:t>
            </a:r>
            <a:r>
              <a:rPr lang="en-US" dirty="0" smtClean="0"/>
              <a:t>.</a:t>
            </a:r>
          </a:p>
          <a:p>
            <a:pPr marL="0" indent="0" algn="just">
              <a:buNone/>
            </a:pPr>
            <a:r>
              <a:rPr lang="en-US" dirty="0" smtClean="0"/>
              <a:t> </a:t>
            </a:r>
            <a:r>
              <a:rPr lang="en-US" dirty="0"/>
              <a:t>Numerous government studies warn </a:t>
            </a:r>
            <a:r>
              <a:rPr lang="en-US" dirty="0" smtClean="0"/>
              <a:t>of vulnerabilities </a:t>
            </a:r>
            <a:r>
              <a:rPr lang="en-US" dirty="0"/>
              <a:t>and the potential for sophisticated attacks on critical </a:t>
            </a:r>
            <a:r>
              <a:rPr lang="en-US" dirty="0" err="1"/>
              <a:t>infrasturcture</a:t>
            </a:r>
            <a:r>
              <a:rPr lang="en-US" dirty="0" smtClean="0"/>
              <a:t>.</a:t>
            </a:r>
          </a:p>
          <a:p>
            <a:pPr marL="0" indent="0" algn="just">
              <a:buNone/>
            </a:pPr>
            <a:r>
              <a:rPr lang="en-US" dirty="0" smtClean="0"/>
              <a:t> It </a:t>
            </a:r>
            <a:r>
              <a:rPr lang="en-US" dirty="0"/>
              <a:t>might not be surprising that, initially, computer security at universities and </a:t>
            </a:r>
            <a:r>
              <a:rPr lang="en-US" dirty="0" smtClean="0"/>
              <a:t>businesses was </a:t>
            </a:r>
            <a:r>
              <a:rPr lang="en-US" dirty="0"/>
              <a:t>weak. </a:t>
            </a:r>
            <a:endParaRPr lang="en-US" dirty="0" smtClean="0"/>
          </a:p>
          <a:p>
            <a:pPr marL="0" indent="0" algn="just">
              <a:buNone/>
            </a:pPr>
            <a:r>
              <a:rPr lang="en-US" dirty="0" smtClean="0"/>
              <a:t>It </a:t>
            </a:r>
            <a:r>
              <a:rPr lang="en-US" dirty="0"/>
              <a:t>is unsettling, however, that it has been so easy to hack into </a:t>
            </a:r>
            <a:r>
              <a:rPr lang="en-US" dirty="0" smtClean="0"/>
              <a:t>military systems</a:t>
            </a:r>
            <a:r>
              <a:rPr lang="en-US" dirty="0"/>
              <a:t>, other government agencies, and defense contractors</a:t>
            </a:r>
            <a:r>
              <a:rPr lang="en-US" dirty="0" smtClean="0"/>
              <a:t>.</a:t>
            </a:r>
          </a:p>
          <a:p>
            <a:pPr marL="0" indent="0" algn="just">
              <a:buNone/>
            </a:pPr>
            <a:r>
              <a:rPr lang="en-US" dirty="0" smtClean="0"/>
              <a:t> </a:t>
            </a:r>
            <a:r>
              <a:rPr lang="en-US" dirty="0"/>
              <a:t>In 1998, the U.S. </a:t>
            </a:r>
            <a:r>
              <a:rPr lang="en-US" dirty="0" smtClean="0"/>
              <a:t>deputy defense </a:t>
            </a:r>
            <a:r>
              <a:rPr lang="en-US" dirty="0"/>
              <a:t>secretary described a series of attacks on numerous U.S. military computers </a:t>
            </a:r>
            <a:r>
              <a:rPr lang="en-US" dirty="0" smtClean="0"/>
              <a:t>as “</a:t>
            </a:r>
            <a:r>
              <a:rPr lang="en-US" dirty="0"/>
              <a:t>the most organized and systematic attack the Pentagon has seen to date</a:t>
            </a:r>
            <a:r>
              <a:rPr lang="en-US" dirty="0" smtClean="0"/>
              <a:t>.”</a:t>
            </a:r>
            <a:endParaRPr lang="en-US" dirty="0"/>
          </a:p>
          <a:p>
            <a:pPr marL="0" indent="0" algn="just">
              <a:buNone/>
            </a:pPr>
            <a:r>
              <a:rPr lang="en-US" dirty="0" smtClean="0"/>
              <a:t>Two </a:t>
            </a:r>
            <a:r>
              <a:rPr lang="en-US" dirty="0"/>
              <a:t>boys</a:t>
            </a:r>
            <a:r>
              <a:rPr lang="en-US" dirty="0" smtClean="0"/>
              <a:t>, aged </a:t>
            </a:r>
            <a:r>
              <a:rPr lang="en-US" dirty="0"/>
              <a:t>16 and 17, had carried them out</a:t>
            </a:r>
            <a:r>
              <a:rPr lang="en-US" dirty="0" smtClean="0"/>
              <a:t>.</a:t>
            </a:r>
          </a:p>
          <a:p>
            <a:pPr marL="0" indent="0" algn="just">
              <a:buNone/>
            </a:pPr>
            <a:r>
              <a:rPr lang="en-US" dirty="0" smtClean="0"/>
              <a:t>A </a:t>
            </a:r>
            <a:r>
              <a:rPr lang="en-US" dirty="0"/>
              <a:t>security expert described one hacking attack </a:t>
            </a:r>
            <a:r>
              <a:rPr lang="en-US" dirty="0" smtClean="0"/>
              <a:t>on Defense </a:t>
            </a:r>
            <a:r>
              <a:rPr lang="en-US" dirty="0"/>
              <a:t>Department computers that did not contain classified information as the </a:t>
            </a:r>
            <a:r>
              <a:rPr lang="en-US" dirty="0" smtClean="0"/>
              <a:t>modern equivalent </a:t>
            </a:r>
            <a:r>
              <a:rPr lang="en-US" dirty="0"/>
              <a:t>of a kid sneaking into a Pentagon cafeteria</a:t>
            </a:r>
            <a:r>
              <a:rPr lang="en-US" dirty="0" smtClean="0"/>
              <a:t>.</a:t>
            </a:r>
            <a:endParaRPr lang="en-US" dirty="0"/>
          </a:p>
          <a:p>
            <a:pPr marL="0" indent="0" algn="just">
              <a:buNone/>
            </a:pPr>
            <a:endParaRPr lang="en-US" dirty="0"/>
          </a:p>
        </p:txBody>
      </p:sp>
    </p:spTree>
    <p:extLst>
      <p:ext uri="{BB962C8B-B14F-4D97-AF65-F5344CB8AC3E}">
        <p14:creationId xmlns:p14="http://schemas.microsoft.com/office/powerpoint/2010/main" val="98242787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rmAutofit/>
          </a:bodyPr>
          <a:lstStyle/>
          <a:p>
            <a:r>
              <a:rPr lang="en-US" b="1" dirty="0"/>
              <a:t>Security</a:t>
            </a:r>
            <a:endParaRPr lang="en-US" dirty="0"/>
          </a:p>
        </p:txBody>
      </p:sp>
      <p:sp>
        <p:nvSpPr>
          <p:cNvPr id="2" name="Content Placeholder 1"/>
          <p:cNvSpPr>
            <a:spLocks noGrp="1"/>
          </p:cNvSpPr>
          <p:nvPr>
            <p:ph idx="1"/>
          </p:nvPr>
        </p:nvSpPr>
        <p:spPr/>
        <p:txBody>
          <a:bodyPr>
            <a:normAutofit fontScale="70000" lnSpcReduction="20000"/>
          </a:bodyPr>
          <a:lstStyle/>
          <a:p>
            <a:pPr marL="0" indent="0" algn="just">
              <a:buNone/>
            </a:pPr>
            <a:r>
              <a:rPr lang="en-US" dirty="0" smtClean="0"/>
              <a:t>On </a:t>
            </a:r>
            <a:r>
              <a:rPr lang="en-US" dirty="0"/>
              <a:t>the other hand, </a:t>
            </a:r>
            <a:r>
              <a:rPr lang="en-US" dirty="0" smtClean="0"/>
              <a:t>we should </a:t>
            </a:r>
            <a:r>
              <a:rPr lang="en-US" dirty="0"/>
              <a:t>expect Pentagon security to be good enough to keep a kid out of its </a:t>
            </a:r>
            <a:r>
              <a:rPr lang="en-US" dirty="0" smtClean="0"/>
              <a:t>cafeteria. </a:t>
            </a:r>
          </a:p>
          <a:p>
            <a:pPr marL="0" indent="0" algn="just">
              <a:buNone/>
            </a:pPr>
            <a:r>
              <a:rPr lang="en-US" dirty="0" smtClean="0"/>
              <a:t>Foreign </a:t>
            </a:r>
            <a:r>
              <a:rPr lang="en-US" dirty="0"/>
              <a:t>governments are replacing teenagers as the major threat </a:t>
            </a:r>
            <a:r>
              <a:rPr lang="en-US" dirty="0" smtClean="0"/>
              <a:t>to defense </a:t>
            </a:r>
            <a:r>
              <a:rPr lang="en-US" dirty="0"/>
              <a:t>systems. </a:t>
            </a:r>
            <a:endParaRPr lang="en-US" dirty="0" smtClean="0"/>
          </a:p>
          <a:p>
            <a:pPr marL="0" indent="0" algn="just">
              <a:buNone/>
            </a:pPr>
            <a:r>
              <a:rPr lang="en-US" dirty="0" smtClean="0"/>
              <a:t>Their </a:t>
            </a:r>
            <a:r>
              <a:rPr lang="en-US" dirty="0"/>
              <a:t>resources and expertise far surpass those of teenagers. </a:t>
            </a:r>
            <a:endParaRPr lang="en-US" dirty="0" smtClean="0"/>
          </a:p>
          <a:p>
            <a:pPr marL="0" indent="0" algn="just">
              <a:buNone/>
            </a:pPr>
            <a:r>
              <a:rPr lang="en-US" dirty="0" smtClean="0"/>
              <a:t>In </a:t>
            </a:r>
            <a:r>
              <a:rPr lang="en-US" dirty="0"/>
              <a:t>2011, </a:t>
            </a:r>
            <a:r>
              <a:rPr lang="en-US" dirty="0" smtClean="0"/>
              <a:t>the deputy </a:t>
            </a:r>
            <a:r>
              <a:rPr lang="en-US" dirty="0"/>
              <a:t>defense secretary said that in the previous decade, intruders stole plans (from </a:t>
            </a:r>
            <a:r>
              <a:rPr lang="en-US" dirty="0" smtClean="0"/>
              <a:t>the government </a:t>
            </a:r>
            <a:r>
              <a:rPr lang="en-US" dirty="0"/>
              <a:t>and defense industry firms) for aircraft avionics, satellite </a:t>
            </a:r>
            <a:r>
              <a:rPr lang="en-US" dirty="0" smtClean="0"/>
              <a:t>communications systems</a:t>
            </a:r>
            <a:r>
              <a:rPr lang="en-US" dirty="0"/>
              <a:t>, network security protocols, missile tracking systems, satellite navigation devices</a:t>
            </a:r>
            <a:r>
              <a:rPr lang="en-US" dirty="0" smtClean="0"/>
              <a:t>, surveillance </a:t>
            </a:r>
            <a:r>
              <a:rPr lang="en-US" dirty="0"/>
              <a:t>drones, and jet fighters. </a:t>
            </a:r>
            <a:endParaRPr lang="en-US" dirty="0" smtClean="0"/>
          </a:p>
          <a:p>
            <a:pPr marL="0" indent="0" algn="just">
              <a:buNone/>
            </a:pPr>
            <a:r>
              <a:rPr lang="en-US" b="1" i="1" dirty="0" smtClean="0"/>
              <a:t>The </a:t>
            </a:r>
            <a:r>
              <a:rPr lang="en-US" b="1" i="1" dirty="0"/>
              <a:t>New York Times described a theft (by a </a:t>
            </a:r>
            <a:r>
              <a:rPr lang="en-US" b="1" i="1" dirty="0" smtClean="0"/>
              <a:t>foreign intelligence </a:t>
            </a:r>
            <a:r>
              <a:rPr lang="en-US" b="1" i="1" dirty="0"/>
              <a:t>service) of </a:t>
            </a:r>
            <a:r>
              <a:rPr lang="en-US" b="1" i="1" dirty="0" smtClean="0"/>
              <a:t>24,000 </a:t>
            </a:r>
            <a:r>
              <a:rPr lang="en-US" b="1" i="1" dirty="0" err="1" smtClean="0"/>
              <a:t>DefenseDepartment</a:t>
            </a:r>
            <a:r>
              <a:rPr lang="en-US" b="1" i="1" dirty="0" smtClean="0"/>
              <a:t> </a:t>
            </a:r>
            <a:r>
              <a:rPr lang="en-US" b="1" i="1" dirty="0"/>
              <a:t>documents as “one of its worst </a:t>
            </a:r>
            <a:r>
              <a:rPr lang="en-US" b="1" i="1" dirty="0" smtClean="0"/>
              <a:t>digital attacks </a:t>
            </a:r>
            <a:r>
              <a:rPr lang="en-US" b="1" i="1" dirty="0"/>
              <a:t>in history”—a description that reappears in hacking reports repeatedly as </a:t>
            </a:r>
            <a:r>
              <a:rPr lang="en-US" b="1" i="1" dirty="0" smtClean="0"/>
              <a:t>hackers steal </a:t>
            </a:r>
            <a:r>
              <a:rPr lang="en-US" b="1" i="1" dirty="0"/>
              <a:t>more and more sensitive information.</a:t>
            </a:r>
          </a:p>
          <a:p>
            <a:pPr marL="0" indent="0" algn="just">
              <a:buNone/>
            </a:pPr>
            <a:endParaRPr lang="en-US" dirty="0"/>
          </a:p>
        </p:txBody>
      </p:sp>
    </p:spTree>
    <p:extLst>
      <p:ext uri="{BB962C8B-B14F-4D97-AF65-F5344CB8AC3E}">
        <p14:creationId xmlns:p14="http://schemas.microsoft.com/office/powerpoint/2010/main" val="98242787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rmAutofit/>
          </a:bodyPr>
          <a:lstStyle/>
          <a:p>
            <a:r>
              <a:rPr lang="en-US" b="1" dirty="0"/>
              <a:t>Security</a:t>
            </a:r>
            <a:endParaRPr lang="en-US" dirty="0"/>
          </a:p>
        </p:txBody>
      </p:sp>
      <p:sp>
        <p:nvSpPr>
          <p:cNvPr id="2" name="Content Placeholder 1"/>
          <p:cNvSpPr>
            <a:spLocks noGrp="1"/>
          </p:cNvSpPr>
          <p:nvPr>
            <p:ph idx="1"/>
          </p:nvPr>
        </p:nvSpPr>
        <p:spPr/>
        <p:txBody>
          <a:bodyPr>
            <a:normAutofit fontScale="92500" lnSpcReduction="20000"/>
          </a:bodyPr>
          <a:lstStyle/>
          <a:p>
            <a:pPr marL="0" indent="0" algn="just">
              <a:buNone/>
            </a:pPr>
            <a:r>
              <a:rPr lang="en-US" dirty="0"/>
              <a:t>Security in other government agencies is weaker than in the Defense Department</a:t>
            </a:r>
            <a:r>
              <a:rPr lang="en-US" dirty="0" smtClean="0"/>
              <a:t>. </a:t>
            </a:r>
          </a:p>
          <a:p>
            <a:pPr marL="0" indent="0" algn="just">
              <a:buNone/>
            </a:pPr>
            <a:r>
              <a:rPr lang="en-US" dirty="0" smtClean="0"/>
              <a:t>For </a:t>
            </a:r>
            <a:r>
              <a:rPr lang="en-US" dirty="0"/>
              <a:t>example, the Government Accountability Office (GAO) reported that </a:t>
            </a:r>
            <a:r>
              <a:rPr lang="en-US" dirty="0" smtClean="0"/>
              <a:t>computer security </a:t>
            </a:r>
            <a:r>
              <a:rPr lang="en-US" dirty="0"/>
              <a:t>at NASA was so weak that hackers could easily disrupt such functions as </a:t>
            </a:r>
            <a:r>
              <a:rPr lang="en-US" dirty="0" smtClean="0"/>
              <a:t>the tracking </a:t>
            </a:r>
            <a:r>
              <a:rPr lang="en-US" dirty="0"/>
              <a:t>of spacecraft. </a:t>
            </a:r>
            <a:endParaRPr lang="en-US" dirty="0" smtClean="0"/>
          </a:p>
          <a:p>
            <a:pPr marL="0" indent="0" algn="just">
              <a:buNone/>
            </a:pPr>
            <a:r>
              <a:rPr lang="en-US" dirty="0" smtClean="0"/>
              <a:t>The </a:t>
            </a:r>
            <a:r>
              <a:rPr lang="en-US" dirty="0"/>
              <a:t>same report described Environmental Protection </a:t>
            </a:r>
            <a:r>
              <a:rPr lang="en-US" dirty="0" smtClean="0"/>
              <a:t>Agency (</a:t>
            </a:r>
            <a:r>
              <a:rPr lang="en-US" dirty="0"/>
              <a:t>EPA) computers as “riddled with </a:t>
            </a:r>
            <a:r>
              <a:rPr lang="en-US" dirty="0" smtClean="0"/>
              <a:t>security weaknesses.”</a:t>
            </a:r>
          </a:p>
          <a:p>
            <a:pPr marL="0" indent="0" algn="just">
              <a:buNone/>
            </a:pPr>
            <a:r>
              <a:rPr lang="en-US" dirty="0" smtClean="0"/>
              <a:t>Hackers were </a:t>
            </a:r>
            <a:r>
              <a:rPr lang="en-US" dirty="0"/>
              <a:t>able to use the </a:t>
            </a:r>
            <a:r>
              <a:rPr lang="en-US" dirty="0" smtClean="0"/>
              <a:t>EPA’s system </a:t>
            </a:r>
            <a:r>
              <a:rPr lang="en-US" dirty="0"/>
              <a:t>to launch hacking attacks on other agencies</a:t>
            </a:r>
            <a:r>
              <a:rPr lang="en-US" dirty="0" smtClean="0"/>
              <a:t>.</a:t>
            </a:r>
            <a:endParaRPr lang="en-US" dirty="0"/>
          </a:p>
        </p:txBody>
      </p:sp>
    </p:spTree>
    <p:extLst>
      <p:ext uri="{BB962C8B-B14F-4D97-AF65-F5344CB8AC3E}">
        <p14:creationId xmlns:p14="http://schemas.microsoft.com/office/powerpoint/2010/main" val="224454137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rmAutofit/>
          </a:bodyPr>
          <a:lstStyle/>
          <a:p>
            <a:r>
              <a:rPr lang="en-US" b="1" dirty="0"/>
              <a:t>Security</a:t>
            </a:r>
            <a:endParaRPr lang="en-US" dirty="0"/>
          </a:p>
        </p:txBody>
      </p:sp>
      <p:sp>
        <p:nvSpPr>
          <p:cNvPr id="2" name="Content Placeholder 1"/>
          <p:cNvSpPr>
            <a:spLocks noGrp="1"/>
          </p:cNvSpPr>
          <p:nvPr>
            <p:ph idx="1"/>
          </p:nvPr>
        </p:nvSpPr>
        <p:spPr/>
        <p:txBody>
          <a:bodyPr>
            <a:normAutofit fontScale="92500" lnSpcReduction="10000"/>
          </a:bodyPr>
          <a:lstStyle/>
          <a:p>
            <a:pPr marL="0" indent="0" algn="just">
              <a:buNone/>
            </a:pPr>
            <a:r>
              <a:rPr lang="en-US" dirty="0" smtClean="0"/>
              <a:t>The </a:t>
            </a:r>
            <a:r>
              <a:rPr lang="en-US" dirty="0"/>
              <a:t>U.S. </a:t>
            </a:r>
            <a:r>
              <a:rPr lang="en-US" dirty="0" smtClean="0"/>
              <a:t>Transportation Department </a:t>
            </a:r>
            <a:r>
              <a:rPr lang="en-US" dirty="0"/>
              <a:t>warned of numerous vulnerabilities in the air traffic control system and the potential for sophisticated attacks on air traffic control by foreign governments</a:t>
            </a:r>
            <a:r>
              <a:rPr lang="en-US" dirty="0" smtClean="0"/>
              <a:t>.</a:t>
            </a:r>
          </a:p>
          <a:p>
            <a:pPr marL="0" indent="0" algn="just">
              <a:buNone/>
            </a:pPr>
            <a:r>
              <a:rPr lang="en-US" dirty="0" smtClean="0"/>
              <a:t> </a:t>
            </a:r>
            <a:r>
              <a:rPr lang="en-US" dirty="0"/>
              <a:t>Its report said that almost all ATC facilities had insufficient controls for detecting intrusions</a:t>
            </a:r>
            <a:r>
              <a:rPr lang="en-US" dirty="0" smtClean="0"/>
              <a:t>.</a:t>
            </a:r>
          </a:p>
          <a:p>
            <a:pPr marL="0" indent="0" algn="just">
              <a:buNone/>
            </a:pPr>
            <a:r>
              <a:rPr lang="en-US" b="1" i="1" dirty="0" smtClean="0"/>
              <a:t>A </a:t>
            </a:r>
            <a:r>
              <a:rPr lang="en-US" b="1" i="1" dirty="0"/>
              <a:t>review in 2011 recommended that users be required to enter an ID and password—a requirement that should have long been in place by then.</a:t>
            </a:r>
          </a:p>
          <a:p>
            <a:pPr marL="0" indent="0" algn="just">
              <a:buNone/>
            </a:pPr>
            <a:endParaRPr lang="en-US" dirty="0"/>
          </a:p>
        </p:txBody>
      </p:sp>
    </p:spTree>
    <p:extLst>
      <p:ext uri="{BB962C8B-B14F-4D97-AF65-F5344CB8AC3E}">
        <p14:creationId xmlns:p14="http://schemas.microsoft.com/office/powerpoint/2010/main" val="224454137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rmAutofit/>
          </a:bodyPr>
          <a:lstStyle/>
          <a:p>
            <a:r>
              <a:rPr lang="en-US" b="1" dirty="0"/>
              <a:t>Security</a:t>
            </a:r>
            <a:endParaRPr lang="en-US" dirty="0"/>
          </a:p>
        </p:txBody>
      </p:sp>
      <p:sp>
        <p:nvSpPr>
          <p:cNvPr id="2" name="Content Placeholder 1"/>
          <p:cNvSpPr>
            <a:spLocks noGrp="1"/>
          </p:cNvSpPr>
          <p:nvPr>
            <p:ph idx="1"/>
          </p:nvPr>
        </p:nvSpPr>
        <p:spPr/>
        <p:txBody>
          <a:bodyPr>
            <a:normAutofit fontScale="92500" lnSpcReduction="20000"/>
          </a:bodyPr>
          <a:lstStyle/>
          <a:p>
            <a:pPr marL="0" indent="0" algn="just">
              <a:buNone/>
            </a:pPr>
            <a:r>
              <a:rPr lang="en-US" dirty="0"/>
              <a:t>Encryption is a particularly valuable security tool. It is often not used </a:t>
            </a:r>
            <a:r>
              <a:rPr lang="en-US" dirty="0" smtClean="0"/>
              <a:t>sufficiently and </a:t>
            </a:r>
            <a:r>
              <a:rPr lang="en-US" dirty="0"/>
              <a:t>appropriately, by both governments and businesses, because it can be </a:t>
            </a:r>
            <a:r>
              <a:rPr lang="en-US" dirty="0" smtClean="0"/>
              <a:t>inconvenient and </a:t>
            </a:r>
            <a:r>
              <a:rPr lang="en-US" dirty="0"/>
              <a:t>expensive</a:t>
            </a:r>
            <a:r>
              <a:rPr lang="en-US" dirty="0" smtClean="0"/>
              <a:t>.</a:t>
            </a:r>
          </a:p>
          <a:p>
            <a:pPr marL="0" indent="0" algn="just">
              <a:buNone/>
            </a:pPr>
            <a:endParaRPr lang="en-US" dirty="0" smtClean="0"/>
          </a:p>
          <a:p>
            <a:pPr marL="0" indent="0" algn="just">
              <a:buNone/>
            </a:pPr>
            <a:r>
              <a:rPr lang="en-US" dirty="0" smtClean="0"/>
              <a:t>Another </a:t>
            </a:r>
            <a:r>
              <a:rPr lang="en-US" dirty="0"/>
              <a:t>factor leading to weak security for systems that affect the general public </a:t>
            </a:r>
            <a:r>
              <a:rPr lang="en-US" dirty="0" smtClean="0"/>
              <a:t>is the </a:t>
            </a:r>
            <a:r>
              <a:rPr lang="en-US" dirty="0"/>
              <a:t>speed of innovation and people’s desire for new things fast. Hackers and security </a:t>
            </a:r>
            <a:r>
              <a:rPr lang="en-US" dirty="0" smtClean="0"/>
              <a:t>professionals regularly </a:t>
            </a:r>
            <a:r>
              <a:rPr lang="en-US" dirty="0"/>
              <a:t>find gaping holes each time a new product, application, or </a:t>
            </a:r>
            <a:r>
              <a:rPr lang="en-US" dirty="0" smtClean="0"/>
              <a:t>cyberspace phenomenon </a:t>
            </a:r>
            <a:r>
              <a:rPr lang="en-US" dirty="0"/>
              <a:t>appears.</a:t>
            </a:r>
            <a:endParaRPr lang="en-US" dirty="0" smtClean="0"/>
          </a:p>
          <a:p>
            <a:pPr marL="0" indent="0" algn="just">
              <a:buNone/>
            </a:pPr>
            <a:endParaRPr lang="en-US" dirty="0"/>
          </a:p>
        </p:txBody>
      </p:sp>
    </p:spTree>
    <p:extLst>
      <p:ext uri="{BB962C8B-B14F-4D97-AF65-F5344CB8AC3E}">
        <p14:creationId xmlns:p14="http://schemas.microsoft.com/office/powerpoint/2010/main" val="224454137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rmAutofit fontScale="90000"/>
          </a:bodyPr>
          <a:lstStyle/>
          <a:p>
            <a:r>
              <a:rPr lang="en-US" b="1" dirty="0"/>
              <a:t>Responsibility for security</a:t>
            </a:r>
            <a:r>
              <a:rPr lang="en-US" dirty="0"/>
              <a:t/>
            </a:r>
            <a:br>
              <a:rPr lang="en-US" dirty="0"/>
            </a:br>
            <a:endParaRPr lang="en-US" dirty="0"/>
          </a:p>
        </p:txBody>
      </p:sp>
      <p:sp>
        <p:nvSpPr>
          <p:cNvPr id="3" name="Content Placeholder 2"/>
          <p:cNvSpPr>
            <a:spLocks noGrp="1"/>
          </p:cNvSpPr>
          <p:nvPr>
            <p:ph idx="1"/>
          </p:nvPr>
        </p:nvSpPr>
        <p:spPr/>
        <p:txBody>
          <a:bodyPr>
            <a:normAutofit fontScale="85000" lnSpcReduction="20000"/>
          </a:bodyPr>
          <a:lstStyle/>
          <a:p>
            <a:pPr marL="0" indent="0" algn="just">
              <a:buNone/>
            </a:pPr>
            <a:r>
              <a:rPr lang="en-US" dirty="0" smtClean="0"/>
              <a:t>Principles </a:t>
            </a:r>
            <a:r>
              <a:rPr lang="en-US" dirty="0"/>
              <a:t>and techniques for developing good systems exist, and </a:t>
            </a:r>
            <a:r>
              <a:rPr lang="en-US" dirty="0" smtClean="0"/>
              <a:t>responsible software </a:t>
            </a:r>
            <a:r>
              <a:rPr lang="en-US" dirty="0"/>
              <a:t>designers must learn and use them. </a:t>
            </a:r>
            <a:endParaRPr lang="en-US" dirty="0" smtClean="0"/>
          </a:p>
          <a:p>
            <a:pPr marL="0" indent="0" algn="just">
              <a:buNone/>
            </a:pPr>
            <a:r>
              <a:rPr lang="en-US" dirty="0" smtClean="0"/>
              <a:t>The </a:t>
            </a:r>
            <a:r>
              <a:rPr lang="en-US" dirty="0"/>
              <a:t>field of computer security is robust </a:t>
            </a:r>
            <a:r>
              <a:rPr lang="en-US" dirty="0" smtClean="0"/>
              <a:t>and fascinating</a:t>
            </a:r>
            <a:r>
              <a:rPr lang="en-US" dirty="0"/>
              <a:t>. System designers can make security from intrusion a major design goal. </a:t>
            </a:r>
            <a:endParaRPr lang="en-US" dirty="0" smtClean="0"/>
          </a:p>
          <a:p>
            <a:pPr marL="0" indent="0" algn="just">
              <a:buNone/>
            </a:pPr>
            <a:r>
              <a:rPr lang="en-US" dirty="0" smtClean="0"/>
              <a:t>When a </a:t>
            </a:r>
            <a:r>
              <a:rPr lang="en-US" dirty="0"/>
              <a:t>computer system contains valuable or sensitive data, or if many people depend on </a:t>
            </a:r>
            <a:r>
              <a:rPr lang="en-US" dirty="0" smtClean="0"/>
              <a:t>its smooth </a:t>
            </a:r>
            <a:r>
              <a:rPr lang="en-US" dirty="0"/>
              <a:t>operation, the system administrators have a professional and ethical obligation</a:t>
            </a:r>
            <a:r>
              <a:rPr lang="en-US" dirty="0" smtClean="0"/>
              <a:t>, and </a:t>
            </a:r>
            <a:r>
              <a:rPr lang="en-US" dirty="0"/>
              <a:t>in many cases a legal obligation as well, to take reasonable security precautions </a:t>
            </a:r>
            <a:r>
              <a:rPr lang="en-US" dirty="0" smtClean="0"/>
              <a:t>to protect </a:t>
            </a:r>
            <a:r>
              <a:rPr lang="en-US" dirty="0"/>
              <a:t>the system. </a:t>
            </a:r>
          </a:p>
          <a:p>
            <a:pPr marL="0" indent="0" algn="just">
              <a:buNone/>
            </a:pPr>
            <a:endParaRPr lang="en-US" dirty="0"/>
          </a:p>
        </p:txBody>
      </p:sp>
    </p:spTree>
    <p:extLst>
      <p:ext uri="{BB962C8B-B14F-4D97-AF65-F5344CB8AC3E}">
        <p14:creationId xmlns:p14="http://schemas.microsoft.com/office/powerpoint/2010/main" val="244945462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rmAutofit fontScale="90000"/>
          </a:bodyPr>
          <a:lstStyle/>
          <a:p>
            <a:r>
              <a:rPr lang="en-US" b="1" dirty="0"/>
              <a:t>Responsibility for security</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marL="0" indent="0" algn="just">
              <a:buNone/>
            </a:pPr>
            <a:r>
              <a:rPr lang="en-US" dirty="0" smtClean="0"/>
              <a:t>They </a:t>
            </a:r>
            <a:r>
              <a:rPr lang="en-US" dirty="0"/>
              <a:t>must anticipate risks and prepare for them. </a:t>
            </a:r>
            <a:endParaRPr lang="en-US" dirty="0" smtClean="0"/>
          </a:p>
          <a:p>
            <a:pPr marL="0" indent="0" algn="just">
              <a:buNone/>
            </a:pPr>
            <a:r>
              <a:rPr lang="en-US" dirty="0" smtClean="0"/>
              <a:t>System developers and </a:t>
            </a:r>
            <a:r>
              <a:rPr lang="en-US" dirty="0"/>
              <a:t>administrators must stay up to date about new risks and new security measures</a:t>
            </a:r>
            <a:r>
              <a:rPr lang="en-US" dirty="0" smtClean="0"/>
              <a:t>. </a:t>
            </a:r>
          </a:p>
          <a:p>
            <a:pPr marL="0" indent="0" algn="just">
              <a:buNone/>
            </a:pPr>
            <a:r>
              <a:rPr lang="en-US" dirty="0" smtClean="0"/>
              <a:t>This </a:t>
            </a:r>
            <a:r>
              <a:rPr lang="en-US" dirty="0"/>
              <a:t>is often not an easy task, but it is an essential goal and a professional responsibility</a:t>
            </a:r>
            <a:r>
              <a:rPr lang="en-US" dirty="0" smtClean="0"/>
              <a:t>.</a:t>
            </a:r>
          </a:p>
          <a:p>
            <a:pPr marL="0" indent="0" algn="just">
              <a:buNone/>
            </a:pPr>
            <a:r>
              <a:rPr lang="en-US" dirty="0" smtClean="0"/>
              <a:t> No </a:t>
            </a:r>
            <a:r>
              <a:rPr lang="en-US" dirty="0"/>
              <a:t>matter how well designed security software and procedures are, the complexity </a:t>
            </a:r>
            <a:r>
              <a:rPr lang="en-US" dirty="0" smtClean="0"/>
              <a:t>of computer </a:t>
            </a:r>
            <a:r>
              <a:rPr lang="en-US" dirty="0"/>
              <a:t>systems means that there will be unexpected security failures</a:t>
            </a:r>
            <a:r>
              <a:rPr lang="en-US" dirty="0" smtClean="0"/>
              <a:t>.</a:t>
            </a:r>
          </a:p>
          <a:p>
            <a:pPr marL="0" indent="0" algn="just">
              <a:buNone/>
            </a:pPr>
            <a:r>
              <a:rPr lang="en-US" dirty="0" smtClean="0"/>
              <a:t>We </a:t>
            </a:r>
            <a:r>
              <a:rPr lang="en-US" dirty="0"/>
              <a:t>cannot </a:t>
            </a:r>
            <a:r>
              <a:rPr lang="en-US" dirty="0" smtClean="0"/>
              <a:t>expect perfection</a:t>
            </a:r>
            <a:r>
              <a:rPr lang="en-US" dirty="0"/>
              <a:t>, but we should expect professionalism.</a:t>
            </a:r>
          </a:p>
          <a:p>
            <a:pPr marL="0" indent="0" algn="just">
              <a:buNone/>
            </a:pPr>
            <a:endParaRPr lang="en-US" dirty="0"/>
          </a:p>
        </p:txBody>
      </p:sp>
    </p:spTree>
    <p:extLst>
      <p:ext uri="{BB962C8B-B14F-4D97-AF65-F5344CB8AC3E}">
        <p14:creationId xmlns:p14="http://schemas.microsoft.com/office/powerpoint/2010/main" val="16187753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rmAutofit fontScale="90000"/>
          </a:bodyPr>
          <a:lstStyle/>
          <a:p>
            <a:r>
              <a:rPr lang="en-US" b="1" dirty="0"/>
              <a:t>Responsibility for security</a:t>
            </a:r>
            <a:r>
              <a:rPr lang="en-US" dirty="0"/>
              <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pPr marL="0" indent="0" algn="just">
              <a:buNone/>
            </a:pPr>
            <a:r>
              <a:rPr lang="en-US" dirty="0"/>
              <a:t>Most people who use smartphones, tablets, and computers have no technical training</a:t>
            </a:r>
            <a:r>
              <a:rPr lang="en-US" dirty="0" smtClean="0"/>
              <a:t>. </a:t>
            </a:r>
          </a:p>
          <a:p>
            <a:pPr marL="0" indent="0" algn="just">
              <a:buNone/>
            </a:pPr>
            <a:r>
              <a:rPr lang="en-US" dirty="0" smtClean="0"/>
              <a:t>Many </a:t>
            </a:r>
            <a:r>
              <a:rPr lang="en-US" dirty="0"/>
              <a:t>do not use firewalls or antivirus software, because they do not understand the </a:t>
            </a:r>
            <a:r>
              <a:rPr lang="en-US" dirty="0" smtClean="0"/>
              <a:t>risks or </a:t>
            </a:r>
            <a:r>
              <a:rPr lang="en-US" dirty="0"/>
              <a:t>because they find the security tools too confusing</a:t>
            </a:r>
            <a:r>
              <a:rPr lang="en-US" dirty="0" smtClean="0"/>
              <a:t>.</a:t>
            </a:r>
          </a:p>
          <a:p>
            <a:pPr marL="0" indent="0" algn="just">
              <a:buNone/>
            </a:pPr>
            <a:r>
              <a:rPr lang="en-US" dirty="0" smtClean="0"/>
              <a:t> </a:t>
            </a:r>
            <a:r>
              <a:rPr lang="en-US" dirty="0"/>
              <a:t>It does not occur to consumers to </a:t>
            </a:r>
            <a:r>
              <a:rPr lang="en-US" dirty="0" smtClean="0"/>
              <a:t>ask when </a:t>
            </a:r>
            <a:r>
              <a:rPr lang="en-US" dirty="0"/>
              <a:t>buying a new cellphone if their calls are encrypted or easily </a:t>
            </a:r>
            <a:r>
              <a:rPr lang="en-US" dirty="0" err="1"/>
              <a:t>interceptable</a:t>
            </a:r>
            <a:r>
              <a:rPr lang="en-US" dirty="0"/>
              <a:t>. </a:t>
            </a:r>
          </a:p>
          <a:p>
            <a:pPr marL="0" indent="0" algn="just">
              <a:buNone/>
            </a:pPr>
            <a:r>
              <a:rPr lang="en-US" dirty="0" smtClean="0"/>
              <a:t>Sellers of any </a:t>
            </a:r>
            <a:r>
              <a:rPr lang="en-US" dirty="0"/>
              <a:t>widely used consumer product have an ethical obligation to build in a level of </a:t>
            </a:r>
            <a:r>
              <a:rPr lang="en-US" dirty="0" smtClean="0"/>
              <a:t>safety appropriate </a:t>
            </a:r>
            <a:r>
              <a:rPr lang="en-US" dirty="0"/>
              <a:t>for the general population</a:t>
            </a:r>
            <a:r>
              <a:rPr lang="en-US" dirty="0" smtClean="0"/>
              <a:t>.</a:t>
            </a:r>
          </a:p>
          <a:p>
            <a:pPr marL="0" indent="0" algn="just">
              <a:buNone/>
            </a:pPr>
            <a:r>
              <a:rPr lang="en-US" dirty="0" smtClean="0"/>
              <a:t> </a:t>
            </a:r>
            <a:r>
              <a:rPr lang="en-US" dirty="0"/>
              <a:t>Software companies have an ethical obligation </a:t>
            </a:r>
            <a:r>
              <a:rPr lang="en-US" dirty="0" smtClean="0"/>
              <a:t>to design </a:t>
            </a:r>
            <a:r>
              <a:rPr lang="en-US" dirty="0"/>
              <a:t>and implement their products so that they do not expose users to severe </a:t>
            </a:r>
            <a:r>
              <a:rPr lang="en-US" dirty="0" smtClean="0"/>
              <a:t>security threats</a:t>
            </a:r>
            <a:r>
              <a:rPr lang="en-US" dirty="0"/>
              <a:t>.</a:t>
            </a:r>
          </a:p>
          <a:p>
            <a:pPr marL="0" indent="0" algn="just">
              <a:buNone/>
            </a:pPr>
            <a:endParaRPr lang="en-US" dirty="0"/>
          </a:p>
        </p:txBody>
      </p:sp>
    </p:spTree>
    <p:extLst>
      <p:ext uri="{BB962C8B-B14F-4D97-AF65-F5344CB8AC3E}">
        <p14:creationId xmlns:p14="http://schemas.microsoft.com/office/powerpoint/2010/main" val="184751501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rmAutofit fontScale="90000"/>
          </a:bodyPr>
          <a:lstStyle/>
          <a:p>
            <a:r>
              <a:rPr lang="en-US" b="1" dirty="0"/>
              <a:t>Responsibility for security</a:t>
            </a:r>
            <a:r>
              <a:rPr lang="en-US" dirty="0"/>
              <a:t/>
            </a:r>
            <a:br>
              <a:rPr lang="en-US" dirty="0"/>
            </a:br>
            <a:endParaRPr lang="en-US" dirty="0"/>
          </a:p>
        </p:txBody>
      </p:sp>
      <p:sp>
        <p:nvSpPr>
          <p:cNvPr id="3" name="Content Placeholder 2"/>
          <p:cNvSpPr>
            <a:spLocks noGrp="1"/>
          </p:cNvSpPr>
          <p:nvPr>
            <p:ph idx="1"/>
          </p:nvPr>
        </p:nvSpPr>
        <p:spPr/>
        <p:txBody>
          <a:bodyPr/>
          <a:lstStyle/>
          <a:p>
            <a:pPr marL="0" indent="0" algn="just">
              <a:buNone/>
            </a:pPr>
            <a:r>
              <a:rPr lang="en-US" b="1" i="1" dirty="0"/>
              <a:t>The security vulnerabilities with the most profound potential threats to the lives </a:t>
            </a:r>
            <a:r>
              <a:rPr lang="en-US" b="1" i="1" dirty="0" smtClean="0"/>
              <a:t>and well-being </a:t>
            </a:r>
            <a:r>
              <a:rPr lang="en-US" b="1" i="1" dirty="0"/>
              <a:t>of millions of people are in major infrastructure systems and defense systems</a:t>
            </a:r>
            <a:r>
              <a:rPr lang="en-US" b="1" i="1" dirty="0" smtClean="0"/>
              <a:t>. The </a:t>
            </a:r>
            <a:r>
              <a:rPr lang="en-US" b="1" i="1" dirty="0"/>
              <a:t>companies and government agencies that operate these systems have, therefore, </a:t>
            </a:r>
            <a:r>
              <a:rPr lang="en-US" b="1" i="1" dirty="0" smtClean="0"/>
              <a:t>a profound </a:t>
            </a:r>
            <a:r>
              <a:rPr lang="en-US" b="1" i="1" dirty="0"/>
              <a:t>responsibility for improving security.</a:t>
            </a:r>
          </a:p>
          <a:p>
            <a:pPr marL="0" indent="0" algn="just">
              <a:buNone/>
            </a:pPr>
            <a:r>
              <a:rPr lang="en-US" b="1" i="1" dirty="0"/>
              <a:t> </a:t>
            </a:r>
          </a:p>
          <a:p>
            <a:pPr marL="0" indent="0" algn="just">
              <a:buNone/>
            </a:pPr>
            <a:endParaRPr lang="en-US" b="1" i="1" dirty="0"/>
          </a:p>
        </p:txBody>
      </p:sp>
    </p:spTree>
    <p:extLst>
      <p:ext uri="{BB962C8B-B14F-4D97-AF65-F5344CB8AC3E}">
        <p14:creationId xmlns:p14="http://schemas.microsoft.com/office/powerpoint/2010/main" val="184751501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lstStyle/>
          <a:p>
            <a:r>
              <a:rPr lang="en-US"/>
              <a:t>Hacking</a:t>
            </a:r>
          </a:p>
        </p:txBody>
      </p:sp>
      <p:sp>
        <p:nvSpPr>
          <p:cNvPr id="2" name="Content Placeholder 1"/>
          <p:cNvSpPr>
            <a:spLocks noGrp="1"/>
          </p:cNvSpPr>
          <p:nvPr>
            <p:ph idx="1"/>
          </p:nvPr>
        </p:nvSpPr>
        <p:spPr/>
        <p:txBody>
          <a:bodyPr>
            <a:noAutofit/>
          </a:bodyPr>
          <a:lstStyle/>
          <a:p>
            <a:pPr marL="0" indent="0" algn="just">
              <a:buNone/>
            </a:pPr>
            <a:r>
              <a:rPr lang="en-US" dirty="0"/>
              <a:t>Nineteenth-century bank robbers fled the scenes of their crimes on horseback</a:t>
            </a:r>
            <a:r>
              <a:rPr lang="en-US" dirty="0" smtClean="0"/>
              <a:t>.</a:t>
            </a:r>
          </a:p>
          <a:p>
            <a:pPr marL="0" indent="0" algn="just">
              <a:buNone/>
            </a:pPr>
            <a:r>
              <a:rPr lang="en-US" dirty="0" smtClean="0"/>
              <a:t> </a:t>
            </a:r>
            <a:r>
              <a:rPr lang="en-US" dirty="0"/>
              <a:t>In </a:t>
            </a:r>
            <a:r>
              <a:rPr lang="en-US" dirty="0" smtClean="0"/>
              <a:t>the 20th </a:t>
            </a:r>
            <a:r>
              <a:rPr lang="en-US" dirty="0"/>
              <a:t>century, they drove getaway cars</a:t>
            </a:r>
            <a:r>
              <a:rPr lang="en-US" dirty="0" smtClean="0"/>
              <a:t>.</a:t>
            </a:r>
          </a:p>
          <a:p>
            <a:pPr marL="0" indent="0" algn="just">
              <a:buNone/>
            </a:pPr>
            <a:r>
              <a:rPr lang="en-US" dirty="0" smtClean="0"/>
              <a:t> </a:t>
            </a:r>
            <a:r>
              <a:rPr lang="en-US" dirty="0"/>
              <a:t>In the 21st, they work from a computer</a:t>
            </a:r>
            <a:r>
              <a:rPr lang="en-US" dirty="0" smtClean="0"/>
              <a:t>.</a:t>
            </a:r>
          </a:p>
          <a:p>
            <a:pPr marL="0" indent="0" algn="just">
              <a:buNone/>
            </a:pPr>
            <a:r>
              <a:rPr lang="en-US" dirty="0" smtClean="0"/>
              <a:t> For generations</a:t>
            </a:r>
            <a:r>
              <a:rPr lang="en-US" dirty="0"/>
              <a:t>, teenagers have committed pranks and minor crimes. Hacking into school</a:t>
            </a:r>
            <a:r>
              <a:rPr lang="en-US" dirty="0" smtClean="0"/>
              <a:t>, corporate</a:t>
            </a:r>
            <a:r>
              <a:rPr lang="en-US" dirty="0"/>
              <a:t>, and government computer systems was a natural step</a:t>
            </a:r>
            <a:r>
              <a:rPr lang="en-US" dirty="0" smtClean="0"/>
              <a:t>.</a:t>
            </a:r>
          </a:p>
          <a:p>
            <a:pPr marL="0" indent="0" algn="just">
              <a:buNone/>
            </a:pPr>
            <a:r>
              <a:rPr lang="en-US" dirty="0" smtClean="0"/>
              <a:t> </a:t>
            </a:r>
            <a:endParaRPr lang="en-US" dirty="0"/>
          </a:p>
        </p:txBody>
      </p:sp>
    </p:spTree>
    <p:extLst>
      <p:ext uri="{BB962C8B-B14F-4D97-AF65-F5344CB8AC3E}">
        <p14:creationId xmlns:p14="http://schemas.microsoft.com/office/powerpoint/2010/main" val="148074065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lstStyle/>
          <a:p>
            <a:r>
              <a:rPr lang="en-US"/>
              <a:t>Hacking</a:t>
            </a:r>
          </a:p>
        </p:txBody>
      </p:sp>
      <p:sp>
        <p:nvSpPr>
          <p:cNvPr id="2" name="Content Placeholder 1"/>
          <p:cNvSpPr>
            <a:spLocks noGrp="1"/>
          </p:cNvSpPr>
          <p:nvPr>
            <p:ph idx="1"/>
          </p:nvPr>
        </p:nvSpPr>
        <p:spPr/>
        <p:txBody>
          <a:bodyPr>
            <a:normAutofit lnSpcReduction="10000"/>
          </a:bodyPr>
          <a:lstStyle/>
          <a:p>
            <a:pPr marL="0" indent="0" algn="just">
              <a:buNone/>
            </a:pPr>
            <a:r>
              <a:rPr lang="en-US" dirty="0" smtClean="0"/>
              <a:t>Computing </a:t>
            </a:r>
            <a:r>
              <a:rPr lang="en-US" dirty="0"/>
              <a:t>technology and the Internet provide new environments for fraud, stock manipulation, theft, forgery, industrial espionage, and many old and new scams. </a:t>
            </a:r>
          </a:p>
          <a:p>
            <a:pPr marL="0" indent="0" algn="just">
              <a:buNone/>
            </a:pPr>
            <a:r>
              <a:rPr lang="en-US" b="1" i="1" dirty="0"/>
              <a:t>Hacking—intentional, unauthorized access to computer systems—includes a wide range of activities from minor pranks to huge thefts and shutdowns of services on which lives and livelihoods depend.</a:t>
            </a:r>
          </a:p>
          <a:p>
            <a:pPr marL="0" indent="0">
              <a:buNone/>
            </a:pPr>
            <a:endParaRPr lang="en-US" dirty="0" smtClean="0"/>
          </a:p>
          <a:p>
            <a:endParaRPr lang="en-US" dirty="0"/>
          </a:p>
        </p:txBody>
      </p:sp>
    </p:spTree>
    <p:extLst>
      <p:ext uri="{BB962C8B-B14F-4D97-AF65-F5344CB8AC3E}">
        <p14:creationId xmlns:p14="http://schemas.microsoft.com/office/powerpoint/2010/main" val="403122675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lstStyle/>
          <a:p>
            <a:r>
              <a:rPr lang="en-US"/>
              <a:t>Hacking</a:t>
            </a:r>
          </a:p>
        </p:txBody>
      </p:sp>
      <p:sp>
        <p:nvSpPr>
          <p:cNvPr id="2" name="Content Placeholder 1"/>
          <p:cNvSpPr>
            <a:spLocks noGrp="1"/>
          </p:cNvSpPr>
          <p:nvPr>
            <p:ph idx="1"/>
          </p:nvPr>
        </p:nvSpPr>
        <p:spPr/>
        <p:txBody>
          <a:bodyPr>
            <a:normAutofit fontScale="85000" lnSpcReduction="10000"/>
          </a:bodyPr>
          <a:lstStyle/>
          <a:p>
            <a:pPr marL="0" indent="0" algn="just">
              <a:buNone/>
            </a:pPr>
            <a:r>
              <a:rPr lang="en-US" dirty="0"/>
              <a:t>Crimes committed with computing technology are more devastating and harder </a:t>
            </a:r>
            <a:r>
              <a:rPr lang="en-US" dirty="0" smtClean="0"/>
              <a:t>to detect </a:t>
            </a:r>
            <a:r>
              <a:rPr lang="en-US" dirty="0"/>
              <a:t>than similar crimes committed without it. A robber who enters a bank and </a:t>
            </a:r>
            <a:r>
              <a:rPr lang="en-US" dirty="0" smtClean="0"/>
              <a:t>uses a </a:t>
            </a:r>
            <a:r>
              <a:rPr lang="en-US" dirty="0"/>
              <a:t>gun gets $2,500–$5000 on average. </a:t>
            </a:r>
            <a:r>
              <a:rPr lang="en-US" b="1" i="1" dirty="0"/>
              <a:t>The average loss from a computer fraud is </a:t>
            </a:r>
            <a:r>
              <a:rPr lang="en-US" b="1" i="1" dirty="0" smtClean="0"/>
              <a:t>more than </a:t>
            </a:r>
            <a:r>
              <a:rPr lang="en-US" b="1" i="1" dirty="0"/>
              <a:t>$100,000</a:t>
            </a:r>
            <a:r>
              <a:rPr lang="en-US" dirty="0" smtClean="0"/>
              <a:t>.</a:t>
            </a:r>
          </a:p>
          <a:p>
            <a:pPr marL="0" indent="0" algn="just">
              <a:buNone/>
            </a:pPr>
            <a:r>
              <a:rPr lang="en-US" dirty="0" smtClean="0"/>
              <a:t> </a:t>
            </a:r>
            <a:r>
              <a:rPr lang="en-US" dirty="0"/>
              <a:t>A thief who steals a credit card (or a credit card number) gains access </a:t>
            </a:r>
            <a:r>
              <a:rPr lang="en-US" dirty="0" smtClean="0"/>
              <a:t>to a </a:t>
            </a:r>
            <a:r>
              <a:rPr lang="en-US" dirty="0"/>
              <a:t>much larger amount of money than the thief of the past who stole a wallet </a:t>
            </a:r>
            <a:r>
              <a:rPr lang="en-US" dirty="0" smtClean="0"/>
              <a:t>containing only </a:t>
            </a:r>
            <a:r>
              <a:rPr lang="en-US" dirty="0"/>
              <a:t>cash</a:t>
            </a:r>
            <a:r>
              <a:rPr lang="en-US" dirty="0" smtClean="0"/>
              <a:t>.</a:t>
            </a:r>
          </a:p>
          <a:p>
            <a:pPr marL="0" indent="0" algn="just">
              <a:buNone/>
            </a:pPr>
            <a:r>
              <a:rPr lang="en-US" dirty="0" smtClean="0"/>
              <a:t> </a:t>
            </a:r>
            <a:r>
              <a:rPr lang="en-US" dirty="0"/>
              <a:t>A hacker who breaks into a retailer’s or bank’s computer might steal not one </a:t>
            </a:r>
            <a:r>
              <a:rPr lang="en-US" dirty="0" smtClean="0"/>
              <a:t>or a </a:t>
            </a:r>
            <a:r>
              <a:rPr lang="en-US" dirty="0"/>
              <a:t>dozen but thousands or millions of credit card numbers</a:t>
            </a:r>
            <a:r>
              <a:rPr lang="en-US" dirty="0" smtClean="0"/>
              <a:t>.</a:t>
            </a:r>
          </a:p>
          <a:p>
            <a:pPr marL="0" indent="0" algn="just">
              <a:buNone/>
            </a:pPr>
            <a:endParaRPr lang="en-US" dirty="0"/>
          </a:p>
        </p:txBody>
      </p:sp>
    </p:spTree>
    <p:extLst>
      <p:ext uri="{BB962C8B-B14F-4D97-AF65-F5344CB8AC3E}">
        <p14:creationId xmlns:p14="http://schemas.microsoft.com/office/powerpoint/2010/main" val="326425704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lstStyle/>
          <a:p>
            <a:r>
              <a:rPr lang="en-US"/>
              <a:t>Hacking</a:t>
            </a:r>
          </a:p>
        </p:txBody>
      </p:sp>
      <p:sp>
        <p:nvSpPr>
          <p:cNvPr id="2" name="Content Placeholder 1"/>
          <p:cNvSpPr>
            <a:spLocks noGrp="1"/>
          </p:cNvSpPr>
          <p:nvPr>
            <p:ph idx="1"/>
          </p:nvPr>
        </p:nvSpPr>
        <p:spPr/>
        <p:txBody>
          <a:bodyPr>
            <a:normAutofit fontScale="85000" lnSpcReduction="20000"/>
          </a:bodyPr>
          <a:lstStyle/>
          <a:p>
            <a:pPr marL="0" indent="0" algn="just">
              <a:buNone/>
            </a:pPr>
            <a:r>
              <a:rPr lang="en-US" dirty="0"/>
              <a:t> Identity theft affects millions of people. It can disrupt a victim’s life for years. </a:t>
            </a:r>
            <a:endParaRPr lang="en-US" dirty="0" smtClean="0"/>
          </a:p>
          <a:p>
            <a:pPr marL="0" indent="0" algn="just">
              <a:buNone/>
            </a:pPr>
            <a:r>
              <a:rPr lang="en-US" dirty="0" smtClean="0"/>
              <a:t>Computer </a:t>
            </a:r>
            <a:r>
              <a:rPr lang="en-US" dirty="0"/>
              <a:t>vandalism by teenagers brings business operations of major companies to a halt.</a:t>
            </a:r>
          </a:p>
          <a:p>
            <a:pPr marL="0" indent="0" algn="just">
              <a:buNone/>
            </a:pPr>
            <a:r>
              <a:rPr lang="en-US" dirty="0"/>
              <a:t> Terrorists could sabotage power and communications systems and other critical infrastructure.</a:t>
            </a:r>
          </a:p>
          <a:p>
            <a:pPr marL="0" indent="0" algn="just">
              <a:buNone/>
            </a:pPr>
            <a:r>
              <a:rPr lang="en-US" dirty="0"/>
              <a:t> Global business networks and the Web extend the criminal’s reach and make arrests and prosecutions more difficult.</a:t>
            </a:r>
          </a:p>
          <a:p>
            <a:pPr marL="0" indent="0" algn="just">
              <a:buNone/>
            </a:pPr>
            <a:r>
              <a:rPr lang="en-US" b="1" dirty="0"/>
              <a:t> With so much sensitive information and infrastructure online, why is security weak enough to allow repeated significant breaches?</a:t>
            </a:r>
          </a:p>
          <a:p>
            <a:pPr marL="0" indent="0">
              <a:buNone/>
            </a:pPr>
            <a:endParaRPr lang="en-US" dirty="0"/>
          </a:p>
        </p:txBody>
      </p:sp>
    </p:spTree>
    <p:extLst>
      <p:ext uri="{BB962C8B-B14F-4D97-AF65-F5344CB8AC3E}">
        <p14:creationId xmlns:p14="http://schemas.microsoft.com/office/powerpoint/2010/main" val="121016479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Autofit/>
          </a:bodyPr>
          <a:lstStyle/>
          <a:p>
            <a:r>
              <a:rPr lang="en-US" sz="3600" dirty="0" smtClean="0"/>
              <a:t/>
            </a:r>
            <a:br>
              <a:rPr lang="en-US" sz="3600" dirty="0" smtClean="0"/>
            </a:br>
            <a:r>
              <a:rPr lang="en-US" sz="3600" dirty="0" smtClean="0"/>
              <a:t>Phase 1—(1960s </a:t>
            </a:r>
            <a:r>
              <a:rPr lang="en-US" sz="3600" dirty="0"/>
              <a:t>and 1970s</a:t>
            </a:r>
            <a:r>
              <a:rPr lang="en-US" sz="3600" dirty="0" smtClean="0"/>
              <a:t>) The Joy of Programming</a:t>
            </a:r>
            <a:r>
              <a:rPr lang="en-US" sz="3600" dirty="0"/>
              <a:t/>
            </a:r>
            <a:br>
              <a:rPr lang="en-US" sz="3600" dirty="0"/>
            </a:br>
            <a:endParaRPr lang="en-US" sz="3600" dirty="0"/>
          </a:p>
        </p:txBody>
      </p:sp>
      <p:sp>
        <p:nvSpPr>
          <p:cNvPr id="2" name="Content Placeholder 1"/>
          <p:cNvSpPr>
            <a:spLocks noGrp="1"/>
          </p:cNvSpPr>
          <p:nvPr>
            <p:ph idx="1"/>
          </p:nvPr>
        </p:nvSpPr>
        <p:spPr/>
        <p:txBody>
          <a:bodyPr>
            <a:normAutofit fontScale="85000" lnSpcReduction="20000"/>
          </a:bodyPr>
          <a:lstStyle/>
          <a:p>
            <a:pPr marL="0" indent="0" algn="just">
              <a:buNone/>
            </a:pPr>
            <a:r>
              <a:rPr lang="en-US" dirty="0" smtClean="0"/>
              <a:t>It was a positive term</a:t>
            </a:r>
          </a:p>
          <a:p>
            <a:pPr marL="0" indent="0" algn="just">
              <a:buNone/>
            </a:pPr>
            <a:r>
              <a:rPr lang="en-US" dirty="0" smtClean="0"/>
              <a:t>A “hacker” was a creative programmer who wrote very elegant or clever programs.</a:t>
            </a:r>
          </a:p>
          <a:p>
            <a:pPr marL="0" indent="0" algn="just">
              <a:buNone/>
            </a:pPr>
            <a:r>
              <a:rPr lang="en-US" dirty="0" smtClean="0"/>
              <a:t> A “good hack” was an especially clever piece of code. Hackers created </a:t>
            </a:r>
            <a:r>
              <a:rPr lang="en-US" dirty="0"/>
              <a:t>many of the first computer games and </a:t>
            </a:r>
            <a:r>
              <a:rPr lang="en-US" dirty="0" smtClean="0"/>
              <a:t>operating systems</a:t>
            </a:r>
            <a:r>
              <a:rPr lang="en-US" dirty="0"/>
              <a:t>. They tended to be outside the social mainstream. Many were high school </a:t>
            </a:r>
            <a:r>
              <a:rPr lang="en-US" dirty="0" smtClean="0"/>
              <a:t>and college </a:t>
            </a:r>
            <a:r>
              <a:rPr lang="en-US" dirty="0"/>
              <a:t>students—or drop-outs. Although they sometimes found ways into systems </a:t>
            </a:r>
            <a:r>
              <a:rPr lang="en-US" dirty="0" smtClean="0"/>
              <a:t>where they </a:t>
            </a:r>
            <a:r>
              <a:rPr lang="en-US" dirty="0"/>
              <a:t>were not authorized users, the early hackers mostly sought knowledge and </a:t>
            </a:r>
            <a:r>
              <a:rPr lang="en-US" dirty="0" smtClean="0"/>
              <a:t>intellectual challenges—and</a:t>
            </a:r>
            <a:r>
              <a:rPr lang="en-US" dirty="0"/>
              <a:t>, sometimes, the thrill of going where they did not </a:t>
            </a:r>
            <a:r>
              <a:rPr lang="en-US" dirty="0" smtClean="0"/>
              <a:t>belong.</a:t>
            </a:r>
            <a:endParaRPr lang="en-US" dirty="0"/>
          </a:p>
        </p:txBody>
      </p:sp>
    </p:spTree>
    <p:extLst>
      <p:ext uri="{BB962C8B-B14F-4D97-AF65-F5344CB8AC3E}">
        <p14:creationId xmlns:p14="http://schemas.microsoft.com/office/powerpoint/2010/main" val="39101954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Autofit/>
          </a:bodyPr>
          <a:lstStyle/>
          <a:p>
            <a:r>
              <a:rPr lang="en-US" sz="3600" dirty="0" smtClean="0"/>
              <a:t/>
            </a:r>
            <a:br>
              <a:rPr lang="en-US" sz="3600" dirty="0" smtClean="0"/>
            </a:br>
            <a:r>
              <a:rPr lang="en-US" sz="3600" dirty="0" smtClean="0"/>
              <a:t>Phase 1—(1960s </a:t>
            </a:r>
            <a:r>
              <a:rPr lang="en-US" sz="3600" dirty="0"/>
              <a:t>and 1970s</a:t>
            </a:r>
            <a:r>
              <a:rPr lang="en-US" sz="3600" dirty="0" smtClean="0"/>
              <a:t>) The Joy of Programming</a:t>
            </a:r>
            <a:r>
              <a:rPr lang="en-US" sz="3600" dirty="0"/>
              <a:t/>
            </a:r>
            <a:br>
              <a:rPr lang="en-US" sz="3600" dirty="0"/>
            </a:br>
            <a:endParaRPr lang="en-US" sz="3600" dirty="0"/>
          </a:p>
        </p:txBody>
      </p:sp>
      <p:sp>
        <p:nvSpPr>
          <p:cNvPr id="3" name="Content Placeholder 2"/>
          <p:cNvSpPr>
            <a:spLocks noGrp="1"/>
          </p:cNvSpPr>
          <p:nvPr>
            <p:ph idx="1"/>
          </p:nvPr>
        </p:nvSpPr>
        <p:spPr/>
        <p:txBody>
          <a:bodyPr>
            <a:normAutofit lnSpcReduction="10000"/>
          </a:bodyPr>
          <a:lstStyle/>
          <a:p>
            <a:pPr marL="0" indent="0" algn="just">
              <a:buNone/>
            </a:pPr>
            <a:r>
              <a:rPr lang="en-US" dirty="0"/>
              <a:t>“Hacking” still sometimes has the early meaning of clever programming that reflects </a:t>
            </a:r>
            <a:r>
              <a:rPr lang="en-US" dirty="0" smtClean="0"/>
              <a:t>a high </a:t>
            </a:r>
            <a:r>
              <a:rPr lang="en-US" dirty="0"/>
              <a:t>level of </a:t>
            </a:r>
            <a:r>
              <a:rPr lang="en-US" dirty="0" smtClean="0"/>
              <a:t>skill. </a:t>
            </a:r>
          </a:p>
          <a:p>
            <a:pPr marL="0" indent="0" algn="just">
              <a:buNone/>
            </a:pPr>
            <a:r>
              <a:rPr lang="en-US" dirty="0" smtClean="0"/>
              <a:t>Fans </a:t>
            </a:r>
            <a:r>
              <a:rPr lang="en-US" dirty="0"/>
              <a:t>of </a:t>
            </a:r>
            <a:r>
              <a:rPr lang="en-US" dirty="0" smtClean="0"/>
              <a:t>Nintendo’s Wii </a:t>
            </a:r>
            <a:r>
              <a:rPr lang="en-US" dirty="0"/>
              <a:t>videogame </a:t>
            </a:r>
            <a:r>
              <a:rPr lang="en-US" dirty="0" smtClean="0"/>
              <a:t>console reprogrammed </a:t>
            </a:r>
            <a:r>
              <a:rPr lang="en-US" dirty="0"/>
              <a:t>its remote controller to perform tasks Nintendo never imagined. </a:t>
            </a:r>
            <a:r>
              <a:rPr lang="en-US" dirty="0" smtClean="0"/>
              <a:t>Soon after </a:t>
            </a:r>
            <a:r>
              <a:rPr lang="en-US" dirty="0"/>
              <a:t>Apple released the iPhone, hackers found ways to make it operate in ways Apple </a:t>
            </a:r>
            <a:r>
              <a:rPr lang="en-US" dirty="0" smtClean="0"/>
              <a:t>had tried </a:t>
            </a:r>
            <a:r>
              <a:rPr lang="en-US" dirty="0"/>
              <a:t>to prevent. </a:t>
            </a:r>
          </a:p>
        </p:txBody>
      </p:sp>
    </p:spTree>
    <p:extLst>
      <p:ext uri="{BB962C8B-B14F-4D97-AF65-F5344CB8AC3E}">
        <p14:creationId xmlns:p14="http://schemas.microsoft.com/office/powerpoint/2010/main" val="83324122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Autofit/>
          </a:bodyPr>
          <a:lstStyle/>
          <a:p>
            <a:r>
              <a:rPr lang="en-US" sz="3600" dirty="0"/>
              <a:t>Phase 2</a:t>
            </a:r>
            <a:r>
              <a:rPr lang="en-US" sz="3600" dirty="0" smtClean="0"/>
              <a:t>: </a:t>
            </a:r>
            <a:r>
              <a:rPr lang="en-US" sz="3600" dirty="0"/>
              <a:t>1970s to the mid-1990s</a:t>
            </a:r>
          </a:p>
        </p:txBody>
      </p:sp>
      <p:sp>
        <p:nvSpPr>
          <p:cNvPr id="2" name="Content Placeholder 1"/>
          <p:cNvSpPr>
            <a:spLocks noGrp="1"/>
          </p:cNvSpPr>
          <p:nvPr>
            <p:ph idx="1"/>
          </p:nvPr>
        </p:nvSpPr>
        <p:spPr/>
        <p:txBody>
          <a:bodyPr>
            <a:normAutofit fontScale="85000" lnSpcReduction="20000"/>
          </a:bodyPr>
          <a:lstStyle/>
          <a:p>
            <a:pPr marL="0" indent="0" algn="just">
              <a:buNone/>
            </a:pPr>
            <a:r>
              <a:rPr lang="en-US" dirty="0"/>
              <a:t>The meaning, and especially the connotations, of the word “hacker” changed as more </a:t>
            </a:r>
            <a:r>
              <a:rPr lang="en-US" dirty="0" smtClean="0"/>
              <a:t>people began </a:t>
            </a:r>
            <a:r>
              <a:rPr lang="en-US" dirty="0"/>
              <a:t>using </a:t>
            </a:r>
            <a:r>
              <a:rPr lang="en-US" dirty="0" smtClean="0"/>
              <a:t>computers. </a:t>
            </a:r>
          </a:p>
          <a:p>
            <a:pPr marL="0" indent="0" algn="just">
              <a:buNone/>
            </a:pPr>
            <a:r>
              <a:rPr lang="en-US" dirty="0" smtClean="0"/>
              <a:t>The </a:t>
            </a:r>
            <a:r>
              <a:rPr lang="en-US" dirty="0"/>
              <a:t>word </a:t>
            </a:r>
            <a:r>
              <a:rPr lang="en-US" dirty="0" smtClean="0"/>
              <a:t>eventually took </a:t>
            </a:r>
            <a:r>
              <a:rPr lang="en-US" dirty="0"/>
              <a:t>on its most common meaning today: breaking into computers for which the </a:t>
            </a:r>
            <a:r>
              <a:rPr lang="en-US" dirty="0" smtClean="0"/>
              <a:t>hacker does </a:t>
            </a:r>
            <a:r>
              <a:rPr lang="en-US" dirty="0"/>
              <a:t>not have authorized access</a:t>
            </a:r>
            <a:r>
              <a:rPr lang="en-US" dirty="0" smtClean="0"/>
              <a:t>.</a:t>
            </a:r>
          </a:p>
          <a:p>
            <a:pPr marL="0" indent="0" algn="just">
              <a:buNone/>
            </a:pPr>
            <a:r>
              <a:rPr lang="en-US" dirty="0" smtClean="0"/>
              <a:t> </a:t>
            </a:r>
            <a:r>
              <a:rPr lang="en-US" dirty="0"/>
              <a:t>By the 1980s, hacking also included spreading </a:t>
            </a:r>
            <a:r>
              <a:rPr lang="en-US" dirty="0" smtClean="0"/>
              <a:t>computer viruses</a:t>
            </a:r>
            <a:r>
              <a:rPr lang="en-US" dirty="0"/>
              <a:t>, then mostly in software traded on floppy disks</a:t>
            </a:r>
            <a:r>
              <a:rPr lang="en-US" dirty="0" smtClean="0"/>
              <a:t>.</a:t>
            </a:r>
            <a:endParaRPr lang="en-US" dirty="0"/>
          </a:p>
          <a:p>
            <a:pPr marL="0" indent="0" algn="just">
              <a:buNone/>
            </a:pPr>
            <a:r>
              <a:rPr lang="en-US" dirty="0" smtClean="0"/>
              <a:t> </a:t>
            </a:r>
            <a:r>
              <a:rPr lang="en-US" dirty="0"/>
              <a:t>Hacking behavior </a:t>
            </a:r>
            <a:r>
              <a:rPr lang="en-US" dirty="0" smtClean="0"/>
              <a:t>included pranks</a:t>
            </a:r>
            <a:r>
              <a:rPr lang="en-US" dirty="0"/>
              <a:t>, thefts (of information, software, and sometimes money), and </a:t>
            </a:r>
            <a:r>
              <a:rPr lang="en-US" i="1" dirty="0"/>
              <a:t>phone </a:t>
            </a:r>
            <a:r>
              <a:rPr lang="en-US" i="1" dirty="0" smtClean="0"/>
              <a:t>phreaking </a:t>
            </a:r>
            <a:r>
              <a:rPr lang="en-US" dirty="0" smtClean="0"/>
              <a:t>(</a:t>
            </a:r>
            <a:r>
              <a:rPr lang="en-US" dirty="0"/>
              <a:t>manipulating the telephone system). Hackers obtained passwords by sophisticated </a:t>
            </a:r>
            <a:r>
              <a:rPr lang="en-US" dirty="0" smtClean="0"/>
              <a:t>techniques.</a:t>
            </a:r>
            <a:endParaRPr lang="en-US" dirty="0"/>
          </a:p>
          <a:p>
            <a:pPr marL="0" indent="0" algn="just">
              <a:buNone/>
            </a:pPr>
            <a:endParaRPr lang="en-US" dirty="0"/>
          </a:p>
        </p:txBody>
      </p:sp>
    </p:spTree>
    <p:extLst>
      <p:ext uri="{BB962C8B-B14F-4D97-AF65-F5344CB8AC3E}">
        <p14:creationId xmlns:p14="http://schemas.microsoft.com/office/powerpoint/2010/main" val="415046015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Autofit/>
          </a:bodyPr>
          <a:lstStyle/>
          <a:p>
            <a:r>
              <a:rPr lang="en-US" sz="3600" dirty="0"/>
              <a:t>Phase 2</a:t>
            </a:r>
            <a:r>
              <a:rPr lang="en-US" sz="3600" dirty="0" smtClean="0"/>
              <a:t>: </a:t>
            </a:r>
            <a:r>
              <a:rPr lang="en-US" sz="3600" dirty="0"/>
              <a:t>1970s to the mid-1990s</a:t>
            </a:r>
          </a:p>
        </p:txBody>
      </p:sp>
      <p:sp>
        <p:nvSpPr>
          <p:cNvPr id="3" name="Content Placeholder 2"/>
          <p:cNvSpPr>
            <a:spLocks noGrp="1"/>
          </p:cNvSpPr>
          <p:nvPr>
            <p:ph idx="1"/>
          </p:nvPr>
        </p:nvSpPr>
        <p:spPr/>
        <p:txBody>
          <a:bodyPr>
            <a:normAutofit fontScale="77500" lnSpcReduction="20000"/>
          </a:bodyPr>
          <a:lstStyle/>
          <a:p>
            <a:pPr marL="0" indent="0" algn="just">
              <a:buNone/>
            </a:pPr>
            <a:r>
              <a:rPr lang="en-US" dirty="0"/>
              <a:t>A program known as the Internet Worm demonstrated the vulnerability of </a:t>
            </a:r>
            <a:r>
              <a:rPr lang="en-US" dirty="0" smtClean="0"/>
              <a:t>the Internet </a:t>
            </a:r>
            <a:r>
              <a:rPr lang="en-US" dirty="0"/>
              <a:t>as a whole in 1988. </a:t>
            </a:r>
            <a:endParaRPr lang="en-US" dirty="0" smtClean="0"/>
          </a:p>
          <a:p>
            <a:pPr marL="0" indent="0" algn="just">
              <a:buNone/>
            </a:pPr>
            <a:r>
              <a:rPr lang="en-US" dirty="0" smtClean="0"/>
              <a:t>A </a:t>
            </a:r>
            <a:r>
              <a:rPr lang="en-US" dirty="0"/>
              <a:t>graduate student at </a:t>
            </a:r>
            <a:r>
              <a:rPr lang="en-US" dirty="0" smtClean="0"/>
              <a:t>Cornell University </a:t>
            </a:r>
            <a:r>
              <a:rPr lang="en-US" dirty="0"/>
              <a:t>wrote the worm </a:t>
            </a:r>
            <a:r>
              <a:rPr lang="en-US" dirty="0" smtClean="0"/>
              <a:t>and released </a:t>
            </a:r>
            <a:r>
              <a:rPr lang="en-US" dirty="0"/>
              <a:t>it onto the </a:t>
            </a:r>
            <a:r>
              <a:rPr lang="en-US" dirty="0" smtClean="0"/>
              <a:t>Internet. It</a:t>
            </a:r>
            <a:r>
              <a:rPr lang="en-US" i="1" dirty="0" smtClean="0"/>
              <a:t> s</a:t>
            </a:r>
            <a:r>
              <a:rPr lang="en-US" dirty="0" smtClean="0"/>
              <a:t>pread </a:t>
            </a:r>
            <a:r>
              <a:rPr lang="en-US" dirty="0"/>
              <a:t>quickly to computers running particular </a:t>
            </a:r>
            <a:r>
              <a:rPr lang="en-US" dirty="0" smtClean="0"/>
              <a:t>versions of </a:t>
            </a:r>
            <a:r>
              <a:rPr lang="en-US" dirty="0"/>
              <a:t>the UNIX operating system, jamming them up and preventing normal processing. </a:t>
            </a:r>
            <a:r>
              <a:rPr lang="en-US" dirty="0" smtClean="0"/>
              <a:t>The worm </a:t>
            </a:r>
            <a:r>
              <a:rPr lang="en-US" dirty="0"/>
              <a:t>affected a few thousand computers (a large portion of the Internet at the time</a:t>
            </a:r>
            <a:r>
              <a:rPr lang="en-US" dirty="0" smtClean="0"/>
              <a:t>). </a:t>
            </a:r>
          </a:p>
          <a:p>
            <a:pPr marL="0" indent="0" algn="just">
              <a:buNone/>
            </a:pPr>
            <a:r>
              <a:rPr lang="en-US" dirty="0" smtClean="0"/>
              <a:t>It </a:t>
            </a:r>
            <a:r>
              <a:rPr lang="en-US" dirty="0"/>
              <a:t>took a few days for systems programmers to discover, decode, and rid their </a:t>
            </a:r>
            <a:r>
              <a:rPr lang="en-US" dirty="0" smtClean="0"/>
              <a:t>systems of </a:t>
            </a:r>
            <a:r>
              <a:rPr lang="en-US" dirty="0"/>
              <a:t>the worm. The worm disrupted work and inconvenienced a large number of people</a:t>
            </a:r>
            <a:r>
              <a:rPr lang="en-US" dirty="0" smtClean="0"/>
              <a:t>. </a:t>
            </a:r>
          </a:p>
          <a:p>
            <a:pPr marL="0" indent="0" algn="just">
              <a:buNone/>
            </a:pPr>
            <a:r>
              <a:rPr lang="en-US" b="1" dirty="0" smtClean="0"/>
              <a:t>This </a:t>
            </a:r>
            <a:r>
              <a:rPr lang="en-US" b="1" dirty="0"/>
              <a:t>incident raised concern about the potential to disrupt critical computer services </a:t>
            </a:r>
            <a:r>
              <a:rPr lang="en-US" b="1" dirty="0" smtClean="0"/>
              <a:t>and cause </a:t>
            </a:r>
            <a:r>
              <a:rPr lang="en-US" b="1" dirty="0"/>
              <a:t>social disruption</a:t>
            </a:r>
            <a:r>
              <a:rPr lang="en-US" b="1" dirty="0" smtClean="0"/>
              <a:t>.</a:t>
            </a:r>
            <a:endParaRPr lang="en-US" b="1" dirty="0"/>
          </a:p>
          <a:p>
            <a:pPr marL="0" indent="0" algn="just">
              <a:buNone/>
            </a:pPr>
            <a:endParaRPr lang="en-US" dirty="0"/>
          </a:p>
        </p:txBody>
      </p:sp>
    </p:spTree>
    <p:extLst>
      <p:ext uri="{BB962C8B-B14F-4D97-AF65-F5344CB8AC3E}">
        <p14:creationId xmlns:p14="http://schemas.microsoft.com/office/powerpoint/2010/main" val="50345845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Autofit/>
          </a:bodyPr>
          <a:lstStyle/>
          <a:p>
            <a:r>
              <a:rPr lang="en-US" sz="3600" dirty="0"/>
              <a:t>Phase 2</a:t>
            </a:r>
            <a:r>
              <a:rPr lang="en-US" sz="3600" dirty="0" smtClean="0"/>
              <a:t>: </a:t>
            </a:r>
            <a:r>
              <a:rPr lang="en-US" sz="3600" dirty="0"/>
              <a:t>1970s to the mid-1990s</a:t>
            </a:r>
          </a:p>
        </p:txBody>
      </p:sp>
      <p:sp>
        <p:nvSpPr>
          <p:cNvPr id="2" name="Content Placeholder 1"/>
          <p:cNvSpPr>
            <a:spLocks noGrp="1"/>
          </p:cNvSpPr>
          <p:nvPr>
            <p:ph idx="1"/>
          </p:nvPr>
        </p:nvSpPr>
        <p:spPr/>
        <p:txBody>
          <a:bodyPr>
            <a:normAutofit fontScale="77500" lnSpcReduction="20000"/>
          </a:bodyPr>
          <a:lstStyle/>
          <a:p>
            <a:pPr marL="0" indent="0" algn="just">
              <a:buNone/>
            </a:pPr>
            <a:r>
              <a:rPr lang="en-US" dirty="0"/>
              <a:t>Adult criminals began to recognize the possibilities of hacking</a:t>
            </a:r>
            <a:r>
              <a:rPr lang="en-US" dirty="0" smtClean="0"/>
              <a:t>.</a:t>
            </a:r>
          </a:p>
          <a:p>
            <a:pPr marL="0" indent="0" algn="just">
              <a:buNone/>
            </a:pPr>
            <a:r>
              <a:rPr lang="en-US" dirty="0" smtClean="0"/>
              <a:t>Business espionage and </a:t>
            </a:r>
            <a:r>
              <a:rPr lang="en-US" dirty="0"/>
              <a:t>significant thefts and frauds joined the list of hacking activities in the </a:t>
            </a:r>
            <a:r>
              <a:rPr lang="en-US" dirty="0" smtClean="0"/>
              <a:t>1980s and 1990s.</a:t>
            </a:r>
          </a:p>
          <a:p>
            <a:pPr marL="0" indent="0" algn="just">
              <a:buNone/>
            </a:pPr>
            <a:endParaRPr lang="en-US" dirty="0" smtClean="0"/>
          </a:p>
          <a:p>
            <a:pPr marL="0" indent="0" algn="just">
              <a:buNone/>
            </a:pPr>
            <a:r>
              <a:rPr lang="en-US" dirty="0" smtClean="0"/>
              <a:t>Russian </a:t>
            </a:r>
            <a:r>
              <a:rPr lang="en-US" dirty="0"/>
              <a:t>man, with accomplices in several countries, used </a:t>
            </a:r>
            <a:r>
              <a:rPr lang="en-US" dirty="0" smtClean="0"/>
              <a:t>stolen passwords </a:t>
            </a:r>
            <a:r>
              <a:rPr lang="en-US" dirty="0"/>
              <a:t>to steal $400,000 </a:t>
            </a:r>
            <a:r>
              <a:rPr lang="en-US" dirty="0" smtClean="0"/>
              <a:t>. </a:t>
            </a:r>
            <a:r>
              <a:rPr lang="en-US" dirty="0"/>
              <a:t>He transferred another $11 million to </a:t>
            </a:r>
            <a:r>
              <a:rPr lang="en-US" dirty="0" smtClean="0"/>
              <a:t>bank accounts </a:t>
            </a:r>
            <a:r>
              <a:rPr lang="en-US" dirty="0"/>
              <a:t>in other countries. </a:t>
            </a:r>
            <a:endParaRPr lang="en-US" dirty="0" smtClean="0"/>
          </a:p>
          <a:p>
            <a:pPr marL="0" indent="0" algn="just">
              <a:buNone/>
            </a:pPr>
            <a:endParaRPr lang="en-US" dirty="0" smtClean="0"/>
          </a:p>
          <a:p>
            <a:pPr marL="0" indent="0" algn="just">
              <a:buNone/>
            </a:pPr>
            <a:r>
              <a:rPr lang="en-US" b="1" i="1" dirty="0" smtClean="0"/>
              <a:t>This </a:t>
            </a:r>
            <a:r>
              <a:rPr lang="en-US" b="1" i="1" dirty="0"/>
              <a:t>incident illustrates the international nature of </a:t>
            </a:r>
            <a:r>
              <a:rPr lang="en-US" b="1" i="1" dirty="0" smtClean="0"/>
              <a:t>computer crimes </a:t>
            </a:r>
            <a:r>
              <a:rPr lang="en-US" b="1" i="1" dirty="0"/>
              <a:t>and some of the difficulties it creates for law enforcement. Extraditing the </a:t>
            </a:r>
            <a:r>
              <a:rPr lang="en-US" b="1" i="1" dirty="0" smtClean="0"/>
              <a:t>Russian man </a:t>
            </a:r>
            <a:r>
              <a:rPr lang="en-US" b="1" i="1" dirty="0"/>
              <a:t>from London, where he was arrested, to the United States for trial took more </a:t>
            </a:r>
            <a:r>
              <a:rPr lang="en-US" b="1" i="1" dirty="0" smtClean="0"/>
              <a:t>than two </a:t>
            </a:r>
            <a:r>
              <a:rPr lang="en-US" b="1" i="1" dirty="0"/>
              <a:t>years.</a:t>
            </a:r>
          </a:p>
          <a:p>
            <a:pPr marL="0" indent="0" algn="just">
              <a:buNone/>
            </a:pPr>
            <a:endParaRPr lang="en-US" dirty="0"/>
          </a:p>
        </p:txBody>
      </p:sp>
    </p:spTree>
    <p:extLst>
      <p:ext uri="{BB962C8B-B14F-4D97-AF65-F5344CB8AC3E}">
        <p14:creationId xmlns:p14="http://schemas.microsoft.com/office/powerpoint/2010/main" val="70618747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Autofit/>
          </a:bodyPr>
          <a:lstStyle/>
          <a:p>
            <a:r>
              <a:rPr lang="en-US" sz="3600" dirty="0"/>
              <a:t>Phase 3: The growth of the Web and mobile </a:t>
            </a:r>
            <a:r>
              <a:rPr lang="en-US" sz="3600" dirty="0" smtClean="0"/>
              <a:t>devices-Mid 1990s</a:t>
            </a:r>
            <a:endParaRPr lang="en-US" sz="3600" dirty="0"/>
          </a:p>
        </p:txBody>
      </p:sp>
      <p:sp>
        <p:nvSpPr>
          <p:cNvPr id="3" name="Content Placeholder 2"/>
          <p:cNvSpPr>
            <a:spLocks noGrp="1"/>
          </p:cNvSpPr>
          <p:nvPr>
            <p:ph idx="1"/>
          </p:nvPr>
        </p:nvSpPr>
        <p:spPr/>
        <p:txBody>
          <a:bodyPr>
            <a:normAutofit fontScale="85000" lnSpcReduction="10000"/>
          </a:bodyPr>
          <a:lstStyle/>
          <a:p>
            <a:pPr marL="0" indent="0" algn="just">
              <a:buNone/>
            </a:pPr>
            <a:r>
              <a:rPr lang="en-US" dirty="0"/>
              <a:t>Beginning roughly in the mid-1990s, the </a:t>
            </a:r>
            <a:r>
              <a:rPr lang="en-US" dirty="0" smtClean="0"/>
              <a:t>growth of the Web </a:t>
            </a:r>
            <a:r>
              <a:rPr lang="en-US" dirty="0"/>
              <a:t>and </a:t>
            </a:r>
            <a:r>
              <a:rPr lang="en-US" dirty="0" smtClean="0"/>
              <a:t>the increased </a:t>
            </a:r>
            <a:r>
              <a:rPr lang="en-US" dirty="0"/>
              <a:t>use of the Internet for email and other communications, for sensitive information</a:t>
            </a:r>
            <a:r>
              <a:rPr lang="en-US" dirty="0" smtClean="0"/>
              <a:t>, and </a:t>
            </a:r>
            <a:r>
              <a:rPr lang="en-US" dirty="0"/>
              <a:t>for economic transactions made hacking more dangerous and </a:t>
            </a:r>
            <a:r>
              <a:rPr lang="en-US" dirty="0" smtClean="0"/>
              <a:t>damaging—and more </a:t>
            </a:r>
            <a:r>
              <a:rPr lang="en-US" dirty="0"/>
              <a:t>attractive to criminal gangs</a:t>
            </a:r>
            <a:r>
              <a:rPr lang="en-US" dirty="0" smtClean="0"/>
              <a:t>.</a:t>
            </a:r>
          </a:p>
          <a:p>
            <a:pPr marL="0" indent="0" algn="just">
              <a:buNone/>
            </a:pPr>
            <a:endParaRPr lang="en-US" dirty="0"/>
          </a:p>
          <a:p>
            <a:pPr marL="0" indent="0" algn="just">
              <a:buNone/>
            </a:pPr>
            <a:r>
              <a:rPr lang="en-US" dirty="0" smtClean="0"/>
              <a:t>The </a:t>
            </a:r>
            <a:r>
              <a:rPr lang="en-US" dirty="0"/>
              <a:t>kind of accessible information expanded to </a:t>
            </a:r>
            <a:r>
              <a:rPr lang="en-US" dirty="0" smtClean="0"/>
              <a:t>include credit </a:t>
            </a:r>
            <a:r>
              <a:rPr lang="en-US" dirty="0"/>
              <a:t>reports, consumer profiles, medical records, tax records, confidential business information</a:t>
            </a:r>
            <a:r>
              <a:rPr lang="en-US" dirty="0" smtClean="0"/>
              <a:t>, and </a:t>
            </a:r>
            <a:r>
              <a:rPr lang="en-US" dirty="0"/>
              <a:t>other types of </a:t>
            </a:r>
            <a:r>
              <a:rPr lang="en-US" dirty="0" smtClean="0"/>
              <a:t>information which are threats </a:t>
            </a:r>
            <a:r>
              <a:rPr lang="en-US" dirty="0"/>
              <a:t>to privacy</a:t>
            </a:r>
            <a:r>
              <a:rPr lang="en-US" dirty="0" smtClean="0"/>
              <a:t>.</a:t>
            </a:r>
          </a:p>
          <a:p>
            <a:pPr marL="0" indent="0" algn="just">
              <a:buNone/>
            </a:pPr>
            <a:r>
              <a:rPr lang="en-US" dirty="0" smtClean="0"/>
              <a:t> </a:t>
            </a:r>
            <a:endParaRPr lang="en-US" dirty="0"/>
          </a:p>
        </p:txBody>
      </p:sp>
    </p:spTree>
    <p:extLst>
      <p:ext uri="{BB962C8B-B14F-4D97-AF65-F5344CB8AC3E}">
        <p14:creationId xmlns:p14="http://schemas.microsoft.com/office/powerpoint/2010/main" val="368065480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Autofit/>
          </a:bodyPr>
          <a:lstStyle/>
          <a:p>
            <a:r>
              <a:rPr lang="en-US" sz="3600" dirty="0"/>
              <a:t>Phase 3: The growth of the Web and mobile </a:t>
            </a:r>
            <a:r>
              <a:rPr lang="en-US" sz="3600" dirty="0" smtClean="0"/>
              <a:t>devices-Mid 1990s</a:t>
            </a:r>
            <a:endParaRPr lang="en-US" sz="3600" dirty="0"/>
          </a:p>
        </p:txBody>
      </p:sp>
      <p:sp>
        <p:nvSpPr>
          <p:cNvPr id="3" name="Content Placeholder 2"/>
          <p:cNvSpPr>
            <a:spLocks noGrp="1"/>
          </p:cNvSpPr>
          <p:nvPr>
            <p:ph idx="1"/>
          </p:nvPr>
        </p:nvSpPr>
        <p:spPr>
          <a:xfrm>
            <a:off x="457200" y="1600200"/>
            <a:ext cx="8229600" cy="4525963"/>
          </a:xfrm>
        </p:spPr>
        <p:txBody>
          <a:bodyPr>
            <a:normAutofit/>
          </a:bodyPr>
          <a:lstStyle/>
          <a:p>
            <a:pPr marL="0" indent="0" algn="just">
              <a:buNone/>
            </a:pPr>
            <a:r>
              <a:rPr lang="en-US" dirty="0" smtClean="0"/>
              <a:t>With </a:t>
            </a:r>
            <a:r>
              <a:rPr lang="en-US" dirty="0"/>
              <a:t>basic infrastructure systems (for example, water and power, hospitals</a:t>
            </a:r>
            <a:r>
              <a:rPr lang="en-US" dirty="0" smtClean="0"/>
              <a:t>, transportation</a:t>
            </a:r>
            <a:r>
              <a:rPr lang="en-US" dirty="0"/>
              <a:t>, emergency services, in addition to the telephone system) </a:t>
            </a:r>
            <a:r>
              <a:rPr lang="en-US" dirty="0" smtClean="0"/>
              <a:t>accessible on </a:t>
            </a:r>
            <a:r>
              <a:rPr lang="en-US" dirty="0"/>
              <a:t>the Net, the risk increased</a:t>
            </a:r>
            <a:r>
              <a:rPr lang="en-US" dirty="0" smtClean="0"/>
              <a:t>.</a:t>
            </a:r>
          </a:p>
          <a:p>
            <a:pPr marL="0" indent="0" algn="just">
              <a:buNone/>
            </a:pPr>
            <a:r>
              <a:rPr lang="en-US" dirty="0" smtClean="0"/>
              <a:t> </a:t>
            </a:r>
          </a:p>
          <a:p>
            <a:pPr marL="0" indent="0" algn="just">
              <a:buNone/>
            </a:pPr>
            <a:r>
              <a:rPr lang="en-US" dirty="0" smtClean="0"/>
              <a:t>Hacking </a:t>
            </a:r>
            <a:r>
              <a:rPr lang="en-US" dirty="0"/>
              <a:t>for political motives increased. As </a:t>
            </a:r>
            <a:r>
              <a:rPr lang="en-US" dirty="0" smtClean="0"/>
              <a:t>the Web spread globally</a:t>
            </a:r>
            <a:r>
              <a:rPr lang="en-US" dirty="0"/>
              <a:t>, so did hacking. </a:t>
            </a:r>
          </a:p>
          <a:p>
            <a:pPr marL="0" indent="0" algn="just">
              <a:buNone/>
            </a:pPr>
            <a:endParaRPr lang="en-US" dirty="0"/>
          </a:p>
        </p:txBody>
      </p:sp>
    </p:spTree>
    <p:extLst>
      <p:ext uri="{BB962C8B-B14F-4D97-AF65-F5344CB8AC3E}">
        <p14:creationId xmlns:p14="http://schemas.microsoft.com/office/powerpoint/2010/main" val="356994762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Autofit/>
          </a:bodyPr>
          <a:lstStyle/>
          <a:p>
            <a:r>
              <a:rPr lang="en-US" sz="3600" dirty="0"/>
              <a:t>Phase 3: The growth of the Web and mobile </a:t>
            </a:r>
            <a:r>
              <a:rPr lang="en-US" sz="3600" dirty="0" smtClean="0"/>
              <a:t>devices-Mid 1990s</a:t>
            </a:r>
            <a:endParaRPr lang="en-US" sz="3600" dirty="0"/>
          </a:p>
        </p:txBody>
      </p:sp>
      <p:sp>
        <p:nvSpPr>
          <p:cNvPr id="2" name="Content Placeholder 1"/>
          <p:cNvSpPr>
            <a:spLocks noGrp="1"/>
          </p:cNvSpPr>
          <p:nvPr>
            <p:ph idx="1"/>
          </p:nvPr>
        </p:nvSpPr>
        <p:spPr/>
        <p:txBody>
          <a:bodyPr>
            <a:normAutofit fontScale="77500" lnSpcReduction="20000"/>
          </a:bodyPr>
          <a:lstStyle/>
          <a:p>
            <a:pPr marL="0" indent="0" algn="just">
              <a:buNone/>
            </a:pPr>
            <a:r>
              <a:rPr lang="en-US" dirty="0"/>
              <a:t>Pranksters modified the U.S. Department of Justice Web page to read “</a:t>
            </a:r>
            <a:r>
              <a:rPr lang="en-US" dirty="0" smtClean="0"/>
              <a:t>Department of </a:t>
            </a:r>
            <a:r>
              <a:rPr lang="en-US" dirty="0"/>
              <a:t>Injustice” in protest of the Communications Decency Act. They changed the </a:t>
            </a:r>
            <a:r>
              <a:rPr lang="en-US" dirty="0" smtClean="0"/>
              <a:t>CIA’s site </a:t>
            </a:r>
            <a:r>
              <a:rPr lang="en-US" dirty="0"/>
              <a:t>to read “Central Stupidity Agency” and added links to pornography </a:t>
            </a:r>
            <a:r>
              <a:rPr lang="en-US" dirty="0" smtClean="0"/>
              <a:t>sites. </a:t>
            </a:r>
          </a:p>
          <a:p>
            <a:pPr marL="0" indent="0" algn="just">
              <a:buNone/>
            </a:pPr>
            <a:r>
              <a:rPr lang="en-US" dirty="0" smtClean="0"/>
              <a:t>A </a:t>
            </a:r>
            <a:r>
              <a:rPr lang="en-US" dirty="0"/>
              <a:t>teenager crippled a computer system that handled communications between </a:t>
            </a:r>
            <a:r>
              <a:rPr lang="en-US" dirty="0" smtClean="0"/>
              <a:t>the airport </a:t>
            </a:r>
            <a:r>
              <a:rPr lang="en-US" dirty="0"/>
              <a:t>tower and incoming planes at a small airport</a:t>
            </a:r>
            <a:r>
              <a:rPr lang="en-US" dirty="0" smtClean="0"/>
              <a:t>.</a:t>
            </a:r>
          </a:p>
          <a:p>
            <a:pPr marL="0" indent="0" algn="just">
              <a:buNone/>
            </a:pPr>
            <a:r>
              <a:rPr lang="en-US" dirty="0" smtClean="0"/>
              <a:t>Hackers </a:t>
            </a:r>
            <a:r>
              <a:rPr lang="en-US" dirty="0"/>
              <a:t>in England impersonated </a:t>
            </a:r>
            <a:r>
              <a:rPr lang="en-US" dirty="0" smtClean="0"/>
              <a:t>air traffic </a:t>
            </a:r>
            <a:r>
              <a:rPr lang="en-US" dirty="0"/>
              <a:t>controllers and gave false instructions to pilots. </a:t>
            </a:r>
            <a:r>
              <a:rPr lang="en-US" dirty="0" smtClean="0"/>
              <a:t> Hackers </a:t>
            </a:r>
            <a:r>
              <a:rPr lang="en-US" dirty="0"/>
              <a:t>took over Federal </a:t>
            </a:r>
            <a:r>
              <a:rPr lang="en-US" dirty="0" smtClean="0"/>
              <a:t>Aviation Administration </a:t>
            </a:r>
            <a:r>
              <a:rPr lang="en-US" dirty="0"/>
              <a:t>(FAA) computers in Alaska, resulting in a shutdown of part of the system</a:t>
            </a:r>
            <a:r>
              <a:rPr lang="en-US" dirty="0" smtClean="0"/>
              <a:t>. The </a:t>
            </a:r>
            <a:r>
              <a:rPr lang="en-US" dirty="0"/>
              <a:t>hackers also appeared to have access to thousands of FAA passwords.</a:t>
            </a:r>
          </a:p>
          <a:p>
            <a:pPr marL="0" indent="0" algn="just">
              <a:buNone/>
            </a:pPr>
            <a:endParaRPr lang="en-US" dirty="0"/>
          </a:p>
        </p:txBody>
      </p:sp>
    </p:spTree>
    <p:extLst>
      <p:ext uri="{BB962C8B-B14F-4D97-AF65-F5344CB8AC3E}">
        <p14:creationId xmlns:p14="http://schemas.microsoft.com/office/powerpoint/2010/main" val="374891433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Autofit/>
          </a:bodyPr>
          <a:lstStyle/>
          <a:p>
            <a:r>
              <a:rPr lang="en-US" sz="3600" dirty="0"/>
              <a:t>Phase 3: The growth of the Web and mobile </a:t>
            </a:r>
            <a:r>
              <a:rPr lang="en-US" sz="3600" dirty="0" smtClean="0"/>
              <a:t>devices-Mid 1990s</a:t>
            </a:r>
            <a:endParaRPr lang="en-US" sz="3600" dirty="0"/>
          </a:p>
        </p:txBody>
      </p:sp>
      <p:sp>
        <p:nvSpPr>
          <p:cNvPr id="2" name="Content Placeholder 1"/>
          <p:cNvSpPr>
            <a:spLocks noGrp="1"/>
          </p:cNvSpPr>
          <p:nvPr>
            <p:ph idx="1"/>
          </p:nvPr>
        </p:nvSpPr>
        <p:spPr/>
        <p:txBody>
          <a:bodyPr>
            <a:noAutofit/>
          </a:bodyPr>
          <a:lstStyle/>
          <a:p>
            <a:pPr marL="0" indent="0" algn="just">
              <a:buNone/>
            </a:pPr>
            <a:r>
              <a:rPr lang="en-US" sz="2400" dirty="0" smtClean="0"/>
              <a:t>In </a:t>
            </a:r>
            <a:r>
              <a:rPr lang="en-US" sz="2400" dirty="0"/>
              <a:t>2000, the “Love Bug,” </a:t>
            </a:r>
            <a:r>
              <a:rPr lang="en-US" sz="2400" dirty="0" smtClean="0"/>
              <a:t> </a:t>
            </a:r>
            <a:r>
              <a:rPr lang="en-US" sz="2400" dirty="0"/>
              <a:t>spread around the world in a few hours. It destroyed image and music files, </a:t>
            </a:r>
            <a:r>
              <a:rPr lang="en-US" sz="2400" dirty="0" smtClean="0"/>
              <a:t>modified a </a:t>
            </a:r>
            <a:r>
              <a:rPr lang="en-US" sz="2400" dirty="0"/>
              <a:t>computer’s operating system and Internet browser, and collected passwords. This </a:t>
            </a:r>
            <a:r>
              <a:rPr lang="en-US" sz="2400" dirty="0" smtClean="0"/>
              <a:t>virus infected </a:t>
            </a:r>
            <a:r>
              <a:rPr lang="en-US" sz="2400" dirty="0"/>
              <a:t>major corporations like Ford and Siemens and 80% of U.S. federal agencies</a:t>
            </a:r>
            <a:r>
              <a:rPr lang="en-US" sz="2400" dirty="0" smtClean="0"/>
              <a:t>, including </a:t>
            </a:r>
            <a:r>
              <a:rPr lang="en-US" sz="2400" dirty="0"/>
              <a:t>the State Department and the Pentagon, along with members of the </a:t>
            </a:r>
            <a:r>
              <a:rPr lang="en-US" sz="2400" dirty="0" smtClean="0"/>
              <a:t>British Parliament </a:t>
            </a:r>
            <a:r>
              <a:rPr lang="en-US" sz="2400" dirty="0"/>
              <a:t>and the U.S. Congress. </a:t>
            </a:r>
            <a:r>
              <a:rPr lang="en-US" sz="2400" dirty="0" smtClean="0"/>
              <a:t>Many </a:t>
            </a:r>
            <a:r>
              <a:rPr lang="en-US" sz="2400" dirty="0"/>
              <a:t>businesses and government agencies had </a:t>
            </a:r>
            <a:r>
              <a:rPr lang="en-US" sz="2400" dirty="0" smtClean="0"/>
              <a:t>to shut </a:t>
            </a:r>
            <a:r>
              <a:rPr lang="en-US" sz="2400" dirty="0"/>
              <a:t>down their email servers. The virus hit tens of millions of computers worldwide </a:t>
            </a:r>
            <a:r>
              <a:rPr lang="en-US" sz="2400" dirty="0" smtClean="0"/>
              <a:t>and did </a:t>
            </a:r>
            <a:r>
              <a:rPr lang="en-US" sz="2400" dirty="0"/>
              <a:t>an estimated $10 billion in </a:t>
            </a:r>
            <a:r>
              <a:rPr lang="en-US" sz="2400" dirty="0" smtClean="0"/>
              <a:t>damage.</a:t>
            </a:r>
            <a:r>
              <a:rPr lang="en-US" sz="2400" i="1" dirty="0" smtClean="0"/>
              <a:t> </a:t>
            </a:r>
          </a:p>
          <a:p>
            <a:pPr marL="0" indent="0" algn="just">
              <a:buNone/>
            </a:pPr>
            <a:r>
              <a:rPr lang="en-US" sz="2400" dirty="0" smtClean="0"/>
              <a:t> Some viruses </a:t>
            </a:r>
            <a:r>
              <a:rPr lang="en-US" sz="2400" dirty="0"/>
              <a:t>set up a “back door” on infected computers that allowed later access to </a:t>
            </a:r>
            <a:r>
              <a:rPr lang="en-US" sz="2400" dirty="0" smtClean="0"/>
              <a:t>sensitive information </a:t>
            </a:r>
            <a:r>
              <a:rPr lang="en-US" sz="2400" dirty="0"/>
              <a:t>such as credit card numbers.</a:t>
            </a:r>
          </a:p>
          <a:p>
            <a:pPr marL="0" indent="0" algn="just">
              <a:buNone/>
            </a:pPr>
            <a:endParaRPr lang="en-US" sz="2400" dirty="0"/>
          </a:p>
        </p:txBody>
      </p:sp>
    </p:spTree>
    <p:extLst>
      <p:ext uri="{BB962C8B-B14F-4D97-AF65-F5344CB8AC3E}">
        <p14:creationId xmlns:p14="http://schemas.microsoft.com/office/powerpoint/2010/main" val="320532915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Autofit/>
          </a:bodyPr>
          <a:lstStyle/>
          <a:p>
            <a:r>
              <a:rPr lang="en-US" sz="3600" dirty="0"/>
              <a:t>Phase 3: The growth of the Web and mobile </a:t>
            </a:r>
            <a:r>
              <a:rPr lang="en-US" sz="3600" dirty="0" smtClean="0"/>
              <a:t>devices-Mid 1990s</a:t>
            </a:r>
            <a:endParaRPr lang="en-US" sz="3600" dirty="0"/>
          </a:p>
        </p:txBody>
      </p:sp>
      <p:sp>
        <p:nvSpPr>
          <p:cNvPr id="2" name="Content Placeholder 1"/>
          <p:cNvSpPr>
            <a:spLocks noGrp="1"/>
          </p:cNvSpPr>
          <p:nvPr>
            <p:ph idx="1"/>
          </p:nvPr>
        </p:nvSpPr>
        <p:spPr/>
        <p:txBody>
          <a:bodyPr>
            <a:normAutofit fontScale="77500" lnSpcReduction="20000"/>
          </a:bodyPr>
          <a:lstStyle/>
          <a:p>
            <a:pPr marL="0" indent="0" algn="just">
              <a:buNone/>
            </a:pPr>
            <a:r>
              <a:rPr lang="en-US" dirty="0"/>
              <a:t>Within about one week,</a:t>
            </a:r>
            <a:r>
              <a:rPr lang="en-US" b="1" dirty="0"/>
              <a:t> </a:t>
            </a:r>
            <a:r>
              <a:rPr lang="en-US" b="1" i="1" dirty="0"/>
              <a:t>denial-of-service attacks</a:t>
            </a:r>
            <a:r>
              <a:rPr lang="en-US" i="1" dirty="0"/>
              <a:t> </a:t>
            </a:r>
            <a:r>
              <a:rPr lang="en-US" dirty="0"/>
              <a:t>shut down almost a dozen </a:t>
            </a:r>
            <a:r>
              <a:rPr lang="en-US" dirty="0" smtClean="0"/>
              <a:t>major websites</a:t>
            </a:r>
            <a:r>
              <a:rPr lang="en-US" dirty="0"/>
              <a:t>, some for several hours. Victims included Yahoo, eBay, Amazon, </a:t>
            </a:r>
            <a:r>
              <a:rPr lang="en-US" dirty="0" err="1"/>
              <a:t>E∗Trade</a:t>
            </a:r>
            <a:r>
              <a:rPr lang="en-US" dirty="0" smtClean="0"/>
              <a:t>, Buy.com</a:t>
            </a:r>
            <a:r>
              <a:rPr lang="en-US" dirty="0"/>
              <a:t>, CNN, and others. In this kind of attack, hackers overload the target site </a:t>
            </a:r>
            <a:r>
              <a:rPr lang="en-US" dirty="0" smtClean="0"/>
              <a:t>with hundreds </a:t>
            </a:r>
            <a:r>
              <a:rPr lang="en-US" dirty="0"/>
              <a:t>of thousands of requests </a:t>
            </a:r>
            <a:r>
              <a:rPr lang="en-US" dirty="0" smtClean="0"/>
              <a:t>for Web </a:t>
            </a:r>
            <a:r>
              <a:rPr lang="en-US" dirty="0"/>
              <a:t>pages and other information</a:t>
            </a:r>
            <a:r>
              <a:rPr lang="en-US" dirty="0" smtClean="0"/>
              <a:t>. </a:t>
            </a:r>
            <a:r>
              <a:rPr lang="en-US" dirty="0"/>
              <a:t>Programs </a:t>
            </a:r>
            <a:r>
              <a:rPr lang="en-US" dirty="0" smtClean="0"/>
              <a:t>planted on </a:t>
            </a:r>
            <a:r>
              <a:rPr lang="en-US" dirty="0"/>
              <a:t>numerous other systems (many at universities), to disguise their origin, generate </a:t>
            </a:r>
            <a:r>
              <a:rPr lang="en-US" dirty="0" smtClean="0"/>
              <a:t>the requests</a:t>
            </a:r>
            <a:r>
              <a:rPr lang="en-US" dirty="0"/>
              <a:t>. Investigators traced the attack to a 15-year-old Canadian who used the </a:t>
            </a:r>
            <a:r>
              <a:rPr lang="en-US" dirty="0" smtClean="0"/>
              <a:t>name </a:t>
            </a:r>
            <a:r>
              <a:rPr lang="en-US" dirty="0" err="1" smtClean="0"/>
              <a:t>mafiaboy</a:t>
            </a:r>
            <a:r>
              <a:rPr lang="en-US" dirty="0"/>
              <a:t>; he pleaded guilty to a long list of charges. The U.S. government estimated </a:t>
            </a:r>
            <a:r>
              <a:rPr lang="en-US" dirty="0" smtClean="0"/>
              <a:t>the cost </a:t>
            </a:r>
            <a:r>
              <a:rPr lang="en-US" dirty="0"/>
              <a:t>of this incident at $1.7 billion</a:t>
            </a:r>
            <a:r>
              <a:rPr lang="en-US" dirty="0" smtClean="0"/>
              <a:t>.</a:t>
            </a:r>
            <a:r>
              <a:rPr lang="en-US" b="1" i="1" dirty="0" smtClean="0"/>
              <a:t> </a:t>
            </a:r>
            <a:r>
              <a:rPr lang="en-US" b="1" i="1" dirty="0"/>
              <a:t>One disturbing aspect of this case is that </a:t>
            </a:r>
            <a:r>
              <a:rPr lang="en-US" b="1" i="1" dirty="0" err="1" smtClean="0"/>
              <a:t>mafiaboy</a:t>
            </a:r>
            <a:r>
              <a:rPr lang="en-US" b="1" i="1" dirty="0" smtClean="0"/>
              <a:t> apparently </a:t>
            </a:r>
            <a:r>
              <a:rPr lang="en-US" b="1" i="1" dirty="0"/>
              <a:t>did not write the destructive programs himself. He found them on the Net</a:t>
            </a:r>
            <a:r>
              <a:rPr lang="en-US" b="1" i="1" dirty="0" smtClean="0"/>
              <a:t>, where </a:t>
            </a:r>
            <a:r>
              <a:rPr lang="en-US" b="1" i="1" dirty="0"/>
              <a:t>other 15-year-olds can find them too.</a:t>
            </a:r>
          </a:p>
        </p:txBody>
      </p:sp>
    </p:spTree>
    <p:extLst>
      <p:ext uri="{BB962C8B-B14F-4D97-AF65-F5344CB8AC3E}">
        <p14:creationId xmlns:p14="http://schemas.microsoft.com/office/powerpoint/2010/main" val="89125954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Autofit/>
          </a:bodyPr>
          <a:lstStyle/>
          <a:p>
            <a:r>
              <a:rPr lang="en-US" sz="3600" dirty="0"/>
              <a:t>Phase 3: The growth of the Web and mobile </a:t>
            </a:r>
            <a:r>
              <a:rPr lang="en-US" sz="3600" dirty="0" smtClean="0"/>
              <a:t>devices-Mid 1990s</a:t>
            </a:r>
            <a:endParaRPr lang="en-US" sz="3600" dirty="0"/>
          </a:p>
        </p:txBody>
      </p:sp>
      <p:sp>
        <p:nvSpPr>
          <p:cNvPr id="2" name="Content Placeholder 1"/>
          <p:cNvSpPr>
            <a:spLocks noGrp="1"/>
          </p:cNvSpPr>
          <p:nvPr>
            <p:ph idx="1"/>
          </p:nvPr>
        </p:nvSpPr>
        <p:spPr/>
        <p:txBody>
          <a:bodyPr>
            <a:normAutofit fontScale="92500" lnSpcReduction="10000"/>
          </a:bodyPr>
          <a:lstStyle/>
          <a:p>
            <a:pPr marL="0" indent="0" algn="just">
              <a:buNone/>
            </a:pPr>
            <a:r>
              <a:rPr lang="en-US" dirty="0" smtClean="0"/>
              <a:t>The purposes </a:t>
            </a:r>
            <a:r>
              <a:rPr lang="en-US" dirty="0"/>
              <a:t>and techniques of hacking have shifted as the Web and the </a:t>
            </a:r>
            <a:r>
              <a:rPr lang="en-US" dirty="0" smtClean="0"/>
              <a:t>amount of </a:t>
            </a:r>
            <a:r>
              <a:rPr lang="en-US" dirty="0"/>
              <a:t>stored data of all kinds have grown. Hackers steal millions of credit card </a:t>
            </a:r>
            <a:r>
              <a:rPr lang="en-US" dirty="0" smtClean="0"/>
              <a:t>numbers from </a:t>
            </a:r>
            <a:r>
              <a:rPr lang="en-US" dirty="0"/>
              <a:t>large retailers, restaurant chains, banks, and so on. Some are members of </a:t>
            </a:r>
            <a:r>
              <a:rPr lang="en-US" dirty="0" smtClean="0"/>
              <a:t>organized crime </a:t>
            </a:r>
            <a:r>
              <a:rPr lang="en-US" dirty="0"/>
              <a:t>groups; others sell the numbers to organized crime groups. Some demand </a:t>
            </a:r>
            <a:r>
              <a:rPr lang="en-US" dirty="0" smtClean="0"/>
              <a:t>extortion payments.</a:t>
            </a:r>
          </a:p>
          <a:p>
            <a:pPr marL="0" indent="0" algn="just">
              <a:buNone/>
            </a:pPr>
            <a:r>
              <a:rPr lang="en-US" b="1" i="1" dirty="0" smtClean="0"/>
              <a:t> </a:t>
            </a:r>
            <a:r>
              <a:rPr lang="en-US" b="1" i="1" dirty="0"/>
              <a:t>Such incidents signaled the beginning of the huge problem of credit card </a:t>
            </a:r>
            <a:r>
              <a:rPr lang="en-US" b="1" i="1" dirty="0" smtClean="0"/>
              <a:t>fraud and </a:t>
            </a:r>
            <a:r>
              <a:rPr lang="en-US" b="1" i="1" dirty="0"/>
              <a:t>identity theft .</a:t>
            </a:r>
          </a:p>
        </p:txBody>
      </p:sp>
    </p:spTree>
    <p:extLst>
      <p:ext uri="{BB962C8B-B14F-4D97-AF65-F5344CB8AC3E}">
        <p14:creationId xmlns:p14="http://schemas.microsoft.com/office/powerpoint/2010/main" val="157359276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Autofit/>
          </a:bodyPr>
          <a:lstStyle/>
          <a:p>
            <a:r>
              <a:rPr lang="en-US" sz="3600" dirty="0"/>
              <a:t>Phase 3: The growth of the Web and mobile </a:t>
            </a:r>
            <a:r>
              <a:rPr lang="en-US" sz="3600" dirty="0" smtClean="0"/>
              <a:t>devices-Mid 1990s</a:t>
            </a:r>
            <a:endParaRPr lang="en-US" sz="3600" dirty="0"/>
          </a:p>
        </p:txBody>
      </p:sp>
      <p:sp>
        <p:nvSpPr>
          <p:cNvPr id="2" name="Content Placeholder 1"/>
          <p:cNvSpPr>
            <a:spLocks noGrp="1"/>
          </p:cNvSpPr>
          <p:nvPr>
            <p:ph idx="1"/>
          </p:nvPr>
        </p:nvSpPr>
        <p:spPr/>
        <p:txBody>
          <a:bodyPr>
            <a:normAutofit fontScale="85000" lnSpcReduction="10000"/>
          </a:bodyPr>
          <a:lstStyle/>
          <a:p>
            <a:pPr marL="0" indent="0" algn="just">
              <a:buNone/>
            </a:pPr>
            <a:r>
              <a:rPr lang="en-US" dirty="0"/>
              <a:t>A new type of virus became popular. The virus gives the person who distributed it </a:t>
            </a:r>
            <a:r>
              <a:rPr lang="en-US" dirty="0" smtClean="0"/>
              <a:t>the power </a:t>
            </a:r>
            <a:r>
              <a:rPr lang="en-US" dirty="0"/>
              <a:t>to remotely control the infected computers. Tens of thousands of infected </a:t>
            </a:r>
            <a:r>
              <a:rPr lang="en-US" dirty="0" smtClean="0"/>
              <a:t>computers (</a:t>
            </a:r>
            <a:r>
              <a:rPr lang="en-US" dirty="0"/>
              <a:t>called </a:t>
            </a:r>
            <a:r>
              <a:rPr lang="en-US" i="1" dirty="0"/>
              <a:t>zombies</a:t>
            </a:r>
            <a:r>
              <a:rPr lang="en-US" dirty="0"/>
              <a:t>) send spam, contribute to denial-of-service attacks, participate </a:t>
            </a:r>
            <a:r>
              <a:rPr lang="en-US" dirty="0" smtClean="0"/>
              <a:t>in various </a:t>
            </a:r>
            <a:r>
              <a:rPr lang="en-US" dirty="0"/>
              <a:t>kinds of online advertising fraud, and so on. The actual owners of the </a:t>
            </a:r>
            <a:r>
              <a:rPr lang="en-US" dirty="0" smtClean="0"/>
              <a:t>zombie computers </a:t>
            </a:r>
            <a:r>
              <a:rPr lang="en-US" dirty="0"/>
              <a:t>are usually unaware of what their computers are doing. A 21-year-old </a:t>
            </a:r>
            <a:r>
              <a:rPr lang="en-US" dirty="0" smtClean="0"/>
              <a:t>California man </a:t>
            </a:r>
            <a:r>
              <a:rPr lang="en-US" dirty="0"/>
              <a:t>pleaded guilty and was sentenced to almost five years in prison (the </a:t>
            </a:r>
            <a:r>
              <a:rPr lang="en-US" dirty="0" smtClean="0"/>
              <a:t>longest hacking </a:t>
            </a:r>
            <a:r>
              <a:rPr lang="en-US" dirty="0"/>
              <a:t>sentence at that time, 2006) for a collection of offenses related to such a virus</a:t>
            </a:r>
            <a:r>
              <a:rPr lang="en-US" dirty="0" smtClean="0"/>
              <a:t>..</a:t>
            </a:r>
            <a:endParaRPr lang="en-US" dirty="0"/>
          </a:p>
          <a:p>
            <a:pPr marL="0" indent="0" algn="just">
              <a:buNone/>
            </a:pPr>
            <a:endParaRPr lang="en-US" dirty="0"/>
          </a:p>
        </p:txBody>
      </p:sp>
    </p:spTree>
    <p:extLst>
      <p:ext uri="{BB962C8B-B14F-4D97-AF65-F5344CB8AC3E}">
        <p14:creationId xmlns:p14="http://schemas.microsoft.com/office/powerpoint/2010/main" val="360759948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Autofit/>
          </a:bodyPr>
          <a:lstStyle/>
          <a:p>
            <a:r>
              <a:rPr lang="en-US" sz="3600" dirty="0"/>
              <a:t>Phase 3: The growth of the Web and mobile </a:t>
            </a:r>
            <a:r>
              <a:rPr lang="en-US" sz="3600" dirty="0" smtClean="0"/>
              <a:t>devices-Mid 1990s</a:t>
            </a:r>
            <a:endParaRPr lang="en-US" sz="3600" dirty="0"/>
          </a:p>
        </p:txBody>
      </p:sp>
      <p:sp>
        <p:nvSpPr>
          <p:cNvPr id="2" name="Content Placeholder 1"/>
          <p:cNvSpPr>
            <a:spLocks noGrp="1"/>
          </p:cNvSpPr>
          <p:nvPr>
            <p:ph idx="1"/>
          </p:nvPr>
        </p:nvSpPr>
        <p:spPr/>
        <p:txBody>
          <a:bodyPr>
            <a:normAutofit fontScale="77500" lnSpcReduction="20000"/>
          </a:bodyPr>
          <a:lstStyle/>
          <a:p>
            <a:pPr marL="0" indent="0" algn="just">
              <a:buNone/>
            </a:pPr>
            <a:r>
              <a:rPr lang="en-US" dirty="0"/>
              <a:t>He, according to prosecutors, took over hundreds of thousands of computers (some at military sites), used the infected computers to commit fraud, and “rented” them to others for sending spam and for criminal schemes</a:t>
            </a:r>
            <a:r>
              <a:rPr lang="en-US" dirty="0" smtClean="0"/>
              <a:t>.</a:t>
            </a:r>
          </a:p>
          <a:p>
            <a:pPr marL="0" indent="0" algn="just">
              <a:buNone/>
            </a:pPr>
            <a:r>
              <a:rPr lang="en-US" dirty="0" smtClean="0"/>
              <a:t> </a:t>
            </a:r>
            <a:r>
              <a:rPr lang="en-US" dirty="0"/>
              <a:t>In the same year, an </a:t>
            </a:r>
            <a:r>
              <a:rPr lang="en-US" dirty="0" err="1"/>
              <a:t>antispam</a:t>
            </a:r>
            <a:r>
              <a:rPr lang="en-US" dirty="0"/>
              <a:t> expert reported a sophisticated international scam. It involved 20 billion spam messages sent within a two-week period from more than 100,000 computers in more than 100 countries. The messages directed people to e-commerce websites where the unwary ordered products with their credit cards and received nothing. Credit card charges went to a company in Russia. </a:t>
            </a:r>
            <a:endParaRPr lang="en-US" dirty="0" smtClean="0"/>
          </a:p>
          <a:p>
            <a:pPr marL="0" indent="0" algn="just">
              <a:buNone/>
            </a:pPr>
            <a:r>
              <a:rPr lang="en-US" b="1" i="1" dirty="0" smtClean="0"/>
              <a:t>This </a:t>
            </a:r>
            <a:r>
              <a:rPr lang="en-US" b="1" i="1" dirty="0"/>
              <a:t>scam illustrates the growing complexity of crime on the Web combining hacking, spam, phony websites, and international </a:t>
            </a:r>
            <a:r>
              <a:rPr lang="en-US" b="1" i="1" dirty="0" smtClean="0"/>
              <a:t>fraud.</a:t>
            </a:r>
            <a:endParaRPr lang="en-US" b="1" i="1" dirty="0"/>
          </a:p>
          <a:p>
            <a:pPr algn="just"/>
            <a:endParaRPr lang="en-US" dirty="0"/>
          </a:p>
        </p:txBody>
      </p:sp>
    </p:spTree>
    <p:extLst>
      <p:ext uri="{BB962C8B-B14F-4D97-AF65-F5344CB8AC3E}">
        <p14:creationId xmlns:p14="http://schemas.microsoft.com/office/powerpoint/2010/main" val="178972906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Autofit/>
          </a:bodyPr>
          <a:lstStyle/>
          <a:p>
            <a:r>
              <a:rPr lang="en-US" sz="3600" dirty="0"/>
              <a:t>Phase 3: The growth of the Web and mobile </a:t>
            </a:r>
            <a:r>
              <a:rPr lang="en-US" sz="3600" dirty="0" smtClean="0"/>
              <a:t>devices-Mid 1990s</a:t>
            </a:r>
            <a:endParaRPr lang="en-US" sz="3600" dirty="0"/>
          </a:p>
        </p:txBody>
      </p:sp>
      <p:sp>
        <p:nvSpPr>
          <p:cNvPr id="2" name="Content Placeholder 1"/>
          <p:cNvSpPr>
            <a:spLocks noGrp="1"/>
          </p:cNvSpPr>
          <p:nvPr>
            <p:ph idx="1"/>
          </p:nvPr>
        </p:nvSpPr>
        <p:spPr>
          <a:xfrm>
            <a:off x="457200" y="1447800"/>
            <a:ext cx="8229600" cy="4525963"/>
          </a:xfrm>
        </p:spPr>
        <p:txBody>
          <a:bodyPr>
            <a:noAutofit/>
          </a:bodyPr>
          <a:lstStyle/>
          <a:p>
            <a:pPr marL="0" indent="0" algn="just">
              <a:buNone/>
            </a:pPr>
            <a:r>
              <a:rPr lang="en-US" sz="2400" dirty="0"/>
              <a:t>As computer systems replaced human ticket sellers for transportation </a:t>
            </a:r>
            <a:r>
              <a:rPr lang="en-US" sz="2400" dirty="0" smtClean="0"/>
              <a:t>and other services</a:t>
            </a:r>
            <a:r>
              <a:rPr lang="en-US" sz="2400" dirty="0"/>
              <a:t>, hackers found more opportunities for theft. For example</a:t>
            </a:r>
            <a:r>
              <a:rPr lang="en-US" sz="2400" dirty="0" smtClean="0"/>
              <a:t>, New </a:t>
            </a:r>
            <a:r>
              <a:rPr lang="en-US" sz="2400" dirty="0"/>
              <a:t>York City </a:t>
            </a:r>
            <a:r>
              <a:rPr lang="en-US" sz="2400" dirty="0" smtClean="0"/>
              <a:t>accused several </a:t>
            </a:r>
            <a:r>
              <a:rPr lang="en-US" sz="2400" dirty="0"/>
              <a:t>people of stealing $800,000 from the city’s subway system by taking advantage </a:t>
            </a:r>
            <a:r>
              <a:rPr lang="en-US" sz="2400" dirty="0" smtClean="0"/>
              <a:t>of an </a:t>
            </a:r>
            <a:r>
              <a:rPr lang="en-US" sz="2400" dirty="0"/>
              <a:t>error in the software in the machines that sell fare cards</a:t>
            </a:r>
            <a:r>
              <a:rPr lang="en-US" sz="2400" dirty="0" smtClean="0"/>
              <a:t>.</a:t>
            </a:r>
          </a:p>
          <a:p>
            <a:pPr marL="0" indent="0" algn="just">
              <a:buNone/>
            </a:pPr>
            <a:r>
              <a:rPr lang="en-US" sz="2400" dirty="0" smtClean="0"/>
              <a:t> Hackers </a:t>
            </a:r>
            <a:r>
              <a:rPr lang="en-US" sz="2400" dirty="0"/>
              <a:t>continue to execute pranks and revenge attacks—some quite </a:t>
            </a:r>
            <a:r>
              <a:rPr lang="en-US" sz="2400" dirty="0" smtClean="0"/>
              <a:t>expensive. Hackers </a:t>
            </a:r>
            <a:r>
              <a:rPr lang="en-US" sz="2400" dirty="0"/>
              <a:t>modified the programming at an online gambling site so that everyone won. </a:t>
            </a:r>
            <a:r>
              <a:rPr lang="en-US" sz="2400" dirty="0" smtClean="0"/>
              <a:t>The site </a:t>
            </a:r>
            <a:r>
              <a:rPr lang="en-US" sz="2400" dirty="0"/>
              <a:t>lost $1.9 million</a:t>
            </a:r>
            <a:r>
              <a:rPr lang="en-US" sz="2400" dirty="0" smtClean="0"/>
              <a:t>.</a:t>
            </a:r>
          </a:p>
          <a:p>
            <a:pPr marL="0" indent="0" algn="just">
              <a:buNone/>
            </a:pPr>
            <a:r>
              <a:rPr lang="en-US" sz="2400" dirty="0" smtClean="0"/>
              <a:t> </a:t>
            </a:r>
            <a:r>
              <a:rPr lang="en-US" sz="2400" dirty="0"/>
              <a:t>After police raided a popular pirate music site in Sweden, an </a:t>
            </a:r>
            <a:r>
              <a:rPr lang="en-US" sz="2400" dirty="0" smtClean="0"/>
              <a:t>apparent retaliation </a:t>
            </a:r>
            <a:r>
              <a:rPr lang="en-US" sz="2400" dirty="0"/>
              <a:t>attack by hackers shut down the main websites of the Swedish </a:t>
            </a:r>
            <a:r>
              <a:rPr lang="en-US" sz="2400" dirty="0" smtClean="0"/>
              <a:t>government and </a:t>
            </a:r>
            <a:r>
              <a:rPr lang="en-US" sz="2400" dirty="0"/>
              <a:t>police</a:t>
            </a:r>
            <a:r>
              <a:rPr lang="en-US" sz="2400" dirty="0" smtClean="0"/>
              <a:t>.</a:t>
            </a:r>
          </a:p>
          <a:p>
            <a:pPr marL="0" indent="0" algn="just">
              <a:buNone/>
            </a:pPr>
            <a:r>
              <a:rPr lang="en-US" sz="2400" dirty="0" smtClean="0"/>
              <a:t>Hackers </a:t>
            </a:r>
            <a:r>
              <a:rPr lang="en-US" sz="2400" dirty="0"/>
              <a:t>attacked companies that </a:t>
            </a:r>
            <a:r>
              <a:rPr lang="en-US" sz="2400" dirty="0" smtClean="0"/>
              <a:t>criticized or </a:t>
            </a:r>
            <a:r>
              <a:rPr lang="en-US" sz="2400" dirty="0"/>
              <a:t>withdrew services from </a:t>
            </a:r>
            <a:r>
              <a:rPr lang="en-US" sz="2400" dirty="0" err="1"/>
              <a:t>WikiLeaks</a:t>
            </a:r>
            <a:r>
              <a:rPr lang="en-US" sz="2400" dirty="0"/>
              <a:t>.</a:t>
            </a:r>
          </a:p>
          <a:p>
            <a:pPr marL="0" indent="0" algn="just">
              <a:buNone/>
            </a:pPr>
            <a:endParaRPr lang="en-US" sz="2400" dirty="0"/>
          </a:p>
        </p:txBody>
      </p:sp>
    </p:spTree>
    <p:extLst>
      <p:ext uri="{BB962C8B-B14F-4D97-AF65-F5344CB8AC3E}">
        <p14:creationId xmlns:p14="http://schemas.microsoft.com/office/powerpoint/2010/main" val="192255919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Autofit/>
          </a:bodyPr>
          <a:lstStyle/>
          <a:p>
            <a:r>
              <a:rPr lang="en-US" sz="3600" dirty="0"/>
              <a:t>Phase 3: The growth of the Web and mobile </a:t>
            </a:r>
            <a:r>
              <a:rPr lang="en-US" sz="3600" dirty="0" smtClean="0"/>
              <a:t>devices-Mid 1990s</a:t>
            </a:r>
            <a:endParaRPr lang="en-US" sz="3600" dirty="0"/>
          </a:p>
        </p:txBody>
      </p:sp>
      <p:sp>
        <p:nvSpPr>
          <p:cNvPr id="2" name="Content Placeholder 1"/>
          <p:cNvSpPr>
            <a:spLocks noGrp="1"/>
          </p:cNvSpPr>
          <p:nvPr>
            <p:ph idx="1"/>
          </p:nvPr>
        </p:nvSpPr>
        <p:spPr/>
        <p:txBody>
          <a:bodyPr>
            <a:normAutofit fontScale="77500" lnSpcReduction="20000"/>
          </a:bodyPr>
          <a:lstStyle/>
          <a:p>
            <a:pPr marL="0" indent="0" algn="just">
              <a:buNone/>
            </a:pPr>
            <a:r>
              <a:rPr lang="en-US" dirty="0"/>
              <a:t>As social networks grew, they became targets of hackers. In 2011, hackers </a:t>
            </a:r>
            <a:r>
              <a:rPr lang="en-US" dirty="0" smtClean="0"/>
              <a:t>gained access </a:t>
            </a:r>
            <a:r>
              <a:rPr lang="en-US" dirty="0"/>
              <a:t>to Facebook member profile pages and posted pornographic and violent images</a:t>
            </a:r>
            <a:r>
              <a:rPr lang="en-US" dirty="0" smtClean="0"/>
              <a:t>.</a:t>
            </a:r>
          </a:p>
          <a:p>
            <a:pPr marL="0" indent="0" algn="just">
              <a:buNone/>
            </a:pPr>
            <a:r>
              <a:rPr lang="en-US" dirty="0" smtClean="0"/>
              <a:t> The </a:t>
            </a:r>
            <a:r>
              <a:rPr lang="en-US" dirty="0"/>
              <a:t>hackers had tricked members into running malware. It is a common tactic for </a:t>
            </a:r>
            <a:r>
              <a:rPr lang="en-US" dirty="0" smtClean="0"/>
              <a:t>hackers to </a:t>
            </a:r>
            <a:r>
              <a:rPr lang="en-US" dirty="0"/>
              <a:t>create fake offers of discounts, freebies, or just something funny or interesting. </a:t>
            </a:r>
            <a:r>
              <a:rPr lang="en-US" dirty="0" smtClean="0"/>
              <a:t>Clicking on </a:t>
            </a:r>
            <a:r>
              <a:rPr lang="en-US" dirty="0"/>
              <a:t>it initiates the malware</a:t>
            </a:r>
            <a:r>
              <a:rPr lang="en-US" dirty="0" smtClean="0"/>
              <a:t>.</a:t>
            </a:r>
          </a:p>
          <a:p>
            <a:pPr marL="0" indent="0" algn="just">
              <a:buNone/>
            </a:pPr>
            <a:r>
              <a:rPr lang="en-US" dirty="0" smtClean="0"/>
              <a:t> </a:t>
            </a:r>
            <a:r>
              <a:rPr lang="en-US" dirty="0"/>
              <a:t>In this particular attack the purpose might have been to </a:t>
            </a:r>
            <a:r>
              <a:rPr lang="en-US" dirty="0" smtClean="0"/>
              <a:t>express criticism </a:t>
            </a:r>
            <a:r>
              <a:rPr lang="en-US" dirty="0"/>
              <a:t>of a company whose policies the hackers disapprove. Similar attacks </a:t>
            </a:r>
            <a:r>
              <a:rPr lang="en-US" dirty="0" smtClean="0"/>
              <a:t>encourage a </a:t>
            </a:r>
            <a:r>
              <a:rPr lang="en-US" dirty="0"/>
              <a:t>social media friend to view a video. The video site indicates that the user must </a:t>
            </a:r>
            <a:r>
              <a:rPr lang="en-US" dirty="0" smtClean="0"/>
              <a:t>install software </a:t>
            </a:r>
            <a:r>
              <a:rPr lang="en-US" dirty="0"/>
              <a:t>to view the clip; that software is malware. Social networks offer a huge pool </a:t>
            </a:r>
            <a:r>
              <a:rPr lang="en-US" dirty="0" smtClean="0"/>
              <a:t>of potential </a:t>
            </a:r>
            <a:r>
              <a:rPr lang="en-US" dirty="0"/>
              <a:t>victims who are used to </a:t>
            </a:r>
            <a:r>
              <a:rPr lang="en-US" dirty="0" smtClean="0"/>
              <a:t>sharing.</a:t>
            </a:r>
            <a:endParaRPr lang="en-US" dirty="0"/>
          </a:p>
          <a:p>
            <a:pPr marL="0" indent="0" algn="just">
              <a:buNone/>
            </a:pPr>
            <a:endParaRPr lang="en-US" dirty="0"/>
          </a:p>
        </p:txBody>
      </p:sp>
    </p:spTree>
    <p:extLst>
      <p:ext uri="{BB962C8B-B14F-4D97-AF65-F5344CB8AC3E}">
        <p14:creationId xmlns:p14="http://schemas.microsoft.com/office/powerpoint/2010/main" val="26591914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Autofit/>
          </a:bodyPr>
          <a:lstStyle/>
          <a:p>
            <a:r>
              <a:rPr lang="en-US" sz="3600" dirty="0"/>
              <a:t>Phase 3: The growth of the Web and mobile </a:t>
            </a:r>
            <a:r>
              <a:rPr lang="en-US" sz="3600" dirty="0" smtClean="0"/>
              <a:t>devices-Mid 1990s</a:t>
            </a:r>
            <a:endParaRPr lang="en-US" sz="3600" dirty="0"/>
          </a:p>
        </p:txBody>
      </p:sp>
      <p:sp>
        <p:nvSpPr>
          <p:cNvPr id="2" name="Content Placeholder 1"/>
          <p:cNvSpPr>
            <a:spLocks noGrp="1"/>
          </p:cNvSpPr>
          <p:nvPr>
            <p:ph idx="1"/>
          </p:nvPr>
        </p:nvSpPr>
        <p:spPr/>
        <p:txBody>
          <a:bodyPr/>
          <a:lstStyle/>
          <a:p>
            <a:pPr marL="0" indent="0" algn="just">
              <a:buNone/>
            </a:pPr>
            <a:r>
              <a:rPr lang="en-US" b="1" i="1" dirty="0"/>
              <a:t>Hacking of mobile devices (other than stolen laptops) has not yet been a </a:t>
            </a:r>
            <a:r>
              <a:rPr lang="en-US" b="1" i="1" dirty="0" smtClean="0"/>
              <a:t>major problem  but smartphones acting </a:t>
            </a:r>
            <a:r>
              <a:rPr lang="en-US" b="1" i="1" dirty="0"/>
              <a:t>as electronic wallets and tablets synching to all one’s data in clouds, they will </a:t>
            </a:r>
            <a:r>
              <a:rPr lang="en-US" b="1" i="1" dirty="0" smtClean="0"/>
              <a:t>be attractive </a:t>
            </a:r>
            <a:r>
              <a:rPr lang="en-US" b="1" i="1" dirty="0"/>
              <a:t>targets.</a:t>
            </a:r>
          </a:p>
          <a:p>
            <a:pPr marL="0" indent="0" algn="just">
              <a:buNone/>
            </a:pPr>
            <a:endParaRPr lang="en-US" b="1" i="1" dirty="0"/>
          </a:p>
        </p:txBody>
      </p:sp>
    </p:spTree>
    <p:extLst>
      <p:ext uri="{BB962C8B-B14F-4D97-AF65-F5344CB8AC3E}">
        <p14:creationId xmlns:p14="http://schemas.microsoft.com/office/powerpoint/2010/main" val="123990617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4"/>
          <p:cNvSpPr>
            <a:spLocks noGrp="1" noChangeArrowheads="1"/>
          </p:cNvSpPr>
          <p:nvPr>
            <p:ph type="title"/>
          </p:nvPr>
        </p:nvSpPr>
        <p:spPr/>
        <p:txBody>
          <a:bodyPr/>
          <a:lstStyle/>
          <a:p>
            <a:r>
              <a:rPr lang="en-US"/>
              <a:t>Hacking (cont.)</a:t>
            </a:r>
          </a:p>
        </p:txBody>
      </p:sp>
      <p:sp>
        <p:nvSpPr>
          <p:cNvPr id="43013" name="Rectangle 5"/>
          <p:cNvSpPr>
            <a:spLocks noGrp="1" noChangeArrowheads="1"/>
          </p:cNvSpPr>
          <p:nvPr>
            <p:ph type="body" idx="1"/>
          </p:nvPr>
        </p:nvSpPr>
        <p:spPr/>
        <p:txBody>
          <a:bodyPr/>
          <a:lstStyle/>
          <a:p>
            <a:pPr>
              <a:lnSpc>
                <a:spcPct val="90000"/>
              </a:lnSpc>
              <a:buFontTx/>
              <a:buNone/>
            </a:pPr>
            <a:r>
              <a:rPr lang="en-US" sz="2400"/>
              <a:t>The Law: Catching and Punishing Hackers:</a:t>
            </a:r>
          </a:p>
          <a:p>
            <a:pPr>
              <a:lnSpc>
                <a:spcPct val="90000"/>
              </a:lnSpc>
            </a:pPr>
            <a:r>
              <a:rPr lang="en-US" sz="2400"/>
              <a:t>1986 Congress passed the Computer Fraud and Abuse Act (CFAA)</a:t>
            </a:r>
          </a:p>
          <a:p>
            <a:pPr lvl="1">
              <a:lnSpc>
                <a:spcPct val="90000"/>
              </a:lnSpc>
            </a:pPr>
            <a:r>
              <a:rPr lang="en-US" sz="2400"/>
              <a:t>Covers government computers, financial and medical systems, and activities that involve computers in more than one state, including computers connected to the Internet</a:t>
            </a:r>
          </a:p>
          <a:p>
            <a:pPr lvl="1">
              <a:lnSpc>
                <a:spcPct val="90000"/>
              </a:lnSpc>
            </a:pPr>
            <a:r>
              <a:rPr lang="en-US" sz="2400"/>
              <a:t>The USA Patriot Act expanded the definition of loss to include the cost of responding to an attack, assessing damage and restoring systems</a:t>
            </a:r>
          </a:p>
          <a:p>
            <a:pPr>
              <a:lnSpc>
                <a:spcPct val="90000"/>
              </a:lnSpc>
            </a:pPr>
            <a:endParaRPr lang="en-US" sz="2400"/>
          </a:p>
        </p:txBody>
      </p:sp>
    </p:spTree>
    <p:extLst>
      <p:ext uri="{BB962C8B-B14F-4D97-AF65-F5344CB8AC3E}">
        <p14:creationId xmlns:p14="http://schemas.microsoft.com/office/powerpoint/2010/main" val="230736302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4"/>
          <p:cNvSpPr>
            <a:spLocks noGrp="1" noChangeArrowheads="1"/>
          </p:cNvSpPr>
          <p:nvPr>
            <p:ph type="title"/>
          </p:nvPr>
        </p:nvSpPr>
        <p:spPr/>
        <p:txBody>
          <a:bodyPr/>
          <a:lstStyle/>
          <a:p>
            <a:r>
              <a:rPr lang="en-US"/>
              <a:t>Hacking (cont.)</a:t>
            </a:r>
          </a:p>
        </p:txBody>
      </p:sp>
      <p:sp>
        <p:nvSpPr>
          <p:cNvPr id="44037" name="Rectangle 5"/>
          <p:cNvSpPr>
            <a:spLocks noGrp="1" noChangeArrowheads="1"/>
          </p:cNvSpPr>
          <p:nvPr>
            <p:ph type="body" idx="1"/>
          </p:nvPr>
        </p:nvSpPr>
        <p:spPr/>
        <p:txBody>
          <a:bodyPr/>
          <a:lstStyle/>
          <a:p>
            <a:pPr>
              <a:lnSpc>
                <a:spcPct val="90000"/>
              </a:lnSpc>
              <a:buFontTx/>
              <a:buNone/>
            </a:pPr>
            <a:r>
              <a:rPr lang="en-US" sz="2400" dirty="0"/>
              <a:t>The Law: Catching and Punishing Hackers (cont.):</a:t>
            </a:r>
          </a:p>
          <a:p>
            <a:pPr>
              <a:lnSpc>
                <a:spcPct val="90000"/>
              </a:lnSpc>
            </a:pPr>
            <a:r>
              <a:rPr lang="en-US" sz="2400" dirty="0"/>
              <a:t>A variety of methods for catching hackers</a:t>
            </a:r>
          </a:p>
          <a:p>
            <a:pPr lvl="1">
              <a:lnSpc>
                <a:spcPct val="90000"/>
              </a:lnSpc>
            </a:pPr>
            <a:r>
              <a:rPr lang="en-US" sz="2400" dirty="0"/>
              <a:t>Law enforcement agents read hacker newsletters and participate in chat rooms undercover</a:t>
            </a:r>
          </a:p>
          <a:p>
            <a:pPr lvl="1">
              <a:lnSpc>
                <a:spcPct val="90000"/>
              </a:lnSpc>
            </a:pPr>
            <a:r>
              <a:rPr lang="en-US" sz="2400" dirty="0"/>
              <a:t>They can often </a:t>
            </a:r>
            <a:r>
              <a:rPr lang="en-US" sz="2400" dirty="0" smtClean="0"/>
              <a:t>attend hacker conferences </a:t>
            </a:r>
            <a:endParaRPr lang="en-US" sz="2400" dirty="0"/>
          </a:p>
          <a:p>
            <a:pPr lvl="1">
              <a:lnSpc>
                <a:spcPct val="90000"/>
              </a:lnSpc>
            </a:pPr>
            <a:r>
              <a:rPr lang="en-US" sz="2400" dirty="0"/>
              <a:t>Security professionals set up ‘honey pots’ which are Web sites that attract hackers, to record and study</a:t>
            </a:r>
          </a:p>
          <a:p>
            <a:pPr lvl="1">
              <a:lnSpc>
                <a:spcPct val="90000"/>
              </a:lnSpc>
            </a:pPr>
            <a:r>
              <a:rPr lang="en-US" sz="2400" dirty="0"/>
              <a:t>Computer </a:t>
            </a:r>
            <a:r>
              <a:rPr lang="en-US" sz="2400" dirty="0" smtClean="0"/>
              <a:t>forensics, field of collecting evidence from computer files and disks, </a:t>
            </a:r>
            <a:r>
              <a:rPr lang="en-US" sz="2400" dirty="0"/>
              <a:t>is used to retrieve evidence from computers</a:t>
            </a:r>
          </a:p>
        </p:txBody>
      </p:sp>
    </p:spTree>
    <p:extLst>
      <p:ext uri="{BB962C8B-B14F-4D97-AF65-F5344CB8AC3E}">
        <p14:creationId xmlns:p14="http://schemas.microsoft.com/office/powerpoint/2010/main" val="336640903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4"/>
          <p:cNvSpPr>
            <a:spLocks noGrp="1" noChangeArrowheads="1"/>
          </p:cNvSpPr>
          <p:nvPr>
            <p:ph type="title"/>
          </p:nvPr>
        </p:nvSpPr>
        <p:spPr/>
        <p:txBody>
          <a:bodyPr/>
          <a:lstStyle/>
          <a:p>
            <a:r>
              <a:rPr lang="en-US"/>
              <a:t>Hacking (cont.)</a:t>
            </a:r>
          </a:p>
        </p:txBody>
      </p:sp>
      <p:sp>
        <p:nvSpPr>
          <p:cNvPr id="45061" name="Rectangle 5"/>
          <p:cNvSpPr>
            <a:spLocks noGrp="1" noChangeArrowheads="1"/>
          </p:cNvSpPr>
          <p:nvPr>
            <p:ph type="body" idx="1"/>
          </p:nvPr>
        </p:nvSpPr>
        <p:spPr/>
        <p:txBody>
          <a:bodyPr/>
          <a:lstStyle/>
          <a:p>
            <a:pPr>
              <a:lnSpc>
                <a:spcPct val="80000"/>
              </a:lnSpc>
              <a:buFontTx/>
              <a:buNone/>
            </a:pPr>
            <a:r>
              <a:rPr lang="en-US" sz="2400" dirty="0"/>
              <a:t>The Law: Catching and Punishing Hackers (cont.):</a:t>
            </a:r>
          </a:p>
          <a:p>
            <a:pPr>
              <a:lnSpc>
                <a:spcPct val="80000"/>
              </a:lnSpc>
            </a:pPr>
            <a:r>
              <a:rPr lang="en-US" sz="2400" dirty="0"/>
              <a:t>Penalties for young hackers</a:t>
            </a:r>
          </a:p>
          <a:p>
            <a:pPr lvl="1">
              <a:lnSpc>
                <a:spcPct val="80000"/>
              </a:lnSpc>
            </a:pPr>
            <a:r>
              <a:rPr lang="en-US" sz="2400" dirty="0"/>
              <a:t>Many young hackers have matured and gone on to productive and responsible careers</a:t>
            </a:r>
          </a:p>
          <a:p>
            <a:pPr lvl="1">
              <a:lnSpc>
                <a:spcPct val="80000"/>
              </a:lnSpc>
            </a:pPr>
            <a:r>
              <a:rPr lang="en-US" sz="2400" dirty="0"/>
              <a:t>Temptation to over or under punish</a:t>
            </a:r>
          </a:p>
          <a:p>
            <a:pPr lvl="1">
              <a:lnSpc>
                <a:spcPct val="80000"/>
              </a:lnSpc>
            </a:pPr>
            <a:r>
              <a:rPr lang="en-US" sz="2400" dirty="0"/>
              <a:t>Sentencing depends on intent and damage done</a:t>
            </a:r>
          </a:p>
          <a:p>
            <a:pPr lvl="1">
              <a:lnSpc>
                <a:spcPct val="80000"/>
              </a:lnSpc>
            </a:pPr>
            <a:r>
              <a:rPr lang="en-US" sz="2400" dirty="0"/>
              <a:t>Most young hackers receive probation, community service, and/or fines</a:t>
            </a:r>
          </a:p>
          <a:p>
            <a:pPr lvl="1">
              <a:lnSpc>
                <a:spcPct val="80000"/>
              </a:lnSpc>
            </a:pPr>
            <a:r>
              <a:rPr lang="en-US" sz="2400" dirty="0"/>
              <a:t>Not until 2000 did a young hacker receive time in juvenile detention</a:t>
            </a:r>
          </a:p>
        </p:txBody>
      </p:sp>
    </p:spTree>
    <p:extLst>
      <p:ext uri="{BB962C8B-B14F-4D97-AF65-F5344CB8AC3E}">
        <p14:creationId xmlns:p14="http://schemas.microsoft.com/office/powerpoint/2010/main" val="222402560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normAutofit/>
          </a:bodyPr>
          <a:lstStyle/>
          <a:p>
            <a:pPr>
              <a:lnSpc>
                <a:spcPct val="80000"/>
              </a:lnSpc>
            </a:pPr>
            <a:r>
              <a:rPr lang="en-US" dirty="0"/>
              <a:t>Penalties for </a:t>
            </a:r>
            <a:r>
              <a:rPr lang="en-US" dirty="0" smtClean="0"/>
              <a:t>Young Hackers</a:t>
            </a:r>
            <a:endParaRPr lang="en-US" dirty="0"/>
          </a:p>
        </p:txBody>
      </p:sp>
      <p:sp>
        <p:nvSpPr>
          <p:cNvPr id="3" name="Content Placeholder 2"/>
          <p:cNvSpPr>
            <a:spLocks noGrp="1"/>
          </p:cNvSpPr>
          <p:nvPr>
            <p:ph idx="1"/>
          </p:nvPr>
        </p:nvSpPr>
        <p:spPr/>
        <p:txBody>
          <a:bodyPr>
            <a:normAutofit fontScale="70000" lnSpcReduction="20000"/>
          </a:bodyPr>
          <a:lstStyle/>
          <a:p>
            <a:pPr marL="0" indent="0" algn="just">
              <a:buNone/>
            </a:pPr>
            <a:r>
              <a:rPr lang="en-US" dirty="0"/>
              <a:t>Steve Wozniak created the Apple computer, </a:t>
            </a:r>
            <a:r>
              <a:rPr lang="en-US" dirty="0" smtClean="0"/>
              <a:t>cofounded the </a:t>
            </a:r>
            <a:r>
              <a:rPr lang="en-US" dirty="0"/>
              <a:t>Apple company, and, after Apple’s success, donated large amounts of </a:t>
            </a:r>
            <a:r>
              <a:rPr lang="en-US" dirty="0" smtClean="0"/>
              <a:t>money to </a:t>
            </a:r>
            <a:r>
              <a:rPr lang="en-US" dirty="0"/>
              <a:t>medical research and other valuable efforts. </a:t>
            </a:r>
            <a:endParaRPr lang="en-US" dirty="0" smtClean="0"/>
          </a:p>
          <a:p>
            <a:pPr marL="0" indent="0" algn="just">
              <a:buNone/>
            </a:pPr>
            <a:r>
              <a:rPr lang="en-US" dirty="0" smtClean="0"/>
              <a:t>But </a:t>
            </a:r>
            <a:r>
              <a:rPr lang="en-US" dirty="0"/>
              <a:t>before he was building </a:t>
            </a:r>
            <a:r>
              <a:rPr lang="en-US" dirty="0" smtClean="0"/>
              <a:t>Apples, Wozniak was </a:t>
            </a:r>
            <a:r>
              <a:rPr lang="en-US" dirty="0"/>
              <a:t>building blue boxes, devices that enabled people to make long-distance phone </a:t>
            </a:r>
            <a:r>
              <a:rPr lang="en-US" dirty="0" smtClean="0"/>
              <a:t>calls without </a:t>
            </a:r>
            <a:r>
              <a:rPr lang="en-US" dirty="0"/>
              <a:t>paying for them</a:t>
            </a:r>
            <a:r>
              <a:rPr lang="en-US" dirty="0" smtClean="0"/>
              <a:t>.</a:t>
            </a:r>
          </a:p>
          <a:p>
            <a:pPr marL="0" indent="0" algn="just">
              <a:buNone/>
            </a:pPr>
            <a:endParaRPr lang="en-US" dirty="0"/>
          </a:p>
          <a:p>
            <a:pPr marL="0" indent="0" algn="just">
              <a:buNone/>
            </a:pPr>
            <a:r>
              <a:rPr lang="en-US" dirty="0" smtClean="0"/>
              <a:t>Nobel </a:t>
            </a:r>
            <a:r>
              <a:rPr lang="en-US" dirty="0"/>
              <a:t>Prize winner Richard Feynman used “hacker” </a:t>
            </a:r>
            <a:r>
              <a:rPr lang="en-US" dirty="0" smtClean="0"/>
              <a:t>techniques when </a:t>
            </a:r>
            <a:r>
              <a:rPr lang="en-US" dirty="0"/>
              <a:t>he was a young physicist working on the highly secret atomic bomb project at </a:t>
            </a:r>
            <a:r>
              <a:rPr lang="en-US" dirty="0" smtClean="0"/>
              <a:t>Los Alamos </a:t>
            </a:r>
            <a:r>
              <a:rPr lang="en-US" dirty="0"/>
              <a:t>National Laboratory in the 1940s. He hacked safes (not computers) </a:t>
            </a:r>
            <a:r>
              <a:rPr lang="en-US" dirty="0" smtClean="0"/>
              <a:t>containing  classified </a:t>
            </a:r>
            <a:r>
              <a:rPr lang="en-US" dirty="0"/>
              <a:t>work on the bomb. He found or guessed the combinations and delighted </a:t>
            </a:r>
            <a:r>
              <a:rPr lang="en-US" dirty="0" smtClean="0"/>
              <a:t>in opening </a:t>
            </a:r>
            <a:r>
              <a:rPr lang="en-US" dirty="0"/>
              <a:t>the safes at night and leaving messages for the authorized users informing </a:t>
            </a:r>
            <a:r>
              <a:rPr lang="en-US" dirty="0" smtClean="0"/>
              <a:t>them that </a:t>
            </a:r>
            <a:r>
              <a:rPr lang="en-US" dirty="0"/>
              <a:t>security was not as good as they thought.</a:t>
            </a:r>
          </a:p>
          <a:p>
            <a:pPr marL="0" indent="0" algn="just">
              <a:buNone/>
            </a:pPr>
            <a:endParaRPr lang="en-US" dirty="0"/>
          </a:p>
        </p:txBody>
      </p:sp>
    </p:spTree>
    <p:extLst>
      <p:ext uri="{BB962C8B-B14F-4D97-AF65-F5344CB8AC3E}">
        <p14:creationId xmlns:p14="http://schemas.microsoft.com/office/powerpoint/2010/main" val="341468969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4"/>
          <p:cNvSpPr>
            <a:spLocks noGrp="1" noChangeArrowheads="1"/>
          </p:cNvSpPr>
          <p:nvPr>
            <p:ph type="title"/>
          </p:nvPr>
        </p:nvSpPr>
        <p:spPr/>
        <p:txBody>
          <a:bodyPr/>
          <a:lstStyle/>
          <a:p>
            <a:r>
              <a:rPr lang="en-US"/>
              <a:t>Hacking (cont.)</a:t>
            </a:r>
          </a:p>
        </p:txBody>
      </p:sp>
      <p:sp>
        <p:nvSpPr>
          <p:cNvPr id="46085" name="Rectangle 5"/>
          <p:cNvSpPr>
            <a:spLocks noGrp="1" noChangeArrowheads="1"/>
          </p:cNvSpPr>
          <p:nvPr>
            <p:ph type="body" idx="1"/>
          </p:nvPr>
        </p:nvSpPr>
        <p:spPr/>
        <p:txBody>
          <a:bodyPr/>
          <a:lstStyle/>
          <a:p>
            <a:pPr>
              <a:lnSpc>
                <a:spcPct val="80000"/>
              </a:lnSpc>
              <a:buFontTx/>
              <a:buNone/>
            </a:pPr>
            <a:r>
              <a:rPr lang="en-US" sz="2400"/>
              <a:t>The Law: Catching and Punishing Hackers (cont.):</a:t>
            </a:r>
          </a:p>
          <a:p>
            <a:pPr>
              <a:lnSpc>
                <a:spcPct val="80000"/>
              </a:lnSpc>
            </a:pPr>
            <a:r>
              <a:rPr lang="en-US" sz="2400"/>
              <a:t>Security</a:t>
            </a:r>
          </a:p>
          <a:p>
            <a:pPr lvl="1">
              <a:lnSpc>
                <a:spcPct val="80000"/>
              </a:lnSpc>
            </a:pPr>
            <a:r>
              <a:rPr lang="en-US" sz="2400"/>
              <a:t>Internet started with open access as a means of sharing information for research</a:t>
            </a:r>
          </a:p>
          <a:p>
            <a:pPr lvl="1">
              <a:lnSpc>
                <a:spcPct val="80000"/>
              </a:lnSpc>
            </a:pPr>
            <a:r>
              <a:rPr lang="en-US" sz="2400"/>
              <a:t>Attitudes about security were slow to catch up with the risks</a:t>
            </a:r>
          </a:p>
          <a:p>
            <a:pPr lvl="1">
              <a:lnSpc>
                <a:spcPct val="80000"/>
              </a:lnSpc>
            </a:pPr>
            <a:r>
              <a:rPr lang="en-US" sz="2400"/>
              <a:t>Firewalls are used to monitor and filter out communication from untrusted sites or that fit a profile of suspicious activity</a:t>
            </a:r>
          </a:p>
          <a:p>
            <a:pPr lvl="1">
              <a:lnSpc>
                <a:spcPct val="80000"/>
              </a:lnSpc>
            </a:pPr>
            <a:r>
              <a:rPr lang="en-US" sz="2400"/>
              <a:t>Security is often playing catch-up to hackers as new vulnerabilities are discovered and exploited</a:t>
            </a:r>
          </a:p>
        </p:txBody>
      </p:sp>
    </p:spTree>
    <p:extLst>
      <p:ext uri="{BB962C8B-B14F-4D97-AF65-F5344CB8AC3E}">
        <p14:creationId xmlns:p14="http://schemas.microsoft.com/office/powerpoint/2010/main" val="421237343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4"/>
          <p:cNvSpPr>
            <a:spLocks noGrp="1" noChangeArrowheads="1"/>
          </p:cNvSpPr>
          <p:nvPr>
            <p:ph type="title"/>
          </p:nvPr>
        </p:nvSpPr>
        <p:spPr/>
        <p:txBody>
          <a:bodyPr/>
          <a:lstStyle/>
          <a:p>
            <a:r>
              <a:rPr lang="en-US"/>
              <a:t>Hacking (cont.)</a:t>
            </a:r>
          </a:p>
        </p:txBody>
      </p:sp>
      <p:sp>
        <p:nvSpPr>
          <p:cNvPr id="47109" name="Rectangle 5"/>
          <p:cNvSpPr>
            <a:spLocks noGrp="1" noChangeArrowheads="1"/>
          </p:cNvSpPr>
          <p:nvPr>
            <p:ph type="body" idx="1"/>
          </p:nvPr>
        </p:nvSpPr>
        <p:spPr/>
        <p:txBody>
          <a:bodyPr/>
          <a:lstStyle/>
          <a:p>
            <a:pPr>
              <a:lnSpc>
                <a:spcPct val="90000"/>
              </a:lnSpc>
              <a:buFontTx/>
              <a:buNone/>
            </a:pPr>
            <a:r>
              <a:rPr lang="en-US" sz="2400"/>
              <a:t>The Law: Catching and Punishing Hackers (cont.):</a:t>
            </a:r>
          </a:p>
          <a:p>
            <a:pPr>
              <a:lnSpc>
                <a:spcPct val="90000"/>
              </a:lnSpc>
            </a:pPr>
            <a:r>
              <a:rPr lang="en-US" sz="2400"/>
              <a:t>Responsibility for Security</a:t>
            </a:r>
          </a:p>
          <a:p>
            <a:pPr lvl="1">
              <a:lnSpc>
                <a:spcPct val="90000"/>
              </a:lnSpc>
            </a:pPr>
            <a:r>
              <a:rPr lang="en-US" sz="2400"/>
              <a:t>Developers have a responsibility to develop with security as a goal</a:t>
            </a:r>
          </a:p>
          <a:p>
            <a:pPr lvl="1">
              <a:lnSpc>
                <a:spcPct val="90000"/>
              </a:lnSpc>
            </a:pPr>
            <a:r>
              <a:rPr lang="en-US" sz="2400"/>
              <a:t>Businesses have a responsibility to use security tools and monitor their systems to prevent attacks from succeeding</a:t>
            </a:r>
          </a:p>
          <a:p>
            <a:pPr lvl="1">
              <a:lnSpc>
                <a:spcPct val="90000"/>
              </a:lnSpc>
            </a:pPr>
            <a:r>
              <a:rPr lang="en-US" sz="2400"/>
              <a:t>Home users have a responsibility to ask questions and educate themselves on the tools to maintain security (personal firewalls, anti-virus and anti-spyware)</a:t>
            </a:r>
          </a:p>
        </p:txBody>
      </p:sp>
    </p:spTree>
    <p:extLst>
      <p:ext uri="{BB962C8B-B14F-4D97-AF65-F5344CB8AC3E}">
        <p14:creationId xmlns:p14="http://schemas.microsoft.com/office/powerpoint/2010/main" val="349718657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8" name="Rectangle 8"/>
          <p:cNvSpPr>
            <a:spLocks noGrp="1" noChangeArrowheads="1"/>
          </p:cNvSpPr>
          <p:nvPr>
            <p:ph type="title"/>
          </p:nvPr>
        </p:nvSpPr>
        <p:spPr/>
        <p:txBody>
          <a:bodyPr>
            <a:normAutofit fontScale="90000"/>
          </a:bodyPr>
          <a:lstStyle/>
          <a:p>
            <a:r>
              <a:rPr lang="en-US"/>
              <a:t>Identity Theft and Credit Card Fraud</a:t>
            </a:r>
          </a:p>
        </p:txBody>
      </p:sp>
      <p:sp>
        <p:nvSpPr>
          <p:cNvPr id="30729" name="Rectangle 9"/>
          <p:cNvSpPr>
            <a:spLocks noGrp="1" noChangeArrowheads="1"/>
          </p:cNvSpPr>
          <p:nvPr>
            <p:ph type="body" idx="1"/>
          </p:nvPr>
        </p:nvSpPr>
        <p:spPr/>
        <p:txBody>
          <a:bodyPr/>
          <a:lstStyle/>
          <a:p>
            <a:pPr>
              <a:lnSpc>
                <a:spcPct val="90000"/>
              </a:lnSpc>
              <a:buFontTx/>
              <a:buNone/>
            </a:pPr>
            <a:r>
              <a:rPr lang="en-US" sz="2400" dirty="0"/>
              <a:t>Stealing Identities:</a:t>
            </a:r>
          </a:p>
          <a:p>
            <a:pPr>
              <a:lnSpc>
                <a:spcPct val="90000"/>
              </a:lnSpc>
            </a:pPr>
            <a:r>
              <a:rPr lang="en-US" sz="2400" b="1" i="1" dirty="0"/>
              <a:t>Identity Theft –various crimes in which a criminal or large group uses the identity of an unknowing, innocent person</a:t>
            </a:r>
          </a:p>
          <a:p>
            <a:pPr lvl="1">
              <a:lnSpc>
                <a:spcPct val="90000"/>
              </a:lnSpc>
            </a:pPr>
            <a:r>
              <a:rPr lang="en-US" sz="2400" dirty="0"/>
              <a:t>Use credit/debit card numbers, personal information, and social security numbers</a:t>
            </a:r>
          </a:p>
          <a:p>
            <a:pPr lvl="1">
              <a:lnSpc>
                <a:spcPct val="90000"/>
              </a:lnSpc>
            </a:pPr>
            <a:r>
              <a:rPr lang="en-US" sz="2400" dirty="0"/>
              <a:t>18-29 year-olds are the most common victims because they use the web most and are unaware of risks</a:t>
            </a:r>
          </a:p>
          <a:p>
            <a:pPr lvl="1">
              <a:lnSpc>
                <a:spcPct val="90000"/>
              </a:lnSpc>
            </a:pPr>
            <a:r>
              <a:rPr lang="en-US" sz="2400" dirty="0"/>
              <a:t>E-commerce has made it easier to steal card numbers and use without having the physical card</a:t>
            </a:r>
          </a:p>
        </p:txBody>
      </p:sp>
    </p:spTree>
    <p:extLst>
      <p:ext uri="{BB962C8B-B14F-4D97-AF65-F5344CB8AC3E}">
        <p14:creationId xmlns:p14="http://schemas.microsoft.com/office/powerpoint/2010/main" val="168522403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4"/>
          <p:cNvSpPr>
            <a:spLocks noGrp="1" noChangeArrowheads="1"/>
          </p:cNvSpPr>
          <p:nvPr>
            <p:ph type="title"/>
          </p:nvPr>
        </p:nvSpPr>
        <p:spPr/>
        <p:txBody>
          <a:bodyPr>
            <a:normAutofit fontScale="90000"/>
          </a:bodyPr>
          <a:lstStyle/>
          <a:p>
            <a:r>
              <a:rPr lang="en-US"/>
              <a:t>Identity Theft and Credit Card Fraud (cont.)</a:t>
            </a:r>
          </a:p>
        </p:txBody>
      </p:sp>
      <p:sp>
        <p:nvSpPr>
          <p:cNvPr id="48133" name="Rectangle 5"/>
          <p:cNvSpPr>
            <a:spLocks noGrp="1" noChangeArrowheads="1"/>
          </p:cNvSpPr>
          <p:nvPr>
            <p:ph type="body" idx="1"/>
          </p:nvPr>
        </p:nvSpPr>
        <p:spPr/>
        <p:txBody>
          <a:bodyPr/>
          <a:lstStyle/>
          <a:p>
            <a:pPr>
              <a:lnSpc>
                <a:spcPct val="80000"/>
              </a:lnSpc>
              <a:buFontTx/>
              <a:buNone/>
            </a:pPr>
            <a:r>
              <a:rPr lang="en-US" sz="2400" dirty="0"/>
              <a:t>Stealing Identities (cont.):</a:t>
            </a:r>
          </a:p>
          <a:p>
            <a:pPr>
              <a:lnSpc>
                <a:spcPct val="80000"/>
              </a:lnSpc>
            </a:pPr>
            <a:r>
              <a:rPr lang="en-US" sz="2400" dirty="0"/>
              <a:t>Techniques used to steal personal and financial information</a:t>
            </a:r>
          </a:p>
          <a:p>
            <a:pPr lvl="1">
              <a:lnSpc>
                <a:spcPct val="80000"/>
              </a:lnSpc>
            </a:pPr>
            <a:r>
              <a:rPr lang="en-US" sz="2400" dirty="0"/>
              <a:t>Phishing - e-mail fishing for personal and financial information disguised as legitimate business </a:t>
            </a:r>
            <a:r>
              <a:rPr lang="en-US" sz="2400" dirty="0" smtClean="0"/>
              <a:t>e-mail </a:t>
            </a:r>
          </a:p>
          <a:p>
            <a:pPr lvl="1">
              <a:lnSpc>
                <a:spcPct val="80000"/>
              </a:lnSpc>
            </a:pPr>
            <a:r>
              <a:rPr lang="en-US" sz="2400" dirty="0" err="1" smtClean="0"/>
              <a:t>Smishing</a:t>
            </a:r>
            <a:r>
              <a:rPr lang="en-US" sz="2400" dirty="0" smtClean="0"/>
              <a:t>- spam in case of text messages</a:t>
            </a:r>
            <a:endParaRPr lang="en-US" sz="2400" dirty="0"/>
          </a:p>
          <a:p>
            <a:pPr lvl="1">
              <a:lnSpc>
                <a:spcPct val="80000"/>
              </a:lnSpc>
            </a:pPr>
            <a:r>
              <a:rPr lang="en-US" sz="2400" dirty="0"/>
              <a:t>Pharming - false Web sites that fish for personal and financial information by planting false URLs in Domain Name Servers</a:t>
            </a:r>
          </a:p>
          <a:p>
            <a:pPr lvl="1">
              <a:lnSpc>
                <a:spcPct val="80000"/>
              </a:lnSpc>
            </a:pPr>
            <a:r>
              <a:rPr lang="en-US" sz="2400" dirty="0"/>
              <a:t>Online resumes and job hunting sites may reveal SSNs, work history, birth dates and other information that can be used in identity theft</a:t>
            </a:r>
          </a:p>
        </p:txBody>
      </p:sp>
    </p:spTree>
    <p:extLst>
      <p:ext uri="{BB962C8B-B14F-4D97-AF65-F5344CB8AC3E}">
        <p14:creationId xmlns:p14="http://schemas.microsoft.com/office/powerpoint/2010/main" val="385863190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4"/>
          <p:cNvSpPr>
            <a:spLocks noGrp="1" noChangeArrowheads="1"/>
          </p:cNvSpPr>
          <p:nvPr>
            <p:ph type="title"/>
          </p:nvPr>
        </p:nvSpPr>
        <p:spPr/>
        <p:txBody>
          <a:bodyPr>
            <a:normAutofit fontScale="90000"/>
          </a:bodyPr>
          <a:lstStyle/>
          <a:p>
            <a:r>
              <a:rPr lang="en-US"/>
              <a:t>Identity Theft and Credit Card Fraud (cont.)</a:t>
            </a:r>
          </a:p>
        </p:txBody>
      </p:sp>
      <p:sp>
        <p:nvSpPr>
          <p:cNvPr id="49157" name="Rectangle 5"/>
          <p:cNvSpPr>
            <a:spLocks noGrp="1" noChangeArrowheads="1"/>
          </p:cNvSpPr>
          <p:nvPr>
            <p:ph type="body" idx="1"/>
          </p:nvPr>
        </p:nvSpPr>
        <p:spPr/>
        <p:txBody>
          <a:bodyPr/>
          <a:lstStyle/>
          <a:p>
            <a:pPr>
              <a:lnSpc>
                <a:spcPct val="80000"/>
              </a:lnSpc>
              <a:buFontTx/>
              <a:buNone/>
            </a:pPr>
            <a:r>
              <a:rPr lang="en-US" sz="2400"/>
              <a:t>Stealing Identities (cont.):</a:t>
            </a:r>
          </a:p>
          <a:p>
            <a:pPr>
              <a:lnSpc>
                <a:spcPct val="80000"/>
              </a:lnSpc>
            </a:pPr>
            <a:r>
              <a:rPr lang="en-US" sz="2400"/>
              <a:t>Techniques used to protect personal and financial information</a:t>
            </a:r>
          </a:p>
          <a:p>
            <a:pPr lvl="1">
              <a:lnSpc>
                <a:spcPct val="80000"/>
              </a:lnSpc>
            </a:pPr>
            <a:r>
              <a:rPr lang="en-US" sz="2400"/>
              <a:t>Activation for new credit cards</a:t>
            </a:r>
          </a:p>
          <a:p>
            <a:pPr lvl="1">
              <a:lnSpc>
                <a:spcPct val="80000"/>
              </a:lnSpc>
            </a:pPr>
            <a:r>
              <a:rPr lang="en-US" sz="2400"/>
              <a:t>Retailers do not print the full card number and expiration date on receipts</a:t>
            </a:r>
          </a:p>
          <a:p>
            <a:pPr lvl="1">
              <a:lnSpc>
                <a:spcPct val="80000"/>
              </a:lnSpc>
            </a:pPr>
            <a:r>
              <a:rPr lang="en-US" sz="2400"/>
              <a:t>Software detects unusual spending activities and will prompt retailers to ask for identifying information</a:t>
            </a:r>
          </a:p>
          <a:p>
            <a:pPr lvl="1">
              <a:lnSpc>
                <a:spcPct val="80000"/>
              </a:lnSpc>
            </a:pPr>
            <a:r>
              <a:rPr lang="en-US" sz="2400"/>
              <a:t>Services, like PayPal, act as third party allowing a customer to make a purchase without revealing their credit card information to a stranger</a:t>
            </a:r>
          </a:p>
        </p:txBody>
      </p:sp>
    </p:spTree>
    <p:extLst>
      <p:ext uri="{BB962C8B-B14F-4D97-AF65-F5344CB8AC3E}">
        <p14:creationId xmlns:p14="http://schemas.microsoft.com/office/powerpoint/2010/main" val="353376850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4"/>
          <p:cNvSpPr>
            <a:spLocks noGrp="1" noChangeArrowheads="1"/>
          </p:cNvSpPr>
          <p:nvPr>
            <p:ph type="title"/>
          </p:nvPr>
        </p:nvSpPr>
        <p:spPr/>
        <p:txBody>
          <a:bodyPr>
            <a:normAutofit fontScale="90000"/>
          </a:bodyPr>
          <a:lstStyle/>
          <a:p>
            <a:r>
              <a:rPr lang="en-US"/>
              <a:t>Identity Theft and Credit Card Fraud (cont.)</a:t>
            </a:r>
          </a:p>
        </p:txBody>
      </p:sp>
      <p:sp>
        <p:nvSpPr>
          <p:cNvPr id="50181" name="Rectangle 5"/>
          <p:cNvSpPr>
            <a:spLocks noGrp="1" noChangeArrowheads="1"/>
          </p:cNvSpPr>
          <p:nvPr>
            <p:ph type="body" idx="1"/>
          </p:nvPr>
        </p:nvSpPr>
        <p:spPr/>
        <p:txBody>
          <a:bodyPr/>
          <a:lstStyle/>
          <a:p>
            <a:pPr>
              <a:lnSpc>
                <a:spcPct val="90000"/>
              </a:lnSpc>
              <a:buFontTx/>
              <a:buNone/>
            </a:pPr>
            <a:r>
              <a:rPr lang="en-US" sz="2400"/>
              <a:t>Responses to Identity Theft:</a:t>
            </a:r>
          </a:p>
          <a:p>
            <a:pPr>
              <a:lnSpc>
                <a:spcPct val="90000"/>
              </a:lnSpc>
            </a:pPr>
            <a:r>
              <a:rPr lang="en-US" sz="2400"/>
              <a:t>Authentication of e-mail and Web sites</a:t>
            </a:r>
          </a:p>
          <a:p>
            <a:pPr>
              <a:lnSpc>
                <a:spcPct val="90000"/>
              </a:lnSpc>
            </a:pPr>
            <a:r>
              <a:rPr lang="en-US" sz="2400"/>
              <a:t>Use of encryption to securely store data, so it is useless if stolen</a:t>
            </a:r>
          </a:p>
          <a:p>
            <a:pPr>
              <a:lnSpc>
                <a:spcPct val="90000"/>
              </a:lnSpc>
            </a:pPr>
            <a:r>
              <a:rPr lang="en-US" sz="2400"/>
              <a:t>Authenticating customers to prevent use of stolen numbers, may trade convenience for security</a:t>
            </a:r>
          </a:p>
          <a:p>
            <a:pPr>
              <a:lnSpc>
                <a:spcPct val="90000"/>
              </a:lnSpc>
            </a:pPr>
            <a:r>
              <a:rPr lang="en-US" sz="2400"/>
              <a:t>In the event information is stolen, a fraud alert can flag your credit report; some businesses will cover the cost of a credit report if your information has been stolen</a:t>
            </a:r>
          </a:p>
        </p:txBody>
      </p:sp>
    </p:spTree>
    <p:extLst>
      <p:ext uri="{BB962C8B-B14F-4D97-AF65-F5344CB8AC3E}">
        <p14:creationId xmlns:p14="http://schemas.microsoft.com/office/powerpoint/2010/main" val="410608405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normAutofit fontScale="90000"/>
          </a:bodyPr>
          <a:lstStyle/>
          <a:p>
            <a:r>
              <a:rPr lang="en-US" dirty="0"/>
              <a:t>Identity Theft and Credit Card Fraud (cont.)</a:t>
            </a:r>
          </a:p>
        </p:txBody>
      </p:sp>
      <p:sp>
        <p:nvSpPr>
          <p:cNvPr id="51203" name="Rectangle 3"/>
          <p:cNvSpPr>
            <a:spLocks noGrp="1" noChangeArrowheads="1"/>
          </p:cNvSpPr>
          <p:nvPr>
            <p:ph type="body" idx="1"/>
          </p:nvPr>
        </p:nvSpPr>
        <p:spPr/>
        <p:txBody>
          <a:bodyPr>
            <a:normAutofit fontScale="85000" lnSpcReduction="20000"/>
          </a:bodyPr>
          <a:lstStyle/>
          <a:p>
            <a:pPr algn="just">
              <a:lnSpc>
                <a:spcPct val="80000"/>
              </a:lnSpc>
              <a:buFontTx/>
              <a:buNone/>
            </a:pPr>
            <a:r>
              <a:rPr lang="en-US" sz="2800" dirty="0"/>
              <a:t>Biometrics:</a:t>
            </a:r>
          </a:p>
          <a:p>
            <a:pPr algn="just"/>
            <a:r>
              <a:rPr lang="en-US" sz="2800" dirty="0"/>
              <a:t>Biological characteristics unique to an </a:t>
            </a:r>
            <a:r>
              <a:rPr lang="en-US" sz="2800" dirty="0" smtClean="0"/>
              <a:t>individual </a:t>
            </a:r>
            <a:r>
              <a:rPr lang="en-US" sz="2800" dirty="0"/>
              <a:t> They </a:t>
            </a:r>
            <a:r>
              <a:rPr lang="en-US" sz="2800" dirty="0" smtClean="0"/>
              <a:t>include fingerprints</a:t>
            </a:r>
            <a:r>
              <a:rPr lang="en-US" sz="2800" dirty="0"/>
              <a:t>, voice prints, face structure, hand geometry, eye (iris or retina) patterns</a:t>
            </a:r>
            <a:r>
              <a:rPr lang="en-US" sz="2800" dirty="0" smtClean="0"/>
              <a:t>, and </a:t>
            </a:r>
            <a:r>
              <a:rPr lang="en-US" sz="2800" dirty="0"/>
              <a:t>DNA. Uses of DNA in the law enforcement and justice systems are well known</a:t>
            </a:r>
            <a:r>
              <a:rPr lang="en-US" sz="2800" dirty="0" smtClean="0"/>
              <a:t>. </a:t>
            </a:r>
            <a:r>
              <a:rPr lang="en-US" sz="2800" dirty="0" err="1" smtClean="0"/>
              <a:t>DNAmatching</a:t>
            </a:r>
            <a:r>
              <a:rPr lang="en-US" sz="2800" dirty="0" smtClean="0"/>
              <a:t> </a:t>
            </a:r>
            <a:r>
              <a:rPr lang="en-US" sz="2800" dirty="0"/>
              <a:t>has freed numerous innocent people mistakenly convicted of such </a:t>
            </a:r>
            <a:r>
              <a:rPr lang="en-US" sz="2800" dirty="0" smtClean="0"/>
              <a:t>serious crimes </a:t>
            </a:r>
            <a:r>
              <a:rPr lang="en-US" sz="2800" dirty="0"/>
              <a:t>as  </a:t>
            </a:r>
            <a:r>
              <a:rPr lang="en-US" sz="2800" dirty="0" smtClean="0"/>
              <a:t>murder</a:t>
            </a:r>
            <a:r>
              <a:rPr lang="en-US" sz="2800" dirty="0"/>
              <a:t>. Along with fingerprints, DNA has been extremely </a:t>
            </a:r>
            <a:r>
              <a:rPr lang="en-US" sz="2800" dirty="0" smtClean="0"/>
              <a:t>effective for </a:t>
            </a:r>
            <a:r>
              <a:rPr lang="en-US" sz="2800" dirty="0"/>
              <a:t>identifying or eliminating suspects in crimes</a:t>
            </a:r>
            <a:r>
              <a:rPr lang="en-US" sz="2800" dirty="0" smtClean="0"/>
              <a:t>.</a:t>
            </a:r>
            <a:endParaRPr lang="en-US" sz="2800" dirty="0"/>
          </a:p>
          <a:p>
            <a:pPr algn="just">
              <a:lnSpc>
                <a:spcPct val="80000"/>
              </a:lnSpc>
            </a:pPr>
            <a:r>
              <a:rPr lang="en-US" sz="2800" dirty="0"/>
              <a:t>No external item (card, keys, etc.) to be </a:t>
            </a:r>
            <a:r>
              <a:rPr lang="en-US" sz="2800" dirty="0" smtClean="0"/>
              <a:t>stolen</a:t>
            </a:r>
            <a:endParaRPr lang="en-US" sz="2800" dirty="0"/>
          </a:p>
          <a:p>
            <a:pPr algn="just">
              <a:lnSpc>
                <a:spcPct val="80000"/>
              </a:lnSpc>
            </a:pPr>
            <a:r>
              <a:rPr lang="en-US" sz="2800" dirty="0"/>
              <a:t>Used in areas where security needs to be high, such as identifying airport </a:t>
            </a:r>
            <a:r>
              <a:rPr lang="en-US" sz="2800" dirty="0" smtClean="0"/>
              <a:t>personnel</a:t>
            </a:r>
            <a:endParaRPr lang="en-US" sz="2800" dirty="0"/>
          </a:p>
          <a:p>
            <a:pPr algn="just">
              <a:lnSpc>
                <a:spcPct val="80000"/>
              </a:lnSpc>
            </a:pPr>
            <a:r>
              <a:rPr lang="en-US" sz="2800" dirty="0"/>
              <a:t>Biometrics can be fooled, but more difficult to do so, especially as more sophisticated systems are developed</a:t>
            </a:r>
          </a:p>
          <a:p>
            <a:pPr lvl="1" algn="just">
              <a:lnSpc>
                <a:spcPct val="80000"/>
              </a:lnSpc>
              <a:buFont typeface="Arial" charset="0"/>
              <a:buNone/>
            </a:pPr>
            <a:endParaRPr lang="en-US" sz="2800" dirty="0"/>
          </a:p>
        </p:txBody>
      </p:sp>
    </p:spTree>
    <p:extLst>
      <p:ext uri="{BB962C8B-B14F-4D97-AF65-F5344CB8AC3E}">
        <p14:creationId xmlns:p14="http://schemas.microsoft.com/office/powerpoint/2010/main" val="257124245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4"/>
          <p:cNvSpPr>
            <a:spLocks noGrp="1" noChangeArrowheads="1"/>
          </p:cNvSpPr>
          <p:nvPr>
            <p:ph type="title"/>
          </p:nvPr>
        </p:nvSpPr>
        <p:spPr/>
        <p:txBody>
          <a:bodyPr/>
          <a:lstStyle/>
          <a:p>
            <a:r>
              <a:rPr lang="en-US"/>
              <a:t>Scams and Forgery</a:t>
            </a:r>
          </a:p>
        </p:txBody>
      </p:sp>
      <p:sp>
        <p:nvSpPr>
          <p:cNvPr id="52229" name="Rectangle 5"/>
          <p:cNvSpPr>
            <a:spLocks noGrp="1" noChangeArrowheads="1"/>
          </p:cNvSpPr>
          <p:nvPr>
            <p:ph type="body" idx="1"/>
          </p:nvPr>
        </p:nvSpPr>
        <p:spPr/>
        <p:txBody>
          <a:bodyPr/>
          <a:lstStyle/>
          <a:p>
            <a:pPr>
              <a:lnSpc>
                <a:spcPct val="90000"/>
              </a:lnSpc>
              <a:buFontTx/>
              <a:buNone/>
            </a:pPr>
            <a:r>
              <a:rPr lang="en-US" sz="2400" dirty="0"/>
              <a:t>Auctions:</a:t>
            </a:r>
          </a:p>
          <a:p>
            <a:pPr>
              <a:lnSpc>
                <a:spcPct val="90000"/>
              </a:lnSpc>
            </a:pPr>
            <a:r>
              <a:rPr lang="en-US" sz="2400" dirty="0" smtClean="0"/>
              <a:t>Online </a:t>
            </a:r>
            <a:r>
              <a:rPr lang="en-US" sz="2400" dirty="0"/>
              <a:t>auction sites are one of the top sources of fraud complaints</a:t>
            </a:r>
          </a:p>
          <a:p>
            <a:pPr lvl="1">
              <a:lnSpc>
                <a:spcPct val="90000"/>
              </a:lnSpc>
            </a:pPr>
            <a:r>
              <a:rPr lang="en-US" sz="2400" dirty="0"/>
              <a:t>Some sellers do not send items or send inferior products</a:t>
            </a:r>
          </a:p>
          <a:p>
            <a:pPr lvl="1">
              <a:lnSpc>
                <a:spcPct val="90000"/>
              </a:lnSpc>
            </a:pPr>
            <a:r>
              <a:rPr lang="en-US" sz="2400" dirty="0" smtClean="0"/>
              <a:t>Shill bidding </a:t>
            </a:r>
            <a:r>
              <a:rPr lang="en-US" sz="2400" dirty="0"/>
              <a:t>is used to artificially raise prices</a:t>
            </a:r>
          </a:p>
          <a:p>
            <a:pPr lvl="1">
              <a:lnSpc>
                <a:spcPct val="90000"/>
              </a:lnSpc>
            </a:pPr>
            <a:r>
              <a:rPr lang="en-US" sz="2400" dirty="0"/>
              <a:t>Sellers give themselves or friends glowing reviews to garner consumer trust</a:t>
            </a:r>
          </a:p>
          <a:p>
            <a:pPr>
              <a:lnSpc>
                <a:spcPct val="90000"/>
              </a:lnSpc>
            </a:pPr>
            <a:r>
              <a:rPr lang="en-US" sz="2400" dirty="0"/>
              <a:t>Auction sites use various techniques to counter dishonest sellers</a:t>
            </a:r>
          </a:p>
        </p:txBody>
      </p:sp>
    </p:spTree>
    <p:extLst>
      <p:ext uri="{BB962C8B-B14F-4D97-AF65-F5344CB8AC3E}">
        <p14:creationId xmlns:p14="http://schemas.microsoft.com/office/powerpoint/2010/main" val="278077032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4"/>
          <p:cNvSpPr>
            <a:spLocks noGrp="1" noChangeArrowheads="1"/>
          </p:cNvSpPr>
          <p:nvPr>
            <p:ph type="title"/>
          </p:nvPr>
        </p:nvSpPr>
        <p:spPr/>
        <p:txBody>
          <a:bodyPr/>
          <a:lstStyle/>
          <a:p>
            <a:r>
              <a:rPr lang="en-US"/>
              <a:t>Scams and Forgery (cont.)</a:t>
            </a:r>
          </a:p>
        </p:txBody>
      </p:sp>
      <p:sp>
        <p:nvSpPr>
          <p:cNvPr id="53253" name="Rectangle 5"/>
          <p:cNvSpPr>
            <a:spLocks noGrp="1" noChangeArrowheads="1"/>
          </p:cNvSpPr>
          <p:nvPr>
            <p:ph type="body" idx="1"/>
          </p:nvPr>
        </p:nvSpPr>
        <p:spPr/>
        <p:txBody>
          <a:bodyPr/>
          <a:lstStyle/>
          <a:p>
            <a:pPr>
              <a:lnSpc>
                <a:spcPct val="90000"/>
              </a:lnSpc>
            </a:pPr>
            <a:r>
              <a:rPr lang="en-US" sz="2400"/>
              <a:t>Click fraud - repeated clicking on an ad to either increase a site’s revenue or to use up a competitor's advertising budget</a:t>
            </a:r>
          </a:p>
          <a:p>
            <a:pPr>
              <a:lnSpc>
                <a:spcPct val="90000"/>
              </a:lnSpc>
            </a:pPr>
            <a:r>
              <a:rPr lang="en-US" sz="2400"/>
              <a:t>Stock fraud - most common method is to buy a stock low, send out e-mails urging others to buy, and then sell when the price goes up, usually only for a short time</a:t>
            </a:r>
          </a:p>
          <a:p>
            <a:pPr>
              <a:lnSpc>
                <a:spcPct val="90000"/>
              </a:lnSpc>
            </a:pPr>
            <a:r>
              <a:rPr lang="en-US" sz="2400"/>
              <a:t>Digital Forgery - new technologies (scanners and high quality printers) are used to create fake checks, passports, visas, birth certificates, etc., with little skill and investment</a:t>
            </a:r>
          </a:p>
        </p:txBody>
      </p:sp>
    </p:spTree>
    <p:extLst>
      <p:ext uri="{BB962C8B-B14F-4D97-AF65-F5344CB8AC3E}">
        <p14:creationId xmlns:p14="http://schemas.microsoft.com/office/powerpoint/2010/main" val="326204755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4"/>
          <p:cNvSpPr>
            <a:spLocks noGrp="1" noChangeArrowheads="1"/>
          </p:cNvSpPr>
          <p:nvPr>
            <p:ph type="title"/>
          </p:nvPr>
        </p:nvSpPr>
        <p:spPr/>
        <p:txBody>
          <a:bodyPr>
            <a:normAutofit fontScale="90000"/>
          </a:bodyPr>
          <a:lstStyle/>
          <a:p>
            <a:r>
              <a:rPr lang="en-US"/>
              <a:t>Crime Fighting Versus Privacy and Civil Liberties</a:t>
            </a:r>
          </a:p>
        </p:txBody>
      </p:sp>
      <p:sp>
        <p:nvSpPr>
          <p:cNvPr id="54277" name="Rectangle 5"/>
          <p:cNvSpPr>
            <a:spLocks noGrp="1" noChangeArrowheads="1"/>
          </p:cNvSpPr>
          <p:nvPr>
            <p:ph type="body" idx="1"/>
          </p:nvPr>
        </p:nvSpPr>
        <p:spPr/>
        <p:txBody>
          <a:bodyPr/>
          <a:lstStyle/>
          <a:p>
            <a:pPr>
              <a:lnSpc>
                <a:spcPct val="90000"/>
              </a:lnSpc>
              <a:buFontTx/>
              <a:buNone/>
            </a:pPr>
            <a:r>
              <a:rPr lang="en-US" sz="2400"/>
              <a:t>Search and Seizure of Computers:</a:t>
            </a:r>
          </a:p>
          <a:p>
            <a:pPr>
              <a:lnSpc>
                <a:spcPct val="90000"/>
              </a:lnSpc>
            </a:pPr>
            <a:r>
              <a:rPr lang="en-US" sz="2400"/>
              <a:t>Requires a warrant to search and seize a computer</a:t>
            </a:r>
          </a:p>
          <a:p>
            <a:pPr lvl="1">
              <a:lnSpc>
                <a:spcPct val="90000"/>
              </a:lnSpc>
            </a:pPr>
            <a:r>
              <a:rPr lang="en-US" sz="2400"/>
              <a:t>Court rulings inconclusive about whether information found on computers, but not covered by a warrant, is considered in ‘plain view’</a:t>
            </a:r>
          </a:p>
          <a:p>
            <a:pPr>
              <a:lnSpc>
                <a:spcPct val="90000"/>
              </a:lnSpc>
            </a:pPr>
            <a:r>
              <a:rPr lang="en-US" sz="2400"/>
              <a:t>Automated searches</a:t>
            </a:r>
          </a:p>
          <a:p>
            <a:pPr lvl="1">
              <a:lnSpc>
                <a:spcPct val="90000"/>
              </a:lnSpc>
            </a:pPr>
            <a:r>
              <a:rPr lang="en-US" sz="2400"/>
              <a:t>Can monitor constantly and less likely to miss suspicious activity</a:t>
            </a:r>
          </a:p>
          <a:p>
            <a:pPr lvl="1">
              <a:lnSpc>
                <a:spcPct val="90000"/>
              </a:lnSpc>
            </a:pPr>
            <a:r>
              <a:rPr lang="en-US" sz="2400"/>
              <a:t>Can be programmed to only look for what is covered in a warrant</a:t>
            </a:r>
          </a:p>
        </p:txBody>
      </p:sp>
    </p:spTree>
    <p:extLst>
      <p:ext uri="{BB962C8B-B14F-4D97-AF65-F5344CB8AC3E}">
        <p14:creationId xmlns:p14="http://schemas.microsoft.com/office/powerpoint/2010/main" val="5508322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4"/>
          <p:cNvSpPr>
            <a:spLocks noGrp="1" noChangeArrowheads="1"/>
          </p:cNvSpPr>
          <p:nvPr>
            <p:ph type="title"/>
          </p:nvPr>
        </p:nvSpPr>
        <p:spPr/>
        <p:txBody>
          <a:bodyPr>
            <a:normAutofit fontScale="90000"/>
          </a:bodyPr>
          <a:lstStyle/>
          <a:p>
            <a:r>
              <a:rPr lang="en-US"/>
              <a:t>Crime Fighting Versus Privacy and . . . (cont.)</a:t>
            </a:r>
          </a:p>
        </p:txBody>
      </p:sp>
      <p:sp>
        <p:nvSpPr>
          <p:cNvPr id="56325" name="Rectangle 5"/>
          <p:cNvSpPr>
            <a:spLocks noGrp="1" noChangeArrowheads="1"/>
          </p:cNvSpPr>
          <p:nvPr>
            <p:ph type="body" idx="1"/>
          </p:nvPr>
        </p:nvSpPr>
        <p:spPr/>
        <p:txBody>
          <a:bodyPr/>
          <a:lstStyle/>
          <a:p>
            <a:pPr>
              <a:lnSpc>
                <a:spcPct val="90000"/>
              </a:lnSpc>
              <a:buFontTx/>
              <a:buNone/>
            </a:pPr>
            <a:r>
              <a:rPr lang="en-US" sz="2800" dirty="0"/>
              <a:t>The Issue of Venue:</a:t>
            </a:r>
          </a:p>
          <a:p>
            <a:pPr>
              <a:lnSpc>
                <a:spcPct val="90000"/>
              </a:lnSpc>
            </a:pPr>
            <a:r>
              <a:rPr lang="en-US" sz="2800" dirty="0"/>
              <a:t>Charges are generally filed where the crime occurs</a:t>
            </a:r>
          </a:p>
          <a:p>
            <a:pPr>
              <a:lnSpc>
                <a:spcPct val="90000"/>
              </a:lnSpc>
            </a:pPr>
            <a:r>
              <a:rPr lang="en-US" sz="2800" dirty="0"/>
              <a:t>Laws differ between states and countries</a:t>
            </a:r>
          </a:p>
          <a:p>
            <a:pPr>
              <a:lnSpc>
                <a:spcPct val="90000"/>
              </a:lnSpc>
            </a:pPr>
            <a:r>
              <a:rPr lang="en-US" sz="2800" dirty="0"/>
              <a:t>Where charges are filed may have significant impact if community standards </a:t>
            </a:r>
            <a:r>
              <a:rPr lang="en-US" sz="2800" dirty="0" smtClean="0"/>
              <a:t>apply</a:t>
            </a:r>
            <a:endParaRPr lang="en-US" sz="2800" dirty="0"/>
          </a:p>
        </p:txBody>
      </p:sp>
    </p:spTree>
    <p:extLst>
      <p:ext uri="{BB962C8B-B14F-4D97-AF65-F5344CB8AC3E}">
        <p14:creationId xmlns:p14="http://schemas.microsoft.com/office/powerpoint/2010/main" val="264710523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4"/>
          <p:cNvSpPr>
            <a:spLocks noGrp="1" noChangeArrowheads="1"/>
          </p:cNvSpPr>
          <p:nvPr>
            <p:ph type="title"/>
          </p:nvPr>
        </p:nvSpPr>
        <p:spPr/>
        <p:txBody>
          <a:bodyPr>
            <a:normAutofit fontScale="90000"/>
          </a:bodyPr>
          <a:lstStyle/>
          <a:p>
            <a:r>
              <a:rPr lang="en-US"/>
              <a:t>Crime Fighting Versus Privacy and . . . (cont.)</a:t>
            </a:r>
          </a:p>
        </p:txBody>
      </p:sp>
      <p:sp>
        <p:nvSpPr>
          <p:cNvPr id="55301" name="Rectangle 5"/>
          <p:cNvSpPr>
            <a:spLocks noGrp="1" noChangeArrowheads="1"/>
          </p:cNvSpPr>
          <p:nvPr>
            <p:ph type="body" idx="1"/>
          </p:nvPr>
        </p:nvSpPr>
        <p:spPr/>
        <p:txBody>
          <a:bodyPr/>
          <a:lstStyle/>
          <a:p>
            <a:pPr>
              <a:buFontTx/>
              <a:buNone/>
            </a:pPr>
            <a:r>
              <a:rPr lang="en-US" sz="2800" dirty="0"/>
              <a:t>Cybercrime Treaty:</a:t>
            </a:r>
          </a:p>
          <a:p>
            <a:r>
              <a:rPr lang="en-US" sz="2800" dirty="0"/>
              <a:t>International agreement to foster international cooperation among law enforcement agencies of different countries in fighting copyright violations, </a:t>
            </a:r>
            <a:r>
              <a:rPr lang="en-US" sz="2800" dirty="0" smtClean="0"/>
              <a:t> </a:t>
            </a:r>
            <a:r>
              <a:rPr lang="en-US" sz="2800" dirty="0"/>
              <a:t>fraud, hacking and other online fraud</a:t>
            </a:r>
          </a:p>
          <a:p>
            <a:r>
              <a:rPr lang="en-US" sz="2800" dirty="0"/>
              <a:t>Treaty sets common standards or ways to resolve international cases</a:t>
            </a:r>
          </a:p>
        </p:txBody>
      </p:sp>
    </p:spTree>
    <p:extLst>
      <p:ext uri="{BB962C8B-B14F-4D97-AF65-F5344CB8AC3E}">
        <p14:creationId xmlns:p14="http://schemas.microsoft.com/office/powerpoint/2010/main" val="40696394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US" sz="4000"/>
              <a:t>Whose Laws Rule the Web</a:t>
            </a:r>
          </a:p>
        </p:txBody>
      </p:sp>
      <p:sp>
        <p:nvSpPr>
          <p:cNvPr id="57347" name="Rectangle 3"/>
          <p:cNvSpPr>
            <a:spLocks noGrp="1" noChangeArrowheads="1"/>
          </p:cNvSpPr>
          <p:nvPr>
            <p:ph type="body" idx="1"/>
          </p:nvPr>
        </p:nvSpPr>
        <p:spPr/>
        <p:txBody>
          <a:bodyPr/>
          <a:lstStyle/>
          <a:p>
            <a:pPr>
              <a:buFontTx/>
              <a:buNone/>
            </a:pPr>
            <a:r>
              <a:rPr lang="en-US" sz="2800"/>
              <a:t>When Digital Actions Cross Borders:</a:t>
            </a:r>
          </a:p>
          <a:p>
            <a:r>
              <a:rPr lang="en-US" sz="2800"/>
              <a:t>Laws vary from country to country</a:t>
            </a:r>
          </a:p>
          <a:p>
            <a:r>
              <a:rPr lang="en-US" sz="2800"/>
              <a:t>Corporations that do business in multiple countries must comply with the laws of all the countries involved</a:t>
            </a:r>
          </a:p>
          <a:p>
            <a:r>
              <a:rPr lang="en-US" sz="2800"/>
              <a:t>Someone whose actions are legal in their own country may face prosecution in another country where their actions are illegal</a:t>
            </a:r>
          </a:p>
        </p:txBody>
      </p:sp>
    </p:spTree>
    <p:extLst>
      <p:ext uri="{BB962C8B-B14F-4D97-AF65-F5344CB8AC3E}">
        <p14:creationId xmlns:p14="http://schemas.microsoft.com/office/powerpoint/2010/main" val="41510577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sz="4000"/>
              <a:t>Whose Laws Rule the Web (Cont.)</a:t>
            </a:r>
          </a:p>
        </p:txBody>
      </p:sp>
      <p:sp>
        <p:nvSpPr>
          <p:cNvPr id="58371" name="Rectangle 3"/>
          <p:cNvSpPr>
            <a:spLocks noGrp="1" noChangeArrowheads="1"/>
          </p:cNvSpPr>
          <p:nvPr>
            <p:ph type="body" idx="1"/>
          </p:nvPr>
        </p:nvSpPr>
        <p:spPr/>
        <p:txBody>
          <a:bodyPr/>
          <a:lstStyle/>
          <a:p>
            <a:pPr>
              <a:buFontTx/>
              <a:buNone/>
            </a:pPr>
            <a:r>
              <a:rPr lang="en-US" sz="2800"/>
              <a:t>Arresting Foreign Visitors:</a:t>
            </a:r>
          </a:p>
          <a:p>
            <a:r>
              <a:rPr lang="en-US" sz="2800"/>
              <a:t>A Russian citizen was arrested for violating the DMCA when he visited the U.S. to present a paper at a conference; his software was not illegal in Russia</a:t>
            </a:r>
          </a:p>
          <a:p>
            <a:r>
              <a:rPr lang="en-US" sz="2800"/>
              <a:t>An executive of a British online gambling site was arrested as he transferred planes in Dallas (online sports betting is not illegal in Britain)</a:t>
            </a:r>
          </a:p>
        </p:txBody>
      </p:sp>
    </p:spTree>
    <p:extLst>
      <p:ext uri="{BB962C8B-B14F-4D97-AF65-F5344CB8AC3E}">
        <p14:creationId xmlns:p14="http://schemas.microsoft.com/office/powerpoint/2010/main" val="25619358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928</TotalTime>
  <Words>5968</Words>
  <Application>Microsoft Office PowerPoint</Application>
  <PresentationFormat>On-screen Show (4:3)</PresentationFormat>
  <Paragraphs>316</Paragraphs>
  <Slides>63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A Gift of Fire Fourth edition Sara Baase</vt:lpstr>
      <vt:lpstr>What We Will Cover</vt:lpstr>
      <vt:lpstr>Hackers as Security Researchers </vt:lpstr>
      <vt:lpstr>Hackers as Security Researchers </vt:lpstr>
      <vt:lpstr>Hackers as Security Researchers </vt:lpstr>
      <vt:lpstr>Hackers as Security Researchers </vt:lpstr>
      <vt:lpstr>Hacking as Foreign Policy</vt:lpstr>
      <vt:lpstr>Hacking as Foreign Policy</vt:lpstr>
      <vt:lpstr>Hacking as Foreign Policy</vt:lpstr>
      <vt:lpstr>Hacking as Foreign Policy</vt:lpstr>
      <vt:lpstr>Hacking as Foreign Policy</vt:lpstr>
      <vt:lpstr>Hacking as Foreign Policy</vt:lpstr>
      <vt:lpstr>Security</vt:lpstr>
      <vt:lpstr>Security</vt:lpstr>
      <vt:lpstr>Security</vt:lpstr>
      <vt:lpstr>Security</vt:lpstr>
      <vt:lpstr>Security</vt:lpstr>
      <vt:lpstr>Security</vt:lpstr>
      <vt:lpstr>Security</vt:lpstr>
      <vt:lpstr>Security</vt:lpstr>
      <vt:lpstr>Security</vt:lpstr>
      <vt:lpstr>Responsibility for security </vt:lpstr>
      <vt:lpstr>Responsibility for security </vt:lpstr>
      <vt:lpstr>Responsibility for security </vt:lpstr>
      <vt:lpstr>Responsibility for security </vt:lpstr>
      <vt:lpstr>Hacking</vt:lpstr>
      <vt:lpstr>Hacking</vt:lpstr>
      <vt:lpstr>Hacking</vt:lpstr>
      <vt:lpstr>Hacking</vt:lpstr>
      <vt:lpstr> Phase 1—(1960s and 1970s) The Joy of Programming </vt:lpstr>
      <vt:lpstr> Phase 1—(1960s and 1970s) The Joy of Programming </vt:lpstr>
      <vt:lpstr>Phase 2: 1970s to the mid-1990s</vt:lpstr>
      <vt:lpstr>Phase 2: 1970s to the mid-1990s</vt:lpstr>
      <vt:lpstr>Phase 2: 1970s to the mid-1990s</vt:lpstr>
      <vt:lpstr>Phase 3: The growth of the Web and mobile devices-Mid 1990s</vt:lpstr>
      <vt:lpstr>Phase 3: The growth of the Web and mobile devices-Mid 1990s</vt:lpstr>
      <vt:lpstr>Phase 3: The growth of the Web and mobile devices-Mid 1990s</vt:lpstr>
      <vt:lpstr>Phase 3: The growth of the Web and mobile devices-Mid 1990s</vt:lpstr>
      <vt:lpstr>Phase 3: The growth of the Web and mobile devices-Mid 1990s</vt:lpstr>
      <vt:lpstr>Phase 3: The growth of the Web and mobile devices-Mid 1990s</vt:lpstr>
      <vt:lpstr>Phase 3: The growth of the Web and mobile devices-Mid 1990s</vt:lpstr>
      <vt:lpstr>Phase 3: The growth of the Web and mobile devices-Mid 1990s</vt:lpstr>
      <vt:lpstr>Phase 3: The growth of the Web and mobile devices-Mid 1990s</vt:lpstr>
      <vt:lpstr>Phase 3: The growth of the Web and mobile devices-Mid 1990s</vt:lpstr>
      <vt:lpstr>Phase 3: The growth of the Web and mobile devices-Mid 1990s</vt:lpstr>
      <vt:lpstr>Hacking (cont.)</vt:lpstr>
      <vt:lpstr>Hacking (cont.)</vt:lpstr>
      <vt:lpstr>Hacking (cont.)</vt:lpstr>
      <vt:lpstr>Penalties for Young Hackers</vt:lpstr>
      <vt:lpstr>Hacking (cont.)</vt:lpstr>
      <vt:lpstr>Hacking (cont.)</vt:lpstr>
      <vt:lpstr>Identity Theft and Credit Card Fraud</vt:lpstr>
      <vt:lpstr>Identity Theft and Credit Card Fraud (cont.)</vt:lpstr>
      <vt:lpstr>Identity Theft and Credit Card Fraud (cont.)</vt:lpstr>
      <vt:lpstr>Identity Theft and Credit Card Fraud (cont.)</vt:lpstr>
      <vt:lpstr>Identity Theft and Credit Card Fraud (cont.)</vt:lpstr>
      <vt:lpstr>Scams and Forgery</vt:lpstr>
      <vt:lpstr>Scams and Forgery (cont.)</vt:lpstr>
      <vt:lpstr>Crime Fighting Versus Privacy and Civil Liberties</vt:lpstr>
      <vt:lpstr>Crime Fighting Versus Privacy and . . . (cont.)</vt:lpstr>
      <vt:lpstr>Crime Fighting Versus Privacy and . . . (cont.)</vt:lpstr>
      <vt:lpstr>Whose Laws Rule the Web</vt:lpstr>
      <vt:lpstr>Whose Laws Rule the Web (Cont.)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Gift of Fire Third edition Sara Baase</dc:title>
  <dc:creator>Faculty</dc:creator>
  <cp:lastModifiedBy>Usman Younas</cp:lastModifiedBy>
  <cp:revision>51</cp:revision>
  <dcterms:created xsi:type="dcterms:W3CDTF">2006-08-16T00:00:00Z</dcterms:created>
  <dcterms:modified xsi:type="dcterms:W3CDTF">2020-06-11T10:29:54Z</dcterms:modified>
</cp:coreProperties>
</file>