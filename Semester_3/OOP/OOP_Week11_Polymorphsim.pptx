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12192000" cy="68580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8" d="100"/>
          <a:sy n="78" d="100"/>
        </p:scale>
        <p:origin x="878" y="62"/>
      </p:cViewPr>
      <p:guideLst>
        <p:guide pos="2880" orient="horz"/>
        <p:guide pos="216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8F5F77-FFEB-0DC1-6718-BB1F2008F5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F7217E-2F33-8FA1-4DD3-CECB0AC8CF3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A404BC-2DAB-D0DC-B70E-D068F00206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D458C8-C035-C6A6-5D1C-D8E849C9D5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60E4C-4A1A-7AA7-731F-B613DFEAA0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15C872-90B4-E6BD-EFFA-4166F4C0D5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8FC82D-876E-CCC7-3BA3-8300123149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AF0EC9-BED1-764F-5CA3-1F17DDE0C2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DBD2F2-50A3-CA04-87D1-0AA0601A49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E84904-8CB5-FCC1-DBDC-93394F35C1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113A67-4059-4BDE-30EA-9DA46E4817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010FFE-1570-EB42-A131-A553EA01AF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AA1084-7A29-6765-00DE-07D0DC8E3A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797EC0-BDF6-8017-D502-F4ACB26569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C4BA91-6CEC-319B-5196-C6D80DA97F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2715062" name="Holder 2"/>
          <p:cNvSpPr>
            <a:spLocks noGrp="1"/>
          </p:cNvSpPr>
          <p:nvPr>
            <p:ph type="ctrTitle"/>
          </p:nvPr>
        </p:nvSpPr>
        <p:spPr bwMode="auto"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5359027" name="Holder 3"/>
          <p:cNvSpPr>
            <a:spLocks noGrp="1"/>
          </p:cNvSpPr>
          <p:nvPr>
            <p:ph type="subTitle" idx="4"/>
          </p:nvPr>
        </p:nvSpPr>
        <p:spPr bwMode="auto"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143117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908570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206948410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7703942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36488985" name="Holder 3"/>
          <p:cNvSpPr>
            <a:spLocks noGrp="1"/>
          </p:cNvSpPr>
          <p:nvPr>
            <p:ph type="body" idx="1"/>
          </p:nvPr>
        </p:nvSpPr>
        <p:spPr bwMode="auto"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332907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158157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56753297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wo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29793598" name="bg object 16"/>
          <p:cNvPicPr/>
          <p:nvPr/>
        </p:nvPicPr>
        <p:blipFill>
          <a:blip r:embed="rId2"/>
          <a:stretch/>
        </p:blipFill>
        <p:spPr bwMode="auto">
          <a:xfrm>
            <a:off x="417347" y="1496567"/>
            <a:ext cx="114300" cy="158750"/>
          </a:xfrm>
          <a:prstGeom prst="rect">
            <a:avLst/>
          </a:prstGeom>
        </p:spPr>
      </p:pic>
      <p:sp>
        <p:nvSpPr>
          <p:cNvPr id="1160422141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45919707" name="Holder 3"/>
          <p:cNvSpPr>
            <a:spLocks noGrp="1"/>
          </p:cNvSpPr>
          <p:nvPr>
            <p:ph sz="half" idx="2"/>
          </p:nvPr>
        </p:nvSpPr>
        <p:spPr bwMode="auto">
          <a:xfrm>
            <a:off x="395122" y="1414017"/>
            <a:ext cx="4483735" cy="4141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hlink"/>
                </a:solidFill>
                <a:latin typeface="Trebuchet MS"/>
                <a:cs typeface="Trebuchet M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2678387" name="Holder 4"/>
          <p:cNvSpPr>
            <a:spLocks noGrp="1"/>
          </p:cNvSpPr>
          <p:nvPr>
            <p:ph sz="half" idx="3"/>
          </p:nvPr>
        </p:nvSpPr>
        <p:spPr bwMode="auto">
          <a:xfrm>
            <a:off x="6175628" y="1293698"/>
            <a:ext cx="4483734" cy="4141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hlink"/>
                </a:solidFill>
                <a:latin typeface="Trebuchet MS"/>
                <a:cs typeface="Trebuchet M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8839068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256251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92993668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939989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946945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0926396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68603059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6813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41090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173689466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646586" name="bg object 16"/>
          <p:cNvSpPr/>
          <p:nvPr/>
        </p:nvSpPr>
        <p:spPr bwMode="auto">
          <a:xfrm>
            <a:off x="10626852" y="9144"/>
            <a:ext cx="1539240" cy="556260"/>
          </a:xfrm>
          <a:custGeom>
            <a:avLst/>
            <a:gdLst/>
            <a:ahLst/>
            <a:cxnLst/>
            <a:rect l="l" t="t" r="r" b="b"/>
            <a:pathLst>
              <a:path w="1539240" h="556260" fill="norm" stroke="1" extrusionOk="0">
                <a:moveTo>
                  <a:pt x="1539240" y="556259"/>
                </a:moveTo>
                <a:lnTo>
                  <a:pt x="1494052" y="532873"/>
                </a:lnTo>
                <a:lnTo>
                  <a:pt x="1448469" y="509952"/>
                </a:lnTo>
                <a:lnTo>
                  <a:pt x="1402509" y="487488"/>
                </a:lnTo>
                <a:lnTo>
                  <a:pt x="1356195" y="465474"/>
                </a:lnTo>
                <a:lnTo>
                  <a:pt x="1309547" y="443903"/>
                </a:lnTo>
                <a:lnTo>
                  <a:pt x="1262585" y="422765"/>
                </a:lnTo>
                <a:lnTo>
                  <a:pt x="1215331" y="402054"/>
                </a:lnTo>
                <a:lnTo>
                  <a:pt x="1167806" y="381761"/>
                </a:lnTo>
                <a:lnTo>
                  <a:pt x="1120030" y="361880"/>
                </a:lnTo>
                <a:lnTo>
                  <a:pt x="1072025" y="342401"/>
                </a:lnTo>
                <a:lnTo>
                  <a:pt x="1023810" y="323317"/>
                </a:lnTo>
                <a:lnTo>
                  <a:pt x="975408" y="304621"/>
                </a:lnTo>
                <a:lnTo>
                  <a:pt x="926838" y="286304"/>
                </a:lnTo>
                <a:lnTo>
                  <a:pt x="878122" y="268359"/>
                </a:lnTo>
                <a:lnTo>
                  <a:pt x="829281" y="250778"/>
                </a:lnTo>
                <a:lnTo>
                  <a:pt x="780335" y="233552"/>
                </a:lnTo>
                <a:lnTo>
                  <a:pt x="731306" y="216676"/>
                </a:lnTo>
                <a:lnTo>
                  <a:pt x="682213" y="200139"/>
                </a:lnTo>
                <a:lnTo>
                  <a:pt x="633079" y="183935"/>
                </a:lnTo>
                <a:lnTo>
                  <a:pt x="583923" y="168056"/>
                </a:lnTo>
                <a:lnTo>
                  <a:pt x="534767" y="152494"/>
                </a:lnTo>
                <a:lnTo>
                  <a:pt x="485632" y="137241"/>
                </a:lnTo>
                <a:lnTo>
                  <a:pt x="436538" y="122290"/>
                </a:lnTo>
                <a:lnTo>
                  <a:pt x="387506" y="107632"/>
                </a:lnTo>
                <a:lnTo>
                  <a:pt x="338558" y="93260"/>
                </a:lnTo>
                <a:lnTo>
                  <a:pt x="289713" y="79166"/>
                </a:lnTo>
                <a:lnTo>
                  <a:pt x="240994" y="65342"/>
                </a:lnTo>
                <a:lnTo>
                  <a:pt x="192420" y="51780"/>
                </a:lnTo>
                <a:lnTo>
                  <a:pt x="144013" y="38473"/>
                </a:lnTo>
                <a:lnTo>
                  <a:pt x="95793" y="25412"/>
                </a:lnTo>
                <a:lnTo>
                  <a:pt x="47782" y="12590"/>
                </a:lnTo>
                <a:lnTo>
                  <a:pt x="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27174806" name="bg object 17"/>
          <p:cNvSpPr/>
          <p:nvPr/>
        </p:nvSpPr>
        <p:spPr bwMode="auto">
          <a:xfrm>
            <a:off x="10247376" y="5013959"/>
            <a:ext cx="1918970" cy="1830705"/>
          </a:xfrm>
          <a:custGeom>
            <a:avLst/>
            <a:gdLst/>
            <a:ahLst/>
            <a:cxnLst/>
            <a:rect l="l" t="t" r="r" b="b"/>
            <a:pathLst>
              <a:path w="1918970" h="1830704" fill="norm" stroke="1" extrusionOk="0">
                <a:moveTo>
                  <a:pt x="0" y="1830323"/>
                </a:moveTo>
                <a:lnTo>
                  <a:pt x="39967" y="1799241"/>
                </a:lnTo>
                <a:lnTo>
                  <a:pt x="79858" y="1767980"/>
                </a:lnTo>
                <a:lnTo>
                  <a:pt x="119670" y="1736542"/>
                </a:lnTo>
                <a:lnTo>
                  <a:pt x="159401" y="1704928"/>
                </a:lnTo>
                <a:lnTo>
                  <a:pt x="199047" y="1673138"/>
                </a:lnTo>
                <a:lnTo>
                  <a:pt x="238606" y="1641175"/>
                </a:lnTo>
                <a:lnTo>
                  <a:pt x="278075" y="1609037"/>
                </a:lnTo>
                <a:lnTo>
                  <a:pt x="317452" y="1576728"/>
                </a:lnTo>
                <a:lnTo>
                  <a:pt x="356734" y="1544248"/>
                </a:lnTo>
                <a:lnTo>
                  <a:pt x="395919" y="1511597"/>
                </a:lnTo>
                <a:lnTo>
                  <a:pt x="435003" y="1478777"/>
                </a:lnTo>
                <a:lnTo>
                  <a:pt x="473985" y="1445789"/>
                </a:lnTo>
                <a:lnTo>
                  <a:pt x="512861" y="1412633"/>
                </a:lnTo>
                <a:lnTo>
                  <a:pt x="551629" y="1379312"/>
                </a:lnTo>
                <a:lnTo>
                  <a:pt x="590287" y="1345825"/>
                </a:lnTo>
                <a:lnTo>
                  <a:pt x="628831" y="1312174"/>
                </a:lnTo>
                <a:lnTo>
                  <a:pt x="667259" y="1278360"/>
                </a:lnTo>
                <a:lnTo>
                  <a:pt x="705569" y="1244385"/>
                </a:lnTo>
                <a:lnTo>
                  <a:pt x="743757" y="1210247"/>
                </a:lnTo>
                <a:lnTo>
                  <a:pt x="781821" y="1175950"/>
                </a:lnTo>
                <a:lnTo>
                  <a:pt x="819759" y="1141494"/>
                </a:lnTo>
                <a:lnTo>
                  <a:pt x="857568" y="1106880"/>
                </a:lnTo>
                <a:lnTo>
                  <a:pt x="895245" y="1072109"/>
                </a:lnTo>
                <a:lnTo>
                  <a:pt x="932787" y="1037182"/>
                </a:lnTo>
                <a:lnTo>
                  <a:pt x="970193" y="1002099"/>
                </a:lnTo>
                <a:lnTo>
                  <a:pt x="1007459" y="966863"/>
                </a:lnTo>
                <a:lnTo>
                  <a:pt x="1044582" y="931474"/>
                </a:lnTo>
                <a:lnTo>
                  <a:pt x="1081561" y="895933"/>
                </a:lnTo>
                <a:lnTo>
                  <a:pt x="1118392" y="860241"/>
                </a:lnTo>
                <a:lnTo>
                  <a:pt x="1155073" y="824399"/>
                </a:lnTo>
                <a:lnTo>
                  <a:pt x="1191601" y="788408"/>
                </a:lnTo>
                <a:lnTo>
                  <a:pt x="1227973" y="752269"/>
                </a:lnTo>
                <a:lnTo>
                  <a:pt x="1264187" y="715984"/>
                </a:lnTo>
                <a:lnTo>
                  <a:pt x="1300241" y="679552"/>
                </a:lnTo>
                <a:lnTo>
                  <a:pt x="1336131" y="642976"/>
                </a:lnTo>
                <a:lnTo>
                  <a:pt x="1371855" y="606256"/>
                </a:lnTo>
                <a:lnTo>
                  <a:pt x="1407411" y="569393"/>
                </a:lnTo>
                <a:lnTo>
                  <a:pt x="1442795" y="532388"/>
                </a:lnTo>
                <a:lnTo>
                  <a:pt x="1478006" y="495242"/>
                </a:lnTo>
                <a:lnTo>
                  <a:pt x="1513039" y="457957"/>
                </a:lnTo>
                <a:lnTo>
                  <a:pt x="1547894" y="420533"/>
                </a:lnTo>
                <a:lnTo>
                  <a:pt x="1582567" y="382971"/>
                </a:lnTo>
                <a:lnTo>
                  <a:pt x="1617055" y="345272"/>
                </a:lnTo>
                <a:lnTo>
                  <a:pt x="1651357" y="307438"/>
                </a:lnTo>
                <a:lnTo>
                  <a:pt x="1685468" y="269469"/>
                </a:lnTo>
                <a:lnTo>
                  <a:pt x="1719387" y="231366"/>
                </a:lnTo>
                <a:lnTo>
                  <a:pt x="1753111" y="193131"/>
                </a:lnTo>
                <a:lnTo>
                  <a:pt x="1786638" y="154764"/>
                </a:lnTo>
                <a:lnTo>
                  <a:pt x="1819964" y="116266"/>
                </a:lnTo>
                <a:lnTo>
                  <a:pt x="1853088" y="77639"/>
                </a:lnTo>
                <a:lnTo>
                  <a:pt x="1886006" y="38883"/>
                </a:lnTo>
                <a:lnTo>
                  <a:pt x="191871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30720950" name="bg object 18"/>
          <p:cNvSpPr/>
          <p:nvPr/>
        </p:nvSpPr>
        <p:spPr bwMode="auto">
          <a:xfrm>
            <a:off x="11202923" y="9144"/>
            <a:ext cx="963294" cy="367665"/>
          </a:xfrm>
          <a:custGeom>
            <a:avLst/>
            <a:gdLst/>
            <a:ahLst/>
            <a:cxnLst/>
            <a:rect l="l" t="t" r="r" b="b"/>
            <a:pathLst>
              <a:path w="963295" h="367665" fill="norm" stroke="1" extrusionOk="0">
                <a:moveTo>
                  <a:pt x="963168" y="367283"/>
                </a:moveTo>
                <a:lnTo>
                  <a:pt x="916739" y="345322"/>
                </a:lnTo>
                <a:lnTo>
                  <a:pt x="869978" y="323783"/>
                </a:lnTo>
                <a:lnTo>
                  <a:pt x="822909" y="302658"/>
                </a:lnTo>
                <a:lnTo>
                  <a:pt x="775557" y="281939"/>
                </a:lnTo>
                <a:lnTo>
                  <a:pt x="727948" y="261621"/>
                </a:lnTo>
                <a:lnTo>
                  <a:pt x="680106" y="241696"/>
                </a:lnTo>
                <a:lnTo>
                  <a:pt x="632057" y="222157"/>
                </a:lnTo>
                <a:lnTo>
                  <a:pt x="583826" y="202996"/>
                </a:lnTo>
                <a:lnTo>
                  <a:pt x="535437" y="184207"/>
                </a:lnTo>
                <a:lnTo>
                  <a:pt x="486918" y="165782"/>
                </a:lnTo>
                <a:lnTo>
                  <a:pt x="438291" y="147714"/>
                </a:lnTo>
                <a:lnTo>
                  <a:pt x="389583" y="129997"/>
                </a:lnTo>
                <a:lnTo>
                  <a:pt x="340818" y="112622"/>
                </a:lnTo>
                <a:lnTo>
                  <a:pt x="292022" y="95583"/>
                </a:lnTo>
                <a:lnTo>
                  <a:pt x="243220" y="78872"/>
                </a:lnTo>
                <a:lnTo>
                  <a:pt x="194438" y="62483"/>
                </a:lnTo>
                <a:lnTo>
                  <a:pt x="145699" y="46409"/>
                </a:lnTo>
                <a:lnTo>
                  <a:pt x="97030" y="30641"/>
                </a:lnTo>
                <a:lnTo>
                  <a:pt x="48455" y="15174"/>
                </a:ln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42153459" name="bg object 19"/>
          <p:cNvSpPr/>
          <p:nvPr/>
        </p:nvSpPr>
        <p:spPr bwMode="auto">
          <a:xfrm>
            <a:off x="10494264" y="5274564"/>
            <a:ext cx="1667510" cy="1579245"/>
          </a:xfrm>
          <a:custGeom>
            <a:avLst/>
            <a:gdLst/>
            <a:ahLst/>
            <a:cxnLst/>
            <a:rect l="l" t="t" r="r" b="b"/>
            <a:pathLst>
              <a:path w="1667509" h="1579245" fill="norm" stroke="1" extrusionOk="0">
                <a:moveTo>
                  <a:pt x="0" y="1578863"/>
                </a:moveTo>
                <a:lnTo>
                  <a:pt x="39546" y="1547081"/>
                </a:lnTo>
                <a:lnTo>
                  <a:pt x="79018" y="1515145"/>
                </a:lnTo>
                <a:lnTo>
                  <a:pt x="118415" y="1483054"/>
                </a:lnTo>
                <a:lnTo>
                  <a:pt x="157733" y="1450809"/>
                </a:lnTo>
                <a:lnTo>
                  <a:pt x="196970" y="1418411"/>
                </a:lnTo>
                <a:lnTo>
                  <a:pt x="236122" y="1385859"/>
                </a:lnTo>
                <a:lnTo>
                  <a:pt x="275187" y="1353154"/>
                </a:lnTo>
                <a:lnTo>
                  <a:pt x="314161" y="1320296"/>
                </a:lnTo>
                <a:lnTo>
                  <a:pt x="353043" y="1287285"/>
                </a:lnTo>
                <a:lnTo>
                  <a:pt x="391830" y="1254123"/>
                </a:lnTo>
                <a:lnTo>
                  <a:pt x="430517" y="1220808"/>
                </a:lnTo>
                <a:lnTo>
                  <a:pt x="469104" y="1187342"/>
                </a:lnTo>
                <a:lnTo>
                  <a:pt x="507586" y="1153725"/>
                </a:lnTo>
                <a:lnTo>
                  <a:pt x="545962" y="1119957"/>
                </a:lnTo>
                <a:lnTo>
                  <a:pt x="584228" y="1086038"/>
                </a:lnTo>
                <a:lnTo>
                  <a:pt x="622381" y="1051969"/>
                </a:lnTo>
                <a:lnTo>
                  <a:pt x="660419" y="1017750"/>
                </a:lnTo>
                <a:lnTo>
                  <a:pt x="698339" y="983382"/>
                </a:lnTo>
                <a:lnTo>
                  <a:pt x="736138" y="948864"/>
                </a:lnTo>
                <a:lnTo>
                  <a:pt x="773813" y="914197"/>
                </a:lnTo>
                <a:lnTo>
                  <a:pt x="811362" y="879381"/>
                </a:lnTo>
                <a:lnTo>
                  <a:pt x="848781" y="844417"/>
                </a:lnTo>
                <a:lnTo>
                  <a:pt x="886068" y="809304"/>
                </a:lnTo>
                <a:lnTo>
                  <a:pt x="923220" y="774044"/>
                </a:lnTo>
                <a:lnTo>
                  <a:pt x="960234" y="738637"/>
                </a:lnTo>
                <a:lnTo>
                  <a:pt x="997108" y="703082"/>
                </a:lnTo>
                <a:lnTo>
                  <a:pt x="1033838" y="667380"/>
                </a:lnTo>
                <a:lnTo>
                  <a:pt x="1070422" y="631532"/>
                </a:lnTo>
                <a:lnTo>
                  <a:pt x="1106857" y="595538"/>
                </a:lnTo>
                <a:lnTo>
                  <a:pt x="1143141" y="559398"/>
                </a:lnTo>
                <a:lnTo>
                  <a:pt x="1179269" y="523112"/>
                </a:lnTo>
                <a:lnTo>
                  <a:pt x="1215240" y="486681"/>
                </a:lnTo>
                <a:lnTo>
                  <a:pt x="1251051" y="450105"/>
                </a:lnTo>
                <a:lnTo>
                  <a:pt x="1286699" y="413384"/>
                </a:lnTo>
                <a:lnTo>
                  <a:pt x="1322180" y="376519"/>
                </a:lnTo>
                <a:lnTo>
                  <a:pt x="1357493" y="339510"/>
                </a:lnTo>
                <a:lnTo>
                  <a:pt x="1392635" y="302357"/>
                </a:lnTo>
                <a:lnTo>
                  <a:pt x="1427602" y="265061"/>
                </a:lnTo>
                <a:lnTo>
                  <a:pt x="1462392" y="227622"/>
                </a:lnTo>
                <a:lnTo>
                  <a:pt x="1497002" y="190040"/>
                </a:lnTo>
                <a:lnTo>
                  <a:pt x="1531430" y="152316"/>
                </a:lnTo>
                <a:lnTo>
                  <a:pt x="1565672" y="114449"/>
                </a:lnTo>
                <a:lnTo>
                  <a:pt x="1599725" y="76441"/>
                </a:lnTo>
                <a:lnTo>
                  <a:pt x="1633587" y="38291"/>
                </a:lnTo>
                <a:lnTo>
                  <a:pt x="1667255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98744873" name="bg object 20"/>
          <p:cNvSpPr/>
          <p:nvPr/>
        </p:nvSpPr>
        <p:spPr bwMode="auto">
          <a:xfrm>
            <a:off x="11501628" y="9144"/>
            <a:ext cx="664845" cy="257810"/>
          </a:xfrm>
          <a:custGeom>
            <a:avLst/>
            <a:gdLst/>
            <a:ahLst/>
            <a:cxnLst/>
            <a:rect l="l" t="t" r="r" b="b"/>
            <a:pathLst>
              <a:path w="664845" h="257810" fill="norm" stroke="1" extrusionOk="0">
                <a:moveTo>
                  <a:pt x="664464" y="257555"/>
                </a:moveTo>
                <a:lnTo>
                  <a:pt x="618547" y="237263"/>
                </a:lnTo>
                <a:lnTo>
                  <a:pt x="572353" y="217263"/>
                </a:lnTo>
                <a:lnTo>
                  <a:pt x="525891" y="197554"/>
                </a:lnTo>
                <a:lnTo>
                  <a:pt x="479171" y="178136"/>
                </a:lnTo>
                <a:lnTo>
                  <a:pt x="432203" y="159011"/>
                </a:lnTo>
                <a:lnTo>
                  <a:pt x="384998" y="140176"/>
                </a:lnTo>
                <a:lnTo>
                  <a:pt x="337565" y="121634"/>
                </a:lnTo>
                <a:lnTo>
                  <a:pt x="289915" y="103383"/>
                </a:lnTo>
                <a:lnTo>
                  <a:pt x="242057" y="85423"/>
                </a:lnTo>
                <a:lnTo>
                  <a:pt x="194001" y="67755"/>
                </a:lnTo>
                <a:lnTo>
                  <a:pt x="145757" y="50379"/>
                </a:lnTo>
                <a:lnTo>
                  <a:pt x="97336" y="33294"/>
                </a:lnTo>
                <a:lnTo>
                  <a:pt x="48746" y="16501"/>
                </a:ln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83846059" name="bg object 21"/>
          <p:cNvSpPr/>
          <p:nvPr/>
        </p:nvSpPr>
        <p:spPr bwMode="auto">
          <a:xfrm>
            <a:off x="10640568" y="5408676"/>
            <a:ext cx="1525905" cy="1435735"/>
          </a:xfrm>
          <a:custGeom>
            <a:avLst/>
            <a:gdLst/>
            <a:ahLst/>
            <a:cxnLst/>
            <a:rect l="l" t="t" r="r" b="b"/>
            <a:pathLst>
              <a:path w="1525904" h="1435734" fill="norm" stroke="1" extrusionOk="0">
                <a:moveTo>
                  <a:pt x="0" y="1435608"/>
                </a:moveTo>
                <a:lnTo>
                  <a:pt x="39599" y="1403531"/>
                </a:lnTo>
                <a:lnTo>
                  <a:pt x="79112" y="1371302"/>
                </a:lnTo>
                <a:lnTo>
                  <a:pt x="118535" y="1338921"/>
                </a:lnTo>
                <a:lnTo>
                  <a:pt x="157865" y="1306389"/>
                </a:lnTo>
                <a:lnTo>
                  <a:pt x="197101" y="1273706"/>
                </a:lnTo>
                <a:lnTo>
                  <a:pt x="236240" y="1240872"/>
                </a:lnTo>
                <a:lnTo>
                  <a:pt x="275279" y="1207888"/>
                </a:lnTo>
                <a:lnTo>
                  <a:pt x="314215" y="1174754"/>
                </a:lnTo>
                <a:lnTo>
                  <a:pt x="353047" y="1141470"/>
                </a:lnTo>
                <a:lnTo>
                  <a:pt x="391772" y="1108038"/>
                </a:lnTo>
                <a:lnTo>
                  <a:pt x="430388" y="1074457"/>
                </a:lnTo>
                <a:lnTo>
                  <a:pt x="468891" y="1040728"/>
                </a:lnTo>
                <a:lnTo>
                  <a:pt x="507279" y="1006851"/>
                </a:lnTo>
                <a:lnTo>
                  <a:pt x="545551" y="972827"/>
                </a:lnTo>
                <a:lnTo>
                  <a:pt x="583703" y="938656"/>
                </a:lnTo>
                <a:lnTo>
                  <a:pt x="621732" y="904338"/>
                </a:lnTo>
                <a:lnTo>
                  <a:pt x="659638" y="869875"/>
                </a:lnTo>
                <a:lnTo>
                  <a:pt x="697416" y="835265"/>
                </a:lnTo>
                <a:lnTo>
                  <a:pt x="735064" y="800511"/>
                </a:lnTo>
                <a:lnTo>
                  <a:pt x="772581" y="765611"/>
                </a:lnTo>
                <a:lnTo>
                  <a:pt x="809963" y="730567"/>
                </a:lnTo>
                <a:lnTo>
                  <a:pt x="847208" y="695379"/>
                </a:lnTo>
                <a:lnTo>
                  <a:pt x="884313" y="660048"/>
                </a:lnTo>
                <a:lnTo>
                  <a:pt x="921277" y="624573"/>
                </a:lnTo>
                <a:lnTo>
                  <a:pt x="958096" y="588956"/>
                </a:lnTo>
                <a:lnTo>
                  <a:pt x="994768" y="553196"/>
                </a:lnTo>
                <a:lnTo>
                  <a:pt x="1031291" y="517295"/>
                </a:lnTo>
                <a:lnTo>
                  <a:pt x="1067662" y="481251"/>
                </a:lnTo>
                <a:lnTo>
                  <a:pt x="1103878" y="445067"/>
                </a:lnTo>
                <a:lnTo>
                  <a:pt x="1139937" y="408742"/>
                </a:lnTo>
                <a:lnTo>
                  <a:pt x="1175837" y="372277"/>
                </a:lnTo>
                <a:lnTo>
                  <a:pt x="1211576" y="335671"/>
                </a:lnTo>
                <a:lnTo>
                  <a:pt x="1247149" y="298927"/>
                </a:lnTo>
                <a:lnTo>
                  <a:pt x="1282556" y="262043"/>
                </a:lnTo>
                <a:lnTo>
                  <a:pt x="1317794" y="225021"/>
                </a:lnTo>
                <a:lnTo>
                  <a:pt x="1352859" y="187860"/>
                </a:lnTo>
                <a:lnTo>
                  <a:pt x="1387751" y="150562"/>
                </a:lnTo>
                <a:lnTo>
                  <a:pt x="1422465" y="113127"/>
                </a:lnTo>
                <a:lnTo>
                  <a:pt x="1457001" y="75554"/>
                </a:lnTo>
                <a:lnTo>
                  <a:pt x="1491354" y="37845"/>
                </a:lnTo>
                <a:lnTo>
                  <a:pt x="1525524" y="0"/>
                </a:lnTo>
              </a:path>
              <a:path w="1525904" h="1435734" fill="norm" stroke="1" extrusionOk="0">
                <a:moveTo>
                  <a:pt x="163067" y="1435608"/>
                </a:moveTo>
                <a:lnTo>
                  <a:pt x="201898" y="1402397"/>
                </a:lnTo>
                <a:lnTo>
                  <a:pt x="240643" y="1369040"/>
                </a:lnTo>
                <a:lnTo>
                  <a:pt x="279301" y="1335538"/>
                </a:lnTo>
                <a:lnTo>
                  <a:pt x="317869" y="1301890"/>
                </a:lnTo>
                <a:lnTo>
                  <a:pt x="356345" y="1268097"/>
                </a:lnTo>
                <a:lnTo>
                  <a:pt x="394727" y="1234157"/>
                </a:lnTo>
                <a:lnTo>
                  <a:pt x="433013" y="1200072"/>
                </a:lnTo>
                <a:lnTo>
                  <a:pt x="471199" y="1165841"/>
                </a:lnTo>
                <a:lnTo>
                  <a:pt x="509285" y="1131464"/>
                </a:lnTo>
                <a:lnTo>
                  <a:pt x="547268" y="1096941"/>
                </a:lnTo>
                <a:lnTo>
                  <a:pt x="585145" y="1062273"/>
                </a:lnTo>
                <a:lnTo>
                  <a:pt x="622914" y="1027459"/>
                </a:lnTo>
                <a:lnTo>
                  <a:pt x="660573" y="992499"/>
                </a:lnTo>
                <a:lnTo>
                  <a:pt x="698120" y="957393"/>
                </a:lnTo>
                <a:lnTo>
                  <a:pt x="735552" y="922142"/>
                </a:lnTo>
                <a:lnTo>
                  <a:pt x="772868" y="886744"/>
                </a:lnTo>
                <a:lnTo>
                  <a:pt x="810065" y="851201"/>
                </a:lnTo>
                <a:lnTo>
                  <a:pt x="847140" y="815513"/>
                </a:lnTo>
                <a:lnTo>
                  <a:pt x="884092" y="779678"/>
                </a:lnTo>
                <a:lnTo>
                  <a:pt x="920918" y="743698"/>
                </a:lnTo>
                <a:lnTo>
                  <a:pt x="957616" y="707571"/>
                </a:lnTo>
                <a:lnTo>
                  <a:pt x="994183" y="671300"/>
                </a:lnTo>
                <a:lnTo>
                  <a:pt x="1030618" y="634882"/>
                </a:lnTo>
                <a:lnTo>
                  <a:pt x="1066918" y="598318"/>
                </a:lnTo>
                <a:lnTo>
                  <a:pt x="1103081" y="561609"/>
                </a:lnTo>
                <a:lnTo>
                  <a:pt x="1139105" y="524754"/>
                </a:lnTo>
                <a:lnTo>
                  <a:pt x="1174987" y="487753"/>
                </a:lnTo>
                <a:lnTo>
                  <a:pt x="1210725" y="450607"/>
                </a:lnTo>
                <a:lnTo>
                  <a:pt x="1246318" y="413314"/>
                </a:lnTo>
                <a:lnTo>
                  <a:pt x="1281761" y="375876"/>
                </a:lnTo>
                <a:lnTo>
                  <a:pt x="1317054" y="338292"/>
                </a:lnTo>
                <a:lnTo>
                  <a:pt x="1352195" y="300563"/>
                </a:lnTo>
                <a:lnTo>
                  <a:pt x="1387180" y="262687"/>
                </a:lnTo>
                <a:lnTo>
                  <a:pt x="1422007" y="224666"/>
                </a:lnTo>
                <a:lnTo>
                  <a:pt x="1456675" y="186499"/>
                </a:lnTo>
                <a:lnTo>
                  <a:pt x="1491182" y="148186"/>
                </a:lnTo>
                <a:lnTo>
                  <a:pt x="1525524" y="10972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195912079" name="bg object 22"/>
          <p:cNvPicPr/>
          <p:nvPr/>
        </p:nvPicPr>
        <p:blipFill>
          <a:blip r:embed="rId7"/>
          <a:stretch/>
        </p:blipFill>
        <p:spPr bwMode="auto">
          <a:xfrm>
            <a:off x="-190" y="-6350"/>
            <a:ext cx="5174361" cy="6856982"/>
          </a:xfrm>
          <a:prstGeom prst="rect">
            <a:avLst/>
          </a:prstGeom>
        </p:spPr>
      </p:pic>
      <p:sp>
        <p:nvSpPr>
          <p:cNvPr id="1620091005" name="bg object 23"/>
          <p:cNvSpPr/>
          <p:nvPr/>
        </p:nvSpPr>
        <p:spPr bwMode="auto">
          <a:xfrm>
            <a:off x="10978895" y="5693664"/>
            <a:ext cx="1187450" cy="1150620"/>
          </a:xfrm>
          <a:custGeom>
            <a:avLst/>
            <a:gdLst/>
            <a:ahLst/>
            <a:cxnLst/>
            <a:rect l="l" t="t" r="r" b="b"/>
            <a:pathLst>
              <a:path w="1187450" h="1150620" fill="norm" stroke="1" extrusionOk="0">
                <a:moveTo>
                  <a:pt x="0" y="1150620"/>
                </a:moveTo>
                <a:lnTo>
                  <a:pt x="37932" y="1117704"/>
                </a:lnTo>
                <a:lnTo>
                  <a:pt x="75758" y="1084658"/>
                </a:lnTo>
                <a:lnTo>
                  <a:pt x="113477" y="1051483"/>
                </a:lnTo>
                <a:lnTo>
                  <a:pt x="151087" y="1018179"/>
                </a:lnTo>
                <a:lnTo>
                  <a:pt x="188586" y="984747"/>
                </a:lnTo>
                <a:lnTo>
                  <a:pt x="225973" y="951189"/>
                </a:lnTo>
                <a:lnTo>
                  <a:pt x="263246" y="917504"/>
                </a:lnTo>
                <a:lnTo>
                  <a:pt x="300404" y="883693"/>
                </a:lnTo>
                <a:lnTo>
                  <a:pt x="337445" y="849759"/>
                </a:lnTo>
                <a:lnTo>
                  <a:pt x="374367" y="815700"/>
                </a:lnTo>
                <a:lnTo>
                  <a:pt x="411169" y="781518"/>
                </a:lnTo>
                <a:lnTo>
                  <a:pt x="447849" y="747214"/>
                </a:lnTo>
                <a:lnTo>
                  <a:pt x="484406" y="712788"/>
                </a:lnTo>
                <a:lnTo>
                  <a:pt x="520838" y="678242"/>
                </a:lnTo>
                <a:lnTo>
                  <a:pt x="557144" y="643576"/>
                </a:lnTo>
                <a:lnTo>
                  <a:pt x="593321" y="608791"/>
                </a:lnTo>
                <a:lnTo>
                  <a:pt x="629369" y="573888"/>
                </a:lnTo>
                <a:lnTo>
                  <a:pt x="665286" y="538867"/>
                </a:lnTo>
                <a:lnTo>
                  <a:pt x="701069" y="503730"/>
                </a:lnTo>
                <a:lnTo>
                  <a:pt x="736718" y="468476"/>
                </a:lnTo>
                <a:lnTo>
                  <a:pt x="772231" y="433108"/>
                </a:lnTo>
                <a:lnTo>
                  <a:pt x="807607" y="397625"/>
                </a:lnTo>
                <a:lnTo>
                  <a:pt x="842843" y="362029"/>
                </a:lnTo>
                <a:lnTo>
                  <a:pt x="877938" y="326320"/>
                </a:lnTo>
                <a:lnTo>
                  <a:pt x="912891" y="290499"/>
                </a:lnTo>
                <a:lnTo>
                  <a:pt x="947700" y="254567"/>
                </a:lnTo>
                <a:lnTo>
                  <a:pt x="982363" y="218525"/>
                </a:lnTo>
                <a:lnTo>
                  <a:pt x="1016879" y="182373"/>
                </a:lnTo>
                <a:lnTo>
                  <a:pt x="1051246" y="146113"/>
                </a:lnTo>
                <a:lnTo>
                  <a:pt x="1085463" y="109744"/>
                </a:lnTo>
                <a:lnTo>
                  <a:pt x="1119528" y="73269"/>
                </a:lnTo>
                <a:lnTo>
                  <a:pt x="1153439" y="36687"/>
                </a:lnTo>
                <a:lnTo>
                  <a:pt x="1187196" y="0"/>
                </a:lnTo>
              </a:path>
              <a:path w="1187450" h="1150620" fill="norm" stroke="1" extrusionOk="0">
                <a:moveTo>
                  <a:pt x="307848" y="1150620"/>
                </a:moveTo>
                <a:lnTo>
                  <a:pt x="346881" y="1117670"/>
                </a:lnTo>
                <a:lnTo>
                  <a:pt x="385857" y="1084562"/>
                </a:lnTo>
                <a:lnTo>
                  <a:pt x="424773" y="1051296"/>
                </a:lnTo>
                <a:lnTo>
                  <a:pt x="463629" y="1017876"/>
                </a:lnTo>
                <a:lnTo>
                  <a:pt x="502420" y="984303"/>
                </a:lnTo>
                <a:lnTo>
                  <a:pt x="541146" y="950580"/>
                </a:lnTo>
                <a:lnTo>
                  <a:pt x="579803" y="916710"/>
                </a:lnTo>
                <a:lnTo>
                  <a:pt x="618390" y="882694"/>
                </a:lnTo>
                <a:lnTo>
                  <a:pt x="656904" y="848535"/>
                </a:lnTo>
                <a:lnTo>
                  <a:pt x="695343" y="814236"/>
                </a:lnTo>
                <a:lnTo>
                  <a:pt x="733704" y="779798"/>
                </a:lnTo>
                <a:lnTo>
                  <a:pt x="771986" y="745225"/>
                </a:lnTo>
                <a:lnTo>
                  <a:pt x="810187" y="710517"/>
                </a:lnTo>
                <a:lnTo>
                  <a:pt x="848303" y="675679"/>
                </a:lnTo>
                <a:lnTo>
                  <a:pt x="886333" y="640712"/>
                </a:lnTo>
                <a:lnTo>
                  <a:pt x="924274" y="605618"/>
                </a:lnTo>
                <a:lnTo>
                  <a:pt x="962125" y="570400"/>
                </a:lnTo>
                <a:lnTo>
                  <a:pt x="999883" y="535060"/>
                </a:lnTo>
                <a:lnTo>
                  <a:pt x="1037545" y="499601"/>
                </a:lnTo>
                <a:lnTo>
                  <a:pt x="1075110" y="464024"/>
                </a:lnTo>
                <a:lnTo>
                  <a:pt x="1112574" y="428333"/>
                </a:lnTo>
                <a:lnTo>
                  <a:pt x="1149937" y="392529"/>
                </a:lnTo>
                <a:lnTo>
                  <a:pt x="1187196" y="35661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23410333" name="bg object 24"/>
          <p:cNvSpPr/>
          <p:nvPr/>
        </p:nvSpPr>
        <p:spPr bwMode="auto">
          <a:xfrm>
            <a:off x="800100" y="1699260"/>
            <a:ext cx="3674745" cy="502920"/>
          </a:xfrm>
          <a:custGeom>
            <a:avLst/>
            <a:gdLst/>
            <a:ahLst/>
            <a:cxnLst/>
            <a:rect l="l" t="t" r="r" b="b"/>
            <a:pathLst>
              <a:path w="3674745" h="502919" fill="norm" stroke="1" extrusionOk="0">
                <a:moveTo>
                  <a:pt x="3674364" y="0"/>
                </a:moveTo>
                <a:lnTo>
                  <a:pt x="0" y="0"/>
                </a:lnTo>
                <a:lnTo>
                  <a:pt x="0" y="502920"/>
                </a:lnTo>
                <a:lnTo>
                  <a:pt x="3674364" y="502920"/>
                </a:lnTo>
                <a:lnTo>
                  <a:pt x="3674364" y="0"/>
                </a:lnTo>
                <a:close/>
              </a:path>
            </a:pathLst>
          </a:custGeom>
          <a:solidFill>
            <a:srgbClr val="539E3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83300727" name="bg object 25"/>
          <p:cNvSpPr/>
          <p:nvPr/>
        </p:nvSpPr>
        <p:spPr bwMode="auto">
          <a:xfrm>
            <a:off x="2482595" y="4898135"/>
            <a:ext cx="315595" cy="271780"/>
          </a:xfrm>
          <a:custGeom>
            <a:avLst/>
            <a:gdLst/>
            <a:ahLst/>
            <a:cxnLst/>
            <a:rect l="l" t="t" r="r" b="b"/>
            <a:pathLst>
              <a:path w="315594" h="271779" fill="norm" stroke="1" extrusionOk="0">
                <a:moveTo>
                  <a:pt x="315468" y="0"/>
                </a:moveTo>
                <a:lnTo>
                  <a:pt x="0" y="0"/>
                </a:lnTo>
                <a:lnTo>
                  <a:pt x="157734" y="271271"/>
                </a:lnTo>
                <a:lnTo>
                  <a:pt x="315468" y="0"/>
                </a:lnTo>
                <a:close/>
              </a:path>
            </a:pathLst>
          </a:custGeom>
          <a:solidFill>
            <a:srgbClr val="539E3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02991565" name="Holder 2"/>
          <p:cNvSpPr>
            <a:spLocks noGrp="1"/>
          </p:cNvSpPr>
          <p:nvPr>
            <p:ph type="title"/>
          </p:nvPr>
        </p:nvSpPr>
        <p:spPr bwMode="auto">
          <a:xfrm>
            <a:off x="8550909" y="288163"/>
            <a:ext cx="2342388" cy="7654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52017730" name="Holder 3"/>
          <p:cNvSpPr>
            <a:spLocks noGrp="1"/>
          </p:cNvSpPr>
          <p:nvPr>
            <p:ph type="body" idx="1"/>
          </p:nvPr>
        </p:nvSpPr>
        <p:spPr bwMode="auto">
          <a:xfrm>
            <a:off x="1668779" y="1991867"/>
            <a:ext cx="8854440" cy="3321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698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1510708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131381233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62543981" name="object 2"/>
          <p:cNvGrpSpPr/>
          <p:nvPr/>
        </p:nvGrpSpPr>
        <p:grpSpPr bwMode="auto">
          <a:xfrm>
            <a:off x="-7874" y="-7874"/>
            <a:ext cx="12198985" cy="6872605"/>
            <a:chOff x="-7874" y="-7874"/>
            <a:chExt cx="12198985" cy="6872605"/>
          </a:xfrm>
        </p:grpSpPr>
        <p:pic>
          <p:nvPicPr>
            <p:cNvPr id="3" name="object 3"/>
            <p:cNvPicPr/>
            <p:nvPr/>
          </p:nvPicPr>
          <p:blipFill>
            <a:blip r:embed="rId3"/>
            <a:stretch/>
          </p:blipFill>
          <p:spPr bwMode="auto">
            <a:xfrm>
              <a:off x="-7874" y="-7874"/>
              <a:ext cx="12198540" cy="68722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5891784" y="5312664"/>
              <a:ext cx="408940" cy="352425"/>
            </a:xfrm>
            <a:custGeom>
              <a:avLst/>
              <a:gdLst/>
              <a:ahLst/>
              <a:cxnLst/>
              <a:rect l="l" t="t" r="r" b="b"/>
              <a:pathLst>
                <a:path w="408939" h="352425" fill="norm" stroke="1" extrusionOk="0">
                  <a:moveTo>
                    <a:pt x="408431" y="0"/>
                  </a:moveTo>
                  <a:lnTo>
                    <a:pt x="0" y="0"/>
                  </a:lnTo>
                  <a:lnTo>
                    <a:pt x="204215" y="352044"/>
                  </a:lnTo>
                  <a:lnTo>
                    <a:pt x="408431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789933037" name="object 5"/>
          <p:cNvSpPr txBox="1"/>
          <p:nvPr/>
        </p:nvSpPr>
        <p:spPr bwMode="auto">
          <a:xfrm>
            <a:off x="1668779" y="1991867"/>
            <a:ext cx="8846820" cy="2510944"/>
          </a:xfrm>
          <a:prstGeom prst="rect">
            <a:avLst/>
          </a:prstGeom>
          <a:solidFill>
            <a:srgbClr val="539E39"/>
          </a:solidFill>
        </p:spPr>
        <p:txBody>
          <a:bodyPr vert="horz" wrap="square" lIns="0" tIns="1778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defRPr/>
            </a:pPr>
            <a:endParaRPr sz="5400">
              <a:latin typeface="Times New Roman"/>
              <a:cs typeface="Times New Roman"/>
            </a:endParaRPr>
          </a:p>
          <a:p>
            <a:pPr marL="33020" algn="ctr">
              <a:lnSpc>
                <a:spcPct val="100000"/>
              </a:lnSpc>
              <a:defRPr/>
            </a:pPr>
            <a:r>
              <a:rPr sz="5400" spc="-125">
                <a:solidFill>
                  <a:srgbClr val="FFFDFF"/>
                </a:solidFill>
                <a:latin typeface="Carlito"/>
                <a:cs typeface="Carlito"/>
              </a:rPr>
              <a:t>Polymorphism</a:t>
            </a:r>
            <a:endParaRPr sz="5400">
              <a:latin typeface="Carlito"/>
              <a:cs typeface="Carlito"/>
            </a:endParaRPr>
          </a:p>
          <a:p>
            <a:pPr marL="8890" algn="ctr">
              <a:lnSpc>
                <a:spcPct val="100000"/>
              </a:lnSpc>
              <a:spcBef>
                <a:spcPts val="930"/>
              </a:spcBef>
              <a:defRPr/>
            </a:pPr>
            <a:r>
              <a:rPr sz="1800">
                <a:solidFill>
                  <a:srgbClr val="FFFDFF"/>
                </a:solidFill>
                <a:latin typeface="Georgia"/>
                <a:cs typeface="Georgia"/>
              </a:rPr>
              <a:t>Lecture</a:t>
            </a:r>
            <a:r>
              <a:rPr sz="1800" spc="120">
                <a:solidFill>
                  <a:srgbClr val="FFFDFF"/>
                </a:solidFill>
                <a:latin typeface="Georgia"/>
                <a:cs typeface="Georgia"/>
              </a:rPr>
              <a:t> </a:t>
            </a:r>
            <a:r>
              <a:rPr sz="1800" spc="85">
                <a:solidFill>
                  <a:srgbClr val="FFFDFF"/>
                </a:solidFill>
                <a:latin typeface="Georgia"/>
                <a:cs typeface="Georgia"/>
              </a:rPr>
              <a:t>13</a:t>
            </a:r>
            <a:r>
              <a:rPr sz="1800" spc="110">
                <a:solidFill>
                  <a:srgbClr val="FFFDFF"/>
                </a:solidFill>
                <a:latin typeface="Georgia"/>
                <a:cs typeface="Georgia"/>
              </a:rPr>
              <a:t> </a:t>
            </a:r>
            <a:endParaRPr lang="en-US" sz="1800">
              <a:latin typeface="Georgia"/>
              <a:cs typeface="Georgia"/>
            </a:endParaRPr>
          </a:p>
          <a:p>
            <a:pPr>
              <a:lnSpc>
                <a:spcPct val="100000"/>
              </a:lnSpc>
              <a:defRPr/>
            </a:pPr>
            <a:endParaRPr lang="en-US" sz="1800">
              <a:latin typeface="Georgia"/>
              <a:cs typeface="Georgia"/>
            </a:endParaRPr>
          </a:p>
        </p:txBody>
      </p:sp>
      <p:sp>
        <p:nvSpPr>
          <p:cNvPr id="1096111832" name="object 6"/>
          <p:cNvSpPr txBox="1">
            <a:spLocks noGrp="1"/>
          </p:cNvSpPr>
          <p:nvPr>
            <p:ph type="title"/>
          </p:nvPr>
        </p:nvSpPr>
        <p:spPr bwMode="auto">
          <a:xfrm>
            <a:off x="1673351" y="1187196"/>
            <a:ext cx="8844280" cy="576439"/>
          </a:xfrm>
          <a:prstGeom prst="rect">
            <a:avLst/>
          </a:prstGeom>
          <a:solidFill>
            <a:srgbClr val="539E39"/>
          </a:solidFill>
        </p:spPr>
        <p:txBody>
          <a:bodyPr vert="horz" wrap="square" lIns="0" tIns="174625" rIns="0" bIns="0" rtlCol="0">
            <a:spAutoFit/>
          </a:bodyPr>
          <a:lstStyle/>
          <a:p>
            <a:pPr marL="14604" algn="ctr">
              <a:lnSpc>
                <a:spcPct val="100000"/>
              </a:lnSpc>
              <a:spcBef>
                <a:spcPts val="1375"/>
              </a:spcBef>
              <a:defRPr/>
            </a:pPr>
            <a:r>
              <a:rPr sz="2600" b="0" spc="-55">
                <a:solidFill>
                  <a:srgbClr val="FFFDFF"/>
                </a:solidFill>
                <a:latin typeface="Georgia"/>
                <a:cs typeface="Georgia"/>
              </a:rPr>
              <a:t>Object</a:t>
            </a:r>
            <a:r>
              <a:rPr sz="2600" b="0" spc="-175">
                <a:solidFill>
                  <a:srgbClr val="FFFDFF"/>
                </a:solidFill>
                <a:latin typeface="Georgia"/>
                <a:cs typeface="Georgia"/>
              </a:rPr>
              <a:t> </a:t>
            </a:r>
            <a:r>
              <a:rPr sz="2600" b="0" spc="-70">
                <a:solidFill>
                  <a:srgbClr val="FFFDFF"/>
                </a:solidFill>
                <a:latin typeface="Georgia"/>
                <a:cs typeface="Georgia"/>
              </a:rPr>
              <a:t>Oriented</a:t>
            </a:r>
            <a:r>
              <a:rPr sz="2600" b="0" spc="-135">
                <a:solidFill>
                  <a:srgbClr val="FFFDFF"/>
                </a:solidFill>
                <a:latin typeface="Georgia"/>
                <a:cs typeface="Georgia"/>
              </a:rPr>
              <a:t> </a:t>
            </a:r>
            <a:r>
              <a:rPr sz="2600" b="0" spc="-10">
                <a:solidFill>
                  <a:srgbClr val="FFFDFF"/>
                </a:solidFill>
                <a:latin typeface="Georgia"/>
                <a:cs typeface="Georgia"/>
              </a:rPr>
              <a:t>Programming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10896" name="object 2"/>
          <p:cNvSpPr txBox="1"/>
          <p:nvPr/>
        </p:nvSpPr>
        <p:spPr bwMode="auto">
          <a:xfrm>
            <a:off x="806195" y="2275332"/>
            <a:ext cx="3668395" cy="2624455"/>
          </a:xfrm>
          <a:prstGeom prst="rect">
            <a:avLst/>
          </a:prstGeom>
          <a:solidFill>
            <a:srgbClr val="539E39"/>
          </a:solidFill>
        </p:spPr>
        <p:txBody>
          <a:bodyPr vert="horz" wrap="square" lIns="0" tIns="3384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65"/>
              </a:spcBef>
              <a:defRPr/>
            </a:pPr>
            <a:endParaRPr sz="4000">
              <a:latin typeface="Times New Roman"/>
              <a:cs typeface="Times New Roman"/>
            </a:endParaRPr>
          </a:p>
          <a:p>
            <a:pPr marL="11430" algn="ctr">
              <a:lnSpc>
                <a:spcPct val="100000"/>
              </a:lnSpc>
              <a:defRPr/>
            </a:pPr>
            <a:r>
              <a:rPr sz="4000" spc="-100">
                <a:solidFill>
                  <a:srgbClr val="FFFDFF"/>
                </a:solidFill>
                <a:latin typeface="Carlito"/>
                <a:cs typeface="Carlito"/>
              </a:rPr>
              <a:t>Polymorphism</a:t>
            </a:r>
            <a:endParaRPr sz="4000">
              <a:latin typeface="Carlito"/>
              <a:cs typeface="Carlito"/>
            </a:endParaRPr>
          </a:p>
        </p:txBody>
      </p:sp>
      <p:sp>
        <p:nvSpPr>
          <p:cNvPr id="167621318" name="object 3"/>
          <p:cNvSpPr txBox="1"/>
          <p:nvPr/>
        </p:nvSpPr>
        <p:spPr bwMode="auto">
          <a:xfrm>
            <a:off x="5197855" y="2735071"/>
            <a:ext cx="5970270" cy="1342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20000"/>
              </a:lnSpc>
              <a:spcBef>
                <a:spcPts val="100"/>
              </a:spcBef>
              <a:buClr>
                <a:srgbClr val="539E39"/>
              </a:buClr>
              <a:buSzPct val="108333"/>
              <a:buFont typeface="Wingdings"/>
              <a:buChar char=""/>
              <a:tabLst>
                <a:tab pos="241300" algn="l"/>
              </a:tabLst>
              <a:defRPr/>
            </a:pPr>
            <a:r>
              <a:rPr sz="1800">
                <a:latin typeface="Georgia"/>
                <a:cs typeface="Georgia"/>
              </a:rPr>
              <a:t>Polymorphism</a:t>
            </a:r>
            <a:r>
              <a:rPr sz="1800" spc="5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is</a:t>
            </a:r>
            <a:r>
              <a:rPr sz="1800" spc="3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an</a:t>
            </a:r>
            <a:r>
              <a:rPr sz="1800" spc="5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important</a:t>
            </a:r>
            <a:r>
              <a:rPr sz="1800" spc="25">
                <a:latin typeface="Georgia"/>
                <a:cs typeface="Georgia"/>
              </a:rPr>
              <a:t> </a:t>
            </a:r>
            <a:r>
              <a:rPr sz="1800" spc="60">
                <a:latin typeface="Georgia"/>
                <a:cs typeface="Georgia"/>
              </a:rPr>
              <a:t>concept </a:t>
            </a:r>
            <a:r>
              <a:rPr sz="1800">
                <a:latin typeface="Georgia"/>
                <a:cs typeface="Georgia"/>
              </a:rPr>
              <a:t>of</a:t>
            </a:r>
            <a:r>
              <a:rPr sz="1800" spc="50">
                <a:latin typeface="Georgia"/>
                <a:cs typeface="Georgia"/>
              </a:rPr>
              <a:t> </a:t>
            </a:r>
            <a:r>
              <a:rPr sz="1800" spc="40">
                <a:latin typeface="Georgia"/>
                <a:cs typeface="Georgia"/>
              </a:rPr>
              <a:t>object- </a:t>
            </a:r>
            <a:r>
              <a:rPr sz="1800">
                <a:latin typeface="Georgia"/>
                <a:cs typeface="Georgia"/>
              </a:rPr>
              <a:t>oriented</a:t>
            </a:r>
            <a:r>
              <a:rPr sz="1800" spc="19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programming.</a:t>
            </a:r>
            <a:r>
              <a:rPr sz="1800" spc="-35">
                <a:latin typeface="Georgia"/>
                <a:cs typeface="Georgia"/>
              </a:rPr>
              <a:t> </a:t>
            </a:r>
            <a:r>
              <a:rPr sz="1800" spc="-114">
                <a:latin typeface="Georgia"/>
                <a:cs typeface="Georgia"/>
              </a:rPr>
              <a:t>It</a:t>
            </a:r>
            <a:r>
              <a:rPr sz="1800" spc="17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simply</a:t>
            </a:r>
            <a:r>
              <a:rPr sz="1800" spc="17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means</a:t>
            </a:r>
            <a:r>
              <a:rPr sz="1800" spc="19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more</a:t>
            </a:r>
            <a:r>
              <a:rPr sz="1800" spc="190">
                <a:latin typeface="Georgia"/>
                <a:cs typeface="Georgia"/>
              </a:rPr>
              <a:t> </a:t>
            </a:r>
            <a:r>
              <a:rPr sz="1800" spc="-10">
                <a:latin typeface="Georgia"/>
                <a:cs typeface="Georgia"/>
              </a:rPr>
              <a:t>than</a:t>
            </a:r>
            <a:r>
              <a:rPr sz="1800" spc="185">
                <a:latin typeface="Georgia"/>
                <a:cs typeface="Georgia"/>
              </a:rPr>
              <a:t> </a:t>
            </a:r>
            <a:r>
              <a:rPr sz="1800" spc="25">
                <a:latin typeface="Georgia"/>
                <a:cs typeface="Georgia"/>
              </a:rPr>
              <a:t>one </a:t>
            </a:r>
            <a:r>
              <a:rPr sz="1800">
                <a:latin typeface="Georgia"/>
                <a:cs typeface="Georgia"/>
              </a:rPr>
              <a:t>form.</a:t>
            </a:r>
            <a:r>
              <a:rPr sz="1800" spc="-204">
                <a:latin typeface="Georgia"/>
                <a:cs typeface="Georgia"/>
              </a:rPr>
              <a:t> </a:t>
            </a:r>
            <a:r>
              <a:rPr sz="1800" spc="-10">
                <a:latin typeface="Georgia"/>
                <a:cs typeface="Georgia"/>
              </a:rPr>
              <a:t>That</a:t>
            </a:r>
            <a:r>
              <a:rPr sz="1800" spc="2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is,</a:t>
            </a:r>
            <a:r>
              <a:rPr sz="1800" spc="-13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the</a:t>
            </a:r>
            <a:r>
              <a:rPr sz="1800" spc="20">
                <a:latin typeface="Georgia"/>
                <a:cs typeface="Georgia"/>
              </a:rPr>
              <a:t> </a:t>
            </a:r>
            <a:r>
              <a:rPr sz="1800" spc="50">
                <a:latin typeface="Georgia"/>
                <a:cs typeface="Georgia"/>
              </a:rPr>
              <a:t>same</a:t>
            </a:r>
            <a:r>
              <a:rPr sz="1800" spc="1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entity</a:t>
            </a:r>
            <a:r>
              <a:rPr sz="1800" spc="1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(function</a:t>
            </a:r>
            <a:r>
              <a:rPr sz="1800" spc="3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or</a:t>
            </a:r>
            <a:r>
              <a:rPr sz="1800" spc="15">
                <a:latin typeface="Georgia"/>
                <a:cs typeface="Georgia"/>
              </a:rPr>
              <a:t> </a:t>
            </a:r>
            <a:r>
              <a:rPr sz="1800" spc="-10">
                <a:latin typeface="Georgia"/>
                <a:cs typeface="Georgia"/>
              </a:rPr>
              <a:t>operator) </a:t>
            </a:r>
            <a:r>
              <a:rPr sz="1800" spc="70">
                <a:latin typeface="Georgia"/>
                <a:cs typeface="Georgia"/>
              </a:rPr>
              <a:t>behaves</a:t>
            </a:r>
            <a:r>
              <a:rPr sz="1800" spc="9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differently</a:t>
            </a:r>
            <a:r>
              <a:rPr sz="1800" spc="8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in</a:t>
            </a:r>
            <a:r>
              <a:rPr sz="1800" spc="9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different</a:t>
            </a:r>
            <a:r>
              <a:rPr sz="1800" spc="80">
                <a:latin typeface="Georgia"/>
                <a:cs typeface="Georgia"/>
              </a:rPr>
              <a:t> </a:t>
            </a:r>
            <a:r>
              <a:rPr sz="1800" spc="-10">
                <a:latin typeface="Georgia"/>
                <a:cs typeface="Georgia"/>
              </a:rPr>
              <a:t>scenarios.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9784302" name="object 2"/>
          <p:cNvPicPr/>
          <p:nvPr/>
        </p:nvPicPr>
        <p:blipFill>
          <a:blip r:embed="rId3"/>
          <a:stretch/>
        </p:blipFill>
        <p:spPr bwMode="auto">
          <a:xfrm>
            <a:off x="1743455" y="626363"/>
            <a:ext cx="7655052" cy="4777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6600496" name="object 2"/>
          <p:cNvSpPr txBox="1"/>
          <p:nvPr/>
        </p:nvSpPr>
        <p:spPr bwMode="auto">
          <a:xfrm>
            <a:off x="806195" y="2275332"/>
            <a:ext cx="3668395" cy="2624455"/>
          </a:xfrm>
          <a:prstGeom prst="rect">
            <a:avLst/>
          </a:prstGeom>
          <a:solidFill>
            <a:srgbClr val="539E39"/>
          </a:solidFill>
        </p:spPr>
        <p:txBody>
          <a:bodyPr vert="horz" wrap="square" lIns="0" tIns="1727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60"/>
              </a:spcBef>
              <a:defRPr/>
            </a:pPr>
            <a:endParaRPr sz="4000">
              <a:latin typeface="Times New Roman"/>
              <a:cs typeface="Times New Roman"/>
            </a:endParaRPr>
          </a:p>
          <a:p>
            <a:pPr marL="471170" marR="448945" indent="111125">
              <a:lnSpc>
                <a:spcPts val="4079"/>
              </a:lnSpc>
              <a:defRPr/>
            </a:pPr>
            <a:r>
              <a:rPr sz="4000" spc="-165">
                <a:solidFill>
                  <a:srgbClr val="FFFDFF"/>
                </a:solidFill>
                <a:latin typeface="Carlito"/>
                <a:cs typeface="Carlito"/>
              </a:rPr>
              <a:t>Compile</a:t>
            </a:r>
            <a:r>
              <a:rPr sz="4000" spc="-285">
                <a:solidFill>
                  <a:srgbClr val="FFFDFF"/>
                </a:solidFill>
                <a:latin typeface="Carlito"/>
                <a:cs typeface="Carlito"/>
              </a:rPr>
              <a:t> </a:t>
            </a:r>
            <a:r>
              <a:rPr sz="4000" spc="-20">
                <a:solidFill>
                  <a:srgbClr val="FFFDFF"/>
                </a:solidFill>
                <a:latin typeface="Carlito"/>
                <a:cs typeface="Carlito"/>
              </a:rPr>
              <a:t>time </a:t>
            </a:r>
            <a:r>
              <a:rPr sz="4000" spc="-175">
                <a:solidFill>
                  <a:srgbClr val="FFFDFF"/>
                </a:solidFill>
                <a:latin typeface="Carlito"/>
                <a:cs typeface="Carlito"/>
              </a:rPr>
              <a:t>polymorphism</a:t>
            </a:r>
            <a:endParaRPr sz="4000">
              <a:latin typeface="Carlito"/>
              <a:cs typeface="Carlito"/>
            </a:endParaRPr>
          </a:p>
        </p:txBody>
      </p:sp>
      <p:sp>
        <p:nvSpPr>
          <p:cNvPr id="1552992823" name="object 3"/>
          <p:cNvSpPr txBox="1"/>
          <p:nvPr/>
        </p:nvSpPr>
        <p:spPr bwMode="auto">
          <a:xfrm>
            <a:off x="5197855" y="1949576"/>
            <a:ext cx="5954395" cy="2914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20000"/>
              </a:lnSpc>
              <a:spcBef>
                <a:spcPts val="100"/>
              </a:spcBef>
              <a:buClr>
                <a:srgbClr val="539E39"/>
              </a:buClr>
              <a:buSzPct val="108333"/>
              <a:buFont typeface="Wingdings"/>
              <a:buChar char=""/>
              <a:tabLst>
                <a:tab pos="241300" algn="l"/>
              </a:tabLst>
              <a:defRPr/>
            </a:pPr>
            <a:r>
              <a:rPr sz="1800">
                <a:latin typeface="Georgia"/>
                <a:cs typeface="Georgia"/>
              </a:rPr>
              <a:t>The</a:t>
            </a:r>
            <a:r>
              <a:rPr sz="1800" spc="114">
                <a:latin typeface="Georgia"/>
                <a:cs typeface="Georgia"/>
              </a:rPr>
              <a:t> </a:t>
            </a:r>
            <a:r>
              <a:rPr sz="1800" spc="50">
                <a:latin typeface="Georgia"/>
                <a:cs typeface="Georgia"/>
              </a:rPr>
              <a:t>overloaded</a:t>
            </a:r>
            <a:r>
              <a:rPr sz="1800" spc="10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functions</a:t>
            </a:r>
            <a:r>
              <a:rPr sz="1800" spc="10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are</a:t>
            </a:r>
            <a:r>
              <a:rPr sz="1800" spc="7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invoked</a:t>
            </a:r>
            <a:r>
              <a:rPr sz="1800" spc="125">
                <a:latin typeface="Georgia"/>
                <a:cs typeface="Georgia"/>
              </a:rPr>
              <a:t> </a:t>
            </a:r>
            <a:r>
              <a:rPr sz="1800" spc="95">
                <a:latin typeface="Georgia"/>
                <a:cs typeface="Georgia"/>
              </a:rPr>
              <a:t>by</a:t>
            </a:r>
            <a:r>
              <a:rPr sz="1800" spc="9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matching</a:t>
            </a:r>
            <a:r>
              <a:rPr sz="1800" spc="100">
                <a:latin typeface="Georgia"/>
                <a:cs typeface="Georgia"/>
              </a:rPr>
              <a:t> </a:t>
            </a:r>
            <a:r>
              <a:rPr sz="1800" spc="-25">
                <a:latin typeface="Georgia"/>
                <a:cs typeface="Georgia"/>
              </a:rPr>
              <a:t>the </a:t>
            </a:r>
            <a:r>
              <a:rPr sz="1800" spc="65">
                <a:latin typeface="Georgia"/>
                <a:cs typeface="Georgia"/>
              </a:rPr>
              <a:t>type</a:t>
            </a:r>
            <a:r>
              <a:rPr sz="1800" spc="8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and</a:t>
            </a:r>
            <a:r>
              <a:rPr sz="1800" spc="7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number</a:t>
            </a:r>
            <a:r>
              <a:rPr sz="1800" spc="8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of</a:t>
            </a:r>
            <a:r>
              <a:rPr sz="1800" spc="75">
                <a:latin typeface="Georgia"/>
                <a:cs typeface="Georgia"/>
              </a:rPr>
              <a:t> </a:t>
            </a:r>
            <a:r>
              <a:rPr sz="1800" spc="-10">
                <a:latin typeface="Georgia"/>
                <a:cs typeface="Georgia"/>
              </a:rPr>
              <a:t>arguments.</a:t>
            </a:r>
            <a:endParaRPr sz="1800">
              <a:latin typeface="Georgia"/>
              <a:cs typeface="Georgia"/>
            </a:endParaRPr>
          </a:p>
          <a:p>
            <a:pPr marL="241300" marR="51435" indent="-228600">
              <a:lnSpc>
                <a:spcPct val="120100"/>
              </a:lnSpc>
              <a:spcBef>
                <a:spcPts val="990"/>
              </a:spcBef>
              <a:buClr>
                <a:srgbClr val="539E39"/>
              </a:buClr>
              <a:buSzPct val="108333"/>
              <a:buFont typeface="Wingdings"/>
              <a:buChar char=""/>
              <a:tabLst>
                <a:tab pos="241300" algn="l"/>
              </a:tabLst>
              <a:defRPr/>
            </a:pPr>
            <a:r>
              <a:rPr sz="1800">
                <a:latin typeface="Georgia"/>
                <a:cs typeface="Georgia"/>
              </a:rPr>
              <a:t>This</a:t>
            </a:r>
            <a:r>
              <a:rPr sz="1800" spc="1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information</a:t>
            </a:r>
            <a:r>
              <a:rPr sz="1800" spc="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is</a:t>
            </a:r>
            <a:r>
              <a:rPr sz="1800" spc="5">
                <a:latin typeface="Georgia"/>
                <a:cs typeface="Georgia"/>
              </a:rPr>
              <a:t> </a:t>
            </a:r>
            <a:r>
              <a:rPr sz="1800" spc="45">
                <a:latin typeface="Georgia"/>
                <a:cs typeface="Georgia"/>
              </a:rPr>
              <a:t>available</a:t>
            </a:r>
            <a:r>
              <a:rPr sz="1800" spc="-2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at</a:t>
            </a:r>
            <a:r>
              <a:rPr sz="1800" spc="-1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the</a:t>
            </a:r>
            <a:r>
              <a:rPr sz="1800" spc="20">
                <a:latin typeface="Georgia"/>
                <a:cs typeface="Georgia"/>
              </a:rPr>
              <a:t> </a:t>
            </a:r>
            <a:r>
              <a:rPr sz="1800" spc="55">
                <a:latin typeface="Georgia"/>
                <a:cs typeface="Georgia"/>
              </a:rPr>
              <a:t>compile</a:t>
            </a:r>
            <a:r>
              <a:rPr sz="1800" spc="1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time</a:t>
            </a:r>
            <a:r>
              <a:rPr sz="1800" spc="10">
                <a:latin typeface="Georgia"/>
                <a:cs typeface="Georgia"/>
              </a:rPr>
              <a:t> </a:t>
            </a:r>
            <a:r>
              <a:rPr sz="1800" spc="-20">
                <a:latin typeface="Georgia"/>
                <a:cs typeface="Georgia"/>
              </a:rPr>
              <a:t>and, </a:t>
            </a:r>
            <a:r>
              <a:rPr sz="1800" spc="10">
                <a:latin typeface="Georgia"/>
                <a:cs typeface="Georgia"/>
              </a:rPr>
              <a:t>therefore,</a:t>
            </a:r>
            <a:r>
              <a:rPr sz="1800" spc="-90">
                <a:latin typeface="Georgia"/>
                <a:cs typeface="Georgia"/>
              </a:rPr>
              <a:t> </a:t>
            </a:r>
            <a:r>
              <a:rPr sz="1800" spc="50">
                <a:latin typeface="Georgia"/>
                <a:cs typeface="Georgia"/>
              </a:rPr>
              <a:t>compiler</a:t>
            </a:r>
            <a:r>
              <a:rPr sz="1800" spc="95">
                <a:latin typeface="Georgia"/>
                <a:cs typeface="Georgia"/>
              </a:rPr>
              <a:t> </a:t>
            </a:r>
            <a:r>
              <a:rPr sz="1800" spc="65">
                <a:latin typeface="Georgia"/>
                <a:cs typeface="Georgia"/>
              </a:rPr>
              <a:t>selects</a:t>
            </a:r>
            <a:r>
              <a:rPr sz="1800" spc="85">
                <a:latin typeface="Georgia"/>
                <a:cs typeface="Georgia"/>
              </a:rPr>
              <a:t> </a:t>
            </a:r>
            <a:r>
              <a:rPr sz="1800" spc="10">
                <a:latin typeface="Georgia"/>
                <a:cs typeface="Georgia"/>
              </a:rPr>
              <a:t>the</a:t>
            </a:r>
            <a:r>
              <a:rPr sz="1800" spc="85">
                <a:latin typeface="Georgia"/>
                <a:cs typeface="Georgia"/>
              </a:rPr>
              <a:t> </a:t>
            </a:r>
            <a:r>
              <a:rPr sz="1800" spc="10">
                <a:latin typeface="Georgia"/>
                <a:cs typeface="Georgia"/>
              </a:rPr>
              <a:t>appropriate</a:t>
            </a:r>
            <a:r>
              <a:rPr sz="1800" spc="5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function</a:t>
            </a:r>
            <a:r>
              <a:rPr sz="1800" spc="105">
                <a:latin typeface="Georgia"/>
                <a:cs typeface="Georgia"/>
              </a:rPr>
              <a:t> </a:t>
            </a:r>
            <a:r>
              <a:rPr sz="1800" spc="-25">
                <a:latin typeface="Georgia"/>
                <a:cs typeface="Georgia"/>
              </a:rPr>
              <a:t>at </a:t>
            </a:r>
            <a:r>
              <a:rPr sz="1800">
                <a:latin typeface="Georgia"/>
                <a:cs typeface="Georgia"/>
              </a:rPr>
              <a:t>the</a:t>
            </a:r>
            <a:r>
              <a:rPr sz="1800" spc="50">
                <a:latin typeface="Georgia"/>
                <a:cs typeface="Georgia"/>
              </a:rPr>
              <a:t> compile</a:t>
            </a:r>
            <a:r>
              <a:rPr sz="1800" spc="55">
                <a:latin typeface="Georgia"/>
                <a:cs typeface="Georgia"/>
              </a:rPr>
              <a:t> </a:t>
            </a:r>
            <a:r>
              <a:rPr sz="1800" spc="-10">
                <a:latin typeface="Georgia"/>
                <a:cs typeface="Georgia"/>
              </a:rPr>
              <a:t>time.</a:t>
            </a:r>
            <a:endParaRPr sz="1800">
              <a:latin typeface="Georgia"/>
              <a:cs typeface="Georgia"/>
            </a:endParaRPr>
          </a:p>
          <a:p>
            <a:pPr marL="241300" marR="244475" indent="-228600">
              <a:lnSpc>
                <a:spcPct val="120000"/>
              </a:lnSpc>
              <a:spcBef>
                <a:spcPts val="1010"/>
              </a:spcBef>
              <a:buClr>
                <a:srgbClr val="539E39"/>
              </a:buClr>
              <a:buSzPct val="108333"/>
              <a:buFont typeface="Wingdings"/>
              <a:buChar char=""/>
              <a:tabLst>
                <a:tab pos="241300" algn="l"/>
              </a:tabLst>
              <a:defRPr/>
            </a:pPr>
            <a:r>
              <a:rPr sz="1800" spc="-114">
                <a:latin typeface="Georgia"/>
                <a:cs typeface="Georgia"/>
              </a:rPr>
              <a:t>It</a:t>
            </a:r>
            <a:r>
              <a:rPr sz="1800" spc="8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is</a:t>
            </a:r>
            <a:r>
              <a:rPr sz="1800" spc="90">
                <a:latin typeface="Georgia"/>
                <a:cs typeface="Georgia"/>
              </a:rPr>
              <a:t> </a:t>
            </a:r>
            <a:r>
              <a:rPr sz="1800" spc="55">
                <a:latin typeface="Georgia"/>
                <a:cs typeface="Georgia"/>
              </a:rPr>
              <a:t>achieved</a:t>
            </a:r>
            <a:r>
              <a:rPr sz="1800" spc="100">
                <a:latin typeface="Georgia"/>
                <a:cs typeface="Georgia"/>
              </a:rPr>
              <a:t> </a:t>
            </a:r>
            <a:r>
              <a:rPr sz="1800" spc="95">
                <a:latin typeface="Georgia"/>
                <a:cs typeface="Georgia"/>
              </a:rPr>
              <a:t>by</a:t>
            </a:r>
            <a:r>
              <a:rPr sz="1800" spc="8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function</a:t>
            </a:r>
            <a:r>
              <a:rPr sz="1800" spc="10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overloading</a:t>
            </a:r>
            <a:r>
              <a:rPr sz="1800" spc="10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and</a:t>
            </a:r>
            <a:r>
              <a:rPr sz="1800" spc="95">
                <a:latin typeface="Georgia"/>
                <a:cs typeface="Georgia"/>
              </a:rPr>
              <a:t> </a:t>
            </a:r>
            <a:r>
              <a:rPr sz="1800" spc="-10">
                <a:latin typeface="Georgia"/>
                <a:cs typeface="Georgia"/>
              </a:rPr>
              <a:t>operator </a:t>
            </a:r>
            <a:r>
              <a:rPr sz="1800" spc="10">
                <a:latin typeface="Georgia"/>
                <a:cs typeface="Georgia"/>
              </a:rPr>
              <a:t>overloading</a:t>
            </a:r>
            <a:r>
              <a:rPr sz="1800" spc="80">
                <a:latin typeface="Georgia"/>
                <a:cs typeface="Georgia"/>
              </a:rPr>
              <a:t> </a:t>
            </a:r>
            <a:r>
              <a:rPr sz="1800" spc="10">
                <a:latin typeface="Georgia"/>
                <a:cs typeface="Georgia"/>
              </a:rPr>
              <a:t>which</a:t>
            </a:r>
            <a:r>
              <a:rPr sz="1800" spc="85">
                <a:latin typeface="Georgia"/>
                <a:cs typeface="Georgia"/>
              </a:rPr>
              <a:t> </a:t>
            </a:r>
            <a:r>
              <a:rPr sz="1800" spc="10">
                <a:latin typeface="Georgia"/>
                <a:cs typeface="Georgia"/>
              </a:rPr>
              <a:t>is</a:t>
            </a:r>
            <a:r>
              <a:rPr sz="1800" spc="75">
                <a:latin typeface="Georgia"/>
                <a:cs typeface="Georgia"/>
              </a:rPr>
              <a:t> </a:t>
            </a:r>
            <a:r>
              <a:rPr sz="1800" spc="10">
                <a:latin typeface="Georgia"/>
                <a:cs typeface="Georgia"/>
              </a:rPr>
              <a:t>also</a:t>
            </a:r>
            <a:r>
              <a:rPr sz="1800" spc="85">
                <a:latin typeface="Georgia"/>
                <a:cs typeface="Georgia"/>
              </a:rPr>
              <a:t> </a:t>
            </a:r>
            <a:r>
              <a:rPr sz="1800" spc="10">
                <a:latin typeface="Georgia"/>
                <a:cs typeface="Georgia"/>
              </a:rPr>
              <a:t>known</a:t>
            </a:r>
            <a:r>
              <a:rPr sz="1800" spc="105">
                <a:latin typeface="Georgia"/>
                <a:cs typeface="Georgia"/>
              </a:rPr>
              <a:t> </a:t>
            </a:r>
            <a:r>
              <a:rPr sz="1800" spc="10">
                <a:latin typeface="Georgia"/>
                <a:cs typeface="Georgia"/>
              </a:rPr>
              <a:t>as</a:t>
            </a:r>
            <a:r>
              <a:rPr sz="1800" spc="80">
                <a:latin typeface="Georgia"/>
                <a:cs typeface="Georgia"/>
              </a:rPr>
              <a:t> </a:t>
            </a:r>
            <a:r>
              <a:rPr sz="1800" spc="10">
                <a:latin typeface="Georgia"/>
                <a:cs typeface="Georgia"/>
              </a:rPr>
              <a:t>static</a:t>
            </a:r>
            <a:r>
              <a:rPr sz="1800" spc="60">
                <a:latin typeface="Georgia"/>
                <a:cs typeface="Georgia"/>
              </a:rPr>
              <a:t> </a:t>
            </a:r>
            <a:r>
              <a:rPr sz="1800" spc="50">
                <a:latin typeface="Georgia"/>
                <a:cs typeface="Georgia"/>
              </a:rPr>
              <a:t>binding</a:t>
            </a:r>
            <a:r>
              <a:rPr sz="1800" spc="75">
                <a:latin typeface="Georgia"/>
                <a:cs typeface="Georgia"/>
              </a:rPr>
              <a:t> </a:t>
            </a:r>
            <a:r>
              <a:rPr sz="1800" spc="-25">
                <a:latin typeface="Georgia"/>
                <a:cs typeface="Georgia"/>
              </a:rPr>
              <a:t>or </a:t>
            </a:r>
            <a:r>
              <a:rPr sz="1800" spc="50">
                <a:latin typeface="Georgia"/>
                <a:cs typeface="Georgia"/>
              </a:rPr>
              <a:t>early</a:t>
            </a:r>
            <a:r>
              <a:rPr sz="1800" spc="20">
                <a:latin typeface="Georgia"/>
                <a:cs typeface="Georgia"/>
              </a:rPr>
              <a:t> </a:t>
            </a:r>
            <a:r>
              <a:rPr sz="1800" spc="-10">
                <a:latin typeface="Georgia"/>
                <a:cs typeface="Georgia"/>
              </a:rPr>
              <a:t>binding.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5644457" name="object 2"/>
          <p:cNvSpPr txBox="1"/>
          <p:nvPr/>
        </p:nvSpPr>
        <p:spPr bwMode="auto">
          <a:xfrm>
            <a:off x="806195" y="2275332"/>
            <a:ext cx="3668395" cy="2624455"/>
          </a:xfrm>
          <a:prstGeom prst="rect">
            <a:avLst/>
          </a:prstGeom>
          <a:solidFill>
            <a:srgbClr val="539E39"/>
          </a:solidFill>
        </p:spPr>
        <p:txBody>
          <a:bodyPr vert="horz" wrap="square" lIns="0" tIns="1727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60"/>
              </a:spcBef>
              <a:defRPr/>
            </a:pPr>
            <a:endParaRPr sz="4000">
              <a:latin typeface="Times New Roman"/>
              <a:cs typeface="Times New Roman"/>
            </a:endParaRPr>
          </a:p>
          <a:p>
            <a:pPr marL="697865" marR="675005" indent="315595">
              <a:lnSpc>
                <a:spcPts val="4079"/>
              </a:lnSpc>
              <a:defRPr/>
            </a:pPr>
            <a:r>
              <a:rPr sz="4000" spc="-35">
                <a:solidFill>
                  <a:srgbClr val="FFFDFF"/>
                </a:solidFill>
                <a:latin typeface="Carlito"/>
                <a:cs typeface="Carlito"/>
              </a:rPr>
              <a:t>Function </a:t>
            </a:r>
            <a:r>
              <a:rPr sz="4000" spc="-170">
                <a:solidFill>
                  <a:srgbClr val="FFFDFF"/>
                </a:solidFill>
                <a:latin typeface="Carlito"/>
                <a:cs typeface="Carlito"/>
              </a:rPr>
              <a:t>Overloading</a:t>
            </a:r>
            <a:endParaRPr sz="4000">
              <a:latin typeface="Carlito"/>
              <a:cs typeface="Carlito"/>
            </a:endParaRPr>
          </a:p>
        </p:txBody>
      </p:sp>
      <p:sp>
        <p:nvSpPr>
          <p:cNvPr id="689398952" name="object 3"/>
          <p:cNvSpPr txBox="1"/>
          <p:nvPr/>
        </p:nvSpPr>
        <p:spPr bwMode="auto">
          <a:xfrm>
            <a:off x="5197855" y="2911659"/>
            <a:ext cx="1643379" cy="90424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35"/>
              </a:spcBef>
              <a:buClr>
                <a:srgbClr val="539E39"/>
              </a:buClr>
              <a:buSzPct val="108333"/>
              <a:buFont typeface="Wingdings"/>
              <a:buChar char=""/>
              <a:tabLst>
                <a:tab pos="240665" algn="l"/>
              </a:tabLst>
              <a:defRPr/>
            </a:pPr>
            <a:r>
              <a:rPr sz="1800" spc="-10">
                <a:latin typeface="Georgia"/>
                <a:cs typeface="Georgia"/>
              </a:rPr>
              <a:t>By</a:t>
            </a:r>
            <a:r>
              <a:rPr sz="1800" spc="-125">
                <a:latin typeface="Georgia"/>
                <a:cs typeface="Georgia"/>
              </a:rPr>
              <a:t> </a:t>
            </a:r>
            <a:r>
              <a:rPr sz="1800" spc="-10">
                <a:latin typeface="Georgia"/>
                <a:cs typeface="Georgia"/>
              </a:rPr>
              <a:t>Value</a:t>
            </a:r>
            <a:endParaRPr sz="1800">
              <a:latin typeface="Georgia"/>
              <a:cs typeface="Georgia"/>
            </a:endParaRPr>
          </a:p>
          <a:p>
            <a:pPr marL="240665" indent="-227965">
              <a:lnSpc>
                <a:spcPct val="100000"/>
              </a:lnSpc>
              <a:spcBef>
                <a:spcPts val="1425"/>
              </a:spcBef>
              <a:buClr>
                <a:srgbClr val="539E39"/>
              </a:buClr>
              <a:buSzPct val="108333"/>
              <a:buFont typeface="Wingdings"/>
              <a:buChar char=""/>
              <a:tabLst>
                <a:tab pos="240665" algn="l"/>
              </a:tabLst>
              <a:defRPr/>
            </a:pPr>
            <a:r>
              <a:rPr sz="1800">
                <a:latin typeface="Georgia"/>
                <a:cs typeface="Georgia"/>
              </a:rPr>
              <a:t>By</a:t>
            </a:r>
            <a:r>
              <a:rPr sz="1800" spc="-5">
                <a:latin typeface="Georgia"/>
                <a:cs typeface="Georgia"/>
              </a:rPr>
              <a:t> </a:t>
            </a:r>
            <a:r>
              <a:rPr sz="1800" spc="-10">
                <a:latin typeface="Georgia"/>
                <a:cs typeface="Georgia"/>
              </a:rPr>
              <a:t>Reference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946197" name="object 2"/>
          <p:cNvSpPr txBox="1">
            <a:spLocks noGrp="1"/>
          </p:cNvSpPr>
          <p:nvPr>
            <p:ph sz="half" idx="2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95780" indent="133350">
              <a:lnSpc>
                <a:spcPct val="100000"/>
              </a:lnSpc>
              <a:spcBef>
                <a:spcPts val="100"/>
              </a:spcBef>
              <a:tabLst>
                <a:tab pos="680085" algn="l"/>
                <a:tab pos="812165" algn="l"/>
                <a:tab pos="1879600" algn="l"/>
                <a:tab pos="2146300" algn="l"/>
              </a:tabLst>
              <a:defRPr/>
            </a:pPr>
            <a:r>
              <a:rPr spc="165">
                <a:solidFill>
                  <a:srgbClr val="808080"/>
                </a:solidFill>
              </a:rPr>
              <a:t>include</a:t>
            </a:r>
            <a:r>
              <a:rPr spc="165">
                <a:solidFill>
                  <a:srgbClr val="A21515"/>
                </a:solidFill>
              </a:rPr>
              <a:t>&lt;iostream&gt; </a:t>
            </a:r>
            <a:r>
              <a:rPr spc="210"/>
              <a:t>using</a:t>
            </a:r>
            <a:r>
              <a:rPr/>
              <a:t>	</a:t>
            </a:r>
            <a:r>
              <a:rPr spc="35"/>
              <a:t>namespace</a:t>
            </a:r>
            <a:r>
              <a:rPr/>
              <a:t>		</a:t>
            </a:r>
            <a:r>
              <a:rPr spc="250">
                <a:solidFill>
                  <a:srgbClr val="000000"/>
                </a:solidFill>
              </a:rPr>
              <a:t>std; </a:t>
            </a:r>
            <a:r>
              <a:rPr spc="185"/>
              <a:t>void</a:t>
            </a:r>
            <a:r>
              <a:rPr/>
              <a:t>	</a:t>
            </a:r>
            <a:r>
              <a:rPr spc="229">
                <a:solidFill>
                  <a:srgbClr val="000000"/>
                </a:solidFill>
              </a:rPr>
              <a:t>func(</a:t>
            </a:r>
            <a:r>
              <a:rPr spc="229"/>
              <a:t>int</a:t>
            </a:r>
            <a:r>
              <a:rPr/>
              <a:t>	</a:t>
            </a:r>
            <a:r>
              <a:rPr spc="215">
                <a:solidFill>
                  <a:srgbClr val="808080"/>
                </a:solidFill>
              </a:rPr>
              <a:t>a</a:t>
            </a:r>
            <a:r>
              <a:rPr spc="215">
                <a:solidFill>
                  <a:srgbClr val="000000"/>
                </a:solidFill>
              </a:rPr>
              <a:t>)</a:t>
            </a:r>
            <a:endParaRPr/>
          </a:p>
          <a:p>
            <a:pPr marL="12700">
              <a:lnSpc>
                <a:spcPct val="100000"/>
              </a:lnSpc>
              <a:defRPr/>
            </a:pPr>
            <a:r>
              <a:rPr spc="340">
                <a:solidFill>
                  <a:srgbClr val="000000"/>
                </a:solidFill>
              </a:rPr>
              <a:t>{</a:t>
            </a:r>
            <a:endParaRPr/>
          </a:p>
          <a:p>
            <a:pPr marL="469265">
              <a:lnSpc>
                <a:spcPct val="100000"/>
              </a:lnSpc>
              <a:tabLst>
                <a:tab pos="735965" algn="l"/>
                <a:tab pos="1003300" algn="l"/>
              </a:tabLst>
              <a:defRPr/>
            </a:pPr>
            <a:r>
              <a:rPr spc="50">
                <a:solidFill>
                  <a:srgbClr val="808080"/>
                </a:solidFill>
              </a:rPr>
              <a:t>a</a:t>
            </a:r>
            <a:r>
              <a:rPr>
                <a:solidFill>
                  <a:srgbClr val="808080"/>
                </a:solidFill>
              </a:rPr>
              <a:t>	</a:t>
            </a:r>
            <a:r>
              <a:rPr spc="50">
                <a:solidFill>
                  <a:srgbClr val="000000"/>
                </a:solidFill>
              </a:rPr>
              <a:t>=</a:t>
            </a:r>
            <a:r>
              <a:rPr>
                <a:solidFill>
                  <a:srgbClr val="000000"/>
                </a:solidFill>
              </a:rPr>
              <a:t>	</a:t>
            </a:r>
            <a:r>
              <a:rPr spc="170">
                <a:solidFill>
                  <a:srgbClr val="000000"/>
                </a:solidFill>
              </a:rPr>
              <a:t>20;</a:t>
            </a:r>
            <a:endParaRPr/>
          </a:p>
          <a:p>
            <a:pPr marL="469265">
              <a:lnSpc>
                <a:spcPct val="100000"/>
              </a:lnSpc>
              <a:tabLst>
                <a:tab pos="1137285" algn="l"/>
                <a:tab pos="1536700" algn="l"/>
                <a:tab pos="2469515" algn="l"/>
                <a:tab pos="2870200" algn="l"/>
                <a:tab pos="3269615" algn="l"/>
              </a:tabLst>
              <a:defRPr/>
            </a:pPr>
            <a:r>
              <a:rPr spc="140">
                <a:solidFill>
                  <a:srgbClr val="000000"/>
                </a:solidFill>
              </a:rPr>
              <a:t>cout</a:t>
            </a:r>
            <a:r>
              <a:rPr>
                <a:solidFill>
                  <a:srgbClr val="000000"/>
                </a:solidFill>
              </a:rPr>
              <a:t>	</a:t>
            </a:r>
            <a:r>
              <a:rPr spc="70">
                <a:solidFill>
                  <a:srgbClr val="008080"/>
                </a:solidFill>
              </a:rPr>
              <a:t>&lt;&lt;</a:t>
            </a:r>
            <a:r>
              <a:rPr>
                <a:solidFill>
                  <a:srgbClr val="008080"/>
                </a:solidFill>
              </a:rPr>
              <a:t>	</a:t>
            </a:r>
            <a:r>
              <a:rPr spc="180">
                <a:solidFill>
                  <a:srgbClr val="A21515"/>
                </a:solidFill>
              </a:rPr>
              <a:t>"Value</a:t>
            </a:r>
            <a:r>
              <a:rPr>
                <a:solidFill>
                  <a:srgbClr val="A21515"/>
                </a:solidFill>
              </a:rPr>
              <a:t>	</a:t>
            </a:r>
            <a:r>
              <a:rPr spc="210">
                <a:solidFill>
                  <a:srgbClr val="A21515"/>
                </a:solidFill>
              </a:rPr>
              <a:t>of</a:t>
            </a:r>
            <a:r>
              <a:rPr>
                <a:solidFill>
                  <a:srgbClr val="A21515"/>
                </a:solidFill>
              </a:rPr>
              <a:t>	</a:t>
            </a:r>
            <a:r>
              <a:rPr spc="215">
                <a:solidFill>
                  <a:srgbClr val="A21515"/>
                </a:solidFill>
              </a:rPr>
              <a:t>a:</a:t>
            </a:r>
            <a:r>
              <a:rPr>
                <a:solidFill>
                  <a:srgbClr val="A21515"/>
                </a:solidFill>
              </a:rPr>
              <a:t>	</a:t>
            </a:r>
            <a:r>
              <a:rPr spc="215">
                <a:solidFill>
                  <a:srgbClr val="A21515"/>
                </a:solidFill>
              </a:rPr>
              <a:t>"</a:t>
            </a:r>
            <a:r>
              <a:rPr spc="215">
                <a:solidFill>
                  <a:srgbClr val="008080"/>
                </a:solidFill>
              </a:rPr>
              <a:t>&lt;&lt;</a:t>
            </a:r>
            <a:r>
              <a:rPr spc="215">
                <a:solidFill>
                  <a:srgbClr val="808080"/>
                </a:solidFill>
              </a:rPr>
              <a:t>a</a:t>
            </a:r>
            <a:r>
              <a:rPr spc="215">
                <a:solidFill>
                  <a:srgbClr val="000000"/>
                </a:solidFill>
              </a:rPr>
              <a:t>;</a:t>
            </a:r>
            <a:endParaRPr/>
          </a:p>
          <a:p>
            <a:pPr marL="12700">
              <a:lnSpc>
                <a:spcPct val="100000"/>
              </a:lnSpc>
              <a:defRPr/>
            </a:pPr>
            <a:r>
              <a:rPr spc="340">
                <a:solidFill>
                  <a:srgbClr val="000000"/>
                </a:solidFill>
              </a:rPr>
              <a:t>}</a:t>
            </a:r>
            <a:endParaRPr/>
          </a:p>
          <a:p>
            <a:pPr>
              <a:lnSpc>
                <a:spcPct val="100000"/>
              </a:lnSpc>
              <a:spcBef>
                <a:spcPts val="75"/>
              </a:spcBef>
              <a:defRPr/>
            </a:pPr>
            <a:endParaRPr spc="340">
              <a:solidFill>
                <a:srgbClr val="000000"/>
              </a:solidFill>
            </a:endParaRPr>
          </a:p>
          <a:p>
            <a:pPr marL="12700">
              <a:lnSpc>
                <a:spcPct val="100000"/>
              </a:lnSpc>
              <a:tabLst>
                <a:tab pos="545465" algn="l"/>
              </a:tabLst>
              <a:defRPr/>
            </a:pPr>
            <a:r>
              <a:rPr spc="285"/>
              <a:t>int</a:t>
            </a:r>
            <a:r>
              <a:rPr/>
              <a:t>	</a:t>
            </a:r>
            <a:r>
              <a:rPr spc="155">
                <a:solidFill>
                  <a:srgbClr val="000000"/>
                </a:solidFill>
              </a:rPr>
              <a:t>main()</a:t>
            </a:r>
            <a:endParaRPr/>
          </a:p>
          <a:p>
            <a:pPr marL="12700">
              <a:lnSpc>
                <a:spcPct val="100000"/>
              </a:lnSpc>
              <a:defRPr/>
            </a:pPr>
            <a:r>
              <a:rPr spc="340">
                <a:solidFill>
                  <a:srgbClr val="000000"/>
                </a:solidFill>
              </a:rPr>
              <a:t>{</a:t>
            </a:r>
            <a:endParaRPr/>
          </a:p>
          <a:p>
            <a:pPr marL="469265">
              <a:lnSpc>
                <a:spcPct val="100000"/>
              </a:lnSpc>
              <a:tabLst>
                <a:tab pos="1002665" algn="l"/>
                <a:tab pos="1270635" algn="l"/>
                <a:tab pos="1537335" algn="l"/>
              </a:tabLst>
              <a:defRPr/>
            </a:pPr>
            <a:r>
              <a:rPr spc="285"/>
              <a:t>int</a:t>
            </a:r>
            <a:r>
              <a:rPr/>
              <a:t>	</a:t>
            </a:r>
            <a:r>
              <a:rPr spc="100">
                <a:solidFill>
                  <a:srgbClr val="000000"/>
                </a:solidFill>
              </a:rPr>
              <a:t>x</a:t>
            </a:r>
            <a:r>
              <a:rPr>
                <a:solidFill>
                  <a:srgbClr val="000000"/>
                </a:solidFill>
              </a:rPr>
              <a:t>	</a:t>
            </a:r>
            <a:r>
              <a:rPr spc="50">
                <a:solidFill>
                  <a:srgbClr val="000000"/>
                </a:solidFill>
              </a:rPr>
              <a:t>=</a:t>
            </a:r>
            <a:r>
              <a:rPr>
                <a:solidFill>
                  <a:srgbClr val="000000"/>
                </a:solidFill>
              </a:rPr>
              <a:t>	</a:t>
            </a:r>
            <a:r>
              <a:rPr spc="170">
                <a:solidFill>
                  <a:srgbClr val="000000"/>
                </a:solidFill>
              </a:rPr>
              <a:t>10;</a:t>
            </a:r>
            <a:endParaRPr/>
          </a:p>
          <a:p>
            <a:pPr marL="469265">
              <a:lnSpc>
                <a:spcPct val="100000"/>
              </a:lnSpc>
              <a:defRPr/>
            </a:pPr>
            <a:r>
              <a:rPr spc="235">
                <a:solidFill>
                  <a:srgbClr val="000000"/>
                </a:solidFill>
              </a:rPr>
              <a:t>func(x);</a:t>
            </a:r>
            <a:endParaRPr/>
          </a:p>
          <a:p>
            <a:pPr marL="469265" marR="5080">
              <a:lnSpc>
                <a:spcPct val="100000"/>
              </a:lnSpc>
              <a:tabLst>
                <a:tab pos="1137285" algn="l"/>
                <a:tab pos="1403985" algn="l"/>
                <a:tab pos="1536700" algn="l"/>
                <a:tab pos="2736215" algn="l"/>
                <a:tab pos="3136900" algn="l"/>
                <a:tab pos="3536315" algn="l"/>
                <a:tab pos="3803015" algn="l"/>
                <a:tab pos="4202430" algn="l"/>
              </a:tabLst>
              <a:defRPr/>
            </a:pPr>
            <a:r>
              <a:rPr spc="140">
                <a:solidFill>
                  <a:srgbClr val="000000"/>
                </a:solidFill>
              </a:rPr>
              <a:t>cout</a:t>
            </a:r>
            <a:r>
              <a:rPr>
                <a:solidFill>
                  <a:srgbClr val="000000"/>
                </a:solidFill>
              </a:rPr>
              <a:t>	</a:t>
            </a:r>
            <a:r>
              <a:rPr spc="70">
                <a:solidFill>
                  <a:srgbClr val="008080"/>
                </a:solidFill>
              </a:rPr>
              <a:t>&lt;&lt;</a:t>
            </a:r>
            <a:r>
              <a:rPr>
                <a:solidFill>
                  <a:srgbClr val="008080"/>
                </a:solidFill>
              </a:rPr>
              <a:t>	</a:t>
            </a:r>
            <a:r>
              <a:rPr spc="190">
                <a:solidFill>
                  <a:srgbClr val="A21515"/>
                </a:solidFill>
              </a:rPr>
              <a:t>"\nValue</a:t>
            </a:r>
            <a:r>
              <a:rPr>
                <a:solidFill>
                  <a:srgbClr val="A21515"/>
                </a:solidFill>
              </a:rPr>
              <a:t>	</a:t>
            </a:r>
            <a:r>
              <a:rPr spc="210">
                <a:solidFill>
                  <a:srgbClr val="A21515"/>
                </a:solidFill>
              </a:rPr>
              <a:t>of</a:t>
            </a:r>
            <a:r>
              <a:rPr>
                <a:solidFill>
                  <a:srgbClr val="A21515"/>
                </a:solidFill>
              </a:rPr>
              <a:t>	</a:t>
            </a:r>
            <a:r>
              <a:rPr spc="240">
                <a:solidFill>
                  <a:srgbClr val="A21515"/>
                </a:solidFill>
              </a:rPr>
              <a:t>x:</a:t>
            </a:r>
            <a:r>
              <a:rPr>
                <a:solidFill>
                  <a:srgbClr val="A21515"/>
                </a:solidFill>
              </a:rPr>
              <a:t>	</a:t>
            </a:r>
            <a:r>
              <a:rPr spc="408">
                <a:solidFill>
                  <a:srgbClr val="A21515"/>
                </a:solidFill>
              </a:rPr>
              <a:t>"</a:t>
            </a:r>
            <a:r>
              <a:rPr>
                <a:solidFill>
                  <a:srgbClr val="A21515"/>
                </a:solidFill>
              </a:rPr>
              <a:t>	</a:t>
            </a:r>
            <a:r>
              <a:rPr spc="70">
                <a:solidFill>
                  <a:srgbClr val="008080"/>
                </a:solidFill>
              </a:rPr>
              <a:t>&lt;&lt;</a:t>
            </a:r>
            <a:r>
              <a:rPr>
                <a:solidFill>
                  <a:srgbClr val="008080"/>
                </a:solidFill>
              </a:rPr>
              <a:t>	</a:t>
            </a:r>
            <a:r>
              <a:rPr spc="245">
                <a:solidFill>
                  <a:srgbClr val="000000"/>
                </a:solidFill>
              </a:rPr>
              <a:t>x; </a:t>
            </a:r>
            <a:r>
              <a:rPr spc="195"/>
              <a:t>return</a:t>
            </a:r>
            <a:r>
              <a:rPr/>
              <a:t>	</a:t>
            </a:r>
            <a:r>
              <a:rPr spc="200">
                <a:solidFill>
                  <a:srgbClr val="000000"/>
                </a:solidFill>
              </a:rPr>
              <a:t>0;</a:t>
            </a:r>
            <a:endParaRPr/>
          </a:p>
          <a:p>
            <a:pPr marL="12700">
              <a:lnSpc>
                <a:spcPct val="100000"/>
              </a:lnSpc>
              <a:defRPr/>
            </a:pPr>
            <a:r>
              <a:rPr spc="340">
                <a:solidFill>
                  <a:srgbClr val="000000"/>
                </a:solidFill>
              </a:rPr>
              <a:t>}</a:t>
            </a:r>
            <a:endParaRPr/>
          </a:p>
        </p:txBody>
      </p:sp>
      <p:sp>
        <p:nvSpPr>
          <p:cNvPr id="1993562872" name="object 3"/>
          <p:cNvSpPr txBox="1"/>
          <p:nvPr/>
        </p:nvSpPr>
        <p:spPr bwMode="auto">
          <a:xfrm>
            <a:off x="2261361" y="535940"/>
            <a:ext cx="9124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>
                <a:latin typeface="Georgia"/>
                <a:cs typeface="Georgia"/>
              </a:rPr>
              <a:t>By</a:t>
            </a:r>
            <a:r>
              <a:rPr sz="1800" spc="-130">
                <a:latin typeface="Georgia"/>
                <a:cs typeface="Georgia"/>
              </a:rPr>
              <a:t> </a:t>
            </a:r>
            <a:r>
              <a:rPr sz="1800" spc="-10">
                <a:latin typeface="Georgia"/>
                <a:cs typeface="Georgia"/>
              </a:rPr>
              <a:t>Value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1463042645" name="object 4"/>
          <p:cNvPicPr/>
          <p:nvPr/>
        </p:nvPicPr>
        <p:blipFill>
          <a:blip r:embed="rId3"/>
          <a:stretch/>
        </p:blipFill>
        <p:spPr bwMode="auto">
          <a:xfrm>
            <a:off x="6197853" y="1376551"/>
            <a:ext cx="114300" cy="158750"/>
          </a:xfrm>
          <a:prstGeom prst="rect">
            <a:avLst/>
          </a:prstGeom>
        </p:spPr>
      </p:pic>
      <p:sp>
        <p:nvSpPr>
          <p:cNvPr id="601544444" name="object 5"/>
          <p:cNvSpPr txBox="1">
            <a:spLocks noGrp="1"/>
          </p:cNvSpPr>
          <p:nvPr>
            <p:ph sz="half" idx="3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95780" indent="133985">
              <a:lnSpc>
                <a:spcPct val="100000"/>
              </a:lnSpc>
              <a:spcBef>
                <a:spcPts val="100"/>
              </a:spcBef>
              <a:tabLst>
                <a:tab pos="680085" algn="l"/>
                <a:tab pos="812165" algn="l"/>
                <a:tab pos="1879600" algn="l"/>
                <a:tab pos="2146300" algn="l"/>
              </a:tabLst>
              <a:defRPr/>
            </a:pPr>
            <a:r>
              <a:rPr spc="160">
                <a:solidFill>
                  <a:srgbClr val="808080"/>
                </a:solidFill>
              </a:rPr>
              <a:t>include</a:t>
            </a:r>
            <a:r>
              <a:rPr spc="160">
                <a:solidFill>
                  <a:srgbClr val="A21515"/>
                </a:solidFill>
              </a:rPr>
              <a:t>&lt;iostream&gt; </a:t>
            </a:r>
            <a:r>
              <a:rPr spc="215"/>
              <a:t>using</a:t>
            </a:r>
            <a:r>
              <a:rPr/>
              <a:t>	</a:t>
            </a:r>
            <a:r>
              <a:rPr spc="35"/>
              <a:t>namespace</a:t>
            </a:r>
            <a:r>
              <a:rPr/>
              <a:t>		</a:t>
            </a:r>
            <a:r>
              <a:rPr spc="250">
                <a:solidFill>
                  <a:srgbClr val="000000"/>
                </a:solidFill>
              </a:rPr>
              <a:t>std; </a:t>
            </a:r>
            <a:r>
              <a:rPr spc="185"/>
              <a:t>void</a:t>
            </a:r>
            <a:r>
              <a:rPr/>
              <a:t>	</a:t>
            </a:r>
            <a:r>
              <a:rPr spc="229">
                <a:solidFill>
                  <a:srgbClr val="000000"/>
                </a:solidFill>
              </a:rPr>
              <a:t>func(</a:t>
            </a:r>
            <a:r>
              <a:rPr spc="229"/>
              <a:t>int</a:t>
            </a:r>
            <a:r>
              <a:rPr/>
              <a:t>	</a:t>
            </a:r>
            <a:r>
              <a:rPr lang="en-US" spc="65">
                <a:solidFill>
                  <a:srgbClr val="000000"/>
                </a:solidFill>
              </a:rPr>
              <a:t>&amp;</a:t>
            </a:r>
            <a:r>
              <a:rPr spc="65">
                <a:solidFill>
                  <a:srgbClr val="808080"/>
                </a:solidFill>
              </a:rPr>
              <a:t>a</a:t>
            </a:r>
            <a:r>
              <a:rPr spc="65">
                <a:solidFill>
                  <a:srgbClr val="000000"/>
                </a:solidFill>
              </a:rPr>
              <a:t>)</a:t>
            </a:r>
            <a:endParaRPr/>
          </a:p>
          <a:p>
            <a:pPr marL="12700">
              <a:lnSpc>
                <a:spcPct val="100000"/>
              </a:lnSpc>
              <a:spcBef>
                <a:spcPts val="5"/>
              </a:spcBef>
              <a:defRPr/>
            </a:pPr>
            <a:r>
              <a:rPr spc="340">
                <a:solidFill>
                  <a:srgbClr val="000000"/>
                </a:solidFill>
              </a:rPr>
              <a:t>{</a:t>
            </a:r>
            <a:endParaRPr/>
          </a:p>
          <a:p>
            <a:pPr marL="469900">
              <a:lnSpc>
                <a:spcPct val="100000"/>
              </a:lnSpc>
              <a:tabLst>
                <a:tab pos="735965" algn="l"/>
                <a:tab pos="1003300" algn="l"/>
              </a:tabLst>
              <a:defRPr/>
            </a:pPr>
            <a:r>
              <a:rPr spc="50">
                <a:solidFill>
                  <a:srgbClr val="808080"/>
                </a:solidFill>
              </a:rPr>
              <a:t>a</a:t>
            </a:r>
            <a:r>
              <a:rPr>
                <a:solidFill>
                  <a:srgbClr val="808080"/>
                </a:solidFill>
              </a:rPr>
              <a:t>	</a:t>
            </a:r>
            <a:r>
              <a:rPr spc="50">
                <a:solidFill>
                  <a:srgbClr val="000000"/>
                </a:solidFill>
              </a:rPr>
              <a:t>=</a:t>
            </a:r>
            <a:r>
              <a:rPr>
                <a:solidFill>
                  <a:srgbClr val="000000"/>
                </a:solidFill>
              </a:rPr>
              <a:t>	</a:t>
            </a:r>
            <a:r>
              <a:rPr spc="170">
                <a:solidFill>
                  <a:srgbClr val="000000"/>
                </a:solidFill>
              </a:rPr>
              <a:t>20;</a:t>
            </a:r>
            <a:endParaRPr/>
          </a:p>
          <a:p>
            <a:pPr marL="469900">
              <a:lnSpc>
                <a:spcPct val="100000"/>
              </a:lnSpc>
              <a:tabLst>
                <a:tab pos="1137285" algn="l"/>
                <a:tab pos="1536700" algn="l"/>
                <a:tab pos="2469515" algn="l"/>
                <a:tab pos="2870200" algn="l"/>
                <a:tab pos="3268979" algn="l"/>
              </a:tabLst>
              <a:defRPr/>
            </a:pPr>
            <a:r>
              <a:rPr spc="140">
                <a:solidFill>
                  <a:srgbClr val="000000"/>
                </a:solidFill>
              </a:rPr>
              <a:t>cout</a:t>
            </a:r>
            <a:r>
              <a:rPr>
                <a:solidFill>
                  <a:srgbClr val="000000"/>
                </a:solidFill>
              </a:rPr>
              <a:t>	</a:t>
            </a:r>
            <a:r>
              <a:rPr spc="60">
                <a:solidFill>
                  <a:srgbClr val="008080"/>
                </a:solidFill>
              </a:rPr>
              <a:t>&lt;&lt;</a:t>
            </a:r>
            <a:r>
              <a:rPr>
                <a:solidFill>
                  <a:srgbClr val="008080"/>
                </a:solidFill>
              </a:rPr>
              <a:t>	</a:t>
            </a:r>
            <a:r>
              <a:rPr spc="185">
                <a:solidFill>
                  <a:srgbClr val="A21515"/>
                </a:solidFill>
              </a:rPr>
              <a:t>"Value</a:t>
            </a:r>
            <a:r>
              <a:rPr>
                <a:solidFill>
                  <a:srgbClr val="A21515"/>
                </a:solidFill>
              </a:rPr>
              <a:t>	</a:t>
            </a:r>
            <a:r>
              <a:rPr spc="210">
                <a:solidFill>
                  <a:srgbClr val="A21515"/>
                </a:solidFill>
              </a:rPr>
              <a:t>of</a:t>
            </a:r>
            <a:r>
              <a:rPr>
                <a:solidFill>
                  <a:srgbClr val="A21515"/>
                </a:solidFill>
              </a:rPr>
              <a:t>	</a:t>
            </a:r>
            <a:r>
              <a:rPr spc="215">
                <a:solidFill>
                  <a:srgbClr val="A21515"/>
                </a:solidFill>
              </a:rPr>
              <a:t>a:</a:t>
            </a:r>
            <a:r>
              <a:rPr>
                <a:solidFill>
                  <a:srgbClr val="A21515"/>
                </a:solidFill>
              </a:rPr>
              <a:t>	</a:t>
            </a:r>
            <a:r>
              <a:rPr spc="215">
                <a:solidFill>
                  <a:srgbClr val="A21515"/>
                </a:solidFill>
              </a:rPr>
              <a:t>"</a:t>
            </a:r>
            <a:r>
              <a:rPr spc="215">
                <a:solidFill>
                  <a:srgbClr val="008080"/>
                </a:solidFill>
              </a:rPr>
              <a:t>&lt;&lt;</a:t>
            </a:r>
            <a:r>
              <a:rPr spc="215">
                <a:solidFill>
                  <a:srgbClr val="808080"/>
                </a:solidFill>
              </a:rPr>
              <a:t>a</a:t>
            </a:r>
            <a:r>
              <a:rPr spc="215">
                <a:solidFill>
                  <a:srgbClr val="000000"/>
                </a:solidFill>
              </a:rPr>
              <a:t>;</a:t>
            </a:r>
            <a:endParaRPr/>
          </a:p>
          <a:p>
            <a:pPr marL="12700">
              <a:lnSpc>
                <a:spcPct val="100000"/>
              </a:lnSpc>
              <a:defRPr/>
            </a:pPr>
            <a:r>
              <a:rPr spc="340">
                <a:solidFill>
                  <a:srgbClr val="000000"/>
                </a:solidFill>
              </a:rPr>
              <a:t>}</a:t>
            </a:r>
            <a:endParaRPr/>
          </a:p>
          <a:p>
            <a:pPr>
              <a:lnSpc>
                <a:spcPct val="100000"/>
              </a:lnSpc>
              <a:spcBef>
                <a:spcPts val="70"/>
              </a:spcBef>
              <a:defRPr/>
            </a:pPr>
            <a:endParaRPr spc="340">
              <a:solidFill>
                <a:srgbClr val="000000"/>
              </a:solidFill>
            </a:endParaRPr>
          </a:p>
          <a:p>
            <a:pPr marL="12700">
              <a:lnSpc>
                <a:spcPct val="100000"/>
              </a:lnSpc>
              <a:tabLst>
                <a:tab pos="545465" algn="l"/>
              </a:tabLst>
              <a:defRPr/>
            </a:pPr>
            <a:r>
              <a:rPr spc="285"/>
              <a:t>int</a:t>
            </a:r>
            <a:r>
              <a:rPr/>
              <a:t>	</a:t>
            </a:r>
            <a:r>
              <a:rPr spc="155">
                <a:solidFill>
                  <a:srgbClr val="000000"/>
                </a:solidFill>
              </a:rPr>
              <a:t>main()</a:t>
            </a:r>
            <a:endParaRPr/>
          </a:p>
          <a:p>
            <a:pPr marL="12700">
              <a:lnSpc>
                <a:spcPct val="100000"/>
              </a:lnSpc>
              <a:defRPr/>
            </a:pPr>
            <a:r>
              <a:rPr spc="340">
                <a:solidFill>
                  <a:srgbClr val="000000"/>
                </a:solidFill>
              </a:rPr>
              <a:t>{</a:t>
            </a:r>
            <a:endParaRPr/>
          </a:p>
          <a:p>
            <a:pPr marL="469900" marR="2538095">
              <a:lnSpc>
                <a:spcPct val="100000"/>
              </a:lnSpc>
              <a:spcBef>
                <a:spcPts val="5"/>
              </a:spcBef>
              <a:tabLst>
                <a:tab pos="1002665" algn="l"/>
                <a:tab pos="1270000" algn="l"/>
                <a:tab pos="1536700" algn="l"/>
              </a:tabLst>
              <a:defRPr/>
            </a:pPr>
            <a:r>
              <a:rPr spc="285"/>
              <a:t>int</a:t>
            </a:r>
            <a:r>
              <a:rPr/>
              <a:t>	</a:t>
            </a:r>
            <a:r>
              <a:rPr spc="100">
                <a:solidFill>
                  <a:srgbClr val="000000"/>
                </a:solidFill>
              </a:rPr>
              <a:t>x</a:t>
            </a:r>
            <a:r>
              <a:rPr>
                <a:solidFill>
                  <a:srgbClr val="000000"/>
                </a:solidFill>
              </a:rPr>
              <a:t>	</a:t>
            </a:r>
            <a:r>
              <a:rPr spc="50">
                <a:solidFill>
                  <a:srgbClr val="000000"/>
                </a:solidFill>
              </a:rPr>
              <a:t>=</a:t>
            </a:r>
            <a:r>
              <a:rPr>
                <a:solidFill>
                  <a:srgbClr val="000000"/>
                </a:solidFill>
              </a:rPr>
              <a:t>	</a:t>
            </a:r>
            <a:r>
              <a:rPr spc="170">
                <a:solidFill>
                  <a:srgbClr val="000000"/>
                </a:solidFill>
              </a:rPr>
              <a:t>10; </a:t>
            </a:r>
            <a:r>
              <a:rPr spc="235">
                <a:solidFill>
                  <a:srgbClr val="000000"/>
                </a:solidFill>
              </a:rPr>
              <a:t>func(x);</a:t>
            </a:r>
            <a:endParaRPr/>
          </a:p>
          <a:p>
            <a:pPr marL="469900" marR="5080">
              <a:lnSpc>
                <a:spcPct val="100000"/>
              </a:lnSpc>
              <a:tabLst>
                <a:tab pos="1137285" algn="l"/>
                <a:tab pos="1403985" algn="l"/>
                <a:tab pos="1536700" algn="l"/>
                <a:tab pos="2736215" algn="l"/>
                <a:tab pos="3136900" algn="l"/>
                <a:tab pos="3536315" algn="l"/>
                <a:tab pos="3803015" algn="l"/>
                <a:tab pos="4202430" algn="l"/>
              </a:tabLst>
              <a:defRPr/>
            </a:pPr>
            <a:r>
              <a:rPr spc="140">
                <a:solidFill>
                  <a:srgbClr val="000000"/>
                </a:solidFill>
              </a:rPr>
              <a:t>cout</a:t>
            </a:r>
            <a:r>
              <a:rPr>
                <a:solidFill>
                  <a:srgbClr val="000000"/>
                </a:solidFill>
              </a:rPr>
              <a:t>	</a:t>
            </a:r>
            <a:r>
              <a:rPr spc="60">
                <a:solidFill>
                  <a:srgbClr val="008080"/>
                </a:solidFill>
              </a:rPr>
              <a:t>&lt;&lt;</a:t>
            </a:r>
            <a:r>
              <a:rPr>
                <a:solidFill>
                  <a:srgbClr val="008080"/>
                </a:solidFill>
              </a:rPr>
              <a:t>		</a:t>
            </a:r>
            <a:r>
              <a:rPr spc="190">
                <a:solidFill>
                  <a:srgbClr val="A21515"/>
                </a:solidFill>
              </a:rPr>
              <a:t>"\nValue</a:t>
            </a:r>
            <a:r>
              <a:rPr>
                <a:solidFill>
                  <a:srgbClr val="A21515"/>
                </a:solidFill>
              </a:rPr>
              <a:t>	</a:t>
            </a:r>
            <a:r>
              <a:rPr spc="210">
                <a:solidFill>
                  <a:srgbClr val="A21515"/>
                </a:solidFill>
              </a:rPr>
              <a:t>of</a:t>
            </a:r>
            <a:r>
              <a:rPr>
                <a:solidFill>
                  <a:srgbClr val="A21515"/>
                </a:solidFill>
              </a:rPr>
              <a:t>	</a:t>
            </a:r>
            <a:r>
              <a:rPr spc="240">
                <a:solidFill>
                  <a:srgbClr val="A21515"/>
                </a:solidFill>
              </a:rPr>
              <a:t>x:</a:t>
            </a:r>
            <a:r>
              <a:rPr>
                <a:solidFill>
                  <a:srgbClr val="A21515"/>
                </a:solidFill>
              </a:rPr>
              <a:t>	</a:t>
            </a:r>
            <a:r>
              <a:rPr spc="408">
                <a:solidFill>
                  <a:srgbClr val="A21515"/>
                </a:solidFill>
              </a:rPr>
              <a:t>"</a:t>
            </a:r>
            <a:r>
              <a:rPr>
                <a:solidFill>
                  <a:srgbClr val="A21515"/>
                </a:solidFill>
              </a:rPr>
              <a:t>	</a:t>
            </a:r>
            <a:r>
              <a:rPr spc="70">
                <a:solidFill>
                  <a:srgbClr val="008080"/>
                </a:solidFill>
              </a:rPr>
              <a:t>&lt;&lt;</a:t>
            </a:r>
            <a:r>
              <a:rPr>
                <a:solidFill>
                  <a:srgbClr val="008080"/>
                </a:solidFill>
              </a:rPr>
              <a:t>	</a:t>
            </a:r>
            <a:r>
              <a:rPr spc="245">
                <a:solidFill>
                  <a:srgbClr val="000000"/>
                </a:solidFill>
              </a:rPr>
              <a:t>x; </a:t>
            </a:r>
            <a:r>
              <a:rPr spc="195"/>
              <a:t>return</a:t>
            </a:r>
            <a:r>
              <a:rPr/>
              <a:t>	</a:t>
            </a:r>
            <a:r>
              <a:rPr spc="204">
                <a:solidFill>
                  <a:srgbClr val="000000"/>
                </a:solidFill>
              </a:rPr>
              <a:t>0;</a:t>
            </a:r>
            <a:endParaRPr/>
          </a:p>
          <a:p>
            <a:pPr marL="12700">
              <a:lnSpc>
                <a:spcPct val="100000"/>
              </a:lnSpc>
              <a:defRPr/>
            </a:pPr>
            <a:r>
              <a:rPr spc="340">
                <a:solidFill>
                  <a:srgbClr val="000000"/>
                </a:solidFill>
              </a:rPr>
              <a:t>}</a:t>
            </a:r>
            <a:endParaRPr/>
          </a:p>
        </p:txBody>
      </p:sp>
      <p:sp>
        <p:nvSpPr>
          <p:cNvPr id="1806092934" name="object 6"/>
          <p:cNvSpPr txBox="1">
            <a:spLocks noGrp="1"/>
          </p:cNvSpPr>
          <p:nvPr>
            <p:ph type="title"/>
          </p:nvPr>
        </p:nvSpPr>
        <p:spPr bwMode="auto">
          <a:xfrm>
            <a:off x="7788909" y="415493"/>
            <a:ext cx="14154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b="0">
                <a:latin typeface="Georgia"/>
                <a:cs typeface="Georgia"/>
              </a:rPr>
              <a:t>By</a:t>
            </a:r>
            <a:r>
              <a:rPr sz="1800" b="0" spc="-10">
                <a:latin typeface="Georgia"/>
                <a:cs typeface="Georgia"/>
              </a:rPr>
              <a:t> Reference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676819548" name="object 7"/>
          <p:cNvSpPr/>
          <p:nvPr/>
        </p:nvSpPr>
        <p:spPr bwMode="auto">
          <a:xfrm>
            <a:off x="5411722" y="390143"/>
            <a:ext cx="13970" cy="5500370"/>
          </a:xfrm>
          <a:custGeom>
            <a:avLst/>
            <a:gdLst/>
            <a:ahLst/>
            <a:cxnLst/>
            <a:rect l="l" t="t" r="r" b="b"/>
            <a:pathLst>
              <a:path w="13970" h="5500370" fill="norm" stroke="1" extrusionOk="0">
                <a:moveTo>
                  <a:pt x="0" y="0"/>
                </a:moveTo>
                <a:lnTo>
                  <a:pt x="13715" y="5500052"/>
                </a:lnTo>
              </a:path>
            </a:pathLst>
          </a:custGeom>
          <a:ln w="9525">
            <a:solidFill>
              <a:srgbClr val="509636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741614" name="object 2"/>
          <p:cNvSpPr txBox="1"/>
          <p:nvPr/>
        </p:nvSpPr>
        <p:spPr bwMode="auto">
          <a:xfrm>
            <a:off x="806195" y="2275332"/>
            <a:ext cx="3668395" cy="2624455"/>
          </a:xfrm>
          <a:prstGeom prst="rect">
            <a:avLst/>
          </a:prstGeom>
          <a:solidFill>
            <a:srgbClr val="539E39"/>
          </a:solidFill>
        </p:spPr>
        <p:txBody>
          <a:bodyPr vert="horz" wrap="square" lIns="0" tIns="1727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60"/>
              </a:spcBef>
              <a:defRPr/>
            </a:pPr>
            <a:endParaRPr sz="4000">
              <a:latin typeface="Times New Roman"/>
              <a:cs typeface="Times New Roman"/>
            </a:endParaRPr>
          </a:p>
          <a:p>
            <a:pPr marL="697865" marR="675005" indent="283845">
              <a:lnSpc>
                <a:spcPts val="4079"/>
              </a:lnSpc>
              <a:defRPr/>
            </a:pPr>
            <a:r>
              <a:rPr sz="4000" spc="-65">
                <a:solidFill>
                  <a:srgbClr val="FFFDFF"/>
                </a:solidFill>
                <a:latin typeface="Carlito"/>
                <a:cs typeface="Carlito"/>
              </a:rPr>
              <a:t>Operator </a:t>
            </a:r>
            <a:r>
              <a:rPr sz="4000" spc="-170">
                <a:solidFill>
                  <a:srgbClr val="FFFDFF"/>
                </a:solidFill>
                <a:latin typeface="Carlito"/>
                <a:cs typeface="Carlito"/>
              </a:rPr>
              <a:t>Overloading</a:t>
            </a:r>
            <a:endParaRPr sz="4000">
              <a:latin typeface="Carlito"/>
              <a:cs typeface="Carlito"/>
            </a:endParaRPr>
          </a:p>
        </p:txBody>
      </p:sp>
      <p:sp>
        <p:nvSpPr>
          <p:cNvPr id="1700452383" name="object 3"/>
          <p:cNvSpPr txBox="1"/>
          <p:nvPr/>
        </p:nvSpPr>
        <p:spPr bwMode="auto">
          <a:xfrm>
            <a:off x="5197855" y="2683764"/>
            <a:ext cx="2346960" cy="1361440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30"/>
              </a:spcBef>
              <a:buClr>
                <a:srgbClr val="539E39"/>
              </a:buClr>
              <a:buSzPct val="108333"/>
              <a:buFont typeface="Wingdings"/>
              <a:buChar char=""/>
              <a:tabLst>
                <a:tab pos="240665" algn="l"/>
              </a:tabLst>
              <a:defRPr/>
            </a:pPr>
            <a:r>
              <a:rPr sz="1800" spc="-10">
                <a:latin typeface="Georgia"/>
                <a:cs typeface="Georgia"/>
              </a:rPr>
              <a:t>Unary</a:t>
            </a:r>
            <a:endParaRPr sz="1800">
              <a:latin typeface="Georgia"/>
              <a:cs typeface="Georgia"/>
            </a:endParaRPr>
          </a:p>
          <a:p>
            <a:pPr marL="240665" indent="-227965">
              <a:lnSpc>
                <a:spcPct val="100000"/>
              </a:lnSpc>
              <a:spcBef>
                <a:spcPts val="1425"/>
              </a:spcBef>
              <a:buClr>
                <a:srgbClr val="539E39"/>
              </a:buClr>
              <a:buSzPct val="108333"/>
              <a:buFont typeface="Wingdings"/>
              <a:buChar char=""/>
              <a:tabLst>
                <a:tab pos="240665" algn="l"/>
              </a:tabLst>
              <a:defRPr/>
            </a:pPr>
            <a:r>
              <a:rPr sz="1800" spc="-10">
                <a:latin typeface="Georgia"/>
                <a:cs typeface="Georgia"/>
              </a:rPr>
              <a:t>Binary</a:t>
            </a:r>
            <a:endParaRPr sz="1800">
              <a:latin typeface="Georgia"/>
              <a:cs typeface="Georgia"/>
            </a:endParaRPr>
          </a:p>
          <a:p>
            <a:pPr marL="240665" indent="-227965">
              <a:lnSpc>
                <a:spcPct val="100000"/>
              </a:lnSpc>
              <a:spcBef>
                <a:spcPts val="1445"/>
              </a:spcBef>
              <a:buClr>
                <a:srgbClr val="539E39"/>
              </a:buClr>
              <a:buSzPct val="108333"/>
              <a:buFont typeface="Wingdings"/>
              <a:buChar char=""/>
              <a:tabLst>
                <a:tab pos="240665" algn="l"/>
              </a:tabLst>
              <a:defRPr/>
            </a:pPr>
            <a:r>
              <a:rPr sz="1800">
                <a:latin typeface="Georgia"/>
                <a:cs typeface="Georgia"/>
              </a:rPr>
              <a:t>Use:</a:t>
            </a:r>
            <a:r>
              <a:rPr sz="1800" spc="-13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Lecture</a:t>
            </a:r>
            <a:r>
              <a:rPr sz="1800" spc="3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8</a:t>
            </a:r>
            <a:r>
              <a:rPr sz="1800" spc="2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and</a:t>
            </a:r>
            <a:r>
              <a:rPr sz="1800" spc="30">
                <a:latin typeface="Georgia"/>
                <a:cs typeface="Georgia"/>
              </a:rPr>
              <a:t> </a:t>
            </a:r>
            <a:r>
              <a:rPr sz="1800" spc="-50">
                <a:latin typeface="Georgia"/>
                <a:cs typeface="Georgia"/>
              </a:rPr>
              <a:t>9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424189" name="object 2"/>
          <p:cNvSpPr txBox="1"/>
          <p:nvPr/>
        </p:nvSpPr>
        <p:spPr bwMode="auto">
          <a:xfrm>
            <a:off x="806195" y="2275332"/>
            <a:ext cx="3668395" cy="2624455"/>
          </a:xfrm>
          <a:prstGeom prst="rect">
            <a:avLst/>
          </a:prstGeom>
          <a:solidFill>
            <a:srgbClr val="539E39"/>
          </a:solidFill>
        </p:spPr>
        <p:txBody>
          <a:bodyPr vert="horz" wrap="square" lIns="0" tIns="1727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60"/>
              </a:spcBef>
              <a:defRPr/>
            </a:pPr>
            <a:endParaRPr sz="4000">
              <a:latin typeface="Times New Roman"/>
              <a:cs typeface="Times New Roman"/>
            </a:endParaRPr>
          </a:p>
          <a:p>
            <a:pPr marL="471170" marR="448945" indent="562610">
              <a:lnSpc>
                <a:spcPts val="4079"/>
              </a:lnSpc>
              <a:defRPr/>
            </a:pPr>
            <a:r>
              <a:rPr sz="4000" spc="-35">
                <a:solidFill>
                  <a:srgbClr val="FFFDFF"/>
                </a:solidFill>
                <a:latin typeface="Carlito"/>
                <a:cs typeface="Carlito"/>
              </a:rPr>
              <a:t>Runtime </a:t>
            </a:r>
            <a:r>
              <a:rPr sz="4000" spc="-175">
                <a:solidFill>
                  <a:srgbClr val="FFFDFF"/>
                </a:solidFill>
                <a:latin typeface="Carlito"/>
                <a:cs typeface="Carlito"/>
              </a:rPr>
              <a:t>polymorphism</a:t>
            </a:r>
            <a:endParaRPr sz="4000">
              <a:latin typeface="Carlito"/>
              <a:cs typeface="Carlito"/>
            </a:endParaRPr>
          </a:p>
        </p:txBody>
      </p:sp>
      <p:sp>
        <p:nvSpPr>
          <p:cNvPr id="974080083" name="object 3"/>
          <p:cNvSpPr txBox="1"/>
          <p:nvPr/>
        </p:nvSpPr>
        <p:spPr bwMode="auto">
          <a:xfrm>
            <a:off x="5197855" y="2506345"/>
            <a:ext cx="5887720" cy="179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20100"/>
              </a:lnSpc>
              <a:spcBef>
                <a:spcPts val="100"/>
              </a:spcBef>
              <a:buClr>
                <a:srgbClr val="539E39"/>
              </a:buClr>
              <a:buSzPct val="108333"/>
              <a:buFont typeface="Wingdings"/>
              <a:buChar char=""/>
              <a:tabLst>
                <a:tab pos="241300" algn="l"/>
              </a:tabLst>
              <a:defRPr/>
            </a:pPr>
            <a:r>
              <a:rPr sz="1800" spc="-70">
                <a:latin typeface="Georgia"/>
                <a:cs typeface="Georgia"/>
              </a:rPr>
              <a:t>Run</a:t>
            </a:r>
            <a:r>
              <a:rPr sz="1800" spc="9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time</a:t>
            </a:r>
            <a:r>
              <a:rPr sz="1800" spc="10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polymorphism</a:t>
            </a:r>
            <a:r>
              <a:rPr sz="1800" spc="10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is</a:t>
            </a:r>
            <a:r>
              <a:rPr sz="1800" spc="90">
                <a:latin typeface="Georgia"/>
                <a:cs typeface="Georgia"/>
              </a:rPr>
              <a:t> </a:t>
            </a:r>
            <a:r>
              <a:rPr sz="1800" spc="55">
                <a:latin typeface="Georgia"/>
                <a:cs typeface="Georgia"/>
              </a:rPr>
              <a:t>achieved</a:t>
            </a:r>
            <a:r>
              <a:rPr sz="1800" spc="10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when</a:t>
            </a:r>
            <a:r>
              <a:rPr sz="1800" spc="9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the</a:t>
            </a:r>
            <a:r>
              <a:rPr sz="1800" spc="95">
                <a:latin typeface="Georgia"/>
                <a:cs typeface="Georgia"/>
              </a:rPr>
              <a:t> </a:t>
            </a:r>
            <a:r>
              <a:rPr sz="1800" spc="-10">
                <a:latin typeface="Georgia"/>
                <a:cs typeface="Georgia"/>
              </a:rPr>
              <a:t>object's </a:t>
            </a:r>
            <a:r>
              <a:rPr sz="1800">
                <a:latin typeface="Georgia"/>
                <a:cs typeface="Georgia"/>
              </a:rPr>
              <a:t>method</a:t>
            </a:r>
            <a:r>
              <a:rPr sz="1800" spc="9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is</a:t>
            </a:r>
            <a:r>
              <a:rPr sz="1800" spc="6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invoked</a:t>
            </a:r>
            <a:r>
              <a:rPr sz="1800" spc="7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at</a:t>
            </a:r>
            <a:r>
              <a:rPr sz="1800" spc="7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the</a:t>
            </a:r>
            <a:r>
              <a:rPr sz="1800" spc="8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run</a:t>
            </a:r>
            <a:r>
              <a:rPr sz="1800" spc="7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time</a:t>
            </a:r>
            <a:r>
              <a:rPr sz="1800" spc="7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instead</a:t>
            </a:r>
            <a:r>
              <a:rPr sz="1800" spc="5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of</a:t>
            </a:r>
            <a:r>
              <a:rPr sz="1800" spc="75">
                <a:latin typeface="Georgia"/>
                <a:cs typeface="Georgia"/>
              </a:rPr>
              <a:t> </a:t>
            </a:r>
            <a:r>
              <a:rPr sz="1800" spc="45">
                <a:latin typeface="Georgia"/>
                <a:cs typeface="Georgia"/>
              </a:rPr>
              <a:t>compile </a:t>
            </a:r>
            <a:r>
              <a:rPr sz="1800" spc="-10">
                <a:latin typeface="Georgia"/>
                <a:cs typeface="Georgia"/>
              </a:rPr>
              <a:t>time.</a:t>
            </a:r>
            <a:endParaRPr sz="1800">
              <a:latin typeface="Georgia"/>
              <a:cs typeface="Georgia"/>
            </a:endParaRPr>
          </a:p>
          <a:p>
            <a:pPr marL="240665" indent="-227965">
              <a:lnSpc>
                <a:spcPct val="100000"/>
              </a:lnSpc>
              <a:spcBef>
                <a:spcPts val="1425"/>
              </a:spcBef>
              <a:buClr>
                <a:srgbClr val="539E39"/>
              </a:buClr>
              <a:buSzPct val="108333"/>
              <a:buFont typeface="Wingdings"/>
              <a:buChar char=""/>
              <a:tabLst>
                <a:tab pos="240665" algn="l"/>
              </a:tabLst>
              <a:defRPr/>
            </a:pPr>
            <a:r>
              <a:rPr sz="1800" spc="-114">
                <a:latin typeface="Georgia"/>
                <a:cs typeface="Georgia"/>
              </a:rPr>
              <a:t>It</a:t>
            </a:r>
            <a:r>
              <a:rPr sz="1800" spc="10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is</a:t>
            </a:r>
            <a:r>
              <a:rPr sz="1800" spc="105">
                <a:latin typeface="Georgia"/>
                <a:cs typeface="Georgia"/>
              </a:rPr>
              <a:t> </a:t>
            </a:r>
            <a:r>
              <a:rPr sz="1800" spc="55">
                <a:latin typeface="Georgia"/>
                <a:cs typeface="Georgia"/>
              </a:rPr>
              <a:t>achieved</a:t>
            </a:r>
            <a:r>
              <a:rPr sz="1800" spc="120">
                <a:latin typeface="Georgia"/>
                <a:cs typeface="Georgia"/>
              </a:rPr>
              <a:t> </a:t>
            </a:r>
            <a:r>
              <a:rPr sz="1800" spc="95">
                <a:latin typeface="Georgia"/>
                <a:cs typeface="Georgia"/>
              </a:rPr>
              <a:t>by</a:t>
            </a:r>
            <a:r>
              <a:rPr sz="1800" spc="11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method</a:t>
            </a:r>
            <a:r>
              <a:rPr sz="1800" spc="12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overriding</a:t>
            </a:r>
            <a:r>
              <a:rPr sz="1800" spc="12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which</a:t>
            </a:r>
            <a:r>
              <a:rPr sz="1800" spc="12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is</a:t>
            </a:r>
            <a:r>
              <a:rPr sz="1800" spc="105">
                <a:latin typeface="Georgia"/>
                <a:cs typeface="Georgia"/>
              </a:rPr>
              <a:t> </a:t>
            </a:r>
            <a:r>
              <a:rPr sz="1800" spc="-20">
                <a:latin typeface="Georgia"/>
                <a:cs typeface="Georgia"/>
              </a:rPr>
              <a:t>also</a:t>
            </a:r>
            <a:endParaRPr sz="1800">
              <a:latin typeface="Georgia"/>
              <a:cs typeface="Georgia"/>
            </a:endParaRPr>
          </a:p>
          <a:p>
            <a:pPr marL="241300">
              <a:lnSpc>
                <a:spcPct val="100000"/>
              </a:lnSpc>
              <a:spcBef>
                <a:spcPts val="434"/>
              </a:spcBef>
              <a:defRPr/>
            </a:pPr>
            <a:r>
              <a:rPr sz="1800">
                <a:latin typeface="Georgia"/>
                <a:cs typeface="Georgia"/>
              </a:rPr>
              <a:t>known</a:t>
            </a:r>
            <a:r>
              <a:rPr sz="1800" spc="12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as</a:t>
            </a:r>
            <a:r>
              <a:rPr sz="1800" spc="9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dynamic</a:t>
            </a:r>
            <a:r>
              <a:rPr sz="1800" spc="105">
                <a:latin typeface="Georgia"/>
                <a:cs typeface="Georgia"/>
              </a:rPr>
              <a:t> </a:t>
            </a:r>
            <a:r>
              <a:rPr sz="1800" spc="50">
                <a:latin typeface="Georgia"/>
                <a:cs typeface="Georgia"/>
              </a:rPr>
              <a:t>binding</a:t>
            </a:r>
            <a:r>
              <a:rPr sz="1800" spc="10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or</a:t>
            </a:r>
            <a:r>
              <a:rPr sz="1800" spc="10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late</a:t>
            </a:r>
            <a:r>
              <a:rPr sz="1800" spc="90">
                <a:latin typeface="Georgia"/>
                <a:cs typeface="Georgia"/>
              </a:rPr>
              <a:t> </a:t>
            </a:r>
            <a:r>
              <a:rPr sz="1800" spc="-10">
                <a:latin typeface="Georgia"/>
                <a:cs typeface="Georgia"/>
              </a:rPr>
              <a:t>binding.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030486" name="object 2"/>
          <p:cNvSpPr/>
          <p:nvPr/>
        </p:nvSpPr>
        <p:spPr bwMode="auto">
          <a:xfrm>
            <a:off x="10626852" y="9144"/>
            <a:ext cx="1539240" cy="556260"/>
          </a:xfrm>
          <a:custGeom>
            <a:avLst/>
            <a:gdLst/>
            <a:ahLst/>
            <a:cxnLst/>
            <a:rect l="l" t="t" r="r" b="b"/>
            <a:pathLst>
              <a:path w="1539240" h="556260" fill="norm" stroke="1" extrusionOk="0">
                <a:moveTo>
                  <a:pt x="1539240" y="556259"/>
                </a:moveTo>
                <a:lnTo>
                  <a:pt x="1494052" y="532873"/>
                </a:lnTo>
                <a:lnTo>
                  <a:pt x="1448469" y="509952"/>
                </a:lnTo>
                <a:lnTo>
                  <a:pt x="1402509" y="487488"/>
                </a:lnTo>
                <a:lnTo>
                  <a:pt x="1356195" y="465474"/>
                </a:lnTo>
                <a:lnTo>
                  <a:pt x="1309547" y="443903"/>
                </a:lnTo>
                <a:lnTo>
                  <a:pt x="1262585" y="422765"/>
                </a:lnTo>
                <a:lnTo>
                  <a:pt x="1215331" y="402054"/>
                </a:lnTo>
                <a:lnTo>
                  <a:pt x="1167806" y="381761"/>
                </a:lnTo>
                <a:lnTo>
                  <a:pt x="1120030" y="361880"/>
                </a:lnTo>
                <a:lnTo>
                  <a:pt x="1072025" y="342401"/>
                </a:lnTo>
                <a:lnTo>
                  <a:pt x="1023810" y="323317"/>
                </a:lnTo>
                <a:lnTo>
                  <a:pt x="975408" y="304621"/>
                </a:lnTo>
                <a:lnTo>
                  <a:pt x="926838" y="286304"/>
                </a:lnTo>
                <a:lnTo>
                  <a:pt x="878122" y="268359"/>
                </a:lnTo>
                <a:lnTo>
                  <a:pt x="829281" y="250778"/>
                </a:lnTo>
                <a:lnTo>
                  <a:pt x="780335" y="233552"/>
                </a:lnTo>
                <a:lnTo>
                  <a:pt x="731306" y="216676"/>
                </a:lnTo>
                <a:lnTo>
                  <a:pt x="682213" y="200139"/>
                </a:lnTo>
                <a:lnTo>
                  <a:pt x="633079" y="183935"/>
                </a:lnTo>
                <a:lnTo>
                  <a:pt x="583923" y="168056"/>
                </a:lnTo>
                <a:lnTo>
                  <a:pt x="534767" y="152494"/>
                </a:lnTo>
                <a:lnTo>
                  <a:pt x="485632" y="137241"/>
                </a:lnTo>
                <a:lnTo>
                  <a:pt x="436538" y="122290"/>
                </a:lnTo>
                <a:lnTo>
                  <a:pt x="387506" y="107632"/>
                </a:lnTo>
                <a:lnTo>
                  <a:pt x="338558" y="93260"/>
                </a:lnTo>
                <a:lnTo>
                  <a:pt x="289713" y="79166"/>
                </a:lnTo>
                <a:lnTo>
                  <a:pt x="240994" y="65342"/>
                </a:lnTo>
                <a:lnTo>
                  <a:pt x="192420" y="51780"/>
                </a:lnTo>
                <a:lnTo>
                  <a:pt x="144013" y="38473"/>
                </a:lnTo>
                <a:lnTo>
                  <a:pt x="95793" y="25412"/>
                </a:lnTo>
                <a:lnTo>
                  <a:pt x="47782" y="12590"/>
                </a:lnTo>
                <a:lnTo>
                  <a:pt x="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9896965" name="object 3"/>
          <p:cNvSpPr/>
          <p:nvPr/>
        </p:nvSpPr>
        <p:spPr bwMode="auto">
          <a:xfrm>
            <a:off x="10247376" y="5013959"/>
            <a:ext cx="1918970" cy="1830705"/>
          </a:xfrm>
          <a:custGeom>
            <a:avLst/>
            <a:gdLst/>
            <a:ahLst/>
            <a:cxnLst/>
            <a:rect l="l" t="t" r="r" b="b"/>
            <a:pathLst>
              <a:path w="1918970" h="1830704" fill="norm" stroke="1" extrusionOk="0">
                <a:moveTo>
                  <a:pt x="0" y="1830323"/>
                </a:moveTo>
                <a:lnTo>
                  <a:pt x="39967" y="1799241"/>
                </a:lnTo>
                <a:lnTo>
                  <a:pt x="79858" y="1767980"/>
                </a:lnTo>
                <a:lnTo>
                  <a:pt x="119670" y="1736542"/>
                </a:lnTo>
                <a:lnTo>
                  <a:pt x="159401" y="1704928"/>
                </a:lnTo>
                <a:lnTo>
                  <a:pt x="199047" y="1673138"/>
                </a:lnTo>
                <a:lnTo>
                  <a:pt x="238606" y="1641175"/>
                </a:lnTo>
                <a:lnTo>
                  <a:pt x="278075" y="1609037"/>
                </a:lnTo>
                <a:lnTo>
                  <a:pt x="317452" y="1576728"/>
                </a:lnTo>
                <a:lnTo>
                  <a:pt x="356734" y="1544248"/>
                </a:lnTo>
                <a:lnTo>
                  <a:pt x="395919" y="1511597"/>
                </a:lnTo>
                <a:lnTo>
                  <a:pt x="435003" y="1478777"/>
                </a:lnTo>
                <a:lnTo>
                  <a:pt x="473985" y="1445789"/>
                </a:lnTo>
                <a:lnTo>
                  <a:pt x="512861" y="1412633"/>
                </a:lnTo>
                <a:lnTo>
                  <a:pt x="551629" y="1379312"/>
                </a:lnTo>
                <a:lnTo>
                  <a:pt x="590287" y="1345825"/>
                </a:lnTo>
                <a:lnTo>
                  <a:pt x="628831" y="1312174"/>
                </a:lnTo>
                <a:lnTo>
                  <a:pt x="667259" y="1278360"/>
                </a:lnTo>
                <a:lnTo>
                  <a:pt x="705569" y="1244385"/>
                </a:lnTo>
                <a:lnTo>
                  <a:pt x="743757" y="1210247"/>
                </a:lnTo>
                <a:lnTo>
                  <a:pt x="781821" y="1175950"/>
                </a:lnTo>
                <a:lnTo>
                  <a:pt x="819759" y="1141494"/>
                </a:lnTo>
                <a:lnTo>
                  <a:pt x="857568" y="1106880"/>
                </a:lnTo>
                <a:lnTo>
                  <a:pt x="895245" y="1072109"/>
                </a:lnTo>
                <a:lnTo>
                  <a:pt x="932787" y="1037182"/>
                </a:lnTo>
                <a:lnTo>
                  <a:pt x="970193" y="1002099"/>
                </a:lnTo>
                <a:lnTo>
                  <a:pt x="1007459" y="966863"/>
                </a:lnTo>
                <a:lnTo>
                  <a:pt x="1044582" y="931474"/>
                </a:lnTo>
                <a:lnTo>
                  <a:pt x="1081561" y="895933"/>
                </a:lnTo>
                <a:lnTo>
                  <a:pt x="1118392" y="860241"/>
                </a:lnTo>
                <a:lnTo>
                  <a:pt x="1155073" y="824399"/>
                </a:lnTo>
                <a:lnTo>
                  <a:pt x="1191601" y="788408"/>
                </a:lnTo>
                <a:lnTo>
                  <a:pt x="1227973" y="752269"/>
                </a:lnTo>
                <a:lnTo>
                  <a:pt x="1264187" y="715984"/>
                </a:lnTo>
                <a:lnTo>
                  <a:pt x="1300241" y="679552"/>
                </a:lnTo>
                <a:lnTo>
                  <a:pt x="1336131" y="642976"/>
                </a:lnTo>
                <a:lnTo>
                  <a:pt x="1371855" y="606256"/>
                </a:lnTo>
                <a:lnTo>
                  <a:pt x="1407411" y="569393"/>
                </a:lnTo>
                <a:lnTo>
                  <a:pt x="1442795" y="532388"/>
                </a:lnTo>
                <a:lnTo>
                  <a:pt x="1478006" y="495242"/>
                </a:lnTo>
                <a:lnTo>
                  <a:pt x="1513039" y="457957"/>
                </a:lnTo>
                <a:lnTo>
                  <a:pt x="1547894" y="420533"/>
                </a:lnTo>
                <a:lnTo>
                  <a:pt x="1582567" y="382971"/>
                </a:lnTo>
                <a:lnTo>
                  <a:pt x="1617055" y="345272"/>
                </a:lnTo>
                <a:lnTo>
                  <a:pt x="1651357" y="307438"/>
                </a:lnTo>
                <a:lnTo>
                  <a:pt x="1685468" y="269469"/>
                </a:lnTo>
                <a:lnTo>
                  <a:pt x="1719387" y="231366"/>
                </a:lnTo>
                <a:lnTo>
                  <a:pt x="1753111" y="193131"/>
                </a:lnTo>
                <a:lnTo>
                  <a:pt x="1786638" y="154764"/>
                </a:lnTo>
                <a:lnTo>
                  <a:pt x="1819964" y="116266"/>
                </a:lnTo>
                <a:lnTo>
                  <a:pt x="1853088" y="77639"/>
                </a:lnTo>
                <a:lnTo>
                  <a:pt x="1886006" y="38883"/>
                </a:lnTo>
                <a:lnTo>
                  <a:pt x="191871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39996423" name="object 4"/>
          <p:cNvSpPr/>
          <p:nvPr/>
        </p:nvSpPr>
        <p:spPr bwMode="auto">
          <a:xfrm>
            <a:off x="11202923" y="9144"/>
            <a:ext cx="963294" cy="367665"/>
          </a:xfrm>
          <a:custGeom>
            <a:avLst/>
            <a:gdLst/>
            <a:ahLst/>
            <a:cxnLst/>
            <a:rect l="l" t="t" r="r" b="b"/>
            <a:pathLst>
              <a:path w="963295" h="367665" fill="norm" stroke="1" extrusionOk="0">
                <a:moveTo>
                  <a:pt x="963168" y="367283"/>
                </a:moveTo>
                <a:lnTo>
                  <a:pt x="916739" y="345322"/>
                </a:lnTo>
                <a:lnTo>
                  <a:pt x="869978" y="323783"/>
                </a:lnTo>
                <a:lnTo>
                  <a:pt x="822909" y="302658"/>
                </a:lnTo>
                <a:lnTo>
                  <a:pt x="775557" y="281939"/>
                </a:lnTo>
                <a:lnTo>
                  <a:pt x="727948" y="261621"/>
                </a:lnTo>
                <a:lnTo>
                  <a:pt x="680106" y="241696"/>
                </a:lnTo>
                <a:lnTo>
                  <a:pt x="632057" y="222157"/>
                </a:lnTo>
                <a:lnTo>
                  <a:pt x="583826" y="202996"/>
                </a:lnTo>
                <a:lnTo>
                  <a:pt x="535437" y="184207"/>
                </a:lnTo>
                <a:lnTo>
                  <a:pt x="486918" y="165782"/>
                </a:lnTo>
                <a:lnTo>
                  <a:pt x="438291" y="147714"/>
                </a:lnTo>
                <a:lnTo>
                  <a:pt x="389583" y="129997"/>
                </a:lnTo>
                <a:lnTo>
                  <a:pt x="340818" y="112622"/>
                </a:lnTo>
                <a:lnTo>
                  <a:pt x="292022" y="95583"/>
                </a:lnTo>
                <a:lnTo>
                  <a:pt x="243220" y="78872"/>
                </a:lnTo>
                <a:lnTo>
                  <a:pt x="194438" y="62483"/>
                </a:lnTo>
                <a:lnTo>
                  <a:pt x="145699" y="46409"/>
                </a:lnTo>
                <a:lnTo>
                  <a:pt x="97030" y="30641"/>
                </a:lnTo>
                <a:lnTo>
                  <a:pt x="48455" y="15174"/>
                </a:ln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74278265" name="object 5"/>
          <p:cNvSpPr/>
          <p:nvPr/>
        </p:nvSpPr>
        <p:spPr bwMode="auto">
          <a:xfrm>
            <a:off x="10494264" y="5274564"/>
            <a:ext cx="1667510" cy="1579245"/>
          </a:xfrm>
          <a:custGeom>
            <a:avLst/>
            <a:gdLst/>
            <a:ahLst/>
            <a:cxnLst/>
            <a:rect l="l" t="t" r="r" b="b"/>
            <a:pathLst>
              <a:path w="1667509" h="1579245" fill="norm" stroke="1" extrusionOk="0">
                <a:moveTo>
                  <a:pt x="0" y="1578863"/>
                </a:moveTo>
                <a:lnTo>
                  <a:pt x="39546" y="1547081"/>
                </a:lnTo>
                <a:lnTo>
                  <a:pt x="79018" y="1515145"/>
                </a:lnTo>
                <a:lnTo>
                  <a:pt x="118415" y="1483054"/>
                </a:lnTo>
                <a:lnTo>
                  <a:pt x="157733" y="1450809"/>
                </a:lnTo>
                <a:lnTo>
                  <a:pt x="196970" y="1418411"/>
                </a:lnTo>
                <a:lnTo>
                  <a:pt x="236122" y="1385859"/>
                </a:lnTo>
                <a:lnTo>
                  <a:pt x="275187" y="1353154"/>
                </a:lnTo>
                <a:lnTo>
                  <a:pt x="314161" y="1320296"/>
                </a:lnTo>
                <a:lnTo>
                  <a:pt x="353043" y="1287285"/>
                </a:lnTo>
                <a:lnTo>
                  <a:pt x="391830" y="1254123"/>
                </a:lnTo>
                <a:lnTo>
                  <a:pt x="430517" y="1220808"/>
                </a:lnTo>
                <a:lnTo>
                  <a:pt x="469104" y="1187342"/>
                </a:lnTo>
                <a:lnTo>
                  <a:pt x="507586" y="1153725"/>
                </a:lnTo>
                <a:lnTo>
                  <a:pt x="545962" y="1119957"/>
                </a:lnTo>
                <a:lnTo>
                  <a:pt x="584228" y="1086038"/>
                </a:lnTo>
                <a:lnTo>
                  <a:pt x="622381" y="1051969"/>
                </a:lnTo>
                <a:lnTo>
                  <a:pt x="660419" y="1017750"/>
                </a:lnTo>
                <a:lnTo>
                  <a:pt x="698339" y="983382"/>
                </a:lnTo>
                <a:lnTo>
                  <a:pt x="736138" y="948864"/>
                </a:lnTo>
                <a:lnTo>
                  <a:pt x="773813" y="914197"/>
                </a:lnTo>
                <a:lnTo>
                  <a:pt x="811362" y="879381"/>
                </a:lnTo>
                <a:lnTo>
                  <a:pt x="848781" y="844417"/>
                </a:lnTo>
                <a:lnTo>
                  <a:pt x="886068" y="809304"/>
                </a:lnTo>
                <a:lnTo>
                  <a:pt x="923220" y="774044"/>
                </a:lnTo>
                <a:lnTo>
                  <a:pt x="960234" y="738637"/>
                </a:lnTo>
                <a:lnTo>
                  <a:pt x="997108" y="703082"/>
                </a:lnTo>
                <a:lnTo>
                  <a:pt x="1033838" y="667380"/>
                </a:lnTo>
                <a:lnTo>
                  <a:pt x="1070422" y="631532"/>
                </a:lnTo>
                <a:lnTo>
                  <a:pt x="1106857" y="595538"/>
                </a:lnTo>
                <a:lnTo>
                  <a:pt x="1143141" y="559398"/>
                </a:lnTo>
                <a:lnTo>
                  <a:pt x="1179269" y="523112"/>
                </a:lnTo>
                <a:lnTo>
                  <a:pt x="1215240" y="486681"/>
                </a:lnTo>
                <a:lnTo>
                  <a:pt x="1251051" y="450105"/>
                </a:lnTo>
                <a:lnTo>
                  <a:pt x="1286699" y="413384"/>
                </a:lnTo>
                <a:lnTo>
                  <a:pt x="1322180" y="376519"/>
                </a:lnTo>
                <a:lnTo>
                  <a:pt x="1357493" y="339510"/>
                </a:lnTo>
                <a:lnTo>
                  <a:pt x="1392635" y="302357"/>
                </a:lnTo>
                <a:lnTo>
                  <a:pt x="1427602" y="265061"/>
                </a:lnTo>
                <a:lnTo>
                  <a:pt x="1462392" y="227622"/>
                </a:lnTo>
                <a:lnTo>
                  <a:pt x="1497002" y="190040"/>
                </a:lnTo>
                <a:lnTo>
                  <a:pt x="1531430" y="152316"/>
                </a:lnTo>
                <a:lnTo>
                  <a:pt x="1565672" y="114449"/>
                </a:lnTo>
                <a:lnTo>
                  <a:pt x="1599725" y="76441"/>
                </a:lnTo>
                <a:lnTo>
                  <a:pt x="1633587" y="38291"/>
                </a:lnTo>
                <a:lnTo>
                  <a:pt x="1667255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81403621" name="object 6"/>
          <p:cNvSpPr/>
          <p:nvPr/>
        </p:nvSpPr>
        <p:spPr bwMode="auto">
          <a:xfrm>
            <a:off x="11501628" y="9144"/>
            <a:ext cx="664845" cy="257810"/>
          </a:xfrm>
          <a:custGeom>
            <a:avLst/>
            <a:gdLst/>
            <a:ahLst/>
            <a:cxnLst/>
            <a:rect l="l" t="t" r="r" b="b"/>
            <a:pathLst>
              <a:path w="664845" h="257810" fill="norm" stroke="1" extrusionOk="0">
                <a:moveTo>
                  <a:pt x="664464" y="257555"/>
                </a:moveTo>
                <a:lnTo>
                  <a:pt x="618547" y="237263"/>
                </a:lnTo>
                <a:lnTo>
                  <a:pt x="572353" y="217263"/>
                </a:lnTo>
                <a:lnTo>
                  <a:pt x="525891" y="197554"/>
                </a:lnTo>
                <a:lnTo>
                  <a:pt x="479171" y="178136"/>
                </a:lnTo>
                <a:lnTo>
                  <a:pt x="432203" y="159011"/>
                </a:lnTo>
                <a:lnTo>
                  <a:pt x="384998" y="140176"/>
                </a:lnTo>
                <a:lnTo>
                  <a:pt x="337565" y="121634"/>
                </a:lnTo>
                <a:lnTo>
                  <a:pt x="289915" y="103383"/>
                </a:lnTo>
                <a:lnTo>
                  <a:pt x="242057" y="85423"/>
                </a:lnTo>
                <a:lnTo>
                  <a:pt x="194001" y="67755"/>
                </a:lnTo>
                <a:lnTo>
                  <a:pt x="145757" y="50379"/>
                </a:lnTo>
                <a:lnTo>
                  <a:pt x="97336" y="33294"/>
                </a:lnTo>
                <a:lnTo>
                  <a:pt x="48746" y="16501"/>
                </a:ln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64022946" name="object 7"/>
          <p:cNvSpPr/>
          <p:nvPr/>
        </p:nvSpPr>
        <p:spPr bwMode="auto">
          <a:xfrm>
            <a:off x="10640568" y="5408676"/>
            <a:ext cx="1525905" cy="1435735"/>
          </a:xfrm>
          <a:custGeom>
            <a:avLst/>
            <a:gdLst/>
            <a:ahLst/>
            <a:cxnLst/>
            <a:rect l="l" t="t" r="r" b="b"/>
            <a:pathLst>
              <a:path w="1525904" h="1435734" fill="norm" stroke="1" extrusionOk="0">
                <a:moveTo>
                  <a:pt x="0" y="1435608"/>
                </a:moveTo>
                <a:lnTo>
                  <a:pt x="39599" y="1403531"/>
                </a:lnTo>
                <a:lnTo>
                  <a:pt x="79112" y="1371302"/>
                </a:lnTo>
                <a:lnTo>
                  <a:pt x="118535" y="1338921"/>
                </a:lnTo>
                <a:lnTo>
                  <a:pt x="157865" y="1306389"/>
                </a:lnTo>
                <a:lnTo>
                  <a:pt x="197101" y="1273706"/>
                </a:lnTo>
                <a:lnTo>
                  <a:pt x="236240" y="1240872"/>
                </a:lnTo>
                <a:lnTo>
                  <a:pt x="275279" y="1207888"/>
                </a:lnTo>
                <a:lnTo>
                  <a:pt x="314215" y="1174754"/>
                </a:lnTo>
                <a:lnTo>
                  <a:pt x="353047" y="1141470"/>
                </a:lnTo>
                <a:lnTo>
                  <a:pt x="391772" y="1108038"/>
                </a:lnTo>
                <a:lnTo>
                  <a:pt x="430388" y="1074457"/>
                </a:lnTo>
                <a:lnTo>
                  <a:pt x="468891" y="1040728"/>
                </a:lnTo>
                <a:lnTo>
                  <a:pt x="507279" y="1006851"/>
                </a:lnTo>
                <a:lnTo>
                  <a:pt x="545551" y="972827"/>
                </a:lnTo>
                <a:lnTo>
                  <a:pt x="583703" y="938656"/>
                </a:lnTo>
                <a:lnTo>
                  <a:pt x="621732" y="904338"/>
                </a:lnTo>
                <a:lnTo>
                  <a:pt x="659638" y="869875"/>
                </a:lnTo>
                <a:lnTo>
                  <a:pt x="697416" y="835265"/>
                </a:lnTo>
                <a:lnTo>
                  <a:pt x="735064" y="800511"/>
                </a:lnTo>
                <a:lnTo>
                  <a:pt x="772581" y="765611"/>
                </a:lnTo>
                <a:lnTo>
                  <a:pt x="809963" y="730567"/>
                </a:lnTo>
                <a:lnTo>
                  <a:pt x="847208" y="695379"/>
                </a:lnTo>
                <a:lnTo>
                  <a:pt x="884313" y="660048"/>
                </a:lnTo>
                <a:lnTo>
                  <a:pt x="921277" y="624573"/>
                </a:lnTo>
                <a:lnTo>
                  <a:pt x="958096" y="588956"/>
                </a:lnTo>
                <a:lnTo>
                  <a:pt x="994768" y="553196"/>
                </a:lnTo>
                <a:lnTo>
                  <a:pt x="1031291" y="517295"/>
                </a:lnTo>
                <a:lnTo>
                  <a:pt x="1067662" y="481251"/>
                </a:lnTo>
                <a:lnTo>
                  <a:pt x="1103878" y="445067"/>
                </a:lnTo>
                <a:lnTo>
                  <a:pt x="1139937" y="408742"/>
                </a:lnTo>
                <a:lnTo>
                  <a:pt x="1175837" y="372277"/>
                </a:lnTo>
                <a:lnTo>
                  <a:pt x="1211576" y="335671"/>
                </a:lnTo>
                <a:lnTo>
                  <a:pt x="1247149" y="298927"/>
                </a:lnTo>
                <a:lnTo>
                  <a:pt x="1282556" y="262043"/>
                </a:lnTo>
                <a:lnTo>
                  <a:pt x="1317794" y="225021"/>
                </a:lnTo>
                <a:lnTo>
                  <a:pt x="1352859" y="187860"/>
                </a:lnTo>
                <a:lnTo>
                  <a:pt x="1387751" y="150562"/>
                </a:lnTo>
                <a:lnTo>
                  <a:pt x="1422465" y="113127"/>
                </a:lnTo>
                <a:lnTo>
                  <a:pt x="1457001" y="75554"/>
                </a:lnTo>
                <a:lnTo>
                  <a:pt x="1491354" y="37845"/>
                </a:lnTo>
                <a:lnTo>
                  <a:pt x="1525524" y="0"/>
                </a:lnTo>
              </a:path>
              <a:path w="1525904" h="1435734" fill="norm" stroke="1" extrusionOk="0">
                <a:moveTo>
                  <a:pt x="163067" y="1435608"/>
                </a:moveTo>
                <a:lnTo>
                  <a:pt x="201898" y="1402397"/>
                </a:lnTo>
                <a:lnTo>
                  <a:pt x="240643" y="1369040"/>
                </a:lnTo>
                <a:lnTo>
                  <a:pt x="279301" y="1335538"/>
                </a:lnTo>
                <a:lnTo>
                  <a:pt x="317869" y="1301890"/>
                </a:lnTo>
                <a:lnTo>
                  <a:pt x="356345" y="1268097"/>
                </a:lnTo>
                <a:lnTo>
                  <a:pt x="394727" y="1234157"/>
                </a:lnTo>
                <a:lnTo>
                  <a:pt x="433013" y="1200072"/>
                </a:lnTo>
                <a:lnTo>
                  <a:pt x="471199" y="1165841"/>
                </a:lnTo>
                <a:lnTo>
                  <a:pt x="509285" y="1131464"/>
                </a:lnTo>
                <a:lnTo>
                  <a:pt x="547268" y="1096941"/>
                </a:lnTo>
                <a:lnTo>
                  <a:pt x="585145" y="1062273"/>
                </a:lnTo>
                <a:lnTo>
                  <a:pt x="622914" y="1027459"/>
                </a:lnTo>
                <a:lnTo>
                  <a:pt x="660573" y="992499"/>
                </a:lnTo>
                <a:lnTo>
                  <a:pt x="698120" y="957393"/>
                </a:lnTo>
                <a:lnTo>
                  <a:pt x="735552" y="922142"/>
                </a:lnTo>
                <a:lnTo>
                  <a:pt x="772868" y="886744"/>
                </a:lnTo>
                <a:lnTo>
                  <a:pt x="810065" y="851201"/>
                </a:lnTo>
                <a:lnTo>
                  <a:pt x="847140" y="815513"/>
                </a:lnTo>
                <a:lnTo>
                  <a:pt x="884092" y="779678"/>
                </a:lnTo>
                <a:lnTo>
                  <a:pt x="920918" y="743698"/>
                </a:lnTo>
                <a:lnTo>
                  <a:pt x="957616" y="707571"/>
                </a:lnTo>
                <a:lnTo>
                  <a:pt x="994183" y="671300"/>
                </a:lnTo>
                <a:lnTo>
                  <a:pt x="1030618" y="634882"/>
                </a:lnTo>
                <a:lnTo>
                  <a:pt x="1066918" y="598318"/>
                </a:lnTo>
                <a:lnTo>
                  <a:pt x="1103081" y="561609"/>
                </a:lnTo>
                <a:lnTo>
                  <a:pt x="1139105" y="524754"/>
                </a:lnTo>
                <a:lnTo>
                  <a:pt x="1174987" y="487753"/>
                </a:lnTo>
                <a:lnTo>
                  <a:pt x="1210725" y="450607"/>
                </a:lnTo>
                <a:lnTo>
                  <a:pt x="1246318" y="413314"/>
                </a:lnTo>
                <a:lnTo>
                  <a:pt x="1281761" y="375876"/>
                </a:lnTo>
                <a:lnTo>
                  <a:pt x="1317054" y="338292"/>
                </a:lnTo>
                <a:lnTo>
                  <a:pt x="1352195" y="300563"/>
                </a:lnTo>
                <a:lnTo>
                  <a:pt x="1387180" y="262687"/>
                </a:lnTo>
                <a:lnTo>
                  <a:pt x="1422007" y="224666"/>
                </a:lnTo>
                <a:lnTo>
                  <a:pt x="1456675" y="186499"/>
                </a:lnTo>
                <a:lnTo>
                  <a:pt x="1491182" y="148186"/>
                </a:lnTo>
                <a:lnTo>
                  <a:pt x="1525524" y="10972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1863217531" name="object 8"/>
          <p:cNvPicPr/>
          <p:nvPr/>
        </p:nvPicPr>
        <p:blipFill>
          <a:blip r:embed="rId3"/>
          <a:stretch/>
        </p:blipFill>
        <p:spPr bwMode="auto">
          <a:xfrm>
            <a:off x="-190" y="-6350"/>
            <a:ext cx="5174361" cy="6856982"/>
          </a:xfrm>
          <a:prstGeom prst="rect">
            <a:avLst/>
          </a:prstGeom>
        </p:spPr>
      </p:pic>
      <p:sp>
        <p:nvSpPr>
          <p:cNvPr id="2121428053" name="object 9"/>
          <p:cNvSpPr/>
          <p:nvPr/>
        </p:nvSpPr>
        <p:spPr bwMode="auto">
          <a:xfrm>
            <a:off x="10978895" y="5693664"/>
            <a:ext cx="1187450" cy="1150620"/>
          </a:xfrm>
          <a:custGeom>
            <a:avLst/>
            <a:gdLst/>
            <a:ahLst/>
            <a:cxnLst/>
            <a:rect l="l" t="t" r="r" b="b"/>
            <a:pathLst>
              <a:path w="1187450" h="1150620" fill="norm" stroke="1" extrusionOk="0">
                <a:moveTo>
                  <a:pt x="0" y="1150620"/>
                </a:moveTo>
                <a:lnTo>
                  <a:pt x="37932" y="1117704"/>
                </a:lnTo>
                <a:lnTo>
                  <a:pt x="75758" y="1084658"/>
                </a:lnTo>
                <a:lnTo>
                  <a:pt x="113477" y="1051483"/>
                </a:lnTo>
                <a:lnTo>
                  <a:pt x="151087" y="1018179"/>
                </a:lnTo>
                <a:lnTo>
                  <a:pt x="188586" y="984747"/>
                </a:lnTo>
                <a:lnTo>
                  <a:pt x="225973" y="951189"/>
                </a:lnTo>
                <a:lnTo>
                  <a:pt x="263246" y="917504"/>
                </a:lnTo>
                <a:lnTo>
                  <a:pt x="300404" y="883693"/>
                </a:lnTo>
                <a:lnTo>
                  <a:pt x="337445" y="849759"/>
                </a:lnTo>
                <a:lnTo>
                  <a:pt x="374367" y="815700"/>
                </a:lnTo>
                <a:lnTo>
                  <a:pt x="411169" y="781518"/>
                </a:lnTo>
                <a:lnTo>
                  <a:pt x="447849" y="747214"/>
                </a:lnTo>
                <a:lnTo>
                  <a:pt x="484406" y="712788"/>
                </a:lnTo>
                <a:lnTo>
                  <a:pt x="520838" y="678242"/>
                </a:lnTo>
                <a:lnTo>
                  <a:pt x="557144" y="643576"/>
                </a:lnTo>
                <a:lnTo>
                  <a:pt x="593321" y="608791"/>
                </a:lnTo>
                <a:lnTo>
                  <a:pt x="629369" y="573888"/>
                </a:lnTo>
                <a:lnTo>
                  <a:pt x="665286" y="538867"/>
                </a:lnTo>
                <a:lnTo>
                  <a:pt x="701069" y="503730"/>
                </a:lnTo>
                <a:lnTo>
                  <a:pt x="736718" y="468476"/>
                </a:lnTo>
                <a:lnTo>
                  <a:pt x="772231" y="433108"/>
                </a:lnTo>
                <a:lnTo>
                  <a:pt x="807607" y="397625"/>
                </a:lnTo>
                <a:lnTo>
                  <a:pt x="842843" y="362029"/>
                </a:lnTo>
                <a:lnTo>
                  <a:pt x="877938" y="326320"/>
                </a:lnTo>
                <a:lnTo>
                  <a:pt x="912891" y="290499"/>
                </a:lnTo>
                <a:lnTo>
                  <a:pt x="947700" y="254567"/>
                </a:lnTo>
                <a:lnTo>
                  <a:pt x="982363" y="218525"/>
                </a:lnTo>
                <a:lnTo>
                  <a:pt x="1016879" y="182373"/>
                </a:lnTo>
                <a:lnTo>
                  <a:pt x="1051246" y="146113"/>
                </a:lnTo>
                <a:lnTo>
                  <a:pt x="1085463" y="109744"/>
                </a:lnTo>
                <a:lnTo>
                  <a:pt x="1119528" y="73269"/>
                </a:lnTo>
                <a:lnTo>
                  <a:pt x="1153439" y="36687"/>
                </a:lnTo>
                <a:lnTo>
                  <a:pt x="1187196" y="0"/>
                </a:lnTo>
              </a:path>
              <a:path w="1187450" h="1150620" fill="norm" stroke="1" extrusionOk="0">
                <a:moveTo>
                  <a:pt x="307848" y="1150620"/>
                </a:moveTo>
                <a:lnTo>
                  <a:pt x="346881" y="1117670"/>
                </a:lnTo>
                <a:lnTo>
                  <a:pt x="385857" y="1084562"/>
                </a:lnTo>
                <a:lnTo>
                  <a:pt x="424773" y="1051296"/>
                </a:lnTo>
                <a:lnTo>
                  <a:pt x="463629" y="1017876"/>
                </a:lnTo>
                <a:lnTo>
                  <a:pt x="502420" y="984303"/>
                </a:lnTo>
                <a:lnTo>
                  <a:pt x="541146" y="950580"/>
                </a:lnTo>
                <a:lnTo>
                  <a:pt x="579803" y="916710"/>
                </a:lnTo>
                <a:lnTo>
                  <a:pt x="618390" y="882694"/>
                </a:lnTo>
                <a:lnTo>
                  <a:pt x="656904" y="848535"/>
                </a:lnTo>
                <a:lnTo>
                  <a:pt x="695343" y="814236"/>
                </a:lnTo>
                <a:lnTo>
                  <a:pt x="733704" y="779798"/>
                </a:lnTo>
                <a:lnTo>
                  <a:pt x="771986" y="745225"/>
                </a:lnTo>
                <a:lnTo>
                  <a:pt x="810187" y="710517"/>
                </a:lnTo>
                <a:lnTo>
                  <a:pt x="848303" y="675679"/>
                </a:lnTo>
                <a:lnTo>
                  <a:pt x="886333" y="640712"/>
                </a:lnTo>
                <a:lnTo>
                  <a:pt x="924274" y="605618"/>
                </a:lnTo>
                <a:lnTo>
                  <a:pt x="962125" y="570400"/>
                </a:lnTo>
                <a:lnTo>
                  <a:pt x="999883" y="535060"/>
                </a:lnTo>
                <a:lnTo>
                  <a:pt x="1037545" y="499601"/>
                </a:lnTo>
                <a:lnTo>
                  <a:pt x="1075110" y="464024"/>
                </a:lnTo>
                <a:lnTo>
                  <a:pt x="1112574" y="428333"/>
                </a:lnTo>
                <a:lnTo>
                  <a:pt x="1149937" y="392529"/>
                </a:lnTo>
                <a:lnTo>
                  <a:pt x="1187196" y="35661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36816397" name="object 10"/>
          <p:cNvSpPr/>
          <p:nvPr/>
        </p:nvSpPr>
        <p:spPr bwMode="auto">
          <a:xfrm>
            <a:off x="800100" y="1699260"/>
            <a:ext cx="3674745" cy="502920"/>
          </a:xfrm>
          <a:custGeom>
            <a:avLst/>
            <a:gdLst/>
            <a:ahLst/>
            <a:cxnLst/>
            <a:rect l="l" t="t" r="r" b="b"/>
            <a:pathLst>
              <a:path w="3674745" h="502919" fill="norm" stroke="1" extrusionOk="0">
                <a:moveTo>
                  <a:pt x="3674364" y="0"/>
                </a:moveTo>
                <a:lnTo>
                  <a:pt x="0" y="0"/>
                </a:lnTo>
                <a:lnTo>
                  <a:pt x="0" y="502920"/>
                </a:lnTo>
                <a:lnTo>
                  <a:pt x="3674364" y="502920"/>
                </a:lnTo>
                <a:lnTo>
                  <a:pt x="3674364" y="0"/>
                </a:lnTo>
                <a:close/>
              </a:path>
            </a:pathLst>
          </a:custGeom>
          <a:solidFill>
            <a:srgbClr val="539E3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24517212" name="object 11"/>
          <p:cNvSpPr/>
          <p:nvPr/>
        </p:nvSpPr>
        <p:spPr bwMode="auto">
          <a:xfrm>
            <a:off x="2482595" y="4898135"/>
            <a:ext cx="315595" cy="271780"/>
          </a:xfrm>
          <a:custGeom>
            <a:avLst/>
            <a:gdLst/>
            <a:ahLst/>
            <a:cxnLst/>
            <a:rect l="l" t="t" r="r" b="b"/>
            <a:pathLst>
              <a:path w="315594" h="271779" fill="norm" stroke="1" extrusionOk="0">
                <a:moveTo>
                  <a:pt x="315468" y="0"/>
                </a:moveTo>
                <a:lnTo>
                  <a:pt x="0" y="0"/>
                </a:lnTo>
                <a:lnTo>
                  <a:pt x="157734" y="271271"/>
                </a:lnTo>
                <a:lnTo>
                  <a:pt x="315468" y="0"/>
                </a:lnTo>
                <a:close/>
              </a:path>
            </a:pathLst>
          </a:custGeom>
          <a:solidFill>
            <a:srgbClr val="539E3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79785145" name="object 12"/>
          <p:cNvSpPr txBox="1"/>
          <p:nvPr/>
        </p:nvSpPr>
        <p:spPr bwMode="auto">
          <a:xfrm>
            <a:off x="806195" y="2275332"/>
            <a:ext cx="3668395" cy="2624455"/>
          </a:xfrm>
          <a:prstGeom prst="rect">
            <a:avLst/>
          </a:prstGeom>
          <a:solidFill>
            <a:srgbClr val="539E39"/>
          </a:solidFill>
        </p:spPr>
        <p:txBody>
          <a:bodyPr vert="horz" wrap="square" lIns="0" tIns="1727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60"/>
              </a:spcBef>
              <a:defRPr/>
            </a:pPr>
            <a:endParaRPr sz="4000">
              <a:latin typeface="Times New Roman"/>
              <a:cs typeface="Times New Roman"/>
            </a:endParaRPr>
          </a:p>
          <a:p>
            <a:pPr marL="923290" marR="901065" indent="297180">
              <a:lnSpc>
                <a:spcPts val="4079"/>
              </a:lnSpc>
              <a:defRPr/>
            </a:pPr>
            <a:r>
              <a:rPr sz="4000" spc="-30">
                <a:solidFill>
                  <a:srgbClr val="FFFDFF"/>
                </a:solidFill>
                <a:latin typeface="Carlito"/>
                <a:cs typeface="Carlito"/>
              </a:rPr>
              <a:t>Virtual </a:t>
            </a:r>
            <a:r>
              <a:rPr sz="4000" spc="-155">
                <a:solidFill>
                  <a:srgbClr val="FFFDFF"/>
                </a:solidFill>
                <a:latin typeface="Carlito"/>
                <a:cs typeface="Carlito"/>
              </a:rPr>
              <a:t>Functions</a:t>
            </a:r>
            <a:endParaRPr sz="4000">
              <a:latin typeface="Carlito"/>
              <a:cs typeface="Carlito"/>
            </a:endParaRPr>
          </a:p>
        </p:txBody>
      </p:sp>
      <p:sp>
        <p:nvSpPr>
          <p:cNvPr id="1284987844" name="object 13"/>
          <p:cNvSpPr txBox="1"/>
          <p:nvPr/>
        </p:nvSpPr>
        <p:spPr bwMode="auto">
          <a:xfrm>
            <a:off x="5197855" y="1940813"/>
            <a:ext cx="6094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539E39"/>
              </a:buClr>
              <a:buSzPct val="108333"/>
              <a:buFont typeface="Wingdings"/>
              <a:buChar char=""/>
              <a:tabLst>
                <a:tab pos="240665" algn="l"/>
              </a:tabLst>
              <a:defRPr/>
            </a:pPr>
            <a:r>
              <a:rPr sz="1800">
                <a:latin typeface="Georgia"/>
                <a:cs typeface="Georgia"/>
              </a:rPr>
              <a:t>A</a:t>
            </a:r>
            <a:r>
              <a:rPr sz="1800" spc="2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virtual function</a:t>
            </a:r>
            <a:r>
              <a:rPr sz="1800" spc="3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is</a:t>
            </a:r>
            <a:r>
              <a:rPr sz="1800" spc="1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a </a:t>
            </a:r>
            <a:r>
              <a:rPr sz="1800" spc="65">
                <a:latin typeface="Georgia"/>
                <a:cs typeface="Georgia"/>
              </a:rPr>
              <a:t>member</a:t>
            </a:r>
            <a:r>
              <a:rPr sz="1800" spc="3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function</a:t>
            </a:r>
            <a:r>
              <a:rPr sz="1800" spc="2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in</a:t>
            </a:r>
            <a:r>
              <a:rPr sz="1800" spc="2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the</a:t>
            </a:r>
            <a:r>
              <a:rPr sz="1800" spc="15">
                <a:latin typeface="Georgia"/>
                <a:cs typeface="Georgia"/>
              </a:rPr>
              <a:t> </a:t>
            </a:r>
            <a:r>
              <a:rPr sz="1800" spc="95">
                <a:latin typeface="Georgia"/>
                <a:cs typeface="Georgia"/>
              </a:rPr>
              <a:t>base</a:t>
            </a:r>
            <a:r>
              <a:rPr sz="1800" spc="15">
                <a:latin typeface="Georgia"/>
                <a:cs typeface="Georgia"/>
              </a:rPr>
              <a:t> </a:t>
            </a:r>
            <a:r>
              <a:rPr sz="1800" spc="40">
                <a:latin typeface="Georgia"/>
                <a:cs typeface="Georgia"/>
              </a:rPr>
              <a:t>class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51149477" name="object 14"/>
          <p:cNvSpPr txBox="1">
            <a:spLocks noGrp="1"/>
          </p:cNvSpPr>
          <p:nvPr>
            <p:ph type="title"/>
          </p:nvPr>
        </p:nvSpPr>
        <p:spPr bwMode="auto">
          <a:xfrm>
            <a:off x="5426455" y="2269693"/>
            <a:ext cx="47713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b="0" spc="-20">
                <a:latin typeface="Georgia"/>
                <a:cs typeface="Georgia"/>
              </a:rPr>
              <a:t>that</a:t>
            </a:r>
            <a:r>
              <a:rPr sz="1800" b="0" spc="35">
                <a:latin typeface="Georgia"/>
                <a:cs typeface="Georgia"/>
              </a:rPr>
              <a:t> </a:t>
            </a:r>
            <a:r>
              <a:rPr sz="1800" b="0" spc="80">
                <a:latin typeface="Georgia"/>
                <a:cs typeface="Georgia"/>
              </a:rPr>
              <a:t>we</a:t>
            </a:r>
            <a:r>
              <a:rPr sz="1800" b="0" spc="60">
                <a:latin typeface="Georgia"/>
                <a:cs typeface="Georgia"/>
              </a:rPr>
              <a:t> </a:t>
            </a:r>
            <a:r>
              <a:rPr sz="1800" b="0" spc="85">
                <a:latin typeface="Georgia"/>
                <a:cs typeface="Georgia"/>
              </a:rPr>
              <a:t>expect</a:t>
            </a:r>
            <a:r>
              <a:rPr sz="1800" b="0" spc="25">
                <a:latin typeface="Georgia"/>
                <a:cs typeface="Georgia"/>
              </a:rPr>
              <a:t> </a:t>
            </a:r>
            <a:r>
              <a:rPr sz="1800" b="0">
                <a:latin typeface="Georgia"/>
                <a:cs typeface="Georgia"/>
              </a:rPr>
              <a:t>to</a:t>
            </a:r>
            <a:r>
              <a:rPr sz="1800" b="0" spc="60">
                <a:latin typeface="Georgia"/>
                <a:cs typeface="Georgia"/>
              </a:rPr>
              <a:t> </a:t>
            </a:r>
            <a:r>
              <a:rPr sz="1800" b="0">
                <a:latin typeface="Georgia"/>
                <a:cs typeface="Georgia"/>
              </a:rPr>
              <a:t>redefine</a:t>
            </a:r>
            <a:r>
              <a:rPr sz="1800" b="0" spc="55">
                <a:latin typeface="Georgia"/>
                <a:cs typeface="Georgia"/>
              </a:rPr>
              <a:t> </a:t>
            </a:r>
            <a:r>
              <a:rPr sz="1800" b="0">
                <a:latin typeface="Georgia"/>
                <a:cs typeface="Georgia"/>
              </a:rPr>
              <a:t>in</a:t>
            </a:r>
            <a:r>
              <a:rPr sz="1800" b="0" spc="60">
                <a:latin typeface="Georgia"/>
                <a:cs typeface="Georgia"/>
              </a:rPr>
              <a:t> </a:t>
            </a:r>
            <a:r>
              <a:rPr sz="1800" b="0" spc="65">
                <a:latin typeface="Georgia"/>
                <a:cs typeface="Georgia"/>
              </a:rPr>
              <a:t>derived</a:t>
            </a:r>
            <a:r>
              <a:rPr sz="1800" b="0" spc="60">
                <a:latin typeface="Georgia"/>
                <a:cs typeface="Georgia"/>
              </a:rPr>
              <a:t> </a:t>
            </a:r>
            <a:r>
              <a:rPr sz="1800" b="0" spc="50">
                <a:latin typeface="Georgia"/>
                <a:cs typeface="Georgia"/>
              </a:rPr>
              <a:t>classes.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456445375" name="object 15"/>
          <p:cNvSpPr txBox="1"/>
          <p:nvPr/>
        </p:nvSpPr>
        <p:spPr bwMode="auto">
          <a:xfrm>
            <a:off x="5197855" y="3128641"/>
            <a:ext cx="5838190" cy="1342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20000"/>
              </a:lnSpc>
              <a:spcBef>
                <a:spcPts val="95"/>
              </a:spcBef>
              <a:buClr>
                <a:srgbClr val="539E39"/>
              </a:buClr>
              <a:buSzPct val="108333"/>
              <a:buFont typeface="Wingdings"/>
              <a:buChar char=""/>
              <a:tabLst>
                <a:tab pos="241300" algn="l"/>
              </a:tabLst>
              <a:defRPr/>
            </a:pPr>
            <a:r>
              <a:rPr sz="1800">
                <a:latin typeface="Georgia"/>
                <a:cs typeface="Georgia"/>
              </a:rPr>
              <a:t>Basically,</a:t>
            </a:r>
            <a:r>
              <a:rPr sz="1800" spc="-14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a</a:t>
            </a:r>
            <a:r>
              <a:rPr sz="1800" spc="1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virtual</a:t>
            </a:r>
            <a:r>
              <a:rPr sz="1800" spc="2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function</a:t>
            </a:r>
            <a:r>
              <a:rPr sz="1800" spc="3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is</a:t>
            </a:r>
            <a:r>
              <a:rPr sz="1800" spc="25">
                <a:latin typeface="Georgia"/>
                <a:cs typeface="Georgia"/>
              </a:rPr>
              <a:t> </a:t>
            </a:r>
            <a:r>
              <a:rPr sz="1800" spc="55">
                <a:latin typeface="Georgia"/>
                <a:cs typeface="Georgia"/>
              </a:rPr>
              <a:t>used</a:t>
            </a:r>
            <a:r>
              <a:rPr sz="1800" spc="3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in</a:t>
            </a:r>
            <a:r>
              <a:rPr sz="1800" spc="3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the</a:t>
            </a:r>
            <a:r>
              <a:rPr sz="1800" spc="30">
                <a:latin typeface="Georgia"/>
                <a:cs typeface="Georgia"/>
              </a:rPr>
              <a:t> </a:t>
            </a:r>
            <a:r>
              <a:rPr sz="1800" spc="95">
                <a:latin typeface="Georgia"/>
                <a:cs typeface="Georgia"/>
              </a:rPr>
              <a:t>base</a:t>
            </a:r>
            <a:r>
              <a:rPr sz="1800" spc="25">
                <a:latin typeface="Georgia"/>
                <a:cs typeface="Georgia"/>
              </a:rPr>
              <a:t> </a:t>
            </a:r>
            <a:r>
              <a:rPr sz="1800" spc="50">
                <a:latin typeface="Georgia"/>
                <a:cs typeface="Georgia"/>
              </a:rPr>
              <a:t>class</a:t>
            </a:r>
            <a:r>
              <a:rPr sz="1800" spc="15">
                <a:latin typeface="Georgia"/>
                <a:cs typeface="Georgia"/>
              </a:rPr>
              <a:t> </a:t>
            </a:r>
            <a:r>
              <a:rPr sz="1800" spc="-25">
                <a:latin typeface="Georgia"/>
                <a:cs typeface="Georgia"/>
              </a:rPr>
              <a:t>in </a:t>
            </a:r>
            <a:r>
              <a:rPr sz="1800">
                <a:latin typeface="Georgia"/>
                <a:cs typeface="Georgia"/>
              </a:rPr>
              <a:t>order</a:t>
            </a:r>
            <a:r>
              <a:rPr sz="1800" spc="12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to</a:t>
            </a:r>
            <a:r>
              <a:rPr sz="1800" spc="12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ensure</a:t>
            </a:r>
            <a:r>
              <a:rPr sz="1800" spc="125">
                <a:latin typeface="Georgia"/>
                <a:cs typeface="Georgia"/>
              </a:rPr>
              <a:t> </a:t>
            </a:r>
            <a:r>
              <a:rPr sz="1800" spc="-20">
                <a:latin typeface="Georgia"/>
                <a:cs typeface="Georgia"/>
              </a:rPr>
              <a:t>that</a:t>
            </a:r>
            <a:r>
              <a:rPr sz="1800" spc="114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the</a:t>
            </a:r>
            <a:r>
              <a:rPr sz="1800" spc="12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function</a:t>
            </a:r>
            <a:r>
              <a:rPr sz="1800" spc="14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is</a:t>
            </a:r>
            <a:r>
              <a:rPr sz="1800" spc="13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overridden.</a:t>
            </a:r>
            <a:r>
              <a:rPr sz="1800" spc="-130">
                <a:latin typeface="Georgia"/>
                <a:cs typeface="Georgia"/>
              </a:rPr>
              <a:t> </a:t>
            </a:r>
            <a:r>
              <a:rPr sz="1800" spc="-20">
                <a:latin typeface="Georgia"/>
                <a:cs typeface="Georgia"/>
              </a:rPr>
              <a:t>This </a:t>
            </a:r>
            <a:r>
              <a:rPr sz="1800" spc="70">
                <a:latin typeface="Georgia"/>
                <a:cs typeface="Georgia"/>
              </a:rPr>
              <a:t>especially</a:t>
            </a:r>
            <a:r>
              <a:rPr sz="1800" spc="60">
                <a:latin typeface="Georgia"/>
                <a:cs typeface="Georgia"/>
              </a:rPr>
              <a:t> applies </a:t>
            </a:r>
            <a:r>
              <a:rPr sz="1800">
                <a:latin typeface="Georgia"/>
                <a:cs typeface="Georgia"/>
              </a:rPr>
              <a:t>to</a:t>
            </a:r>
            <a:r>
              <a:rPr sz="1800" spc="60">
                <a:latin typeface="Georgia"/>
                <a:cs typeface="Georgia"/>
              </a:rPr>
              <a:t> </a:t>
            </a:r>
            <a:r>
              <a:rPr sz="1800" spc="75">
                <a:latin typeface="Georgia"/>
                <a:cs typeface="Georgia"/>
              </a:rPr>
              <a:t>cases </a:t>
            </a:r>
            <a:r>
              <a:rPr sz="1800">
                <a:latin typeface="Georgia"/>
                <a:cs typeface="Georgia"/>
              </a:rPr>
              <a:t>where</a:t>
            </a:r>
            <a:r>
              <a:rPr sz="1800" spc="8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a</a:t>
            </a:r>
            <a:r>
              <a:rPr sz="1800" spc="5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pointer</a:t>
            </a:r>
            <a:r>
              <a:rPr sz="1800" spc="8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of</a:t>
            </a:r>
            <a:r>
              <a:rPr sz="1800" spc="80">
                <a:latin typeface="Georgia"/>
                <a:cs typeface="Georgia"/>
              </a:rPr>
              <a:t> </a:t>
            </a:r>
            <a:r>
              <a:rPr sz="1800" spc="75">
                <a:latin typeface="Georgia"/>
                <a:cs typeface="Georgia"/>
              </a:rPr>
              <a:t>base </a:t>
            </a:r>
            <a:r>
              <a:rPr sz="1800" spc="50">
                <a:latin typeface="Georgia"/>
                <a:cs typeface="Georgia"/>
              </a:rPr>
              <a:t>class</a:t>
            </a:r>
            <a:r>
              <a:rPr sz="1800" spc="1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points</a:t>
            </a:r>
            <a:r>
              <a:rPr sz="1800" spc="2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to</a:t>
            </a:r>
            <a:r>
              <a:rPr sz="1800" spc="3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an</a:t>
            </a:r>
            <a:r>
              <a:rPr sz="1800" spc="20">
                <a:latin typeface="Georgia"/>
                <a:cs typeface="Georgia"/>
              </a:rPr>
              <a:t> </a:t>
            </a:r>
            <a:r>
              <a:rPr sz="1800" spc="60">
                <a:latin typeface="Georgia"/>
                <a:cs typeface="Georgia"/>
              </a:rPr>
              <a:t>object</a:t>
            </a:r>
            <a:r>
              <a:rPr sz="1800" spc="3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of</a:t>
            </a:r>
            <a:r>
              <a:rPr sz="1800" spc="3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a</a:t>
            </a:r>
            <a:r>
              <a:rPr sz="1800" spc="30">
                <a:latin typeface="Georgia"/>
                <a:cs typeface="Georgia"/>
              </a:rPr>
              <a:t> </a:t>
            </a:r>
            <a:r>
              <a:rPr sz="1800" spc="70">
                <a:latin typeface="Georgia"/>
                <a:cs typeface="Georgia"/>
              </a:rPr>
              <a:t>derived</a:t>
            </a:r>
            <a:r>
              <a:rPr sz="1800" spc="25">
                <a:latin typeface="Georgia"/>
                <a:cs typeface="Georgia"/>
              </a:rPr>
              <a:t> </a:t>
            </a:r>
            <a:r>
              <a:rPr sz="1800" spc="-10">
                <a:latin typeface="Georgia"/>
                <a:cs typeface="Georgia"/>
              </a:rPr>
              <a:t>class.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950238" name="object 2"/>
          <p:cNvPicPr/>
          <p:nvPr/>
        </p:nvPicPr>
        <p:blipFill>
          <a:blip r:embed="rId3"/>
          <a:stretch/>
        </p:blipFill>
        <p:spPr bwMode="auto">
          <a:xfrm>
            <a:off x="800176" y="738631"/>
            <a:ext cx="114300" cy="158750"/>
          </a:xfrm>
          <a:prstGeom prst="rect">
            <a:avLst/>
          </a:prstGeom>
        </p:spPr>
      </p:pic>
      <p:sp>
        <p:nvSpPr>
          <p:cNvPr id="709208646" name="object 3"/>
          <p:cNvSpPr txBox="1"/>
          <p:nvPr/>
        </p:nvSpPr>
        <p:spPr bwMode="auto">
          <a:xfrm>
            <a:off x="777950" y="656082"/>
            <a:ext cx="5073650" cy="4964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85695" indent="133350">
              <a:lnSpc>
                <a:spcPct val="100000"/>
              </a:lnSpc>
              <a:spcBef>
                <a:spcPts val="100"/>
              </a:spcBef>
              <a:tabLst>
                <a:tab pos="812165" algn="l"/>
                <a:tab pos="2146300" algn="l"/>
              </a:tabLst>
              <a:defRPr/>
            </a:pPr>
            <a:r>
              <a:rPr sz="1800" spc="165">
                <a:solidFill>
                  <a:srgbClr val="808080"/>
                </a:solidFill>
                <a:latin typeface="Trebuchet MS"/>
                <a:cs typeface="Trebuchet MS"/>
              </a:rPr>
              <a:t>include</a:t>
            </a:r>
            <a:r>
              <a:rPr sz="1800" spc="165">
                <a:solidFill>
                  <a:srgbClr val="A21515"/>
                </a:solidFill>
                <a:latin typeface="Trebuchet MS"/>
                <a:cs typeface="Trebuchet MS"/>
              </a:rPr>
              <a:t>&lt;iostream&gt; </a:t>
            </a:r>
            <a:r>
              <a:rPr sz="1800" spc="215">
                <a:solidFill>
                  <a:srgbClr val="0000FF"/>
                </a:solidFill>
                <a:latin typeface="Trebuchet MS"/>
                <a:cs typeface="Trebuchet MS"/>
              </a:rPr>
              <a:t>using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35">
                <a:solidFill>
                  <a:srgbClr val="0000FF"/>
                </a:solidFill>
                <a:latin typeface="Trebuchet MS"/>
                <a:cs typeface="Trebuchet MS"/>
              </a:rPr>
              <a:t>namespace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250">
                <a:latin typeface="Trebuchet MS"/>
                <a:cs typeface="Trebuchet MS"/>
              </a:rPr>
              <a:t>std; </a:t>
            </a:r>
            <a:r>
              <a:rPr sz="1800" spc="270">
                <a:solidFill>
                  <a:srgbClr val="0000FF"/>
                </a:solidFill>
                <a:latin typeface="Trebuchet MS"/>
                <a:cs typeface="Trebuchet MS"/>
              </a:rPr>
              <a:t>class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50">
                <a:solidFill>
                  <a:srgbClr val="2B91AE"/>
                </a:solidFill>
                <a:latin typeface="Trebuchet MS"/>
                <a:cs typeface="Trebuchet MS"/>
              </a:rPr>
              <a:t>A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34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24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sz="1800" spc="24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536700" algn="l"/>
                <a:tab pos="2202815" algn="l"/>
              </a:tabLst>
              <a:defRPr/>
            </a:pPr>
            <a:r>
              <a:rPr sz="1800" spc="280">
                <a:solidFill>
                  <a:srgbClr val="0000FF"/>
                </a:solidFill>
                <a:latin typeface="Trebuchet MS"/>
                <a:cs typeface="Trebuchet MS"/>
              </a:rPr>
              <a:t>virtual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85">
                <a:solidFill>
                  <a:srgbClr val="0000FF"/>
                </a:solidFill>
                <a:latin typeface="Trebuchet MS"/>
                <a:cs typeface="Trebuchet MS"/>
              </a:rPr>
              <a:t>void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265">
                <a:latin typeface="Trebuchet MS"/>
                <a:cs typeface="Trebuchet MS"/>
              </a:rPr>
              <a:t>display()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 spc="34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tabLst>
                <a:tab pos="1594485" algn="l"/>
                <a:tab pos="1993900" algn="l"/>
                <a:tab pos="2393315" algn="l"/>
                <a:tab pos="2794000" algn="l"/>
                <a:tab pos="3060700" algn="l"/>
                <a:tab pos="3726179" algn="l"/>
              </a:tabLst>
              <a:defRPr/>
            </a:pPr>
            <a:r>
              <a:rPr sz="1800" spc="140">
                <a:latin typeface="Trebuchet MS"/>
                <a:cs typeface="Trebuchet MS"/>
              </a:rPr>
              <a:t>cout</a:t>
            </a:r>
            <a:r>
              <a:rPr sz="1800">
                <a:latin typeface="Trebuchet MS"/>
                <a:cs typeface="Trebuchet MS"/>
              </a:rPr>
              <a:t>	</a:t>
            </a:r>
            <a:r>
              <a:rPr sz="1800" spc="60">
                <a:solidFill>
                  <a:srgbClr val="008080"/>
                </a:solidFill>
                <a:latin typeface="Trebuchet MS"/>
                <a:cs typeface="Trebuchet MS"/>
              </a:rPr>
              <a:t>&lt;&lt;</a:t>
            </a:r>
            <a:r>
              <a:rPr sz="180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 spc="483">
                <a:solidFill>
                  <a:srgbClr val="A21515"/>
                </a:solidFill>
                <a:latin typeface="Trebuchet MS"/>
                <a:cs typeface="Trebuchet MS"/>
              </a:rPr>
              <a:t>"I</a:t>
            </a:r>
            <a:r>
              <a:rPr sz="1800">
                <a:solidFill>
                  <a:srgbClr val="A21515"/>
                </a:solidFill>
                <a:latin typeface="Trebuchet MS"/>
                <a:cs typeface="Trebuchet MS"/>
              </a:rPr>
              <a:t>	</a:t>
            </a:r>
            <a:r>
              <a:rPr sz="1800" spc="-25">
                <a:solidFill>
                  <a:srgbClr val="A21515"/>
                </a:solidFill>
                <a:latin typeface="Trebuchet MS"/>
                <a:cs typeface="Trebuchet MS"/>
              </a:rPr>
              <a:t>am</a:t>
            </a:r>
            <a:r>
              <a:rPr sz="1800">
                <a:solidFill>
                  <a:srgbClr val="A21515"/>
                </a:solidFill>
                <a:latin typeface="Trebuchet MS"/>
                <a:cs typeface="Trebuchet MS"/>
              </a:rPr>
              <a:t>	</a:t>
            </a:r>
            <a:r>
              <a:rPr sz="1800" spc="50">
                <a:solidFill>
                  <a:srgbClr val="A21515"/>
                </a:solidFill>
                <a:latin typeface="Trebuchet MS"/>
                <a:cs typeface="Trebuchet MS"/>
              </a:rPr>
              <a:t>a</a:t>
            </a:r>
            <a:r>
              <a:rPr sz="1800">
                <a:solidFill>
                  <a:srgbClr val="A21515"/>
                </a:solidFill>
                <a:latin typeface="Trebuchet MS"/>
                <a:cs typeface="Trebuchet MS"/>
              </a:rPr>
              <a:t>	</a:t>
            </a:r>
            <a:r>
              <a:rPr sz="1800" spc="105">
                <a:solidFill>
                  <a:srgbClr val="A21515"/>
                </a:solidFill>
                <a:latin typeface="Trebuchet MS"/>
                <a:cs typeface="Trebuchet MS"/>
              </a:rPr>
              <a:t>Base</a:t>
            </a:r>
            <a:r>
              <a:rPr sz="1800">
                <a:solidFill>
                  <a:srgbClr val="A21515"/>
                </a:solidFill>
                <a:latin typeface="Trebuchet MS"/>
                <a:cs typeface="Trebuchet MS"/>
              </a:rPr>
              <a:t>	</a:t>
            </a:r>
            <a:r>
              <a:rPr sz="1800" spc="285">
                <a:solidFill>
                  <a:srgbClr val="A21515"/>
                </a:solidFill>
                <a:latin typeface="Trebuchet MS"/>
                <a:cs typeface="Trebuchet MS"/>
              </a:rPr>
              <a:t>Class"</a:t>
            </a:r>
            <a:r>
              <a:rPr sz="1800" spc="285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 spc="34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defRPr/>
            </a:pPr>
            <a:r>
              <a:rPr sz="1800" spc="365">
                <a:latin typeface="Trebuchet MS"/>
                <a:cs typeface="Trebuchet MS"/>
              </a:rPr>
              <a:t>};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812165" algn="l"/>
                <a:tab pos="1078865" algn="l"/>
                <a:tab pos="2146300" algn="l"/>
              </a:tabLst>
              <a:defRPr/>
            </a:pPr>
            <a:r>
              <a:rPr sz="1800" spc="270">
                <a:solidFill>
                  <a:srgbClr val="0000FF"/>
                </a:solidFill>
                <a:latin typeface="Trebuchet MS"/>
                <a:cs typeface="Trebuchet MS"/>
              </a:rPr>
              <a:t>class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50">
                <a:solidFill>
                  <a:srgbClr val="2B91AE"/>
                </a:solidFill>
                <a:latin typeface="Trebuchet MS"/>
                <a:cs typeface="Trebuchet MS"/>
              </a:rPr>
              <a:t>B</a:t>
            </a:r>
            <a:r>
              <a:rPr sz="1800">
                <a:solidFill>
                  <a:srgbClr val="2B91AE"/>
                </a:solidFill>
                <a:latin typeface="Trebuchet MS"/>
                <a:cs typeface="Trebuchet MS"/>
              </a:rPr>
              <a:t>	</a:t>
            </a:r>
            <a:r>
              <a:rPr sz="1800" spc="235">
                <a:latin typeface="Trebuchet MS"/>
                <a:cs typeface="Trebuchet MS"/>
              </a:rPr>
              <a:t>:</a:t>
            </a:r>
            <a:r>
              <a:rPr sz="1800" spc="235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50">
                <a:solidFill>
                  <a:srgbClr val="2B91AE"/>
                </a:solidFill>
                <a:latin typeface="Trebuchet MS"/>
                <a:cs typeface="Trebuchet MS"/>
              </a:rPr>
              <a:t>A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34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235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sz="1800" spc="235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137285" algn="l"/>
              </a:tabLst>
              <a:defRPr/>
            </a:pPr>
            <a:r>
              <a:rPr sz="1800" spc="185">
                <a:solidFill>
                  <a:srgbClr val="0000FF"/>
                </a:solidFill>
                <a:latin typeface="Trebuchet MS"/>
                <a:cs typeface="Trebuchet MS"/>
              </a:rPr>
              <a:t>void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265">
                <a:latin typeface="Trebuchet MS"/>
                <a:cs typeface="Trebuchet MS"/>
              </a:rPr>
              <a:t>display()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 spc="34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tabLst>
                <a:tab pos="1594485" algn="l"/>
                <a:tab pos="1993900" algn="l"/>
                <a:tab pos="2393315" algn="l"/>
                <a:tab pos="2794000" algn="l"/>
                <a:tab pos="3060700" algn="l"/>
                <a:tab pos="4126229" algn="l"/>
              </a:tabLst>
              <a:defRPr/>
            </a:pPr>
            <a:r>
              <a:rPr sz="1800" spc="140">
                <a:latin typeface="Trebuchet MS"/>
                <a:cs typeface="Trebuchet MS"/>
              </a:rPr>
              <a:t>cout</a:t>
            </a:r>
            <a:r>
              <a:rPr sz="1800">
                <a:latin typeface="Trebuchet MS"/>
                <a:cs typeface="Trebuchet MS"/>
              </a:rPr>
              <a:t>	</a:t>
            </a:r>
            <a:r>
              <a:rPr sz="1800" spc="60">
                <a:solidFill>
                  <a:srgbClr val="008080"/>
                </a:solidFill>
                <a:latin typeface="Trebuchet MS"/>
                <a:cs typeface="Trebuchet MS"/>
              </a:rPr>
              <a:t>&lt;&lt;</a:t>
            </a:r>
            <a:r>
              <a:rPr sz="180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 spc="480">
                <a:solidFill>
                  <a:srgbClr val="A21515"/>
                </a:solidFill>
                <a:latin typeface="Trebuchet MS"/>
                <a:cs typeface="Trebuchet MS"/>
              </a:rPr>
              <a:t>"I</a:t>
            </a:r>
            <a:r>
              <a:rPr sz="1800">
                <a:solidFill>
                  <a:srgbClr val="A21515"/>
                </a:solidFill>
                <a:latin typeface="Trebuchet MS"/>
                <a:cs typeface="Trebuchet MS"/>
              </a:rPr>
              <a:t>	</a:t>
            </a:r>
            <a:r>
              <a:rPr sz="1800" spc="-25">
                <a:solidFill>
                  <a:srgbClr val="A21515"/>
                </a:solidFill>
                <a:latin typeface="Trebuchet MS"/>
                <a:cs typeface="Trebuchet MS"/>
              </a:rPr>
              <a:t>am</a:t>
            </a:r>
            <a:r>
              <a:rPr sz="1800">
                <a:solidFill>
                  <a:srgbClr val="A21515"/>
                </a:solidFill>
                <a:latin typeface="Trebuchet MS"/>
                <a:cs typeface="Trebuchet MS"/>
              </a:rPr>
              <a:t>	</a:t>
            </a:r>
            <a:r>
              <a:rPr sz="1800" spc="50">
                <a:solidFill>
                  <a:srgbClr val="A21515"/>
                </a:solidFill>
                <a:latin typeface="Trebuchet MS"/>
                <a:cs typeface="Trebuchet MS"/>
              </a:rPr>
              <a:t>a</a:t>
            </a:r>
            <a:r>
              <a:rPr sz="1800">
                <a:solidFill>
                  <a:srgbClr val="A21515"/>
                </a:solidFill>
                <a:latin typeface="Trebuchet MS"/>
                <a:cs typeface="Trebuchet MS"/>
              </a:rPr>
              <a:t>	</a:t>
            </a:r>
            <a:r>
              <a:rPr sz="1800" spc="150">
                <a:solidFill>
                  <a:srgbClr val="A21515"/>
                </a:solidFill>
                <a:latin typeface="Trebuchet MS"/>
                <a:cs typeface="Trebuchet MS"/>
              </a:rPr>
              <a:t>Derived</a:t>
            </a:r>
            <a:r>
              <a:rPr sz="1800">
                <a:solidFill>
                  <a:srgbClr val="A21515"/>
                </a:solidFill>
                <a:latin typeface="Trebuchet MS"/>
                <a:cs typeface="Trebuchet MS"/>
              </a:rPr>
              <a:t>	</a:t>
            </a:r>
            <a:r>
              <a:rPr sz="1800" spc="280">
                <a:solidFill>
                  <a:srgbClr val="A21515"/>
                </a:solidFill>
                <a:latin typeface="Trebuchet MS"/>
                <a:cs typeface="Trebuchet MS"/>
              </a:rPr>
              <a:t>Class"</a:t>
            </a:r>
            <a:r>
              <a:rPr sz="1800" spc="28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 spc="34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360">
                <a:latin typeface="Trebuchet MS"/>
                <a:cs typeface="Trebuchet MS"/>
              </a:rPr>
              <a:t>};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78003380" name="object 4"/>
          <p:cNvSpPr txBox="1"/>
          <p:nvPr/>
        </p:nvSpPr>
        <p:spPr bwMode="auto">
          <a:xfrm>
            <a:off x="7221980" y="2160777"/>
            <a:ext cx="2353374" cy="22076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6100" algn="l"/>
              </a:tabLst>
              <a:defRPr/>
            </a:pPr>
            <a:r>
              <a:rPr sz="1800" spc="290">
                <a:solidFill>
                  <a:srgbClr val="0000FF"/>
                </a:solidFill>
                <a:latin typeface="Trebuchet MS"/>
                <a:cs typeface="Trebuchet MS"/>
              </a:rPr>
              <a:t>int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55">
                <a:latin typeface="Trebuchet MS"/>
                <a:cs typeface="Trebuchet MS"/>
              </a:rPr>
              <a:t>main()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34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870585" algn="l"/>
              </a:tabLst>
              <a:defRPr/>
            </a:pPr>
            <a:r>
              <a:rPr sz="1800" spc="165">
                <a:solidFill>
                  <a:srgbClr val="2B91AE"/>
                </a:solidFill>
                <a:latin typeface="Trebuchet MS"/>
                <a:cs typeface="Trebuchet MS"/>
              </a:rPr>
              <a:t>A</a:t>
            </a:r>
            <a:r>
              <a:rPr sz="1800" spc="165">
                <a:latin typeface="Trebuchet MS"/>
                <a:cs typeface="Trebuchet MS"/>
              </a:rPr>
              <a:t>*</a:t>
            </a:r>
            <a:r>
              <a:rPr sz="1800">
                <a:latin typeface="Trebuchet MS"/>
                <a:cs typeface="Trebuchet MS"/>
              </a:rPr>
              <a:t>	</a:t>
            </a:r>
            <a:r>
              <a:rPr sz="1800" spc="145">
                <a:latin typeface="Trebuchet MS"/>
                <a:cs typeface="Trebuchet MS"/>
              </a:rPr>
              <a:t>ptr;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736600" algn="l"/>
              </a:tabLst>
              <a:defRPr/>
            </a:pPr>
            <a:r>
              <a:rPr sz="1800" spc="-50">
                <a:solidFill>
                  <a:srgbClr val="2B91AE"/>
                </a:solidFill>
                <a:latin typeface="Trebuchet MS"/>
                <a:cs typeface="Trebuchet MS"/>
              </a:rPr>
              <a:t>B</a:t>
            </a:r>
            <a:r>
              <a:rPr sz="1800">
                <a:solidFill>
                  <a:srgbClr val="2B91AE"/>
                </a:solidFill>
                <a:latin typeface="Trebuchet MS"/>
                <a:cs typeface="Trebuchet MS"/>
              </a:rPr>
              <a:t>	</a:t>
            </a:r>
            <a:r>
              <a:rPr sz="1800" spc="204">
                <a:latin typeface="Trebuchet MS"/>
                <a:cs typeface="Trebuchet MS"/>
              </a:rPr>
              <a:t>obj;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870585" algn="l"/>
                <a:tab pos="1137285" algn="l"/>
              </a:tabLst>
              <a:defRPr/>
            </a:pPr>
            <a:r>
              <a:rPr lang="en-US" sz="1800" b="0" i="0" u="none" strike="noStrike" cap="none" spc="144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ptr</a:t>
            </a:r>
            <a:r>
              <a:rPr sz="1800">
                <a:latin typeface="Trebuchet MS"/>
                <a:cs typeface="Trebuchet MS"/>
              </a:rPr>
              <a:t>	</a:t>
            </a:r>
            <a:r>
              <a:rPr sz="1800" spc="50">
                <a:latin typeface="Trebuchet MS"/>
                <a:cs typeface="Trebuchet MS"/>
              </a:rPr>
              <a:t>=</a:t>
            </a:r>
            <a:r>
              <a:rPr sz="1800">
                <a:latin typeface="Trebuchet MS"/>
                <a:cs typeface="Trebuchet MS"/>
              </a:rPr>
              <a:t>	</a:t>
            </a:r>
            <a:r>
              <a:rPr lang="en-US" spc="114">
                <a:latin typeface="Trebuchet MS"/>
                <a:cs typeface="Trebuchet MS"/>
              </a:rPr>
              <a:t>&amp;</a:t>
            </a:r>
            <a:r>
              <a:rPr sz="1800" spc="114">
                <a:latin typeface="Trebuchet MS"/>
                <a:cs typeface="Trebuchet MS"/>
              </a:rPr>
              <a:t>obj;</a:t>
            </a:r>
            <a:endParaRPr sz="1800">
              <a:latin typeface="Trebuchet MS"/>
              <a:cs typeface="Trebuchet MS"/>
            </a:endParaRPr>
          </a:p>
          <a:p>
            <a:pPr marL="469900" marR="5080">
              <a:lnSpc>
                <a:spcPct val="100000"/>
              </a:lnSpc>
              <a:tabLst>
                <a:tab pos="1403985" algn="l"/>
              </a:tabLst>
              <a:defRPr/>
            </a:pPr>
            <a:r>
              <a:rPr lang="en-US" sz="1800" b="0" i="0" u="none" strike="noStrike" cap="none" spc="144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ptr</a:t>
            </a:r>
            <a:r>
              <a:rPr sz="1800" spc="169">
                <a:latin typeface="Trebuchet MS"/>
                <a:cs typeface="Trebuchet MS"/>
              </a:rPr>
              <a:t>-</a:t>
            </a:r>
            <a:r>
              <a:rPr sz="1800" spc="260">
                <a:latin typeface="Trebuchet MS"/>
                <a:cs typeface="Trebuchet MS"/>
              </a:rPr>
              <a:t>&gt;display(); </a:t>
            </a:r>
            <a:r>
              <a:rPr sz="1800" spc="195">
                <a:solidFill>
                  <a:srgbClr val="0000FF"/>
                </a:solidFill>
                <a:latin typeface="Trebuchet MS"/>
                <a:cs typeface="Trebuchet MS"/>
              </a:rPr>
              <a:t>return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200">
                <a:latin typeface="Trebuchet MS"/>
                <a:cs typeface="Trebuchet MS"/>
              </a:rPr>
              <a:t>0;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34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76560359" name="object 5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/>
              <a:t>C++</a:t>
            </a:r>
            <a:r>
              <a:rPr sz="1800" spc="-60"/>
              <a:t> </a:t>
            </a:r>
            <a:r>
              <a:rPr sz="1800" spc="-35"/>
              <a:t>Example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882181" name="object 2"/>
          <p:cNvSpPr txBox="1"/>
          <p:nvPr/>
        </p:nvSpPr>
        <p:spPr bwMode="auto">
          <a:xfrm>
            <a:off x="806195" y="2275332"/>
            <a:ext cx="3668395" cy="2624455"/>
          </a:xfrm>
          <a:prstGeom prst="rect">
            <a:avLst/>
          </a:prstGeom>
          <a:solidFill>
            <a:srgbClr val="539E39"/>
          </a:solidFill>
        </p:spPr>
        <p:txBody>
          <a:bodyPr vert="horz" wrap="square" lIns="0" tIns="3384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65"/>
              </a:spcBef>
              <a:defRPr/>
            </a:pPr>
            <a:endParaRPr sz="4000">
              <a:latin typeface="Times New Roman"/>
              <a:cs typeface="Times New Roman"/>
            </a:endParaRPr>
          </a:p>
          <a:p>
            <a:pPr marL="1151255">
              <a:lnSpc>
                <a:spcPct val="100000"/>
              </a:lnSpc>
              <a:defRPr/>
            </a:pPr>
            <a:r>
              <a:rPr sz="4000" spc="-50">
                <a:solidFill>
                  <a:srgbClr val="FFFDFF"/>
                </a:solidFill>
                <a:latin typeface="Carlito"/>
                <a:cs typeface="Carlito"/>
              </a:rPr>
              <a:t>Activity</a:t>
            </a:r>
            <a:endParaRPr sz="4000">
              <a:latin typeface="Carlito"/>
              <a:cs typeface="Carlito"/>
            </a:endParaRPr>
          </a:p>
        </p:txBody>
      </p:sp>
      <p:sp>
        <p:nvSpPr>
          <p:cNvPr id="565597263" name="object 3"/>
          <p:cNvSpPr txBox="1"/>
          <p:nvPr/>
        </p:nvSpPr>
        <p:spPr bwMode="auto">
          <a:xfrm>
            <a:off x="5197855" y="2177541"/>
            <a:ext cx="6125210" cy="200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20000"/>
              </a:lnSpc>
              <a:spcBef>
                <a:spcPts val="100"/>
              </a:spcBef>
              <a:buClr>
                <a:srgbClr val="539E39"/>
              </a:buClr>
              <a:buSzPct val="108333"/>
              <a:buFont typeface="Wingdings"/>
              <a:buChar char=""/>
              <a:tabLst>
                <a:tab pos="241300" algn="l"/>
              </a:tabLst>
              <a:defRPr/>
            </a:pPr>
            <a:r>
              <a:rPr sz="1800" spc="60">
                <a:latin typeface="Georgia"/>
                <a:cs typeface="Georgia"/>
              </a:rPr>
              <a:t>Create</a:t>
            </a:r>
            <a:r>
              <a:rPr sz="1800" spc="37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parent</a:t>
            </a:r>
            <a:r>
              <a:rPr sz="1800" spc="370">
                <a:latin typeface="Georgia"/>
                <a:cs typeface="Georgia"/>
              </a:rPr>
              <a:t> </a:t>
            </a:r>
            <a:r>
              <a:rPr sz="1800" spc="50">
                <a:latin typeface="Georgia"/>
                <a:cs typeface="Georgia"/>
              </a:rPr>
              <a:t>class</a:t>
            </a:r>
            <a:r>
              <a:rPr sz="1800" spc="37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Shapes</a:t>
            </a:r>
            <a:r>
              <a:rPr sz="1800" spc="38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with</a:t>
            </a:r>
            <a:r>
              <a:rPr sz="1800" spc="38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public</a:t>
            </a:r>
            <a:r>
              <a:rPr sz="1800" spc="37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data</a:t>
            </a:r>
            <a:r>
              <a:rPr sz="1800" spc="375">
                <a:latin typeface="Georgia"/>
                <a:cs typeface="Georgia"/>
              </a:rPr>
              <a:t> </a:t>
            </a:r>
            <a:r>
              <a:rPr sz="1800" spc="50">
                <a:latin typeface="Georgia"/>
                <a:cs typeface="Georgia"/>
              </a:rPr>
              <a:t>members </a:t>
            </a:r>
            <a:r>
              <a:rPr sz="1800">
                <a:latin typeface="Georgia"/>
                <a:cs typeface="Georgia"/>
              </a:rPr>
              <a:t>width</a:t>
            </a:r>
            <a:r>
              <a:rPr sz="1800" spc="28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and</a:t>
            </a:r>
            <a:r>
              <a:rPr sz="1800" spc="28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height</a:t>
            </a:r>
            <a:r>
              <a:rPr sz="1800" spc="27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and</a:t>
            </a:r>
            <a:r>
              <a:rPr sz="1800" spc="28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function</a:t>
            </a:r>
            <a:r>
              <a:rPr sz="1800" spc="29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printarea()</a:t>
            </a:r>
            <a:r>
              <a:rPr sz="1800" spc="27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and</a:t>
            </a:r>
            <a:r>
              <a:rPr sz="1800" spc="29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a</a:t>
            </a:r>
            <a:r>
              <a:rPr sz="1800" spc="285">
                <a:latin typeface="Georgia"/>
                <a:cs typeface="Georgia"/>
              </a:rPr>
              <a:t> </a:t>
            </a:r>
            <a:r>
              <a:rPr sz="1800" spc="-10">
                <a:latin typeface="Georgia"/>
                <a:cs typeface="Georgia"/>
              </a:rPr>
              <a:t>virtual </a:t>
            </a:r>
            <a:r>
              <a:rPr sz="1800">
                <a:latin typeface="Georgia"/>
                <a:cs typeface="Georgia"/>
              </a:rPr>
              <a:t>function</a:t>
            </a:r>
            <a:r>
              <a:rPr sz="1800" spc="44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cal_area().</a:t>
            </a:r>
            <a:r>
              <a:rPr sz="1800" spc="280">
                <a:latin typeface="Georgia"/>
                <a:cs typeface="Georgia"/>
              </a:rPr>
              <a:t> </a:t>
            </a:r>
            <a:r>
              <a:rPr sz="1800" spc="60">
                <a:latin typeface="Georgia"/>
                <a:cs typeface="Georgia"/>
              </a:rPr>
              <a:t>Create</a:t>
            </a:r>
            <a:r>
              <a:rPr sz="1800" spc="44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two</a:t>
            </a:r>
            <a:r>
              <a:rPr sz="1800" spc="433">
                <a:latin typeface="Georgia"/>
                <a:cs typeface="Georgia"/>
              </a:rPr>
              <a:t> </a:t>
            </a:r>
            <a:r>
              <a:rPr sz="1800" spc="55">
                <a:latin typeface="Georgia"/>
                <a:cs typeface="Georgia"/>
              </a:rPr>
              <a:t>sub</a:t>
            </a:r>
            <a:r>
              <a:rPr sz="1800" spc="433">
                <a:latin typeface="Georgia"/>
                <a:cs typeface="Georgia"/>
              </a:rPr>
              <a:t> </a:t>
            </a:r>
            <a:r>
              <a:rPr sz="1800" spc="60">
                <a:latin typeface="Georgia"/>
                <a:cs typeface="Georgia"/>
              </a:rPr>
              <a:t>classes</a:t>
            </a:r>
            <a:r>
              <a:rPr sz="1800" spc="445">
                <a:latin typeface="Georgia"/>
                <a:cs typeface="Georgia"/>
              </a:rPr>
              <a:t> </a:t>
            </a:r>
            <a:r>
              <a:rPr sz="1800" spc="-10">
                <a:latin typeface="Georgia"/>
                <a:cs typeface="Georgia"/>
              </a:rPr>
              <a:t>Rectangle </a:t>
            </a:r>
            <a:r>
              <a:rPr sz="1800">
                <a:latin typeface="Georgia"/>
                <a:cs typeface="Georgia"/>
              </a:rPr>
              <a:t>and</a:t>
            </a:r>
            <a:r>
              <a:rPr sz="1800" spc="35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Sqaure.</a:t>
            </a:r>
            <a:r>
              <a:rPr sz="1800" spc="18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In</a:t>
            </a:r>
            <a:r>
              <a:rPr sz="1800" spc="36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main()</a:t>
            </a:r>
            <a:r>
              <a:rPr sz="1800" spc="34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create</a:t>
            </a:r>
            <a:r>
              <a:rPr sz="1800" spc="36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2</a:t>
            </a:r>
            <a:r>
              <a:rPr sz="1800" spc="34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pointers</a:t>
            </a:r>
            <a:r>
              <a:rPr sz="1800" spc="36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of</a:t>
            </a:r>
            <a:r>
              <a:rPr sz="1800" spc="33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Shapes</a:t>
            </a:r>
            <a:r>
              <a:rPr sz="1800" spc="340">
                <a:latin typeface="Georgia"/>
                <a:cs typeface="Georgia"/>
              </a:rPr>
              <a:t> </a:t>
            </a:r>
            <a:r>
              <a:rPr sz="1800" spc="-25">
                <a:latin typeface="Georgia"/>
                <a:cs typeface="Georgia"/>
              </a:rPr>
              <a:t>and </a:t>
            </a:r>
            <a:r>
              <a:rPr sz="1800">
                <a:latin typeface="Georgia"/>
                <a:cs typeface="Georgia"/>
              </a:rPr>
              <a:t>assign</a:t>
            </a:r>
            <a:r>
              <a:rPr sz="1800" spc="325">
                <a:latin typeface="Georgia"/>
                <a:cs typeface="Georgia"/>
              </a:rPr>
              <a:t>  </a:t>
            </a:r>
            <a:r>
              <a:rPr sz="1800">
                <a:latin typeface="Georgia"/>
                <a:cs typeface="Georgia"/>
              </a:rPr>
              <a:t>Rectangle</a:t>
            </a:r>
            <a:r>
              <a:rPr sz="1800" spc="330">
                <a:latin typeface="Georgia"/>
                <a:cs typeface="Georgia"/>
              </a:rPr>
              <a:t>  </a:t>
            </a:r>
            <a:r>
              <a:rPr sz="1800">
                <a:latin typeface="Georgia"/>
                <a:cs typeface="Georgia"/>
              </a:rPr>
              <a:t>and</a:t>
            </a:r>
            <a:r>
              <a:rPr sz="1800" spc="325">
                <a:latin typeface="Georgia"/>
                <a:cs typeface="Georgia"/>
              </a:rPr>
              <a:t>  </a:t>
            </a:r>
            <a:r>
              <a:rPr sz="1800">
                <a:latin typeface="Georgia"/>
                <a:cs typeface="Georgia"/>
              </a:rPr>
              <a:t>Square</a:t>
            </a:r>
            <a:r>
              <a:rPr sz="1800" spc="320">
                <a:latin typeface="Georgia"/>
                <a:cs typeface="Georgia"/>
              </a:rPr>
              <a:t>  </a:t>
            </a:r>
            <a:r>
              <a:rPr sz="1800">
                <a:latin typeface="Georgia"/>
                <a:cs typeface="Georgia"/>
              </a:rPr>
              <a:t>to</a:t>
            </a:r>
            <a:r>
              <a:rPr sz="1800" spc="325">
                <a:latin typeface="Georgia"/>
                <a:cs typeface="Georgia"/>
              </a:rPr>
              <a:t>  </a:t>
            </a:r>
            <a:r>
              <a:rPr sz="1800">
                <a:latin typeface="Georgia"/>
                <a:cs typeface="Georgia"/>
              </a:rPr>
              <a:t>it.</a:t>
            </a:r>
            <a:r>
              <a:rPr sz="1800" spc="245">
                <a:latin typeface="Georgia"/>
                <a:cs typeface="Georgia"/>
              </a:rPr>
              <a:t>  </a:t>
            </a:r>
            <a:r>
              <a:rPr sz="1800" spc="55">
                <a:latin typeface="Georgia"/>
                <a:cs typeface="Georgia"/>
              </a:rPr>
              <a:t>Call</a:t>
            </a:r>
            <a:r>
              <a:rPr sz="1800" spc="325">
                <a:latin typeface="Georgia"/>
                <a:cs typeface="Georgia"/>
              </a:rPr>
              <a:t>  </a:t>
            </a:r>
            <a:r>
              <a:rPr sz="1800" spc="-10">
                <a:latin typeface="Georgia"/>
                <a:cs typeface="Georgia"/>
              </a:rPr>
              <a:t>printarea </a:t>
            </a:r>
            <a:r>
              <a:rPr sz="1800">
                <a:latin typeface="Georgia"/>
                <a:cs typeface="Georgia"/>
              </a:rPr>
              <a:t>function</a:t>
            </a:r>
            <a:r>
              <a:rPr sz="1800" spc="6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with</a:t>
            </a:r>
            <a:r>
              <a:rPr sz="1800" spc="3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the</a:t>
            </a:r>
            <a:r>
              <a:rPr sz="1800" spc="4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pointer</a:t>
            </a:r>
            <a:r>
              <a:rPr sz="1800" spc="50">
                <a:latin typeface="Georgia"/>
                <a:cs typeface="Georgia"/>
              </a:rPr>
              <a:t> objects.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299409" name="object 2"/>
          <p:cNvSpPr txBox="1"/>
          <p:nvPr/>
        </p:nvSpPr>
        <p:spPr bwMode="auto">
          <a:xfrm flipH="0" flipV="0">
            <a:off x="363117" y="300609"/>
            <a:ext cx="3800793" cy="3914810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L="12700" marR="1513205">
              <a:lnSpc>
                <a:spcPct val="100000"/>
              </a:lnSpc>
              <a:spcBef>
                <a:spcPts val="95"/>
              </a:spcBef>
              <a:defRPr/>
            </a:pPr>
            <a:r>
              <a:rPr sz="1600" spc="-10">
                <a:latin typeface="Georgia"/>
                <a:cs typeface="Georgia"/>
              </a:rPr>
              <a:t>#include&lt;iostream&gt; </a:t>
            </a:r>
            <a:r>
              <a:rPr sz="1600" spc="10">
                <a:latin typeface="Georgia"/>
                <a:cs typeface="Georgia"/>
              </a:rPr>
              <a:t>using</a:t>
            </a:r>
            <a:r>
              <a:rPr sz="1600" spc="240">
                <a:latin typeface="Georgia"/>
                <a:cs typeface="Georgia"/>
              </a:rPr>
              <a:t> </a:t>
            </a:r>
            <a:r>
              <a:rPr sz="1600" spc="10">
                <a:latin typeface="Georgia"/>
                <a:cs typeface="Georgia"/>
              </a:rPr>
              <a:t>namespace</a:t>
            </a:r>
            <a:r>
              <a:rPr sz="1600" spc="-20">
                <a:latin typeface="Georgia"/>
                <a:cs typeface="Georgia"/>
              </a:rPr>
              <a:t> std; </a:t>
            </a:r>
            <a:r>
              <a:rPr sz="1600">
                <a:latin typeface="Georgia"/>
                <a:cs typeface="Georgia"/>
              </a:rPr>
              <a:t>class</a:t>
            </a:r>
            <a:r>
              <a:rPr sz="1600" spc="220">
                <a:latin typeface="Georgia"/>
                <a:cs typeface="Georgia"/>
              </a:rPr>
              <a:t> </a:t>
            </a:r>
            <a:r>
              <a:rPr sz="1600" spc="-10">
                <a:latin typeface="Georgia"/>
                <a:cs typeface="Georgia"/>
              </a:rPr>
              <a:t>Shapes</a:t>
            </a:r>
            <a:endParaRPr sz="16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defRPr/>
            </a:pPr>
            <a:r>
              <a:rPr sz="1600" spc="-50">
                <a:latin typeface="Georgia"/>
                <a:cs typeface="Georgia"/>
              </a:rPr>
              <a:t>{</a:t>
            </a:r>
            <a:endParaRPr sz="16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defRPr/>
            </a:pPr>
            <a:r>
              <a:rPr sz="1600" spc="-10">
                <a:latin typeface="Georgia"/>
                <a:cs typeface="Georgia"/>
              </a:rPr>
              <a:t>public:</a:t>
            </a:r>
            <a:endParaRPr sz="16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600" spc="-10">
                <a:latin typeface="Georgia"/>
                <a:cs typeface="Georgia"/>
              </a:rPr>
              <a:t>int</a:t>
            </a:r>
            <a:r>
              <a:rPr sz="1600" spc="70">
                <a:latin typeface="Georgia"/>
                <a:cs typeface="Georgia"/>
              </a:rPr>
              <a:t> </a:t>
            </a:r>
            <a:r>
              <a:rPr sz="1600">
                <a:latin typeface="Georgia"/>
                <a:cs typeface="Georgia"/>
              </a:rPr>
              <a:t>height,</a:t>
            </a:r>
            <a:r>
              <a:rPr sz="1600" spc="-85">
                <a:latin typeface="Georgia"/>
                <a:cs typeface="Georgia"/>
              </a:rPr>
              <a:t> </a:t>
            </a:r>
            <a:r>
              <a:rPr sz="1600" spc="-10">
                <a:latin typeface="Georgia"/>
                <a:cs typeface="Georgia"/>
              </a:rPr>
              <a:t>width;</a:t>
            </a:r>
            <a:endParaRPr sz="1600">
              <a:latin typeface="Georgia"/>
              <a:cs typeface="Georgia"/>
            </a:endParaRPr>
          </a:p>
          <a:p>
            <a:pPr marL="469900" marR="5080">
              <a:lnSpc>
                <a:spcPct val="100000"/>
              </a:lnSpc>
              <a:defRPr/>
            </a:pPr>
            <a:r>
              <a:rPr sz="1600">
                <a:latin typeface="Georgia"/>
                <a:cs typeface="Georgia"/>
              </a:rPr>
              <a:t>Shapes()</a:t>
            </a:r>
            <a:r>
              <a:rPr sz="1600" spc="145">
                <a:latin typeface="Georgia"/>
                <a:cs typeface="Georgia"/>
              </a:rPr>
              <a:t> </a:t>
            </a:r>
            <a:r>
              <a:rPr sz="1600">
                <a:latin typeface="Georgia"/>
                <a:cs typeface="Georgia"/>
              </a:rPr>
              <a:t>:height(10),</a:t>
            </a:r>
            <a:r>
              <a:rPr sz="1600" spc="-35">
                <a:latin typeface="Georgia"/>
                <a:cs typeface="Georgia"/>
              </a:rPr>
              <a:t> </a:t>
            </a:r>
            <a:r>
              <a:rPr sz="1600" spc="-10">
                <a:latin typeface="Georgia"/>
                <a:cs typeface="Georgia"/>
              </a:rPr>
              <a:t>width(20)</a:t>
            </a:r>
            <a:r>
              <a:rPr sz="1600" spc="140">
                <a:latin typeface="Georgia"/>
                <a:cs typeface="Georgia"/>
              </a:rPr>
              <a:t> </a:t>
            </a:r>
            <a:r>
              <a:rPr sz="1600" spc="-130">
                <a:latin typeface="Georgia"/>
                <a:cs typeface="Georgia"/>
              </a:rPr>
              <a:t>{} </a:t>
            </a:r>
            <a:r>
              <a:rPr sz="1600">
                <a:latin typeface="Georgia"/>
                <a:cs typeface="Georgia"/>
              </a:rPr>
              <a:t>virtual</a:t>
            </a:r>
            <a:r>
              <a:rPr sz="1600" spc="-35">
                <a:latin typeface="Georgia"/>
                <a:cs typeface="Georgia"/>
              </a:rPr>
              <a:t> </a:t>
            </a:r>
            <a:r>
              <a:rPr sz="1600" spc="-10">
                <a:latin typeface="Georgia"/>
                <a:cs typeface="Georgia"/>
              </a:rPr>
              <a:t>int</a:t>
            </a:r>
            <a:r>
              <a:rPr sz="1600" spc="-45">
                <a:latin typeface="Georgia"/>
                <a:cs typeface="Georgia"/>
              </a:rPr>
              <a:t> </a:t>
            </a:r>
            <a:r>
              <a:rPr sz="1600" spc="-10">
                <a:latin typeface="Georgia"/>
                <a:cs typeface="Georgia"/>
              </a:rPr>
              <a:t>cal_area()</a:t>
            </a:r>
            <a:endParaRPr sz="16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600" spc="-50">
                <a:latin typeface="Georgia"/>
                <a:cs typeface="Georgia"/>
              </a:rPr>
              <a:t>{</a:t>
            </a:r>
            <a:endParaRPr sz="16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  <a:defRPr/>
            </a:pPr>
            <a:r>
              <a:rPr sz="1600">
                <a:latin typeface="Georgia"/>
                <a:cs typeface="Georgia"/>
              </a:rPr>
              <a:t>return</a:t>
            </a:r>
            <a:r>
              <a:rPr sz="1600" spc="20">
                <a:latin typeface="Georgia"/>
                <a:cs typeface="Georgia"/>
              </a:rPr>
              <a:t> </a:t>
            </a:r>
            <a:r>
              <a:rPr sz="1600">
                <a:latin typeface="Georgia"/>
                <a:cs typeface="Georgia"/>
              </a:rPr>
              <a:t>width</a:t>
            </a:r>
            <a:r>
              <a:rPr sz="1600" spc="10">
                <a:latin typeface="Georgia"/>
                <a:cs typeface="Georgia"/>
              </a:rPr>
              <a:t> </a:t>
            </a:r>
            <a:r>
              <a:rPr sz="1600" spc="75">
                <a:latin typeface="Georgia"/>
                <a:cs typeface="Georgia"/>
              </a:rPr>
              <a:t>*</a:t>
            </a:r>
            <a:r>
              <a:rPr sz="1600" spc="10">
                <a:latin typeface="Georgia"/>
                <a:cs typeface="Georgia"/>
              </a:rPr>
              <a:t> </a:t>
            </a:r>
            <a:r>
              <a:rPr sz="1600" spc="-10">
                <a:latin typeface="Georgia"/>
                <a:cs typeface="Georgia"/>
              </a:rPr>
              <a:t>height;</a:t>
            </a:r>
            <a:endParaRPr sz="16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600" spc="-50">
                <a:latin typeface="Georgia"/>
                <a:cs typeface="Georgia"/>
              </a:rPr>
              <a:t>}</a:t>
            </a:r>
            <a:endParaRPr sz="16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600">
                <a:latin typeface="Georgia"/>
                <a:cs typeface="Georgia"/>
              </a:rPr>
              <a:t>void</a:t>
            </a:r>
            <a:r>
              <a:rPr sz="1600" spc="114">
                <a:latin typeface="Georgia"/>
                <a:cs typeface="Georgia"/>
              </a:rPr>
              <a:t> </a:t>
            </a:r>
            <a:r>
              <a:rPr sz="1600" spc="-10">
                <a:latin typeface="Georgia"/>
                <a:cs typeface="Georgia"/>
              </a:rPr>
              <a:t>printarea()</a:t>
            </a:r>
            <a:endParaRPr sz="16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600" spc="-50">
                <a:latin typeface="Georgia"/>
                <a:cs typeface="Georgia"/>
              </a:rPr>
              <a:t>{</a:t>
            </a:r>
            <a:endParaRPr sz="16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  <a:defRPr/>
            </a:pPr>
            <a:r>
              <a:rPr sz="1600">
                <a:latin typeface="Georgia"/>
                <a:cs typeface="Georgia"/>
              </a:rPr>
              <a:t>cout</a:t>
            </a:r>
            <a:r>
              <a:rPr sz="1600" spc="70">
                <a:latin typeface="Georgia"/>
                <a:cs typeface="Georgia"/>
              </a:rPr>
              <a:t> </a:t>
            </a:r>
            <a:r>
              <a:rPr sz="1600" spc="-10">
                <a:latin typeface="Georgia"/>
                <a:cs typeface="Georgia"/>
              </a:rPr>
              <a:t>&lt;&lt;cal_area()&lt;&lt;endl;</a:t>
            </a:r>
            <a:endParaRPr sz="16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600" spc="-50">
                <a:latin typeface="Georgia"/>
                <a:cs typeface="Georgia"/>
              </a:rPr>
              <a:t>}</a:t>
            </a:r>
            <a:endParaRPr sz="16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defRPr/>
            </a:pPr>
            <a:r>
              <a:rPr sz="1600" spc="-25">
                <a:latin typeface="Georgia"/>
                <a:cs typeface="Georgia"/>
              </a:rPr>
              <a:t>};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539906909" name="object 3"/>
          <p:cNvSpPr txBox="1"/>
          <p:nvPr/>
        </p:nvSpPr>
        <p:spPr bwMode="auto">
          <a:xfrm flipH="0" flipV="0">
            <a:off x="4361433" y="917827"/>
            <a:ext cx="3231478" cy="5561689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400">
                <a:latin typeface="Georgia"/>
                <a:cs typeface="Georgia"/>
              </a:rPr>
              <a:t>class</a:t>
            </a:r>
            <a:r>
              <a:rPr sz="1400" spc="229">
                <a:latin typeface="Georgia"/>
                <a:cs typeface="Georgia"/>
              </a:rPr>
              <a:t> </a:t>
            </a:r>
            <a:r>
              <a:rPr sz="1400">
                <a:latin typeface="Georgia"/>
                <a:cs typeface="Georgia"/>
              </a:rPr>
              <a:t>Rectangle</a:t>
            </a:r>
            <a:r>
              <a:rPr sz="1400" spc="220">
                <a:latin typeface="Georgia"/>
                <a:cs typeface="Georgia"/>
              </a:rPr>
              <a:t> </a:t>
            </a:r>
            <a:r>
              <a:rPr sz="1400">
                <a:latin typeface="Georgia"/>
                <a:cs typeface="Georgia"/>
              </a:rPr>
              <a:t>:public</a:t>
            </a:r>
            <a:r>
              <a:rPr sz="1400" spc="245">
                <a:latin typeface="Georgia"/>
                <a:cs typeface="Georgia"/>
              </a:rPr>
              <a:t> </a:t>
            </a:r>
            <a:r>
              <a:rPr sz="1400" spc="-10">
                <a:latin typeface="Georgia"/>
                <a:cs typeface="Georgia"/>
              </a:rPr>
              <a:t>Shapes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defRPr/>
            </a:pPr>
            <a:r>
              <a:rPr sz="1400" spc="-50">
                <a:latin typeface="Georgia"/>
                <a:cs typeface="Georgia"/>
              </a:rPr>
              <a:t>{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defRPr/>
            </a:pPr>
            <a:r>
              <a:rPr sz="1400" spc="-10">
                <a:latin typeface="Georgia"/>
                <a:cs typeface="Georgia"/>
              </a:rPr>
              <a:t>public:</a:t>
            </a:r>
            <a:endParaRPr sz="14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400" spc="10">
                <a:latin typeface="Georgia"/>
                <a:cs typeface="Georgia"/>
              </a:rPr>
              <a:t>Rectangle()</a:t>
            </a:r>
            <a:r>
              <a:rPr sz="1400" spc="200">
                <a:latin typeface="Georgia"/>
                <a:cs typeface="Georgia"/>
              </a:rPr>
              <a:t> </a:t>
            </a:r>
            <a:r>
              <a:rPr sz="1400" spc="-10">
                <a:latin typeface="Georgia"/>
                <a:cs typeface="Georgia"/>
              </a:rPr>
              <a:t>:Shapes()</a:t>
            </a:r>
            <a:endParaRPr sz="14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400" spc="-50">
                <a:latin typeface="Georgia"/>
                <a:cs typeface="Georgia"/>
              </a:rPr>
              <a:t>{</a:t>
            </a:r>
            <a:endParaRPr sz="14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  <a:defRPr/>
            </a:pPr>
            <a:r>
              <a:rPr sz="1400">
                <a:latin typeface="Georgia"/>
                <a:cs typeface="Georgia"/>
              </a:rPr>
              <a:t>height</a:t>
            </a:r>
            <a:r>
              <a:rPr sz="1400" spc="120">
                <a:latin typeface="Georgia"/>
                <a:cs typeface="Georgia"/>
              </a:rPr>
              <a:t> </a:t>
            </a:r>
            <a:r>
              <a:rPr sz="1400">
                <a:latin typeface="Georgia"/>
                <a:cs typeface="Georgia"/>
              </a:rPr>
              <a:t>=</a:t>
            </a:r>
            <a:r>
              <a:rPr sz="1400" spc="110">
                <a:latin typeface="Georgia"/>
                <a:cs typeface="Georgia"/>
              </a:rPr>
              <a:t> </a:t>
            </a:r>
            <a:r>
              <a:rPr sz="1400" spc="-25">
                <a:latin typeface="Georgia"/>
                <a:cs typeface="Georgia"/>
              </a:rPr>
              <a:t>20;</a:t>
            </a:r>
            <a:endParaRPr sz="14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  <a:defRPr/>
            </a:pPr>
            <a:r>
              <a:rPr sz="1400">
                <a:latin typeface="Georgia"/>
                <a:cs typeface="Georgia"/>
              </a:rPr>
              <a:t>width</a:t>
            </a:r>
            <a:r>
              <a:rPr sz="1400" spc="35">
                <a:latin typeface="Georgia"/>
                <a:cs typeface="Georgia"/>
              </a:rPr>
              <a:t> </a:t>
            </a:r>
            <a:r>
              <a:rPr sz="1400">
                <a:latin typeface="Georgia"/>
                <a:cs typeface="Georgia"/>
              </a:rPr>
              <a:t>=</a:t>
            </a:r>
            <a:r>
              <a:rPr sz="1400" spc="30">
                <a:latin typeface="Georgia"/>
                <a:cs typeface="Georgia"/>
              </a:rPr>
              <a:t> </a:t>
            </a:r>
            <a:r>
              <a:rPr sz="1400" spc="-25">
                <a:latin typeface="Georgia"/>
                <a:cs typeface="Georgia"/>
              </a:rPr>
              <a:t>30;</a:t>
            </a:r>
            <a:endParaRPr sz="14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400" spc="-50">
                <a:latin typeface="Georgia"/>
                <a:cs typeface="Georgia"/>
              </a:rPr>
              <a:t>}</a:t>
            </a:r>
            <a:endParaRPr sz="14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400" spc="-10">
                <a:latin typeface="Georgia"/>
                <a:cs typeface="Georgia"/>
              </a:rPr>
              <a:t>int</a:t>
            </a:r>
            <a:r>
              <a:rPr sz="1400" spc="-60">
                <a:latin typeface="Georgia"/>
                <a:cs typeface="Georgia"/>
              </a:rPr>
              <a:t> </a:t>
            </a:r>
            <a:r>
              <a:rPr sz="1400" spc="-10">
                <a:latin typeface="Georgia"/>
                <a:cs typeface="Georgia"/>
              </a:rPr>
              <a:t>cal_area()</a:t>
            </a:r>
            <a:endParaRPr sz="14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400" spc="-50">
                <a:latin typeface="Georgia"/>
                <a:cs typeface="Georgia"/>
              </a:rPr>
              <a:t>{</a:t>
            </a:r>
            <a:endParaRPr sz="14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  <a:defRPr/>
            </a:pPr>
            <a:r>
              <a:rPr sz="1400">
                <a:latin typeface="Georgia"/>
                <a:cs typeface="Georgia"/>
              </a:rPr>
              <a:t>return</a:t>
            </a:r>
            <a:r>
              <a:rPr sz="1400" spc="10">
                <a:latin typeface="Georgia"/>
                <a:cs typeface="Georgia"/>
              </a:rPr>
              <a:t> </a:t>
            </a:r>
            <a:r>
              <a:rPr sz="1400">
                <a:latin typeface="Georgia"/>
                <a:cs typeface="Georgia"/>
              </a:rPr>
              <a:t>width</a:t>
            </a:r>
            <a:r>
              <a:rPr sz="1400" spc="15">
                <a:latin typeface="Georgia"/>
                <a:cs typeface="Georgia"/>
              </a:rPr>
              <a:t> </a:t>
            </a:r>
            <a:r>
              <a:rPr sz="1400" spc="65">
                <a:latin typeface="Georgia"/>
                <a:cs typeface="Georgia"/>
              </a:rPr>
              <a:t>*</a:t>
            </a:r>
            <a:r>
              <a:rPr sz="1400" spc="10">
                <a:latin typeface="Georgia"/>
                <a:cs typeface="Georgia"/>
              </a:rPr>
              <a:t> </a:t>
            </a:r>
            <a:r>
              <a:rPr sz="1400" spc="-10">
                <a:latin typeface="Georgia"/>
                <a:cs typeface="Georgia"/>
              </a:rPr>
              <a:t>height;</a:t>
            </a:r>
            <a:endParaRPr sz="14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400" spc="-50">
                <a:latin typeface="Georgia"/>
                <a:cs typeface="Georgia"/>
              </a:rPr>
              <a:t>}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defRPr/>
            </a:pPr>
            <a:r>
              <a:rPr sz="1400" spc="-25">
                <a:latin typeface="Georgia"/>
                <a:cs typeface="Georgia"/>
              </a:rPr>
              <a:t>};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defRPr/>
            </a:pPr>
            <a:r>
              <a:rPr sz="1400">
                <a:latin typeface="Georgia"/>
                <a:cs typeface="Georgia"/>
              </a:rPr>
              <a:t>class</a:t>
            </a:r>
            <a:r>
              <a:rPr sz="1400" spc="185">
                <a:latin typeface="Georgia"/>
                <a:cs typeface="Georgia"/>
              </a:rPr>
              <a:t> </a:t>
            </a:r>
            <a:r>
              <a:rPr sz="1400">
                <a:latin typeface="Georgia"/>
                <a:cs typeface="Georgia"/>
              </a:rPr>
              <a:t>Square</a:t>
            </a:r>
            <a:r>
              <a:rPr sz="1400" spc="175">
                <a:latin typeface="Georgia"/>
                <a:cs typeface="Georgia"/>
              </a:rPr>
              <a:t> </a:t>
            </a:r>
            <a:r>
              <a:rPr sz="1400">
                <a:latin typeface="Georgia"/>
                <a:cs typeface="Georgia"/>
              </a:rPr>
              <a:t>:public</a:t>
            </a:r>
            <a:r>
              <a:rPr sz="1400" spc="195">
                <a:latin typeface="Georgia"/>
                <a:cs typeface="Georgia"/>
              </a:rPr>
              <a:t> </a:t>
            </a:r>
            <a:r>
              <a:rPr sz="1400" spc="-10">
                <a:latin typeface="Georgia"/>
                <a:cs typeface="Georgia"/>
              </a:rPr>
              <a:t>Shapes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defRPr/>
            </a:pPr>
            <a:r>
              <a:rPr sz="1400" spc="-50">
                <a:latin typeface="Georgia"/>
                <a:cs typeface="Georgia"/>
              </a:rPr>
              <a:t>{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defRPr/>
            </a:pPr>
            <a:r>
              <a:rPr sz="1400" spc="-10">
                <a:latin typeface="Georgia"/>
                <a:cs typeface="Georgia"/>
              </a:rPr>
              <a:t>public:</a:t>
            </a:r>
            <a:endParaRPr sz="14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400" spc="-10">
                <a:latin typeface="Georgia"/>
                <a:cs typeface="Georgia"/>
              </a:rPr>
              <a:t>Square():Shapes()</a:t>
            </a:r>
            <a:endParaRPr sz="14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400" spc="-50">
                <a:latin typeface="Georgia"/>
                <a:cs typeface="Georgia"/>
              </a:rPr>
              <a:t>{</a:t>
            </a:r>
            <a:endParaRPr sz="14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  <a:defRPr/>
            </a:pPr>
            <a:r>
              <a:rPr sz="1400">
                <a:latin typeface="Georgia"/>
                <a:cs typeface="Georgia"/>
              </a:rPr>
              <a:t>height</a:t>
            </a:r>
            <a:r>
              <a:rPr sz="1400" spc="110">
                <a:latin typeface="Georgia"/>
                <a:cs typeface="Georgia"/>
              </a:rPr>
              <a:t> </a:t>
            </a:r>
            <a:r>
              <a:rPr sz="1400">
                <a:latin typeface="Georgia"/>
                <a:cs typeface="Georgia"/>
              </a:rPr>
              <a:t>=</a:t>
            </a:r>
            <a:r>
              <a:rPr sz="1400" spc="110">
                <a:latin typeface="Georgia"/>
                <a:cs typeface="Georgia"/>
              </a:rPr>
              <a:t> </a:t>
            </a:r>
            <a:r>
              <a:rPr sz="1400" spc="-25">
                <a:latin typeface="Georgia"/>
                <a:cs typeface="Georgia"/>
              </a:rPr>
              <a:t>30;</a:t>
            </a:r>
            <a:endParaRPr sz="14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  <a:defRPr/>
            </a:pPr>
            <a:r>
              <a:rPr sz="1400">
                <a:latin typeface="Georgia"/>
                <a:cs typeface="Georgia"/>
              </a:rPr>
              <a:t>width</a:t>
            </a:r>
            <a:r>
              <a:rPr sz="1400" spc="35">
                <a:latin typeface="Georgia"/>
                <a:cs typeface="Georgia"/>
              </a:rPr>
              <a:t> </a:t>
            </a:r>
            <a:r>
              <a:rPr sz="1400">
                <a:latin typeface="Georgia"/>
                <a:cs typeface="Georgia"/>
              </a:rPr>
              <a:t>=</a:t>
            </a:r>
            <a:r>
              <a:rPr sz="1400" spc="30">
                <a:latin typeface="Georgia"/>
                <a:cs typeface="Georgia"/>
              </a:rPr>
              <a:t> </a:t>
            </a:r>
            <a:r>
              <a:rPr sz="1400" spc="-25">
                <a:latin typeface="Georgia"/>
                <a:cs typeface="Georgia"/>
              </a:rPr>
              <a:t>30;</a:t>
            </a:r>
            <a:endParaRPr sz="14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400" spc="-50">
                <a:latin typeface="Georgia"/>
                <a:cs typeface="Georgia"/>
              </a:rPr>
              <a:t>}</a:t>
            </a:r>
            <a:endParaRPr sz="14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400" spc="-10">
                <a:latin typeface="Georgia"/>
                <a:cs typeface="Georgia"/>
              </a:rPr>
              <a:t>int</a:t>
            </a:r>
            <a:r>
              <a:rPr sz="1400" spc="-60">
                <a:latin typeface="Georgia"/>
                <a:cs typeface="Georgia"/>
              </a:rPr>
              <a:t> </a:t>
            </a:r>
            <a:r>
              <a:rPr sz="1400" spc="-10">
                <a:latin typeface="Georgia"/>
                <a:cs typeface="Georgia"/>
              </a:rPr>
              <a:t>cal_area()</a:t>
            </a:r>
            <a:endParaRPr sz="14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400" spc="-50">
                <a:latin typeface="Georgia"/>
                <a:cs typeface="Georgia"/>
              </a:rPr>
              <a:t>{</a:t>
            </a:r>
            <a:endParaRPr sz="14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  <a:defRPr/>
            </a:pPr>
            <a:r>
              <a:rPr sz="1400">
                <a:latin typeface="Georgia"/>
                <a:cs typeface="Georgia"/>
              </a:rPr>
              <a:t>return</a:t>
            </a:r>
            <a:r>
              <a:rPr sz="1400" spc="10">
                <a:latin typeface="Georgia"/>
                <a:cs typeface="Georgia"/>
              </a:rPr>
              <a:t> </a:t>
            </a:r>
            <a:r>
              <a:rPr sz="1400">
                <a:latin typeface="Georgia"/>
                <a:cs typeface="Georgia"/>
              </a:rPr>
              <a:t>width</a:t>
            </a:r>
            <a:r>
              <a:rPr sz="1400" spc="15">
                <a:latin typeface="Georgia"/>
                <a:cs typeface="Georgia"/>
              </a:rPr>
              <a:t> </a:t>
            </a:r>
            <a:r>
              <a:rPr sz="1400" spc="65">
                <a:latin typeface="Georgia"/>
                <a:cs typeface="Georgia"/>
              </a:rPr>
              <a:t>*</a:t>
            </a:r>
            <a:r>
              <a:rPr sz="1400" spc="10">
                <a:latin typeface="Georgia"/>
                <a:cs typeface="Georgia"/>
              </a:rPr>
              <a:t> </a:t>
            </a:r>
            <a:r>
              <a:rPr sz="1400" spc="-10">
                <a:latin typeface="Georgia"/>
                <a:cs typeface="Georgia"/>
              </a:rPr>
              <a:t>height;</a:t>
            </a:r>
            <a:endParaRPr sz="14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400" spc="-50">
                <a:latin typeface="Georgia"/>
                <a:cs typeface="Georgia"/>
              </a:rPr>
              <a:t>}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defRPr/>
            </a:pPr>
            <a:r>
              <a:rPr sz="1400" spc="-25">
                <a:latin typeface="Georgia"/>
                <a:cs typeface="Georgia"/>
              </a:rPr>
              <a:t>};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2006451766" name="object 4"/>
          <p:cNvSpPr txBox="1"/>
          <p:nvPr/>
        </p:nvSpPr>
        <p:spPr bwMode="auto">
          <a:xfrm flipH="0" flipV="0">
            <a:off x="8107425" y="3719320"/>
            <a:ext cx="2563513" cy="2787918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400" spc="-10">
                <a:latin typeface="Georgia"/>
                <a:cs typeface="Georgia"/>
              </a:rPr>
              <a:t>int</a:t>
            </a:r>
            <a:r>
              <a:rPr sz="1400" spc="-65">
                <a:latin typeface="Georgia"/>
                <a:cs typeface="Georgia"/>
              </a:rPr>
              <a:t> </a:t>
            </a:r>
            <a:r>
              <a:rPr sz="1400" spc="-10">
                <a:latin typeface="Georgia"/>
                <a:cs typeface="Georgia"/>
              </a:rPr>
              <a:t>main()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defRPr/>
            </a:pPr>
            <a:r>
              <a:rPr sz="1400" spc="-50">
                <a:latin typeface="Georgia"/>
                <a:cs typeface="Georgia"/>
              </a:rPr>
              <a:t>{</a:t>
            </a:r>
            <a:endParaRPr sz="1400">
              <a:latin typeface="Georgia"/>
              <a:cs typeface="Georgia"/>
            </a:endParaRPr>
          </a:p>
          <a:p>
            <a:pPr marL="469900" marR="5080">
              <a:lnSpc>
                <a:spcPct val="100000"/>
              </a:lnSpc>
              <a:defRPr/>
            </a:pPr>
            <a:r>
              <a:rPr sz="1400">
                <a:latin typeface="Georgia"/>
                <a:cs typeface="Georgia"/>
              </a:rPr>
              <a:t>Shapes*</a:t>
            </a:r>
            <a:r>
              <a:rPr sz="1400" spc="80">
                <a:latin typeface="Georgia"/>
                <a:cs typeface="Georgia"/>
              </a:rPr>
              <a:t> </a:t>
            </a:r>
            <a:r>
              <a:rPr sz="1400" spc="70">
                <a:latin typeface="Georgia"/>
                <a:cs typeface="Georgia"/>
              </a:rPr>
              <a:t>s1,</a:t>
            </a:r>
            <a:r>
              <a:rPr sz="1400" spc="-20">
                <a:latin typeface="Georgia"/>
                <a:cs typeface="Georgia"/>
              </a:rPr>
              <a:t> </a:t>
            </a:r>
            <a:r>
              <a:rPr sz="1400" spc="65">
                <a:latin typeface="Georgia"/>
                <a:cs typeface="Georgia"/>
              </a:rPr>
              <a:t>*</a:t>
            </a:r>
            <a:r>
              <a:rPr sz="1400" spc="105">
                <a:latin typeface="Georgia"/>
                <a:cs typeface="Georgia"/>
              </a:rPr>
              <a:t> </a:t>
            </a:r>
            <a:r>
              <a:rPr sz="1400" spc="-25">
                <a:latin typeface="Georgia"/>
                <a:cs typeface="Georgia"/>
              </a:rPr>
              <a:t>s2; </a:t>
            </a:r>
            <a:r>
              <a:rPr sz="1400" spc="10">
                <a:latin typeface="Georgia"/>
                <a:cs typeface="Georgia"/>
              </a:rPr>
              <a:t>Rectangle</a:t>
            </a:r>
            <a:r>
              <a:rPr sz="1400" spc="240">
                <a:latin typeface="Georgia"/>
                <a:cs typeface="Georgia"/>
              </a:rPr>
              <a:t> </a:t>
            </a:r>
            <a:r>
              <a:rPr sz="1400" spc="-25">
                <a:latin typeface="Georgia"/>
                <a:cs typeface="Georgia"/>
              </a:rPr>
              <a:t>r; </a:t>
            </a:r>
            <a:endParaRPr sz="1400" spc="-24">
              <a:latin typeface="Georgia"/>
              <a:cs typeface="Georgia"/>
            </a:endParaRPr>
          </a:p>
          <a:p>
            <a:pPr marL="469899" marR="5079">
              <a:lnSpc>
                <a:spcPct val="100000"/>
              </a:lnSpc>
              <a:defRPr/>
            </a:pPr>
            <a:r>
              <a:rPr sz="1400">
                <a:latin typeface="Georgia"/>
                <a:cs typeface="Georgia"/>
              </a:rPr>
              <a:t>Square</a:t>
            </a:r>
            <a:r>
              <a:rPr sz="1400" spc="104">
                <a:latin typeface="Georgia"/>
                <a:cs typeface="Georgia"/>
              </a:rPr>
              <a:t> </a:t>
            </a:r>
            <a:r>
              <a:rPr sz="1400" spc="-24">
                <a:latin typeface="Georgia"/>
                <a:cs typeface="Georgia"/>
              </a:rPr>
              <a:t>s;</a:t>
            </a:r>
            <a:endParaRPr sz="14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400" spc="100">
                <a:latin typeface="Georgia"/>
                <a:cs typeface="Georgia"/>
              </a:rPr>
              <a:t>s1</a:t>
            </a:r>
            <a:r>
              <a:rPr sz="1400" spc="25">
                <a:latin typeface="Georgia"/>
                <a:cs typeface="Georgia"/>
              </a:rPr>
              <a:t> </a:t>
            </a:r>
            <a:r>
              <a:rPr sz="1400">
                <a:latin typeface="Georgia"/>
                <a:cs typeface="Georgia"/>
              </a:rPr>
              <a:t>=</a:t>
            </a:r>
            <a:r>
              <a:rPr sz="1400" spc="25">
                <a:latin typeface="Georgia"/>
                <a:cs typeface="Georgia"/>
              </a:rPr>
              <a:t> </a:t>
            </a:r>
            <a:r>
              <a:rPr sz="1400" spc="-25">
                <a:latin typeface="Georgia"/>
                <a:cs typeface="Georgia"/>
              </a:rPr>
              <a:t>&amp;r;</a:t>
            </a:r>
            <a:endParaRPr sz="14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400">
                <a:latin typeface="Georgia"/>
                <a:cs typeface="Georgia"/>
              </a:rPr>
              <a:t>s2</a:t>
            </a:r>
            <a:r>
              <a:rPr sz="1400" spc="25">
                <a:latin typeface="Georgia"/>
                <a:cs typeface="Georgia"/>
              </a:rPr>
              <a:t> </a:t>
            </a:r>
            <a:r>
              <a:rPr sz="1400">
                <a:latin typeface="Georgia"/>
                <a:cs typeface="Georgia"/>
              </a:rPr>
              <a:t>=</a:t>
            </a:r>
            <a:r>
              <a:rPr sz="1400" spc="30">
                <a:latin typeface="Georgia"/>
                <a:cs typeface="Georgia"/>
              </a:rPr>
              <a:t> </a:t>
            </a:r>
            <a:r>
              <a:rPr sz="1400" spc="-25">
                <a:latin typeface="Georgia"/>
                <a:cs typeface="Georgia"/>
              </a:rPr>
              <a:t>&amp;s;</a:t>
            </a:r>
            <a:endParaRPr sz="1400">
              <a:latin typeface="Georgia"/>
              <a:cs typeface="Georgia"/>
            </a:endParaRPr>
          </a:p>
          <a:p>
            <a:pPr marL="469900" marR="50800">
              <a:lnSpc>
                <a:spcPct val="100000"/>
              </a:lnSpc>
              <a:defRPr/>
            </a:pPr>
            <a:r>
              <a:rPr sz="1400" spc="55">
                <a:latin typeface="Georgia"/>
                <a:cs typeface="Georgia"/>
              </a:rPr>
              <a:t>s1-</a:t>
            </a:r>
            <a:r>
              <a:rPr sz="1400" spc="-10">
                <a:latin typeface="Georgia"/>
                <a:cs typeface="Georgia"/>
              </a:rPr>
              <a:t>&gt;cal_area(); </a:t>
            </a:r>
            <a:r>
              <a:rPr sz="1400" spc="55">
                <a:latin typeface="Georgia"/>
                <a:cs typeface="Georgia"/>
              </a:rPr>
              <a:t>s1-</a:t>
            </a:r>
            <a:r>
              <a:rPr sz="1400" spc="-10">
                <a:latin typeface="Georgia"/>
                <a:cs typeface="Georgia"/>
              </a:rPr>
              <a:t>&gt;printarea(); s2-&gt;cal_area(); s2-&gt;printarea();</a:t>
            </a:r>
            <a:endParaRPr sz="1400" spc="-9">
              <a:latin typeface="Georgia"/>
              <a:cs typeface="Georgia"/>
            </a:endParaRPr>
          </a:p>
          <a:p>
            <a:pPr marL="469899" marR="50799">
              <a:lnSpc>
                <a:spcPct val="100000"/>
              </a:lnSpc>
              <a:defRPr/>
            </a:pPr>
            <a:r>
              <a:rPr sz="1400" spc="-9">
                <a:latin typeface="Georgia"/>
                <a:cs typeface="Georgia"/>
              </a:rPr>
              <a:t> </a:t>
            </a:r>
            <a:r>
              <a:rPr sz="1400">
                <a:latin typeface="Georgia"/>
                <a:cs typeface="Georgia"/>
              </a:rPr>
              <a:t>return</a:t>
            </a:r>
            <a:r>
              <a:rPr sz="1400" spc="-9">
                <a:latin typeface="Georgia"/>
                <a:cs typeface="Georgia"/>
              </a:rPr>
              <a:t> </a:t>
            </a:r>
            <a:r>
              <a:rPr sz="1400" spc="-24">
                <a:latin typeface="Georgia"/>
                <a:cs typeface="Georgia"/>
              </a:rPr>
              <a:t>0;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defRPr/>
            </a:pPr>
            <a:r>
              <a:rPr sz="1400" spc="-50">
                <a:latin typeface="Georgia"/>
                <a:cs typeface="Georgia"/>
              </a:rPr>
              <a:t>}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1560725261" name="object 5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7300" marR="5080" indent="-283845">
              <a:lnSpc>
                <a:spcPct val="100000"/>
              </a:lnSpc>
              <a:spcBef>
                <a:spcPts val="100"/>
              </a:spcBef>
              <a:defRPr/>
            </a:pPr>
            <a:r>
              <a:rPr spc="-130"/>
              <a:t>Solution </a:t>
            </a:r>
            <a:r>
              <a:rPr spc="-25"/>
              <a:t>C++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412893" name="object 2"/>
          <p:cNvSpPr txBox="1"/>
          <p:nvPr/>
        </p:nvSpPr>
        <p:spPr bwMode="auto">
          <a:xfrm>
            <a:off x="806195" y="2275332"/>
            <a:ext cx="3668395" cy="2624455"/>
          </a:xfrm>
          <a:prstGeom prst="rect">
            <a:avLst/>
          </a:prstGeom>
          <a:solidFill>
            <a:srgbClr val="539E39"/>
          </a:solidFill>
        </p:spPr>
        <p:txBody>
          <a:bodyPr vert="horz" wrap="square" lIns="0" tIns="1727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60"/>
              </a:spcBef>
              <a:defRPr/>
            </a:pPr>
            <a:endParaRPr sz="4000">
              <a:latin typeface="Times New Roman"/>
              <a:cs typeface="Times New Roman"/>
            </a:endParaRPr>
          </a:p>
          <a:p>
            <a:pPr marL="923925" marR="721360" indent="-180340">
              <a:lnSpc>
                <a:spcPts val="4079"/>
              </a:lnSpc>
              <a:defRPr/>
            </a:pPr>
            <a:r>
              <a:rPr sz="4000" spc="-175">
                <a:solidFill>
                  <a:srgbClr val="FFFDFF"/>
                </a:solidFill>
                <a:latin typeface="Carlito"/>
                <a:cs typeface="Carlito"/>
              </a:rPr>
              <a:t>Pure</a:t>
            </a:r>
            <a:r>
              <a:rPr sz="4000" spc="-305">
                <a:solidFill>
                  <a:srgbClr val="FFFDFF"/>
                </a:solidFill>
                <a:latin typeface="Carlito"/>
                <a:cs typeface="Carlito"/>
              </a:rPr>
              <a:t> </a:t>
            </a:r>
            <a:r>
              <a:rPr sz="4000" spc="-155">
                <a:solidFill>
                  <a:srgbClr val="FFFDFF"/>
                </a:solidFill>
                <a:latin typeface="Carlito"/>
                <a:cs typeface="Carlito"/>
              </a:rPr>
              <a:t>Virtual </a:t>
            </a:r>
            <a:r>
              <a:rPr sz="4000" spc="-55">
                <a:solidFill>
                  <a:srgbClr val="FFFDFF"/>
                </a:solidFill>
                <a:latin typeface="Carlito"/>
                <a:cs typeface="Carlito"/>
              </a:rPr>
              <a:t>Functions</a:t>
            </a:r>
            <a:endParaRPr sz="4000">
              <a:latin typeface="Carlito"/>
              <a:cs typeface="Carlito"/>
            </a:endParaRPr>
          </a:p>
        </p:txBody>
      </p:sp>
      <p:sp>
        <p:nvSpPr>
          <p:cNvPr id="337590892" name="object 3"/>
          <p:cNvSpPr txBox="1"/>
          <p:nvPr/>
        </p:nvSpPr>
        <p:spPr bwMode="auto">
          <a:xfrm>
            <a:off x="5197855" y="618136"/>
            <a:ext cx="5920105" cy="23374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00"/>
              </a:spcBef>
              <a:buClr>
                <a:srgbClr val="539E39"/>
              </a:buClr>
              <a:buSzPct val="110000"/>
              <a:buFont typeface="Wingdings"/>
              <a:buChar char=""/>
              <a:tabLst>
                <a:tab pos="240665" algn="l"/>
              </a:tabLst>
              <a:defRPr/>
            </a:pPr>
            <a:r>
              <a:rPr sz="2000">
                <a:latin typeface="Georgia"/>
                <a:cs typeface="Georgia"/>
              </a:rPr>
              <a:t>Pure</a:t>
            </a:r>
            <a:r>
              <a:rPr sz="2000" spc="55">
                <a:latin typeface="Georgia"/>
                <a:cs typeface="Georgia"/>
              </a:rPr>
              <a:t> </a:t>
            </a:r>
            <a:r>
              <a:rPr sz="2000">
                <a:latin typeface="Georgia"/>
                <a:cs typeface="Georgia"/>
              </a:rPr>
              <a:t>virtual</a:t>
            </a:r>
            <a:r>
              <a:rPr sz="2000" spc="20">
                <a:latin typeface="Georgia"/>
                <a:cs typeface="Georgia"/>
              </a:rPr>
              <a:t> </a:t>
            </a:r>
            <a:r>
              <a:rPr sz="2000">
                <a:latin typeface="Georgia"/>
                <a:cs typeface="Georgia"/>
              </a:rPr>
              <a:t>functions</a:t>
            </a:r>
            <a:r>
              <a:rPr sz="2000" spc="45">
                <a:latin typeface="Georgia"/>
                <a:cs typeface="Georgia"/>
              </a:rPr>
              <a:t> </a:t>
            </a:r>
            <a:r>
              <a:rPr sz="2000">
                <a:latin typeface="Georgia"/>
                <a:cs typeface="Georgia"/>
              </a:rPr>
              <a:t>are</a:t>
            </a:r>
            <a:r>
              <a:rPr sz="2000" spc="40">
                <a:latin typeface="Georgia"/>
                <a:cs typeface="Georgia"/>
              </a:rPr>
              <a:t> used:</a:t>
            </a:r>
            <a:endParaRPr sz="2000">
              <a:latin typeface="Georgia"/>
              <a:cs typeface="Georgia"/>
            </a:endParaRPr>
          </a:p>
          <a:p>
            <a:pPr marL="698500" lvl="1" indent="-228600">
              <a:lnSpc>
                <a:spcPct val="100000"/>
              </a:lnSpc>
              <a:spcBef>
                <a:spcPts val="975"/>
              </a:spcBef>
              <a:buClr>
                <a:srgbClr val="539E39"/>
              </a:buClr>
              <a:buSzPct val="108333"/>
              <a:buFont typeface="Arial"/>
              <a:buChar char="•"/>
              <a:tabLst>
                <a:tab pos="698500" algn="l"/>
              </a:tabLst>
              <a:defRPr/>
            </a:pPr>
            <a:r>
              <a:rPr sz="1800">
                <a:latin typeface="Georgia"/>
                <a:cs typeface="Georgia"/>
              </a:rPr>
              <a:t>if</a:t>
            </a:r>
            <a:r>
              <a:rPr sz="1800" spc="4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a</a:t>
            </a:r>
            <a:r>
              <a:rPr sz="1800" spc="45">
                <a:latin typeface="Georgia"/>
                <a:cs typeface="Georgia"/>
              </a:rPr>
              <a:t> </a:t>
            </a:r>
            <a:r>
              <a:rPr sz="1800" spc="-10">
                <a:latin typeface="Georgia"/>
                <a:cs typeface="Georgia"/>
              </a:rPr>
              <a:t>function</a:t>
            </a:r>
            <a:r>
              <a:rPr sz="1800" spc="5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doesn't</a:t>
            </a:r>
            <a:r>
              <a:rPr sz="1800" spc="4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have</a:t>
            </a:r>
            <a:r>
              <a:rPr sz="1800" spc="5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any</a:t>
            </a:r>
            <a:r>
              <a:rPr sz="1800" spc="40">
                <a:latin typeface="Georgia"/>
                <a:cs typeface="Georgia"/>
              </a:rPr>
              <a:t> </a:t>
            </a:r>
            <a:r>
              <a:rPr sz="1800" spc="50">
                <a:latin typeface="Georgia"/>
                <a:cs typeface="Georgia"/>
              </a:rPr>
              <a:t>use </a:t>
            </a:r>
            <a:r>
              <a:rPr sz="1800">
                <a:latin typeface="Georgia"/>
                <a:cs typeface="Georgia"/>
              </a:rPr>
              <a:t>in</a:t>
            </a:r>
            <a:r>
              <a:rPr sz="1800" spc="4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the</a:t>
            </a:r>
            <a:r>
              <a:rPr sz="1800" spc="65">
                <a:latin typeface="Georgia"/>
                <a:cs typeface="Georgia"/>
              </a:rPr>
              <a:t> </a:t>
            </a:r>
            <a:r>
              <a:rPr sz="1800" spc="95">
                <a:latin typeface="Georgia"/>
                <a:cs typeface="Georgia"/>
              </a:rPr>
              <a:t>base</a:t>
            </a:r>
            <a:r>
              <a:rPr sz="1800" spc="30">
                <a:latin typeface="Georgia"/>
                <a:cs typeface="Georgia"/>
              </a:rPr>
              <a:t> </a:t>
            </a:r>
            <a:r>
              <a:rPr sz="1800" spc="40">
                <a:latin typeface="Georgia"/>
                <a:cs typeface="Georgia"/>
              </a:rPr>
              <a:t>class</a:t>
            </a:r>
            <a:endParaRPr sz="1800">
              <a:latin typeface="Georgia"/>
              <a:cs typeface="Georgia"/>
            </a:endParaRPr>
          </a:p>
          <a:p>
            <a:pPr marL="698500" marR="287020" lvl="1" indent="-229235">
              <a:lnSpc>
                <a:spcPct val="120000"/>
              </a:lnSpc>
              <a:spcBef>
                <a:spcPts val="490"/>
              </a:spcBef>
              <a:buClr>
                <a:srgbClr val="539E39"/>
              </a:buClr>
              <a:buSzPct val="108333"/>
              <a:buFont typeface="Arial"/>
              <a:buChar char="•"/>
              <a:tabLst>
                <a:tab pos="698500" algn="l"/>
              </a:tabLst>
              <a:defRPr/>
            </a:pPr>
            <a:r>
              <a:rPr sz="1800">
                <a:latin typeface="Georgia"/>
                <a:cs typeface="Georgia"/>
              </a:rPr>
              <a:t>but</a:t>
            </a:r>
            <a:r>
              <a:rPr sz="1800" spc="4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the</a:t>
            </a:r>
            <a:r>
              <a:rPr sz="1800" spc="5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function</a:t>
            </a:r>
            <a:r>
              <a:rPr sz="1800" spc="6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must</a:t>
            </a:r>
            <a:r>
              <a:rPr sz="1800" spc="50">
                <a:latin typeface="Georgia"/>
                <a:cs typeface="Georgia"/>
              </a:rPr>
              <a:t> </a:t>
            </a:r>
            <a:r>
              <a:rPr sz="1800" spc="145">
                <a:latin typeface="Georgia"/>
                <a:cs typeface="Georgia"/>
              </a:rPr>
              <a:t>be</a:t>
            </a:r>
            <a:r>
              <a:rPr sz="1800" spc="5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implemented</a:t>
            </a:r>
            <a:r>
              <a:rPr sz="1800" spc="70">
                <a:latin typeface="Georgia"/>
                <a:cs typeface="Georgia"/>
              </a:rPr>
              <a:t> </a:t>
            </a:r>
            <a:r>
              <a:rPr sz="1800" spc="95">
                <a:latin typeface="Georgia"/>
                <a:cs typeface="Georgia"/>
              </a:rPr>
              <a:t>by</a:t>
            </a:r>
            <a:r>
              <a:rPr sz="1800" spc="4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all</a:t>
            </a:r>
            <a:r>
              <a:rPr sz="1800" spc="30">
                <a:latin typeface="Georgia"/>
                <a:cs typeface="Georgia"/>
              </a:rPr>
              <a:t> </a:t>
            </a:r>
            <a:r>
              <a:rPr sz="1800" spc="-25">
                <a:latin typeface="Georgia"/>
                <a:cs typeface="Georgia"/>
              </a:rPr>
              <a:t>its </a:t>
            </a:r>
            <a:r>
              <a:rPr sz="1800" spc="70">
                <a:latin typeface="Georgia"/>
                <a:cs typeface="Georgia"/>
              </a:rPr>
              <a:t>derived</a:t>
            </a:r>
            <a:r>
              <a:rPr sz="1800" spc="20">
                <a:latin typeface="Georgia"/>
                <a:cs typeface="Georgia"/>
              </a:rPr>
              <a:t> </a:t>
            </a:r>
            <a:r>
              <a:rPr sz="1800" spc="55">
                <a:latin typeface="Georgia"/>
                <a:cs typeface="Georgia"/>
              </a:rPr>
              <a:t>classes</a:t>
            </a:r>
            <a:endParaRPr sz="1800">
              <a:latin typeface="Georgia"/>
              <a:cs typeface="Georgia"/>
            </a:endParaRPr>
          </a:p>
          <a:p>
            <a:pPr marL="240665" indent="-227965">
              <a:lnSpc>
                <a:spcPct val="100000"/>
              </a:lnSpc>
              <a:spcBef>
                <a:spcPts val="1440"/>
              </a:spcBef>
              <a:buClr>
                <a:srgbClr val="539E39"/>
              </a:buClr>
              <a:buSzPct val="108333"/>
              <a:buFont typeface="Wingdings"/>
              <a:buChar char=""/>
              <a:tabLst>
                <a:tab pos="240665" algn="l"/>
              </a:tabLst>
              <a:defRPr/>
            </a:pPr>
            <a:r>
              <a:rPr sz="1800">
                <a:latin typeface="Georgia"/>
                <a:cs typeface="Georgia"/>
              </a:rPr>
              <a:t>A</a:t>
            </a:r>
            <a:r>
              <a:rPr sz="1800" spc="7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pure</a:t>
            </a:r>
            <a:r>
              <a:rPr sz="1800" spc="5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virtual</a:t>
            </a:r>
            <a:r>
              <a:rPr sz="1800" spc="5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function</a:t>
            </a:r>
            <a:r>
              <a:rPr sz="1800" spc="8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doesn't</a:t>
            </a:r>
            <a:r>
              <a:rPr sz="1800" spc="5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have</a:t>
            </a:r>
            <a:r>
              <a:rPr sz="1800" spc="6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the</a:t>
            </a:r>
            <a:r>
              <a:rPr sz="1800" spc="6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function</a:t>
            </a:r>
            <a:r>
              <a:rPr sz="1800" spc="80">
                <a:latin typeface="Georgia"/>
                <a:cs typeface="Georgia"/>
              </a:rPr>
              <a:t> </a:t>
            </a:r>
            <a:r>
              <a:rPr sz="1800" spc="65">
                <a:latin typeface="Georgia"/>
                <a:cs typeface="Georgia"/>
              </a:rPr>
              <a:t>body</a:t>
            </a:r>
            <a:endParaRPr sz="1800">
              <a:latin typeface="Georgia"/>
              <a:cs typeface="Georgia"/>
            </a:endParaRPr>
          </a:p>
          <a:p>
            <a:pPr marL="241300">
              <a:lnSpc>
                <a:spcPct val="100000"/>
              </a:lnSpc>
              <a:spcBef>
                <a:spcPts val="434"/>
              </a:spcBef>
              <a:defRPr/>
            </a:pPr>
            <a:r>
              <a:rPr sz="1800">
                <a:latin typeface="Georgia"/>
                <a:cs typeface="Georgia"/>
              </a:rPr>
              <a:t>and</a:t>
            </a:r>
            <a:r>
              <a:rPr sz="1800" spc="-2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it</a:t>
            </a:r>
            <a:r>
              <a:rPr sz="1800" spc="-2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must</a:t>
            </a:r>
            <a:r>
              <a:rPr sz="1800" spc="-5">
                <a:latin typeface="Georgia"/>
                <a:cs typeface="Georgia"/>
              </a:rPr>
              <a:t> </a:t>
            </a:r>
            <a:r>
              <a:rPr sz="1800" spc="65">
                <a:latin typeface="Georgia"/>
                <a:cs typeface="Georgia"/>
              </a:rPr>
              <a:t>end</a:t>
            </a:r>
            <a:r>
              <a:rPr sz="1800" spc="-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with</a:t>
            </a:r>
            <a:r>
              <a:rPr sz="1800" spc="-1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=</a:t>
            </a:r>
            <a:r>
              <a:rPr sz="1800" spc="-15">
                <a:latin typeface="Georgia"/>
                <a:cs typeface="Georgia"/>
              </a:rPr>
              <a:t> </a:t>
            </a:r>
            <a:r>
              <a:rPr sz="1800" spc="-55">
                <a:latin typeface="Georgia"/>
                <a:cs typeface="Georgia"/>
              </a:rPr>
              <a:t>0.</a:t>
            </a:r>
            <a:r>
              <a:rPr sz="1800" spc="-130">
                <a:latin typeface="Georgia"/>
                <a:cs typeface="Georgia"/>
              </a:rPr>
              <a:t> </a:t>
            </a:r>
            <a:r>
              <a:rPr sz="1800" spc="-30">
                <a:latin typeface="Georgia"/>
                <a:cs typeface="Georgia"/>
              </a:rPr>
              <a:t>For</a:t>
            </a:r>
            <a:r>
              <a:rPr sz="1800" spc="-15">
                <a:latin typeface="Georgia"/>
                <a:cs typeface="Georgia"/>
              </a:rPr>
              <a:t> </a:t>
            </a:r>
            <a:r>
              <a:rPr sz="1800" spc="45">
                <a:latin typeface="Georgia"/>
                <a:cs typeface="Georgia"/>
              </a:rPr>
              <a:t>example,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24042938" name="object 4"/>
          <p:cNvSpPr txBox="1"/>
          <p:nvPr/>
        </p:nvSpPr>
        <p:spPr bwMode="auto">
          <a:xfrm>
            <a:off x="5197855" y="3409537"/>
            <a:ext cx="4869180" cy="230695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  <a:defRPr/>
            </a:pPr>
            <a:r>
              <a:rPr sz="1800">
                <a:latin typeface="IBM 3270"/>
                <a:cs typeface="IBM 3270"/>
              </a:rPr>
              <a:t>class</a:t>
            </a:r>
            <a:r>
              <a:rPr sz="1800" spc="20">
                <a:latin typeface="IBM 3270"/>
                <a:cs typeface="IBM 3270"/>
              </a:rPr>
              <a:t> </a:t>
            </a:r>
            <a:r>
              <a:rPr sz="1800" spc="-10">
                <a:latin typeface="IBM 3270"/>
                <a:cs typeface="IBM 3270"/>
              </a:rPr>
              <a:t>Shape</a:t>
            </a:r>
            <a:endParaRPr sz="1800">
              <a:latin typeface="IBM 3270"/>
              <a:cs typeface="IBM 3270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defRPr/>
            </a:pPr>
            <a:r>
              <a:rPr sz="1800" spc="-50">
                <a:latin typeface="IBM 3270"/>
                <a:cs typeface="IBM 3270"/>
              </a:rPr>
              <a:t>{</a:t>
            </a:r>
            <a:endParaRPr sz="1800">
              <a:latin typeface="IBM 3270"/>
              <a:cs typeface="IBM 3270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defRPr/>
            </a:pPr>
            <a:r>
              <a:rPr sz="1800" spc="-10">
                <a:latin typeface="IBM 3270"/>
                <a:cs typeface="IBM 3270"/>
              </a:rPr>
              <a:t>public:</a:t>
            </a:r>
            <a:endParaRPr sz="1800">
              <a:latin typeface="IBM 3270"/>
              <a:cs typeface="IBM 3270"/>
            </a:endParaRPr>
          </a:p>
          <a:p>
            <a:pPr marL="469900">
              <a:lnSpc>
                <a:spcPct val="100000"/>
              </a:lnSpc>
              <a:spcBef>
                <a:spcPts val="505"/>
              </a:spcBef>
              <a:defRPr/>
            </a:pPr>
            <a:r>
              <a:rPr sz="1800">
                <a:latin typeface="IBM 3270"/>
                <a:cs typeface="IBM 3270"/>
              </a:rPr>
              <a:t>//</a:t>
            </a:r>
            <a:r>
              <a:rPr sz="1800" spc="35">
                <a:latin typeface="IBM 3270"/>
                <a:cs typeface="IBM 3270"/>
              </a:rPr>
              <a:t> </a:t>
            </a:r>
            <a:r>
              <a:rPr sz="1800">
                <a:latin typeface="IBM 3270"/>
                <a:cs typeface="IBM 3270"/>
              </a:rPr>
              <a:t>creating</a:t>
            </a:r>
            <a:r>
              <a:rPr sz="1800" spc="45">
                <a:latin typeface="IBM 3270"/>
                <a:cs typeface="IBM 3270"/>
              </a:rPr>
              <a:t> </a:t>
            </a:r>
            <a:r>
              <a:rPr sz="1800">
                <a:latin typeface="IBM 3270"/>
                <a:cs typeface="IBM 3270"/>
              </a:rPr>
              <a:t>a</a:t>
            </a:r>
            <a:r>
              <a:rPr sz="1800" spc="35">
                <a:latin typeface="IBM 3270"/>
                <a:cs typeface="IBM 3270"/>
              </a:rPr>
              <a:t> </a:t>
            </a:r>
            <a:r>
              <a:rPr sz="1800">
                <a:latin typeface="IBM 3270"/>
                <a:cs typeface="IBM 3270"/>
              </a:rPr>
              <a:t>pure</a:t>
            </a:r>
            <a:r>
              <a:rPr sz="1800" spc="35">
                <a:latin typeface="IBM 3270"/>
                <a:cs typeface="IBM 3270"/>
              </a:rPr>
              <a:t> </a:t>
            </a:r>
            <a:r>
              <a:rPr sz="1800">
                <a:latin typeface="IBM 3270"/>
                <a:cs typeface="IBM 3270"/>
              </a:rPr>
              <a:t>virtual</a:t>
            </a:r>
            <a:r>
              <a:rPr sz="1800" spc="35">
                <a:latin typeface="IBM 3270"/>
                <a:cs typeface="IBM 3270"/>
              </a:rPr>
              <a:t> </a:t>
            </a:r>
            <a:r>
              <a:rPr sz="1800" spc="-10">
                <a:latin typeface="IBM 3270"/>
                <a:cs typeface="IBM 3270"/>
              </a:rPr>
              <a:t>function</a:t>
            </a:r>
            <a:endParaRPr sz="1800">
              <a:latin typeface="IBM 3270"/>
              <a:cs typeface="IBM 3270"/>
            </a:endParaRPr>
          </a:p>
          <a:p>
            <a:pPr marL="469900">
              <a:lnSpc>
                <a:spcPct val="100000"/>
              </a:lnSpc>
              <a:spcBef>
                <a:spcPts val="500"/>
              </a:spcBef>
              <a:defRPr/>
            </a:pPr>
            <a:r>
              <a:rPr sz="1800">
                <a:latin typeface="IBM 3270"/>
                <a:cs typeface="IBM 3270"/>
              </a:rPr>
              <a:t>virtual</a:t>
            </a:r>
            <a:r>
              <a:rPr sz="1800" spc="30">
                <a:latin typeface="IBM 3270"/>
                <a:cs typeface="IBM 3270"/>
              </a:rPr>
              <a:t> </a:t>
            </a:r>
            <a:r>
              <a:rPr sz="1800">
                <a:latin typeface="IBM 3270"/>
                <a:cs typeface="IBM 3270"/>
              </a:rPr>
              <a:t>void</a:t>
            </a:r>
            <a:r>
              <a:rPr sz="1800" spc="45">
                <a:latin typeface="IBM 3270"/>
                <a:cs typeface="IBM 3270"/>
              </a:rPr>
              <a:t> </a:t>
            </a:r>
            <a:r>
              <a:rPr sz="1800">
                <a:latin typeface="IBM 3270"/>
                <a:cs typeface="IBM 3270"/>
              </a:rPr>
              <a:t>calculateArea()</a:t>
            </a:r>
            <a:r>
              <a:rPr sz="1800" spc="40">
                <a:latin typeface="IBM 3270"/>
                <a:cs typeface="IBM 3270"/>
              </a:rPr>
              <a:t> </a:t>
            </a:r>
            <a:r>
              <a:rPr sz="1800">
                <a:latin typeface="IBM 3270"/>
                <a:cs typeface="IBM 3270"/>
              </a:rPr>
              <a:t>=</a:t>
            </a:r>
            <a:r>
              <a:rPr sz="1800" spc="30">
                <a:latin typeface="IBM 3270"/>
                <a:cs typeface="IBM 3270"/>
              </a:rPr>
              <a:t> </a:t>
            </a:r>
            <a:r>
              <a:rPr sz="1800" spc="-25">
                <a:latin typeface="IBM 3270"/>
                <a:cs typeface="IBM 3270"/>
              </a:rPr>
              <a:t>0;</a:t>
            </a:r>
            <a:endParaRPr sz="1800">
              <a:latin typeface="IBM 3270"/>
              <a:cs typeface="IBM 3270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defRPr/>
            </a:pPr>
            <a:r>
              <a:rPr sz="1800" spc="-25">
                <a:latin typeface="IBM 3270"/>
                <a:cs typeface="IBM 3270"/>
              </a:rPr>
              <a:t>};</a:t>
            </a:r>
            <a:endParaRPr sz="1800">
              <a:latin typeface="IBM 3270"/>
              <a:cs typeface="IBM 327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03333" name="object 2"/>
          <p:cNvSpPr txBox="1"/>
          <p:nvPr/>
        </p:nvSpPr>
        <p:spPr bwMode="auto">
          <a:xfrm>
            <a:off x="806195" y="2275332"/>
            <a:ext cx="3668395" cy="2624455"/>
          </a:xfrm>
          <a:prstGeom prst="rect">
            <a:avLst/>
          </a:prstGeom>
          <a:solidFill>
            <a:srgbClr val="539E39"/>
          </a:solidFill>
        </p:spPr>
        <p:txBody>
          <a:bodyPr vert="horz" wrap="square" lIns="0" tIns="3384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65"/>
              </a:spcBef>
              <a:defRPr/>
            </a:pPr>
            <a:endParaRPr sz="4000">
              <a:latin typeface="Times New Roman"/>
              <a:cs typeface="Times New Roman"/>
            </a:endParaRPr>
          </a:p>
          <a:p>
            <a:pPr marL="12065" algn="ctr">
              <a:lnSpc>
                <a:spcPct val="100000"/>
              </a:lnSpc>
              <a:defRPr/>
            </a:pPr>
            <a:r>
              <a:rPr sz="4000" spc="-185">
                <a:solidFill>
                  <a:srgbClr val="FFFDFF"/>
                </a:solidFill>
                <a:latin typeface="Carlito"/>
                <a:cs typeface="Carlito"/>
              </a:rPr>
              <a:t>Abstract</a:t>
            </a:r>
            <a:r>
              <a:rPr sz="4000" spc="-305">
                <a:solidFill>
                  <a:srgbClr val="FFFDFF"/>
                </a:solidFill>
                <a:latin typeface="Carlito"/>
                <a:cs typeface="Carlito"/>
              </a:rPr>
              <a:t> </a:t>
            </a:r>
            <a:r>
              <a:rPr sz="4000" spc="-20">
                <a:solidFill>
                  <a:srgbClr val="FFFDFF"/>
                </a:solidFill>
                <a:latin typeface="Carlito"/>
                <a:cs typeface="Carlito"/>
              </a:rPr>
              <a:t>Class</a:t>
            </a:r>
            <a:endParaRPr sz="4000">
              <a:latin typeface="Carlito"/>
              <a:cs typeface="Carlito"/>
            </a:endParaRPr>
          </a:p>
        </p:txBody>
      </p:sp>
      <p:sp>
        <p:nvSpPr>
          <p:cNvPr id="77890103" name="object 3"/>
          <p:cNvSpPr txBox="1"/>
          <p:nvPr/>
        </p:nvSpPr>
        <p:spPr bwMode="auto">
          <a:xfrm>
            <a:off x="5197855" y="2114169"/>
            <a:ext cx="5980430" cy="683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20000"/>
              </a:lnSpc>
              <a:spcBef>
                <a:spcPts val="100"/>
              </a:spcBef>
              <a:buClr>
                <a:srgbClr val="539E39"/>
              </a:buClr>
              <a:buSzPct val="108333"/>
              <a:buFont typeface="Wingdings"/>
              <a:buChar char=""/>
              <a:tabLst>
                <a:tab pos="241300" algn="l"/>
              </a:tabLst>
              <a:defRPr/>
            </a:pPr>
            <a:r>
              <a:rPr sz="1800">
                <a:latin typeface="Georgia"/>
                <a:cs typeface="Georgia"/>
              </a:rPr>
              <a:t>A</a:t>
            </a:r>
            <a:r>
              <a:rPr sz="1800" spc="40">
                <a:latin typeface="Georgia"/>
                <a:cs typeface="Georgia"/>
              </a:rPr>
              <a:t> </a:t>
            </a:r>
            <a:r>
              <a:rPr sz="1800" spc="50">
                <a:latin typeface="Georgia"/>
                <a:cs typeface="Georgia"/>
              </a:rPr>
              <a:t>class</a:t>
            </a:r>
            <a:r>
              <a:rPr sz="1800" spc="20">
                <a:latin typeface="Georgia"/>
                <a:cs typeface="Georgia"/>
              </a:rPr>
              <a:t> </a:t>
            </a:r>
            <a:r>
              <a:rPr sz="1800" spc="-20">
                <a:latin typeface="Georgia"/>
                <a:cs typeface="Georgia"/>
              </a:rPr>
              <a:t>that</a:t>
            </a:r>
            <a:r>
              <a:rPr sz="1800" spc="2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contains</a:t>
            </a:r>
            <a:r>
              <a:rPr sz="1800" spc="4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a</a:t>
            </a:r>
            <a:r>
              <a:rPr sz="1800" spc="4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pure</a:t>
            </a:r>
            <a:r>
              <a:rPr sz="1800" spc="3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virtual</a:t>
            </a:r>
            <a:r>
              <a:rPr sz="1800" spc="2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function</a:t>
            </a:r>
            <a:r>
              <a:rPr sz="1800" spc="6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is</a:t>
            </a:r>
            <a:r>
              <a:rPr sz="1800" spc="3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known</a:t>
            </a:r>
            <a:r>
              <a:rPr sz="1800" spc="55">
                <a:latin typeface="Georgia"/>
                <a:cs typeface="Georgia"/>
              </a:rPr>
              <a:t> </a:t>
            </a:r>
            <a:r>
              <a:rPr sz="1800" spc="-25">
                <a:latin typeface="Georgia"/>
                <a:cs typeface="Georgia"/>
              </a:rPr>
              <a:t>as </a:t>
            </a:r>
            <a:r>
              <a:rPr sz="1800">
                <a:latin typeface="Georgia"/>
                <a:cs typeface="Georgia"/>
              </a:rPr>
              <a:t>an</a:t>
            </a:r>
            <a:r>
              <a:rPr sz="1800" spc="9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abstract</a:t>
            </a:r>
            <a:r>
              <a:rPr sz="1800" spc="55">
                <a:latin typeface="Georgia"/>
                <a:cs typeface="Georgia"/>
              </a:rPr>
              <a:t> </a:t>
            </a:r>
            <a:r>
              <a:rPr sz="1800" spc="-10">
                <a:latin typeface="Georgia"/>
                <a:cs typeface="Georgia"/>
              </a:rPr>
              <a:t>class.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067829621" name="object 4"/>
          <p:cNvSpPr txBox="1"/>
          <p:nvPr/>
        </p:nvSpPr>
        <p:spPr bwMode="auto">
          <a:xfrm>
            <a:off x="5197855" y="3356609"/>
            <a:ext cx="6005830" cy="1342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20000"/>
              </a:lnSpc>
              <a:spcBef>
                <a:spcPts val="100"/>
              </a:spcBef>
              <a:buClr>
                <a:srgbClr val="539E39"/>
              </a:buClr>
              <a:buSzPct val="108333"/>
              <a:buFont typeface="Wingdings"/>
              <a:buChar char=""/>
              <a:tabLst>
                <a:tab pos="241300" algn="l"/>
              </a:tabLst>
              <a:defRPr/>
            </a:pPr>
            <a:r>
              <a:rPr sz="1800">
                <a:latin typeface="Georgia"/>
                <a:cs typeface="Georgia"/>
              </a:rPr>
              <a:t>We</a:t>
            </a:r>
            <a:r>
              <a:rPr sz="1800" spc="12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cannot</a:t>
            </a:r>
            <a:r>
              <a:rPr sz="1800" spc="13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create</a:t>
            </a:r>
            <a:r>
              <a:rPr sz="1800" spc="130">
                <a:latin typeface="Georgia"/>
                <a:cs typeface="Georgia"/>
              </a:rPr>
              <a:t> </a:t>
            </a:r>
            <a:r>
              <a:rPr sz="1800" spc="60">
                <a:latin typeface="Georgia"/>
                <a:cs typeface="Georgia"/>
              </a:rPr>
              <a:t>objects</a:t>
            </a:r>
            <a:r>
              <a:rPr sz="1800" spc="13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of</a:t>
            </a:r>
            <a:r>
              <a:rPr sz="1800" spc="12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an</a:t>
            </a:r>
            <a:r>
              <a:rPr sz="1800" spc="13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abstract</a:t>
            </a:r>
            <a:r>
              <a:rPr sz="1800" spc="7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class.</a:t>
            </a:r>
            <a:r>
              <a:rPr sz="1800" spc="-70">
                <a:latin typeface="Georgia"/>
                <a:cs typeface="Georgia"/>
              </a:rPr>
              <a:t> </a:t>
            </a:r>
            <a:r>
              <a:rPr sz="1800" spc="-10">
                <a:latin typeface="Georgia"/>
                <a:cs typeface="Georgia"/>
              </a:rPr>
              <a:t>However, </a:t>
            </a:r>
            <a:r>
              <a:rPr sz="1800" spc="75">
                <a:latin typeface="Georgia"/>
                <a:cs typeface="Georgia"/>
              </a:rPr>
              <a:t>we</a:t>
            </a:r>
            <a:r>
              <a:rPr sz="1800" spc="4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can</a:t>
            </a:r>
            <a:r>
              <a:rPr sz="1800" spc="40">
                <a:latin typeface="Georgia"/>
                <a:cs typeface="Georgia"/>
              </a:rPr>
              <a:t> </a:t>
            </a:r>
            <a:r>
              <a:rPr sz="1800" spc="65">
                <a:latin typeface="Georgia"/>
                <a:cs typeface="Georgia"/>
              </a:rPr>
              <a:t>derive</a:t>
            </a:r>
            <a:r>
              <a:rPr sz="1800" spc="45">
                <a:latin typeface="Georgia"/>
                <a:cs typeface="Georgia"/>
              </a:rPr>
              <a:t> </a:t>
            </a:r>
            <a:r>
              <a:rPr sz="1800" spc="65">
                <a:latin typeface="Georgia"/>
                <a:cs typeface="Georgia"/>
              </a:rPr>
              <a:t>classes</a:t>
            </a:r>
            <a:r>
              <a:rPr sz="1800" spc="2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from</a:t>
            </a:r>
            <a:r>
              <a:rPr sz="1800" spc="4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them,</a:t>
            </a:r>
            <a:r>
              <a:rPr sz="1800" spc="-11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and</a:t>
            </a:r>
            <a:r>
              <a:rPr sz="1800" spc="40">
                <a:latin typeface="Georgia"/>
                <a:cs typeface="Georgia"/>
              </a:rPr>
              <a:t> </a:t>
            </a:r>
            <a:r>
              <a:rPr sz="1800" spc="50">
                <a:latin typeface="Georgia"/>
                <a:cs typeface="Georgia"/>
              </a:rPr>
              <a:t>use</a:t>
            </a:r>
            <a:r>
              <a:rPr sz="1800" spc="45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their</a:t>
            </a:r>
            <a:r>
              <a:rPr sz="1800" spc="35">
                <a:latin typeface="Georgia"/>
                <a:cs typeface="Georgia"/>
              </a:rPr>
              <a:t> </a:t>
            </a:r>
            <a:r>
              <a:rPr sz="1800" spc="-20">
                <a:latin typeface="Georgia"/>
                <a:cs typeface="Georgia"/>
              </a:rPr>
              <a:t>data </a:t>
            </a:r>
            <a:r>
              <a:rPr sz="1800" spc="60">
                <a:latin typeface="Georgia"/>
                <a:cs typeface="Georgia"/>
              </a:rPr>
              <a:t>members </a:t>
            </a:r>
            <a:r>
              <a:rPr sz="1800">
                <a:latin typeface="Georgia"/>
                <a:cs typeface="Georgia"/>
              </a:rPr>
              <a:t>and</a:t>
            </a:r>
            <a:r>
              <a:rPr sz="1800" spc="60">
                <a:latin typeface="Georgia"/>
                <a:cs typeface="Georgia"/>
              </a:rPr>
              <a:t> </a:t>
            </a:r>
            <a:r>
              <a:rPr sz="1800" spc="65">
                <a:latin typeface="Georgia"/>
                <a:cs typeface="Georgia"/>
              </a:rPr>
              <a:t>member</a:t>
            </a:r>
            <a:r>
              <a:rPr sz="1800" spc="6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functions</a:t>
            </a:r>
            <a:r>
              <a:rPr sz="1800" spc="65">
                <a:latin typeface="Georgia"/>
                <a:cs typeface="Georgia"/>
              </a:rPr>
              <a:t> (except</a:t>
            </a:r>
            <a:r>
              <a:rPr sz="1800" spc="60">
                <a:latin typeface="Georgia"/>
                <a:cs typeface="Georgia"/>
              </a:rPr>
              <a:t> </a:t>
            </a:r>
            <a:r>
              <a:rPr sz="1800">
                <a:latin typeface="Georgia"/>
                <a:cs typeface="Georgia"/>
              </a:rPr>
              <a:t>pure</a:t>
            </a:r>
            <a:r>
              <a:rPr sz="1800" spc="55">
                <a:latin typeface="Georgia"/>
                <a:cs typeface="Georgia"/>
              </a:rPr>
              <a:t> </a:t>
            </a:r>
            <a:r>
              <a:rPr sz="1800" spc="-10">
                <a:latin typeface="Georgia"/>
                <a:cs typeface="Georgia"/>
              </a:rPr>
              <a:t>virtual functions).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767445" name="object 2"/>
          <p:cNvSpPr txBox="1"/>
          <p:nvPr/>
        </p:nvSpPr>
        <p:spPr bwMode="auto">
          <a:xfrm>
            <a:off x="363118" y="300609"/>
            <a:ext cx="3551554" cy="3195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513205">
              <a:lnSpc>
                <a:spcPct val="100000"/>
              </a:lnSpc>
              <a:spcBef>
                <a:spcPts val="95"/>
              </a:spcBef>
              <a:defRPr/>
            </a:pPr>
            <a:r>
              <a:rPr sz="1600" spc="-10">
                <a:latin typeface="Georgia"/>
                <a:cs typeface="Georgia"/>
              </a:rPr>
              <a:t>#include&lt;iostream&gt; </a:t>
            </a:r>
            <a:r>
              <a:rPr sz="1600" spc="10">
                <a:latin typeface="Georgia"/>
                <a:cs typeface="Georgia"/>
              </a:rPr>
              <a:t>using</a:t>
            </a:r>
            <a:r>
              <a:rPr sz="1600" spc="240">
                <a:latin typeface="Georgia"/>
                <a:cs typeface="Georgia"/>
              </a:rPr>
              <a:t> </a:t>
            </a:r>
            <a:r>
              <a:rPr sz="1600" spc="10">
                <a:latin typeface="Georgia"/>
                <a:cs typeface="Georgia"/>
              </a:rPr>
              <a:t>namespace</a:t>
            </a:r>
            <a:r>
              <a:rPr sz="1600" spc="250">
                <a:latin typeface="Georgia"/>
                <a:cs typeface="Georgia"/>
              </a:rPr>
              <a:t> </a:t>
            </a:r>
            <a:r>
              <a:rPr sz="1600" spc="-20">
                <a:latin typeface="Georgia"/>
                <a:cs typeface="Georgia"/>
              </a:rPr>
              <a:t>std; </a:t>
            </a:r>
            <a:r>
              <a:rPr sz="1600">
                <a:latin typeface="Georgia"/>
                <a:cs typeface="Georgia"/>
              </a:rPr>
              <a:t>class</a:t>
            </a:r>
            <a:r>
              <a:rPr sz="1600" spc="220">
                <a:latin typeface="Georgia"/>
                <a:cs typeface="Georgia"/>
              </a:rPr>
              <a:t> </a:t>
            </a:r>
            <a:r>
              <a:rPr sz="1600" spc="-10">
                <a:latin typeface="Georgia"/>
                <a:cs typeface="Georgia"/>
              </a:rPr>
              <a:t>Shapes</a:t>
            </a:r>
            <a:endParaRPr sz="16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defRPr/>
            </a:pPr>
            <a:r>
              <a:rPr sz="1600" spc="-50">
                <a:latin typeface="Georgia"/>
                <a:cs typeface="Georgia"/>
              </a:rPr>
              <a:t>{</a:t>
            </a:r>
            <a:endParaRPr sz="16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defRPr/>
            </a:pPr>
            <a:r>
              <a:rPr sz="1600" spc="-10">
                <a:latin typeface="Georgia"/>
                <a:cs typeface="Georgia"/>
              </a:rPr>
              <a:t>public:</a:t>
            </a:r>
            <a:endParaRPr sz="16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600" spc="-10">
                <a:latin typeface="Georgia"/>
                <a:cs typeface="Georgia"/>
              </a:rPr>
              <a:t>int</a:t>
            </a:r>
            <a:r>
              <a:rPr sz="1600" spc="70">
                <a:latin typeface="Georgia"/>
                <a:cs typeface="Georgia"/>
              </a:rPr>
              <a:t> </a:t>
            </a:r>
            <a:r>
              <a:rPr sz="1600">
                <a:latin typeface="Georgia"/>
                <a:cs typeface="Georgia"/>
              </a:rPr>
              <a:t>height,</a:t>
            </a:r>
            <a:r>
              <a:rPr sz="1600" spc="-85">
                <a:latin typeface="Georgia"/>
                <a:cs typeface="Georgia"/>
              </a:rPr>
              <a:t> </a:t>
            </a:r>
            <a:r>
              <a:rPr sz="1600" spc="-10">
                <a:latin typeface="Georgia"/>
                <a:cs typeface="Georgia"/>
              </a:rPr>
              <a:t>width;</a:t>
            </a:r>
            <a:endParaRPr sz="1600">
              <a:latin typeface="Georgia"/>
              <a:cs typeface="Georgia"/>
            </a:endParaRPr>
          </a:p>
          <a:p>
            <a:pPr marL="469900" marR="5080">
              <a:lnSpc>
                <a:spcPct val="100000"/>
              </a:lnSpc>
              <a:defRPr/>
            </a:pPr>
            <a:r>
              <a:rPr sz="1600">
                <a:latin typeface="Georgia"/>
                <a:cs typeface="Georgia"/>
              </a:rPr>
              <a:t>Shapes()</a:t>
            </a:r>
            <a:r>
              <a:rPr sz="1600" spc="145">
                <a:latin typeface="Georgia"/>
                <a:cs typeface="Georgia"/>
              </a:rPr>
              <a:t> </a:t>
            </a:r>
            <a:r>
              <a:rPr sz="1600">
                <a:latin typeface="Georgia"/>
                <a:cs typeface="Georgia"/>
              </a:rPr>
              <a:t>:height(10),</a:t>
            </a:r>
            <a:r>
              <a:rPr sz="1600" spc="-35">
                <a:latin typeface="Georgia"/>
                <a:cs typeface="Georgia"/>
              </a:rPr>
              <a:t> </a:t>
            </a:r>
            <a:r>
              <a:rPr sz="1600" spc="-10">
                <a:latin typeface="Georgia"/>
                <a:cs typeface="Georgia"/>
              </a:rPr>
              <a:t>width(20)</a:t>
            </a:r>
            <a:r>
              <a:rPr sz="1600" spc="140">
                <a:latin typeface="Georgia"/>
                <a:cs typeface="Georgia"/>
              </a:rPr>
              <a:t> </a:t>
            </a:r>
            <a:r>
              <a:rPr sz="1600" spc="-130">
                <a:latin typeface="Georgia"/>
                <a:cs typeface="Georgia"/>
              </a:rPr>
              <a:t>{} </a:t>
            </a:r>
            <a:r>
              <a:rPr sz="1600">
                <a:latin typeface="Georgia"/>
                <a:cs typeface="Georgia"/>
              </a:rPr>
              <a:t>virtual </a:t>
            </a:r>
            <a:r>
              <a:rPr sz="1600" spc="-10">
                <a:latin typeface="Georgia"/>
                <a:cs typeface="Georgia"/>
              </a:rPr>
              <a:t>int</a:t>
            </a:r>
            <a:r>
              <a:rPr sz="1600" spc="-5">
                <a:latin typeface="Georgia"/>
                <a:cs typeface="Georgia"/>
              </a:rPr>
              <a:t> </a:t>
            </a:r>
            <a:r>
              <a:rPr sz="1600">
                <a:latin typeface="Georgia"/>
                <a:cs typeface="Georgia"/>
              </a:rPr>
              <a:t>cal_area()</a:t>
            </a:r>
            <a:r>
              <a:rPr sz="1600" spc="5">
                <a:latin typeface="Georgia"/>
                <a:cs typeface="Georgia"/>
              </a:rPr>
              <a:t> </a:t>
            </a:r>
            <a:r>
              <a:rPr sz="1600">
                <a:latin typeface="Georgia"/>
                <a:cs typeface="Georgia"/>
              </a:rPr>
              <a:t>= </a:t>
            </a:r>
            <a:r>
              <a:rPr sz="1600" spc="-25">
                <a:latin typeface="Georgia"/>
                <a:cs typeface="Georgia"/>
              </a:rPr>
              <a:t>0{}</a:t>
            </a:r>
            <a:endParaRPr sz="16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600">
                <a:latin typeface="Georgia"/>
                <a:cs typeface="Georgia"/>
              </a:rPr>
              <a:t>void</a:t>
            </a:r>
            <a:r>
              <a:rPr sz="1600" spc="110">
                <a:latin typeface="Georgia"/>
                <a:cs typeface="Georgia"/>
              </a:rPr>
              <a:t> </a:t>
            </a:r>
            <a:r>
              <a:rPr sz="1600" spc="-10">
                <a:latin typeface="Georgia"/>
                <a:cs typeface="Georgia"/>
              </a:rPr>
              <a:t>printarea()</a:t>
            </a:r>
            <a:endParaRPr sz="16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600" spc="-50">
                <a:latin typeface="Georgia"/>
                <a:cs typeface="Georgia"/>
              </a:rPr>
              <a:t>{</a:t>
            </a:r>
            <a:endParaRPr sz="16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  <a:defRPr/>
            </a:pPr>
            <a:r>
              <a:rPr sz="1600">
                <a:latin typeface="Georgia"/>
                <a:cs typeface="Georgia"/>
              </a:rPr>
              <a:t>cout</a:t>
            </a:r>
            <a:r>
              <a:rPr sz="1600" spc="70">
                <a:latin typeface="Georgia"/>
                <a:cs typeface="Georgia"/>
              </a:rPr>
              <a:t> </a:t>
            </a:r>
            <a:r>
              <a:rPr sz="1600" spc="-10">
                <a:latin typeface="Georgia"/>
                <a:cs typeface="Georgia"/>
              </a:rPr>
              <a:t>&lt;&lt;cal_area()&lt;&lt;endl;</a:t>
            </a:r>
            <a:endParaRPr sz="16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600" spc="-50">
                <a:latin typeface="Georgia"/>
                <a:cs typeface="Georgia"/>
              </a:rPr>
              <a:t>}</a:t>
            </a:r>
            <a:endParaRPr sz="16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defRPr/>
            </a:pPr>
            <a:r>
              <a:rPr sz="1600" spc="-25">
                <a:latin typeface="Georgia"/>
                <a:cs typeface="Georgia"/>
              </a:rPr>
              <a:t>};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028482309" name="object 3"/>
          <p:cNvSpPr txBox="1"/>
          <p:nvPr/>
        </p:nvSpPr>
        <p:spPr bwMode="auto">
          <a:xfrm>
            <a:off x="4361434" y="917828"/>
            <a:ext cx="2700020" cy="5574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400">
                <a:latin typeface="Georgia"/>
                <a:cs typeface="Georgia"/>
              </a:rPr>
              <a:t>class</a:t>
            </a:r>
            <a:r>
              <a:rPr sz="1400" spc="229">
                <a:latin typeface="Georgia"/>
                <a:cs typeface="Georgia"/>
              </a:rPr>
              <a:t> </a:t>
            </a:r>
            <a:r>
              <a:rPr sz="1400">
                <a:latin typeface="Georgia"/>
                <a:cs typeface="Georgia"/>
              </a:rPr>
              <a:t>Rectangle</a:t>
            </a:r>
            <a:r>
              <a:rPr sz="1400" spc="220">
                <a:latin typeface="Georgia"/>
                <a:cs typeface="Georgia"/>
              </a:rPr>
              <a:t> </a:t>
            </a:r>
            <a:r>
              <a:rPr sz="1400">
                <a:latin typeface="Georgia"/>
                <a:cs typeface="Georgia"/>
              </a:rPr>
              <a:t>:public</a:t>
            </a:r>
            <a:r>
              <a:rPr sz="1400" spc="245">
                <a:latin typeface="Georgia"/>
                <a:cs typeface="Georgia"/>
              </a:rPr>
              <a:t> </a:t>
            </a:r>
            <a:r>
              <a:rPr sz="1400" spc="-10">
                <a:latin typeface="Georgia"/>
                <a:cs typeface="Georgia"/>
              </a:rPr>
              <a:t>Shapes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defRPr/>
            </a:pPr>
            <a:r>
              <a:rPr sz="1400" spc="-50">
                <a:latin typeface="Georgia"/>
                <a:cs typeface="Georgia"/>
              </a:rPr>
              <a:t>{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defRPr/>
            </a:pPr>
            <a:r>
              <a:rPr sz="1400" spc="-10">
                <a:latin typeface="Georgia"/>
                <a:cs typeface="Georgia"/>
              </a:rPr>
              <a:t>public:</a:t>
            </a:r>
            <a:endParaRPr sz="14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400" spc="10">
                <a:latin typeface="Georgia"/>
                <a:cs typeface="Georgia"/>
              </a:rPr>
              <a:t>Rectangle()</a:t>
            </a:r>
            <a:r>
              <a:rPr sz="1400" spc="200">
                <a:latin typeface="Georgia"/>
                <a:cs typeface="Georgia"/>
              </a:rPr>
              <a:t> </a:t>
            </a:r>
            <a:r>
              <a:rPr sz="1400" spc="-10">
                <a:latin typeface="Georgia"/>
                <a:cs typeface="Georgia"/>
              </a:rPr>
              <a:t>:Shapes()</a:t>
            </a:r>
            <a:endParaRPr sz="14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400" spc="-50">
                <a:latin typeface="Georgia"/>
                <a:cs typeface="Georgia"/>
              </a:rPr>
              <a:t>{</a:t>
            </a:r>
            <a:endParaRPr sz="14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  <a:defRPr/>
            </a:pPr>
            <a:r>
              <a:rPr sz="1400">
                <a:latin typeface="Georgia"/>
                <a:cs typeface="Georgia"/>
              </a:rPr>
              <a:t>height</a:t>
            </a:r>
            <a:r>
              <a:rPr sz="1400" spc="120">
                <a:latin typeface="Georgia"/>
                <a:cs typeface="Georgia"/>
              </a:rPr>
              <a:t> </a:t>
            </a:r>
            <a:r>
              <a:rPr sz="1400">
                <a:latin typeface="Georgia"/>
                <a:cs typeface="Georgia"/>
              </a:rPr>
              <a:t>=</a:t>
            </a:r>
            <a:r>
              <a:rPr sz="1400" spc="110">
                <a:latin typeface="Georgia"/>
                <a:cs typeface="Georgia"/>
              </a:rPr>
              <a:t> </a:t>
            </a:r>
            <a:r>
              <a:rPr sz="1400" spc="-25">
                <a:latin typeface="Georgia"/>
                <a:cs typeface="Georgia"/>
              </a:rPr>
              <a:t>20;</a:t>
            </a:r>
            <a:endParaRPr sz="14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  <a:defRPr/>
            </a:pPr>
            <a:r>
              <a:rPr sz="1400">
                <a:latin typeface="Georgia"/>
                <a:cs typeface="Georgia"/>
              </a:rPr>
              <a:t>width</a:t>
            </a:r>
            <a:r>
              <a:rPr sz="1400" spc="35">
                <a:latin typeface="Georgia"/>
                <a:cs typeface="Georgia"/>
              </a:rPr>
              <a:t> </a:t>
            </a:r>
            <a:r>
              <a:rPr sz="1400">
                <a:latin typeface="Georgia"/>
                <a:cs typeface="Georgia"/>
              </a:rPr>
              <a:t>=</a:t>
            </a:r>
            <a:r>
              <a:rPr sz="1400" spc="30">
                <a:latin typeface="Georgia"/>
                <a:cs typeface="Georgia"/>
              </a:rPr>
              <a:t> </a:t>
            </a:r>
            <a:r>
              <a:rPr sz="1400" spc="-25">
                <a:latin typeface="Georgia"/>
                <a:cs typeface="Georgia"/>
              </a:rPr>
              <a:t>30;</a:t>
            </a:r>
            <a:endParaRPr sz="14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400" spc="-50">
                <a:latin typeface="Georgia"/>
                <a:cs typeface="Georgia"/>
              </a:rPr>
              <a:t>}</a:t>
            </a:r>
            <a:endParaRPr sz="14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400" spc="-10">
                <a:latin typeface="Georgia"/>
                <a:cs typeface="Georgia"/>
              </a:rPr>
              <a:t>int</a:t>
            </a:r>
            <a:r>
              <a:rPr sz="1400" spc="-60">
                <a:latin typeface="Georgia"/>
                <a:cs typeface="Georgia"/>
              </a:rPr>
              <a:t> </a:t>
            </a:r>
            <a:r>
              <a:rPr sz="1400" spc="-10">
                <a:latin typeface="Georgia"/>
                <a:cs typeface="Georgia"/>
              </a:rPr>
              <a:t>cal_area()</a:t>
            </a:r>
            <a:endParaRPr sz="14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400" spc="-50">
                <a:latin typeface="Georgia"/>
                <a:cs typeface="Georgia"/>
              </a:rPr>
              <a:t>{</a:t>
            </a:r>
            <a:endParaRPr sz="14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  <a:defRPr/>
            </a:pPr>
            <a:r>
              <a:rPr sz="1400">
                <a:latin typeface="Georgia"/>
                <a:cs typeface="Georgia"/>
              </a:rPr>
              <a:t>return</a:t>
            </a:r>
            <a:r>
              <a:rPr sz="1400" spc="10">
                <a:latin typeface="Georgia"/>
                <a:cs typeface="Georgia"/>
              </a:rPr>
              <a:t> </a:t>
            </a:r>
            <a:r>
              <a:rPr sz="1400">
                <a:latin typeface="Georgia"/>
                <a:cs typeface="Georgia"/>
              </a:rPr>
              <a:t>width</a:t>
            </a:r>
            <a:r>
              <a:rPr sz="1400" spc="15">
                <a:latin typeface="Georgia"/>
                <a:cs typeface="Georgia"/>
              </a:rPr>
              <a:t> </a:t>
            </a:r>
            <a:r>
              <a:rPr sz="1400" spc="65">
                <a:latin typeface="Georgia"/>
                <a:cs typeface="Georgia"/>
              </a:rPr>
              <a:t>*</a:t>
            </a:r>
            <a:r>
              <a:rPr sz="1400" spc="10">
                <a:latin typeface="Georgia"/>
                <a:cs typeface="Georgia"/>
              </a:rPr>
              <a:t> </a:t>
            </a:r>
            <a:r>
              <a:rPr sz="1400" spc="-10">
                <a:latin typeface="Georgia"/>
                <a:cs typeface="Georgia"/>
              </a:rPr>
              <a:t>height;</a:t>
            </a:r>
            <a:endParaRPr sz="14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400" spc="-50">
                <a:latin typeface="Georgia"/>
                <a:cs typeface="Georgia"/>
              </a:rPr>
              <a:t>}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defRPr/>
            </a:pPr>
            <a:r>
              <a:rPr sz="1400" spc="-25">
                <a:latin typeface="Georgia"/>
                <a:cs typeface="Georgia"/>
              </a:rPr>
              <a:t>};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defRPr/>
            </a:pPr>
            <a:r>
              <a:rPr sz="1400">
                <a:latin typeface="Georgia"/>
                <a:cs typeface="Georgia"/>
              </a:rPr>
              <a:t>class</a:t>
            </a:r>
            <a:r>
              <a:rPr sz="1400" spc="185">
                <a:latin typeface="Georgia"/>
                <a:cs typeface="Georgia"/>
              </a:rPr>
              <a:t> </a:t>
            </a:r>
            <a:r>
              <a:rPr sz="1400">
                <a:latin typeface="Georgia"/>
                <a:cs typeface="Georgia"/>
              </a:rPr>
              <a:t>Square</a:t>
            </a:r>
            <a:r>
              <a:rPr sz="1400" spc="175">
                <a:latin typeface="Georgia"/>
                <a:cs typeface="Georgia"/>
              </a:rPr>
              <a:t> </a:t>
            </a:r>
            <a:r>
              <a:rPr sz="1400">
                <a:latin typeface="Georgia"/>
                <a:cs typeface="Georgia"/>
              </a:rPr>
              <a:t>:public</a:t>
            </a:r>
            <a:r>
              <a:rPr sz="1400" spc="195">
                <a:latin typeface="Georgia"/>
                <a:cs typeface="Georgia"/>
              </a:rPr>
              <a:t> </a:t>
            </a:r>
            <a:r>
              <a:rPr sz="1400" spc="-10">
                <a:latin typeface="Georgia"/>
                <a:cs typeface="Georgia"/>
              </a:rPr>
              <a:t>Shapes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defRPr/>
            </a:pPr>
            <a:r>
              <a:rPr sz="1400" spc="-50">
                <a:latin typeface="Georgia"/>
                <a:cs typeface="Georgia"/>
              </a:rPr>
              <a:t>{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defRPr/>
            </a:pPr>
            <a:r>
              <a:rPr sz="1400" spc="-10">
                <a:latin typeface="Georgia"/>
                <a:cs typeface="Georgia"/>
              </a:rPr>
              <a:t>public:</a:t>
            </a:r>
            <a:endParaRPr sz="14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400" spc="-10">
                <a:latin typeface="Georgia"/>
                <a:cs typeface="Georgia"/>
              </a:rPr>
              <a:t>Square():Shapes()</a:t>
            </a:r>
            <a:endParaRPr sz="14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400" spc="-50">
                <a:latin typeface="Georgia"/>
                <a:cs typeface="Georgia"/>
              </a:rPr>
              <a:t>{</a:t>
            </a:r>
            <a:endParaRPr sz="14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  <a:defRPr/>
            </a:pPr>
            <a:r>
              <a:rPr sz="1400">
                <a:latin typeface="Georgia"/>
                <a:cs typeface="Georgia"/>
              </a:rPr>
              <a:t>height</a:t>
            </a:r>
            <a:r>
              <a:rPr sz="1400" spc="110">
                <a:latin typeface="Georgia"/>
                <a:cs typeface="Georgia"/>
              </a:rPr>
              <a:t> </a:t>
            </a:r>
            <a:r>
              <a:rPr sz="1400">
                <a:latin typeface="Georgia"/>
                <a:cs typeface="Georgia"/>
              </a:rPr>
              <a:t>=</a:t>
            </a:r>
            <a:r>
              <a:rPr sz="1400" spc="110">
                <a:latin typeface="Georgia"/>
                <a:cs typeface="Georgia"/>
              </a:rPr>
              <a:t> </a:t>
            </a:r>
            <a:r>
              <a:rPr sz="1400" spc="-25">
                <a:latin typeface="Georgia"/>
                <a:cs typeface="Georgia"/>
              </a:rPr>
              <a:t>30;</a:t>
            </a:r>
            <a:endParaRPr sz="14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  <a:defRPr/>
            </a:pPr>
            <a:r>
              <a:rPr sz="1400">
                <a:latin typeface="Georgia"/>
                <a:cs typeface="Georgia"/>
              </a:rPr>
              <a:t>width</a:t>
            </a:r>
            <a:r>
              <a:rPr sz="1400" spc="35">
                <a:latin typeface="Georgia"/>
                <a:cs typeface="Georgia"/>
              </a:rPr>
              <a:t> </a:t>
            </a:r>
            <a:r>
              <a:rPr sz="1400">
                <a:latin typeface="Georgia"/>
                <a:cs typeface="Georgia"/>
              </a:rPr>
              <a:t>=</a:t>
            </a:r>
            <a:r>
              <a:rPr sz="1400" spc="30">
                <a:latin typeface="Georgia"/>
                <a:cs typeface="Georgia"/>
              </a:rPr>
              <a:t> </a:t>
            </a:r>
            <a:r>
              <a:rPr sz="1400" spc="-25">
                <a:latin typeface="Georgia"/>
                <a:cs typeface="Georgia"/>
              </a:rPr>
              <a:t>30;</a:t>
            </a:r>
            <a:endParaRPr sz="14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400" spc="-50">
                <a:latin typeface="Georgia"/>
                <a:cs typeface="Georgia"/>
              </a:rPr>
              <a:t>}</a:t>
            </a:r>
            <a:endParaRPr sz="14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400" spc="-10">
                <a:latin typeface="Georgia"/>
                <a:cs typeface="Georgia"/>
              </a:rPr>
              <a:t>int</a:t>
            </a:r>
            <a:r>
              <a:rPr sz="1400" spc="-60">
                <a:latin typeface="Georgia"/>
                <a:cs typeface="Georgia"/>
              </a:rPr>
              <a:t> </a:t>
            </a:r>
            <a:r>
              <a:rPr sz="1400" spc="-10">
                <a:latin typeface="Georgia"/>
                <a:cs typeface="Georgia"/>
              </a:rPr>
              <a:t>cal_area()</a:t>
            </a:r>
            <a:endParaRPr sz="14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400" spc="-50">
                <a:latin typeface="Georgia"/>
                <a:cs typeface="Georgia"/>
              </a:rPr>
              <a:t>{</a:t>
            </a:r>
            <a:endParaRPr sz="14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  <a:defRPr/>
            </a:pPr>
            <a:r>
              <a:rPr sz="1400">
                <a:latin typeface="Georgia"/>
                <a:cs typeface="Georgia"/>
              </a:rPr>
              <a:t>return</a:t>
            </a:r>
            <a:r>
              <a:rPr sz="1400" spc="10">
                <a:latin typeface="Georgia"/>
                <a:cs typeface="Georgia"/>
              </a:rPr>
              <a:t> </a:t>
            </a:r>
            <a:r>
              <a:rPr sz="1400">
                <a:latin typeface="Georgia"/>
                <a:cs typeface="Georgia"/>
              </a:rPr>
              <a:t>width</a:t>
            </a:r>
            <a:r>
              <a:rPr sz="1400" spc="15">
                <a:latin typeface="Georgia"/>
                <a:cs typeface="Georgia"/>
              </a:rPr>
              <a:t> </a:t>
            </a:r>
            <a:r>
              <a:rPr sz="1400" spc="65">
                <a:latin typeface="Georgia"/>
                <a:cs typeface="Georgia"/>
              </a:rPr>
              <a:t>*</a:t>
            </a:r>
            <a:r>
              <a:rPr sz="1400" spc="10">
                <a:latin typeface="Georgia"/>
                <a:cs typeface="Georgia"/>
              </a:rPr>
              <a:t> </a:t>
            </a:r>
            <a:r>
              <a:rPr sz="1400" spc="-10">
                <a:latin typeface="Georgia"/>
                <a:cs typeface="Georgia"/>
              </a:rPr>
              <a:t>height;</a:t>
            </a:r>
            <a:endParaRPr sz="14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400" spc="-50">
                <a:latin typeface="Georgia"/>
                <a:cs typeface="Georgia"/>
              </a:rPr>
              <a:t>}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defRPr/>
            </a:pPr>
            <a:r>
              <a:rPr sz="1400" spc="-25">
                <a:latin typeface="Georgia"/>
                <a:cs typeface="Georgia"/>
              </a:rPr>
              <a:t>};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766157133" name="object 4"/>
          <p:cNvSpPr txBox="1"/>
          <p:nvPr/>
        </p:nvSpPr>
        <p:spPr bwMode="auto">
          <a:xfrm>
            <a:off x="8107426" y="3719321"/>
            <a:ext cx="1828164" cy="2800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400" spc="-10">
                <a:latin typeface="Georgia"/>
                <a:cs typeface="Georgia"/>
              </a:rPr>
              <a:t>int</a:t>
            </a:r>
            <a:r>
              <a:rPr sz="1400" spc="-65">
                <a:latin typeface="Georgia"/>
                <a:cs typeface="Georgia"/>
              </a:rPr>
              <a:t> </a:t>
            </a:r>
            <a:r>
              <a:rPr sz="1400" spc="-10">
                <a:latin typeface="Georgia"/>
                <a:cs typeface="Georgia"/>
              </a:rPr>
              <a:t>main()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defRPr/>
            </a:pPr>
            <a:r>
              <a:rPr sz="1400" spc="-50">
                <a:latin typeface="Georgia"/>
                <a:cs typeface="Georgia"/>
              </a:rPr>
              <a:t>{</a:t>
            </a:r>
            <a:endParaRPr sz="1400">
              <a:latin typeface="Georgia"/>
              <a:cs typeface="Georgia"/>
            </a:endParaRPr>
          </a:p>
          <a:p>
            <a:pPr marL="469900" marR="5080">
              <a:lnSpc>
                <a:spcPct val="100000"/>
              </a:lnSpc>
              <a:defRPr/>
            </a:pPr>
            <a:r>
              <a:rPr sz="1400">
                <a:latin typeface="Georgia"/>
                <a:cs typeface="Georgia"/>
              </a:rPr>
              <a:t>Shapes*</a:t>
            </a:r>
            <a:r>
              <a:rPr sz="1400" spc="80">
                <a:latin typeface="Georgia"/>
                <a:cs typeface="Georgia"/>
              </a:rPr>
              <a:t> </a:t>
            </a:r>
            <a:r>
              <a:rPr sz="1400" spc="70">
                <a:latin typeface="Georgia"/>
                <a:cs typeface="Georgia"/>
              </a:rPr>
              <a:t>s1,</a:t>
            </a:r>
            <a:r>
              <a:rPr sz="1400" spc="-20">
                <a:latin typeface="Georgia"/>
                <a:cs typeface="Georgia"/>
              </a:rPr>
              <a:t> </a:t>
            </a:r>
            <a:r>
              <a:rPr sz="1400" spc="65">
                <a:latin typeface="Georgia"/>
                <a:cs typeface="Georgia"/>
              </a:rPr>
              <a:t>*</a:t>
            </a:r>
            <a:r>
              <a:rPr sz="1400" spc="105">
                <a:latin typeface="Georgia"/>
                <a:cs typeface="Georgia"/>
              </a:rPr>
              <a:t> </a:t>
            </a:r>
            <a:r>
              <a:rPr sz="1400" spc="-25">
                <a:latin typeface="Georgia"/>
                <a:cs typeface="Georgia"/>
              </a:rPr>
              <a:t>s2; </a:t>
            </a:r>
            <a:r>
              <a:rPr sz="1400" spc="10">
                <a:latin typeface="Georgia"/>
                <a:cs typeface="Georgia"/>
              </a:rPr>
              <a:t>Rectangle</a:t>
            </a:r>
            <a:r>
              <a:rPr sz="1400" spc="240">
                <a:latin typeface="Georgia"/>
                <a:cs typeface="Georgia"/>
              </a:rPr>
              <a:t> </a:t>
            </a:r>
            <a:r>
              <a:rPr sz="1400" spc="-25">
                <a:latin typeface="Georgia"/>
                <a:cs typeface="Georgia"/>
              </a:rPr>
              <a:t>r; </a:t>
            </a:r>
            <a:r>
              <a:rPr sz="1400">
                <a:latin typeface="Georgia"/>
                <a:cs typeface="Georgia"/>
              </a:rPr>
              <a:t>Square</a:t>
            </a:r>
            <a:r>
              <a:rPr sz="1400" spc="105">
                <a:latin typeface="Georgia"/>
                <a:cs typeface="Georgia"/>
              </a:rPr>
              <a:t> </a:t>
            </a:r>
            <a:r>
              <a:rPr sz="1400" spc="-25">
                <a:latin typeface="Georgia"/>
                <a:cs typeface="Georgia"/>
              </a:rPr>
              <a:t>s;</a:t>
            </a:r>
            <a:endParaRPr sz="14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400" spc="100">
                <a:latin typeface="Georgia"/>
                <a:cs typeface="Georgia"/>
              </a:rPr>
              <a:t>s1</a:t>
            </a:r>
            <a:r>
              <a:rPr sz="1400" spc="25">
                <a:latin typeface="Georgia"/>
                <a:cs typeface="Georgia"/>
              </a:rPr>
              <a:t> </a:t>
            </a:r>
            <a:r>
              <a:rPr sz="1400">
                <a:latin typeface="Georgia"/>
                <a:cs typeface="Georgia"/>
              </a:rPr>
              <a:t>=</a:t>
            </a:r>
            <a:r>
              <a:rPr sz="1400" spc="25">
                <a:latin typeface="Georgia"/>
                <a:cs typeface="Georgia"/>
              </a:rPr>
              <a:t> </a:t>
            </a:r>
            <a:r>
              <a:rPr sz="1400" spc="-25">
                <a:latin typeface="Georgia"/>
                <a:cs typeface="Georgia"/>
              </a:rPr>
              <a:t>&amp;r;</a:t>
            </a:r>
            <a:endParaRPr sz="14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400">
                <a:latin typeface="Georgia"/>
                <a:cs typeface="Georgia"/>
              </a:rPr>
              <a:t>s2</a:t>
            </a:r>
            <a:r>
              <a:rPr sz="1400" spc="25">
                <a:latin typeface="Georgia"/>
                <a:cs typeface="Georgia"/>
              </a:rPr>
              <a:t> </a:t>
            </a:r>
            <a:r>
              <a:rPr sz="1400">
                <a:latin typeface="Georgia"/>
                <a:cs typeface="Georgia"/>
              </a:rPr>
              <a:t>=</a:t>
            </a:r>
            <a:r>
              <a:rPr sz="1400" spc="30">
                <a:latin typeface="Georgia"/>
                <a:cs typeface="Georgia"/>
              </a:rPr>
              <a:t> </a:t>
            </a:r>
            <a:r>
              <a:rPr sz="1400" spc="-25">
                <a:latin typeface="Georgia"/>
                <a:cs typeface="Georgia"/>
              </a:rPr>
              <a:t>&amp;s;</a:t>
            </a:r>
            <a:endParaRPr sz="1400">
              <a:latin typeface="Georgia"/>
              <a:cs typeface="Georgia"/>
            </a:endParaRPr>
          </a:p>
          <a:p>
            <a:pPr marL="469900" marR="50800">
              <a:lnSpc>
                <a:spcPct val="100000"/>
              </a:lnSpc>
              <a:defRPr/>
            </a:pPr>
            <a:r>
              <a:rPr sz="1400" spc="55">
                <a:latin typeface="Georgia"/>
                <a:cs typeface="Georgia"/>
              </a:rPr>
              <a:t>s1-</a:t>
            </a:r>
            <a:r>
              <a:rPr sz="1400" spc="-10">
                <a:latin typeface="Georgia"/>
                <a:cs typeface="Georgia"/>
              </a:rPr>
              <a:t>&gt;cal_area(); </a:t>
            </a:r>
            <a:r>
              <a:rPr sz="1400" spc="55">
                <a:latin typeface="Georgia"/>
                <a:cs typeface="Georgia"/>
              </a:rPr>
              <a:t>s1-</a:t>
            </a:r>
            <a:r>
              <a:rPr sz="1400" spc="-10">
                <a:latin typeface="Georgia"/>
                <a:cs typeface="Georgia"/>
              </a:rPr>
              <a:t>&gt;printarea(); s2-&gt;cal_area(); s2-&gt;printarea(); </a:t>
            </a:r>
            <a:r>
              <a:rPr sz="1400">
                <a:latin typeface="Georgia"/>
                <a:cs typeface="Georgia"/>
              </a:rPr>
              <a:t>return</a:t>
            </a:r>
            <a:r>
              <a:rPr sz="1400" spc="-10">
                <a:latin typeface="Georgia"/>
                <a:cs typeface="Georgia"/>
              </a:rPr>
              <a:t> </a:t>
            </a:r>
            <a:r>
              <a:rPr sz="1400" spc="-25">
                <a:latin typeface="Georgia"/>
                <a:cs typeface="Georgia"/>
              </a:rPr>
              <a:t>0;</a:t>
            </a:r>
            <a:endParaRPr sz="1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defRPr/>
            </a:pPr>
            <a:r>
              <a:rPr sz="1400" spc="-50">
                <a:latin typeface="Georgia"/>
                <a:cs typeface="Georgia"/>
              </a:rPr>
              <a:t>}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1659552205" name="object 5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0580">
              <a:lnSpc>
                <a:spcPct val="100000"/>
              </a:lnSpc>
              <a:spcBef>
                <a:spcPts val="100"/>
              </a:spcBef>
              <a:defRPr/>
            </a:pPr>
            <a:r>
              <a:rPr spc="-10"/>
              <a:t>Code</a:t>
            </a:r>
            <a:r>
              <a:rPr spc="-120"/>
              <a:t> </a:t>
            </a:r>
            <a:r>
              <a:rPr spc="-25"/>
              <a:t>C++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ONLYOFFICE/9.0.4.50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Inheritance</dc:title>
  <dc:creator>Zupash Awais BULC</dc:creator>
  <cp:lastModifiedBy/>
  <cp:revision>7</cp:revision>
  <dcterms:created xsi:type="dcterms:W3CDTF">2024-04-05T04:41:35Z</dcterms:created>
  <dcterms:modified xsi:type="dcterms:W3CDTF">2026-01-09T03:23:58Z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2021-12-21T00:00:00Z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2024-04-05T00:00:00Z</vt:filetime>
  </property>
  <property fmtid="{D5CDD505-2E9C-101B-9397-08002B2CF9AE}" pid="5" name="Producer">
    <vt:lpwstr>3-Heights(TM) PDF Security Shell 4.8.25.2 (http://www.pdf-tools.com)</vt:lpwstr>
  </property>
</Properties>
</file>