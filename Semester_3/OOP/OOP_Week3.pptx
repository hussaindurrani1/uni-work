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63" r:id="rId4"/>
    <p:sldId id="264" r:id="rId5"/>
    <p:sldId id="257" r:id="rId6"/>
    <p:sldId id="265" r:id="rId7"/>
    <p:sldId id="266" r:id="rId8"/>
    <p:sldId id="268" r:id="rId9"/>
    <p:sldId id="267" r:id="rId10"/>
    <p:sldId id="258" r:id="rId11"/>
    <p:sldId id="269" r:id="rId12"/>
    <p:sldId id="270" r:id="rId13"/>
    <p:sldId id="271" r:id="rId14"/>
    <p:sldId id="272" r:id="rId15"/>
    <p:sldId id="26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2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1623-3682-4EA2-BA23-FA931AFB5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Constructor and Destructor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15E25-6391-45F4-BE71-8A3AFB882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OOP Week 3</a:t>
            </a:r>
          </a:p>
        </p:txBody>
      </p:sp>
    </p:spTree>
    <p:extLst>
      <p:ext uri="{BB962C8B-B14F-4D97-AF65-F5344CB8AC3E}">
        <p14:creationId xmlns:p14="http://schemas.microsoft.com/office/powerpoint/2010/main" val="73209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Constructors and Destructors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Constructors are special member functions called when an object is created.</a:t>
            </a:r>
          </a:p>
          <a:p>
            <a:r>
              <a:rPr dirty="0"/>
              <a:t>Destructors are called when an object is destroyed.</a:t>
            </a:r>
          </a:p>
          <a:p>
            <a:r>
              <a:rPr dirty="0"/>
              <a:t>Purpose: Initialize attributes (constructor) and free resources (destructor).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B5DF-891F-4242-9CD1-CAFA1967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42E1B-9D26-4B58-8F18-DB590B2FF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Destructor</a:t>
            </a:r>
            <a:r>
              <a:rPr lang="en-US" dirty="0"/>
              <a:t> is a special member function in C++ that is automatically invoked when an object goes out of scope or is explicitly deleted. </a:t>
            </a:r>
          </a:p>
          <a:p>
            <a:r>
              <a:rPr lang="en-US" dirty="0"/>
              <a:t>The destructor’s purpose is to free up any resources that the object may have acquired during its lifetime, like memory or open file handles.</a:t>
            </a:r>
          </a:p>
        </p:txBody>
      </p:sp>
    </p:spTree>
    <p:extLst>
      <p:ext uri="{BB962C8B-B14F-4D97-AF65-F5344CB8AC3E}">
        <p14:creationId xmlns:p14="http://schemas.microsoft.com/office/powerpoint/2010/main" val="309161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B8AD-D147-4036-B6DB-E00608DC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4534D6-DE51-4E01-A4BD-EA3DF0547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ea typeface="Tahoma" panose="020B0604030504040204" pitchFamily="34" charset="0"/>
                <a:cs typeface="Tahoma" panose="020B0604030504040204" pitchFamily="34" charset="0"/>
              </a:rPr>
              <a:t>Key Points: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dirty="0">
                <a:ea typeface="Tahoma" panose="020B0604030504040204" pitchFamily="34" charset="0"/>
                <a:cs typeface="Tahoma" panose="020B0604030504040204" pitchFamily="34" charset="0"/>
              </a:rPr>
              <a:t>Naming</a:t>
            </a:r>
            <a:r>
              <a:rPr lang="en-US" altLang="en-US" sz="2400" dirty="0">
                <a:ea typeface="Tahoma" panose="020B0604030504040204" pitchFamily="34" charset="0"/>
                <a:cs typeface="Tahoma" panose="020B0604030504040204" pitchFamily="34" charset="0"/>
              </a:rPr>
              <a:t>: The destructor has the same name as the class but with a ~ (tilde) prefix.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dirty="0">
                <a:ea typeface="Tahoma" panose="020B0604030504040204" pitchFamily="34" charset="0"/>
                <a:cs typeface="Tahoma" panose="020B0604030504040204" pitchFamily="34" charset="0"/>
              </a:rPr>
              <a:t>No Parameters</a:t>
            </a:r>
            <a:r>
              <a:rPr lang="en-US" altLang="en-US" sz="2400" dirty="0">
                <a:ea typeface="Tahoma" panose="020B0604030504040204" pitchFamily="34" charset="0"/>
                <a:cs typeface="Tahoma" panose="020B0604030504040204" pitchFamily="34" charset="0"/>
              </a:rPr>
              <a:t>: Destructors cannot take parameters or have a return type.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dirty="0">
                <a:ea typeface="Tahoma" panose="020B0604030504040204" pitchFamily="34" charset="0"/>
                <a:cs typeface="Tahoma" panose="020B0604030504040204" pitchFamily="34" charset="0"/>
              </a:rPr>
              <a:t>Automatic Call</a:t>
            </a:r>
            <a:r>
              <a:rPr lang="en-US" altLang="en-US" sz="2400" dirty="0">
                <a:ea typeface="Tahoma" panose="020B0604030504040204" pitchFamily="34" charset="0"/>
                <a:cs typeface="Tahoma" panose="020B0604030504040204" pitchFamily="34" charset="0"/>
              </a:rPr>
              <a:t>: Called automatically when an object is destroyed (e.g., at the end of a function or when using delete).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dirty="0">
                <a:ea typeface="Tahoma" panose="020B0604030504040204" pitchFamily="34" charset="0"/>
                <a:cs typeface="Tahoma" panose="020B0604030504040204" pitchFamily="34" charset="0"/>
              </a:rPr>
              <a:t>Single Use</a:t>
            </a:r>
            <a:r>
              <a:rPr lang="en-US" altLang="en-US" sz="2400" dirty="0">
                <a:ea typeface="Tahoma" panose="020B0604030504040204" pitchFamily="34" charset="0"/>
                <a:cs typeface="Tahoma" panose="020B0604030504040204" pitchFamily="34" charset="0"/>
              </a:rPr>
              <a:t>: Each class has only one destructor, which cannot be overloaded.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71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Default Constructor and Parameterized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Default Constructor:</a:t>
            </a:r>
          </a:p>
          <a:p>
            <a:r>
              <a:rPr dirty="0"/>
              <a:t>void Display() { </a:t>
            </a:r>
            <a:r>
              <a:rPr dirty="0" err="1"/>
              <a:t>cout</a:t>
            </a:r>
            <a:r>
              <a:rPr dirty="0"/>
              <a:t> &lt;&lt; "Default Constructor"; }</a:t>
            </a:r>
          </a:p>
          <a:p>
            <a:endParaRPr dirty="0"/>
          </a:p>
          <a:p>
            <a:r>
              <a:rPr dirty="0"/>
              <a:t>Parameterized Constructor:</a:t>
            </a:r>
          </a:p>
          <a:p>
            <a:r>
              <a:rPr dirty="0"/>
              <a:t>void Display(int x) { </a:t>
            </a:r>
            <a:r>
              <a:rPr dirty="0" err="1"/>
              <a:t>cout</a:t>
            </a:r>
            <a:r>
              <a:rPr dirty="0"/>
              <a:t> &lt;&lt; "Parameterized: " &lt;&lt; x; 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Example {</a:t>
            </a:r>
          </a:p>
          <a:p>
            <a:pPr marL="0" indent="0">
              <a:buNone/>
            </a:pPr>
            <a:r>
              <a:rPr dirty="0"/>
              <a:t>  public:</a:t>
            </a:r>
          </a:p>
          <a:p>
            <a:pPr marL="0" indent="0">
              <a:buNone/>
            </a:pPr>
            <a:r>
              <a:rPr dirty="0"/>
              <a:t>    Example() { Display(); }</a:t>
            </a:r>
          </a:p>
          <a:p>
            <a:pPr marL="0" indent="0">
              <a:buNone/>
            </a:pPr>
            <a:r>
              <a:rPr dirty="0"/>
              <a:t>    Example(int x) { Display(x); }</a:t>
            </a:r>
          </a:p>
          <a:p>
            <a:pPr marL="0" indent="0">
              <a:buNone/>
            </a:pPr>
            <a:r>
              <a:rPr dirty="0"/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9EF8-7913-4370-AD9E-E8DC248C5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5477"/>
            <a:ext cx="8229600" cy="11430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1A254-4789-4049-B7DD-3DB1651D1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064" y="846138"/>
            <a:ext cx="8313174" cy="5851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#include &lt;iostream&gt;</a:t>
            </a:r>
          </a:p>
          <a:p>
            <a:pPr marL="0" indent="0">
              <a:buNone/>
            </a:pPr>
            <a:r>
              <a:rPr lang="en-US" sz="1200" dirty="0"/>
              <a:t>using namespace std;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class Student {</a:t>
            </a:r>
          </a:p>
          <a:p>
            <a:pPr marL="0" indent="0">
              <a:buNone/>
            </a:pPr>
            <a:r>
              <a:rPr lang="en-US" sz="1200" dirty="0"/>
              <a:t>    string name;</a:t>
            </a:r>
          </a:p>
          <a:p>
            <a:pPr marL="0" indent="0">
              <a:buNone/>
            </a:pPr>
            <a:r>
              <a:rPr lang="en-US" sz="1200" dirty="0"/>
              <a:t>    int* grades;  // Pointer to dynamically allocated array for grades</a:t>
            </a:r>
          </a:p>
          <a:p>
            <a:pPr marL="0" indent="0">
              <a:buNone/>
            </a:pPr>
            <a:r>
              <a:rPr lang="en-US" sz="1200" dirty="0"/>
              <a:t>    int </a:t>
            </a:r>
            <a:r>
              <a:rPr lang="en-US" sz="1200" dirty="0" err="1"/>
              <a:t>gradeCount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public:</a:t>
            </a:r>
          </a:p>
          <a:p>
            <a:pPr marL="0" indent="0">
              <a:buNone/>
            </a:pPr>
            <a:r>
              <a:rPr lang="en-US" sz="1200" dirty="0"/>
              <a:t>    // Parameterized constructor</a:t>
            </a:r>
          </a:p>
          <a:p>
            <a:pPr marL="0" indent="0">
              <a:buNone/>
            </a:pPr>
            <a:r>
              <a:rPr lang="en-US" sz="1200" dirty="0"/>
              <a:t>    Student(string </a:t>
            </a:r>
            <a:r>
              <a:rPr lang="en-US" sz="1200" dirty="0" err="1"/>
              <a:t>studentName</a:t>
            </a:r>
            <a:r>
              <a:rPr lang="en-US" sz="1200" dirty="0"/>
              <a:t>, int count) : name(</a:t>
            </a:r>
            <a:r>
              <a:rPr lang="en-US" sz="1200" dirty="0" err="1"/>
              <a:t>studentName</a:t>
            </a:r>
            <a:r>
              <a:rPr lang="en-US" sz="1200" dirty="0"/>
              <a:t>), </a:t>
            </a:r>
            <a:r>
              <a:rPr lang="en-US" sz="1200" dirty="0" err="1"/>
              <a:t>gradeCount</a:t>
            </a:r>
            <a:r>
              <a:rPr lang="en-US" sz="1200" dirty="0"/>
              <a:t>(count) {</a:t>
            </a:r>
          </a:p>
          <a:p>
            <a:pPr marL="0" indent="0">
              <a:buNone/>
            </a:pPr>
            <a:r>
              <a:rPr lang="en-US" sz="1200" dirty="0"/>
              <a:t>        grades = new int[</a:t>
            </a:r>
            <a:r>
              <a:rPr lang="en-US" sz="1200" dirty="0" err="1"/>
              <a:t>gradeCount</a:t>
            </a:r>
            <a:r>
              <a:rPr lang="en-US" sz="1200" dirty="0"/>
              <a:t>]; // Dynamically allocate memory for grades</a:t>
            </a:r>
          </a:p>
          <a:p>
            <a:pPr marL="0" indent="0">
              <a:buNone/>
            </a:pPr>
            <a:r>
              <a:rPr lang="en-US" sz="1200" dirty="0"/>
              <a:t>        for (int </a:t>
            </a:r>
            <a:r>
              <a:rPr lang="en-US" sz="1200" dirty="0" err="1"/>
              <a:t>i</a:t>
            </a:r>
            <a:r>
              <a:rPr lang="en-US" sz="1200" dirty="0"/>
              <a:t> = 0; </a:t>
            </a:r>
            <a:r>
              <a:rPr lang="en-US" sz="1200" dirty="0" err="1"/>
              <a:t>i</a:t>
            </a:r>
            <a:r>
              <a:rPr lang="en-US" sz="1200" dirty="0"/>
              <a:t> &lt; </a:t>
            </a:r>
            <a:r>
              <a:rPr lang="en-US" sz="1200" dirty="0" err="1"/>
              <a:t>gradeCount</a:t>
            </a:r>
            <a:r>
              <a:rPr lang="en-US" sz="1200" dirty="0"/>
              <a:t>; ++</a:t>
            </a:r>
            <a:r>
              <a:rPr lang="en-US" sz="1200" dirty="0" err="1"/>
              <a:t>i</a:t>
            </a:r>
            <a:r>
              <a:rPr lang="en-US" sz="1200" dirty="0"/>
              <a:t>) {</a:t>
            </a:r>
          </a:p>
          <a:p>
            <a:pPr marL="0" indent="0">
              <a:buNone/>
            </a:pPr>
            <a:r>
              <a:rPr lang="en-US" sz="1200" dirty="0"/>
              <a:t>            grades[</a:t>
            </a:r>
            <a:r>
              <a:rPr lang="en-US" sz="1200" dirty="0" err="1"/>
              <a:t>i</a:t>
            </a:r>
            <a:r>
              <a:rPr lang="en-US" sz="1200" dirty="0"/>
              <a:t>] = 0; // Initialize all grades to 0</a:t>
            </a:r>
          </a:p>
          <a:p>
            <a:pPr marL="0" indent="0">
              <a:buNone/>
            </a:pPr>
            <a:r>
              <a:rPr lang="en-US" sz="1200" dirty="0"/>
              <a:t>        }</a:t>
            </a:r>
          </a:p>
          <a:p>
            <a:pPr marL="0" indent="0">
              <a:buNone/>
            </a:pPr>
            <a:r>
              <a:rPr lang="en-US" sz="1200" dirty="0"/>
              <a:t>        </a:t>
            </a:r>
            <a:r>
              <a:rPr lang="en-US" sz="1200" dirty="0" err="1"/>
              <a:t>cout</a:t>
            </a:r>
            <a:r>
              <a:rPr lang="en-US" sz="1200" dirty="0"/>
              <a:t> &lt;&lt; "Constructor: Allocated memory for " &lt;&lt; </a:t>
            </a:r>
            <a:r>
              <a:rPr lang="en-US" sz="1200" dirty="0" err="1"/>
              <a:t>gradeCount</a:t>
            </a:r>
            <a:r>
              <a:rPr lang="en-US" sz="1200" dirty="0"/>
              <a:t> &lt;&lt; " grades.\n";</a:t>
            </a:r>
          </a:p>
          <a:p>
            <a:pPr marL="0" indent="0">
              <a:buNone/>
            </a:pPr>
            <a:r>
              <a:rPr lang="en-US" sz="1200" dirty="0"/>
              <a:t>    }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// Destructor</a:t>
            </a:r>
          </a:p>
          <a:p>
            <a:pPr marL="0" indent="0">
              <a:buNone/>
            </a:pPr>
            <a:r>
              <a:rPr lang="en-US" sz="1200" dirty="0"/>
              <a:t>    ~Student() {</a:t>
            </a:r>
          </a:p>
          <a:p>
            <a:pPr marL="0" indent="0">
              <a:buNone/>
            </a:pPr>
            <a:r>
              <a:rPr lang="en-US" sz="1200" dirty="0"/>
              <a:t>        delete[] grades; // Free the allocated memory for grades</a:t>
            </a:r>
          </a:p>
          <a:p>
            <a:pPr marL="0" indent="0">
              <a:buNone/>
            </a:pPr>
            <a:r>
              <a:rPr lang="en-US" sz="1200" dirty="0"/>
              <a:t>        </a:t>
            </a:r>
            <a:r>
              <a:rPr lang="en-US" sz="1200" dirty="0" err="1"/>
              <a:t>cout</a:t>
            </a:r>
            <a:r>
              <a:rPr lang="en-US" sz="1200" dirty="0"/>
              <a:t> &lt;&lt; "Destructor: Freed memory for grades.\n";</a:t>
            </a:r>
          </a:p>
          <a:p>
            <a:pPr marL="0" indent="0">
              <a:buNone/>
            </a:pPr>
            <a:r>
              <a:rPr lang="en-US" sz="12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76665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2C6F7-403C-4800-AD1B-CEB94DBC3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820"/>
            <a:ext cx="8686800" cy="66367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/>
              <a:t> // Function to set grade values</a:t>
            </a:r>
          </a:p>
          <a:p>
            <a:pPr marL="0" indent="0">
              <a:buNone/>
            </a:pPr>
            <a:r>
              <a:rPr lang="en-US" sz="1400" dirty="0"/>
              <a:t>    void </a:t>
            </a:r>
            <a:r>
              <a:rPr lang="en-US" sz="1400" dirty="0" err="1"/>
              <a:t>setGrade</a:t>
            </a:r>
            <a:r>
              <a:rPr lang="en-US" sz="1400" dirty="0"/>
              <a:t>(int index, int value) {</a:t>
            </a:r>
          </a:p>
          <a:p>
            <a:pPr marL="0" indent="0">
              <a:buNone/>
            </a:pPr>
            <a:r>
              <a:rPr lang="en-US" sz="1400" dirty="0"/>
              <a:t>        if (index &gt;= 0 &amp;&amp; index &lt; </a:t>
            </a:r>
            <a:r>
              <a:rPr lang="en-US" sz="1400" dirty="0" err="1"/>
              <a:t>gradeCount</a:t>
            </a:r>
            <a:r>
              <a:rPr lang="en-US" sz="1400" dirty="0"/>
              <a:t>) {</a:t>
            </a:r>
          </a:p>
          <a:p>
            <a:pPr marL="0" indent="0">
              <a:buNone/>
            </a:pPr>
            <a:r>
              <a:rPr lang="en-US" sz="1400" dirty="0"/>
              <a:t>            grades[index] = value;</a:t>
            </a:r>
          </a:p>
          <a:p>
            <a:pPr marL="0" indent="0">
              <a:buNone/>
            </a:pPr>
            <a:r>
              <a:rPr lang="en-US" sz="1400" dirty="0"/>
              <a:t>        }</a:t>
            </a:r>
          </a:p>
          <a:p>
            <a:pPr marL="0" indent="0">
              <a:buNone/>
            </a:pPr>
            <a:r>
              <a:rPr lang="en-US" sz="1400" dirty="0"/>
              <a:t>    }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// Function to display student details</a:t>
            </a:r>
          </a:p>
          <a:p>
            <a:pPr marL="0" indent="0">
              <a:buNone/>
            </a:pPr>
            <a:r>
              <a:rPr lang="en-US" sz="1400" dirty="0"/>
              <a:t>    void display() const {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"Student: " &lt;&lt; name &lt;&lt; "\</a:t>
            </a:r>
            <a:r>
              <a:rPr lang="en-US" sz="1400" dirty="0" err="1"/>
              <a:t>nGrades</a:t>
            </a:r>
            <a:r>
              <a:rPr lang="en-US" sz="1400" dirty="0"/>
              <a:t>: ";</a:t>
            </a:r>
          </a:p>
          <a:p>
            <a:pPr marL="0" indent="0">
              <a:buNone/>
            </a:pPr>
            <a:r>
              <a:rPr lang="en-US" sz="1400" dirty="0"/>
              <a:t>        for (int </a:t>
            </a:r>
            <a:r>
              <a:rPr lang="en-US" sz="1400" dirty="0" err="1"/>
              <a:t>i</a:t>
            </a:r>
            <a:r>
              <a:rPr lang="en-US" sz="1400" dirty="0"/>
              <a:t> = 0; </a:t>
            </a:r>
            <a:r>
              <a:rPr lang="en-US" sz="1400" dirty="0" err="1"/>
              <a:t>i</a:t>
            </a:r>
            <a:r>
              <a:rPr lang="en-US" sz="1400" dirty="0"/>
              <a:t> &lt; </a:t>
            </a:r>
            <a:r>
              <a:rPr lang="en-US" sz="1400" dirty="0" err="1"/>
              <a:t>gradeCount</a:t>
            </a:r>
            <a:r>
              <a:rPr lang="en-US" sz="1400" dirty="0"/>
              <a:t>; ++</a:t>
            </a:r>
            <a:r>
              <a:rPr lang="en-US" sz="1400" dirty="0" err="1"/>
              <a:t>i</a:t>
            </a:r>
            <a:r>
              <a:rPr lang="en-US" sz="1400" dirty="0"/>
              <a:t>) {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cout</a:t>
            </a:r>
            <a:r>
              <a:rPr lang="en-US" sz="1400" dirty="0"/>
              <a:t> &lt;&lt; grades[</a:t>
            </a:r>
            <a:r>
              <a:rPr lang="en-US" sz="1400" dirty="0" err="1"/>
              <a:t>i</a:t>
            </a:r>
            <a:r>
              <a:rPr lang="en-US" sz="1400" dirty="0"/>
              <a:t>] &lt;&lt; " ";</a:t>
            </a:r>
          </a:p>
          <a:p>
            <a:pPr marL="0" indent="0">
              <a:buNone/>
            </a:pPr>
            <a:r>
              <a:rPr lang="en-US" sz="1400" dirty="0"/>
              <a:t>        }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</a:t>
            </a:r>
            <a:r>
              <a:rPr lang="en-US" sz="1400" dirty="0" err="1"/>
              <a:t>endl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}</a:t>
            </a:r>
          </a:p>
          <a:p>
            <a:pPr marL="0" indent="0">
              <a:buNone/>
            </a:pPr>
            <a:r>
              <a:rPr lang="en-US" sz="1400" dirty="0"/>
              <a:t>};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int main() {</a:t>
            </a:r>
          </a:p>
          <a:p>
            <a:pPr marL="0" indent="0">
              <a:buNone/>
            </a:pPr>
            <a:r>
              <a:rPr lang="en-US" sz="1400" dirty="0"/>
              <a:t>    Student s1("John", 3);  // Create a student with 3 grades</a:t>
            </a:r>
          </a:p>
          <a:p>
            <a:pPr marL="0" indent="0">
              <a:buNone/>
            </a:pPr>
            <a:r>
              <a:rPr lang="en-US" sz="1400" dirty="0"/>
              <a:t>    s1.setGrade(0, 85);</a:t>
            </a:r>
          </a:p>
          <a:p>
            <a:pPr marL="0" indent="0">
              <a:buNone/>
            </a:pPr>
            <a:r>
              <a:rPr lang="en-US" sz="1400" dirty="0"/>
              <a:t>    s1.setGrade(1, 90);</a:t>
            </a:r>
          </a:p>
          <a:p>
            <a:pPr marL="0" indent="0">
              <a:buNone/>
            </a:pPr>
            <a:r>
              <a:rPr lang="en-US" sz="1400" dirty="0"/>
              <a:t>    s1.setGrade(2, 78);</a:t>
            </a:r>
          </a:p>
          <a:p>
            <a:pPr marL="0" indent="0">
              <a:buNone/>
            </a:pPr>
            <a:r>
              <a:rPr lang="en-US" sz="1400" dirty="0"/>
              <a:t>    </a:t>
            </a:r>
          </a:p>
          <a:p>
            <a:pPr marL="0" indent="0">
              <a:buNone/>
            </a:pPr>
            <a:r>
              <a:rPr lang="en-US" sz="1400" dirty="0"/>
              <a:t>    s1.display();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return 0; // Destructor automatically called here for 's1'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5470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C651-2B01-4995-A051-42CA119F8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D8EB-370B-42DD-9D35-6AD9091B1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Resource {</a:t>
            </a:r>
          </a:p>
          <a:p>
            <a:pPr marL="0" indent="0">
              <a:buNone/>
            </a:pPr>
            <a:r>
              <a:rPr lang="en-US" dirty="0"/>
              <a:t>    int* data;  // Pointer to dynamically allocated memory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// Constructor</a:t>
            </a:r>
          </a:p>
          <a:p>
            <a:pPr marL="0" indent="0">
              <a:buNone/>
            </a:pPr>
            <a:r>
              <a:rPr lang="en-US" dirty="0"/>
              <a:t>    Resource(int value) {</a:t>
            </a:r>
          </a:p>
          <a:p>
            <a:pPr marL="0" indent="0">
              <a:buNone/>
            </a:pPr>
            <a:r>
              <a:rPr lang="en-US" dirty="0"/>
              <a:t>        data = new int(value); // Allocate memory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"Constructor: Memory allocated for data with value " &lt;&lt; *data &lt;&lt; ".\n";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Destructor</a:t>
            </a:r>
          </a:p>
          <a:p>
            <a:pPr marL="0" indent="0">
              <a:buNone/>
            </a:pPr>
            <a:r>
              <a:rPr lang="en-US" dirty="0"/>
              <a:t>    ~Resource() {</a:t>
            </a:r>
          </a:p>
          <a:p>
            <a:pPr marL="0" indent="0">
              <a:buNone/>
            </a:pPr>
            <a:r>
              <a:rPr lang="en-US" dirty="0"/>
              <a:t>        delete data;  // Deallocate memory</a:t>
            </a:r>
          </a:p>
          <a:p>
            <a:pPr marL="0" indent="0">
              <a:buNone/>
            </a:pPr>
            <a:r>
              <a:rPr lang="en-US" dirty="0"/>
              <a:t>        data = </a:t>
            </a:r>
            <a:r>
              <a:rPr lang="en-US" dirty="0" err="1"/>
              <a:t>nullptr</a:t>
            </a:r>
            <a:r>
              <a:rPr lang="en-US" dirty="0"/>
              <a:t>;  // Set pointer to </a:t>
            </a:r>
            <a:r>
              <a:rPr lang="en-US" dirty="0" err="1"/>
              <a:t>nullptr</a:t>
            </a:r>
            <a:r>
              <a:rPr lang="en-US" dirty="0"/>
              <a:t> to avoid dangling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"Destructor: Memory deallocated and pointer set to </a:t>
            </a:r>
            <a:r>
              <a:rPr lang="en-US" dirty="0" err="1"/>
              <a:t>nullptr</a:t>
            </a:r>
            <a:r>
              <a:rPr lang="en-US" dirty="0"/>
              <a:t>.\n";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91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AD36-EB9C-4D0D-841D-6805BEE7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6793C-492E-4ABD-B44D-800743F29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// Function to display the value</a:t>
            </a:r>
          </a:p>
          <a:p>
            <a:pPr marL="0" indent="0">
              <a:buNone/>
            </a:pPr>
            <a:r>
              <a:rPr lang="en-US" dirty="0"/>
              <a:t>    void display() const {</a:t>
            </a:r>
          </a:p>
          <a:p>
            <a:pPr marL="0" indent="0">
              <a:buNone/>
            </a:pPr>
            <a:r>
              <a:rPr lang="en-US" dirty="0"/>
              <a:t>        if (data != </a:t>
            </a:r>
            <a:r>
              <a:rPr lang="en-US" dirty="0" err="1"/>
              <a:t>nullptr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"Data: " &lt;&lt; *data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} else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"Data pointer is </a:t>
            </a:r>
            <a:r>
              <a:rPr lang="en-US" dirty="0" err="1"/>
              <a:t>nullptr</a:t>
            </a:r>
            <a:r>
              <a:rPr lang="en-US" dirty="0"/>
              <a:t>."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Resource res(42);  // Create object with allocated memory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res.display</a:t>
            </a:r>
            <a:r>
              <a:rPr lang="en-US" dirty="0"/>
              <a:t>();     // Display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          // Destructor is called automatically for 'res' here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9394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Constructor Overloading and Default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Constructor Overloading: Same name with different parameters.</a:t>
            </a:r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Box {</a:t>
            </a:r>
          </a:p>
          <a:p>
            <a:pPr marL="0" indent="0">
              <a:buNone/>
            </a:pPr>
            <a:r>
              <a:rPr dirty="0"/>
              <a:t>  public:</a:t>
            </a:r>
          </a:p>
          <a:p>
            <a:pPr marL="0" indent="0">
              <a:buNone/>
            </a:pPr>
            <a:r>
              <a:rPr dirty="0"/>
              <a:t>    Box(int l = 1, int b = 1) { /* Initialization */ }</a:t>
            </a:r>
          </a:p>
          <a:p>
            <a:pPr marL="0" indent="0">
              <a:buNone/>
            </a:pPr>
            <a:r>
              <a:rPr dirty="0"/>
              <a:t>};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Usage:</a:t>
            </a:r>
          </a:p>
          <a:p>
            <a:pPr marL="0" indent="0">
              <a:buNone/>
            </a:pPr>
            <a:r>
              <a:rPr dirty="0"/>
              <a:t>Box box1; // Default</a:t>
            </a:r>
          </a:p>
          <a:p>
            <a:pPr marL="0" indent="0">
              <a:buNone/>
            </a:pPr>
            <a:r>
              <a:rPr dirty="0"/>
              <a:t>Box box2(5, 10); // Parameterized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B95E-1B3C-47C4-85BC-15947A11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3812-EEA5-45E1-B14D-2B9C1FB9D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Rectangle {</a:t>
            </a:r>
          </a:p>
          <a:p>
            <a:pPr marL="0" indent="0">
              <a:buNone/>
            </a:pPr>
            <a:r>
              <a:rPr lang="en-US" dirty="0"/>
              <a:t>    int length, width;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// Default constructor</a:t>
            </a:r>
          </a:p>
          <a:p>
            <a:pPr marL="0" indent="0">
              <a:buNone/>
            </a:pPr>
            <a:r>
              <a:rPr lang="en-US" dirty="0"/>
              <a:t>    Rectangle() {</a:t>
            </a:r>
          </a:p>
          <a:p>
            <a:pPr marL="0" indent="0">
              <a:buNone/>
            </a:pPr>
            <a:r>
              <a:rPr lang="en-US" dirty="0"/>
              <a:t>        length = width = 1; // Default dimensions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"Default constructor called: Length = 1, Width = 1"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Parameterized constructor for square</a:t>
            </a:r>
          </a:p>
          <a:p>
            <a:pPr marL="0" indent="0">
              <a:buNone/>
            </a:pPr>
            <a:r>
              <a:rPr lang="en-US" dirty="0"/>
              <a:t>    Rectangle(int side) {</a:t>
            </a:r>
          </a:p>
          <a:p>
            <a:pPr marL="0" indent="0">
              <a:buNone/>
            </a:pPr>
            <a:r>
              <a:rPr lang="en-US" dirty="0"/>
              <a:t>        length = width = side;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"Square constructor called: Length = Width = " &lt;&lt; side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916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AEEF-2439-4DF6-9A94-064F1BC7A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206478"/>
            <a:ext cx="8431161" cy="59196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/>
              <a:t> // Parameterized constructor for rectangle with custom length and width</a:t>
            </a:r>
          </a:p>
          <a:p>
            <a:pPr marL="0" indent="0">
              <a:buNone/>
            </a:pPr>
            <a:r>
              <a:rPr lang="en-US" sz="1400" dirty="0"/>
              <a:t>    Rectangle(int l, int w) {</a:t>
            </a:r>
          </a:p>
          <a:p>
            <a:pPr marL="0" indent="0">
              <a:buNone/>
            </a:pPr>
            <a:r>
              <a:rPr lang="en-US" sz="1400" dirty="0"/>
              <a:t>        length = l;</a:t>
            </a:r>
          </a:p>
          <a:p>
            <a:pPr marL="0" indent="0">
              <a:buNone/>
            </a:pPr>
            <a:r>
              <a:rPr lang="en-US" sz="1400" dirty="0"/>
              <a:t>        width = w;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"Rectangle constructor called: Length = " &lt;&lt; length &lt;&lt; ", Width = " &lt;&lt; width &lt;&lt; </a:t>
            </a:r>
            <a:r>
              <a:rPr lang="en-US" sz="1400" dirty="0" err="1"/>
              <a:t>endl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}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void </a:t>
            </a:r>
            <a:r>
              <a:rPr lang="en-US" sz="1400" dirty="0" err="1"/>
              <a:t>displayDimensions</a:t>
            </a:r>
            <a:r>
              <a:rPr lang="en-US" sz="1400" dirty="0"/>
              <a:t>() const {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cout</a:t>
            </a:r>
            <a:r>
              <a:rPr lang="en-US" sz="1400" dirty="0"/>
              <a:t> &lt;&lt; "Length: " &lt;&lt; length &lt;&lt; ", Width: " &lt;&lt; width &lt;&lt; </a:t>
            </a:r>
            <a:r>
              <a:rPr lang="en-US" sz="1400" dirty="0" err="1"/>
              <a:t>endl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    }</a:t>
            </a:r>
          </a:p>
          <a:p>
            <a:pPr marL="0" indent="0">
              <a:buNone/>
            </a:pPr>
            <a:r>
              <a:rPr lang="en-US" sz="1400" dirty="0"/>
              <a:t>};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int main() {</a:t>
            </a:r>
          </a:p>
          <a:p>
            <a:pPr marL="0" indent="0">
              <a:buNone/>
            </a:pPr>
            <a:r>
              <a:rPr lang="en-US" sz="1400" dirty="0"/>
              <a:t>    Rectangle rect1;           // Calls default constructor</a:t>
            </a:r>
          </a:p>
          <a:p>
            <a:pPr marL="0" indent="0">
              <a:buNone/>
            </a:pPr>
            <a:r>
              <a:rPr lang="en-US" sz="1400" dirty="0"/>
              <a:t>    Rectangle rect2(5);        // Calls square constructor</a:t>
            </a:r>
          </a:p>
          <a:p>
            <a:pPr marL="0" indent="0">
              <a:buNone/>
            </a:pPr>
            <a:r>
              <a:rPr lang="en-US" sz="1400" dirty="0"/>
              <a:t>    Rectangle rect3(4, 6);     // Calls rectangle constructor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cout</a:t>
            </a:r>
            <a:r>
              <a:rPr lang="en-US" sz="1400" dirty="0"/>
              <a:t> &lt;&lt; "\</a:t>
            </a:r>
            <a:r>
              <a:rPr lang="en-US" sz="1400" dirty="0" err="1"/>
              <a:t>nDimensions</a:t>
            </a:r>
            <a:r>
              <a:rPr lang="en-US" sz="1400" dirty="0"/>
              <a:t> of each rectangle:\n";</a:t>
            </a:r>
          </a:p>
          <a:p>
            <a:pPr marL="0" indent="0">
              <a:buNone/>
            </a:pPr>
            <a:r>
              <a:rPr lang="en-US" sz="1400" dirty="0"/>
              <a:t>    rect1.displayDimensions();</a:t>
            </a:r>
          </a:p>
          <a:p>
            <a:pPr marL="0" indent="0">
              <a:buNone/>
            </a:pPr>
            <a:r>
              <a:rPr lang="en-US" sz="1400" dirty="0"/>
              <a:t>    rect2.displayDimensions();</a:t>
            </a:r>
          </a:p>
          <a:p>
            <a:pPr marL="0" indent="0">
              <a:buNone/>
            </a:pPr>
            <a:r>
              <a:rPr lang="en-US" sz="1400" dirty="0"/>
              <a:t>    rect3.displayDimensions();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return 0;</a:t>
            </a:r>
          </a:p>
        </p:txBody>
      </p:sp>
    </p:spTree>
    <p:extLst>
      <p:ext uri="{BB962C8B-B14F-4D97-AF65-F5344CB8AC3E}">
        <p14:creationId xmlns:p14="http://schemas.microsoft.com/office/powerpoint/2010/main" val="3126784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4E971-963D-48E7-9D6F-E1772B856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(Initializer Lists)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6992A-8999-40CB-8BE4-CBB1FD002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Circle {</a:t>
            </a:r>
          </a:p>
          <a:p>
            <a:pPr marL="0" indent="0">
              <a:buNone/>
            </a:pPr>
            <a:r>
              <a:rPr lang="en-US" dirty="0"/>
              <a:t>    double radius;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public:</a:t>
            </a:r>
          </a:p>
          <a:p>
            <a:pPr marL="0" indent="0">
              <a:buNone/>
            </a:pPr>
            <a:r>
              <a:rPr lang="en-US" dirty="0"/>
              <a:t>    // Default constructor with initializer list</a:t>
            </a:r>
          </a:p>
          <a:p>
            <a:pPr marL="0" indent="0">
              <a:buNone/>
            </a:pPr>
            <a:r>
              <a:rPr lang="en-US" dirty="0"/>
              <a:t>    Circle() : radius(5.0) {  // Initializes radius to 5.0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"Default Circle created with radius = " &lt;&lt; radius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Parameterized constructor with initializer list</a:t>
            </a:r>
          </a:p>
          <a:p>
            <a:pPr marL="0" indent="0">
              <a:buNone/>
            </a:pPr>
            <a:r>
              <a:rPr lang="en-US" dirty="0"/>
              <a:t>    Circle(double r) : radius(r) {  // Initializes radius to the value of r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"Circle created with radius = " &lt;&lt; radius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67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77BB-C447-44D9-B39B-6B345739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B7C68-FAE2-48E3-B047-94E54011E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double </a:t>
            </a:r>
            <a:r>
              <a:rPr lang="en-US" dirty="0" err="1"/>
              <a:t>getArea</a:t>
            </a:r>
            <a:r>
              <a:rPr lang="en-US" dirty="0"/>
              <a:t>() const {</a:t>
            </a:r>
          </a:p>
          <a:p>
            <a:pPr marL="0" indent="0">
              <a:buNone/>
            </a:pPr>
            <a:r>
              <a:rPr lang="en-US" dirty="0"/>
              <a:t>        return 3.14159 * radius * radius;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Circle c1;          // Calls default constructor</a:t>
            </a:r>
          </a:p>
          <a:p>
            <a:pPr marL="0" indent="0">
              <a:buNone/>
            </a:pPr>
            <a:r>
              <a:rPr lang="en-US" dirty="0"/>
              <a:t>    Circle c2(10.0);    // Calls parameterized constructor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"Area of c1: " &lt;&lt; c1.getArea()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"Area of c2: " &lt;&lt; c2.getArea()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9102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Separating Interface and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Defining Member Functions Outside Class:</a:t>
            </a:r>
          </a:p>
          <a:p>
            <a:pPr marL="0" indent="0">
              <a:buNone/>
            </a:pPr>
            <a:r>
              <a:rPr dirty="0"/>
              <a:t>class </a:t>
            </a:r>
            <a:r>
              <a:rPr dirty="0" err="1"/>
              <a:t>MyClass</a:t>
            </a:r>
            <a:r>
              <a:rPr dirty="0"/>
              <a:t> {</a:t>
            </a:r>
          </a:p>
          <a:p>
            <a:pPr marL="0" indent="0">
              <a:buNone/>
            </a:pPr>
            <a:r>
              <a:rPr dirty="0"/>
              <a:t>  public:</a:t>
            </a:r>
          </a:p>
          <a:p>
            <a:pPr marL="0" indent="0">
              <a:buNone/>
            </a:pPr>
            <a:r>
              <a:rPr dirty="0"/>
              <a:t>    void show();</a:t>
            </a:r>
          </a:p>
          <a:p>
            <a:pPr marL="0" indent="0">
              <a:buNone/>
            </a:pPr>
            <a:r>
              <a:rPr dirty="0"/>
              <a:t>};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void </a:t>
            </a:r>
            <a:r>
              <a:rPr dirty="0" err="1"/>
              <a:t>MyClass</a:t>
            </a:r>
            <a:r>
              <a:rPr dirty="0"/>
              <a:t>::show() { </a:t>
            </a:r>
            <a:r>
              <a:rPr dirty="0" err="1"/>
              <a:t>cout</a:t>
            </a:r>
            <a:r>
              <a:rPr dirty="0"/>
              <a:t> &lt;&lt; "Hello World!"; 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Working with Multiple Files:</a:t>
            </a:r>
          </a:p>
          <a:p>
            <a:pPr marL="0" indent="0">
              <a:buNone/>
            </a:pPr>
            <a:r>
              <a:rPr dirty="0"/>
              <a:t>Separate declarations in header file (.h) and definitions in source file (.</a:t>
            </a:r>
            <a:r>
              <a:rPr dirty="0" err="1"/>
              <a:t>cpp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1318</Words>
  <Application>Microsoft Office PowerPoint</Application>
  <PresentationFormat>On-screen Show (4:3)</PresentationFormat>
  <Paragraphs>212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Tahoma</vt:lpstr>
      <vt:lpstr>Office Theme</vt:lpstr>
      <vt:lpstr>Constructor and Destructor </vt:lpstr>
      <vt:lpstr>Introduction to Constructors and Destructors</vt:lpstr>
      <vt:lpstr>Destructor</vt:lpstr>
      <vt:lpstr>Destructor</vt:lpstr>
      <vt:lpstr>Default Constructor and Parameterized Constructor</vt:lpstr>
      <vt:lpstr>Example</vt:lpstr>
      <vt:lpstr>PowerPoint Presentation</vt:lpstr>
      <vt:lpstr>Example</vt:lpstr>
      <vt:lpstr>PowerPoint Presentation</vt:lpstr>
      <vt:lpstr>Constructor Overloading and Default Arguments</vt:lpstr>
      <vt:lpstr>Example</vt:lpstr>
      <vt:lpstr>PowerPoint Presentation</vt:lpstr>
      <vt:lpstr>Example (Initializer Lists)</vt:lpstr>
      <vt:lpstr>PowerPoint Presentation</vt:lpstr>
      <vt:lpstr>Separating Interface and Implementation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 and Destructor </dc:title>
  <dc:subject/>
  <dc:creator/>
  <cp:keywords/>
  <dc:description>generated using python-pptx</dc:description>
  <cp:lastModifiedBy>Asad Kamal</cp:lastModifiedBy>
  <cp:revision>12</cp:revision>
  <dcterms:created xsi:type="dcterms:W3CDTF">2013-01-27T09:14:16Z</dcterms:created>
  <dcterms:modified xsi:type="dcterms:W3CDTF">2024-10-30T10:16:15Z</dcterms:modified>
  <cp:category/>
</cp:coreProperties>
</file>