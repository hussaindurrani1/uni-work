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74" r:id="rId2"/>
    <p:sldId id="263" r:id="rId3"/>
    <p:sldId id="257" r:id="rId4"/>
    <p:sldId id="258" r:id="rId5"/>
    <p:sldId id="259" r:id="rId6"/>
    <p:sldId id="270" r:id="rId7"/>
    <p:sldId id="256" r:id="rId8"/>
    <p:sldId id="260" r:id="rId9"/>
    <p:sldId id="268" r:id="rId10"/>
    <p:sldId id="269" r:id="rId11"/>
    <p:sldId id="266" r:id="rId12"/>
    <p:sldId id="265" r:id="rId13"/>
    <p:sldId id="267" r:id="rId14"/>
    <p:sldId id="262" r:id="rId15"/>
    <p:sldId id="271" r:id="rId16"/>
    <p:sldId id="272" r:id="rId17"/>
    <p:sldId id="273" r:id="rId1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78" d="100"/>
          <a:sy n="78" d="100"/>
        </p:scale>
        <p:origin x="1522" y="77"/>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23-Oct-24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23-Oct-24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23-Oct-24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23-Oct-24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23-Oct-24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23-Oct-24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23-Oct-24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23-Oct-24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23-Oct-24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23-Oct-24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23-Oct-24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23-Oct-24</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6BFF92-5F8D-47E8-ABF2-0A477D73AF9B}"/>
              </a:ext>
            </a:extLst>
          </p:cNvPr>
          <p:cNvSpPr>
            <a:spLocks noGrp="1"/>
          </p:cNvSpPr>
          <p:nvPr>
            <p:ph type="ctrTitle"/>
          </p:nvPr>
        </p:nvSpPr>
        <p:spPr/>
        <p:txBody>
          <a:bodyPr/>
          <a:lstStyle/>
          <a:p>
            <a:r>
              <a:rPr lang="en-US" dirty="0"/>
              <a:t>Introduction of the OOP and classes</a:t>
            </a:r>
          </a:p>
        </p:txBody>
      </p:sp>
      <p:sp>
        <p:nvSpPr>
          <p:cNvPr id="3" name="Subtitle 2">
            <a:extLst>
              <a:ext uri="{FF2B5EF4-FFF2-40B4-BE49-F238E27FC236}">
                <a16:creationId xmlns:a16="http://schemas.microsoft.com/office/drawing/2014/main" id="{32E7D70E-AF0C-4F0B-AAF8-7B27158BEC61}"/>
              </a:ext>
            </a:extLst>
          </p:cNvPr>
          <p:cNvSpPr>
            <a:spLocks noGrp="1"/>
          </p:cNvSpPr>
          <p:nvPr>
            <p:ph type="subTitle" idx="1"/>
          </p:nvPr>
        </p:nvSpPr>
        <p:spPr/>
        <p:txBody>
          <a:bodyPr/>
          <a:lstStyle/>
          <a:p>
            <a:r>
              <a:rPr lang="en-US" dirty="0"/>
              <a:t>Week 2</a:t>
            </a:r>
          </a:p>
        </p:txBody>
      </p:sp>
    </p:spTree>
    <p:extLst>
      <p:ext uri="{BB962C8B-B14F-4D97-AF65-F5344CB8AC3E}">
        <p14:creationId xmlns:p14="http://schemas.microsoft.com/office/powerpoint/2010/main" val="270868912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Overview of OOP Concepts</a:t>
            </a:r>
          </a:p>
        </p:txBody>
      </p:sp>
      <p:sp>
        <p:nvSpPr>
          <p:cNvPr id="5" name="Content Placeholder 4">
            <a:extLst>
              <a:ext uri="{FF2B5EF4-FFF2-40B4-BE49-F238E27FC236}">
                <a16:creationId xmlns:a16="http://schemas.microsoft.com/office/drawing/2014/main" id="{2117D0D1-75A1-4CEF-B537-F18A2C20C7DA}"/>
              </a:ext>
            </a:extLst>
          </p:cNvPr>
          <p:cNvSpPr>
            <a:spLocks noGrp="1"/>
          </p:cNvSpPr>
          <p:nvPr>
            <p:ph idx="1"/>
          </p:nvPr>
        </p:nvSpPr>
        <p:spPr/>
        <p:txBody>
          <a:bodyPr>
            <a:normAutofit lnSpcReduction="10000"/>
          </a:bodyPr>
          <a:lstStyle/>
          <a:p>
            <a:pPr>
              <a:defRPr sz="1400"/>
            </a:pPr>
            <a:r>
              <a:rPr lang="en-US" sz="2800" dirty="0"/>
              <a:t>What is OOP?</a:t>
            </a:r>
          </a:p>
          <a:p>
            <a:pPr marL="0" indent="0">
              <a:buNone/>
              <a:defRPr sz="1400"/>
            </a:pPr>
            <a:r>
              <a:rPr lang="en-US" sz="2800" dirty="0"/>
              <a:t>	- Object-Oriented Programming (OOP) is a 	programming paradigm that uses objects and classes.</a:t>
            </a:r>
          </a:p>
          <a:p>
            <a:pPr marL="0" indent="0">
              <a:buNone/>
              <a:defRPr sz="1400"/>
            </a:pPr>
            <a:r>
              <a:rPr lang="en-US" sz="2800" dirty="0"/>
              <a:t>	- Objects represent real-world entities, and classes are 	blueprints for creating objects.</a:t>
            </a:r>
          </a:p>
          <a:p>
            <a:pPr>
              <a:defRPr sz="1400"/>
            </a:pPr>
            <a:r>
              <a:rPr lang="en-US" sz="2800" dirty="0"/>
              <a:t>How OOP Helps in Programming:</a:t>
            </a:r>
          </a:p>
          <a:p>
            <a:pPr lvl="1">
              <a:defRPr sz="1400"/>
            </a:pPr>
            <a:r>
              <a:rPr lang="en-US" sz="2400" dirty="0"/>
              <a:t>Promotes code reuse and modularity.</a:t>
            </a:r>
          </a:p>
          <a:p>
            <a:pPr lvl="1">
              <a:defRPr sz="1400"/>
            </a:pPr>
            <a:r>
              <a:rPr lang="en-US" sz="2400" dirty="0"/>
              <a:t>Makes code more organized and easier to maintain.</a:t>
            </a:r>
          </a:p>
          <a:p>
            <a:pPr lvl="1">
              <a:defRPr sz="1400"/>
            </a:pPr>
            <a:r>
              <a:rPr lang="en-US" sz="2400" dirty="0"/>
              <a:t>Supports encapsulation, inheritance, and polymorphism</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Introduction to Classes and Objects</a:t>
            </a:r>
          </a:p>
        </p:txBody>
      </p:sp>
      <p:sp>
        <p:nvSpPr>
          <p:cNvPr id="4" name="Content Placeholder 3">
            <a:extLst>
              <a:ext uri="{FF2B5EF4-FFF2-40B4-BE49-F238E27FC236}">
                <a16:creationId xmlns:a16="http://schemas.microsoft.com/office/drawing/2014/main" id="{18655221-58F8-4A2C-8A24-49B65BDD3DF3}"/>
              </a:ext>
            </a:extLst>
          </p:cNvPr>
          <p:cNvSpPr>
            <a:spLocks noGrp="1"/>
          </p:cNvSpPr>
          <p:nvPr>
            <p:ph idx="1"/>
          </p:nvPr>
        </p:nvSpPr>
        <p:spPr/>
        <p:txBody>
          <a:bodyPr>
            <a:normAutofit fontScale="85000" lnSpcReduction="20000"/>
          </a:bodyPr>
          <a:lstStyle/>
          <a:p>
            <a:pPr>
              <a:defRPr sz="1400"/>
            </a:pPr>
            <a:r>
              <a:rPr lang="en-US" sz="2800" dirty="0"/>
              <a:t>Classes:</a:t>
            </a:r>
          </a:p>
          <a:p>
            <a:pPr lvl="1">
              <a:defRPr sz="1400"/>
            </a:pPr>
            <a:r>
              <a:rPr lang="en-US" sz="2800" dirty="0"/>
              <a:t>Class is user defined Datatype </a:t>
            </a:r>
          </a:p>
          <a:p>
            <a:pPr lvl="1">
              <a:defRPr sz="1400"/>
            </a:pPr>
            <a:r>
              <a:rPr lang="en-US" sz="2800" dirty="0"/>
              <a:t>A class is a blueprint for creating objects.</a:t>
            </a:r>
          </a:p>
          <a:p>
            <a:pPr lvl="1">
              <a:defRPr sz="1400"/>
            </a:pPr>
            <a:r>
              <a:rPr lang="en-US" sz="2400" dirty="0"/>
              <a:t>It defines data members (attributes) and member functions (methods).</a:t>
            </a:r>
          </a:p>
          <a:p>
            <a:pPr>
              <a:defRPr sz="1400"/>
            </a:pPr>
            <a:r>
              <a:rPr lang="en-US" sz="2800" dirty="0"/>
              <a:t>Objects:</a:t>
            </a:r>
          </a:p>
          <a:p>
            <a:pPr lvl="1">
              <a:defRPr sz="1400"/>
            </a:pPr>
            <a:r>
              <a:rPr lang="en-US" sz="2400" dirty="0"/>
              <a:t>An object is an instance of a class that has specific values for its attributes.</a:t>
            </a:r>
          </a:p>
          <a:p>
            <a:pPr>
              <a:defRPr sz="1400"/>
            </a:pPr>
            <a:r>
              <a:rPr lang="en-US" sz="2800" dirty="0"/>
              <a:t>Real-life Example 1: Person Class</a:t>
            </a:r>
          </a:p>
          <a:p>
            <a:pPr lvl="1">
              <a:defRPr sz="1400"/>
            </a:pPr>
            <a:r>
              <a:rPr lang="en-US" sz="2400" dirty="0"/>
              <a:t>- A 'Person' class can have attributes like name, age, and functions like walk() and talk().</a:t>
            </a:r>
          </a:p>
          <a:p>
            <a:pPr>
              <a:defRPr sz="1400"/>
            </a:pPr>
            <a:r>
              <a:rPr lang="en-US" sz="2800" dirty="0"/>
              <a:t>Real-life Example 2: Date Class</a:t>
            </a:r>
          </a:p>
          <a:p>
            <a:pPr lvl="1">
              <a:defRPr sz="1400"/>
            </a:pPr>
            <a:r>
              <a:rPr lang="en-US" sz="2400" dirty="0"/>
              <a:t>- A 'Date' class can represent a specific day, month, and year.</a:t>
            </a:r>
          </a:p>
          <a:p>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dirty="0"/>
              <a:t>Basic Syntax and Structure of a C++ Class</a:t>
            </a:r>
          </a:p>
        </p:txBody>
      </p:sp>
      <p:sp>
        <p:nvSpPr>
          <p:cNvPr id="3" name="Content Placeholder 2"/>
          <p:cNvSpPr>
            <a:spLocks noGrp="1"/>
          </p:cNvSpPr>
          <p:nvPr>
            <p:ph idx="1"/>
          </p:nvPr>
        </p:nvSpPr>
        <p:spPr/>
        <p:txBody>
          <a:bodyPr>
            <a:normAutofit/>
          </a:bodyPr>
          <a:lstStyle/>
          <a:p>
            <a:pPr>
              <a:defRPr sz="1400"/>
            </a:pPr>
            <a:r>
              <a:rPr lang="en-US" sz="2400" dirty="0"/>
              <a:t>Syntax and Structure:</a:t>
            </a:r>
          </a:p>
          <a:p>
            <a:pPr lvl="1">
              <a:defRPr sz="1400"/>
            </a:pPr>
            <a:r>
              <a:rPr lang="en-US" sz="2000" dirty="0"/>
              <a:t>A class has a name, data members (attributes), and member functions (methods).</a:t>
            </a:r>
          </a:p>
          <a:p>
            <a:pPr lvl="1">
              <a:defRPr sz="1400"/>
            </a:pPr>
            <a:r>
              <a:rPr lang="en-US" sz="2000" dirty="0"/>
              <a:t>Access specifiers control visibility of members.</a:t>
            </a:r>
          </a:p>
          <a:p>
            <a:endParaRPr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t>Access Specifiers: public, private, protected</a:t>
            </a:r>
          </a:p>
        </p:txBody>
      </p:sp>
      <p:sp>
        <p:nvSpPr>
          <p:cNvPr id="3" name="Content Placeholder 2"/>
          <p:cNvSpPr>
            <a:spLocks noGrp="1"/>
          </p:cNvSpPr>
          <p:nvPr>
            <p:ph idx="1"/>
          </p:nvPr>
        </p:nvSpPr>
        <p:spPr/>
        <p:txBody>
          <a:bodyPr>
            <a:normAutofit/>
          </a:bodyPr>
          <a:lstStyle/>
          <a:p>
            <a:pPr>
              <a:defRPr sz="1400"/>
            </a:pPr>
            <a:r>
              <a:rPr lang="en-US" sz="2400" dirty="0"/>
              <a:t>Access Specifiers:</a:t>
            </a:r>
          </a:p>
          <a:p>
            <a:pPr lvl="1">
              <a:defRPr sz="1400"/>
            </a:pPr>
            <a:r>
              <a:rPr lang="en-US" sz="2000" b="1" dirty="0"/>
              <a:t>public:</a:t>
            </a:r>
            <a:r>
              <a:rPr lang="en-US" sz="2000" dirty="0"/>
              <a:t> Accessible from anywhere.</a:t>
            </a:r>
          </a:p>
          <a:p>
            <a:pPr lvl="1">
              <a:defRPr sz="1400"/>
            </a:pPr>
            <a:r>
              <a:rPr lang="en-US" sz="2000" b="1" dirty="0"/>
              <a:t>private:</a:t>
            </a:r>
            <a:r>
              <a:rPr lang="en-US" sz="2000" dirty="0"/>
              <a:t> Accessible only within the class.</a:t>
            </a:r>
          </a:p>
          <a:p>
            <a:pPr lvl="1">
              <a:defRPr sz="1400"/>
            </a:pPr>
            <a:r>
              <a:rPr lang="en-US" sz="2000" b="1" dirty="0"/>
              <a:t>protected:</a:t>
            </a:r>
            <a:r>
              <a:rPr lang="en-US" sz="2000" dirty="0"/>
              <a:t> Accessible in the class and derived (inherited from the parent class) classes.</a:t>
            </a:r>
          </a:p>
          <a:p>
            <a:endParaRPr dirty="0"/>
          </a:p>
        </p:txBody>
      </p:sp>
    </p:spTree>
    <p:extLst>
      <p:ext uri="{BB962C8B-B14F-4D97-AF65-F5344CB8AC3E}">
        <p14:creationId xmlns:p14="http://schemas.microsoft.com/office/powerpoint/2010/main" val="402026244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82C2AE-F12D-4C83-AE89-F84174690A91}"/>
              </a:ext>
            </a:extLst>
          </p:cNvPr>
          <p:cNvSpPr>
            <a:spLocks noGrp="1"/>
          </p:cNvSpPr>
          <p:nvPr>
            <p:ph type="title"/>
          </p:nvPr>
        </p:nvSpPr>
        <p:spPr/>
        <p:txBody>
          <a:bodyPr/>
          <a:lstStyle/>
          <a:p>
            <a:r>
              <a:rPr lang="en-US" dirty="0"/>
              <a:t>What is a Constructor in C++</a:t>
            </a:r>
          </a:p>
        </p:txBody>
      </p:sp>
      <p:sp>
        <p:nvSpPr>
          <p:cNvPr id="3" name="Content Placeholder 2">
            <a:extLst>
              <a:ext uri="{FF2B5EF4-FFF2-40B4-BE49-F238E27FC236}">
                <a16:creationId xmlns:a16="http://schemas.microsoft.com/office/drawing/2014/main" id="{7307DF09-E990-4536-A68D-7A4356DB23D4}"/>
              </a:ext>
            </a:extLst>
          </p:cNvPr>
          <p:cNvSpPr>
            <a:spLocks noGrp="1"/>
          </p:cNvSpPr>
          <p:nvPr>
            <p:ph idx="1"/>
          </p:nvPr>
        </p:nvSpPr>
        <p:spPr/>
        <p:txBody>
          <a:bodyPr>
            <a:normAutofit fontScale="85000" lnSpcReduction="20000"/>
          </a:bodyPr>
          <a:lstStyle/>
          <a:p>
            <a:r>
              <a:rPr lang="en-US" dirty="0"/>
              <a:t>A </a:t>
            </a:r>
            <a:r>
              <a:rPr lang="en-US" b="1" dirty="0"/>
              <a:t>constructor</a:t>
            </a:r>
            <a:r>
              <a:rPr lang="en-US" dirty="0"/>
              <a:t> is a special member function of a class that is automatically called when an object of that class is created. It is used to initialize the object's attributes with default or specified values. The constructor has the same name as the class and does not have a return type.</a:t>
            </a:r>
          </a:p>
          <a:p>
            <a:r>
              <a:rPr lang="en-US" b="1" dirty="0"/>
              <a:t>Types of Constructors:</a:t>
            </a:r>
          </a:p>
          <a:p>
            <a:pPr lvl="1"/>
            <a:r>
              <a:rPr lang="en-US" b="1" dirty="0"/>
              <a:t>Default Constructor</a:t>
            </a:r>
            <a:r>
              <a:rPr lang="en-US" dirty="0"/>
              <a:t>: A constructor with no parameters. It initializes the data members to default values.</a:t>
            </a:r>
          </a:p>
          <a:p>
            <a:pPr lvl="1"/>
            <a:r>
              <a:rPr lang="en-US" b="1" dirty="0"/>
              <a:t>Parameterized Constructor</a:t>
            </a:r>
            <a:r>
              <a:rPr lang="en-US" dirty="0"/>
              <a:t>: A constructor that takes parameters and allows initializing data members with user-defined values.</a:t>
            </a:r>
          </a:p>
          <a:p>
            <a:endParaRPr lang="en-US" dirty="0"/>
          </a:p>
        </p:txBody>
      </p:sp>
    </p:spTree>
    <p:extLst>
      <p:ext uri="{BB962C8B-B14F-4D97-AF65-F5344CB8AC3E}">
        <p14:creationId xmlns:p14="http://schemas.microsoft.com/office/powerpoint/2010/main" val="315641132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Complex Number Example</a:t>
            </a:r>
            <a:endParaRPr dirty="0"/>
          </a:p>
        </p:txBody>
      </p:sp>
      <p:sp>
        <p:nvSpPr>
          <p:cNvPr id="4" name="Content Placeholder 3">
            <a:extLst>
              <a:ext uri="{FF2B5EF4-FFF2-40B4-BE49-F238E27FC236}">
                <a16:creationId xmlns:a16="http://schemas.microsoft.com/office/drawing/2014/main" id="{4F6CFA12-8764-47B7-9D60-2857440A00EF}"/>
              </a:ext>
            </a:extLst>
          </p:cNvPr>
          <p:cNvSpPr>
            <a:spLocks noGrp="1"/>
          </p:cNvSpPr>
          <p:nvPr>
            <p:ph idx="1"/>
          </p:nvPr>
        </p:nvSpPr>
        <p:spPr/>
        <p:txBody>
          <a:bodyPr>
            <a:normAutofit fontScale="55000" lnSpcReduction="20000"/>
          </a:bodyPr>
          <a:lstStyle/>
          <a:p>
            <a:pPr marL="0" indent="0">
              <a:buNone/>
            </a:pPr>
            <a:r>
              <a:rPr lang="en-US" dirty="0"/>
              <a:t>#include &lt;iostream&gt;</a:t>
            </a:r>
            <a:br>
              <a:rPr lang="en-US" dirty="0"/>
            </a:br>
            <a:r>
              <a:rPr lang="en-US" dirty="0"/>
              <a:t>using namespace std;</a:t>
            </a:r>
            <a:br>
              <a:rPr lang="en-US" dirty="0"/>
            </a:br>
            <a:br>
              <a:rPr lang="en-US" dirty="0"/>
            </a:br>
            <a:r>
              <a:rPr lang="en-US" dirty="0"/>
              <a:t>class Complex {</a:t>
            </a:r>
            <a:br>
              <a:rPr lang="en-US" dirty="0"/>
            </a:br>
            <a:r>
              <a:rPr lang="en-US" dirty="0"/>
              <a:t>private:</a:t>
            </a:r>
            <a:br>
              <a:rPr lang="en-US" dirty="0"/>
            </a:br>
            <a:r>
              <a:rPr lang="en-US" dirty="0"/>
              <a:t>    int real, </a:t>
            </a:r>
            <a:r>
              <a:rPr lang="en-US" dirty="0" err="1"/>
              <a:t>imag</a:t>
            </a:r>
            <a:r>
              <a:rPr lang="en-US" dirty="0"/>
              <a:t>;</a:t>
            </a:r>
            <a:br>
              <a:rPr lang="en-US" dirty="0"/>
            </a:br>
            <a:br>
              <a:rPr lang="en-US" dirty="0"/>
            </a:br>
            <a:r>
              <a:rPr lang="en-US" dirty="0"/>
              <a:t>public:</a:t>
            </a:r>
            <a:br>
              <a:rPr lang="en-US" dirty="0"/>
            </a:br>
            <a:r>
              <a:rPr lang="en-US" dirty="0"/>
              <a:t>    Complex(int r = 0, int </a:t>
            </a:r>
            <a:r>
              <a:rPr lang="en-US" dirty="0" err="1"/>
              <a:t>i</a:t>
            </a:r>
            <a:r>
              <a:rPr lang="en-US" dirty="0"/>
              <a:t> = 0) : real(r), </a:t>
            </a:r>
            <a:r>
              <a:rPr lang="en-US" dirty="0" err="1"/>
              <a:t>imag</a:t>
            </a:r>
            <a:r>
              <a:rPr lang="en-US" dirty="0"/>
              <a:t>(</a:t>
            </a:r>
            <a:r>
              <a:rPr lang="en-US" dirty="0" err="1"/>
              <a:t>i</a:t>
            </a:r>
            <a:r>
              <a:rPr lang="en-US" dirty="0"/>
              <a:t>) {}</a:t>
            </a:r>
            <a:br>
              <a:rPr lang="en-US" dirty="0"/>
            </a:br>
            <a:br>
              <a:rPr lang="en-US" dirty="0"/>
            </a:br>
            <a:r>
              <a:rPr lang="en-US" dirty="0"/>
              <a:t>    void display() {</a:t>
            </a:r>
            <a:br>
              <a:rPr lang="en-US" dirty="0"/>
            </a:br>
            <a:r>
              <a:rPr lang="en-US" dirty="0"/>
              <a:t>        </a:t>
            </a:r>
            <a:r>
              <a:rPr lang="en-US" dirty="0" err="1"/>
              <a:t>cout</a:t>
            </a:r>
            <a:r>
              <a:rPr lang="en-US" dirty="0"/>
              <a:t> &lt;&lt; real &lt;&lt; " + " &lt;&lt; </a:t>
            </a:r>
            <a:r>
              <a:rPr lang="en-US" dirty="0" err="1"/>
              <a:t>imag</a:t>
            </a:r>
            <a:r>
              <a:rPr lang="en-US" dirty="0"/>
              <a:t> &lt;&lt; "</a:t>
            </a:r>
            <a:r>
              <a:rPr lang="en-US" dirty="0" err="1"/>
              <a:t>i</a:t>
            </a:r>
            <a:r>
              <a:rPr lang="en-US" dirty="0"/>
              <a:t>" &lt;&lt; </a:t>
            </a:r>
            <a:r>
              <a:rPr lang="en-US" dirty="0" err="1"/>
              <a:t>endl</a:t>
            </a:r>
            <a:r>
              <a:rPr lang="en-US" dirty="0"/>
              <a:t>;</a:t>
            </a:r>
            <a:br>
              <a:rPr lang="en-US" dirty="0"/>
            </a:br>
            <a:r>
              <a:rPr lang="en-US" dirty="0"/>
              <a:t>    }</a:t>
            </a:r>
            <a:br>
              <a:rPr lang="en-US" dirty="0"/>
            </a:br>
            <a:r>
              <a:rPr lang="en-US" dirty="0"/>
              <a:t>};</a:t>
            </a:r>
            <a:br>
              <a:rPr lang="en-US" dirty="0"/>
            </a:br>
            <a:br>
              <a:rPr lang="en-US" dirty="0"/>
            </a:br>
            <a:r>
              <a:rPr lang="en-US" dirty="0"/>
              <a:t>int main() {</a:t>
            </a:r>
            <a:br>
              <a:rPr lang="en-US" dirty="0"/>
            </a:br>
            <a:r>
              <a:rPr lang="en-US" dirty="0"/>
              <a:t>    Complex c1(5, 3);</a:t>
            </a:r>
            <a:br>
              <a:rPr lang="en-US" dirty="0"/>
            </a:br>
            <a:r>
              <a:rPr lang="en-US" dirty="0"/>
              <a:t>    c1.display();  // Output: 5 + 3i</a:t>
            </a:r>
            <a:br>
              <a:rPr lang="en-US" dirty="0"/>
            </a:br>
            <a:r>
              <a:rPr lang="en-US" dirty="0"/>
              <a:t>    return 0;</a:t>
            </a:r>
            <a:br>
              <a:rPr lang="en-US" dirty="0"/>
            </a:br>
            <a:r>
              <a:rPr lang="en-US" dirty="0"/>
              <a:t>}</a:t>
            </a:r>
          </a:p>
          <a:p>
            <a:endParaRPr 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dirty="0"/>
              <a:t>Member Functions and Data Members</a:t>
            </a:r>
          </a:p>
        </p:txBody>
      </p:sp>
      <p:sp>
        <p:nvSpPr>
          <p:cNvPr id="4" name="Content Placeholder 3">
            <a:extLst>
              <a:ext uri="{FF2B5EF4-FFF2-40B4-BE49-F238E27FC236}">
                <a16:creationId xmlns:a16="http://schemas.microsoft.com/office/drawing/2014/main" id="{CF137052-D11A-4E73-AE5E-9ED444A24B27}"/>
              </a:ext>
            </a:extLst>
          </p:cNvPr>
          <p:cNvSpPr>
            <a:spLocks noGrp="1"/>
          </p:cNvSpPr>
          <p:nvPr>
            <p:ph idx="1"/>
          </p:nvPr>
        </p:nvSpPr>
        <p:spPr/>
        <p:txBody>
          <a:bodyPr>
            <a:normAutofit lnSpcReduction="10000"/>
          </a:bodyPr>
          <a:lstStyle/>
          <a:p>
            <a:pPr>
              <a:defRPr sz="1400"/>
            </a:pPr>
            <a:r>
              <a:rPr lang="en-US" sz="2800" dirty="0"/>
              <a:t>Member Functions and Data Members:</a:t>
            </a:r>
          </a:p>
          <a:p>
            <a:pPr lvl="1">
              <a:defRPr sz="1400"/>
            </a:pPr>
            <a:r>
              <a:rPr lang="en-US" sz="2400" b="1" dirty="0"/>
              <a:t>Data members:</a:t>
            </a:r>
            <a:r>
              <a:rPr lang="en-US" sz="2400" dirty="0"/>
              <a:t> store the state of an object.</a:t>
            </a:r>
          </a:p>
          <a:p>
            <a:pPr lvl="1">
              <a:defRPr sz="1400"/>
            </a:pPr>
            <a:r>
              <a:rPr lang="en-US" sz="2400" b="1" dirty="0"/>
              <a:t>Member functions</a:t>
            </a:r>
            <a:r>
              <a:rPr lang="en-US" sz="2400" dirty="0"/>
              <a:t>: define the behavior of an object.</a:t>
            </a:r>
          </a:p>
          <a:p>
            <a:pPr marL="0" indent="0">
              <a:buNone/>
              <a:defRPr sz="1400"/>
            </a:pPr>
            <a:r>
              <a:rPr lang="en-US" sz="2800" dirty="0"/>
              <a:t>Real-life Example:</a:t>
            </a:r>
          </a:p>
          <a:p>
            <a:pPr>
              <a:defRPr sz="1400"/>
            </a:pPr>
            <a:r>
              <a:rPr lang="en-US" sz="2800" dirty="0"/>
              <a:t>Person Class:</a:t>
            </a:r>
          </a:p>
          <a:p>
            <a:pPr lvl="1">
              <a:defRPr sz="1400"/>
            </a:pPr>
            <a:r>
              <a:rPr lang="en-US" sz="2400" dirty="0"/>
              <a:t>Attributes like Name, Age, Phone Number, Gender.</a:t>
            </a:r>
          </a:p>
          <a:p>
            <a:pPr lvl="1">
              <a:defRPr sz="1400"/>
            </a:pPr>
            <a:r>
              <a:rPr lang="en-US" sz="2400" dirty="0"/>
              <a:t>Functions like Walk() and Talk().</a:t>
            </a:r>
            <a:endParaRPr lang="en-US" sz="2800" dirty="0"/>
          </a:p>
          <a:p>
            <a:pPr>
              <a:defRPr sz="1400"/>
            </a:pPr>
            <a:r>
              <a:rPr lang="en-US" sz="2800" dirty="0"/>
              <a:t>Bank Account Class</a:t>
            </a:r>
          </a:p>
          <a:p>
            <a:pPr lvl="1">
              <a:defRPr sz="1400"/>
            </a:pPr>
            <a:r>
              <a:rPr lang="en-US" sz="2400" dirty="0"/>
              <a:t>Attributes like account number, balance.</a:t>
            </a:r>
          </a:p>
          <a:p>
            <a:pPr lvl="1">
              <a:defRPr sz="1400"/>
            </a:pPr>
            <a:r>
              <a:rPr lang="en-US" sz="2400" dirty="0"/>
              <a:t>Functions like deposit() and withdraw().</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7B4867-4EBF-408D-95E3-B8F42803A965}"/>
              </a:ext>
            </a:extLst>
          </p:cNvPr>
          <p:cNvSpPr>
            <a:spLocks noGrp="1"/>
          </p:cNvSpPr>
          <p:nvPr>
            <p:ph type="title"/>
          </p:nvPr>
        </p:nvSpPr>
        <p:spPr/>
        <p:txBody>
          <a:bodyPr>
            <a:normAutofit fontScale="90000"/>
          </a:bodyPr>
          <a:lstStyle/>
          <a:p>
            <a:r>
              <a:rPr lang="en-US" dirty="0"/>
              <a:t>Member Functions and Data Members</a:t>
            </a:r>
          </a:p>
        </p:txBody>
      </p:sp>
      <p:sp>
        <p:nvSpPr>
          <p:cNvPr id="3" name="Content Placeholder 2">
            <a:extLst>
              <a:ext uri="{FF2B5EF4-FFF2-40B4-BE49-F238E27FC236}">
                <a16:creationId xmlns:a16="http://schemas.microsoft.com/office/drawing/2014/main" id="{36A1D13D-1882-45B4-92A2-AE3D9F3B17EB}"/>
              </a:ext>
            </a:extLst>
          </p:cNvPr>
          <p:cNvSpPr>
            <a:spLocks noGrp="1"/>
          </p:cNvSpPr>
          <p:nvPr>
            <p:ph idx="1"/>
          </p:nvPr>
        </p:nvSpPr>
        <p:spPr/>
        <p:txBody>
          <a:bodyPr/>
          <a:lstStyle/>
          <a:p>
            <a:pPr marL="0" indent="0">
              <a:buNone/>
              <a:defRPr sz="1400"/>
            </a:pPr>
            <a:r>
              <a:rPr lang="en-US" sz="2800" dirty="0"/>
              <a:t>Real-life Example:</a:t>
            </a:r>
          </a:p>
          <a:p>
            <a:pPr>
              <a:defRPr sz="1400"/>
            </a:pPr>
            <a:r>
              <a:rPr lang="en-US" sz="2800" dirty="0"/>
              <a:t>Car Class:</a:t>
            </a:r>
          </a:p>
          <a:p>
            <a:pPr lvl="1">
              <a:defRPr sz="1400"/>
            </a:pPr>
            <a:r>
              <a:rPr lang="en-US" sz="2400" dirty="0"/>
              <a:t>Attributes: Model, Make, Year, Speed.</a:t>
            </a:r>
          </a:p>
          <a:p>
            <a:pPr lvl="1">
              <a:defRPr sz="1400"/>
            </a:pPr>
            <a:r>
              <a:rPr lang="en-US" sz="2400" dirty="0"/>
              <a:t>Functions like Accelerate() and Break().</a:t>
            </a:r>
            <a:endParaRPr lang="en-US" dirty="0"/>
          </a:p>
          <a:p>
            <a:pPr>
              <a:defRPr sz="1400"/>
            </a:pPr>
            <a:r>
              <a:rPr lang="en-US" sz="2800" dirty="0"/>
              <a:t>Employee Class</a:t>
            </a:r>
          </a:p>
          <a:p>
            <a:pPr lvl="1">
              <a:defRPr sz="1400"/>
            </a:pPr>
            <a:r>
              <a:rPr lang="en-US" sz="2400" dirty="0"/>
              <a:t>Attributes: Id, Name, Salary.</a:t>
            </a:r>
          </a:p>
          <a:p>
            <a:pPr lvl="1">
              <a:defRPr sz="1400"/>
            </a:pPr>
            <a:r>
              <a:rPr lang="en-US" sz="2400" dirty="0"/>
              <a:t>Functions like Work() and </a:t>
            </a:r>
            <a:r>
              <a:rPr lang="en-US" sz="2400" dirty="0" err="1"/>
              <a:t>MarkAttendance</a:t>
            </a:r>
            <a:r>
              <a:rPr lang="en-US" sz="2400" dirty="0"/>
              <a:t>().</a:t>
            </a:r>
            <a:endParaRPr lang="en-US" dirty="0"/>
          </a:p>
        </p:txBody>
      </p:sp>
    </p:spTree>
    <p:extLst>
      <p:ext uri="{BB962C8B-B14F-4D97-AF65-F5344CB8AC3E}">
        <p14:creationId xmlns:p14="http://schemas.microsoft.com/office/powerpoint/2010/main" val="240825396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C4EB262-80B7-47D1-89C5-2E2473B0E797}"/>
              </a:ext>
            </a:extLst>
          </p:cNvPr>
          <p:cNvSpPr>
            <a:spLocks noGrp="1"/>
          </p:cNvSpPr>
          <p:nvPr>
            <p:ph type="title"/>
          </p:nvPr>
        </p:nvSpPr>
        <p:spPr/>
        <p:txBody>
          <a:bodyPr/>
          <a:lstStyle/>
          <a:p>
            <a:r>
              <a:rPr lang="en-US" dirty="0"/>
              <a:t>Person Class Example</a:t>
            </a:r>
          </a:p>
        </p:txBody>
      </p:sp>
      <p:sp>
        <p:nvSpPr>
          <p:cNvPr id="5" name="Content Placeholder 4">
            <a:extLst>
              <a:ext uri="{FF2B5EF4-FFF2-40B4-BE49-F238E27FC236}">
                <a16:creationId xmlns:a16="http://schemas.microsoft.com/office/drawing/2014/main" id="{9B373A1A-0F67-4368-874B-2ACCBF2A466F}"/>
              </a:ext>
            </a:extLst>
          </p:cNvPr>
          <p:cNvSpPr>
            <a:spLocks noGrp="1"/>
          </p:cNvSpPr>
          <p:nvPr>
            <p:ph sz="half" idx="1"/>
          </p:nvPr>
        </p:nvSpPr>
        <p:spPr/>
        <p:txBody>
          <a:bodyPr>
            <a:normAutofit fontScale="25000" lnSpcReduction="20000"/>
          </a:bodyPr>
          <a:lstStyle/>
          <a:p>
            <a:pPr marL="0" indent="0">
              <a:buNone/>
            </a:pPr>
            <a:r>
              <a:rPr lang="en-US" dirty="0"/>
              <a:t>#include &lt;iostream&gt;</a:t>
            </a:r>
          </a:p>
          <a:p>
            <a:pPr marL="0" indent="0">
              <a:buNone/>
            </a:pPr>
            <a:r>
              <a:rPr lang="en-US" dirty="0"/>
              <a:t>#include &lt;string&gt;</a:t>
            </a:r>
          </a:p>
          <a:p>
            <a:pPr marL="0" indent="0">
              <a:buNone/>
            </a:pPr>
            <a:r>
              <a:rPr lang="en-US" dirty="0"/>
              <a:t>using namespace std;</a:t>
            </a:r>
          </a:p>
          <a:p>
            <a:pPr marL="0" indent="0">
              <a:buNone/>
            </a:pPr>
            <a:endParaRPr lang="en-US" dirty="0"/>
          </a:p>
          <a:p>
            <a:pPr marL="0" indent="0">
              <a:buNone/>
            </a:pPr>
            <a:r>
              <a:rPr lang="en-US" dirty="0"/>
              <a:t>// Person Class Definition</a:t>
            </a:r>
          </a:p>
          <a:p>
            <a:pPr marL="0" indent="0">
              <a:buNone/>
            </a:pPr>
            <a:r>
              <a:rPr lang="en-US" dirty="0"/>
              <a:t>class Person {</a:t>
            </a:r>
          </a:p>
          <a:p>
            <a:pPr marL="0" indent="0">
              <a:buNone/>
            </a:pPr>
            <a:r>
              <a:rPr lang="en-US" dirty="0"/>
              <a:t>private:</a:t>
            </a:r>
          </a:p>
          <a:p>
            <a:pPr marL="0" indent="0">
              <a:buNone/>
            </a:pPr>
            <a:r>
              <a:rPr lang="en-US" dirty="0"/>
              <a:t>    // Attributes (data members)</a:t>
            </a:r>
          </a:p>
          <a:p>
            <a:pPr marL="0" indent="0">
              <a:buNone/>
            </a:pPr>
            <a:r>
              <a:rPr lang="en-US" dirty="0"/>
              <a:t>    string name;</a:t>
            </a:r>
          </a:p>
          <a:p>
            <a:pPr marL="0" indent="0">
              <a:buNone/>
            </a:pPr>
            <a:r>
              <a:rPr lang="en-US" dirty="0"/>
              <a:t>    int age;</a:t>
            </a:r>
          </a:p>
          <a:p>
            <a:pPr marL="0" indent="0">
              <a:buNone/>
            </a:pPr>
            <a:r>
              <a:rPr lang="en-US" dirty="0"/>
              <a:t>    string </a:t>
            </a:r>
            <a:r>
              <a:rPr lang="en-US" dirty="0" err="1"/>
              <a:t>phoneNumber</a:t>
            </a:r>
            <a:r>
              <a:rPr lang="en-US" dirty="0"/>
              <a:t>;</a:t>
            </a:r>
          </a:p>
          <a:p>
            <a:pPr marL="0" indent="0">
              <a:buNone/>
            </a:pPr>
            <a:r>
              <a:rPr lang="en-US" dirty="0"/>
              <a:t>    string gender;</a:t>
            </a:r>
          </a:p>
          <a:p>
            <a:pPr marL="0" indent="0">
              <a:buNone/>
            </a:pPr>
            <a:endParaRPr lang="en-US" dirty="0"/>
          </a:p>
          <a:p>
            <a:pPr marL="0" indent="0">
              <a:buNone/>
            </a:pPr>
            <a:r>
              <a:rPr lang="en-US" dirty="0"/>
              <a:t>public:</a:t>
            </a:r>
          </a:p>
          <a:p>
            <a:pPr marL="0" indent="0">
              <a:buNone/>
            </a:pPr>
            <a:r>
              <a:rPr lang="en-US" dirty="0"/>
              <a:t>    // Constructor to initialize person details</a:t>
            </a:r>
          </a:p>
          <a:p>
            <a:pPr marL="0" indent="0">
              <a:buNone/>
            </a:pPr>
            <a:r>
              <a:rPr lang="en-US" dirty="0"/>
              <a:t>    Person(string </a:t>
            </a:r>
            <a:r>
              <a:rPr lang="en-US" dirty="0" err="1"/>
              <a:t>personName</a:t>
            </a:r>
            <a:r>
              <a:rPr lang="en-US" dirty="0"/>
              <a:t>, int </a:t>
            </a:r>
            <a:r>
              <a:rPr lang="en-US" dirty="0" err="1"/>
              <a:t>personAge</a:t>
            </a:r>
            <a:r>
              <a:rPr lang="en-US" dirty="0"/>
              <a:t>, string </a:t>
            </a:r>
            <a:r>
              <a:rPr lang="en-US" dirty="0" err="1"/>
              <a:t>personPhoneNumber</a:t>
            </a:r>
            <a:r>
              <a:rPr lang="en-US" dirty="0"/>
              <a:t>, string </a:t>
            </a:r>
            <a:r>
              <a:rPr lang="en-US" dirty="0" err="1"/>
              <a:t>personGender</a:t>
            </a:r>
            <a:r>
              <a:rPr lang="en-US" dirty="0"/>
              <a:t>) {</a:t>
            </a:r>
          </a:p>
          <a:p>
            <a:pPr marL="0" indent="0">
              <a:buNone/>
            </a:pPr>
            <a:r>
              <a:rPr lang="en-US" dirty="0"/>
              <a:t>        name = </a:t>
            </a:r>
            <a:r>
              <a:rPr lang="en-US" dirty="0" err="1"/>
              <a:t>personName</a:t>
            </a:r>
            <a:r>
              <a:rPr lang="en-US" dirty="0"/>
              <a:t>;</a:t>
            </a:r>
          </a:p>
          <a:p>
            <a:pPr marL="0" indent="0">
              <a:buNone/>
            </a:pPr>
            <a:r>
              <a:rPr lang="en-US" dirty="0"/>
              <a:t>        age = </a:t>
            </a:r>
            <a:r>
              <a:rPr lang="en-US" dirty="0" err="1"/>
              <a:t>personAge</a:t>
            </a:r>
            <a:r>
              <a:rPr lang="en-US" dirty="0"/>
              <a:t>;</a:t>
            </a:r>
          </a:p>
          <a:p>
            <a:pPr marL="0" indent="0">
              <a:buNone/>
            </a:pPr>
            <a:r>
              <a:rPr lang="en-US" dirty="0"/>
              <a:t>        </a:t>
            </a:r>
            <a:r>
              <a:rPr lang="en-US" dirty="0" err="1"/>
              <a:t>phoneNumber</a:t>
            </a:r>
            <a:r>
              <a:rPr lang="en-US" dirty="0"/>
              <a:t> = </a:t>
            </a:r>
            <a:r>
              <a:rPr lang="en-US" dirty="0" err="1"/>
              <a:t>personPhoneNumber</a:t>
            </a:r>
            <a:r>
              <a:rPr lang="en-US" dirty="0"/>
              <a:t>;</a:t>
            </a:r>
          </a:p>
          <a:p>
            <a:pPr marL="0" indent="0">
              <a:buNone/>
            </a:pPr>
            <a:r>
              <a:rPr lang="en-US" dirty="0"/>
              <a:t>        gender = </a:t>
            </a:r>
            <a:r>
              <a:rPr lang="en-US" dirty="0" err="1"/>
              <a:t>personGender</a:t>
            </a:r>
            <a:r>
              <a:rPr lang="en-US" dirty="0"/>
              <a:t>;</a:t>
            </a:r>
          </a:p>
          <a:p>
            <a:pPr marL="0" indent="0">
              <a:buNone/>
            </a:pPr>
            <a:r>
              <a:rPr lang="en-US" dirty="0"/>
              <a:t>    }</a:t>
            </a:r>
          </a:p>
          <a:p>
            <a:pPr marL="0" indent="0">
              <a:buNone/>
            </a:pPr>
            <a:endParaRPr lang="en-US" dirty="0"/>
          </a:p>
          <a:p>
            <a:pPr marL="0" indent="0">
              <a:buNone/>
            </a:pPr>
            <a:r>
              <a:rPr lang="en-US" dirty="0"/>
              <a:t>    // Setter to set person details (if needed)</a:t>
            </a:r>
          </a:p>
          <a:p>
            <a:pPr marL="0" indent="0">
              <a:buNone/>
            </a:pPr>
            <a:r>
              <a:rPr lang="en-US" dirty="0"/>
              <a:t>    void </a:t>
            </a:r>
            <a:r>
              <a:rPr lang="en-US" dirty="0" err="1"/>
              <a:t>setDetails</a:t>
            </a:r>
            <a:r>
              <a:rPr lang="en-US" dirty="0"/>
              <a:t>(string </a:t>
            </a:r>
            <a:r>
              <a:rPr lang="en-US" dirty="0" err="1"/>
              <a:t>personName</a:t>
            </a:r>
            <a:r>
              <a:rPr lang="en-US" dirty="0"/>
              <a:t>, int </a:t>
            </a:r>
            <a:r>
              <a:rPr lang="en-US" dirty="0" err="1"/>
              <a:t>personAge</a:t>
            </a:r>
            <a:r>
              <a:rPr lang="en-US" dirty="0"/>
              <a:t>, string </a:t>
            </a:r>
            <a:r>
              <a:rPr lang="en-US" dirty="0" err="1"/>
              <a:t>personPhoneNumber</a:t>
            </a:r>
            <a:r>
              <a:rPr lang="en-US" dirty="0"/>
              <a:t>, string </a:t>
            </a:r>
            <a:r>
              <a:rPr lang="en-US" dirty="0" err="1"/>
              <a:t>personGender</a:t>
            </a:r>
            <a:r>
              <a:rPr lang="en-US" dirty="0"/>
              <a:t>) {</a:t>
            </a:r>
          </a:p>
          <a:p>
            <a:pPr marL="0" indent="0">
              <a:buNone/>
            </a:pPr>
            <a:r>
              <a:rPr lang="en-US" dirty="0"/>
              <a:t>        name = </a:t>
            </a:r>
            <a:r>
              <a:rPr lang="en-US" dirty="0" err="1"/>
              <a:t>personName</a:t>
            </a:r>
            <a:r>
              <a:rPr lang="en-US" dirty="0"/>
              <a:t>;</a:t>
            </a:r>
          </a:p>
          <a:p>
            <a:pPr marL="0" indent="0">
              <a:buNone/>
            </a:pPr>
            <a:r>
              <a:rPr lang="en-US" dirty="0"/>
              <a:t>        age = </a:t>
            </a:r>
            <a:r>
              <a:rPr lang="en-US" dirty="0" err="1"/>
              <a:t>personAge</a:t>
            </a:r>
            <a:r>
              <a:rPr lang="en-US" dirty="0"/>
              <a:t>;</a:t>
            </a:r>
          </a:p>
          <a:p>
            <a:pPr marL="0" indent="0">
              <a:buNone/>
            </a:pPr>
            <a:r>
              <a:rPr lang="en-US" dirty="0"/>
              <a:t>        </a:t>
            </a:r>
            <a:r>
              <a:rPr lang="en-US" dirty="0" err="1"/>
              <a:t>phoneNumber</a:t>
            </a:r>
            <a:r>
              <a:rPr lang="en-US" dirty="0"/>
              <a:t> = </a:t>
            </a:r>
            <a:r>
              <a:rPr lang="en-US" dirty="0" err="1"/>
              <a:t>personPhoneNumber</a:t>
            </a:r>
            <a:r>
              <a:rPr lang="en-US" dirty="0"/>
              <a:t>;</a:t>
            </a:r>
          </a:p>
          <a:p>
            <a:pPr marL="0" indent="0">
              <a:buNone/>
            </a:pPr>
            <a:r>
              <a:rPr lang="en-US" dirty="0"/>
              <a:t>        gender = </a:t>
            </a:r>
            <a:r>
              <a:rPr lang="en-US" dirty="0" err="1"/>
              <a:t>personGender</a:t>
            </a:r>
            <a:r>
              <a:rPr lang="en-US" dirty="0"/>
              <a:t>;</a:t>
            </a:r>
          </a:p>
          <a:p>
            <a:pPr marL="0" indent="0">
              <a:buNone/>
            </a:pPr>
            <a:r>
              <a:rPr lang="en-US" dirty="0"/>
              <a:t>    }</a:t>
            </a:r>
          </a:p>
          <a:p>
            <a:pPr marL="0" indent="0">
              <a:buNone/>
            </a:pPr>
            <a:endParaRPr lang="en-US" dirty="0"/>
          </a:p>
          <a:p>
            <a:pPr marL="0" indent="0">
              <a:buNone/>
            </a:pPr>
            <a:r>
              <a:rPr lang="en-US" dirty="0"/>
              <a:t>    // Getter to display person details</a:t>
            </a:r>
          </a:p>
          <a:p>
            <a:pPr marL="0" indent="0">
              <a:buNone/>
            </a:pPr>
            <a:r>
              <a:rPr lang="en-US" dirty="0"/>
              <a:t>    void </a:t>
            </a:r>
            <a:r>
              <a:rPr lang="en-US" dirty="0" err="1"/>
              <a:t>getDetails</a:t>
            </a:r>
            <a:r>
              <a:rPr lang="en-US" dirty="0"/>
              <a:t>() {</a:t>
            </a:r>
          </a:p>
          <a:p>
            <a:pPr marL="0" indent="0">
              <a:buNone/>
            </a:pPr>
            <a:r>
              <a:rPr lang="en-US" dirty="0"/>
              <a:t>        </a:t>
            </a:r>
            <a:r>
              <a:rPr lang="en-US" dirty="0" err="1"/>
              <a:t>cout</a:t>
            </a:r>
            <a:r>
              <a:rPr lang="en-US" dirty="0"/>
              <a:t> &lt;&lt; "Name: " &lt;&lt; name &lt;&lt; </a:t>
            </a:r>
            <a:r>
              <a:rPr lang="en-US" dirty="0" err="1"/>
              <a:t>endl</a:t>
            </a:r>
            <a:r>
              <a:rPr lang="en-US" dirty="0"/>
              <a:t>;</a:t>
            </a:r>
          </a:p>
          <a:p>
            <a:pPr marL="0" indent="0">
              <a:buNone/>
            </a:pPr>
            <a:r>
              <a:rPr lang="en-US" dirty="0"/>
              <a:t>        </a:t>
            </a:r>
            <a:r>
              <a:rPr lang="en-US" dirty="0" err="1"/>
              <a:t>cout</a:t>
            </a:r>
            <a:r>
              <a:rPr lang="en-US" dirty="0"/>
              <a:t> &lt;&lt; "Age: " &lt;&lt; age &lt;&lt; </a:t>
            </a:r>
            <a:r>
              <a:rPr lang="en-US" dirty="0" err="1"/>
              <a:t>endl</a:t>
            </a:r>
            <a:r>
              <a:rPr lang="en-US" dirty="0"/>
              <a:t>;</a:t>
            </a:r>
          </a:p>
          <a:p>
            <a:pPr marL="0" indent="0">
              <a:buNone/>
            </a:pPr>
            <a:r>
              <a:rPr lang="en-US" dirty="0"/>
              <a:t>        </a:t>
            </a:r>
            <a:r>
              <a:rPr lang="en-US" dirty="0" err="1"/>
              <a:t>cout</a:t>
            </a:r>
            <a:r>
              <a:rPr lang="en-US" dirty="0"/>
              <a:t> &lt;&lt; "Phone Number: " &lt;&lt; </a:t>
            </a:r>
            <a:r>
              <a:rPr lang="en-US" dirty="0" err="1"/>
              <a:t>phoneNumber</a:t>
            </a:r>
            <a:r>
              <a:rPr lang="en-US" dirty="0"/>
              <a:t> &lt;&lt; </a:t>
            </a:r>
            <a:r>
              <a:rPr lang="en-US" dirty="0" err="1"/>
              <a:t>endl</a:t>
            </a:r>
            <a:r>
              <a:rPr lang="en-US" dirty="0"/>
              <a:t>;</a:t>
            </a:r>
          </a:p>
          <a:p>
            <a:pPr marL="0" indent="0">
              <a:buNone/>
            </a:pPr>
            <a:r>
              <a:rPr lang="en-US" dirty="0"/>
              <a:t>        </a:t>
            </a:r>
            <a:r>
              <a:rPr lang="en-US" dirty="0" err="1"/>
              <a:t>cout</a:t>
            </a:r>
            <a:r>
              <a:rPr lang="en-US" dirty="0"/>
              <a:t> &lt;&lt; "Gender: " &lt;&lt; gender &lt;&lt; </a:t>
            </a:r>
            <a:r>
              <a:rPr lang="en-US" dirty="0" err="1"/>
              <a:t>endl</a:t>
            </a:r>
            <a:r>
              <a:rPr lang="en-US" dirty="0"/>
              <a:t>;</a:t>
            </a:r>
          </a:p>
          <a:p>
            <a:pPr marL="0" indent="0">
              <a:buNone/>
            </a:pPr>
            <a:r>
              <a:rPr lang="en-US" dirty="0"/>
              <a:t>    }</a:t>
            </a:r>
          </a:p>
          <a:p>
            <a:pPr marL="0" indent="0">
              <a:buNone/>
            </a:pPr>
            <a:endParaRPr lang="en-US" dirty="0"/>
          </a:p>
          <a:p>
            <a:pPr marL="0" indent="0">
              <a:buNone/>
            </a:pPr>
            <a:r>
              <a:rPr lang="en-US" dirty="0"/>
              <a:t>    </a:t>
            </a:r>
          </a:p>
          <a:p>
            <a:pPr marL="0" indent="0">
              <a:buNone/>
            </a:pPr>
            <a:endParaRPr lang="en-US" dirty="0"/>
          </a:p>
        </p:txBody>
      </p:sp>
      <p:sp>
        <p:nvSpPr>
          <p:cNvPr id="6" name="Content Placeholder 5">
            <a:extLst>
              <a:ext uri="{FF2B5EF4-FFF2-40B4-BE49-F238E27FC236}">
                <a16:creationId xmlns:a16="http://schemas.microsoft.com/office/drawing/2014/main" id="{A24A3365-AE9A-4F97-A9DC-BF1C5175A9B2}"/>
              </a:ext>
            </a:extLst>
          </p:cNvPr>
          <p:cNvSpPr>
            <a:spLocks noGrp="1"/>
          </p:cNvSpPr>
          <p:nvPr>
            <p:ph sz="half" idx="2"/>
          </p:nvPr>
        </p:nvSpPr>
        <p:spPr/>
        <p:txBody>
          <a:bodyPr>
            <a:normAutofit fontScale="25000" lnSpcReduction="20000"/>
          </a:bodyPr>
          <a:lstStyle/>
          <a:p>
            <a:pPr marL="0" indent="0">
              <a:buNone/>
            </a:pPr>
            <a:r>
              <a:rPr lang="en-US" dirty="0"/>
              <a:t>// Member function to simulate walking</a:t>
            </a:r>
          </a:p>
          <a:p>
            <a:pPr marL="0" indent="0">
              <a:buNone/>
            </a:pPr>
            <a:r>
              <a:rPr lang="en-US" dirty="0"/>
              <a:t>    void Walk() {</a:t>
            </a:r>
          </a:p>
          <a:p>
            <a:pPr marL="0" indent="0">
              <a:buNone/>
            </a:pPr>
            <a:r>
              <a:rPr lang="en-US" dirty="0"/>
              <a:t>        </a:t>
            </a:r>
            <a:r>
              <a:rPr lang="en-US" dirty="0" err="1"/>
              <a:t>cout</a:t>
            </a:r>
            <a:r>
              <a:rPr lang="en-US" dirty="0"/>
              <a:t> &lt;&lt; name &lt;&lt; " is walking!" &lt;&lt; </a:t>
            </a:r>
            <a:r>
              <a:rPr lang="en-US" dirty="0" err="1"/>
              <a:t>endl</a:t>
            </a:r>
            <a:r>
              <a:rPr lang="en-US" dirty="0"/>
              <a:t>;</a:t>
            </a:r>
          </a:p>
          <a:p>
            <a:pPr marL="0" indent="0">
              <a:buNone/>
            </a:pPr>
            <a:r>
              <a:rPr lang="en-US" dirty="0"/>
              <a:t>    }</a:t>
            </a:r>
          </a:p>
          <a:p>
            <a:pPr marL="0" indent="0">
              <a:buNone/>
            </a:pPr>
            <a:endParaRPr lang="en-US" dirty="0"/>
          </a:p>
          <a:p>
            <a:pPr marL="0" indent="0">
              <a:buNone/>
            </a:pPr>
            <a:r>
              <a:rPr lang="en-US" dirty="0"/>
              <a:t>    // Member function to simulate talking</a:t>
            </a:r>
          </a:p>
          <a:p>
            <a:pPr marL="0" indent="0">
              <a:buNone/>
            </a:pPr>
            <a:r>
              <a:rPr lang="en-US" dirty="0"/>
              <a:t>    void Talk() {</a:t>
            </a:r>
          </a:p>
          <a:p>
            <a:pPr marL="0" indent="0">
              <a:buNone/>
            </a:pPr>
            <a:r>
              <a:rPr lang="en-US" dirty="0"/>
              <a:t>        </a:t>
            </a:r>
            <a:r>
              <a:rPr lang="en-US" dirty="0" err="1"/>
              <a:t>cout</a:t>
            </a:r>
            <a:r>
              <a:rPr lang="en-US" dirty="0"/>
              <a:t> &lt;&lt; name &lt;&lt; " is talking!" &lt;&lt; </a:t>
            </a:r>
            <a:r>
              <a:rPr lang="en-US" dirty="0" err="1"/>
              <a:t>endl</a:t>
            </a:r>
            <a:r>
              <a:rPr lang="en-US" dirty="0"/>
              <a:t>;</a:t>
            </a:r>
          </a:p>
          <a:p>
            <a:pPr marL="0" indent="0">
              <a:buNone/>
            </a:pPr>
            <a:r>
              <a:rPr lang="en-US" dirty="0"/>
              <a:t>    }</a:t>
            </a:r>
          </a:p>
          <a:p>
            <a:pPr marL="0" indent="0">
              <a:buNone/>
            </a:pPr>
            <a:r>
              <a:rPr lang="en-US" dirty="0"/>
              <a:t>};</a:t>
            </a:r>
          </a:p>
          <a:p>
            <a:pPr marL="0" indent="0">
              <a:buNone/>
            </a:pPr>
            <a:endParaRPr lang="en-US" dirty="0"/>
          </a:p>
          <a:p>
            <a:pPr marL="0" indent="0">
              <a:buNone/>
            </a:pPr>
            <a:r>
              <a:rPr lang="en-US" dirty="0"/>
              <a:t>// Main function to demonstrate the Person class</a:t>
            </a:r>
          </a:p>
          <a:p>
            <a:pPr marL="0" indent="0">
              <a:buNone/>
            </a:pPr>
            <a:r>
              <a:rPr lang="en-US" dirty="0"/>
              <a:t>int main() {</a:t>
            </a:r>
          </a:p>
          <a:p>
            <a:pPr marL="0" indent="0">
              <a:buNone/>
            </a:pPr>
            <a:r>
              <a:rPr lang="en-US" dirty="0"/>
              <a:t>    // Create a Person object</a:t>
            </a:r>
          </a:p>
          <a:p>
            <a:pPr marL="0" indent="0">
              <a:buNone/>
            </a:pPr>
            <a:r>
              <a:rPr lang="en-US" dirty="0"/>
              <a:t>    Person person1("John", 25, "123-456-7890", "Male");</a:t>
            </a:r>
          </a:p>
          <a:p>
            <a:pPr marL="0" indent="0">
              <a:buNone/>
            </a:pPr>
            <a:endParaRPr lang="en-US" dirty="0"/>
          </a:p>
          <a:p>
            <a:pPr marL="0" indent="0">
              <a:buNone/>
            </a:pPr>
            <a:r>
              <a:rPr lang="en-US" dirty="0"/>
              <a:t>    // Display person details</a:t>
            </a:r>
          </a:p>
          <a:p>
            <a:pPr marL="0" indent="0">
              <a:buNone/>
            </a:pPr>
            <a:r>
              <a:rPr lang="en-US" dirty="0"/>
              <a:t>    person1.getDetails();</a:t>
            </a:r>
          </a:p>
          <a:p>
            <a:pPr marL="0" indent="0">
              <a:buNone/>
            </a:pPr>
            <a:endParaRPr lang="en-US" dirty="0"/>
          </a:p>
          <a:p>
            <a:pPr marL="0" indent="0">
              <a:buNone/>
            </a:pPr>
            <a:r>
              <a:rPr lang="en-US" dirty="0"/>
              <a:t>    // Person walking</a:t>
            </a:r>
          </a:p>
          <a:p>
            <a:pPr marL="0" indent="0">
              <a:buNone/>
            </a:pPr>
            <a:r>
              <a:rPr lang="en-US" dirty="0"/>
              <a:t>    person1.Walk();</a:t>
            </a:r>
          </a:p>
          <a:p>
            <a:pPr marL="0" indent="0">
              <a:buNone/>
            </a:pPr>
            <a:endParaRPr lang="en-US" dirty="0"/>
          </a:p>
          <a:p>
            <a:pPr marL="0" indent="0">
              <a:buNone/>
            </a:pPr>
            <a:r>
              <a:rPr lang="en-US" dirty="0"/>
              <a:t>    // Person talking</a:t>
            </a:r>
          </a:p>
          <a:p>
            <a:pPr marL="0" indent="0">
              <a:buNone/>
            </a:pPr>
            <a:r>
              <a:rPr lang="en-US" dirty="0"/>
              <a:t>    person1.Talk();</a:t>
            </a:r>
          </a:p>
          <a:p>
            <a:pPr marL="0" indent="0">
              <a:buNone/>
            </a:pPr>
            <a:endParaRPr lang="en-US" dirty="0"/>
          </a:p>
          <a:p>
            <a:pPr marL="0" indent="0">
              <a:buNone/>
            </a:pPr>
            <a:r>
              <a:rPr lang="en-US" dirty="0"/>
              <a:t>    return 0;</a:t>
            </a:r>
          </a:p>
          <a:p>
            <a:pPr marL="0" indent="0">
              <a:buNone/>
            </a:pPr>
            <a:r>
              <a:rPr lang="en-US" dirty="0"/>
              <a:t>}</a:t>
            </a:r>
          </a:p>
          <a:p>
            <a:pPr marL="0" indent="0">
              <a:buNone/>
            </a:pPr>
            <a:endParaRPr lang="en-US" dirty="0"/>
          </a:p>
        </p:txBody>
      </p:sp>
    </p:spTree>
    <p:extLst>
      <p:ext uri="{BB962C8B-B14F-4D97-AF65-F5344CB8AC3E}">
        <p14:creationId xmlns:p14="http://schemas.microsoft.com/office/powerpoint/2010/main" val="141545471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D57B48-ACD8-4A02-83D2-36E534AB989E}"/>
              </a:ext>
            </a:extLst>
          </p:cNvPr>
          <p:cNvSpPr>
            <a:spLocks noGrp="1"/>
          </p:cNvSpPr>
          <p:nvPr>
            <p:ph type="title"/>
          </p:nvPr>
        </p:nvSpPr>
        <p:spPr/>
        <p:txBody>
          <a:bodyPr>
            <a:normAutofit/>
          </a:bodyPr>
          <a:lstStyle/>
          <a:p>
            <a:r>
              <a:rPr lang="en-US" dirty="0"/>
              <a:t>Employee Example</a:t>
            </a:r>
          </a:p>
        </p:txBody>
      </p:sp>
      <p:sp>
        <p:nvSpPr>
          <p:cNvPr id="3" name="Content Placeholder 2">
            <a:extLst>
              <a:ext uri="{FF2B5EF4-FFF2-40B4-BE49-F238E27FC236}">
                <a16:creationId xmlns:a16="http://schemas.microsoft.com/office/drawing/2014/main" id="{EA775C75-1F82-4376-B101-3E1B0AA8DDEA}"/>
              </a:ext>
            </a:extLst>
          </p:cNvPr>
          <p:cNvSpPr>
            <a:spLocks noGrp="1"/>
          </p:cNvSpPr>
          <p:nvPr>
            <p:ph sz="half" idx="1"/>
          </p:nvPr>
        </p:nvSpPr>
        <p:spPr/>
        <p:txBody>
          <a:bodyPr>
            <a:normAutofit fontScale="32500" lnSpcReduction="20000"/>
          </a:bodyPr>
          <a:lstStyle/>
          <a:p>
            <a:pPr marL="0" indent="0">
              <a:buNone/>
              <a:defRPr sz="1200"/>
            </a:pPr>
            <a:r>
              <a:rPr lang="en-US" sz="1900" dirty="0"/>
              <a:t>#include &lt;iostream&gt;</a:t>
            </a:r>
          </a:p>
          <a:p>
            <a:pPr marL="0" indent="0">
              <a:buNone/>
              <a:defRPr sz="1200"/>
            </a:pPr>
            <a:r>
              <a:rPr lang="en-US" sz="1900" dirty="0"/>
              <a:t>#include &lt;string&gt;</a:t>
            </a:r>
          </a:p>
          <a:p>
            <a:pPr marL="0" indent="0">
              <a:buNone/>
              <a:defRPr sz="1200"/>
            </a:pPr>
            <a:r>
              <a:rPr lang="en-US" sz="1900" dirty="0"/>
              <a:t>using namespace std;</a:t>
            </a:r>
          </a:p>
          <a:p>
            <a:pPr marL="0" indent="0">
              <a:buNone/>
              <a:defRPr sz="1200"/>
            </a:pPr>
            <a:endParaRPr lang="en-US" sz="1900" dirty="0"/>
          </a:p>
          <a:p>
            <a:pPr marL="0" indent="0">
              <a:buNone/>
              <a:defRPr sz="1200"/>
            </a:pPr>
            <a:r>
              <a:rPr lang="en-US" sz="1900" dirty="0"/>
              <a:t>// Employee Class Definition</a:t>
            </a:r>
          </a:p>
          <a:p>
            <a:pPr marL="0" indent="0">
              <a:buNone/>
              <a:defRPr sz="1200"/>
            </a:pPr>
            <a:r>
              <a:rPr lang="en-US" sz="1900" dirty="0"/>
              <a:t>class Employee {</a:t>
            </a:r>
          </a:p>
          <a:p>
            <a:pPr marL="0" indent="0">
              <a:buNone/>
              <a:defRPr sz="1200"/>
            </a:pPr>
            <a:r>
              <a:rPr lang="en-US" sz="1900" dirty="0"/>
              <a:t>private:</a:t>
            </a:r>
          </a:p>
          <a:p>
            <a:pPr marL="0" indent="0">
              <a:buNone/>
              <a:defRPr sz="1200"/>
            </a:pPr>
            <a:r>
              <a:rPr lang="en-US" sz="1900" dirty="0"/>
              <a:t>    // Attributes (data members)</a:t>
            </a:r>
          </a:p>
          <a:p>
            <a:pPr marL="0" indent="0">
              <a:buNone/>
              <a:defRPr sz="1200"/>
            </a:pPr>
            <a:r>
              <a:rPr lang="en-US" sz="1900" dirty="0"/>
              <a:t>    int id;</a:t>
            </a:r>
          </a:p>
          <a:p>
            <a:pPr marL="0" indent="0">
              <a:buNone/>
              <a:defRPr sz="1200"/>
            </a:pPr>
            <a:r>
              <a:rPr lang="en-US" sz="1900" dirty="0"/>
              <a:t>    string name;</a:t>
            </a:r>
          </a:p>
          <a:p>
            <a:pPr marL="0" indent="0">
              <a:buNone/>
              <a:defRPr sz="1200"/>
            </a:pPr>
            <a:r>
              <a:rPr lang="en-US" sz="1900" dirty="0"/>
              <a:t>    double salary;</a:t>
            </a:r>
          </a:p>
          <a:p>
            <a:pPr marL="0" indent="0">
              <a:buNone/>
              <a:defRPr sz="1200"/>
            </a:pPr>
            <a:r>
              <a:rPr lang="en-US" sz="1900" dirty="0"/>
              <a:t>    bool attendance;</a:t>
            </a:r>
          </a:p>
          <a:p>
            <a:pPr marL="0" indent="0">
              <a:buNone/>
              <a:defRPr sz="1200"/>
            </a:pPr>
            <a:endParaRPr lang="en-US" sz="1900" dirty="0"/>
          </a:p>
          <a:p>
            <a:pPr marL="0" indent="0">
              <a:buNone/>
              <a:defRPr sz="1200"/>
            </a:pPr>
            <a:r>
              <a:rPr lang="en-US" sz="1900" dirty="0"/>
              <a:t>public:</a:t>
            </a:r>
          </a:p>
          <a:p>
            <a:pPr marL="0" indent="0">
              <a:buNone/>
              <a:defRPr sz="1200"/>
            </a:pPr>
            <a:r>
              <a:rPr lang="en-US" sz="1900" dirty="0"/>
              <a:t>    // Constructor to initialize employee details</a:t>
            </a:r>
          </a:p>
          <a:p>
            <a:pPr marL="0" indent="0">
              <a:buNone/>
              <a:defRPr sz="1200"/>
            </a:pPr>
            <a:r>
              <a:rPr lang="en-US" sz="1900" dirty="0"/>
              <a:t>    Employee(int </a:t>
            </a:r>
            <a:r>
              <a:rPr lang="en-US" sz="1900" dirty="0" err="1"/>
              <a:t>empId</a:t>
            </a:r>
            <a:r>
              <a:rPr lang="en-US" sz="1900" dirty="0"/>
              <a:t>, string </a:t>
            </a:r>
            <a:r>
              <a:rPr lang="en-US" sz="1900" dirty="0" err="1"/>
              <a:t>empName</a:t>
            </a:r>
            <a:r>
              <a:rPr lang="en-US" sz="1900" dirty="0"/>
              <a:t>, double </a:t>
            </a:r>
            <a:r>
              <a:rPr lang="en-US" sz="1900" dirty="0" err="1"/>
              <a:t>empSalary</a:t>
            </a:r>
            <a:r>
              <a:rPr lang="en-US" sz="1900" dirty="0"/>
              <a:t>) {</a:t>
            </a:r>
          </a:p>
          <a:p>
            <a:pPr marL="0" indent="0">
              <a:buNone/>
              <a:defRPr sz="1200"/>
            </a:pPr>
            <a:r>
              <a:rPr lang="en-US" sz="1900" dirty="0"/>
              <a:t>        id = </a:t>
            </a:r>
            <a:r>
              <a:rPr lang="en-US" sz="1900" dirty="0" err="1"/>
              <a:t>empId</a:t>
            </a:r>
            <a:r>
              <a:rPr lang="en-US" sz="1900" dirty="0"/>
              <a:t>;</a:t>
            </a:r>
          </a:p>
          <a:p>
            <a:pPr marL="0" indent="0">
              <a:buNone/>
              <a:defRPr sz="1200"/>
            </a:pPr>
            <a:r>
              <a:rPr lang="en-US" sz="1900" dirty="0"/>
              <a:t>        name = </a:t>
            </a:r>
            <a:r>
              <a:rPr lang="en-US" sz="1900" dirty="0" err="1"/>
              <a:t>empName</a:t>
            </a:r>
            <a:r>
              <a:rPr lang="en-US" sz="1900" dirty="0"/>
              <a:t>;</a:t>
            </a:r>
          </a:p>
          <a:p>
            <a:pPr marL="0" indent="0">
              <a:buNone/>
              <a:defRPr sz="1200"/>
            </a:pPr>
            <a:r>
              <a:rPr lang="en-US" sz="1900" dirty="0"/>
              <a:t>        salary = </a:t>
            </a:r>
            <a:r>
              <a:rPr lang="en-US" sz="1900" dirty="0" err="1"/>
              <a:t>empSalary</a:t>
            </a:r>
            <a:r>
              <a:rPr lang="en-US" sz="1900" dirty="0"/>
              <a:t>;</a:t>
            </a:r>
          </a:p>
          <a:p>
            <a:pPr marL="0" indent="0">
              <a:buNone/>
              <a:defRPr sz="1200"/>
            </a:pPr>
            <a:r>
              <a:rPr lang="en-US" sz="1900" dirty="0"/>
              <a:t>        attendance = false;  // Initially, attendance is false</a:t>
            </a:r>
          </a:p>
          <a:p>
            <a:pPr marL="0" indent="0">
              <a:buNone/>
              <a:defRPr sz="1200"/>
            </a:pPr>
            <a:r>
              <a:rPr lang="en-US" sz="1900" dirty="0"/>
              <a:t>    }</a:t>
            </a:r>
          </a:p>
          <a:p>
            <a:pPr marL="0" indent="0">
              <a:buNone/>
              <a:defRPr sz="1200"/>
            </a:pPr>
            <a:endParaRPr lang="en-US" sz="1900" dirty="0"/>
          </a:p>
          <a:p>
            <a:pPr marL="0" indent="0">
              <a:buNone/>
              <a:defRPr sz="1200"/>
            </a:pPr>
            <a:r>
              <a:rPr lang="en-US" sz="1900" dirty="0"/>
              <a:t>    // Setter to set employee details (if needed)</a:t>
            </a:r>
          </a:p>
          <a:p>
            <a:pPr marL="0" indent="0">
              <a:buNone/>
              <a:defRPr sz="1200"/>
            </a:pPr>
            <a:r>
              <a:rPr lang="en-US" sz="1900" dirty="0"/>
              <a:t>    void </a:t>
            </a:r>
            <a:r>
              <a:rPr lang="en-US" sz="1900" dirty="0" err="1"/>
              <a:t>setDetails</a:t>
            </a:r>
            <a:r>
              <a:rPr lang="en-US" sz="1900" dirty="0"/>
              <a:t>(int </a:t>
            </a:r>
            <a:r>
              <a:rPr lang="en-US" sz="1900" dirty="0" err="1"/>
              <a:t>empId</a:t>
            </a:r>
            <a:r>
              <a:rPr lang="en-US" sz="1900" dirty="0"/>
              <a:t>, string </a:t>
            </a:r>
            <a:r>
              <a:rPr lang="en-US" sz="1900" dirty="0" err="1"/>
              <a:t>empName</a:t>
            </a:r>
            <a:r>
              <a:rPr lang="en-US" sz="1900" dirty="0"/>
              <a:t>, double </a:t>
            </a:r>
            <a:r>
              <a:rPr lang="en-US" sz="1900" dirty="0" err="1"/>
              <a:t>empSalary</a:t>
            </a:r>
            <a:r>
              <a:rPr lang="en-US" sz="1900" dirty="0"/>
              <a:t>) {</a:t>
            </a:r>
          </a:p>
          <a:p>
            <a:pPr marL="0" indent="0">
              <a:buNone/>
              <a:defRPr sz="1200"/>
            </a:pPr>
            <a:r>
              <a:rPr lang="en-US" sz="1900" dirty="0"/>
              <a:t>        id = </a:t>
            </a:r>
            <a:r>
              <a:rPr lang="en-US" sz="1900" dirty="0" err="1"/>
              <a:t>empId</a:t>
            </a:r>
            <a:r>
              <a:rPr lang="en-US" sz="1900" dirty="0"/>
              <a:t>;</a:t>
            </a:r>
          </a:p>
          <a:p>
            <a:pPr marL="0" indent="0">
              <a:buNone/>
              <a:defRPr sz="1200"/>
            </a:pPr>
            <a:r>
              <a:rPr lang="en-US" sz="1900" dirty="0"/>
              <a:t>        name = </a:t>
            </a:r>
            <a:r>
              <a:rPr lang="en-US" sz="1900" dirty="0" err="1"/>
              <a:t>empName</a:t>
            </a:r>
            <a:r>
              <a:rPr lang="en-US" sz="1900" dirty="0"/>
              <a:t>;</a:t>
            </a:r>
          </a:p>
          <a:p>
            <a:pPr marL="0" indent="0">
              <a:buNone/>
              <a:defRPr sz="1200"/>
            </a:pPr>
            <a:r>
              <a:rPr lang="en-US" sz="1900" dirty="0"/>
              <a:t>        salary = </a:t>
            </a:r>
            <a:r>
              <a:rPr lang="en-US" sz="1900" dirty="0" err="1"/>
              <a:t>empSalary</a:t>
            </a:r>
            <a:r>
              <a:rPr lang="en-US" sz="1900" dirty="0"/>
              <a:t>;</a:t>
            </a:r>
          </a:p>
          <a:p>
            <a:pPr marL="0" indent="0">
              <a:buNone/>
              <a:defRPr sz="1200"/>
            </a:pPr>
            <a:r>
              <a:rPr lang="en-US" sz="1900" dirty="0"/>
              <a:t>    }</a:t>
            </a:r>
          </a:p>
          <a:p>
            <a:pPr marL="0" indent="0">
              <a:buNone/>
              <a:defRPr sz="1200"/>
            </a:pPr>
            <a:endParaRPr lang="en-US" sz="1900" dirty="0"/>
          </a:p>
          <a:p>
            <a:pPr marL="0" indent="0">
              <a:buNone/>
              <a:defRPr sz="1200"/>
            </a:pPr>
            <a:r>
              <a:rPr lang="en-US" sz="1900" dirty="0"/>
              <a:t>    // Getter to display employee details</a:t>
            </a:r>
          </a:p>
          <a:p>
            <a:pPr marL="0" indent="0">
              <a:buNone/>
              <a:defRPr sz="1200"/>
            </a:pPr>
            <a:r>
              <a:rPr lang="en-US" sz="1900" dirty="0"/>
              <a:t>    void </a:t>
            </a:r>
            <a:r>
              <a:rPr lang="en-US" sz="1900" dirty="0" err="1"/>
              <a:t>getDetails</a:t>
            </a:r>
            <a:r>
              <a:rPr lang="en-US" sz="1900" dirty="0"/>
              <a:t>() {</a:t>
            </a:r>
          </a:p>
          <a:p>
            <a:pPr marL="0" indent="0">
              <a:buNone/>
              <a:defRPr sz="1200"/>
            </a:pPr>
            <a:r>
              <a:rPr lang="en-US" sz="1900" dirty="0"/>
              <a:t>        </a:t>
            </a:r>
            <a:r>
              <a:rPr lang="en-US" sz="1900" dirty="0" err="1"/>
              <a:t>cout</a:t>
            </a:r>
            <a:r>
              <a:rPr lang="en-US" sz="1900" dirty="0"/>
              <a:t> &lt;&lt; "Employee ID: " &lt;&lt; id &lt;&lt; </a:t>
            </a:r>
            <a:r>
              <a:rPr lang="en-US" sz="1900" dirty="0" err="1"/>
              <a:t>endl</a:t>
            </a:r>
            <a:r>
              <a:rPr lang="en-US" sz="1900" dirty="0"/>
              <a:t>;</a:t>
            </a:r>
          </a:p>
          <a:p>
            <a:pPr marL="0" indent="0">
              <a:buNone/>
              <a:defRPr sz="1200"/>
            </a:pPr>
            <a:r>
              <a:rPr lang="en-US" sz="1900" dirty="0"/>
              <a:t>        </a:t>
            </a:r>
            <a:r>
              <a:rPr lang="en-US" sz="1900" dirty="0" err="1"/>
              <a:t>cout</a:t>
            </a:r>
            <a:r>
              <a:rPr lang="en-US" sz="1900" dirty="0"/>
              <a:t> &lt;&lt; "Employee Name: " &lt;&lt; name &lt;&lt; </a:t>
            </a:r>
            <a:r>
              <a:rPr lang="en-US" sz="1900" dirty="0" err="1"/>
              <a:t>endl</a:t>
            </a:r>
            <a:r>
              <a:rPr lang="en-US" sz="1900" dirty="0"/>
              <a:t>;</a:t>
            </a:r>
          </a:p>
          <a:p>
            <a:pPr marL="0" indent="0">
              <a:buNone/>
              <a:defRPr sz="1200"/>
            </a:pPr>
            <a:r>
              <a:rPr lang="en-US" sz="1900" dirty="0"/>
              <a:t>        </a:t>
            </a:r>
            <a:r>
              <a:rPr lang="en-US" sz="1900" dirty="0" err="1"/>
              <a:t>cout</a:t>
            </a:r>
            <a:r>
              <a:rPr lang="en-US" sz="1900" dirty="0"/>
              <a:t> &lt;&lt; "Employee Salary: $" &lt;&lt; salary &lt;&lt; </a:t>
            </a:r>
            <a:r>
              <a:rPr lang="en-US" sz="1900" dirty="0" err="1"/>
              <a:t>endl</a:t>
            </a:r>
            <a:r>
              <a:rPr lang="en-US" sz="1900" dirty="0"/>
              <a:t>;</a:t>
            </a:r>
          </a:p>
          <a:p>
            <a:pPr marL="0" indent="0">
              <a:buNone/>
              <a:defRPr sz="1200"/>
            </a:pPr>
            <a:r>
              <a:rPr lang="en-US" sz="1900" dirty="0"/>
              <a:t>        </a:t>
            </a:r>
            <a:r>
              <a:rPr lang="en-US" sz="1900" dirty="0" err="1"/>
              <a:t>cout</a:t>
            </a:r>
            <a:r>
              <a:rPr lang="en-US" sz="1900" dirty="0"/>
              <a:t> &lt;&lt; "Attendance Status: " &lt;&lt; (attendance ? "Present" : "Absent") &lt;&lt; </a:t>
            </a:r>
            <a:r>
              <a:rPr lang="en-US" sz="1900" dirty="0" err="1"/>
              <a:t>endl</a:t>
            </a:r>
            <a:r>
              <a:rPr lang="en-US" sz="1900" dirty="0"/>
              <a:t>;</a:t>
            </a:r>
          </a:p>
          <a:p>
            <a:pPr marL="0" indent="0">
              <a:buNone/>
              <a:defRPr sz="1200"/>
            </a:pPr>
            <a:r>
              <a:rPr lang="en-US" sz="1900" dirty="0"/>
              <a:t>    }</a:t>
            </a:r>
          </a:p>
          <a:p>
            <a:pPr marL="0" indent="0">
              <a:buNone/>
              <a:defRPr sz="1200"/>
            </a:pPr>
            <a:endParaRPr lang="en-US" sz="1900" dirty="0"/>
          </a:p>
          <a:p>
            <a:pPr marL="0" indent="0">
              <a:buNone/>
              <a:defRPr sz="1200"/>
            </a:pPr>
            <a:r>
              <a:rPr lang="en-US" sz="1900" dirty="0"/>
              <a:t>    // Member function to simulate the employee working</a:t>
            </a:r>
          </a:p>
          <a:p>
            <a:pPr marL="0" indent="0">
              <a:buNone/>
              <a:defRPr sz="1200"/>
            </a:pPr>
            <a:r>
              <a:rPr lang="en-US" sz="1900" dirty="0"/>
              <a:t>    void Work() {</a:t>
            </a:r>
          </a:p>
          <a:p>
            <a:pPr marL="0" indent="0">
              <a:buNone/>
              <a:defRPr sz="1200"/>
            </a:pPr>
            <a:r>
              <a:rPr lang="en-US" sz="1900" dirty="0"/>
              <a:t>        </a:t>
            </a:r>
            <a:r>
              <a:rPr lang="en-US" sz="1900" dirty="0" err="1"/>
              <a:t>cout</a:t>
            </a:r>
            <a:r>
              <a:rPr lang="en-US" sz="1900" dirty="0"/>
              <a:t> &lt;&lt; name &lt;&lt; " is working!" &lt;&lt; </a:t>
            </a:r>
            <a:r>
              <a:rPr lang="en-US" sz="1900" dirty="0" err="1"/>
              <a:t>endl</a:t>
            </a:r>
            <a:r>
              <a:rPr lang="en-US" sz="1900" dirty="0"/>
              <a:t>;</a:t>
            </a:r>
          </a:p>
          <a:p>
            <a:pPr marL="0" indent="0">
              <a:buNone/>
              <a:defRPr sz="1200"/>
            </a:pPr>
            <a:r>
              <a:rPr lang="en-US" sz="1900" dirty="0"/>
              <a:t>    }</a:t>
            </a:r>
          </a:p>
          <a:p>
            <a:pPr marL="0" indent="0">
              <a:buNone/>
              <a:defRPr sz="1200"/>
            </a:pPr>
            <a:endParaRPr lang="en-US" sz="1900" dirty="0"/>
          </a:p>
          <a:p>
            <a:pPr marL="0" indent="0">
              <a:buNone/>
              <a:defRPr sz="1200"/>
            </a:pPr>
            <a:r>
              <a:rPr lang="en-US" sz="1900" dirty="0"/>
              <a:t>    // Member function to mark attendance</a:t>
            </a:r>
          </a:p>
          <a:p>
            <a:pPr marL="0" indent="0">
              <a:buNone/>
              <a:defRPr sz="1200"/>
            </a:pPr>
            <a:r>
              <a:rPr lang="en-US" sz="1900" dirty="0"/>
              <a:t>    void </a:t>
            </a:r>
            <a:r>
              <a:rPr lang="en-US" sz="1900" dirty="0" err="1"/>
              <a:t>MarkAttendance</a:t>
            </a:r>
            <a:r>
              <a:rPr lang="en-US" sz="1900" dirty="0"/>
              <a:t>() {</a:t>
            </a:r>
          </a:p>
          <a:p>
            <a:pPr marL="0" indent="0">
              <a:buNone/>
              <a:defRPr sz="1200"/>
            </a:pPr>
            <a:r>
              <a:rPr lang="en-US" sz="1900" dirty="0"/>
              <a:t>        attendance = true;  // Marking the employee as present</a:t>
            </a:r>
          </a:p>
          <a:p>
            <a:pPr marL="0" indent="0">
              <a:buNone/>
              <a:defRPr sz="1200"/>
            </a:pPr>
            <a:r>
              <a:rPr lang="en-US" sz="1900" dirty="0"/>
              <a:t>        </a:t>
            </a:r>
            <a:r>
              <a:rPr lang="en-US" sz="1900" dirty="0" err="1"/>
              <a:t>cout</a:t>
            </a:r>
            <a:r>
              <a:rPr lang="en-US" sz="1900" dirty="0"/>
              <a:t> &lt;&lt; name &lt;&lt; " has marked their attendance." &lt;&lt; </a:t>
            </a:r>
            <a:r>
              <a:rPr lang="en-US" sz="1900" dirty="0" err="1"/>
              <a:t>endl</a:t>
            </a:r>
            <a:r>
              <a:rPr lang="en-US" sz="1900" dirty="0"/>
              <a:t>;</a:t>
            </a:r>
          </a:p>
          <a:p>
            <a:pPr marL="0" indent="0">
              <a:buNone/>
              <a:defRPr sz="1200"/>
            </a:pPr>
            <a:r>
              <a:rPr lang="en-US" sz="1900" dirty="0"/>
              <a:t>    }</a:t>
            </a:r>
          </a:p>
          <a:p>
            <a:pPr marL="0" indent="0">
              <a:buNone/>
              <a:defRPr sz="1200"/>
            </a:pPr>
            <a:r>
              <a:rPr lang="en-US" sz="1900" dirty="0"/>
              <a:t>};</a:t>
            </a:r>
          </a:p>
        </p:txBody>
      </p:sp>
      <p:sp>
        <p:nvSpPr>
          <p:cNvPr id="4" name="Content Placeholder 3">
            <a:extLst>
              <a:ext uri="{FF2B5EF4-FFF2-40B4-BE49-F238E27FC236}">
                <a16:creationId xmlns:a16="http://schemas.microsoft.com/office/drawing/2014/main" id="{752344C3-5FEB-4F41-9632-89061BB7CC51}"/>
              </a:ext>
            </a:extLst>
          </p:cNvPr>
          <p:cNvSpPr>
            <a:spLocks noGrp="1"/>
          </p:cNvSpPr>
          <p:nvPr>
            <p:ph sz="half" idx="2"/>
          </p:nvPr>
        </p:nvSpPr>
        <p:spPr/>
        <p:txBody>
          <a:bodyPr/>
          <a:lstStyle/>
          <a:p>
            <a:pPr marL="0" indent="0">
              <a:buNone/>
              <a:defRPr sz="1200"/>
            </a:pPr>
            <a:r>
              <a:rPr lang="en-US" dirty="0"/>
              <a:t>// Main function to demonstrate the Employee class</a:t>
            </a:r>
          </a:p>
          <a:p>
            <a:pPr marL="0" indent="0">
              <a:buNone/>
              <a:defRPr sz="1200"/>
            </a:pPr>
            <a:r>
              <a:rPr lang="en-US" dirty="0"/>
              <a:t>int main() {</a:t>
            </a:r>
          </a:p>
          <a:p>
            <a:pPr marL="0" indent="0">
              <a:buNone/>
              <a:defRPr sz="1200"/>
            </a:pPr>
            <a:r>
              <a:rPr lang="en-US" dirty="0"/>
              <a:t>    // Create an Employee object</a:t>
            </a:r>
          </a:p>
          <a:p>
            <a:pPr marL="0" indent="0">
              <a:buNone/>
              <a:defRPr sz="1200"/>
            </a:pPr>
            <a:r>
              <a:rPr lang="en-US" dirty="0"/>
              <a:t>    Employee emp1(101, "Alice", 5000.00);</a:t>
            </a:r>
          </a:p>
          <a:p>
            <a:pPr marL="0" indent="0">
              <a:buNone/>
              <a:defRPr sz="1200"/>
            </a:pPr>
            <a:endParaRPr lang="en-US" dirty="0"/>
          </a:p>
          <a:p>
            <a:pPr marL="0" indent="0">
              <a:buNone/>
              <a:defRPr sz="1200"/>
            </a:pPr>
            <a:r>
              <a:rPr lang="en-US" dirty="0"/>
              <a:t>    // Display employee details</a:t>
            </a:r>
          </a:p>
          <a:p>
            <a:pPr marL="0" indent="0">
              <a:buNone/>
              <a:defRPr sz="1200"/>
            </a:pPr>
            <a:r>
              <a:rPr lang="en-US" dirty="0"/>
              <a:t>    emp1.getDetails();</a:t>
            </a:r>
          </a:p>
          <a:p>
            <a:pPr marL="0" indent="0">
              <a:buNone/>
              <a:defRPr sz="1200"/>
            </a:pPr>
            <a:endParaRPr lang="en-US" dirty="0"/>
          </a:p>
          <a:p>
            <a:pPr marL="0" indent="0">
              <a:buNone/>
              <a:defRPr sz="1200"/>
            </a:pPr>
            <a:r>
              <a:rPr lang="en-US" dirty="0"/>
              <a:t>    // Employee working</a:t>
            </a:r>
          </a:p>
          <a:p>
            <a:pPr marL="0" indent="0">
              <a:buNone/>
              <a:defRPr sz="1200"/>
            </a:pPr>
            <a:r>
              <a:rPr lang="en-US" dirty="0"/>
              <a:t>    emp1.Work();</a:t>
            </a:r>
          </a:p>
          <a:p>
            <a:pPr marL="0" indent="0">
              <a:buNone/>
              <a:defRPr sz="1200"/>
            </a:pPr>
            <a:endParaRPr lang="en-US" dirty="0"/>
          </a:p>
          <a:p>
            <a:pPr marL="0" indent="0">
              <a:buNone/>
              <a:defRPr sz="1200"/>
            </a:pPr>
            <a:r>
              <a:rPr lang="en-US" dirty="0"/>
              <a:t>    // Mark attendance</a:t>
            </a:r>
          </a:p>
          <a:p>
            <a:pPr marL="0" indent="0">
              <a:buNone/>
              <a:defRPr sz="1200"/>
            </a:pPr>
            <a:r>
              <a:rPr lang="en-US" dirty="0"/>
              <a:t>    emp1.MarkAttendance();</a:t>
            </a:r>
          </a:p>
          <a:p>
            <a:pPr marL="0" indent="0">
              <a:buNone/>
              <a:defRPr sz="1200"/>
            </a:pPr>
            <a:endParaRPr lang="en-US" dirty="0"/>
          </a:p>
          <a:p>
            <a:pPr marL="0" indent="0">
              <a:buNone/>
              <a:defRPr sz="1200"/>
            </a:pPr>
            <a:r>
              <a:rPr lang="en-US" dirty="0"/>
              <a:t>    // Display updated employee details after marking attendance</a:t>
            </a:r>
          </a:p>
          <a:p>
            <a:pPr marL="0" indent="0">
              <a:buNone/>
              <a:defRPr sz="1200"/>
            </a:pPr>
            <a:r>
              <a:rPr lang="en-US" dirty="0"/>
              <a:t>    emp1.getDetails();</a:t>
            </a:r>
          </a:p>
          <a:p>
            <a:pPr marL="0" indent="0">
              <a:buNone/>
              <a:defRPr sz="1200"/>
            </a:pPr>
            <a:endParaRPr lang="en-US" dirty="0"/>
          </a:p>
          <a:p>
            <a:pPr marL="0" indent="0">
              <a:buNone/>
              <a:defRPr sz="1200"/>
            </a:pPr>
            <a:r>
              <a:rPr lang="en-US" dirty="0"/>
              <a:t>    return 0;</a:t>
            </a:r>
          </a:p>
          <a:p>
            <a:pPr marL="0" indent="0">
              <a:buNone/>
              <a:defRPr sz="1200"/>
            </a:pPr>
            <a:r>
              <a:rPr lang="en-US" dirty="0"/>
              <a:t>}</a:t>
            </a:r>
          </a:p>
          <a:p>
            <a:endParaRPr lang="en-US" dirty="0"/>
          </a:p>
        </p:txBody>
      </p:sp>
    </p:spTree>
    <p:extLst>
      <p:ext uri="{BB962C8B-B14F-4D97-AF65-F5344CB8AC3E}">
        <p14:creationId xmlns:p14="http://schemas.microsoft.com/office/powerpoint/2010/main" val="82751715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CE53F2-6CD4-4E8A-8C6E-0EA31195E57E}"/>
              </a:ext>
            </a:extLst>
          </p:cNvPr>
          <p:cNvSpPr>
            <a:spLocks noGrp="1"/>
          </p:cNvSpPr>
          <p:nvPr>
            <p:ph type="title"/>
          </p:nvPr>
        </p:nvSpPr>
        <p:spPr/>
        <p:txBody>
          <a:bodyPr/>
          <a:lstStyle/>
          <a:p>
            <a:r>
              <a:rPr lang="en-US" dirty="0"/>
              <a:t>Car Example</a:t>
            </a:r>
          </a:p>
        </p:txBody>
      </p:sp>
      <p:sp>
        <p:nvSpPr>
          <p:cNvPr id="3" name="Content Placeholder 2">
            <a:extLst>
              <a:ext uri="{FF2B5EF4-FFF2-40B4-BE49-F238E27FC236}">
                <a16:creationId xmlns:a16="http://schemas.microsoft.com/office/drawing/2014/main" id="{4FDCF836-267E-48C3-B883-6790F8D6893E}"/>
              </a:ext>
            </a:extLst>
          </p:cNvPr>
          <p:cNvSpPr>
            <a:spLocks noGrp="1"/>
          </p:cNvSpPr>
          <p:nvPr>
            <p:ph sz="half" idx="1"/>
          </p:nvPr>
        </p:nvSpPr>
        <p:spPr/>
        <p:txBody>
          <a:bodyPr>
            <a:normAutofit fontScale="25000" lnSpcReduction="20000"/>
          </a:bodyPr>
          <a:lstStyle/>
          <a:p>
            <a:pPr marL="0" indent="0">
              <a:buNone/>
            </a:pPr>
            <a:r>
              <a:rPr lang="en-US" dirty="0"/>
              <a:t>#include &lt;iostream&gt;</a:t>
            </a:r>
          </a:p>
          <a:p>
            <a:pPr marL="0" indent="0">
              <a:buNone/>
            </a:pPr>
            <a:r>
              <a:rPr lang="en-US" dirty="0"/>
              <a:t>using namespace std;</a:t>
            </a:r>
          </a:p>
          <a:p>
            <a:pPr marL="0" indent="0">
              <a:buNone/>
            </a:pPr>
            <a:endParaRPr lang="en-US" dirty="0"/>
          </a:p>
          <a:p>
            <a:pPr marL="0" indent="0">
              <a:buNone/>
            </a:pPr>
            <a:r>
              <a:rPr lang="en-US" dirty="0"/>
              <a:t>// Car Class Definition</a:t>
            </a:r>
          </a:p>
          <a:p>
            <a:pPr marL="0" indent="0">
              <a:buNone/>
            </a:pPr>
            <a:r>
              <a:rPr lang="en-US" dirty="0"/>
              <a:t>class Car {</a:t>
            </a:r>
          </a:p>
          <a:p>
            <a:pPr marL="0" indent="0">
              <a:buNone/>
            </a:pPr>
            <a:r>
              <a:rPr lang="en-US" dirty="0"/>
              <a:t>private:</a:t>
            </a:r>
          </a:p>
          <a:p>
            <a:pPr marL="0" indent="0">
              <a:buNone/>
            </a:pPr>
            <a:r>
              <a:rPr lang="en-US" dirty="0"/>
              <a:t>    // Attributes (data members)</a:t>
            </a:r>
          </a:p>
          <a:p>
            <a:pPr marL="0" indent="0">
              <a:buNone/>
            </a:pPr>
            <a:r>
              <a:rPr lang="en-US" dirty="0"/>
              <a:t>    string model;</a:t>
            </a:r>
          </a:p>
          <a:p>
            <a:pPr marL="0" indent="0">
              <a:buNone/>
            </a:pPr>
            <a:r>
              <a:rPr lang="en-US" dirty="0"/>
              <a:t>    string make;</a:t>
            </a:r>
          </a:p>
          <a:p>
            <a:pPr marL="0" indent="0">
              <a:buNone/>
            </a:pPr>
            <a:r>
              <a:rPr lang="en-US" dirty="0"/>
              <a:t>    int year;</a:t>
            </a:r>
          </a:p>
          <a:p>
            <a:pPr marL="0" indent="0">
              <a:buNone/>
            </a:pPr>
            <a:r>
              <a:rPr lang="en-US" dirty="0"/>
              <a:t>    int speed;</a:t>
            </a:r>
          </a:p>
          <a:p>
            <a:pPr marL="0" indent="0">
              <a:buNone/>
            </a:pPr>
            <a:endParaRPr lang="en-US" dirty="0"/>
          </a:p>
          <a:p>
            <a:pPr marL="0" indent="0">
              <a:buNone/>
            </a:pPr>
            <a:r>
              <a:rPr lang="en-US" dirty="0"/>
              <a:t>public:</a:t>
            </a:r>
          </a:p>
          <a:p>
            <a:pPr marL="0" indent="0">
              <a:buNone/>
            </a:pPr>
            <a:r>
              <a:rPr lang="en-US" dirty="0"/>
              <a:t>    // Constructor to initialize car details</a:t>
            </a:r>
          </a:p>
          <a:p>
            <a:pPr marL="0" indent="0">
              <a:buNone/>
            </a:pPr>
            <a:r>
              <a:rPr lang="en-US" dirty="0"/>
              <a:t>    Car(string </a:t>
            </a:r>
            <a:r>
              <a:rPr lang="en-US" dirty="0" err="1"/>
              <a:t>carModel</a:t>
            </a:r>
            <a:r>
              <a:rPr lang="en-US" dirty="0"/>
              <a:t>, string </a:t>
            </a:r>
            <a:r>
              <a:rPr lang="en-US" dirty="0" err="1"/>
              <a:t>carMake</a:t>
            </a:r>
            <a:r>
              <a:rPr lang="en-US" dirty="0"/>
              <a:t>, int </a:t>
            </a:r>
            <a:r>
              <a:rPr lang="en-US" dirty="0" err="1"/>
              <a:t>carYear</a:t>
            </a:r>
            <a:r>
              <a:rPr lang="en-US" dirty="0"/>
              <a:t>, int </a:t>
            </a:r>
            <a:r>
              <a:rPr lang="en-US" dirty="0" err="1"/>
              <a:t>carSpeed</a:t>
            </a:r>
            <a:r>
              <a:rPr lang="en-US" dirty="0"/>
              <a:t>) {</a:t>
            </a:r>
          </a:p>
          <a:p>
            <a:pPr marL="0" indent="0">
              <a:buNone/>
            </a:pPr>
            <a:r>
              <a:rPr lang="en-US" dirty="0"/>
              <a:t>        model = </a:t>
            </a:r>
            <a:r>
              <a:rPr lang="en-US" dirty="0" err="1"/>
              <a:t>carModel</a:t>
            </a:r>
            <a:r>
              <a:rPr lang="en-US" dirty="0"/>
              <a:t>;</a:t>
            </a:r>
          </a:p>
          <a:p>
            <a:pPr marL="0" indent="0">
              <a:buNone/>
            </a:pPr>
            <a:r>
              <a:rPr lang="en-US" dirty="0"/>
              <a:t>        make = </a:t>
            </a:r>
            <a:r>
              <a:rPr lang="en-US" dirty="0" err="1"/>
              <a:t>carMake</a:t>
            </a:r>
            <a:r>
              <a:rPr lang="en-US" dirty="0"/>
              <a:t>;</a:t>
            </a:r>
          </a:p>
          <a:p>
            <a:pPr marL="0" indent="0">
              <a:buNone/>
            </a:pPr>
            <a:r>
              <a:rPr lang="en-US" dirty="0"/>
              <a:t>        year = </a:t>
            </a:r>
            <a:r>
              <a:rPr lang="en-US" dirty="0" err="1"/>
              <a:t>carYear</a:t>
            </a:r>
            <a:r>
              <a:rPr lang="en-US" dirty="0"/>
              <a:t>;</a:t>
            </a:r>
          </a:p>
          <a:p>
            <a:pPr marL="0" indent="0">
              <a:buNone/>
            </a:pPr>
            <a:r>
              <a:rPr lang="en-US" dirty="0"/>
              <a:t>        speed = </a:t>
            </a:r>
            <a:r>
              <a:rPr lang="en-US" dirty="0" err="1"/>
              <a:t>carSpeed</a:t>
            </a:r>
            <a:r>
              <a:rPr lang="en-US" dirty="0"/>
              <a:t>;</a:t>
            </a:r>
          </a:p>
          <a:p>
            <a:pPr marL="0" indent="0">
              <a:buNone/>
            </a:pPr>
            <a:r>
              <a:rPr lang="en-US" dirty="0"/>
              <a:t>    }</a:t>
            </a:r>
          </a:p>
          <a:p>
            <a:pPr marL="0" indent="0">
              <a:buNone/>
            </a:pPr>
            <a:endParaRPr lang="en-US" dirty="0"/>
          </a:p>
          <a:p>
            <a:pPr marL="0" indent="0">
              <a:buNone/>
            </a:pPr>
            <a:r>
              <a:rPr lang="en-US" dirty="0"/>
              <a:t>    // Setter to set car details</a:t>
            </a:r>
          </a:p>
          <a:p>
            <a:pPr marL="0" indent="0">
              <a:buNone/>
            </a:pPr>
            <a:r>
              <a:rPr lang="en-US" dirty="0"/>
              <a:t>    void </a:t>
            </a:r>
            <a:r>
              <a:rPr lang="en-US" dirty="0" err="1"/>
              <a:t>setDetails</a:t>
            </a:r>
            <a:r>
              <a:rPr lang="en-US" dirty="0"/>
              <a:t>(string </a:t>
            </a:r>
            <a:r>
              <a:rPr lang="en-US" dirty="0" err="1"/>
              <a:t>carModel</a:t>
            </a:r>
            <a:r>
              <a:rPr lang="en-US" dirty="0"/>
              <a:t>, string </a:t>
            </a:r>
            <a:r>
              <a:rPr lang="en-US" dirty="0" err="1"/>
              <a:t>carMake</a:t>
            </a:r>
            <a:r>
              <a:rPr lang="en-US" dirty="0"/>
              <a:t>, int </a:t>
            </a:r>
            <a:r>
              <a:rPr lang="en-US" dirty="0" err="1"/>
              <a:t>carYear</a:t>
            </a:r>
            <a:r>
              <a:rPr lang="en-US" dirty="0"/>
              <a:t>, int </a:t>
            </a:r>
            <a:r>
              <a:rPr lang="en-US" dirty="0" err="1"/>
              <a:t>carSpeed</a:t>
            </a:r>
            <a:r>
              <a:rPr lang="en-US" dirty="0"/>
              <a:t>) {</a:t>
            </a:r>
          </a:p>
          <a:p>
            <a:pPr marL="0" indent="0">
              <a:buNone/>
            </a:pPr>
            <a:r>
              <a:rPr lang="en-US" dirty="0"/>
              <a:t>        model = </a:t>
            </a:r>
            <a:r>
              <a:rPr lang="en-US" dirty="0" err="1"/>
              <a:t>carModel</a:t>
            </a:r>
            <a:r>
              <a:rPr lang="en-US" dirty="0"/>
              <a:t>;</a:t>
            </a:r>
          </a:p>
          <a:p>
            <a:pPr marL="0" indent="0">
              <a:buNone/>
            </a:pPr>
            <a:r>
              <a:rPr lang="en-US" dirty="0"/>
              <a:t>        make = </a:t>
            </a:r>
            <a:r>
              <a:rPr lang="en-US" dirty="0" err="1"/>
              <a:t>carMake</a:t>
            </a:r>
            <a:r>
              <a:rPr lang="en-US" dirty="0"/>
              <a:t>;</a:t>
            </a:r>
          </a:p>
          <a:p>
            <a:pPr marL="0" indent="0">
              <a:buNone/>
            </a:pPr>
            <a:r>
              <a:rPr lang="en-US" dirty="0"/>
              <a:t>        year = </a:t>
            </a:r>
            <a:r>
              <a:rPr lang="en-US" dirty="0" err="1"/>
              <a:t>carYear</a:t>
            </a:r>
            <a:r>
              <a:rPr lang="en-US" dirty="0"/>
              <a:t>;</a:t>
            </a:r>
          </a:p>
          <a:p>
            <a:pPr marL="0" indent="0">
              <a:buNone/>
            </a:pPr>
            <a:r>
              <a:rPr lang="en-US" dirty="0"/>
              <a:t>        speed = </a:t>
            </a:r>
            <a:r>
              <a:rPr lang="en-US" dirty="0" err="1"/>
              <a:t>carSpeed</a:t>
            </a:r>
            <a:r>
              <a:rPr lang="en-US" dirty="0"/>
              <a:t>;</a:t>
            </a:r>
          </a:p>
          <a:p>
            <a:pPr marL="0" indent="0">
              <a:buNone/>
            </a:pPr>
            <a:r>
              <a:rPr lang="en-US" dirty="0"/>
              <a:t>    }</a:t>
            </a:r>
          </a:p>
          <a:p>
            <a:pPr marL="0" indent="0">
              <a:buNone/>
            </a:pPr>
            <a:endParaRPr lang="en-US" dirty="0"/>
          </a:p>
          <a:p>
            <a:pPr marL="0" indent="0">
              <a:buNone/>
            </a:pPr>
            <a:r>
              <a:rPr lang="en-US" dirty="0"/>
              <a:t>    // Getter to display car details</a:t>
            </a:r>
          </a:p>
          <a:p>
            <a:pPr marL="0" indent="0">
              <a:buNone/>
            </a:pPr>
            <a:r>
              <a:rPr lang="en-US" dirty="0"/>
              <a:t>    void </a:t>
            </a:r>
            <a:r>
              <a:rPr lang="en-US" dirty="0" err="1"/>
              <a:t>getDetails</a:t>
            </a:r>
            <a:r>
              <a:rPr lang="en-US" dirty="0"/>
              <a:t>() {</a:t>
            </a:r>
          </a:p>
          <a:p>
            <a:pPr marL="0" indent="0">
              <a:buNone/>
            </a:pPr>
            <a:r>
              <a:rPr lang="en-US" dirty="0"/>
              <a:t>        </a:t>
            </a:r>
            <a:r>
              <a:rPr lang="en-US" dirty="0" err="1"/>
              <a:t>cout</a:t>
            </a:r>
            <a:r>
              <a:rPr lang="en-US" dirty="0"/>
              <a:t> &lt;&lt; "Car Model: " &lt;&lt; model &lt;&lt; </a:t>
            </a:r>
            <a:r>
              <a:rPr lang="en-US" dirty="0" err="1"/>
              <a:t>endl</a:t>
            </a:r>
            <a:r>
              <a:rPr lang="en-US" dirty="0"/>
              <a:t>;</a:t>
            </a:r>
          </a:p>
          <a:p>
            <a:pPr marL="0" indent="0">
              <a:buNone/>
            </a:pPr>
            <a:r>
              <a:rPr lang="en-US" dirty="0"/>
              <a:t>        </a:t>
            </a:r>
            <a:r>
              <a:rPr lang="en-US" dirty="0" err="1"/>
              <a:t>cout</a:t>
            </a:r>
            <a:r>
              <a:rPr lang="en-US" dirty="0"/>
              <a:t> &lt;&lt; "Car Make: " &lt;&lt; make &lt;&lt; </a:t>
            </a:r>
            <a:r>
              <a:rPr lang="en-US" dirty="0" err="1"/>
              <a:t>endl</a:t>
            </a:r>
            <a:r>
              <a:rPr lang="en-US" dirty="0"/>
              <a:t>;</a:t>
            </a:r>
          </a:p>
          <a:p>
            <a:pPr marL="0" indent="0">
              <a:buNone/>
            </a:pPr>
            <a:r>
              <a:rPr lang="en-US" dirty="0"/>
              <a:t>        </a:t>
            </a:r>
            <a:r>
              <a:rPr lang="en-US" dirty="0" err="1"/>
              <a:t>cout</a:t>
            </a:r>
            <a:r>
              <a:rPr lang="en-US" dirty="0"/>
              <a:t> &lt;&lt; "Car Year: " &lt;&lt; year &lt;&lt; </a:t>
            </a:r>
            <a:r>
              <a:rPr lang="en-US" dirty="0" err="1"/>
              <a:t>endl</a:t>
            </a:r>
            <a:r>
              <a:rPr lang="en-US" dirty="0"/>
              <a:t>;</a:t>
            </a:r>
          </a:p>
          <a:p>
            <a:pPr marL="0" indent="0">
              <a:buNone/>
            </a:pPr>
            <a:r>
              <a:rPr lang="en-US" dirty="0"/>
              <a:t>        </a:t>
            </a:r>
            <a:r>
              <a:rPr lang="en-US" dirty="0" err="1"/>
              <a:t>cout</a:t>
            </a:r>
            <a:r>
              <a:rPr lang="en-US" dirty="0"/>
              <a:t> &lt;&lt; "Current Speed: " &lt;&lt; speed &lt;&lt; " km/h" &lt;&lt; </a:t>
            </a:r>
            <a:r>
              <a:rPr lang="en-US" dirty="0" err="1"/>
              <a:t>endl</a:t>
            </a:r>
            <a:r>
              <a:rPr lang="en-US" dirty="0"/>
              <a:t>;</a:t>
            </a:r>
          </a:p>
          <a:p>
            <a:pPr marL="0" indent="0">
              <a:buNone/>
            </a:pPr>
            <a:r>
              <a:rPr lang="en-US" dirty="0"/>
              <a:t>    }</a:t>
            </a:r>
          </a:p>
        </p:txBody>
      </p:sp>
      <p:sp>
        <p:nvSpPr>
          <p:cNvPr id="4" name="Content Placeholder 3">
            <a:extLst>
              <a:ext uri="{FF2B5EF4-FFF2-40B4-BE49-F238E27FC236}">
                <a16:creationId xmlns:a16="http://schemas.microsoft.com/office/drawing/2014/main" id="{639ECD96-7BFF-43C8-9E5D-651B0E2A8494}"/>
              </a:ext>
            </a:extLst>
          </p:cNvPr>
          <p:cNvSpPr>
            <a:spLocks noGrp="1"/>
          </p:cNvSpPr>
          <p:nvPr>
            <p:ph sz="half" idx="2"/>
          </p:nvPr>
        </p:nvSpPr>
        <p:spPr/>
        <p:txBody>
          <a:bodyPr>
            <a:normAutofit fontScale="25000" lnSpcReduction="20000"/>
          </a:bodyPr>
          <a:lstStyle/>
          <a:p>
            <a:pPr marL="0" indent="0">
              <a:buNone/>
            </a:pPr>
            <a:endParaRPr lang="en-US" dirty="0"/>
          </a:p>
          <a:p>
            <a:pPr marL="0" indent="0">
              <a:buNone/>
            </a:pPr>
            <a:r>
              <a:rPr lang="en-US" dirty="0"/>
              <a:t>    // Member function to simulate accelerating the car</a:t>
            </a:r>
          </a:p>
          <a:p>
            <a:pPr marL="0" indent="0">
              <a:buNone/>
            </a:pPr>
            <a:r>
              <a:rPr lang="en-US" dirty="0"/>
              <a:t>    void Accelerate(int increase) {</a:t>
            </a:r>
          </a:p>
          <a:p>
            <a:pPr marL="0" indent="0">
              <a:buNone/>
            </a:pPr>
            <a:r>
              <a:rPr lang="en-US" dirty="0"/>
              <a:t>        speed += increase;</a:t>
            </a:r>
          </a:p>
          <a:p>
            <a:pPr marL="0" indent="0">
              <a:buNone/>
            </a:pPr>
            <a:r>
              <a:rPr lang="en-US" dirty="0"/>
              <a:t>        </a:t>
            </a:r>
            <a:r>
              <a:rPr lang="en-US" dirty="0" err="1"/>
              <a:t>cout</a:t>
            </a:r>
            <a:r>
              <a:rPr lang="en-US" dirty="0"/>
              <a:t> &lt;&lt; "The car has accelerated. Current speed: " &lt;&lt; speed &lt;&lt; " km/h" &lt;&lt; </a:t>
            </a:r>
            <a:r>
              <a:rPr lang="en-US" dirty="0" err="1"/>
              <a:t>endl</a:t>
            </a:r>
            <a:r>
              <a:rPr lang="en-US" dirty="0"/>
              <a:t>;</a:t>
            </a:r>
          </a:p>
          <a:p>
            <a:pPr marL="0" indent="0">
              <a:buNone/>
            </a:pPr>
            <a:r>
              <a:rPr lang="en-US" dirty="0"/>
              <a:t>    }</a:t>
            </a:r>
          </a:p>
          <a:p>
            <a:pPr marL="0" indent="0">
              <a:buNone/>
            </a:pPr>
            <a:endParaRPr lang="en-US" dirty="0"/>
          </a:p>
          <a:p>
            <a:pPr marL="0" indent="0">
              <a:buNone/>
            </a:pPr>
            <a:r>
              <a:rPr lang="en-US" dirty="0"/>
              <a:t>    // Member function to simulate braking the car</a:t>
            </a:r>
          </a:p>
          <a:p>
            <a:pPr marL="0" indent="0">
              <a:buNone/>
            </a:pPr>
            <a:r>
              <a:rPr lang="en-US" dirty="0"/>
              <a:t>    void Brake(int decrease) {</a:t>
            </a:r>
          </a:p>
          <a:p>
            <a:pPr marL="0" indent="0">
              <a:buNone/>
            </a:pPr>
            <a:r>
              <a:rPr lang="en-US" dirty="0"/>
              <a:t>        speed -= decrease;</a:t>
            </a:r>
          </a:p>
          <a:p>
            <a:pPr marL="0" indent="0">
              <a:buNone/>
            </a:pPr>
            <a:r>
              <a:rPr lang="en-US" dirty="0"/>
              <a:t>        if (speed &lt; 0) speed = 0;  // Speed can't be negative</a:t>
            </a:r>
          </a:p>
          <a:p>
            <a:pPr marL="0" indent="0">
              <a:buNone/>
            </a:pPr>
            <a:r>
              <a:rPr lang="en-US" dirty="0"/>
              <a:t>        </a:t>
            </a:r>
            <a:r>
              <a:rPr lang="en-US" dirty="0" err="1"/>
              <a:t>cout</a:t>
            </a:r>
            <a:r>
              <a:rPr lang="en-US" dirty="0"/>
              <a:t> &lt;&lt; "The car has slowed down. Current speed: " &lt;&lt; speed &lt;&lt; " km/h" &lt;&lt; </a:t>
            </a:r>
            <a:r>
              <a:rPr lang="en-US" dirty="0" err="1"/>
              <a:t>endl</a:t>
            </a:r>
            <a:r>
              <a:rPr lang="en-US" dirty="0"/>
              <a:t>;</a:t>
            </a:r>
          </a:p>
          <a:p>
            <a:pPr marL="0" indent="0">
              <a:buNone/>
            </a:pPr>
            <a:r>
              <a:rPr lang="en-US" dirty="0"/>
              <a:t>    }</a:t>
            </a:r>
          </a:p>
          <a:p>
            <a:pPr marL="0" indent="0">
              <a:buNone/>
            </a:pPr>
            <a:r>
              <a:rPr lang="en-US" dirty="0"/>
              <a:t>};</a:t>
            </a:r>
          </a:p>
          <a:p>
            <a:pPr marL="0" indent="0">
              <a:buNone/>
            </a:pPr>
            <a:endParaRPr lang="en-US" dirty="0"/>
          </a:p>
          <a:p>
            <a:pPr marL="0" indent="0">
              <a:buNone/>
            </a:pPr>
            <a:r>
              <a:rPr lang="en-US" dirty="0"/>
              <a:t>// Main function to demonstrate the Car class</a:t>
            </a:r>
          </a:p>
          <a:p>
            <a:pPr marL="0" indent="0">
              <a:buNone/>
            </a:pPr>
            <a:r>
              <a:rPr lang="en-US" dirty="0"/>
              <a:t>int main() {</a:t>
            </a:r>
          </a:p>
          <a:p>
            <a:pPr marL="0" indent="0">
              <a:buNone/>
            </a:pPr>
            <a:r>
              <a:rPr lang="en-US" dirty="0"/>
              <a:t>    // Create a Car object</a:t>
            </a:r>
          </a:p>
          <a:p>
            <a:pPr marL="0" indent="0">
              <a:buNone/>
            </a:pPr>
            <a:r>
              <a:rPr lang="en-US" dirty="0"/>
              <a:t>    Car </a:t>
            </a:r>
            <a:r>
              <a:rPr lang="en-US" dirty="0" err="1"/>
              <a:t>myCar</a:t>
            </a:r>
            <a:r>
              <a:rPr lang="en-US" dirty="0"/>
              <a:t>("Model S", "Tesla", 2022, 60);</a:t>
            </a:r>
          </a:p>
          <a:p>
            <a:pPr marL="0" indent="0">
              <a:buNone/>
            </a:pPr>
            <a:endParaRPr lang="en-US" dirty="0"/>
          </a:p>
          <a:p>
            <a:pPr marL="0" indent="0">
              <a:buNone/>
            </a:pPr>
            <a:r>
              <a:rPr lang="en-US" dirty="0"/>
              <a:t>    // Display car details</a:t>
            </a:r>
          </a:p>
          <a:p>
            <a:pPr marL="0" indent="0">
              <a:buNone/>
            </a:pPr>
            <a:r>
              <a:rPr lang="en-US" dirty="0"/>
              <a:t>    </a:t>
            </a:r>
            <a:r>
              <a:rPr lang="en-US" dirty="0" err="1"/>
              <a:t>myCar.getDetails</a:t>
            </a:r>
            <a:r>
              <a:rPr lang="en-US" dirty="0"/>
              <a:t>();</a:t>
            </a:r>
          </a:p>
          <a:p>
            <a:pPr marL="0" indent="0">
              <a:buNone/>
            </a:pPr>
            <a:endParaRPr lang="en-US" dirty="0"/>
          </a:p>
          <a:p>
            <a:pPr marL="0" indent="0">
              <a:buNone/>
            </a:pPr>
            <a:r>
              <a:rPr lang="en-US" dirty="0"/>
              <a:t>    // Accelerate the car</a:t>
            </a:r>
          </a:p>
          <a:p>
            <a:pPr marL="0" indent="0">
              <a:buNone/>
            </a:pPr>
            <a:r>
              <a:rPr lang="en-US" dirty="0"/>
              <a:t>    </a:t>
            </a:r>
            <a:r>
              <a:rPr lang="en-US" dirty="0" err="1"/>
              <a:t>myCar.Accelerate</a:t>
            </a:r>
            <a:r>
              <a:rPr lang="en-US" dirty="0"/>
              <a:t>(20);</a:t>
            </a:r>
          </a:p>
          <a:p>
            <a:pPr marL="0" indent="0">
              <a:buNone/>
            </a:pPr>
            <a:endParaRPr lang="en-US" dirty="0"/>
          </a:p>
          <a:p>
            <a:pPr marL="0" indent="0">
              <a:buNone/>
            </a:pPr>
            <a:r>
              <a:rPr lang="en-US" dirty="0"/>
              <a:t>    // Apply brake to the car</a:t>
            </a:r>
          </a:p>
          <a:p>
            <a:pPr marL="0" indent="0">
              <a:buNone/>
            </a:pPr>
            <a:r>
              <a:rPr lang="en-US" dirty="0"/>
              <a:t>    </a:t>
            </a:r>
            <a:r>
              <a:rPr lang="en-US" dirty="0" err="1"/>
              <a:t>myCar.Brake</a:t>
            </a:r>
            <a:r>
              <a:rPr lang="en-US" dirty="0"/>
              <a:t>(50);</a:t>
            </a:r>
          </a:p>
          <a:p>
            <a:pPr marL="0" indent="0">
              <a:buNone/>
            </a:pPr>
            <a:endParaRPr lang="en-US" dirty="0"/>
          </a:p>
          <a:p>
            <a:pPr marL="0" indent="0">
              <a:buNone/>
            </a:pPr>
            <a:r>
              <a:rPr lang="en-US" dirty="0"/>
              <a:t>    // Display updated car details</a:t>
            </a:r>
          </a:p>
          <a:p>
            <a:pPr marL="0" indent="0">
              <a:buNone/>
            </a:pPr>
            <a:r>
              <a:rPr lang="en-US" dirty="0"/>
              <a:t>    </a:t>
            </a:r>
            <a:r>
              <a:rPr lang="en-US" dirty="0" err="1"/>
              <a:t>myCar.getDetails</a:t>
            </a:r>
            <a:r>
              <a:rPr lang="en-US" dirty="0"/>
              <a:t>();</a:t>
            </a:r>
          </a:p>
          <a:p>
            <a:pPr marL="0" indent="0">
              <a:buNone/>
            </a:pPr>
            <a:endParaRPr lang="en-US" dirty="0"/>
          </a:p>
          <a:p>
            <a:pPr marL="0" indent="0">
              <a:buNone/>
            </a:pPr>
            <a:r>
              <a:rPr lang="en-US" dirty="0"/>
              <a:t>    return 0;</a:t>
            </a:r>
          </a:p>
          <a:p>
            <a:pPr marL="0" indent="0">
              <a:buNone/>
            </a:pPr>
            <a:r>
              <a:rPr lang="en-US" dirty="0"/>
              <a:t>}</a:t>
            </a:r>
          </a:p>
          <a:p>
            <a:pPr marL="0" indent="0">
              <a:buNone/>
            </a:pPr>
            <a:endParaRPr lang="en-US" dirty="0"/>
          </a:p>
          <a:p>
            <a:endParaRPr lang="en-US" dirty="0"/>
          </a:p>
        </p:txBody>
      </p:sp>
    </p:spTree>
    <p:extLst>
      <p:ext uri="{BB962C8B-B14F-4D97-AF65-F5344CB8AC3E}">
        <p14:creationId xmlns:p14="http://schemas.microsoft.com/office/powerpoint/2010/main" val="317986972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2CF455-CC19-41F3-868A-FB46811B499F}"/>
              </a:ext>
            </a:extLst>
          </p:cNvPr>
          <p:cNvSpPr>
            <a:spLocks noGrp="1"/>
          </p:cNvSpPr>
          <p:nvPr>
            <p:ph type="title"/>
          </p:nvPr>
        </p:nvSpPr>
        <p:spPr/>
        <p:txBody>
          <a:bodyPr/>
          <a:lstStyle/>
          <a:p>
            <a:r>
              <a:rPr lang="en-US" dirty="0"/>
              <a:t>Bank Account Example</a:t>
            </a:r>
          </a:p>
        </p:txBody>
      </p:sp>
      <p:sp>
        <p:nvSpPr>
          <p:cNvPr id="3" name="Content Placeholder 2">
            <a:extLst>
              <a:ext uri="{FF2B5EF4-FFF2-40B4-BE49-F238E27FC236}">
                <a16:creationId xmlns:a16="http://schemas.microsoft.com/office/drawing/2014/main" id="{15510AA0-48B8-47A5-9D0C-49606B40C1C9}"/>
              </a:ext>
            </a:extLst>
          </p:cNvPr>
          <p:cNvSpPr>
            <a:spLocks noGrp="1"/>
          </p:cNvSpPr>
          <p:nvPr>
            <p:ph idx="1"/>
          </p:nvPr>
        </p:nvSpPr>
        <p:spPr/>
        <p:txBody>
          <a:bodyPr>
            <a:normAutofit fontScale="32500" lnSpcReduction="20000"/>
          </a:bodyPr>
          <a:lstStyle/>
          <a:p>
            <a:pPr marL="0" indent="0">
              <a:buNone/>
            </a:pPr>
            <a:r>
              <a:rPr lang="en-US" sz="4300" dirty="0"/>
              <a:t>#include &lt;iostream&gt;</a:t>
            </a:r>
            <a:br>
              <a:rPr lang="en-US" sz="4300" dirty="0"/>
            </a:br>
            <a:r>
              <a:rPr lang="en-US" sz="4300" dirty="0"/>
              <a:t>using namespace std;</a:t>
            </a:r>
            <a:br>
              <a:rPr lang="en-US" sz="4300" dirty="0"/>
            </a:br>
            <a:br>
              <a:rPr lang="en-US" sz="4300" dirty="0"/>
            </a:br>
            <a:r>
              <a:rPr lang="en-US" sz="4300" dirty="0"/>
              <a:t>class </a:t>
            </a:r>
            <a:r>
              <a:rPr lang="en-US" sz="4300" dirty="0" err="1"/>
              <a:t>BankAccount</a:t>
            </a:r>
            <a:r>
              <a:rPr lang="en-US" sz="4300" dirty="0"/>
              <a:t> {</a:t>
            </a:r>
            <a:br>
              <a:rPr lang="en-US" sz="4300" dirty="0"/>
            </a:br>
            <a:r>
              <a:rPr lang="en-US" sz="4300" dirty="0"/>
              <a:t>private:</a:t>
            </a:r>
            <a:br>
              <a:rPr lang="en-US" sz="4300" dirty="0"/>
            </a:br>
            <a:r>
              <a:rPr lang="en-US" sz="4300" dirty="0"/>
              <a:t>    int </a:t>
            </a:r>
            <a:r>
              <a:rPr lang="en-US" sz="4300" dirty="0" err="1"/>
              <a:t>accountNumber</a:t>
            </a:r>
            <a:r>
              <a:rPr lang="en-US" sz="4300" dirty="0"/>
              <a:t>;</a:t>
            </a:r>
            <a:br>
              <a:rPr lang="en-US" sz="4300" dirty="0"/>
            </a:br>
            <a:r>
              <a:rPr lang="en-US" sz="4300" dirty="0"/>
              <a:t>    float balance;</a:t>
            </a:r>
            <a:br>
              <a:rPr lang="en-US" sz="4300" dirty="0"/>
            </a:br>
            <a:br>
              <a:rPr lang="en-US" sz="4300" dirty="0"/>
            </a:br>
            <a:r>
              <a:rPr lang="en-US" sz="4300" dirty="0"/>
              <a:t>public:</a:t>
            </a:r>
            <a:br>
              <a:rPr lang="en-US" sz="4300" dirty="0"/>
            </a:br>
            <a:r>
              <a:rPr lang="en-US" sz="4300" dirty="0"/>
              <a:t>    void </a:t>
            </a:r>
            <a:r>
              <a:rPr lang="en-US" sz="4300" dirty="0" err="1"/>
              <a:t>setAccountDetails</a:t>
            </a:r>
            <a:r>
              <a:rPr lang="en-US" sz="4300" dirty="0"/>
              <a:t>(int </a:t>
            </a:r>
            <a:r>
              <a:rPr lang="en-US" sz="4300" dirty="0" err="1"/>
              <a:t>accNo</a:t>
            </a:r>
            <a:r>
              <a:rPr lang="en-US" sz="4300" dirty="0"/>
              <a:t>, float </a:t>
            </a:r>
            <a:r>
              <a:rPr lang="en-US" sz="4300" dirty="0" err="1"/>
              <a:t>bal</a:t>
            </a:r>
            <a:r>
              <a:rPr lang="en-US" sz="4300" dirty="0"/>
              <a:t>) {</a:t>
            </a:r>
            <a:br>
              <a:rPr lang="en-US" sz="4300" dirty="0"/>
            </a:br>
            <a:r>
              <a:rPr lang="en-US" sz="4300" dirty="0"/>
              <a:t>        </a:t>
            </a:r>
            <a:r>
              <a:rPr lang="en-US" sz="4300" dirty="0" err="1"/>
              <a:t>accountNumber</a:t>
            </a:r>
            <a:r>
              <a:rPr lang="en-US" sz="4300" dirty="0"/>
              <a:t> = </a:t>
            </a:r>
            <a:r>
              <a:rPr lang="en-US" sz="4300" dirty="0" err="1"/>
              <a:t>accNo</a:t>
            </a:r>
            <a:r>
              <a:rPr lang="en-US" sz="4300" dirty="0"/>
              <a:t>;</a:t>
            </a:r>
            <a:br>
              <a:rPr lang="en-US" sz="4300" dirty="0"/>
            </a:br>
            <a:r>
              <a:rPr lang="en-US" sz="4300" dirty="0"/>
              <a:t>        balance = </a:t>
            </a:r>
            <a:r>
              <a:rPr lang="en-US" sz="4300" dirty="0" err="1"/>
              <a:t>bal</a:t>
            </a:r>
            <a:r>
              <a:rPr lang="en-US" sz="4300" dirty="0"/>
              <a:t>;</a:t>
            </a:r>
            <a:br>
              <a:rPr lang="en-US" sz="4300" dirty="0"/>
            </a:br>
            <a:r>
              <a:rPr lang="en-US" sz="4300" dirty="0"/>
              <a:t>    }</a:t>
            </a:r>
            <a:br>
              <a:rPr lang="en-US" sz="4300" dirty="0"/>
            </a:br>
            <a:br>
              <a:rPr lang="en-US" sz="4300" dirty="0"/>
            </a:br>
            <a:r>
              <a:rPr lang="en-US" sz="4300" dirty="0"/>
              <a:t>    void </a:t>
            </a:r>
            <a:r>
              <a:rPr lang="en-US" sz="4300" dirty="0" err="1"/>
              <a:t>displayBalance</a:t>
            </a:r>
            <a:r>
              <a:rPr lang="en-US" sz="4300" dirty="0"/>
              <a:t>() {</a:t>
            </a:r>
            <a:br>
              <a:rPr lang="en-US" sz="4300" dirty="0"/>
            </a:br>
            <a:r>
              <a:rPr lang="en-US" sz="4300" dirty="0"/>
              <a:t>        </a:t>
            </a:r>
            <a:r>
              <a:rPr lang="en-US" sz="4300" dirty="0" err="1"/>
              <a:t>cout</a:t>
            </a:r>
            <a:r>
              <a:rPr lang="en-US" sz="4300" dirty="0"/>
              <a:t> &lt;&lt; "Account Number: " &lt;&lt; </a:t>
            </a:r>
            <a:r>
              <a:rPr lang="en-US" sz="4300" dirty="0" err="1"/>
              <a:t>accountNumber</a:t>
            </a:r>
            <a:r>
              <a:rPr lang="en-US" sz="4300" dirty="0"/>
              <a:t> &lt;&lt; ", Balance: $" &lt;&lt; balance &lt;&lt; </a:t>
            </a:r>
            <a:r>
              <a:rPr lang="en-US" sz="4300" dirty="0" err="1"/>
              <a:t>endl</a:t>
            </a:r>
            <a:r>
              <a:rPr lang="en-US" sz="4300" dirty="0"/>
              <a:t>;</a:t>
            </a:r>
            <a:br>
              <a:rPr lang="en-US" sz="4300" dirty="0"/>
            </a:br>
            <a:r>
              <a:rPr lang="en-US" sz="4300" dirty="0"/>
              <a:t>    }</a:t>
            </a:r>
            <a:br>
              <a:rPr lang="en-US" sz="4300" dirty="0"/>
            </a:br>
            <a:r>
              <a:rPr lang="en-US" sz="4300" dirty="0"/>
              <a:t>};</a:t>
            </a:r>
            <a:br>
              <a:rPr lang="en-US" sz="4300" dirty="0"/>
            </a:br>
            <a:br>
              <a:rPr lang="en-US" sz="4300" dirty="0"/>
            </a:br>
            <a:r>
              <a:rPr lang="en-US" sz="4300" dirty="0"/>
              <a:t>int main() {</a:t>
            </a:r>
            <a:br>
              <a:rPr lang="en-US" sz="4300" dirty="0"/>
            </a:br>
            <a:r>
              <a:rPr lang="en-US" sz="4300" dirty="0"/>
              <a:t>    </a:t>
            </a:r>
            <a:r>
              <a:rPr lang="en-US" sz="4300" dirty="0" err="1"/>
              <a:t>BankAccount</a:t>
            </a:r>
            <a:r>
              <a:rPr lang="en-US" sz="4300" dirty="0"/>
              <a:t> acc;</a:t>
            </a:r>
            <a:br>
              <a:rPr lang="en-US" sz="4300" dirty="0"/>
            </a:br>
            <a:r>
              <a:rPr lang="en-US" sz="4300" dirty="0"/>
              <a:t>    </a:t>
            </a:r>
            <a:r>
              <a:rPr lang="en-US" sz="4300" dirty="0" err="1"/>
              <a:t>acc.setAccountDetails</a:t>
            </a:r>
            <a:r>
              <a:rPr lang="en-US" sz="4300" dirty="0"/>
              <a:t>(12345, 500.0);</a:t>
            </a:r>
            <a:br>
              <a:rPr lang="en-US" sz="4300" dirty="0"/>
            </a:br>
            <a:r>
              <a:rPr lang="en-US" sz="4300" dirty="0"/>
              <a:t>    </a:t>
            </a:r>
            <a:r>
              <a:rPr lang="en-US" sz="4300" dirty="0" err="1"/>
              <a:t>acc.displayBalance</a:t>
            </a:r>
            <a:r>
              <a:rPr lang="en-US" sz="4300" dirty="0"/>
              <a:t>();  // Output: Account Number: 12345, Balance: $500.0</a:t>
            </a:r>
            <a:br>
              <a:rPr lang="en-US" sz="4300" dirty="0"/>
            </a:br>
            <a:r>
              <a:rPr lang="en-US" sz="4300" dirty="0"/>
              <a:t>    return 0;</a:t>
            </a:r>
            <a:br>
              <a:rPr lang="en-US" sz="4300" dirty="0"/>
            </a:br>
            <a:r>
              <a:rPr lang="en-US" sz="4300" dirty="0"/>
              <a:t>}</a:t>
            </a:r>
          </a:p>
          <a:p>
            <a:pPr marL="0" indent="0">
              <a:buNone/>
            </a:pPr>
            <a:endParaRPr lang="en-US" dirty="0"/>
          </a:p>
        </p:txBody>
      </p:sp>
    </p:spTree>
    <p:extLst>
      <p:ext uri="{BB962C8B-B14F-4D97-AF65-F5344CB8AC3E}">
        <p14:creationId xmlns:p14="http://schemas.microsoft.com/office/powerpoint/2010/main" val="198400772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Setters and Getters</a:t>
            </a:r>
          </a:p>
        </p:txBody>
      </p:sp>
      <p:sp>
        <p:nvSpPr>
          <p:cNvPr id="4" name="Content Placeholder 3">
            <a:extLst>
              <a:ext uri="{FF2B5EF4-FFF2-40B4-BE49-F238E27FC236}">
                <a16:creationId xmlns:a16="http://schemas.microsoft.com/office/drawing/2014/main" id="{ED0A3E10-C2FA-403A-A5B1-3A46C9D9B478}"/>
              </a:ext>
            </a:extLst>
          </p:cNvPr>
          <p:cNvSpPr>
            <a:spLocks noGrp="1"/>
          </p:cNvSpPr>
          <p:nvPr>
            <p:ph idx="1"/>
          </p:nvPr>
        </p:nvSpPr>
        <p:spPr/>
        <p:txBody>
          <a:bodyPr>
            <a:normAutofit fontScale="70000" lnSpcReduction="20000"/>
          </a:bodyPr>
          <a:lstStyle/>
          <a:p>
            <a:pPr>
              <a:defRPr sz="1400"/>
            </a:pPr>
            <a:r>
              <a:rPr lang="en-US" sz="4500" dirty="0"/>
              <a:t>Setters and Getters:</a:t>
            </a:r>
          </a:p>
          <a:p>
            <a:pPr lvl="1"/>
            <a:r>
              <a:rPr lang="en-US" sz="4000" b="1" dirty="0"/>
              <a:t>Getter (Accessor)</a:t>
            </a:r>
            <a:r>
              <a:rPr lang="en-US" sz="4000" dirty="0"/>
              <a:t>: A method that retrieves the value of a private attribute.</a:t>
            </a:r>
          </a:p>
          <a:p>
            <a:pPr lvl="1"/>
            <a:r>
              <a:rPr lang="en-US" sz="4000" b="1" dirty="0"/>
              <a:t>Setter (Mutator)</a:t>
            </a:r>
            <a:r>
              <a:rPr lang="en-US" sz="4000" dirty="0"/>
              <a:t>: A method that sets or updates the value of a private attribute.</a:t>
            </a:r>
          </a:p>
          <a:p>
            <a:r>
              <a:rPr lang="en-US" sz="4400" b="1" dirty="0"/>
              <a:t>Getter</a:t>
            </a:r>
            <a:r>
              <a:rPr lang="en-US" sz="4400" dirty="0"/>
              <a:t> and </a:t>
            </a:r>
            <a:r>
              <a:rPr lang="en-US" sz="4400" b="1" dirty="0"/>
              <a:t>Setter</a:t>
            </a:r>
            <a:r>
              <a:rPr lang="en-US" sz="4400" dirty="0"/>
              <a:t> functions are used to access and modify the private attributes (data members) of a class from outside the class. These functions ensure </a:t>
            </a:r>
            <a:r>
              <a:rPr lang="en-US" sz="4400" b="1" dirty="0"/>
              <a:t>data encapsulation</a:t>
            </a:r>
            <a:r>
              <a:rPr lang="en-US" sz="4400" dirty="0"/>
              <a:t>, allowing controlled access to private members.</a:t>
            </a:r>
          </a:p>
          <a:p>
            <a:endParaRPr lang="en-US"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1DF217-13BE-4B10-B6A4-FCBD614908B3}"/>
              </a:ext>
            </a:extLst>
          </p:cNvPr>
          <p:cNvSpPr>
            <a:spLocks noGrp="1"/>
          </p:cNvSpPr>
          <p:nvPr>
            <p:ph type="title"/>
          </p:nvPr>
        </p:nvSpPr>
        <p:spPr/>
        <p:txBody>
          <a:bodyPr/>
          <a:lstStyle/>
          <a:p>
            <a:r>
              <a:rPr lang="en-US" dirty="0"/>
              <a:t>Example</a:t>
            </a:r>
          </a:p>
        </p:txBody>
      </p:sp>
      <p:sp>
        <p:nvSpPr>
          <p:cNvPr id="3" name="Content Placeholder 2">
            <a:extLst>
              <a:ext uri="{FF2B5EF4-FFF2-40B4-BE49-F238E27FC236}">
                <a16:creationId xmlns:a16="http://schemas.microsoft.com/office/drawing/2014/main" id="{EFC4233B-F369-4A13-A759-CD924CA453B6}"/>
              </a:ext>
            </a:extLst>
          </p:cNvPr>
          <p:cNvSpPr>
            <a:spLocks noGrp="1"/>
          </p:cNvSpPr>
          <p:nvPr>
            <p:ph idx="1"/>
          </p:nvPr>
        </p:nvSpPr>
        <p:spPr/>
        <p:txBody>
          <a:bodyPr>
            <a:normAutofit fontScale="92500" lnSpcReduction="10000"/>
          </a:bodyPr>
          <a:lstStyle/>
          <a:p>
            <a:pPr marL="0" indent="0">
              <a:buNone/>
            </a:pPr>
            <a:r>
              <a:rPr lang="en-US" sz="900" dirty="0"/>
              <a:t>#include &lt;iostream&gt;</a:t>
            </a:r>
          </a:p>
          <a:p>
            <a:pPr marL="0" indent="0">
              <a:buNone/>
            </a:pPr>
            <a:r>
              <a:rPr lang="en-US" sz="900" dirty="0"/>
              <a:t>using namespace std;</a:t>
            </a:r>
          </a:p>
          <a:p>
            <a:pPr marL="0" indent="0">
              <a:buNone/>
            </a:pPr>
            <a:endParaRPr lang="en-US" sz="900" dirty="0"/>
          </a:p>
          <a:p>
            <a:pPr marL="0" indent="0">
              <a:buNone/>
            </a:pPr>
            <a:r>
              <a:rPr lang="en-US" sz="900" dirty="0"/>
              <a:t>class Date {</a:t>
            </a:r>
          </a:p>
          <a:p>
            <a:pPr marL="0" indent="0">
              <a:buNone/>
            </a:pPr>
            <a:r>
              <a:rPr lang="en-US" sz="900" dirty="0"/>
              <a:t>private:</a:t>
            </a:r>
          </a:p>
          <a:p>
            <a:pPr marL="0" indent="0">
              <a:buNone/>
            </a:pPr>
            <a:r>
              <a:rPr lang="en-US" sz="900" dirty="0"/>
              <a:t>    int day;</a:t>
            </a:r>
          </a:p>
          <a:p>
            <a:pPr marL="0" indent="0">
              <a:buNone/>
            </a:pPr>
            <a:r>
              <a:rPr lang="en-US" sz="900" dirty="0"/>
              <a:t>    int month;</a:t>
            </a:r>
          </a:p>
          <a:p>
            <a:pPr marL="0" indent="0">
              <a:buNone/>
            </a:pPr>
            <a:r>
              <a:rPr lang="en-US" sz="900" dirty="0"/>
              <a:t>    int year;</a:t>
            </a:r>
          </a:p>
          <a:p>
            <a:pPr marL="0" indent="0">
              <a:buNone/>
            </a:pPr>
            <a:endParaRPr lang="en-US" sz="900" dirty="0"/>
          </a:p>
          <a:p>
            <a:pPr marL="0" indent="0">
              <a:buNone/>
            </a:pPr>
            <a:r>
              <a:rPr lang="en-US" sz="900" dirty="0"/>
              <a:t>public:</a:t>
            </a:r>
          </a:p>
          <a:p>
            <a:pPr marL="0" indent="0">
              <a:buNone/>
            </a:pPr>
            <a:r>
              <a:rPr lang="en-US" sz="900" dirty="0"/>
              <a:t>    // Default Constructor</a:t>
            </a:r>
          </a:p>
          <a:p>
            <a:pPr marL="0" indent="0">
              <a:buNone/>
            </a:pPr>
            <a:r>
              <a:rPr lang="en-US" sz="900" dirty="0"/>
              <a:t>    Date() {</a:t>
            </a:r>
          </a:p>
          <a:p>
            <a:pPr marL="0" indent="0">
              <a:buNone/>
            </a:pPr>
            <a:r>
              <a:rPr lang="en-US" sz="900" dirty="0"/>
              <a:t>        day = 1;</a:t>
            </a:r>
          </a:p>
          <a:p>
            <a:pPr marL="0" indent="0">
              <a:buNone/>
            </a:pPr>
            <a:r>
              <a:rPr lang="en-US" sz="900" dirty="0"/>
              <a:t>        month = 1;</a:t>
            </a:r>
          </a:p>
          <a:p>
            <a:pPr marL="0" indent="0">
              <a:buNone/>
            </a:pPr>
            <a:r>
              <a:rPr lang="en-US" sz="900" dirty="0"/>
              <a:t>        year = 2000;</a:t>
            </a:r>
          </a:p>
          <a:p>
            <a:pPr marL="0" indent="0">
              <a:buNone/>
            </a:pPr>
            <a:r>
              <a:rPr lang="en-US" sz="900" dirty="0"/>
              <a:t>    }</a:t>
            </a:r>
          </a:p>
          <a:p>
            <a:pPr marL="0" indent="0">
              <a:buNone/>
            </a:pPr>
            <a:endParaRPr lang="en-US" sz="900" dirty="0"/>
          </a:p>
          <a:p>
            <a:pPr marL="0" indent="0">
              <a:buNone/>
            </a:pPr>
            <a:r>
              <a:rPr lang="en-US" sz="900" dirty="0"/>
              <a:t>    // Parameterized Constructor</a:t>
            </a:r>
          </a:p>
          <a:p>
            <a:pPr marL="0" indent="0">
              <a:buNone/>
            </a:pPr>
            <a:r>
              <a:rPr lang="en-US" sz="900" dirty="0"/>
              <a:t>    Date(int d, int m, int y) {</a:t>
            </a:r>
          </a:p>
          <a:p>
            <a:pPr marL="0" indent="0">
              <a:buNone/>
            </a:pPr>
            <a:r>
              <a:rPr lang="en-US" sz="900" dirty="0"/>
              <a:t>        day = d;</a:t>
            </a:r>
          </a:p>
          <a:p>
            <a:pPr marL="0" indent="0">
              <a:buNone/>
            </a:pPr>
            <a:r>
              <a:rPr lang="en-US" sz="900" dirty="0"/>
              <a:t>        month = m;</a:t>
            </a:r>
          </a:p>
          <a:p>
            <a:pPr marL="0" indent="0">
              <a:buNone/>
            </a:pPr>
            <a:r>
              <a:rPr lang="en-US" sz="900" dirty="0"/>
              <a:t>        year = y;</a:t>
            </a:r>
          </a:p>
          <a:p>
            <a:pPr marL="0" indent="0">
              <a:buNone/>
            </a:pPr>
            <a:r>
              <a:rPr lang="en-US" sz="900" dirty="0"/>
              <a:t>    }</a:t>
            </a:r>
          </a:p>
          <a:p>
            <a:pPr marL="0" indent="0">
              <a:buNone/>
            </a:pPr>
            <a:endParaRPr lang="en-US" sz="900" dirty="0"/>
          </a:p>
          <a:p>
            <a:pPr marL="0" indent="0">
              <a:buNone/>
            </a:pPr>
            <a:r>
              <a:rPr lang="en-US" sz="900" dirty="0"/>
              <a:t>    // Setter for day</a:t>
            </a:r>
          </a:p>
          <a:p>
            <a:pPr marL="0" indent="0">
              <a:buNone/>
            </a:pPr>
            <a:r>
              <a:rPr lang="en-US" sz="900" dirty="0"/>
              <a:t>    void </a:t>
            </a:r>
            <a:r>
              <a:rPr lang="en-US" sz="900" dirty="0" err="1"/>
              <a:t>setDay</a:t>
            </a:r>
            <a:r>
              <a:rPr lang="en-US" sz="900" dirty="0"/>
              <a:t>(int d) {</a:t>
            </a:r>
          </a:p>
          <a:p>
            <a:pPr marL="0" indent="0">
              <a:buNone/>
            </a:pPr>
            <a:r>
              <a:rPr lang="en-US" sz="900" dirty="0"/>
              <a:t>        if (d &gt;= 1 &amp;&amp; d &lt;= 31) {</a:t>
            </a:r>
          </a:p>
          <a:p>
            <a:pPr marL="0" indent="0">
              <a:buNone/>
            </a:pPr>
            <a:r>
              <a:rPr lang="en-US" sz="900" dirty="0"/>
              <a:t>            day = d;</a:t>
            </a:r>
          </a:p>
          <a:p>
            <a:pPr marL="0" indent="0">
              <a:buNone/>
            </a:pPr>
            <a:r>
              <a:rPr lang="en-US" sz="900" dirty="0"/>
              <a:t>        } else {</a:t>
            </a:r>
          </a:p>
          <a:p>
            <a:pPr marL="0" indent="0">
              <a:buNone/>
            </a:pPr>
            <a:r>
              <a:rPr lang="en-US" sz="900" dirty="0"/>
              <a:t>            </a:t>
            </a:r>
            <a:r>
              <a:rPr lang="en-US" sz="900" dirty="0" err="1"/>
              <a:t>cout</a:t>
            </a:r>
            <a:r>
              <a:rPr lang="en-US" sz="900" dirty="0"/>
              <a:t> &lt;&lt; "Invalid day value!" &lt;&lt; </a:t>
            </a:r>
            <a:r>
              <a:rPr lang="en-US" sz="900" dirty="0" err="1"/>
              <a:t>endl</a:t>
            </a:r>
            <a:r>
              <a:rPr lang="en-US" sz="900" dirty="0"/>
              <a:t>;</a:t>
            </a:r>
          </a:p>
          <a:p>
            <a:pPr marL="0" indent="0">
              <a:buNone/>
            </a:pPr>
            <a:r>
              <a:rPr lang="en-US" sz="900" dirty="0"/>
              <a:t>        }</a:t>
            </a:r>
          </a:p>
          <a:p>
            <a:pPr marL="0" indent="0">
              <a:buNone/>
            </a:pPr>
            <a:r>
              <a:rPr lang="en-US" sz="900" dirty="0"/>
              <a:t>    }</a:t>
            </a:r>
          </a:p>
        </p:txBody>
      </p:sp>
    </p:spTree>
    <p:extLst>
      <p:ext uri="{BB962C8B-B14F-4D97-AF65-F5344CB8AC3E}">
        <p14:creationId xmlns:p14="http://schemas.microsoft.com/office/powerpoint/2010/main" val="425435175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508959-F415-4894-B9A1-B3628BB3210F}"/>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1BFEFF64-26E0-4F52-AEB6-DBF015FC1C5F}"/>
              </a:ext>
            </a:extLst>
          </p:cNvPr>
          <p:cNvSpPr>
            <a:spLocks noGrp="1"/>
          </p:cNvSpPr>
          <p:nvPr>
            <p:ph idx="1"/>
          </p:nvPr>
        </p:nvSpPr>
        <p:spPr/>
        <p:txBody>
          <a:bodyPr>
            <a:normAutofit fontScale="25000" lnSpcReduction="20000"/>
          </a:bodyPr>
          <a:lstStyle/>
          <a:p>
            <a:pPr marL="0" indent="0">
              <a:buNone/>
            </a:pPr>
            <a:r>
              <a:rPr lang="en-US" sz="3600" dirty="0"/>
              <a:t> // Setter for month</a:t>
            </a:r>
          </a:p>
          <a:p>
            <a:pPr marL="0" indent="0">
              <a:buNone/>
            </a:pPr>
            <a:r>
              <a:rPr lang="en-US" sz="3600" dirty="0"/>
              <a:t>    void </a:t>
            </a:r>
            <a:r>
              <a:rPr lang="en-US" sz="3600" dirty="0" err="1"/>
              <a:t>setMonth</a:t>
            </a:r>
            <a:r>
              <a:rPr lang="en-US" sz="3600" dirty="0"/>
              <a:t>(int m) {</a:t>
            </a:r>
          </a:p>
          <a:p>
            <a:pPr marL="0" indent="0">
              <a:buNone/>
            </a:pPr>
            <a:r>
              <a:rPr lang="en-US" sz="3600" dirty="0"/>
              <a:t>        if (m &gt;= 1 &amp;&amp; m &lt;= 12) {</a:t>
            </a:r>
          </a:p>
          <a:p>
            <a:pPr marL="0" indent="0">
              <a:buNone/>
            </a:pPr>
            <a:r>
              <a:rPr lang="en-US" sz="3600" dirty="0"/>
              <a:t>            month = m;</a:t>
            </a:r>
          </a:p>
          <a:p>
            <a:pPr marL="0" indent="0">
              <a:buNone/>
            </a:pPr>
            <a:r>
              <a:rPr lang="en-US" sz="3600" dirty="0"/>
              <a:t>        } else {</a:t>
            </a:r>
          </a:p>
          <a:p>
            <a:pPr marL="0" indent="0">
              <a:buNone/>
            </a:pPr>
            <a:r>
              <a:rPr lang="en-US" sz="3600" dirty="0"/>
              <a:t>            </a:t>
            </a:r>
            <a:r>
              <a:rPr lang="en-US" sz="3600" dirty="0" err="1"/>
              <a:t>cout</a:t>
            </a:r>
            <a:r>
              <a:rPr lang="en-US" sz="3600" dirty="0"/>
              <a:t> &lt;&lt; "Invalid month value!" &lt;&lt; </a:t>
            </a:r>
            <a:r>
              <a:rPr lang="en-US" sz="3600" dirty="0" err="1"/>
              <a:t>endl</a:t>
            </a:r>
            <a:r>
              <a:rPr lang="en-US" sz="3600" dirty="0"/>
              <a:t>;</a:t>
            </a:r>
          </a:p>
          <a:p>
            <a:pPr marL="0" indent="0">
              <a:buNone/>
            </a:pPr>
            <a:r>
              <a:rPr lang="en-US" sz="3600" dirty="0"/>
              <a:t>        }</a:t>
            </a:r>
          </a:p>
          <a:p>
            <a:pPr marL="0" indent="0">
              <a:buNone/>
            </a:pPr>
            <a:r>
              <a:rPr lang="en-US" sz="3600" dirty="0"/>
              <a:t>    }</a:t>
            </a:r>
          </a:p>
          <a:p>
            <a:pPr marL="0" indent="0">
              <a:buNone/>
            </a:pPr>
            <a:endParaRPr lang="en-US" sz="3600" dirty="0"/>
          </a:p>
          <a:p>
            <a:pPr marL="0" indent="0">
              <a:buNone/>
            </a:pPr>
            <a:r>
              <a:rPr lang="en-US" sz="3600" dirty="0"/>
              <a:t>    // Setter for year</a:t>
            </a:r>
          </a:p>
          <a:p>
            <a:pPr marL="0" indent="0">
              <a:buNone/>
            </a:pPr>
            <a:r>
              <a:rPr lang="en-US" sz="3600" dirty="0"/>
              <a:t>    void </a:t>
            </a:r>
            <a:r>
              <a:rPr lang="en-US" sz="3600" dirty="0" err="1"/>
              <a:t>setYear</a:t>
            </a:r>
            <a:r>
              <a:rPr lang="en-US" sz="3600" dirty="0"/>
              <a:t>(int y) {</a:t>
            </a:r>
          </a:p>
          <a:p>
            <a:pPr marL="0" indent="0">
              <a:buNone/>
            </a:pPr>
            <a:r>
              <a:rPr lang="en-US" sz="3600" dirty="0"/>
              <a:t>        year = y;</a:t>
            </a:r>
          </a:p>
          <a:p>
            <a:pPr marL="0" indent="0">
              <a:buNone/>
            </a:pPr>
            <a:r>
              <a:rPr lang="en-US" sz="3600" dirty="0"/>
              <a:t>    }</a:t>
            </a:r>
          </a:p>
          <a:p>
            <a:pPr marL="0" indent="0">
              <a:buNone/>
            </a:pPr>
            <a:endParaRPr lang="en-US" sz="3600" dirty="0"/>
          </a:p>
          <a:p>
            <a:pPr marL="0" indent="0">
              <a:buNone/>
            </a:pPr>
            <a:r>
              <a:rPr lang="en-US" sz="3600" dirty="0"/>
              <a:t>    // Getter for day</a:t>
            </a:r>
          </a:p>
          <a:p>
            <a:pPr marL="0" indent="0">
              <a:buNone/>
            </a:pPr>
            <a:r>
              <a:rPr lang="en-US" sz="3600" dirty="0"/>
              <a:t>    int </a:t>
            </a:r>
            <a:r>
              <a:rPr lang="en-US" sz="3600" dirty="0" err="1"/>
              <a:t>getDay</a:t>
            </a:r>
            <a:r>
              <a:rPr lang="en-US" sz="3600" dirty="0"/>
              <a:t>() {</a:t>
            </a:r>
          </a:p>
          <a:p>
            <a:pPr marL="0" indent="0">
              <a:buNone/>
            </a:pPr>
            <a:r>
              <a:rPr lang="en-US" sz="3600" dirty="0"/>
              <a:t>        return day;</a:t>
            </a:r>
          </a:p>
          <a:p>
            <a:pPr marL="0" indent="0">
              <a:buNone/>
            </a:pPr>
            <a:r>
              <a:rPr lang="en-US" sz="3600" dirty="0"/>
              <a:t>    }</a:t>
            </a:r>
          </a:p>
          <a:p>
            <a:pPr marL="0" indent="0">
              <a:buNone/>
            </a:pPr>
            <a:endParaRPr lang="en-US" sz="3600" dirty="0"/>
          </a:p>
          <a:p>
            <a:pPr marL="0" indent="0">
              <a:buNone/>
            </a:pPr>
            <a:r>
              <a:rPr lang="en-US" sz="3600" dirty="0"/>
              <a:t>    // Getter for month</a:t>
            </a:r>
          </a:p>
          <a:p>
            <a:pPr marL="0" indent="0">
              <a:buNone/>
            </a:pPr>
            <a:r>
              <a:rPr lang="en-US" sz="3600" dirty="0"/>
              <a:t>    int </a:t>
            </a:r>
            <a:r>
              <a:rPr lang="en-US" sz="3600" dirty="0" err="1"/>
              <a:t>getMonth</a:t>
            </a:r>
            <a:r>
              <a:rPr lang="en-US" sz="3600" dirty="0"/>
              <a:t>() {</a:t>
            </a:r>
          </a:p>
          <a:p>
            <a:pPr marL="0" indent="0">
              <a:buNone/>
            </a:pPr>
            <a:r>
              <a:rPr lang="en-US" sz="3600" dirty="0"/>
              <a:t>        return month;</a:t>
            </a:r>
          </a:p>
          <a:p>
            <a:pPr marL="0" indent="0">
              <a:buNone/>
            </a:pPr>
            <a:r>
              <a:rPr lang="en-US" sz="3600" dirty="0"/>
              <a:t>    }</a:t>
            </a:r>
          </a:p>
          <a:p>
            <a:pPr marL="0" indent="0">
              <a:buNone/>
            </a:pPr>
            <a:endParaRPr lang="en-US" sz="3600" dirty="0"/>
          </a:p>
          <a:p>
            <a:pPr marL="0" indent="0">
              <a:buNone/>
            </a:pPr>
            <a:r>
              <a:rPr lang="en-US" sz="3600" dirty="0"/>
              <a:t>    // Getter for year</a:t>
            </a:r>
          </a:p>
          <a:p>
            <a:pPr marL="0" indent="0">
              <a:buNone/>
            </a:pPr>
            <a:r>
              <a:rPr lang="en-US" sz="3600" dirty="0"/>
              <a:t>    int </a:t>
            </a:r>
            <a:r>
              <a:rPr lang="en-US" sz="3600" dirty="0" err="1"/>
              <a:t>getYear</a:t>
            </a:r>
            <a:r>
              <a:rPr lang="en-US" sz="3600" dirty="0"/>
              <a:t>() {</a:t>
            </a:r>
          </a:p>
          <a:p>
            <a:pPr marL="0" indent="0">
              <a:buNone/>
            </a:pPr>
            <a:r>
              <a:rPr lang="en-US" sz="3600" dirty="0"/>
              <a:t>        return year;</a:t>
            </a:r>
          </a:p>
          <a:p>
            <a:pPr marL="0" indent="0">
              <a:buNone/>
            </a:pPr>
            <a:r>
              <a:rPr lang="en-US" sz="3600" dirty="0"/>
              <a:t>    }</a:t>
            </a:r>
          </a:p>
          <a:p>
            <a:pPr marL="0" indent="0">
              <a:buNone/>
            </a:pPr>
            <a:endParaRPr lang="en-US" sz="3600" dirty="0"/>
          </a:p>
          <a:p>
            <a:pPr marL="0" indent="0">
              <a:buNone/>
            </a:pPr>
            <a:r>
              <a:rPr lang="en-US" sz="3600" dirty="0"/>
              <a:t>    // Function to display the date</a:t>
            </a:r>
          </a:p>
          <a:p>
            <a:pPr marL="0" indent="0">
              <a:buNone/>
            </a:pPr>
            <a:r>
              <a:rPr lang="en-US" sz="3600" dirty="0"/>
              <a:t>    void </a:t>
            </a:r>
            <a:r>
              <a:rPr lang="en-US" sz="3600" dirty="0" err="1"/>
              <a:t>displayDate</a:t>
            </a:r>
            <a:r>
              <a:rPr lang="en-US" sz="3600" dirty="0"/>
              <a:t>() {</a:t>
            </a:r>
          </a:p>
          <a:p>
            <a:pPr marL="0" indent="0">
              <a:buNone/>
            </a:pPr>
            <a:r>
              <a:rPr lang="en-US" sz="3600" dirty="0"/>
              <a:t>        </a:t>
            </a:r>
            <a:r>
              <a:rPr lang="en-US" sz="3600" dirty="0" err="1"/>
              <a:t>cout</a:t>
            </a:r>
            <a:r>
              <a:rPr lang="en-US" sz="3600" dirty="0"/>
              <a:t> &lt;&lt; "Date: " &lt;&lt; day &lt;&lt; "/" &lt;&lt; month &lt;&lt; "/" &lt;&lt; year &lt;&lt; </a:t>
            </a:r>
            <a:r>
              <a:rPr lang="en-US" sz="3600" dirty="0" err="1"/>
              <a:t>endl</a:t>
            </a:r>
            <a:r>
              <a:rPr lang="en-US" sz="3600" dirty="0"/>
              <a:t>;</a:t>
            </a:r>
          </a:p>
          <a:p>
            <a:pPr marL="0" indent="0">
              <a:buNone/>
            </a:pPr>
            <a:r>
              <a:rPr lang="en-US" sz="3600" dirty="0"/>
              <a:t>    }</a:t>
            </a:r>
          </a:p>
          <a:p>
            <a:pPr marL="0" indent="0">
              <a:buNone/>
            </a:pPr>
            <a:r>
              <a:rPr lang="en-US" sz="3600" dirty="0"/>
              <a:t>};</a:t>
            </a:r>
          </a:p>
          <a:p>
            <a:pPr marL="0" indent="0">
              <a:buNone/>
            </a:pPr>
            <a:endParaRPr lang="en-US" dirty="0"/>
          </a:p>
        </p:txBody>
      </p:sp>
    </p:spTree>
    <p:extLst>
      <p:ext uri="{BB962C8B-B14F-4D97-AF65-F5344CB8AC3E}">
        <p14:creationId xmlns:p14="http://schemas.microsoft.com/office/powerpoint/2010/main" val="69010161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60C3B-1122-4CBC-A147-CD1D20436EB7}"/>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93A43449-0B44-403E-B36C-5A5C0A63C8FE}"/>
              </a:ext>
            </a:extLst>
          </p:cNvPr>
          <p:cNvSpPr>
            <a:spLocks noGrp="1"/>
          </p:cNvSpPr>
          <p:nvPr>
            <p:ph idx="1"/>
          </p:nvPr>
        </p:nvSpPr>
        <p:spPr/>
        <p:txBody>
          <a:bodyPr>
            <a:normAutofit fontScale="40000" lnSpcReduction="20000"/>
          </a:bodyPr>
          <a:lstStyle/>
          <a:p>
            <a:pPr marL="0" indent="0">
              <a:buNone/>
            </a:pPr>
            <a:r>
              <a:rPr lang="en-US" dirty="0"/>
              <a:t>int main() {</a:t>
            </a:r>
          </a:p>
          <a:p>
            <a:pPr marL="0" indent="0">
              <a:buNone/>
            </a:pPr>
            <a:r>
              <a:rPr lang="en-US" dirty="0"/>
              <a:t>    // Creating an object using the default constructor</a:t>
            </a:r>
          </a:p>
          <a:p>
            <a:pPr marL="0" indent="0">
              <a:buNone/>
            </a:pPr>
            <a:r>
              <a:rPr lang="en-US" dirty="0"/>
              <a:t>    Date </a:t>
            </a:r>
            <a:r>
              <a:rPr lang="en-US" dirty="0" err="1"/>
              <a:t>defaultDate</a:t>
            </a:r>
            <a:r>
              <a:rPr lang="en-US" dirty="0"/>
              <a:t>;</a:t>
            </a:r>
          </a:p>
          <a:p>
            <a:pPr marL="0" indent="0">
              <a:buNone/>
            </a:pPr>
            <a:r>
              <a:rPr lang="en-US" dirty="0"/>
              <a:t>    </a:t>
            </a:r>
            <a:r>
              <a:rPr lang="en-US" dirty="0" err="1"/>
              <a:t>defaultDate.displayDate</a:t>
            </a:r>
            <a:r>
              <a:rPr lang="en-US" dirty="0"/>
              <a:t>();  // Output: Date: 1/1/2000</a:t>
            </a:r>
          </a:p>
          <a:p>
            <a:pPr marL="0" indent="0">
              <a:buNone/>
            </a:pPr>
            <a:endParaRPr lang="en-US" dirty="0"/>
          </a:p>
          <a:p>
            <a:pPr marL="0" indent="0">
              <a:buNone/>
            </a:pPr>
            <a:r>
              <a:rPr lang="en-US" dirty="0"/>
              <a:t>    // Creating an object using the parameterized constructor</a:t>
            </a:r>
          </a:p>
          <a:p>
            <a:pPr marL="0" indent="0">
              <a:buNone/>
            </a:pPr>
            <a:r>
              <a:rPr lang="en-US" dirty="0"/>
              <a:t>    Date </a:t>
            </a:r>
            <a:r>
              <a:rPr lang="en-US" dirty="0" err="1"/>
              <a:t>customDate</a:t>
            </a:r>
            <a:r>
              <a:rPr lang="en-US" dirty="0"/>
              <a:t>(12, 10, 2023);</a:t>
            </a:r>
          </a:p>
          <a:p>
            <a:pPr marL="0" indent="0">
              <a:buNone/>
            </a:pPr>
            <a:r>
              <a:rPr lang="en-US" dirty="0"/>
              <a:t>    </a:t>
            </a:r>
            <a:r>
              <a:rPr lang="en-US" dirty="0" err="1"/>
              <a:t>customDate.displayDate</a:t>
            </a:r>
            <a:r>
              <a:rPr lang="en-US" dirty="0"/>
              <a:t>();  // Output: Date: 12/10/2023</a:t>
            </a:r>
          </a:p>
          <a:p>
            <a:pPr marL="0" indent="0">
              <a:buNone/>
            </a:pPr>
            <a:endParaRPr lang="en-US" dirty="0"/>
          </a:p>
          <a:p>
            <a:pPr marL="0" indent="0">
              <a:buNone/>
            </a:pPr>
            <a:r>
              <a:rPr lang="en-US" dirty="0"/>
              <a:t>    // Using setters to modify the date</a:t>
            </a:r>
          </a:p>
          <a:p>
            <a:pPr marL="0" indent="0">
              <a:buNone/>
            </a:pPr>
            <a:r>
              <a:rPr lang="en-US" dirty="0"/>
              <a:t>    </a:t>
            </a:r>
            <a:r>
              <a:rPr lang="en-US" dirty="0" err="1"/>
              <a:t>customDate.setDay</a:t>
            </a:r>
            <a:r>
              <a:rPr lang="en-US" dirty="0"/>
              <a:t>(25);</a:t>
            </a:r>
          </a:p>
          <a:p>
            <a:pPr marL="0" indent="0">
              <a:buNone/>
            </a:pPr>
            <a:r>
              <a:rPr lang="en-US" dirty="0"/>
              <a:t>    </a:t>
            </a:r>
            <a:r>
              <a:rPr lang="en-US" dirty="0" err="1"/>
              <a:t>customDate.setMonth</a:t>
            </a:r>
            <a:r>
              <a:rPr lang="en-US" dirty="0"/>
              <a:t>(12);</a:t>
            </a:r>
          </a:p>
          <a:p>
            <a:pPr marL="0" indent="0">
              <a:buNone/>
            </a:pPr>
            <a:r>
              <a:rPr lang="en-US" dirty="0"/>
              <a:t>    </a:t>
            </a:r>
            <a:r>
              <a:rPr lang="en-US" dirty="0" err="1"/>
              <a:t>customDate.setYear</a:t>
            </a:r>
            <a:r>
              <a:rPr lang="en-US" dirty="0"/>
              <a:t>(2024);</a:t>
            </a:r>
          </a:p>
          <a:p>
            <a:pPr marL="0" indent="0">
              <a:buNone/>
            </a:pPr>
            <a:r>
              <a:rPr lang="en-US" dirty="0"/>
              <a:t>    </a:t>
            </a:r>
            <a:r>
              <a:rPr lang="en-US" dirty="0" err="1"/>
              <a:t>customDate.displayDate</a:t>
            </a:r>
            <a:r>
              <a:rPr lang="en-US" dirty="0"/>
              <a:t>();  // Output: Date: 25/12/2024</a:t>
            </a:r>
          </a:p>
          <a:p>
            <a:pPr marL="0" indent="0">
              <a:buNone/>
            </a:pPr>
            <a:endParaRPr lang="en-US" dirty="0"/>
          </a:p>
          <a:p>
            <a:pPr marL="0" indent="0">
              <a:buNone/>
            </a:pPr>
            <a:r>
              <a:rPr lang="en-US" dirty="0"/>
              <a:t>    // Using getters to access individual attributes</a:t>
            </a:r>
          </a:p>
          <a:p>
            <a:pPr marL="0" indent="0">
              <a:buNone/>
            </a:pPr>
            <a:r>
              <a:rPr lang="en-US" dirty="0"/>
              <a:t>    </a:t>
            </a:r>
            <a:r>
              <a:rPr lang="en-US" dirty="0" err="1"/>
              <a:t>cout</a:t>
            </a:r>
            <a:r>
              <a:rPr lang="en-US" dirty="0"/>
              <a:t> &lt;&lt; "Day: " &lt;&lt; </a:t>
            </a:r>
            <a:r>
              <a:rPr lang="en-US" dirty="0" err="1"/>
              <a:t>customDate.getDay</a:t>
            </a:r>
            <a:r>
              <a:rPr lang="en-US" dirty="0"/>
              <a:t>() &lt;&lt; </a:t>
            </a:r>
            <a:r>
              <a:rPr lang="en-US" dirty="0" err="1"/>
              <a:t>endl</a:t>
            </a:r>
            <a:r>
              <a:rPr lang="en-US" dirty="0"/>
              <a:t>;   // Output: Day: 25</a:t>
            </a:r>
          </a:p>
          <a:p>
            <a:pPr marL="0" indent="0">
              <a:buNone/>
            </a:pPr>
            <a:r>
              <a:rPr lang="en-US" dirty="0"/>
              <a:t>    </a:t>
            </a:r>
            <a:r>
              <a:rPr lang="en-US" dirty="0" err="1"/>
              <a:t>cout</a:t>
            </a:r>
            <a:r>
              <a:rPr lang="en-US" dirty="0"/>
              <a:t> &lt;&lt; "Month: " &lt;&lt; </a:t>
            </a:r>
            <a:r>
              <a:rPr lang="en-US" dirty="0" err="1"/>
              <a:t>customDate.getMonth</a:t>
            </a:r>
            <a:r>
              <a:rPr lang="en-US" dirty="0"/>
              <a:t>() &lt;&lt; </a:t>
            </a:r>
            <a:r>
              <a:rPr lang="en-US" dirty="0" err="1"/>
              <a:t>endl</a:t>
            </a:r>
            <a:r>
              <a:rPr lang="en-US" dirty="0"/>
              <a:t>; // Output: Month: 12</a:t>
            </a:r>
          </a:p>
          <a:p>
            <a:pPr marL="0" indent="0">
              <a:buNone/>
            </a:pPr>
            <a:r>
              <a:rPr lang="en-US" dirty="0"/>
              <a:t>    </a:t>
            </a:r>
            <a:r>
              <a:rPr lang="en-US" dirty="0" err="1"/>
              <a:t>cout</a:t>
            </a:r>
            <a:r>
              <a:rPr lang="en-US" dirty="0"/>
              <a:t> &lt;&lt; "Year: " &lt;&lt; </a:t>
            </a:r>
            <a:r>
              <a:rPr lang="en-US" dirty="0" err="1"/>
              <a:t>customDate.getYear</a:t>
            </a:r>
            <a:r>
              <a:rPr lang="en-US" dirty="0"/>
              <a:t>() &lt;&lt; </a:t>
            </a:r>
            <a:r>
              <a:rPr lang="en-US" dirty="0" err="1"/>
              <a:t>endl</a:t>
            </a:r>
            <a:r>
              <a:rPr lang="en-US" dirty="0"/>
              <a:t>;   // Output: Year: 2024</a:t>
            </a:r>
          </a:p>
          <a:p>
            <a:pPr marL="0" indent="0">
              <a:buNone/>
            </a:pPr>
            <a:endParaRPr lang="en-US" dirty="0"/>
          </a:p>
          <a:p>
            <a:pPr marL="0" indent="0">
              <a:buNone/>
            </a:pPr>
            <a:r>
              <a:rPr lang="en-US" dirty="0"/>
              <a:t>    return 0;</a:t>
            </a:r>
          </a:p>
          <a:p>
            <a:pPr marL="0" indent="0">
              <a:buNone/>
            </a:pPr>
            <a:r>
              <a:rPr lang="en-US" dirty="0"/>
              <a:t>}</a:t>
            </a:r>
          </a:p>
          <a:p>
            <a:endParaRPr lang="en-US" dirty="0"/>
          </a:p>
        </p:txBody>
      </p:sp>
    </p:spTree>
    <p:extLst>
      <p:ext uri="{BB962C8B-B14F-4D97-AF65-F5344CB8AC3E}">
        <p14:creationId xmlns:p14="http://schemas.microsoft.com/office/powerpoint/2010/main" val="47875911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43</TotalTime>
  <Words>2364</Words>
  <Application>Microsoft Office PowerPoint</Application>
  <PresentationFormat>On-screen Show (4:3)</PresentationFormat>
  <Paragraphs>358</Paragraphs>
  <Slides>17</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Introduction of the OOP and classes</vt:lpstr>
      <vt:lpstr>Overview of OOP Concepts</vt:lpstr>
      <vt:lpstr>Introduction to Classes and Objects</vt:lpstr>
      <vt:lpstr>Basic Syntax and Structure of a C++ Class</vt:lpstr>
      <vt:lpstr>Access Specifiers: public, private, protected</vt:lpstr>
      <vt:lpstr>What is a Constructor in C++</vt:lpstr>
      <vt:lpstr>Complex Number Example</vt:lpstr>
      <vt:lpstr>Member Functions and Data Members</vt:lpstr>
      <vt:lpstr>Member Functions and Data Members</vt:lpstr>
      <vt:lpstr>Person Class Example</vt:lpstr>
      <vt:lpstr>Employee Example</vt:lpstr>
      <vt:lpstr>Car Example</vt:lpstr>
      <vt:lpstr>Bank Account Example</vt:lpstr>
      <vt:lpstr>Setters and Getters</vt:lpstr>
      <vt:lpstr>Example</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Overview of OOP Concepts</dc:title>
  <dc:subject/>
  <dc:creator/>
  <cp:keywords/>
  <dc:description>generated using python-pptx</dc:description>
  <cp:lastModifiedBy>Asad Kamal</cp:lastModifiedBy>
  <cp:revision>14</cp:revision>
  <dcterms:created xsi:type="dcterms:W3CDTF">2013-01-27T09:14:16Z</dcterms:created>
  <dcterms:modified xsi:type="dcterms:W3CDTF">2024-10-23T08:53:53Z</dcterms:modified>
  <cp:category/>
</cp:coreProperties>
</file>