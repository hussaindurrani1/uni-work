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9" d="100"/>
          <a:sy n="69" d="100"/>
        </p:scale>
        <p:origin x="78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AB348-9B86-47A9-A0C0-1E61E93F05B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C155041-1D4E-3559-5002-BB94E78B82B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65998C4-4767-0AA2-D723-5AF8FA307494}"/>
              </a:ext>
            </a:extLst>
          </p:cNvPr>
          <p:cNvSpPr>
            <a:spLocks noGrp="1"/>
          </p:cNvSpPr>
          <p:nvPr>
            <p:ph type="dt" sz="half" idx="10"/>
          </p:nvPr>
        </p:nvSpPr>
        <p:spPr/>
        <p:txBody>
          <a:bodyPr/>
          <a:lstStyle/>
          <a:p>
            <a:fld id="{150C2279-DBF0-47D3-ACB7-E76D394B454A}" type="datetimeFigureOut">
              <a:rPr lang="en-US" smtClean="0"/>
              <a:t>11/20/2024</a:t>
            </a:fld>
            <a:endParaRPr lang="en-US"/>
          </a:p>
        </p:txBody>
      </p:sp>
      <p:sp>
        <p:nvSpPr>
          <p:cNvPr id="5" name="Footer Placeholder 4">
            <a:extLst>
              <a:ext uri="{FF2B5EF4-FFF2-40B4-BE49-F238E27FC236}">
                <a16:creationId xmlns:a16="http://schemas.microsoft.com/office/drawing/2014/main" id="{ECABAFBE-9210-6D77-38F0-0F38AFA21E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F28F34-9CE8-CC22-F7A7-3A862E7A4708}"/>
              </a:ext>
            </a:extLst>
          </p:cNvPr>
          <p:cNvSpPr>
            <a:spLocks noGrp="1"/>
          </p:cNvSpPr>
          <p:nvPr>
            <p:ph type="sldNum" sz="quarter" idx="12"/>
          </p:nvPr>
        </p:nvSpPr>
        <p:spPr/>
        <p:txBody>
          <a:bodyPr/>
          <a:lstStyle/>
          <a:p>
            <a:fld id="{BF6966D9-284B-472A-A841-C56FF48BF541}" type="slidenum">
              <a:rPr lang="en-US" smtClean="0"/>
              <a:t>‹#›</a:t>
            </a:fld>
            <a:endParaRPr lang="en-US"/>
          </a:p>
        </p:txBody>
      </p:sp>
    </p:spTree>
    <p:extLst>
      <p:ext uri="{BB962C8B-B14F-4D97-AF65-F5344CB8AC3E}">
        <p14:creationId xmlns:p14="http://schemas.microsoft.com/office/powerpoint/2010/main" val="17449723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18EB4-C4B2-47AB-27FD-8C14C763C69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191A7FF-6AAF-D392-AA8C-9FA558B69B8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F026846-49A0-726E-4E1D-A8857DD8D1B5}"/>
              </a:ext>
            </a:extLst>
          </p:cNvPr>
          <p:cNvSpPr>
            <a:spLocks noGrp="1"/>
          </p:cNvSpPr>
          <p:nvPr>
            <p:ph type="dt" sz="half" idx="10"/>
          </p:nvPr>
        </p:nvSpPr>
        <p:spPr/>
        <p:txBody>
          <a:bodyPr/>
          <a:lstStyle/>
          <a:p>
            <a:fld id="{150C2279-DBF0-47D3-ACB7-E76D394B454A}" type="datetimeFigureOut">
              <a:rPr lang="en-US" smtClean="0"/>
              <a:t>11/20/2024</a:t>
            </a:fld>
            <a:endParaRPr lang="en-US"/>
          </a:p>
        </p:txBody>
      </p:sp>
      <p:sp>
        <p:nvSpPr>
          <p:cNvPr id="5" name="Footer Placeholder 4">
            <a:extLst>
              <a:ext uri="{FF2B5EF4-FFF2-40B4-BE49-F238E27FC236}">
                <a16:creationId xmlns:a16="http://schemas.microsoft.com/office/drawing/2014/main" id="{AE2FE6F8-610B-42C0-73E4-82AE0F0BB11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50A3A6-08A3-B354-3439-D2002F63CAB9}"/>
              </a:ext>
            </a:extLst>
          </p:cNvPr>
          <p:cNvSpPr>
            <a:spLocks noGrp="1"/>
          </p:cNvSpPr>
          <p:nvPr>
            <p:ph type="sldNum" sz="quarter" idx="12"/>
          </p:nvPr>
        </p:nvSpPr>
        <p:spPr/>
        <p:txBody>
          <a:bodyPr/>
          <a:lstStyle/>
          <a:p>
            <a:fld id="{BF6966D9-284B-472A-A841-C56FF48BF541}" type="slidenum">
              <a:rPr lang="en-US" smtClean="0"/>
              <a:t>‹#›</a:t>
            </a:fld>
            <a:endParaRPr lang="en-US"/>
          </a:p>
        </p:txBody>
      </p:sp>
    </p:spTree>
    <p:extLst>
      <p:ext uri="{BB962C8B-B14F-4D97-AF65-F5344CB8AC3E}">
        <p14:creationId xmlns:p14="http://schemas.microsoft.com/office/powerpoint/2010/main" val="11323532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69B3B-E7BF-7966-CF0F-E71EC6AF65E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5F9CE14-0F6C-1EC5-11D8-98CEF6D9F51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C9C3305-394D-CB69-F081-040C8D097919}"/>
              </a:ext>
            </a:extLst>
          </p:cNvPr>
          <p:cNvSpPr>
            <a:spLocks noGrp="1"/>
          </p:cNvSpPr>
          <p:nvPr>
            <p:ph type="dt" sz="half" idx="10"/>
          </p:nvPr>
        </p:nvSpPr>
        <p:spPr/>
        <p:txBody>
          <a:bodyPr/>
          <a:lstStyle/>
          <a:p>
            <a:fld id="{150C2279-DBF0-47D3-ACB7-E76D394B454A}" type="datetimeFigureOut">
              <a:rPr lang="en-US" smtClean="0"/>
              <a:t>11/20/2024</a:t>
            </a:fld>
            <a:endParaRPr lang="en-US"/>
          </a:p>
        </p:txBody>
      </p:sp>
      <p:sp>
        <p:nvSpPr>
          <p:cNvPr id="5" name="Footer Placeholder 4">
            <a:extLst>
              <a:ext uri="{FF2B5EF4-FFF2-40B4-BE49-F238E27FC236}">
                <a16:creationId xmlns:a16="http://schemas.microsoft.com/office/drawing/2014/main" id="{3DE9A4A2-5537-CE9D-BE54-593F456AAA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F12945-6A79-D234-703B-8C0816A4D723}"/>
              </a:ext>
            </a:extLst>
          </p:cNvPr>
          <p:cNvSpPr>
            <a:spLocks noGrp="1"/>
          </p:cNvSpPr>
          <p:nvPr>
            <p:ph type="sldNum" sz="quarter" idx="12"/>
          </p:nvPr>
        </p:nvSpPr>
        <p:spPr/>
        <p:txBody>
          <a:bodyPr/>
          <a:lstStyle/>
          <a:p>
            <a:fld id="{BF6966D9-284B-472A-A841-C56FF48BF541}" type="slidenum">
              <a:rPr lang="en-US" smtClean="0"/>
              <a:t>‹#›</a:t>
            </a:fld>
            <a:endParaRPr lang="en-US"/>
          </a:p>
        </p:txBody>
      </p:sp>
    </p:spTree>
    <p:extLst>
      <p:ext uri="{BB962C8B-B14F-4D97-AF65-F5344CB8AC3E}">
        <p14:creationId xmlns:p14="http://schemas.microsoft.com/office/powerpoint/2010/main" val="11151824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CAB484-8EF7-9F9F-24A1-0D8976B41A9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5FC4DAE-1A70-F1F5-DD10-385DDD940A7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F35A137-90CC-CDC5-FEFB-224003EE752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AC63C33-F64C-4A07-9E40-953615C03389}"/>
              </a:ext>
            </a:extLst>
          </p:cNvPr>
          <p:cNvSpPr>
            <a:spLocks noGrp="1"/>
          </p:cNvSpPr>
          <p:nvPr>
            <p:ph type="dt" sz="half" idx="10"/>
          </p:nvPr>
        </p:nvSpPr>
        <p:spPr/>
        <p:txBody>
          <a:bodyPr/>
          <a:lstStyle/>
          <a:p>
            <a:fld id="{150C2279-DBF0-47D3-ACB7-E76D394B454A}" type="datetimeFigureOut">
              <a:rPr lang="en-US" smtClean="0"/>
              <a:t>11/20/2024</a:t>
            </a:fld>
            <a:endParaRPr lang="en-US"/>
          </a:p>
        </p:txBody>
      </p:sp>
      <p:sp>
        <p:nvSpPr>
          <p:cNvPr id="6" name="Footer Placeholder 5">
            <a:extLst>
              <a:ext uri="{FF2B5EF4-FFF2-40B4-BE49-F238E27FC236}">
                <a16:creationId xmlns:a16="http://schemas.microsoft.com/office/drawing/2014/main" id="{6AA66FCA-0E90-6F5F-8CC2-203B421A475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1F348B4-DC0E-67C8-39CC-7ECEF477BD45}"/>
              </a:ext>
            </a:extLst>
          </p:cNvPr>
          <p:cNvSpPr>
            <a:spLocks noGrp="1"/>
          </p:cNvSpPr>
          <p:nvPr>
            <p:ph type="sldNum" sz="quarter" idx="12"/>
          </p:nvPr>
        </p:nvSpPr>
        <p:spPr/>
        <p:txBody>
          <a:bodyPr/>
          <a:lstStyle/>
          <a:p>
            <a:fld id="{BF6966D9-284B-472A-A841-C56FF48BF541}" type="slidenum">
              <a:rPr lang="en-US" smtClean="0"/>
              <a:t>‹#›</a:t>
            </a:fld>
            <a:endParaRPr lang="en-US"/>
          </a:p>
        </p:txBody>
      </p:sp>
    </p:spTree>
    <p:extLst>
      <p:ext uri="{BB962C8B-B14F-4D97-AF65-F5344CB8AC3E}">
        <p14:creationId xmlns:p14="http://schemas.microsoft.com/office/powerpoint/2010/main" val="7350539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129EA-F50F-C491-AD0B-309E0DAF37D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ACF2A7F-90A9-32B0-C70F-02616B765B9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A118767-028B-C2DD-8C6D-6AC16E78075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AA6E9C9-67B4-0B5E-EF45-5655D56A193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B078EB2-B7D0-30EB-113B-FD1CF446167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306DEBC-256A-2A7F-1422-8A90C24DBB5B}"/>
              </a:ext>
            </a:extLst>
          </p:cNvPr>
          <p:cNvSpPr>
            <a:spLocks noGrp="1"/>
          </p:cNvSpPr>
          <p:nvPr>
            <p:ph type="dt" sz="half" idx="10"/>
          </p:nvPr>
        </p:nvSpPr>
        <p:spPr/>
        <p:txBody>
          <a:bodyPr/>
          <a:lstStyle/>
          <a:p>
            <a:fld id="{150C2279-DBF0-47D3-ACB7-E76D394B454A}" type="datetimeFigureOut">
              <a:rPr lang="en-US" smtClean="0"/>
              <a:t>11/20/2024</a:t>
            </a:fld>
            <a:endParaRPr lang="en-US"/>
          </a:p>
        </p:txBody>
      </p:sp>
      <p:sp>
        <p:nvSpPr>
          <p:cNvPr id="8" name="Footer Placeholder 7">
            <a:extLst>
              <a:ext uri="{FF2B5EF4-FFF2-40B4-BE49-F238E27FC236}">
                <a16:creationId xmlns:a16="http://schemas.microsoft.com/office/drawing/2014/main" id="{3DEF215A-388A-F693-6CF4-A1D9461FAE5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52BBBDE-D219-D1B7-0A7F-1CCEACCA4C3D}"/>
              </a:ext>
            </a:extLst>
          </p:cNvPr>
          <p:cNvSpPr>
            <a:spLocks noGrp="1"/>
          </p:cNvSpPr>
          <p:nvPr>
            <p:ph type="sldNum" sz="quarter" idx="12"/>
          </p:nvPr>
        </p:nvSpPr>
        <p:spPr/>
        <p:txBody>
          <a:bodyPr/>
          <a:lstStyle/>
          <a:p>
            <a:fld id="{BF6966D9-284B-472A-A841-C56FF48BF541}" type="slidenum">
              <a:rPr lang="en-US" smtClean="0"/>
              <a:t>‹#›</a:t>
            </a:fld>
            <a:endParaRPr lang="en-US"/>
          </a:p>
        </p:txBody>
      </p:sp>
    </p:spTree>
    <p:extLst>
      <p:ext uri="{BB962C8B-B14F-4D97-AF65-F5344CB8AC3E}">
        <p14:creationId xmlns:p14="http://schemas.microsoft.com/office/powerpoint/2010/main" val="3424446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C0DB7F-2D01-DF6C-AABE-A1D6AE9F608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A41098D-FD5C-763B-508D-07346699D9B0}"/>
              </a:ext>
            </a:extLst>
          </p:cNvPr>
          <p:cNvSpPr>
            <a:spLocks noGrp="1"/>
          </p:cNvSpPr>
          <p:nvPr>
            <p:ph type="dt" sz="half" idx="10"/>
          </p:nvPr>
        </p:nvSpPr>
        <p:spPr/>
        <p:txBody>
          <a:bodyPr/>
          <a:lstStyle/>
          <a:p>
            <a:fld id="{150C2279-DBF0-47D3-ACB7-E76D394B454A}" type="datetimeFigureOut">
              <a:rPr lang="en-US" smtClean="0"/>
              <a:t>11/20/2024</a:t>
            </a:fld>
            <a:endParaRPr lang="en-US"/>
          </a:p>
        </p:txBody>
      </p:sp>
      <p:sp>
        <p:nvSpPr>
          <p:cNvPr id="4" name="Footer Placeholder 3">
            <a:extLst>
              <a:ext uri="{FF2B5EF4-FFF2-40B4-BE49-F238E27FC236}">
                <a16:creationId xmlns:a16="http://schemas.microsoft.com/office/drawing/2014/main" id="{C9471ABC-98D0-B65C-1EA8-4C2678E412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E3FA2E2-AFE6-F7EA-0281-76B32ED10DEE}"/>
              </a:ext>
            </a:extLst>
          </p:cNvPr>
          <p:cNvSpPr>
            <a:spLocks noGrp="1"/>
          </p:cNvSpPr>
          <p:nvPr>
            <p:ph type="sldNum" sz="quarter" idx="12"/>
          </p:nvPr>
        </p:nvSpPr>
        <p:spPr/>
        <p:txBody>
          <a:bodyPr/>
          <a:lstStyle/>
          <a:p>
            <a:fld id="{BF6966D9-284B-472A-A841-C56FF48BF541}" type="slidenum">
              <a:rPr lang="en-US" smtClean="0"/>
              <a:t>‹#›</a:t>
            </a:fld>
            <a:endParaRPr lang="en-US"/>
          </a:p>
        </p:txBody>
      </p:sp>
    </p:spTree>
    <p:extLst>
      <p:ext uri="{BB962C8B-B14F-4D97-AF65-F5344CB8AC3E}">
        <p14:creationId xmlns:p14="http://schemas.microsoft.com/office/powerpoint/2010/main" val="180700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6D01646-E23A-F4D2-33B1-D5C7B8B15A2B}"/>
              </a:ext>
            </a:extLst>
          </p:cNvPr>
          <p:cNvSpPr>
            <a:spLocks noGrp="1"/>
          </p:cNvSpPr>
          <p:nvPr>
            <p:ph type="dt" sz="half" idx="10"/>
          </p:nvPr>
        </p:nvSpPr>
        <p:spPr/>
        <p:txBody>
          <a:bodyPr/>
          <a:lstStyle/>
          <a:p>
            <a:fld id="{150C2279-DBF0-47D3-ACB7-E76D394B454A}" type="datetimeFigureOut">
              <a:rPr lang="en-US" smtClean="0"/>
              <a:t>11/20/2024</a:t>
            </a:fld>
            <a:endParaRPr lang="en-US"/>
          </a:p>
        </p:txBody>
      </p:sp>
      <p:sp>
        <p:nvSpPr>
          <p:cNvPr id="3" name="Footer Placeholder 2">
            <a:extLst>
              <a:ext uri="{FF2B5EF4-FFF2-40B4-BE49-F238E27FC236}">
                <a16:creationId xmlns:a16="http://schemas.microsoft.com/office/drawing/2014/main" id="{279690C0-FB57-515D-1AB3-DE9AA3E84DA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6D9B582-FCAB-DD37-075F-5ACD80A48002}"/>
              </a:ext>
            </a:extLst>
          </p:cNvPr>
          <p:cNvSpPr>
            <a:spLocks noGrp="1"/>
          </p:cNvSpPr>
          <p:nvPr>
            <p:ph type="sldNum" sz="quarter" idx="12"/>
          </p:nvPr>
        </p:nvSpPr>
        <p:spPr/>
        <p:txBody>
          <a:bodyPr/>
          <a:lstStyle/>
          <a:p>
            <a:fld id="{BF6966D9-284B-472A-A841-C56FF48BF541}" type="slidenum">
              <a:rPr lang="en-US" smtClean="0"/>
              <a:t>‹#›</a:t>
            </a:fld>
            <a:endParaRPr lang="en-US"/>
          </a:p>
        </p:txBody>
      </p:sp>
    </p:spTree>
    <p:extLst>
      <p:ext uri="{BB962C8B-B14F-4D97-AF65-F5344CB8AC3E}">
        <p14:creationId xmlns:p14="http://schemas.microsoft.com/office/powerpoint/2010/main" val="20279900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5358F-1BB6-4C16-F16E-C145D5E8E47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B30673D-2AFC-2C7C-858D-309CB97FE26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2F2C1BB-C46A-4D84-049C-5EE0E33806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F09AD44-59C2-9B5F-5A3B-BAA788685DBF}"/>
              </a:ext>
            </a:extLst>
          </p:cNvPr>
          <p:cNvSpPr>
            <a:spLocks noGrp="1"/>
          </p:cNvSpPr>
          <p:nvPr>
            <p:ph type="dt" sz="half" idx="10"/>
          </p:nvPr>
        </p:nvSpPr>
        <p:spPr/>
        <p:txBody>
          <a:bodyPr/>
          <a:lstStyle/>
          <a:p>
            <a:fld id="{150C2279-DBF0-47D3-ACB7-E76D394B454A}" type="datetimeFigureOut">
              <a:rPr lang="en-US" smtClean="0"/>
              <a:t>11/20/2024</a:t>
            </a:fld>
            <a:endParaRPr lang="en-US"/>
          </a:p>
        </p:txBody>
      </p:sp>
      <p:sp>
        <p:nvSpPr>
          <p:cNvPr id="6" name="Footer Placeholder 5">
            <a:extLst>
              <a:ext uri="{FF2B5EF4-FFF2-40B4-BE49-F238E27FC236}">
                <a16:creationId xmlns:a16="http://schemas.microsoft.com/office/drawing/2014/main" id="{9D3FBFEC-FD2A-A55E-0909-D14D72F8AF3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A115FE4-7985-0290-E7BB-24246CB6C8D9}"/>
              </a:ext>
            </a:extLst>
          </p:cNvPr>
          <p:cNvSpPr>
            <a:spLocks noGrp="1"/>
          </p:cNvSpPr>
          <p:nvPr>
            <p:ph type="sldNum" sz="quarter" idx="12"/>
          </p:nvPr>
        </p:nvSpPr>
        <p:spPr/>
        <p:txBody>
          <a:bodyPr/>
          <a:lstStyle/>
          <a:p>
            <a:fld id="{BF6966D9-284B-472A-A841-C56FF48BF541}" type="slidenum">
              <a:rPr lang="en-US" smtClean="0"/>
              <a:t>‹#›</a:t>
            </a:fld>
            <a:endParaRPr lang="en-US"/>
          </a:p>
        </p:txBody>
      </p:sp>
    </p:spTree>
    <p:extLst>
      <p:ext uri="{BB962C8B-B14F-4D97-AF65-F5344CB8AC3E}">
        <p14:creationId xmlns:p14="http://schemas.microsoft.com/office/powerpoint/2010/main" val="29101221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2928D-9DC8-023B-9024-BAA50086E3B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7CF1FA9-B672-AB7F-B0BD-E300BE289CB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AF8B2EC-27D5-BE6C-11AB-28A40068B99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41CCBB7-6ADC-7844-654E-77000974C9AD}"/>
              </a:ext>
            </a:extLst>
          </p:cNvPr>
          <p:cNvSpPr>
            <a:spLocks noGrp="1"/>
          </p:cNvSpPr>
          <p:nvPr>
            <p:ph type="dt" sz="half" idx="10"/>
          </p:nvPr>
        </p:nvSpPr>
        <p:spPr/>
        <p:txBody>
          <a:bodyPr/>
          <a:lstStyle/>
          <a:p>
            <a:fld id="{150C2279-DBF0-47D3-ACB7-E76D394B454A}" type="datetimeFigureOut">
              <a:rPr lang="en-US" smtClean="0"/>
              <a:t>11/20/2024</a:t>
            </a:fld>
            <a:endParaRPr lang="en-US"/>
          </a:p>
        </p:txBody>
      </p:sp>
      <p:sp>
        <p:nvSpPr>
          <p:cNvPr id="6" name="Footer Placeholder 5">
            <a:extLst>
              <a:ext uri="{FF2B5EF4-FFF2-40B4-BE49-F238E27FC236}">
                <a16:creationId xmlns:a16="http://schemas.microsoft.com/office/drawing/2014/main" id="{27078202-223B-3018-2F6B-3FE32709444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4FA6A27-5C87-F61B-8362-11D66BB916CB}"/>
              </a:ext>
            </a:extLst>
          </p:cNvPr>
          <p:cNvSpPr>
            <a:spLocks noGrp="1"/>
          </p:cNvSpPr>
          <p:nvPr>
            <p:ph type="sldNum" sz="quarter" idx="12"/>
          </p:nvPr>
        </p:nvSpPr>
        <p:spPr/>
        <p:txBody>
          <a:bodyPr/>
          <a:lstStyle/>
          <a:p>
            <a:fld id="{BF6966D9-284B-472A-A841-C56FF48BF541}" type="slidenum">
              <a:rPr lang="en-US" smtClean="0"/>
              <a:t>‹#›</a:t>
            </a:fld>
            <a:endParaRPr lang="en-US"/>
          </a:p>
        </p:txBody>
      </p:sp>
    </p:spTree>
    <p:extLst>
      <p:ext uri="{BB962C8B-B14F-4D97-AF65-F5344CB8AC3E}">
        <p14:creationId xmlns:p14="http://schemas.microsoft.com/office/powerpoint/2010/main" val="17172229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2BF89-7B87-365E-DAF0-47F47CC9515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EB8CEF2-6E00-1CA5-7C05-662F9495525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770550-93B5-0127-EBD0-350B2FD300D5}"/>
              </a:ext>
            </a:extLst>
          </p:cNvPr>
          <p:cNvSpPr>
            <a:spLocks noGrp="1"/>
          </p:cNvSpPr>
          <p:nvPr>
            <p:ph type="dt" sz="half" idx="10"/>
          </p:nvPr>
        </p:nvSpPr>
        <p:spPr/>
        <p:txBody>
          <a:bodyPr/>
          <a:lstStyle/>
          <a:p>
            <a:fld id="{150C2279-DBF0-47D3-ACB7-E76D394B454A}" type="datetimeFigureOut">
              <a:rPr lang="en-US" smtClean="0"/>
              <a:t>11/20/2024</a:t>
            </a:fld>
            <a:endParaRPr lang="en-US"/>
          </a:p>
        </p:txBody>
      </p:sp>
      <p:sp>
        <p:nvSpPr>
          <p:cNvPr id="5" name="Footer Placeholder 4">
            <a:extLst>
              <a:ext uri="{FF2B5EF4-FFF2-40B4-BE49-F238E27FC236}">
                <a16:creationId xmlns:a16="http://schemas.microsoft.com/office/drawing/2014/main" id="{01508D5D-2859-2601-D7F5-C09814D658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DDD7F2-004D-AAB4-C58A-A852722533F7}"/>
              </a:ext>
            </a:extLst>
          </p:cNvPr>
          <p:cNvSpPr>
            <a:spLocks noGrp="1"/>
          </p:cNvSpPr>
          <p:nvPr>
            <p:ph type="sldNum" sz="quarter" idx="12"/>
          </p:nvPr>
        </p:nvSpPr>
        <p:spPr/>
        <p:txBody>
          <a:bodyPr/>
          <a:lstStyle/>
          <a:p>
            <a:fld id="{BF6966D9-284B-472A-A841-C56FF48BF541}" type="slidenum">
              <a:rPr lang="en-US" smtClean="0"/>
              <a:t>‹#›</a:t>
            </a:fld>
            <a:endParaRPr lang="en-US"/>
          </a:p>
        </p:txBody>
      </p:sp>
    </p:spTree>
    <p:extLst>
      <p:ext uri="{BB962C8B-B14F-4D97-AF65-F5344CB8AC3E}">
        <p14:creationId xmlns:p14="http://schemas.microsoft.com/office/powerpoint/2010/main" val="23802643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BFB391F-7E2F-5CB6-B3D9-54BE50E57D0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4DB2BBA-7D02-1CF4-9D0D-9F45398928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F2A1EA7-EE18-167A-6240-40694D149E2D}"/>
              </a:ext>
            </a:extLst>
          </p:cNvPr>
          <p:cNvSpPr>
            <a:spLocks noGrp="1"/>
          </p:cNvSpPr>
          <p:nvPr>
            <p:ph type="dt" sz="half" idx="10"/>
          </p:nvPr>
        </p:nvSpPr>
        <p:spPr/>
        <p:txBody>
          <a:bodyPr/>
          <a:lstStyle/>
          <a:p>
            <a:fld id="{150C2279-DBF0-47D3-ACB7-E76D394B454A}" type="datetimeFigureOut">
              <a:rPr lang="en-US" smtClean="0"/>
              <a:t>11/20/2024</a:t>
            </a:fld>
            <a:endParaRPr lang="en-US"/>
          </a:p>
        </p:txBody>
      </p:sp>
      <p:sp>
        <p:nvSpPr>
          <p:cNvPr id="5" name="Footer Placeholder 4">
            <a:extLst>
              <a:ext uri="{FF2B5EF4-FFF2-40B4-BE49-F238E27FC236}">
                <a16:creationId xmlns:a16="http://schemas.microsoft.com/office/drawing/2014/main" id="{F762E842-EF0A-7AB0-C2E2-0FDCF7FC48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375AF6-91E0-051F-9232-82EA5B6252B3}"/>
              </a:ext>
            </a:extLst>
          </p:cNvPr>
          <p:cNvSpPr>
            <a:spLocks noGrp="1"/>
          </p:cNvSpPr>
          <p:nvPr>
            <p:ph type="sldNum" sz="quarter" idx="12"/>
          </p:nvPr>
        </p:nvSpPr>
        <p:spPr/>
        <p:txBody>
          <a:bodyPr/>
          <a:lstStyle/>
          <a:p>
            <a:fld id="{BF6966D9-284B-472A-A841-C56FF48BF541}" type="slidenum">
              <a:rPr lang="en-US" smtClean="0"/>
              <a:t>‹#›</a:t>
            </a:fld>
            <a:endParaRPr lang="en-US"/>
          </a:p>
        </p:txBody>
      </p:sp>
    </p:spTree>
    <p:extLst>
      <p:ext uri="{BB962C8B-B14F-4D97-AF65-F5344CB8AC3E}">
        <p14:creationId xmlns:p14="http://schemas.microsoft.com/office/powerpoint/2010/main" val="21114472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11/20/2024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618383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044043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44564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11/20/2024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700612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11/20/2024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2164110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11/20/2024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8445525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11/20/2024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7465939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11/20/2024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2566192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11/20/2024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0762423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9334207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143536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D24A77-8ADE-6968-8EAD-20D93AF8C33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4441B7D-56D0-1729-51CA-E3241E02AE4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15FFBB3-14EC-AAEE-DE2F-42968AC783B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0C2279-DBF0-47D3-ACB7-E76D394B454A}" type="datetimeFigureOut">
              <a:rPr lang="en-US" smtClean="0"/>
              <a:t>11/20/2024</a:t>
            </a:fld>
            <a:endParaRPr lang="en-US"/>
          </a:p>
        </p:txBody>
      </p:sp>
      <p:sp>
        <p:nvSpPr>
          <p:cNvPr id="5" name="Footer Placeholder 4">
            <a:extLst>
              <a:ext uri="{FF2B5EF4-FFF2-40B4-BE49-F238E27FC236}">
                <a16:creationId xmlns:a16="http://schemas.microsoft.com/office/drawing/2014/main" id="{C970DC61-45D0-FD8B-D4A0-DB6BA78ABEA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147777B-EA2A-A904-2C6C-B5EBEFB0041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F6966D9-284B-472A-A841-C56FF48BF541}" type="slidenum">
              <a:rPr lang="en-US" smtClean="0"/>
              <a:t>‹#›</a:t>
            </a:fld>
            <a:endParaRPr lang="en-US"/>
          </a:p>
        </p:txBody>
      </p:sp>
    </p:spTree>
    <p:extLst>
      <p:ext uri="{BB962C8B-B14F-4D97-AF65-F5344CB8AC3E}">
        <p14:creationId xmlns:p14="http://schemas.microsoft.com/office/powerpoint/2010/main" val="38865413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11/20/2024</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02648342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A54DE8-B45E-558B-9A08-BBDA1853F868}"/>
              </a:ext>
            </a:extLst>
          </p:cNvPr>
          <p:cNvSpPr>
            <a:spLocks noGrp="1"/>
          </p:cNvSpPr>
          <p:nvPr>
            <p:ph type="ctrTitle"/>
          </p:nvPr>
        </p:nvSpPr>
        <p:spPr/>
        <p:txBody>
          <a:bodyPr/>
          <a:lstStyle/>
          <a:p>
            <a:r>
              <a:rPr lang="en-US" dirty="0"/>
              <a:t>OOP week 6</a:t>
            </a:r>
          </a:p>
        </p:txBody>
      </p:sp>
      <p:sp>
        <p:nvSpPr>
          <p:cNvPr id="3" name="Subtitle 2">
            <a:extLst>
              <a:ext uri="{FF2B5EF4-FFF2-40B4-BE49-F238E27FC236}">
                <a16:creationId xmlns:a16="http://schemas.microsoft.com/office/drawing/2014/main" id="{7F1F49C9-E5B8-B6F9-D2AF-C29B97EC38F1}"/>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41194116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DDEF1-3446-554B-EF9D-71C59786350B}"/>
              </a:ext>
            </a:extLst>
          </p:cNvPr>
          <p:cNvSpPr>
            <a:spLocks noGrp="1"/>
          </p:cNvSpPr>
          <p:nvPr>
            <p:ph type="title"/>
          </p:nvPr>
        </p:nvSpPr>
        <p:spPr/>
        <p:txBody>
          <a:bodyPr/>
          <a:lstStyle/>
          <a:p>
            <a:r>
              <a:rPr lang="en-US" dirty="0" err="1"/>
              <a:t>Cotent</a:t>
            </a:r>
            <a:endParaRPr lang="en-US" dirty="0"/>
          </a:p>
        </p:txBody>
      </p:sp>
      <p:sp>
        <p:nvSpPr>
          <p:cNvPr id="3" name="Content Placeholder 2">
            <a:extLst>
              <a:ext uri="{FF2B5EF4-FFF2-40B4-BE49-F238E27FC236}">
                <a16:creationId xmlns:a16="http://schemas.microsoft.com/office/drawing/2014/main" id="{BF50C65B-7655-84BB-59FC-A1A8C100CF15}"/>
              </a:ext>
            </a:extLst>
          </p:cNvPr>
          <p:cNvSpPr>
            <a:spLocks noGrp="1"/>
          </p:cNvSpPr>
          <p:nvPr>
            <p:ph idx="1"/>
          </p:nvPr>
        </p:nvSpPr>
        <p:spPr/>
        <p:txBody>
          <a:bodyPr/>
          <a:lstStyle/>
          <a:p>
            <a:pPr marL="342900" marR="0" lvl="0" indent="-342900">
              <a:lnSpc>
                <a:spcPct val="115000"/>
              </a:lnSpc>
              <a:spcAft>
                <a:spcPts val="1000"/>
              </a:spcAft>
              <a:buFont typeface="Symbol" panose="05050102010706020507" pitchFamily="18" charset="2"/>
              <a:buChar char=""/>
            </a:pPr>
            <a:r>
              <a:rPr lang="en-US" sz="1800" dirty="0">
                <a:effectLst/>
                <a:latin typeface="Times New Roman" panose="02020603050405020304" pitchFamily="18" charset="0"/>
                <a:ea typeface="Times New Roman" panose="02020603050405020304" pitchFamily="18" charset="0"/>
                <a:cs typeface="Arial" panose="020B0604020202020204" pitchFamily="34" charset="0"/>
              </a:rPr>
              <a:t>Arrays of Objects.  </a:t>
            </a:r>
            <a:endParaRPr lang="en-US" sz="1800" dirty="0">
              <a:effectLst/>
              <a:latin typeface="Calibri" panose="020F0502020204030204" pitchFamily="34" charset="0"/>
              <a:ea typeface="Times New Roman" panose="02020603050405020304" pitchFamily="18" charset="0"/>
              <a:cs typeface="Arial" panose="020B0604020202020204" pitchFamily="34" charset="0"/>
            </a:endParaRPr>
          </a:p>
          <a:p>
            <a:pPr marL="342900" marR="0" lvl="0" indent="-342900">
              <a:lnSpc>
                <a:spcPct val="115000"/>
              </a:lnSpc>
              <a:spcAft>
                <a:spcPts val="1000"/>
              </a:spcAft>
              <a:buFont typeface="Symbol" panose="05050102010706020507" pitchFamily="18" charset="2"/>
              <a:buChar char=""/>
            </a:pPr>
            <a:r>
              <a:rPr lang="en-US" sz="1800" dirty="0">
                <a:effectLst/>
                <a:latin typeface="Times New Roman" panose="02020603050405020304" pitchFamily="18" charset="0"/>
                <a:ea typeface="Times New Roman" panose="02020603050405020304" pitchFamily="18" charset="0"/>
                <a:cs typeface="Arial" panose="020B0604020202020204" pitchFamily="34" charset="0"/>
              </a:rPr>
              <a:t>Pointers to Objects.</a:t>
            </a:r>
            <a:endParaRPr lang="en-US" sz="1800" dirty="0">
              <a:effectLst/>
              <a:latin typeface="Calibri" panose="020F0502020204030204" pitchFamily="34" charset="0"/>
              <a:ea typeface="Times New Roman" panose="02020603050405020304" pitchFamily="18" charset="0"/>
              <a:cs typeface="Arial" panose="020B0604020202020204" pitchFamily="34" charset="0"/>
            </a:endParaRPr>
          </a:p>
          <a:p>
            <a:pPr marL="342900" marR="0" lvl="0" indent="-342900">
              <a:lnSpc>
                <a:spcPct val="115000"/>
              </a:lnSpc>
              <a:spcAft>
                <a:spcPts val="1000"/>
              </a:spcAft>
              <a:buFont typeface="Symbol" panose="05050102010706020507" pitchFamily="18" charset="2"/>
              <a:buChar char=""/>
            </a:pPr>
            <a:r>
              <a:rPr lang="en-US" sz="1800" dirty="0">
                <a:effectLst/>
                <a:latin typeface="Times New Roman" panose="02020603050405020304" pitchFamily="18" charset="0"/>
                <a:ea typeface="Times New Roman" panose="02020603050405020304" pitchFamily="18" charset="0"/>
                <a:cs typeface="Arial" panose="020B0604020202020204" pitchFamily="34" charset="0"/>
              </a:rPr>
              <a:t>Array of Pointers to Objects.</a:t>
            </a:r>
            <a:endParaRPr lang="en-US" sz="1800" dirty="0">
              <a:effectLst/>
              <a:latin typeface="Calibri" panose="020F0502020204030204" pitchFamily="34" charset="0"/>
              <a:ea typeface="Times New Roman" panose="02020603050405020304" pitchFamily="18" charset="0"/>
              <a:cs typeface="Arial" panose="020B0604020202020204" pitchFamily="34" charset="0"/>
            </a:endParaRPr>
          </a:p>
          <a:p>
            <a:r>
              <a:rPr lang="en-US" sz="1800" dirty="0">
                <a:effectLst/>
                <a:latin typeface="Times New Roman" panose="02020603050405020304" pitchFamily="18" charset="0"/>
                <a:ea typeface="Times New Roman" panose="02020603050405020304" pitchFamily="18" charset="0"/>
              </a:rPr>
              <a:t>Friend functions and friend classes</a:t>
            </a:r>
            <a:r>
              <a:rPr lang="en-US" sz="1800" b="1" dirty="0">
                <a:effectLst/>
                <a:latin typeface="Times New Roman" panose="02020603050405020304" pitchFamily="18" charset="0"/>
                <a:ea typeface="Times New Roman" panose="02020603050405020304" pitchFamily="18" charset="0"/>
              </a:rPr>
              <a:t> </a:t>
            </a:r>
            <a:endParaRPr lang="en-US" dirty="0"/>
          </a:p>
        </p:txBody>
      </p:sp>
    </p:spTree>
    <p:extLst>
      <p:ext uri="{BB962C8B-B14F-4D97-AF65-F5344CB8AC3E}">
        <p14:creationId xmlns:p14="http://schemas.microsoft.com/office/powerpoint/2010/main" val="30817766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7E9095-5893-65A9-24D8-DB8E2538C147}"/>
              </a:ext>
            </a:extLst>
          </p:cNvPr>
          <p:cNvSpPr>
            <a:spLocks noGrp="1"/>
          </p:cNvSpPr>
          <p:nvPr>
            <p:ph type="title"/>
          </p:nvPr>
        </p:nvSpPr>
        <p:spPr/>
        <p:txBody>
          <a:bodyPr/>
          <a:lstStyle/>
          <a:p>
            <a:r>
              <a:rPr lang="en-US" b="1" i="0" u="sng" dirty="0">
                <a:effectLst/>
                <a:latin typeface="Nunito" pitchFamily="2" charset="0"/>
              </a:rPr>
              <a:t>Array of Objects</a:t>
            </a:r>
            <a:endParaRPr lang="en-US" dirty="0"/>
          </a:p>
        </p:txBody>
      </p:sp>
      <p:sp>
        <p:nvSpPr>
          <p:cNvPr id="3" name="Content Placeholder 2">
            <a:extLst>
              <a:ext uri="{FF2B5EF4-FFF2-40B4-BE49-F238E27FC236}">
                <a16:creationId xmlns:a16="http://schemas.microsoft.com/office/drawing/2014/main" id="{729B8131-AF85-503F-070E-12567C064F6B}"/>
              </a:ext>
            </a:extLst>
          </p:cNvPr>
          <p:cNvSpPr>
            <a:spLocks noGrp="1"/>
          </p:cNvSpPr>
          <p:nvPr>
            <p:ph idx="1"/>
          </p:nvPr>
        </p:nvSpPr>
        <p:spPr/>
        <p:txBody>
          <a:bodyPr>
            <a:normAutofit fontScale="92500" lnSpcReduction="10000"/>
          </a:bodyPr>
          <a:lstStyle/>
          <a:p>
            <a:pPr algn="l" rtl="0" fontAlgn="base">
              <a:spcAft>
                <a:spcPts val="750"/>
              </a:spcAft>
            </a:pPr>
            <a:r>
              <a:rPr lang="en-US" b="0" i="0" dirty="0">
                <a:effectLst/>
                <a:latin typeface="Nunito" pitchFamily="2" charset="0"/>
              </a:rPr>
              <a:t>When a class is defined, only the specification for the object is defined; no memory or storage is allocated. To use the data and access functions defined in the class, you need to create objects.</a:t>
            </a:r>
          </a:p>
          <a:p>
            <a:pPr algn="l" rtl="0" fontAlgn="base">
              <a:spcAft>
                <a:spcPts val="750"/>
              </a:spcAft>
            </a:pPr>
            <a:r>
              <a:rPr lang="en-US" b="1" i="0" dirty="0">
                <a:effectLst/>
                <a:latin typeface="Nunito" pitchFamily="2" charset="0"/>
              </a:rPr>
              <a:t>Syntax: </a:t>
            </a:r>
            <a:r>
              <a:rPr lang="en-US" b="1" i="0" dirty="0" err="1">
                <a:effectLst/>
                <a:latin typeface="Nunito" pitchFamily="2" charset="0"/>
              </a:rPr>
              <a:t>ClassName</a:t>
            </a:r>
            <a:r>
              <a:rPr lang="en-US" b="1" i="0" dirty="0">
                <a:effectLst/>
                <a:latin typeface="Nunito" pitchFamily="2" charset="0"/>
              </a:rPr>
              <a:t> </a:t>
            </a:r>
            <a:r>
              <a:rPr lang="en-US" b="1" i="0" dirty="0" err="1">
                <a:effectLst/>
                <a:latin typeface="Nunito" pitchFamily="2" charset="0"/>
              </a:rPr>
              <a:t>ObjectName</a:t>
            </a:r>
            <a:r>
              <a:rPr lang="en-US" b="1" i="0" dirty="0">
                <a:effectLst/>
                <a:latin typeface="Nunito" pitchFamily="2" charset="0"/>
              </a:rPr>
              <a:t>[number </a:t>
            </a:r>
            <a:r>
              <a:rPr lang="en-US" b="1" dirty="0">
                <a:latin typeface="Nunito" pitchFamily="2" charset="0"/>
              </a:rPr>
              <a:t>of objects</a:t>
            </a:r>
            <a:r>
              <a:rPr lang="en-US" b="1" i="0" dirty="0">
                <a:effectLst/>
                <a:latin typeface="Nunito" pitchFamily="2" charset="0"/>
              </a:rPr>
              <a:t>];</a:t>
            </a:r>
            <a:r>
              <a:rPr lang="en-US" b="0" i="0" dirty="0">
                <a:solidFill>
                  <a:srgbClr val="FFFFFF"/>
                </a:solidFill>
                <a:effectLst/>
                <a:latin typeface="Nunito" pitchFamily="2" charset="0"/>
              </a:rPr>
              <a:t>W</a:t>
            </a:r>
          </a:p>
          <a:p>
            <a:pPr algn="l" rtl="0" fontAlgn="base">
              <a:spcAft>
                <a:spcPts val="750"/>
              </a:spcAft>
            </a:pPr>
            <a:r>
              <a:rPr lang="en-US" b="0" i="0" dirty="0">
                <a:solidFill>
                  <a:srgbClr val="FFFFFF"/>
                </a:solidFill>
                <a:effectLst/>
                <a:latin typeface="Nunito" pitchFamily="2" charset="0"/>
              </a:rPr>
              <a:t>The Array of Objects stores </a:t>
            </a:r>
            <a:r>
              <a:rPr lang="en-US" b="0" i="1" dirty="0">
                <a:solidFill>
                  <a:srgbClr val="FFFFFF"/>
                </a:solidFill>
                <a:effectLst/>
                <a:latin typeface="Nunito" pitchFamily="2" charset="0"/>
              </a:rPr>
              <a:t>objects</a:t>
            </a:r>
            <a:r>
              <a:rPr lang="en-US" b="0" i="0" dirty="0">
                <a:solidFill>
                  <a:srgbClr val="FFFFFF"/>
                </a:solidFill>
                <a:effectLst/>
                <a:latin typeface="Nunito" pitchFamily="2" charset="0"/>
              </a:rPr>
              <a:t>. An array of a class type is also known as an array of </a:t>
            </a:r>
            <a:r>
              <a:rPr lang="en-US" b="0" i="0" dirty="0" err="1">
                <a:solidFill>
                  <a:srgbClr val="FFFFFF"/>
                </a:solidFill>
                <a:effectLst/>
                <a:latin typeface="Nunito" pitchFamily="2" charset="0"/>
              </a:rPr>
              <a:t>objects.hen</a:t>
            </a:r>
            <a:r>
              <a:rPr lang="en-US" b="0" i="0" dirty="0">
                <a:solidFill>
                  <a:srgbClr val="FFFFFF"/>
                </a:solidFill>
                <a:effectLst/>
                <a:latin typeface="Nunito" pitchFamily="2" charset="0"/>
              </a:rPr>
              <a:t> a class is defined, only the specification for the object is defined; no memory or storage is allocated. To use the data and access functions defined in the class, you need to create objects.</a:t>
            </a:r>
          </a:p>
          <a:p>
            <a:pPr algn="l" rtl="0" fontAlgn="base">
              <a:spcAft>
                <a:spcPts val="750"/>
              </a:spcAft>
            </a:pPr>
            <a:r>
              <a:rPr lang="en-US" b="1" i="0" dirty="0">
                <a:solidFill>
                  <a:srgbClr val="FFFFFF"/>
                </a:solidFill>
                <a:effectLst/>
                <a:latin typeface="Nunito" pitchFamily="2" charset="0"/>
              </a:rPr>
              <a:t>Syntax:</a:t>
            </a:r>
            <a:endParaRPr lang="en-US" b="0" i="0" dirty="0">
              <a:solidFill>
                <a:srgbClr val="FFFFFF"/>
              </a:solidFill>
              <a:effectLst/>
              <a:latin typeface="Nunito" pitchFamily="2" charset="0"/>
            </a:endParaRPr>
          </a:p>
          <a:p>
            <a:pPr algn="l" rtl="0" fontAlgn="base">
              <a:spcAft>
                <a:spcPts val="750"/>
              </a:spcAft>
            </a:pPr>
            <a:endParaRPr lang="en-US" b="0" i="0" dirty="0">
              <a:effectLst/>
              <a:latin typeface="Nunito" pitchFamily="2" charset="0"/>
            </a:endParaRPr>
          </a:p>
          <a:p>
            <a:endParaRPr lang="en-US" dirty="0"/>
          </a:p>
        </p:txBody>
      </p:sp>
    </p:spTree>
    <p:extLst>
      <p:ext uri="{BB962C8B-B14F-4D97-AF65-F5344CB8AC3E}">
        <p14:creationId xmlns:p14="http://schemas.microsoft.com/office/powerpoint/2010/main" val="28245856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416158B-C144-A970-A28B-5FD4EF14E1E1}"/>
              </a:ext>
            </a:extLst>
          </p:cNvPr>
          <p:cNvSpPr>
            <a:spLocks noGrp="1"/>
          </p:cNvSpPr>
          <p:nvPr>
            <p:ph idx="1"/>
          </p:nvPr>
        </p:nvSpPr>
        <p:spPr>
          <a:xfrm>
            <a:off x="838200" y="419725"/>
            <a:ext cx="10515600" cy="5757238"/>
          </a:xfrm>
        </p:spPr>
        <p:txBody>
          <a:bodyPr/>
          <a:lstStyle/>
          <a:p>
            <a:r>
              <a:rPr lang="en-US" b="0" i="0" dirty="0">
                <a:effectLst/>
                <a:latin typeface="Nunito" pitchFamily="2" charset="0"/>
              </a:rPr>
              <a:t>Storing more than one Employee data. Let’s assume there is an array of objects for storing employee data emp[50].</a:t>
            </a:r>
            <a:endParaRPr lang="en-US" dirty="0"/>
          </a:p>
        </p:txBody>
      </p:sp>
      <p:pic>
        <p:nvPicPr>
          <p:cNvPr id="5" name="Picture 4">
            <a:extLst>
              <a:ext uri="{FF2B5EF4-FFF2-40B4-BE49-F238E27FC236}">
                <a16:creationId xmlns:a16="http://schemas.microsoft.com/office/drawing/2014/main" id="{68D5B57E-9B84-9413-8ADC-0BFEEA66BF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18939" y="1747837"/>
            <a:ext cx="9293900" cy="4429126"/>
          </a:xfrm>
          <a:prstGeom prst="rect">
            <a:avLst/>
          </a:prstGeom>
        </p:spPr>
      </p:pic>
    </p:spTree>
    <p:extLst>
      <p:ext uri="{BB962C8B-B14F-4D97-AF65-F5344CB8AC3E}">
        <p14:creationId xmlns:p14="http://schemas.microsoft.com/office/powerpoint/2010/main" val="13636474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5A8E08-1882-E90A-E688-CED5DD83CB8E}"/>
              </a:ext>
            </a:extLst>
          </p:cNvPr>
          <p:cNvSpPr>
            <a:spLocks noGrp="1"/>
          </p:cNvSpPr>
          <p:nvPr>
            <p:ph type="title"/>
          </p:nvPr>
        </p:nvSpPr>
        <p:spPr>
          <a:xfrm>
            <a:off x="838200" y="365126"/>
            <a:ext cx="10515600" cy="819098"/>
          </a:xfrm>
        </p:spPr>
        <p:txBody>
          <a:bodyPr>
            <a:normAutofit/>
          </a:bodyPr>
          <a:lstStyle/>
          <a:p>
            <a:r>
              <a:rPr lang="en-US" sz="2000" b="0" i="0" dirty="0">
                <a:effectLst/>
                <a:latin typeface="Nunito" pitchFamily="2" charset="0"/>
              </a:rPr>
              <a:t>C++ program for storing data of one Employee:</a:t>
            </a:r>
            <a:endParaRPr lang="en-US" sz="2000" dirty="0"/>
          </a:p>
        </p:txBody>
      </p:sp>
      <p:sp>
        <p:nvSpPr>
          <p:cNvPr id="3" name="Content Placeholder 2">
            <a:extLst>
              <a:ext uri="{FF2B5EF4-FFF2-40B4-BE49-F238E27FC236}">
                <a16:creationId xmlns:a16="http://schemas.microsoft.com/office/drawing/2014/main" id="{10872037-AB88-9CCC-DE38-EAB5D9694D6D}"/>
              </a:ext>
            </a:extLst>
          </p:cNvPr>
          <p:cNvSpPr>
            <a:spLocks noGrp="1"/>
          </p:cNvSpPr>
          <p:nvPr>
            <p:ph idx="1"/>
          </p:nvPr>
        </p:nvSpPr>
        <p:spPr>
          <a:xfrm>
            <a:off x="838200" y="1184224"/>
            <a:ext cx="4873052" cy="4992739"/>
          </a:xfrm>
        </p:spPr>
        <p:txBody>
          <a:bodyPr>
            <a:noAutofit/>
          </a:bodyPr>
          <a:lstStyle/>
          <a:p>
            <a:pPr marL="0" indent="0">
              <a:buNone/>
            </a:pPr>
            <a:r>
              <a:rPr lang="en-US" sz="2000" dirty="0"/>
              <a:t>// C++ program to implement </a:t>
            </a:r>
          </a:p>
          <a:p>
            <a:pPr marL="0" indent="0">
              <a:buNone/>
            </a:pPr>
            <a:r>
              <a:rPr lang="en-US" sz="2000" dirty="0"/>
              <a:t>// the above approach</a:t>
            </a:r>
          </a:p>
          <a:p>
            <a:pPr marL="0" indent="0">
              <a:buNone/>
            </a:pPr>
            <a:r>
              <a:rPr lang="en-US" sz="2000" dirty="0"/>
              <a:t>#include&lt;iostream&gt;</a:t>
            </a:r>
          </a:p>
          <a:p>
            <a:pPr marL="0" indent="0">
              <a:buNone/>
            </a:pPr>
            <a:r>
              <a:rPr lang="en-US" sz="2000" dirty="0"/>
              <a:t>using namespace std;</a:t>
            </a:r>
          </a:p>
          <a:p>
            <a:pPr marL="0" indent="0">
              <a:buNone/>
            </a:pPr>
            <a:r>
              <a:rPr lang="en-US" sz="2000" dirty="0"/>
              <a:t>class Employee</a:t>
            </a:r>
          </a:p>
          <a:p>
            <a:pPr marL="0" indent="0">
              <a:buNone/>
            </a:pPr>
            <a:r>
              <a:rPr lang="en-US" sz="2000" dirty="0"/>
              <a:t>{</a:t>
            </a:r>
          </a:p>
          <a:p>
            <a:pPr marL="0" indent="0">
              <a:buNone/>
            </a:pPr>
            <a:r>
              <a:rPr lang="en-US" sz="2000" dirty="0"/>
              <a:t>  int id;</a:t>
            </a:r>
          </a:p>
          <a:p>
            <a:pPr marL="0" indent="0">
              <a:buNone/>
            </a:pPr>
            <a:r>
              <a:rPr lang="en-US" sz="2000" dirty="0"/>
              <a:t>  char name[30];</a:t>
            </a:r>
          </a:p>
          <a:p>
            <a:pPr marL="0" indent="0">
              <a:buNone/>
            </a:pPr>
            <a:r>
              <a:rPr lang="en-US" sz="2000" dirty="0"/>
              <a:t>  public:</a:t>
            </a:r>
          </a:p>
          <a:p>
            <a:pPr marL="0" indent="0">
              <a:buNone/>
            </a:pPr>
            <a:r>
              <a:rPr lang="en-US" sz="2000" dirty="0"/>
              <a:t>  void </a:t>
            </a:r>
            <a:r>
              <a:rPr lang="en-US" sz="2000" dirty="0" err="1"/>
              <a:t>getdata</a:t>
            </a:r>
            <a:r>
              <a:rPr lang="en-US" sz="2000" dirty="0"/>
              <a:t>();//Declaration of function</a:t>
            </a:r>
          </a:p>
          <a:p>
            <a:pPr marL="0" indent="0">
              <a:buNone/>
            </a:pPr>
            <a:r>
              <a:rPr lang="en-US" sz="2000" dirty="0"/>
              <a:t>  void </a:t>
            </a:r>
            <a:r>
              <a:rPr lang="en-US" sz="2000" dirty="0" err="1"/>
              <a:t>putdata</a:t>
            </a:r>
            <a:r>
              <a:rPr lang="en-US" sz="2000" dirty="0"/>
              <a:t>();//Declaration of function</a:t>
            </a:r>
          </a:p>
          <a:p>
            <a:pPr marL="0" indent="0">
              <a:buNone/>
            </a:pPr>
            <a:r>
              <a:rPr lang="en-US" sz="2000" dirty="0"/>
              <a:t>};</a:t>
            </a:r>
          </a:p>
        </p:txBody>
      </p:sp>
      <p:sp>
        <p:nvSpPr>
          <p:cNvPr id="4" name="Content Placeholder 2">
            <a:extLst>
              <a:ext uri="{FF2B5EF4-FFF2-40B4-BE49-F238E27FC236}">
                <a16:creationId xmlns:a16="http://schemas.microsoft.com/office/drawing/2014/main" id="{8395D041-4ECA-2774-A587-253CF5035841}"/>
              </a:ext>
            </a:extLst>
          </p:cNvPr>
          <p:cNvSpPr txBox="1">
            <a:spLocks/>
          </p:cNvSpPr>
          <p:nvPr/>
        </p:nvSpPr>
        <p:spPr>
          <a:xfrm>
            <a:off x="5591330" y="1184224"/>
            <a:ext cx="6325849" cy="567377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a:t>void Employee::</a:t>
            </a:r>
            <a:r>
              <a:rPr lang="en-US" sz="2000" dirty="0" err="1"/>
              <a:t>getdata</a:t>
            </a:r>
            <a:r>
              <a:rPr lang="en-US" sz="2000" dirty="0"/>
              <a:t>(){//Defining of function</a:t>
            </a:r>
          </a:p>
          <a:p>
            <a:pPr marL="0" indent="0">
              <a:buFont typeface="Arial" panose="020B0604020202020204" pitchFamily="34" charset="0"/>
              <a:buNone/>
            </a:pPr>
            <a:r>
              <a:rPr lang="en-US" sz="2000" dirty="0"/>
              <a:t>  </a:t>
            </a:r>
            <a:r>
              <a:rPr lang="en-US" sz="2000" dirty="0" err="1"/>
              <a:t>cout</a:t>
            </a:r>
            <a:r>
              <a:rPr lang="en-US" sz="2000" dirty="0"/>
              <a:t>&lt;&lt;"Enter Id : ";</a:t>
            </a:r>
          </a:p>
          <a:p>
            <a:pPr marL="0" indent="0">
              <a:buFont typeface="Arial" panose="020B0604020202020204" pitchFamily="34" charset="0"/>
              <a:buNone/>
            </a:pPr>
            <a:r>
              <a:rPr lang="en-US" sz="2000" dirty="0"/>
              <a:t>  </a:t>
            </a:r>
            <a:r>
              <a:rPr lang="en-US" sz="2000" dirty="0" err="1"/>
              <a:t>cin</a:t>
            </a:r>
            <a:r>
              <a:rPr lang="en-US" sz="2000" dirty="0"/>
              <a:t>&gt;&gt;id;</a:t>
            </a:r>
          </a:p>
          <a:p>
            <a:pPr marL="0" indent="0">
              <a:buFont typeface="Arial" panose="020B0604020202020204" pitchFamily="34" charset="0"/>
              <a:buNone/>
            </a:pPr>
            <a:r>
              <a:rPr lang="en-US" sz="2000" dirty="0"/>
              <a:t>  </a:t>
            </a:r>
            <a:r>
              <a:rPr lang="en-US" sz="2000" dirty="0" err="1"/>
              <a:t>cout</a:t>
            </a:r>
            <a:r>
              <a:rPr lang="en-US" sz="2000" dirty="0"/>
              <a:t>&lt;&lt;"Enter Name : ";</a:t>
            </a:r>
          </a:p>
          <a:p>
            <a:pPr marL="0" indent="0">
              <a:buFont typeface="Arial" panose="020B0604020202020204" pitchFamily="34" charset="0"/>
              <a:buNone/>
            </a:pPr>
            <a:r>
              <a:rPr lang="en-US" sz="2000" dirty="0"/>
              <a:t>  </a:t>
            </a:r>
            <a:r>
              <a:rPr lang="en-US" sz="2000" dirty="0" err="1"/>
              <a:t>cin</a:t>
            </a:r>
            <a:r>
              <a:rPr lang="en-US" sz="2000" dirty="0"/>
              <a:t>&gt;&gt;name;}</a:t>
            </a:r>
          </a:p>
          <a:p>
            <a:pPr marL="0" indent="0">
              <a:buFont typeface="Arial" panose="020B0604020202020204" pitchFamily="34" charset="0"/>
              <a:buNone/>
            </a:pPr>
            <a:r>
              <a:rPr lang="en-US" sz="2000" dirty="0"/>
              <a:t>void Employee::</a:t>
            </a:r>
            <a:r>
              <a:rPr lang="en-US" sz="2000" dirty="0" err="1"/>
              <a:t>putdata</a:t>
            </a:r>
            <a:r>
              <a:rPr lang="en-US" sz="2000" dirty="0"/>
              <a:t>(){//Defining of function</a:t>
            </a:r>
          </a:p>
          <a:p>
            <a:pPr marL="0" indent="0">
              <a:buFont typeface="Arial" panose="020B0604020202020204" pitchFamily="34" charset="0"/>
              <a:buNone/>
            </a:pPr>
            <a:r>
              <a:rPr lang="en-US" sz="2000" dirty="0"/>
              <a:t>  </a:t>
            </a:r>
            <a:r>
              <a:rPr lang="en-US" sz="2000" dirty="0" err="1"/>
              <a:t>cout</a:t>
            </a:r>
            <a:r>
              <a:rPr lang="en-US" sz="2000" dirty="0"/>
              <a:t>&lt;&lt;id&lt;&lt;" ";</a:t>
            </a:r>
          </a:p>
          <a:p>
            <a:pPr marL="0" indent="0">
              <a:buFont typeface="Arial" panose="020B0604020202020204" pitchFamily="34" charset="0"/>
              <a:buNone/>
            </a:pPr>
            <a:r>
              <a:rPr lang="en-US" sz="2000" dirty="0"/>
              <a:t>  </a:t>
            </a:r>
            <a:r>
              <a:rPr lang="en-US" sz="2000" dirty="0" err="1"/>
              <a:t>cout</a:t>
            </a:r>
            <a:r>
              <a:rPr lang="en-US" sz="2000" dirty="0"/>
              <a:t>&lt;&lt;name&lt;&lt;" ";</a:t>
            </a:r>
          </a:p>
          <a:p>
            <a:pPr marL="0" indent="0">
              <a:buFont typeface="Arial" panose="020B0604020202020204" pitchFamily="34" charset="0"/>
              <a:buNone/>
            </a:pPr>
            <a:r>
              <a:rPr lang="en-US" sz="2000" dirty="0"/>
              <a:t>  </a:t>
            </a:r>
            <a:r>
              <a:rPr lang="en-US" sz="2000" dirty="0" err="1"/>
              <a:t>cout</a:t>
            </a:r>
            <a:r>
              <a:rPr lang="en-US" sz="2000" dirty="0"/>
              <a:t>&lt;&lt;</a:t>
            </a:r>
            <a:r>
              <a:rPr lang="en-US" sz="2000" dirty="0" err="1"/>
              <a:t>endl</a:t>
            </a:r>
            <a:r>
              <a:rPr lang="en-US" sz="2000" dirty="0"/>
              <a:t>;}</a:t>
            </a:r>
          </a:p>
          <a:p>
            <a:pPr marL="0" indent="0">
              <a:buFont typeface="Arial" panose="020B0604020202020204" pitchFamily="34" charset="0"/>
              <a:buNone/>
            </a:pPr>
            <a:r>
              <a:rPr lang="en-US" sz="2000" dirty="0"/>
              <a:t>int main(){</a:t>
            </a:r>
          </a:p>
          <a:p>
            <a:pPr marL="0" indent="0">
              <a:buFont typeface="Arial" panose="020B0604020202020204" pitchFamily="34" charset="0"/>
              <a:buNone/>
            </a:pPr>
            <a:r>
              <a:rPr lang="en-US" sz="2000" dirty="0"/>
              <a:t>  Employee emp; //One member </a:t>
            </a:r>
          </a:p>
          <a:p>
            <a:pPr marL="0" indent="0">
              <a:buFont typeface="Arial" panose="020B0604020202020204" pitchFamily="34" charset="0"/>
              <a:buNone/>
            </a:pPr>
            <a:r>
              <a:rPr lang="en-US" sz="2000" dirty="0"/>
              <a:t>  </a:t>
            </a:r>
            <a:r>
              <a:rPr lang="en-US" sz="2000" dirty="0" err="1"/>
              <a:t>emp.getdata</a:t>
            </a:r>
            <a:r>
              <a:rPr lang="en-US" sz="2000" dirty="0"/>
              <a:t>();//Accessing the function</a:t>
            </a:r>
          </a:p>
          <a:p>
            <a:pPr marL="0" indent="0">
              <a:buFont typeface="Arial" panose="020B0604020202020204" pitchFamily="34" charset="0"/>
              <a:buNone/>
            </a:pPr>
            <a:r>
              <a:rPr lang="en-US" sz="2000" dirty="0"/>
              <a:t>  </a:t>
            </a:r>
            <a:r>
              <a:rPr lang="en-US" sz="2000" dirty="0" err="1"/>
              <a:t>emp.putdata</a:t>
            </a:r>
            <a:r>
              <a:rPr lang="en-US" sz="2000" dirty="0"/>
              <a:t>();//Accessing the function</a:t>
            </a:r>
          </a:p>
          <a:p>
            <a:pPr marL="0" indent="0">
              <a:buFont typeface="Arial" panose="020B0604020202020204" pitchFamily="34" charset="0"/>
              <a:buNone/>
            </a:pPr>
            <a:r>
              <a:rPr lang="en-US" sz="2000" dirty="0"/>
              <a:t>  return 0;}</a:t>
            </a:r>
          </a:p>
        </p:txBody>
      </p:sp>
    </p:spTree>
    <p:extLst>
      <p:ext uri="{BB962C8B-B14F-4D97-AF65-F5344CB8AC3E}">
        <p14:creationId xmlns:p14="http://schemas.microsoft.com/office/powerpoint/2010/main" val="15330585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4BF6E-CC95-173F-3536-9A0A0F5E02B2}"/>
              </a:ext>
            </a:extLst>
          </p:cNvPr>
          <p:cNvSpPr>
            <a:spLocks noGrp="1"/>
          </p:cNvSpPr>
          <p:nvPr>
            <p:ph type="title"/>
          </p:nvPr>
        </p:nvSpPr>
        <p:spPr>
          <a:xfrm>
            <a:off x="838200" y="365125"/>
            <a:ext cx="10515600" cy="759137"/>
          </a:xfrm>
        </p:spPr>
        <p:txBody>
          <a:bodyPr/>
          <a:lstStyle/>
          <a:p>
            <a:r>
              <a:rPr lang="en-US" b="0" i="0" dirty="0">
                <a:effectLst/>
                <a:latin typeface="Nunito" pitchFamily="2" charset="0"/>
              </a:rPr>
              <a:t> Array of Objects</a:t>
            </a:r>
            <a:endParaRPr lang="en-US" dirty="0"/>
          </a:p>
        </p:txBody>
      </p:sp>
      <p:sp>
        <p:nvSpPr>
          <p:cNvPr id="3" name="Content Placeholder 2">
            <a:extLst>
              <a:ext uri="{FF2B5EF4-FFF2-40B4-BE49-F238E27FC236}">
                <a16:creationId xmlns:a16="http://schemas.microsoft.com/office/drawing/2014/main" id="{F6E15CF5-6C7A-5E7A-9613-10CF6F0B8E11}"/>
              </a:ext>
            </a:extLst>
          </p:cNvPr>
          <p:cNvSpPr>
            <a:spLocks noGrp="1"/>
          </p:cNvSpPr>
          <p:nvPr>
            <p:ph idx="1"/>
          </p:nvPr>
        </p:nvSpPr>
        <p:spPr>
          <a:xfrm>
            <a:off x="838200" y="1289154"/>
            <a:ext cx="5666282" cy="5456420"/>
          </a:xfrm>
        </p:spPr>
        <p:txBody>
          <a:bodyPr>
            <a:noAutofit/>
          </a:bodyPr>
          <a:lstStyle/>
          <a:p>
            <a:r>
              <a:rPr lang="en-US" sz="1400" dirty="0"/>
              <a:t>#include&lt;iostream&gt;</a:t>
            </a:r>
          </a:p>
          <a:p>
            <a:r>
              <a:rPr lang="en-US" sz="1400" dirty="0"/>
              <a:t>using namespace std;</a:t>
            </a:r>
          </a:p>
          <a:p>
            <a:r>
              <a:rPr lang="en-US" sz="1400" dirty="0"/>
              <a:t>class Employee</a:t>
            </a:r>
          </a:p>
          <a:p>
            <a:r>
              <a:rPr lang="en-US" sz="1400" dirty="0"/>
              <a:t>{ int id;</a:t>
            </a:r>
          </a:p>
          <a:p>
            <a:r>
              <a:rPr lang="en-US" sz="1400" dirty="0"/>
              <a:t>char name[30];</a:t>
            </a:r>
          </a:p>
          <a:p>
            <a:r>
              <a:rPr lang="en-US" sz="1400" dirty="0"/>
              <a:t>  public:</a:t>
            </a:r>
          </a:p>
          <a:p>
            <a:r>
              <a:rPr lang="en-US" sz="1400" dirty="0"/>
              <a:t>  // Declaration of function</a:t>
            </a:r>
          </a:p>
          <a:p>
            <a:r>
              <a:rPr lang="en-US" sz="1400" dirty="0"/>
              <a:t>  void </a:t>
            </a:r>
            <a:r>
              <a:rPr lang="en-US" sz="1400" dirty="0" err="1"/>
              <a:t>getdata</a:t>
            </a:r>
            <a:r>
              <a:rPr lang="en-US" sz="1400" dirty="0"/>
              <a:t>();</a:t>
            </a:r>
          </a:p>
          <a:p>
            <a:r>
              <a:rPr lang="en-US" sz="1400" dirty="0"/>
              <a:t>  // Declaration of function</a:t>
            </a:r>
          </a:p>
          <a:p>
            <a:r>
              <a:rPr lang="en-US" sz="1400" dirty="0"/>
              <a:t>  void </a:t>
            </a:r>
            <a:r>
              <a:rPr lang="en-US" sz="1400" dirty="0" err="1"/>
              <a:t>putdata</a:t>
            </a:r>
            <a:r>
              <a:rPr lang="en-US" sz="1400" dirty="0"/>
              <a:t>();};</a:t>
            </a:r>
          </a:p>
          <a:p>
            <a:r>
              <a:rPr lang="en-US" sz="1400" dirty="0"/>
              <a:t>// Defining the function outside </a:t>
            </a:r>
          </a:p>
          <a:p>
            <a:r>
              <a:rPr lang="en-US" sz="1400" dirty="0"/>
              <a:t>// the class</a:t>
            </a:r>
          </a:p>
          <a:p>
            <a:r>
              <a:rPr lang="en-US" sz="1400" dirty="0"/>
              <a:t>void Employee::</a:t>
            </a:r>
            <a:r>
              <a:rPr lang="en-US" sz="1400" dirty="0" err="1"/>
              <a:t>getdata</a:t>
            </a:r>
            <a:r>
              <a:rPr lang="en-US" sz="1400" dirty="0"/>
              <a:t>(){ </a:t>
            </a:r>
          </a:p>
          <a:p>
            <a:r>
              <a:rPr lang="en-US" sz="1400" dirty="0"/>
              <a:t>  </a:t>
            </a:r>
            <a:r>
              <a:rPr lang="en-US" sz="1400" dirty="0" err="1"/>
              <a:t>cout</a:t>
            </a:r>
            <a:r>
              <a:rPr lang="en-US" sz="1400" dirty="0"/>
              <a:t> &lt;&lt; "Enter Id : ";</a:t>
            </a:r>
          </a:p>
          <a:p>
            <a:r>
              <a:rPr lang="en-US" sz="1400" dirty="0"/>
              <a:t>  </a:t>
            </a:r>
            <a:r>
              <a:rPr lang="en-US" sz="1400" dirty="0" err="1"/>
              <a:t>cin</a:t>
            </a:r>
            <a:r>
              <a:rPr lang="en-US" sz="1400" dirty="0"/>
              <a:t> &gt;&gt; id;</a:t>
            </a:r>
          </a:p>
          <a:p>
            <a:r>
              <a:rPr lang="en-US" sz="1400" dirty="0"/>
              <a:t>  </a:t>
            </a:r>
            <a:r>
              <a:rPr lang="en-US" sz="1400" dirty="0" err="1"/>
              <a:t>cout</a:t>
            </a:r>
            <a:r>
              <a:rPr lang="en-US" sz="1400" dirty="0"/>
              <a:t> &lt;&lt; "Enter Name : ";</a:t>
            </a:r>
          </a:p>
          <a:p>
            <a:r>
              <a:rPr lang="en-US" sz="1400" dirty="0"/>
              <a:t>  </a:t>
            </a:r>
            <a:r>
              <a:rPr lang="en-US" sz="1400" dirty="0" err="1"/>
              <a:t>cin</a:t>
            </a:r>
            <a:r>
              <a:rPr lang="en-US" sz="1400" dirty="0"/>
              <a:t> &gt;&gt; name;}</a:t>
            </a:r>
          </a:p>
          <a:p>
            <a:endParaRPr lang="en-US" sz="1400" dirty="0"/>
          </a:p>
        </p:txBody>
      </p:sp>
      <p:sp>
        <p:nvSpPr>
          <p:cNvPr id="4" name="Content Placeholder 2">
            <a:extLst>
              <a:ext uri="{FF2B5EF4-FFF2-40B4-BE49-F238E27FC236}">
                <a16:creationId xmlns:a16="http://schemas.microsoft.com/office/drawing/2014/main" id="{1C03C527-9804-F50B-18EA-FA93B1D9F1AB}"/>
              </a:ext>
            </a:extLst>
          </p:cNvPr>
          <p:cNvSpPr txBox="1">
            <a:spLocks/>
          </p:cNvSpPr>
          <p:nvPr/>
        </p:nvSpPr>
        <p:spPr>
          <a:xfrm>
            <a:off x="4890655" y="1441554"/>
            <a:ext cx="7065817" cy="545642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dirty="0"/>
              <a:t>void Employee::</a:t>
            </a:r>
            <a:r>
              <a:rPr lang="en-US" sz="1400" dirty="0" err="1"/>
              <a:t>putdata</a:t>
            </a:r>
            <a:r>
              <a:rPr lang="en-US" sz="1400" dirty="0"/>
              <a:t>(){</a:t>
            </a:r>
          </a:p>
          <a:p>
            <a:r>
              <a:rPr lang="en-US" sz="1400" dirty="0"/>
              <a:t>  </a:t>
            </a:r>
            <a:r>
              <a:rPr lang="en-US" sz="1400" dirty="0" err="1"/>
              <a:t>cout</a:t>
            </a:r>
            <a:r>
              <a:rPr lang="en-US" sz="1400" dirty="0"/>
              <a:t> &lt;&lt; id &lt;&lt; " ";</a:t>
            </a:r>
          </a:p>
          <a:p>
            <a:r>
              <a:rPr lang="en-US" sz="1400" dirty="0"/>
              <a:t>  </a:t>
            </a:r>
            <a:r>
              <a:rPr lang="en-US" sz="1400" dirty="0" err="1"/>
              <a:t>cout</a:t>
            </a:r>
            <a:r>
              <a:rPr lang="en-US" sz="1400" dirty="0"/>
              <a:t> &lt;&lt; name &lt;&lt; " ";</a:t>
            </a:r>
          </a:p>
          <a:p>
            <a:r>
              <a:rPr lang="en-US" sz="1400" dirty="0"/>
              <a:t>  </a:t>
            </a:r>
            <a:r>
              <a:rPr lang="en-US" sz="1400" dirty="0" err="1"/>
              <a:t>cout</a:t>
            </a:r>
            <a:r>
              <a:rPr lang="en-US" sz="1400" dirty="0"/>
              <a:t> &lt;&lt; </a:t>
            </a:r>
            <a:r>
              <a:rPr lang="en-US" sz="1400" dirty="0" err="1"/>
              <a:t>endl</a:t>
            </a:r>
            <a:r>
              <a:rPr lang="en-US" sz="1400" dirty="0"/>
              <a:t>;}</a:t>
            </a:r>
          </a:p>
          <a:p>
            <a:r>
              <a:rPr lang="en-US" sz="1400" dirty="0"/>
              <a:t>// Driver code</a:t>
            </a:r>
          </a:p>
          <a:p>
            <a:r>
              <a:rPr lang="en-US" sz="1400" dirty="0"/>
              <a:t>int main(){</a:t>
            </a:r>
          </a:p>
          <a:p>
            <a:r>
              <a:rPr lang="en-US" sz="1400" dirty="0"/>
              <a:t>Employee emp[30]; </a:t>
            </a:r>
          </a:p>
          <a:p>
            <a:r>
              <a:rPr lang="en-US" sz="1400" dirty="0"/>
              <a:t>  int n, </a:t>
            </a:r>
            <a:r>
              <a:rPr lang="en-US" sz="1400" dirty="0" err="1"/>
              <a:t>i</a:t>
            </a:r>
            <a:r>
              <a:rPr lang="en-US" sz="1400" dirty="0"/>
              <a:t>;</a:t>
            </a:r>
          </a:p>
          <a:p>
            <a:r>
              <a:rPr lang="en-US" sz="1400" dirty="0"/>
              <a:t>  </a:t>
            </a:r>
            <a:r>
              <a:rPr lang="en-US" sz="1400" dirty="0" err="1"/>
              <a:t>cout</a:t>
            </a:r>
            <a:r>
              <a:rPr lang="en-US" sz="1400" dirty="0"/>
              <a:t> &lt;&lt; "Enter Number of Employees - ";</a:t>
            </a:r>
          </a:p>
          <a:p>
            <a:r>
              <a:rPr lang="en-US" sz="1400" dirty="0"/>
              <a:t>  </a:t>
            </a:r>
            <a:r>
              <a:rPr lang="en-US" sz="1400" dirty="0" err="1"/>
              <a:t>cin</a:t>
            </a:r>
            <a:r>
              <a:rPr lang="en-US" sz="1400" dirty="0"/>
              <a:t> &gt;&gt; n;</a:t>
            </a:r>
          </a:p>
          <a:p>
            <a:r>
              <a:rPr lang="en-US" sz="1400" dirty="0"/>
              <a:t>  // Accessing the function</a:t>
            </a:r>
          </a:p>
          <a:p>
            <a:r>
              <a:rPr lang="en-US" sz="1400" dirty="0"/>
              <a:t>  for(</a:t>
            </a:r>
            <a:r>
              <a:rPr lang="en-US" sz="1400" dirty="0" err="1"/>
              <a:t>i</a:t>
            </a:r>
            <a:r>
              <a:rPr lang="en-US" sz="1400" dirty="0"/>
              <a:t> = 0; </a:t>
            </a:r>
            <a:r>
              <a:rPr lang="en-US" sz="1400" dirty="0" err="1"/>
              <a:t>i</a:t>
            </a:r>
            <a:r>
              <a:rPr lang="en-US" sz="1400" dirty="0"/>
              <a:t> &lt; n; </a:t>
            </a:r>
            <a:r>
              <a:rPr lang="en-US" sz="1400" dirty="0" err="1"/>
              <a:t>i</a:t>
            </a:r>
            <a:r>
              <a:rPr lang="en-US" sz="1400" dirty="0"/>
              <a:t>++) </a:t>
            </a:r>
          </a:p>
          <a:p>
            <a:r>
              <a:rPr lang="en-US" sz="1400" dirty="0"/>
              <a:t>    emp[</a:t>
            </a:r>
            <a:r>
              <a:rPr lang="en-US" sz="1400" dirty="0" err="1"/>
              <a:t>i</a:t>
            </a:r>
            <a:r>
              <a:rPr lang="en-US" sz="1400" dirty="0"/>
              <a:t>].</a:t>
            </a:r>
            <a:r>
              <a:rPr lang="en-US" sz="1400" dirty="0" err="1"/>
              <a:t>getdata</a:t>
            </a:r>
            <a:r>
              <a:rPr lang="en-US" sz="1400" dirty="0"/>
              <a:t>();</a:t>
            </a:r>
          </a:p>
          <a:p>
            <a:r>
              <a:rPr lang="en-US" sz="1400" dirty="0"/>
              <a:t>  </a:t>
            </a:r>
            <a:r>
              <a:rPr lang="en-US" sz="1400" dirty="0" err="1"/>
              <a:t>cout</a:t>
            </a:r>
            <a:r>
              <a:rPr lang="en-US" sz="1400" dirty="0"/>
              <a:t> &lt;&lt; "Employee Data - " &lt;&lt; </a:t>
            </a:r>
            <a:r>
              <a:rPr lang="en-US" sz="1400" dirty="0" err="1"/>
              <a:t>endl</a:t>
            </a:r>
            <a:r>
              <a:rPr lang="en-US" sz="1400" dirty="0"/>
              <a:t>;</a:t>
            </a:r>
          </a:p>
          <a:p>
            <a:r>
              <a:rPr lang="en-US" sz="1400" dirty="0"/>
              <a:t>  // Accessing the function</a:t>
            </a:r>
          </a:p>
          <a:p>
            <a:r>
              <a:rPr lang="en-US" sz="1400" dirty="0"/>
              <a:t>  for(</a:t>
            </a:r>
            <a:r>
              <a:rPr lang="en-US" sz="1400" dirty="0" err="1"/>
              <a:t>i</a:t>
            </a:r>
            <a:r>
              <a:rPr lang="en-US" sz="1400" dirty="0"/>
              <a:t> = 0; </a:t>
            </a:r>
            <a:r>
              <a:rPr lang="en-US" sz="1400" dirty="0" err="1"/>
              <a:t>i</a:t>
            </a:r>
            <a:r>
              <a:rPr lang="en-US" sz="1400" dirty="0"/>
              <a:t> &lt; n; </a:t>
            </a:r>
            <a:r>
              <a:rPr lang="en-US" sz="1400" dirty="0" err="1"/>
              <a:t>i</a:t>
            </a:r>
            <a:r>
              <a:rPr lang="en-US" sz="1400" dirty="0"/>
              <a:t>++) </a:t>
            </a:r>
          </a:p>
          <a:p>
            <a:r>
              <a:rPr lang="en-US" sz="1400" dirty="0"/>
              <a:t>    emp[</a:t>
            </a:r>
            <a:r>
              <a:rPr lang="en-US" sz="1400" dirty="0" err="1"/>
              <a:t>i</a:t>
            </a:r>
            <a:r>
              <a:rPr lang="en-US" sz="1400" dirty="0"/>
              <a:t>].</a:t>
            </a:r>
            <a:r>
              <a:rPr lang="en-US" sz="1400" dirty="0" err="1"/>
              <a:t>putdata</a:t>
            </a:r>
            <a:r>
              <a:rPr lang="en-US" sz="1400" dirty="0"/>
              <a:t>();}</a:t>
            </a:r>
          </a:p>
        </p:txBody>
      </p:sp>
    </p:spTree>
    <p:extLst>
      <p:ext uri="{BB962C8B-B14F-4D97-AF65-F5344CB8AC3E}">
        <p14:creationId xmlns:p14="http://schemas.microsoft.com/office/powerpoint/2010/main" val="41613823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BECF9A0-53CC-E5D8-0291-41DE0DD27CAF}"/>
              </a:ext>
            </a:extLst>
          </p:cNvPr>
          <p:cNvSpPr>
            <a:spLocks noGrp="1"/>
          </p:cNvSpPr>
          <p:nvPr>
            <p:ph idx="1"/>
          </p:nvPr>
        </p:nvSpPr>
        <p:spPr>
          <a:xfrm>
            <a:off x="838200" y="665018"/>
            <a:ext cx="10515600" cy="5511945"/>
          </a:xfrm>
        </p:spPr>
        <p:txBody>
          <a:bodyPr>
            <a:normAutofit fontScale="85000" lnSpcReduction="10000"/>
          </a:bodyPr>
          <a:lstStyle/>
          <a:p>
            <a:pPr algn="l" fontAlgn="base"/>
            <a:r>
              <a:rPr lang="en-US" b="1" i="0" dirty="0">
                <a:effectLst/>
                <a:latin typeface="Nunito" pitchFamily="2" charset="0"/>
              </a:rPr>
              <a:t>Advantages of Array of Objects: </a:t>
            </a:r>
          </a:p>
          <a:p>
            <a:pPr algn="l" fontAlgn="base">
              <a:spcAft>
                <a:spcPts val="1800"/>
              </a:spcAft>
              <a:buFont typeface="+mj-lt"/>
              <a:buAutoNum type="arabicPeriod"/>
            </a:pPr>
            <a:r>
              <a:rPr lang="en-US" b="0" i="0" dirty="0">
                <a:effectLst/>
                <a:latin typeface="Nunito" pitchFamily="2" charset="0"/>
              </a:rPr>
              <a:t>The array of objects represent storing multiple objects in a single name.</a:t>
            </a:r>
          </a:p>
          <a:p>
            <a:pPr algn="l" fontAlgn="base">
              <a:spcAft>
                <a:spcPts val="1800"/>
              </a:spcAft>
              <a:buFont typeface="+mj-lt"/>
              <a:buAutoNum type="arabicPeriod" startAt="2"/>
            </a:pPr>
            <a:r>
              <a:rPr lang="en-US" b="0" i="0" dirty="0">
                <a:effectLst/>
                <a:latin typeface="Nunito" pitchFamily="2" charset="0"/>
              </a:rPr>
              <a:t>In an array of objects, the data can be accessed randomly by using the index number.</a:t>
            </a:r>
          </a:p>
          <a:p>
            <a:pPr algn="l" fontAlgn="base">
              <a:spcAft>
                <a:spcPts val="1800"/>
              </a:spcAft>
              <a:buFont typeface="+mj-lt"/>
              <a:buAutoNum type="arabicPeriod" startAt="3"/>
            </a:pPr>
            <a:r>
              <a:rPr lang="en-US" b="0" i="0" dirty="0">
                <a:effectLst/>
                <a:latin typeface="Nunito" pitchFamily="2" charset="0"/>
              </a:rPr>
              <a:t>Reduce the time and memory by storing the data in a single variable.</a:t>
            </a:r>
          </a:p>
          <a:p>
            <a:pPr algn="l" fontAlgn="base"/>
            <a:r>
              <a:rPr lang="en-US" b="1" i="0" dirty="0">
                <a:effectLst/>
                <a:latin typeface="Nunito" pitchFamily="2" charset="0"/>
              </a:rPr>
              <a:t>Disadvantages of Array of Objects:</a:t>
            </a:r>
          </a:p>
          <a:p>
            <a:pPr marL="0" indent="0" algn="l" fontAlgn="base">
              <a:spcAft>
                <a:spcPts val="1800"/>
              </a:spcAft>
              <a:buNone/>
            </a:pPr>
            <a:r>
              <a:rPr lang="en-US" b="0" i="0" dirty="0">
                <a:effectLst/>
                <a:latin typeface="Nunito" pitchFamily="2" charset="0"/>
              </a:rPr>
              <a:t>The main disadvantage with arrays of objects is that the constructor runs for each object. If the default constructor doesn’t do the right thing for multiple objects in the array, we have to specify the constructor arguments for each element at the time the array is declared, which we wouldn’t have to do if we allocated an array of object pointers, and allocated objects as needed.</a:t>
            </a:r>
          </a:p>
          <a:p>
            <a:endParaRPr lang="en-US" dirty="0"/>
          </a:p>
        </p:txBody>
      </p:sp>
    </p:spTree>
    <p:extLst>
      <p:ext uri="{BB962C8B-B14F-4D97-AF65-F5344CB8AC3E}">
        <p14:creationId xmlns:p14="http://schemas.microsoft.com/office/powerpoint/2010/main" val="30826928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E193C-193D-2168-802D-219A41FBDA0B}"/>
              </a:ext>
            </a:extLst>
          </p:cNvPr>
          <p:cNvSpPr>
            <a:spLocks noGrp="1"/>
          </p:cNvSpPr>
          <p:nvPr>
            <p:ph type="title"/>
          </p:nvPr>
        </p:nvSpPr>
        <p:spPr>
          <a:xfrm>
            <a:off x="838200" y="365125"/>
            <a:ext cx="10515600" cy="701675"/>
          </a:xfrm>
        </p:spPr>
        <p:txBody>
          <a:bodyPr>
            <a:normAutofit fontScale="90000"/>
          </a:bodyPr>
          <a:lstStyle/>
          <a:p>
            <a:br>
              <a:rPr lang="en-US" b="0" i="0" dirty="0">
                <a:solidFill>
                  <a:srgbClr val="1D1D27"/>
                </a:solidFill>
                <a:effectLst/>
                <a:latin typeface="Montserrat" panose="00000500000000000000" pitchFamily="2" charset="0"/>
              </a:rPr>
            </a:br>
            <a:r>
              <a:rPr lang="en-US" b="0" i="0" dirty="0">
                <a:solidFill>
                  <a:srgbClr val="1D1D27"/>
                </a:solidFill>
                <a:effectLst/>
                <a:latin typeface="Montserrat" panose="00000500000000000000" pitchFamily="2" charset="0"/>
              </a:rPr>
              <a:t>Pointer to an object</a:t>
            </a:r>
            <a:br>
              <a:rPr lang="en-US" b="0" i="0" dirty="0">
                <a:solidFill>
                  <a:srgbClr val="1D1D27"/>
                </a:solidFill>
                <a:effectLst/>
                <a:latin typeface="Montserrat" panose="00000500000000000000" pitchFamily="2" charset="0"/>
              </a:rPr>
            </a:br>
            <a:endParaRPr lang="en-US" dirty="0"/>
          </a:p>
        </p:txBody>
      </p:sp>
      <p:sp>
        <p:nvSpPr>
          <p:cNvPr id="3" name="Content Placeholder 2">
            <a:extLst>
              <a:ext uri="{FF2B5EF4-FFF2-40B4-BE49-F238E27FC236}">
                <a16:creationId xmlns:a16="http://schemas.microsoft.com/office/drawing/2014/main" id="{C49ABCF6-AAF9-8DB0-3B5C-D483096774AF}"/>
              </a:ext>
            </a:extLst>
          </p:cNvPr>
          <p:cNvSpPr>
            <a:spLocks noGrp="1"/>
          </p:cNvSpPr>
          <p:nvPr>
            <p:ph idx="1"/>
          </p:nvPr>
        </p:nvSpPr>
        <p:spPr>
          <a:xfrm>
            <a:off x="838200" y="1274618"/>
            <a:ext cx="10515600" cy="4902345"/>
          </a:xfrm>
        </p:spPr>
        <p:txBody>
          <a:bodyPr>
            <a:normAutofit/>
          </a:bodyPr>
          <a:lstStyle/>
          <a:p>
            <a:r>
              <a:rPr lang="en-US" sz="2000" b="0" dirty="0">
                <a:solidFill>
                  <a:srgbClr val="2B2A29"/>
                </a:solidFill>
                <a:effectLst/>
                <a:latin typeface="Montserrat" panose="00000500000000000000" pitchFamily="2" charset="0"/>
              </a:rPr>
              <a:t>A </a:t>
            </a:r>
            <a:r>
              <a:rPr lang="en-US" sz="2000" b="1" dirty="0">
                <a:solidFill>
                  <a:srgbClr val="2B2A29"/>
                </a:solidFill>
                <a:effectLst/>
                <a:latin typeface="Montserrat" panose="00000500000000000000" pitchFamily="2" charset="0"/>
              </a:rPr>
              <a:t>pointer</a:t>
            </a:r>
            <a:r>
              <a:rPr lang="en-US" sz="2000" b="0" dirty="0">
                <a:solidFill>
                  <a:srgbClr val="2B2A29"/>
                </a:solidFill>
                <a:effectLst/>
                <a:latin typeface="Montserrat" panose="00000500000000000000" pitchFamily="2" charset="0"/>
              </a:rPr>
              <a:t> to an object in C++ is a variable that contains an object's </a:t>
            </a:r>
            <a:r>
              <a:rPr lang="en-US" sz="2000" b="1" dirty="0">
                <a:solidFill>
                  <a:srgbClr val="2B2A29"/>
                </a:solidFill>
                <a:effectLst/>
                <a:latin typeface="Montserrat" panose="00000500000000000000" pitchFamily="2" charset="0"/>
              </a:rPr>
              <a:t>memory address</a:t>
            </a:r>
            <a:r>
              <a:rPr lang="en-US" sz="2000" b="0" dirty="0">
                <a:solidFill>
                  <a:srgbClr val="2B2A29"/>
                </a:solidFill>
                <a:effectLst/>
                <a:latin typeface="Montserrat" panose="00000500000000000000" pitchFamily="2" charset="0"/>
              </a:rPr>
              <a:t>. Pointers provide indirect access to and control over memory items. They are especially helpful when we need to dynamically allocate memory for objects, build </a:t>
            </a:r>
            <a:r>
              <a:rPr lang="en-US" sz="2000" b="1" dirty="0">
                <a:solidFill>
                  <a:srgbClr val="2B2A29"/>
                </a:solidFill>
                <a:effectLst/>
                <a:latin typeface="Montserrat" panose="00000500000000000000" pitchFamily="2" charset="0"/>
              </a:rPr>
              <a:t>linked lists</a:t>
            </a:r>
            <a:r>
              <a:rPr lang="en-US" sz="2000" b="0" dirty="0">
                <a:solidFill>
                  <a:srgbClr val="2B2A29"/>
                </a:solidFill>
                <a:effectLst/>
                <a:latin typeface="Montserrat" panose="00000500000000000000" pitchFamily="2" charset="0"/>
              </a:rPr>
              <a:t> or </a:t>
            </a:r>
            <a:r>
              <a:rPr lang="en-US" sz="2000" b="1" dirty="0">
                <a:solidFill>
                  <a:srgbClr val="2B2A29"/>
                </a:solidFill>
                <a:effectLst/>
                <a:latin typeface="Montserrat" panose="00000500000000000000" pitchFamily="2" charset="0"/>
              </a:rPr>
              <a:t>trees</a:t>
            </a:r>
            <a:r>
              <a:rPr lang="en-US" sz="2000" b="0" dirty="0">
                <a:solidFill>
                  <a:srgbClr val="2B2A29"/>
                </a:solidFill>
                <a:effectLst/>
                <a:latin typeface="Montserrat" panose="00000500000000000000" pitchFamily="2" charset="0"/>
              </a:rPr>
              <a:t>, or </a:t>
            </a:r>
            <a:r>
              <a:rPr lang="en-US" sz="2000" b="1" dirty="0">
                <a:solidFill>
                  <a:srgbClr val="2B2A29"/>
                </a:solidFill>
                <a:effectLst/>
                <a:latin typeface="Montserrat" panose="00000500000000000000" pitchFamily="2" charset="0"/>
              </a:rPr>
              <a:t>pass objects</a:t>
            </a:r>
            <a:r>
              <a:rPr lang="en-US" sz="2000" b="0" dirty="0">
                <a:solidFill>
                  <a:srgbClr val="2B2A29"/>
                </a:solidFill>
                <a:effectLst/>
                <a:latin typeface="Montserrat" panose="00000500000000000000" pitchFamily="2" charset="0"/>
              </a:rPr>
              <a:t> by reference to methods without making duplicates.</a:t>
            </a:r>
          </a:p>
          <a:p>
            <a:r>
              <a:rPr lang="en-US" sz="2000" b="0" dirty="0">
                <a:solidFill>
                  <a:srgbClr val="2B2A29"/>
                </a:solidFill>
                <a:effectLst/>
                <a:latin typeface="Montserrat" panose="00000500000000000000" pitchFamily="2" charset="0"/>
              </a:rPr>
              <a:t>The behavior of an object pointer is identical to that of a </a:t>
            </a:r>
            <a:r>
              <a:rPr lang="en-US" sz="2000" b="1" dirty="0">
                <a:solidFill>
                  <a:srgbClr val="2B2A29"/>
                </a:solidFill>
                <a:effectLst/>
                <a:latin typeface="Montserrat" panose="00000500000000000000" pitchFamily="2" charset="0"/>
              </a:rPr>
              <a:t>variable pointer</a:t>
            </a:r>
            <a:r>
              <a:rPr lang="en-US" sz="2000" b="0" dirty="0">
                <a:solidFill>
                  <a:srgbClr val="2B2A29"/>
                </a:solidFill>
                <a:effectLst/>
                <a:latin typeface="Montserrat" panose="00000500000000000000" pitchFamily="2" charset="0"/>
              </a:rPr>
              <a:t>. But in this case, the </a:t>
            </a:r>
            <a:r>
              <a:rPr lang="en-US" sz="2000" b="1" dirty="0">
                <a:solidFill>
                  <a:srgbClr val="2B2A29"/>
                </a:solidFill>
                <a:effectLst/>
                <a:latin typeface="Montserrat" panose="00000500000000000000" pitchFamily="2" charset="0"/>
              </a:rPr>
              <a:t>object's address</a:t>
            </a:r>
            <a:r>
              <a:rPr lang="en-US" sz="2000" b="0" dirty="0">
                <a:solidFill>
                  <a:srgbClr val="2B2A29"/>
                </a:solidFill>
                <a:effectLst/>
                <a:latin typeface="Montserrat" panose="00000500000000000000" pitchFamily="2" charset="0"/>
              </a:rPr>
              <a:t> is kept instead of the </a:t>
            </a:r>
            <a:r>
              <a:rPr lang="en-US" sz="2000" b="1" dirty="0">
                <a:solidFill>
                  <a:srgbClr val="2B2A29"/>
                </a:solidFill>
                <a:effectLst/>
                <a:latin typeface="Montserrat" panose="00000500000000000000" pitchFamily="2" charset="0"/>
              </a:rPr>
              <a:t>variables</a:t>
            </a:r>
            <a:r>
              <a:rPr lang="en-US" sz="2000" b="0" dirty="0">
                <a:solidFill>
                  <a:srgbClr val="2B2A29"/>
                </a:solidFill>
                <a:effectLst/>
                <a:latin typeface="Montserrat" panose="00000500000000000000" pitchFamily="2" charset="0"/>
              </a:rPr>
              <a:t>. When a class object is formed in the </a:t>
            </a:r>
            <a:r>
              <a:rPr lang="en-US" sz="2000" b="1" dirty="0">
                <a:solidFill>
                  <a:srgbClr val="2B2A29"/>
                </a:solidFill>
                <a:effectLst/>
                <a:latin typeface="Montserrat" panose="00000500000000000000" pitchFamily="2" charset="0"/>
              </a:rPr>
              <a:t>main function</a:t>
            </a:r>
            <a:r>
              <a:rPr lang="en-US" sz="2000" b="0" dirty="0">
                <a:solidFill>
                  <a:srgbClr val="2B2A29"/>
                </a:solidFill>
                <a:effectLst/>
                <a:latin typeface="Montserrat" panose="00000500000000000000" pitchFamily="2" charset="0"/>
              </a:rPr>
              <a:t>, a pointer variable is declared similarly to the variable itself. Using a </a:t>
            </a:r>
            <a:r>
              <a:rPr lang="en-US" sz="2000" b="1" dirty="0">
                <a:solidFill>
                  <a:srgbClr val="2B2A29"/>
                </a:solidFill>
                <a:effectLst/>
                <a:latin typeface="Montserrat" panose="00000500000000000000" pitchFamily="2" charset="0"/>
              </a:rPr>
              <a:t>data type</a:t>
            </a:r>
            <a:r>
              <a:rPr lang="en-US" sz="2000" b="0" dirty="0">
                <a:solidFill>
                  <a:srgbClr val="2B2A29"/>
                </a:solidFill>
                <a:effectLst/>
                <a:latin typeface="Montserrat" panose="00000500000000000000" pitchFamily="2" charset="0"/>
              </a:rPr>
              <a:t> for the </a:t>
            </a:r>
            <a:r>
              <a:rPr lang="en-US" sz="2000" b="1" dirty="0">
                <a:solidFill>
                  <a:srgbClr val="2B2A29"/>
                </a:solidFill>
                <a:effectLst/>
                <a:latin typeface="Montserrat" panose="00000500000000000000" pitchFamily="2" charset="0"/>
              </a:rPr>
              <a:t>pointer</a:t>
            </a:r>
            <a:r>
              <a:rPr lang="en-US" sz="2000" b="0" dirty="0">
                <a:solidFill>
                  <a:srgbClr val="2B2A29"/>
                </a:solidFill>
                <a:effectLst/>
                <a:latin typeface="Montserrat" panose="00000500000000000000" pitchFamily="2" charset="0"/>
              </a:rPr>
              <a:t> is not recommended when generating a pointer to an object. Instead, we must make use of the object pointer's class name. The </a:t>
            </a:r>
            <a:r>
              <a:rPr lang="en-US" sz="2000" b="1" dirty="0">
                <a:solidFill>
                  <a:srgbClr val="2B2A29"/>
                </a:solidFill>
                <a:effectLst/>
                <a:latin typeface="Montserrat" panose="00000500000000000000" pitchFamily="2" charset="0"/>
              </a:rPr>
              <a:t>-&gt;</a:t>
            </a:r>
            <a:r>
              <a:rPr lang="en-US" sz="2000" b="0" dirty="0">
                <a:solidFill>
                  <a:srgbClr val="2B2A29"/>
                </a:solidFill>
                <a:effectLst/>
                <a:latin typeface="Montserrat" panose="00000500000000000000" pitchFamily="2" charset="0"/>
              </a:rPr>
              <a:t> symbol must be used to call a class member function using a Pointer in the </a:t>
            </a:r>
            <a:r>
              <a:rPr lang="en-US" sz="2000" b="1" dirty="0">
                <a:solidFill>
                  <a:srgbClr val="2B2A29"/>
                </a:solidFill>
                <a:effectLst/>
                <a:latin typeface="Montserrat" panose="00000500000000000000" pitchFamily="2" charset="0"/>
              </a:rPr>
              <a:t>main function</a:t>
            </a:r>
            <a:r>
              <a:rPr lang="en-US" sz="2000" b="0" dirty="0">
                <a:solidFill>
                  <a:srgbClr val="2B2A29"/>
                </a:solidFill>
                <a:effectLst/>
                <a:latin typeface="Montserrat" panose="00000500000000000000" pitchFamily="2" charset="0"/>
              </a:rPr>
              <a:t>.</a:t>
            </a:r>
            <a:endParaRPr lang="en-US" sz="2000" dirty="0"/>
          </a:p>
        </p:txBody>
      </p:sp>
    </p:spTree>
    <p:extLst>
      <p:ext uri="{BB962C8B-B14F-4D97-AF65-F5344CB8AC3E}">
        <p14:creationId xmlns:p14="http://schemas.microsoft.com/office/powerpoint/2010/main" val="12244701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00D70-4B44-9365-070F-AE88BA6CC737}"/>
              </a:ext>
            </a:extLst>
          </p:cNvPr>
          <p:cNvSpPr>
            <a:spLocks noGrp="1"/>
          </p:cNvSpPr>
          <p:nvPr>
            <p:ph type="title"/>
          </p:nvPr>
        </p:nvSpPr>
        <p:spPr>
          <a:xfrm>
            <a:off x="838200" y="365126"/>
            <a:ext cx="10515600" cy="729384"/>
          </a:xfrm>
        </p:spPr>
        <p:txBody>
          <a:bodyPr/>
          <a:lstStyle/>
          <a:p>
            <a:r>
              <a:rPr lang="en-US" b="0" i="0" dirty="0">
                <a:solidFill>
                  <a:srgbClr val="1D1D27"/>
                </a:solidFill>
                <a:effectLst/>
                <a:latin typeface="Montserrat" panose="00000500000000000000" pitchFamily="2" charset="0"/>
              </a:rPr>
              <a:t>Syntax:</a:t>
            </a:r>
            <a:endParaRPr lang="en-US" dirty="0"/>
          </a:p>
        </p:txBody>
      </p:sp>
      <p:sp>
        <p:nvSpPr>
          <p:cNvPr id="3" name="Content Placeholder 2">
            <a:extLst>
              <a:ext uri="{FF2B5EF4-FFF2-40B4-BE49-F238E27FC236}">
                <a16:creationId xmlns:a16="http://schemas.microsoft.com/office/drawing/2014/main" id="{3C30FF9B-A562-3DF4-4506-7197C3454662}"/>
              </a:ext>
            </a:extLst>
          </p:cNvPr>
          <p:cNvSpPr>
            <a:spLocks noGrp="1"/>
          </p:cNvSpPr>
          <p:nvPr>
            <p:ph idx="1"/>
          </p:nvPr>
        </p:nvSpPr>
        <p:spPr>
          <a:xfrm>
            <a:off x="838200" y="1094510"/>
            <a:ext cx="10515600" cy="5082453"/>
          </a:xfrm>
        </p:spPr>
        <p:txBody>
          <a:bodyPr>
            <a:normAutofit/>
          </a:bodyPr>
          <a:lstStyle/>
          <a:p>
            <a:pPr marL="0" indent="0">
              <a:buNone/>
            </a:pPr>
            <a:r>
              <a:rPr lang="en-US" dirty="0" err="1"/>
              <a:t>ClassName</a:t>
            </a:r>
            <a:r>
              <a:rPr lang="en-US" dirty="0"/>
              <a:t> *pointer name; // Declaration of a pointer to an object</a:t>
            </a:r>
          </a:p>
          <a:p>
            <a:pPr marL="0" indent="0">
              <a:buNone/>
            </a:pPr>
            <a:endParaRPr lang="en-US" dirty="0"/>
          </a:p>
          <a:p>
            <a:pPr marL="0" indent="0" algn="just">
              <a:buNone/>
            </a:pPr>
            <a:r>
              <a:rPr lang="en-US" sz="1800" b="1" i="1" dirty="0">
                <a:solidFill>
                  <a:srgbClr val="2B2A29"/>
                </a:solidFill>
                <a:effectLst/>
                <a:latin typeface="Montserrat" panose="00000500000000000000" pitchFamily="2" charset="0"/>
              </a:rPr>
              <a:t>Objects</a:t>
            </a:r>
            <a:r>
              <a:rPr lang="en-US" sz="1800" b="0" i="0" dirty="0">
                <a:solidFill>
                  <a:srgbClr val="2B2A29"/>
                </a:solidFill>
                <a:effectLst/>
                <a:latin typeface="Montserrat" panose="00000500000000000000" pitchFamily="2" charset="0"/>
              </a:rPr>
              <a:t> are created using the </a:t>
            </a:r>
            <a:r>
              <a:rPr lang="en-US" sz="1800" b="1" i="1" dirty="0">
                <a:solidFill>
                  <a:srgbClr val="2B2A29"/>
                </a:solidFill>
                <a:effectLst/>
                <a:latin typeface="Montserrat" panose="00000500000000000000" pitchFamily="2" charset="0"/>
              </a:rPr>
              <a:t>new keyword</a:t>
            </a:r>
            <a:r>
              <a:rPr lang="en-US" sz="1800" b="0" i="0" dirty="0">
                <a:solidFill>
                  <a:srgbClr val="2B2A29"/>
                </a:solidFill>
                <a:effectLst/>
                <a:latin typeface="Montserrat" panose="00000500000000000000" pitchFamily="2" charset="0"/>
              </a:rPr>
              <a:t>, which dynamically allocates memory for the object. After that, the Pointer is assigned the </a:t>
            </a:r>
            <a:r>
              <a:rPr lang="en-US" sz="1800" b="1" i="1" dirty="0">
                <a:solidFill>
                  <a:srgbClr val="2B2A29"/>
                </a:solidFill>
                <a:effectLst/>
                <a:latin typeface="Montserrat" panose="00000500000000000000" pitchFamily="2" charset="0"/>
              </a:rPr>
              <a:t>memory address</a:t>
            </a:r>
            <a:r>
              <a:rPr lang="en-US" sz="1800" b="0" i="0" dirty="0">
                <a:solidFill>
                  <a:srgbClr val="2B2A29"/>
                </a:solidFill>
                <a:effectLst/>
                <a:latin typeface="Montserrat" panose="00000500000000000000" pitchFamily="2" charset="0"/>
              </a:rPr>
              <a:t> of the newly created object.</a:t>
            </a:r>
          </a:p>
          <a:p>
            <a:pPr marL="0" indent="0" algn="just">
              <a:buNone/>
            </a:pPr>
            <a:endParaRPr lang="en-US" sz="1800" b="0" i="0" dirty="0">
              <a:solidFill>
                <a:srgbClr val="2B2A29"/>
              </a:solidFill>
              <a:effectLst/>
              <a:latin typeface="Montserrat" panose="00000500000000000000" pitchFamily="2" charset="0"/>
            </a:endParaRPr>
          </a:p>
          <a:p>
            <a:pPr marL="0" indent="0" algn="l">
              <a:spcAft>
                <a:spcPts val="600"/>
              </a:spcAft>
              <a:buNone/>
            </a:pPr>
            <a:r>
              <a:rPr lang="en-US" sz="2400" b="1" i="0" dirty="0" err="1">
                <a:solidFill>
                  <a:srgbClr val="2B2A29"/>
                </a:solidFill>
                <a:effectLst/>
                <a:latin typeface="Montserrat" panose="00000500000000000000" pitchFamily="2" charset="0"/>
              </a:rPr>
              <a:t>ClassName</a:t>
            </a:r>
            <a:r>
              <a:rPr lang="en-US" sz="2400" b="1" i="0" dirty="0">
                <a:solidFill>
                  <a:srgbClr val="2B2A29"/>
                </a:solidFill>
                <a:effectLst/>
                <a:latin typeface="Montserrat" panose="00000500000000000000" pitchFamily="2" charset="0"/>
              </a:rPr>
              <a:t> *</a:t>
            </a:r>
            <a:r>
              <a:rPr lang="en-US" sz="2400" b="1" i="0" dirty="0" err="1">
                <a:solidFill>
                  <a:srgbClr val="2B2A29"/>
                </a:solidFill>
                <a:effectLst/>
                <a:latin typeface="Montserrat" panose="00000500000000000000" pitchFamily="2" charset="0"/>
              </a:rPr>
              <a:t>objPtr</a:t>
            </a:r>
            <a:r>
              <a:rPr lang="en-US" sz="2400" b="1" i="0" dirty="0">
                <a:solidFill>
                  <a:srgbClr val="2B2A29"/>
                </a:solidFill>
                <a:effectLst/>
                <a:latin typeface="Montserrat" panose="00000500000000000000" pitchFamily="2" charset="0"/>
              </a:rPr>
              <a:t> = </a:t>
            </a:r>
            <a:r>
              <a:rPr lang="en-US" sz="2400" b="1" i="0" dirty="0">
                <a:solidFill>
                  <a:srgbClr val="006699"/>
                </a:solidFill>
                <a:effectLst/>
                <a:latin typeface="Montserrat" panose="00000500000000000000" pitchFamily="2" charset="0"/>
              </a:rPr>
              <a:t>new</a:t>
            </a:r>
            <a:r>
              <a:rPr lang="en-US" sz="2400" b="1" i="0" dirty="0">
                <a:solidFill>
                  <a:srgbClr val="2B2A29"/>
                </a:solidFill>
                <a:effectLst/>
                <a:latin typeface="Montserrat" panose="00000500000000000000" pitchFamily="2" charset="0"/>
              </a:rPr>
              <a:t> </a:t>
            </a:r>
            <a:r>
              <a:rPr lang="en-US" sz="2400" b="1" i="0" dirty="0" err="1">
                <a:solidFill>
                  <a:srgbClr val="2B2A29"/>
                </a:solidFill>
                <a:effectLst/>
                <a:latin typeface="Montserrat" panose="00000500000000000000" pitchFamily="2" charset="0"/>
              </a:rPr>
              <a:t>ClassName</a:t>
            </a:r>
            <a:r>
              <a:rPr lang="en-US" sz="2400" b="1" i="0" dirty="0">
                <a:solidFill>
                  <a:srgbClr val="2B2A29"/>
                </a:solidFill>
                <a:effectLst/>
                <a:latin typeface="Montserrat" panose="00000500000000000000" pitchFamily="2" charset="0"/>
              </a:rPr>
              <a:t>(); // Creating an object and assigning its address to the pointer  </a:t>
            </a:r>
          </a:p>
          <a:p>
            <a:pPr marL="0" indent="0" algn="l">
              <a:buNone/>
            </a:pPr>
            <a:r>
              <a:rPr lang="en-US" sz="2200" b="0" i="0" dirty="0">
                <a:solidFill>
                  <a:srgbClr val="2B2A29"/>
                </a:solidFill>
                <a:effectLst/>
                <a:latin typeface="Montserrat" panose="00000500000000000000" pitchFamily="2" charset="0"/>
              </a:rPr>
              <a:t>Objects-&gt;</a:t>
            </a:r>
            <a:r>
              <a:rPr lang="en-US" sz="2200" b="0" i="0" dirty="0" err="1">
                <a:solidFill>
                  <a:srgbClr val="2B2A29"/>
                </a:solidFill>
                <a:effectLst/>
                <a:latin typeface="Montserrat" panose="00000500000000000000" pitchFamily="2" charset="0"/>
              </a:rPr>
              <a:t>memberFunction</a:t>
            </a:r>
            <a:r>
              <a:rPr lang="en-US" sz="2200" b="0" i="0" dirty="0">
                <a:solidFill>
                  <a:srgbClr val="2B2A29"/>
                </a:solidFill>
                <a:effectLst/>
                <a:latin typeface="Montserrat" panose="00000500000000000000" pitchFamily="2" charset="0"/>
              </a:rPr>
              <a:t>();</a:t>
            </a:r>
          </a:p>
          <a:p>
            <a:pPr marL="0" indent="0" algn="l">
              <a:buNone/>
            </a:pPr>
            <a:r>
              <a:rPr lang="en-US" sz="2200" b="0" i="0" dirty="0">
                <a:solidFill>
                  <a:srgbClr val="2B2A29"/>
                </a:solidFill>
                <a:effectLst/>
                <a:latin typeface="Montserrat" panose="00000500000000000000" pitchFamily="2" charset="0"/>
              </a:rPr>
              <a:t> // Calling a member function through the pointer  </a:t>
            </a:r>
          </a:p>
          <a:p>
            <a:pPr marL="0" indent="0" algn="l">
              <a:buNone/>
            </a:pPr>
            <a:r>
              <a:rPr lang="en-US" sz="2200" b="1" i="0" dirty="0">
                <a:solidFill>
                  <a:srgbClr val="2E8B57"/>
                </a:solidFill>
                <a:effectLst/>
                <a:latin typeface="Montserrat" panose="00000500000000000000" pitchFamily="2" charset="0"/>
              </a:rPr>
              <a:t>int</a:t>
            </a:r>
            <a:r>
              <a:rPr lang="en-US" sz="2200" b="0" i="0" dirty="0">
                <a:solidFill>
                  <a:srgbClr val="2B2A29"/>
                </a:solidFill>
                <a:effectLst/>
                <a:latin typeface="Montserrat" panose="00000500000000000000" pitchFamily="2" charset="0"/>
              </a:rPr>
              <a:t> value = </a:t>
            </a:r>
            <a:r>
              <a:rPr lang="en-US" sz="2200" b="0" i="0" dirty="0" err="1">
                <a:solidFill>
                  <a:srgbClr val="2B2A29"/>
                </a:solidFill>
                <a:effectLst/>
                <a:latin typeface="Montserrat" panose="00000500000000000000" pitchFamily="2" charset="0"/>
              </a:rPr>
              <a:t>objPtr</a:t>
            </a:r>
            <a:r>
              <a:rPr lang="en-US" sz="2200" b="0" i="0" dirty="0">
                <a:solidFill>
                  <a:srgbClr val="2B2A29"/>
                </a:solidFill>
                <a:effectLst/>
                <a:latin typeface="Montserrat" panose="00000500000000000000" pitchFamily="2" charset="0"/>
              </a:rPr>
              <a:t>-&gt;</a:t>
            </a:r>
            <a:r>
              <a:rPr lang="en-US" sz="2200" b="0" i="0" dirty="0" err="1">
                <a:solidFill>
                  <a:srgbClr val="2B2A29"/>
                </a:solidFill>
                <a:effectLst/>
                <a:latin typeface="Montserrat" panose="00000500000000000000" pitchFamily="2" charset="0"/>
              </a:rPr>
              <a:t>memberVariable</a:t>
            </a:r>
            <a:r>
              <a:rPr lang="en-US" sz="2200" b="0" i="0" dirty="0">
                <a:solidFill>
                  <a:srgbClr val="2B2A29"/>
                </a:solidFill>
                <a:effectLst/>
                <a:latin typeface="Montserrat" panose="00000500000000000000" pitchFamily="2" charset="0"/>
              </a:rPr>
              <a:t>; </a:t>
            </a:r>
          </a:p>
          <a:p>
            <a:pPr marL="0" indent="0" algn="l">
              <a:buNone/>
            </a:pPr>
            <a:r>
              <a:rPr lang="en-US" sz="2200" b="0" i="0" dirty="0">
                <a:solidFill>
                  <a:srgbClr val="2B2A29"/>
                </a:solidFill>
                <a:effectLst/>
                <a:latin typeface="Montserrat" panose="00000500000000000000" pitchFamily="2" charset="0"/>
              </a:rPr>
              <a:t>// Accessing a member variable through the pointer  </a:t>
            </a:r>
          </a:p>
          <a:p>
            <a:pPr marL="0" indent="0">
              <a:buNone/>
            </a:pPr>
            <a:endParaRPr lang="en-US" dirty="0"/>
          </a:p>
        </p:txBody>
      </p:sp>
    </p:spTree>
    <p:extLst>
      <p:ext uri="{BB962C8B-B14F-4D97-AF65-F5344CB8AC3E}">
        <p14:creationId xmlns:p14="http://schemas.microsoft.com/office/powerpoint/2010/main" val="19669502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B8336E2-D509-A9FD-C7F4-B5D095F5B2CC}"/>
              </a:ext>
            </a:extLst>
          </p:cNvPr>
          <p:cNvSpPr>
            <a:spLocks noGrp="1"/>
          </p:cNvSpPr>
          <p:nvPr>
            <p:ph idx="1"/>
          </p:nvPr>
        </p:nvSpPr>
        <p:spPr>
          <a:xfrm>
            <a:off x="838200" y="374073"/>
            <a:ext cx="5548745" cy="5802890"/>
          </a:xfrm>
        </p:spPr>
        <p:txBody>
          <a:bodyPr>
            <a:normAutofit fontScale="47500" lnSpcReduction="20000"/>
          </a:bodyPr>
          <a:lstStyle/>
          <a:p>
            <a:pPr marL="0" indent="0" algn="l">
              <a:buNone/>
            </a:pPr>
            <a:r>
              <a:rPr lang="en-US" b="0" i="0" dirty="0">
                <a:solidFill>
                  <a:srgbClr val="2B2A29"/>
                </a:solidFill>
                <a:effectLst/>
                <a:latin typeface="Montserrat" panose="00000500000000000000" pitchFamily="2" charset="0"/>
              </a:rPr>
              <a:t>#include &lt;iostream&gt;  </a:t>
            </a:r>
          </a:p>
          <a:p>
            <a:pPr marL="0" indent="0" algn="l">
              <a:buNone/>
            </a:pPr>
            <a:r>
              <a:rPr lang="en-US" b="1" i="0" dirty="0">
                <a:solidFill>
                  <a:srgbClr val="006699"/>
                </a:solidFill>
                <a:effectLst/>
                <a:latin typeface="Montserrat" panose="00000500000000000000" pitchFamily="2" charset="0"/>
              </a:rPr>
              <a:t>class</a:t>
            </a:r>
            <a:r>
              <a:rPr lang="en-US" b="0" i="0" dirty="0">
                <a:solidFill>
                  <a:srgbClr val="2B2A29"/>
                </a:solidFill>
                <a:effectLst/>
                <a:latin typeface="Montserrat" panose="00000500000000000000" pitchFamily="2" charset="0"/>
              </a:rPr>
              <a:t> </a:t>
            </a:r>
            <a:r>
              <a:rPr lang="en-US" b="0" i="0" dirty="0" err="1">
                <a:solidFill>
                  <a:srgbClr val="2B2A29"/>
                </a:solidFill>
                <a:effectLst/>
                <a:latin typeface="Montserrat" panose="00000500000000000000" pitchFamily="2" charset="0"/>
              </a:rPr>
              <a:t>MyClass</a:t>
            </a:r>
            <a:r>
              <a:rPr lang="en-US" b="0" i="0" dirty="0">
                <a:solidFill>
                  <a:srgbClr val="2B2A29"/>
                </a:solidFill>
                <a:effectLst/>
                <a:latin typeface="Montserrat" panose="00000500000000000000" pitchFamily="2" charset="0"/>
              </a:rPr>
              <a:t> {  </a:t>
            </a:r>
          </a:p>
          <a:p>
            <a:pPr marL="0" indent="0" algn="l">
              <a:buNone/>
            </a:pPr>
            <a:r>
              <a:rPr lang="en-US" b="1" i="0" dirty="0">
                <a:solidFill>
                  <a:srgbClr val="006699"/>
                </a:solidFill>
                <a:effectLst/>
                <a:latin typeface="Montserrat" panose="00000500000000000000" pitchFamily="2" charset="0"/>
              </a:rPr>
              <a:t>public</a:t>
            </a:r>
            <a:r>
              <a:rPr lang="en-US" b="0" i="0" dirty="0">
                <a:solidFill>
                  <a:srgbClr val="2B2A29"/>
                </a:solidFill>
                <a:effectLst/>
                <a:latin typeface="Montserrat" panose="00000500000000000000" pitchFamily="2" charset="0"/>
              </a:rPr>
              <a:t>:  </a:t>
            </a:r>
          </a:p>
          <a:p>
            <a:pPr marL="0" indent="0" algn="l">
              <a:buNone/>
            </a:pPr>
            <a:r>
              <a:rPr lang="en-US" b="0" i="0" dirty="0">
                <a:solidFill>
                  <a:srgbClr val="2B2A29"/>
                </a:solidFill>
                <a:effectLst/>
                <a:latin typeface="Montserrat" panose="00000500000000000000" pitchFamily="2" charset="0"/>
              </a:rPr>
              <a:t>    </a:t>
            </a:r>
            <a:r>
              <a:rPr lang="en-US" b="1" i="0" dirty="0">
                <a:solidFill>
                  <a:srgbClr val="2E8B57"/>
                </a:solidFill>
                <a:effectLst/>
                <a:latin typeface="Montserrat" panose="00000500000000000000" pitchFamily="2" charset="0"/>
              </a:rPr>
              <a:t>int</a:t>
            </a:r>
            <a:r>
              <a:rPr lang="en-US" b="0" i="0" dirty="0">
                <a:solidFill>
                  <a:srgbClr val="2B2A29"/>
                </a:solidFill>
                <a:effectLst/>
                <a:latin typeface="Montserrat" panose="00000500000000000000" pitchFamily="2" charset="0"/>
              </a:rPr>
              <a:t> data;  </a:t>
            </a:r>
          </a:p>
          <a:p>
            <a:pPr marL="0" indent="0" algn="l">
              <a:buNone/>
            </a:pPr>
            <a:r>
              <a:rPr lang="en-US" b="0" i="0" dirty="0" err="1">
                <a:solidFill>
                  <a:srgbClr val="2B2A29"/>
                </a:solidFill>
                <a:effectLst/>
                <a:latin typeface="Montserrat" panose="00000500000000000000" pitchFamily="2" charset="0"/>
              </a:rPr>
              <a:t>MyClass</a:t>
            </a:r>
            <a:r>
              <a:rPr lang="en-US" b="0" i="0" dirty="0">
                <a:solidFill>
                  <a:srgbClr val="2B2A29"/>
                </a:solidFill>
                <a:effectLst/>
                <a:latin typeface="Montserrat" panose="00000500000000000000" pitchFamily="2" charset="0"/>
              </a:rPr>
              <a:t>(</a:t>
            </a:r>
            <a:r>
              <a:rPr lang="en-US" b="1" i="0" dirty="0">
                <a:solidFill>
                  <a:srgbClr val="2E8B57"/>
                </a:solidFill>
                <a:effectLst/>
                <a:latin typeface="Montserrat" panose="00000500000000000000" pitchFamily="2" charset="0"/>
              </a:rPr>
              <a:t>int</a:t>
            </a:r>
            <a:r>
              <a:rPr lang="en-US" b="0" i="0" dirty="0">
                <a:solidFill>
                  <a:srgbClr val="2B2A29"/>
                </a:solidFill>
                <a:effectLst/>
                <a:latin typeface="Montserrat" panose="00000500000000000000" pitchFamily="2" charset="0"/>
              </a:rPr>
              <a:t> value) : data(value) {}  </a:t>
            </a:r>
          </a:p>
          <a:p>
            <a:pPr marL="0" indent="0" algn="l">
              <a:buNone/>
            </a:pPr>
            <a:r>
              <a:rPr lang="en-US" b="0" i="0" dirty="0">
                <a:solidFill>
                  <a:srgbClr val="2B2A29"/>
                </a:solidFill>
                <a:effectLst/>
                <a:latin typeface="Montserrat" panose="00000500000000000000" pitchFamily="2" charset="0"/>
              </a:rPr>
              <a:t>    </a:t>
            </a:r>
            <a:r>
              <a:rPr lang="en-US" b="1" i="0" dirty="0">
                <a:solidFill>
                  <a:srgbClr val="006699"/>
                </a:solidFill>
                <a:effectLst/>
                <a:latin typeface="Montserrat" panose="00000500000000000000" pitchFamily="2" charset="0"/>
              </a:rPr>
              <a:t>void</a:t>
            </a:r>
            <a:r>
              <a:rPr lang="en-US" b="0" i="0" dirty="0">
                <a:solidFill>
                  <a:srgbClr val="2B2A29"/>
                </a:solidFill>
                <a:effectLst/>
                <a:latin typeface="Montserrat" panose="00000500000000000000" pitchFamily="2" charset="0"/>
              </a:rPr>
              <a:t> display() {  </a:t>
            </a:r>
          </a:p>
          <a:p>
            <a:pPr marL="0" indent="0" algn="l">
              <a:buNone/>
            </a:pPr>
            <a:r>
              <a:rPr lang="en-US" b="0" i="0" dirty="0">
                <a:solidFill>
                  <a:srgbClr val="2B2A29"/>
                </a:solidFill>
                <a:effectLst/>
                <a:latin typeface="Montserrat" panose="00000500000000000000" pitchFamily="2" charset="0"/>
              </a:rPr>
              <a:t>std::</a:t>
            </a:r>
            <a:r>
              <a:rPr lang="en-US" b="0" i="0" dirty="0" err="1">
                <a:solidFill>
                  <a:srgbClr val="2B2A29"/>
                </a:solidFill>
                <a:effectLst/>
                <a:latin typeface="Montserrat" panose="00000500000000000000" pitchFamily="2" charset="0"/>
              </a:rPr>
              <a:t>cout</a:t>
            </a:r>
            <a:r>
              <a:rPr lang="en-US" b="0" i="0" dirty="0">
                <a:solidFill>
                  <a:srgbClr val="2B2A29"/>
                </a:solidFill>
                <a:effectLst/>
                <a:latin typeface="Montserrat" panose="00000500000000000000" pitchFamily="2" charset="0"/>
              </a:rPr>
              <a:t>&lt;&lt; "Data: " &lt;&lt; data &lt;&lt; std::</a:t>
            </a:r>
            <a:r>
              <a:rPr lang="en-US" b="0" i="0" dirty="0" err="1">
                <a:solidFill>
                  <a:srgbClr val="2B2A29"/>
                </a:solidFill>
                <a:effectLst/>
                <a:latin typeface="Montserrat" panose="00000500000000000000" pitchFamily="2" charset="0"/>
              </a:rPr>
              <a:t>endl</a:t>
            </a:r>
            <a:r>
              <a:rPr lang="en-US" b="0" i="0" dirty="0">
                <a:solidFill>
                  <a:srgbClr val="2B2A29"/>
                </a:solidFill>
                <a:effectLst/>
                <a:latin typeface="Montserrat" panose="00000500000000000000" pitchFamily="2" charset="0"/>
              </a:rPr>
              <a:t>;  </a:t>
            </a:r>
          </a:p>
          <a:p>
            <a:pPr marL="0" indent="0" algn="l">
              <a:buNone/>
            </a:pPr>
            <a:r>
              <a:rPr lang="en-US" b="0" i="0" dirty="0">
                <a:solidFill>
                  <a:srgbClr val="2B2A29"/>
                </a:solidFill>
                <a:effectLst/>
                <a:latin typeface="Montserrat" panose="00000500000000000000" pitchFamily="2" charset="0"/>
              </a:rPr>
              <a:t>    }  </a:t>
            </a:r>
          </a:p>
          <a:p>
            <a:pPr marL="0" indent="0" algn="l">
              <a:buNone/>
            </a:pPr>
            <a:r>
              <a:rPr lang="en-US" b="0" i="0" dirty="0">
                <a:solidFill>
                  <a:srgbClr val="2B2A29"/>
                </a:solidFill>
                <a:effectLst/>
                <a:latin typeface="Montserrat" panose="00000500000000000000" pitchFamily="2" charset="0"/>
              </a:rPr>
              <a:t>};  </a:t>
            </a:r>
          </a:p>
          <a:p>
            <a:pPr marL="0" indent="0" algn="l">
              <a:buNone/>
            </a:pPr>
            <a:r>
              <a:rPr lang="en-US" b="0" i="0" dirty="0">
                <a:solidFill>
                  <a:srgbClr val="2B2A29"/>
                </a:solidFill>
                <a:effectLst/>
                <a:latin typeface="Montserrat" panose="00000500000000000000" pitchFamily="2" charset="0"/>
              </a:rPr>
              <a:t>//Function to modify the object's data using a pointer  </a:t>
            </a:r>
          </a:p>
          <a:p>
            <a:pPr marL="0" indent="0" algn="l">
              <a:buNone/>
            </a:pPr>
            <a:r>
              <a:rPr lang="en-US" b="1" i="0" dirty="0">
                <a:solidFill>
                  <a:srgbClr val="006699"/>
                </a:solidFill>
                <a:effectLst/>
                <a:latin typeface="Montserrat" panose="00000500000000000000" pitchFamily="2" charset="0"/>
              </a:rPr>
              <a:t>void</a:t>
            </a:r>
            <a:r>
              <a:rPr lang="en-US" b="0" i="0" dirty="0">
                <a:solidFill>
                  <a:srgbClr val="2B2A29"/>
                </a:solidFill>
                <a:effectLst/>
                <a:latin typeface="Montserrat" panose="00000500000000000000" pitchFamily="2" charset="0"/>
              </a:rPr>
              <a:t> </a:t>
            </a:r>
            <a:r>
              <a:rPr lang="en-US" b="0" i="0" dirty="0" err="1">
                <a:solidFill>
                  <a:srgbClr val="2B2A29"/>
                </a:solidFill>
                <a:effectLst/>
                <a:latin typeface="Montserrat" panose="00000500000000000000" pitchFamily="2" charset="0"/>
              </a:rPr>
              <a:t>modifyObject</a:t>
            </a:r>
            <a:r>
              <a:rPr lang="en-US" b="0" i="0" dirty="0">
                <a:solidFill>
                  <a:srgbClr val="2B2A29"/>
                </a:solidFill>
                <a:effectLst/>
                <a:latin typeface="Montserrat" panose="00000500000000000000" pitchFamily="2" charset="0"/>
              </a:rPr>
              <a:t>(</a:t>
            </a:r>
            <a:r>
              <a:rPr lang="en-US" b="0" i="0" dirty="0" err="1">
                <a:solidFill>
                  <a:srgbClr val="2B2A29"/>
                </a:solidFill>
                <a:effectLst/>
                <a:latin typeface="Montserrat" panose="00000500000000000000" pitchFamily="2" charset="0"/>
              </a:rPr>
              <a:t>MyClass</a:t>
            </a:r>
            <a:r>
              <a:rPr lang="en-US" b="0" i="0" dirty="0">
                <a:solidFill>
                  <a:srgbClr val="2B2A29"/>
                </a:solidFill>
                <a:effectLst/>
                <a:latin typeface="Montserrat" panose="00000500000000000000" pitchFamily="2" charset="0"/>
              </a:rPr>
              <a:t> *</a:t>
            </a:r>
            <a:r>
              <a:rPr lang="en-US" b="0" i="0" dirty="0" err="1">
                <a:solidFill>
                  <a:srgbClr val="2B2A29"/>
                </a:solidFill>
                <a:effectLst/>
                <a:latin typeface="Montserrat" panose="00000500000000000000" pitchFamily="2" charset="0"/>
              </a:rPr>
              <a:t>ptr</a:t>
            </a:r>
            <a:r>
              <a:rPr lang="en-US" b="0" i="0" dirty="0">
                <a:solidFill>
                  <a:srgbClr val="2B2A29"/>
                </a:solidFill>
                <a:effectLst/>
                <a:latin typeface="Montserrat" panose="00000500000000000000" pitchFamily="2" charset="0"/>
              </a:rPr>
              <a:t>, </a:t>
            </a:r>
            <a:r>
              <a:rPr lang="en-US" b="1" i="0" dirty="0">
                <a:solidFill>
                  <a:srgbClr val="2E8B57"/>
                </a:solidFill>
                <a:effectLst/>
                <a:latin typeface="Montserrat" panose="00000500000000000000" pitchFamily="2" charset="0"/>
              </a:rPr>
              <a:t>int</a:t>
            </a:r>
            <a:r>
              <a:rPr lang="en-US" b="0" i="0" dirty="0">
                <a:solidFill>
                  <a:srgbClr val="2B2A29"/>
                </a:solidFill>
                <a:effectLst/>
                <a:latin typeface="Montserrat" panose="00000500000000000000" pitchFamily="2" charset="0"/>
              </a:rPr>
              <a:t> </a:t>
            </a:r>
            <a:r>
              <a:rPr lang="en-US" b="0" i="0" dirty="0" err="1">
                <a:solidFill>
                  <a:srgbClr val="2B2A29"/>
                </a:solidFill>
                <a:effectLst/>
                <a:latin typeface="Montserrat" panose="00000500000000000000" pitchFamily="2" charset="0"/>
              </a:rPr>
              <a:t>newValue</a:t>
            </a:r>
            <a:r>
              <a:rPr lang="en-US" b="0" i="0" dirty="0">
                <a:solidFill>
                  <a:srgbClr val="2B2A29"/>
                </a:solidFill>
                <a:effectLst/>
                <a:latin typeface="Montserrat" panose="00000500000000000000" pitchFamily="2" charset="0"/>
              </a:rPr>
              <a:t>) {  </a:t>
            </a:r>
          </a:p>
          <a:p>
            <a:pPr marL="0" indent="0" algn="l">
              <a:buNone/>
            </a:pPr>
            <a:r>
              <a:rPr lang="en-US" b="0" i="0" dirty="0" err="1">
                <a:solidFill>
                  <a:srgbClr val="2B2A29"/>
                </a:solidFill>
                <a:effectLst/>
                <a:latin typeface="Montserrat" panose="00000500000000000000" pitchFamily="2" charset="0"/>
              </a:rPr>
              <a:t>ptr</a:t>
            </a:r>
            <a:r>
              <a:rPr lang="en-US" b="0" i="0" dirty="0">
                <a:solidFill>
                  <a:srgbClr val="2B2A29"/>
                </a:solidFill>
                <a:effectLst/>
                <a:latin typeface="Montserrat" panose="00000500000000000000" pitchFamily="2" charset="0"/>
              </a:rPr>
              <a:t>-&gt;data = </a:t>
            </a:r>
            <a:r>
              <a:rPr lang="en-US" b="0" i="0" dirty="0" err="1">
                <a:solidFill>
                  <a:srgbClr val="2B2A29"/>
                </a:solidFill>
                <a:effectLst/>
                <a:latin typeface="Montserrat" panose="00000500000000000000" pitchFamily="2" charset="0"/>
              </a:rPr>
              <a:t>newValue</a:t>
            </a:r>
            <a:r>
              <a:rPr lang="en-US" b="0" i="0" dirty="0">
                <a:solidFill>
                  <a:srgbClr val="2B2A29"/>
                </a:solidFill>
                <a:effectLst/>
                <a:latin typeface="Montserrat" panose="00000500000000000000" pitchFamily="2" charset="0"/>
              </a:rPr>
              <a:t>;  </a:t>
            </a:r>
          </a:p>
          <a:p>
            <a:pPr marL="0" indent="0" algn="l">
              <a:buNone/>
            </a:pPr>
            <a:r>
              <a:rPr lang="en-US" b="0" i="0" dirty="0">
                <a:solidFill>
                  <a:srgbClr val="2B2A29"/>
                </a:solidFill>
                <a:effectLst/>
                <a:latin typeface="Montserrat" panose="00000500000000000000" pitchFamily="2" charset="0"/>
              </a:rPr>
              <a:t>}  </a:t>
            </a:r>
          </a:p>
          <a:p>
            <a:pPr marL="0" indent="0" algn="l">
              <a:buNone/>
            </a:pPr>
            <a:r>
              <a:rPr lang="en-US" b="1" i="0" dirty="0">
                <a:solidFill>
                  <a:srgbClr val="2E8B57"/>
                </a:solidFill>
                <a:effectLst/>
                <a:latin typeface="Montserrat" panose="00000500000000000000" pitchFamily="2" charset="0"/>
              </a:rPr>
              <a:t>int</a:t>
            </a:r>
            <a:r>
              <a:rPr lang="en-US" b="0" i="0" dirty="0">
                <a:solidFill>
                  <a:srgbClr val="2B2A29"/>
                </a:solidFill>
                <a:effectLst/>
                <a:latin typeface="Montserrat" panose="00000500000000000000" pitchFamily="2" charset="0"/>
              </a:rPr>
              <a:t> main() {  </a:t>
            </a:r>
          </a:p>
          <a:p>
            <a:pPr marL="0" indent="0" algn="l">
              <a:buNone/>
            </a:pPr>
            <a:r>
              <a:rPr lang="en-US" b="0" i="0" dirty="0">
                <a:solidFill>
                  <a:srgbClr val="2B2A29"/>
                </a:solidFill>
                <a:effectLst/>
                <a:latin typeface="Montserrat" panose="00000500000000000000" pitchFamily="2" charset="0"/>
              </a:rPr>
              <a:t>    // Creating an object and a pointer to the object  </a:t>
            </a:r>
          </a:p>
          <a:p>
            <a:pPr marL="0" indent="0" algn="l">
              <a:buNone/>
            </a:pPr>
            <a:r>
              <a:rPr lang="en-US" b="0" i="0" dirty="0" err="1">
                <a:solidFill>
                  <a:srgbClr val="2B2A29"/>
                </a:solidFill>
                <a:effectLst/>
                <a:latin typeface="Montserrat" panose="00000500000000000000" pitchFamily="2" charset="0"/>
              </a:rPr>
              <a:t>MyClass</a:t>
            </a:r>
            <a:r>
              <a:rPr lang="en-US" b="0" i="0" dirty="0">
                <a:solidFill>
                  <a:srgbClr val="2B2A29"/>
                </a:solidFill>
                <a:effectLst/>
                <a:latin typeface="Montserrat" panose="00000500000000000000" pitchFamily="2" charset="0"/>
              </a:rPr>
              <a:t> *</a:t>
            </a:r>
            <a:r>
              <a:rPr lang="en-US" b="0" i="0" dirty="0" err="1">
                <a:solidFill>
                  <a:srgbClr val="2B2A29"/>
                </a:solidFill>
                <a:effectLst/>
                <a:latin typeface="Montserrat" panose="00000500000000000000" pitchFamily="2" charset="0"/>
              </a:rPr>
              <a:t>objPtr</a:t>
            </a:r>
            <a:r>
              <a:rPr lang="en-US" b="0" i="0" dirty="0">
                <a:solidFill>
                  <a:srgbClr val="2B2A29"/>
                </a:solidFill>
                <a:effectLst/>
                <a:latin typeface="Montserrat" panose="00000500000000000000" pitchFamily="2" charset="0"/>
              </a:rPr>
              <a:t> = </a:t>
            </a:r>
            <a:r>
              <a:rPr lang="en-US" b="1" i="0" dirty="0">
                <a:solidFill>
                  <a:srgbClr val="006699"/>
                </a:solidFill>
                <a:effectLst/>
                <a:latin typeface="Montserrat" panose="00000500000000000000" pitchFamily="2" charset="0"/>
              </a:rPr>
              <a:t>new</a:t>
            </a:r>
            <a:r>
              <a:rPr lang="en-US" b="0" i="0" dirty="0">
                <a:solidFill>
                  <a:srgbClr val="2B2A29"/>
                </a:solidFill>
                <a:effectLst/>
                <a:latin typeface="Montserrat" panose="00000500000000000000" pitchFamily="2" charset="0"/>
              </a:rPr>
              <a:t> </a:t>
            </a:r>
            <a:r>
              <a:rPr lang="en-US" b="0" i="0" dirty="0" err="1">
                <a:solidFill>
                  <a:srgbClr val="2B2A29"/>
                </a:solidFill>
                <a:effectLst/>
                <a:latin typeface="Montserrat" panose="00000500000000000000" pitchFamily="2" charset="0"/>
              </a:rPr>
              <a:t>MyClass</a:t>
            </a:r>
            <a:r>
              <a:rPr lang="en-US" b="0" i="0" dirty="0">
                <a:solidFill>
                  <a:srgbClr val="2B2A29"/>
                </a:solidFill>
                <a:effectLst/>
                <a:latin typeface="Montserrat" panose="00000500000000000000" pitchFamily="2" charset="0"/>
              </a:rPr>
              <a:t>(42);  </a:t>
            </a:r>
          </a:p>
          <a:p>
            <a:pPr marL="0" indent="0" algn="l">
              <a:buNone/>
            </a:pPr>
            <a:r>
              <a:rPr lang="en-US" b="0" i="0" dirty="0">
                <a:solidFill>
                  <a:srgbClr val="2B2A29"/>
                </a:solidFill>
                <a:effectLst/>
                <a:latin typeface="Montserrat" panose="00000500000000000000" pitchFamily="2" charset="0"/>
              </a:rPr>
              <a:t>    // Accessing object's member through the Pointer  </a:t>
            </a:r>
          </a:p>
          <a:p>
            <a:pPr marL="0" indent="0" algn="l">
              <a:buNone/>
            </a:pPr>
            <a:r>
              <a:rPr lang="en-US" b="0" i="0" dirty="0" err="1">
                <a:solidFill>
                  <a:srgbClr val="2B2A29"/>
                </a:solidFill>
                <a:effectLst/>
                <a:latin typeface="Montserrat" panose="00000500000000000000" pitchFamily="2" charset="0"/>
              </a:rPr>
              <a:t>objPtr</a:t>
            </a:r>
            <a:r>
              <a:rPr lang="en-US" b="0" i="0" dirty="0">
                <a:solidFill>
                  <a:srgbClr val="2B2A29"/>
                </a:solidFill>
                <a:effectLst/>
                <a:latin typeface="Montserrat" panose="00000500000000000000" pitchFamily="2" charset="0"/>
              </a:rPr>
              <a:t>-&gt;display();  </a:t>
            </a:r>
          </a:p>
          <a:p>
            <a:pPr marL="0" indent="0" algn="l">
              <a:buNone/>
            </a:pPr>
            <a:r>
              <a:rPr lang="en-US" b="0" i="0" dirty="0">
                <a:solidFill>
                  <a:srgbClr val="2B2A29"/>
                </a:solidFill>
                <a:effectLst/>
                <a:latin typeface="Montserrat" panose="00000500000000000000" pitchFamily="2" charset="0"/>
              </a:rPr>
              <a:t>    // Dereferencing the Pointer to access the object directly  </a:t>
            </a:r>
          </a:p>
          <a:p>
            <a:pPr marL="0" indent="0" algn="l">
              <a:buNone/>
            </a:pPr>
            <a:r>
              <a:rPr lang="en-US" b="0" i="0" dirty="0" err="1">
                <a:solidFill>
                  <a:srgbClr val="2B2A29"/>
                </a:solidFill>
                <a:effectLst/>
                <a:latin typeface="Montserrat" panose="00000500000000000000" pitchFamily="2" charset="0"/>
              </a:rPr>
              <a:t>MyClassobj</a:t>
            </a:r>
            <a:r>
              <a:rPr lang="en-US" b="0" i="0" dirty="0">
                <a:solidFill>
                  <a:srgbClr val="2B2A29"/>
                </a:solidFill>
                <a:effectLst/>
                <a:latin typeface="Montserrat" panose="00000500000000000000" pitchFamily="2" charset="0"/>
              </a:rPr>
              <a:t> = *</a:t>
            </a:r>
            <a:r>
              <a:rPr lang="en-US" b="0" i="0" dirty="0" err="1">
                <a:solidFill>
                  <a:srgbClr val="2B2A29"/>
                </a:solidFill>
                <a:effectLst/>
                <a:latin typeface="Montserrat" panose="00000500000000000000" pitchFamily="2" charset="0"/>
              </a:rPr>
              <a:t>objPtr</a:t>
            </a:r>
            <a:r>
              <a:rPr lang="en-US" b="0" i="0" dirty="0">
                <a:solidFill>
                  <a:srgbClr val="2B2A29"/>
                </a:solidFill>
                <a:effectLst/>
                <a:latin typeface="Montserrat" panose="00000500000000000000" pitchFamily="2" charset="0"/>
              </a:rPr>
              <a:t>;  </a:t>
            </a:r>
          </a:p>
          <a:p>
            <a:pPr marL="0" indent="0">
              <a:buNone/>
            </a:pPr>
            <a:endParaRPr lang="en-US" dirty="0"/>
          </a:p>
        </p:txBody>
      </p:sp>
      <p:sp>
        <p:nvSpPr>
          <p:cNvPr id="4" name="Content Placeholder 2">
            <a:extLst>
              <a:ext uri="{FF2B5EF4-FFF2-40B4-BE49-F238E27FC236}">
                <a16:creationId xmlns:a16="http://schemas.microsoft.com/office/drawing/2014/main" id="{ECC0851D-6889-887F-5CBA-6D592763E707}"/>
              </a:ext>
            </a:extLst>
          </p:cNvPr>
          <p:cNvSpPr txBox="1">
            <a:spLocks/>
          </p:cNvSpPr>
          <p:nvPr/>
        </p:nvSpPr>
        <p:spPr>
          <a:xfrm>
            <a:off x="6262255" y="526473"/>
            <a:ext cx="5791200" cy="5802890"/>
          </a:xfrm>
          <a:prstGeom prst="rect">
            <a:avLst/>
          </a:prstGeom>
        </p:spPr>
        <p:txBody>
          <a:bodyPr vert="horz" lIns="91440" tIns="45720" rIns="91440" bIns="45720" rtlCol="0">
            <a:normAutofit fontScale="4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buNone/>
            </a:pPr>
            <a:r>
              <a:rPr lang="en-US" b="0" i="0" dirty="0" err="1">
                <a:solidFill>
                  <a:srgbClr val="2B2A29"/>
                </a:solidFill>
                <a:effectLst/>
                <a:latin typeface="Montserrat" panose="00000500000000000000" pitchFamily="2" charset="0"/>
              </a:rPr>
              <a:t>obj.display</a:t>
            </a:r>
            <a:r>
              <a:rPr lang="en-US" b="0" i="0" dirty="0">
                <a:solidFill>
                  <a:srgbClr val="2B2A29"/>
                </a:solidFill>
                <a:effectLst/>
                <a:latin typeface="Montserrat" panose="00000500000000000000" pitchFamily="2" charset="0"/>
              </a:rPr>
              <a:t>();  </a:t>
            </a:r>
          </a:p>
          <a:p>
            <a:pPr marL="0" indent="0" algn="l">
              <a:buNone/>
            </a:pPr>
            <a:r>
              <a:rPr lang="en-US" b="0" i="0" dirty="0">
                <a:solidFill>
                  <a:srgbClr val="2B2A29"/>
                </a:solidFill>
                <a:effectLst/>
                <a:latin typeface="Montserrat" panose="00000500000000000000" pitchFamily="2" charset="0"/>
              </a:rPr>
              <a:t>    // Modifying object's member through the Pointer  </a:t>
            </a:r>
          </a:p>
          <a:p>
            <a:pPr marL="0" indent="0" algn="l">
              <a:buNone/>
            </a:pPr>
            <a:r>
              <a:rPr lang="en-US" b="0" i="0" dirty="0" err="1">
                <a:solidFill>
                  <a:srgbClr val="2B2A29"/>
                </a:solidFill>
                <a:effectLst/>
                <a:latin typeface="Montserrat" panose="00000500000000000000" pitchFamily="2" charset="0"/>
              </a:rPr>
              <a:t>modifyObject</a:t>
            </a:r>
            <a:r>
              <a:rPr lang="en-US" b="0" i="0" dirty="0">
                <a:solidFill>
                  <a:srgbClr val="2B2A29"/>
                </a:solidFill>
                <a:effectLst/>
                <a:latin typeface="Montserrat" panose="00000500000000000000" pitchFamily="2" charset="0"/>
              </a:rPr>
              <a:t>(</a:t>
            </a:r>
            <a:r>
              <a:rPr lang="en-US" b="0" i="0" dirty="0" err="1">
                <a:solidFill>
                  <a:srgbClr val="2B2A29"/>
                </a:solidFill>
                <a:effectLst/>
                <a:latin typeface="Montserrat" panose="00000500000000000000" pitchFamily="2" charset="0"/>
              </a:rPr>
              <a:t>objPtr</a:t>
            </a:r>
            <a:r>
              <a:rPr lang="en-US" b="0" i="0" dirty="0">
                <a:solidFill>
                  <a:srgbClr val="2B2A29"/>
                </a:solidFill>
                <a:effectLst/>
                <a:latin typeface="Montserrat" panose="00000500000000000000" pitchFamily="2" charset="0"/>
              </a:rPr>
              <a:t>, 99);  </a:t>
            </a:r>
          </a:p>
          <a:p>
            <a:pPr marL="0" indent="0" algn="l">
              <a:buNone/>
            </a:pPr>
            <a:r>
              <a:rPr lang="en-US" b="0" i="0" dirty="0" err="1">
                <a:solidFill>
                  <a:srgbClr val="2B2A29"/>
                </a:solidFill>
                <a:effectLst/>
                <a:latin typeface="Montserrat" panose="00000500000000000000" pitchFamily="2" charset="0"/>
              </a:rPr>
              <a:t>objPtr</a:t>
            </a:r>
            <a:r>
              <a:rPr lang="en-US" b="0" i="0" dirty="0">
                <a:solidFill>
                  <a:srgbClr val="2B2A29"/>
                </a:solidFill>
                <a:effectLst/>
                <a:latin typeface="Montserrat" panose="00000500000000000000" pitchFamily="2" charset="0"/>
              </a:rPr>
              <a:t>-&gt;display();  </a:t>
            </a:r>
          </a:p>
          <a:p>
            <a:pPr marL="0" indent="0" algn="l">
              <a:buNone/>
            </a:pPr>
            <a:r>
              <a:rPr lang="en-US" b="0" i="0" dirty="0">
                <a:solidFill>
                  <a:srgbClr val="2B2A29"/>
                </a:solidFill>
                <a:effectLst/>
                <a:latin typeface="Montserrat" panose="00000500000000000000" pitchFamily="2" charset="0"/>
              </a:rPr>
              <a:t>    // Deleting the dynamically allocated object  </a:t>
            </a:r>
          </a:p>
          <a:p>
            <a:pPr marL="0" indent="0" algn="l">
              <a:buNone/>
            </a:pPr>
            <a:r>
              <a:rPr lang="en-US" b="0" i="0" dirty="0">
                <a:solidFill>
                  <a:srgbClr val="2B2A29"/>
                </a:solidFill>
                <a:effectLst/>
                <a:latin typeface="Montserrat" panose="00000500000000000000" pitchFamily="2" charset="0"/>
              </a:rPr>
              <a:t>    </a:t>
            </a:r>
            <a:r>
              <a:rPr lang="en-US" b="1" i="0" dirty="0">
                <a:solidFill>
                  <a:srgbClr val="006699"/>
                </a:solidFill>
                <a:effectLst/>
                <a:latin typeface="Montserrat" panose="00000500000000000000" pitchFamily="2" charset="0"/>
              </a:rPr>
              <a:t>delete</a:t>
            </a:r>
            <a:r>
              <a:rPr lang="en-US" b="0" i="0" dirty="0">
                <a:solidFill>
                  <a:srgbClr val="2B2A29"/>
                </a:solidFill>
                <a:effectLst/>
                <a:latin typeface="Montserrat" panose="00000500000000000000" pitchFamily="2" charset="0"/>
              </a:rPr>
              <a:t> </a:t>
            </a:r>
            <a:r>
              <a:rPr lang="en-US" b="0" i="0" dirty="0" err="1">
                <a:solidFill>
                  <a:srgbClr val="2B2A29"/>
                </a:solidFill>
                <a:effectLst/>
                <a:latin typeface="Montserrat" panose="00000500000000000000" pitchFamily="2" charset="0"/>
              </a:rPr>
              <a:t>objPtr</a:t>
            </a:r>
            <a:r>
              <a:rPr lang="en-US" b="0" i="0" dirty="0">
                <a:solidFill>
                  <a:srgbClr val="2B2A29"/>
                </a:solidFill>
                <a:effectLst/>
                <a:latin typeface="Montserrat" panose="00000500000000000000" pitchFamily="2" charset="0"/>
              </a:rPr>
              <a:t>;  </a:t>
            </a:r>
          </a:p>
          <a:p>
            <a:pPr marL="0" indent="0" algn="l">
              <a:buNone/>
            </a:pPr>
            <a:r>
              <a:rPr lang="en-US" b="0" i="0" dirty="0">
                <a:solidFill>
                  <a:srgbClr val="2B2A29"/>
                </a:solidFill>
                <a:effectLst/>
                <a:latin typeface="Montserrat" panose="00000500000000000000" pitchFamily="2" charset="0"/>
              </a:rPr>
              <a:t>    // Creating an array of pointers to objects  </a:t>
            </a:r>
          </a:p>
          <a:p>
            <a:pPr marL="0" indent="0" algn="l">
              <a:buNone/>
            </a:pPr>
            <a:r>
              <a:rPr lang="en-US" b="0" i="0" dirty="0" err="1">
                <a:solidFill>
                  <a:srgbClr val="2B2A29"/>
                </a:solidFill>
                <a:effectLst/>
                <a:latin typeface="Montserrat" panose="00000500000000000000" pitchFamily="2" charset="0"/>
              </a:rPr>
              <a:t>MyClass</a:t>
            </a:r>
            <a:r>
              <a:rPr lang="en-US" b="0" i="0" dirty="0">
                <a:solidFill>
                  <a:srgbClr val="2B2A29"/>
                </a:solidFill>
                <a:effectLst/>
                <a:latin typeface="Montserrat" panose="00000500000000000000" pitchFamily="2" charset="0"/>
              </a:rPr>
              <a:t> *</a:t>
            </a:r>
            <a:r>
              <a:rPr lang="en-US" b="0" i="0" dirty="0" err="1">
                <a:solidFill>
                  <a:srgbClr val="2B2A29"/>
                </a:solidFill>
                <a:effectLst/>
                <a:latin typeface="Montserrat" panose="00000500000000000000" pitchFamily="2" charset="0"/>
              </a:rPr>
              <a:t>objArray</a:t>
            </a:r>
            <a:r>
              <a:rPr lang="en-US" b="0" i="0" dirty="0">
                <a:solidFill>
                  <a:srgbClr val="2B2A29"/>
                </a:solidFill>
                <a:effectLst/>
                <a:latin typeface="Montserrat" panose="00000500000000000000" pitchFamily="2" charset="0"/>
              </a:rPr>
              <a:t>[3];  </a:t>
            </a:r>
          </a:p>
          <a:p>
            <a:pPr marL="0" indent="0" algn="l">
              <a:buNone/>
            </a:pPr>
            <a:r>
              <a:rPr lang="en-US" b="0" i="0" dirty="0">
                <a:solidFill>
                  <a:srgbClr val="2B2A29"/>
                </a:solidFill>
                <a:effectLst/>
                <a:latin typeface="Montserrat" panose="00000500000000000000" pitchFamily="2" charset="0"/>
              </a:rPr>
              <a:t>    </a:t>
            </a:r>
            <a:r>
              <a:rPr lang="en-US" b="1" i="0" dirty="0">
                <a:solidFill>
                  <a:srgbClr val="006699"/>
                </a:solidFill>
                <a:effectLst/>
                <a:latin typeface="Montserrat" panose="00000500000000000000" pitchFamily="2" charset="0"/>
              </a:rPr>
              <a:t>for</a:t>
            </a:r>
            <a:r>
              <a:rPr lang="en-US" b="0" i="0" dirty="0">
                <a:solidFill>
                  <a:srgbClr val="2B2A29"/>
                </a:solidFill>
                <a:effectLst/>
                <a:latin typeface="Montserrat" panose="00000500000000000000" pitchFamily="2" charset="0"/>
              </a:rPr>
              <a:t> (</a:t>
            </a:r>
            <a:r>
              <a:rPr lang="en-US" b="1" i="0" dirty="0">
                <a:solidFill>
                  <a:srgbClr val="2E8B57"/>
                </a:solidFill>
                <a:effectLst/>
                <a:latin typeface="Montserrat" panose="00000500000000000000" pitchFamily="2" charset="0"/>
              </a:rPr>
              <a:t>int</a:t>
            </a:r>
            <a:r>
              <a:rPr lang="en-US" b="0" i="0" dirty="0">
                <a:solidFill>
                  <a:srgbClr val="2B2A29"/>
                </a:solidFill>
                <a:effectLst/>
                <a:latin typeface="Montserrat" panose="00000500000000000000" pitchFamily="2" charset="0"/>
              </a:rPr>
              <a:t> </a:t>
            </a:r>
            <a:r>
              <a:rPr lang="en-US" b="0" i="0" dirty="0" err="1">
                <a:solidFill>
                  <a:srgbClr val="2B2A29"/>
                </a:solidFill>
                <a:effectLst/>
                <a:latin typeface="Montserrat" panose="00000500000000000000" pitchFamily="2" charset="0"/>
              </a:rPr>
              <a:t>i</a:t>
            </a:r>
            <a:r>
              <a:rPr lang="en-US" b="0" i="0" dirty="0">
                <a:solidFill>
                  <a:srgbClr val="2B2A29"/>
                </a:solidFill>
                <a:effectLst/>
                <a:latin typeface="Montserrat" panose="00000500000000000000" pitchFamily="2" charset="0"/>
              </a:rPr>
              <a:t> = 0; </a:t>
            </a:r>
            <a:r>
              <a:rPr lang="en-US" b="0" i="0" dirty="0" err="1">
                <a:solidFill>
                  <a:srgbClr val="2B2A29"/>
                </a:solidFill>
                <a:effectLst/>
                <a:latin typeface="Montserrat" panose="00000500000000000000" pitchFamily="2" charset="0"/>
              </a:rPr>
              <a:t>i</a:t>
            </a:r>
            <a:r>
              <a:rPr lang="en-US" b="0" i="0" dirty="0">
                <a:solidFill>
                  <a:srgbClr val="2B2A29"/>
                </a:solidFill>
                <a:effectLst/>
                <a:latin typeface="Montserrat" panose="00000500000000000000" pitchFamily="2" charset="0"/>
              </a:rPr>
              <a:t>&lt; 3; ++</a:t>
            </a:r>
            <a:r>
              <a:rPr lang="en-US" b="0" i="0" dirty="0" err="1">
                <a:solidFill>
                  <a:srgbClr val="2B2A29"/>
                </a:solidFill>
                <a:effectLst/>
                <a:latin typeface="Montserrat" panose="00000500000000000000" pitchFamily="2" charset="0"/>
              </a:rPr>
              <a:t>i</a:t>
            </a:r>
            <a:r>
              <a:rPr lang="en-US" b="0" i="0" dirty="0">
                <a:solidFill>
                  <a:srgbClr val="2B2A29"/>
                </a:solidFill>
                <a:effectLst/>
                <a:latin typeface="Montserrat" panose="00000500000000000000" pitchFamily="2" charset="0"/>
              </a:rPr>
              <a:t>) {  </a:t>
            </a:r>
          </a:p>
          <a:p>
            <a:pPr marL="0" indent="0" algn="l">
              <a:buNone/>
            </a:pPr>
            <a:r>
              <a:rPr lang="en-US" b="0" i="0" dirty="0" err="1">
                <a:solidFill>
                  <a:srgbClr val="2B2A29"/>
                </a:solidFill>
                <a:effectLst/>
                <a:latin typeface="Montserrat" panose="00000500000000000000" pitchFamily="2" charset="0"/>
              </a:rPr>
              <a:t>objArray</a:t>
            </a:r>
            <a:r>
              <a:rPr lang="en-US" b="0" i="0" dirty="0">
                <a:solidFill>
                  <a:srgbClr val="2B2A29"/>
                </a:solidFill>
                <a:effectLst/>
                <a:latin typeface="Montserrat" panose="00000500000000000000" pitchFamily="2" charset="0"/>
              </a:rPr>
              <a:t>[</a:t>
            </a:r>
            <a:r>
              <a:rPr lang="en-US" b="0" i="0" dirty="0" err="1">
                <a:solidFill>
                  <a:srgbClr val="2B2A29"/>
                </a:solidFill>
                <a:effectLst/>
                <a:latin typeface="Montserrat" panose="00000500000000000000" pitchFamily="2" charset="0"/>
              </a:rPr>
              <a:t>i</a:t>
            </a:r>
            <a:r>
              <a:rPr lang="en-US" b="0" i="0" dirty="0">
                <a:solidFill>
                  <a:srgbClr val="2B2A29"/>
                </a:solidFill>
                <a:effectLst/>
                <a:latin typeface="Montserrat" panose="00000500000000000000" pitchFamily="2" charset="0"/>
              </a:rPr>
              <a:t>] = </a:t>
            </a:r>
            <a:r>
              <a:rPr lang="en-US" b="1" i="0" dirty="0">
                <a:solidFill>
                  <a:srgbClr val="006699"/>
                </a:solidFill>
                <a:effectLst/>
                <a:latin typeface="Montserrat" panose="00000500000000000000" pitchFamily="2" charset="0"/>
              </a:rPr>
              <a:t>new</a:t>
            </a:r>
            <a:r>
              <a:rPr lang="en-US" b="0" i="0" dirty="0">
                <a:solidFill>
                  <a:srgbClr val="2B2A29"/>
                </a:solidFill>
                <a:effectLst/>
                <a:latin typeface="Montserrat" panose="00000500000000000000" pitchFamily="2" charset="0"/>
              </a:rPr>
              <a:t> </a:t>
            </a:r>
            <a:r>
              <a:rPr lang="en-US" b="0" i="0" dirty="0" err="1">
                <a:solidFill>
                  <a:srgbClr val="2B2A29"/>
                </a:solidFill>
                <a:effectLst/>
                <a:latin typeface="Montserrat" panose="00000500000000000000" pitchFamily="2" charset="0"/>
              </a:rPr>
              <a:t>MyClass</a:t>
            </a:r>
            <a:r>
              <a:rPr lang="en-US" b="0" i="0" dirty="0">
                <a:solidFill>
                  <a:srgbClr val="2B2A29"/>
                </a:solidFill>
                <a:effectLst/>
                <a:latin typeface="Montserrat" panose="00000500000000000000" pitchFamily="2" charset="0"/>
              </a:rPr>
              <a:t>(</a:t>
            </a:r>
            <a:r>
              <a:rPr lang="en-US" b="0" i="0" dirty="0" err="1">
                <a:solidFill>
                  <a:srgbClr val="2B2A29"/>
                </a:solidFill>
                <a:effectLst/>
                <a:latin typeface="Montserrat" panose="00000500000000000000" pitchFamily="2" charset="0"/>
              </a:rPr>
              <a:t>i</a:t>
            </a:r>
            <a:r>
              <a:rPr lang="en-US" b="0" i="0" dirty="0">
                <a:solidFill>
                  <a:srgbClr val="2B2A29"/>
                </a:solidFill>
                <a:effectLst/>
                <a:latin typeface="Montserrat" panose="00000500000000000000" pitchFamily="2" charset="0"/>
              </a:rPr>
              <a:t> * 10);  </a:t>
            </a:r>
          </a:p>
          <a:p>
            <a:pPr marL="0" indent="0" algn="l">
              <a:buNone/>
            </a:pPr>
            <a:r>
              <a:rPr lang="en-US" b="0" i="0" dirty="0">
                <a:solidFill>
                  <a:srgbClr val="2B2A29"/>
                </a:solidFill>
                <a:effectLst/>
                <a:latin typeface="Montserrat" panose="00000500000000000000" pitchFamily="2" charset="0"/>
              </a:rPr>
              <a:t>    }  </a:t>
            </a:r>
          </a:p>
          <a:p>
            <a:pPr marL="0" indent="0" algn="l">
              <a:buNone/>
            </a:pPr>
            <a:r>
              <a:rPr lang="en-US" b="0" i="0" dirty="0">
                <a:solidFill>
                  <a:srgbClr val="2B2A29"/>
                </a:solidFill>
                <a:effectLst/>
                <a:latin typeface="Montserrat" panose="00000500000000000000" pitchFamily="2" charset="0"/>
              </a:rPr>
              <a:t>    // Accessing objects in the array of pointers  </a:t>
            </a:r>
          </a:p>
          <a:p>
            <a:pPr marL="0" indent="0" algn="l">
              <a:buNone/>
            </a:pPr>
            <a:r>
              <a:rPr lang="en-US" b="0" i="0" dirty="0">
                <a:solidFill>
                  <a:srgbClr val="2B2A29"/>
                </a:solidFill>
                <a:effectLst/>
                <a:latin typeface="Montserrat" panose="00000500000000000000" pitchFamily="2" charset="0"/>
              </a:rPr>
              <a:t>    </a:t>
            </a:r>
            <a:r>
              <a:rPr lang="en-US" b="1" i="0" dirty="0">
                <a:solidFill>
                  <a:srgbClr val="006699"/>
                </a:solidFill>
                <a:effectLst/>
                <a:latin typeface="Montserrat" panose="00000500000000000000" pitchFamily="2" charset="0"/>
              </a:rPr>
              <a:t>for</a:t>
            </a:r>
            <a:r>
              <a:rPr lang="en-US" b="0" i="0" dirty="0">
                <a:solidFill>
                  <a:srgbClr val="2B2A29"/>
                </a:solidFill>
                <a:effectLst/>
                <a:latin typeface="Montserrat" panose="00000500000000000000" pitchFamily="2" charset="0"/>
              </a:rPr>
              <a:t> (</a:t>
            </a:r>
            <a:r>
              <a:rPr lang="en-US" b="1" i="0" dirty="0">
                <a:solidFill>
                  <a:srgbClr val="2E8B57"/>
                </a:solidFill>
                <a:effectLst/>
                <a:latin typeface="Montserrat" panose="00000500000000000000" pitchFamily="2" charset="0"/>
              </a:rPr>
              <a:t>int</a:t>
            </a:r>
            <a:r>
              <a:rPr lang="en-US" b="0" i="0" dirty="0">
                <a:solidFill>
                  <a:srgbClr val="2B2A29"/>
                </a:solidFill>
                <a:effectLst/>
                <a:latin typeface="Montserrat" panose="00000500000000000000" pitchFamily="2" charset="0"/>
              </a:rPr>
              <a:t> </a:t>
            </a:r>
            <a:r>
              <a:rPr lang="en-US" b="0" i="0" dirty="0" err="1">
                <a:solidFill>
                  <a:srgbClr val="2B2A29"/>
                </a:solidFill>
                <a:effectLst/>
                <a:latin typeface="Montserrat" panose="00000500000000000000" pitchFamily="2" charset="0"/>
              </a:rPr>
              <a:t>i</a:t>
            </a:r>
            <a:r>
              <a:rPr lang="en-US" b="0" i="0" dirty="0">
                <a:solidFill>
                  <a:srgbClr val="2B2A29"/>
                </a:solidFill>
                <a:effectLst/>
                <a:latin typeface="Montserrat" panose="00000500000000000000" pitchFamily="2" charset="0"/>
              </a:rPr>
              <a:t> = 0; </a:t>
            </a:r>
            <a:r>
              <a:rPr lang="en-US" b="0" i="0" dirty="0" err="1">
                <a:solidFill>
                  <a:srgbClr val="2B2A29"/>
                </a:solidFill>
                <a:effectLst/>
                <a:latin typeface="Montserrat" panose="00000500000000000000" pitchFamily="2" charset="0"/>
              </a:rPr>
              <a:t>i</a:t>
            </a:r>
            <a:r>
              <a:rPr lang="en-US" b="0" i="0" dirty="0">
                <a:solidFill>
                  <a:srgbClr val="2B2A29"/>
                </a:solidFill>
                <a:effectLst/>
                <a:latin typeface="Montserrat" panose="00000500000000000000" pitchFamily="2" charset="0"/>
              </a:rPr>
              <a:t>&lt; 3; ++</a:t>
            </a:r>
            <a:r>
              <a:rPr lang="en-US" b="0" i="0" dirty="0" err="1">
                <a:solidFill>
                  <a:srgbClr val="2B2A29"/>
                </a:solidFill>
                <a:effectLst/>
                <a:latin typeface="Montserrat" panose="00000500000000000000" pitchFamily="2" charset="0"/>
              </a:rPr>
              <a:t>i</a:t>
            </a:r>
            <a:r>
              <a:rPr lang="en-US" b="0" i="0" dirty="0">
                <a:solidFill>
                  <a:srgbClr val="2B2A29"/>
                </a:solidFill>
                <a:effectLst/>
                <a:latin typeface="Montserrat" panose="00000500000000000000" pitchFamily="2" charset="0"/>
              </a:rPr>
              <a:t>) {  </a:t>
            </a:r>
          </a:p>
          <a:p>
            <a:pPr marL="0" indent="0" algn="l">
              <a:buNone/>
            </a:pPr>
            <a:r>
              <a:rPr lang="en-US" b="0" i="0" dirty="0" err="1">
                <a:solidFill>
                  <a:srgbClr val="2B2A29"/>
                </a:solidFill>
                <a:effectLst/>
                <a:latin typeface="Montserrat" panose="00000500000000000000" pitchFamily="2" charset="0"/>
              </a:rPr>
              <a:t>objArray</a:t>
            </a:r>
            <a:r>
              <a:rPr lang="en-US" b="0" i="0" dirty="0">
                <a:solidFill>
                  <a:srgbClr val="2B2A29"/>
                </a:solidFill>
                <a:effectLst/>
                <a:latin typeface="Montserrat" panose="00000500000000000000" pitchFamily="2" charset="0"/>
              </a:rPr>
              <a:t>[</a:t>
            </a:r>
            <a:r>
              <a:rPr lang="en-US" b="0" i="0" dirty="0" err="1">
                <a:solidFill>
                  <a:srgbClr val="2B2A29"/>
                </a:solidFill>
                <a:effectLst/>
                <a:latin typeface="Montserrat" panose="00000500000000000000" pitchFamily="2" charset="0"/>
              </a:rPr>
              <a:t>i</a:t>
            </a:r>
            <a:r>
              <a:rPr lang="en-US" b="0" i="0" dirty="0">
                <a:solidFill>
                  <a:srgbClr val="2B2A29"/>
                </a:solidFill>
                <a:effectLst/>
                <a:latin typeface="Montserrat" panose="00000500000000000000" pitchFamily="2" charset="0"/>
              </a:rPr>
              <a:t>]-&gt;display();  </a:t>
            </a:r>
          </a:p>
          <a:p>
            <a:pPr marL="0" indent="0" algn="l">
              <a:buNone/>
            </a:pPr>
            <a:r>
              <a:rPr lang="en-US" b="0" i="0" dirty="0">
                <a:solidFill>
                  <a:srgbClr val="2B2A29"/>
                </a:solidFill>
                <a:effectLst/>
                <a:latin typeface="Montserrat" panose="00000500000000000000" pitchFamily="2" charset="0"/>
              </a:rPr>
              <a:t>    }  </a:t>
            </a:r>
          </a:p>
          <a:p>
            <a:pPr marL="0" indent="0" algn="l">
              <a:buNone/>
            </a:pPr>
            <a:r>
              <a:rPr lang="en-US" b="0" i="0" dirty="0">
                <a:solidFill>
                  <a:srgbClr val="2B2A29"/>
                </a:solidFill>
                <a:effectLst/>
                <a:latin typeface="Montserrat" panose="00000500000000000000" pitchFamily="2" charset="0"/>
              </a:rPr>
              <a:t>    // Deleting dynamically allocated objects from the array  </a:t>
            </a:r>
          </a:p>
          <a:p>
            <a:pPr marL="0" indent="0" algn="l">
              <a:buNone/>
            </a:pPr>
            <a:r>
              <a:rPr lang="en-US" b="0" i="0" dirty="0">
                <a:solidFill>
                  <a:srgbClr val="2B2A29"/>
                </a:solidFill>
                <a:effectLst/>
                <a:latin typeface="Montserrat" panose="00000500000000000000" pitchFamily="2" charset="0"/>
              </a:rPr>
              <a:t>    </a:t>
            </a:r>
            <a:r>
              <a:rPr lang="en-US" b="1" i="0" dirty="0">
                <a:solidFill>
                  <a:srgbClr val="006699"/>
                </a:solidFill>
                <a:effectLst/>
                <a:latin typeface="Montserrat" panose="00000500000000000000" pitchFamily="2" charset="0"/>
              </a:rPr>
              <a:t>for</a:t>
            </a:r>
            <a:r>
              <a:rPr lang="en-US" b="0" i="0" dirty="0">
                <a:solidFill>
                  <a:srgbClr val="2B2A29"/>
                </a:solidFill>
                <a:effectLst/>
                <a:latin typeface="Montserrat" panose="00000500000000000000" pitchFamily="2" charset="0"/>
              </a:rPr>
              <a:t> (</a:t>
            </a:r>
            <a:r>
              <a:rPr lang="en-US" b="1" i="0" dirty="0">
                <a:solidFill>
                  <a:srgbClr val="2E8B57"/>
                </a:solidFill>
                <a:effectLst/>
                <a:latin typeface="Montserrat" panose="00000500000000000000" pitchFamily="2" charset="0"/>
              </a:rPr>
              <a:t>int</a:t>
            </a:r>
            <a:r>
              <a:rPr lang="en-US" b="0" i="0" dirty="0">
                <a:solidFill>
                  <a:srgbClr val="2B2A29"/>
                </a:solidFill>
                <a:effectLst/>
                <a:latin typeface="Montserrat" panose="00000500000000000000" pitchFamily="2" charset="0"/>
              </a:rPr>
              <a:t> </a:t>
            </a:r>
            <a:r>
              <a:rPr lang="en-US" b="0" i="0" dirty="0" err="1">
                <a:solidFill>
                  <a:srgbClr val="2B2A29"/>
                </a:solidFill>
                <a:effectLst/>
                <a:latin typeface="Montserrat" panose="00000500000000000000" pitchFamily="2" charset="0"/>
              </a:rPr>
              <a:t>i</a:t>
            </a:r>
            <a:r>
              <a:rPr lang="en-US" b="0" i="0" dirty="0">
                <a:solidFill>
                  <a:srgbClr val="2B2A29"/>
                </a:solidFill>
                <a:effectLst/>
                <a:latin typeface="Montserrat" panose="00000500000000000000" pitchFamily="2" charset="0"/>
              </a:rPr>
              <a:t> = 0; </a:t>
            </a:r>
            <a:r>
              <a:rPr lang="en-US" b="0" i="0" dirty="0" err="1">
                <a:solidFill>
                  <a:srgbClr val="2B2A29"/>
                </a:solidFill>
                <a:effectLst/>
                <a:latin typeface="Montserrat" panose="00000500000000000000" pitchFamily="2" charset="0"/>
              </a:rPr>
              <a:t>i</a:t>
            </a:r>
            <a:r>
              <a:rPr lang="en-US" b="0" i="0" dirty="0">
                <a:solidFill>
                  <a:srgbClr val="2B2A29"/>
                </a:solidFill>
                <a:effectLst/>
                <a:latin typeface="Montserrat" panose="00000500000000000000" pitchFamily="2" charset="0"/>
              </a:rPr>
              <a:t>&lt; 3; ++</a:t>
            </a:r>
            <a:r>
              <a:rPr lang="en-US" b="0" i="0" dirty="0" err="1">
                <a:solidFill>
                  <a:srgbClr val="2B2A29"/>
                </a:solidFill>
                <a:effectLst/>
                <a:latin typeface="Montserrat" panose="00000500000000000000" pitchFamily="2" charset="0"/>
              </a:rPr>
              <a:t>i</a:t>
            </a:r>
            <a:r>
              <a:rPr lang="en-US" b="0" i="0" dirty="0">
                <a:solidFill>
                  <a:srgbClr val="2B2A29"/>
                </a:solidFill>
                <a:effectLst/>
                <a:latin typeface="Montserrat" panose="00000500000000000000" pitchFamily="2" charset="0"/>
              </a:rPr>
              <a:t>) {  </a:t>
            </a:r>
          </a:p>
          <a:p>
            <a:pPr marL="0" indent="0" algn="l">
              <a:buNone/>
            </a:pPr>
            <a:r>
              <a:rPr lang="en-US" b="0" i="0" dirty="0">
                <a:solidFill>
                  <a:srgbClr val="2B2A29"/>
                </a:solidFill>
                <a:effectLst/>
                <a:latin typeface="Montserrat" panose="00000500000000000000" pitchFamily="2" charset="0"/>
              </a:rPr>
              <a:t>        </a:t>
            </a:r>
            <a:r>
              <a:rPr lang="en-US" b="1" i="0" dirty="0">
                <a:solidFill>
                  <a:srgbClr val="006699"/>
                </a:solidFill>
                <a:effectLst/>
                <a:latin typeface="Montserrat" panose="00000500000000000000" pitchFamily="2" charset="0"/>
              </a:rPr>
              <a:t>delete</a:t>
            </a:r>
            <a:r>
              <a:rPr lang="en-US" b="0" i="0" dirty="0">
                <a:solidFill>
                  <a:srgbClr val="2B2A29"/>
                </a:solidFill>
                <a:effectLst/>
                <a:latin typeface="Montserrat" panose="00000500000000000000" pitchFamily="2" charset="0"/>
              </a:rPr>
              <a:t> </a:t>
            </a:r>
            <a:r>
              <a:rPr lang="en-US" b="0" i="0" dirty="0" err="1">
                <a:solidFill>
                  <a:srgbClr val="2B2A29"/>
                </a:solidFill>
                <a:effectLst/>
                <a:latin typeface="Montserrat" panose="00000500000000000000" pitchFamily="2" charset="0"/>
              </a:rPr>
              <a:t>objArray</a:t>
            </a:r>
            <a:r>
              <a:rPr lang="en-US" b="0" i="0" dirty="0">
                <a:solidFill>
                  <a:srgbClr val="2B2A29"/>
                </a:solidFill>
                <a:effectLst/>
                <a:latin typeface="Montserrat" panose="00000500000000000000" pitchFamily="2" charset="0"/>
              </a:rPr>
              <a:t>[</a:t>
            </a:r>
            <a:r>
              <a:rPr lang="en-US" b="0" i="0" dirty="0" err="1">
                <a:solidFill>
                  <a:srgbClr val="2B2A29"/>
                </a:solidFill>
                <a:effectLst/>
                <a:latin typeface="Montserrat" panose="00000500000000000000" pitchFamily="2" charset="0"/>
              </a:rPr>
              <a:t>i</a:t>
            </a:r>
            <a:r>
              <a:rPr lang="en-US" b="0" i="0" dirty="0">
                <a:solidFill>
                  <a:srgbClr val="2B2A29"/>
                </a:solidFill>
                <a:effectLst/>
                <a:latin typeface="Montserrat" panose="00000500000000000000" pitchFamily="2" charset="0"/>
              </a:rPr>
              <a:t>];  </a:t>
            </a:r>
          </a:p>
          <a:p>
            <a:pPr marL="0" indent="0" algn="l">
              <a:buNone/>
            </a:pPr>
            <a:r>
              <a:rPr lang="en-US" b="0" i="0" dirty="0">
                <a:solidFill>
                  <a:srgbClr val="2B2A29"/>
                </a:solidFill>
                <a:effectLst/>
                <a:latin typeface="Montserrat" panose="00000500000000000000" pitchFamily="2" charset="0"/>
              </a:rPr>
              <a:t>    }  </a:t>
            </a:r>
          </a:p>
          <a:p>
            <a:pPr marL="0" indent="0" algn="l">
              <a:buNone/>
            </a:pPr>
            <a:r>
              <a:rPr lang="en-US" b="0" i="0" dirty="0">
                <a:solidFill>
                  <a:srgbClr val="2B2A29"/>
                </a:solidFill>
                <a:effectLst/>
                <a:latin typeface="Montserrat" panose="00000500000000000000" pitchFamily="2" charset="0"/>
              </a:rPr>
              <a:t>    </a:t>
            </a:r>
            <a:r>
              <a:rPr lang="en-US" b="1" i="0" dirty="0">
                <a:solidFill>
                  <a:srgbClr val="006699"/>
                </a:solidFill>
                <a:effectLst/>
                <a:latin typeface="Montserrat" panose="00000500000000000000" pitchFamily="2" charset="0"/>
              </a:rPr>
              <a:t>return</a:t>
            </a:r>
            <a:r>
              <a:rPr lang="en-US" b="0" i="0" dirty="0">
                <a:solidFill>
                  <a:srgbClr val="2B2A29"/>
                </a:solidFill>
                <a:effectLst/>
                <a:latin typeface="Montserrat" panose="00000500000000000000" pitchFamily="2" charset="0"/>
              </a:rPr>
              <a:t> 0;  </a:t>
            </a:r>
          </a:p>
          <a:p>
            <a:pPr marL="0" indent="0" algn="l">
              <a:buNone/>
            </a:pPr>
            <a:r>
              <a:rPr lang="en-US" b="0" i="0" dirty="0">
                <a:solidFill>
                  <a:srgbClr val="2B2A29"/>
                </a:solidFill>
                <a:effectLst/>
                <a:latin typeface="Montserrat" panose="00000500000000000000" pitchFamily="2" charset="0"/>
              </a:rPr>
              <a:t>}  </a:t>
            </a:r>
          </a:p>
          <a:p>
            <a:pPr marL="0" indent="0">
              <a:buFont typeface="Arial" panose="020B0604020202020204" pitchFamily="34" charset="0"/>
              <a:buNone/>
            </a:pPr>
            <a:endParaRPr lang="en-US" dirty="0"/>
          </a:p>
        </p:txBody>
      </p:sp>
    </p:spTree>
    <p:extLst>
      <p:ext uri="{BB962C8B-B14F-4D97-AF65-F5344CB8AC3E}">
        <p14:creationId xmlns:p14="http://schemas.microsoft.com/office/powerpoint/2010/main" val="37051555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6C339-6F22-27B7-C474-8407B259EF69}"/>
              </a:ext>
            </a:extLst>
          </p:cNvPr>
          <p:cNvSpPr>
            <a:spLocks noGrp="1"/>
          </p:cNvSpPr>
          <p:nvPr>
            <p:ph type="title"/>
          </p:nvPr>
        </p:nvSpPr>
        <p:spPr/>
        <p:txBody>
          <a:bodyPr/>
          <a:lstStyle/>
          <a:p>
            <a:r>
              <a:rPr lang="en-US" dirty="0"/>
              <a:t>Output</a:t>
            </a:r>
          </a:p>
        </p:txBody>
      </p:sp>
      <p:sp>
        <p:nvSpPr>
          <p:cNvPr id="4" name="Rectangle 1">
            <a:extLst>
              <a:ext uri="{FF2B5EF4-FFF2-40B4-BE49-F238E27FC236}">
                <a16:creationId xmlns:a16="http://schemas.microsoft.com/office/drawing/2014/main" id="{34DB36C0-FACF-25CF-93A6-1961B6E39196}"/>
              </a:ext>
            </a:extLst>
          </p:cNvPr>
          <p:cNvSpPr>
            <a:spLocks noGrp="1" noChangeArrowheads="1"/>
          </p:cNvSpPr>
          <p:nvPr>
            <p:ph idx="1"/>
          </p:nvPr>
        </p:nvSpPr>
        <p:spPr bwMode="auto">
          <a:xfrm>
            <a:off x="838200" y="2685550"/>
            <a:ext cx="1745863" cy="2631490"/>
          </a:xfrm>
          <a:prstGeom prst="rect">
            <a:avLst/>
          </a:prstGeom>
          <a:solidFill>
            <a:srgbClr val="E7F6F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US" altLang="en-US" b="0" i="1" u="none" strike="noStrike" cap="none" normalizeH="0" baseline="0" dirty="0">
                <a:ln>
                  <a:noFill/>
                </a:ln>
                <a:solidFill>
                  <a:srgbClr val="2B2A29"/>
                </a:solidFill>
                <a:effectLst/>
                <a:latin typeface="var(--bs-font-monospace)"/>
              </a:rPr>
              <a:t>Data: 42 </a:t>
            </a:r>
          </a:p>
          <a:p>
            <a:pPr eaLnBrk="0" fontAlgn="base" hangingPunct="0">
              <a:lnSpc>
                <a:spcPct val="100000"/>
              </a:lnSpc>
              <a:spcBef>
                <a:spcPct val="0"/>
              </a:spcBef>
              <a:spcAft>
                <a:spcPct val="0"/>
              </a:spcAft>
            </a:pPr>
            <a:r>
              <a:rPr kumimoji="0" lang="en-US" altLang="en-US" b="0" i="1" u="none" strike="noStrike" cap="none" normalizeH="0" baseline="0" dirty="0">
                <a:ln>
                  <a:noFill/>
                </a:ln>
                <a:solidFill>
                  <a:srgbClr val="2B2A29"/>
                </a:solidFill>
                <a:effectLst/>
                <a:latin typeface="var(--bs-font-monospace)"/>
              </a:rPr>
              <a:t>Data: 42</a:t>
            </a:r>
          </a:p>
          <a:p>
            <a:pPr eaLnBrk="0" fontAlgn="base" hangingPunct="0">
              <a:lnSpc>
                <a:spcPct val="100000"/>
              </a:lnSpc>
              <a:spcBef>
                <a:spcPct val="0"/>
              </a:spcBef>
              <a:spcAft>
                <a:spcPct val="0"/>
              </a:spcAft>
            </a:pPr>
            <a:r>
              <a:rPr kumimoji="0" lang="en-US" altLang="en-US" b="0" i="1" u="none" strike="noStrike" cap="none" normalizeH="0" baseline="0" dirty="0">
                <a:ln>
                  <a:noFill/>
                </a:ln>
                <a:solidFill>
                  <a:srgbClr val="2B2A29"/>
                </a:solidFill>
                <a:effectLst/>
                <a:latin typeface="var(--bs-font-monospace)"/>
              </a:rPr>
              <a:t> Data: 99</a:t>
            </a:r>
          </a:p>
          <a:p>
            <a:pPr eaLnBrk="0" fontAlgn="base" hangingPunct="0">
              <a:lnSpc>
                <a:spcPct val="100000"/>
              </a:lnSpc>
              <a:spcBef>
                <a:spcPct val="0"/>
              </a:spcBef>
              <a:spcAft>
                <a:spcPct val="0"/>
              </a:spcAft>
            </a:pPr>
            <a:r>
              <a:rPr kumimoji="0" lang="en-US" altLang="en-US" b="0" i="1" u="none" strike="noStrike" cap="none" normalizeH="0" baseline="0" dirty="0">
                <a:ln>
                  <a:noFill/>
                </a:ln>
                <a:solidFill>
                  <a:srgbClr val="2B2A29"/>
                </a:solidFill>
                <a:effectLst/>
                <a:latin typeface="var(--bs-font-monospace)"/>
              </a:rPr>
              <a:t> Data: 0 </a:t>
            </a:r>
          </a:p>
          <a:p>
            <a:pPr eaLnBrk="0" fontAlgn="base" hangingPunct="0">
              <a:lnSpc>
                <a:spcPct val="100000"/>
              </a:lnSpc>
              <a:spcBef>
                <a:spcPct val="0"/>
              </a:spcBef>
              <a:spcAft>
                <a:spcPct val="0"/>
              </a:spcAft>
            </a:pPr>
            <a:r>
              <a:rPr kumimoji="0" lang="en-US" altLang="en-US" b="0" i="1" u="none" strike="noStrike" cap="none" normalizeH="0" baseline="0" dirty="0">
                <a:ln>
                  <a:noFill/>
                </a:ln>
                <a:solidFill>
                  <a:srgbClr val="2B2A29"/>
                </a:solidFill>
                <a:effectLst/>
                <a:latin typeface="var(--bs-font-monospace)"/>
              </a:rPr>
              <a:t>Data: 10 </a:t>
            </a:r>
          </a:p>
          <a:p>
            <a:pPr eaLnBrk="0" fontAlgn="base" hangingPunct="0">
              <a:lnSpc>
                <a:spcPct val="100000"/>
              </a:lnSpc>
              <a:spcBef>
                <a:spcPct val="0"/>
              </a:spcBef>
              <a:spcAft>
                <a:spcPct val="0"/>
              </a:spcAft>
            </a:pPr>
            <a:r>
              <a:rPr kumimoji="0" lang="en-US" altLang="en-US" b="0" i="1" u="none" strike="noStrike" cap="none" normalizeH="0" baseline="0" dirty="0">
                <a:ln>
                  <a:noFill/>
                </a:ln>
                <a:solidFill>
                  <a:srgbClr val="2B2A29"/>
                </a:solidFill>
                <a:effectLst/>
                <a:latin typeface="var(--bs-font-monospace)"/>
              </a:rPr>
              <a:t>Data: 20</a:t>
            </a:r>
            <a:r>
              <a:rPr kumimoji="0" lang="en-US" altLang="en-US" sz="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038972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17A51-3A09-6EBD-B9BB-1E3E307C5290}"/>
              </a:ext>
            </a:extLst>
          </p:cNvPr>
          <p:cNvSpPr>
            <a:spLocks noGrp="1"/>
          </p:cNvSpPr>
          <p:nvPr>
            <p:ph type="title"/>
          </p:nvPr>
        </p:nvSpPr>
        <p:spPr>
          <a:xfrm>
            <a:off x="838200" y="365125"/>
            <a:ext cx="10515600" cy="717717"/>
          </a:xfrm>
        </p:spPr>
        <p:txBody>
          <a:bodyPr>
            <a:normAutofit/>
          </a:bodyPr>
          <a:lstStyle/>
          <a:p>
            <a:r>
              <a:rPr lang="en-US" sz="2800" dirty="0"/>
              <a:t>Array of Pointers to Objects</a:t>
            </a:r>
          </a:p>
        </p:txBody>
      </p:sp>
      <p:sp>
        <p:nvSpPr>
          <p:cNvPr id="3" name="Content Placeholder 2">
            <a:extLst>
              <a:ext uri="{FF2B5EF4-FFF2-40B4-BE49-F238E27FC236}">
                <a16:creationId xmlns:a16="http://schemas.microsoft.com/office/drawing/2014/main" id="{E07250EB-8173-5B1C-E7A3-81DA592DDE09}"/>
              </a:ext>
            </a:extLst>
          </p:cNvPr>
          <p:cNvSpPr>
            <a:spLocks noGrp="1"/>
          </p:cNvSpPr>
          <p:nvPr>
            <p:ph idx="1"/>
          </p:nvPr>
        </p:nvSpPr>
        <p:spPr>
          <a:xfrm>
            <a:off x="838199" y="1443789"/>
            <a:ext cx="10964779" cy="4733174"/>
          </a:xfrm>
        </p:spPr>
        <p:txBody>
          <a:bodyPr/>
          <a:lstStyle/>
          <a:p>
            <a:pPr marL="0" indent="0">
              <a:buNone/>
            </a:pPr>
            <a:r>
              <a:rPr lang="en-US" dirty="0"/>
              <a:t>In C++, an array of pointers to objects can be used to store the addresses of dynamically allocated objects. This technique is commonly used when managing objects in scenarios where the number of objects and their lifetimes need to be handled dynamically.</a:t>
            </a:r>
          </a:p>
        </p:txBody>
      </p:sp>
    </p:spTree>
    <p:extLst>
      <p:ext uri="{BB962C8B-B14F-4D97-AF65-F5344CB8AC3E}">
        <p14:creationId xmlns:p14="http://schemas.microsoft.com/office/powerpoint/2010/main" val="40536922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5CB255-24FE-8F66-4DC1-75ADAA849409}"/>
              </a:ext>
            </a:extLst>
          </p:cNvPr>
          <p:cNvSpPr>
            <a:spLocks noGrp="1"/>
          </p:cNvSpPr>
          <p:nvPr>
            <p:ph type="title"/>
          </p:nvPr>
        </p:nvSpPr>
        <p:spPr/>
        <p:txBody>
          <a:bodyPr/>
          <a:lstStyle/>
          <a:p>
            <a:r>
              <a:rPr lang="en-US" dirty="0"/>
              <a:t>Syntax and Example:</a:t>
            </a:r>
          </a:p>
        </p:txBody>
      </p:sp>
      <p:sp>
        <p:nvSpPr>
          <p:cNvPr id="4" name="Rectangle 1">
            <a:extLst>
              <a:ext uri="{FF2B5EF4-FFF2-40B4-BE49-F238E27FC236}">
                <a16:creationId xmlns:a16="http://schemas.microsoft.com/office/drawing/2014/main" id="{B611FDBB-619E-8610-1D83-CCB238B5337E}"/>
              </a:ext>
            </a:extLst>
          </p:cNvPr>
          <p:cNvSpPr>
            <a:spLocks noGrp="1" noChangeArrowheads="1"/>
          </p:cNvSpPr>
          <p:nvPr>
            <p:ph idx="1"/>
          </p:nvPr>
        </p:nvSpPr>
        <p:spPr bwMode="auto">
          <a:xfrm>
            <a:off x="838200" y="3416519"/>
            <a:ext cx="10618484"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Define a Class</a:t>
            </a:r>
            <a:r>
              <a:rPr kumimoji="0" lang="en-US" altLang="en-US" sz="1800" b="0" i="0" u="none" strike="noStrike" cap="none" normalizeH="0" baseline="0" dirty="0">
                <a:ln>
                  <a:noFill/>
                </a:ln>
                <a:solidFill>
                  <a:schemeClr val="tx1"/>
                </a:solidFill>
                <a:effectLst/>
                <a:latin typeface="Arial" panose="020B0604020202020204" pitchFamily="34" charset="0"/>
              </a:rPr>
              <a:t>: Create a class whose objects you want to store in an array of pointers.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Allocate Memory Dynamically</a:t>
            </a:r>
            <a:r>
              <a:rPr kumimoji="0" lang="en-US" altLang="en-US" sz="1800" b="0" i="0" u="none" strike="noStrike" cap="none" normalizeH="0" baseline="0" dirty="0">
                <a:ln>
                  <a:noFill/>
                </a:ln>
                <a:solidFill>
                  <a:schemeClr val="tx1"/>
                </a:solidFill>
                <a:effectLst/>
                <a:latin typeface="Arial" panose="020B0604020202020204" pitchFamily="34" charset="0"/>
              </a:rPr>
              <a:t>: Use </a:t>
            </a:r>
            <a:r>
              <a:rPr kumimoji="0" lang="en-US" altLang="en-US" sz="1600" b="0" i="0" u="none" strike="noStrike" cap="none" normalizeH="0" baseline="0" dirty="0">
                <a:ln>
                  <a:noFill/>
                </a:ln>
                <a:solidFill>
                  <a:schemeClr val="tx1"/>
                </a:solidFill>
                <a:effectLst/>
                <a:latin typeface="Arial Unicode MS"/>
              </a:rPr>
              <a:t>new</a:t>
            </a:r>
            <a:r>
              <a:rPr kumimoji="0" lang="en-US" altLang="en-US" sz="1600" b="0" i="0" u="none" strike="noStrike" cap="none" normalizeH="0" baseline="0" dirty="0">
                <a:ln>
                  <a:noFill/>
                </a:ln>
                <a:solidFill>
                  <a:schemeClr val="tx1"/>
                </a:solidFill>
                <a:effectLst/>
              </a:rPr>
              <a:t> to create objects dynamically, and store their addresses in the array.</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Access Objects via Pointers</a:t>
            </a:r>
            <a:r>
              <a:rPr kumimoji="0" lang="en-US" altLang="en-US" sz="1800" b="0" i="0" u="none" strike="noStrike" cap="none" normalizeH="0" baseline="0" dirty="0">
                <a:ln>
                  <a:noFill/>
                </a:ln>
                <a:solidFill>
                  <a:schemeClr val="tx1"/>
                </a:solidFill>
                <a:effectLst/>
                <a:latin typeface="Arial" panose="020B0604020202020204" pitchFamily="34" charset="0"/>
              </a:rPr>
              <a:t>: Use the pointer dereference operator </a:t>
            </a:r>
            <a:r>
              <a:rPr kumimoji="0" lang="en-US" altLang="en-US" sz="1600" b="0" i="0" u="none" strike="noStrike" cap="none" normalizeH="0" baseline="0" dirty="0">
                <a:ln>
                  <a:noFill/>
                </a:ln>
                <a:solidFill>
                  <a:schemeClr val="tx1"/>
                </a:solidFill>
                <a:effectLst/>
                <a:latin typeface="Arial" panose="020B0604020202020204" pitchFamily="34" charset="0"/>
              </a:rPr>
              <a:t>(</a:t>
            </a:r>
            <a:r>
              <a:rPr kumimoji="0" lang="en-US" altLang="en-US" sz="1600" b="0" i="0" u="none" strike="noStrike" cap="none" normalizeH="0" baseline="0" dirty="0">
                <a:ln>
                  <a:noFill/>
                </a:ln>
                <a:solidFill>
                  <a:schemeClr val="tx1"/>
                </a:solidFill>
                <a:effectLst/>
                <a:latin typeface="Arial Unicode MS"/>
              </a:rPr>
              <a:t>*</a:t>
            </a:r>
            <a:r>
              <a:rPr kumimoji="0" lang="en-US" altLang="en-US" sz="1600" b="0" i="0" u="none" strike="noStrike" cap="none" normalizeH="0" baseline="0" dirty="0">
                <a:ln>
                  <a:noFill/>
                </a:ln>
                <a:solidFill>
                  <a:schemeClr val="tx1"/>
                </a:solidFill>
                <a:effectLst/>
              </a:rPr>
              <a:t>) or the member access operator (</a:t>
            </a:r>
            <a:r>
              <a:rPr kumimoji="0" lang="en-US" altLang="en-US" sz="1600" b="0" i="0" u="none" strike="noStrike" cap="none" normalizeH="0" baseline="0" dirty="0">
                <a:ln>
                  <a:noFill/>
                </a:ln>
                <a:solidFill>
                  <a:schemeClr val="tx1"/>
                </a:solidFill>
                <a:effectLst/>
                <a:latin typeface="Arial Unicode MS"/>
              </a:rPr>
              <a:t>-&gt;</a:t>
            </a:r>
            <a:r>
              <a:rPr kumimoji="0" lang="en-US" altLang="en-US" sz="1600" b="0" i="0" u="none" strike="noStrike" cap="none" normalizeH="0" baseline="0" dirty="0">
                <a:ln>
                  <a:noFill/>
                </a:ln>
                <a:solidFill>
                  <a:schemeClr val="tx1"/>
                </a:solidFill>
                <a:effectLst/>
              </a:rPr>
              <a:t>)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0" i="0" u="none" strike="noStrike" cap="none" normalizeH="0" baseline="0" dirty="0">
                <a:ln>
                  <a:noFill/>
                </a:ln>
                <a:solidFill>
                  <a:schemeClr val="tx1"/>
                </a:solidFill>
                <a:effectLst/>
              </a:rPr>
              <a:t>to interact with the objects.</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658175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735094-C022-068D-D7F5-9FB53659777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0088B06-2C5D-A7EB-9DF8-34CAEBCB466A}"/>
              </a:ext>
            </a:extLst>
          </p:cNvPr>
          <p:cNvSpPr>
            <a:spLocks noGrp="1"/>
          </p:cNvSpPr>
          <p:nvPr>
            <p:ph idx="1"/>
          </p:nvPr>
        </p:nvSpPr>
        <p:spPr>
          <a:xfrm>
            <a:off x="838200" y="1825625"/>
            <a:ext cx="3420979" cy="4936122"/>
          </a:xfrm>
        </p:spPr>
        <p:txBody>
          <a:bodyPr>
            <a:normAutofit fontScale="55000" lnSpcReduction="20000"/>
          </a:bodyPr>
          <a:lstStyle/>
          <a:p>
            <a:r>
              <a:rPr lang="en-US" dirty="0"/>
              <a:t>#include &lt;iostream&gt;</a:t>
            </a:r>
          </a:p>
          <a:p>
            <a:r>
              <a:rPr lang="en-US" dirty="0"/>
              <a:t>using namespace std;</a:t>
            </a:r>
          </a:p>
          <a:p>
            <a:r>
              <a:rPr lang="en-US" dirty="0"/>
              <a:t>// Define a simple class</a:t>
            </a:r>
          </a:p>
          <a:p>
            <a:r>
              <a:rPr lang="en-US" dirty="0"/>
              <a:t>class Student {</a:t>
            </a:r>
          </a:p>
          <a:p>
            <a:r>
              <a:rPr lang="en-US" dirty="0"/>
              <a:t>    string name;</a:t>
            </a:r>
          </a:p>
          <a:p>
            <a:r>
              <a:rPr lang="en-US" dirty="0"/>
              <a:t>    int age;</a:t>
            </a:r>
          </a:p>
          <a:p>
            <a:r>
              <a:rPr lang="en-US" dirty="0"/>
              <a:t>public:</a:t>
            </a:r>
          </a:p>
          <a:p>
            <a:r>
              <a:rPr lang="en-US" dirty="0"/>
              <a:t>    Student(string n, int a) : name(n), age(a) {}</a:t>
            </a:r>
          </a:p>
          <a:p>
            <a:r>
              <a:rPr lang="en-US" dirty="0"/>
              <a:t>    void display() const {</a:t>
            </a:r>
          </a:p>
          <a:p>
            <a:r>
              <a:rPr lang="en-US" dirty="0"/>
              <a:t>        </a:t>
            </a:r>
            <a:r>
              <a:rPr lang="en-US" dirty="0" err="1"/>
              <a:t>cout</a:t>
            </a:r>
            <a:r>
              <a:rPr lang="en-US" dirty="0"/>
              <a:t> &lt;&lt; "Name: " &lt;&lt; name &lt;&lt; ", Age: " &lt;&lt; age &lt;&lt; </a:t>
            </a:r>
            <a:r>
              <a:rPr lang="en-US" dirty="0" err="1"/>
              <a:t>endl</a:t>
            </a:r>
            <a:r>
              <a:rPr lang="en-US" dirty="0"/>
              <a:t>; }};</a:t>
            </a:r>
          </a:p>
          <a:p>
            <a:r>
              <a:rPr lang="en-US" dirty="0"/>
              <a:t>int main() {</a:t>
            </a:r>
          </a:p>
          <a:p>
            <a:r>
              <a:rPr lang="en-US" dirty="0"/>
              <a:t>    const int size = 3; // Size of the array</a:t>
            </a:r>
          </a:p>
          <a:p>
            <a:r>
              <a:rPr lang="en-US" dirty="0"/>
              <a:t>    Student* students[size]; // Array of pointers to Student objects</a:t>
            </a:r>
          </a:p>
          <a:p>
            <a:r>
              <a:rPr lang="en-US" dirty="0"/>
              <a:t>    // Dynamically allocate memory for Student objects</a:t>
            </a:r>
          </a:p>
          <a:p>
            <a:endParaRPr lang="en-US" dirty="0"/>
          </a:p>
        </p:txBody>
      </p:sp>
      <p:sp>
        <p:nvSpPr>
          <p:cNvPr id="4" name="Content Placeholder 2">
            <a:extLst>
              <a:ext uri="{FF2B5EF4-FFF2-40B4-BE49-F238E27FC236}">
                <a16:creationId xmlns:a16="http://schemas.microsoft.com/office/drawing/2014/main" id="{D7C49EF9-1016-499D-3A30-32ADFB2A5ED4}"/>
              </a:ext>
            </a:extLst>
          </p:cNvPr>
          <p:cNvSpPr txBox="1">
            <a:spLocks/>
          </p:cNvSpPr>
          <p:nvPr/>
        </p:nvSpPr>
        <p:spPr>
          <a:xfrm>
            <a:off x="4920916" y="1978025"/>
            <a:ext cx="4295273" cy="4936122"/>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 students[0] = new Student("Alice", 20);</a:t>
            </a:r>
          </a:p>
          <a:p>
            <a:r>
              <a:rPr lang="en-US" dirty="0"/>
              <a:t>    students[1] = new Student("Bob", 22);</a:t>
            </a:r>
          </a:p>
          <a:p>
            <a:r>
              <a:rPr lang="en-US" dirty="0"/>
              <a:t>    students[2] = new Student("Charlie", 19);</a:t>
            </a:r>
          </a:p>
          <a:p>
            <a:r>
              <a:rPr lang="en-US" dirty="0"/>
              <a:t>    // Access and display details of each Student</a:t>
            </a:r>
          </a:p>
          <a:p>
            <a:r>
              <a:rPr lang="en-US" dirty="0"/>
              <a:t>    for (int </a:t>
            </a:r>
            <a:r>
              <a:rPr lang="en-US" dirty="0" err="1"/>
              <a:t>i</a:t>
            </a:r>
            <a:r>
              <a:rPr lang="en-US" dirty="0"/>
              <a:t> = 0; </a:t>
            </a:r>
            <a:r>
              <a:rPr lang="en-US" dirty="0" err="1"/>
              <a:t>i</a:t>
            </a:r>
            <a:r>
              <a:rPr lang="en-US" dirty="0"/>
              <a:t> &lt; size; </a:t>
            </a:r>
            <a:r>
              <a:rPr lang="en-US" dirty="0" err="1"/>
              <a:t>i</a:t>
            </a:r>
            <a:r>
              <a:rPr lang="en-US" dirty="0"/>
              <a:t>++) {</a:t>
            </a:r>
          </a:p>
          <a:p>
            <a:r>
              <a:rPr lang="en-US" dirty="0"/>
              <a:t>        students[</a:t>
            </a:r>
            <a:r>
              <a:rPr lang="en-US" dirty="0" err="1"/>
              <a:t>i</a:t>
            </a:r>
            <a:r>
              <a:rPr lang="en-US" dirty="0"/>
              <a:t>]-&gt;display();   }</a:t>
            </a:r>
          </a:p>
          <a:p>
            <a:r>
              <a:rPr lang="en-US" dirty="0"/>
              <a:t>    // Clean up dynamically allocated memory</a:t>
            </a:r>
          </a:p>
          <a:p>
            <a:r>
              <a:rPr lang="en-US" dirty="0"/>
              <a:t>    for (int </a:t>
            </a:r>
            <a:r>
              <a:rPr lang="en-US" dirty="0" err="1"/>
              <a:t>i</a:t>
            </a:r>
            <a:r>
              <a:rPr lang="en-US" dirty="0"/>
              <a:t> = 0; </a:t>
            </a:r>
            <a:r>
              <a:rPr lang="en-US" dirty="0" err="1"/>
              <a:t>i</a:t>
            </a:r>
            <a:r>
              <a:rPr lang="en-US" dirty="0"/>
              <a:t> &lt; size; </a:t>
            </a:r>
            <a:r>
              <a:rPr lang="en-US" dirty="0" err="1"/>
              <a:t>i</a:t>
            </a:r>
            <a:r>
              <a:rPr lang="en-US" dirty="0"/>
              <a:t>++) {</a:t>
            </a:r>
          </a:p>
          <a:p>
            <a:r>
              <a:rPr lang="en-US" dirty="0"/>
              <a:t>        delete students[</a:t>
            </a:r>
            <a:r>
              <a:rPr lang="en-US" dirty="0" err="1"/>
              <a:t>i</a:t>
            </a:r>
            <a:r>
              <a:rPr lang="en-US" dirty="0"/>
              <a:t>];    }</a:t>
            </a:r>
          </a:p>
          <a:p>
            <a:r>
              <a:rPr lang="en-US" dirty="0"/>
              <a:t>    return 0;}</a:t>
            </a:r>
          </a:p>
        </p:txBody>
      </p:sp>
    </p:spTree>
    <p:extLst>
      <p:ext uri="{BB962C8B-B14F-4D97-AF65-F5344CB8AC3E}">
        <p14:creationId xmlns:p14="http://schemas.microsoft.com/office/powerpoint/2010/main" val="31994535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C72DB-3D9C-A904-34FC-B0DB4548879B}"/>
              </a:ext>
            </a:extLst>
          </p:cNvPr>
          <p:cNvSpPr>
            <a:spLocks noGrp="1"/>
          </p:cNvSpPr>
          <p:nvPr>
            <p:ph type="title"/>
          </p:nvPr>
        </p:nvSpPr>
        <p:spPr/>
        <p:txBody>
          <a:bodyPr/>
          <a:lstStyle/>
          <a:p>
            <a:endParaRPr lang="en-US"/>
          </a:p>
        </p:txBody>
      </p:sp>
      <p:sp>
        <p:nvSpPr>
          <p:cNvPr id="4" name="Rectangle 1">
            <a:extLst>
              <a:ext uri="{FF2B5EF4-FFF2-40B4-BE49-F238E27FC236}">
                <a16:creationId xmlns:a16="http://schemas.microsoft.com/office/drawing/2014/main" id="{B256CF28-238B-214E-5BB8-1C4F42DEF06E}"/>
              </a:ext>
            </a:extLst>
          </p:cNvPr>
          <p:cNvSpPr>
            <a:spLocks noGrp="1" noChangeArrowheads="1"/>
          </p:cNvSpPr>
          <p:nvPr>
            <p:ph idx="1"/>
          </p:nvPr>
        </p:nvSpPr>
        <p:spPr bwMode="auto">
          <a:xfrm>
            <a:off x="838200" y="2985631"/>
            <a:ext cx="10354566"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Advantages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Allows for dynamic memory management.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Useful for polymorphism when combined with inheritance.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Disadvantages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Manual memory management is prone to errors like memory leaks or dangling pointers.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Prefer smart pointers (e.g., </a:t>
            </a:r>
            <a:r>
              <a:rPr kumimoji="0" lang="en-US" altLang="en-US" sz="1800" b="0" i="0" u="none" strike="noStrike" cap="none" normalizeH="0" baseline="0" dirty="0">
                <a:ln>
                  <a:noFill/>
                </a:ln>
                <a:solidFill>
                  <a:schemeClr val="tx1"/>
                </a:solidFill>
                <a:effectLst/>
                <a:latin typeface="Arial Unicode MS"/>
              </a:rPr>
              <a:t>std::</a:t>
            </a:r>
            <a:r>
              <a:rPr kumimoji="0" lang="en-US" altLang="en-US" sz="1800" b="0" i="0" u="none" strike="noStrike" cap="none" normalizeH="0" baseline="0" dirty="0" err="1">
                <a:ln>
                  <a:noFill/>
                </a:ln>
                <a:solidFill>
                  <a:schemeClr val="tx1"/>
                </a:solidFill>
                <a:effectLst/>
                <a:latin typeface="Arial Unicode MS"/>
              </a:rPr>
              <a:t>unique_ptr</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a:ln>
                  <a:noFill/>
                </a:ln>
                <a:solidFill>
                  <a:schemeClr val="tx1"/>
                </a:solidFill>
                <a:effectLst/>
                <a:latin typeface="Arial Unicode MS"/>
              </a:rPr>
              <a:t>std::</a:t>
            </a:r>
            <a:r>
              <a:rPr kumimoji="0" lang="en-US" altLang="en-US" sz="1800" b="0" i="0" u="none" strike="noStrike" cap="none" normalizeH="0" baseline="0" dirty="0" err="1">
                <a:ln>
                  <a:noFill/>
                </a:ln>
                <a:solidFill>
                  <a:schemeClr val="tx1"/>
                </a:solidFill>
                <a:effectLst/>
                <a:latin typeface="Arial Unicode MS"/>
              </a:rPr>
              <a:t>shared_ptr</a:t>
            </a:r>
            <a:r>
              <a:rPr kumimoji="0" lang="en-US" altLang="en-US" sz="1800" b="0" i="0" u="none" strike="noStrike" cap="none" normalizeH="0" baseline="0" dirty="0">
                <a:ln>
                  <a:noFill/>
                </a:ln>
                <a:solidFill>
                  <a:schemeClr val="tx1"/>
                </a:solidFill>
                <a:effectLst/>
              </a:rPr>
              <a:t>) in modern C++ for safer memory handling.</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948523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Friend Functions</a:t>
            </a:r>
          </a:p>
        </p:txBody>
      </p:sp>
      <p:sp>
        <p:nvSpPr>
          <p:cNvPr id="3" name="Content Placeholder 2"/>
          <p:cNvSpPr>
            <a:spLocks noGrp="1"/>
          </p:cNvSpPr>
          <p:nvPr>
            <p:ph idx="1"/>
          </p:nvPr>
        </p:nvSpPr>
        <p:spPr/>
        <p:txBody>
          <a:bodyPr>
            <a:normAutofit/>
          </a:bodyPr>
          <a:lstStyle/>
          <a:p>
            <a:r>
              <a:rPr dirty="0"/>
              <a:t>A friend function is not a member of a class but can access its private members.</a:t>
            </a:r>
          </a:p>
          <a:p>
            <a:r>
              <a:rPr dirty="0"/>
              <a:t>Used for operator overloading or functions that need access to private data of multiple classes.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E78E03-BEF1-413F-8A9F-07B1379F9EB4}"/>
              </a:ext>
            </a:extLst>
          </p:cNvPr>
          <p:cNvSpPr>
            <a:spLocks noGrp="1"/>
          </p:cNvSpPr>
          <p:nvPr>
            <p:ph type="title"/>
          </p:nvPr>
        </p:nvSpPr>
        <p:spPr/>
        <p:txBody>
          <a:bodyPr/>
          <a:lstStyle/>
          <a:p>
            <a:r>
              <a:rPr lang="en-US" dirty="0"/>
              <a:t>Friend Functions</a:t>
            </a:r>
          </a:p>
        </p:txBody>
      </p:sp>
      <p:sp>
        <p:nvSpPr>
          <p:cNvPr id="3" name="Content Placeholder 2">
            <a:extLst>
              <a:ext uri="{FF2B5EF4-FFF2-40B4-BE49-F238E27FC236}">
                <a16:creationId xmlns:a16="http://schemas.microsoft.com/office/drawing/2014/main" id="{8F0A2B7E-62AF-43A7-B6DD-34A18FD3ADC8}"/>
              </a:ext>
            </a:extLst>
          </p:cNvPr>
          <p:cNvSpPr>
            <a:spLocks noGrp="1"/>
          </p:cNvSpPr>
          <p:nvPr>
            <p:ph idx="1"/>
          </p:nvPr>
        </p:nvSpPr>
        <p:spPr/>
        <p:txBody>
          <a:bodyPr>
            <a:normAutofit/>
          </a:bodyPr>
          <a:lstStyle/>
          <a:p>
            <a:r>
              <a:rPr lang="en-US" b="1" dirty="0"/>
              <a:t>Key Points:</a:t>
            </a:r>
          </a:p>
          <a:p>
            <a:pPr lvl="1"/>
            <a:r>
              <a:rPr lang="en-US" dirty="0"/>
              <a:t>A </a:t>
            </a:r>
            <a:r>
              <a:rPr lang="en-US" b="1" dirty="0"/>
              <a:t>friend function</a:t>
            </a:r>
            <a:r>
              <a:rPr lang="en-US" dirty="0"/>
              <a:t> is not a member function of the class but has access to its private and protected members.</a:t>
            </a:r>
          </a:p>
          <a:p>
            <a:pPr lvl="1"/>
            <a:r>
              <a:rPr lang="en-US" dirty="0"/>
              <a:t>The </a:t>
            </a:r>
            <a:r>
              <a:rPr lang="en-US" b="1" dirty="0"/>
              <a:t>friend</a:t>
            </a:r>
            <a:r>
              <a:rPr lang="en-US" dirty="0"/>
              <a:t> keyword is used to declare a function or another class as a friend of the current class.</a:t>
            </a:r>
          </a:p>
          <a:p>
            <a:pPr lvl="1"/>
            <a:r>
              <a:rPr lang="en-US" dirty="0"/>
              <a:t>A friend function can be a standalone function, a method of another class, or even a global function.</a:t>
            </a:r>
          </a:p>
          <a:p>
            <a:endParaRPr lang="en-US" dirty="0"/>
          </a:p>
        </p:txBody>
      </p:sp>
    </p:spTree>
    <p:extLst>
      <p:ext uri="{BB962C8B-B14F-4D97-AF65-F5344CB8AC3E}">
        <p14:creationId xmlns:p14="http://schemas.microsoft.com/office/powerpoint/2010/main" val="15614178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E78E03-BEF1-413F-8A9F-07B1379F9EB4}"/>
              </a:ext>
            </a:extLst>
          </p:cNvPr>
          <p:cNvSpPr>
            <a:spLocks noGrp="1"/>
          </p:cNvSpPr>
          <p:nvPr>
            <p:ph type="title"/>
          </p:nvPr>
        </p:nvSpPr>
        <p:spPr/>
        <p:txBody>
          <a:bodyPr/>
          <a:lstStyle/>
          <a:p>
            <a:r>
              <a:rPr lang="en-US" dirty="0"/>
              <a:t>Friend Functions</a:t>
            </a:r>
          </a:p>
        </p:txBody>
      </p:sp>
      <p:sp>
        <p:nvSpPr>
          <p:cNvPr id="3" name="Content Placeholder 2">
            <a:extLst>
              <a:ext uri="{FF2B5EF4-FFF2-40B4-BE49-F238E27FC236}">
                <a16:creationId xmlns:a16="http://schemas.microsoft.com/office/drawing/2014/main" id="{8F0A2B7E-62AF-43A7-B6DD-34A18FD3ADC8}"/>
              </a:ext>
            </a:extLst>
          </p:cNvPr>
          <p:cNvSpPr>
            <a:spLocks noGrp="1"/>
          </p:cNvSpPr>
          <p:nvPr>
            <p:ph idx="1"/>
          </p:nvPr>
        </p:nvSpPr>
        <p:spPr/>
        <p:txBody>
          <a:bodyPr>
            <a:normAutofit fontScale="85000" lnSpcReduction="20000"/>
          </a:bodyPr>
          <a:lstStyle/>
          <a:p>
            <a:r>
              <a:rPr lang="en-US" dirty="0"/>
              <a:t>Syntax</a:t>
            </a:r>
          </a:p>
          <a:p>
            <a:pPr marL="0" indent="0">
              <a:buNone/>
            </a:pPr>
            <a:r>
              <a:rPr lang="en-US" dirty="0"/>
              <a:t>class </a:t>
            </a:r>
            <a:r>
              <a:rPr lang="en-US" dirty="0" err="1"/>
              <a:t>MyClass</a:t>
            </a:r>
            <a:r>
              <a:rPr lang="en-US" dirty="0"/>
              <a:t> {</a:t>
            </a:r>
          </a:p>
          <a:p>
            <a:pPr marL="0" indent="0">
              <a:buNone/>
            </a:pPr>
            <a:r>
              <a:rPr lang="en-US" dirty="0"/>
              <a:t>    // Declaring a friend function</a:t>
            </a:r>
          </a:p>
          <a:p>
            <a:pPr marL="0" indent="0">
              <a:buNone/>
            </a:pPr>
            <a:r>
              <a:rPr lang="en-US" dirty="0"/>
              <a:t>    friend void </a:t>
            </a:r>
            <a:r>
              <a:rPr lang="en-US" dirty="0" err="1"/>
              <a:t>myFriendFunction</a:t>
            </a:r>
            <a:r>
              <a:rPr lang="en-US" dirty="0"/>
              <a:t>(</a:t>
            </a:r>
            <a:r>
              <a:rPr lang="en-US" dirty="0" err="1"/>
              <a:t>MyClass</a:t>
            </a:r>
            <a:r>
              <a:rPr lang="en-US" dirty="0"/>
              <a:t>&amp; obj);</a:t>
            </a:r>
          </a:p>
          <a:p>
            <a:pPr marL="0" indent="0">
              <a:buNone/>
            </a:pPr>
            <a:endParaRPr lang="en-US" dirty="0"/>
          </a:p>
          <a:p>
            <a:pPr marL="0" indent="0">
              <a:buNone/>
            </a:pPr>
            <a:r>
              <a:rPr lang="en-US" dirty="0"/>
              <a:t>private:</a:t>
            </a:r>
          </a:p>
          <a:p>
            <a:pPr marL="0" indent="0">
              <a:buNone/>
            </a:pPr>
            <a:r>
              <a:rPr lang="en-US" dirty="0"/>
              <a:t>    int </a:t>
            </a:r>
            <a:r>
              <a:rPr lang="en-US" dirty="0" err="1"/>
              <a:t>secretData</a:t>
            </a:r>
            <a:r>
              <a:rPr lang="en-US" dirty="0"/>
              <a:t>;  // Private data member</a:t>
            </a:r>
          </a:p>
          <a:p>
            <a:pPr marL="0" indent="0">
              <a:buNone/>
            </a:pPr>
            <a:r>
              <a:rPr lang="en-US" dirty="0"/>
              <a:t>public:</a:t>
            </a:r>
          </a:p>
          <a:p>
            <a:pPr marL="0" indent="0">
              <a:buNone/>
            </a:pPr>
            <a:r>
              <a:rPr lang="en-US" dirty="0"/>
              <a:t>    </a:t>
            </a:r>
            <a:r>
              <a:rPr lang="en-US" dirty="0" err="1"/>
              <a:t>MyClass</a:t>
            </a:r>
            <a:r>
              <a:rPr lang="en-US" dirty="0"/>
              <a:t>() : </a:t>
            </a:r>
            <a:r>
              <a:rPr lang="en-US" dirty="0" err="1"/>
              <a:t>secretData</a:t>
            </a:r>
            <a:r>
              <a:rPr lang="en-US" dirty="0"/>
              <a:t>(42) {}  // Constructor</a:t>
            </a:r>
          </a:p>
          <a:p>
            <a:pPr marL="0" indent="0">
              <a:buNone/>
            </a:pPr>
            <a:r>
              <a:rPr lang="en-US" dirty="0"/>
              <a:t>};</a:t>
            </a:r>
          </a:p>
          <a:p>
            <a:endParaRPr lang="en-US" dirty="0"/>
          </a:p>
        </p:txBody>
      </p:sp>
    </p:spTree>
    <p:extLst>
      <p:ext uri="{BB962C8B-B14F-4D97-AF65-F5344CB8AC3E}">
        <p14:creationId xmlns:p14="http://schemas.microsoft.com/office/powerpoint/2010/main" val="40588213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9080C-3A33-477D-AF76-6D3BC91F1C07}"/>
              </a:ext>
            </a:extLst>
          </p:cNvPr>
          <p:cNvSpPr>
            <a:spLocks noGrp="1"/>
          </p:cNvSpPr>
          <p:nvPr>
            <p:ph type="title"/>
          </p:nvPr>
        </p:nvSpPr>
        <p:spPr/>
        <p:txBody>
          <a:bodyPr/>
          <a:lstStyle/>
          <a:p>
            <a:r>
              <a:rPr lang="en-US" dirty="0"/>
              <a:t>Code Example</a:t>
            </a:r>
          </a:p>
        </p:txBody>
      </p:sp>
      <p:sp>
        <p:nvSpPr>
          <p:cNvPr id="3" name="Content Placeholder 2">
            <a:extLst>
              <a:ext uri="{FF2B5EF4-FFF2-40B4-BE49-F238E27FC236}">
                <a16:creationId xmlns:a16="http://schemas.microsoft.com/office/drawing/2014/main" id="{B69F8161-3795-41DC-A166-5BF8C65413EF}"/>
              </a:ext>
            </a:extLst>
          </p:cNvPr>
          <p:cNvSpPr>
            <a:spLocks noGrp="1"/>
          </p:cNvSpPr>
          <p:nvPr>
            <p:ph idx="1"/>
          </p:nvPr>
        </p:nvSpPr>
        <p:spPr/>
        <p:txBody>
          <a:bodyPr>
            <a:normAutofit fontScale="32500" lnSpcReduction="20000"/>
          </a:bodyPr>
          <a:lstStyle/>
          <a:p>
            <a:pPr marL="0" indent="0">
              <a:buNone/>
            </a:pPr>
            <a:r>
              <a:rPr lang="en-US" dirty="0"/>
              <a:t>#include &lt;iostream&gt;</a:t>
            </a:r>
          </a:p>
          <a:p>
            <a:pPr marL="0" indent="0">
              <a:buNone/>
            </a:pPr>
            <a:r>
              <a:rPr lang="en-US" dirty="0"/>
              <a:t>using namespace std;</a:t>
            </a:r>
          </a:p>
          <a:p>
            <a:pPr marL="0" indent="0">
              <a:buNone/>
            </a:pPr>
            <a:endParaRPr lang="en-US" dirty="0"/>
          </a:p>
          <a:p>
            <a:pPr marL="0" indent="0">
              <a:buNone/>
            </a:pPr>
            <a:r>
              <a:rPr lang="en-US" dirty="0"/>
              <a:t>class </a:t>
            </a:r>
            <a:r>
              <a:rPr lang="en-US" dirty="0" err="1"/>
              <a:t>MyClass</a:t>
            </a:r>
            <a:r>
              <a:rPr lang="en-US" dirty="0"/>
              <a:t> {</a:t>
            </a:r>
          </a:p>
          <a:p>
            <a:pPr marL="0" indent="0">
              <a:buNone/>
            </a:pPr>
            <a:r>
              <a:rPr lang="en-US" dirty="0"/>
              <a:t>private:</a:t>
            </a:r>
          </a:p>
          <a:p>
            <a:pPr marL="0" indent="0">
              <a:buNone/>
            </a:pPr>
            <a:r>
              <a:rPr lang="en-US" dirty="0"/>
              <a:t>    int </a:t>
            </a:r>
            <a:r>
              <a:rPr lang="en-US" dirty="0" err="1"/>
              <a:t>secretData</a:t>
            </a:r>
            <a:r>
              <a:rPr lang="en-US" dirty="0"/>
              <a:t>;  // Private data member</a:t>
            </a:r>
          </a:p>
          <a:p>
            <a:pPr marL="0" indent="0">
              <a:buNone/>
            </a:pPr>
            <a:endParaRPr lang="en-US" dirty="0"/>
          </a:p>
          <a:p>
            <a:pPr marL="0" indent="0">
              <a:buNone/>
            </a:pPr>
            <a:r>
              <a:rPr lang="en-US" dirty="0"/>
              <a:t>public:</a:t>
            </a:r>
          </a:p>
          <a:p>
            <a:pPr marL="0" indent="0">
              <a:buNone/>
            </a:pPr>
            <a:r>
              <a:rPr lang="en-US" dirty="0"/>
              <a:t>    </a:t>
            </a:r>
            <a:r>
              <a:rPr lang="en-US" dirty="0" err="1"/>
              <a:t>MyClass</a:t>
            </a:r>
            <a:r>
              <a:rPr lang="en-US" dirty="0"/>
              <a:t>() : </a:t>
            </a:r>
            <a:r>
              <a:rPr lang="en-US" dirty="0" err="1"/>
              <a:t>secretData</a:t>
            </a:r>
            <a:r>
              <a:rPr lang="en-US" dirty="0"/>
              <a:t>(42) {}  // Constructor</a:t>
            </a:r>
          </a:p>
          <a:p>
            <a:pPr marL="0" indent="0">
              <a:buNone/>
            </a:pPr>
            <a:endParaRPr lang="en-US" dirty="0"/>
          </a:p>
          <a:p>
            <a:pPr marL="0" indent="0">
              <a:buNone/>
            </a:pPr>
            <a:r>
              <a:rPr lang="en-US" dirty="0"/>
              <a:t>    // Declare friend function</a:t>
            </a:r>
          </a:p>
          <a:p>
            <a:pPr marL="0" indent="0">
              <a:buNone/>
            </a:pPr>
            <a:r>
              <a:rPr lang="en-US" dirty="0"/>
              <a:t>    friend void </a:t>
            </a:r>
            <a:r>
              <a:rPr lang="en-US" dirty="0" err="1"/>
              <a:t>showSecret</a:t>
            </a:r>
            <a:r>
              <a:rPr lang="en-US" dirty="0"/>
              <a:t>(const </a:t>
            </a:r>
            <a:r>
              <a:rPr lang="en-US" dirty="0" err="1"/>
              <a:t>MyClass</a:t>
            </a:r>
            <a:r>
              <a:rPr lang="en-US" dirty="0"/>
              <a:t>&amp; obj);</a:t>
            </a:r>
          </a:p>
          <a:p>
            <a:pPr marL="0" indent="0">
              <a:buNone/>
            </a:pPr>
            <a:r>
              <a:rPr lang="en-US" dirty="0"/>
              <a:t>};</a:t>
            </a:r>
          </a:p>
          <a:p>
            <a:pPr marL="0" indent="0">
              <a:buNone/>
            </a:pPr>
            <a:endParaRPr lang="en-US" dirty="0"/>
          </a:p>
          <a:p>
            <a:pPr marL="0" indent="0">
              <a:buNone/>
            </a:pPr>
            <a:r>
              <a:rPr lang="en-US" dirty="0"/>
              <a:t>// Friend function definition</a:t>
            </a:r>
          </a:p>
          <a:p>
            <a:pPr marL="0" indent="0">
              <a:buNone/>
            </a:pPr>
            <a:r>
              <a:rPr lang="en-US" dirty="0"/>
              <a:t>void </a:t>
            </a:r>
            <a:r>
              <a:rPr lang="en-US" dirty="0" err="1"/>
              <a:t>showSecret</a:t>
            </a:r>
            <a:r>
              <a:rPr lang="en-US" dirty="0"/>
              <a:t>(const </a:t>
            </a:r>
            <a:r>
              <a:rPr lang="en-US" dirty="0" err="1"/>
              <a:t>MyClass</a:t>
            </a:r>
            <a:r>
              <a:rPr lang="en-US" dirty="0"/>
              <a:t>&amp; obj) {</a:t>
            </a:r>
          </a:p>
          <a:p>
            <a:pPr marL="0" indent="0">
              <a:buNone/>
            </a:pPr>
            <a:r>
              <a:rPr lang="en-US" dirty="0"/>
              <a:t>    </a:t>
            </a:r>
            <a:r>
              <a:rPr lang="en-US" dirty="0" err="1"/>
              <a:t>cout</a:t>
            </a:r>
            <a:r>
              <a:rPr lang="en-US" dirty="0"/>
              <a:t> &lt;&lt; "The secret data is: " &lt;&lt; </a:t>
            </a:r>
            <a:r>
              <a:rPr lang="en-US" dirty="0" err="1"/>
              <a:t>obj.secretData</a:t>
            </a:r>
            <a:r>
              <a:rPr lang="en-US" dirty="0"/>
              <a:t> &lt;&lt; </a:t>
            </a:r>
            <a:r>
              <a:rPr lang="en-US" dirty="0" err="1"/>
              <a:t>endl</a:t>
            </a:r>
            <a:r>
              <a:rPr lang="en-US" dirty="0"/>
              <a:t>;</a:t>
            </a:r>
          </a:p>
          <a:p>
            <a:pPr marL="0" indent="0">
              <a:buNone/>
            </a:pPr>
            <a:r>
              <a:rPr lang="en-US" dirty="0"/>
              <a:t>}</a:t>
            </a:r>
          </a:p>
          <a:p>
            <a:pPr marL="0" indent="0">
              <a:buNone/>
            </a:pPr>
            <a:endParaRPr lang="en-US" dirty="0"/>
          </a:p>
          <a:p>
            <a:pPr marL="0" indent="0">
              <a:buNone/>
            </a:pPr>
            <a:r>
              <a:rPr lang="en-US" dirty="0"/>
              <a:t>int main() {</a:t>
            </a:r>
          </a:p>
          <a:p>
            <a:pPr marL="0" indent="0">
              <a:buNone/>
            </a:pPr>
            <a:r>
              <a:rPr lang="en-US" dirty="0"/>
              <a:t>    </a:t>
            </a:r>
            <a:r>
              <a:rPr lang="en-US" dirty="0" err="1"/>
              <a:t>MyClass</a:t>
            </a:r>
            <a:r>
              <a:rPr lang="en-US" dirty="0"/>
              <a:t> obj;</a:t>
            </a:r>
          </a:p>
          <a:p>
            <a:pPr marL="0" indent="0">
              <a:buNone/>
            </a:pPr>
            <a:r>
              <a:rPr lang="en-US" dirty="0"/>
              <a:t>    </a:t>
            </a:r>
            <a:r>
              <a:rPr lang="en-US" dirty="0" err="1"/>
              <a:t>showSecret</a:t>
            </a:r>
            <a:r>
              <a:rPr lang="en-US" dirty="0"/>
              <a:t>(obj);  // Calling the friend function to access private data</a:t>
            </a:r>
          </a:p>
          <a:p>
            <a:pPr marL="0" indent="0">
              <a:buNone/>
            </a:pPr>
            <a:r>
              <a:rPr lang="en-US" dirty="0"/>
              <a:t>    return 0;</a:t>
            </a:r>
          </a:p>
          <a:p>
            <a:pPr marL="0" indent="0">
              <a:buNone/>
            </a:pPr>
            <a:r>
              <a:rPr lang="en-US" dirty="0"/>
              <a:t>}</a:t>
            </a:r>
          </a:p>
        </p:txBody>
      </p:sp>
    </p:spTree>
    <p:extLst>
      <p:ext uri="{BB962C8B-B14F-4D97-AF65-F5344CB8AC3E}">
        <p14:creationId xmlns:p14="http://schemas.microsoft.com/office/powerpoint/2010/main" val="24457200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Friend Classes</a:t>
            </a:r>
          </a:p>
        </p:txBody>
      </p:sp>
      <p:sp>
        <p:nvSpPr>
          <p:cNvPr id="3" name="Content Placeholder 2"/>
          <p:cNvSpPr>
            <a:spLocks noGrp="1"/>
          </p:cNvSpPr>
          <p:nvPr>
            <p:ph idx="1"/>
          </p:nvPr>
        </p:nvSpPr>
        <p:spPr/>
        <p:txBody>
          <a:bodyPr/>
          <a:lstStyle/>
          <a:p>
            <a:r>
              <a:rPr lang="en-US" dirty="0"/>
              <a:t>A </a:t>
            </a:r>
            <a:r>
              <a:rPr dirty="0"/>
              <a:t>friend class can access the private members of another class.</a:t>
            </a:r>
          </a:p>
          <a:p>
            <a:r>
              <a:rPr dirty="0"/>
              <a:t>Used when two classes need to closely interact with each other.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1872</Words>
  <Application>Microsoft Office PowerPoint</Application>
  <PresentationFormat>Widescreen</PresentationFormat>
  <Paragraphs>225</Paragraphs>
  <Slides>20</Slides>
  <Notes>0</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20</vt:i4>
      </vt:variant>
    </vt:vector>
  </HeadingPairs>
  <TitlesOfParts>
    <vt:vector size="31" baseType="lpstr">
      <vt:lpstr>Arial</vt:lpstr>
      <vt:lpstr>Arial Unicode MS</vt:lpstr>
      <vt:lpstr>Calibri</vt:lpstr>
      <vt:lpstr>Calibri Light</vt:lpstr>
      <vt:lpstr>Montserrat</vt:lpstr>
      <vt:lpstr>Nunito</vt:lpstr>
      <vt:lpstr>Symbol</vt:lpstr>
      <vt:lpstr>Times New Roman</vt:lpstr>
      <vt:lpstr>var(--bs-font-monospace)</vt:lpstr>
      <vt:lpstr>Office Theme</vt:lpstr>
      <vt:lpstr>1_Office Theme</vt:lpstr>
      <vt:lpstr>OOP week 6</vt:lpstr>
      <vt:lpstr>Cotent</vt:lpstr>
      <vt:lpstr>Array of Objects</vt:lpstr>
      <vt:lpstr>PowerPoint Presentation</vt:lpstr>
      <vt:lpstr>C++ program for storing data of one Employee:</vt:lpstr>
      <vt:lpstr> Array of Objects</vt:lpstr>
      <vt:lpstr>PowerPoint Presentation</vt:lpstr>
      <vt:lpstr> Pointer to an object </vt:lpstr>
      <vt:lpstr>Syntax:</vt:lpstr>
      <vt:lpstr>PowerPoint Presentation</vt:lpstr>
      <vt:lpstr>Output</vt:lpstr>
      <vt:lpstr>Array of Pointers to Objects</vt:lpstr>
      <vt:lpstr>Syntax and Example:</vt:lpstr>
      <vt:lpstr>PowerPoint Presentation</vt:lpstr>
      <vt:lpstr>PowerPoint Presentation</vt:lpstr>
      <vt:lpstr>Friend Functions</vt:lpstr>
      <vt:lpstr>Friend Functions</vt:lpstr>
      <vt:lpstr>Friend Functions</vt:lpstr>
      <vt:lpstr>Code Example</vt:lpstr>
      <vt:lpstr>Friend Classes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Muhammad Umar Hameed</dc:creator>
  <cp:lastModifiedBy>Muhammad Umar Hameed</cp:lastModifiedBy>
  <cp:revision>2</cp:revision>
  <dcterms:created xsi:type="dcterms:W3CDTF">2024-11-20T04:55:27Z</dcterms:created>
  <dcterms:modified xsi:type="dcterms:W3CDTF">2024-11-20T05:37:08Z</dcterms:modified>
</cp:coreProperties>
</file>