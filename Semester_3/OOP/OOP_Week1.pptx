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4" r:id="rId8"/>
    <p:sldId id="256" r:id="rId9"/>
    <p:sldId id="263" r:id="rId10"/>
    <p:sldId id="264" r:id="rId11"/>
    <p:sldId id="257" r:id="rId12"/>
    <p:sldId id="265" r:id="rId13"/>
    <p:sldId id="266" r:id="rId14"/>
    <p:sldId id="276" r:id="rId15"/>
    <p:sldId id="258" r:id="rId16"/>
    <p:sldId id="267" r:id="rId17"/>
    <p:sldId id="268" r:id="rId18"/>
    <p:sldId id="259" r:id="rId19"/>
    <p:sldId id="269" r:id="rId20"/>
    <p:sldId id="260" r:id="rId21"/>
    <p:sldId id="270" r:id="rId22"/>
    <p:sldId id="261" r:id="rId23"/>
    <p:sldId id="271" r:id="rId24"/>
    <p:sldId id="273" r:id="rId25"/>
    <p:sldId id="262" r:id="rId26"/>
    <p:sldId id="274" r:id="rId27"/>
    <p:sldId id="272" r:id="rId28"/>
    <p:sldId id="27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2317-8B5C-4A39-B663-35714CF24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0385F-ADF2-424B-9AF9-963D57523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Revision of previous concepts </a:t>
            </a:r>
          </a:p>
        </p:txBody>
      </p:sp>
    </p:spTree>
    <p:extLst>
      <p:ext uri="{BB962C8B-B14F-4D97-AF65-F5344CB8AC3E}">
        <p14:creationId xmlns:p14="http://schemas.microsoft.com/office/powerpoint/2010/main" val="363652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347E-FEBA-4923-9888-8465DC47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505CF-5749-4CBC-875C-AFB087513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is a self-contained block of code designed to perform a specific task. Functions allow us to divide programs into smaller, manageable parts, which makes coding more organized and reusable. </a:t>
            </a:r>
          </a:p>
          <a:p>
            <a:r>
              <a:rPr lang="en-US" dirty="0"/>
              <a:t>By using functions, we can avoid redundancy and keep our code more readable and easier to debug.</a:t>
            </a:r>
          </a:p>
        </p:txBody>
      </p:sp>
    </p:spTree>
    <p:extLst>
      <p:ext uri="{BB962C8B-B14F-4D97-AF65-F5344CB8AC3E}">
        <p14:creationId xmlns:p14="http://schemas.microsoft.com/office/powerpoint/2010/main" val="319566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B65E-94B5-484C-AEF6-38EECF11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Functions?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22BDF1-5442-4984-B660-B0D99C82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Reusability:</a:t>
            </a:r>
            <a:r>
              <a:rPr lang="en-US" altLang="en-US" dirty="0">
                <a:latin typeface="Arial" panose="020B0604020202020204" pitchFamily="34" charset="0"/>
              </a:rPr>
              <a:t> You can write a function once and	 use it multiple times throughout the program.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Modularity:</a:t>
            </a:r>
            <a:r>
              <a:rPr lang="en-US" altLang="en-US" dirty="0">
                <a:latin typeface="Arial" panose="020B0604020202020204" pitchFamily="34" charset="0"/>
              </a:rPr>
              <a:t> Breaking down a large program into smaller functions makes it easier to understand and maintain.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0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B65E-94B5-484C-AEF6-38EECF11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Functions?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22BDF1-5442-4984-B660-B0D99C82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Abstraction:</a:t>
            </a:r>
            <a:r>
              <a:rPr lang="en-US" altLang="en-US" dirty="0">
                <a:latin typeface="Arial" panose="020B0604020202020204" pitchFamily="34" charset="0"/>
              </a:rPr>
              <a:t> Functions allow you to hide complex details and expose only the necessary interface.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Maintainability:</a:t>
            </a:r>
            <a:r>
              <a:rPr lang="en-US" altLang="en-US" dirty="0">
                <a:latin typeface="Arial" panose="020B0604020202020204" pitchFamily="34" charset="0"/>
              </a:rPr>
              <a:t> If a function's behavior needs to be changed, it can be modified in one place, and the changes will automatically be reflected wherever the function is used.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7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8F35-F20D-45D3-A260-FF9B593C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Steps of a Function in C++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FDBAF0-3E95-4415-8F53-174A2A64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Function Declaration (Prototype)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Function Definition (Implementation)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Function Calling (Invocation)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6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F862-2245-4B46-8560-17BAC079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the Three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070F-3ED2-4BDF-A624-9F13401C0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000" dirty="0"/>
              <a:t>#include &lt;iostream&gt;</a:t>
            </a:r>
          </a:p>
          <a:p>
            <a:pPr marL="0" indent="0">
              <a:buNone/>
            </a:pPr>
            <a:r>
              <a:rPr lang="en-US" sz="4000" dirty="0"/>
              <a:t>using namespace std;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int add(int a, int b); // 1. Function Declaration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int main() {</a:t>
            </a:r>
          </a:p>
          <a:p>
            <a:pPr marL="0" indent="0">
              <a:buNone/>
            </a:pPr>
            <a:r>
              <a:rPr lang="en-US" sz="4000" dirty="0"/>
              <a:t>    int result = add(10, 5); // 3. Function Call</a:t>
            </a:r>
          </a:p>
          <a:p>
            <a:pPr marL="0" indent="0">
              <a:buNone/>
            </a:pPr>
            <a:r>
              <a:rPr lang="en-US" sz="4000" dirty="0"/>
              <a:t>    </a:t>
            </a:r>
            <a:r>
              <a:rPr lang="en-US" sz="4000" dirty="0" err="1"/>
              <a:t>cout</a:t>
            </a:r>
            <a:r>
              <a:rPr lang="en-US" sz="4000" dirty="0"/>
              <a:t> &lt;&lt; "The result is: " &lt;&lt; result &lt;&lt; </a:t>
            </a:r>
            <a:r>
              <a:rPr lang="en-US" sz="4000" dirty="0" err="1"/>
              <a:t>endl</a:t>
            </a:r>
            <a:r>
              <a:rPr lang="en-US" sz="4000" dirty="0"/>
              <a:t>;  // Output: 15</a:t>
            </a:r>
          </a:p>
          <a:p>
            <a:pPr marL="0" indent="0">
              <a:buNone/>
            </a:pPr>
            <a:r>
              <a:rPr lang="en-US" sz="4000" dirty="0"/>
              <a:t>    return 0;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// 2. Function Definition</a:t>
            </a:r>
          </a:p>
          <a:p>
            <a:pPr marL="0" indent="0">
              <a:buNone/>
            </a:pPr>
            <a:r>
              <a:rPr lang="en-US" sz="4000" dirty="0"/>
              <a:t>int add(int a, int b) {</a:t>
            </a:r>
          </a:p>
          <a:p>
            <a:pPr marL="0" indent="0">
              <a:buNone/>
            </a:pPr>
            <a:r>
              <a:rPr lang="en-US" sz="4000" dirty="0"/>
              <a:t>    return a + b;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7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F862-2245-4B46-8560-17BAC079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the Three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070F-3ED2-4BDF-A624-9F13401C0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dirty="0"/>
              <a:t>#include &lt;iostream&gt;</a:t>
            </a:r>
          </a:p>
          <a:p>
            <a:pPr marL="0" indent="0">
              <a:buNone/>
            </a:pPr>
            <a:r>
              <a:rPr lang="en-US" sz="4000" dirty="0"/>
              <a:t>using namespace std;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int add(int a, int b)       // 1. Function Declaration</a:t>
            </a:r>
          </a:p>
          <a:p>
            <a:pPr marL="0" indent="0">
              <a:buNone/>
            </a:pPr>
            <a:r>
              <a:rPr lang="en-US" sz="4000" dirty="0"/>
              <a:t>int add(int a, int b) {    // 2. Function Definition</a:t>
            </a:r>
          </a:p>
          <a:p>
            <a:pPr marL="0" indent="0">
              <a:buNone/>
            </a:pPr>
            <a:r>
              <a:rPr lang="en-US" sz="4000" dirty="0"/>
              <a:t>    return a + b;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int main() {</a:t>
            </a:r>
          </a:p>
          <a:p>
            <a:pPr marL="0" indent="0">
              <a:buNone/>
            </a:pPr>
            <a:r>
              <a:rPr lang="en-US" sz="4000" dirty="0"/>
              <a:t>    int result = add(10, 5); // 3. Function Call</a:t>
            </a:r>
          </a:p>
          <a:p>
            <a:pPr marL="0" indent="0">
              <a:buNone/>
            </a:pPr>
            <a:r>
              <a:rPr lang="en-US" sz="4000" dirty="0"/>
              <a:t>    </a:t>
            </a:r>
            <a:r>
              <a:rPr lang="en-US" sz="4000" dirty="0" err="1"/>
              <a:t>cout</a:t>
            </a:r>
            <a:r>
              <a:rPr lang="en-US" sz="4000" dirty="0"/>
              <a:t> &lt;&lt; "The result is: " &lt;&lt; result &lt;&lt; </a:t>
            </a:r>
            <a:r>
              <a:rPr lang="en-US" sz="4000" dirty="0" err="1"/>
              <a:t>endl</a:t>
            </a:r>
            <a:r>
              <a:rPr lang="en-US" sz="4000" dirty="0"/>
              <a:t>;  // Output: 15</a:t>
            </a:r>
          </a:p>
          <a:p>
            <a:pPr marL="0" indent="0">
              <a:buNone/>
            </a:pPr>
            <a:r>
              <a:rPr lang="en-US" sz="4000" dirty="0"/>
              <a:t>    return 0;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pPr marL="0" indent="0">
              <a:buNone/>
            </a:pPr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8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Pass-by-Value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1400"/>
            </a:pPr>
            <a:r>
              <a:rPr sz="2800" dirty="0"/>
              <a:t>Pass-by-value means that a copy of the actual parameter is passed to the function.</a:t>
            </a:r>
          </a:p>
          <a:p>
            <a:pPr>
              <a:defRPr sz="1400"/>
            </a:pPr>
            <a:r>
              <a:rPr sz="2800" dirty="0"/>
              <a:t>Changes made to the parameter inside the function do not affect the actual argument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1830-C7A3-40F0-A3B0-A472B6CF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197D-A3C2-40DC-A209-D7FDBB096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200"/>
            </a:pPr>
            <a:r>
              <a:rPr lang="en-US" sz="2400" dirty="0"/>
              <a:t>#include &lt;iostream&gt;</a:t>
            </a:r>
            <a:br>
              <a:rPr lang="en-US" sz="2400" dirty="0"/>
            </a:br>
            <a:r>
              <a:rPr lang="en-US" sz="2400" dirty="0"/>
              <a:t>using namespace std;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void modify(int a) {</a:t>
            </a:r>
            <a:br>
              <a:rPr lang="en-US" sz="2400" dirty="0"/>
            </a:br>
            <a:r>
              <a:rPr lang="en-US" sz="2400" dirty="0"/>
              <a:t>    a = 10;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 main() {</a:t>
            </a:r>
            <a:br>
              <a:rPr lang="en-US" sz="2400" dirty="0"/>
            </a:br>
            <a:r>
              <a:rPr lang="en-US" sz="2400" dirty="0"/>
              <a:t>    int x = 5;</a:t>
            </a:r>
            <a:br>
              <a:rPr lang="en-US" sz="2400" dirty="0"/>
            </a:br>
            <a:r>
              <a:rPr lang="en-US" sz="2400" dirty="0"/>
              <a:t>    modify(x);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"Value of x: " &lt;&lt; x &lt;&lt; </a:t>
            </a:r>
            <a:r>
              <a:rPr lang="en-US" sz="2400" dirty="0" err="1"/>
              <a:t>endl</a:t>
            </a:r>
            <a:r>
              <a:rPr lang="en-US" sz="2400" dirty="0"/>
              <a:t>;  // Output: 5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>
              <a:defRPr sz="1200"/>
            </a:pPr>
            <a:r>
              <a:rPr lang="en-US" sz="2400" dirty="0"/>
              <a:t>Output: Output: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75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5FAC-63F9-48C5-A7F4-F0B6D91E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2 - 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CAEEC-D720-4581-9D95-800ED319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400"/>
            </a:pPr>
            <a:r>
              <a:rPr lang="en-US" sz="2400" dirty="0"/>
              <a:t>#include &lt;iostream&gt;</a:t>
            </a:r>
            <a:br>
              <a:rPr lang="en-US" sz="2400" dirty="0"/>
            </a:br>
            <a:r>
              <a:rPr lang="en-US" sz="2400" dirty="0"/>
              <a:t>using namespace std;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void </a:t>
            </a:r>
            <a:r>
              <a:rPr lang="en-US" sz="2400" dirty="0" err="1"/>
              <a:t>addTen</a:t>
            </a:r>
            <a:r>
              <a:rPr lang="en-US" sz="2400" dirty="0"/>
              <a:t>(int num) {</a:t>
            </a:r>
            <a:br>
              <a:rPr lang="en-US" sz="2400" dirty="0"/>
            </a:br>
            <a:r>
              <a:rPr lang="en-US" sz="2400" dirty="0"/>
              <a:t>    num += 10;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 main() {</a:t>
            </a:r>
            <a:br>
              <a:rPr lang="en-US" sz="2400" dirty="0"/>
            </a:br>
            <a:r>
              <a:rPr lang="en-US" sz="2400" dirty="0"/>
              <a:t>    int y = 20;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addTen</a:t>
            </a:r>
            <a:r>
              <a:rPr lang="en-US" sz="2400" dirty="0"/>
              <a:t>(y);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"Value of y: " &lt;&lt; y &lt;&lt; </a:t>
            </a:r>
            <a:r>
              <a:rPr lang="en-US" sz="2400" dirty="0" err="1"/>
              <a:t>endl</a:t>
            </a:r>
            <a:r>
              <a:rPr lang="en-US" sz="2400" dirty="0"/>
              <a:t>;  // Output: 20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>
              <a:defRPr sz="1200"/>
            </a:pPr>
            <a:r>
              <a:rPr lang="en-US" sz="2400" dirty="0"/>
              <a:t>Output: Output: 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112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Pass-by-Reference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1400"/>
            </a:pPr>
            <a:r>
              <a:rPr sz="2800" dirty="0"/>
              <a:t>Pass-by-reference means that a reference (or pointer) to the actual parameter is passed to the function.</a:t>
            </a:r>
          </a:p>
          <a:p>
            <a:pPr>
              <a:defRPr sz="1400"/>
            </a:pPr>
            <a:r>
              <a:rPr sz="2800" dirty="0"/>
              <a:t>Changes made to the parameter inside the function affect the actual argument.</a:t>
            </a:r>
          </a:p>
          <a:p>
            <a:pPr>
              <a:defRPr sz="1200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944B-F011-4FFD-8C14-3080C583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0C20-0703-4142-B766-98647ADAA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#include &lt;iostream&gt;</a:t>
            </a:r>
            <a:br>
              <a:rPr lang="en-US" dirty="0"/>
            </a:br>
            <a:r>
              <a:rPr lang="en-US" dirty="0"/>
              <a:t>using namespace std;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void modify(int &amp;a) {</a:t>
            </a:r>
            <a:br>
              <a:rPr lang="en-US" dirty="0"/>
            </a:br>
            <a:r>
              <a:rPr lang="en-US" dirty="0"/>
              <a:t>    a = 10;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main() {</a:t>
            </a:r>
            <a:br>
              <a:rPr lang="en-US" dirty="0"/>
            </a:br>
            <a:r>
              <a:rPr lang="en-US" dirty="0"/>
              <a:t>    int x = 5;</a:t>
            </a:r>
            <a:br>
              <a:rPr lang="en-US" dirty="0"/>
            </a:br>
            <a:r>
              <a:rPr lang="en-US" dirty="0"/>
              <a:t>    modify(x);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"Value of x: " &lt;&lt; x &lt;&lt; </a:t>
            </a:r>
            <a:r>
              <a:rPr lang="en-US" dirty="0" err="1"/>
              <a:t>endl</a:t>
            </a:r>
            <a:r>
              <a:rPr lang="en-US" dirty="0"/>
              <a:t>;  // Output: 10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Output: Output: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038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4B0B-7CBB-4355-B1A1-F8DB3BC3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2 -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B780-4DC8-43B6-9AC5-557E0E6B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200"/>
            </a:pPr>
            <a:r>
              <a:rPr lang="en-US" sz="2400" dirty="0"/>
              <a:t>#include &lt;iostream&gt;</a:t>
            </a:r>
            <a:br>
              <a:rPr lang="en-US" sz="2400" dirty="0"/>
            </a:br>
            <a:r>
              <a:rPr lang="en-US" sz="2400" dirty="0"/>
              <a:t>using namespace std;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void </a:t>
            </a:r>
            <a:r>
              <a:rPr lang="en-US" sz="2400" dirty="0" err="1"/>
              <a:t>addTen</a:t>
            </a:r>
            <a:r>
              <a:rPr lang="en-US" sz="2400" dirty="0"/>
              <a:t>(int &amp;num) {</a:t>
            </a:r>
            <a:br>
              <a:rPr lang="en-US" sz="2400" dirty="0"/>
            </a:br>
            <a:r>
              <a:rPr lang="en-US" sz="2400" dirty="0"/>
              <a:t>    num += 10;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 main() {</a:t>
            </a:r>
            <a:br>
              <a:rPr lang="en-US" sz="2400" dirty="0"/>
            </a:br>
            <a:r>
              <a:rPr lang="en-US" sz="2400" dirty="0"/>
              <a:t>    int y = 20;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addTen</a:t>
            </a:r>
            <a:r>
              <a:rPr lang="en-US" sz="2400" dirty="0"/>
              <a:t>(y);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"Value of y: " &lt;&lt; y &lt;&lt; </a:t>
            </a:r>
            <a:r>
              <a:rPr lang="en-US" sz="2400" dirty="0" err="1"/>
              <a:t>endl</a:t>
            </a:r>
            <a:r>
              <a:rPr lang="en-US" sz="2400" dirty="0"/>
              <a:t>;  // Output: 30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>
              <a:defRPr sz="1200"/>
            </a:pPr>
            <a:r>
              <a:rPr lang="en-US" sz="2400" dirty="0"/>
              <a:t>Output: Output: 30</a:t>
            </a:r>
          </a:p>
        </p:txBody>
      </p:sp>
    </p:spTree>
    <p:extLst>
      <p:ext uri="{BB962C8B-B14F-4D97-AF65-F5344CB8AC3E}">
        <p14:creationId xmlns:p14="http://schemas.microsoft.com/office/powerpoint/2010/main" val="975488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90F8-6080-434F-90C2-3A77C187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3 -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70208-08C2-413C-8690-857024003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291781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400" dirty="0"/>
              <a:t>#include &lt;iostream&gt;</a:t>
            </a:r>
          </a:p>
          <a:p>
            <a:pPr marL="0" indent="0">
              <a:buNone/>
            </a:pPr>
            <a:r>
              <a:rPr lang="en-US" sz="7400" dirty="0"/>
              <a:t>using namespace std;</a:t>
            </a:r>
          </a:p>
          <a:p>
            <a:pPr marL="0" indent="0">
              <a:buNone/>
            </a:pPr>
            <a:r>
              <a:rPr lang="en-US" sz="7400" dirty="0"/>
              <a:t>void </a:t>
            </a:r>
            <a:r>
              <a:rPr lang="en-US" sz="7400" dirty="0" err="1"/>
              <a:t>swapNums</a:t>
            </a:r>
            <a:r>
              <a:rPr lang="en-US" sz="7400" dirty="0"/>
              <a:t>(int &amp;x, int &amp;y) {</a:t>
            </a:r>
          </a:p>
          <a:p>
            <a:pPr marL="0" indent="0">
              <a:buNone/>
            </a:pPr>
            <a:r>
              <a:rPr lang="en-US" sz="7400" dirty="0"/>
              <a:t>  int z = x;</a:t>
            </a:r>
          </a:p>
          <a:p>
            <a:pPr marL="0" indent="0">
              <a:buNone/>
            </a:pPr>
            <a:r>
              <a:rPr lang="en-US" sz="7400" dirty="0"/>
              <a:t>  x = y;</a:t>
            </a:r>
          </a:p>
          <a:p>
            <a:pPr marL="0" indent="0">
              <a:buNone/>
            </a:pPr>
            <a:r>
              <a:rPr lang="en-US" sz="7400" dirty="0"/>
              <a:t>  y = z;</a:t>
            </a:r>
          </a:p>
          <a:p>
            <a:pPr marL="0" indent="0">
              <a:buNone/>
            </a:pPr>
            <a:r>
              <a:rPr lang="en-US" sz="7400" dirty="0"/>
              <a:t>}</a:t>
            </a:r>
          </a:p>
          <a:p>
            <a:pPr marL="0" indent="0">
              <a:buNone/>
            </a:pPr>
            <a:r>
              <a:rPr lang="en-US" sz="7400" dirty="0"/>
              <a:t>int main() {</a:t>
            </a:r>
          </a:p>
          <a:p>
            <a:pPr marL="0" indent="0">
              <a:buNone/>
            </a:pPr>
            <a:r>
              <a:rPr lang="en-US" sz="7400" dirty="0"/>
              <a:t>  int </a:t>
            </a:r>
            <a:r>
              <a:rPr lang="en-US" sz="7400" dirty="0" err="1"/>
              <a:t>firstNum</a:t>
            </a:r>
            <a:r>
              <a:rPr lang="en-US" sz="7400" dirty="0"/>
              <a:t> = 10;</a:t>
            </a:r>
          </a:p>
          <a:p>
            <a:pPr marL="0" indent="0">
              <a:buNone/>
            </a:pPr>
            <a:r>
              <a:rPr lang="en-US" sz="7400" dirty="0"/>
              <a:t>  int </a:t>
            </a:r>
            <a:r>
              <a:rPr lang="en-US" sz="7400" dirty="0" err="1"/>
              <a:t>secondNum</a:t>
            </a:r>
            <a:r>
              <a:rPr lang="en-US" sz="7400" dirty="0"/>
              <a:t> = 20;</a:t>
            </a:r>
          </a:p>
          <a:p>
            <a:pPr marL="0" indent="0">
              <a:buNone/>
            </a:pPr>
            <a:r>
              <a:rPr lang="en-US" sz="7400" dirty="0"/>
              <a:t>  </a:t>
            </a:r>
            <a:r>
              <a:rPr lang="en-US" sz="7400" dirty="0" err="1"/>
              <a:t>cout</a:t>
            </a:r>
            <a:r>
              <a:rPr lang="en-US" sz="7400" dirty="0"/>
              <a:t> &lt;&lt; "Before swap: " &lt;&lt; "\n";</a:t>
            </a:r>
          </a:p>
          <a:p>
            <a:pPr marL="0" indent="0">
              <a:buNone/>
            </a:pPr>
            <a:r>
              <a:rPr lang="en-US" sz="7400" dirty="0"/>
              <a:t>  </a:t>
            </a:r>
            <a:r>
              <a:rPr lang="en-US" sz="7400" dirty="0" err="1"/>
              <a:t>cout</a:t>
            </a:r>
            <a:r>
              <a:rPr lang="en-US" sz="7400" dirty="0"/>
              <a:t> &lt;&lt; </a:t>
            </a:r>
            <a:r>
              <a:rPr lang="en-US" sz="7400" dirty="0" err="1"/>
              <a:t>firstNum</a:t>
            </a:r>
            <a:r>
              <a:rPr lang="en-US" sz="7400" dirty="0"/>
              <a:t> &lt;&lt; </a:t>
            </a:r>
            <a:r>
              <a:rPr lang="en-US" sz="7400" dirty="0" err="1"/>
              <a:t>secondNum</a:t>
            </a:r>
            <a:r>
              <a:rPr lang="en-US" sz="7400" dirty="0"/>
              <a:t> &lt;&lt; "\n";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A32C8-40A7-4C6F-B5A9-0FA6C4396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291781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7600" dirty="0"/>
              <a:t>  </a:t>
            </a:r>
            <a:r>
              <a:rPr lang="en-US" sz="7600" dirty="0" err="1"/>
              <a:t>swapNums</a:t>
            </a:r>
            <a:r>
              <a:rPr lang="en-US" sz="7600" dirty="0"/>
              <a:t>(</a:t>
            </a:r>
            <a:r>
              <a:rPr lang="en-US" sz="7600" dirty="0" err="1"/>
              <a:t>firstNum</a:t>
            </a:r>
            <a:r>
              <a:rPr lang="en-US" sz="7600" dirty="0"/>
              <a:t>, </a:t>
            </a:r>
            <a:r>
              <a:rPr lang="en-US" sz="7600" dirty="0" err="1"/>
              <a:t>secondNum</a:t>
            </a:r>
            <a:r>
              <a:rPr lang="en-US" sz="7600" dirty="0"/>
              <a:t>);</a:t>
            </a:r>
          </a:p>
          <a:p>
            <a:pPr marL="0" indent="0">
              <a:buNone/>
            </a:pPr>
            <a:endParaRPr lang="en-US" sz="7600" dirty="0"/>
          </a:p>
          <a:p>
            <a:pPr marL="0" indent="0">
              <a:buNone/>
            </a:pPr>
            <a:r>
              <a:rPr lang="en-US" sz="7600" dirty="0"/>
              <a:t>  </a:t>
            </a:r>
            <a:r>
              <a:rPr lang="en-US" sz="7600" dirty="0" err="1"/>
              <a:t>cout</a:t>
            </a:r>
            <a:r>
              <a:rPr lang="en-US" sz="7600" dirty="0"/>
              <a:t> &lt;&lt; "After swap: " &lt;&lt; "\n";</a:t>
            </a:r>
          </a:p>
          <a:p>
            <a:pPr marL="0" indent="0">
              <a:buNone/>
            </a:pPr>
            <a:r>
              <a:rPr lang="en-US" sz="7600" dirty="0"/>
              <a:t>  </a:t>
            </a:r>
            <a:r>
              <a:rPr lang="en-US" sz="7600" dirty="0" err="1"/>
              <a:t>cout</a:t>
            </a:r>
            <a:r>
              <a:rPr lang="en-US" sz="7600" dirty="0"/>
              <a:t> &lt;&lt; </a:t>
            </a:r>
            <a:r>
              <a:rPr lang="en-US" sz="7600" dirty="0" err="1"/>
              <a:t>firstNum</a:t>
            </a:r>
            <a:r>
              <a:rPr lang="en-US" sz="7600" dirty="0"/>
              <a:t> &lt;&lt; </a:t>
            </a:r>
            <a:r>
              <a:rPr lang="en-US" sz="7600" dirty="0" err="1"/>
              <a:t>secondNum</a:t>
            </a:r>
            <a:r>
              <a:rPr lang="en-US" sz="7600" dirty="0"/>
              <a:t> &lt;&lt; "\n";</a:t>
            </a:r>
          </a:p>
          <a:p>
            <a:pPr marL="0" indent="0">
              <a:buNone/>
            </a:pPr>
            <a:endParaRPr lang="en-US" sz="7600" dirty="0"/>
          </a:p>
          <a:p>
            <a:pPr marL="0" indent="0">
              <a:buNone/>
            </a:pPr>
            <a:r>
              <a:rPr lang="en-US" sz="7600" dirty="0"/>
              <a:t>  return 0;</a:t>
            </a:r>
          </a:p>
          <a:p>
            <a:pPr marL="0" indent="0">
              <a:buNone/>
            </a:pPr>
            <a:r>
              <a:rPr lang="en-US" sz="76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472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sz="2800" dirty="0"/>
              <a:t>Function overloading allows the same function name to be used with different parameter types or counts.</a:t>
            </a:r>
          </a:p>
          <a:p>
            <a:pPr>
              <a:defRPr sz="1400"/>
            </a:pPr>
            <a:r>
              <a:rPr sz="2800" dirty="0"/>
              <a:t>The correct function is chosen at compile time based on the arguments passed.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03AD-E74E-4F52-9C97-FF467782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F4F40-D114-4C12-B097-B11FEBCD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1200"/>
            </a:pPr>
            <a:r>
              <a:rPr lang="en-US" sz="2200" dirty="0"/>
              <a:t>#include &lt;iostream&gt;</a:t>
            </a:r>
            <a:br>
              <a:rPr lang="en-US" sz="2200" dirty="0"/>
            </a:br>
            <a:r>
              <a:rPr lang="en-US" sz="2200" dirty="0"/>
              <a:t>using namespace std;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int add(int a, int b) {</a:t>
            </a:r>
            <a:br>
              <a:rPr lang="en-US" sz="2200" dirty="0"/>
            </a:br>
            <a:r>
              <a:rPr lang="en-US" sz="2200" dirty="0"/>
              <a:t>    return a + b;</a:t>
            </a:r>
            <a:br>
              <a:rPr lang="en-US" sz="2200" dirty="0"/>
            </a:br>
            <a:r>
              <a:rPr lang="en-US" sz="2200" dirty="0"/>
              <a:t>}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double add(double a, double b) {</a:t>
            </a:r>
            <a:br>
              <a:rPr lang="en-US" sz="2200" dirty="0"/>
            </a:br>
            <a:r>
              <a:rPr lang="en-US" sz="2200" dirty="0"/>
              <a:t>    return a + b;</a:t>
            </a:r>
            <a:br>
              <a:rPr lang="en-US" sz="2200" dirty="0"/>
            </a:br>
            <a:r>
              <a:rPr lang="en-US" sz="2200" dirty="0"/>
              <a:t>}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int main() {</a:t>
            </a:r>
            <a:br>
              <a:rPr lang="en-US" sz="2200" dirty="0"/>
            </a:br>
            <a:r>
              <a:rPr lang="en-US" sz="2200" dirty="0"/>
              <a:t>    </a:t>
            </a:r>
            <a:r>
              <a:rPr lang="en-US" sz="2200" dirty="0" err="1"/>
              <a:t>cout</a:t>
            </a:r>
            <a:r>
              <a:rPr lang="en-US" sz="2200" dirty="0"/>
              <a:t> &lt;&lt; "Int addition: " &lt;&lt; add(3, 5) &lt;&lt; </a:t>
            </a:r>
            <a:r>
              <a:rPr lang="en-US" sz="2200" dirty="0" err="1"/>
              <a:t>endl</a:t>
            </a:r>
            <a:r>
              <a:rPr lang="en-US" sz="2200" dirty="0"/>
              <a:t>;  // Output: 8</a:t>
            </a:r>
            <a:br>
              <a:rPr lang="en-US" sz="2200" dirty="0"/>
            </a:br>
            <a:r>
              <a:rPr lang="en-US" sz="2200" dirty="0"/>
              <a:t>    </a:t>
            </a:r>
            <a:r>
              <a:rPr lang="en-US" sz="2200" dirty="0" err="1"/>
              <a:t>cout</a:t>
            </a:r>
            <a:r>
              <a:rPr lang="en-US" sz="2200" dirty="0"/>
              <a:t> &lt;&lt; "Double addition: " &lt;&lt; add(2.3, 4.2) &lt;&lt; </a:t>
            </a:r>
            <a:r>
              <a:rPr lang="en-US" sz="2200" dirty="0" err="1"/>
              <a:t>endl</a:t>
            </a:r>
            <a:r>
              <a:rPr lang="en-US" sz="2200" dirty="0"/>
              <a:t>;  // Output: 6.5</a:t>
            </a:r>
            <a:br>
              <a:rPr lang="en-US" sz="2200" dirty="0"/>
            </a:br>
            <a:r>
              <a:rPr lang="en-US" sz="2200" dirty="0"/>
              <a:t>}</a:t>
            </a:r>
          </a:p>
          <a:p>
            <a:pPr>
              <a:defRPr sz="1200"/>
            </a:pPr>
            <a:r>
              <a:rPr lang="en-US" sz="2200" dirty="0"/>
              <a:t>Output: Output: Int addition: 8</a:t>
            </a:r>
            <a:br>
              <a:rPr lang="en-US" sz="2200" dirty="0"/>
            </a:br>
            <a:r>
              <a:rPr lang="en-US" sz="2200" dirty="0"/>
              <a:t>Output: Double addition: 6.5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378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74D7-7629-406B-9A70-B33CCBF7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2 - Overloading with different parameter 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818D2-AE0E-4F4B-AFD5-8BE8740A8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1200"/>
            </a:pPr>
            <a:r>
              <a:rPr lang="en-US" sz="2800" dirty="0"/>
              <a:t>#include &lt;iostream&gt;</a:t>
            </a:r>
            <a:br>
              <a:rPr lang="en-US" sz="2800" dirty="0"/>
            </a:br>
            <a:r>
              <a:rPr lang="en-US" sz="2800" dirty="0"/>
              <a:t>using namespace std;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int add(int a, int b, int c) {</a:t>
            </a:r>
            <a:br>
              <a:rPr lang="en-US" sz="2800" dirty="0"/>
            </a:br>
            <a:r>
              <a:rPr lang="en-US" sz="2800" dirty="0"/>
              <a:t>    return a + b + c;</a:t>
            </a:r>
            <a:br>
              <a:rPr lang="en-US" sz="2800" dirty="0"/>
            </a:br>
            <a:r>
              <a:rPr lang="en-US" sz="2800" dirty="0"/>
              <a:t>}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int main() {</a:t>
            </a:r>
            <a:br>
              <a:rPr lang="en-US" sz="2800" dirty="0"/>
            </a:br>
            <a:r>
              <a:rPr lang="en-US" sz="2800" dirty="0"/>
              <a:t>    </a:t>
            </a:r>
            <a:r>
              <a:rPr lang="en-US" sz="2800" dirty="0" err="1"/>
              <a:t>cout</a:t>
            </a:r>
            <a:r>
              <a:rPr lang="en-US" sz="2800" dirty="0"/>
              <a:t> &lt;&lt; "Three int addition: " &lt;&lt; add(1, 2, 3) &lt;&lt; </a:t>
            </a:r>
            <a:r>
              <a:rPr lang="en-US" sz="2800" dirty="0" err="1"/>
              <a:t>endl</a:t>
            </a:r>
            <a:r>
              <a:rPr lang="en-US" sz="2800" dirty="0"/>
              <a:t>;  // Output: 6</a:t>
            </a:r>
            <a:br>
              <a:rPr lang="en-US" sz="2800" dirty="0"/>
            </a:br>
            <a:r>
              <a:rPr lang="en-US" sz="2800" dirty="0"/>
              <a:t>}</a:t>
            </a:r>
          </a:p>
          <a:p>
            <a:pPr>
              <a:defRPr sz="1200"/>
            </a:pPr>
            <a:r>
              <a:rPr lang="en-US" sz="2800" dirty="0"/>
              <a:t>Output: Output: Three int addition: 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8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2800" dirty="0"/>
              <a:t>Default arguments allow a function to be called without all arguments provided.</a:t>
            </a:r>
          </a:p>
          <a:p>
            <a:pPr>
              <a:defRPr sz="1400"/>
            </a:pPr>
            <a:r>
              <a:rPr sz="2800" dirty="0"/>
              <a:t>A default value is used for missing arguments</a:t>
            </a:r>
            <a:r>
              <a:rPr lang="en-US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8F67-AAD4-4DFB-8F64-E6134676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A84A-4EB7-4696-868E-4B519D1E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200"/>
            </a:pPr>
            <a:r>
              <a:rPr lang="en-US" sz="2400" dirty="0"/>
              <a:t>#include &lt;iostream&gt;</a:t>
            </a:r>
            <a:br>
              <a:rPr lang="en-US" sz="2400" dirty="0"/>
            </a:br>
            <a:r>
              <a:rPr lang="en-US" sz="2400" dirty="0"/>
              <a:t>using namespace std;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 add(int a, int b = 10) {</a:t>
            </a:r>
            <a:br>
              <a:rPr lang="en-US" sz="2400" dirty="0"/>
            </a:br>
            <a:r>
              <a:rPr lang="en-US" sz="2400" dirty="0"/>
              <a:t>    return a + b;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 main() {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"Add with one argument: " &lt;&lt; add(5) &lt;&lt; </a:t>
            </a:r>
            <a:r>
              <a:rPr lang="en-US" sz="2400" dirty="0" err="1"/>
              <a:t>endl</a:t>
            </a:r>
            <a:r>
              <a:rPr lang="en-US" sz="2400" dirty="0"/>
              <a:t>;  // Output: 15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"Add with two arguments: " &lt;&lt; add(5, 3) &lt;&lt; </a:t>
            </a:r>
            <a:r>
              <a:rPr lang="en-US" sz="2400" dirty="0" err="1"/>
              <a:t>endl</a:t>
            </a:r>
            <a:r>
              <a:rPr lang="en-US" sz="2400" dirty="0"/>
              <a:t>;  // Output: 8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>
              <a:defRPr sz="1200"/>
            </a:pPr>
            <a:r>
              <a:rPr lang="en-US" sz="2400" dirty="0"/>
              <a:t>Output: Output: Add with one argument: 15</a:t>
            </a:r>
            <a:br>
              <a:rPr lang="en-US" sz="2400" dirty="0"/>
            </a:br>
            <a:r>
              <a:rPr lang="en-US" sz="2400" dirty="0"/>
              <a:t>Output: Add with two arguments: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99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sz="2800" dirty="0"/>
              <a:t>Dynamic memory allocation allows memory to be allocated during runtime using pointers.</a:t>
            </a:r>
          </a:p>
          <a:p>
            <a:pPr>
              <a:defRPr sz="1400"/>
            </a:pPr>
            <a:r>
              <a:rPr sz="2800" dirty="0"/>
              <a:t>Common issues include dangling pointers and memory leakage if memory is not managed properly.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6092-CF59-45F2-8F1A-C1B0A832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1 - Dynamic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456F-15D6-42AC-8F51-80CFFF592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400"/>
            </a:pPr>
            <a:r>
              <a:rPr lang="en-US" sz="2800" dirty="0"/>
              <a:t>#include &lt;iostream&gt;</a:t>
            </a:r>
            <a:br>
              <a:rPr lang="en-US" sz="2800" dirty="0"/>
            </a:br>
            <a:r>
              <a:rPr lang="en-US" sz="2800" dirty="0"/>
              <a:t>using namespace std;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int main() {</a:t>
            </a:r>
            <a:br>
              <a:rPr lang="en-US" sz="2800" dirty="0"/>
            </a:br>
            <a:r>
              <a:rPr lang="en-US" sz="2800" dirty="0"/>
              <a:t>    int* p = new int(10);</a:t>
            </a:r>
            <a:br>
              <a:rPr lang="en-US" sz="2800" dirty="0"/>
            </a:br>
            <a:r>
              <a:rPr lang="en-US" sz="2800" dirty="0"/>
              <a:t>    </a:t>
            </a:r>
            <a:r>
              <a:rPr lang="en-US" sz="2800" dirty="0" err="1"/>
              <a:t>cout</a:t>
            </a:r>
            <a:r>
              <a:rPr lang="en-US" sz="2800" dirty="0"/>
              <a:t> &lt;&lt; "Allocated value: " &lt;&lt; *p &lt;&lt; </a:t>
            </a:r>
            <a:r>
              <a:rPr lang="en-US" sz="2800" dirty="0" err="1"/>
              <a:t>endl</a:t>
            </a:r>
            <a:r>
              <a:rPr lang="en-US" sz="2800" dirty="0"/>
              <a:t>;  // Output: 10</a:t>
            </a:r>
            <a:br>
              <a:rPr lang="en-US" sz="2800" dirty="0"/>
            </a:br>
            <a:r>
              <a:rPr lang="en-US" sz="2800" dirty="0"/>
              <a:t>    delete p;</a:t>
            </a:r>
            <a:br>
              <a:rPr lang="en-US" sz="2800" dirty="0"/>
            </a:br>
            <a:r>
              <a:rPr lang="en-US" sz="2800" dirty="0"/>
              <a:t>    return 0;</a:t>
            </a:r>
            <a:br>
              <a:rPr lang="en-US" sz="2800" dirty="0"/>
            </a:br>
            <a:r>
              <a:rPr lang="en-US" sz="2800" dirty="0"/>
              <a:t>}</a:t>
            </a:r>
          </a:p>
          <a:p>
            <a:pPr>
              <a:defRPr sz="1200"/>
            </a:pPr>
            <a:r>
              <a:rPr lang="en-US" sz="2800" dirty="0"/>
              <a:t>Output: Output: Allocated value: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66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Dangling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 sz="1400"/>
            </a:pPr>
            <a:r>
              <a:rPr sz="2400" dirty="0"/>
              <a:t>A dangling pointer points to memory that has already been freed, leading to undefined behavior.</a:t>
            </a:r>
            <a:endParaRPr lang="en-US" sz="2400" dirty="0"/>
          </a:p>
          <a:p>
            <a:pPr algn="just">
              <a:defRPr sz="1400"/>
            </a:pPr>
            <a:r>
              <a:rPr lang="en-US" sz="2400" dirty="0"/>
              <a:t>Dangling pointers and wild pointers in computer programming are pointers that do not point to a valid object of the appropriate type.</a:t>
            </a:r>
          </a:p>
          <a:p>
            <a:pPr algn="just">
              <a:defRPr sz="1400"/>
            </a:pPr>
            <a:r>
              <a:rPr lang="en-US" sz="2400" dirty="0"/>
              <a:t>When we create a program, we use a pointer to point to an object. But sometimes, we do not change the pointer's value, and we free the object from the memory block. </a:t>
            </a:r>
          </a:p>
          <a:p>
            <a:pPr algn="just">
              <a:defRPr sz="1400"/>
            </a:pPr>
            <a:r>
              <a:rPr lang="en-US" sz="2400" dirty="0"/>
              <a:t>In this situation, the pointer becomes a dangling pointer. A dangling pointer is a type of pointer that comes when we de-allocate the object but forget to modify the pointer's value.</a:t>
            </a:r>
            <a:endParaRPr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0094-1D87-4F4B-B5B5-B770B048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Dangling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54E58-0D01-4EDF-B12D-8C432F240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200"/>
            </a:pPr>
            <a:r>
              <a:rPr lang="en-US" sz="2400" dirty="0"/>
              <a:t>#include &lt;iostream&gt;</a:t>
            </a:r>
            <a:br>
              <a:rPr lang="en-US" sz="2400" dirty="0"/>
            </a:br>
            <a:r>
              <a:rPr lang="en-US" sz="2400" dirty="0"/>
              <a:t>using namespace std;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 main() {</a:t>
            </a:r>
            <a:br>
              <a:rPr lang="en-US" sz="2400" dirty="0"/>
            </a:br>
            <a:r>
              <a:rPr lang="en-US" sz="2400" dirty="0"/>
              <a:t>    int* p = new int;</a:t>
            </a:r>
          </a:p>
          <a:p>
            <a:pPr marL="0" indent="0">
              <a:buNone/>
              <a:defRPr sz="1200"/>
            </a:pPr>
            <a:r>
              <a:rPr lang="en-US" sz="2400" dirty="0"/>
              <a:t>     *p = 10,</a:t>
            </a:r>
            <a:br>
              <a:rPr lang="en-US" sz="2400" dirty="0"/>
            </a:br>
            <a:r>
              <a:rPr lang="en-US" sz="2400" dirty="0"/>
              <a:t>    delete p; // Now p is a dangling pointer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&lt;&lt;p; // Accessing *p here is undefined behavior</a:t>
            </a:r>
            <a:br>
              <a:rPr lang="en-US" sz="2400" dirty="0"/>
            </a:br>
            <a:r>
              <a:rPr lang="en-US" sz="2400" dirty="0"/>
              <a:t>    return 0;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>
              <a:defRPr sz="1200"/>
            </a:pPr>
            <a:r>
              <a:rPr lang="en-US" sz="2400" dirty="0"/>
              <a:t>Output: Output: (Undefined behavior)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58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0CC5-18C6-42BD-B53F-AA7BB776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avoid dangling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37B75-60A1-4F50-A078-00F6CE986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avoid creating dangling pointers, you need to carefully manage dynamic memory and follow some best practices.</a:t>
            </a:r>
          </a:p>
          <a:p>
            <a:pPr marL="514350" indent="-514350">
              <a:buAutoNum type="arabicPeriod"/>
            </a:pPr>
            <a:r>
              <a:rPr lang="en-US" dirty="0"/>
              <a:t>Set pointers to </a:t>
            </a:r>
            <a:r>
              <a:rPr lang="en-US" dirty="0" err="1"/>
              <a:t>nullptr</a:t>
            </a:r>
            <a:r>
              <a:rPr lang="en-US" dirty="0"/>
              <a:t> after deletion </a:t>
            </a:r>
          </a:p>
          <a:p>
            <a:pPr marL="914400" lvl="1" indent="-514350"/>
            <a:r>
              <a:rPr lang="en-US" dirty="0"/>
              <a:t>delete p; </a:t>
            </a:r>
          </a:p>
          <a:p>
            <a:pPr marL="400050" lvl="1" indent="0">
              <a:buNone/>
            </a:pPr>
            <a:r>
              <a:rPr lang="en-US" dirty="0"/>
              <a:t>		p = </a:t>
            </a:r>
            <a:r>
              <a:rPr lang="en-US" dirty="0" err="1"/>
              <a:t>nullptr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Avoid using pointers after delete</a:t>
            </a:r>
          </a:p>
        </p:txBody>
      </p:sp>
    </p:spTree>
    <p:extLst>
      <p:ext uri="{BB962C8B-B14F-4D97-AF65-F5344CB8AC3E}">
        <p14:creationId xmlns:p14="http://schemas.microsoft.com/office/powerpoint/2010/main" val="3385943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 sz="1400"/>
            </a:pPr>
            <a:r>
              <a:rPr sz="2800" dirty="0"/>
              <a:t>Memory leakage occurs when dynamically allocated memory is not freed, leading to wasted memory.</a:t>
            </a:r>
            <a:endParaRPr lang="en-US" sz="2800" dirty="0"/>
          </a:p>
          <a:p>
            <a:pPr algn="just">
              <a:defRPr sz="1400"/>
            </a:pPr>
            <a:r>
              <a:rPr lang="en-US" sz="2800" dirty="0"/>
              <a:t>Memory leakage occurs in C++ when programmers dynamically allocate memory by using new keyword (or malloc, </a:t>
            </a:r>
            <a:r>
              <a:rPr lang="en-US" sz="2800" dirty="0" err="1"/>
              <a:t>calloc</a:t>
            </a:r>
            <a:r>
              <a:rPr lang="en-US" sz="2800" dirty="0"/>
              <a:t>) and forgets to deallocate the memory by using delete or delete[] operator (or free).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4334-7D19-447E-8EA6-8F266CAB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1885-1A0F-43F3-AC5E-F40CD658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C++, there is no automatic garbage collection. It means that any memory that is dynamically allocated by the programmer needs to be freed after its usage manually by the programmer. </a:t>
            </a:r>
          </a:p>
          <a:p>
            <a:pPr algn="just"/>
            <a:r>
              <a:rPr lang="en-US" dirty="0"/>
              <a:t>If the programmer forgets to free this memory, it will occupy the space from till the program lives and will be unavailable to other processes. This is called memory leak.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1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D2AF-EC54-4A6A-BE84-11412A7C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Memory Leak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01CF5-DE56-44CF-BBEB-A7A262A7B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200"/>
            </a:pPr>
            <a:r>
              <a:rPr lang="en-US" sz="2800" dirty="0"/>
              <a:t>#include &lt;iostream&gt;</a:t>
            </a:r>
            <a:br>
              <a:rPr lang="en-US" sz="2800" dirty="0"/>
            </a:br>
            <a:r>
              <a:rPr lang="en-US" sz="2800" dirty="0"/>
              <a:t>using namespace std;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int main() {</a:t>
            </a:r>
            <a:br>
              <a:rPr lang="en-US" sz="2800" dirty="0"/>
            </a:br>
            <a:r>
              <a:rPr lang="en-US" sz="2800" dirty="0"/>
              <a:t>    int* p = new int(10);</a:t>
            </a:r>
            <a:br>
              <a:rPr lang="en-US" sz="2800" dirty="0"/>
            </a:br>
            <a:r>
              <a:rPr lang="en-US" sz="2800" dirty="0"/>
              <a:t>    // Memory leak: no delete for p</a:t>
            </a:r>
            <a:br>
              <a:rPr lang="en-US" sz="2800" dirty="0"/>
            </a:br>
            <a:r>
              <a:rPr lang="en-US" sz="2800" dirty="0"/>
              <a:t>    return 0;</a:t>
            </a:r>
            <a:br>
              <a:rPr lang="en-US" sz="2800" dirty="0"/>
            </a:br>
            <a:r>
              <a:rPr lang="en-US" sz="2800" dirty="0"/>
              <a:t>}</a:t>
            </a:r>
          </a:p>
          <a:p>
            <a:pPr>
              <a:defRPr sz="1200"/>
            </a:pPr>
            <a:r>
              <a:rPr lang="en-US" sz="2800" dirty="0"/>
              <a:t>Output: Output: (Memory leakage)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62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25C5-C318-4EC8-9208-D2693E94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2 - Memory Leak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225AD-EF18-4EE4-A02E-D9AA0ACE1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#include &lt;iostream&gt;</a:t>
            </a:r>
          </a:p>
          <a:p>
            <a:pPr marL="0" indent="0">
              <a:buNone/>
            </a:pPr>
            <a:r>
              <a:rPr lang="en-US" sz="8000" dirty="0"/>
              <a:t>using namespace std;</a:t>
            </a:r>
          </a:p>
          <a:p>
            <a:pPr marL="0" indent="0">
              <a:buNone/>
            </a:pPr>
            <a:r>
              <a:rPr lang="en-US" sz="8000" dirty="0"/>
              <a:t>void </a:t>
            </a:r>
            <a:r>
              <a:rPr lang="en-US" sz="8000" dirty="0" err="1"/>
              <a:t>func_to_show_mem_leak</a:t>
            </a:r>
            <a:r>
              <a:rPr lang="en-US" sz="8000" dirty="0"/>
              <a:t>() // function with memory leak</a:t>
            </a:r>
          </a:p>
          <a:p>
            <a:pPr marL="0" indent="0">
              <a:buNone/>
            </a:pPr>
            <a:r>
              <a:rPr lang="en-US" sz="8000" dirty="0"/>
              <a:t>{</a:t>
            </a:r>
          </a:p>
          <a:p>
            <a:pPr marL="0" indent="0">
              <a:buNone/>
            </a:pPr>
            <a:r>
              <a:rPr lang="en-US" sz="8000" dirty="0"/>
              <a:t>    int* </a:t>
            </a:r>
            <a:r>
              <a:rPr lang="en-US" sz="8000" dirty="0" err="1"/>
              <a:t>ptr</a:t>
            </a:r>
            <a:r>
              <a:rPr lang="en-US" sz="8000" dirty="0"/>
              <a:t> = new int(5);</a:t>
            </a:r>
          </a:p>
          <a:p>
            <a:pPr marL="0" indent="0">
              <a:buNone/>
            </a:pPr>
            <a:r>
              <a:rPr lang="en-US" sz="8000" dirty="0"/>
              <a:t>    // body return without deallocating </a:t>
            </a:r>
            <a:r>
              <a:rPr lang="en-US" sz="8000" dirty="0" err="1"/>
              <a:t>ptr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    return;</a:t>
            </a:r>
          </a:p>
          <a:p>
            <a:pPr marL="0" indent="0">
              <a:buNone/>
            </a:pPr>
            <a:r>
              <a:rPr lang="en-US" sz="8000" dirty="0"/>
              <a:t>}</a:t>
            </a:r>
          </a:p>
          <a:p>
            <a:pPr marL="0" indent="0">
              <a:buNone/>
            </a:pPr>
            <a:r>
              <a:rPr lang="en-US" sz="8000" dirty="0"/>
              <a:t>int main()</a:t>
            </a:r>
          </a:p>
          <a:p>
            <a:pPr marL="0" indent="0">
              <a:buNone/>
            </a:pPr>
            <a:r>
              <a:rPr lang="en-US" sz="8000" dirty="0"/>
              <a:t>{</a:t>
            </a:r>
          </a:p>
          <a:p>
            <a:pPr marL="0" indent="0">
              <a:buNone/>
            </a:pPr>
            <a:r>
              <a:rPr lang="en-US" sz="8000" dirty="0"/>
              <a:t>   // Call the </a:t>
            </a:r>
            <a:r>
              <a:rPr lang="en-US" sz="8000" dirty="0" err="1"/>
              <a:t>functionto</a:t>
            </a:r>
            <a:r>
              <a:rPr lang="en-US" sz="8000" dirty="0"/>
              <a:t> get the memory leak</a:t>
            </a:r>
          </a:p>
          <a:p>
            <a:pPr marL="0" indent="0">
              <a:buNone/>
            </a:pPr>
            <a:r>
              <a:rPr lang="en-US" sz="8000" dirty="0"/>
              <a:t>    </a:t>
            </a:r>
            <a:r>
              <a:rPr lang="en-US" sz="8000" dirty="0" err="1"/>
              <a:t>func_to_show_mem_leak</a:t>
            </a:r>
            <a:r>
              <a:rPr lang="en-US" sz="8000" dirty="0"/>
              <a:t>();</a:t>
            </a:r>
          </a:p>
          <a:p>
            <a:pPr marL="0" indent="0">
              <a:buNone/>
            </a:pPr>
            <a:r>
              <a:rPr lang="en-US" sz="8000" dirty="0"/>
              <a:t>    return 0;</a:t>
            </a:r>
          </a:p>
          <a:p>
            <a:pPr marL="0" indent="0">
              <a:buNone/>
            </a:pPr>
            <a:r>
              <a:rPr lang="en-US" sz="80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870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1846</Words>
  <Application>Microsoft Office PowerPoint</Application>
  <PresentationFormat>On-screen Show (4:3)</PresentationFormat>
  <Paragraphs>146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Week 1</vt:lpstr>
      <vt:lpstr>Functions</vt:lpstr>
      <vt:lpstr>Why Do We Use Functions?</vt:lpstr>
      <vt:lpstr>Why Do We Use Functions?</vt:lpstr>
      <vt:lpstr>Three Steps of a Function in C++</vt:lpstr>
      <vt:lpstr>Example of the Three Steps</vt:lpstr>
      <vt:lpstr>Example of the Three Steps</vt:lpstr>
      <vt:lpstr>Functions Pass-by-Value</vt:lpstr>
      <vt:lpstr>Example 1 - Pass by Value</vt:lpstr>
      <vt:lpstr>Example 2 - Pass by Value</vt:lpstr>
      <vt:lpstr>Functions Pass-by-Reference</vt:lpstr>
      <vt:lpstr>Example 1 - Pass by Reference</vt:lpstr>
      <vt:lpstr>Example 2 - Pass by Reference</vt:lpstr>
      <vt:lpstr>Example 3 - Pass by Reference</vt:lpstr>
      <vt:lpstr>Function Overloading</vt:lpstr>
      <vt:lpstr>Example 1 - Function Overloading</vt:lpstr>
      <vt:lpstr>Example 2 - Overloading with different parameter counts</vt:lpstr>
      <vt:lpstr>Default Arguments</vt:lpstr>
      <vt:lpstr>Example 1 - Default Arguments</vt:lpstr>
      <vt:lpstr>Dynamic Memory Allocation</vt:lpstr>
      <vt:lpstr>Example 1 - Dynamic Memory Allocation</vt:lpstr>
      <vt:lpstr>Dangling Pointers</vt:lpstr>
      <vt:lpstr>Example 1 - Dangling Pointer</vt:lpstr>
      <vt:lpstr>How to avoid dangling pointer</vt:lpstr>
      <vt:lpstr>Memory Leakage</vt:lpstr>
      <vt:lpstr>Memory Leakage</vt:lpstr>
      <vt:lpstr>Example 1 - Memory Leak</vt:lpstr>
      <vt:lpstr>Example 2 - Memory Leak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Pass-by-Value</dc:title>
  <dc:subject/>
  <dc:creator/>
  <cp:keywords/>
  <dc:description>generated using python-pptx</dc:description>
  <cp:lastModifiedBy>Asad Kamal</cp:lastModifiedBy>
  <cp:revision>17</cp:revision>
  <dcterms:created xsi:type="dcterms:W3CDTF">2013-01-27T09:14:16Z</dcterms:created>
  <dcterms:modified xsi:type="dcterms:W3CDTF">2024-10-16T05:52:08Z</dcterms:modified>
  <cp:category/>
</cp:coreProperties>
</file>