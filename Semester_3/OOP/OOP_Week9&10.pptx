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12192000" cy="68580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850" y="62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CEA6C4-91A4-7835-7608-A6AC866CB9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9F9EF8-7B48-618E-E8F3-3EC64D78A8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A0696E-C997-86BD-14F3-CCF19F777D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38B11D-292F-983D-D6AD-2349880DE5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FA7415-6474-DA22-E3CC-D283D7ECCE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7FC825-F6EE-BB1E-AD75-4043C9DB71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E19B4A-133E-4C0B-6C0C-C3A745EAF5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6711CD-8E2B-79AA-FFAC-972DFA4B64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698818-A8FB-EE2A-064F-543A0BD296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250D44-1E80-BEB8-B489-F6BB83780F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8E4704-AF35-A1AF-7FB2-21EF31F89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269B65-7E25-E0A9-AB71-BB40835344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B1CF5C-33FF-8E3F-B36D-7960C254F3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4C817-35E9-A5E1-F793-A2BBCD1763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428691" name="Holder 2"/>
          <p:cNvSpPr>
            <a:spLocks noGrp="1"/>
          </p:cNvSpPr>
          <p:nvPr>
            <p:ph type="ctrTitle"/>
          </p:nvPr>
        </p:nvSpPr>
        <p:spPr bwMode="auto"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8303954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51685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720464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12863311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371269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0388312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08090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19017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124381596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08681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7978762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39469635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4325874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059150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187060725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99389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64388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098309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146510208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56638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877406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132324475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410341" name="bg object 16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07717206" name="bg object 17"/>
          <p:cNvSpPr/>
          <p:nvPr/>
        </p:nvSpPr>
        <p:spPr bwMode="auto"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 fill="norm" stroke="1" extrusionOk="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1474867" name="bg object 18"/>
          <p:cNvSpPr/>
          <p:nvPr/>
        </p:nvSpPr>
        <p:spPr bwMode="auto"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 fill="norm" stroke="1" extrusionOk="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28727640" name="bg object 19"/>
          <p:cNvSpPr/>
          <p:nvPr/>
        </p:nvSpPr>
        <p:spPr bwMode="auto"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 fill="norm" stroke="1" extrusionOk="0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72276140" name="bg object 20"/>
          <p:cNvSpPr/>
          <p:nvPr/>
        </p:nvSpPr>
        <p:spPr bwMode="auto"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 fill="norm" stroke="1" extrusionOk="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59226763" name="bg object 21"/>
          <p:cNvSpPr/>
          <p:nvPr/>
        </p:nvSpPr>
        <p:spPr bwMode="auto"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 fill="norm" stroke="1" extrusionOk="0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 fill="norm" stroke="1" extrusionOk="0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791337382" name="bg object 22"/>
          <p:cNvPicPr/>
          <p:nvPr/>
        </p:nvPicPr>
        <p:blipFill>
          <a:blip r:embed="rId7"/>
          <a:stretch/>
        </p:blipFill>
        <p:spPr bwMode="auto"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1950750970" name="bg object 23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 fill="norm" stroke="1" extrusionOk="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9993958" name="bg object 24"/>
          <p:cNvSpPr/>
          <p:nvPr/>
        </p:nvSpPr>
        <p:spPr bwMode="auto"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 fill="norm" stroke="1" extrusionOk="0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05597534" name="bg object 25"/>
          <p:cNvSpPr/>
          <p:nvPr/>
        </p:nvSpPr>
        <p:spPr bwMode="auto"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 fill="norm" stroke="1" extrusionOk="0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0122406" name="Holder 2"/>
          <p:cNvSpPr>
            <a:spLocks noGrp="1"/>
          </p:cNvSpPr>
          <p:nvPr>
            <p:ph type="title"/>
          </p:nvPr>
        </p:nvSpPr>
        <p:spPr bwMode="auto">
          <a:xfrm>
            <a:off x="4748021" y="1848358"/>
            <a:ext cx="6944359" cy="638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8149842" name="Holder 3"/>
          <p:cNvSpPr>
            <a:spLocks noGrp="1"/>
          </p:cNvSpPr>
          <p:nvPr>
            <p:ph type="body" idx="1"/>
          </p:nvPr>
        </p:nvSpPr>
        <p:spPr bwMode="auto">
          <a:xfrm>
            <a:off x="764540" y="2065146"/>
            <a:ext cx="10587990" cy="295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415593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760977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11828836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8261355" name="object 2"/>
          <p:cNvPicPr/>
          <p:nvPr/>
        </p:nvPicPr>
        <p:blipFill>
          <a:blip r:embed="rId3"/>
          <a:stretch/>
        </p:blipFill>
        <p:spPr bwMode="auto">
          <a:xfrm>
            <a:off x="0" y="4762"/>
            <a:ext cx="12190476" cy="6853237"/>
          </a:xfrm>
          <a:prstGeom prst="rect">
            <a:avLst/>
          </a:prstGeom>
        </p:spPr>
      </p:pic>
      <p:sp>
        <p:nvSpPr>
          <p:cNvPr id="1259146458" name="object 3"/>
          <p:cNvSpPr txBox="1"/>
          <p:nvPr/>
        </p:nvSpPr>
        <p:spPr bwMode="auto">
          <a:xfrm>
            <a:off x="1668779" y="1991867"/>
            <a:ext cx="8846820" cy="303993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5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5"/>
              </a:spcBef>
              <a:defRPr/>
            </a:pPr>
            <a:endParaRPr sz="5400">
              <a:latin typeface="Times New Roman"/>
              <a:cs typeface="Times New Roman"/>
            </a:endParaRPr>
          </a:p>
          <a:p>
            <a:pPr marL="53974" algn="ctr">
              <a:lnSpc>
                <a:spcPct val="100000"/>
              </a:lnSpc>
              <a:defRPr/>
            </a:pPr>
            <a:r>
              <a:rPr sz="5400" spc="-70">
                <a:solidFill>
                  <a:srgbClr val="FFFCFF"/>
                </a:solidFill>
                <a:latin typeface="Calibri Light"/>
                <a:cs typeface="Calibri Light"/>
              </a:rPr>
              <a:t>Inheritance</a:t>
            </a:r>
            <a:endParaRPr sz="5400">
              <a:latin typeface="Calibri Light"/>
              <a:cs typeface="Calibri Light"/>
            </a:endParaRPr>
          </a:p>
          <a:p>
            <a:pPr marL="9525" algn="ctr">
              <a:lnSpc>
                <a:spcPct val="100000"/>
              </a:lnSpc>
              <a:spcBef>
                <a:spcPts val="1205"/>
              </a:spcBef>
              <a:defRPr/>
            </a:pPr>
            <a:r>
              <a:rPr sz="1800">
                <a:solidFill>
                  <a:srgbClr val="FFFCFF"/>
                </a:solidFill>
                <a:latin typeface="Cambria"/>
                <a:cs typeface="Cambria"/>
              </a:rPr>
              <a:t>Lecture</a:t>
            </a:r>
            <a:r>
              <a:rPr sz="1800" spc="14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>
                <a:solidFill>
                  <a:srgbClr val="FFFCFF"/>
                </a:solidFill>
                <a:latin typeface="Cambria"/>
                <a:cs typeface="Cambria"/>
              </a:rPr>
              <a:t>11</a:t>
            </a:r>
            <a:r>
              <a:rPr sz="1800" spc="55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>
                <a:solidFill>
                  <a:srgbClr val="FFFCFF"/>
                </a:solidFill>
                <a:latin typeface="Cambria"/>
                <a:cs typeface="Cambria"/>
              </a:rPr>
              <a:t>(Week</a:t>
            </a:r>
            <a:r>
              <a:rPr sz="1800" spc="17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>
                <a:solidFill>
                  <a:srgbClr val="FFFCFF"/>
                </a:solidFill>
                <a:latin typeface="Cambria"/>
                <a:cs typeface="Cambria"/>
              </a:rPr>
              <a:t>09</a:t>
            </a:r>
            <a:r>
              <a:rPr sz="1800" spc="-1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>
                <a:solidFill>
                  <a:srgbClr val="FFFCFF"/>
                </a:solidFill>
                <a:latin typeface="Cambria"/>
                <a:cs typeface="Cambria"/>
              </a:rPr>
              <a:t>&amp;</a:t>
            </a:r>
            <a:r>
              <a:rPr sz="1800" spc="-2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spc="-25">
                <a:solidFill>
                  <a:srgbClr val="FFFCFF"/>
                </a:solidFill>
                <a:latin typeface="Cambria"/>
                <a:cs typeface="Cambria"/>
              </a:rPr>
              <a:t>10)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defRPr/>
            </a:pP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defRPr/>
            </a:pPr>
            <a:endParaRPr sz="1800">
              <a:latin typeface="Cambria"/>
              <a:cs typeface="Cambri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  <a:defRPr/>
            </a:pPr>
            <a:endParaRPr sz="1400">
              <a:latin typeface="Cambria"/>
              <a:cs typeface="Cambria"/>
            </a:endParaRPr>
          </a:p>
        </p:txBody>
      </p:sp>
      <p:sp>
        <p:nvSpPr>
          <p:cNvPr id="2120294209" name="object 4"/>
          <p:cNvSpPr txBox="1">
            <a:spLocks noGrp="1"/>
          </p:cNvSpPr>
          <p:nvPr>
            <p:ph type="title"/>
          </p:nvPr>
        </p:nvSpPr>
        <p:spPr bwMode="auto">
          <a:xfrm>
            <a:off x="1673351" y="1187196"/>
            <a:ext cx="8844280" cy="715010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66370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1309"/>
              </a:spcBef>
              <a:defRPr/>
            </a:pPr>
            <a:r>
              <a:rPr sz="2600">
                <a:solidFill>
                  <a:srgbClr val="FFFCFF"/>
                </a:solidFill>
              </a:rPr>
              <a:t>C</a:t>
            </a:r>
            <a:r>
              <a:rPr sz="2600" spc="-165">
                <a:solidFill>
                  <a:srgbClr val="FFFCFF"/>
                </a:solidFill>
              </a:rPr>
              <a:t> </a:t>
            </a:r>
            <a:r>
              <a:rPr sz="2600" spc="-35">
                <a:solidFill>
                  <a:srgbClr val="FFFCFF"/>
                </a:solidFill>
              </a:rPr>
              <a:t>SC</a:t>
            </a:r>
            <a:r>
              <a:rPr sz="2600" spc="-165">
                <a:solidFill>
                  <a:srgbClr val="FFFCFF"/>
                </a:solidFill>
              </a:rPr>
              <a:t> </a:t>
            </a:r>
            <a:r>
              <a:rPr sz="2600" spc="-100">
                <a:solidFill>
                  <a:srgbClr val="FFFCFF"/>
                </a:solidFill>
              </a:rPr>
              <a:t>-</a:t>
            </a:r>
            <a:r>
              <a:rPr sz="2600" spc="-150">
                <a:solidFill>
                  <a:srgbClr val="FFFCFF"/>
                </a:solidFill>
              </a:rPr>
              <a:t>210:</a:t>
            </a:r>
            <a:r>
              <a:rPr sz="2600" spc="-315">
                <a:solidFill>
                  <a:srgbClr val="FFFCFF"/>
                </a:solidFill>
              </a:rPr>
              <a:t> </a:t>
            </a:r>
            <a:r>
              <a:rPr sz="2600">
                <a:solidFill>
                  <a:srgbClr val="FFFCFF"/>
                </a:solidFill>
              </a:rPr>
              <a:t>Object</a:t>
            </a:r>
            <a:r>
              <a:rPr sz="2600" spc="-295">
                <a:solidFill>
                  <a:srgbClr val="FFFCFF"/>
                </a:solidFill>
              </a:rPr>
              <a:t> </a:t>
            </a:r>
            <a:r>
              <a:rPr sz="2600" spc="-30">
                <a:solidFill>
                  <a:srgbClr val="FFFCFF"/>
                </a:solidFill>
              </a:rPr>
              <a:t>Oriented</a:t>
            </a:r>
            <a:r>
              <a:rPr sz="2600" spc="75">
                <a:solidFill>
                  <a:srgbClr val="FFFCFF"/>
                </a:solidFill>
              </a:rPr>
              <a:t> </a:t>
            </a:r>
            <a:r>
              <a:rPr sz="2600" spc="-10">
                <a:solidFill>
                  <a:srgbClr val="FFFCFF"/>
                </a:solidFill>
              </a:rPr>
              <a:t>Programming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529399" name="object 2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7774593" name="object 3"/>
          <p:cNvSpPr/>
          <p:nvPr/>
        </p:nvSpPr>
        <p:spPr bwMode="auto"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 fill="norm" stroke="1" extrusionOk="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7176369" name="object 4"/>
          <p:cNvSpPr/>
          <p:nvPr/>
        </p:nvSpPr>
        <p:spPr bwMode="auto"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 fill="norm" stroke="1" extrusionOk="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84616646" name="object 5"/>
          <p:cNvSpPr/>
          <p:nvPr/>
        </p:nvSpPr>
        <p:spPr bwMode="auto"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 fill="norm" stroke="1" extrusionOk="0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47237507" name="object 6"/>
          <p:cNvSpPr/>
          <p:nvPr/>
        </p:nvSpPr>
        <p:spPr bwMode="auto"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 fill="norm" stroke="1" extrusionOk="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34100459" name="object 7"/>
          <p:cNvSpPr/>
          <p:nvPr/>
        </p:nvSpPr>
        <p:spPr bwMode="auto"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 fill="norm" stroke="1" extrusionOk="0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 fill="norm" stroke="1" extrusionOk="0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580631729" name="object 8"/>
          <p:cNvPicPr/>
          <p:nvPr/>
        </p:nvPicPr>
        <p:blipFill>
          <a:blip r:embed="rId3"/>
          <a:stretch/>
        </p:blipFill>
        <p:spPr bwMode="auto"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1371181101" name="object 9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 fill="norm" stroke="1" extrusionOk="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01010530" name="object 10"/>
          <p:cNvSpPr/>
          <p:nvPr/>
        </p:nvSpPr>
        <p:spPr bwMode="auto"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 fill="norm" stroke="1" extrusionOk="0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1049288" name="object 11"/>
          <p:cNvSpPr/>
          <p:nvPr/>
        </p:nvSpPr>
        <p:spPr bwMode="auto"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 fill="norm" stroke="1" extrusionOk="0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2908902" name="object 1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  <a:defRPr/>
            </a:pPr>
            <a:r>
              <a:rPr sz="4000" spc="-60">
                <a:solidFill>
                  <a:srgbClr val="FFFCFF"/>
                </a:solidFill>
                <a:latin typeface="Calibri Light"/>
                <a:cs typeface="Calibri Light"/>
              </a:rPr>
              <a:t>Inheritance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952542556" name="object 13"/>
          <p:cNvSpPr txBox="1"/>
          <p:nvPr/>
        </p:nvSpPr>
        <p:spPr bwMode="auto">
          <a:xfrm>
            <a:off x="5197855" y="1913635"/>
            <a:ext cx="5986780" cy="293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>
                <a:latin typeface="Cambria"/>
                <a:cs typeface="Cambria"/>
              </a:rPr>
              <a:t>The</a:t>
            </a:r>
            <a:r>
              <a:rPr sz="1800" spc="185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capability</a:t>
            </a:r>
            <a:r>
              <a:rPr sz="1800" spc="25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of</a:t>
            </a:r>
            <a:r>
              <a:rPr sz="1800" spc="15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a</a:t>
            </a:r>
            <a:r>
              <a:rPr sz="1800" spc="25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class</a:t>
            </a:r>
            <a:r>
              <a:rPr sz="1800" spc="254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to</a:t>
            </a:r>
            <a:r>
              <a:rPr sz="1800" spc="10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derive</a:t>
            </a:r>
            <a:r>
              <a:rPr sz="1800" spc="26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properties</a:t>
            </a:r>
            <a:r>
              <a:rPr sz="1800" spc="250">
                <a:latin typeface="Cambria"/>
                <a:cs typeface="Cambria"/>
              </a:rPr>
              <a:t> </a:t>
            </a:r>
            <a:r>
              <a:rPr sz="1800" spc="-25">
                <a:latin typeface="Cambria"/>
                <a:cs typeface="Cambria"/>
              </a:rPr>
              <a:t>and </a:t>
            </a:r>
            <a:r>
              <a:rPr sz="1800" spc="10">
                <a:latin typeface="Cambria"/>
                <a:cs typeface="Cambria"/>
              </a:rPr>
              <a:t>characteristics</a:t>
            </a:r>
            <a:r>
              <a:rPr sz="1800" spc="229">
                <a:latin typeface="Cambria"/>
                <a:cs typeface="Cambria"/>
              </a:rPr>
              <a:t> </a:t>
            </a:r>
            <a:r>
              <a:rPr sz="1800" spc="10">
                <a:latin typeface="Cambria"/>
                <a:cs typeface="Cambria"/>
              </a:rPr>
              <a:t>from</a:t>
            </a:r>
            <a:r>
              <a:rPr sz="1800" spc="155">
                <a:latin typeface="Cambria"/>
                <a:cs typeface="Cambria"/>
              </a:rPr>
              <a:t> </a:t>
            </a:r>
            <a:r>
              <a:rPr sz="1800" spc="10">
                <a:latin typeface="Cambria"/>
                <a:cs typeface="Cambria"/>
              </a:rPr>
              <a:t>another</a:t>
            </a:r>
            <a:r>
              <a:rPr sz="1800" spc="240">
                <a:latin typeface="Cambria"/>
                <a:cs typeface="Cambria"/>
              </a:rPr>
              <a:t> </a:t>
            </a:r>
            <a:r>
              <a:rPr sz="1800" spc="10">
                <a:latin typeface="Cambria"/>
                <a:cs typeface="Cambria"/>
              </a:rPr>
              <a:t>class</a:t>
            </a:r>
            <a:r>
              <a:rPr sz="1800" spc="210">
                <a:latin typeface="Cambria"/>
                <a:cs typeface="Cambria"/>
              </a:rPr>
              <a:t> </a:t>
            </a:r>
            <a:r>
              <a:rPr sz="1800" spc="10">
                <a:latin typeface="Cambria"/>
                <a:cs typeface="Cambria"/>
              </a:rPr>
              <a:t>is</a:t>
            </a:r>
            <a:r>
              <a:rPr sz="1800" spc="185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called</a:t>
            </a:r>
            <a:r>
              <a:rPr sz="1800" spc="275">
                <a:latin typeface="Cambria"/>
                <a:cs typeface="Cambria"/>
              </a:rPr>
              <a:t> </a:t>
            </a:r>
            <a:r>
              <a:rPr sz="1800" spc="40">
                <a:latin typeface="Cambria"/>
                <a:cs typeface="Cambria"/>
              </a:rPr>
              <a:t>Inheritance. </a:t>
            </a:r>
            <a:r>
              <a:rPr sz="1800" spc="45">
                <a:latin typeface="Cambria"/>
                <a:cs typeface="Cambria"/>
              </a:rPr>
              <a:t>Inheritance</a:t>
            </a:r>
            <a:r>
              <a:rPr sz="1800" spc="16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is</a:t>
            </a:r>
            <a:r>
              <a:rPr sz="1800" spc="135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one</a:t>
            </a:r>
            <a:r>
              <a:rPr sz="1800" spc="19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of</a:t>
            </a:r>
            <a:r>
              <a:rPr sz="1800" spc="13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the</a:t>
            </a:r>
            <a:r>
              <a:rPr sz="1800" spc="16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most</a:t>
            </a:r>
            <a:r>
              <a:rPr sz="1800" spc="15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important</a:t>
            </a:r>
            <a:r>
              <a:rPr sz="1800" spc="12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feature</a:t>
            </a:r>
            <a:r>
              <a:rPr sz="1800" spc="110">
                <a:latin typeface="Cambria"/>
                <a:cs typeface="Cambria"/>
              </a:rPr>
              <a:t> </a:t>
            </a:r>
            <a:r>
              <a:rPr sz="1800" spc="-25">
                <a:latin typeface="Cambria"/>
                <a:cs typeface="Cambria"/>
              </a:rPr>
              <a:t>of </a:t>
            </a:r>
            <a:r>
              <a:rPr sz="1800" spc="90">
                <a:latin typeface="Cambria"/>
                <a:cs typeface="Cambria"/>
              </a:rPr>
              <a:t>Object-</a:t>
            </a:r>
            <a:r>
              <a:rPr sz="1800" spc="75">
                <a:latin typeface="Cambria"/>
                <a:cs typeface="Cambria"/>
              </a:rPr>
              <a:t>Oriented</a:t>
            </a:r>
            <a:r>
              <a:rPr sz="1800" spc="135">
                <a:latin typeface="Cambria"/>
                <a:cs typeface="Cambria"/>
              </a:rPr>
              <a:t> </a:t>
            </a:r>
            <a:r>
              <a:rPr sz="1800" spc="-10">
                <a:latin typeface="Cambria"/>
                <a:cs typeface="Cambria"/>
              </a:rPr>
              <a:t>Programming.</a:t>
            </a:r>
            <a:endParaRPr sz="1800">
              <a:latin typeface="Cambria"/>
              <a:cs typeface="Cambria"/>
            </a:endParaRPr>
          </a:p>
          <a:p>
            <a:pPr marL="241300" marR="551815" indent="-228600">
              <a:lnSpc>
                <a:spcPct val="120000"/>
              </a:lnSpc>
              <a:spcBef>
                <a:spcPts val="994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b="1">
                <a:latin typeface="Cambria"/>
                <a:cs typeface="Cambria"/>
              </a:rPr>
              <a:t>Sub</a:t>
            </a:r>
            <a:r>
              <a:rPr sz="1800" b="1" spc="245">
                <a:latin typeface="Cambria"/>
                <a:cs typeface="Cambria"/>
              </a:rPr>
              <a:t> </a:t>
            </a:r>
            <a:r>
              <a:rPr sz="1800" b="1" spc="100">
                <a:latin typeface="Cambria"/>
                <a:cs typeface="Cambria"/>
              </a:rPr>
              <a:t>Class:</a:t>
            </a:r>
            <a:r>
              <a:rPr sz="1800" b="1" spc="50">
                <a:latin typeface="Cambria"/>
                <a:cs typeface="Cambria"/>
              </a:rPr>
              <a:t>  </a:t>
            </a:r>
            <a:r>
              <a:rPr sz="1800">
                <a:latin typeface="Cambria"/>
                <a:cs typeface="Cambria"/>
              </a:rPr>
              <a:t>The</a:t>
            </a:r>
            <a:r>
              <a:rPr sz="1800" spc="254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class</a:t>
            </a:r>
            <a:r>
              <a:rPr sz="1800" spc="29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that</a:t>
            </a:r>
            <a:r>
              <a:rPr sz="1800" spc="9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inherits</a:t>
            </a:r>
            <a:r>
              <a:rPr sz="1800" spc="20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properties</a:t>
            </a:r>
            <a:r>
              <a:rPr sz="1800" spc="310">
                <a:latin typeface="Cambria"/>
                <a:cs typeface="Cambria"/>
              </a:rPr>
              <a:t> </a:t>
            </a:r>
            <a:r>
              <a:rPr sz="1800" spc="-20">
                <a:latin typeface="Cambria"/>
                <a:cs typeface="Cambria"/>
              </a:rPr>
              <a:t>from </a:t>
            </a:r>
            <a:r>
              <a:rPr sz="1800">
                <a:latin typeface="Cambria"/>
                <a:cs typeface="Cambria"/>
              </a:rPr>
              <a:t>another</a:t>
            </a:r>
            <a:r>
              <a:rPr sz="1800" spc="229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class</a:t>
            </a:r>
            <a:r>
              <a:rPr sz="1800" spc="21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is</a:t>
            </a:r>
            <a:r>
              <a:rPr sz="1800" spc="18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called</a:t>
            </a:r>
            <a:r>
              <a:rPr sz="1800" spc="24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Sub</a:t>
            </a:r>
            <a:r>
              <a:rPr sz="1800" spc="26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class</a:t>
            </a:r>
            <a:r>
              <a:rPr sz="1800" spc="21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or</a:t>
            </a:r>
            <a:r>
              <a:rPr sz="1800" spc="185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Derived</a:t>
            </a:r>
            <a:r>
              <a:rPr sz="1800" spc="28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Class.</a:t>
            </a:r>
            <a:endParaRPr sz="1800">
              <a:latin typeface="Cambria"/>
              <a:cs typeface="Cambria"/>
            </a:endParaRPr>
          </a:p>
          <a:p>
            <a:pPr marL="241300" marR="50165" indent="-228600">
              <a:lnSpc>
                <a:spcPct val="118300"/>
              </a:lnSpc>
              <a:spcBef>
                <a:spcPts val="1250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1300" algn="l"/>
              </a:tabLst>
              <a:defRPr/>
            </a:pPr>
            <a:r>
              <a:rPr sz="1800" b="1">
                <a:latin typeface="Cambria"/>
                <a:cs typeface="Cambria"/>
              </a:rPr>
              <a:t>Super</a:t>
            </a:r>
            <a:r>
              <a:rPr sz="1800" b="1" spc="215">
                <a:latin typeface="Cambria"/>
                <a:cs typeface="Cambria"/>
              </a:rPr>
              <a:t> </a:t>
            </a:r>
            <a:r>
              <a:rPr sz="1800" b="1" spc="100">
                <a:latin typeface="Cambria"/>
                <a:cs typeface="Cambria"/>
              </a:rPr>
              <a:t>Class:</a:t>
            </a:r>
            <a:r>
              <a:rPr sz="1800" b="1" spc="23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The</a:t>
            </a:r>
            <a:r>
              <a:rPr sz="1800" spc="29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class</a:t>
            </a:r>
            <a:r>
              <a:rPr sz="1800" spc="254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whose</a:t>
            </a:r>
            <a:r>
              <a:rPr sz="1800" spc="29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properties</a:t>
            </a:r>
            <a:r>
              <a:rPr sz="1800" spc="29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are</a:t>
            </a:r>
            <a:r>
              <a:rPr sz="1800" spc="27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inherited </a:t>
            </a:r>
            <a:r>
              <a:rPr sz="1800">
                <a:latin typeface="Cambria"/>
                <a:cs typeface="Cambria"/>
              </a:rPr>
              <a:t>by</a:t>
            </a:r>
            <a:r>
              <a:rPr sz="1800" spc="25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sub</a:t>
            </a:r>
            <a:r>
              <a:rPr sz="1800" spc="229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class</a:t>
            </a:r>
            <a:r>
              <a:rPr sz="1800" spc="20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is</a:t>
            </a:r>
            <a:r>
              <a:rPr sz="1800" spc="17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called</a:t>
            </a:r>
            <a:r>
              <a:rPr sz="1800" spc="23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Base</a:t>
            </a:r>
            <a:r>
              <a:rPr sz="1800" spc="18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Class</a:t>
            </a:r>
            <a:r>
              <a:rPr sz="1800" spc="30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or</a:t>
            </a:r>
            <a:r>
              <a:rPr sz="1800" spc="17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Super</a:t>
            </a:r>
            <a:r>
              <a:rPr sz="1800" spc="240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class.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600913" name="object 2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41465402" name="object 3"/>
          <p:cNvSpPr/>
          <p:nvPr/>
        </p:nvSpPr>
        <p:spPr bwMode="auto"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 fill="norm" stroke="1" extrusionOk="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738948" name="object 4"/>
          <p:cNvSpPr/>
          <p:nvPr/>
        </p:nvSpPr>
        <p:spPr bwMode="auto"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 fill="norm" stroke="1" extrusionOk="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5135624" name="object 5"/>
          <p:cNvSpPr/>
          <p:nvPr/>
        </p:nvSpPr>
        <p:spPr bwMode="auto"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 fill="norm" stroke="1" extrusionOk="0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429024" name="object 6"/>
          <p:cNvSpPr/>
          <p:nvPr/>
        </p:nvSpPr>
        <p:spPr bwMode="auto"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 fill="norm" stroke="1" extrusionOk="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1040369" name="object 7"/>
          <p:cNvSpPr/>
          <p:nvPr/>
        </p:nvSpPr>
        <p:spPr bwMode="auto"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 fill="norm" stroke="1" extrusionOk="0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 fill="norm" stroke="1" extrusionOk="0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66457073" name="object 8"/>
          <p:cNvPicPr/>
          <p:nvPr/>
        </p:nvPicPr>
        <p:blipFill>
          <a:blip r:embed="rId3"/>
          <a:stretch/>
        </p:blipFill>
        <p:spPr bwMode="auto"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1402633145" name="object 9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 fill="norm" stroke="1" extrusionOk="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25138843" name="object 10"/>
          <p:cNvSpPr/>
          <p:nvPr/>
        </p:nvSpPr>
        <p:spPr bwMode="auto"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 fill="norm" stroke="1" extrusionOk="0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30273417" name="object 11"/>
          <p:cNvSpPr/>
          <p:nvPr/>
        </p:nvSpPr>
        <p:spPr bwMode="auto"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 fill="norm" stroke="1" extrusionOk="0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27389647" name="object 1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90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1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774065" marR="763905" indent="289560">
              <a:lnSpc>
                <a:spcPts val="4110"/>
              </a:lnSpc>
              <a:defRPr/>
            </a:pPr>
            <a:r>
              <a:rPr sz="4000" spc="-605">
                <a:solidFill>
                  <a:srgbClr val="FFFCFF"/>
                </a:solidFill>
                <a:latin typeface="Calibri Light"/>
                <a:cs typeface="Calibri Light"/>
              </a:rPr>
              <a:t>T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y</a:t>
            </a:r>
            <a:r>
              <a:rPr sz="4000" spc="-165">
                <a:solidFill>
                  <a:srgbClr val="FFFCFF"/>
                </a:solidFill>
                <a:latin typeface="Calibri Light"/>
                <a:cs typeface="Calibri Light"/>
              </a:rPr>
              <a:t>p</a:t>
            </a:r>
            <a:r>
              <a:rPr sz="4000" spc="-145">
                <a:solidFill>
                  <a:srgbClr val="FFFCFF"/>
                </a:solidFill>
                <a:latin typeface="Calibri Light"/>
                <a:cs typeface="Calibri Light"/>
              </a:rPr>
              <a:t>e</a:t>
            </a:r>
            <a:r>
              <a:rPr sz="4000" spc="-5">
                <a:solidFill>
                  <a:srgbClr val="FFFCFF"/>
                </a:solidFill>
                <a:latin typeface="Calibri Light"/>
                <a:cs typeface="Calibri Light"/>
              </a:rPr>
              <a:t>s</a:t>
            </a:r>
            <a:r>
              <a:rPr sz="4000" spc="-355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35">
                <a:solidFill>
                  <a:srgbClr val="FFFCFF"/>
                </a:solidFill>
                <a:latin typeface="Calibri Light"/>
                <a:cs typeface="Calibri Light"/>
              </a:rPr>
              <a:t>of </a:t>
            </a:r>
            <a:r>
              <a:rPr sz="4000" spc="-155">
                <a:solidFill>
                  <a:srgbClr val="FFFCFF"/>
                </a:solidFill>
                <a:latin typeface="Calibri Light"/>
                <a:cs typeface="Calibri Light"/>
              </a:rPr>
              <a:t>Inheritance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357603214" name="object 13"/>
          <p:cNvSpPr txBox="1"/>
          <p:nvPr/>
        </p:nvSpPr>
        <p:spPr bwMode="auto">
          <a:xfrm>
            <a:off x="5197855" y="1989961"/>
            <a:ext cx="3282315" cy="226123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60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 spc="65">
                <a:latin typeface="Cambria"/>
                <a:cs typeface="Cambria"/>
              </a:rPr>
              <a:t>Single</a:t>
            </a:r>
            <a:r>
              <a:rPr sz="1800" spc="105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Class</a:t>
            </a:r>
            <a:r>
              <a:rPr sz="1800" spc="16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>
                <a:latin typeface="Cambria"/>
                <a:cs typeface="Cambria"/>
              </a:rPr>
              <a:t>Hierarchal</a:t>
            </a:r>
            <a:r>
              <a:rPr sz="1800" spc="180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Class</a:t>
            </a:r>
            <a:r>
              <a:rPr sz="1800" spc="325">
                <a:latin typeface="Cambria"/>
                <a:cs typeface="Cambria"/>
              </a:rPr>
              <a:t> </a:t>
            </a:r>
            <a:r>
              <a:rPr sz="1800" spc="-10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39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>
                <a:latin typeface="Cambria"/>
                <a:cs typeface="Cambria"/>
              </a:rPr>
              <a:t>Multi-Level</a:t>
            </a:r>
            <a:r>
              <a:rPr sz="1800" spc="165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Class</a:t>
            </a:r>
            <a:r>
              <a:rPr sz="1800" spc="28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>
                <a:latin typeface="Cambria"/>
                <a:cs typeface="Cambria"/>
              </a:rPr>
              <a:t>Multiple</a:t>
            </a:r>
            <a:r>
              <a:rPr sz="1800" spc="235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Class</a:t>
            </a:r>
            <a:r>
              <a:rPr sz="1800" spc="345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  <a:defRPr/>
            </a:pPr>
            <a:r>
              <a:rPr sz="1800" spc="55">
                <a:latin typeface="Cambria"/>
                <a:cs typeface="Cambria"/>
              </a:rPr>
              <a:t>Hybrid</a:t>
            </a:r>
            <a:r>
              <a:rPr sz="1800" spc="155">
                <a:latin typeface="Cambria"/>
                <a:cs typeface="Cambria"/>
              </a:rPr>
              <a:t> </a:t>
            </a:r>
            <a:r>
              <a:rPr sz="1800" spc="75">
                <a:latin typeface="Cambria"/>
                <a:cs typeface="Cambria"/>
              </a:rPr>
              <a:t>Class</a:t>
            </a:r>
            <a:r>
              <a:rPr sz="1800" spc="150">
                <a:latin typeface="Cambria"/>
                <a:cs typeface="Cambria"/>
              </a:rPr>
              <a:t> </a:t>
            </a:r>
            <a:r>
              <a:rPr sz="1800" spc="35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759869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  <a:defRPr/>
            </a:pPr>
            <a:r>
              <a:rPr sz="4000" spc="-145">
                <a:solidFill>
                  <a:srgbClr val="FFFCFF"/>
                </a:solidFill>
                <a:latin typeface="Calibri Light"/>
                <a:cs typeface="Calibri Light"/>
              </a:rPr>
              <a:t>Single</a:t>
            </a:r>
            <a:r>
              <a:rPr sz="4000" spc="-305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655854922" name="object 3"/>
          <p:cNvSpPr/>
          <p:nvPr/>
        </p:nvSpPr>
        <p:spPr bwMode="auto">
          <a:xfrm>
            <a:off x="4668011" y="1888235"/>
            <a:ext cx="7251065" cy="923290"/>
          </a:xfrm>
          <a:custGeom>
            <a:avLst/>
            <a:gdLst/>
            <a:ahLst/>
            <a:cxnLst/>
            <a:rect l="l" t="t" r="r" b="b"/>
            <a:pathLst>
              <a:path w="7251065" h="923289" fill="norm" stroke="1" extrusionOk="0">
                <a:moveTo>
                  <a:pt x="7250684" y="0"/>
                </a:moveTo>
                <a:lnTo>
                  <a:pt x="0" y="0"/>
                </a:lnTo>
                <a:lnTo>
                  <a:pt x="0" y="923163"/>
                </a:lnTo>
                <a:lnTo>
                  <a:pt x="7250684" y="923163"/>
                </a:lnTo>
                <a:lnTo>
                  <a:pt x="7250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65777235" name="object 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77088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pc="75"/>
              <a:t>Single</a:t>
            </a:r>
            <a:r>
              <a:rPr spc="160"/>
              <a:t> </a:t>
            </a:r>
            <a:r>
              <a:rPr spc="45"/>
              <a:t>inheritance</a:t>
            </a:r>
            <a:r>
              <a:rPr spc="140"/>
              <a:t> </a:t>
            </a:r>
            <a:r>
              <a:rPr/>
              <a:t>is</a:t>
            </a:r>
            <a:r>
              <a:rPr spc="120"/>
              <a:t> </a:t>
            </a:r>
            <a:r>
              <a:rPr spc="60"/>
              <a:t>defined</a:t>
            </a:r>
            <a:r>
              <a:rPr spc="204"/>
              <a:t> </a:t>
            </a:r>
            <a:r>
              <a:rPr/>
              <a:t>as</a:t>
            </a:r>
            <a:r>
              <a:rPr spc="140"/>
              <a:t> </a:t>
            </a:r>
            <a:r>
              <a:rPr/>
              <a:t>the</a:t>
            </a:r>
            <a:r>
              <a:rPr spc="140"/>
              <a:t> </a:t>
            </a:r>
            <a:r>
              <a:rPr spc="50"/>
              <a:t>inheritance</a:t>
            </a:r>
            <a:r>
              <a:rPr spc="140"/>
              <a:t> </a:t>
            </a:r>
            <a:r>
              <a:rPr/>
              <a:t>in</a:t>
            </a:r>
            <a:r>
              <a:rPr spc="95"/>
              <a:t> </a:t>
            </a:r>
            <a:r>
              <a:rPr/>
              <a:t>which</a:t>
            </a:r>
            <a:r>
              <a:rPr spc="105"/>
              <a:t> </a:t>
            </a:r>
            <a:r>
              <a:rPr/>
              <a:t>a</a:t>
            </a:r>
            <a:r>
              <a:rPr spc="160"/>
              <a:t> </a:t>
            </a:r>
            <a:r>
              <a:rPr spc="50"/>
              <a:t>derived </a:t>
            </a:r>
            <a:r>
              <a:rPr/>
              <a:t>class</a:t>
            </a:r>
            <a:r>
              <a:rPr spc="170"/>
              <a:t> </a:t>
            </a:r>
            <a:r>
              <a:rPr/>
              <a:t>is</a:t>
            </a:r>
            <a:r>
              <a:rPr spc="135"/>
              <a:t> </a:t>
            </a:r>
            <a:r>
              <a:rPr spc="45"/>
              <a:t>inherited</a:t>
            </a:r>
            <a:r>
              <a:rPr spc="170"/>
              <a:t> </a:t>
            </a:r>
            <a:r>
              <a:rPr/>
              <a:t>from</a:t>
            </a:r>
            <a:r>
              <a:rPr spc="120"/>
              <a:t> </a:t>
            </a:r>
            <a:r>
              <a:rPr/>
              <a:t>the</a:t>
            </a:r>
            <a:r>
              <a:rPr spc="170"/>
              <a:t> </a:t>
            </a:r>
            <a:r>
              <a:rPr/>
              <a:t>only</a:t>
            </a:r>
            <a:r>
              <a:rPr spc="145"/>
              <a:t> </a:t>
            </a:r>
            <a:r>
              <a:rPr spc="55"/>
              <a:t>one</a:t>
            </a:r>
            <a:r>
              <a:rPr spc="190"/>
              <a:t> </a:t>
            </a:r>
            <a:r>
              <a:rPr spc="70"/>
              <a:t>base</a:t>
            </a:r>
            <a:r>
              <a:rPr spc="254"/>
              <a:t> </a:t>
            </a:r>
            <a:r>
              <a:rPr spc="50"/>
              <a:t>class.</a:t>
            </a:r>
            <a:endParaRPr/>
          </a:p>
        </p:txBody>
      </p:sp>
      <p:grpSp>
        <p:nvGrpSpPr>
          <p:cNvPr id="508291426" name="object 5"/>
          <p:cNvGrpSpPr/>
          <p:nvPr/>
        </p:nvGrpSpPr>
        <p:grpSpPr bwMode="auto">
          <a:xfrm>
            <a:off x="7629143" y="3189732"/>
            <a:ext cx="982980" cy="2714625"/>
            <a:chOff x="7629143" y="3189732"/>
            <a:chExt cx="982980" cy="2714625"/>
          </a:xfrm>
        </p:grpSpPr>
        <p:pic>
          <p:nvPicPr>
            <p:cNvPr id="6" name="object 6"/>
            <p:cNvPicPr/>
            <p:nvPr/>
          </p:nvPicPr>
          <p:blipFill>
            <a:blip r:embed="rId3"/>
            <a:stretch/>
          </p:blipFill>
          <p:spPr bwMode="auto">
            <a:xfrm>
              <a:off x="7629143" y="3189732"/>
              <a:ext cx="982979" cy="27142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 bwMode="auto">
            <a:xfrm>
              <a:off x="7900415" y="4191000"/>
              <a:ext cx="393065" cy="711835"/>
            </a:xfrm>
            <a:custGeom>
              <a:avLst/>
              <a:gdLst/>
              <a:ahLst/>
              <a:cxnLst/>
              <a:rect l="l" t="t" r="r" b="b"/>
              <a:pathLst>
                <a:path w="393065" h="711835" fill="norm" stroke="1" extrusionOk="0">
                  <a:moveTo>
                    <a:pt x="392683" y="0"/>
                  </a:moveTo>
                  <a:lnTo>
                    <a:pt x="0" y="0"/>
                  </a:lnTo>
                  <a:lnTo>
                    <a:pt x="0" y="711581"/>
                  </a:lnTo>
                  <a:lnTo>
                    <a:pt x="392683" y="711581"/>
                  </a:lnTo>
                  <a:lnTo>
                    <a:pt x="392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8073135" y="4249966"/>
              <a:ext cx="57150" cy="685165"/>
            </a:xfrm>
            <a:custGeom>
              <a:avLst/>
              <a:gdLst/>
              <a:ahLst/>
              <a:cxnLst/>
              <a:rect l="l" t="t" r="r" b="b"/>
              <a:pathLst>
                <a:path w="57150" h="685164" fill="norm" stroke="1" extrusionOk="0">
                  <a:moveTo>
                    <a:pt x="56896" y="0"/>
                  </a:moveTo>
                  <a:lnTo>
                    <a:pt x="0" y="0"/>
                  </a:lnTo>
                  <a:lnTo>
                    <a:pt x="0" y="684745"/>
                  </a:lnTo>
                  <a:lnTo>
                    <a:pt x="56896" y="684745"/>
                  </a:lnTo>
                  <a:lnTo>
                    <a:pt x="568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/>
            <a:stretch/>
          </p:blipFill>
          <p:spPr bwMode="auto">
            <a:xfrm>
              <a:off x="8016239" y="4107180"/>
              <a:ext cx="170687" cy="17132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154270" name="object 2"/>
          <p:cNvGrpSpPr/>
          <p:nvPr/>
        </p:nvGrpSpPr>
        <p:grpSpPr bwMode="auto">
          <a:xfrm>
            <a:off x="1164336" y="432816"/>
            <a:ext cx="248920" cy="167640"/>
            <a:chOff x="1164336" y="432816"/>
            <a:chExt cx="248920" cy="167640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1304544" y="432816"/>
              <a:ext cx="108203" cy="167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1164336" y="441960"/>
              <a:ext cx="114300" cy="158496"/>
            </a:xfrm>
            <a:prstGeom prst="rect">
              <a:avLst/>
            </a:prstGeom>
          </p:spPr>
        </p:pic>
      </p:grpSp>
      <p:pic>
        <p:nvPicPr>
          <p:cNvPr id="2105186411" name="object 5"/>
          <p:cNvPicPr/>
          <p:nvPr/>
        </p:nvPicPr>
        <p:blipFill>
          <a:blip r:embed="rId5"/>
          <a:stretch/>
        </p:blipFill>
        <p:spPr bwMode="auto">
          <a:xfrm>
            <a:off x="2371344" y="432816"/>
            <a:ext cx="108204" cy="167639"/>
          </a:xfrm>
          <a:prstGeom prst="rect">
            <a:avLst/>
          </a:prstGeom>
        </p:spPr>
      </p:pic>
      <p:pic>
        <p:nvPicPr>
          <p:cNvPr id="954491070" name="object 6"/>
          <p:cNvPicPr/>
          <p:nvPr/>
        </p:nvPicPr>
        <p:blipFill>
          <a:blip r:embed="rId6"/>
          <a:stretch/>
        </p:blipFill>
        <p:spPr bwMode="auto">
          <a:xfrm>
            <a:off x="1437132" y="707136"/>
            <a:ext cx="108203" cy="169163"/>
          </a:xfrm>
          <a:prstGeom prst="rect">
            <a:avLst/>
          </a:prstGeom>
        </p:spPr>
      </p:pic>
      <p:pic>
        <p:nvPicPr>
          <p:cNvPr id="1981821998" name="object 7"/>
          <p:cNvPicPr/>
          <p:nvPr/>
        </p:nvPicPr>
        <p:blipFill>
          <a:blip r:embed="rId6"/>
          <a:stretch/>
        </p:blipFill>
        <p:spPr bwMode="auto">
          <a:xfrm>
            <a:off x="1703831" y="1530096"/>
            <a:ext cx="108204" cy="169163"/>
          </a:xfrm>
          <a:prstGeom prst="rect">
            <a:avLst/>
          </a:prstGeom>
        </p:spPr>
      </p:pic>
      <p:pic>
        <p:nvPicPr>
          <p:cNvPr id="2138859187" name="object 8"/>
          <p:cNvPicPr/>
          <p:nvPr/>
        </p:nvPicPr>
        <p:blipFill>
          <a:blip r:embed="rId6"/>
          <a:stretch/>
        </p:blipFill>
        <p:spPr bwMode="auto">
          <a:xfrm>
            <a:off x="3837432" y="3176016"/>
            <a:ext cx="108203" cy="169163"/>
          </a:xfrm>
          <a:prstGeom prst="rect">
            <a:avLst/>
          </a:prstGeom>
        </p:spPr>
      </p:pic>
      <p:pic>
        <p:nvPicPr>
          <p:cNvPr id="2080853186" name="object 9"/>
          <p:cNvPicPr/>
          <p:nvPr/>
        </p:nvPicPr>
        <p:blipFill>
          <a:blip r:embed="rId6"/>
          <a:stretch/>
        </p:blipFill>
        <p:spPr bwMode="auto">
          <a:xfrm>
            <a:off x="1703831" y="3726179"/>
            <a:ext cx="108204" cy="167639"/>
          </a:xfrm>
          <a:prstGeom prst="rect">
            <a:avLst/>
          </a:prstGeom>
        </p:spPr>
      </p:pic>
      <p:pic>
        <p:nvPicPr>
          <p:cNvPr id="886056985" name="object 10"/>
          <p:cNvPicPr/>
          <p:nvPr/>
        </p:nvPicPr>
        <p:blipFill>
          <a:blip r:embed="rId6"/>
          <a:stretch/>
        </p:blipFill>
        <p:spPr bwMode="auto">
          <a:xfrm>
            <a:off x="1170432" y="5372100"/>
            <a:ext cx="108203" cy="167640"/>
          </a:xfrm>
          <a:prstGeom prst="rect">
            <a:avLst/>
          </a:prstGeom>
        </p:spPr>
      </p:pic>
      <p:pic>
        <p:nvPicPr>
          <p:cNvPr id="2033743956" name="object 11"/>
          <p:cNvPicPr/>
          <p:nvPr/>
        </p:nvPicPr>
        <p:blipFill>
          <a:blip r:embed="rId7"/>
          <a:stretch/>
        </p:blipFill>
        <p:spPr bwMode="auto">
          <a:xfrm>
            <a:off x="1970532" y="5372100"/>
            <a:ext cx="108204" cy="167640"/>
          </a:xfrm>
          <a:prstGeom prst="rect">
            <a:avLst/>
          </a:prstGeom>
        </p:spPr>
      </p:pic>
      <p:sp>
        <p:nvSpPr>
          <p:cNvPr id="13582772" name="object 12"/>
          <p:cNvSpPr txBox="1"/>
          <p:nvPr/>
        </p:nvSpPr>
        <p:spPr bwMode="auto">
          <a:xfrm>
            <a:off x="1141882" y="353695"/>
            <a:ext cx="26416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tabLst>
                <a:tab pos="413384" algn="l"/>
                <a:tab pos="812165" algn="l"/>
                <a:tab pos="2146300" algn="l"/>
              </a:tabLst>
              <a:defRPr/>
            </a:pP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5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240">
                <a:latin typeface="Trebuchet MS"/>
                <a:cs typeface="Trebuchet MS"/>
              </a:rPr>
              <a:t> </a:t>
            </a:r>
            <a:r>
              <a:rPr sz="1800" spc="95">
                <a:latin typeface="Trebuchet MS"/>
                <a:cs typeface="Trebuchet MS"/>
              </a:rPr>
              <a:t>td;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7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284732" name="object 13"/>
          <p:cNvSpPr txBox="1"/>
          <p:nvPr/>
        </p:nvSpPr>
        <p:spPr bwMode="auto">
          <a:xfrm>
            <a:off x="1599057" y="1725548"/>
            <a:ext cx="2188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Base()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</a:tabLst>
              <a:defRPr/>
            </a:pPr>
            <a:r>
              <a:rPr sz="1800" spc="8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14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87013602" name="object 14"/>
          <p:cNvSpPr txBox="1"/>
          <p:nvPr/>
        </p:nvSpPr>
        <p:spPr bwMode="auto">
          <a:xfrm>
            <a:off x="3923538" y="2274189"/>
            <a:ext cx="9220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29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33972083" name="object 15"/>
          <p:cNvSpPr txBox="1"/>
          <p:nvPr/>
        </p:nvSpPr>
        <p:spPr bwMode="auto">
          <a:xfrm>
            <a:off x="1141882" y="2823209"/>
            <a:ext cx="36048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812165" algn="l"/>
                <a:tab pos="2012314" algn="l"/>
                <a:tab pos="3079115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2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4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3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:</a:t>
            </a:r>
            <a:r>
              <a:rPr sz="1800" spc="-130"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-12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1800" spc="-12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b</a:t>
            </a:r>
            <a:r>
              <a:rPr sz="1800" spc="-12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12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32046722" name="object 16"/>
          <p:cNvSpPr txBox="1"/>
          <p:nvPr/>
        </p:nvSpPr>
        <p:spPr bwMode="auto">
          <a:xfrm>
            <a:off x="1599057" y="3920185"/>
            <a:ext cx="20497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05">
                <a:latin typeface="Trebuchet MS"/>
                <a:cs typeface="Trebuchet MS"/>
              </a:rPr>
              <a:t>Su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b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C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105">
                <a:latin typeface="Trebuchet MS"/>
                <a:cs typeface="Trebuchet MS"/>
              </a:rPr>
              <a:t>la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defRPr/>
            </a:pPr>
            <a:r>
              <a:rPr sz="1800" spc="140">
                <a:latin typeface="Trebuchet MS"/>
                <a:cs typeface="Trebuchet MS"/>
              </a:rPr>
              <a:t>cout</a:t>
            </a:r>
            <a:r>
              <a:rPr sz="1800" spc="14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spc="140">
                <a:solidFill>
                  <a:srgbClr val="A11515"/>
                </a:solidFill>
                <a:latin typeface="Trebuchet MS"/>
                <a:cs typeface="Trebuchet MS"/>
              </a:rPr>
              <a:t>"\</a:t>
            </a:r>
            <a:r>
              <a:rPr sz="1800" spc="-38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n</a:t>
            </a:r>
            <a:r>
              <a:rPr sz="1800" spc="-37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80">
                <a:solidFill>
                  <a:srgbClr val="A11515"/>
                </a:solidFill>
                <a:latin typeface="Trebuchet MS"/>
                <a:cs typeface="Trebuchet MS"/>
              </a:rPr>
              <a:t>Sub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61755001" name="object 17"/>
          <p:cNvSpPr txBox="1"/>
          <p:nvPr/>
        </p:nvSpPr>
        <p:spPr bwMode="auto">
          <a:xfrm>
            <a:off x="3789426" y="4469383"/>
            <a:ext cx="792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5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27620383" name="object 18"/>
          <p:cNvSpPr txBox="1"/>
          <p:nvPr/>
        </p:nvSpPr>
        <p:spPr bwMode="auto">
          <a:xfrm>
            <a:off x="1141882" y="5017719"/>
            <a:ext cx="13220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  <a:p>
            <a:pPr marL="146685">
              <a:lnSpc>
                <a:spcPct val="100000"/>
              </a:lnSpc>
              <a:spcBef>
                <a:spcPts val="5"/>
              </a:spcBef>
              <a:tabLst>
                <a:tab pos="545465" algn="l"/>
              </a:tabLst>
              <a:defRPr/>
            </a:pP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ma</a:t>
            </a:r>
            <a:r>
              <a:rPr sz="1800" spc="13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n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57218972" name="object 19"/>
          <p:cNvSpPr txBox="1"/>
          <p:nvPr/>
        </p:nvSpPr>
        <p:spPr bwMode="auto">
          <a:xfrm>
            <a:off x="1599057" y="5841288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2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4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38595007" name="object 20"/>
          <p:cNvSpPr txBox="1"/>
          <p:nvPr/>
        </p:nvSpPr>
        <p:spPr bwMode="auto">
          <a:xfrm>
            <a:off x="2799969" y="5841288"/>
            <a:ext cx="529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10">
                <a:latin typeface="Trebuchet MS"/>
                <a:cs typeface="Trebuchet MS"/>
              </a:rPr>
              <a:t>ob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j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95553482" name="object 21"/>
          <p:cNvSpPr txBox="1"/>
          <p:nvPr/>
        </p:nvSpPr>
        <p:spPr bwMode="auto">
          <a:xfrm>
            <a:off x="1141882" y="6115607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1346959" name="object 2"/>
          <p:cNvGrpSpPr/>
          <p:nvPr/>
        </p:nvGrpSpPr>
        <p:grpSpPr bwMode="auto">
          <a:xfrm>
            <a:off x="803147" y="548640"/>
            <a:ext cx="248920" cy="169545"/>
            <a:chOff x="803147" y="548640"/>
            <a:chExt cx="248920" cy="16954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944880" y="548640"/>
              <a:ext cx="106680" cy="1691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803147" y="557784"/>
              <a:ext cx="114300" cy="160020"/>
            </a:xfrm>
            <a:prstGeom prst="rect">
              <a:avLst/>
            </a:prstGeom>
          </p:spPr>
        </p:pic>
      </p:grpSp>
      <p:pic>
        <p:nvPicPr>
          <p:cNvPr id="1051209383" name="object 5"/>
          <p:cNvPicPr/>
          <p:nvPr/>
        </p:nvPicPr>
        <p:blipFill>
          <a:blip r:embed="rId5"/>
          <a:stretch/>
        </p:blipFill>
        <p:spPr bwMode="auto">
          <a:xfrm>
            <a:off x="2011679" y="548640"/>
            <a:ext cx="106680" cy="169163"/>
          </a:xfrm>
          <a:prstGeom prst="rect">
            <a:avLst/>
          </a:prstGeom>
        </p:spPr>
      </p:pic>
      <p:pic>
        <p:nvPicPr>
          <p:cNvPr id="1028768791" name="object 6"/>
          <p:cNvPicPr/>
          <p:nvPr/>
        </p:nvPicPr>
        <p:blipFill>
          <a:blip r:embed="rId6"/>
          <a:stretch/>
        </p:blipFill>
        <p:spPr bwMode="auto">
          <a:xfrm>
            <a:off x="1077467" y="822960"/>
            <a:ext cx="108203" cy="169163"/>
          </a:xfrm>
          <a:prstGeom prst="rect">
            <a:avLst/>
          </a:prstGeom>
        </p:spPr>
      </p:pic>
      <p:pic>
        <p:nvPicPr>
          <p:cNvPr id="1407035206" name="object 7"/>
          <p:cNvPicPr/>
          <p:nvPr/>
        </p:nvPicPr>
        <p:blipFill>
          <a:blip r:embed="rId6"/>
          <a:stretch/>
        </p:blipFill>
        <p:spPr bwMode="auto">
          <a:xfrm>
            <a:off x="1267967" y="1645920"/>
            <a:ext cx="106680" cy="169163"/>
          </a:xfrm>
          <a:prstGeom prst="rect">
            <a:avLst/>
          </a:prstGeom>
        </p:spPr>
      </p:pic>
      <p:pic>
        <p:nvPicPr>
          <p:cNvPr id="1241072933" name="object 8"/>
          <p:cNvPicPr/>
          <p:nvPr/>
        </p:nvPicPr>
        <p:blipFill>
          <a:blip r:embed="rId6"/>
          <a:stretch/>
        </p:blipFill>
        <p:spPr bwMode="auto">
          <a:xfrm>
            <a:off x="1344167" y="1920239"/>
            <a:ext cx="106680" cy="169163"/>
          </a:xfrm>
          <a:prstGeom prst="rect">
            <a:avLst/>
          </a:prstGeom>
        </p:spPr>
      </p:pic>
      <p:pic>
        <p:nvPicPr>
          <p:cNvPr id="1982057309" name="object 9"/>
          <p:cNvPicPr/>
          <p:nvPr/>
        </p:nvPicPr>
        <p:blipFill>
          <a:blip r:embed="rId6"/>
          <a:stretch/>
        </p:blipFill>
        <p:spPr bwMode="auto">
          <a:xfrm>
            <a:off x="1267967" y="2470404"/>
            <a:ext cx="106680" cy="167639"/>
          </a:xfrm>
          <a:prstGeom prst="rect">
            <a:avLst/>
          </a:prstGeom>
        </p:spPr>
      </p:pic>
      <p:pic>
        <p:nvPicPr>
          <p:cNvPr id="235405785" name="object 10"/>
          <p:cNvPicPr/>
          <p:nvPr/>
        </p:nvPicPr>
        <p:blipFill>
          <a:blip r:embed="rId6"/>
          <a:stretch/>
        </p:blipFill>
        <p:spPr bwMode="auto">
          <a:xfrm>
            <a:off x="2543555" y="3842003"/>
            <a:ext cx="106680" cy="167639"/>
          </a:xfrm>
          <a:prstGeom prst="rect">
            <a:avLst/>
          </a:prstGeom>
        </p:spPr>
      </p:pic>
      <p:pic>
        <p:nvPicPr>
          <p:cNvPr id="627728653" name="object 11"/>
          <p:cNvPicPr/>
          <p:nvPr/>
        </p:nvPicPr>
        <p:blipFill>
          <a:blip r:embed="rId6"/>
          <a:stretch/>
        </p:blipFill>
        <p:spPr bwMode="auto">
          <a:xfrm>
            <a:off x="1344167" y="4390644"/>
            <a:ext cx="106680" cy="167639"/>
          </a:xfrm>
          <a:prstGeom prst="rect">
            <a:avLst/>
          </a:prstGeom>
        </p:spPr>
      </p:pic>
      <p:pic>
        <p:nvPicPr>
          <p:cNvPr id="1280692436" name="object 12"/>
          <p:cNvPicPr/>
          <p:nvPr/>
        </p:nvPicPr>
        <p:blipFill>
          <a:blip r:embed="rId6"/>
          <a:stretch/>
        </p:blipFill>
        <p:spPr bwMode="auto">
          <a:xfrm>
            <a:off x="1534667" y="4664964"/>
            <a:ext cx="108204" cy="167639"/>
          </a:xfrm>
          <a:prstGeom prst="rect">
            <a:avLst/>
          </a:prstGeom>
        </p:spPr>
      </p:pic>
      <p:pic>
        <p:nvPicPr>
          <p:cNvPr id="2132704901" name="object 13"/>
          <p:cNvPicPr/>
          <p:nvPr/>
        </p:nvPicPr>
        <p:blipFill>
          <a:blip r:embed="rId7"/>
          <a:stretch/>
        </p:blipFill>
        <p:spPr bwMode="auto">
          <a:xfrm>
            <a:off x="2068067" y="4664964"/>
            <a:ext cx="106680" cy="167639"/>
          </a:xfrm>
          <a:prstGeom prst="rect">
            <a:avLst/>
          </a:prstGeom>
        </p:spPr>
      </p:pic>
      <p:sp>
        <p:nvSpPr>
          <p:cNvPr id="2034908157" name="object 14"/>
          <p:cNvSpPr txBox="1"/>
          <p:nvPr/>
        </p:nvSpPr>
        <p:spPr bwMode="auto">
          <a:xfrm>
            <a:off x="781304" y="469771"/>
            <a:ext cx="26409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tabLst>
                <a:tab pos="413384" algn="l"/>
                <a:tab pos="812165" algn="l"/>
                <a:tab pos="2145665" algn="l"/>
              </a:tabLst>
              <a:defRPr/>
            </a:pP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235">
                <a:latin typeface="Trebuchet MS"/>
                <a:cs typeface="Trebuchet MS"/>
              </a:rPr>
              <a:t> </a:t>
            </a:r>
            <a:r>
              <a:rPr sz="1800" spc="95">
                <a:latin typeface="Trebuchet MS"/>
                <a:cs typeface="Trebuchet MS"/>
              </a:rPr>
              <a:t>td;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82851099" name="object 15"/>
          <p:cNvSpPr txBox="1"/>
          <p:nvPr/>
        </p:nvSpPr>
        <p:spPr bwMode="auto">
          <a:xfrm>
            <a:off x="781304" y="1841753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4161547" name="object 16"/>
          <p:cNvSpPr txBox="1"/>
          <p:nvPr/>
        </p:nvSpPr>
        <p:spPr bwMode="auto">
          <a:xfrm>
            <a:off x="1372616" y="1566748"/>
            <a:ext cx="10934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  <a:tab pos="812165" algn="l"/>
              </a:tabLst>
              <a:defRPr/>
            </a:pP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90">
                <a:latin typeface="Trebuchet MS"/>
                <a:cs typeface="Trebuchet MS"/>
              </a:rPr>
              <a:t>a,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80">
                <a:latin typeface="Trebuchet MS"/>
                <a:cs typeface="Trebuchet MS"/>
              </a:rPr>
              <a:t>b; </a:t>
            </a:r>
            <a:endParaRPr sz="1800">
              <a:latin typeface="Trebuchet MS"/>
              <a:cs typeface="Trebuchet MS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7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94560866" name="object 17"/>
          <p:cNvSpPr txBox="1"/>
          <p:nvPr/>
        </p:nvSpPr>
        <p:spPr bwMode="auto">
          <a:xfrm>
            <a:off x="1238502" y="2116073"/>
            <a:ext cx="22599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0">
                <a:latin typeface="Trebuchet MS"/>
                <a:cs typeface="Trebuchet MS"/>
              </a:rPr>
              <a:t>A</a:t>
            </a:r>
            <a:r>
              <a:rPr sz="1800" spc="-29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)</a:t>
            </a:r>
            <a:r>
              <a:rPr sz="1800" spc="-28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: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a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1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0</a:t>
            </a:r>
            <a:r>
              <a:rPr sz="1800" spc="-27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)</a:t>
            </a:r>
            <a:r>
              <a:rPr sz="1800" spc="-28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,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b</a:t>
            </a:r>
            <a:r>
              <a:rPr sz="1800" spc="-27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2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0</a:t>
            </a:r>
            <a:r>
              <a:rPr sz="1800" spc="-27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)</a:t>
            </a:r>
            <a:r>
              <a:rPr sz="1800" spc="-28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{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46685">
              <a:lnSpc>
                <a:spcPct val="100000"/>
              </a:lnSpc>
              <a:tabLst>
                <a:tab pos="545465" algn="l"/>
              </a:tabLst>
              <a:defRPr/>
            </a:pP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35">
                <a:latin typeface="Trebuchet MS"/>
                <a:cs typeface="Trebuchet MS"/>
              </a:rPr>
              <a:t>add()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403985" algn="l"/>
                <a:tab pos="1670685" algn="l"/>
                <a:tab pos="1937384" algn="l"/>
              </a:tabLst>
              <a:defRPr/>
            </a:pPr>
            <a:r>
              <a:rPr sz="1800" spc="145">
                <a:solidFill>
                  <a:srgbClr val="0000FF"/>
                </a:solidFill>
                <a:latin typeface="Trebuchet MS"/>
                <a:cs typeface="Trebuchet MS"/>
              </a:rPr>
              <a:t>return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latin typeface="Trebuchet MS"/>
                <a:cs typeface="Trebuchet MS"/>
              </a:rPr>
              <a:t>a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50">
                <a:latin typeface="Trebuchet MS"/>
                <a:cs typeface="Trebuchet MS"/>
              </a:rPr>
              <a:t>+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85">
                <a:latin typeface="Trebuchet MS"/>
                <a:cs typeface="Trebuchet MS"/>
              </a:rPr>
              <a:t>b;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76065772" name="object 18"/>
          <p:cNvSpPr txBox="1"/>
          <p:nvPr/>
        </p:nvSpPr>
        <p:spPr bwMode="auto">
          <a:xfrm>
            <a:off x="1238502" y="3213608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75289592" name="object 19"/>
          <p:cNvSpPr txBox="1"/>
          <p:nvPr/>
        </p:nvSpPr>
        <p:spPr bwMode="auto">
          <a:xfrm>
            <a:off x="781304" y="3487928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72414662" name="object 20"/>
          <p:cNvSpPr txBox="1"/>
          <p:nvPr/>
        </p:nvSpPr>
        <p:spPr bwMode="auto">
          <a:xfrm>
            <a:off x="781304" y="3762247"/>
            <a:ext cx="22942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1078865" algn="l"/>
                <a:tab pos="1878964" algn="l"/>
                <a:tab pos="2145665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B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latin typeface="Trebuchet MS"/>
                <a:cs typeface="Trebuchet MS"/>
              </a:rPr>
              <a:t>: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99108186" name="object 21"/>
          <p:cNvSpPr txBox="1"/>
          <p:nvPr/>
        </p:nvSpPr>
        <p:spPr bwMode="auto">
          <a:xfrm>
            <a:off x="1238502" y="4585461"/>
            <a:ext cx="25634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  <a:tab pos="680085" algn="l"/>
                <a:tab pos="946785" algn="l"/>
              </a:tabLst>
              <a:defRPr/>
            </a:pPr>
            <a:r>
              <a:rPr sz="1800" spc="25">
                <a:solidFill>
                  <a:srgbClr val="0000FF"/>
                </a:solidFill>
                <a:latin typeface="Trebuchet MS"/>
                <a:cs typeface="Trebuchet MS"/>
              </a:rPr>
              <a:t>vo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latin typeface="Trebuchet MS"/>
                <a:cs typeface="Trebuchet MS"/>
              </a:rPr>
              <a:t>d</a:t>
            </a:r>
            <a:r>
              <a:rPr sz="1800">
                <a:latin typeface="Trebuchet MS"/>
                <a:cs typeface="Trebuchet MS"/>
              </a:rPr>
              <a:t>	s</a:t>
            </a:r>
            <a:r>
              <a:rPr sz="1800" spc="-26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p</a:t>
            </a:r>
            <a:r>
              <a:rPr sz="1800" spc="-26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l</a:t>
            </a:r>
            <a:r>
              <a:rPr sz="1800" spc="-27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a</a:t>
            </a:r>
            <a:r>
              <a:rPr sz="1800" spc="-26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y</a:t>
            </a:r>
            <a:r>
              <a:rPr sz="1800" spc="-28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</a:tabLst>
              <a:defRPr/>
            </a:pPr>
            <a:r>
              <a:rPr sz="1800" spc="80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7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2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2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nswe</a:t>
            </a:r>
            <a:r>
              <a:rPr sz="1800" spc="-27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>
                <a:solidFill>
                  <a:srgbClr val="A11515"/>
                </a:solidFill>
                <a:latin typeface="Trebuchet MS"/>
                <a:cs typeface="Trebuchet MS"/>
              </a:rPr>
              <a:t>r: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47392161" name="object 22"/>
          <p:cNvSpPr txBox="1"/>
          <p:nvPr/>
        </p:nvSpPr>
        <p:spPr bwMode="auto">
          <a:xfrm>
            <a:off x="3962146" y="5134102"/>
            <a:ext cx="1494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  <a:tab pos="680085" algn="l"/>
              </a:tabLst>
              <a:defRPr/>
            </a:pPr>
            <a:r>
              <a:rPr sz="1800" spc="-5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add</a:t>
            </a:r>
            <a:r>
              <a:rPr sz="1800" spc="-140">
                <a:latin typeface="Trebuchet MS"/>
                <a:cs typeface="Trebuchet MS"/>
              </a:rPr>
              <a:t> </a:t>
            </a:r>
            <a:r>
              <a:rPr sz="1800" spc="150">
                <a:latin typeface="Trebuchet MS"/>
                <a:cs typeface="Trebuchet MS"/>
              </a:rPr>
              <a:t>();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39551662" name="object 23"/>
          <p:cNvSpPr txBox="1"/>
          <p:nvPr/>
        </p:nvSpPr>
        <p:spPr bwMode="auto">
          <a:xfrm>
            <a:off x="781304" y="5683097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30568609" name="object 24"/>
          <p:cNvPicPr/>
          <p:nvPr/>
        </p:nvPicPr>
        <p:blipFill>
          <a:blip r:embed="rId6"/>
          <a:stretch/>
        </p:blipFill>
        <p:spPr bwMode="auto">
          <a:xfrm>
            <a:off x="6832092" y="2787395"/>
            <a:ext cx="106679" cy="169163"/>
          </a:xfrm>
          <a:prstGeom prst="rect">
            <a:avLst/>
          </a:prstGeom>
        </p:spPr>
      </p:pic>
      <p:pic>
        <p:nvPicPr>
          <p:cNvPr id="373371248" name="object 25"/>
          <p:cNvPicPr/>
          <p:nvPr/>
        </p:nvPicPr>
        <p:blipFill>
          <a:blip r:embed="rId7"/>
          <a:stretch/>
        </p:blipFill>
        <p:spPr bwMode="auto">
          <a:xfrm>
            <a:off x="7632192" y="2787395"/>
            <a:ext cx="108203" cy="169163"/>
          </a:xfrm>
          <a:prstGeom prst="rect">
            <a:avLst/>
          </a:prstGeom>
        </p:spPr>
      </p:pic>
      <p:sp>
        <p:nvSpPr>
          <p:cNvPr id="1239096282" name="object 26"/>
          <p:cNvSpPr txBox="1"/>
          <p:nvPr/>
        </p:nvSpPr>
        <p:spPr bwMode="auto">
          <a:xfrm>
            <a:off x="6936993" y="2709798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  <a:defRPr/>
            </a:pPr>
            <a:r>
              <a:rPr sz="1800" spc="-2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ma</a:t>
            </a:r>
            <a:r>
              <a:rPr sz="1800" spc="140">
                <a:latin typeface="Trebuchet MS"/>
                <a:cs typeface="Trebuchet MS"/>
              </a:rPr>
              <a:t> </a:t>
            </a:r>
            <a:r>
              <a:rPr sz="1800" spc="114">
                <a:latin typeface="Trebuchet MS"/>
                <a:cs typeface="Trebuchet MS"/>
              </a:rPr>
              <a:t>n()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48100892" name="object 27"/>
          <p:cNvSpPr txBox="1"/>
          <p:nvPr/>
        </p:nvSpPr>
        <p:spPr bwMode="auto">
          <a:xfrm>
            <a:off x="6803263" y="2984119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122140625" name="object 28"/>
          <p:cNvPicPr/>
          <p:nvPr/>
        </p:nvPicPr>
        <p:blipFill>
          <a:blip r:embed="rId7"/>
          <a:stretch/>
        </p:blipFill>
        <p:spPr bwMode="auto">
          <a:xfrm>
            <a:off x="7956804" y="3610355"/>
            <a:ext cx="108203" cy="169163"/>
          </a:xfrm>
          <a:prstGeom prst="rect">
            <a:avLst/>
          </a:prstGeom>
        </p:spPr>
      </p:pic>
      <p:sp>
        <p:nvSpPr>
          <p:cNvPr id="134853039" name="object 29"/>
          <p:cNvSpPr txBox="1"/>
          <p:nvPr/>
        </p:nvSpPr>
        <p:spPr bwMode="auto">
          <a:xfrm>
            <a:off x="7260462" y="3258439"/>
            <a:ext cx="1706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</a:tabLst>
              <a:defRPr/>
            </a:pP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B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110">
                <a:latin typeface="Trebuchet MS"/>
                <a:cs typeface="Trebuchet MS"/>
              </a:rPr>
              <a:t>ob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j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>
                <a:latin typeface="Trebuchet MS"/>
                <a:cs typeface="Trebuchet MS"/>
              </a:rPr>
              <a:t>obj</a:t>
            </a:r>
            <a:r>
              <a:rPr sz="1800" spc="-1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.</a:t>
            </a:r>
            <a:r>
              <a:rPr sz="1800" spc="-130">
                <a:latin typeface="Trebuchet MS"/>
                <a:cs typeface="Trebuchet MS"/>
              </a:rPr>
              <a:t> </a:t>
            </a:r>
            <a:r>
              <a:rPr sz="1800" spc="125">
                <a:latin typeface="Trebuchet MS"/>
                <a:cs typeface="Trebuchet MS"/>
              </a:rPr>
              <a:t>dspla</a:t>
            </a:r>
            <a:r>
              <a:rPr sz="1800" spc="-114">
                <a:latin typeface="Trebuchet MS"/>
                <a:cs typeface="Trebuchet MS"/>
              </a:rPr>
              <a:t> </a:t>
            </a:r>
            <a:r>
              <a:rPr sz="1800" spc="55">
                <a:latin typeface="Trebuchet MS"/>
                <a:cs typeface="Trebuchet MS"/>
              </a:rPr>
              <a:t>y(</a:t>
            </a:r>
            <a:r>
              <a:rPr sz="1800" spc="-1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)</a:t>
            </a:r>
            <a:r>
              <a:rPr sz="1800" spc="-13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6735141" name="object 30"/>
          <p:cNvSpPr txBox="1"/>
          <p:nvPr/>
        </p:nvSpPr>
        <p:spPr bwMode="auto">
          <a:xfrm>
            <a:off x="6803263" y="3807332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03094" name="object 2"/>
          <p:cNvSpPr txBox="1"/>
          <p:nvPr/>
        </p:nvSpPr>
        <p:spPr bwMode="auto">
          <a:xfrm>
            <a:off x="806194" y="2275331"/>
            <a:ext cx="3670914" cy="2354940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90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1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1368425" marR="783590" indent="-576580">
              <a:lnSpc>
                <a:spcPts val="4110"/>
              </a:lnSpc>
              <a:defRPr/>
            </a:pPr>
            <a:r>
              <a:rPr sz="4000" spc="-165">
                <a:solidFill>
                  <a:srgbClr val="FFFCFF"/>
                </a:solidFill>
                <a:latin typeface="Calibri Light"/>
                <a:cs typeface="Calibri Light"/>
              </a:rPr>
              <a:t>Multi-</a:t>
            </a:r>
            <a:r>
              <a:rPr sz="4000" spc="-150">
                <a:solidFill>
                  <a:srgbClr val="FFFCFF"/>
                </a:solidFill>
                <a:latin typeface="Calibri Light"/>
                <a:cs typeface="Calibri Light"/>
              </a:rPr>
              <a:t>Level </a:t>
            </a:r>
            <a:r>
              <a:rPr sz="4000" spc="-1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83011466" name="object 3"/>
          <p:cNvSpPr/>
          <p:nvPr/>
        </p:nvSpPr>
        <p:spPr bwMode="auto">
          <a:xfrm>
            <a:off x="4668011" y="1824227"/>
            <a:ext cx="7251065" cy="646430"/>
          </a:xfrm>
          <a:custGeom>
            <a:avLst/>
            <a:gdLst/>
            <a:ahLst/>
            <a:cxnLst/>
            <a:rect l="l" t="t" r="r" b="b"/>
            <a:pathLst>
              <a:path w="7251065" h="646430" fill="norm" stroke="1" extrusionOk="0">
                <a:moveTo>
                  <a:pt x="7250684" y="0"/>
                </a:moveTo>
                <a:lnTo>
                  <a:pt x="0" y="0"/>
                </a:lnTo>
                <a:lnTo>
                  <a:pt x="0" y="645922"/>
                </a:lnTo>
                <a:lnTo>
                  <a:pt x="7250684" y="645922"/>
                </a:lnTo>
                <a:lnTo>
                  <a:pt x="7250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46706119" name="object 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Multilevel</a:t>
            </a:r>
            <a:r>
              <a:rPr spc="215"/>
              <a:t> </a:t>
            </a:r>
            <a:r>
              <a:rPr spc="45"/>
              <a:t>inheritance</a:t>
            </a:r>
            <a:r>
              <a:rPr spc="175"/>
              <a:t> </a:t>
            </a:r>
            <a:r>
              <a:rPr/>
              <a:t>is</a:t>
            </a:r>
            <a:r>
              <a:rPr spc="160"/>
              <a:t> </a:t>
            </a:r>
            <a:r>
              <a:rPr/>
              <a:t>a</a:t>
            </a:r>
            <a:r>
              <a:rPr spc="204"/>
              <a:t> </a:t>
            </a:r>
            <a:r>
              <a:rPr spc="50"/>
              <a:t>process</a:t>
            </a:r>
            <a:r>
              <a:rPr spc="200"/>
              <a:t> </a:t>
            </a:r>
            <a:r>
              <a:rPr/>
              <a:t>of</a:t>
            </a:r>
            <a:r>
              <a:rPr spc="150"/>
              <a:t> </a:t>
            </a:r>
            <a:r>
              <a:rPr spc="65"/>
              <a:t>deriving</a:t>
            </a:r>
            <a:r>
              <a:rPr spc="180"/>
              <a:t> </a:t>
            </a:r>
            <a:r>
              <a:rPr/>
              <a:t>a</a:t>
            </a:r>
            <a:r>
              <a:rPr spc="190"/>
              <a:t> </a:t>
            </a:r>
            <a:r>
              <a:rPr/>
              <a:t>class</a:t>
            </a:r>
            <a:r>
              <a:rPr spc="165"/>
              <a:t> </a:t>
            </a:r>
            <a:r>
              <a:rPr/>
              <a:t>from</a:t>
            </a:r>
            <a:r>
              <a:rPr spc="155"/>
              <a:t> </a:t>
            </a:r>
            <a:r>
              <a:rPr spc="-10"/>
              <a:t>another </a:t>
            </a:r>
            <a:r>
              <a:rPr spc="60"/>
              <a:t>derived</a:t>
            </a:r>
            <a:r>
              <a:rPr spc="180"/>
              <a:t> </a:t>
            </a:r>
            <a:r>
              <a:rPr spc="50"/>
              <a:t>class.</a:t>
            </a:r>
            <a:endParaRPr/>
          </a:p>
        </p:txBody>
      </p:sp>
      <p:pic>
        <p:nvPicPr>
          <p:cNvPr id="1437716019" name="object 5"/>
          <p:cNvPicPr/>
          <p:nvPr/>
        </p:nvPicPr>
        <p:blipFill>
          <a:blip r:embed="rId3"/>
          <a:stretch/>
        </p:blipFill>
        <p:spPr bwMode="auto">
          <a:xfrm>
            <a:off x="6449567" y="2551175"/>
            <a:ext cx="2709672" cy="3672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3854875" name="object 2"/>
          <p:cNvGrpSpPr/>
          <p:nvPr/>
        </p:nvGrpSpPr>
        <p:grpSpPr bwMode="auto">
          <a:xfrm>
            <a:off x="661416" y="696468"/>
            <a:ext cx="248920" cy="167640"/>
            <a:chOff x="661416" y="696468"/>
            <a:chExt cx="248920" cy="167640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801624" y="696468"/>
              <a:ext cx="108204" cy="167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661416" y="705611"/>
              <a:ext cx="114300" cy="158496"/>
            </a:xfrm>
            <a:prstGeom prst="rect">
              <a:avLst/>
            </a:prstGeom>
          </p:spPr>
        </p:pic>
      </p:grpSp>
      <p:pic>
        <p:nvPicPr>
          <p:cNvPr id="1747258883" name="object 5"/>
          <p:cNvPicPr/>
          <p:nvPr/>
        </p:nvPicPr>
        <p:blipFill>
          <a:blip r:embed="rId5"/>
          <a:stretch/>
        </p:blipFill>
        <p:spPr bwMode="auto">
          <a:xfrm>
            <a:off x="1869948" y="696468"/>
            <a:ext cx="106680" cy="167639"/>
          </a:xfrm>
          <a:prstGeom prst="rect">
            <a:avLst/>
          </a:prstGeom>
        </p:spPr>
      </p:pic>
      <p:pic>
        <p:nvPicPr>
          <p:cNvPr id="289056639" name="object 6"/>
          <p:cNvPicPr/>
          <p:nvPr/>
        </p:nvPicPr>
        <p:blipFill>
          <a:blip r:embed="rId6"/>
          <a:stretch/>
        </p:blipFill>
        <p:spPr bwMode="auto">
          <a:xfrm>
            <a:off x="935736" y="970788"/>
            <a:ext cx="108203" cy="169163"/>
          </a:xfrm>
          <a:prstGeom prst="rect">
            <a:avLst/>
          </a:prstGeom>
        </p:spPr>
      </p:pic>
      <p:pic>
        <p:nvPicPr>
          <p:cNvPr id="1026665789" name="object 7"/>
          <p:cNvPicPr/>
          <p:nvPr/>
        </p:nvPicPr>
        <p:blipFill>
          <a:blip r:embed="rId6"/>
          <a:stretch/>
        </p:blipFill>
        <p:spPr bwMode="auto">
          <a:xfrm>
            <a:off x="1202436" y="1793748"/>
            <a:ext cx="108203" cy="169163"/>
          </a:xfrm>
          <a:prstGeom prst="rect">
            <a:avLst/>
          </a:prstGeom>
        </p:spPr>
      </p:pic>
      <p:pic>
        <p:nvPicPr>
          <p:cNvPr id="554477275" name="object 8"/>
          <p:cNvPicPr/>
          <p:nvPr/>
        </p:nvPicPr>
        <p:blipFill>
          <a:blip r:embed="rId6"/>
          <a:stretch/>
        </p:blipFill>
        <p:spPr bwMode="auto">
          <a:xfrm>
            <a:off x="3468623" y="3439666"/>
            <a:ext cx="108203" cy="169164"/>
          </a:xfrm>
          <a:prstGeom prst="rect">
            <a:avLst/>
          </a:prstGeom>
        </p:spPr>
      </p:pic>
      <p:pic>
        <p:nvPicPr>
          <p:cNvPr id="545043579" name="object 9"/>
          <p:cNvPicPr/>
          <p:nvPr/>
        </p:nvPicPr>
        <p:blipFill>
          <a:blip r:embed="rId6"/>
          <a:stretch/>
        </p:blipFill>
        <p:spPr bwMode="auto">
          <a:xfrm>
            <a:off x="1202436" y="3989832"/>
            <a:ext cx="108203" cy="167639"/>
          </a:xfrm>
          <a:prstGeom prst="rect">
            <a:avLst/>
          </a:prstGeom>
        </p:spPr>
      </p:pic>
      <p:sp>
        <p:nvSpPr>
          <p:cNvPr id="420036477" name="object 10"/>
          <p:cNvSpPr txBox="1"/>
          <p:nvPr/>
        </p:nvSpPr>
        <p:spPr bwMode="auto">
          <a:xfrm>
            <a:off x="639267" y="617346"/>
            <a:ext cx="2641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14655" algn="l"/>
                <a:tab pos="812165" algn="l"/>
                <a:tab pos="2145665" algn="l"/>
              </a:tabLst>
              <a:defRPr/>
            </a:pP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229">
                <a:latin typeface="Trebuchet MS"/>
                <a:cs typeface="Trebuchet MS"/>
              </a:rPr>
              <a:t> </a:t>
            </a:r>
            <a:r>
              <a:rPr sz="1800" spc="95">
                <a:latin typeface="Trebuchet MS"/>
                <a:cs typeface="Trebuchet MS"/>
              </a:rPr>
              <a:t>td;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43135512" name="object 11"/>
          <p:cNvSpPr txBox="1"/>
          <p:nvPr/>
        </p:nvSpPr>
        <p:spPr bwMode="auto">
          <a:xfrm>
            <a:off x="639267" y="1165986"/>
            <a:ext cx="1343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60044499" name="object 12"/>
          <p:cNvSpPr txBox="1"/>
          <p:nvPr/>
        </p:nvSpPr>
        <p:spPr bwMode="auto">
          <a:xfrm>
            <a:off x="1096467" y="1989201"/>
            <a:ext cx="2188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Base()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</a:tabLst>
              <a:defRPr/>
            </a:pPr>
            <a:r>
              <a:rPr sz="1800" spc="8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14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4288540" name="object 13"/>
          <p:cNvSpPr txBox="1"/>
          <p:nvPr/>
        </p:nvSpPr>
        <p:spPr bwMode="auto">
          <a:xfrm>
            <a:off x="3420871" y="2537536"/>
            <a:ext cx="92201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3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2246386" name="object 14"/>
          <p:cNvSpPr txBox="1"/>
          <p:nvPr/>
        </p:nvSpPr>
        <p:spPr bwMode="auto">
          <a:xfrm>
            <a:off x="639267" y="308686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35807880" name="object 15"/>
          <p:cNvSpPr txBox="1"/>
          <p:nvPr/>
        </p:nvSpPr>
        <p:spPr bwMode="auto">
          <a:xfrm>
            <a:off x="639267" y="3361182"/>
            <a:ext cx="37433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5665" algn="l"/>
                <a:tab pos="2946400" algn="l"/>
                <a:tab pos="3213100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5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1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latin typeface="Trebuchet MS"/>
                <a:cs typeface="Trebuchet MS"/>
              </a:rPr>
              <a:t>: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  <a:defRPr/>
            </a:pPr>
            <a:r>
              <a:rPr sz="1800" spc="10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47434985" name="object 16"/>
          <p:cNvSpPr txBox="1"/>
          <p:nvPr/>
        </p:nvSpPr>
        <p:spPr bwMode="auto">
          <a:xfrm>
            <a:off x="1096467" y="4184395"/>
            <a:ext cx="3633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35">
                <a:latin typeface="Trebuchet MS"/>
                <a:cs typeface="Trebuchet MS"/>
              </a:rPr>
              <a:t>Sub</a:t>
            </a:r>
            <a:r>
              <a:rPr sz="1800" spc="-325">
                <a:latin typeface="Trebuchet MS"/>
                <a:cs typeface="Trebuchet MS"/>
              </a:rPr>
              <a:t> </a:t>
            </a:r>
            <a:r>
              <a:rPr sz="1800" spc="170">
                <a:latin typeface="Trebuchet MS"/>
                <a:cs typeface="Trebuchet MS"/>
              </a:rPr>
              <a:t>Class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1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469515" algn="l"/>
                <a:tab pos="3269615" algn="l"/>
              </a:tabLst>
              <a:defRPr/>
            </a:pPr>
            <a:r>
              <a:rPr sz="1800" spc="7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>
                <a:solidFill>
                  <a:srgbClr val="A11515"/>
                </a:solidFill>
                <a:latin typeface="Trebuchet MS"/>
                <a:cs typeface="Trebuchet MS"/>
              </a:rPr>
              <a:t>nSub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0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70">
                <a:solidFill>
                  <a:srgbClr val="A11515"/>
                </a:solidFill>
                <a:latin typeface="Trebuchet MS"/>
                <a:cs typeface="Trebuchet MS"/>
              </a:rPr>
              <a:t>la</a:t>
            </a:r>
            <a:r>
              <a:rPr sz="1800" spc="-29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65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1"</a:t>
            </a:r>
            <a:r>
              <a:rPr sz="1800" spc="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19035201" name="object 17"/>
          <p:cNvSpPr txBox="1"/>
          <p:nvPr/>
        </p:nvSpPr>
        <p:spPr bwMode="auto">
          <a:xfrm>
            <a:off x="639267" y="528192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305748031" name="object 18"/>
          <p:cNvPicPr/>
          <p:nvPr/>
        </p:nvPicPr>
        <p:blipFill>
          <a:blip r:embed="rId6"/>
          <a:stretch/>
        </p:blipFill>
        <p:spPr bwMode="auto">
          <a:xfrm>
            <a:off x="9243058" y="1424939"/>
            <a:ext cx="106679" cy="167639"/>
          </a:xfrm>
          <a:prstGeom prst="rect">
            <a:avLst/>
          </a:prstGeom>
        </p:spPr>
      </p:pic>
      <p:pic>
        <p:nvPicPr>
          <p:cNvPr id="575118962" name="object 19"/>
          <p:cNvPicPr/>
          <p:nvPr/>
        </p:nvPicPr>
        <p:blipFill>
          <a:blip r:embed="rId6"/>
          <a:stretch/>
        </p:blipFill>
        <p:spPr bwMode="auto">
          <a:xfrm>
            <a:off x="6976871" y="1973579"/>
            <a:ext cx="106679" cy="167639"/>
          </a:xfrm>
          <a:prstGeom prst="rect">
            <a:avLst/>
          </a:prstGeom>
        </p:spPr>
      </p:pic>
      <p:pic>
        <p:nvPicPr>
          <p:cNvPr id="345056505" name="object 20"/>
          <p:cNvPicPr/>
          <p:nvPr/>
        </p:nvPicPr>
        <p:blipFill>
          <a:blip r:embed="rId6"/>
          <a:stretch/>
        </p:blipFill>
        <p:spPr bwMode="auto">
          <a:xfrm>
            <a:off x="6441947" y="3619500"/>
            <a:ext cx="108203" cy="169163"/>
          </a:xfrm>
          <a:prstGeom prst="rect">
            <a:avLst/>
          </a:prstGeom>
        </p:spPr>
      </p:pic>
      <p:pic>
        <p:nvPicPr>
          <p:cNvPr id="417384171" name="object 21"/>
          <p:cNvPicPr/>
          <p:nvPr/>
        </p:nvPicPr>
        <p:blipFill>
          <a:blip r:embed="rId7"/>
          <a:stretch/>
        </p:blipFill>
        <p:spPr bwMode="auto">
          <a:xfrm>
            <a:off x="7242047" y="3619500"/>
            <a:ext cx="108203" cy="169163"/>
          </a:xfrm>
          <a:prstGeom prst="rect">
            <a:avLst/>
          </a:prstGeom>
        </p:spPr>
      </p:pic>
      <p:sp>
        <p:nvSpPr>
          <p:cNvPr id="167502439" name="object 22"/>
          <p:cNvSpPr txBox="1"/>
          <p:nvPr/>
        </p:nvSpPr>
        <p:spPr bwMode="auto">
          <a:xfrm>
            <a:off x="6414261" y="1345438"/>
            <a:ext cx="44100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6300" algn="l"/>
                <a:tab pos="2945130" algn="l"/>
                <a:tab pos="3211830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11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31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9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ss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SubCl</a:t>
            </a:r>
            <a:r>
              <a:rPr sz="1800" spc="114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2B91AD"/>
                </a:solidFill>
                <a:latin typeface="Trebuchet MS"/>
                <a:cs typeface="Trebuchet MS"/>
              </a:rPr>
              <a:t>a</a:t>
            </a:r>
            <a:r>
              <a:rPr sz="1800" spc="-22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00">
                <a:solidFill>
                  <a:srgbClr val="2B91AD"/>
                </a:solidFill>
                <a:latin typeface="Trebuchet MS"/>
                <a:cs typeface="Trebuchet MS"/>
              </a:rPr>
              <a:t>ss2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latin typeface="Trebuchet MS"/>
                <a:cs typeface="Trebuchet MS"/>
              </a:rPr>
              <a:t>:</a:t>
            </a:r>
            <a:r>
              <a:rPr sz="1800" spc="-160">
                <a:latin typeface="Trebuchet MS"/>
                <a:cs typeface="Trebuchet MS"/>
              </a:rPr>
              <a:t> </a:t>
            </a:r>
            <a:r>
              <a:rPr sz="1800" spc="7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5">
                <a:solidFill>
                  <a:srgbClr val="2B91AD"/>
                </a:solidFill>
                <a:latin typeface="Trebuchet MS"/>
                <a:cs typeface="Trebuchet MS"/>
              </a:rPr>
              <a:t>SubCla</a:t>
            </a:r>
            <a:r>
              <a:rPr sz="1800" spc="-14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s</a:t>
            </a:r>
            <a:r>
              <a:rPr sz="1800" spc="-21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s</a:t>
            </a:r>
            <a:r>
              <a:rPr sz="1800" spc="-229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83279461" name="object 23"/>
          <p:cNvSpPr txBox="1"/>
          <p:nvPr/>
        </p:nvSpPr>
        <p:spPr bwMode="auto">
          <a:xfrm>
            <a:off x="6871461" y="2168778"/>
            <a:ext cx="1459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35">
                <a:latin typeface="Trebuchet MS"/>
                <a:cs typeface="Trebuchet MS"/>
              </a:rPr>
              <a:t>Sub</a:t>
            </a:r>
            <a:r>
              <a:rPr sz="1800" spc="-325">
                <a:latin typeface="Trebuchet MS"/>
                <a:cs typeface="Trebuchet MS"/>
              </a:rPr>
              <a:t> </a:t>
            </a:r>
            <a:r>
              <a:rPr sz="1800" spc="170">
                <a:latin typeface="Trebuchet MS"/>
                <a:cs typeface="Trebuchet MS"/>
              </a:rPr>
              <a:t>Class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2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76294610" name="object 24"/>
          <p:cNvSpPr txBox="1"/>
          <p:nvPr/>
        </p:nvSpPr>
        <p:spPr bwMode="auto">
          <a:xfrm>
            <a:off x="7328661" y="2717419"/>
            <a:ext cx="3187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0085" algn="l"/>
                <a:tab pos="1079500" algn="l"/>
                <a:tab pos="2012314" algn="l"/>
                <a:tab pos="2812415" algn="l"/>
              </a:tabLst>
              <a:defRPr/>
            </a:pPr>
            <a:r>
              <a:rPr sz="1800" spc="8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3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3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n</a:t>
            </a:r>
            <a:r>
              <a:rPr sz="1800" spc="-34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00">
                <a:solidFill>
                  <a:srgbClr val="A11515"/>
                </a:solidFill>
                <a:latin typeface="Trebuchet MS"/>
                <a:cs typeface="Trebuchet MS"/>
              </a:rPr>
              <a:t>Sub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30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31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30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30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150">
                <a:solidFill>
                  <a:srgbClr val="A11515"/>
                </a:solidFill>
                <a:latin typeface="Trebuchet MS"/>
                <a:cs typeface="Trebuchet MS"/>
              </a:rPr>
              <a:t>2"</a:t>
            </a:r>
            <a:r>
              <a:rPr sz="1800" spc="-21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26368644" name="object 25"/>
          <p:cNvSpPr txBox="1"/>
          <p:nvPr/>
        </p:nvSpPr>
        <p:spPr bwMode="auto">
          <a:xfrm>
            <a:off x="6871461" y="2991434"/>
            <a:ext cx="109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6969975" name="object 26"/>
          <p:cNvSpPr txBox="1"/>
          <p:nvPr/>
        </p:nvSpPr>
        <p:spPr bwMode="auto">
          <a:xfrm>
            <a:off x="6414261" y="326631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1554890" name="object 27"/>
          <p:cNvSpPr txBox="1"/>
          <p:nvPr/>
        </p:nvSpPr>
        <p:spPr bwMode="auto">
          <a:xfrm>
            <a:off x="6548373" y="3540632"/>
            <a:ext cx="118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  <a:defRPr/>
            </a:pP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ma</a:t>
            </a:r>
            <a:r>
              <a:rPr sz="1800" spc="13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n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49956199" name="object 28"/>
          <p:cNvSpPr txBox="1"/>
          <p:nvPr/>
        </p:nvSpPr>
        <p:spPr bwMode="auto">
          <a:xfrm>
            <a:off x="6414261" y="381495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41664209" name="object 29"/>
          <p:cNvSpPr txBox="1"/>
          <p:nvPr/>
        </p:nvSpPr>
        <p:spPr bwMode="auto">
          <a:xfrm>
            <a:off x="6871461" y="4088968"/>
            <a:ext cx="1200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1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6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6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45716798" name="object 30"/>
          <p:cNvSpPr txBox="1"/>
          <p:nvPr/>
        </p:nvSpPr>
        <p:spPr bwMode="auto">
          <a:xfrm>
            <a:off x="8204961" y="4088968"/>
            <a:ext cx="530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10">
                <a:latin typeface="Trebuchet MS"/>
                <a:cs typeface="Trebuchet MS"/>
              </a:rPr>
              <a:t>ob</a:t>
            </a:r>
            <a:r>
              <a:rPr sz="1800" spc="-31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j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99759134" name="object 31"/>
          <p:cNvSpPr txBox="1"/>
          <p:nvPr/>
        </p:nvSpPr>
        <p:spPr bwMode="auto">
          <a:xfrm>
            <a:off x="6414261" y="436397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578838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  <a:defRPr/>
            </a:pPr>
            <a:r>
              <a:rPr sz="4000" spc="-145">
                <a:solidFill>
                  <a:srgbClr val="FFFCFF"/>
                </a:solidFill>
                <a:latin typeface="Calibri Light"/>
                <a:cs typeface="Calibri Light"/>
              </a:rPr>
              <a:t>Multiple</a:t>
            </a:r>
            <a:r>
              <a:rPr sz="4000" spc="-300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2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873996972" name="object 3"/>
          <p:cNvSpPr/>
          <p:nvPr/>
        </p:nvSpPr>
        <p:spPr bwMode="auto">
          <a:xfrm>
            <a:off x="4668011" y="1824227"/>
            <a:ext cx="7251065" cy="646430"/>
          </a:xfrm>
          <a:custGeom>
            <a:avLst/>
            <a:gdLst/>
            <a:ahLst/>
            <a:cxnLst/>
            <a:rect l="l" t="t" r="r" b="b"/>
            <a:pathLst>
              <a:path w="7251065" h="646430" fill="norm" stroke="1" extrusionOk="0">
                <a:moveTo>
                  <a:pt x="7250684" y="0"/>
                </a:moveTo>
                <a:lnTo>
                  <a:pt x="0" y="0"/>
                </a:lnTo>
                <a:lnTo>
                  <a:pt x="0" y="645922"/>
                </a:lnTo>
                <a:lnTo>
                  <a:pt x="7250684" y="645922"/>
                </a:lnTo>
                <a:lnTo>
                  <a:pt x="7250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61663762" name="object 4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Multiple</a:t>
            </a:r>
            <a:r>
              <a:rPr spc="170"/>
              <a:t> </a:t>
            </a:r>
            <a:r>
              <a:rPr spc="45"/>
              <a:t>inheritance</a:t>
            </a:r>
            <a:r>
              <a:rPr spc="165"/>
              <a:t> </a:t>
            </a:r>
            <a:r>
              <a:rPr/>
              <a:t>is</a:t>
            </a:r>
            <a:r>
              <a:rPr spc="140"/>
              <a:t> </a:t>
            </a:r>
            <a:r>
              <a:rPr/>
              <a:t>the</a:t>
            </a:r>
            <a:r>
              <a:rPr spc="160"/>
              <a:t> </a:t>
            </a:r>
            <a:r>
              <a:rPr spc="50"/>
              <a:t>process</a:t>
            </a:r>
            <a:r>
              <a:rPr spc="190"/>
              <a:t> </a:t>
            </a:r>
            <a:r>
              <a:rPr/>
              <a:t>of</a:t>
            </a:r>
            <a:r>
              <a:rPr spc="130"/>
              <a:t> </a:t>
            </a:r>
            <a:r>
              <a:rPr spc="65"/>
              <a:t>deriving</a:t>
            </a:r>
            <a:r>
              <a:rPr spc="185"/>
              <a:t> </a:t>
            </a:r>
            <a:r>
              <a:rPr/>
              <a:t>a</a:t>
            </a:r>
            <a:r>
              <a:rPr spc="185"/>
              <a:t> </a:t>
            </a:r>
            <a:r>
              <a:rPr/>
              <a:t>new</a:t>
            </a:r>
            <a:r>
              <a:rPr spc="160"/>
              <a:t> </a:t>
            </a:r>
            <a:r>
              <a:rPr spc="50"/>
              <a:t>class</a:t>
            </a:r>
            <a:r>
              <a:rPr spc="160"/>
              <a:t> </a:t>
            </a:r>
            <a:r>
              <a:rPr spc="-20"/>
              <a:t>that </a:t>
            </a:r>
            <a:r>
              <a:rPr/>
              <a:t>inherits</a:t>
            </a:r>
            <a:r>
              <a:rPr spc="160"/>
              <a:t> </a:t>
            </a:r>
            <a:r>
              <a:rPr/>
              <a:t>the</a:t>
            </a:r>
            <a:r>
              <a:rPr spc="180"/>
              <a:t> </a:t>
            </a:r>
            <a:r>
              <a:rPr/>
              <a:t>attributes</a:t>
            </a:r>
            <a:r>
              <a:rPr spc="120"/>
              <a:t> </a:t>
            </a:r>
            <a:r>
              <a:rPr/>
              <a:t>from</a:t>
            </a:r>
            <a:r>
              <a:rPr spc="145"/>
              <a:t> </a:t>
            </a:r>
            <a:r>
              <a:rPr/>
              <a:t>two</a:t>
            </a:r>
            <a:r>
              <a:rPr spc="100"/>
              <a:t> </a:t>
            </a:r>
            <a:r>
              <a:rPr/>
              <a:t>or</a:t>
            </a:r>
            <a:r>
              <a:rPr spc="170"/>
              <a:t> </a:t>
            </a:r>
            <a:r>
              <a:rPr/>
              <a:t>more</a:t>
            </a:r>
            <a:r>
              <a:rPr spc="200"/>
              <a:t> </a:t>
            </a:r>
            <a:r>
              <a:rPr spc="60"/>
              <a:t>classes.</a:t>
            </a:r>
            <a:endParaRPr/>
          </a:p>
        </p:txBody>
      </p:sp>
      <p:pic>
        <p:nvPicPr>
          <p:cNvPr id="94099200" name="object 5"/>
          <p:cNvPicPr/>
          <p:nvPr/>
        </p:nvPicPr>
        <p:blipFill>
          <a:blip r:embed="rId3"/>
          <a:stretch/>
        </p:blipFill>
        <p:spPr bwMode="auto">
          <a:xfrm>
            <a:off x="4994147" y="2804160"/>
            <a:ext cx="5817108" cy="2788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43249" name="object 2"/>
          <p:cNvGrpSpPr/>
          <p:nvPr/>
        </p:nvGrpSpPr>
        <p:grpSpPr bwMode="auto">
          <a:xfrm>
            <a:off x="396240" y="600455"/>
            <a:ext cx="248920" cy="169545"/>
            <a:chOff x="396240" y="600455"/>
            <a:chExt cx="248920" cy="169545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536448" y="600455"/>
              <a:ext cx="108204" cy="1691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396240" y="609599"/>
              <a:ext cx="114300" cy="160020"/>
            </a:xfrm>
            <a:prstGeom prst="rect">
              <a:avLst/>
            </a:prstGeom>
          </p:spPr>
        </p:pic>
      </p:grpSp>
      <p:pic>
        <p:nvPicPr>
          <p:cNvPr id="1304619104" name="object 5"/>
          <p:cNvPicPr/>
          <p:nvPr/>
        </p:nvPicPr>
        <p:blipFill>
          <a:blip r:embed="rId5"/>
          <a:stretch/>
        </p:blipFill>
        <p:spPr bwMode="auto">
          <a:xfrm>
            <a:off x="1603247" y="600455"/>
            <a:ext cx="108203" cy="169163"/>
          </a:xfrm>
          <a:prstGeom prst="rect">
            <a:avLst/>
          </a:prstGeom>
        </p:spPr>
      </p:pic>
      <p:pic>
        <p:nvPicPr>
          <p:cNvPr id="968366675" name="object 6"/>
          <p:cNvPicPr/>
          <p:nvPr/>
        </p:nvPicPr>
        <p:blipFill>
          <a:blip r:embed="rId6"/>
          <a:stretch/>
        </p:blipFill>
        <p:spPr bwMode="auto">
          <a:xfrm>
            <a:off x="669036" y="874775"/>
            <a:ext cx="108204" cy="169163"/>
          </a:xfrm>
          <a:prstGeom prst="rect">
            <a:avLst/>
          </a:prstGeom>
        </p:spPr>
      </p:pic>
      <p:pic>
        <p:nvPicPr>
          <p:cNvPr id="20026032" name="object 7"/>
          <p:cNvPicPr/>
          <p:nvPr/>
        </p:nvPicPr>
        <p:blipFill>
          <a:blip r:embed="rId6"/>
          <a:stretch/>
        </p:blipFill>
        <p:spPr bwMode="auto">
          <a:xfrm>
            <a:off x="935736" y="1697735"/>
            <a:ext cx="108203" cy="169163"/>
          </a:xfrm>
          <a:prstGeom prst="rect">
            <a:avLst/>
          </a:prstGeom>
        </p:spPr>
      </p:pic>
      <p:pic>
        <p:nvPicPr>
          <p:cNvPr id="1874357648" name="object 8"/>
          <p:cNvPicPr/>
          <p:nvPr/>
        </p:nvPicPr>
        <p:blipFill>
          <a:blip r:embed="rId6"/>
          <a:stretch/>
        </p:blipFill>
        <p:spPr bwMode="auto">
          <a:xfrm>
            <a:off x="935736" y="3893820"/>
            <a:ext cx="108203" cy="167639"/>
          </a:xfrm>
          <a:prstGeom prst="rect">
            <a:avLst/>
          </a:prstGeom>
        </p:spPr>
      </p:pic>
      <p:sp>
        <p:nvSpPr>
          <p:cNvPr id="2020849949" name="object 9"/>
          <p:cNvSpPr txBox="1"/>
          <p:nvPr/>
        </p:nvSpPr>
        <p:spPr bwMode="auto">
          <a:xfrm>
            <a:off x="373481" y="521589"/>
            <a:ext cx="2640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13384" algn="l"/>
                <a:tab pos="812165" algn="l"/>
                <a:tab pos="2145665" algn="l"/>
              </a:tabLst>
              <a:defRPr/>
            </a:pP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229">
                <a:latin typeface="Trebuchet MS"/>
                <a:cs typeface="Trebuchet MS"/>
              </a:rPr>
              <a:t> </a:t>
            </a:r>
            <a:r>
              <a:rPr sz="1800" spc="95">
                <a:latin typeface="Trebuchet MS"/>
                <a:cs typeface="Trebuchet MS"/>
              </a:rPr>
              <a:t>td;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46575009" name="object 10"/>
          <p:cNvSpPr txBox="1"/>
          <p:nvPr/>
        </p:nvSpPr>
        <p:spPr bwMode="auto">
          <a:xfrm>
            <a:off x="373481" y="1070228"/>
            <a:ext cx="14732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5">
                <a:solidFill>
                  <a:srgbClr val="2B91AD"/>
                </a:solidFill>
                <a:latin typeface="Trebuchet MS"/>
                <a:cs typeface="Trebuchet MS"/>
              </a:rPr>
              <a:t>Base1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7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64996818" name="object 11"/>
          <p:cNvSpPr txBox="1"/>
          <p:nvPr/>
        </p:nvSpPr>
        <p:spPr bwMode="auto">
          <a:xfrm>
            <a:off x="830681" y="1893570"/>
            <a:ext cx="35083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45">
                <a:latin typeface="Trebuchet MS"/>
                <a:cs typeface="Trebuchet MS"/>
              </a:rPr>
              <a:t>Base</a:t>
            </a:r>
            <a:r>
              <a:rPr sz="1800" spc="-34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1</a:t>
            </a:r>
            <a:r>
              <a:rPr sz="1800" spc="-335">
                <a:latin typeface="Trebuchet MS"/>
                <a:cs typeface="Trebuchet MS"/>
              </a:rPr>
              <a:t> </a:t>
            </a:r>
            <a:r>
              <a:rPr sz="1800" spc="65">
                <a:latin typeface="Trebuchet MS"/>
                <a:cs typeface="Trebuchet MS"/>
              </a:rPr>
              <a:t>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336800" algn="l"/>
                <a:tab pos="3136900" algn="l"/>
              </a:tabLst>
              <a:defRPr/>
            </a:pPr>
            <a:r>
              <a:rPr sz="1800" spc="8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14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30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31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30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30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145">
                <a:solidFill>
                  <a:srgbClr val="A11515"/>
                </a:solidFill>
                <a:latin typeface="Trebuchet MS"/>
                <a:cs typeface="Trebuchet MS"/>
              </a:rPr>
              <a:t>1"</a:t>
            </a:r>
            <a:r>
              <a:rPr sz="1800" spc="-22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92690997" name="object 12"/>
          <p:cNvSpPr txBox="1"/>
          <p:nvPr/>
        </p:nvSpPr>
        <p:spPr bwMode="auto">
          <a:xfrm>
            <a:off x="373481" y="299110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07659112" name="object 13"/>
          <p:cNvSpPr txBox="1"/>
          <p:nvPr/>
        </p:nvSpPr>
        <p:spPr bwMode="auto">
          <a:xfrm>
            <a:off x="373481" y="3265423"/>
            <a:ext cx="14732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5">
                <a:solidFill>
                  <a:srgbClr val="2B91AD"/>
                </a:solidFill>
                <a:latin typeface="Trebuchet MS"/>
                <a:cs typeface="Trebuchet MS"/>
              </a:rPr>
              <a:t>Base2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04452589" name="object 14"/>
          <p:cNvSpPr txBox="1"/>
          <p:nvPr/>
        </p:nvSpPr>
        <p:spPr bwMode="auto">
          <a:xfrm>
            <a:off x="830681" y="4088079"/>
            <a:ext cx="376745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45">
                <a:latin typeface="Trebuchet MS"/>
                <a:cs typeface="Trebuchet MS"/>
              </a:rPr>
              <a:t>Base</a:t>
            </a:r>
            <a:r>
              <a:rPr sz="1800" spc="-34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2</a:t>
            </a:r>
            <a:r>
              <a:rPr sz="1800" spc="-340">
                <a:latin typeface="Trebuchet MS"/>
                <a:cs typeface="Trebuchet MS"/>
              </a:rPr>
              <a:t> </a:t>
            </a:r>
            <a:r>
              <a:rPr sz="1800" spc="65">
                <a:latin typeface="Trebuchet MS"/>
                <a:cs typeface="Trebuchet MS"/>
              </a:rPr>
              <a:t>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603500" algn="l"/>
                <a:tab pos="3403600" algn="l"/>
              </a:tabLst>
              <a:defRPr/>
            </a:pPr>
            <a:r>
              <a:rPr sz="1800" spc="7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50">
                <a:solidFill>
                  <a:srgbClr val="A11515"/>
                </a:solidFill>
                <a:latin typeface="Trebuchet MS"/>
                <a:cs typeface="Trebuchet MS"/>
              </a:rPr>
              <a:t>nBase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60">
                <a:solidFill>
                  <a:srgbClr val="A11515"/>
                </a:solidFill>
                <a:latin typeface="Trebuchet MS"/>
                <a:cs typeface="Trebuchet MS"/>
              </a:rPr>
              <a:t>Cla</a:t>
            </a:r>
            <a:r>
              <a:rPr sz="1800" spc="-14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35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2</a:t>
            </a:r>
            <a:r>
              <a:rPr sz="1800" spc="-18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3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9211327" name="object 15"/>
          <p:cNvSpPr txBox="1"/>
          <p:nvPr/>
        </p:nvSpPr>
        <p:spPr bwMode="auto">
          <a:xfrm>
            <a:off x="373481" y="5185613"/>
            <a:ext cx="294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111070540" name="object 16"/>
          <p:cNvPicPr/>
          <p:nvPr/>
        </p:nvPicPr>
        <p:blipFill>
          <a:blip r:embed="rId6"/>
          <a:stretch/>
        </p:blipFill>
        <p:spPr bwMode="auto">
          <a:xfrm>
            <a:off x="8715756" y="1571244"/>
            <a:ext cx="108203" cy="167639"/>
          </a:xfrm>
          <a:prstGeom prst="rect">
            <a:avLst/>
          </a:prstGeom>
        </p:spPr>
      </p:pic>
      <p:pic>
        <p:nvPicPr>
          <p:cNvPr id="554196306" name="object 17"/>
          <p:cNvPicPr/>
          <p:nvPr/>
        </p:nvPicPr>
        <p:blipFill>
          <a:blip r:embed="rId6"/>
          <a:stretch/>
        </p:blipFill>
        <p:spPr bwMode="auto">
          <a:xfrm>
            <a:off x="10448543" y="1571244"/>
            <a:ext cx="106679" cy="167639"/>
          </a:xfrm>
          <a:prstGeom prst="rect">
            <a:avLst/>
          </a:prstGeom>
        </p:spPr>
      </p:pic>
      <p:pic>
        <p:nvPicPr>
          <p:cNvPr id="1681549262" name="object 18"/>
          <p:cNvPicPr/>
          <p:nvPr/>
        </p:nvPicPr>
        <p:blipFill>
          <a:blip r:embed="rId6"/>
          <a:stretch/>
        </p:blipFill>
        <p:spPr bwMode="auto">
          <a:xfrm>
            <a:off x="6582156" y="2119883"/>
            <a:ext cx="108203" cy="167639"/>
          </a:xfrm>
          <a:prstGeom prst="rect">
            <a:avLst/>
          </a:prstGeom>
        </p:spPr>
      </p:pic>
      <p:pic>
        <p:nvPicPr>
          <p:cNvPr id="1959481207" name="object 19"/>
          <p:cNvPicPr/>
          <p:nvPr/>
        </p:nvPicPr>
        <p:blipFill>
          <a:blip r:embed="rId6"/>
          <a:stretch/>
        </p:blipFill>
        <p:spPr bwMode="auto">
          <a:xfrm>
            <a:off x="6048755" y="3765803"/>
            <a:ext cx="108203" cy="167639"/>
          </a:xfrm>
          <a:prstGeom prst="rect">
            <a:avLst/>
          </a:prstGeom>
        </p:spPr>
      </p:pic>
      <p:pic>
        <p:nvPicPr>
          <p:cNvPr id="1724223065" name="object 20"/>
          <p:cNvPicPr/>
          <p:nvPr/>
        </p:nvPicPr>
        <p:blipFill>
          <a:blip r:embed="rId7"/>
          <a:stretch/>
        </p:blipFill>
        <p:spPr bwMode="auto">
          <a:xfrm>
            <a:off x="6848856" y="3765803"/>
            <a:ext cx="108203" cy="167639"/>
          </a:xfrm>
          <a:prstGeom prst="rect">
            <a:avLst/>
          </a:prstGeom>
        </p:spPr>
      </p:pic>
      <p:sp>
        <p:nvSpPr>
          <p:cNvPr id="1900315706" name="object 21"/>
          <p:cNvSpPr txBox="1"/>
          <p:nvPr/>
        </p:nvSpPr>
        <p:spPr bwMode="auto">
          <a:xfrm>
            <a:off x="6020815" y="1491437"/>
            <a:ext cx="404812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012314" algn="l"/>
                <a:tab pos="3079115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2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3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:</a:t>
            </a:r>
            <a:r>
              <a:rPr sz="1800" spc="-130"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-12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1800" spc="-12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b</a:t>
            </a:r>
            <a:r>
              <a:rPr sz="1800" spc="-12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12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130">
                <a:solidFill>
                  <a:srgbClr val="2B91AD"/>
                </a:solidFill>
                <a:latin typeface="Trebuchet MS"/>
                <a:cs typeface="Trebuchet MS"/>
              </a:rPr>
              <a:t>Base1</a:t>
            </a:r>
            <a:r>
              <a:rPr sz="1800" spc="-130">
                <a:latin typeface="Trebuchet MS"/>
                <a:cs typeface="Trebuchet MS"/>
              </a:rPr>
              <a:t>,</a:t>
            </a:r>
            <a:r>
              <a:rPr sz="1800" spc="-13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83443903" name="object 22"/>
          <p:cNvSpPr txBox="1"/>
          <p:nvPr/>
        </p:nvSpPr>
        <p:spPr bwMode="auto">
          <a:xfrm>
            <a:off x="10555351" y="1491437"/>
            <a:ext cx="940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</a:tabLst>
              <a:defRPr/>
            </a:pP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5">
                <a:solidFill>
                  <a:srgbClr val="2B91AD"/>
                </a:solidFill>
                <a:latin typeface="Trebuchet MS"/>
                <a:cs typeface="Trebuchet MS"/>
              </a:rPr>
              <a:t>Base2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84900272" name="object 23"/>
          <p:cNvSpPr txBox="1"/>
          <p:nvPr/>
        </p:nvSpPr>
        <p:spPr bwMode="auto">
          <a:xfrm>
            <a:off x="6478015" y="2315083"/>
            <a:ext cx="23209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latin typeface="Trebuchet MS"/>
                <a:cs typeface="Trebuchet MS"/>
              </a:rPr>
              <a:t>S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u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b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C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105">
                <a:latin typeface="Trebuchet MS"/>
                <a:cs typeface="Trebuchet MS"/>
              </a:rPr>
              <a:t>la</a:t>
            </a:r>
            <a:r>
              <a:rPr sz="1800" spc="-310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</a:tabLst>
              <a:defRPr/>
            </a:pPr>
            <a:r>
              <a:rPr sz="1800" spc="9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3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3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n</a:t>
            </a:r>
            <a:r>
              <a:rPr sz="1800" spc="-34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00">
                <a:solidFill>
                  <a:srgbClr val="A11515"/>
                </a:solidFill>
                <a:latin typeface="Trebuchet MS"/>
                <a:cs typeface="Trebuchet MS"/>
              </a:rPr>
              <a:t>Sub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2025417" name="object 24"/>
          <p:cNvSpPr txBox="1"/>
          <p:nvPr/>
        </p:nvSpPr>
        <p:spPr bwMode="auto">
          <a:xfrm>
            <a:off x="8934957" y="2863977"/>
            <a:ext cx="9220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29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2462006" name="object 25"/>
          <p:cNvSpPr txBox="1"/>
          <p:nvPr/>
        </p:nvSpPr>
        <p:spPr bwMode="auto">
          <a:xfrm>
            <a:off x="6020815" y="3412617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00402411" name="object 26"/>
          <p:cNvSpPr txBox="1"/>
          <p:nvPr/>
        </p:nvSpPr>
        <p:spPr bwMode="auto">
          <a:xfrm>
            <a:off x="6154928" y="3686935"/>
            <a:ext cx="118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  <a:defRPr/>
            </a:pP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ma</a:t>
            </a:r>
            <a:r>
              <a:rPr sz="1800" spc="13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n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18622372" name="object 27"/>
          <p:cNvSpPr txBox="1"/>
          <p:nvPr/>
        </p:nvSpPr>
        <p:spPr bwMode="auto">
          <a:xfrm>
            <a:off x="6020815" y="3960952"/>
            <a:ext cx="109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32548992" name="object 28"/>
          <p:cNvSpPr txBox="1"/>
          <p:nvPr/>
        </p:nvSpPr>
        <p:spPr bwMode="auto">
          <a:xfrm>
            <a:off x="6478015" y="4235957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2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4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06969882" name="object 29"/>
          <p:cNvSpPr txBox="1"/>
          <p:nvPr/>
        </p:nvSpPr>
        <p:spPr bwMode="auto">
          <a:xfrm>
            <a:off x="7678928" y="4235957"/>
            <a:ext cx="52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35">
                <a:latin typeface="Trebuchet MS"/>
                <a:cs typeface="Trebuchet MS"/>
              </a:rPr>
              <a:t>obj;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46412155" name="object 30"/>
          <p:cNvSpPr txBox="1"/>
          <p:nvPr/>
        </p:nvSpPr>
        <p:spPr bwMode="auto">
          <a:xfrm>
            <a:off x="6020815" y="4510278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94763" name="object 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90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1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1368425" marR="743585" indent="-628015">
              <a:lnSpc>
                <a:spcPts val="4110"/>
              </a:lnSpc>
              <a:defRPr/>
            </a:pPr>
            <a:r>
              <a:rPr sz="4000" spc="-175">
                <a:solidFill>
                  <a:srgbClr val="FFFCFF"/>
                </a:solidFill>
                <a:latin typeface="Calibri Light"/>
                <a:cs typeface="Calibri Light"/>
              </a:rPr>
              <a:t>Hierarchical </a:t>
            </a:r>
            <a:r>
              <a:rPr sz="4000" spc="-2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27495023" name="object 3"/>
          <p:cNvSpPr/>
          <p:nvPr/>
        </p:nvSpPr>
        <p:spPr bwMode="auto">
          <a:xfrm>
            <a:off x="4614671" y="1208532"/>
            <a:ext cx="7252970" cy="646430"/>
          </a:xfrm>
          <a:custGeom>
            <a:avLst/>
            <a:gdLst/>
            <a:ahLst/>
            <a:cxnLst/>
            <a:rect l="l" t="t" r="r" b="b"/>
            <a:pathLst>
              <a:path w="7252970" h="646430" fill="norm" stroke="1" extrusionOk="0">
                <a:moveTo>
                  <a:pt x="7252461" y="0"/>
                </a:moveTo>
                <a:lnTo>
                  <a:pt x="0" y="0"/>
                </a:lnTo>
                <a:lnTo>
                  <a:pt x="0" y="645922"/>
                </a:lnTo>
                <a:lnTo>
                  <a:pt x="7252461" y="645922"/>
                </a:lnTo>
                <a:lnTo>
                  <a:pt x="7252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7278647" name="object 4"/>
          <p:cNvSpPr txBox="1"/>
          <p:nvPr/>
        </p:nvSpPr>
        <p:spPr bwMode="auto">
          <a:xfrm>
            <a:off x="4695190" y="1241805"/>
            <a:ext cx="700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45">
                <a:latin typeface="Cambria"/>
                <a:cs typeface="Cambria"/>
              </a:rPr>
              <a:t>Hierarchical</a:t>
            </a:r>
            <a:r>
              <a:rPr sz="1800" spc="125">
                <a:latin typeface="Cambria"/>
                <a:cs typeface="Cambria"/>
              </a:rPr>
              <a:t> </a:t>
            </a:r>
            <a:r>
              <a:rPr sz="1800" spc="45">
                <a:latin typeface="Cambria"/>
                <a:cs typeface="Cambria"/>
              </a:rPr>
              <a:t>inheritance</a:t>
            </a:r>
            <a:r>
              <a:rPr sz="1800" spc="12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is</a:t>
            </a:r>
            <a:r>
              <a:rPr sz="1800" spc="110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defined</a:t>
            </a:r>
            <a:r>
              <a:rPr sz="1800" spc="204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as</a:t>
            </a:r>
            <a:r>
              <a:rPr sz="1800" spc="130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the</a:t>
            </a:r>
            <a:r>
              <a:rPr sz="1800" spc="145">
                <a:latin typeface="Cambria"/>
                <a:cs typeface="Cambria"/>
              </a:rPr>
              <a:t> </a:t>
            </a:r>
            <a:r>
              <a:rPr sz="1800" spc="50">
                <a:latin typeface="Cambria"/>
                <a:cs typeface="Cambria"/>
              </a:rPr>
              <a:t>process</a:t>
            </a:r>
            <a:r>
              <a:rPr sz="1800" spc="15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of</a:t>
            </a:r>
            <a:r>
              <a:rPr sz="1800" spc="114">
                <a:latin typeface="Cambria"/>
                <a:cs typeface="Cambria"/>
              </a:rPr>
              <a:t> </a:t>
            </a:r>
            <a:r>
              <a:rPr sz="1800" spc="65">
                <a:latin typeface="Cambria"/>
                <a:cs typeface="Cambria"/>
              </a:rPr>
              <a:t>deriving</a:t>
            </a:r>
            <a:r>
              <a:rPr sz="1800" spc="135">
                <a:latin typeface="Cambria"/>
                <a:cs typeface="Cambria"/>
              </a:rPr>
              <a:t> </a:t>
            </a:r>
            <a:r>
              <a:rPr sz="1800" spc="-20">
                <a:latin typeface="Cambria"/>
                <a:cs typeface="Cambria"/>
              </a:rPr>
              <a:t>more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30024307" name="object 5"/>
          <p:cNvSpPr txBox="1">
            <a:spLocks noGrp="1"/>
          </p:cNvSpPr>
          <p:nvPr>
            <p:ph type="title"/>
          </p:nvPr>
        </p:nvSpPr>
        <p:spPr bwMode="auto">
          <a:xfrm>
            <a:off x="4695190" y="1515821"/>
            <a:ext cx="3394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than</a:t>
            </a:r>
            <a:r>
              <a:rPr spc="110"/>
              <a:t> </a:t>
            </a:r>
            <a:r>
              <a:rPr spc="55"/>
              <a:t>one</a:t>
            </a:r>
            <a:r>
              <a:rPr spc="160"/>
              <a:t> </a:t>
            </a:r>
            <a:r>
              <a:rPr/>
              <a:t>class</a:t>
            </a:r>
            <a:r>
              <a:rPr spc="150"/>
              <a:t> </a:t>
            </a:r>
            <a:r>
              <a:rPr/>
              <a:t>from</a:t>
            </a:r>
            <a:r>
              <a:rPr spc="105"/>
              <a:t> </a:t>
            </a:r>
            <a:r>
              <a:rPr/>
              <a:t>a</a:t>
            </a:r>
            <a:r>
              <a:rPr spc="165"/>
              <a:t> </a:t>
            </a:r>
            <a:r>
              <a:rPr spc="65"/>
              <a:t>base</a:t>
            </a:r>
            <a:r>
              <a:rPr spc="229"/>
              <a:t> </a:t>
            </a:r>
            <a:r>
              <a:rPr spc="50"/>
              <a:t>class.</a:t>
            </a:r>
            <a:endParaRPr/>
          </a:p>
        </p:txBody>
      </p:sp>
      <p:pic>
        <p:nvPicPr>
          <p:cNvPr id="1308617708" name="object 6"/>
          <p:cNvPicPr/>
          <p:nvPr/>
        </p:nvPicPr>
        <p:blipFill>
          <a:blip r:embed="rId3"/>
          <a:stretch/>
        </p:blipFill>
        <p:spPr bwMode="auto">
          <a:xfrm>
            <a:off x="5579364" y="2350007"/>
            <a:ext cx="5323332" cy="32293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51761910" name="object 2"/>
          <p:cNvGrpSpPr/>
          <p:nvPr/>
        </p:nvGrpSpPr>
        <p:grpSpPr bwMode="auto">
          <a:xfrm>
            <a:off x="661416" y="696468"/>
            <a:ext cx="248920" cy="167640"/>
            <a:chOff x="661416" y="696468"/>
            <a:chExt cx="248920" cy="167640"/>
          </a:xfrm>
        </p:grpSpPr>
        <p:pic>
          <p:nvPicPr>
            <p:cNvPr id="3" name="object 3"/>
            <p:cNvPicPr/>
            <p:nvPr/>
          </p:nvPicPr>
          <p:blipFill>
            <a:blip r:embed="rId3"/>
            <a:stretch/>
          </p:blipFill>
          <p:spPr bwMode="auto">
            <a:xfrm>
              <a:off x="801624" y="696468"/>
              <a:ext cx="108204" cy="167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/>
            <a:stretch/>
          </p:blipFill>
          <p:spPr bwMode="auto">
            <a:xfrm>
              <a:off x="661416" y="705611"/>
              <a:ext cx="114300" cy="158496"/>
            </a:xfrm>
            <a:prstGeom prst="rect">
              <a:avLst/>
            </a:prstGeom>
          </p:spPr>
        </p:pic>
      </p:grpSp>
      <p:pic>
        <p:nvPicPr>
          <p:cNvPr id="1057823617" name="object 5"/>
          <p:cNvPicPr/>
          <p:nvPr/>
        </p:nvPicPr>
        <p:blipFill>
          <a:blip r:embed="rId5"/>
          <a:stretch/>
        </p:blipFill>
        <p:spPr bwMode="auto">
          <a:xfrm>
            <a:off x="1869948" y="696468"/>
            <a:ext cx="106680" cy="167639"/>
          </a:xfrm>
          <a:prstGeom prst="rect">
            <a:avLst/>
          </a:prstGeom>
        </p:spPr>
      </p:pic>
      <p:pic>
        <p:nvPicPr>
          <p:cNvPr id="910703531" name="object 6"/>
          <p:cNvPicPr/>
          <p:nvPr/>
        </p:nvPicPr>
        <p:blipFill>
          <a:blip r:embed="rId6"/>
          <a:stretch/>
        </p:blipFill>
        <p:spPr bwMode="auto">
          <a:xfrm>
            <a:off x="935736" y="970788"/>
            <a:ext cx="108203" cy="169163"/>
          </a:xfrm>
          <a:prstGeom prst="rect">
            <a:avLst/>
          </a:prstGeom>
        </p:spPr>
      </p:pic>
      <p:pic>
        <p:nvPicPr>
          <p:cNvPr id="291314011" name="object 7"/>
          <p:cNvPicPr/>
          <p:nvPr/>
        </p:nvPicPr>
        <p:blipFill>
          <a:blip r:embed="rId6"/>
          <a:stretch/>
        </p:blipFill>
        <p:spPr bwMode="auto">
          <a:xfrm>
            <a:off x="1202436" y="1793748"/>
            <a:ext cx="108203" cy="169163"/>
          </a:xfrm>
          <a:prstGeom prst="rect">
            <a:avLst/>
          </a:prstGeom>
        </p:spPr>
      </p:pic>
      <p:pic>
        <p:nvPicPr>
          <p:cNvPr id="1682806990" name="object 8"/>
          <p:cNvPicPr/>
          <p:nvPr/>
        </p:nvPicPr>
        <p:blipFill>
          <a:blip r:embed="rId6"/>
          <a:stretch/>
        </p:blipFill>
        <p:spPr bwMode="auto">
          <a:xfrm>
            <a:off x="3468623" y="3439666"/>
            <a:ext cx="108203" cy="169164"/>
          </a:xfrm>
          <a:prstGeom prst="rect">
            <a:avLst/>
          </a:prstGeom>
        </p:spPr>
      </p:pic>
      <p:pic>
        <p:nvPicPr>
          <p:cNvPr id="850017383" name="object 9"/>
          <p:cNvPicPr/>
          <p:nvPr/>
        </p:nvPicPr>
        <p:blipFill>
          <a:blip r:embed="rId6"/>
          <a:stretch/>
        </p:blipFill>
        <p:spPr bwMode="auto">
          <a:xfrm>
            <a:off x="1202436" y="3989832"/>
            <a:ext cx="108203" cy="167639"/>
          </a:xfrm>
          <a:prstGeom prst="rect">
            <a:avLst/>
          </a:prstGeom>
        </p:spPr>
      </p:pic>
      <p:sp>
        <p:nvSpPr>
          <p:cNvPr id="413899148" name="object 10"/>
          <p:cNvSpPr txBox="1"/>
          <p:nvPr/>
        </p:nvSpPr>
        <p:spPr bwMode="auto">
          <a:xfrm>
            <a:off x="639267" y="617346"/>
            <a:ext cx="2641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05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14655" algn="l"/>
                <a:tab pos="812165" algn="l"/>
                <a:tab pos="2145665" algn="l"/>
              </a:tabLst>
              <a:defRPr/>
            </a:pPr>
            <a:r>
              <a:rPr sz="1800" spc="6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s</a:t>
            </a:r>
            <a:r>
              <a:rPr sz="1800" spc="-229">
                <a:latin typeface="Trebuchet MS"/>
                <a:cs typeface="Trebuchet MS"/>
              </a:rPr>
              <a:t> </a:t>
            </a:r>
            <a:r>
              <a:rPr sz="1800" spc="95">
                <a:latin typeface="Trebuchet MS"/>
                <a:cs typeface="Trebuchet MS"/>
              </a:rPr>
              <a:t>td;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029403" name="object 11"/>
          <p:cNvSpPr txBox="1"/>
          <p:nvPr/>
        </p:nvSpPr>
        <p:spPr bwMode="auto">
          <a:xfrm>
            <a:off x="639267" y="1165986"/>
            <a:ext cx="1343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12023831" name="object 12"/>
          <p:cNvSpPr txBox="1"/>
          <p:nvPr/>
        </p:nvSpPr>
        <p:spPr bwMode="auto">
          <a:xfrm>
            <a:off x="1096467" y="1989201"/>
            <a:ext cx="351345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Base()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603500" algn="l"/>
              </a:tabLst>
              <a:defRPr/>
            </a:pPr>
            <a:r>
              <a:rPr sz="1800" spc="8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95">
                <a:solidFill>
                  <a:srgbClr val="A11515"/>
                </a:solidFill>
                <a:latin typeface="Trebuchet MS"/>
                <a:cs typeface="Trebuchet MS"/>
              </a:rPr>
              <a:t>“\n</a:t>
            </a:r>
            <a:r>
              <a:rPr sz="1800" spc="-39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90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3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74962518" name="object 13"/>
          <p:cNvSpPr txBox="1"/>
          <p:nvPr/>
        </p:nvSpPr>
        <p:spPr bwMode="auto">
          <a:xfrm>
            <a:off x="639267" y="308686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88506354" name="object 14"/>
          <p:cNvSpPr txBox="1"/>
          <p:nvPr/>
        </p:nvSpPr>
        <p:spPr bwMode="auto">
          <a:xfrm>
            <a:off x="639267" y="3361182"/>
            <a:ext cx="37433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5665" algn="l"/>
                <a:tab pos="2946400" algn="l"/>
                <a:tab pos="3213100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5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1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latin typeface="Trebuchet MS"/>
                <a:cs typeface="Trebuchet MS"/>
              </a:rPr>
              <a:t>: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  <a:defRPr/>
            </a:pPr>
            <a:r>
              <a:rPr sz="1800" spc="10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27690618" name="object 15"/>
          <p:cNvSpPr txBox="1"/>
          <p:nvPr/>
        </p:nvSpPr>
        <p:spPr bwMode="auto">
          <a:xfrm>
            <a:off x="1096467" y="4184395"/>
            <a:ext cx="3633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35">
                <a:latin typeface="Trebuchet MS"/>
                <a:cs typeface="Trebuchet MS"/>
              </a:rPr>
              <a:t>Sub</a:t>
            </a:r>
            <a:r>
              <a:rPr sz="1800" spc="-325">
                <a:latin typeface="Trebuchet MS"/>
                <a:cs typeface="Trebuchet MS"/>
              </a:rPr>
              <a:t> </a:t>
            </a:r>
            <a:r>
              <a:rPr sz="1800" spc="170">
                <a:latin typeface="Trebuchet MS"/>
                <a:cs typeface="Trebuchet MS"/>
              </a:rPr>
              <a:t>Class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1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469515" algn="l"/>
                <a:tab pos="3269615" algn="l"/>
              </a:tabLst>
              <a:defRPr/>
            </a:pPr>
            <a:r>
              <a:rPr sz="1800" spc="7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>
                <a:solidFill>
                  <a:srgbClr val="A11515"/>
                </a:solidFill>
                <a:latin typeface="Trebuchet MS"/>
                <a:cs typeface="Trebuchet MS"/>
              </a:rPr>
              <a:t>nSub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0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70">
                <a:solidFill>
                  <a:srgbClr val="A11515"/>
                </a:solidFill>
                <a:latin typeface="Trebuchet MS"/>
                <a:cs typeface="Trebuchet MS"/>
              </a:rPr>
              <a:t>la</a:t>
            </a:r>
            <a:r>
              <a:rPr sz="1800" spc="-29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65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1"</a:t>
            </a:r>
            <a:r>
              <a:rPr sz="1800" spc="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95385624" name="object 16"/>
          <p:cNvSpPr txBox="1"/>
          <p:nvPr/>
        </p:nvSpPr>
        <p:spPr bwMode="auto">
          <a:xfrm>
            <a:off x="639267" y="528192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496766610" name="object 17"/>
          <p:cNvPicPr/>
          <p:nvPr/>
        </p:nvPicPr>
        <p:blipFill>
          <a:blip r:embed="rId6"/>
          <a:stretch/>
        </p:blipFill>
        <p:spPr bwMode="auto">
          <a:xfrm>
            <a:off x="9243058" y="1424939"/>
            <a:ext cx="106679" cy="167639"/>
          </a:xfrm>
          <a:prstGeom prst="rect">
            <a:avLst/>
          </a:prstGeom>
        </p:spPr>
      </p:pic>
      <p:pic>
        <p:nvPicPr>
          <p:cNvPr id="166456446" name="object 18"/>
          <p:cNvPicPr/>
          <p:nvPr/>
        </p:nvPicPr>
        <p:blipFill>
          <a:blip r:embed="rId6"/>
          <a:stretch/>
        </p:blipFill>
        <p:spPr bwMode="auto">
          <a:xfrm>
            <a:off x="6976871" y="1973579"/>
            <a:ext cx="106679" cy="167639"/>
          </a:xfrm>
          <a:prstGeom prst="rect">
            <a:avLst/>
          </a:prstGeom>
        </p:spPr>
      </p:pic>
      <p:pic>
        <p:nvPicPr>
          <p:cNvPr id="45560074" name="object 19"/>
          <p:cNvPicPr/>
          <p:nvPr/>
        </p:nvPicPr>
        <p:blipFill>
          <a:blip r:embed="rId6"/>
          <a:stretch/>
        </p:blipFill>
        <p:spPr bwMode="auto">
          <a:xfrm>
            <a:off x="6441947" y="3619500"/>
            <a:ext cx="108203" cy="169163"/>
          </a:xfrm>
          <a:prstGeom prst="rect">
            <a:avLst/>
          </a:prstGeom>
        </p:spPr>
      </p:pic>
      <p:pic>
        <p:nvPicPr>
          <p:cNvPr id="735625020" name="object 20"/>
          <p:cNvPicPr/>
          <p:nvPr/>
        </p:nvPicPr>
        <p:blipFill>
          <a:blip r:embed="rId7"/>
          <a:stretch/>
        </p:blipFill>
        <p:spPr bwMode="auto">
          <a:xfrm>
            <a:off x="7242047" y="3619500"/>
            <a:ext cx="108203" cy="169163"/>
          </a:xfrm>
          <a:prstGeom prst="rect">
            <a:avLst/>
          </a:prstGeom>
        </p:spPr>
      </p:pic>
      <p:sp>
        <p:nvSpPr>
          <p:cNvPr id="43416892" name="object 21"/>
          <p:cNvSpPr txBox="1"/>
          <p:nvPr/>
        </p:nvSpPr>
        <p:spPr bwMode="auto">
          <a:xfrm>
            <a:off x="6414261" y="1345438"/>
            <a:ext cx="374205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6300" algn="l"/>
                <a:tab pos="2945130" algn="l"/>
                <a:tab pos="3211830" algn="l"/>
              </a:tabLst>
              <a:defRPr/>
            </a:pP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55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2</a:t>
            </a:r>
            <a:r>
              <a:rPr sz="180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>
                <a:latin typeface="Trebuchet MS"/>
                <a:cs typeface="Trebuchet MS"/>
              </a:rPr>
              <a:t>: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  <a:defRPr/>
            </a:pPr>
            <a:r>
              <a:rPr sz="1800" spc="105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55743491" name="object 22"/>
          <p:cNvSpPr txBox="1"/>
          <p:nvPr/>
        </p:nvSpPr>
        <p:spPr bwMode="auto">
          <a:xfrm>
            <a:off x="6871461" y="2168778"/>
            <a:ext cx="3633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35">
                <a:latin typeface="Trebuchet MS"/>
                <a:cs typeface="Trebuchet MS"/>
              </a:rPr>
              <a:t>Sub</a:t>
            </a:r>
            <a:r>
              <a:rPr sz="1800" spc="-325">
                <a:latin typeface="Trebuchet MS"/>
                <a:cs typeface="Trebuchet MS"/>
              </a:rPr>
              <a:t> </a:t>
            </a:r>
            <a:r>
              <a:rPr sz="1800" spc="170">
                <a:latin typeface="Trebuchet MS"/>
                <a:cs typeface="Trebuchet MS"/>
              </a:rPr>
              <a:t>Class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2</a:t>
            </a:r>
            <a:r>
              <a:rPr sz="1800" spc="-32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33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  <a:tab pos="2469515" algn="l"/>
                <a:tab pos="3269615" algn="l"/>
              </a:tabLst>
              <a:defRPr/>
            </a:pPr>
            <a:r>
              <a:rPr sz="1800" spc="75">
                <a:latin typeface="Trebuchet MS"/>
                <a:cs typeface="Trebuchet MS"/>
              </a:rPr>
              <a:t>cout</a:t>
            </a:r>
            <a:r>
              <a:rPr sz="1800">
                <a:latin typeface="Trebuchet MS"/>
                <a:cs typeface="Trebuchet MS"/>
              </a:rPr>
              <a:t>	</a:t>
            </a:r>
            <a:r>
              <a:rPr sz="1800" spc="-25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>
                <a:solidFill>
                  <a:srgbClr val="A11515"/>
                </a:solidFill>
                <a:latin typeface="Trebuchet MS"/>
                <a:cs typeface="Trebuchet MS"/>
              </a:rPr>
              <a:t>nSub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04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70">
                <a:solidFill>
                  <a:srgbClr val="A11515"/>
                </a:solidFill>
                <a:latin typeface="Trebuchet MS"/>
                <a:cs typeface="Trebuchet MS"/>
              </a:rPr>
              <a:t>la</a:t>
            </a:r>
            <a:r>
              <a:rPr sz="1800" spc="-29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65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>
                <a:solidFill>
                  <a:srgbClr val="A11515"/>
                </a:solidFill>
                <a:latin typeface="Trebuchet MS"/>
                <a:cs typeface="Trebuchet MS"/>
              </a:rPr>
              <a:t>	2"</a:t>
            </a:r>
            <a:r>
              <a:rPr sz="1800" spc="5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75503913" name="object 23"/>
          <p:cNvSpPr txBox="1"/>
          <p:nvPr/>
        </p:nvSpPr>
        <p:spPr bwMode="auto">
          <a:xfrm>
            <a:off x="6414261" y="326631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6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2517084" name="object 24"/>
          <p:cNvSpPr txBox="1"/>
          <p:nvPr/>
        </p:nvSpPr>
        <p:spPr bwMode="auto">
          <a:xfrm>
            <a:off x="6548373" y="3540632"/>
            <a:ext cx="118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  <a:defRPr/>
            </a:pPr>
            <a:r>
              <a:rPr sz="1800" spc="65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>
                <a:latin typeface="Trebuchet MS"/>
                <a:cs typeface="Trebuchet MS"/>
              </a:rPr>
              <a:t>ma</a:t>
            </a:r>
            <a:r>
              <a:rPr sz="1800" spc="135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n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(</a:t>
            </a:r>
            <a:r>
              <a:rPr sz="1800" spc="-270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55441698" name="object 25"/>
          <p:cNvSpPr txBox="1"/>
          <p:nvPr/>
        </p:nvSpPr>
        <p:spPr bwMode="auto">
          <a:xfrm>
            <a:off x="6414261" y="381495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93546513" name="object 26"/>
          <p:cNvSpPr txBox="1"/>
          <p:nvPr/>
        </p:nvSpPr>
        <p:spPr bwMode="auto">
          <a:xfrm>
            <a:off x="6871461" y="4088968"/>
            <a:ext cx="1200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1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6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6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>
                <a:solidFill>
                  <a:srgbClr val="2B91AD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85244878" name="object 27"/>
          <p:cNvSpPr txBox="1"/>
          <p:nvPr/>
        </p:nvSpPr>
        <p:spPr bwMode="auto">
          <a:xfrm>
            <a:off x="8204961" y="4088968"/>
            <a:ext cx="530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110">
                <a:latin typeface="Trebuchet MS"/>
                <a:cs typeface="Trebuchet MS"/>
              </a:rPr>
              <a:t>ob</a:t>
            </a:r>
            <a:r>
              <a:rPr sz="1800" spc="-310">
                <a:latin typeface="Trebuchet MS"/>
                <a:cs typeface="Trebuchet MS"/>
              </a:rPr>
              <a:t> </a:t>
            </a:r>
            <a:r>
              <a:rPr sz="1800" spc="-10">
                <a:latin typeface="Trebuchet MS"/>
                <a:cs typeface="Trebuchet MS"/>
              </a:rPr>
              <a:t>j</a:t>
            </a:r>
            <a:r>
              <a:rPr sz="1800" spc="-315">
                <a:latin typeface="Trebuchet MS"/>
                <a:cs typeface="Trebuchet MS"/>
              </a:rPr>
              <a:t> </a:t>
            </a:r>
            <a:r>
              <a:rPr sz="1800" spc="-5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7314251" name="object 28"/>
          <p:cNvSpPr txBox="1"/>
          <p:nvPr/>
        </p:nvSpPr>
        <p:spPr bwMode="auto">
          <a:xfrm>
            <a:off x="6414261" y="436397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5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878235" name="object 2"/>
          <p:cNvSpPr/>
          <p:nvPr/>
        </p:nvSpPr>
        <p:spPr bwMode="auto"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 fill="norm" stroke="1" extrusionOk="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1954337" name="object 3"/>
          <p:cNvSpPr/>
          <p:nvPr/>
        </p:nvSpPr>
        <p:spPr bwMode="auto"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 fill="norm" stroke="1" extrusionOk="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6314601" name="object 4"/>
          <p:cNvSpPr/>
          <p:nvPr/>
        </p:nvSpPr>
        <p:spPr bwMode="auto"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 fill="norm" stroke="1" extrusionOk="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7028100" name="object 5"/>
          <p:cNvSpPr/>
          <p:nvPr/>
        </p:nvSpPr>
        <p:spPr bwMode="auto"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 fill="norm" stroke="1" extrusionOk="0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65556734" name="object 6"/>
          <p:cNvSpPr/>
          <p:nvPr/>
        </p:nvSpPr>
        <p:spPr bwMode="auto"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 fill="norm" stroke="1" extrusionOk="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10326794" name="object 7"/>
          <p:cNvSpPr/>
          <p:nvPr/>
        </p:nvSpPr>
        <p:spPr bwMode="auto"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 fill="norm" stroke="1" extrusionOk="0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 fill="norm" stroke="1" extrusionOk="0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257915090" name="object 8"/>
          <p:cNvPicPr/>
          <p:nvPr/>
        </p:nvPicPr>
        <p:blipFill>
          <a:blip r:embed="rId3"/>
          <a:stretch/>
        </p:blipFill>
        <p:spPr bwMode="auto"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1954639747" name="object 9"/>
          <p:cNvSpPr/>
          <p:nvPr/>
        </p:nvSpPr>
        <p:spPr bwMode="auto"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 fill="norm" stroke="1" extrusionOk="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 fill="norm" stroke="1" extrusionOk="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7478711" name="object 10"/>
          <p:cNvSpPr/>
          <p:nvPr/>
        </p:nvSpPr>
        <p:spPr bwMode="auto"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 fill="norm" stroke="1" extrusionOk="0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35493994" name="object 11"/>
          <p:cNvSpPr/>
          <p:nvPr/>
        </p:nvSpPr>
        <p:spPr bwMode="auto"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 fill="norm" stroke="1" extrusionOk="0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79011342" name="object 12"/>
          <p:cNvSpPr txBox="1"/>
          <p:nvPr/>
        </p:nvSpPr>
        <p:spPr bwMode="auto"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  <a:defRPr/>
            </a:pPr>
            <a:endParaRPr sz="4000">
              <a:latin typeface="Times New Roman"/>
              <a:cs typeface="Times New Roman"/>
            </a:endParaRPr>
          </a:p>
          <a:p>
            <a:pPr marL="702310">
              <a:lnSpc>
                <a:spcPct val="100000"/>
              </a:lnSpc>
              <a:defRPr/>
            </a:pPr>
            <a:r>
              <a:rPr sz="4000" spc="-135">
                <a:solidFill>
                  <a:srgbClr val="FFFCFF"/>
                </a:solidFill>
                <a:latin typeface="Calibri Light"/>
                <a:cs typeface="Calibri Light"/>
              </a:rPr>
              <a:t>Hybrid</a:t>
            </a:r>
            <a:r>
              <a:rPr sz="4000" spc="-335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2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995003249" name="object 13"/>
          <p:cNvSpPr/>
          <p:nvPr/>
        </p:nvSpPr>
        <p:spPr bwMode="auto">
          <a:xfrm>
            <a:off x="4604003" y="1219200"/>
            <a:ext cx="7252970" cy="646430"/>
          </a:xfrm>
          <a:custGeom>
            <a:avLst/>
            <a:gdLst/>
            <a:ahLst/>
            <a:cxnLst/>
            <a:rect l="l" t="t" r="r" b="b"/>
            <a:pathLst>
              <a:path w="7252970" h="646430" fill="norm" stroke="1" extrusionOk="0">
                <a:moveTo>
                  <a:pt x="7252461" y="0"/>
                </a:moveTo>
                <a:lnTo>
                  <a:pt x="0" y="0"/>
                </a:lnTo>
                <a:lnTo>
                  <a:pt x="0" y="645922"/>
                </a:lnTo>
                <a:lnTo>
                  <a:pt x="7252461" y="645922"/>
                </a:lnTo>
                <a:lnTo>
                  <a:pt x="7252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05158316" name="object 14"/>
          <p:cNvSpPr txBox="1"/>
          <p:nvPr/>
        </p:nvSpPr>
        <p:spPr bwMode="auto">
          <a:xfrm>
            <a:off x="4684521" y="1241805"/>
            <a:ext cx="67938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0269" algn="l"/>
                <a:tab pos="2211705" algn="l"/>
                <a:tab pos="2508885" algn="l"/>
                <a:tab pos="2759075" algn="l"/>
                <a:tab pos="4194810" algn="l"/>
              </a:tabLst>
              <a:defRPr/>
            </a:pPr>
            <a:r>
              <a:rPr sz="1800" spc="50">
                <a:latin typeface="Cambria"/>
                <a:cs typeface="Cambria"/>
              </a:rPr>
              <a:t>Hybrid</a:t>
            </a:r>
            <a:r>
              <a:rPr sz="1800">
                <a:latin typeface="Cambria"/>
                <a:cs typeface="Cambria"/>
              </a:rPr>
              <a:t>	</a:t>
            </a:r>
            <a:r>
              <a:rPr sz="1800" spc="35">
                <a:latin typeface="Cambria"/>
                <a:cs typeface="Cambria"/>
              </a:rPr>
              <a:t>inheritance</a:t>
            </a:r>
            <a:r>
              <a:rPr sz="1800">
                <a:latin typeface="Cambria"/>
                <a:cs typeface="Cambria"/>
              </a:rPr>
              <a:t>	</a:t>
            </a:r>
            <a:r>
              <a:rPr sz="1800" spc="-25">
                <a:latin typeface="Cambria"/>
                <a:cs typeface="Cambria"/>
              </a:rPr>
              <a:t>is</a:t>
            </a:r>
            <a:r>
              <a:rPr sz="1800">
                <a:latin typeface="Cambria"/>
                <a:cs typeface="Cambria"/>
              </a:rPr>
              <a:t>	</a:t>
            </a:r>
            <a:r>
              <a:rPr sz="1800" spc="-50">
                <a:latin typeface="Cambria"/>
                <a:cs typeface="Cambria"/>
              </a:rPr>
              <a:t>a</a:t>
            </a:r>
            <a:r>
              <a:rPr sz="1800">
                <a:latin typeface="Cambria"/>
                <a:cs typeface="Cambria"/>
              </a:rPr>
              <a:t>	</a:t>
            </a:r>
            <a:r>
              <a:rPr sz="1800" spc="35">
                <a:latin typeface="Cambria"/>
                <a:cs typeface="Cambria"/>
              </a:rPr>
              <a:t>combination</a:t>
            </a:r>
            <a:r>
              <a:rPr sz="1800">
                <a:latin typeface="Cambria"/>
                <a:cs typeface="Cambria"/>
              </a:rPr>
              <a:t>	of</a:t>
            </a:r>
            <a:r>
              <a:rPr sz="1800" spc="23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more</a:t>
            </a:r>
            <a:r>
              <a:rPr sz="1800" spc="285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than</a:t>
            </a:r>
            <a:r>
              <a:rPr sz="1800" spc="245">
                <a:latin typeface="Cambria"/>
                <a:cs typeface="Cambria"/>
              </a:rPr>
              <a:t> </a:t>
            </a:r>
            <a:r>
              <a:rPr sz="1800" spc="55">
                <a:latin typeface="Cambria"/>
                <a:cs typeface="Cambria"/>
              </a:rPr>
              <a:t>one</a:t>
            </a:r>
            <a:r>
              <a:rPr sz="1800" spc="254">
                <a:latin typeface="Cambria"/>
                <a:cs typeface="Cambria"/>
              </a:rPr>
              <a:t> </a:t>
            </a:r>
            <a:r>
              <a:rPr sz="1800">
                <a:latin typeface="Cambria"/>
                <a:cs typeface="Cambria"/>
              </a:rPr>
              <a:t>type</a:t>
            </a:r>
            <a:r>
              <a:rPr sz="1800" spc="285">
                <a:latin typeface="Cambria"/>
                <a:cs typeface="Cambria"/>
              </a:rPr>
              <a:t> </a:t>
            </a:r>
            <a:r>
              <a:rPr sz="1800" spc="-25"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800" spc="35">
                <a:latin typeface="Cambria"/>
                <a:cs typeface="Cambria"/>
              </a:rPr>
              <a:t>inheritance.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1118610039" name="object 15"/>
          <p:cNvPicPr/>
          <p:nvPr/>
        </p:nvPicPr>
        <p:blipFill>
          <a:blip r:embed="rId4"/>
          <a:stretch/>
        </p:blipFill>
        <p:spPr bwMode="auto">
          <a:xfrm>
            <a:off x="6432803" y="2395727"/>
            <a:ext cx="3837432" cy="3442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03347" name="object 2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  <a:defRPr/>
            </a:pPr>
            <a:r>
              <a:rPr/>
              <a:t>Write</a:t>
            </a:r>
            <a:r>
              <a:rPr spc="75"/>
              <a:t> </a:t>
            </a:r>
            <a:r>
              <a:rPr/>
              <a:t>a</a:t>
            </a:r>
            <a:r>
              <a:rPr spc="70"/>
              <a:t> </a:t>
            </a:r>
            <a:r>
              <a:rPr/>
              <a:t>program</a:t>
            </a:r>
            <a:r>
              <a:rPr spc="70"/>
              <a:t> </a:t>
            </a:r>
            <a:r>
              <a:rPr/>
              <a:t>in</a:t>
            </a:r>
            <a:r>
              <a:rPr spc="70"/>
              <a:t> </a:t>
            </a:r>
            <a:r>
              <a:rPr/>
              <a:t>which</a:t>
            </a:r>
            <a:r>
              <a:rPr spc="85"/>
              <a:t> </a:t>
            </a:r>
            <a:r>
              <a:rPr/>
              <a:t>class</a:t>
            </a:r>
            <a:r>
              <a:rPr spc="60"/>
              <a:t> </a:t>
            </a:r>
            <a:r>
              <a:rPr/>
              <a:t>A</a:t>
            </a:r>
            <a:r>
              <a:rPr spc="75"/>
              <a:t> </a:t>
            </a:r>
            <a:r>
              <a:rPr/>
              <a:t>is</a:t>
            </a:r>
            <a:r>
              <a:rPr spc="80"/>
              <a:t> </a:t>
            </a:r>
            <a:r>
              <a:rPr/>
              <a:t>base</a:t>
            </a:r>
            <a:r>
              <a:rPr spc="60"/>
              <a:t> </a:t>
            </a:r>
            <a:r>
              <a:rPr/>
              <a:t>class</a:t>
            </a:r>
            <a:r>
              <a:rPr spc="70"/>
              <a:t> </a:t>
            </a:r>
            <a:r>
              <a:rPr/>
              <a:t>for</a:t>
            </a:r>
            <a:r>
              <a:rPr spc="75"/>
              <a:t> </a:t>
            </a:r>
            <a:r>
              <a:rPr/>
              <a:t>class</a:t>
            </a:r>
            <a:r>
              <a:rPr spc="60"/>
              <a:t> </a:t>
            </a:r>
            <a:r>
              <a:rPr/>
              <a:t>B.</a:t>
            </a:r>
            <a:r>
              <a:rPr spc="75"/>
              <a:t> </a:t>
            </a:r>
            <a:r>
              <a:rPr spc="-10"/>
              <a:t>While </a:t>
            </a:r>
            <a:r>
              <a:rPr/>
              <a:t>Class</a:t>
            </a:r>
            <a:r>
              <a:rPr spc="150"/>
              <a:t> </a:t>
            </a:r>
            <a:r>
              <a:rPr/>
              <a:t>C</a:t>
            </a:r>
            <a:r>
              <a:rPr spc="145"/>
              <a:t> </a:t>
            </a:r>
            <a:r>
              <a:rPr/>
              <a:t>is</a:t>
            </a:r>
            <a:r>
              <a:rPr spc="145"/>
              <a:t> </a:t>
            </a:r>
            <a:r>
              <a:rPr/>
              <a:t>derived</a:t>
            </a:r>
            <a:r>
              <a:rPr spc="145"/>
              <a:t> </a:t>
            </a:r>
            <a:r>
              <a:rPr/>
              <a:t>from</a:t>
            </a:r>
            <a:r>
              <a:rPr spc="130"/>
              <a:t> </a:t>
            </a:r>
            <a:r>
              <a:rPr/>
              <a:t>class</a:t>
            </a:r>
            <a:r>
              <a:rPr spc="140"/>
              <a:t> </a:t>
            </a:r>
            <a:r>
              <a:rPr/>
              <a:t>B</a:t>
            </a:r>
            <a:r>
              <a:rPr spc="135"/>
              <a:t> </a:t>
            </a:r>
            <a:r>
              <a:rPr/>
              <a:t>and</a:t>
            </a:r>
            <a:r>
              <a:rPr spc="150"/>
              <a:t> </a:t>
            </a:r>
            <a:r>
              <a:rPr/>
              <a:t>class</a:t>
            </a:r>
            <a:r>
              <a:rPr spc="150"/>
              <a:t> </a:t>
            </a:r>
            <a:r>
              <a:rPr/>
              <a:t>D</a:t>
            </a:r>
            <a:r>
              <a:rPr spc="145"/>
              <a:t> </a:t>
            </a:r>
            <a:r>
              <a:rPr/>
              <a:t>is</a:t>
            </a:r>
            <a:r>
              <a:rPr spc="145"/>
              <a:t> </a:t>
            </a:r>
            <a:r>
              <a:rPr/>
              <a:t>derived</a:t>
            </a:r>
            <a:r>
              <a:rPr spc="135"/>
              <a:t> </a:t>
            </a:r>
            <a:r>
              <a:rPr/>
              <a:t>from</a:t>
            </a:r>
            <a:r>
              <a:rPr spc="135"/>
              <a:t> </a:t>
            </a:r>
            <a:r>
              <a:rPr spc="-10"/>
              <a:t>class</a:t>
            </a:r>
            <a:endParaRPr/>
          </a:p>
          <a:p>
            <a:pPr marL="12700" marR="5080" algn="just">
              <a:lnSpc>
                <a:spcPct val="100000"/>
              </a:lnSpc>
              <a:defRPr/>
            </a:pPr>
            <a:r>
              <a:rPr/>
              <a:t>E.</a:t>
            </a:r>
            <a:r>
              <a:rPr spc="275"/>
              <a:t> </a:t>
            </a:r>
            <a:r>
              <a:rPr/>
              <a:t>Provide</a:t>
            </a:r>
            <a:r>
              <a:rPr spc="240"/>
              <a:t> </a:t>
            </a:r>
            <a:r>
              <a:rPr/>
              <a:t>explicit</a:t>
            </a:r>
            <a:r>
              <a:rPr spc="275"/>
              <a:t> </a:t>
            </a:r>
            <a:r>
              <a:rPr/>
              <a:t>implementation</a:t>
            </a:r>
            <a:r>
              <a:rPr spc="300"/>
              <a:t> </a:t>
            </a:r>
            <a:r>
              <a:rPr/>
              <a:t>of</a:t>
            </a:r>
            <a:r>
              <a:rPr spc="265"/>
              <a:t> </a:t>
            </a:r>
            <a:r>
              <a:rPr/>
              <a:t>default</a:t>
            </a:r>
            <a:r>
              <a:rPr spc="270"/>
              <a:t> </a:t>
            </a:r>
            <a:r>
              <a:rPr/>
              <a:t>constructors</a:t>
            </a:r>
            <a:r>
              <a:rPr spc="265"/>
              <a:t> </a:t>
            </a:r>
            <a:r>
              <a:rPr spc="-25"/>
              <a:t>and </a:t>
            </a:r>
            <a:r>
              <a:rPr/>
              <a:t>destructors.</a:t>
            </a:r>
            <a:r>
              <a:rPr spc="508"/>
              <a:t> </a:t>
            </a:r>
            <a:r>
              <a:rPr/>
              <a:t>Write</a:t>
            </a:r>
            <a:r>
              <a:rPr spc="520"/>
              <a:t> </a:t>
            </a:r>
            <a:r>
              <a:rPr/>
              <a:t>a</a:t>
            </a:r>
            <a:r>
              <a:rPr spc="515"/>
              <a:t> </a:t>
            </a:r>
            <a:r>
              <a:rPr/>
              <a:t>test</a:t>
            </a:r>
            <a:r>
              <a:rPr spc="508"/>
              <a:t> </a:t>
            </a:r>
            <a:r>
              <a:rPr/>
              <a:t>program</a:t>
            </a:r>
            <a:r>
              <a:rPr spc="508"/>
              <a:t> </a:t>
            </a:r>
            <a:r>
              <a:rPr/>
              <a:t>which</a:t>
            </a:r>
            <a:r>
              <a:rPr spc="508"/>
              <a:t> </a:t>
            </a:r>
            <a:r>
              <a:rPr/>
              <a:t>initializes</a:t>
            </a:r>
            <a:r>
              <a:rPr spc="525"/>
              <a:t> </a:t>
            </a:r>
            <a:r>
              <a:rPr/>
              <a:t>each</a:t>
            </a:r>
            <a:r>
              <a:rPr spc="515"/>
              <a:t> </a:t>
            </a:r>
            <a:r>
              <a:rPr spc="-10"/>
              <a:t>class </a:t>
            </a:r>
            <a:r>
              <a:rPr/>
              <a:t>object</a:t>
            </a:r>
            <a:r>
              <a:rPr spc="-35"/>
              <a:t> </a:t>
            </a:r>
            <a:r>
              <a:rPr/>
              <a:t>and</a:t>
            </a:r>
            <a:r>
              <a:rPr spc="-35"/>
              <a:t> </a:t>
            </a:r>
            <a:r>
              <a:rPr/>
              <a:t>shows</a:t>
            </a:r>
            <a:r>
              <a:rPr spc="-25"/>
              <a:t> </a:t>
            </a:r>
            <a:r>
              <a:rPr/>
              <a:t>execution</a:t>
            </a:r>
            <a:r>
              <a:rPr spc="-35"/>
              <a:t> </a:t>
            </a:r>
            <a:r>
              <a:rPr/>
              <a:t>order</a:t>
            </a:r>
            <a:r>
              <a:rPr spc="-40"/>
              <a:t> </a:t>
            </a:r>
            <a:r>
              <a:rPr/>
              <a:t>of</a:t>
            </a:r>
            <a:r>
              <a:rPr spc="-35"/>
              <a:t> </a:t>
            </a:r>
            <a:r>
              <a:rPr/>
              <a:t>constructor</a:t>
            </a:r>
            <a:r>
              <a:rPr spc="-40"/>
              <a:t> </a:t>
            </a:r>
            <a:r>
              <a:rPr/>
              <a:t>and</a:t>
            </a:r>
            <a:r>
              <a:rPr spc="-20"/>
              <a:t> </a:t>
            </a:r>
            <a:r>
              <a:rPr spc="-10"/>
              <a:t>destructor </a:t>
            </a:r>
            <a:r>
              <a:rPr/>
              <a:t>by</a:t>
            </a:r>
            <a:r>
              <a:rPr spc="-114"/>
              <a:t> </a:t>
            </a:r>
            <a:r>
              <a:rPr/>
              <a:t>printing</a:t>
            </a:r>
            <a:r>
              <a:rPr spc="-95"/>
              <a:t> </a:t>
            </a:r>
            <a:r>
              <a:rPr spc="-10"/>
              <a:t>appropriate</a:t>
            </a:r>
            <a:r>
              <a:rPr spc="-120"/>
              <a:t> </a:t>
            </a:r>
            <a:r>
              <a:rPr spc="-10"/>
              <a:t>messages.</a:t>
            </a:r>
            <a:endParaRPr/>
          </a:p>
        </p:txBody>
      </p:sp>
      <p:sp>
        <p:nvSpPr>
          <p:cNvPr id="587949419" name="object 3"/>
          <p:cNvSpPr txBox="1">
            <a:spLocks noGrp="1"/>
          </p:cNvSpPr>
          <p:nvPr>
            <p:ph type="title"/>
          </p:nvPr>
        </p:nvSpPr>
        <p:spPr bwMode="auto">
          <a:xfrm>
            <a:off x="764540" y="767537"/>
            <a:ext cx="3382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4000" b="1" u="sng">
                <a:solidFill>
                  <a:srgbClr val="121212"/>
                </a:solidFill>
                <a:latin typeface="Arial"/>
                <a:cs typeface="Arial"/>
              </a:rPr>
              <a:t>QUESTION</a:t>
            </a:r>
            <a:r>
              <a:rPr sz="4000" b="1" u="sng" spc="-45">
                <a:solidFill>
                  <a:srgbClr val="121212"/>
                </a:solidFill>
                <a:latin typeface="Arial"/>
                <a:cs typeface="Arial"/>
              </a:rPr>
              <a:t> </a:t>
            </a:r>
            <a:r>
              <a:rPr sz="4000" b="1" u="sng" spc="-25">
                <a:solidFill>
                  <a:srgbClr val="121212"/>
                </a:solidFill>
                <a:latin typeface="Arial"/>
                <a:cs typeface="Arial"/>
              </a:rPr>
              <a:t>01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Zupash Awais BULC</dc:creator>
  <cp:lastModifiedBy/>
  <cp:revision>3</cp:revision>
  <dcterms:created xsi:type="dcterms:W3CDTF">2025-01-01T04:28:53Z</dcterms:created>
  <dcterms:modified xsi:type="dcterms:W3CDTF">2026-01-09T03:26:21Z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2025-01-01T00:00:00Z</vt:filetime>
  </property>
  <property fmtid="{D5CDD505-2E9C-101B-9397-08002B2CF9AE}" pid="5" name="Producer">
    <vt:lpwstr>Microsoft® PowerPoint® 2013</vt:lpwstr>
  </property>
</Properties>
</file>