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63" r:id="rId2"/>
    <p:sldId id="256" r:id="rId3"/>
    <p:sldId id="257" r:id="rId4"/>
    <p:sldId id="258" r:id="rId5"/>
    <p:sldId id="259" r:id="rId6"/>
    <p:sldId id="264" r:id="rId7"/>
    <p:sldId id="265" r:id="rId8"/>
    <p:sldId id="260" r:id="rId9"/>
    <p:sldId id="266" r:id="rId10"/>
    <p:sldId id="267" r:id="rId11"/>
    <p:sldId id="268" r:id="rId12"/>
    <p:sldId id="261" r:id="rId13"/>
    <p:sldId id="270" r:id="rId14"/>
    <p:sldId id="269" r:id="rId15"/>
    <p:sldId id="271" r:id="rId16"/>
    <p:sldId id="262" r:id="rId17"/>
    <p:sldId id="272" r:id="rId18"/>
    <p:sldId id="274" r:id="rId19"/>
    <p:sldId id="273" r:id="rId20"/>
    <p:sldId id="276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68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569FE-38AF-47AF-BDE3-0BA534C16E26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E6CF9-E3D9-4475-A7FF-D74974A26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70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E6CF9-E3D9-4475-A7FF-D74974A260D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9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FCA9D9-D95E-4F8D-B0C0-1FE9AAEBF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24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Constant and Static Members in C++ Classes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Definitions, Examples, and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Constant and Static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Constant Members: Variables that cannot be modified once set.</a:t>
            </a:r>
          </a:p>
          <a:p>
            <a:r>
              <a:rPr dirty="0"/>
              <a:t>Static Members: Shared among all instances of a class.</a:t>
            </a:r>
          </a:p>
          <a:p>
            <a:r>
              <a:rPr dirty="0"/>
              <a:t>Useful when data should remain constant or be shared across objects.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 Initializer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Constructor Initializer: Initializes members before the constructor body.</a:t>
            </a:r>
          </a:p>
          <a:p>
            <a:r>
              <a:rPr dirty="0"/>
              <a:t>Useful for setting const and reference members.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</a:t>
            </a:r>
            <a:r>
              <a:rPr dirty="0" err="1"/>
              <a:t>MyClass</a:t>
            </a:r>
            <a:r>
              <a:rPr dirty="0"/>
              <a:t> {</a:t>
            </a:r>
          </a:p>
          <a:p>
            <a:pPr marL="0" indent="0">
              <a:buNone/>
            </a:pPr>
            <a:r>
              <a:rPr dirty="0"/>
              <a:t>public: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MyClass</a:t>
            </a:r>
            <a:r>
              <a:rPr dirty="0"/>
              <a:t>(int </a:t>
            </a:r>
            <a:r>
              <a:rPr dirty="0" err="1"/>
              <a:t>val</a:t>
            </a:r>
            <a:r>
              <a:rPr dirty="0"/>
              <a:t>) : </a:t>
            </a:r>
            <a:r>
              <a:rPr dirty="0" err="1"/>
              <a:t>constMember</a:t>
            </a:r>
            <a:r>
              <a:rPr dirty="0"/>
              <a:t>(</a:t>
            </a:r>
            <a:r>
              <a:rPr dirty="0" err="1"/>
              <a:t>val</a:t>
            </a:r>
            <a:r>
              <a:rPr dirty="0"/>
              <a:t>) {}</a:t>
            </a:r>
          </a:p>
          <a:p>
            <a:pPr marL="0" indent="0">
              <a:buNone/>
            </a:pPr>
            <a:r>
              <a:rPr dirty="0"/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Constant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const Variables: </a:t>
            </a:r>
            <a:endParaRPr lang="en-US" dirty="0"/>
          </a:p>
          <a:p>
            <a:pPr lvl="1"/>
            <a:r>
              <a:rPr lang="en-US" dirty="0"/>
              <a:t>A const variable in a class cannot be modified after being initialized, typically done using an initializer list in the constructor. </a:t>
            </a:r>
          </a:p>
          <a:p>
            <a:pPr lvl="1"/>
            <a:r>
              <a:rPr dirty="0"/>
              <a:t>Cannot be modified after initialization.</a:t>
            </a:r>
          </a:p>
          <a:p>
            <a:r>
              <a:rPr lang="en-US" dirty="0"/>
              <a:t>c</a:t>
            </a:r>
            <a:r>
              <a:rPr dirty="0"/>
              <a:t>onst Functions: </a:t>
            </a:r>
            <a:endParaRPr lang="en-US" dirty="0"/>
          </a:p>
          <a:p>
            <a:pPr lvl="1"/>
            <a:r>
              <a:rPr lang="en-US" dirty="0"/>
              <a:t>A member function marked as const ensures that it cannot modify any member variables of the class.</a:t>
            </a:r>
          </a:p>
          <a:p>
            <a:pPr lvl="1"/>
            <a:r>
              <a:rPr dirty="0"/>
              <a:t>Do not modify any class members.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6DCD-623F-462C-88A9-57DC11A4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EA52A-8F4A-4CE9-9BE7-A28E832F5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class Car {</a:t>
            </a:r>
          </a:p>
          <a:p>
            <a:pPr marL="0" indent="0">
              <a:buNone/>
            </a:pPr>
            <a:r>
              <a:rPr lang="en-US" dirty="0"/>
              <a:t>    const int </a:t>
            </a:r>
            <a:r>
              <a:rPr lang="en-US" dirty="0" err="1"/>
              <a:t>maxSpeed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currentSpeed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Car(int speed) : </a:t>
            </a:r>
            <a:r>
              <a:rPr lang="en-US" dirty="0" err="1"/>
              <a:t>maxSpeed</a:t>
            </a:r>
            <a:r>
              <a:rPr lang="en-US" dirty="0"/>
              <a:t>(speed) {}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getMaxSpeed</a:t>
            </a:r>
            <a:r>
              <a:rPr lang="en-US" dirty="0"/>
              <a:t>() const { return </a:t>
            </a:r>
            <a:r>
              <a:rPr lang="en-US" dirty="0" err="1"/>
              <a:t>maxSpeed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084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3D77F-5FA4-46CB-A1DC-A522F55C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837" y="114299"/>
            <a:ext cx="3562351" cy="64928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D7420-32F7-4E7B-BECB-7B31514F8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825" y="114299"/>
            <a:ext cx="5384800" cy="663892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900" dirty="0"/>
              <a:t>#include &lt;iostream&gt;</a:t>
            </a:r>
          </a:p>
          <a:p>
            <a:pPr marL="0" indent="0">
              <a:buNone/>
            </a:pPr>
            <a:r>
              <a:rPr lang="en-US" sz="4900" dirty="0"/>
              <a:t>#include &lt;string&gt;</a:t>
            </a:r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r>
              <a:rPr lang="en-US" sz="4900" dirty="0"/>
              <a:t>class Car {</a:t>
            </a:r>
          </a:p>
          <a:p>
            <a:pPr marL="0" indent="0">
              <a:buNone/>
            </a:pPr>
            <a:r>
              <a:rPr lang="en-US" sz="4900" dirty="0"/>
              <a:t>    const int </a:t>
            </a:r>
            <a:r>
              <a:rPr lang="en-US" sz="4900" dirty="0" err="1"/>
              <a:t>maxSpeed</a:t>
            </a:r>
            <a:r>
              <a:rPr lang="en-US" sz="4900" dirty="0"/>
              <a:t>;        // const member variable, set only once</a:t>
            </a:r>
          </a:p>
          <a:p>
            <a:pPr marL="0" indent="0">
              <a:buNone/>
            </a:pPr>
            <a:r>
              <a:rPr lang="en-US" sz="4900" dirty="0"/>
              <a:t>    string brand;</a:t>
            </a:r>
          </a:p>
          <a:p>
            <a:pPr marL="0" indent="0">
              <a:buNone/>
            </a:pPr>
            <a:r>
              <a:rPr lang="en-US" sz="4900" dirty="0"/>
              <a:t>    int </a:t>
            </a:r>
            <a:r>
              <a:rPr lang="en-US" sz="4900" dirty="0" err="1"/>
              <a:t>currentSpeed</a:t>
            </a:r>
            <a:r>
              <a:rPr lang="en-US" sz="4900" dirty="0"/>
              <a:t>;</a:t>
            </a:r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r>
              <a:rPr lang="en-US" sz="4900" dirty="0"/>
              <a:t>public:</a:t>
            </a:r>
          </a:p>
          <a:p>
            <a:pPr marL="0" indent="0">
              <a:buNone/>
            </a:pPr>
            <a:r>
              <a:rPr lang="en-US" sz="4900" dirty="0"/>
              <a:t>Car(const string&amp; </a:t>
            </a:r>
            <a:r>
              <a:rPr lang="en-US" sz="4900" dirty="0" err="1"/>
              <a:t>carBrand</a:t>
            </a:r>
            <a:r>
              <a:rPr lang="en-US" sz="4900" dirty="0"/>
              <a:t>, int </a:t>
            </a:r>
            <a:r>
              <a:rPr lang="en-US" sz="4900" dirty="0" err="1"/>
              <a:t>maxSpd</a:t>
            </a:r>
            <a:r>
              <a:rPr lang="en-US" sz="4900" dirty="0"/>
              <a:t>) : brand(</a:t>
            </a:r>
            <a:r>
              <a:rPr lang="en-US" sz="4900" dirty="0" err="1"/>
              <a:t>carBrand</a:t>
            </a:r>
            <a:r>
              <a:rPr lang="en-US" sz="4900" dirty="0"/>
              <a:t>), </a:t>
            </a:r>
            <a:r>
              <a:rPr lang="en-US" sz="4900" dirty="0" err="1"/>
              <a:t>maxSpeed</a:t>
            </a:r>
            <a:r>
              <a:rPr lang="en-US" sz="4900" dirty="0"/>
              <a:t>(</a:t>
            </a:r>
            <a:r>
              <a:rPr lang="en-US" sz="4900" dirty="0" err="1"/>
              <a:t>maxSpd</a:t>
            </a:r>
            <a:r>
              <a:rPr lang="en-US" sz="4900" dirty="0"/>
              <a:t>), </a:t>
            </a:r>
            <a:r>
              <a:rPr lang="en-US" sz="4900" dirty="0" err="1"/>
              <a:t>currentSpeed</a:t>
            </a:r>
            <a:r>
              <a:rPr lang="en-US" sz="4900" dirty="0"/>
              <a:t>(0) {}</a:t>
            </a:r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r>
              <a:rPr lang="en-US" sz="4900" dirty="0"/>
              <a:t>    // Getter for </a:t>
            </a:r>
            <a:r>
              <a:rPr lang="en-US" sz="4900" dirty="0" err="1"/>
              <a:t>maxSpeed</a:t>
            </a:r>
            <a:r>
              <a:rPr lang="en-US" sz="4900" dirty="0"/>
              <a:t> - this function is const since it only accesses data</a:t>
            </a:r>
          </a:p>
          <a:p>
            <a:pPr marL="0" indent="0">
              <a:buNone/>
            </a:pPr>
            <a:r>
              <a:rPr lang="en-US" sz="4900" dirty="0"/>
              <a:t>    int </a:t>
            </a:r>
            <a:r>
              <a:rPr lang="en-US" sz="4900" dirty="0" err="1"/>
              <a:t>getMaxSpeed</a:t>
            </a:r>
            <a:r>
              <a:rPr lang="en-US" sz="4900" dirty="0"/>
              <a:t>() const { return </a:t>
            </a:r>
            <a:r>
              <a:rPr lang="en-US" sz="4900" dirty="0" err="1"/>
              <a:t>maxSpeed</a:t>
            </a:r>
            <a:r>
              <a:rPr lang="en-US" sz="4900" dirty="0"/>
              <a:t>;  }</a:t>
            </a:r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r>
              <a:rPr lang="en-US" sz="4900" dirty="0"/>
              <a:t>    // Setter for </a:t>
            </a:r>
            <a:r>
              <a:rPr lang="en-US" sz="4900" dirty="0" err="1"/>
              <a:t>currentSpeed</a:t>
            </a:r>
            <a:r>
              <a:rPr lang="en-US" sz="4900" dirty="0"/>
              <a:t> - modifying function, so not marked const</a:t>
            </a:r>
          </a:p>
          <a:p>
            <a:pPr marL="0" indent="0">
              <a:buNone/>
            </a:pPr>
            <a:r>
              <a:rPr lang="en-US" sz="4900" dirty="0"/>
              <a:t>void </a:t>
            </a:r>
            <a:r>
              <a:rPr lang="en-US" sz="4900" dirty="0" err="1"/>
              <a:t>setCurrentSpeed</a:t>
            </a:r>
            <a:r>
              <a:rPr lang="en-US" sz="4900" dirty="0"/>
              <a:t>(int speed) {</a:t>
            </a:r>
          </a:p>
          <a:p>
            <a:pPr marL="0" indent="0">
              <a:buNone/>
            </a:pPr>
            <a:r>
              <a:rPr lang="en-US" sz="4900" dirty="0"/>
              <a:t>        if (speed &lt;= </a:t>
            </a:r>
            <a:r>
              <a:rPr lang="en-US" sz="4900" dirty="0" err="1"/>
              <a:t>maxSpeed</a:t>
            </a:r>
            <a:r>
              <a:rPr lang="en-US" sz="4900" dirty="0"/>
              <a:t>) {</a:t>
            </a:r>
          </a:p>
          <a:p>
            <a:pPr marL="0" indent="0">
              <a:buNone/>
            </a:pPr>
            <a:r>
              <a:rPr lang="en-US" sz="4900" dirty="0"/>
              <a:t>            </a:t>
            </a:r>
            <a:r>
              <a:rPr lang="en-US" sz="4900" dirty="0" err="1"/>
              <a:t>currentSpeed</a:t>
            </a:r>
            <a:r>
              <a:rPr lang="en-US" sz="4900" dirty="0"/>
              <a:t> = speed;</a:t>
            </a:r>
          </a:p>
          <a:p>
            <a:pPr marL="0" indent="0">
              <a:buNone/>
            </a:pPr>
            <a:r>
              <a:rPr lang="en-US" sz="4900" dirty="0"/>
              <a:t>        } else {</a:t>
            </a:r>
          </a:p>
          <a:p>
            <a:pPr marL="0" indent="0">
              <a:buNone/>
            </a:pPr>
            <a:r>
              <a:rPr lang="en-US" sz="4900" dirty="0"/>
              <a:t>            </a:t>
            </a:r>
            <a:r>
              <a:rPr lang="en-US" sz="4900" dirty="0" err="1"/>
              <a:t>currentSpeed</a:t>
            </a:r>
            <a:r>
              <a:rPr lang="en-US" sz="4900" dirty="0"/>
              <a:t> = </a:t>
            </a:r>
            <a:r>
              <a:rPr lang="en-US" sz="4900" dirty="0" err="1"/>
              <a:t>maxSpeed</a:t>
            </a:r>
            <a:r>
              <a:rPr lang="en-US" sz="4900" dirty="0"/>
              <a:t>;</a:t>
            </a:r>
          </a:p>
          <a:p>
            <a:pPr marL="0" indent="0">
              <a:buNone/>
            </a:pPr>
            <a:r>
              <a:rPr lang="en-US" sz="4900" dirty="0"/>
              <a:t>        }</a:t>
            </a:r>
          </a:p>
          <a:p>
            <a:pPr marL="0" indent="0">
              <a:buNone/>
            </a:pPr>
            <a:r>
              <a:rPr lang="en-US" sz="4900" dirty="0"/>
              <a:t>    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7E6152-93DA-4C14-81C0-7C0D7C630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1237" y="114299"/>
            <a:ext cx="5384800" cy="654367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US" sz="3100" dirty="0"/>
          </a:p>
          <a:p>
            <a:pPr marL="0" indent="0">
              <a:buNone/>
            </a:pPr>
            <a:r>
              <a:rPr lang="en-US" sz="4900" dirty="0"/>
              <a:t>    // Function to get </a:t>
            </a:r>
            <a:r>
              <a:rPr lang="en-US" sz="4900" dirty="0" err="1"/>
              <a:t>currentSpeed</a:t>
            </a:r>
            <a:r>
              <a:rPr lang="en-US" sz="4900" dirty="0"/>
              <a:t> - this function is const</a:t>
            </a:r>
          </a:p>
          <a:p>
            <a:pPr marL="0" indent="0">
              <a:buNone/>
            </a:pPr>
            <a:r>
              <a:rPr lang="en-US" sz="4900" dirty="0"/>
              <a:t>    int </a:t>
            </a:r>
            <a:r>
              <a:rPr lang="en-US" sz="4900" dirty="0" err="1"/>
              <a:t>getCurrentSpeed</a:t>
            </a:r>
            <a:r>
              <a:rPr lang="en-US" sz="4900" dirty="0"/>
              <a:t>() const {</a:t>
            </a:r>
          </a:p>
          <a:p>
            <a:pPr marL="0" indent="0">
              <a:buNone/>
            </a:pPr>
            <a:r>
              <a:rPr lang="en-US" sz="4900" dirty="0"/>
              <a:t>        return </a:t>
            </a:r>
            <a:r>
              <a:rPr lang="en-US" sz="4900" dirty="0" err="1"/>
              <a:t>currentSpeed</a:t>
            </a:r>
            <a:r>
              <a:rPr lang="en-US" sz="4900" dirty="0"/>
              <a:t>;</a:t>
            </a:r>
          </a:p>
          <a:p>
            <a:pPr marL="0" indent="0">
              <a:buNone/>
            </a:pPr>
            <a:r>
              <a:rPr lang="en-US" sz="4900" dirty="0"/>
              <a:t>    }</a:t>
            </a:r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r>
              <a:rPr lang="en-US" sz="4900" dirty="0"/>
              <a:t>    // Function to display car details - const function</a:t>
            </a:r>
          </a:p>
          <a:p>
            <a:pPr marL="0" indent="0">
              <a:buNone/>
            </a:pPr>
            <a:r>
              <a:rPr lang="en-US" sz="4900" dirty="0"/>
              <a:t>    void </a:t>
            </a:r>
            <a:r>
              <a:rPr lang="en-US" sz="4900" dirty="0" err="1"/>
              <a:t>displayDetails</a:t>
            </a:r>
            <a:r>
              <a:rPr lang="en-US" sz="4900" dirty="0"/>
              <a:t>() const {</a:t>
            </a:r>
          </a:p>
          <a:p>
            <a:pPr marL="0" indent="0">
              <a:buNone/>
            </a:pPr>
            <a:r>
              <a:rPr lang="en-US" sz="4900" dirty="0"/>
              <a:t>        std::</a:t>
            </a:r>
            <a:r>
              <a:rPr lang="en-US" sz="4900" dirty="0" err="1"/>
              <a:t>cout</a:t>
            </a:r>
            <a:r>
              <a:rPr lang="en-US" sz="4900" dirty="0"/>
              <a:t> &lt;&lt; "Brand: " &lt;&lt; brand &lt;&lt; "\</a:t>
            </a:r>
            <a:r>
              <a:rPr lang="en-US" sz="4900" dirty="0" err="1"/>
              <a:t>nMax</a:t>
            </a:r>
            <a:r>
              <a:rPr lang="en-US" sz="4900" dirty="0"/>
              <a:t> Speed: " &lt;&lt; </a:t>
            </a:r>
            <a:r>
              <a:rPr lang="en-US" sz="4900" dirty="0" err="1"/>
              <a:t>maxSpeed</a:t>
            </a:r>
            <a:endParaRPr lang="en-US" sz="4900" dirty="0"/>
          </a:p>
          <a:p>
            <a:pPr marL="0" indent="0">
              <a:buNone/>
            </a:pPr>
            <a:r>
              <a:rPr lang="en-US" sz="4900" dirty="0"/>
              <a:t>                  &lt;&lt; "\</a:t>
            </a:r>
            <a:r>
              <a:rPr lang="en-US" sz="4900" dirty="0" err="1"/>
              <a:t>nCurrent</a:t>
            </a:r>
            <a:r>
              <a:rPr lang="en-US" sz="4900" dirty="0"/>
              <a:t> Speed: " &lt;&lt; </a:t>
            </a:r>
            <a:r>
              <a:rPr lang="en-US" sz="4900" dirty="0" err="1"/>
              <a:t>currentSpeed</a:t>
            </a:r>
            <a:r>
              <a:rPr lang="en-US" sz="4900" dirty="0"/>
              <a:t> &lt;&lt; std::</a:t>
            </a:r>
            <a:r>
              <a:rPr lang="en-US" sz="4900" dirty="0" err="1"/>
              <a:t>endl</a:t>
            </a:r>
            <a:r>
              <a:rPr lang="en-US" sz="4900" dirty="0"/>
              <a:t>;</a:t>
            </a:r>
          </a:p>
          <a:p>
            <a:pPr marL="0" indent="0">
              <a:buNone/>
            </a:pPr>
            <a:r>
              <a:rPr lang="en-US" sz="4900" dirty="0"/>
              <a:t>    }</a:t>
            </a:r>
          </a:p>
          <a:p>
            <a:pPr marL="0" indent="0">
              <a:buNone/>
            </a:pPr>
            <a:r>
              <a:rPr lang="en-US" sz="4900" dirty="0"/>
              <a:t>};</a:t>
            </a:r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r>
              <a:rPr lang="en-US" sz="4900" dirty="0"/>
              <a:t>int main() {</a:t>
            </a:r>
          </a:p>
          <a:p>
            <a:pPr marL="0" indent="0">
              <a:buNone/>
            </a:pPr>
            <a:r>
              <a:rPr lang="en-US" sz="4900" dirty="0"/>
              <a:t>    Car </a:t>
            </a:r>
            <a:r>
              <a:rPr lang="en-US" sz="4900" dirty="0" err="1"/>
              <a:t>myCar</a:t>
            </a:r>
            <a:r>
              <a:rPr lang="en-US" sz="4900" dirty="0"/>
              <a:t>("Toyota", 180);      // Creating a car object with brand Toyota and </a:t>
            </a:r>
            <a:r>
              <a:rPr lang="en-US" sz="4900" dirty="0" err="1"/>
              <a:t>maxSpeed</a:t>
            </a:r>
            <a:r>
              <a:rPr lang="en-US" sz="4900" dirty="0"/>
              <a:t> 180</a:t>
            </a:r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r>
              <a:rPr lang="en-US" sz="4900" dirty="0"/>
              <a:t>    </a:t>
            </a:r>
            <a:r>
              <a:rPr lang="en-US" sz="4900" dirty="0" err="1"/>
              <a:t>myCar.setCurrentSpeed</a:t>
            </a:r>
            <a:r>
              <a:rPr lang="en-US" sz="4900" dirty="0"/>
              <a:t>(100);    // Set the speed to 100</a:t>
            </a:r>
          </a:p>
          <a:p>
            <a:pPr marL="0" indent="0">
              <a:buNone/>
            </a:pPr>
            <a:r>
              <a:rPr lang="en-US" sz="4900" dirty="0"/>
              <a:t>    </a:t>
            </a:r>
            <a:r>
              <a:rPr lang="en-US" sz="4900" dirty="0" err="1"/>
              <a:t>myCar.displayDetails</a:t>
            </a:r>
            <a:r>
              <a:rPr lang="en-US" sz="4900" dirty="0"/>
              <a:t>();        // Display the details (Brand, Max Speed, Current Speed)</a:t>
            </a:r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r>
              <a:rPr lang="en-US" sz="4900" dirty="0"/>
              <a:t>    return 0;</a:t>
            </a:r>
          </a:p>
          <a:p>
            <a:pPr marL="0" indent="0">
              <a:buNone/>
            </a:pPr>
            <a:r>
              <a:rPr lang="en-US" sz="49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0687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static Variables: </a:t>
            </a:r>
            <a:endParaRPr lang="en-US" dirty="0"/>
          </a:p>
          <a:p>
            <a:pPr lvl="1"/>
            <a:r>
              <a:rPr lang="en-US" dirty="0"/>
              <a:t>A static member variable is shared among all instances of a class. </a:t>
            </a:r>
          </a:p>
          <a:p>
            <a:pPr lvl="1"/>
            <a:r>
              <a:rPr lang="en-US" dirty="0"/>
              <a:t>It’s typically used to keep track of information relevant to the class rather than any specific object, like a counter for the number of instances.</a:t>
            </a:r>
          </a:p>
          <a:p>
            <a:pPr lvl="1"/>
            <a:r>
              <a:rPr dirty="0"/>
              <a:t>Shared by all instances of a class.</a:t>
            </a:r>
          </a:p>
          <a:p>
            <a:r>
              <a:rPr dirty="0"/>
              <a:t>static Functions: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static member function can be called without an instance of the class. </a:t>
            </a:r>
          </a:p>
          <a:p>
            <a:pPr lvl="1"/>
            <a:r>
              <a:rPr lang="en-US" dirty="0"/>
              <a:t>It can only access static members (variables or other functions) of the class because it doesn't have access to an object instance.</a:t>
            </a:r>
          </a:p>
          <a:p>
            <a:pPr lvl="1"/>
            <a:r>
              <a:rPr dirty="0"/>
              <a:t>Do not operate on object instances.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19C1-7E85-440F-A2A3-4A34BE23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00B4D-C02D-4A5B-A951-8A5636932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class Counter {</a:t>
            </a:r>
          </a:p>
          <a:p>
            <a:pPr marL="0" indent="0">
              <a:buNone/>
            </a:pPr>
            <a:r>
              <a:rPr lang="en-US" dirty="0"/>
              <a:t>    static int count;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Counter() { ++count; }</a:t>
            </a:r>
          </a:p>
          <a:p>
            <a:pPr marL="0" indent="0">
              <a:buNone/>
            </a:pPr>
            <a:r>
              <a:rPr lang="en-US" dirty="0"/>
              <a:t>    static int </a:t>
            </a:r>
            <a:r>
              <a:rPr lang="en-US" dirty="0" err="1"/>
              <a:t>getCount</a:t>
            </a:r>
            <a:r>
              <a:rPr lang="en-US" dirty="0"/>
              <a:t>() { return count;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33433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340D-EF7A-4B89-B105-2D27179B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D0C81-E013-4D64-B6EE-BE3B79CDA6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Employee {</a:t>
            </a:r>
          </a:p>
          <a:p>
            <a:pPr marL="0" indent="0">
              <a:buNone/>
            </a:pPr>
            <a:r>
              <a:rPr lang="en-US" dirty="0"/>
              <a:t>private:</a:t>
            </a:r>
          </a:p>
          <a:p>
            <a:pPr marL="0" indent="0">
              <a:buNone/>
            </a:pPr>
            <a:r>
              <a:rPr lang="en-US" dirty="0"/>
              <a:t>    string name;</a:t>
            </a:r>
          </a:p>
          <a:p>
            <a:pPr marL="0" indent="0">
              <a:buNone/>
            </a:pPr>
            <a:r>
              <a:rPr lang="en-US" dirty="0"/>
              <a:t>    int id;</a:t>
            </a:r>
          </a:p>
          <a:p>
            <a:pPr marL="0" indent="0">
              <a:buNone/>
            </a:pPr>
            <a:r>
              <a:rPr lang="en-US" dirty="0"/>
              <a:t>    static int </a:t>
            </a:r>
            <a:r>
              <a:rPr lang="en-US" dirty="0" err="1"/>
              <a:t>employeeCount</a:t>
            </a:r>
            <a:r>
              <a:rPr lang="en-US" dirty="0"/>
              <a:t>;   // Static member variable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// Constructor</a:t>
            </a:r>
          </a:p>
          <a:p>
            <a:pPr marL="0" indent="0">
              <a:buNone/>
            </a:pPr>
            <a:r>
              <a:rPr lang="en-US" dirty="0"/>
              <a:t>    Employee(string </a:t>
            </a:r>
            <a:r>
              <a:rPr lang="en-US" dirty="0" err="1"/>
              <a:t>empName</a:t>
            </a:r>
            <a:r>
              <a:rPr lang="en-US" dirty="0"/>
              <a:t>) : name(</a:t>
            </a:r>
            <a:r>
              <a:rPr lang="en-US" dirty="0" err="1"/>
              <a:t>empName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id = ++</a:t>
            </a:r>
            <a:r>
              <a:rPr lang="en-US" dirty="0" err="1"/>
              <a:t>employeeCount</a:t>
            </a: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Static member function to get the count of employees</a:t>
            </a:r>
          </a:p>
          <a:p>
            <a:pPr marL="0" indent="0">
              <a:buNone/>
            </a:pPr>
            <a:r>
              <a:rPr lang="en-US" dirty="0"/>
              <a:t>    static int </a:t>
            </a:r>
            <a:r>
              <a:rPr lang="en-US" dirty="0" err="1"/>
              <a:t>getEmployeeCount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employeeCount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Non-static function to display employee details</a:t>
            </a:r>
          </a:p>
          <a:p>
            <a:pPr marL="0" indent="0">
              <a:buNone/>
            </a:pPr>
            <a:r>
              <a:rPr lang="en-US" dirty="0"/>
              <a:t>    void display() const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"Employee ID: " &lt;&lt; id &lt;&lt; ", Name: " &lt;&lt; name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F8F257-CBC4-4F87-9161-4AF394A676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// Initialize the static member variable outside the class definition</a:t>
            </a:r>
          </a:p>
          <a:p>
            <a:pPr marL="0" indent="0">
              <a:buNone/>
            </a:pPr>
            <a:r>
              <a:rPr lang="en-US" dirty="0"/>
              <a:t>int Employee::</a:t>
            </a:r>
            <a:r>
              <a:rPr lang="en-US" dirty="0" err="1"/>
              <a:t>employeeCount</a:t>
            </a:r>
            <a:r>
              <a:rPr lang="en-US" dirty="0"/>
              <a:t> = 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Employee emp1("Alice");</a:t>
            </a:r>
          </a:p>
          <a:p>
            <a:pPr marL="0" indent="0">
              <a:buNone/>
            </a:pPr>
            <a:r>
              <a:rPr lang="en-US" dirty="0"/>
              <a:t>    Employee emp2("Bob");</a:t>
            </a:r>
          </a:p>
          <a:p>
            <a:pPr marL="0" indent="0">
              <a:buNone/>
            </a:pPr>
            <a:r>
              <a:rPr lang="en-US" dirty="0"/>
              <a:t>    Employee emp3("Charlie");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emp1.display();  // Displays Employee ID and Name</a:t>
            </a:r>
          </a:p>
          <a:p>
            <a:pPr marL="0" indent="0">
              <a:buNone/>
            </a:pPr>
            <a:r>
              <a:rPr lang="en-US" dirty="0"/>
              <a:t>    emp2.display();</a:t>
            </a:r>
          </a:p>
          <a:p>
            <a:pPr marL="0" indent="0">
              <a:buNone/>
            </a:pPr>
            <a:r>
              <a:rPr lang="en-US" dirty="0"/>
              <a:t>    emp3.display();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Call the static member function to get the total employee count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"Total Employees: " &lt;&lt; Employee::</a:t>
            </a:r>
            <a:r>
              <a:rPr lang="en-US" dirty="0" err="1"/>
              <a:t>getEmployeeCount</a:t>
            </a:r>
            <a:r>
              <a:rPr lang="en-US" dirty="0"/>
              <a:t>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683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5C44C-D8E9-4A8B-8FD6-5657AF83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8C77E-AEA0-4742-8C2F-EE0A77E3F8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000" dirty="0"/>
              <a:t>#include &lt;iostream&gt;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class </a:t>
            </a:r>
            <a:r>
              <a:rPr lang="en-US" sz="4000" dirty="0" err="1"/>
              <a:t>BankAccount</a:t>
            </a:r>
            <a:r>
              <a:rPr lang="en-US" sz="4000" dirty="0"/>
              <a:t> {</a:t>
            </a:r>
          </a:p>
          <a:p>
            <a:pPr marL="0" indent="0">
              <a:buNone/>
            </a:pPr>
            <a:r>
              <a:rPr lang="en-US" sz="4000" dirty="0"/>
              <a:t>private:</a:t>
            </a:r>
          </a:p>
          <a:p>
            <a:pPr marL="0" indent="0">
              <a:buNone/>
            </a:pPr>
            <a:r>
              <a:rPr lang="en-US" sz="4000" dirty="0"/>
              <a:t>    string </a:t>
            </a:r>
            <a:r>
              <a:rPr lang="en-US" sz="4000" dirty="0" err="1"/>
              <a:t>accountHolder</a:t>
            </a:r>
            <a:r>
              <a:rPr lang="en-US" sz="4000" dirty="0"/>
              <a:t>;</a:t>
            </a:r>
          </a:p>
          <a:p>
            <a:pPr marL="0" indent="0">
              <a:buNone/>
            </a:pPr>
            <a:r>
              <a:rPr lang="en-US" sz="4000" dirty="0"/>
              <a:t>    double balance;</a:t>
            </a:r>
          </a:p>
          <a:p>
            <a:pPr marL="0" indent="0">
              <a:buNone/>
            </a:pPr>
            <a:r>
              <a:rPr lang="en-US" sz="4000" dirty="0"/>
              <a:t>    static double </a:t>
            </a:r>
            <a:r>
              <a:rPr lang="en-US" sz="4000" dirty="0" err="1"/>
              <a:t>totalBankBalance</a:t>
            </a:r>
            <a:r>
              <a:rPr lang="en-US" sz="4000" dirty="0"/>
              <a:t>;  // Static member variable to track total bank balance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public:</a:t>
            </a:r>
          </a:p>
          <a:p>
            <a:pPr marL="0" indent="0">
              <a:buNone/>
            </a:pPr>
            <a:r>
              <a:rPr lang="en-US" sz="4000" dirty="0"/>
              <a:t>    // Constructor to initialize account with a holder name and initial balance</a:t>
            </a:r>
          </a:p>
          <a:p>
            <a:pPr marL="0" indent="0">
              <a:buNone/>
            </a:pPr>
            <a:r>
              <a:rPr lang="en-US" sz="4000" dirty="0"/>
              <a:t>    </a:t>
            </a:r>
            <a:r>
              <a:rPr lang="en-US" sz="4000" dirty="0" err="1"/>
              <a:t>BankAccount</a:t>
            </a:r>
            <a:r>
              <a:rPr lang="en-US" sz="4000" dirty="0"/>
              <a:t>(string name, double </a:t>
            </a:r>
            <a:r>
              <a:rPr lang="en-US" sz="4000" dirty="0" err="1"/>
              <a:t>initialBalance</a:t>
            </a:r>
            <a:r>
              <a:rPr lang="en-US" sz="4000" dirty="0"/>
              <a:t>) : </a:t>
            </a:r>
            <a:r>
              <a:rPr lang="en-US" sz="4000" dirty="0" err="1"/>
              <a:t>accountHolder</a:t>
            </a:r>
            <a:r>
              <a:rPr lang="en-US" sz="4000" dirty="0"/>
              <a:t>(name), balance(</a:t>
            </a:r>
            <a:r>
              <a:rPr lang="en-US" sz="4000" dirty="0" err="1"/>
              <a:t>initialBalance</a:t>
            </a:r>
            <a:r>
              <a:rPr lang="en-US" sz="4000" dirty="0"/>
              <a:t>) {</a:t>
            </a:r>
          </a:p>
          <a:p>
            <a:pPr marL="0" indent="0">
              <a:buNone/>
            </a:pPr>
            <a:r>
              <a:rPr lang="en-US" sz="4000" dirty="0"/>
              <a:t>        </a:t>
            </a:r>
            <a:r>
              <a:rPr lang="en-US" sz="4000" dirty="0" err="1"/>
              <a:t>totalBankBalance</a:t>
            </a:r>
            <a:r>
              <a:rPr lang="en-US" sz="4000" dirty="0"/>
              <a:t> += </a:t>
            </a:r>
            <a:r>
              <a:rPr lang="en-US" sz="4000" dirty="0" err="1"/>
              <a:t>initialBalance</a:t>
            </a:r>
            <a:r>
              <a:rPr lang="en-US" sz="4000" dirty="0"/>
              <a:t>;    }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    // Destructor to deduct account balance from </a:t>
            </a:r>
            <a:r>
              <a:rPr lang="en-US" sz="4000" dirty="0" err="1"/>
              <a:t>totalBankBalance</a:t>
            </a:r>
            <a:r>
              <a:rPr lang="en-US" sz="4000" dirty="0"/>
              <a:t> when an account is closed</a:t>
            </a:r>
          </a:p>
          <a:p>
            <a:pPr marL="0" indent="0">
              <a:buNone/>
            </a:pPr>
            <a:r>
              <a:rPr lang="en-US" sz="4000" dirty="0"/>
              <a:t>    ~</a:t>
            </a:r>
            <a:r>
              <a:rPr lang="en-US" sz="4000" dirty="0" err="1"/>
              <a:t>BankAccount</a:t>
            </a:r>
            <a:r>
              <a:rPr lang="en-US" sz="4000" dirty="0"/>
              <a:t>() {</a:t>
            </a:r>
          </a:p>
          <a:p>
            <a:pPr marL="0" indent="0">
              <a:buNone/>
            </a:pPr>
            <a:r>
              <a:rPr lang="en-US" sz="4000" dirty="0"/>
              <a:t>        </a:t>
            </a:r>
            <a:r>
              <a:rPr lang="en-US" sz="4000" dirty="0" err="1"/>
              <a:t>totalBankBalance</a:t>
            </a:r>
            <a:r>
              <a:rPr lang="en-US" sz="4000" dirty="0"/>
              <a:t> -= balance;</a:t>
            </a:r>
          </a:p>
          <a:p>
            <a:pPr marL="0" indent="0">
              <a:buNone/>
            </a:pPr>
            <a:r>
              <a:rPr lang="en-US" sz="4000" dirty="0"/>
              <a:t>    }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    // Static member function to get the total balance across all accounts</a:t>
            </a:r>
          </a:p>
          <a:p>
            <a:pPr marL="0" indent="0">
              <a:buNone/>
            </a:pPr>
            <a:r>
              <a:rPr lang="en-US" sz="4000" dirty="0"/>
              <a:t>    static double </a:t>
            </a:r>
            <a:r>
              <a:rPr lang="en-US" sz="4000" dirty="0" err="1"/>
              <a:t>getTotalBankBalance</a:t>
            </a:r>
            <a:r>
              <a:rPr lang="en-US" sz="4000" dirty="0"/>
              <a:t>() {</a:t>
            </a:r>
          </a:p>
          <a:p>
            <a:pPr marL="0" indent="0">
              <a:buNone/>
            </a:pPr>
            <a:r>
              <a:rPr lang="en-US" sz="4000" dirty="0"/>
              <a:t>        return </a:t>
            </a:r>
            <a:r>
              <a:rPr lang="en-US" sz="4000" dirty="0" err="1"/>
              <a:t>totalBankBalance</a:t>
            </a:r>
            <a:r>
              <a:rPr lang="en-US" sz="4000" dirty="0"/>
              <a:t>;</a:t>
            </a:r>
          </a:p>
          <a:p>
            <a:pPr marL="0" indent="0">
              <a:buNone/>
            </a:pPr>
            <a:r>
              <a:rPr lang="en-US" sz="4000" dirty="0"/>
              <a:t>    }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    // Deposit function</a:t>
            </a:r>
          </a:p>
          <a:p>
            <a:pPr marL="0" indent="0">
              <a:buNone/>
            </a:pPr>
            <a:r>
              <a:rPr lang="en-US" sz="4000" dirty="0"/>
              <a:t>    void deposit(double amount) {</a:t>
            </a:r>
          </a:p>
          <a:p>
            <a:pPr marL="0" indent="0">
              <a:buNone/>
            </a:pPr>
            <a:r>
              <a:rPr lang="en-US" sz="4000" dirty="0"/>
              <a:t>        balance += amount;</a:t>
            </a:r>
          </a:p>
          <a:p>
            <a:pPr marL="0" indent="0">
              <a:buNone/>
            </a:pPr>
            <a:r>
              <a:rPr lang="en-US" sz="4000" dirty="0"/>
              <a:t>        </a:t>
            </a:r>
            <a:r>
              <a:rPr lang="en-US" sz="4000" dirty="0" err="1"/>
              <a:t>totalBankBalance</a:t>
            </a:r>
            <a:r>
              <a:rPr lang="en-US" sz="4000" dirty="0"/>
              <a:t> += amount; </a:t>
            </a:r>
          </a:p>
          <a:p>
            <a:pPr marL="0" indent="0">
              <a:buNone/>
            </a:pPr>
            <a:r>
              <a:rPr lang="en-US" sz="4000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D35FE-06BD-4B96-AC80-09AE289EB0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// Withdraw function</a:t>
            </a:r>
          </a:p>
          <a:p>
            <a:pPr marL="0" indent="0">
              <a:buNone/>
            </a:pPr>
            <a:r>
              <a:rPr lang="en-US" dirty="0"/>
              <a:t>    void withdraw(double amount) {</a:t>
            </a:r>
          </a:p>
          <a:p>
            <a:pPr marL="0" indent="0">
              <a:buNone/>
            </a:pPr>
            <a:r>
              <a:rPr lang="en-US" dirty="0"/>
              <a:t>        if (amount &lt;= balance) {</a:t>
            </a:r>
          </a:p>
          <a:p>
            <a:pPr marL="0" indent="0">
              <a:buNone/>
            </a:pPr>
            <a:r>
              <a:rPr lang="en-US" dirty="0"/>
              <a:t>            balance -= amount;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totalBankBalance</a:t>
            </a:r>
            <a:r>
              <a:rPr lang="en-US" dirty="0"/>
              <a:t> -= amount; </a:t>
            </a:r>
          </a:p>
          <a:p>
            <a:pPr marL="0" indent="0">
              <a:buNone/>
            </a:pPr>
            <a:r>
              <a:rPr lang="en-US" dirty="0"/>
              <a:t>        } else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 &lt;&lt; "Insufficient balance!"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// Display account details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displayAccount</a:t>
            </a:r>
            <a:r>
              <a:rPr lang="en-US" dirty="0"/>
              <a:t>() const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"Account Holder: " &lt;&lt; </a:t>
            </a:r>
            <a:r>
              <a:rPr lang="en-US" dirty="0" err="1"/>
              <a:t>accountHolder</a:t>
            </a:r>
            <a:r>
              <a:rPr lang="en-US" dirty="0"/>
              <a:t> &lt;&lt; ", Balance: " &lt;&lt; balance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Initialize the static member variable</a:t>
            </a:r>
          </a:p>
          <a:p>
            <a:pPr marL="0" indent="0">
              <a:buNone/>
            </a:pPr>
            <a:r>
              <a:rPr lang="en-US" dirty="0"/>
              <a:t>double </a:t>
            </a:r>
            <a:r>
              <a:rPr lang="en-US" dirty="0" err="1"/>
              <a:t>BankAccount</a:t>
            </a:r>
            <a:r>
              <a:rPr lang="en-US" dirty="0"/>
              <a:t>::</a:t>
            </a:r>
            <a:r>
              <a:rPr lang="en-US" dirty="0" err="1"/>
              <a:t>totalBankBalance</a:t>
            </a:r>
            <a:r>
              <a:rPr lang="en-US" dirty="0"/>
              <a:t> = 0.0;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BankAccount</a:t>
            </a:r>
            <a:r>
              <a:rPr lang="en-US" dirty="0"/>
              <a:t> acc1("Alice", 500.0);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BankAccount</a:t>
            </a:r>
            <a:r>
              <a:rPr lang="en-US" dirty="0"/>
              <a:t> acc2("Bob", 1000.0);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acc1.displayAccount();</a:t>
            </a:r>
          </a:p>
          <a:p>
            <a:pPr marL="0" indent="0">
              <a:buNone/>
            </a:pPr>
            <a:r>
              <a:rPr lang="en-US" dirty="0"/>
              <a:t>    acc2.displayAccount();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"Total Bank Balance: " &lt;&lt; </a:t>
            </a:r>
            <a:r>
              <a:rPr lang="en-US" dirty="0" err="1"/>
              <a:t>BankAccount</a:t>
            </a:r>
            <a:r>
              <a:rPr lang="en-US" dirty="0"/>
              <a:t>::</a:t>
            </a:r>
            <a:r>
              <a:rPr lang="en-US" dirty="0" err="1"/>
              <a:t>getTotalBankBalance</a:t>
            </a:r>
            <a:r>
              <a:rPr lang="en-US" dirty="0"/>
              <a:t>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Deposit and Withdraw operations</a:t>
            </a:r>
          </a:p>
          <a:p>
            <a:pPr marL="0" indent="0">
              <a:buNone/>
            </a:pPr>
            <a:r>
              <a:rPr lang="en-US" dirty="0"/>
              <a:t>    acc1.deposit(200.0);</a:t>
            </a:r>
          </a:p>
          <a:p>
            <a:pPr marL="0" indent="0">
              <a:buNone/>
            </a:pPr>
            <a:r>
              <a:rPr lang="en-US" dirty="0"/>
              <a:t>    acc2.withdraw(300.0);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nAfter</a:t>
            </a:r>
            <a:r>
              <a:rPr lang="en-US" dirty="0"/>
              <a:t> transactions:"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acc1.displayAccount();</a:t>
            </a:r>
          </a:p>
          <a:p>
            <a:pPr marL="0" indent="0">
              <a:buNone/>
            </a:pPr>
            <a:r>
              <a:rPr lang="en-US" dirty="0"/>
              <a:t>    acc2.displayAccount();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"Total Bank Balance: " &lt;&lt; </a:t>
            </a:r>
            <a:r>
              <a:rPr lang="en-US" dirty="0" err="1"/>
              <a:t>BankAccount</a:t>
            </a:r>
            <a:r>
              <a:rPr lang="en-US" dirty="0"/>
              <a:t>::</a:t>
            </a:r>
            <a:r>
              <a:rPr lang="en-US" dirty="0" err="1"/>
              <a:t>getTotalBankBalance</a:t>
            </a:r>
            <a:r>
              <a:rPr lang="en-US" dirty="0"/>
              <a:t>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</p:txBody>
      </p:sp>
    </p:spTree>
    <p:extLst>
      <p:ext uri="{BB962C8B-B14F-4D97-AF65-F5344CB8AC3E}">
        <p14:creationId xmlns:p14="http://schemas.microsoft.com/office/powerpoint/2010/main" val="4093457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Constant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Constant Objects: </a:t>
            </a:r>
            <a:endParaRPr lang="en-US" dirty="0"/>
          </a:p>
          <a:p>
            <a:pPr lvl="1"/>
            <a:r>
              <a:rPr lang="en-US" dirty="0"/>
              <a:t>A constant object in C++ is an object declared with the const keyword, which makes it immutable after its creation. </a:t>
            </a:r>
          </a:p>
          <a:p>
            <a:pPr lvl="1"/>
            <a:r>
              <a:rPr lang="en-US" dirty="0"/>
              <a:t>This means that you cannot modify its member variables or call non-const member functions on it. </a:t>
            </a:r>
          </a:p>
          <a:p>
            <a:r>
              <a:rPr lang="en-US" dirty="0"/>
              <a:t>Constant objects are useful when you want to ensure that an object’s data remains unchanged throughout its lifetime, typically in situations where read-only access to an object is required.</a:t>
            </a:r>
          </a:p>
          <a:p>
            <a:r>
              <a:rPr dirty="0"/>
              <a:t>Cannot modify any data members.</a:t>
            </a:r>
          </a:p>
          <a:p>
            <a:r>
              <a:rPr dirty="0"/>
              <a:t>Useful for ensuring read-only access.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6A5A-1B88-4253-B5BE-C92B0067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A81AE-116F-4244-9B29-B5EEF0ED9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Points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Constant Objects</a:t>
            </a:r>
            <a:r>
              <a:rPr lang="en-US" dirty="0"/>
              <a:t> are declared with the const keyword. </a:t>
            </a:r>
          </a:p>
          <a:p>
            <a:pPr lvl="1"/>
            <a:r>
              <a:rPr lang="en-US" b="1" dirty="0"/>
              <a:t>Member Functions</a:t>
            </a:r>
            <a:r>
              <a:rPr lang="en-US" dirty="0"/>
              <a:t> called on a constant object must be const functions. (Non-const functions cannot be called on constant objects.)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Usage:</a:t>
            </a:r>
            <a:r>
              <a:rPr lang="en-US" dirty="0"/>
              <a:t> Constant objects are useful when passing objects to functions where only read-only access is needed, such as in large data structures or objects that shouldn't be modified.</a:t>
            </a:r>
          </a:p>
        </p:txBody>
      </p:sp>
    </p:spTree>
    <p:extLst>
      <p:ext uri="{BB962C8B-B14F-4D97-AF65-F5344CB8AC3E}">
        <p14:creationId xmlns:p14="http://schemas.microsoft.com/office/powerpoint/2010/main" val="1698602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AE82-FAEE-4917-A990-458C7A97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1538-85F1-4B69-BF99-55C52FE64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const Car </a:t>
            </a:r>
            <a:r>
              <a:rPr lang="en-US" dirty="0" err="1"/>
              <a:t>myCar</a:t>
            </a:r>
            <a:r>
              <a:rPr lang="en-US" dirty="0"/>
              <a:t>(120);</a:t>
            </a:r>
          </a:p>
          <a:p>
            <a:pPr marL="0" indent="0">
              <a:buNone/>
            </a:pPr>
            <a:r>
              <a:rPr lang="en-US" dirty="0" err="1"/>
              <a:t>myCar.getMaxSpeed</a:t>
            </a:r>
            <a:r>
              <a:rPr lang="en-US" dirty="0"/>
              <a:t>();  // Allowed</a:t>
            </a:r>
          </a:p>
          <a:p>
            <a:pPr marL="0" indent="0">
              <a:buNone/>
            </a:pPr>
            <a:r>
              <a:rPr lang="en-US" dirty="0"/>
              <a:t>// </a:t>
            </a:r>
            <a:r>
              <a:rPr lang="en-US" dirty="0" err="1"/>
              <a:t>myCar.setSpeed</a:t>
            </a:r>
            <a:r>
              <a:rPr lang="en-US" dirty="0"/>
              <a:t>(100);  // Error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28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A773-D830-4935-99F3-807A35E1C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F8982-FF4F-4F7B-9596-F8092B0221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Rectangle {</a:t>
            </a:r>
          </a:p>
          <a:p>
            <a:pPr marL="0" indent="0">
              <a:buNone/>
            </a:pPr>
            <a:r>
              <a:rPr lang="en-US" dirty="0"/>
              <a:t>private:</a:t>
            </a:r>
          </a:p>
          <a:p>
            <a:pPr marL="0" indent="0">
              <a:buNone/>
            </a:pPr>
            <a:r>
              <a:rPr lang="en-US" dirty="0"/>
              <a:t>    int length;</a:t>
            </a:r>
          </a:p>
          <a:p>
            <a:pPr marL="0" indent="0">
              <a:buNone/>
            </a:pPr>
            <a:r>
              <a:rPr lang="en-US" dirty="0"/>
              <a:t>    int width;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// Constructor to initialize length and width</a:t>
            </a:r>
          </a:p>
          <a:p>
            <a:pPr marL="0" indent="0">
              <a:buNone/>
            </a:pPr>
            <a:r>
              <a:rPr lang="en-US" dirty="0"/>
              <a:t>    Rectangle(int l, int w) : length(l), width(w) {}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Const member function to get area (read-only access)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getArea</a:t>
            </a:r>
            <a:r>
              <a:rPr lang="en-US" dirty="0"/>
              <a:t>() const {</a:t>
            </a:r>
          </a:p>
          <a:p>
            <a:pPr marL="0" indent="0">
              <a:buNone/>
            </a:pPr>
            <a:r>
              <a:rPr lang="en-US" dirty="0"/>
              <a:t>        return length * width;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Non-const member function to modify dimensions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setDimensions</a:t>
            </a:r>
            <a:r>
              <a:rPr lang="en-US" dirty="0"/>
              <a:t>(int l, int w) {</a:t>
            </a:r>
          </a:p>
          <a:p>
            <a:pPr marL="0" indent="0">
              <a:buNone/>
            </a:pPr>
            <a:r>
              <a:rPr lang="en-US" dirty="0"/>
              <a:t>        length = l;</a:t>
            </a:r>
          </a:p>
          <a:p>
            <a:pPr marL="0" indent="0">
              <a:buNone/>
            </a:pPr>
            <a:r>
              <a:rPr lang="en-US" dirty="0"/>
              <a:t>        width = w;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D99BCF-4529-4E0B-A42F-25F7887ECE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Const member function to display dimensions</a:t>
            </a:r>
          </a:p>
          <a:p>
            <a:pPr marL="0" indent="0">
              <a:buNone/>
            </a:pPr>
            <a:r>
              <a:rPr lang="en-US" dirty="0"/>
              <a:t>    void display() const {</a:t>
            </a:r>
          </a:p>
          <a:p>
            <a:pPr marL="0" indent="0">
              <a:buNone/>
            </a:pPr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"Length: " &lt;&lt; length &lt;&lt; ", Width: " &lt;&lt; width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const Rectangle rect1(10, 5);  // Declare a constant object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Allowed: Calling const functions on the constant object</a:t>
            </a:r>
          </a:p>
          <a:p>
            <a:pPr marL="0" indent="0">
              <a:buNone/>
            </a:pPr>
            <a:r>
              <a:rPr lang="en-US" dirty="0"/>
              <a:t>    rect1.display();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"Area: " &lt;&lt; rect1.getArea()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// rect1.setDimensions(15, 10);  // Error: cannot call non-const function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52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Static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Static Objects: 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static object in C++ is an object that persists for the duration of the program's execution, meaning it is created only once and destroyed at the program's termination. </a:t>
            </a:r>
          </a:p>
          <a:p>
            <a:pPr lvl="1"/>
            <a:r>
              <a:rPr lang="en-US" dirty="0"/>
              <a:t>Static objects can either be local to a function (with static keyword) or global, and they retain their value across function calls.</a:t>
            </a:r>
          </a:p>
          <a:p>
            <a:pPr lvl="1"/>
            <a:r>
              <a:rPr dirty="0"/>
              <a:t>Exist for the program's lifetime.</a:t>
            </a:r>
          </a:p>
          <a:p>
            <a:r>
              <a:rPr dirty="0"/>
              <a:t>Useful for persistent data across function calls.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3BA1-09A8-4D80-BDF6-D880C1ADC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8167-221E-4633-86C9-804C7E622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Key Points Lifetime</a:t>
            </a:r>
          </a:p>
          <a:p>
            <a:pPr lvl="1"/>
            <a:r>
              <a:rPr lang="en-US" sz="3600" dirty="0"/>
              <a:t>Static objects are initialized only once and retain their state across function calls. They persist until the program ends. </a:t>
            </a:r>
          </a:p>
          <a:p>
            <a:pPr lvl="1"/>
            <a:r>
              <a:rPr lang="en-US" sz="3600" dirty="0"/>
              <a:t>Usage: Static objects are useful when maintaining a shared state across function calls or when initializing a resource only once.</a:t>
            </a:r>
          </a:p>
        </p:txBody>
      </p:sp>
    </p:spTree>
    <p:extLst>
      <p:ext uri="{BB962C8B-B14F-4D97-AF65-F5344CB8AC3E}">
        <p14:creationId xmlns:p14="http://schemas.microsoft.com/office/powerpoint/2010/main" val="1111468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130D-4208-48B5-BDE0-F882D1256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Static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C9CC9-9769-4607-A9EC-C040663F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Types of Static Objects</a:t>
            </a:r>
          </a:p>
          <a:p>
            <a:pPr lvl="1"/>
            <a:r>
              <a:rPr lang="en-US" sz="3200" dirty="0"/>
              <a:t> Local Static Objects: Defined inside a function with the static keyword, these objects maintain their value between calls to the function. </a:t>
            </a:r>
          </a:p>
          <a:p>
            <a:pPr lvl="1"/>
            <a:r>
              <a:rPr lang="en-US" sz="3200" dirty="0"/>
              <a:t>Global Static Objects: Defined outside any function (with or without the static keyword), these objects have program-wide lifetime but are limited in scope if static is specified (file-level linkage).</a:t>
            </a:r>
          </a:p>
        </p:txBody>
      </p:sp>
    </p:spTree>
    <p:extLst>
      <p:ext uri="{BB962C8B-B14F-4D97-AF65-F5344CB8AC3E}">
        <p14:creationId xmlns:p14="http://schemas.microsoft.com/office/powerpoint/2010/main" val="1865506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C2FE-BA0B-4E67-88EB-D894B1A9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E1789-CBFD-4199-A741-5F18193C1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class Logger {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static Logger </a:t>
            </a:r>
            <a:r>
              <a:rPr lang="en-US" dirty="0" err="1"/>
              <a:t>logInstance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Logger Logger::</a:t>
            </a:r>
            <a:r>
              <a:rPr lang="en-US" dirty="0" err="1"/>
              <a:t>logInstance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486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4CA2A-A602-400C-B9E7-26C2D5F4A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to Use Static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02635-E838-4309-9193-6EDF8521A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Maintaining State Across Function Calls</a:t>
            </a:r>
            <a:r>
              <a:rPr lang="en-US" dirty="0"/>
              <a:t>: Local static objects are ideal when you need to keep track of state within a function across multiple invocations (e.g., counting function calls).</a:t>
            </a:r>
          </a:p>
          <a:p>
            <a:r>
              <a:rPr lang="en-US" b="1" dirty="0"/>
              <a:t>Shared Resources in Classes</a:t>
            </a:r>
            <a:r>
              <a:rPr lang="en-US" dirty="0"/>
              <a:t>: Static members in classes (variables and functions) allow all instances of a class to share data, such as counters or global configurations.</a:t>
            </a:r>
          </a:p>
          <a:p>
            <a:r>
              <a:rPr lang="en-US" b="1" dirty="0"/>
              <a:t>Singleton Design Pattern</a:t>
            </a:r>
            <a:r>
              <a:rPr lang="en-US" dirty="0"/>
              <a:t>: Static objects are often used in the singleton design pattern, where only one instance of a class exists across the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44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4C48EF-C65E-4105-8821-81CB823F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83C67-66FA-46F2-84AE-C71C636D07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Car {</a:t>
            </a:r>
          </a:p>
          <a:p>
            <a:pPr marL="0" indent="0">
              <a:buNone/>
            </a:pPr>
            <a:r>
              <a:rPr lang="en-US" dirty="0"/>
              <a:t>private:</a:t>
            </a:r>
          </a:p>
          <a:p>
            <a:pPr marL="0" indent="0">
              <a:buNone/>
            </a:pPr>
            <a:r>
              <a:rPr lang="en-US" dirty="0"/>
              <a:t>    std::string model;</a:t>
            </a:r>
          </a:p>
          <a:p>
            <a:pPr marL="0" indent="0">
              <a:buNone/>
            </a:pPr>
            <a:r>
              <a:rPr lang="en-US" dirty="0"/>
              <a:t>    static int </a:t>
            </a:r>
            <a:r>
              <a:rPr lang="en-US" dirty="0" err="1"/>
              <a:t>carCount</a:t>
            </a:r>
            <a:r>
              <a:rPr lang="en-US" dirty="0"/>
              <a:t>;  // Static member variable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Car(std::string m) : model(m)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carCount</a:t>
            </a:r>
            <a:r>
              <a:rPr lang="en-US" dirty="0"/>
              <a:t>++;  // Increment count whenever a new Car object is created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Static member function to access the static member variable</a:t>
            </a:r>
          </a:p>
          <a:p>
            <a:pPr marL="0" indent="0">
              <a:buNone/>
            </a:pPr>
            <a:r>
              <a:rPr lang="en-US" dirty="0"/>
              <a:t>    static int </a:t>
            </a:r>
            <a:r>
              <a:rPr lang="en-US" dirty="0" err="1"/>
              <a:t>getCarCount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carCount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E416A9-FA29-4BDD-A0E7-46254D1D16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// Initialize the static member variable</a:t>
            </a:r>
          </a:p>
          <a:p>
            <a:pPr marL="0" indent="0">
              <a:buNone/>
            </a:pPr>
            <a:r>
              <a:rPr lang="en-US" dirty="0"/>
              <a:t>int Car::</a:t>
            </a:r>
            <a:r>
              <a:rPr lang="en-US" dirty="0" err="1"/>
              <a:t>carCount</a:t>
            </a:r>
            <a:r>
              <a:rPr lang="en-US" dirty="0"/>
              <a:t> = 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Car car1("Sedan");</a:t>
            </a:r>
          </a:p>
          <a:p>
            <a:pPr marL="0" indent="0">
              <a:buNone/>
            </a:pPr>
            <a:r>
              <a:rPr lang="en-US" dirty="0"/>
              <a:t>    Car car2("SUV");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"Total cars created: " &lt;&lt; Car::</a:t>
            </a:r>
            <a:r>
              <a:rPr lang="en-US" dirty="0" err="1"/>
              <a:t>getCarCount</a:t>
            </a:r>
            <a:r>
              <a:rPr lang="en-US" dirty="0"/>
              <a:t>()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171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A980-D74B-4DE1-A56A-FADB469AB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050" y="95251"/>
            <a:ext cx="5486400" cy="53498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BCF49-3D70-4F22-810C-DF661ADF8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5251"/>
            <a:ext cx="5384800" cy="6629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dirty="0"/>
              <a:t>#include &lt;iostream&gt;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/>
              <a:t>class Account {</a:t>
            </a:r>
          </a:p>
          <a:p>
            <a:pPr marL="0" indent="0">
              <a:buNone/>
            </a:pPr>
            <a:r>
              <a:rPr lang="en-US" sz="4400" dirty="0"/>
              <a:t>private:</a:t>
            </a:r>
          </a:p>
          <a:p>
            <a:pPr marL="0" indent="0">
              <a:buNone/>
            </a:pPr>
            <a:r>
              <a:rPr lang="en-US" sz="4400" dirty="0"/>
              <a:t>    double balance;</a:t>
            </a:r>
          </a:p>
          <a:p>
            <a:pPr marL="0" indent="0">
              <a:buNone/>
            </a:pPr>
            <a:r>
              <a:rPr lang="en-US" sz="4400" dirty="0"/>
              <a:t>    static double </a:t>
            </a:r>
            <a:r>
              <a:rPr lang="en-US" sz="4400" dirty="0" err="1"/>
              <a:t>totalBalance</a:t>
            </a:r>
            <a:r>
              <a:rPr lang="en-US" sz="4400" dirty="0"/>
              <a:t>;  // Static member to track total balance across all accounts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/>
              <a:t>public:</a:t>
            </a:r>
          </a:p>
          <a:p>
            <a:pPr marL="0" indent="0">
              <a:buNone/>
            </a:pPr>
            <a:r>
              <a:rPr lang="en-US" sz="4400" dirty="0"/>
              <a:t>    // Constructor that initializes the account balance and updates the total balance</a:t>
            </a:r>
          </a:p>
          <a:p>
            <a:pPr marL="0" indent="0">
              <a:buNone/>
            </a:pPr>
            <a:r>
              <a:rPr lang="en-US" sz="4400" dirty="0"/>
              <a:t>    Account(double </a:t>
            </a:r>
            <a:r>
              <a:rPr lang="en-US" sz="4400" dirty="0" err="1"/>
              <a:t>initialBalance</a:t>
            </a:r>
            <a:r>
              <a:rPr lang="en-US" sz="4400" dirty="0"/>
              <a:t>) : balance(</a:t>
            </a:r>
            <a:r>
              <a:rPr lang="en-US" sz="4400" dirty="0" err="1"/>
              <a:t>initialBalance</a:t>
            </a:r>
            <a:r>
              <a:rPr lang="en-US" sz="4400" dirty="0"/>
              <a:t>) {</a:t>
            </a:r>
          </a:p>
          <a:p>
            <a:pPr marL="0" indent="0">
              <a:buNone/>
            </a:pPr>
            <a:r>
              <a:rPr lang="en-US" sz="4400" dirty="0"/>
              <a:t>        </a:t>
            </a:r>
            <a:r>
              <a:rPr lang="en-US" sz="4400" dirty="0" err="1"/>
              <a:t>totalBalance</a:t>
            </a:r>
            <a:r>
              <a:rPr lang="en-US" sz="4400" dirty="0"/>
              <a:t> += </a:t>
            </a:r>
            <a:r>
              <a:rPr lang="en-US" sz="4400" dirty="0" err="1"/>
              <a:t>initialBalance</a:t>
            </a:r>
            <a:r>
              <a:rPr lang="en-US" sz="4400" dirty="0"/>
              <a:t>;</a:t>
            </a:r>
          </a:p>
          <a:p>
            <a:pPr marL="0" indent="0">
              <a:buNone/>
            </a:pPr>
            <a:r>
              <a:rPr lang="en-US" sz="4400" dirty="0"/>
              <a:t>    }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/>
              <a:t>    // Destructor to update total balance when an account is closed</a:t>
            </a:r>
          </a:p>
          <a:p>
            <a:pPr marL="0" indent="0">
              <a:buNone/>
            </a:pPr>
            <a:r>
              <a:rPr lang="en-US" sz="4400" dirty="0"/>
              <a:t>    ~Account() {</a:t>
            </a:r>
          </a:p>
          <a:p>
            <a:pPr marL="0" indent="0">
              <a:buNone/>
            </a:pPr>
            <a:r>
              <a:rPr lang="en-US" sz="4400" dirty="0"/>
              <a:t>        </a:t>
            </a:r>
            <a:r>
              <a:rPr lang="en-US" sz="4400" dirty="0" err="1"/>
              <a:t>totalBalance</a:t>
            </a:r>
            <a:r>
              <a:rPr lang="en-US" sz="4400" dirty="0"/>
              <a:t> -= balance;</a:t>
            </a:r>
          </a:p>
          <a:p>
            <a:pPr marL="0" indent="0">
              <a:buNone/>
            </a:pPr>
            <a:r>
              <a:rPr lang="en-US" sz="4400" dirty="0"/>
              <a:t>    }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/>
              <a:t>    // Static member function to get total balance across all accounts</a:t>
            </a:r>
          </a:p>
          <a:p>
            <a:pPr marL="0" indent="0">
              <a:buNone/>
            </a:pPr>
            <a:r>
              <a:rPr lang="en-US" sz="4400" dirty="0"/>
              <a:t>    static double </a:t>
            </a:r>
            <a:r>
              <a:rPr lang="en-US" sz="4400" dirty="0" err="1"/>
              <a:t>getTotalBalance</a:t>
            </a:r>
            <a:r>
              <a:rPr lang="en-US" sz="4400" dirty="0"/>
              <a:t>() {</a:t>
            </a:r>
          </a:p>
          <a:p>
            <a:pPr marL="0" indent="0">
              <a:buNone/>
            </a:pPr>
            <a:r>
              <a:rPr lang="en-US" sz="4400" dirty="0"/>
              <a:t>        return </a:t>
            </a:r>
            <a:r>
              <a:rPr lang="en-US" sz="4400" dirty="0" err="1"/>
              <a:t>totalBalance</a:t>
            </a:r>
            <a:r>
              <a:rPr lang="en-US" sz="4400" dirty="0"/>
              <a:t>;</a:t>
            </a:r>
          </a:p>
          <a:p>
            <a:pPr marL="0" indent="0">
              <a:buNone/>
            </a:pPr>
            <a:r>
              <a:rPr lang="en-US" sz="4400" dirty="0"/>
              <a:t>    }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/>
              <a:t>    // Function to deposit money into the account</a:t>
            </a:r>
          </a:p>
          <a:p>
            <a:pPr marL="0" indent="0">
              <a:buNone/>
            </a:pPr>
            <a:r>
              <a:rPr lang="en-US" sz="4400" dirty="0"/>
              <a:t>    void deposit(double amount) {</a:t>
            </a:r>
          </a:p>
          <a:p>
            <a:pPr marL="0" indent="0">
              <a:buNone/>
            </a:pPr>
            <a:r>
              <a:rPr lang="en-US" sz="4400" dirty="0"/>
              <a:t>        balance += amount;</a:t>
            </a:r>
          </a:p>
          <a:p>
            <a:pPr marL="0" indent="0">
              <a:buNone/>
            </a:pPr>
            <a:r>
              <a:rPr lang="en-US" sz="4400" dirty="0"/>
              <a:t>        </a:t>
            </a:r>
            <a:r>
              <a:rPr lang="en-US" sz="4400" dirty="0" err="1"/>
              <a:t>totalBalance</a:t>
            </a:r>
            <a:r>
              <a:rPr lang="en-US" sz="4400" dirty="0"/>
              <a:t> += amount;</a:t>
            </a:r>
          </a:p>
          <a:p>
            <a:pPr marL="0" indent="0">
              <a:buNone/>
            </a:pPr>
            <a:r>
              <a:rPr lang="en-US" sz="4400" dirty="0"/>
              <a:t>    }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/>
              <a:t>    // Function to withdraw money from the account</a:t>
            </a:r>
          </a:p>
          <a:p>
            <a:pPr marL="0" indent="0">
              <a:buNone/>
            </a:pPr>
            <a:r>
              <a:rPr lang="en-US" sz="4400" dirty="0"/>
              <a:t>    void withdraw(double amount) {</a:t>
            </a:r>
          </a:p>
          <a:p>
            <a:pPr marL="0" indent="0">
              <a:buNone/>
            </a:pPr>
            <a:r>
              <a:rPr lang="en-US" sz="4400" dirty="0"/>
              <a:t>        if (amount &lt;= balance) {</a:t>
            </a:r>
          </a:p>
          <a:p>
            <a:pPr marL="0" indent="0">
              <a:buNone/>
            </a:pPr>
            <a:r>
              <a:rPr lang="en-US" sz="4400" dirty="0"/>
              <a:t>            balance -= amount;</a:t>
            </a:r>
          </a:p>
          <a:p>
            <a:pPr marL="0" indent="0">
              <a:buNone/>
            </a:pPr>
            <a:r>
              <a:rPr lang="en-US" sz="4400" dirty="0"/>
              <a:t>            </a:t>
            </a:r>
            <a:r>
              <a:rPr lang="en-US" sz="4400" dirty="0" err="1"/>
              <a:t>totalBalance</a:t>
            </a:r>
            <a:r>
              <a:rPr lang="en-US" sz="4400" dirty="0"/>
              <a:t> -= amount;</a:t>
            </a:r>
          </a:p>
          <a:p>
            <a:pPr marL="0" indent="0">
              <a:buNone/>
            </a:pPr>
            <a:r>
              <a:rPr lang="en-US" sz="4400" dirty="0"/>
              <a:t>        } else {   </a:t>
            </a:r>
            <a:r>
              <a:rPr lang="en-US" sz="4400" dirty="0" err="1"/>
              <a:t>cout</a:t>
            </a:r>
            <a:r>
              <a:rPr lang="en-US" sz="4400" dirty="0"/>
              <a:t> &lt;&lt; "Insufficient funds!" &lt;&lt; </a:t>
            </a:r>
            <a:r>
              <a:rPr lang="en-US" sz="4400" dirty="0" err="1"/>
              <a:t>endl</a:t>
            </a:r>
            <a:r>
              <a:rPr lang="en-US" sz="4400" dirty="0"/>
              <a:t>; }</a:t>
            </a:r>
          </a:p>
          <a:p>
            <a:pPr marL="0" indent="0">
              <a:buNone/>
            </a:pPr>
            <a:r>
              <a:rPr lang="en-US" sz="4400" dirty="0"/>
              <a:t>    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EDB48-5D17-4DE5-B635-78D087D76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630238"/>
            <a:ext cx="5384800" cy="60944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/>
              <a:t> // Function to display the balance of an individual account</a:t>
            </a:r>
          </a:p>
          <a:p>
            <a:pPr marL="0" indent="0">
              <a:buNone/>
            </a:pPr>
            <a:r>
              <a:rPr lang="en-US" sz="1100" dirty="0"/>
              <a:t>    void </a:t>
            </a:r>
            <a:r>
              <a:rPr lang="en-US" sz="1100" dirty="0" err="1"/>
              <a:t>displayBalance</a:t>
            </a:r>
            <a:r>
              <a:rPr lang="en-US" sz="1100" dirty="0"/>
              <a:t>() const {</a:t>
            </a:r>
          </a:p>
          <a:p>
            <a:pPr marL="0" indent="0">
              <a:buNone/>
            </a:pPr>
            <a:r>
              <a:rPr lang="en-US" sz="1100" dirty="0"/>
              <a:t>        </a:t>
            </a:r>
            <a:r>
              <a:rPr lang="en-US" sz="1100" dirty="0" err="1"/>
              <a:t>cout</a:t>
            </a:r>
            <a:r>
              <a:rPr lang="en-US" sz="1100" dirty="0"/>
              <a:t> &lt;&lt; "Account Balance: PKR-" &lt;&lt; balance &lt;&lt; </a:t>
            </a:r>
            <a:r>
              <a:rPr lang="en-US" sz="1100" dirty="0" err="1"/>
              <a:t>endl</a:t>
            </a:r>
            <a:r>
              <a:rPr lang="en-US" sz="1100" dirty="0"/>
              <a:t>;</a:t>
            </a:r>
          </a:p>
          <a:p>
            <a:pPr marL="0" indent="0">
              <a:buNone/>
            </a:pPr>
            <a:r>
              <a:rPr lang="en-US" sz="1100" dirty="0"/>
              <a:t>    }</a:t>
            </a:r>
          </a:p>
          <a:p>
            <a:pPr marL="0" indent="0">
              <a:buNone/>
            </a:pPr>
            <a:r>
              <a:rPr lang="en-US" sz="1100" dirty="0"/>
              <a:t>};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// Initialize static member variable</a:t>
            </a:r>
          </a:p>
          <a:p>
            <a:pPr marL="0" indent="0">
              <a:buNone/>
            </a:pPr>
            <a:r>
              <a:rPr lang="en-US" sz="1100" dirty="0"/>
              <a:t>double Account::</a:t>
            </a:r>
            <a:r>
              <a:rPr lang="en-US" sz="1100" dirty="0" err="1"/>
              <a:t>totalBalance</a:t>
            </a:r>
            <a:r>
              <a:rPr lang="en-US" sz="1100" dirty="0"/>
              <a:t> = 0;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int main() {</a:t>
            </a:r>
          </a:p>
          <a:p>
            <a:pPr marL="0" indent="0">
              <a:buNone/>
            </a:pPr>
            <a:r>
              <a:rPr lang="en-US" sz="1100" dirty="0"/>
              <a:t>    Account acc1(100.0);  // First account with PKR 100</a:t>
            </a:r>
          </a:p>
          <a:p>
            <a:pPr marL="0" indent="0">
              <a:buNone/>
            </a:pPr>
            <a:r>
              <a:rPr lang="en-US" sz="1100" dirty="0"/>
              <a:t>    Account acc2(200.0);  // Second account with PKR 200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    acc1.displayBalance();</a:t>
            </a:r>
          </a:p>
          <a:p>
            <a:pPr marL="0" indent="0">
              <a:buNone/>
            </a:pPr>
            <a:r>
              <a:rPr lang="en-US" sz="1100" dirty="0"/>
              <a:t>    acc2.displayBalance();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    </a:t>
            </a:r>
            <a:r>
              <a:rPr lang="en-US" sz="1100" dirty="0" err="1"/>
              <a:t>cout</a:t>
            </a:r>
            <a:r>
              <a:rPr lang="en-US" sz="1100" dirty="0"/>
              <a:t> &lt;&lt; "Total Balance Across All Accounts: PKR-" &lt;&lt; Account::</a:t>
            </a:r>
            <a:r>
              <a:rPr lang="en-US" sz="1100" dirty="0" err="1"/>
              <a:t>getTotalBalance</a:t>
            </a:r>
            <a:r>
              <a:rPr lang="en-US" sz="1100" dirty="0"/>
              <a:t>() &lt;&lt; </a:t>
            </a:r>
            <a:r>
              <a:rPr lang="en-US" sz="1100" dirty="0" err="1"/>
              <a:t>endl</a:t>
            </a:r>
            <a:r>
              <a:rPr lang="en-US" sz="1100" dirty="0"/>
              <a:t>;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    acc1.deposit(50.0);  // Deposit $50 to the first account</a:t>
            </a:r>
          </a:p>
          <a:p>
            <a:pPr marL="0" indent="0">
              <a:buNone/>
            </a:pPr>
            <a:r>
              <a:rPr lang="en-US" sz="1100" dirty="0"/>
              <a:t>    acc2.withdraw(25.0); // Withdraw $25 from the second account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    </a:t>
            </a:r>
            <a:r>
              <a:rPr lang="en-US" sz="1100" dirty="0" err="1"/>
              <a:t>cout</a:t>
            </a:r>
            <a:r>
              <a:rPr lang="en-US" sz="1100" dirty="0"/>
              <a:t> &lt;&lt; "After transactions:" &lt;&lt; </a:t>
            </a:r>
            <a:r>
              <a:rPr lang="en-US" sz="1100" dirty="0" err="1"/>
              <a:t>endl</a:t>
            </a:r>
            <a:r>
              <a:rPr lang="en-US" sz="1100" dirty="0"/>
              <a:t>;</a:t>
            </a:r>
          </a:p>
          <a:p>
            <a:pPr marL="0" indent="0">
              <a:buNone/>
            </a:pPr>
            <a:r>
              <a:rPr lang="en-US" sz="1100" dirty="0"/>
              <a:t>    acc1.displayBalance();</a:t>
            </a:r>
          </a:p>
          <a:p>
            <a:pPr marL="0" indent="0">
              <a:buNone/>
            </a:pPr>
            <a:r>
              <a:rPr lang="en-US" sz="1100" dirty="0"/>
              <a:t>    acc2.displayBalance();</a:t>
            </a:r>
          </a:p>
          <a:p>
            <a:pPr marL="0" indent="0">
              <a:buNone/>
            </a:pPr>
            <a:r>
              <a:rPr lang="en-US" sz="1100" dirty="0"/>
              <a:t>    </a:t>
            </a:r>
            <a:r>
              <a:rPr lang="en-US" sz="1100" dirty="0" err="1"/>
              <a:t>cout</a:t>
            </a:r>
            <a:r>
              <a:rPr lang="en-US" sz="1100" dirty="0"/>
              <a:t> &lt;&lt; "Total Balance Across All Accounts: PKR-" &lt;&lt; Account::</a:t>
            </a:r>
            <a:r>
              <a:rPr lang="en-US" sz="1100" dirty="0" err="1"/>
              <a:t>getTotalBalance</a:t>
            </a:r>
            <a:r>
              <a:rPr lang="en-US" sz="1100" dirty="0"/>
              <a:t>() &lt;&lt; </a:t>
            </a:r>
            <a:r>
              <a:rPr lang="en-US" sz="1100" dirty="0" err="1"/>
              <a:t>endl</a:t>
            </a:r>
            <a:r>
              <a:rPr lang="en-US" sz="1100" dirty="0"/>
              <a:t>;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    return 0;</a:t>
            </a:r>
          </a:p>
          <a:p>
            <a:pPr marL="0" indent="0">
              <a:buNone/>
            </a:pPr>
            <a:r>
              <a:rPr lang="en-U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257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2360</Words>
  <Application>Microsoft Office PowerPoint</Application>
  <PresentationFormat>Widescreen</PresentationFormat>
  <Paragraphs>381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Constant and Static Members in C++ Classes</vt:lpstr>
      <vt:lpstr>Constant and Static Members</vt:lpstr>
      <vt:lpstr>Constructor Initializer List</vt:lpstr>
      <vt:lpstr>Constant Members</vt:lpstr>
      <vt:lpstr>Code Structure</vt:lpstr>
      <vt:lpstr>Example</vt:lpstr>
      <vt:lpstr>Static Members</vt:lpstr>
      <vt:lpstr>Code Structure </vt:lpstr>
      <vt:lpstr>Example</vt:lpstr>
      <vt:lpstr>Example</vt:lpstr>
      <vt:lpstr>Constant Objects</vt:lpstr>
      <vt:lpstr>PowerPoint Presentation</vt:lpstr>
      <vt:lpstr>Code Structure</vt:lpstr>
      <vt:lpstr>Example</vt:lpstr>
      <vt:lpstr>Static Objects</vt:lpstr>
      <vt:lpstr>Static Objects</vt:lpstr>
      <vt:lpstr>Static Objects</vt:lpstr>
      <vt:lpstr>Code structure</vt:lpstr>
      <vt:lpstr>When to Use Static Objects</vt:lpstr>
      <vt:lpstr>Example</vt:lpstr>
      <vt:lpstr>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Asad Kamal</cp:lastModifiedBy>
  <cp:revision>29</cp:revision>
  <dcterms:created xsi:type="dcterms:W3CDTF">2013-01-27T09:14:16Z</dcterms:created>
  <dcterms:modified xsi:type="dcterms:W3CDTF">2024-11-11T16:48:52Z</dcterms:modified>
  <cp:category/>
</cp:coreProperties>
</file>