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57"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77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BCBF6-0EB0-494B-BEBA-21758C9F8E1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248EEB6-F84D-477F-8890-92A427955D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E5281B7-D29A-4FB6-B3C9-20B804C76C60}"/>
              </a:ext>
            </a:extLst>
          </p:cNvPr>
          <p:cNvSpPr>
            <a:spLocks noGrp="1"/>
          </p:cNvSpPr>
          <p:nvPr>
            <p:ph type="dt" sz="half" idx="10"/>
          </p:nvPr>
        </p:nvSpPr>
        <p:spPr/>
        <p:txBody>
          <a:bodyPr/>
          <a:lstStyle/>
          <a:p>
            <a:fld id="{F46CE04B-2368-49F8-A0F9-6753CD841E41}" type="datetimeFigureOut">
              <a:rPr lang="en-US" smtClean="0"/>
              <a:t>30-Oct-24</a:t>
            </a:fld>
            <a:endParaRPr lang="en-US"/>
          </a:p>
        </p:txBody>
      </p:sp>
      <p:sp>
        <p:nvSpPr>
          <p:cNvPr id="5" name="Footer Placeholder 4">
            <a:extLst>
              <a:ext uri="{FF2B5EF4-FFF2-40B4-BE49-F238E27FC236}">
                <a16:creationId xmlns:a16="http://schemas.microsoft.com/office/drawing/2014/main" id="{0712B5C6-598E-45EE-8647-30D20CD611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0AF6EE-B30B-4335-8746-7578602814D2}"/>
              </a:ext>
            </a:extLst>
          </p:cNvPr>
          <p:cNvSpPr>
            <a:spLocks noGrp="1"/>
          </p:cNvSpPr>
          <p:nvPr>
            <p:ph type="sldNum" sz="quarter" idx="12"/>
          </p:nvPr>
        </p:nvSpPr>
        <p:spPr/>
        <p:txBody>
          <a:bodyPr/>
          <a:lstStyle/>
          <a:p>
            <a:fld id="{9B24AB48-5196-4F6D-8944-FF524D51777E}" type="slidenum">
              <a:rPr lang="en-US" smtClean="0"/>
              <a:t>‹#›</a:t>
            </a:fld>
            <a:endParaRPr lang="en-US"/>
          </a:p>
        </p:txBody>
      </p:sp>
    </p:spTree>
    <p:extLst>
      <p:ext uri="{BB962C8B-B14F-4D97-AF65-F5344CB8AC3E}">
        <p14:creationId xmlns:p14="http://schemas.microsoft.com/office/powerpoint/2010/main" val="33749488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8636C-650F-4E7B-ACD4-FB2F5E5438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070EF0-164D-48C7-8A15-ADA443595B7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E46273-D1F8-44F4-9B04-B0C2D5A52CAB}"/>
              </a:ext>
            </a:extLst>
          </p:cNvPr>
          <p:cNvSpPr>
            <a:spLocks noGrp="1"/>
          </p:cNvSpPr>
          <p:nvPr>
            <p:ph type="dt" sz="half" idx="10"/>
          </p:nvPr>
        </p:nvSpPr>
        <p:spPr/>
        <p:txBody>
          <a:bodyPr/>
          <a:lstStyle/>
          <a:p>
            <a:fld id="{F46CE04B-2368-49F8-A0F9-6753CD841E41}" type="datetimeFigureOut">
              <a:rPr lang="en-US" smtClean="0"/>
              <a:t>30-Oct-24</a:t>
            </a:fld>
            <a:endParaRPr lang="en-US"/>
          </a:p>
        </p:txBody>
      </p:sp>
      <p:sp>
        <p:nvSpPr>
          <p:cNvPr id="5" name="Footer Placeholder 4">
            <a:extLst>
              <a:ext uri="{FF2B5EF4-FFF2-40B4-BE49-F238E27FC236}">
                <a16:creationId xmlns:a16="http://schemas.microsoft.com/office/drawing/2014/main" id="{76692A1D-5736-4E0F-8E08-907A8813C5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94CD7F-D50F-42AA-9D49-69DEF0F172B8}"/>
              </a:ext>
            </a:extLst>
          </p:cNvPr>
          <p:cNvSpPr>
            <a:spLocks noGrp="1"/>
          </p:cNvSpPr>
          <p:nvPr>
            <p:ph type="sldNum" sz="quarter" idx="12"/>
          </p:nvPr>
        </p:nvSpPr>
        <p:spPr/>
        <p:txBody>
          <a:bodyPr/>
          <a:lstStyle/>
          <a:p>
            <a:fld id="{9B24AB48-5196-4F6D-8944-FF524D51777E}" type="slidenum">
              <a:rPr lang="en-US" smtClean="0"/>
              <a:t>‹#›</a:t>
            </a:fld>
            <a:endParaRPr lang="en-US"/>
          </a:p>
        </p:txBody>
      </p:sp>
    </p:spTree>
    <p:extLst>
      <p:ext uri="{BB962C8B-B14F-4D97-AF65-F5344CB8AC3E}">
        <p14:creationId xmlns:p14="http://schemas.microsoft.com/office/powerpoint/2010/main" val="1174305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514C0-47DA-4ADE-856B-AB332D861A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3C7C92D-8BAD-4671-ABE5-F41D6236500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ACE1D14-F01F-4313-8BA1-9B576DAB1DEE}"/>
              </a:ext>
            </a:extLst>
          </p:cNvPr>
          <p:cNvSpPr>
            <a:spLocks noGrp="1"/>
          </p:cNvSpPr>
          <p:nvPr>
            <p:ph type="dt" sz="half" idx="10"/>
          </p:nvPr>
        </p:nvSpPr>
        <p:spPr/>
        <p:txBody>
          <a:bodyPr/>
          <a:lstStyle/>
          <a:p>
            <a:fld id="{F46CE04B-2368-49F8-A0F9-6753CD841E41}" type="datetimeFigureOut">
              <a:rPr lang="en-US" smtClean="0"/>
              <a:t>30-Oct-24</a:t>
            </a:fld>
            <a:endParaRPr lang="en-US"/>
          </a:p>
        </p:txBody>
      </p:sp>
      <p:sp>
        <p:nvSpPr>
          <p:cNvPr id="5" name="Footer Placeholder 4">
            <a:extLst>
              <a:ext uri="{FF2B5EF4-FFF2-40B4-BE49-F238E27FC236}">
                <a16:creationId xmlns:a16="http://schemas.microsoft.com/office/drawing/2014/main" id="{49DA9543-16D9-4EBC-BD10-91F61B8D19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C9C282-C69F-43CC-A2C8-98FB693860D1}"/>
              </a:ext>
            </a:extLst>
          </p:cNvPr>
          <p:cNvSpPr>
            <a:spLocks noGrp="1"/>
          </p:cNvSpPr>
          <p:nvPr>
            <p:ph type="sldNum" sz="quarter" idx="12"/>
          </p:nvPr>
        </p:nvSpPr>
        <p:spPr/>
        <p:txBody>
          <a:bodyPr/>
          <a:lstStyle/>
          <a:p>
            <a:fld id="{9B24AB48-5196-4F6D-8944-FF524D51777E}" type="slidenum">
              <a:rPr lang="en-US" smtClean="0"/>
              <a:t>‹#›</a:t>
            </a:fld>
            <a:endParaRPr lang="en-US"/>
          </a:p>
        </p:txBody>
      </p:sp>
    </p:spTree>
    <p:extLst>
      <p:ext uri="{BB962C8B-B14F-4D97-AF65-F5344CB8AC3E}">
        <p14:creationId xmlns:p14="http://schemas.microsoft.com/office/powerpoint/2010/main" val="3156007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158C5-E44E-498A-A599-DC1B03E0DF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8F5A3D-9F31-47DF-AA83-E27D9B3D859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4552C1D-CA4B-4E49-8546-27DDE0F4EC0E}"/>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D353D45-BFC1-4855-A0DB-5DDF3E8B8FC7}"/>
              </a:ext>
            </a:extLst>
          </p:cNvPr>
          <p:cNvSpPr>
            <a:spLocks noGrp="1"/>
          </p:cNvSpPr>
          <p:nvPr>
            <p:ph type="dt" sz="half" idx="10"/>
          </p:nvPr>
        </p:nvSpPr>
        <p:spPr/>
        <p:txBody>
          <a:bodyPr/>
          <a:lstStyle/>
          <a:p>
            <a:fld id="{F46CE04B-2368-49F8-A0F9-6753CD841E41}" type="datetimeFigureOut">
              <a:rPr lang="en-US" smtClean="0"/>
              <a:t>30-Oct-24</a:t>
            </a:fld>
            <a:endParaRPr lang="en-US"/>
          </a:p>
        </p:txBody>
      </p:sp>
      <p:sp>
        <p:nvSpPr>
          <p:cNvPr id="6" name="Footer Placeholder 5">
            <a:extLst>
              <a:ext uri="{FF2B5EF4-FFF2-40B4-BE49-F238E27FC236}">
                <a16:creationId xmlns:a16="http://schemas.microsoft.com/office/drawing/2014/main" id="{DCB52D6C-C545-4561-A5ED-73A2E047C5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E3E3FC-7F8E-43CF-859E-623315034DAF}"/>
              </a:ext>
            </a:extLst>
          </p:cNvPr>
          <p:cNvSpPr>
            <a:spLocks noGrp="1"/>
          </p:cNvSpPr>
          <p:nvPr>
            <p:ph type="sldNum" sz="quarter" idx="12"/>
          </p:nvPr>
        </p:nvSpPr>
        <p:spPr/>
        <p:txBody>
          <a:bodyPr/>
          <a:lstStyle/>
          <a:p>
            <a:fld id="{9B24AB48-5196-4F6D-8944-FF524D51777E}" type="slidenum">
              <a:rPr lang="en-US" smtClean="0"/>
              <a:t>‹#›</a:t>
            </a:fld>
            <a:endParaRPr lang="en-US"/>
          </a:p>
        </p:txBody>
      </p:sp>
    </p:spTree>
    <p:extLst>
      <p:ext uri="{BB962C8B-B14F-4D97-AF65-F5344CB8AC3E}">
        <p14:creationId xmlns:p14="http://schemas.microsoft.com/office/powerpoint/2010/main" val="25772141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17891-EE2E-485A-B0DC-DC621445C9E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B92924A-C6AE-4D75-AB17-78B55D1BAA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271A937-164D-433A-AFA8-3B2A06808161}"/>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E1D301D-C0C8-40C7-80EB-57DD5C8C40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D8522EF-5517-496B-8C28-5C8B20912627}"/>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2491CF1-0724-40E4-8C6F-4A3C59691920}"/>
              </a:ext>
            </a:extLst>
          </p:cNvPr>
          <p:cNvSpPr>
            <a:spLocks noGrp="1"/>
          </p:cNvSpPr>
          <p:nvPr>
            <p:ph type="dt" sz="half" idx="10"/>
          </p:nvPr>
        </p:nvSpPr>
        <p:spPr/>
        <p:txBody>
          <a:bodyPr/>
          <a:lstStyle/>
          <a:p>
            <a:fld id="{F46CE04B-2368-49F8-A0F9-6753CD841E41}" type="datetimeFigureOut">
              <a:rPr lang="en-US" smtClean="0"/>
              <a:t>30-Oct-24</a:t>
            </a:fld>
            <a:endParaRPr lang="en-US"/>
          </a:p>
        </p:txBody>
      </p:sp>
      <p:sp>
        <p:nvSpPr>
          <p:cNvPr id="8" name="Footer Placeholder 7">
            <a:extLst>
              <a:ext uri="{FF2B5EF4-FFF2-40B4-BE49-F238E27FC236}">
                <a16:creationId xmlns:a16="http://schemas.microsoft.com/office/drawing/2014/main" id="{6C05FE5B-9E56-4867-84FF-638E8787105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E651596-BB77-43F7-A41D-85E67D6B76AD}"/>
              </a:ext>
            </a:extLst>
          </p:cNvPr>
          <p:cNvSpPr>
            <a:spLocks noGrp="1"/>
          </p:cNvSpPr>
          <p:nvPr>
            <p:ph type="sldNum" sz="quarter" idx="12"/>
          </p:nvPr>
        </p:nvSpPr>
        <p:spPr/>
        <p:txBody>
          <a:bodyPr/>
          <a:lstStyle/>
          <a:p>
            <a:fld id="{9B24AB48-5196-4F6D-8944-FF524D51777E}" type="slidenum">
              <a:rPr lang="en-US" smtClean="0"/>
              <a:t>‹#›</a:t>
            </a:fld>
            <a:endParaRPr lang="en-US"/>
          </a:p>
        </p:txBody>
      </p:sp>
    </p:spTree>
    <p:extLst>
      <p:ext uri="{BB962C8B-B14F-4D97-AF65-F5344CB8AC3E}">
        <p14:creationId xmlns:p14="http://schemas.microsoft.com/office/powerpoint/2010/main" val="1235124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5717B-AA58-4B2B-905B-8AB5F69B23C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52CEB32-F3F2-443F-A094-04016C560514}"/>
              </a:ext>
            </a:extLst>
          </p:cNvPr>
          <p:cNvSpPr>
            <a:spLocks noGrp="1"/>
          </p:cNvSpPr>
          <p:nvPr>
            <p:ph type="dt" sz="half" idx="10"/>
          </p:nvPr>
        </p:nvSpPr>
        <p:spPr/>
        <p:txBody>
          <a:bodyPr/>
          <a:lstStyle/>
          <a:p>
            <a:fld id="{F46CE04B-2368-49F8-A0F9-6753CD841E41}" type="datetimeFigureOut">
              <a:rPr lang="en-US" smtClean="0"/>
              <a:t>30-Oct-24</a:t>
            </a:fld>
            <a:endParaRPr lang="en-US"/>
          </a:p>
        </p:txBody>
      </p:sp>
      <p:sp>
        <p:nvSpPr>
          <p:cNvPr id="4" name="Footer Placeholder 3">
            <a:extLst>
              <a:ext uri="{FF2B5EF4-FFF2-40B4-BE49-F238E27FC236}">
                <a16:creationId xmlns:a16="http://schemas.microsoft.com/office/drawing/2014/main" id="{847F2779-D18C-459C-906B-0B5E2DBBCD1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4C59BE2-EF20-43D5-8BFE-78C207F2F7C6}"/>
              </a:ext>
            </a:extLst>
          </p:cNvPr>
          <p:cNvSpPr>
            <a:spLocks noGrp="1"/>
          </p:cNvSpPr>
          <p:nvPr>
            <p:ph type="sldNum" sz="quarter" idx="12"/>
          </p:nvPr>
        </p:nvSpPr>
        <p:spPr/>
        <p:txBody>
          <a:bodyPr/>
          <a:lstStyle/>
          <a:p>
            <a:fld id="{9B24AB48-5196-4F6D-8944-FF524D51777E}" type="slidenum">
              <a:rPr lang="en-US" smtClean="0"/>
              <a:t>‹#›</a:t>
            </a:fld>
            <a:endParaRPr lang="en-US"/>
          </a:p>
        </p:txBody>
      </p:sp>
    </p:spTree>
    <p:extLst>
      <p:ext uri="{BB962C8B-B14F-4D97-AF65-F5344CB8AC3E}">
        <p14:creationId xmlns:p14="http://schemas.microsoft.com/office/powerpoint/2010/main" val="16294879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BAFC52-FF51-4AB3-AB36-B81C42153607}"/>
              </a:ext>
            </a:extLst>
          </p:cNvPr>
          <p:cNvSpPr>
            <a:spLocks noGrp="1"/>
          </p:cNvSpPr>
          <p:nvPr>
            <p:ph type="dt" sz="half" idx="10"/>
          </p:nvPr>
        </p:nvSpPr>
        <p:spPr/>
        <p:txBody>
          <a:bodyPr/>
          <a:lstStyle/>
          <a:p>
            <a:fld id="{F46CE04B-2368-49F8-A0F9-6753CD841E41}" type="datetimeFigureOut">
              <a:rPr lang="en-US" smtClean="0"/>
              <a:t>30-Oct-24</a:t>
            </a:fld>
            <a:endParaRPr lang="en-US"/>
          </a:p>
        </p:txBody>
      </p:sp>
      <p:sp>
        <p:nvSpPr>
          <p:cNvPr id="3" name="Footer Placeholder 2">
            <a:extLst>
              <a:ext uri="{FF2B5EF4-FFF2-40B4-BE49-F238E27FC236}">
                <a16:creationId xmlns:a16="http://schemas.microsoft.com/office/drawing/2014/main" id="{114B69E1-26E9-4E8F-A2B0-C2AE5D3C7A4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2C7C32-EA32-4DA8-88F8-78FDF53D0CB0}"/>
              </a:ext>
            </a:extLst>
          </p:cNvPr>
          <p:cNvSpPr>
            <a:spLocks noGrp="1"/>
          </p:cNvSpPr>
          <p:nvPr>
            <p:ph type="sldNum" sz="quarter" idx="12"/>
          </p:nvPr>
        </p:nvSpPr>
        <p:spPr/>
        <p:txBody>
          <a:bodyPr/>
          <a:lstStyle/>
          <a:p>
            <a:fld id="{9B24AB48-5196-4F6D-8944-FF524D51777E}" type="slidenum">
              <a:rPr lang="en-US" smtClean="0"/>
              <a:t>‹#›</a:t>
            </a:fld>
            <a:endParaRPr lang="en-US"/>
          </a:p>
        </p:txBody>
      </p:sp>
    </p:spTree>
    <p:extLst>
      <p:ext uri="{BB962C8B-B14F-4D97-AF65-F5344CB8AC3E}">
        <p14:creationId xmlns:p14="http://schemas.microsoft.com/office/powerpoint/2010/main" val="12548914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35D6E-A641-4947-B91C-2E2CE4E199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028BC6C-FA1C-4BE1-AEDF-BC885DEBFB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23E5236-BC46-420D-8644-E48BFAFB4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C4F2C59-5BAB-40E5-8C3C-B703C9226684}"/>
              </a:ext>
            </a:extLst>
          </p:cNvPr>
          <p:cNvSpPr>
            <a:spLocks noGrp="1"/>
          </p:cNvSpPr>
          <p:nvPr>
            <p:ph type="dt" sz="half" idx="10"/>
          </p:nvPr>
        </p:nvSpPr>
        <p:spPr/>
        <p:txBody>
          <a:bodyPr/>
          <a:lstStyle/>
          <a:p>
            <a:fld id="{F46CE04B-2368-49F8-A0F9-6753CD841E41}" type="datetimeFigureOut">
              <a:rPr lang="en-US" smtClean="0"/>
              <a:t>30-Oct-24</a:t>
            </a:fld>
            <a:endParaRPr lang="en-US"/>
          </a:p>
        </p:txBody>
      </p:sp>
      <p:sp>
        <p:nvSpPr>
          <p:cNvPr id="6" name="Footer Placeholder 5">
            <a:extLst>
              <a:ext uri="{FF2B5EF4-FFF2-40B4-BE49-F238E27FC236}">
                <a16:creationId xmlns:a16="http://schemas.microsoft.com/office/drawing/2014/main" id="{B7E6FF0E-5733-4705-8639-AF774045E8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735224-E5F3-4F07-B64F-4D5DBB9BF63C}"/>
              </a:ext>
            </a:extLst>
          </p:cNvPr>
          <p:cNvSpPr>
            <a:spLocks noGrp="1"/>
          </p:cNvSpPr>
          <p:nvPr>
            <p:ph type="sldNum" sz="quarter" idx="12"/>
          </p:nvPr>
        </p:nvSpPr>
        <p:spPr/>
        <p:txBody>
          <a:bodyPr/>
          <a:lstStyle/>
          <a:p>
            <a:fld id="{9B24AB48-5196-4F6D-8944-FF524D51777E}" type="slidenum">
              <a:rPr lang="en-US" smtClean="0"/>
              <a:t>‹#›</a:t>
            </a:fld>
            <a:endParaRPr lang="en-US"/>
          </a:p>
        </p:txBody>
      </p:sp>
    </p:spTree>
    <p:extLst>
      <p:ext uri="{BB962C8B-B14F-4D97-AF65-F5344CB8AC3E}">
        <p14:creationId xmlns:p14="http://schemas.microsoft.com/office/powerpoint/2010/main" val="3253326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0745A-3C5D-4F3E-876B-63AD9D787A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AB00001-DBB1-4AAA-8B1B-1E56EE4E06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2AB409D-16A5-4F8D-9AA2-4E6FC3D55D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4F0AD95-264B-4CF7-AA6A-A60DCB5B5D2F}"/>
              </a:ext>
            </a:extLst>
          </p:cNvPr>
          <p:cNvSpPr>
            <a:spLocks noGrp="1"/>
          </p:cNvSpPr>
          <p:nvPr>
            <p:ph type="dt" sz="half" idx="10"/>
          </p:nvPr>
        </p:nvSpPr>
        <p:spPr/>
        <p:txBody>
          <a:bodyPr/>
          <a:lstStyle/>
          <a:p>
            <a:fld id="{F46CE04B-2368-49F8-A0F9-6753CD841E41}" type="datetimeFigureOut">
              <a:rPr lang="en-US" smtClean="0"/>
              <a:t>30-Oct-24</a:t>
            </a:fld>
            <a:endParaRPr lang="en-US"/>
          </a:p>
        </p:txBody>
      </p:sp>
      <p:sp>
        <p:nvSpPr>
          <p:cNvPr id="6" name="Footer Placeholder 5">
            <a:extLst>
              <a:ext uri="{FF2B5EF4-FFF2-40B4-BE49-F238E27FC236}">
                <a16:creationId xmlns:a16="http://schemas.microsoft.com/office/drawing/2014/main" id="{CEB3D437-ACA5-4069-9CB3-E2080B3E56C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8343F2-D039-4563-95BA-A6373940C85B}"/>
              </a:ext>
            </a:extLst>
          </p:cNvPr>
          <p:cNvSpPr>
            <a:spLocks noGrp="1"/>
          </p:cNvSpPr>
          <p:nvPr>
            <p:ph type="sldNum" sz="quarter" idx="12"/>
          </p:nvPr>
        </p:nvSpPr>
        <p:spPr/>
        <p:txBody>
          <a:bodyPr/>
          <a:lstStyle/>
          <a:p>
            <a:fld id="{9B24AB48-5196-4F6D-8944-FF524D51777E}" type="slidenum">
              <a:rPr lang="en-US" smtClean="0"/>
              <a:t>‹#›</a:t>
            </a:fld>
            <a:endParaRPr lang="en-US"/>
          </a:p>
        </p:txBody>
      </p:sp>
    </p:spTree>
    <p:extLst>
      <p:ext uri="{BB962C8B-B14F-4D97-AF65-F5344CB8AC3E}">
        <p14:creationId xmlns:p14="http://schemas.microsoft.com/office/powerpoint/2010/main" val="21546690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52491-0E07-480A-A561-D5C54541590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A5FDD61-F9F1-42BA-AAB2-1EAFBBD7D7A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4E93AD-3F11-482E-A000-A4CFCA2D17F0}"/>
              </a:ext>
            </a:extLst>
          </p:cNvPr>
          <p:cNvSpPr>
            <a:spLocks noGrp="1"/>
          </p:cNvSpPr>
          <p:nvPr>
            <p:ph type="dt" sz="half" idx="10"/>
          </p:nvPr>
        </p:nvSpPr>
        <p:spPr/>
        <p:txBody>
          <a:bodyPr/>
          <a:lstStyle/>
          <a:p>
            <a:fld id="{F46CE04B-2368-49F8-A0F9-6753CD841E41}" type="datetimeFigureOut">
              <a:rPr lang="en-US" smtClean="0"/>
              <a:t>30-Oct-24</a:t>
            </a:fld>
            <a:endParaRPr lang="en-US"/>
          </a:p>
        </p:txBody>
      </p:sp>
      <p:sp>
        <p:nvSpPr>
          <p:cNvPr id="5" name="Footer Placeholder 4">
            <a:extLst>
              <a:ext uri="{FF2B5EF4-FFF2-40B4-BE49-F238E27FC236}">
                <a16:creationId xmlns:a16="http://schemas.microsoft.com/office/drawing/2014/main" id="{CFD80330-8BE2-4C98-91CB-62ECFA923D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AD20F9-4CEC-46EF-8E1F-A05593E9CA30}"/>
              </a:ext>
            </a:extLst>
          </p:cNvPr>
          <p:cNvSpPr>
            <a:spLocks noGrp="1"/>
          </p:cNvSpPr>
          <p:nvPr>
            <p:ph type="sldNum" sz="quarter" idx="12"/>
          </p:nvPr>
        </p:nvSpPr>
        <p:spPr/>
        <p:txBody>
          <a:bodyPr/>
          <a:lstStyle/>
          <a:p>
            <a:fld id="{9B24AB48-5196-4F6D-8944-FF524D51777E}" type="slidenum">
              <a:rPr lang="en-US" smtClean="0"/>
              <a:t>‹#›</a:t>
            </a:fld>
            <a:endParaRPr lang="en-US"/>
          </a:p>
        </p:txBody>
      </p:sp>
    </p:spTree>
    <p:extLst>
      <p:ext uri="{BB962C8B-B14F-4D97-AF65-F5344CB8AC3E}">
        <p14:creationId xmlns:p14="http://schemas.microsoft.com/office/powerpoint/2010/main" val="30637750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7514C66-A556-4F19-8175-C6594C04479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355E771-7434-42E9-A62A-CB787925015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D118FA-3590-4FB2-9A2D-AC6AE603936D}"/>
              </a:ext>
            </a:extLst>
          </p:cNvPr>
          <p:cNvSpPr>
            <a:spLocks noGrp="1"/>
          </p:cNvSpPr>
          <p:nvPr>
            <p:ph type="dt" sz="half" idx="10"/>
          </p:nvPr>
        </p:nvSpPr>
        <p:spPr/>
        <p:txBody>
          <a:bodyPr/>
          <a:lstStyle/>
          <a:p>
            <a:fld id="{F46CE04B-2368-49F8-A0F9-6753CD841E41}" type="datetimeFigureOut">
              <a:rPr lang="en-US" smtClean="0"/>
              <a:t>30-Oct-24</a:t>
            </a:fld>
            <a:endParaRPr lang="en-US"/>
          </a:p>
        </p:txBody>
      </p:sp>
      <p:sp>
        <p:nvSpPr>
          <p:cNvPr id="5" name="Footer Placeholder 4">
            <a:extLst>
              <a:ext uri="{FF2B5EF4-FFF2-40B4-BE49-F238E27FC236}">
                <a16:creationId xmlns:a16="http://schemas.microsoft.com/office/drawing/2014/main" id="{E079600D-D8C1-485E-A460-FEFD491AEF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658948-DF30-47FB-963E-CE999CD9AA39}"/>
              </a:ext>
            </a:extLst>
          </p:cNvPr>
          <p:cNvSpPr>
            <a:spLocks noGrp="1"/>
          </p:cNvSpPr>
          <p:nvPr>
            <p:ph type="sldNum" sz="quarter" idx="12"/>
          </p:nvPr>
        </p:nvSpPr>
        <p:spPr/>
        <p:txBody>
          <a:bodyPr/>
          <a:lstStyle/>
          <a:p>
            <a:fld id="{9B24AB48-5196-4F6D-8944-FF524D51777E}" type="slidenum">
              <a:rPr lang="en-US" smtClean="0"/>
              <a:t>‹#›</a:t>
            </a:fld>
            <a:endParaRPr lang="en-US"/>
          </a:p>
        </p:txBody>
      </p:sp>
    </p:spTree>
    <p:extLst>
      <p:ext uri="{BB962C8B-B14F-4D97-AF65-F5344CB8AC3E}">
        <p14:creationId xmlns:p14="http://schemas.microsoft.com/office/powerpoint/2010/main" val="41994532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32EBA8-A7B7-4820-B9A7-3B86358A85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0A56F42-67AE-49E2-BA5C-85AAFAD586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D8633A-3A2F-4321-B680-310DED130B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6CE04B-2368-49F8-A0F9-6753CD841E41}" type="datetimeFigureOut">
              <a:rPr lang="en-US" smtClean="0"/>
              <a:t>30-Oct-24</a:t>
            </a:fld>
            <a:endParaRPr lang="en-US"/>
          </a:p>
        </p:txBody>
      </p:sp>
      <p:sp>
        <p:nvSpPr>
          <p:cNvPr id="5" name="Footer Placeholder 4">
            <a:extLst>
              <a:ext uri="{FF2B5EF4-FFF2-40B4-BE49-F238E27FC236}">
                <a16:creationId xmlns:a16="http://schemas.microsoft.com/office/drawing/2014/main" id="{9AD5033A-FDC4-4647-8B9A-E9EE0E179C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FD1ED70-94B3-44D3-BA6B-4D4EFA8819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24AB48-5196-4F6D-8944-FF524D51777E}" type="slidenum">
              <a:rPr lang="en-US" smtClean="0"/>
              <a:t>‹#›</a:t>
            </a:fld>
            <a:endParaRPr lang="en-US"/>
          </a:p>
        </p:txBody>
      </p:sp>
    </p:spTree>
    <p:extLst>
      <p:ext uri="{BB962C8B-B14F-4D97-AF65-F5344CB8AC3E}">
        <p14:creationId xmlns:p14="http://schemas.microsoft.com/office/powerpoint/2010/main" val="42000241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2D810-F9A0-4A88-95A2-EB5E56BA97EB}"/>
              </a:ext>
            </a:extLst>
          </p:cNvPr>
          <p:cNvSpPr>
            <a:spLocks noGrp="1"/>
          </p:cNvSpPr>
          <p:nvPr>
            <p:ph type="ctrTitle"/>
          </p:nvPr>
        </p:nvSpPr>
        <p:spPr/>
        <p:txBody>
          <a:bodyPr/>
          <a:lstStyle/>
          <a:p>
            <a:r>
              <a:rPr lang="en-US" dirty="0"/>
              <a:t>Class Diagram - UML</a:t>
            </a:r>
          </a:p>
        </p:txBody>
      </p:sp>
      <p:sp>
        <p:nvSpPr>
          <p:cNvPr id="3" name="Subtitle 2">
            <a:extLst>
              <a:ext uri="{FF2B5EF4-FFF2-40B4-BE49-F238E27FC236}">
                <a16:creationId xmlns:a16="http://schemas.microsoft.com/office/drawing/2014/main" id="{21928194-9732-436B-BD1E-FFE02C603D3C}"/>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670466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2796F-F3D4-4024-B16D-B88FD6ACE3AC}"/>
              </a:ext>
            </a:extLst>
          </p:cNvPr>
          <p:cNvSpPr>
            <a:spLocks noGrp="1"/>
          </p:cNvSpPr>
          <p:nvPr>
            <p:ph type="title"/>
          </p:nvPr>
        </p:nvSpPr>
        <p:spPr/>
        <p:txBody>
          <a:bodyPr/>
          <a:lstStyle/>
          <a:p>
            <a:r>
              <a:rPr lang="en-US" dirty="0"/>
              <a:t>UML Diagrams</a:t>
            </a:r>
          </a:p>
        </p:txBody>
      </p:sp>
      <p:sp>
        <p:nvSpPr>
          <p:cNvPr id="3" name="Content Placeholder 2">
            <a:extLst>
              <a:ext uri="{FF2B5EF4-FFF2-40B4-BE49-F238E27FC236}">
                <a16:creationId xmlns:a16="http://schemas.microsoft.com/office/drawing/2014/main" id="{B7983DF0-57BB-4CAB-B50E-EB8D363F6289}"/>
              </a:ext>
            </a:extLst>
          </p:cNvPr>
          <p:cNvSpPr>
            <a:spLocks noGrp="1"/>
          </p:cNvSpPr>
          <p:nvPr>
            <p:ph idx="1"/>
          </p:nvPr>
        </p:nvSpPr>
        <p:spPr/>
        <p:txBody>
          <a:bodyPr/>
          <a:lstStyle/>
          <a:p>
            <a:r>
              <a:rPr lang="en-US" dirty="0"/>
              <a:t>Unified Modeling Language (UML) is a general-purpose modeling language. </a:t>
            </a:r>
          </a:p>
          <a:p>
            <a:r>
              <a:rPr lang="en-US" dirty="0"/>
              <a:t>The main aim of UML is to define a standard way to visualize the way a system has been designed. </a:t>
            </a:r>
          </a:p>
          <a:p>
            <a:r>
              <a:rPr lang="en-US" dirty="0"/>
              <a:t>It is quite similar to blueprints used in other fields of engineering.</a:t>
            </a:r>
          </a:p>
          <a:p>
            <a:r>
              <a:rPr lang="en-US" dirty="0"/>
              <a:t>UML is not a programming language, it is rather a visual language.</a:t>
            </a:r>
          </a:p>
        </p:txBody>
      </p:sp>
    </p:spTree>
    <p:extLst>
      <p:ext uri="{BB962C8B-B14F-4D97-AF65-F5344CB8AC3E}">
        <p14:creationId xmlns:p14="http://schemas.microsoft.com/office/powerpoint/2010/main" val="32116110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F15FF-EDD4-4514-87DD-F155812B7176}"/>
              </a:ext>
            </a:extLst>
          </p:cNvPr>
          <p:cNvSpPr>
            <a:spLocks noGrp="1"/>
          </p:cNvSpPr>
          <p:nvPr>
            <p:ph type="title"/>
          </p:nvPr>
        </p:nvSpPr>
        <p:spPr/>
        <p:txBody>
          <a:bodyPr/>
          <a:lstStyle/>
          <a:p>
            <a:r>
              <a:rPr lang="en-US" dirty="0"/>
              <a:t>Why We need UML?</a:t>
            </a:r>
          </a:p>
        </p:txBody>
      </p:sp>
      <p:sp>
        <p:nvSpPr>
          <p:cNvPr id="3" name="Content Placeholder 2">
            <a:extLst>
              <a:ext uri="{FF2B5EF4-FFF2-40B4-BE49-F238E27FC236}">
                <a16:creationId xmlns:a16="http://schemas.microsoft.com/office/drawing/2014/main" id="{44B4E8A6-4135-4D6A-AD64-4B4E77B7CAEF}"/>
              </a:ext>
            </a:extLst>
          </p:cNvPr>
          <p:cNvSpPr>
            <a:spLocks noGrp="1"/>
          </p:cNvSpPr>
          <p:nvPr>
            <p:ph idx="1"/>
          </p:nvPr>
        </p:nvSpPr>
        <p:spPr/>
        <p:txBody>
          <a:bodyPr>
            <a:normAutofit/>
          </a:bodyPr>
          <a:lstStyle/>
          <a:p>
            <a:pPr fontAlgn="base"/>
            <a:r>
              <a:rPr lang="en-US" dirty="0"/>
              <a:t>We need UML (Unified Modeling Language) to visually represent and communicate complex system designs, facilitating better understanding and collaboration among stakeholders. </a:t>
            </a:r>
          </a:p>
          <a:p>
            <a:pPr lvl="1" fontAlgn="base"/>
            <a:r>
              <a:rPr lang="en-US" dirty="0"/>
              <a:t>Complex applications need collaboration and planning from multiple teams and hence require a clear and concise way to communicate amongst them.</a:t>
            </a:r>
          </a:p>
          <a:p>
            <a:pPr lvl="1" fontAlgn="base"/>
            <a:r>
              <a:rPr lang="en-US" dirty="0"/>
              <a:t>Businessmen do not understand code. So UML becomes essential to communicate with non-programmers about essential requirements, functionalities, and processes of the system.</a:t>
            </a:r>
          </a:p>
          <a:p>
            <a:pPr lvl="1" fontAlgn="base"/>
            <a:r>
              <a:rPr lang="en-US" dirty="0"/>
              <a:t>A lot of time is saved down the line when teams can visualize processes, user interactions, and the static structure of the system.</a:t>
            </a:r>
          </a:p>
          <a:p>
            <a:endParaRPr lang="en-US" dirty="0"/>
          </a:p>
        </p:txBody>
      </p:sp>
    </p:spTree>
    <p:extLst>
      <p:ext uri="{BB962C8B-B14F-4D97-AF65-F5344CB8AC3E}">
        <p14:creationId xmlns:p14="http://schemas.microsoft.com/office/powerpoint/2010/main" val="31888372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98229-95EB-4811-8069-E57486AB4113}"/>
              </a:ext>
            </a:extLst>
          </p:cNvPr>
          <p:cNvSpPr>
            <a:spLocks noGrp="1"/>
          </p:cNvSpPr>
          <p:nvPr>
            <p:ph type="title"/>
          </p:nvPr>
        </p:nvSpPr>
        <p:spPr/>
        <p:txBody>
          <a:bodyPr/>
          <a:lstStyle/>
          <a:p>
            <a:r>
              <a:rPr lang="en-US" dirty="0"/>
              <a:t>Types of UML Diagram</a:t>
            </a:r>
          </a:p>
        </p:txBody>
      </p:sp>
      <p:sp>
        <p:nvSpPr>
          <p:cNvPr id="3" name="Content Placeholder 2">
            <a:extLst>
              <a:ext uri="{FF2B5EF4-FFF2-40B4-BE49-F238E27FC236}">
                <a16:creationId xmlns:a16="http://schemas.microsoft.com/office/drawing/2014/main" id="{382F14D1-7032-4271-8D9C-872FDDE7C69D}"/>
              </a:ext>
            </a:extLst>
          </p:cNvPr>
          <p:cNvSpPr>
            <a:spLocks noGrp="1"/>
          </p:cNvSpPr>
          <p:nvPr>
            <p:ph idx="1"/>
          </p:nvPr>
        </p:nvSpPr>
        <p:spPr/>
        <p:txBody>
          <a:bodyPr/>
          <a:lstStyle/>
          <a:p>
            <a:r>
              <a:rPr lang="en-US" dirty="0"/>
              <a:t>Structural Diagram</a:t>
            </a:r>
          </a:p>
          <a:p>
            <a:r>
              <a:rPr lang="en-US" dirty="0"/>
              <a:t>Behavioral Diagram</a:t>
            </a:r>
          </a:p>
          <a:p>
            <a:endParaRPr lang="en-US" dirty="0"/>
          </a:p>
        </p:txBody>
      </p:sp>
    </p:spTree>
    <p:extLst>
      <p:ext uri="{BB962C8B-B14F-4D97-AF65-F5344CB8AC3E}">
        <p14:creationId xmlns:p14="http://schemas.microsoft.com/office/powerpoint/2010/main" val="5604247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11C82-C3CC-4781-AE8D-73BD29CA0B44}"/>
              </a:ext>
            </a:extLst>
          </p:cNvPr>
          <p:cNvSpPr>
            <a:spLocks noGrp="1"/>
          </p:cNvSpPr>
          <p:nvPr>
            <p:ph type="title"/>
          </p:nvPr>
        </p:nvSpPr>
        <p:spPr/>
        <p:txBody>
          <a:bodyPr/>
          <a:lstStyle/>
          <a:p>
            <a:r>
              <a:rPr lang="en-US" dirty="0"/>
              <a:t>Class Diagram </a:t>
            </a:r>
          </a:p>
        </p:txBody>
      </p:sp>
      <p:sp>
        <p:nvSpPr>
          <p:cNvPr id="3" name="Content Placeholder 2">
            <a:extLst>
              <a:ext uri="{FF2B5EF4-FFF2-40B4-BE49-F238E27FC236}">
                <a16:creationId xmlns:a16="http://schemas.microsoft.com/office/drawing/2014/main" id="{A02F2296-DFBA-4DDF-939F-DB987DDEDCD6}"/>
              </a:ext>
            </a:extLst>
          </p:cNvPr>
          <p:cNvSpPr>
            <a:spLocks noGrp="1"/>
          </p:cNvSpPr>
          <p:nvPr>
            <p:ph idx="1"/>
          </p:nvPr>
        </p:nvSpPr>
        <p:spPr/>
        <p:txBody>
          <a:bodyPr>
            <a:normAutofit lnSpcReduction="10000"/>
          </a:bodyPr>
          <a:lstStyle/>
          <a:p>
            <a:r>
              <a:rPr lang="en-US" dirty="0"/>
              <a:t>A </a:t>
            </a:r>
            <a:r>
              <a:rPr lang="en-US" u="sng" dirty="0"/>
              <a:t>UML class diagram</a:t>
            </a:r>
            <a:r>
              <a:rPr lang="en-US" dirty="0"/>
              <a:t> is a visual tool that represents the structure of a system by showing its classes, attributes, methods, and the relationships between them.</a:t>
            </a:r>
          </a:p>
          <a:p>
            <a:r>
              <a:rPr lang="en-US" dirty="0"/>
              <a:t>Class diagrams are a type of UML (Unified Modeling Language) diagram used in software engineering to visually represent the structure and relationships of classes within a system i.e. used to construct and visualize object-oriented systems.</a:t>
            </a:r>
          </a:p>
          <a:p>
            <a:r>
              <a:rPr lang="en-US" dirty="0"/>
              <a:t>In these diagrams, classes are depicted as boxes, each containing three compartments for the class name, attributes, and methods. Lines connecting classes illustrate associations, showing relationships such as one-to-one or one-to-many. </a:t>
            </a:r>
          </a:p>
        </p:txBody>
      </p:sp>
    </p:spTree>
    <p:extLst>
      <p:ext uri="{BB962C8B-B14F-4D97-AF65-F5344CB8AC3E}">
        <p14:creationId xmlns:p14="http://schemas.microsoft.com/office/powerpoint/2010/main" val="17474837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C1A07-C4A8-4221-8DCF-6D5824BFBB26}"/>
              </a:ext>
            </a:extLst>
          </p:cNvPr>
          <p:cNvSpPr>
            <a:spLocks noGrp="1"/>
          </p:cNvSpPr>
          <p:nvPr>
            <p:ph type="title"/>
          </p:nvPr>
        </p:nvSpPr>
        <p:spPr/>
        <p:txBody>
          <a:bodyPr/>
          <a:lstStyle/>
          <a:p>
            <a:r>
              <a:rPr lang="en-US" dirty="0"/>
              <a:t>Class Diagram </a:t>
            </a:r>
          </a:p>
        </p:txBody>
      </p:sp>
      <p:sp>
        <p:nvSpPr>
          <p:cNvPr id="3" name="Content Placeholder 2">
            <a:extLst>
              <a:ext uri="{FF2B5EF4-FFF2-40B4-BE49-F238E27FC236}">
                <a16:creationId xmlns:a16="http://schemas.microsoft.com/office/drawing/2014/main" id="{FCD814E7-DC9F-4AB9-8D85-F4DE38E0BA0F}"/>
              </a:ext>
            </a:extLst>
          </p:cNvPr>
          <p:cNvSpPr>
            <a:spLocks noGrp="1"/>
          </p:cNvSpPr>
          <p:nvPr>
            <p:ph idx="1"/>
          </p:nvPr>
        </p:nvSpPr>
        <p:spPr/>
        <p:txBody>
          <a:bodyPr/>
          <a:lstStyle/>
          <a:p>
            <a:r>
              <a:rPr lang="en-US" dirty="0"/>
              <a:t>Class diagrams provide a high-level overview of a system’s design, helping to communicate and document the structure of the software.</a:t>
            </a:r>
          </a:p>
          <a:p>
            <a:r>
              <a:rPr lang="en-US" dirty="0"/>
              <a:t>They are a fundamental tool in object-oriented design and play a crucial role in the software development lifecycle.</a:t>
            </a:r>
          </a:p>
          <a:p>
            <a:endParaRPr lang="en-US" dirty="0"/>
          </a:p>
        </p:txBody>
      </p:sp>
    </p:spTree>
    <p:extLst>
      <p:ext uri="{BB962C8B-B14F-4D97-AF65-F5344CB8AC3E}">
        <p14:creationId xmlns:p14="http://schemas.microsoft.com/office/powerpoint/2010/main" val="2195029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7AB12-178C-436B-ACA2-EF2BBB96ABC7}"/>
              </a:ext>
            </a:extLst>
          </p:cNvPr>
          <p:cNvSpPr>
            <a:spLocks noGrp="1"/>
          </p:cNvSpPr>
          <p:nvPr>
            <p:ph type="title"/>
          </p:nvPr>
        </p:nvSpPr>
        <p:spPr/>
        <p:txBody>
          <a:bodyPr/>
          <a:lstStyle/>
          <a:p>
            <a:r>
              <a:rPr lang="en-US" dirty="0"/>
              <a:t>Class Diagram </a:t>
            </a:r>
          </a:p>
        </p:txBody>
      </p:sp>
      <p:pic>
        <p:nvPicPr>
          <p:cNvPr id="4" name="Content Placeholder 3">
            <a:extLst>
              <a:ext uri="{FF2B5EF4-FFF2-40B4-BE49-F238E27FC236}">
                <a16:creationId xmlns:a16="http://schemas.microsoft.com/office/drawing/2014/main" id="{FEBEB687-6C22-4429-A865-952373DF5E6B}"/>
              </a:ext>
            </a:extLst>
          </p:cNvPr>
          <p:cNvPicPr>
            <a:picLocks noGrp="1" noChangeAspect="1"/>
          </p:cNvPicPr>
          <p:nvPr>
            <p:ph idx="1"/>
          </p:nvPr>
        </p:nvPicPr>
        <p:blipFill>
          <a:blip r:embed="rId2"/>
          <a:stretch>
            <a:fillRect/>
          </a:stretch>
        </p:blipFill>
        <p:spPr>
          <a:xfrm>
            <a:off x="1168871" y="1825625"/>
            <a:ext cx="9854258" cy="4351338"/>
          </a:xfrm>
          <a:prstGeom prst="rect">
            <a:avLst/>
          </a:prstGeom>
        </p:spPr>
      </p:pic>
    </p:spTree>
    <p:extLst>
      <p:ext uri="{BB962C8B-B14F-4D97-AF65-F5344CB8AC3E}">
        <p14:creationId xmlns:p14="http://schemas.microsoft.com/office/powerpoint/2010/main" val="14622243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E78D2-DB58-454E-8D81-923D83A3A92F}"/>
              </a:ext>
            </a:extLst>
          </p:cNvPr>
          <p:cNvSpPr>
            <a:spLocks noGrp="1"/>
          </p:cNvSpPr>
          <p:nvPr>
            <p:ph type="title"/>
          </p:nvPr>
        </p:nvSpPr>
        <p:spPr/>
        <p:txBody>
          <a:bodyPr>
            <a:normAutofit/>
          </a:bodyPr>
          <a:lstStyle/>
          <a:p>
            <a:pPr fontAlgn="base"/>
            <a:r>
              <a:rPr lang="en-US" dirty="0"/>
              <a:t>UML Class Notation</a:t>
            </a:r>
          </a:p>
        </p:txBody>
      </p:sp>
      <p:pic>
        <p:nvPicPr>
          <p:cNvPr id="4" name="Content Placeholder 3">
            <a:extLst>
              <a:ext uri="{FF2B5EF4-FFF2-40B4-BE49-F238E27FC236}">
                <a16:creationId xmlns:a16="http://schemas.microsoft.com/office/drawing/2014/main" id="{F0BEB099-C9C4-49C1-BD19-B842FF364877}"/>
              </a:ext>
            </a:extLst>
          </p:cNvPr>
          <p:cNvPicPr>
            <a:picLocks noGrp="1" noChangeAspect="1"/>
          </p:cNvPicPr>
          <p:nvPr>
            <p:ph idx="1"/>
          </p:nvPr>
        </p:nvPicPr>
        <p:blipFill>
          <a:blip r:embed="rId2"/>
          <a:stretch>
            <a:fillRect/>
          </a:stretch>
        </p:blipFill>
        <p:spPr>
          <a:xfrm>
            <a:off x="1243207" y="1825625"/>
            <a:ext cx="9705586" cy="4351338"/>
          </a:xfrm>
          <a:prstGeom prst="rect">
            <a:avLst/>
          </a:prstGeom>
        </p:spPr>
      </p:pic>
    </p:spTree>
    <p:extLst>
      <p:ext uri="{BB962C8B-B14F-4D97-AF65-F5344CB8AC3E}">
        <p14:creationId xmlns:p14="http://schemas.microsoft.com/office/powerpoint/2010/main" val="33311595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5E2FA-F645-4176-92BA-3561A54DD886}"/>
              </a:ext>
            </a:extLst>
          </p:cNvPr>
          <p:cNvSpPr>
            <a:spLocks noGrp="1"/>
          </p:cNvSpPr>
          <p:nvPr>
            <p:ph type="title"/>
          </p:nvPr>
        </p:nvSpPr>
        <p:spPr/>
        <p:txBody>
          <a:bodyPr/>
          <a:lstStyle/>
          <a:p>
            <a:r>
              <a:rPr lang="en-US" dirty="0"/>
              <a:t>UML Class Notation</a:t>
            </a:r>
          </a:p>
        </p:txBody>
      </p:sp>
      <p:sp>
        <p:nvSpPr>
          <p:cNvPr id="3" name="Content Placeholder 2">
            <a:extLst>
              <a:ext uri="{FF2B5EF4-FFF2-40B4-BE49-F238E27FC236}">
                <a16:creationId xmlns:a16="http://schemas.microsoft.com/office/drawing/2014/main" id="{C45D90A0-5DE4-48A3-A727-C9193085CC10}"/>
              </a:ext>
            </a:extLst>
          </p:cNvPr>
          <p:cNvSpPr>
            <a:spLocks noGrp="1"/>
          </p:cNvSpPr>
          <p:nvPr>
            <p:ph idx="1"/>
          </p:nvPr>
        </p:nvSpPr>
        <p:spPr>
          <a:xfrm>
            <a:off x="838200" y="1825626"/>
            <a:ext cx="10515600" cy="4667250"/>
          </a:xfrm>
        </p:spPr>
        <p:txBody>
          <a:bodyPr>
            <a:normAutofit fontScale="55000" lnSpcReduction="20000"/>
          </a:bodyPr>
          <a:lstStyle/>
          <a:p>
            <a:pPr fontAlgn="base"/>
            <a:r>
              <a:rPr lang="en-US" sz="5100" b="1" dirty="0"/>
              <a:t>Class Name:</a:t>
            </a:r>
            <a:endParaRPr lang="en-US" sz="5100" dirty="0"/>
          </a:p>
          <a:p>
            <a:pPr lvl="1" fontAlgn="base"/>
            <a:r>
              <a:rPr lang="en-US" sz="4400" dirty="0"/>
              <a:t>The name of the class is typically written in the top compartment of the class box and is centered and bold.</a:t>
            </a:r>
          </a:p>
          <a:p>
            <a:pPr fontAlgn="base"/>
            <a:r>
              <a:rPr lang="en-US" sz="5100" b="1" dirty="0"/>
              <a:t>Attributes:</a:t>
            </a:r>
            <a:endParaRPr lang="en-US" sz="5100" dirty="0"/>
          </a:p>
          <a:p>
            <a:pPr lvl="1" fontAlgn="base"/>
            <a:r>
              <a:rPr lang="en-US" sz="4400" dirty="0"/>
              <a:t>Attributes, also known as properties or fields, represent the data members of the class. They are listed in the second compartment of the class box and often include the visibility (e.g., public, private) and the data type of each attribute.</a:t>
            </a:r>
          </a:p>
          <a:p>
            <a:pPr fontAlgn="base"/>
            <a:r>
              <a:rPr lang="en-US" sz="5100" b="1" dirty="0"/>
              <a:t>Methods:</a:t>
            </a:r>
            <a:endParaRPr lang="en-US" sz="5100" dirty="0"/>
          </a:p>
          <a:p>
            <a:pPr lvl="1" fontAlgn="base"/>
            <a:r>
              <a:rPr lang="en-US" sz="4400" dirty="0"/>
              <a:t>Methods, also known as functions or operations, represent the behavior or functionality of the class. They are listed in the third compartment of the class box and include the visibility (e.g., public, private), return type, and parameters of each method.</a:t>
            </a:r>
          </a:p>
          <a:p>
            <a:pPr marL="0" indent="0" fontAlgn="base">
              <a:buNone/>
            </a:pPr>
            <a:br>
              <a:rPr lang="en-US" dirty="0"/>
            </a:br>
            <a:endParaRPr lang="en-US" dirty="0"/>
          </a:p>
        </p:txBody>
      </p:sp>
    </p:spTree>
    <p:extLst>
      <p:ext uri="{BB962C8B-B14F-4D97-AF65-F5344CB8AC3E}">
        <p14:creationId xmlns:p14="http://schemas.microsoft.com/office/powerpoint/2010/main" val="32681755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CD55C-1562-44F3-AD39-2C24BCA5387B}"/>
              </a:ext>
            </a:extLst>
          </p:cNvPr>
          <p:cNvSpPr>
            <a:spLocks noGrp="1"/>
          </p:cNvSpPr>
          <p:nvPr>
            <p:ph type="title"/>
          </p:nvPr>
        </p:nvSpPr>
        <p:spPr/>
        <p:txBody>
          <a:bodyPr/>
          <a:lstStyle/>
          <a:p>
            <a:r>
              <a:rPr lang="en-US" dirty="0"/>
              <a:t>UML Class Notation</a:t>
            </a:r>
          </a:p>
        </p:txBody>
      </p:sp>
      <p:sp>
        <p:nvSpPr>
          <p:cNvPr id="6" name="Content Placeholder 5">
            <a:extLst>
              <a:ext uri="{FF2B5EF4-FFF2-40B4-BE49-F238E27FC236}">
                <a16:creationId xmlns:a16="http://schemas.microsoft.com/office/drawing/2014/main" id="{FD1719CD-765A-46FC-B25A-BCABA7C00C05}"/>
              </a:ext>
            </a:extLst>
          </p:cNvPr>
          <p:cNvSpPr>
            <a:spLocks noGrp="1"/>
          </p:cNvSpPr>
          <p:nvPr>
            <p:ph idx="1"/>
          </p:nvPr>
        </p:nvSpPr>
        <p:spPr/>
        <p:txBody>
          <a:bodyPr/>
          <a:lstStyle/>
          <a:p>
            <a:pPr eaLnBrk="0" fontAlgn="base" hangingPunct="0">
              <a:lnSpc>
                <a:spcPct val="100000"/>
              </a:lnSpc>
              <a:spcBef>
                <a:spcPct val="0"/>
              </a:spcBef>
              <a:spcAft>
                <a:spcPct val="0"/>
              </a:spcAft>
            </a:pPr>
            <a:r>
              <a:rPr kumimoji="0" lang="en-US" altLang="en-US" sz="3200" b="1" i="0" u="none" strike="noStrike" cap="none" normalizeH="0" baseline="0" dirty="0">
                <a:ln>
                  <a:noFill/>
                </a:ln>
                <a:solidFill>
                  <a:srgbClr val="273239"/>
                </a:solidFill>
                <a:effectLst/>
                <a:latin typeface="Nunito"/>
              </a:rPr>
              <a:t>Visibility Notation:</a:t>
            </a:r>
            <a:endParaRPr kumimoji="0" lang="en-US" altLang="en-US" sz="3200" b="0" i="0" u="none" strike="noStrike" cap="none" normalizeH="0" baseline="0" dirty="0">
              <a:ln>
                <a:noFill/>
              </a:ln>
              <a:solidFill>
                <a:srgbClr val="273239"/>
              </a:solidFill>
              <a:effectLst/>
              <a:latin typeface="Nunito"/>
            </a:endParaRPr>
          </a:p>
          <a:p>
            <a:pPr lvl="1" eaLnBrk="0" fontAlgn="base" hangingPunct="0">
              <a:lnSpc>
                <a:spcPct val="100000"/>
              </a:lnSpc>
              <a:spcBef>
                <a:spcPct val="0"/>
              </a:spcBef>
              <a:spcAft>
                <a:spcPct val="0"/>
              </a:spcAft>
            </a:pPr>
            <a:r>
              <a:rPr kumimoji="0" lang="en-US" altLang="en-US" sz="3200" b="0" i="0" u="none" strike="noStrike" cap="none" normalizeH="0" baseline="0" dirty="0">
                <a:ln>
                  <a:noFill/>
                </a:ln>
                <a:solidFill>
                  <a:srgbClr val="273239"/>
                </a:solidFill>
                <a:effectLst/>
                <a:latin typeface="Nunito"/>
              </a:rPr>
              <a:t>Visibility notations indicate the access level of attributes and methods. Common visibility notations include:</a:t>
            </a:r>
          </a:p>
          <a:p>
            <a:pPr lvl="2" eaLnBrk="0" fontAlgn="base" hangingPunct="0">
              <a:lnSpc>
                <a:spcPct val="100000"/>
              </a:lnSpc>
              <a:spcBef>
                <a:spcPct val="0"/>
              </a:spcBef>
              <a:spcAft>
                <a:spcPct val="0"/>
              </a:spcAft>
            </a:pPr>
            <a:r>
              <a:rPr kumimoji="0" lang="en-US" altLang="en-US" b="0" i="0" u="none" strike="noStrike" cap="none" normalizeH="0" baseline="0" dirty="0">
                <a:ln>
                  <a:noFill/>
                </a:ln>
                <a:solidFill>
                  <a:srgbClr val="273239"/>
                </a:solidFill>
                <a:effectLst/>
                <a:latin typeface="Arial Unicode MS"/>
              </a:rPr>
              <a:t>+</a:t>
            </a:r>
            <a:r>
              <a:rPr kumimoji="0" lang="en-US" altLang="en-US" sz="3200" b="0" i="0" u="none" strike="noStrike" cap="none" normalizeH="0" baseline="0" dirty="0">
                <a:ln>
                  <a:noFill/>
                </a:ln>
                <a:solidFill>
                  <a:srgbClr val="273239"/>
                </a:solidFill>
                <a:effectLst/>
                <a:latin typeface="Nunito"/>
              </a:rPr>
              <a:t> for public (visible to all classes)</a:t>
            </a:r>
          </a:p>
          <a:p>
            <a:pPr lvl="2" eaLnBrk="0" fontAlgn="base" hangingPunct="0">
              <a:lnSpc>
                <a:spcPct val="100000"/>
              </a:lnSpc>
              <a:spcBef>
                <a:spcPct val="0"/>
              </a:spcBef>
              <a:spcAft>
                <a:spcPct val="0"/>
              </a:spcAft>
            </a:pPr>
            <a:r>
              <a:rPr kumimoji="0" lang="en-US" altLang="en-US" b="0" i="0" u="none" strike="noStrike" cap="none" normalizeH="0" baseline="0" dirty="0">
                <a:ln>
                  <a:noFill/>
                </a:ln>
                <a:solidFill>
                  <a:srgbClr val="273239"/>
                </a:solidFill>
                <a:effectLst/>
                <a:latin typeface="Arial Unicode MS"/>
              </a:rPr>
              <a:t>-</a:t>
            </a:r>
            <a:r>
              <a:rPr kumimoji="0" lang="en-US" altLang="en-US" sz="3200" b="0" i="0" u="none" strike="noStrike" cap="none" normalizeH="0" baseline="0" dirty="0">
                <a:ln>
                  <a:noFill/>
                </a:ln>
                <a:solidFill>
                  <a:srgbClr val="273239"/>
                </a:solidFill>
                <a:effectLst/>
                <a:latin typeface="Nunito"/>
              </a:rPr>
              <a:t> for private (visible only within the class)</a:t>
            </a:r>
          </a:p>
          <a:p>
            <a:pPr lvl="2" eaLnBrk="0" fontAlgn="base" hangingPunct="0">
              <a:lnSpc>
                <a:spcPct val="100000"/>
              </a:lnSpc>
              <a:spcBef>
                <a:spcPct val="0"/>
              </a:spcBef>
              <a:spcAft>
                <a:spcPct val="0"/>
              </a:spcAft>
            </a:pPr>
            <a:r>
              <a:rPr kumimoji="0" lang="en-US" altLang="en-US" b="0" i="0" u="none" strike="noStrike" cap="none" normalizeH="0" baseline="0" dirty="0">
                <a:ln>
                  <a:noFill/>
                </a:ln>
                <a:solidFill>
                  <a:srgbClr val="273239"/>
                </a:solidFill>
                <a:effectLst/>
                <a:latin typeface="Arial Unicode MS"/>
              </a:rPr>
              <a:t>#</a:t>
            </a:r>
            <a:r>
              <a:rPr kumimoji="0" lang="en-US" altLang="en-US" sz="3200" b="0" i="0" u="none" strike="noStrike" cap="none" normalizeH="0" baseline="0" dirty="0">
                <a:ln>
                  <a:noFill/>
                </a:ln>
                <a:solidFill>
                  <a:srgbClr val="273239"/>
                </a:solidFill>
                <a:effectLst/>
                <a:latin typeface="Nunito"/>
              </a:rPr>
              <a:t> for protected (visible to subclasses)</a:t>
            </a:r>
          </a:p>
          <a:p>
            <a:pPr lvl="2" eaLnBrk="0" fontAlgn="base" hangingPunct="0">
              <a:lnSpc>
                <a:spcPct val="100000"/>
              </a:lnSpc>
              <a:spcBef>
                <a:spcPct val="0"/>
              </a:spcBef>
              <a:spcAft>
                <a:spcPct val="0"/>
              </a:spcAft>
            </a:pPr>
            <a:r>
              <a:rPr kumimoji="0" lang="en-US" altLang="en-US" b="0" i="0" u="none" strike="noStrike" cap="none" normalizeH="0" baseline="0" dirty="0">
                <a:ln>
                  <a:noFill/>
                </a:ln>
                <a:solidFill>
                  <a:srgbClr val="273239"/>
                </a:solidFill>
                <a:effectLst/>
                <a:latin typeface="Arial Unicode MS"/>
              </a:rPr>
              <a:t>~</a:t>
            </a:r>
            <a:r>
              <a:rPr kumimoji="0" lang="en-US" altLang="en-US" sz="3200" b="0" i="0" u="none" strike="noStrike" cap="none" normalizeH="0" baseline="0" dirty="0">
                <a:ln>
                  <a:noFill/>
                </a:ln>
                <a:solidFill>
                  <a:srgbClr val="273239"/>
                </a:solidFill>
                <a:effectLst/>
                <a:latin typeface="Nunito"/>
              </a:rPr>
              <a:t> for package or default visibility (visible to classes in the same package)</a:t>
            </a:r>
          </a:p>
          <a:p>
            <a:endParaRPr lang="en-US" dirty="0"/>
          </a:p>
        </p:txBody>
      </p:sp>
    </p:spTree>
    <p:extLst>
      <p:ext uri="{BB962C8B-B14F-4D97-AF65-F5344CB8AC3E}">
        <p14:creationId xmlns:p14="http://schemas.microsoft.com/office/powerpoint/2010/main" val="21326943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56D71-76D6-4697-A3E9-9727FB4E92FC}"/>
              </a:ext>
            </a:extLst>
          </p:cNvPr>
          <p:cNvSpPr>
            <a:spLocks noGrp="1"/>
          </p:cNvSpPr>
          <p:nvPr>
            <p:ph type="title"/>
          </p:nvPr>
        </p:nvSpPr>
        <p:spPr/>
        <p:txBody>
          <a:bodyPr/>
          <a:lstStyle/>
          <a:p>
            <a:r>
              <a:rPr lang="en-US" dirty="0"/>
              <a:t>Parameter</a:t>
            </a:r>
            <a:r>
              <a:rPr lang="en-US" b="1" dirty="0"/>
              <a:t> </a:t>
            </a:r>
            <a:r>
              <a:rPr lang="en-US" dirty="0"/>
              <a:t>Directionality</a:t>
            </a:r>
          </a:p>
        </p:txBody>
      </p:sp>
      <p:sp>
        <p:nvSpPr>
          <p:cNvPr id="3" name="Content Placeholder 2">
            <a:extLst>
              <a:ext uri="{FF2B5EF4-FFF2-40B4-BE49-F238E27FC236}">
                <a16:creationId xmlns:a16="http://schemas.microsoft.com/office/drawing/2014/main" id="{062EAFE9-8235-4A43-9C82-8261959DE5EF}"/>
              </a:ext>
            </a:extLst>
          </p:cNvPr>
          <p:cNvSpPr>
            <a:spLocks noGrp="1"/>
          </p:cNvSpPr>
          <p:nvPr>
            <p:ph idx="1"/>
          </p:nvPr>
        </p:nvSpPr>
        <p:spPr/>
        <p:txBody>
          <a:bodyPr/>
          <a:lstStyle/>
          <a:p>
            <a:r>
              <a:rPr lang="en-US" dirty="0"/>
              <a:t>In class diagrams, parameter directionality refers to the indication of the flow of information between classes through method parameters.</a:t>
            </a:r>
          </a:p>
          <a:p>
            <a:r>
              <a:rPr lang="en-US" dirty="0"/>
              <a:t>It helps to specify whether a parameter is an input, an output, or both. This information is crucial for understanding how data is passed between objects during method calls.</a:t>
            </a:r>
          </a:p>
        </p:txBody>
      </p:sp>
    </p:spTree>
    <p:extLst>
      <p:ext uri="{BB962C8B-B14F-4D97-AF65-F5344CB8AC3E}">
        <p14:creationId xmlns:p14="http://schemas.microsoft.com/office/powerpoint/2010/main" val="6722500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C02D2-F2E9-450E-9250-87909C7143DD}"/>
              </a:ext>
            </a:extLst>
          </p:cNvPr>
          <p:cNvSpPr>
            <a:spLocks noGrp="1"/>
          </p:cNvSpPr>
          <p:nvPr>
            <p:ph type="title"/>
          </p:nvPr>
        </p:nvSpPr>
        <p:spPr/>
        <p:txBody>
          <a:bodyPr/>
          <a:lstStyle/>
          <a:p>
            <a:r>
              <a:rPr lang="en-US" dirty="0"/>
              <a:t>Parameter</a:t>
            </a:r>
            <a:r>
              <a:rPr lang="en-US" b="1" dirty="0"/>
              <a:t> </a:t>
            </a:r>
            <a:r>
              <a:rPr lang="en-US" dirty="0"/>
              <a:t>Directionality</a:t>
            </a:r>
          </a:p>
        </p:txBody>
      </p:sp>
      <p:pic>
        <p:nvPicPr>
          <p:cNvPr id="4" name="Content Placeholder 3">
            <a:extLst>
              <a:ext uri="{FF2B5EF4-FFF2-40B4-BE49-F238E27FC236}">
                <a16:creationId xmlns:a16="http://schemas.microsoft.com/office/drawing/2014/main" id="{6F038CEF-5229-4D96-ABB7-57CBB1C063E4}"/>
              </a:ext>
            </a:extLst>
          </p:cNvPr>
          <p:cNvPicPr>
            <a:picLocks noGrp="1" noChangeAspect="1"/>
          </p:cNvPicPr>
          <p:nvPr>
            <p:ph idx="1"/>
          </p:nvPr>
        </p:nvPicPr>
        <p:blipFill>
          <a:blip r:embed="rId2"/>
          <a:stretch>
            <a:fillRect/>
          </a:stretch>
        </p:blipFill>
        <p:spPr>
          <a:xfrm>
            <a:off x="2522025" y="1825625"/>
            <a:ext cx="7147949" cy="4351338"/>
          </a:xfrm>
          <a:prstGeom prst="rect">
            <a:avLst/>
          </a:prstGeom>
        </p:spPr>
      </p:pic>
    </p:spTree>
    <p:extLst>
      <p:ext uri="{BB962C8B-B14F-4D97-AF65-F5344CB8AC3E}">
        <p14:creationId xmlns:p14="http://schemas.microsoft.com/office/powerpoint/2010/main" val="17901193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146FB-6F1C-4666-B671-7320CE5C31EB}"/>
              </a:ext>
            </a:extLst>
          </p:cNvPr>
          <p:cNvSpPr>
            <a:spLocks noGrp="1"/>
          </p:cNvSpPr>
          <p:nvPr>
            <p:ph type="title"/>
          </p:nvPr>
        </p:nvSpPr>
        <p:spPr/>
        <p:txBody>
          <a:bodyPr/>
          <a:lstStyle/>
          <a:p>
            <a:r>
              <a:rPr lang="en-US" dirty="0"/>
              <a:t>Parameter</a:t>
            </a:r>
            <a:r>
              <a:rPr lang="en-US" b="1" dirty="0"/>
              <a:t> </a:t>
            </a:r>
            <a:r>
              <a:rPr lang="en-US" dirty="0"/>
              <a:t>Directionality</a:t>
            </a:r>
          </a:p>
        </p:txBody>
      </p:sp>
      <p:sp>
        <p:nvSpPr>
          <p:cNvPr id="3" name="Content Placeholder 2">
            <a:extLst>
              <a:ext uri="{FF2B5EF4-FFF2-40B4-BE49-F238E27FC236}">
                <a16:creationId xmlns:a16="http://schemas.microsoft.com/office/drawing/2014/main" id="{74F5B5A4-811F-4214-9C26-5042EA4AF574}"/>
              </a:ext>
            </a:extLst>
          </p:cNvPr>
          <p:cNvSpPr>
            <a:spLocks noGrp="1"/>
          </p:cNvSpPr>
          <p:nvPr>
            <p:ph idx="1"/>
          </p:nvPr>
        </p:nvSpPr>
        <p:spPr/>
        <p:txBody>
          <a:bodyPr>
            <a:normAutofit fontScale="92500" lnSpcReduction="20000"/>
          </a:bodyPr>
          <a:lstStyle/>
          <a:p>
            <a:pPr fontAlgn="base"/>
            <a:r>
              <a:rPr lang="en-US" b="1" dirty="0"/>
              <a:t>In (Input):</a:t>
            </a:r>
            <a:endParaRPr lang="en-US" dirty="0"/>
          </a:p>
          <a:p>
            <a:pPr lvl="1" fontAlgn="base"/>
            <a:r>
              <a:rPr lang="en-US" dirty="0"/>
              <a:t>An input parameter is a parameter passed from the calling object (client) to the called object (server) during a method invocation.</a:t>
            </a:r>
          </a:p>
          <a:p>
            <a:pPr lvl="1" fontAlgn="base"/>
            <a:r>
              <a:rPr lang="en-US" dirty="0"/>
              <a:t>It is represented by an arrow pointing towards the receiving class (the class that owns the method).</a:t>
            </a:r>
          </a:p>
          <a:p>
            <a:pPr fontAlgn="base"/>
            <a:r>
              <a:rPr lang="en-US" b="1" dirty="0"/>
              <a:t>Out (Output):</a:t>
            </a:r>
            <a:endParaRPr lang="en-US" dirty="0"/>
          </a:p>
          <a:p>
            <a:pPr lvl="1" fontAlgn="base"/>
            <a:r>
              <a:rPr lang="en-US" dirty="0"/>
              <a:t>An output parameter is a parameter passed from the called object (server) back to the calling object (client) after the method execution.</a:t>
            </a:r>
          </a:p>
          <a:p>
            <a:pPr lvl="1" fontAlgn="base"/>
            <a:r>
              <a:rPr lang="en-US" dirty="0"/>
              <a:t>It is represented by an arrow pointing away from the receiving class.</a:t>
            </a:r>
          </a:p>
          <a:p>
            <a:pPr fontAlgn="base"/>
            <a:r>
              <a:rPr lang="en-US" b="1" dirty="0" err="1"/>
              <a:t>InOut</a:t>
            </a:r>
            <a:r>
              <a:rPr lang="en-US" b="1" dirty="0"/>
              <a:t> (Input and Output):</a:t>
            </a:r>
            <a:endParaRPr lang="en-US" dirty="0"/>
          </a:p>
          <a:p>
            <a:pPr lvl="1" fontAlgn="base"/>
            <a:r>
              <a:rPr lang="en-US" dirty="0"/>
              <a:t>An </a:t>
            </a:r>
            <a:r>
              <a:rPr lang="en-US" dirty="0" err="1"/>
              <a:t>InOut</a:t>
            </a:r>
            <a:r>
              <a:rPr lang="en-US" dirty="0"/>
              <a:t> parameter serves as both input and output. It carries information from the calling object to the called object and vice versa.</a:t>
            </a:r>
          </a:p>
          <a:p>
            <a:pPr lvl="1" fontAlgn="base"/>
            <a:r>
              <a:rPr lang="en-US" dirty="0"/>
              <a:t>It is represented by an arrow pointing towards and away from the receiving class.</a:t>
            </a:r>
          </a:p>
          <a:p>
            <a:endParaRPr lang="en-US" dirty="0"/>
          </a:p>
        </p:txBody>
      </p:sp>
    </p:spTree>
    <p:extLst>
      <p:ext uri="{BB962C8B-B14F-4D97-AF65-F5344CB8AC3E}">
        <p14:creationId xmlns:p14="http://schemas.microsoft.com/office/powerpoint/2010/main" val="29273395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51081-C49E-492E-A06B-F80251C78317}"/>
              </a:ext>
            </a:extLst>
          </p:cNvPr>
          <p:cNvSpPr>
            <a:spLocks noGrp="1"/>
          </p:cNvSpPr>
          <p:nvPr>
            <p:ph type="title"/>
          </p:nvPr>
        </p:nvSpPr>
        <p:spPr/>
        <p:txBody>
          <a:bodyPr/>
          <a:lstStyle/>
          <a:p>
            <a:r>
              <a:rPr lang="en-US" dirty="0"/>
              <a:t>Relationships between classes</a:t>
            </a:r>
          </a:p>
        </p:txBody>
      </p:sp>
      <p:sp>
        <p:nvSpPr>
          <p:cNvPr id="3" name="Content Placeholder 2">
            <a:extLst>
              <a:ext uri="{FF2B5EF4-FFF2-40B4-BE49-F238E27FC236}">
                <a16:creationId xmlns:a16="http://schemas.microsoft.com/office/drawing/2014/main" id="{98E279A5-96E4-4289-82EA-C17E1BC45EF2}"/>
              </a:ext>
            </a:extLst>
          </p:cNvPr>
          <p:cNvSpPr>
            <a:spLocks noGrp="1"/>
          </p:cNvSpPr>
          <p:nvPr>
            <p:ph idx="1"/>
          </p:nvPr>
        </p:nvSpPr>
        <p:spPr/>
        <p:txBody>
          <a:bodyPr/>
          <a:lstStyle/>
          <a:p>
            <a:r>
              <a:rPr lang="en-US" dirty="0"/>
              <a:t>In class diagrams, relationships between classes describe how classes are connected or interact with each other within a system. </a:t>
            </a:r>
          </a:p>
          <a:p>
            <a:r>
              <a:rPr lang="en-US" dirty="0"/>
              <a:t>There are several types of relationships in object-oriented modeling, each serving a specific purpose.</a:t>
            </a:r>
          </a:p>
        </p:txBody>
      </p:sp>
      <p:pic>
        <p:nvPicPr>
          <p:cNvPr id="4" name="Picture 3">
            <a:extLst>
              <a:ext uri="{FF2B5EF4-FFF2-40B4-BE49-F238E27FC236}">
                <a16:creationId xmlns:a16="http://schemas.microsoft.com/office/drawing/2014/main" id="{FF5996BE-4811-48E8-B304-4BC4F809A965}"/>
              </a:ext>
            </a:extLst>
          </p:cNvPr>
          <p:cNvPicPr>
            <a:picLocks noChangeAspect="1"/>
          </p:cNvPicPr>
          <p:nvPr/>
        </p:nvPicPr>
        <p:blipFill>
          <a:blip r:embed="rId2"/>
          <a:stretch>
            <a:fillRect/>
          </a:stretch>
        </p:blipFill>
        <p:spPr>
          <a:xfrm>
            <a:off x="1380049" y="3601820"/>
            <a:ext cx="9130635" cy="2803896"/>
          </a:xfrm>
          <a:prstGeom prst="rect">
            <a:avLst/>
          </a:prstGeom>
        </p:spPr>
      </p:pic>
    </p:spTree>
    <p:extLst>
      <p:ext uri="{BB962C8B-B14F-4D97-AF65-F5344CB8AC3E}">
        <p14:creationId xmlns:p14="http://schemas.microsoft.com/office/powerpoint/2010/main" val="25906785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12DF3-C97B-4E99-91D8-53AECD4D2FE7}"/>
              </a:ext>
            </a:extLst>
          </p:cNvPr>
          <p:cNvSpPr>
            <a:spLocks noGrp="1"/>
          </p:cNvSpPr>
          <p:nvPr>
            <p:ph type="title"/>
          </p:nvPr>
        </p:nvSpPr>
        <p:spPr/>
        <p:txBody>
          <a:bodyPr/>
          <a:lstStyle/>
          <a:p>
            <a:r>
              <a:rPr lang="en-US" dirty="0"/>
              <a:t>Association</a:t>
            </a:r>
          </a:p>
        </p:txBody>
      </p:sp>
      <p:sp>
        <p:nvSpPr>
          <p:cNvPr id="3" name="Content Placeholder 2">
            <a:extLst>
              <a:ext uri="{FF2B5EF4-FFF2-40B4-BE49-F238E27FC236}">
                <a16:creationId xmlns:a16="http://schemas.microsoft.com/office/drawing/2014/main" id="{8C880039-BC8B-4339-B57B-33D201A59B2D}"/>
              </a:ext>
            </a:extLst>
          </p:cNvPr>
          <p:cNvSpPr>
            <a:spLocks noGrp="1"/>
          </p:cNvSpPr>
          <p:nvPr>
            <p:ph idx="1"/>
          </p:nvPr>
        </p:nvSpPr>
        <p:spPr/>
        <p:txBody>
          <a:bodyPr/>
          <a:lstStyle/>
          <a:p>
            <a:pPr fontAlgn="base"/>
            <a:r>
              <a:rPr lang="en-US" dirty="0"/>
              <a:t>An association represents a bi-directional relationship between two classes. It indicates that instances of one class are connected to instances of another class. Associations are typically depicted as a solid line connecting the classes, with optional arrows indicating the direction of the relationship.</a:t>
            </a:r>
          </a:p>
          <a:p>
            <a:endParaRPr lang="en-US" dirty="0"/>
          </a:p>
        </p:txBody>
      </p:sp>
    </p:spTree>
    <p:extLst>
      <p:ext uri="{BB962C8B-B14F-4D97-AF65-F5344CB8AC3E}">
        <p14:creationId xmlns:p14="http://schemas.microsoft.com/office/powerpoint/2010/main" val="36807633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6AC82-7E93-434E-9143-F8A763D62B51}"/>
              </a:ext>
            </a:extLst>
          </p:cNvPr>
          <p:cNvSpPr>
            <a:spLocks noGrp="1"/>
          </p:cNvSpPr>
          <p:nvPr>
            <p:ph type="title"/>
          </p:nvPr>
        </p:nvSpPr>
        <p:spPr/>
        <p:txBody>
          <a:bodyPr/>
          <a:lstStyle/>
          <a:p>
            <a:r>
              <a:rPr lang="en-US" dirty="0"/>
              <a:t>Association</a:t>
            </a:r>
          </a:p>
        </p:txBody>
      </p:sp>
      <p:pic>
        <p:nvPicPr>
          <p:cNvPr id="4" name="Content Placeholder 3">
            <a:extLst>
              <a:ext uri="{FF2B5EF4-FFF2-40B4-BE49-F238E27FC236}">
                <a16:creationId xmlns:a16="http://schemas.microsoft.com/office/drawing/2014/main" id="{CBC882B4-DBD6-4CB4-B9FF-2FAA50BA8F4F}"/>
              </a:ext>
            </a:extLst>
          </p:cNvPr>
          <p:cNvPicPr>
            <a:picLocks noGrp="1" noChangeAspect="1"/>
          </p:cNvPicPr>
          <p:nvPr>
            <p:ph idx="1"/>
          </p:nvPr>
        </p:nvPicPr>
        <p:blipFill>
          <a:blip r:embed="rId2"/>
          <a:stretch>
            <a:fillRect/>
          </a:stretch>
        </p:blipFill>
        <p:spPr>
          <a:xfrm>
            <a:off x="2119511" y="1825625"/>
            <a:ext cx="7952978" cy="4351338"/>
          </a:xfrm>
          <a:prstGeom prst="rect">
            <a:avLst/>
          </a:prstGeom>
        </p:spPr>
      </p:pic>
    </p:spTree>
    <p:extLst>
      <p:ext uri="{BB962C8B-B14F-4D97-AF65-F5344CB8AC3E}">
        <p14:creationId xmlns:p14="http://schemas.microsoft.com/office/powerpoint/2010/main" val="14688873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3F29F-7007-4E25-9671-B26C107F91BE}"/>
              </a:ext>
            </a:extLst>
          </p:cNvPr>
          <p:cNvSpPr>
            <a:spLocks noGrp="1"/>
          </p:cNvSpPr>
          <p:nvPr>
            <p:ph type="title"/>
          </p:nvPr>
        </p:nvSpPr>
        <p:spPr/>
        <p:txBody>
          <a:bodyPr/>
          <a:lstStyle/>
          <a:p>
            <a:r>
              <a:rPr lang="en-US" dirty="0"/>
              <a:t>Aggregation</a:t>
            </a:r>
          </a:p>
        </p:txBody>
      </p:sp>
      <p:sp>
        <p:nvSpPr>
          <p:cNvPr id="3" name="Content Placeholder 2">
            <a:extLst>
              <a:ext uri="{FF2B5EF4-FFF2-40B4-BE49-F238E27FC236}">
                <a16:creationId xmlns:a16="http://schemas.microsoft.com/office/drawing/2014/main" id="{1E708720-2C89-4940-8129-23E68FF6F6AE}"/>
              </a:ext>
            </a:extLst>
          </p:cNvPr>
          <p:cNvSpPr>
            <a:spLocks noGrp="1"/>
          </p:cNvSpPr>
          <p:nvPr>
            <p:ph idx="1"/>
          </p:nvPr>
        </p:nvSpPr>
        <p:spPr/>
        <p:txBody>
          <a:bodyPr/>
          <a:lstStyle/>
          <a:p>
            <a:r>
              <a:rPr lang="en-US" dirty="0"/>
              <a:t>Aggregation is a specialized form of association that represents a “whole-part” relationship. It denotes a stronger relationship where one class (the whole) contains or is composed of another class (the part). </a:t>
            </a:r>
          </a:p>
          <a:p>
            <a:r>
              <a:rPr lang="en-US" dirty="0"/>
              <a:t>Aggregation is represented by a diamond shape on the side of the whole class. </a:t>
            </a:r>
          </a:p>
          <a:p>
            <a:r>
              <a:rPr lang="en-US" dirty="0"/>
              <a:t>In this kind of relationship, the child class can exist independently of its parent class.</a:t>
            </a:r>
          </a:p>
        </p:txBody>
      </p:sp>
    </p:spTree>
    <p:extLst>
      <p:ext uri="{BB962C8B-B14F-4D97-AF65-F5344CB8AC3E}">
        <p14:creationId xmlns:p14="http://schemas.microsoft.com/office/powerpoint/2010/main" val="29199305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E78F1-9909-4074-83E6-C787672A4119}"/>
              </a:ext>
            </a:extLst>
          </p:cNvPr>
          <p:cNvSpPr>
            <a:spLocks noGrp="1"/>
          </p:cNvSpPr>
          <p:nvPr>
            <p:ph type="title"/>
          </p:nvPr>
        </p:nvSpPr>
        <p:spPr/>
        <p:txBody>
          <a:bodyPr/>
          <a:lstStyle/>
          <a:p>
            <a:r>
              <a:rPr lang="en-US" dirty="0"/>
              <a:t>Aggregation</a:t>
            </a:r>
          </a:p>
        </p:txBody>
      </p:sp>
      <p:pic>
        <p:nvPicPr>
          <p:cNvPr id="4" name="Content Placeholder 3">
            <a:extLst>
              <a:ext uri="{FF2B5EF4-FFF2-40B4-BE49-F238E27FC236}">
                <a16:creationId xmlns:a16="http://schemas.microsoft.com/office/drawing/2014/main" id="{7D3E843D-CEE2-4C02-B7DC-15F45AE27E99}"/>
              </a:ext>
            </a:extLst>
          </p:cNvPr>
          <p:cNvPicPr>
            <a:picLocks noGrp="1" noChangeAspect="1"/>
          </p:cNvPicPr>
          <p:nvPr>
            <p:ph idx="1"/>
          </p:nvPr>
        </p:nvPicPr>
        <p:blipFill>
          <a:blip r:embed="rId2"/>
          <a:stretch>
            <a:fillRect/>
          </a:stretch>
        </p:blipFill>
        <p:spPr>
          <a:xfrm>
            <a:off x="1972259" y="1825625"/>
            <a:ext cx="8247482" cy="4351338"/>
          </a:xfrm>
          <a:prstGeom prst="rect">
            <a:avLst/>
          </a:prstGeom>
        </p:spPr>
      </p:pic>
    </p:spTree>
    <p:extLst>
      <p:ext uri="{BB962C8B-B14F-4D97-AF65-F5344CB8AC3E}">
        <p14:creationId xmlns:p14="http://schemas.microsoft.com/office/powerpoint/2010/main" val="15260312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98FE-3DFC-4624-A21B-91AB278087C9}"/>
              </a:ext>
            </a:extLst>
          </p:cNvPr>
          <p:cNvSpPr>
            <a:spLocks noGrp="1"/>
          </p:cNvSpPr>
          <p:nvPr>
            <p:ph type="title"/>
          </p:nvPr>
        </p:nvSpPr>
        <p:spPr/>
        <p:txBody>
          <a:bodyPr/>
          <a:lstStyle/>
          <a:p>
            <a:r>
              <a:rPr lang="en-US" dirty="0"/>
              <a:t>Composition</a:t>
            </a:r>
          </a:p>
        </p:txBody>
      </p:sp>
      <p:sp>
        <p:nvSpPr>
          <p:cNvPr id="3" name="Content Placeholder 2">
            <a:extLst>
              <a:ext uri="{FF2B5EF4-FFF2-40B4-BE49-F238E27FC236}">
                <a16:creationId xmlns:a16="http://schemas.microsoft.com/office/drawing/2014/main" id="{ABAC0142-1BB0-4619-A1EA-F7947CAF8ADB}"/>
              </a:ext>
            </a:extLst>
          </p:cNvPr>
          <p:cNvSpPr>
            <a:spLocks noGrp="1"/>
          </p:cNvSpPr>
          <p:nvPr>
            <p:ph idx="1"/>
          </p:nvPr>
        </p:nvSpPr>
        <p:spPr/>
        <p:txBody>
          <a:bodyPr/>
          <a:lstStyle/>
          <a:p>
            <a:r>
              <a:rPr lang="en-US" dirty="0"/>
              <a:t>Composition is a stronger form of aggregation, indicating a more significant ownership or dependency relationship. </a:t>
            </a:r>
          </a:p>
          <a:p>
            <a:r>
              <a:rPr lang="en-US" dirty="0"/>
              <a:t>In composition, the part class cannot exist independently of the whole class. </a:t>
            </a:r>
          </a:p>
          <a:p>
            <a:r>
              <a:rPr lang="en-US" dirty="0"/>
              <a:t>Composition is represented by a filled diamond shape on the side of the whole class.</a:t>
            </a:r>
          </a:p>
        </p:txBody>
      </p:sp>
    </p:spTree>
    <p:extLst>
      <p:ext uri="{BB962C8B-B14F-4D97-AF65-F5344CB8AC3E}">
        <p14:creationId xmlns:p14="http://schemas.microsoft.com/office/powerpoint/2010/main" val="23016656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A9C6D-0EFC-4BF1-9DE3-2CB7A67BEFD4}"/>
              </a:ext>
            </a:extLst>
          </p:cNvPr>
          <p:cNvSpPr>
            <a:spLocks noGrp="1"/>
          </p:cNvSpPr>
          <p:nvPr>
            <p:ph type="title"/>
          </p:nvPr>
        </p:nvSpPr>
        <p:spPr/>
        <p:txBody>
          <a:bodyPr/>
          <a:lstStyle/>
          <a:p>
            <a:r>
              <a:rPr lang="en-US" dirty="0"/>
              <a:t>Composition</a:t>
            </a:r>
          </a:p>
        </p:txBody>
      </p:sp>
      <p:pic>
        <p:nvPicPr>
          <p:cNvPr id="4" name="Content Placeholder 3">
            <a:extLst>
              <a:ext uri="{FF2B5EF4-FFF2-40B4-BE49-F238E27FC236}">
                <a16:creationId xmlns:a16="http://schemas.microsoft.com/office/drawing/2014/main" id="{104F2BBE-5793-4FF0-A7AC-8C8F7E23A438}"/>
              </a:ext>
            </a:extLst>
          </p:cNvPr>
          <p:cNvPicPr>
            <a:picLocks noGrp="1" noChangeAspect="1"/>
          </p:cNvPicPr>
          <p:nvPr>
            <p:ph idx="1"/>
          </p:nvPr>
        </p:nvPicPr>
        <p:blipFill>
          <a:blip r:embed="rId2"/>
          <a:stretch>
            <a:fillRect/>
          </a:stretch>
        </p:blipFill>
        <p:spPr>
          <a:xfrm>
            <a:off x="2257009" y="1825625"/>
            <a:ext cx="7677982" cy="4351338"/>
          </a:xfrm>
          <a:prstGeom prst="rect">
            <a:avLst/>
          </a:prstGeom>
        </p:spPr>
      </p:pic>
    </p:spTree>
    <p:extLst>
      <p:ext uri="{BB962C8B-B14F-4D97-AF65-F5344CB8AC3E}">
        <p14:creationId xmlns:p14="http://schemas.microsoft.com/office/powerpoint/2010/main" val="436267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TotalTime>
  <Words>950</Words>
  <Application>Microsoft Office PowerPoint</Application>
  <PresentationFormat>Widescreen</PresentationFormat>
  <Paragraphs>68</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Arial Unicode MS</vt:lpstr>
      <vt:lpstr>Calibri</vt:lpstr>
      <vt:lpstr>Calibri Light</vt:lpstr>
      <vt:lpstr>Nunito</vt:lpstr>
      <vt:lpstr>Office Theme</vt:lpstr>
      <vt:lpstr>Class Diagram - UML</vt:lpstr>
      <vt:lpstr>UML Diagrams</vt:lpstr>
      <vt:lpstr>Why We need UML?</vt:lpstr>
      <vt:lpstr>Types of UML Diagram</vt:lpstr>
      <vt:lpstr>Class Diagram </vt:lpstr>
      <vt:lpstr>Class Diagram </vt:lpstr>
      <vt:lpstr>Class Diagram </vt:lpstr>
      <vt:lpstr>UML Class Notation</vt:lpstr>
      <vt:lpstr>UML Class Notation</vt:lpstr>
      <vt:lpstr>UML Class Notation</vt:lpstr>
      <vt:lpstr>Parameter Directionality</vt:lpstr>
      <vt:lpstr>Parameter Directionality</vt:lpstr>
      <vt:lpstr>Parameter Directionality</vt:lpstr>
      <vt:lpstr>Relationships between classes</vt:lpstr>
      <vt:lpstr>Association</vt:lpstr>
      <vt:lpstr>Association</vt:lpstr>
      <vt:lpstr>Aggregation</vt:lpstr>
      <vt:lpstr>Aggregation</vt:lpstr>
      <vt:lpstr>Composition</vt:lpstr>
      <vt:lpstr>Composition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Diagram - UML</dc:title>
  <dc:creator>Asad Kamal</dc:creator>
  <cp:lastModifiedBy>Asad Kamal</cp:lastModifiedBy>
  <cp:revision>15</cp:revision>
  <dcterms:created xsi:type="dcterms:W3CDTF">2024-10-30T05:33:17Z</dcterms:created>
  <dcterms:modified xsi:type="dcterms:W3CDTF">2024-10-30T07:23:51Z</dcterms:modified>
</cp:coreProperties>
</file>