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039D-B010-EDF5-4E44-3011DF022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8D89F-51B3-407D-0F2C-67A55823B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05428-734B-731B-2D00-71894931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9A25E-79B5-0E08-55F8-1020CBF7B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46583-FA61-D11F-5868-A9974F1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30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449A-7EB9-317E-5E23-EF1E0422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FC0E-8003-2DBF-A069-C2393610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01944-BEE8-A2A3-E346-26C92C29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6F2B1-FFBA-9449-DB5D-66EAC859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E5E-30CA-2E38-B7DA-36F0DCD9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9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68295-43C2-CD1C-1B4C-C545C4FB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FBBE3-D4AE-E5AC-2F6D-D977E0058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19CFC-161A-C8A6-11AC-A7D61F83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DF0AE-5908-5581-0FD6-59E81408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CFD40-9270-DC1D-4134-4F02222D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2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BF64-BECA-EC82-5627-B1028F90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4AB2D-7F4C-CDEB-0FF0-22A9D558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89903-A558-DF46-619D-C15A8F5EF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F8D1D-1F4B-5B46-C0ED-B53AE978C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A6198-B3B7-96B2-3358-C29F1E85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4FFED-2D53-E794-DA8E-D51E0DE3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2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E02B-63F1-F250-1069-9B8C63301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1844F-9A6D-B677-E3BF-102724E99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B40A7-13FB-5E40-24A4-099C60914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165DC-A65D-6898-D3BA-01902C951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55DBD-FEE2-88D7-69F9-3C55D9583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A111D-272B-8E17-52DA-D8376419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352ACD-6F64-316C-FED7-52396E60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CA3814-9AC8-821D-E8DF-06FB498C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0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5C89-D8AF-7E44-DE66-32F0CCBB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74D86-D409-97B9-30F0-ED5F5C8DC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EF4B3-15E7-0541-5C49-C2F7A867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1DBCC-2B27-5910-8CEF-FE413E69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4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1AB0E-12DA-80BA-3CE7-0EDB2F36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9419A-95B4-4F04-5634-68911475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3AAD1-DA28-19E0-6FC7-9822E2D8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8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A410-387C-79C2-B18D-F4AE6B79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FF92D-E320-02D2-8A78-CACA31437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E0C0F-C314-EC7F-71C4-88B7AEC2B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4F45A-EF94-DAFE-BF66-82E5EBA6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B5364-C9BF-4A9A-AB2B-ACD02DD0F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3ADA5-036A-06FC-ABB2-4262D43A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1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20B0-A0A0-C981-BD27-755512FD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5138B5-4C20-7FCA-4E00-694F92211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6799F-2573-16E7-40FF-8C2E784C3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DABDC-41C6-AE46-B47F-E94A0965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C65ED-1E40-B801-111A-97F5F7984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C1BEB-E777-42AF-E6A8-C408DF7F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3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6894-6B25-5ADE-8147-97C19A22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B643B-438A-68B0-AAEF-97E055230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392E6-74A6-7B7B-971D-B9486D33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53762-7642-6029-E33A-7D19A328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1849A-6B88-AACD-C204-12C8464A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8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FB3DE1-0D6A-6CB0-4874-D958A8F50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F45EB-1A6F-E1DF-7B1D-54F17F21D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70A6-364C-8855-77C1-10A46A19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FF8-A074-1CD1-3013-D217A034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92D61-6810-761C-BA1C-1743BDFF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6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A6E14-0D76-18FD-3DFB-5D989BE8F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18E9E-9382-56C6-707A-69F7549A3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696AB-0C98-75DF-17FC-72125B7A4E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3ED0-E9C6-4638-9169-6D0830564CF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8991F-BA2B-7184-A6D7-06D5E71DB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25788-A04D-9670-6374-944E7701F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83BDA-5592-4699-9C27-1C77DDE09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1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F5C7-EB9D-464A-6563-89638671E0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7AB21-555D-6AF7-7617-63CD5ADFFD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4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C3A3-2DDF-9BFF-86B3-A36F2E1A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A374-692F-99CA-B339-D01696C15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Passing objects as arguments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Returning Objects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Copy Constructor vs Member-wise Copy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 copy vs Shallow Copy</a:t>
            </a: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this Pointer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36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8FC9-405B-E0F1-69B3-A49AA3BF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ource Sans 3"/>
              </a:rPr>
              <a:t>Passing Objects </a:t>
            </a:r>
            <a:r>
              <a:rPr lang="en-US" b="1" dirty="0">
                <a:latin typeface="Source Sans 3"/>
              </a:rPr>
              <a:t>as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259D2-19BE-3B85-1C0D-2ED86319E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Nunito" pitchFamily="2" charset="0"/>
              </a:rPr>
              <a:t>In C++ we can pass class’s objects as arguments and also return them from a function the same way we pass and return other variables. 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No special keyword or header file is required to do so.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18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C194C-F2DA-831D-58FF-F259D234C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48"/>
            <a:ext cx="10515600" cy="6690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#include &lt;iostream&gt;</a:t>
            </a:r>
          </a:p>
          <a:p>
            <a:pPr marL="0" indent="0">
              <a:buNone/>
            </a:pPr>
            <a:r>
              <a:rPr lang="en-US" sz="2400" dirty="0"/>
              <a:t>using namespace std;</a:t>
            </a:r>
          </a:p>
          <a:p>
            <a:pPr marL="0" indent="0">
              <a:buNone/>
            </a:pPr>
            <a:r>
              <a:rPr lang="en-US" sz="2400" dirty="0"/>
              <a:t>class Student {</a:t>
            </a:r>
          </a:p>
          <a:p>
            <a:pPr marL="0" indent="0">
              <a:buNone/>
            </a:pPr>
            <a:r>
              <a:rPr lang="en-US" sz="2400" dirty="0"/>
              <a:t>public:</a:t>
            </a:r>
          </a:p>
          <a:p>
            <a:pPr marL="0" indent="0">
              <a:buNone/>
            </a:pPr>
            <a:r>
              <a:rPr lang="en-US" sz="2400" dirty="0"/>
              <a:t> double marks;</a:t>
            </a:r>
          </a:p>
          <a:p>
            <a:pPr marL="0" indent="0">
              <a:buNone/>
            </a:pPr>
            <a:r>
              <a:rPr lang="en-US" sz="2400" dirty="0"/>
              <a:t>Student(double m): marks{m} {}</a:t>
            </a:r>
          </a:p>
          <a:p>
            <a:pPr marL="0" indent="0">
              <a:buNone/>
            </a:pPr>
            <a:r>
              <a:rPr lang="en-US" sz="2400" dirty="0"/>
              <a:t>};</a:t>
            </a:r>
          </a:p>
          <a:p>
            <a:pPr marL="0" indent="0">
              <a:buNone/>
            </a:pPr>
            <a:r>
              <a:rPr lang="en-US" sz="2400" dirty="0"/>
              <a:t>double </a:t>
            </a:r>
            <a:r>
              <a:rPr lang="en-US" sz="2400" dirty="0" err="1"/>
              <a:t>average_marks</a:t>
            </a:r>
            <a:r>
              <a:rPr lang="en-US" sz="2400" dirty="0"/>
              <a:t>(Student s1, Student s2) {</a:t>
            </a:r>
          </a:p>
          <a:p>
            <a:pPr marL="0" indent="0">
              <a:buNone/>
            </a:pPr>
            <a:r>
              <a:rPr lang="en-US" sz="2400" dirty="0"/>
              <a:t>return (s1.marks + s2.marks)/2 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int main() {</a:t>
            </a:r>
          </a:p>
          <a:p>
            <a:pPr marL="0" indent="0">
              <a:buNone/>
            </a:pPr>
            <a:r>
              <a:rPr lang="en-US" sz="2400" dirty="0"/>
              <a:t> Student student1(88.0), student2(56.0);</a:t>
            </a:r>
          </a:p>
          <a:p>
            <a:pPr marL="0" indent="0">
              <a:buNone/>
            </a:pPr>
            <a:r>
              <a:rPr lang="en-US" sz="2400" dirty="0" err="1"/>
              <a:t>cout</a:t>
            </a:r>
            <a:r>
              <a:rPr lang="en-US" sz="2400" dirty="0"/>
              <a:t> &lt;&lt; "Average Marks = " &lt;&lt; </a:t>
            </a:r>
            <a:r>
              <a:rPr lang="en-US" sz="2400" dirty="0" err="1"/>
              <a:t>average_marks</a:t>
            </a:r>
            <a:r>
              <a:rPr lang="en-US" sz="2400" dirty="0"/>
              <a:t>(student1, student2) &lt;&lt; "\n";</a:t>
            </a:r>
          </a:p>
          <a:p>
            <a:pPr marL="0" indent="0">
              <a:buNone/>
            </a:pPr>
            <a:r>
              <a:rPr lang="en-US" sz="2400" dirty="0"/>
              <a:t>return 0;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958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4E0C-EB6F-53A4-BB1D-AE981088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ts val="3150"/>
              </a:lnSpc>
              <a:spcAft>
                <a:spcPts val="900"/>
              </a:spcAft>
            </a:pP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Return Object from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5194B-81DE-78FD-9869-0BE85872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020"/>
            <a:ext cx="10515600" cy="52799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#include &lt;iostream&gt;</a:t>
            </a:r>
          </a:p>
          <a:p>
            <a:pPr marL="0" indent="0">
              <a:buNone/>
            </a:pPr>
            <a:r>
              <a:rPr lang="en-US" sz="1200" dirty="0"/>
              <a:t>using namespace std;</a:t>
            </a:r>
          </a:p>
          <a:p>
            <a:pPr marL="0" indent="0">
              <a:buNone/>
            </a:pPr>
            <a:r>
              <a:rPr lang="en-US" sz="1200" dirty="0"/>
              <a:t>class Student {</a:t>
            </a:r>
          </a:p>
          <a:p>
            <a:pPr marL="0" indent="0">
              <a:buNone/>
            </a:pPr>
            <a:r>
              <a:rPr lang="en-US" sz="1200" dirty="0"/>
              <a:t>   public:</a:t>
            </a:r>
          </a:p>
          <a:p>
            <a:pPr marL="0" indent="0">
              <a:buNone/>
            </a:pPr>
            <a:r>
              <a:rPr lang="en-US" sz="1200" dirty="0"/>
              <a:t>    double marks1, marks2;</a:t>
            </a:r>
          </a:p>
          <a:p>
            <a:pPr marL="0" indent="0">
              <a:buNone/>
            </a:pPr>
            <a:r>
              <a:rPr lang="en-US" sz="1200" dirty="0"/>
              <a:t>};</a:t>
            </a:r>
          </a:p>
          <a:p>
            <a:pPr marL="0" indent="0">
              <a:buNone/>
            </a:pPr>
            <a:r>
              <a:rPr lang="en-US" sz="1200" dirty="0"/>
              <a:t>Student </a:t>
            </a:r>
            <a:r>
              <a:rPr lang="en-US" sz="1200" dirty="0" err="1"/>
              <a:t>createStudent</a:t>
            </a:r>
            <a:r>
              <a:rPr lang="en-US" sz="1200" dirty="0"/>
              <a:t>() {</a:t>
            </a:r>
          </a:p>
          <a:p>
            <a:pPr marL="0" indent="0">
              <a:buNone/>
            </a:pPr>
            <a:r>
              <a:rPr lang="en-US" sz="1200" dirty="0"/>
              <a:t>    Student </a:t>
            </a:r>
            <a:r>
              <a:rPr lang="en-US" sz="1200" dirty="0" err="1"/>
              <a:t>student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student.marks1 = 96.5;</a:t>
            </a:r>
          </a:p>
          <a:p>
            <a:pPr marL="0" indent="0">
              <a:buNone/>
            </a:pPr>
            <a:r>
              <a:rPr lang="en-US" sz="1200" dirty="0"/>
              <a:t>    student.marks2 = 75.0;</a:t>
            </a:r>
          </a:p>
          <a:p>
            <a:pPr marL="0" indent="0">
              <a:buNone/>
            </a:pPr>
            <a:r>
              <a:rPr lang="en-US" sz="1200" dirty="0" err="1"/>
              <a:t>cout</a:t>
            </a:r>
            <a:r>
              <a:rPr lang="en-US" sz="1200" dirty="0"/>
              <a:t> &lt;&lt; "Marks 1 = " &lt;&lt; student.marks1 &lt;&lt; </a:t>
            </a:r>
            <a:r>
              <a:rPr lang="en-US" sz="1200" dirty="0" err="1"/>
              <a:t>endl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cout</a:t>
            </a:r>
            <a:r>
              <a:rPr lang="en-US" sz="1200" dirty="0"/>
              <a:t> &lt;&lt; "Marks 2 = " &lt;&lt; student.marks2 &lt;&lt; </a:t>
            </a:r>
            <a:r>
              <a:rPr lang="en-US" sz="1200" dirty="0" err="1"/>
              <a:t>endl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return student;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r>
              <a:rPr lang="en-US" sz="1200" dirty="0"/>
              <a:t>int main() {</a:t>
            </a:r>
          </a:p>
          <a:p>
            <a:pPr marL="0" indent="0">
              <a:buNone/>
            </a:pPr>
            <a:r>
              <a:rPr lang="en-US" sz="1200" dirty="0"/>
              <a:t>    Student student1;</a:t>
            </a:r>
          </a:p>
          <a:p>
            <a:pPr marL="0" indent="0">
              <a:buNone/>
            </a:pPr>
            <a:r>
              <a:rPr lang="en-US" sz="1200" dirty="0"/>
              <a:t>student1 = </a:t>
            </a:r>
            <a:r>
              <a:rPr lang="en-US" sz="1200" dirty="0" err="1"/>
              <a:t>createStudent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r>
              <a:rPr lang="en-US" sz="1200" dirty="0"/>
              <a:t>    return 0;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5695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E4F9-B2AE-16AE-18EF-4A8A2516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Copy Constructor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F8722-2947-0E4F-C03F-8243C5843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Nunito" pitchFamily="2" charset="0"/>
              </a:rPr>
              <a:t>A </a:t>
            </a:r>
            <a:r>
              <a:rPr lang="en-US" b="1" i="0" dirty="0">
                <a:effectLst/>
                <a:latin typeface="Nunito" pitchFamily="2" charset="0"/>
              </a:rPr>
              <a:t>copy constructor</a:t>
            </a:r>
            <a:r>
              <a:rPr lang="en-US" b="0" i="0" dirty="0">
                <a:effectLst/>
                <a:latin typeface="Nunito" pitchFamily="2" charset="0"/>
              </a:rPr>
              <a:t> is a type of constructor that initializes an object using another object of the same class.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Nunito" pitchFamily="2" charset="0"/>
              </a:rPr>
              <a:t> In simple terms, a constructor which creates an object by initializing it with an object of the same class, which has been created previously is known as a </a:t>
            </a:r>
            <a:r>
              <a:rPr lang="en-US" b="1" i="0" dirty="0">
                <a:effectLst/>
                <a:latin typeface="Nunito" pitchFamily="2" charset="0"/>
              </a:rPr>
              <a:t>copy constructor</a:t>
            </a:r>
            <a:r>
              <a:rPr lang="en-US" b="0" i="0" dirty="0">
                <a:effectLst/>
                <a:latin typeface="Nunito" pitchFamily="2" charset="0"/>
              </a:rPr>
              <a:t>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66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EB0C9-BD51-6241-1F39-59901DC9D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48"/>
            <a:ext cx="10515600" cy="6489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#include &lt;iostream&gt;</a:t>
            </a:r>
          </a:p>
          <a:p>
            <a:pPr marL="0" indent="0">
              <a:buNone/>
            </a:pPr>
            <a:r>
              <a:rPr lang="en-US" sz="1400" dirty="0"/>
              <a:t>using namespace std;</a:t>
            </a:r>
          </a:p>
          <a:p>
            <a:pPr marL="0" indent="0">
              <a:buNone/>
            </a:pPr>
            <a:r>
              <a:rPr lang="en-US" sz="1400" dirty="0"/>
              <a:t>class Wall {  </a:t>
            </a:r>
          </a:p>
          <a:p>
            <a:pPr marL="0" indent="0">
              <a:buNone/>
            </a:pPr>
            <a:r>
              <a:rPr lang="en-US" sz="1400" dirty="0"/>
              <a:t>private:    </a:t>
            </a:r>
          </a:p>
          <a:p>
            <a:pPr marL="0" indent="0">
              <a:buNone/>
            </a:pPr>
            <a:r>
              <a:rPr lang="en-US" sz="1400" dirty="0"/>
              <a:t>double length;   </a:t>
            </a:r>
          </a:p>
          <a:p>
            <a:pPr marL="0" indent="0">
              <a:buNone/>
            </a:pPr>
            <a:r>
              <a:rPr lang="en-US" sz="1400" dirty="0"/>
              <a:t> double height;  </a:t>
            </a:r>
          </a:p>
          <a:p>
            <a:pPr marL="0" indent="0">
              <a:buNone/>
            </a:pPr>
            <a:r>
              <a:rPr lang="en-US" sz="1400" dirty="0"/>
              <a:t>public:    </a:t>
            </a:r>
          </a:p>
          <a:p>
            <a:pPr marL="0" indent="0">
              <a:buNone/>
            </a:pPr>
            <a:r>
              <a:rPr lang="en-US" sz="1400" dirty="0"/>
              <a:t>Wall(double </a:t>
            </a:r>
            <a:r>
              <a:rPr lang="en-US" sz="1400" dirty="0" err="1"/>
              <a:t>len</a:t>
            </a:r>
            <a:r>
              <a:rPr lang="en-US" sz="1400" dirty="0"/>
              <a:t>, double </a:t>
            </a:r>
            <a:r>
              <a:rPr lang="en-US" sz="1400" dirty="0" err="1"/>
              <a:t>hgt</a:t>
            </a:r>
            <a:r>
              <a:rPr lang="en-US" sz="1400" dirty="0"/>
              <a:t>)     </a:t>
            </a:r>
          </a:p>
          <a:p>
            <a:pPr marL="0" indent="0">
              <a:buNone/>
            </a:pPr>
            <a:r>
              <a:rPr lang="en-US" sz="1400" dirty="0"/>
              <a:t> : length{</a:t>
            </a:r>
            <a:r>
              <a:rPr lang="en-US" sz="1400" dirty="0" err="1"/>
              <a:t>len</a:t>
            </a:r>
            <a:r>
              <a:rPr lang="en-US" sz="1400" dirty="0"/>
              <a:t>}     </a:t>
            </a:r>
          </a:p>
          <a:p>
            <a:pPr marL="0" indent="0">
              <a:buNone/>
            </a:pPr>
            <a:r>
              <a:rPr lang="en-US" sz="1400" dirty="0"/>
              <a:t> , height{</a:t>
            </a:r>
            <a:r>
              <a:rPr lang="en-US" sz="1400" dirty="0" err="1"/>
              <a:t>hgt</a:t>
            </a:r>
            <a:r>
              <a:rPr lang="en-US" sz="1400" dirty="0"/>
              <a:t>} {    }    </a:t>
            </a:r>
          </a:p>
          <a:p>
            <a:pPr marL="0" indent="0">
              <a:buNone/>
            </a:pPr>
            <a:r>
              <a:rPr lang="en-US" sz="1400" dirty="0"/>
              <a:t>Wall(const Wall&amp; obj)     </a:t>
            </a:r>
          </a:p>
          <a:p>
            <a:pPr marL="0" indent="0">
              <a:buNone/>
            </a:pPr>
            <a:r>
              <a:rPr lang="en-US" sz="1400" dirty="0"/>
              <a:t> : length{</a:t>
            </a:r>
            <a:r>
              <a:rPr lang="en-US" sz="1400" dirty="0" err="1"/>
              <a:t>obj.length</a:t>
            </a:r>
            <a:r>
              <a:rPr lang="en-US" sz="1400" dirty="0"/>
              <a:t>}    </a:t>
            </a:r>
          </a:p>
          <a:p>
            <a:pPr marL="0" indent="0">
              <a:buNone/>
            </a:pPr>
            <a:r>
              <a:rPr lang="en-US" sz="1400" dirty="0"/>
              <a:t>  , height{</a:t>
            </a:r>
            <a:r>
              <a:rPr lang="en-US" sz="1400" dirty="0" err="1"/>
              <a:t>obj.height</a:t>
            </a:r>
            <a:r>
              <a:rPr lang="en-US" sz="1400" dirty="0"/>
              <a:t>} {    }  </a:t>
            </a:r>
          </a:p>
          <a:p>
            <a:pPr marL="0" indent="0">
              <a:buNone/>
            </a:pPr>
            <a:r>
              <a:rPr lang="en-US" sz="1400" dirty="0"/>
              <a:t>  double </a:t>
            </a:r>
            <a:r>
              <a:rPr lang="en-US" sz="1400" dirty="0" err="1"/>
              <a:t>calculateArea</a:t>
            </a:r>
            <a:r>
              <a:rPr lang="en-US" sz="1400" dirty="0"/>
              <a:t>() {      return length * height;    }};</a:t>
            </a:r>
          </a:p>
          <a:p>
            <a:pPr marL="0" indent="0">
              <a:buNone/>
            </a:pPr>
            <a:r>
              <a:rPr lang="en-US" sz="1400" dirty="0"/>
              <a:t>int main() { </a:t>
            </a:r>
          </a:p>
          <a:p>
            <a:pPr marL="0" indent="0">
              <a:buNone/>
            </a:pPr>
            <a:r>
              <a:rPr lang="en-US" sz="1400" dirty="0"/>
              <a:t>Wall wall1(10.5, 8.6);  </a:t>
            </a:r>
          </a:p>
          <a:p>
            <a:pPr marL="0" indent="0">
              <a:buNone/>
            </a:pPr>
            <a:r>
              <a:rPr lang="en-US" sz="1400" dirty="0"/>
              <a:t>Wall wall2 = wall1;</a:t>
            </a:r>
          </a:p>
          <a:p>
            <a:pPr marL="0" indent="0">
              <a:buNone/>
            </a:pPr>
            <a:r>
              <a:rPr lang="en-US" sz="1400" dirty="0" err="1"/>
              <a:t>cout</a:t>
            </a:r>
            <a:r>
              <a:rPr lang="en-US" sz="1400" dirty="0"/>
              <a:t> &lt;&lt; "Area of Wall 1: " &lt;&lt; wall1.calculateArea() &lt;&lt; </a:t>
            </a:r>
            <a:r>
              <a:rPr lang="en-US" sz="1400" dirty="0" err="1"/>
              <a:t>endl</a:t>
            </a:r>
            <a:r>
              <a:rPr lang="en-US" sz="1400" dirty="0"/>
              <a:t>;  </a:t>
            </a:r>
          </a:p>
          <a:p>
            <a:pPr marL="0" indent="0">
              <a:buNone/>
            </a:pPr>
            <a:r>
              <a:rPr lang="en-US" sz="1400" dirty="0" err="1"/>
              <a:t>cout</a:t>
            </a:r>
            <a:r>
              <a:rPr lang="en-US" sz="1400" dirty="0"/>
              <a:t> &lt;&lt; "Area of Wall 2: " &lt;&lt; wall2.calculateArea(); </a:t>
            </a:r>
          </a:p>
          <a:p>
            <a:pPr marL="0" indent="0">
              <a:buNone/>
            </a:pPr>
            <a:r>
              <a:rPr lang="en-US" sz="1400" dirty="0"/>
              <a:t> return 0;</a:t>
            </a:r>
          </a:p>
        </p:txBody>
      </p:sp>
    </p:spTree>
    <p:extLst>
      <p:ext uri="{BB962C8B-B14F-4D97-AF65-F5344CB8AC3E}">
        <p14:creationId xmlns:p14="http://schemas.microsoft.com/office/powerpoint/2010/main" val="832118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7B7B-6C9C-5093-E617-B3AE1A01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ource Sans 3"/>
              </a:rPr>
              <a:t>Shallow Copy and Deep Copy</a:t>
            </a:r>
            <a:br>
              <a:rPr lang="en-US" b="1" i="0" dirty="0">
                <a:effectLst/>
                <a:latin typeface="Source Sans 3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BBE630-3D9D-8635-3451-C64E73058B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00802"/>
            <a:ext cx="10655161" cy="360098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Nunito" pitchFamily="2" charset="0"/>
              </a:rPr>
              <a:t>creating a copy of an object means to create an exact replica of the object having the same literal value,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Nunito" pitchFamily="2" charset="0"/>
              </a:rPr>
              <a:t> </a:t>
            </a:r>
            <a:r>
              <a:rPr lang="en-US" altLang="en-US" sz="1800" dirty="0">
                <a:latin typeface="Nunito" pitchFamily="2" charset="0"/>
              </a:rPr>
              <a:t>data 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Nunito" pitchFamily="2" charset="0"/>
              </a:rPr>
              <a:t>, and resources.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Nunito" pitchFamily="2" charset="0"/>
              </a:rPr>
              <a:t>There are two ways that are used by C++ compiler to create a copy of objects.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Nunito" pitchFamily="2" charset="0"/>
              </a:rPr>
              <a:t>-Copy Constructor</a:t>
            </a:r>
            <a:endParaRPr kumimoji="0" lang="en-US" altLang="en-US" sz="1800" b="0" i="0" strike="noStrike" cap="none" normalizeH="0" baseline="0" dirty="0">
              <a:ln>
                <a:noFill/>
              </a:ln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Nunito" pitchFamily="2" charset="0"/>
              </a:rPr>
              <a:t>-Assignment Operator</a:t>
            </a:r>
            <a:endParaRPr kumimoji="0" lang="en-US" altLang="en-US" sz="1800" b="0" i="0" strike="noStrike" cap="none" normalizeH="0" baseline="0" dirty="0">
              <a:ln>
                <a:noFill/>
              </a:ln>
              <a:effectLst/>
              <a:latin typeface="Nunito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// Copy Constructor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Geeks Obj1(Obj);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Geeks Obj1 = Obj;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// Default assignment operator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Geeks Obj2;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Obj2 = Obj1;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918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9C38-9E33-E104-DB72-06AD70EB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ource Sans 3"/>
              </a:rPr>
              <a:t>Shallow Copy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2D68D-C381-92CF-6432-08D6D26AA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0" i="0" dirty="0">
                <a:effectLst/>
                <a:latin typeface="Nunito" pitchFamily="2" charset="0"/>
              </a:rPr>
              <a:t>In shallow copy, an object is created by simply copying the data of all variables of the original object.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828B7-7153-855A-1B58-D46D3324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696" y="2366095"/>
            <a:ext cx="8256881" cy="381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9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7186-E25E-1AC7-03A9-57B98E9A3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ource Sans 3"/>
              </a:rPr>
              <a:t>Shallow Copy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0107E-EB2D-BC43-0BCE-C63455512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0" i="0" dirty="0">
                <a:effectLst/>
                <a:latin typeface="Nunito" pitchFamily="2" charset="0"/>
              </a:rPr>
              <a:t>This works well if none of the variables of the object are defined in the </a:t>
            </a:r>
            <a:r>
              <a:rPr lang="en-US" sz="2800" dirty="0">
                <a:latin typeface="Nunito" pitchFamily="2" charset="0"/>
              </a:rPr>
              <a:t>heap section of memory.</a:t>
            </a:r>
          </a:p>
          <a:p>
            <a:r>
              <a:rPr lang="en-US" sz="2800" b="0" i="0" dirty="0">
                <a:effectLst/>
                <a:latin typeface="Nunito" pitchFamily="2" charset="0"/>
              </a:rPr>
              <a:t>but if some variables are dynamically allocated memory from heap </a:t>
            </a:r>
            <a:r>
              <a:rPr lang="en-US" sz="2800" b="0" i="0" dirty="0" err="1">
                <a:effectLst/>
                <a:latin typeface="Nunito" pitchFamily="2" charset="0"/>
              </a:rPr>
              <a:t>section,then</a:t>
            </a:r>
            <a:r>
              <a:rPr lang="en-US" sz="2800" b="0" i="0" dirty="0">
                <a:effectLst/>
                <a:latin typeface="Nunito" pitchFamily="2" charset="0"/>
              </a:rPr>
              <a:t> the copied object variable will also reference the same memory </a:t>
            </a:r>
            <a:r>
              <a:rPr lang="en-US" sz="2800" b="0" i="0" dirty="0" err="1">
                <a:effectLst/>
                <a:latin typeface="Nunito" pitchFamily="2" charset="0"/>
              </a:rPr>
              <a:t>location.This</a:t>
            </a:r>
            <a:r>
              <a:rPr lang="en-US" sz="2800" b="0" i="0" dirty="0">
                <a:effectLst/>
                <a:latin typeface="Nunito" pitchFamily="2" charset="0"/>
              </a:rPr>
              <a:t> will create ambiguity and run-time errors, dangling pointer. </a:t>
            </a:r>
          </a:p>
          <a:p>
            <a:r>
              <a:rPr lang="en-US" sz="2800" b="0" i="0" dirty="0">
                <a:effectLst/>
                <a:latin typeface="Nunito" pitchFamily="2" charset="0"/>
              </a:rPr>
              <a:t>Since both objects will reference to the same memory location, then change made by one will reflect those change in another object as well. </a:t>
            </a:r>
          </a:p>
          <a:p>
            <a:r>
              <a:rPr lang="en-US" sz="2800" b="0" i="0" dirty="0">
                <a:effectLst/>
                <a:latin typeface="Nunito" pitchFamily="2" charset="0"/>
              </a:rPr>
              <a:t>Since we wanted to create a replica of the object, this purpose will not be filled by Shallow copy. 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153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265A-E52B-12FD-E887-145DDC122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4"/>
            <a:ext cx="10515600" cy="5724679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Nunito" pitchFamily="2" charset="0"/>
              </a:rPr>
              <a:t>Now imagine one of the members is a pointer to the integer variable. Here, the shallow copy will only copy the address stored in the pointer leading both the object member pointing to the same object.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36363-F634-41AD-EAD9-C72FA264D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559" y="1976284"/>
            <a:ext cx="8256881" cy="386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4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44B29-EC1C-48F0-1A35-79BC8114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Nunito" pitchFamily="2" charset="0"/>
              </a:rPr>
              <a:t>What is Deep Copy?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4A0F-8842-2EEA-B139-3E24BF4DB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Nunito" pitchFamily="2" charset="0"/>
              </a:rPr>
              <a:t>In Deep copy, an object is created by copying data of all variables, and it also allocates similar memory resources with the same value to the object. 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In order to perform Deep copy, we need to explicitly define the copy constructor and assign dynamic memory as well, if required. 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Also, it is required to dynamically allocate memory to the variables in the other constructors, as well.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251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91FC5-1C8A-DC8D-F4DF-3D0ECDCA6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3458"/>
            <a:ext cx="10515600" cy="5793505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Nunito" pitchFamily="2" charset="0"/>
              </a:rPr>
              <a:t>Consider the previous example again. If we deep copy the object, then each object will have their own copy of the data pointed by the breadth pointer.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519C8E-5449-5B1F-5260-8E20D2C6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559" y="2408903"/>
            <a:ext cx="8256881" cy="343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6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B0FC5-DB7E-F6AB-4496-44BB3D4B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799" cy="5811838"/>
          </a:xfrm>
        </p:spPr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main()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box first;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first.set_dimension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(12, 14, 16);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first.show_data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// When the data will be copied then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// all the resources will also get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// allocated to the new object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box second = first;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// Display the dimensions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second.show_data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0;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2E54-FBA5-FC58-FE89-CCFBC5AFD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16"/>
            <a:ext cx="4923503" cy="6019647"/>
          </a:xfrm>
        </p:spPr>
        <p:txBody>
          <a:bodyPr numCol="2">
            <a:noAutofit/>
          </a:bodyPr>
          <a:lstStyle/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 </a:t>
            </a:r>
            <a:r>
              <a:rPr lang="en-US" sz="9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&lt;iostream&gt;</a:t>
            </a:r>
            <a:endParaRPr lang="en-US" sz="900" i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namespace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Box Class</a:t>
            </a:r>
            <a:endParaRPr lang="en-US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box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private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 length;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int* breadth;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 height;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box()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{breadth = </a:t>
            </a: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void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set_dimension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(int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int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brea,int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heig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length =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*breadth =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height =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heig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void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show_data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&lt;&lt; " Length = " &lt;&lt; length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&lt;&lt; "</a:t>
            </a: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\n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Breadth = " &lt;&lt; *breadth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&lt;&lt; "</a:t>
            </a: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\n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Height = " &lt;&lt; height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&lt;&lt;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9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Parameterized Constructors for</a:t>
            </a:r>
            <a:endParaRPr lang="en-US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9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for implementing deep copy</a:t>
            </a:r>
            <a:endParaRPr lang="en-US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box(box&amp; sample)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length =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sample.length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breadth = </a:t>
            </a: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*breadth = *(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sample.breadth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height = </a:t>
            </a:r>
            <a:r>
              <a:rPr lang="en-US" sz="9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sample.height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~box()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delete</a:t>
            </a: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breadth;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 indent="0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9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07821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21D3-B3EC-C482-B1E0-E8CB1293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>
            <a:normAutofit fontScale="90000"/>
          </a:bodyPr>
          <a:lstStyle/>
          <a:p>
            <a:r>
              <a:rPr lang="en-US" sz="2400" b="1" i="0" dirty="0">
                <a:effectLst/>
                <a:latin typeface="Nunito" pitchFamily="2" charset="0"/>
              </a:rPr>
              <a:t>Difference between the Shallow Copy and Deep Copy</a:t>
            </a:r>
            <a:br>
              <a:rPr lang="en-US" sz="2400" b="1" i="0" dirty="0">
                <a:effectLst/>
                <a:latin typeface="Nunito" pitchFamily="2" charset="0"/>
              </a:rPr>
            </a:b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21C93E-948D-CE94-9057-69291731A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6024807"/>
              </p:ext>
            </p:extLst>
          </p:nvPr>
        </p:nvGraphicFramePr>
        <p:xfrm>
          <a:off x="838200" y="1061883"/>
          <a:ext cx="10891684" cy="5604386"/>
        </p:xfrm>
        <a:graphic>
          <a:graphicData uri="http://schemas.openxmlformats.org/drawingml/2006/table">
            <a:tbl>
              <a:tblPr/>
              <a:tblGrid>
                <a:gridCol w="1079090">
                  <a:extLst>
                    <a:ext uri="{9D8B030D-6E8A-4147-A177-3AD203B41FA5}">
                      <a16:colId xmlns:a16="http://schemas.microsoft.com/office/drawing/2014/main" val="1744560989"/>
                    </a:ext>
                  </a:extLst>
                </a:gridCol>
                <a:gridCol w="4778478">
                  <a:extLst>
                    <a:ext uri="{9D8B030D-6E8A-4147-A177-3AD203B41FA5}">
                      <a16:colId xmlns:a16="http://schemas.microsoft.com/office/drawing/2014/main" val="631961055"/>
                    </a:ext>
                  </a:extLst>
                </a:gridCol>
                <a:gridCol w="5034116">
                  <a:extLst>
                    <a:ext uri="{9D8B030D-6E8A-4147-A177-3AD203B41FA5}">
                      <a16:colId xmlns:a16="http://schemas.microsoft.com/office/drawing/2014/main" val="2660712678"/>
                    </a:ext>
                  </a:extLst>
                </a:gridCol>
              </a:tblGrid>
              <a:tr h="69872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</a:rPr>
                        <a:t>No.</a:t>
                      </a:r>
                    </a:p>
                  </a:txBody>
                  <a:tcPr marL="38100" marR="381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Shallow Copy 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Deep copy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239199"/>
                  </a:ext>
                </a:extLst>
              </a:tr>
              <a:tr h="149935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</a:rPr>
                        <a:t>1.</a:t>
                      </a:r>
                    </a:p>
                  </a:txBody>
                  <a:tcPr marL="38100" marR="38100" marT="52266" marB="52266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</a:rPr>
                        <a:t>When we create a copy of object by copying data of all member variables as it is, then it is called shallow copy 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>
                          <a:solidFill>
                            <a:schemeClr val="bg1"/>
                          </a:solidFill>
                          <a:effectLst/>
                        </a:rPr>
                        <a:t>When we create an object by copying data of another object along with the values of memory resources that reside outside the object, then it is called a deep copy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241391"/>
                  </a:ext>
                </a:extLst>
              </a:tr>
              <a:tr h="113543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</a:rPr>
                        <a:t>2.</a:t>
                      </a:r>
                    </a:p>
                  </a:txBody>
                  <a:tcPr marL="38100" marR="38100" marT="52266" marB="52266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>
                          <a:solidFill>
                            <a:schemeClr val="bg1"/>
                          </a:solidFill>
                          <a:effectLst/>
                        </a:rPr>
                        <a:t>A shallow copy of an object copies all of the member field values.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>
                          <a:solidFill>
                            <a:schemeClr val="bg1"/>
                          </a:solidFill>
                          <a:effectLst/>
                        </a:rPr>
                        <a:t> Deep copy is performed by implementing our own copy constructor.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480751"/>
                  </a:ext>
                </a:extLst>
              </a:tr>
              <a:tr h="113543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</a:rPr>
                        <a:t>3.</a:t>
                      </a:r>
                    </a:p>
                  </a:txBody>
                  <a:tcPr marL="38100" marR="38100" marT="52266" marB="52266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>
                          <a:solidFill>
                            <a:schemeClr val="bg1"/>
                          </a:solidFill>
                          <a:effectLst/>
                        </a:rPr>
                        <a:t>In shallow copy, the two objects are not independent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>
                          <a:solidFill>
                            <a:schemeClr val="bg1"/>
                          </a:solidFill>
                          <a:effectLst/>
                        </a:rPr>
                        <a:t>It copies all fields, and makes copies of dynamically allocated memory pointed to by the fields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233151"/>
                  </a:ext>
                </a:extLst>
              </a:tr>
              <a:tr h="113543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</a:rPr>
                        <a:t>4.</a:t>
                      </a:r>
                    </a:p>
                  </a:txBody>
                  <a:tcPr marL="38100" marR="38100" marT="52266" marB="52266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>
                          <a:solidFill>
                            <a:schemeClr val="bg1"/>
                          </a:solidFill>
                          <a:effectLst/>
                        </a:rPr>
                        <a:t>It also creates a copy of the dynamically allocated objects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</a:rPr>
                        <a:t>If we do not create the deep copy in a rightful way then the copy will point to the original, with disastrous consequences.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839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197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B72D-DED4-76F4-7238-DBBFC7410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ource Sans 3"/>
              </a:rPr>
              <a:t>this’ pointer in 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4805E-9ADD-6277-0EFF-CE75E2404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 fontAlgn="base">
              <a:spcAft>
                <a:spcPts val="750"/>
              </a:spcAft>
              <a:buNone/>
            </a:pPr>
            <a:r>
              <a:rPr lang="en-US" b="0" i="0" dirty="0">
                <a:effectLst/>
                <a:latin typeface="Nunito" pitchFamily="2" charset="0"/>
              </a:rPr>
              <a:t>To understand ‘this’ pointer, it is important to know how objects look at functions and data members of a class.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US" b="0" i="0" dirty="0">
                <a:effectLst/>
                <a:latin typeface="Nunito" pitchFamily="2" charset="0"/>
              </a:rPr>
              <a:t>Each object gets its own copy of the data member.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US" b="0" i="0" dirty="0">
                <a:effectLst/>
                <a:latin typeface="Nunito" pitchFamily="2" charset="0"/>
              </a:rPr>
              <a:t>All-access the same function definition as present in the code segment.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785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BAFB7-52C2-503C-C1B3-4419BA4A9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3290"/>
            <a:ext cx="10515600" cy="5783673"/>
          </a:xfrm>
        </p:spPr>
        <p:txBody>
          <a:bodyPr/>
          <a:lstStyle/>
          <a:p>
            <a:r>
              <a:rPr lang="en-US" b="0" i="0" dirty="0">
                <a:effectLst/>
                <a:latin typeface="Nunito" pitchFamily="2" charset="0"/>
              </a:rPr>
              <a:t>each object gets its own copy of data members and all objects share a single copy of member functions. 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Then now question is that if only one copy of each member function exists and is used by multiple objects, how are the proper data members are accessed and updated? 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The compiler supplies an implicit pointer along with the names of the functions as ‘this’. 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The ‘this’ pointer is passed as a hidden argument to all </a:t>
            </a:r>
            <a:r>
              <a:rPr lang="en-US" b="0" i="0" dirty="0" err="1">
                <a:effectLst/>
                <a:latin typeface="Nunito" pitchFamily="2" charset="0"/>
              </a:rPr>
              <a:t>nonstatic</a:t>
            </a:r>
            <a:r>
              <a:rPr lang="en-US" b="0" i="0" dirty="0">
                <a:effectLst/>
                <a:latin typeface="Nunito" pitchFamily="2" charset="0"/>
              </a:rPr>
              <a:t> member function calls and is available as a local variable within the body of all </a:t>
            </a:r>
            <a:r>
              <a:rPr lang="en-US" b="0" i="0" dirty="0" err="1">
                <a:effectLst/>
                <a:latin typeface="Nunito" pitchFamily="2" charset="0"/>
              </a:rPr>
              <a:t>nonstatic</a:t>
            </a:r>
            <a:r>
              <a:rPr lang="en-US" b="0" i="0" dirty="0">
                <a:effectLst/>
                <a:latin typeface="Nunito" pitchFamily="2" charset="0"/>
              </a:rPr>
              <a:t> functions.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‘this’ pointer is not available in static member functions as static member functions can be called without any object (with class name).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132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DCC4-26BC-5C91-9326-9201D3733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297"/>
            <a:ext cx="10515600" cy="58426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#include&lt;iostream&gt;</a:t>
            </a:r>
          </a:p>
          <a:p>
            <a:pPr marL="0" indent="0">
              <a:buNone/>
            </a:pPr>
            <a:r>
              <a:rPr lang="en-US" sz="1100" dirty="0"/>
              <a:t>using namespace std;</a:t>
            </a:r>
          </a:p>
          <a:p>
            <a:pPr marL="0" indent="0">
              <a:buNone/>
            </a:pPr>
            <a:r>
              <a:rPr lang="en-US" sz="1100" dirty="0"/>
              <a:t>class Test</a:t>
            </a:r>
          </a:p>
          <a:p>
            <a:pPr marL="0" indent="0">
              <a:buNone/>
            </a:pPr>
            <a:r>
              <a:rPr lang="en-US" sz="1100" dirty="0"/>
              <a:t>{</a:t>
            </a:r>
          </a:p>
          <a:p>
            <a:pPr marL="0" indent="0">
              <a:buNone/>
            </a:pPr>
            <a:r>
              <a:rPr lang="en-US" sz="1100" dirty="0"/>
              <a:t>private:</a:t>
            </a:r>
          </a:p>
          <a:p>
            <a:pPr marL="0" indent="0">
              <a:buNone/>
            </a:pPr>
            <a:r>
              <a:rPr lang="en-US" sz="1100" dirty="0"/>
              <a:t>   int x;</a:t>
            </a:r>
          </a:p>
          <a:p>
            <a:pPr marL="0" indent="0">
              <a:buNone/>
            </a:pPr>
            <a:r>
              <a:rPr lang="en-US" sz="1100" dirty="0"/>
              <a:t>public:</a:t>
            </a:r>
          </a:p>
          <a:p>
            <a:pPr marL="0" indent="0">
              <a:buNone/>
            </a:pPr>
            <a:r>
              <a:rPr lang="en-US" sz="1100" dirty="0"/>
              <a:t>   void </a:t>
            </a:r>
            <a:r>
              <a:rPr lang="en-US" sz="1100" dirty="0" err="1"/>
              <a:t>setX</a:t>
            </a:r>
            <a:r>
              <a:rPr lang="en-US" sz="1100" dirty="0"/>
              <a:t> (int x)</a:t>
            </a:r>
          </a:p>
          <a:p>
            <a:pPr marL="0" indent="0">
              <a:buNone/>
            </a:pPr>
            <a:r>
              <a:rPr lang="en-US" sz="1100" dirty="0"/>
              <a:t>   {</a:t>
            </a:r>
          </a:p>
          <a:p>
            <a:pPr marL="0" indent="0">
              <a:buNone/>
            </a:pPr>
            <a:r>
              <a:rPr lang="en-US" sz="1100" dirty="0"/>
              <a:t>       // The 'this' pointer is used to retrieve the object's x</a:t>
            </a:r>
          </a:p>
          <a:p>
            <a:pPr marL="0" indent="0">
              <a:buNone/>
            </a:pPr>
            <a:r>
              <a:rPr lang="en-US" sz="1100" dirty="0"/>
              <a:t>       // hidden by the local variable 'x'</a:t>
            </a:r>
          </a:p>
          <a:p>
            <a:pPr marL="0" indent="0">
              <a:buNone/>
            </a:pPr>
            <a:r>
              <a:rPr lang="en-US" sz="1100" dirty="0"/>
              <a:t>       this-&gt;x = x;</a:t>
            </a:r>
          </a:p>
          <a:p>
            <a:pPr marL="0" indent="0">
              <a:buNone/>
            </a:pPr>
            <a:r>
              <a:rPr lang="en-US" sz="1100" dirty="0"/>
              <a:t>   }</a:t>
            </a:r>
          </a:p>
          <a:p>
            <a:pPr marL="0" indent="0">
              <a:buNone/>
            </a:pPr>
            <a:r>
              <a:rPr lang="en-US" sz="1100" dirty="0"/>
              <a:t>   void print() { </a:t>
            </a:r>
            <a:r>
              <a:rPr lang="en-US" sz="1100" dirty="0" err="1"/>
              <a:t>cout</a:t>
            </a:r>
            <a:r>
              <a:rPr lang="en-US" sz="1100" dirty="0"/>
              <a:t> &lt;&lt; "x = " &lt;&lt; x &lt;&lt; </a:t>
            </a:r>
            <a:r>
              <a:rPr lang="en-US" sz="1100" dirty="0" err="1"/>
              <a:t>endl</a:t>
            </a:r>
            <a:r>
              <a:rPr lang="en-US" sz="1100" dirty="0"/>
              <a:t>; }</a:t>
            </a:r>
          </a:p>
          <a:p>
            <a:pPr marL="0" indent="0">
              <a:buNone/>
            </a:pPr>
            <a:r>
              <a:rPr lang="en-US" sz="1100" dirty="0"/>
              <a:t>};</a:t>
            </a:r>
          </a:p>
          <a:p>
            <a:pPr marL="0" indent="0">
              <a:buNone/>
            </a:pPr>
            <a:r>
              <a:rPr lang="en-US" sz="1100" dirty="0"/>
              <a:t>int main()</a:t>
            </a:r>
          </a:p>
          <a:p>
            <a:pPr marL="0" indent="0">
              <a:buNone/>
            </a:pPr>
            <a:r>
              <a:rPr lang="en-US" sz="1100" dirty="0"/>
              <a:t>{</a:t>
            </a:r>
          </a:p>
          <a:p>
            <a:pPr marL="0" indent="0">
              <a:buNone/>
            </a:pPr>
            <a:r>
              <a:rPr lang="en-US" sz="1100" dirty="0"/>
              <a:t>   Test obj;</a:t>
            </a:r>
          </a:p>
          <a:p>
            <a:pPr marL="0" indent="0">
              <a:buNone/>
            </a:pPr>
            <a:r>
              <a:rPr lang="en-US" sz="1100" dirty="0"/>
              <a:t>   int x = 20;</a:t>
            </a:r>
          </a:p>
          <a:p>
            <a:pPr marL="0" indent="0">
              <a:buNone/>
            </a:pPr>
            <a:r>
              <a:rPr lang="en-US" sz="1100" dirty="0"/>
              <a:t>   </a:t>
            </a:r>
            <a:r>
              <a:rPr lang="en-US" sz="1100" dirty="0" err="1"/>
              <a:t>obj.setX</a:t>
            </a:r>
            <a:r>
              <a:rPr lang="en-US" sz="1100" dirty="0"/>
              <a:t>(x);</a:t>
            </a:r>
          </a:p>
          <a:p>
            <a:pPr marL="0" indent="0">
              <a:buNone/>
            </a:pPr>
            <a:r>
              <a:rPr lang="en-US" sz="1100" dirty="0"/>
              <a:t>   </a:t>
            </a:r>
            <a:r>
              <a:rPr lang="en-US" sz="1100" dirty="0" err="1"/>
              <a:t>obj.print</a:t>
            </a:r>
            <a:r>
              <a:rPr lang="en-US" sz="1100" dirty="0"/>
              <a:t>();</a:t>
            </a:r>
          </a:p>
          <a:p>
            <a:pPr marL="0" indent="0">
              <a:buNone/>
            </a:pPr>
            <a:r>
              <a:rPr lang="en-US" sz="1100" dirty="0"/>
              <a:t>   return 0;</a:t>
            </a:r>
          </a:p>
          <a:p>
            <a:pPr marL="0" indent="0">
              <a:buNone/>
            </a:pPr>
            <a:r>
              <a:rPr lang="en-US" sz="1100" dirty="0"/>
              <a:t>}</a:t>
            </a:r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0491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1534</Words>
  <Application>Microsoft Office PowerPoint</Application>
  <PresentationFormat>Widescreen</PresentationFormat>
  <Paragraphs>176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euclid_circular_a</vt:lpstr>
      <vt:lpstr>Nunito</vt:lpstr>
      <vt:lpstr>Source Sans 3</vt:lpstr>
      <vt:lpstr>Symbol</vt:lpstr>
      <vt:lpstr>Times New Roman</vt:lpstr>
      <vt:lpstr>Office Theme</vt:lpstr>
      <vt:lpstr>OOP</vt:lpstr>
      <vt:lpstr>Contents</vt:lpstr>
      <vt:lpstr>Passing Objects as Arguments</vt:lpstr>
      <vt:lpstr>PowerPoint Presentation</vt:lpstr>
      <vt:lpstr>Return Object from a Function</vt:lpstr>
      <vt:lpstr>Copy Constructor</vt:lpstr>
      <vt:lpstr>PowerPoint Presentation</vt:lpstr>
      <vt:lpstr>Shallow Copy and Deep Copy </vt:lpstr>
      <vt:lpstr>Shallow Copy</vt:lpstr>
      <vt:lpstr>Shallow Copy</vt:lpstr>
      <vt:lpstr>PowerPoint Presentation</vt:lpstr>
      <vt:lpstr>What is Deep Copy?</vt:lpstr>
      <vt:lpstr>PowerPoint Presentation</vt:lpstr>
      <vt:lpstr>int main() {     box first;     first.set_dimension(12, 14, 16);     first.show_data();     // When the data will be copied then     // all the resources will also get     // allocated to the new object     box second = first;       // Display the dimensions     second.show_data();     return 0; } </vt:lpstr>
      <vt:lpstr>Difference between the Shallow Copy and Deep Copy </vt:lpstr>
      <vt:lpstr>this’ pointer in C++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Umar Hameed</dc:creator>
  <cp:lastModifiedBy>Muhammad Umar Hameed</cp:lastModifiedBy>
  <cp:revision>2</cp:revision>
  <dcterms:created xsi:type="dcterms:W3CDTF">2024-11-06T07:46:21Z</dcterms:created>
  <dcterms:modified xsi:type="dcterms:W3CDTF">2024-11-06T08:52:20Z</dcterms:modified>
</cp:coreProperties>
</file>