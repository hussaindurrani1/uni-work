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5" r:id="rId11"/>
    <p:sldId id="266" r:id="rId12"/>
    <p:sldId id="267" r:id="rId13"/>
    <p:sldId id="268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6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5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4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3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7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2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1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3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9654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08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0799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16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30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0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EAF8A-89BC-45CC-B2A2-2B615E1FC3F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B2AD0F1-2CAB-4AEC-A272-64D07B30F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9F7E-AD27-4740-0546-BA9342B8D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727158"/>
            <a:ext cx="8915399" cy="1616244"/>
          </a:xfrm>
        </p:spPr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DC7B0-06E8-9148-67C3-A050D508D8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307517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ED13-9CFE-2F42-1A24-2E791A41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F32C-E16D-7DC1-795A-D0B4E16F6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 is a section of read/write memory used by the CPU to store information temporarily.</a:t>
            </a:r>
          </a:p>
          <a:p>
            <a:r>
              <a:rPr lang="en-US" dirty="0"/>
              <a:t>CPU needs this storage as there are only limited number of registers.</a:t>
            </a:r>
          </a:p>
          <a:p>
            <a:r>
              <a:rPr lang="en-US" dirty="0"/>
              <a:t>One limitation of stack… is its access time compared to the registers</a:t>
            </a:r>
          </a:p>
        </p:txBody>
      </p:sp>
    </p:spTree>
    <p:extLst>
      <p:ext uri="{BB962C8B-B14F-4D97-AF65-F5344CB8AC3E}">
        <p14:creationId xmlns:p14="http://schemas.microsoft.com/office/powerpoint/2010/main" val="344879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4CC6-1ABB-0F17-8C51-B2D555A5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Stacks are Accessed?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14F92-4DC0-667D-D8F4-4AFC061E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main registers used to access the stack are:</a:t>
            </a:r>
          </a:p>
          <a:p>
            <a:pPr lvl="1"/>
            <a:r>
              <a:rPr lang="en-US" dirty="0"/>
              <a:t>SS</a:t>
            </a:r>
          </a:p>
          <a:p>
            <a:pPr lvl="1"/>
            <a:r>
              <a:rPr lang="en-US" dirty="0"/>
              <a:t>SP</a:t>
            </a:r>
          </a:p>
          <a:p>
            <a:pPr marL="457200" lvl="1" indent="0">
              <a:buNone/>
            </a:pPr>
            <a:r>
              <a:rPr lang="en-US" dirty="0"/>
              <a:t>Every register inside the 80x86 can be stored in the stack and brought back to CPU except SS and SP.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The storing of CPU reg is called a </a:t>
            </a:r>
            <a:r>
              <a:rPr lang="en-US" b="1" dirty="0"/>
              <a:t>PUSH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Loading the contents of the stack into CPU is  a </a:t>
            </a:r>
            <a:r>
              <a:rPr lang="en-US" b="1" dirty="0"/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22788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615B-943A-F825-7E0F-BE4D8B9C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AND POP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F2E1D-0B02-00F4-CE23-0646B72D6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register is pushed onto the stack to store it</a:t>
            </a:r>
          </a:p>
          <a:p>
            <a:r>
              <a:rPr lang="en-US" dirty="0"/>
              <a:t>And popped off the stack to retrieve it.</a:t>
            </a:r>
          </a:p>
        </p:txBody>
      </p:sp>
    </p:spTree>
    <p:extLst>
      <p:ext uri="{BB962C8B-B14F-4D97-AF65-F5344CB8AC3E}">
        <p14:creationId xmlns:p14="http://schemas.microsoft.com/office/powerpoint/2010/main" val="68373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A90C-64A8-2DFF-72B7-C3D17600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Stacks are Accessed?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77A4-AFF7-8B51-6621-D6E92A707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 points at the current memory location used for the top of the stack</a:t>
            </a:r>
          </a:p>
          <a:p>
            <a:r>
              <a:rPr lang="en-US" dirty="0"/>
              <a:t>As data is pushed onto the stack it is decremented</a:t>
            </a:r>
          </a:p>
          <a:p>
            <a:r>
              <a:rPr lang="en-US" dirty="0"/>
              <a:t>It is incremented as data is popped off the stack into the CPU.</a:t>
            </a:r>
          </a:p>
          <a:p>
            <a:r>
              <a:rPr lang="en-US" dirty="0"/>
              <a:t>When an instruction pushes or pops a general purpose register, it must be entire 16 bit register.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941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B184-DD39-145D-EDFC-F9DBEEFB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Stacks are Accessed?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922DB-6398-8087-19B1-642239890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 is decremented after the PUSH to make sure that the stack is growing downward from upper addresses to lower addresses</a:t>
            </a:r>
          </a:p>
          <a:p>
            <a:r>
              <a:rPr lang="en-US" dirty="0"/>
              <a:t>This is opposite of the IP.</a:t>
            </a:r>
          </a:p>
          <a:p>
            <a:r>
              <a:rPr lang="en-US" dirty="0"/>
              <a:t>To ensure that the Code section and Stack section never write over each other, they are located at opposite ends of the RAM </a:t>
            </a:r>
          </a:p>
        </p:txBody>
      </p:sp>
    </p:spTree>
    <p:extLst>
      <p:ext uri="{BB962C8B-B14F-4D97-AF65-F5344CB8AC3E}">
        <p14:creationId xmlns:p14="http://schemas.microsoft.com/office/powerpoint/2010/main" val="200052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B5F1-8373-A69F-F412-7B2FC27C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7C20-5997-58A7-C25D-E792AB80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 ONTO THE STACK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ECA12-17AC-39EA-573F-F7CCD0DA5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652" y="1364294"/>
            <a:ext cx="10116959" cy="488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9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DD66-8C4C-46F6-F6DB-C79D3F1C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POPPING THE STACK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1EF18-1CC8-0DBD-56DE-176125D9B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505" y="1293435"/>
            <a:ext cx="9788107" cy="517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3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088F-EEBD-7CD0-BC84-51A1E467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93E9-339E-C322-9484-5DC770D42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call a procedure</a:t>
            </a:r>
          </a:p>
          <a:p>
            <a:r>
              <a:rPr lang="en-US" b="1" dirty="0"/>
              <a:t>Near call:</a:t>
            </a:r>
            <a:r>
              <a:rPr lang="en-US" dirty="0"/>
              <a:t> only IP is saved on stack;  current CS</a:t>
            </a:r>
          </a:p>
          <a:p>
            <a:r>
              <a:rPr lang="en-US" b="1" dirty="0"/>
              <a:t>Far call:</a:t>
            </a:r>
            <a:r>
              <a:rPr lang="en-US" dirty="0"/>
              <a:t> both CS and IP are saved</a:t>
            </a:r>
          </a:p>
          <a:p>
            <a:pPr lvl="1"/>
            <a:r>
              <a:rPr lang="en-US" dirty="0"/>
              <a:t>Last instruction in subroutine must be RET</a:t>
            </a:r>
          </a:p>
        </p:txBody>
      </p:sp>
    </p:spTree>
    <p:extLst>
      <p:ext uri="{BB962C8B-B14F-4D97-AF65-F5344CB8AC3E}">
        <p14:creationId xmlns:p14="http://schemas.microsoft.com/office/powerpoint/2010/main" val="319732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5CA4-9004-08FA-4942-99EFF636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7DF4-A6D0-65FB-5236-1FBB6AFB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0361-E92E-EBCD-CA20-EAB5A7CA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have one main prog and many subroutines.</a:t>
            </a:r>
          </a:p>
          <a:p>
            <a:pPr marL="0" indent="0">
              <a:buNone/>
            </a:pPr>
            <a:r>
              <a:rPr lang="en-US" dirty="0"/>
              <a:t>If no RET, sequential execution continues</a:t>
            </a:r>
          </a:p>
          <a:p>
            <a:pPr marL="0" indent="0">
              <a:buNone/>
            </a:pPr>
            <a:r>
              <a:rPr lang="en-US" dirty="0"/>
              <a:t>Main proc is entry point from DOS and is FAR</a:t>
            </a:r>
          </a:p>
        </p:txBody>
      </p:sp>
    </p:spTree>
    <p:extLst>
      <p:ext uri="{BB962C8B-B14F-4D97-AF65-F5344CB8AC3E}">
        <p14:creationId xmlns:p14="http://schemas.microsoft.com/office/powerpoint/2010/main" val="234536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90A9-96DC-1F56-A991-C9D8998E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A7A9-E726-729E-3422-A2F577EC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069F-36E8-3458-1470-1F689042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2720725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.CODE</a:t>
            </a:r>
          </a:p>
          <a:p>
            <a:pPr marL="0" indent="0">
              <a:buNone/>
            </a:pPr>
            <a:r>
              <a:rPr lang="en-US" dirty="0"/>
              <a:t>MAIN PROC FAR </a:t>
            </a:r>
          </a:p>
          <a:p>
            <a:pPr marL="0" indent="0">
              <a:buNone/>
            </a:pPr>
            <a:r>
              <a:rPr lang="en-US" dirty="0"/>
              <a:t>MOV AX, @DATA </a:t>
            </a:r>
          </a:p>
          <a:p>
            <a:pPr marL="0" indent="0">
              <a:buNone/>
            </a:pPr>
            <a:r>
              <a:rPr lang="en-US" dirty="0"/>
              <a:t>MOV DS, AX</a:t>
            </a:r>
          </a:p>
          <a:p>
            <a:pPr marL="0" indent="0">
              <a:buNone/>
            </a:pPr>
            <a:r>
              <a:rPr lang="en-US" dirty="0"/>
              <a:t>CALL SUBR1</a:t>
            </a:r>
          </a:p>
          <a:p>
            <a:pPr marL="0" indent="0">
              <a:buNone/>
            </a:pPr>
            <a:r>
              <a:rPr lang="en-US" dirty="0"/>
              <a:t>CALL SUBR2</a:t>
            </a:r>
          </a:p>
          <a:p>
            <a:pPr marL="0" indent="0">
              <a:buNone/>
            </a:pPr>
            <a:r>
              <a:rPr lang="en-US" dirty="0"/>
              <a:t>CALL SUBR3</a:t>
            </a:r>
          </a:p>
          <a:p>
            <a:pPr marL="0" indent="0">
              <a:buNone/>
            </a:pPr>
            <a:r>
              <a:rPr lang="en-US" dirty="0"/>
              <a:t>MOV AH, 4CH</a:t>
            </a:r>
          </a:p>
          <a:p>
            <a:pPr marL="0" indent="0">
              <a:buNone/>
            </a:pPr>
            <a:r>
              <a:rPr lang="en-US" dirty="0"/>
              <a:t>INT 21H</a:t>
            </a:r>
          </a:p>
          <a:p>
            <a:pPr marL="0" indent="0">
              <a:buNone/>
            </a:pPr>
            <a:r>
              <a:rPr lang="en-US" dirty="0"/>
              <a:t>MAIN ENDP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EE95F3-DBAB-1A54-38D8-909F989C99B1}"/>
              </a:ext>
            </a:extLst>
          </p:cNvPr>
          <p:cNvSpPr txBox="1">
            <a:spLocks/>
          </p:cNvSpPr>
          <p:nvPr/>
        </p:nvSpPr>
        <p:spPr>
          <a:xfrm>
            <a:off x="5309937" y="2001252"/>
            <a:ext cx="2720725" cy="40947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SUBR1 PROC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-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-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-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RET 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SUBR1 ENDP</a:t>
            </a:r>
          </a:p>
          <a:p>
            <a:pPr marL="0" indent="0">
              <a:buNone/>
            </a:pPr>
            <a:r>
              <a:rPr lang="en-US" dirty="0"/>
              <a:t>SUBR2 PROC</a:t>
            </a:r>
          </a:p>
          <a:p>
            <a:pPr marL="0" indent="0">
              <a:buNone/>
            </a:pPr>
            <a:r>
              <a:rPr lang="en-US" dirty="0"/>
              <a:t>-</a:t>
            </a:r>
          </a:p>
          <a:p>
            <a:pPr marL="0" indent="0">
              <a:buNone/>
            </a:pPr>
            <a:r>
              <a:rPr lang="en-US" dirty="0"/>
              <a:t>-</a:t>
            </a:r>
          </a:p>
          <a:p>
            <a:pPr marL="0" indent="0">
              <a:buNone/>
            </a:pPr>
            <a:r>
              <a:rPr lang="en-US" dirty="0"/>
              <a:t>-</a:t>
            </a:r>
          </a:p>
          <a:p>
            <a:pPr marL="0" indent="0">
              <a:buNone/>
            </a:pPr>
            <a:r>
              <a:rPr lang="en-US" dirty="0"/>
              <a:t>RET </a:t>
            </a:r>
          </a:p>
          <a:p>
            <a:pPr marL="0" indent="0">
              <a:buNone/>
            </a:pPr>
            <a:r>
              <a:rPr lang="en-US" dirty="0"/>
              <a:t>SUBR2 ENDP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8D362E-575F-11BA-B2DC-0A545CA96255}"/>
              </a:ext>
            </a:extLst>
          </p:cNvPr>
          <p:cNvSpPr txBox="1">
            <a:spLocks/>
          </p:cNvSpPr>
          <p:nvPr/>
        </p:nvSpPr>
        <p:spPr>
          <a:xfrm>
            <a:off x="8494296" y="1985211"/>
            <a:ext cx="2720725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SUBR3 PROC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-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-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-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RET 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SUBR3 ENDP</a:t>
            </a:r>
          </a:p>
          <a:p>
            <a:pPr marL="0" indent="0">
              <a:buNone/>
            </a:pPr>
            <a:r>
              <a:rPr lang="en-US" dirty="0"/>
              <a:t>END MAIN 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07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50FA-50EF-3780-7FF7-62F3BEC0D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0B72-36CD-9D57-9F14-216B72D1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PASSING THROUGH STACK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F3071A-1768-771B-3E29-812F13C75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731770"/>
            <a:ext cx="8075075" cy="476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0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66C5-7223-23A9-15B2-FEB463A9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058F-0334-195A-003C-8A489B53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PASSING THROUGH STACK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05A27A-97BF-DFF9-EA38-DA502F90A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38"/>
          <a:stretch>
            <a:fillRect/>
          </a:stretch>
        </p:blipFill>
        <p:spPr>
          <a:xfrm>
            <a:off x="1134849" y="1764631"/>
            <a:ext cx="10553157" cy="417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72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BD31-2745-0F65-97CF-80971E47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072" y="224223"/>
            <a:ext cx="8911687" cy="1280890"/>
          </a:xfrm>
        </p:spPr>
        <p:txBody>
          <a:bodyPr/>
          <a:lstStyle/>
          <a:p>
            <a:r>
              <a:rPr lang="en-US" dirty="0"/>
              <a:t>STACK CONTENT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D0F969-911E-37FF-BEDD-9C076B2D7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9474" y="1055934"/>
            <a:ext cx="3863349" cy="557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32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04F6-B7C5-E52A-E939-E32AA5E1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3920E-F3F8-CC64-301C-52EF9A758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947" y="1540189"/>
            <a:ext cx="8757215" cy="3777622"/>
          </a:xfrm>
        </p:spPr>
        <p:txBody>
          <a:bodyPr numCol="3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.MODEL SMALL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b="1" dirty="0"/>
              <a:t>DATA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RESULT DW 2 DUP(?)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b="1" dirty="0"/>
              <a:t>CODE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b="1" dirty="0"/>
              <a:t>MAIN PROC   </a:t>
            </a:r>
          </a:p>
          <a:p>
            <a:pPr marL="0" indent="0">
              <a:buNone/>
            </a:pPr>
            <a:r>
              <a:rPr lang="en-US" dirty="0"/>
              <a:t>    MOV AX,@DATA</a:t>
            </a:r>
          </a:p>
          <a:p>
            <a:pPr marL="0" indent="0">
              <a:buNone/>
            </a:pPr>
            <a:r>
              <a:rPr lang="en-US" dirty="0"/>
              <a:t>    MOV DS,AX    </a:t>
            </a:r>
          </a:p>
          <a:p>
            <a:pPr marL="0" indent="0">
              <a:buNone/>
            </a:pPr>
            <a:r>
              <a:rPr lang="en-US" dirty="0"/>
              <a:t>    MOV AX, 1234H</a:t>
            </a:r>
          </a:p>
          <a:p>
            <a:pPr marL="0" indent="0">
              <a:buNone/>
            </a:pPr>
            <a:r>
              <a:rPr lang="en-US" dirty="0"/>
              <a:t>    MOV BX, 4567H</a:t>
            </a:r>
          </a:p>
          <a:p>
            <a:pPr marL="0" indent="0">
              <a:buNone/>
            </a:pPr>
            <a:r>
              <a:rPr lang="en-US" dirty="0"/>
              <a:t>    MOV CX, 254FH    </a:t>
            </a:r>
          </a:p>
          <a:p>
            <a:pPr marL="0" indent="0">
              <a:buNone/>
            </a:pPr>
            <a:r>
              <a:rPr lang="en-US" dirty="0"/>
              <a:t>    PUSH AX</a:t>
            </a:r>
          </a:p>
          <a:p>
            <a:pPr marL="0" indent="0">
              <a:buNone/>
            </a:pPr>
            <a:r>
              <a:rPr lang="en-US" dirty="0"/>
              <a:t>    PUSH BX</a:t>
            </a:r>
          </a:p>
          <a:p>
            <a:pPr marL="0" indent="0">
              <a:buNone/>
            </a:pPr>
            <a:r>
              <a:rPr lang="en-US" dirty="0"/>
              <a:t>    PUSH CX</a:t>
            </a:r>
          </a:p>
          <a:p>
            <a:pPr marL="0" indent="0">
              <a:buNone/>
            </a:pPr>
            <a:r>
              <a:rPr lang="en-US" dirty="0"/>
              <a:t>    CALL SUBPROG</a:t>
            </a:r>
          </a:p>
          <a:p>
            <a:pPr marL="0" indent="0">
              <a:buNone/>
            </a:pPr>
            <a:r>
              <a:rPr lang="en-US" dirty="0"/>
              <a:t>    MOV RESULT, AX</a:t>
            </a:r>
          </a:p>
          <a:p>
            <a:pPr marL="0" indent="0">
              <a:buNone/>
            </a:pPr>
            <a:r>
              <a:rPr lang="en-US" dirty="0"/>
              <a:t>    MOV RESULT+2,BX  </a:t>
            </a:r>
          </a:p>
          <a:p>
            <a:pPr marL="0" indent="0">
              <a:buNone/>
            </a:pPr>
            <a:r>
              <a:rPr lang="en-US" dirty="0"/>
              <a:t>    MOV AH,4CH</a:t>
            </a:r>
          </a:p>
          <a:p>
            <a:pPr marL="0" indent="0">
              <a:buNone/>
            </a:pPr>
            <a:r>
              <a:rPr lang="en-US" dirty="0"/>
              <a:t>    INT 21H</a:t>
            </a:r>
          </a:p>
          <a:p>
            <a:pPr marL="0" indent="0">
              <a:buNone/>
            </a:pPr>
            <a:r>
              <a:rPr lang="en-US" b="1" dirty="0"/>
              <a:t>MAIN ENDP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SUBPROG PROC </a:t>
            </a:r>
          </a:p>
          <a:p>
            <a:pPr marL="0" indent="0">
              <a:buNone/>
            </a:pPr>
            <a:r>
              <a:rPr lang="en-US" dirty="0"/>
              <a:t>    SUB BX,BX</a:t>
            </a:r>
          </a:p>
          <a:p>
            <a:pPr marL="0" indent="0">
              <a:buNone/>
            </a:pPr>
            <a:r>
              <a:rPr lang="en-US" dirty="0"/>
              <a:t>    PUSH BP</a:t>
            </a:r>
          </a:p>
          <a:p>
            <a:pPr marL="0" indent="0">
              <a:buNone/>
            </a:pPr>
            <a:r>
              <a:rPr lang="en-US" dirty="0"/>
              <a:t>    MOV BP,SP</a:t>
            </a:r>
          </a:p>
          <a:p>
            <a:pPr marL="0" indent="0">
              <a:buNone/>
            </a:pPr>
            <a:r>
              <a:rPr lang="en-US" dirty="0"/>
              <a:t>    MOV AX,[BP]+4</a:t>
            </a:r>
          </a:p>
          <a:p>
            <a:pPr marL="0" indent="0">
              <a:buNone/>
            </a:pPr>
            <a:r>
              <a:rPr lang="en-US" dirty="0"/>
              <a:t>    MOV CX,[BP]+6</a:t>
            </a:r>
          </a:p>
          <a:p>
            <a:pPr marL="0" indent="0">
              <a:buNone/>
            </a:pPr>
            <a:r>
              <a:rPr lang="en-US" dirty="0"/>
              <a:t>    MOV DX, [BP]+8</a:t>
            </a:r>
          </a:p>
          <a:p>
            <a:pPr marL="0" indent="0">
              <a:buNone/>
            </a:pPr>
            <a:r>
              <a:rPr lang="en-US" dirty="0"/>
              <a:t>    ADD AX,CX</a:t>
            </a:r>
          </a:p>
          <a:p>
            <a:pPr marL="0" indent="0">
              <a:buNone/>
            </a:pPr>
            <a:r>
              <a:rPr lang="en-US" dirty="0"/>
              <a:t>    ADC BX,00</a:t>
            </a:r>
          </a:p>
          <a:p>
            <a:pPr marL="0" indent="0">
              <a:buNone/>
            </a:pPr>
            <a:r>
              <a:rPr lang="en-US" dirty="0"/>
              <a:t>    ADD AX,DX</a:t>
            </a:r>
          </a:p>
          <a:p>
            <a:pPr marL="0" indent="0">
              <a:buNone/>
            </a:pPr>
            <a:r>
              <a:rPr lang="en-US" dirty="0"/>
              <a:t>    ADC BX,00</a:t>
            </a:r>
          </a:p>
          <a:p>
            <a:pPr marL="0" indent="0">
              <a:buNone/>
            </a:pPr>
            <a:r>
              <a:rPr lang="en-US" dirty="0"/>
              <a:t>    POP BP  </a:t>
            </a:r>
          </a:p>
          <a:p>
            <a:pPr marL="0" indent="0">
              <a:buNone/>
            </a:pPr>
            <a:r>
              <a:rPr lang="en-US" dirty="0"/>
              <a:t>    RET 6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SUBPROG ENDP</a:t>
            </a:r>
          </a:p>
          <a:p>
            <a:pPr marL="0" indent="0">
              <a:buNone/>
            </a:pPr>
            <a:r>
              <a:rPr lang="en-US" dirty="0"/>
              <a:t> END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0812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222</TotalTime>
  <Words>528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STACK</vt:lpstr>
      <vt:lpstr>Introduction to stack</vt:lpstr>
      <vt:lpstr>How Stacks are Accessed?</vt:lpstr>
      <vt:lpstr>PUSH AND POP</vt:lpstr>
      <vt:lpstr>How Stacks are Accessed?</vt:lpstr>
      <vt:lpstr>How Stacks are Accessed?</vt:lpstr>
      <vt:lpstr>PUSHING ONTO THE STACK</vt:lpstr>
      <vt:lpstr>POPPING THE STACK</vt:lpstr>
      <vt:lpstr>CALL STATEMENTS</vt:lpstr>
      <vt:lpstr>Subroutines </vt:lpstr>
      <vt:lpstr>SUBROUTINES</vt:lpstr>
      <vt:lpstr>PARAMETER PASSING THROUGH STACK</vt:lpstr>
      <vt:lpstr>PARAMETER PASSING THROUGH STACK</vt:lpstr>
      <vt:lpstr>STACK CONTENT DIAGRAM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Hina Tahir</dc:creator>
  <cp:lastModifiedBy>Hina Tahir</cp:lastModifiedBy>
  <cp:revision>3</cp:revision>
  <dcterms:created xsi:type="dcterms:W3CDTF">2025-11-11T14:26:45Z</dcterms:created>
  <dcterms:modified xsi:type="dcterms:W3CDTF">2025-11-11T18:09:24Z</dcterms:modified>
</cp:coreProperties>
</file>