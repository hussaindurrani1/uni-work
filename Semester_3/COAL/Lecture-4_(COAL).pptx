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93" r:id="rId3"/>
    <p:sldId id="294" r:id="rId4"/>
    <p:sldId id="257" r:id="rId5"/>
    <p:sldId id="262" r:id="rId6"/>
    <p:sldId id="263" r:id="rId7"/>
    <p:sldId id="264" r:id="rId8"/>
    <p:sldId id="266" r:id="rId9"/>
    <p:sldId id="267" r:id="rId10"/>
    <p:sldId id="280" r:id="rId11"/>
    <p:sldId id="268" r:id="rId12"/>
    <p:sldId id="281" r:id="rId13"/>
    <p:sldId id="269" r:id="rId14"/>
    <p:sldId id="272" r:id="rId15"/>
    <p:sldId id="277" r:id="rId16"/>
    <p:sldId id="282" r:id="rId17"/>
    <p:sldId id="258" r:id="rId18"/>
    <p:sldId id="283" r:id="rId19"/>
    <p:sldId id="265" r:id="rId20"/>
    <p:sldId id="284" r:id="rId21"/>
    <p:sldId id="259" r:id="rId22"/>
    <p:sldId id="285" r:id="rId23"/>
    <p:sldId id="286" r:id="rId24"/>
    <p:sldId id="287" r:id="rId25"/>
    <p:sldId id="288" r:id="rId26"/>
    <p:sldId id="289" r:id="rId27"/>
    <p:sldId id="261" r:id="rId28"/>
    <p:sldId id="295" r:id="rId29"/>
    <p:sldId id="296" r:id="rId30"/>
    <p:sldId id="292" r:id="rId31"/>
    <p:sldId id="290" r:id="rId32"/>
    <p:sldId id="29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760A-FA43-2FC2-95D3-3A0DD0BC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Airthmetic</a:t>
            </a:r>
            <a:r>
              <a:rPr lang="en-US" dirty="0"/>
              <a:t>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711D-8AFE-DEA6-1340-B9662F9A4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</a:t>
            </a:r>
          </a:p>
          <a:p>
            <a:pPr lvl="1"/>
            <a:r>
              <a:rPr lang="en-US" dirty="0"/>
              <a:t>ADD </a:t>
            </a:r>
            <a:r>
              <a:rPr lang="en-US" altLang="en-US" i="1" dirty="0"/>
              <a:t>destination</a:t>
            </a:r>
            <a:r>
              <a:rPr lang="en-US" altLang="en-US" dirty="0"/>
              <a:t>, </a:t>
            </a:r>
            <a:r>
              <a:rPr lang="en-US" altLang="en-US" i="1" dirty="0"/>
              <a:t>source 	</a:t>
            </a:r>
            <a:r>
              <a:rPr lang="en-US" dirty="0"/>
              <a:t>	(destination operand can be register or memory)</a:t>
            </a:r>
          </a:p>
          <a:p>
            <a:pPr lvl="1"/>
            <a:r>
              <a:rPr lang="en-US" dirty="0"/>
              <a:t>ADC </a:t>
            </a:r>
            <a:r>
              <a:rPr lang="en-US" altLang="en-US" i="1" dirty="0"/>
              <a:t>destination</a:t>
            </a:r>
            <a:r>
              <a:rPr lang="en-US" altLang="en-US" dirty="0"/>
              <a:t>, </a:t>
            </a:r>
            <a:r>
              <a:rPr lang="en-US" altLang="en-US" i="1" dirty="0"/>
              <a:t>source 	</a:t>
            </a:r>
            <a:r>
              <a:rPr lang="en-US" dirty="0"/>
              <a:t>	(source can be register, or in memory, or immediate)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</a:t>
            </a:r>
          </a:p>
          <a:p>
            <a:pPr marL="457200" lvl="1" indent="0">
              <a:buNone/>
            </a:pPr>
            <a:r>
              <a:rPr lang="en-US" dirty="0"/>
              <a:t>MOV AL, 3FH</a:t>
            </a:r>
          </a:p>
          <a:p>
            <a:pPr marL="457200" lvl="1" indent="0">
              <a:buNone/>
            </a:pPr>
            <a:r>
              <a:rPr lang="en-US" dirty="0"/>
              <a:t>MOV BH,23H</a:t>
            </a:r>
          </a:p>
          <a:p>
            <a:pPr marL="457200" lvl="1" indent="0">
              <a:buNone/>
            </a:pPr>
            <a:r>
              <a:rPr lang="en-US" dirty="0"/>
              <a:t>SUB  AL,BH			; subtract BH from AL, Place result in AL</a:t>
            </a:r>
          </a:p>
          <a:p>
            <a:pPr marL="457200" lvl="1" indent="0">
              <a:buNone/>
            </a:pPr>
            <a:r>
              <a:rPr lang="en-US" dirty="0"/>
              <a:t>SBB AL, 0</a:t>
            </a:r>
          </a:p>
        </p:txBody>
      </p:sp>
    </p:spTree>
    <p:extLst>
      <p:ext uri="{BB962C8B-B14F-4D97-AF65-F5344CB8AC3E}">
        <p14:creationId xmlns:p14="http://schemas.microsoft.com/office/powerpoint/2010/main" val="3036786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7758B-E854-C808-5CAC-7AE7B4F1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808A5-85FC-16F0-06DD-0F5198071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Subtraction</a:t>
            </a:r>
          </a:p>
          <a:p>
            <a:pPr lvl="1"/>
            <a:r>
              <a:rPr lang="en-US" dirty="0"/>
              <a:t>SUB </a:t>
            </a:r>
            <a:r>
              <a:rPr lang="en-US" altLang="en-US" i="1" dirty="0"/>
              <a:t>destination</a:t>
            </a:r>
            <a:r>
              <a:rPr lang="en-US" altLang="en-US" dirty="0"/>
              <a:t>, </a:t>
            </a:r>
            <a:r>
              <a:rPr lang="en-US" altLang="en-US" i="1" dirty="0"/>
              <a:t>source 	</a:t>
            </a:r>
            <a:r>
              <a:rPr lang="en-US" dirty="0"/>
              <a:t>	(destination operand can be register or memory)</a:t>
            </a:r>
          </a:p>
          <a:p>
            <a:pPr lvl="1"/>
            <a:r>
              <a:rPr lang="en-US" dirty="0"/>
              <a:t>SBB </a:t>
            </a:r>
            <a:r>
              <a:rPr lang="en-US" altLang="en-US" i="1" dirty="0"/>
              <a:t>destination</a:t>
            </a:r>
            <a:r>
              <a:rPr lang="en-US" altLang="en-US" dirty="0"/>
              <a:t>, </a:t>
            </a:r>
            <a:r>
              <a:rPr lang="en-US" altLang="en-US" i="1" dirty="0"/>
              <a:t>source 	</a:t>
            </a:r>
            <a:r>
              <a:rPr lang="en-US" dirty="0"/>
              <a:t>	(source can be register, or in memory, or immediate)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</a:t>
            </a:r>
          </a:p>
          <a:p>
            <a:pPr marL="457200" lvl="1" indent="0">
              <a:buNone/>
            </a:pPr>
            <a:r>
              <a:rPr lang="en-US" dirty="0"/>
              <a:t>MOV AL, 0F5H</a:t>
            </a:r>
          </a:p>
          <a:p>
            <a:pPr marL="457200" lvl="1" indent="0">
              <a:buNone/>
            </a:pPr>
            <a:r>
              <a:rPr lang="en-US" dirty="0"/>
              <a:t>ADD AL,0BH			; AL becomes 00</a:t>
            </a:r>
          </a:p>
          <a:p>
            <a:pPr marL="457200" lvl="1" indent="0">
              <a:buNone/>
            </a:pPr>
            <a:r>
              <a:rPr lang="en-US" dirty="0"/>
              <a:t>ADC AL,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78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FEA1D07-0488-4347-EDD6-0077ACD4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 Instructions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0E9FE2A9-1AD1-D292-6CB2-54374F2C227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r>
              <a:rPr lang="en-US" altLang="en-US"/>
              <a:t>To manipulate individual bits</a:t>
            </a:r>
          </a:p>
          <a:p>
            <a:r>
              <a:rPr lang="en-US" altLang="en-US"/>
              <a:t>Binary Value 0 treated as false</a:t>
            </a:r>
          </a:p>
          <a:p>
            <a:r>
              <a:rPr lang="en-US" altLang="en-US"/>
              <a:t>Binary Value 1 treated as true</a:t>
            </a:r>
          </a:p>
          <a:p>
            <a:r>
              <a:rPr lang="en-US" altLang="en-US"/>
              <a:t>In Assembly Language:</a:t>
            </a:r>
          </a:p>
          <a:p>
            <a:pPr lvl="1"/>
            <a:r>
              <a:rPr lang="en-US" altLang="en-US"/>
              <a:t>AND</a:t>
            </a:r>
          </a:p>
          <a:p>
            <a:pPr lvl="1"/>
            <a:r>
              <a:rPr lang="en-US" altLang="en-US"/>
              <a:t>OR</a:t>
            </a:r>
          </a:p>
          <a:p>
            <a:pPr lvl="1"/>
            <a:r>
              <a:rPr lang="en-US" altLang="en-US"/>
              <a:t>XOR</a:t>
            </a:r>
          </a:p>
          <a:p>
            <a:pPr lvl="1"/>
            <a:r>
              <a:rPr lang="en-US" altLang="en-US"/>
              <a:t>NOT</a:t>
            </a:r>
          </a:p>
          <a:p>
            <a:pPr lvl="1"/>
            <a:r>
              <a:rPr lang="en-US" altLang="en-US"/>
              <a:t>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AC694-FD0A-702E-7917-9292D1F5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D9A689-FEF0-48AC-997D-A3BE39EC59CF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4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58759FFC-969D-F372-0FB8-B749EA48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Truth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4A77F-B0FF-EFEC-74C5-3DA21C76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03D50B2-61BF-4D13-9304-B33904B3F63A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5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3C4F5C-39D1-4E2C-5B85-FE90CAC1A124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1447800"/>
          <a:ext cx="6226176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0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a</a:t>
                      </a:r>
                      <a:r>
                        <a:rPr lang="en-US" b="1" baseline="0" dirty="0">
                          <a:solidFill>
                            <a:srgbClr val="002060"/>
                          </a:solidFill>
                        </a:rPr>
                        <a:t> AND b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a</a:t>
                      </a:r>
                      <a:r>
                        <a:rPr lang="en-US" b="1" baseline="0" dirty="0">
                          <a:solidFill>
                            <a:srgbClr val="002060"/>
                          </a:solidFill>
                        </a:rPr>
                        <a:t> OR b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a</a:t>
                      </a:r>
                      <a:r>
                        <a:rPr lang="en-US" b="1" baseline="0" dirty="0">
                          <a:solidFill>
                            <a:srgbClr val="002060"/>
                          </a:solidFill>
                        </a:rPr>
                        <a:t> XOR b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68C84F-AB01-FB58-683D-582D9FCB8032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3886200"/>
          <a:ext cx="22098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2060"/>
                          </a:solidFill>
                        </a:rPr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2060"/>
                          </a:solidFill>
                        </a:rPr>
                        <a:t>NOT a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52181BC8-01BC-4F75-8FDE-0CAECDD6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8DAD588-C866-EA85-7B50-3598001EC9E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marL="514350" indent="-514350">
              <a:buFont typeface="Wingdings 3" panose="05040102010807070707" pitchFamily="18" charset="2"/>
              <a:buAutoNum type="arabicPeriod"/>
            </a:pPr>
            <a:r>
              <a:rPr lang="en-US" altLang="en-US"/>
              <a:t>1010 1010 </a:t>
            </a:r>
            <a:r>
              <a:rPr lang="en-US" altLang="en-US">
                <a:solidFill>
                  <a:srgbClr val="002060"/>
                </a:solidFill>
              </a:rPr>
              <a:t>AND</a:t>
            </a:r>
            <a:r>
              <a:rPr lang="en-US" altLang="en-US"/>
              <a:t> 1111 0000 = 1010 0000</a:t>
            </a:r>
          </a:p>
          <a:p>
            <a:pPr marL="514350" indent="-514350">
              <a:buFont typeface="Wingdings 3" panose="05040102010807070707" pitchFamily="18" charset="2"/>
              <a:buAutoNum type="arabicPeriod"/>
            </a:pPr>
            <a:r>
              <a:rPr lang="en-US" altLang="en-US"/>
              <a:t>1010 1010 </a:t>
            </a:r>
            <a:r>
              <a:rPr lang="en-US" altLang="en-US">
                <a:solidFill>
                  <a:srgbClr val="002060"/>
                </a:solidFill>
              </a:rPr>
              <a:t>OR</a:t>
            </a:r>
            <a:r>
              <a:rPr lang="en-US" altLang="en-US"/>
              <a:t> 1111 0000 = 1111 1010</a:t>
            </a:r>
          </a:p>
          <a:p>
            <a:pPr marL="514350" indent="-514350">
              <a:buFont typeface="Wingdings 3" panose="05040102010807070707" pitchFamily="18" charset="2"/>
              <a:buAutoNum type="arabicPeriod"/>
            </a:pPr>
            <a:r>
              <a:rPr lang="en-US" altLang="en-US"/>
              <a:t>1010 1010 </a:t>
            </a:r>
            <a:r>
              <a:rPr lang="en-US" altLang="en-US">
                <a:solidFill>
                  <a:srgbClr val="002060"/>
                </a:solidFill>
              </a:rPr>
              <a:t>XOR</a:t>
            </a:r>
            <a:r>
              <a:rPr lang="en-US" altLang="en-US"/>
              <a:t> 1111 0000 = 0101 1010</a:t>
            </a:r>
          </a:p>
          <a:p>
            <a:pPr marL="514350" indent="-514350">
              <a:buFont typeface="Wingdings 3" panose="05040102010807070707" pitchFamily="18" charset="2"/>
              <a:buAutoNum type="arabicPeriod"/>
            </a:pPr>
            <a:r>
              <a:rPr lang="en-US" altLang="en-US">
                <a:solidFill>
                  <a:srgbClr val="002060"/>
                </a:solidFill>
              </a:rPr>
              <a:t>NOT </a:t>
            </a:r>
            <a:r>
              <a:rPr lang="en-US" altLang="en-US"/>
              <a:t>1010 1010 = 0101 0101</a:t>
            </a:r>
          </a:p>
          <a:p>
            <a:pPr marL="514350" indent="-514350">
              <a:buNone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6A100-91A2-E32B-3B4D-6674DA7F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9943F3B-4E0A-4384-A387-C94858F38BA1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6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C566AA5-3AA9-B0BB-F665-A0CD5D62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Syntax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532417EB-D80F-F75B-F2AC-ABEC4D8D562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 dirty="0">
                <a:solidFill>
                  <a:srgbClr val="002060"/>
                </a:solidFill>
              </a:rPr>
              <a:t>AND</a:t>
            </a:r>
            <a:r>
              <a:rPr lang="en-US" altLang="en-US" dirty="0"/>
              <a:t> </a:t>
            </a:r>
            <a:r>
              <a:rPr lang="en-US" altLang="en-US" i="1" dirty="0"/>
              <a:t>destination</a:t>
            </a:r>
            <a:r>
              <a:rPr lang="en-US" altLang="en-US" dirty="0"/>
              <a:t>, </a:t>
            </a:r>
            <a:r>
              <a:rPr lang="en-US" altLang="en-US" i="1" dirty="0"/>
              <a:t>source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dirty="0">
                <a:solidFill>
                  <a:srgbClr val="002060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destination</a:t>
            </a:r>
            <a:r>
              <a:rPr lang="en-US" altLang="en-US" dirty="0"/>
              <a:t>, </a:t>
            </a:r>
            <a:r>
              <a:rPr lang="en-US" altLang="en-US" i="1" dirty="0"/>
              <a:t>source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dirty="0">
                <a:solidFill>
                  <a:srgbClr val="002060"/>
                </a:solidFill>
              </a:rPr>
              <a:t>XOR</a:t>
            </a:r>
            <a:r>
              <a:rPr lang="en-US" altLang="en-US" dirty="0"/>
              <a:t> </a:t>
            </a:r>
            <a:r>
              <a:rPr lang="en-US" altLang="en-US" i="1" dirty="0"/>
              <a:t>destination</a:t>
            </a:r>
            <a:r>
              <a:rPr lang="en-US" altLang="en-US" dirty="0"/>
              <a:t>, </a:t>
            </a:r>
            <a:r>
              <a:rPr lang="en-US" altLang="en-US" i="1" dirty="0"/>
              <a:t>source</a:t>
            </a:r>
          </a:p>
          <a:p>
            <a:r>
              <a:rPr lang="en-US" altLang="en-US" dirty="0"/>
              <a:t>Destination: </a:t>
            </a:r>
          </a:p>
          <a:p>
            <a:pPr lvl="1"/>
            <a:r>
              <a:rPr lang="en-US" altLang="en-US" dirty="0"/>
              <a:t>Stores result</a:t>
            </a:r>
          </a:p>
          <a:p>
            <a:pPr lvl="1"/>
            <a:r>
              <a:rPr lang="en-US" altLang="en-US" dirty="0"/>
              <a:t>Can be Register or Memory Location</a:t>
            </a:r>
          </a:p>
          <a:p>
            <a:r>
              <a:rPr lang="en-US" altLang="en-US" dirty="0"/>
              <a:t>Source:</a:t>
            </a:r>
          </a:p>
          <a:p>
            <a:pPr lvl="1"/>
            <a:r>
              <a:rPr lang="en-US" altLang="en-US" dirty="0"/>
              <a:t>May be a Constant, Register or Memory Location</a:t>
            </a:r>
          </a:p>
          <a:p>
            <a:r>
              <a:rPr lang="en-US" altLang="en-US" dirty="0"/>
              <a:t>Memory to memory operation not allowed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F821A-C760-34F5-F03A-2E16A6B0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8375E4C-3419-4653-80FE-248198B1E86F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7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28F4B494-AEF7-59CC-5812-9CF0BA9B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MASK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51FD015-11FA-C627-E60D-634023D665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/>
            <a:r>
              <a:rPr lang="en-US" altLang="en-US"/>
              <a:t>To modify only selective bits in destination, we construct a source bit pattern known as </a:t>
            </a:r>
            <a:r>
              <a:rPr lang="en-US" altLang="en-US" b="1"/>
              <a:t>MASK</a:t>
            </a:r>
            <a:r>
              <a:rPr lang="en-US" altLang="en-US"/>
              <a:t>.</a:t>
            </a:r>
          </a:p>
          <a:p>
            <a:pPr algn="just"/>
            <a:r>
              <a:rPr lang="en-US" altLang="en-US"/>
              <a:t>To choose mask, use following properties:</a:t>
            </a:r>
          </a:p>
          <a:p>
            <a:pPr lvl="1" algn="just"/>
            <a:r>
              <a:rPr lang="en-US" altLang="en-US"/>
              <a:t>b AND 1 = b</a:t>
            </a:r>
          </a:p>
          <a:p>
            <a:pPr lvl="1" algn="just"/>
            <a:r>
              <a:rPr lang="en-US" altLang="en-US"/>
              <a:t>b AND 0 = 0</a:t>
            </a:r>
          </a:p>
          <a:p>
            <a:pPr lvl="1" algn="just"/>
            <a:r>
              <a:rPr lang="en-US" altLang="en-US"/>
              <a:t>b OR 1 = 1</a:t>
            </a:r>
          </a:p>
          <a:p>
            <a:pPr lvl="1" algn="just"/>
            <a:r>
              <a:rPr lang="en-US" altLang="en-US"/>
              <a:t>b OR 0 = b</a:t>
            </a:r>
          </a:p>
          <a:p>
            <a:pPr lvl="1" algn="just"/>
            <a:r>
              <a:rPr lang="en-US" altLang="en-US"/>
              <a:t>b XOR 0 = b</a:t>
            </a:r>
          </a:p>
          <a:p>
            <a:pPr lvl="1" algn="just"/>
            <a:r>
              <a:rPr lang="en-US" altLang="en-US"/>
              <a:t>b XOR 1 = ~b (complement of b)</a:t>
            </a:r>
          </a:p>
          <a:p>
            <a:pPr lvl="1" algn="just">
              <a:buFont typeface="Wingdings 3" panose="05040102010807070707" pitchFamily="18" charset="2"/>
              <a:buNone/>
            </a:pPr>
            <a:r>
              <a:rPr lang="en-US" altLang="en-US"/>
              <a:t>Where b represents a bit (0 or 1)</a:t>
            </a:r>
          </a:p>
          <a:p>
            <a:pPr algn="just"/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E5A97-A5A7-7A6E-C8FA-85C95FA7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FF8BD7B-8574-4FD6-84E4-F73C4D0552CD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8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3E2D47A6-2061-D956-4768-3E4B9D5E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BE812B42-38B9-C374-8C22-18506EC86B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/>
              <a:t>1. The </a:t>
            </a:r>
            <a:r>
              <a:rPr lang="en-US" altLang="en-US">
                <a:solidFill>
                  <a:srgbClr val="002060"/>
                </a:solidFill>
              </a:rPr>
              <a:t>AND</a:t>
            </a:r>
            <a:r>
              <a:rPr lang="en-US" altLang="en-US"/>
              <a:t> instruction: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	- May be used to </a:t>
            </a:r>
            <a:r>
              <a:rPr lang="en-US" altLang="en-US" b="1"/>
              <a:t>clear</a:t>
            </a:r>
            <a:r>
              <a:rPr lang="en-US" altLang="en-US"/>
              <a:t> specific destination bits while preventing the others. 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   - A 0 mask bit clears the corresponding destination bit.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   - A 1 mask bit preserves the corresponding destination 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090BD-7653-60CA-F6AE-F003B5F5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F2D8018-388E-488E-BE23-B29070458325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9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A488FA2-6451-554E-2183-40E9A069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1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BEE22D38-C757-E7F5-B265-54D75E38F1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/>
            <a:r>
              <a:rPr lang="en-US" altLang="en-US" b="1"/>
              <a:t>Clear the sign bit of AL while leaving the other bits unchanged.</a:t>
            </a:r>
          </a:p>
          <a:p>
            <a:pPr algn="just"/>
            <a:r>
              <a:rPr lang="en-US" altLang="en-US" i="1"/>
              <a:t>Solution</a:t>
            </a:r>
            <a:r>
              <a:rPr lang="en-US" altLang="en-US"/>
              <a:t>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	</a:t>
            </a:r>
            <a:r>
              <a:rPr lang="en-US" altLang="en-US">
                <a:solidFill>
                  <a:srgbClr val="002060"/>
                </a:solidFill>
              </a:rPr>
              <a:t>AND</a:t>
            </a:r>
            <a:r>
              <a:rPr lang="en-US" altLang="en-US"/>
              <a:t> AL, 7Fh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Where 7Fh (0111 1111) is the mask.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6DD91-45E0-0A45-098B-F6EAC260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E5DD3F-2C78-4ADF-B33A-84CDCE75D6C7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10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C378861-30DB-74F8-F247-FF80EAECB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F45BA588-BF52-7224-B9D9-09166C8DD96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/>
              <a:t>2. The </a:t>
            </a:r>
            <a:r>
              <a:rPr lang="en-US" altLang="en-US">
                <a:solidFill>
                  <a:srgbClr val="002060"/>
                </a:solidFill>
              </a:rPr>
              <a:t>OR</a:t>
            </a:r>
            <a:r>
              <a:rPr lang="en-US" altLang="en-US"/>
              <a:t> instruction: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	- May be used to </a:t>
            </a:r>
            <a:r>
              <a:rPr lang="en-US" altLang="en-US" b="1"/>
              <a:t>set</a:t>
            </a:r>
            <a:r>
              <a:rPr lang="en-US" altLang="en-US"/>
              <a:t> specific destination bits while preventing the others. 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   - A 1 mask bit sets the corresponding destination bit.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   - A 0 mask bit preserves the corresponding destination 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88A9B-8CEE-88E8-78F6-1B40A2D4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5F5F937-D209-41EA-AB26-6D105ACF8476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11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B0F7180C-197F-1955-40B9-C4311130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2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7481E856-B6CB-06F8-F007-6D19F5C1EB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/>
            <a:r>
              <a:rPr lang="en-US" altLang="en-US" b="1"/>
              <a:t>Set the MSB and LSB of AL while preserving the other bits.</a:t>
            </a:r>
          </a:p>
          <a:p>
            <a:pPr algn="just"/>
            <a:r>
              <a:rPr lang="en-US" altLang="en-US" i="1"/>
              <a:t>Solution</a:t>
            </a:r>
            <a:r>
              <a:rPr lang="en-US" altLang="en-US"/>
              <a:t>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	</a:t>
            </a:r>
            <a:r>
              <a:rPr lang="en-US" altLang="en-US">
                <a:solidFill>
                  <a:srgbClr val="002060"/>
                </a:solidFill>
              </a:rPr>
              <a:t>OR</a:t>
            </a:r>
            <a:r>
              <a:rPr lang="en-US" altLang="en-US"/>
              <a:t> AL, 81h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Where 81h (1000 0001) is the mask.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BDA1C-1F9E-50E7-1001-9064D741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329BA4-5922-4120-8BC5-6DD588BDD84B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12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6947976-9BAF-168C-BBB9-225E6468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DF15DC1-4723-B5A2-1B1D-9E877AC0CC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/>
              <a:t>3. The </a:t>
            </a:r>
            <a:r>
              <a:rPr lang="en-US" altLang="en-US">
                <a:solidFill>
                  <a:srgbClr val="002060"/>
                </a:solidFill>
              </a:rPr>
              <a:t>XOR</a:t>
            </a:r>
            <a:r>
              <a:rPr lang="en-US" altLang="en-US"/>
              <a:t> instruction: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	- May be used to </a:t>
            </a:r>
            <a:r>
              <a:rPr lang="en-US" altLang="en-US" b="1"/>
              <a:t>complement</a:t>
            </a:r>
            <a:r>
              <a:rPr lang="en-US" altLang="en-US"/>
              <a:t> specific destination bits while preventing the others. 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   - A 1 mask bit complements the corresponding destination bit.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   - A 0 mask bit preserves the corresponding destination 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D3F48-2930-E9F9-E813-55D8E631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D30ADFD-C62E-4BE3-92CA-1CA994C29497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13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19C56DD-CED3-8778-C99C-AB88DB6D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3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25F205A-352E-A94C-5D16-81CB055E206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/>
            <a:r>
              <a:rPr lang="en-US" altLang="en-US" b="1"/>
              <a:t>Change the sign bit of DX.</a:t>
            </a:r>
          </a:p>
          <a:p>
            <a:pPr algn="just"/>
            <a:r>
              <a:rPr lang="en-US" altLang="en-US" i="1"/>
              <a:t>Solution</a:t>
            </a:r>
            <a:r>
              <a:rPr lang="en-US" altLang="en-US"/>
              <a:t>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	X</a:t>
            </a:r>
            <a:r>
              <a:rPr lang="en-US" altLang="en-US">
                <a:solidFill>
                  <a:srgbClr val="002060"/>
                </a:solidFill>
              </a:rPr>
              <a:t>OR</a:t>
            </a:r>
            <a:r>
              <a:rPr lang="en-US" altLang="en-US"/>
              <a:t> DX, 8000h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/>
              <a:t>Where 80h (1000 0000) is the mask.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CA669-5B80-18B5-41F7-29E49EA2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F1D59AB-7C0F-4B66-927D-8537E937048A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14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74AAE7B2-A144-D3C8-4EE6-5978C65D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 Instruction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A8E0A5B5-CCAF-6FC3-8606-E13C620348B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/>
            <a:r>
              <a:rPr lang="en-US" altLang="en-US" dirty="0"/>
              <a:t>Performs the one’s complement operation on the destination.</a:t>
            </a:r>
          </a:p>
          <a:p>
            <a:pPr algn="just"/>
            <a:r>
              <a:rPr lang="en-US" altLang="en-US" dirty="0"/>
              <a:t>Syntax: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rgbClr val="00206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i="1" dirty="0"/>
              <a:t>destination</a:t>
            </a:r>
          </a:p>
          <a:p>
            <a:pPr algn="just"/>
            <a:r>
              <a:rPr lang="en-US" altLang="en-US" dirty="0"/>
              <a:t>No effect on flags</a:t>
            </a:r>
          </a:p>
          <a:p>
            <a:pPr algn="just"/>
            <a:r>
              <a:rPr lang="en-US" altLang="en-US" dirty="0"/>
              <a:t>Example: Complement the bit in AX: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rgbClr val="00206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i="1" dirty="0"/>
              <a:t>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87407-D464-3BD4-D3F2-2D7551D7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569EDF9-1709-46FC-9116-C7AF4DF67AA8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15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664514-ED6F-71BB-1A0B-4A24FEC65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/>
          <a:lstStyle/>
          <a:p>
            <a:r>
              <a:rPr lang="en-US" altLang="en-US"/>
              <a:t>Multiplication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A99AC1C7-55A4-1C14-E0DC-508E5768B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19201"/>
            <a:ext cx="8382000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4163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" charset="0"/>
                <a:cs typeface="Arial" charset="0"/>
              </a:rPr>
              <a:t>MUL</a:t>
            </a:r>
            <a:r>
              <a:rPr lang="en-US" sz="2400" dirty="0">
                <a:latin typeface="Arial" charset="0"/>
                <a:cs typeface="Arial" charset="0"/>
              </a:rPr>
              <a:t> instruction is used with unsigned operands</a:t>
            </a:r>
          </a:p>
          <a:p>
            <a:pPr marL="284163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latin typeface="Arial" charset="0"/>
                <a:cs typeface="Arial" charset="0"/>
              </a:rPr>
              <a:t>Unsigned multiplication of 128 and 255 = 32, 640.</a:t>
            </a:r>
          </a:p>
          <a:p>
            <a:pPr marL="284163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latin typeface="Arial" charset="0"/>
                <a:cs typeface="Arial" charset="0"/>
              </a:rPr>
              <a:t>2 bytes multiplied, product = 1 word (16 bits)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AL is implied destination operand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Source operand can be a register or variable (8 bits)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16-bit output is AX</a:t>
            </a:r>
          </a:p>
          <a:p>
            <a:pPr marL="284163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400" dirty="0">
                <a:latin typeface="Arial" charset="0"/>
                <a:cs typeface="Arial" charset="0"/>
              </a:rPr>
              <a:t>2 words multiplied, product = 1 double word (32 bits)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AX is implied destination operands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Source operand can be a register or variable (16 bits)</a:t>
            </a:r>
          </a:p>
          <a:p>
            <a:pPr marL="741363" lvl="1" indent="-284163">
              <a:spcBef>
                <a:spcPct val="50000"/>
              </a:spcBef>
              <a:buFontTx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32-bit output is DX:AX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92824-FD24-9CCF-4745-2BA83C3C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6FBDE5E-739B-4AD0-916A-AC8E4FF00AE4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16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42B55AE-3074-0224-A1EC-7B1C2011A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/>
          <a:lstStyle/>
          <a:p>
            <a:r>
              <a:rPr lang="en-US" altLang="en-US"/>
              <a:t>MUL Instruction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654E63A2-DAB3-C9A7-BDFF-04AB7DFA4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371600"/>
            <a:ext cx="65532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8-bit multiplication: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	MUL BL		; product = AX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16-bit multiplication: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	MUL DX		; product = DX:AX</a:t>
            </a:r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id="{F056C7F6-0E3D-0CB4-8FAB-81FB64B1E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581400"/>
            <a:ext cx="5715000" cy="1069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al,5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bl,10h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mul bl		; AX = 0050h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FE6C5FCC-BC76-7776-F635-6D851BAF6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876800"/>
            <a:ext cx="6858000" cy="1069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ax,500h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bx,100h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mul bx		; DX:AX = 00050000h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B1201-80C4-2947-B45E-3E08E6F7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C6D33F1-9D16-482C-81BF-9132F4A075BA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17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1DC74AD-C076-7964-FF03-C80D6AC11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772400" cy="685800"/>
          </a:xfrm>
        </p:spPr>
        <p:txBody>
          <a:bodyPr/>
          <a:lstStyle/>
          <a:p>
            <a:r>
              <a:rPr lang="en-US" altLang="en-US"/>
              <a:t>DIV Instruction</a:t>
            </a: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54E7F5C2-C975-576D-7E46-5B84BCAD7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95401"/>
            <a:ext cx="807720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Dividend is </a:t>
            </a:r>
            <a:r>
              <a:rPr lang="en-US" altLang="en-US" sz="2000" i="1"/>
              <a:t>divided</a:t>
            </a:r>
            <a:r>
              <a:rPr lang="en-US" altLang="en-US" sz="2000"/>
              <a:t> by divisor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i="1"/>
              <a:t>Result</a:t>
            </a:r>
            <a:r>
              <a:rPr lang="en-US" altLang="en-US" sz="2000"/>
              <a:t>: Quotient and Remainder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Byte Form: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Dividend is AX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Divisor can be 8-bit register or variable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Quotient is AL, Remainder is AH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Word Form: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Dividend is DX:AX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Divisor can be 16-bit register or variable</a:t>
            </a:r>
          </a:p>
          <a:p>
            <a:pPr lvl="1"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/>
              <a:t>Quotient is AX, Remainder is DX</a:t>
            </a: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/>
              <a:t>Status flag values are undefined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B32F2-9BE8-B88E-05DE-F06015AF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492587-7DE6-4307-A6A0-A0748558AF47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18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4705266-4E3B-8822-59E2-9CF8B95BE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/>
          <a:lstStyle/>
          <a:p>
            <a:r>
              <a:rPr lang="en-US" altLang="en-US"/>
              <a:t>DIV Examples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7B5E1AA3-6A39-BC9B-2D59-7A36439AE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295400"/>
            <a:ext cx="6934200" cy="1069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ax,0083h	; dividend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bl,2		; divisor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div bl		; AL = 41h, AH = 01h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C53EDF02-E7B6-CAF5-A085-669E97D3E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667001"/>
            <a:ext cx="6934200" cy="14388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dx,0		; dividend, high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ax,8003h	; dividend, low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cx,100h		; divisor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div cx		; AX = 0080h, DX = 0003h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0BEEF-71A3-ED8B-8D93-E8258772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E7417EA-5CB5-408D-8DD9-F15703C4E582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19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9B2C76F-A9B8-64B6-D1E8-AE2A399F6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/>
          <a:lstStyle/>
          <a:p>
            <a:r>
              <a:rPr lang="en-US" altLang="en-US"/>
              <a:t>Divide Overflow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D24DE38B-E88E-2906-0EC9-8C936C2AB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447801"/>
            <a:ext cx="777240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555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en-US" sz="2000"/>
              <a:t>Happens when the quotient is too large to fit in the destination register. Causes a processor interrupt.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D5365923-6535-F2DF-9171-DC9A970EA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514600"/>
            <a:ext cx="6934200" cy="1746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dx,0050h	; dividend, high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ax,0000h	; dividend, low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cx,10h		; divisor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div cx		; quotient= 50000h, cannot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			; fit in AX register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B3888-4EB2-79BD-568C-48835D8F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037EC50-5442-49AC-9C16-1A77DDAD5AA6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20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>
            <a:extLst>
              <a:ext uri="{FF2B5EF4-FFF2-40B4-BE49-F238E27FC236}">
                <a16:creationId xmlns:a16="http://schemas.microsoft.com/office/drawing/2014/main" id="{2FB7CA32-CE30-5005-0076-A109E930F3F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905000"/>
            <a:ext cx="6578600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5">
            <a:extLst>
              <a:ext uri="{FF2B5EF4-FFF2-40B4-BE49-F238E27FC236}">
                <a16:creationId xmlns:a16="http://schemas.microsoft.com/office/drawing/2014/main" id="{4C6BA0D0-0649-8183-1D4D-8DA9A8037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2895601"/>
            <a:ext cx="14411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Carry flag</a:t>
            </a:r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8B844790-40DC-19FC-881B-F87B2CB43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1" y="3505201"/>
            <a:ext cx="147476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Parity flag</a:t>
            </a:r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DA39541B-F5AD-1FEC-1FD6-4450C42BE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1" y="4114801"/>
            <a:ext cx="191879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Auxiliary flag</a:t>
            </a:r>
          </a:p>
        </p:txBody>
      </p:sp>
      <p:sp>
        <p:nvSpPr>
          <p:cNvPr id="11270" name="Line 8">
            <a:extLst>
              <a:ext uri="{FF2B5EF4-FFF2-40B4-BE49-F238E27FC236}">
                <a16:creationId xmlns:a16="http://schemas.microsoft.com/office/drawing/2014/main" id="{E63C582D-2FF2-4C6D-3B1E-6AB90346F0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15400" y="2744788"/>
            <a:ext cx="0" cy="379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1" name="Line 9">
            <a:extLst>
              <a:ext uri="{FF2B5EF4-FFF2-40B4-BE49-F238E27FC236}">
                <a16:creationId xmlns:a16="http://schemas.microsoft.com/office/drawing/2014/main" id="{78816547-2B90-2E4E-97CD-4BC251290E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5800" y="2744788"/>
            <a:ext cx="0" cy="9890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10">
            <a:extLst>
              <a:ext uri="{FF2B5EF4-FFF2-40B4-BE49-F238E27FC236}">
                <a16:creationId xmlns:a16="http://schemas.microsoft.com/office/drawing/2014/main" id="{D856A1EB-3657-A7B5-0D99-10B2CB879E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2744788"/>
            <a:ext cx="0" cy="1598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Rectangle 11">
            <a:extLst>
              <a:ext uri="{FF2B5EF4-FFF2-40B4-BE49-F238E27FC236}">
                <a16:creationId xmlns:a16="http://schemas.microsoft.com/office/drawing/2014/main" id="{D4A62E3B-612E-6C03-2D1E-AF711DBDC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6" y="4765676"/>
            <a:ext cx="76623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Zero</a:t>
            </a:r>
          </a:p>
        </p:txBody>
      </p:sp>
      <p:sp>
        <p:nvSpPr>
          <p:cNvPr id="11274" name="Line 12">
            <a:extLst>
              <a:ext uri="{FF2B5EF4-FFF2-40B4-BE49-F238E27FC236}">
                <a16:creationId xmlns:a16="http://schemas.microsoft.com/office/drawing/2014/main" id="{D0284A9B-5317-02DE-04C7-377B4EBF9D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2744788"/>
            <a:ext cx="0" cy="22082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Rectangle 13">
            <a:extLst>
              <a:ext uri="{FF2B5EF4-FFF2-40B4-BE49-F238E27FC236}">
                <a16:creationId xmlns:a16="http://schemas.microsoft.com/office/drawing/2014/main" id="{D94387A1-1BEB-8840-E0EA-68068261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048001"/>
            <a:ext cx="13657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Overflow</a:t>
            </a:r>
          </a:p>
        </p:txBody>
      </p:sp>
      <p:sp>
        <p:nvSpPr>
          <p:cNvPr id="11276" name="Rectangle 14">
            <a:extLst>
              <a:ext uri="{FF2B5EF4-FFF2-40B4-BE49-F238E27FC236}">
                <a16:creationId xmlns:a16="http://schemas.microsoft.com/office/drawing/2014/main" id="{BD818EA6-FA8D-A7B8-2D46-B9A29EA6D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581401"/>
            <a:ext cx="134652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Direction</a:t>
            </a:r>
          </a:p>
        </p:txBody>
      </p:sp>
      <p:sp>
        <p:nvSpPr>
          <p:cNvPr id="11277" name="Line 15">
            <a:extLst>
              <a:ext uri="{FF2B5EF4-FFF2-40B4-BE49-F238E27FC236}">
                <a16:creationId xmlns:a16="http://schemas.microsoft.com/office/drawing/2014/main" id="{8F407200-26B5-BA09-FD5C-CFFA1A691B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2744788"/>
            <a:ext cx="0" cy="760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16">
            <a:extLst>
              <a:ext uri="{FF2B5EF4-FFF2-40B4-BE49-F238E27FC236}">
                <a16:creationId xmlns:a16="http://schemas.microsoft.com/office/drawing/2014/main" id="{41E241B6-58FA-4249-977B-97D5BE18C3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2744788"/>
            <a:ext cx="0" cy="1217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Rectangle 17">
            <a:extLst>
              <a:ext uri="{FF2B5EF4-FFF2-40B4-BE49-F238E27FC236}">
                <a16:creationId xmlns:a16="http://schemas.microsoft.com/office/drawing/2014/main" id="{F4DAE743-2144-A209-F581-15126E8AC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1" y="4114801"/>
            <a:ext cx="2140009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Interrupt enable</a:t>
            </a:r>
          </a:p>
        </p:txBody>
      </p:sp>
      <p:sp>
        <p:nvSpPr>
          <p:cNvPr id="11280" name="Line 18">
            <a:extLst>
              <a:ext uri="{FF2B5EF4-FFF2-40B4-BE49-F238E27FC236}">
                <a16:creationId xmlns:a16="http://schemas.microsoft.com/office/drawing/2014/main" id="{98A5B6E6-6305-3101-EB6D-8DD975DBE3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744788"/>
            <a:ext cx="0" cy="1598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Rectangle 19">
            <a:extLst>
              <a:ext uri="{FF2B5EF4-FFF2-40B4-BE49-F238E27FC236}">
                <a16:creationId xmlns:a16="http://schemas.microsoft.com/office/drawing/2014/main" id="{82D8FEBB-D5B4-5BE1-C4DB-9E7C43E00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724401"/>
            <a:ext cx="7554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Trap</a:t>
            </a:r>
          </a:p>
        </p:txBody>
      </p:sp>
      <p:sp>
        <p:nvSpPr>
          <p:cNvPr id="11282" name="Line 20">
            <a:extLst>
              <a:ext uri="{FF2B5EF4-FFF2-40B4-BE49-F238E27FC236}">
                <a16:creationId xmlns:a16="http://schemas.microsoft.com/office/drawing/2014/main" id="{8C8C61DE-E3C4-FB80-5844-E6673E47C1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744788"/>
            <a:ext cx="0" cy="2284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Rectangle 21">
            <a:extLst>
              <a:ext uri="{FF2B5EF4-FFF2-40B4-BE49-F238E27FC236}">
                <a16:creationId xmlns:a16="http://schemas.microsoft.com/office/drawing/2014/main" id="{3B1257B7-15C3-899F-FF59-188957C78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6" y="5451476"/>
            <a:ext cx="75020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Sign</a:t>
            </a:r>
          </a:p>
        </p:txBody>
      </p:sp>
      <p:sp>
        <p:nvSpPr>
          <p:cNvPr id="11284" name="Line 22">
            <a:extLst>
              <a:ext uri="{FF2B5EF4-FFF2-40B4-BE49-F238E27FC236}">
                <a16:creationId xmlns:a16="http://schemas.microsoft.com/office/drawing/2014/main" id="{32D85E2C-A781-A537-F79E-973F1EF1C2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2744788"/>
            <a:ext cx="0" cy="25892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5" name="Rectangle 23">
            <a:extLst>
              <a:ext uri="{FF2B5EF4-FFF2-40B4-BE49-F238E27FC236}">
                <a16:creationId xmlns:a16="http://schemas.microsoft.com/office/drawing/2014/main" id="{990E493C-EF6B-2367-8183-D2E1269A2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257801"/>
            <a:ext cx="2293898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6 are status flags</a:t>
            </a:r>
            <a:endParaRPr lang="en-US" altLang="en-US" sz="2400">
              <a:latin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</a:rPr>
              <a:t>3 are control flag</a:t>
            </a:r>
          </a:p>
        </p:txBody>
      </p:sp>
      <p:sp>
        <p:nvSpPr>
          <p:cNvPr id="30745" name="Rectangle 25">
            <a:extLst>
              <a:ext uri="{FF2B5EF4-FFF2-40B4-BE49-F238E27FC236}">
                <a16:creationId xmlns:a16="http://schemas.microsoft.com/office/drawing/2014/main" id="{57A351E7-E375-C984-6276-5216DD8DC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295400"/>
            <a:ext cx="2743200" cy="685800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lang="en-US" sz="3200" dirty="0">
                <a:latin typeface="Times New Roman" pitchFamily="18" charset="0"/>
              </a:rPr>
              <a:t>Flags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FE16A54-1BD8-75B5-86B2-B016EADF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7AFD29-5CAB-4C41-900D-E7106EF61D5F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21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685E497-8889-3311-8CD3-FFB67CF2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Status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A81B-0243-6437-57A7-5A1C4789131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marL="228600" indent="-228600" algn="just">
              <a:spcAft>
                <a:spcPts val="400"/>
              </a:spcAft>
              <a:buClr>
                <a:srgbClr val="727CA3"/>
              </a:buClr>
              <a:buNone/>
              <a:defRPr/>
            </a:pPr>
            <a:r>
              <a:rPr lang="en-US" sz="2000" dirty="0">
                <a:solidFill>
                  <a:prstClr val="black"/>
                </a:solidFill>
              </a:rPr>
              <a:t>1. </a:t>
            </a:r>
            <a:r>
              <a:rPr lang="en-US" sz="2000" b="1" dirty="0">
                <a:solidFill>
                  <a:prstClr val="black"/>
                </a:solidFill>
              </a:rPr>
              <a:t>Carry Flag: 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Carry Flag is set to 1 when there is an unsigned overflow. For example, when you add bytes 255 +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1 (result is not in range 0…255). When there is no overflow, this flag is set to 0.</a:t>
            </a:r>
            <a:r>
              <a:rPr lang="en-US" sz="2000" b="1" dirty="0">
                <a:solidFill>
                  <a:prstClr val="black"/>
                </a:solidFill>
              </a:rPr>
              <a:t>Examples: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The Carry Flag is set to 1 when there is a carry out from MSB on addition or there is a borrow into the MSB on subtraction. Also affected by shift and rotate instructions.</a:t>
            </a:r>
            <a:endParaRPr lang="en-US" sz="2000" b="1" dirty="0">
              <a:solidFill>
                <a:prstClr val="black"/>
              </a:solidFill>
            </a:endParaRP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0FFh + 11h = 110h (If a register can store only 1 byte, then where to store the carry generated by MSB?)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1800" dirty="0">
                <a:solidFill>
                  <a:prstClr val="black"/>
                </a:solidFill>
              </a:rPr>
              <a:t>1000 0001b – 1000 0010b = 11111111b (How processor would know a borrow is required to perform subtraction?)</a:t>
            </a:r>
          </a:p>
          <a:p>
            <a:pPr marL="274638" lvl="1" indent="0" algn="just">
              <a:spcAft>
                <a:spcPts val="400"/>
              </a:spcAft>
              <a:buClr>
                <a:srgbClr val="727CA3"/>
              </a:buClr>
              <a:buNone/>
              <a:defRPr/>
            </a:pPr>
            <a:endParaRPr lang="en-US" sz="1700" dirty="0">
              <a:solidFill>
                <a:prstClr val="black"/>
              </a:solidFill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89C26-5D37-98E3-D26B-C3E03E6D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4C28CAE-5A38-4D13-8312-A6C897E7DF55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22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EC5B09F-525F-5B9B-5BEB-E61CDE8E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E2FB-6F85-2174-D3B5-D4E16B5EEF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marL="228600" indent="-228600" algn="just">
              <a:spcAft>
                <a:spcPts val="400"/>
              </a:spcAft>
              <a:buClr>
                <a:srgbClr val="727CA3"/>
              </a:buClr>
              <a:buNone/>
              <a:defRPr/>
            </a:pPr>
            <a:r>
              <a:rPr lang="en-US" sz="2000" dirty="0"/>
              <a:t>2. </a:t>
            </a:r>
            <a:r>
              <a:rPr lang="en-US" sz="2000" b="1" dirty="0">
                <a:solidFill>
                  <a:prstClr val="black"/>
                </a:solidFill>
              </a:rPr>
              <a:t>Parity Flag</a:t>
            </a:r>
            <a:r>
              <a:rPr lang="en-US" sz="2000" dirty="0">
                <a:solidFill>
                  <a:prstClr val="black"/>
                </a:solidFill>
              </a:rPr>
              <a:t>: 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Parity Flag is set to 1 when there is even number of ones in result, and to 0 when there is odd number of ones.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PE (Even Parity): If the byte of a result has even number of one bits. For Even parity, PF = 1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PO (Odd Parity): If the byte of a result has odd number of one bits. For Even parity, PF = 0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b="1" dirty="0">
                <a:solidFill>
                  <a:prstClr val="black"/>
                </a:solidFill>
              </a:rPr>
              <a:t>Examples: 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1000 0001b – 1000 0010b = 11111111b (Number of one’s in result = 8, so PF = 1)</a:t>
            </a:r>
          </a:p>
          <a:p>
            <a:pPr>
              <a:buFont typeface="Wingdings 3" panose="05040102010807070707" pitchFamily="18" charset="2"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E3A38-35E9-1E70-A85A-6BAA5D27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0E053CC-AC78-460A-BFD3-F16ADA66D907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23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4D9B0F1-253B-CC59-17C5-D7DC5A47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E32A7863-8A79-6A01-0C47-DE743DDC6B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 sz="2000" dirty="0"/>
              <a:t>3</a:t>
            </a:r>
            <a:r>
              <a:rPr lang="en-US" altLang="en-US" sz="2000" b="1" dirty="0"/>
              <a:t>. Auxiliary Carry Flag</a:t>
            </a:r>
            <a:r>
              <a:rPr lang="en-US" altLang="en-US" sz="2000" dirty="0"/>
              <a:t>: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Auxiliary Flag is set to 1 when there is an unsigned overflow for low nibble (4 bits).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The Auxiliary Carry Flag is set to 1 if there is a carry out from bit 3 on addition, or a borrow into bit 3 on subtraction.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Used in Binary Coded Decimal (BCD) Operations.</a:t>
            </a:r>
          </a:p>
          <a:p>
            <a:pPr lvl="1" algn="just"/>
            <a:r>
              <a:rPr lang="en-US" altLang="en-US" sz="2000" b="1" dirty="0">
                <a:solidFill>
                  <a:schemeClr val="tx1"/>
                </a:solidFill>
              </a:rPr>
              <a:t>Examples: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1000 0001b – 0000 0010b = 01111111b (Borrow from bit 4 to bit 3)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35442-2D5C-6BB5-2D72-6A13658A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FF6EF82-FA74-4796-B23B-A3BA1FE23A0F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24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0DF08B38-FC6A-40E1-4E00-BD66EE89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A4660580-9FB3-018F-D51C-10FEB3C7948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 sz="2000" dirty="0"/>
              <a:t>4</a:t>
            </a:r>
            <a:r>
              <a:rPr lang="en-US" altLang="en-US" sz="2000" b="1" dirty="0"/>
              <a:t>. Zero Flag: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Zero Flag is set when the result is zero.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Zero Flag is unset when result is non zero.</a:t>
            </a:r>
          </a:p>
          <a:p>
            <a:pPr lvl="1"/>
            <a:r>
              <a:rPr lang="en-US" altLang="en-US" sz="2000" b="1" dirty="0">
                <a:solidFill>
                  <a:schemeClr val="tx1"/>
                </a:solidFill>
              </a:rPr>
              <a:t>Examples:</a:t>
            </a:r>
          </a:p>
          <a:p>
            <a:pPr lvl="1">
              <a:buFont typeface="Wingdings 3" panose="05040102010807070707" pitchFamily="18" charset="2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	0FFh – 0FFh = 00h </a:t>
            </a:r>
          </a:p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C3E55-8999-1535-1D1E-E373D90A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E7BFEE-E068-469D-A59C-7F6DFEF94EB3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25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218394A-312E-FC63-F7D8-9A06890E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8DBFF35-5A77-EFC8-7805-2035CF94F3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marL="228600" indent="-228600" algn="just">
              <a:spcAft>
                <a:spcPts val="400"/>
              </a:spcAft>
              <a:buClr>
                <a:srgbClr val="727CA3"/>
              </a:buClr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5</a:t>
            </a:r>
            <a:r>
              <a:rPr lang="en-US" altLang="en-US" sz="2000" b="1" dirty="0">
                <a:solidFill>
                  <a:srgbClr val="000000"/>
                </a:solidFill>
              </a:rPr>
              <a:t>. Sign Flag: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Sign Flag is set to 1 when result is negative. When result is positive it is set to 0. This flag takes the value of the most significant bit.</a:t>
            </a:r>
          </a:p>
          <a:p>
            <a:pPr lvl="1" algn="just"/>
            <a:r>
              <a:rPr lang="en-US" altLang="en-US" sz="2000" b="1" dirty="0">
                <a:solidFill>
                  <a:schemeClr val="tx1"/>
                </a:solidFill>
              </a:rPr>
              <a:t>Examples:</a:t>
            </a:r>
          </a:p>
          <a:p>
            <a:pPr lvl="1" algn="just">
              <a:buFont typeface="Wingdings 3" panose="05040102010807070707" pitchFamily="18" charset="2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	0FFh – 0FFh = 00h (MSB = 0, PF = 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1075D-BB87-8444-6EB8-978D8BE2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94520E-DD98-4C77-926B-D582628A65E1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26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5EA91B47-D159-DEDC-3736-399CC297E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1"/>
            <a:ext cx="75438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Contd..</a:t>
            </a:r>
          </a:p>
        </p:txBody>
      </p:sp>
      <p:sp>
        <p:nvSpPr>
          <p:cNvPr id="39939" name="Rectangle 8">
            <a:extLst>
              <a:ext uri="{FF2B5EF4-FFF2-40B4-BE49-F238E27FC236}">
                <a16:creationId xmlns:a16="http://schemas.microsoft.com/office/drawing/2014/main" id="{D49EFB64-20B6-5105-122E-04BF196C3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219200"/>
            <a:ext cx="8229600" cy="5029200"/>
          </a:xfrm>
        </p:spPr>
        <p:txBody>
          <a:bodyPr>
            <a:normAutofit/>
          </a:bodyPr>
          <a:lstStyle/>
          <a:p>
            <a:pPr marL="228600" indent="-228600" algn="just">
              <a:spcAft>
                <a:spcPts val="400"/>
              </a:spcAft>
              <a:buNone/>
              <a:defRPr/>
            </a:pPr>
            <a:r>
              <a:rPr lang="en-US" sz="2000" dirty="0"/>
              <a:t>6</a:t>
            </a:r>
            <a:r>
              <a:rPr lang="en-US" sz="2000" b="1" dirty="0"/>
              <a:t>. Overflow Flag: </a:t>
            </a:r>
          </a:p>
          <a:p>
            <a:pPr marL="228600" indent="-228600" algn="just">
              <a:spcAft>
                <a:spcPts val="400"/>
              </a:spcAft>
              <a:defRPr/>
            </a:pPr>
            <a:r>
              <a:rPr lang="en-US" sz="2000" b="1" dirty="0"/>
              <a:t>Overflow:</a:t>
            </a:r>
          </a:p>
          <a:p>
            <a:pPr marL="503238" lvl="1" indent="-228600" algn="just">
              <a:spcAft>
                <a:spcPts val="40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Range of numbers that can be represented in a computer is limited.</a:t>
            </a:r>
          </a:p>
          <a:p>
            <a:pPr marL="503238" lvl="1" indent="-228600" algn="just">
              <a:spcAft>
                <a:spcPts val="40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Overflow Flag is set to 1 when there is a signed overflow. For example, when you add bytes 100 + 50 (result is not in range -128…127).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2000" dirty="0"/>
          </a:p>
          <a:p>
            <a:pPr marL="571500" indent="-571500">
              <a:lnSpc>
                <a:spcPct val="80000"/>
              </a:lnSpc>
              <a:defRPr/>
            </a:pPr>
            <a:endParaRPr lang="en-US" sz="2400" dirty="0"/>
          </a:p>
          <a:p>
            <a:pPr marL="571500" indent="-571500">
              <a:lnSpc>
                <a:spcPct val="80000"/>
              </a:lnSpc>
              <a:defRPr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66EE7-C19B-D547-54A1-F2CC85BC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2D0EF27-6412-4B44-87A0-2A0B241D4C46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27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945BD1-D8A1-9EDE-8644-70D4183F3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73994"/>
              </p:ext>
            </p:extLst>
          </p:nvPr>
        </p:nvGraphicFramePr>
        <p:xfrm>
          <a:off x="2476918" y="4394218"/>
          <a:ext cx="8915400" cy="365760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195797005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912920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Same signs</a:t>
                      </a:r>
                      <a:r>
                        <a:rPr lang="en-US"/>
                        <a:t> → result has </a:t>
                      </a:r>
                      <a:r>
                        <a:rPr lang="en-US" b="1"/>
                        <a:t>different sign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OF = 1</a:t>
                      </a:r>
                      <a:r>
                        <a:rPr lang="en-US" dirty="0"/>
                        <a:t> (overflow occurred)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22585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99ACBE-CDCA-C2D2-AD78-EDC9BD658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70487"/>
              </p:ext>
            </p:extLst>
          </p:nvPr>
        </p:nvGraphicFramePr>
        <p:xfrm>
          <a:off x="2476918" y="4958414"/>
          <a:ext cx="8915400" cy="640080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3995133995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73404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Different signs</a:t>
                      </a:r>
                      <a:r>
                        <a:rPr lang="en-US" dirty="0"/>
                        <a:t> → result has </a:t>
                      </a:r>
                      <a:r>
                        <a:rPr lang="en-US" b="1" dirty="0"/>
                        <a:t>same sign as one operand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OF = 0</a:t>
                      </a:r>
                      <a:r>
                        <a:rPr lang="en-US" dirty="0"/>
                        <a:t> (no overflow)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4274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E139-F72F-AF77-9455-295BF6A8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– overflow occurs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DC30A-1702-1129-511D-73F5D18F0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0110 0000   (+96)</a:t>
            </a:r>
          </a:p>
          <a:p>
            <a:pPr marL="0" indent="0">
              <a:buNone/>
            </a:pPr>
            <a:r>
              <a:rPr lang="en-US" dirty="0"/>
              <a:t>+ 0100 0110   (+70)</a:t>
            </a:r>
          </a:p>
          <a:p>
            <a:pPr marL="0" indent="0">
              <a:buNone/>
            </a:pPr>
            <a:r>
              <a:rPr lang="en-US" dirty="0"/>
              <a:t>    -------------</a:t>
            </a:r>
          </a:p>
          <a:p>
            <a:pPr marL="0" indent="0">
              <a:buNone/>
            </a:pPr>
            <a:r>
              <a:rPr lang="en-US" dirty="0"/>
              <a:t>   1010 0110   (-90)  ❌ wrong sign → overflow</a:t>
            </a:r>
          </a:p>
          <a:p>
            <a:pPr marL="0" indent="0">
              <a:buNone/>
            </a:pPr>
            <a:r>
              <a:rPr lang="en-US" dirty="0"/>
              <a:t>Both operands were </a:t>
            </a:r>
            <a:r>
              <a:rPr lang="en-US" b="1" dirty="0"/>
              <a:t>positive</a:t>
            </a:r>
            <a:r>
              <a:rPr lang="en-US" dirty="0"/>
              <a:t>,  but result is </a:t>
            </a:r>
            <a:r>
              <a:rPr lang="en-US" b="1" dirty="0"/>
              <a:t>negative</a:t>
            </a:r>
            <a:r>
              <a:rPr lang="en-US" dirty="0"/>
              <a:t> (MSB = 1).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Overflow Flag = 1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735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0C3DA-ABE5-E5F3-693B-C441F737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2 No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10B4-EAE6-8391-A663-7C062AED2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0714" y="1448701"/>
            <a:ext cx="8915400" cy="4611811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   1001 0000   (-112)</a:t>
            </a:r>
          </a:p>
          <a:p>
            <a:pPr marL="0" indent="0">
              <a:buNone/>
            </a:pPr>
            <a:r>
              <a:rPr lang="en-US" dirty="0"/>
              <a:t>+ 1110 0000   (-32)</a:t>
            </a:r>
          </a:p>
          <a:p>
            <a:pPr marL="0" indent="0">
              <a:buNone/>
            </a:pPr>
            <a:r>
              <a:rPr lang="en-US" dirty="0"/>
              <a:t>    -------------</a:t>
            </a:r>
          </a:p>
          <a:p>
            <a:pPr marL="0" indent="0">
              <a:buNone/>
            </a:pPr>
            <a:r>
              <a:rPr lang="en-US" dirty="0"/>
              <a:t>    0111 0000   (+112) ❌ </a:t>
            </a:r>
          </a:p>
          <a:p>
            <a:pPr marL="0" indent="0">
              <a:buNone/>
            </a:pPr>
            <a:r>
              <a:rPr lang="en-US" dirty="0"/>
              <a:t>wrong sign → overflow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Both operands were </a:t>
            </a:r>
            <a:r>
              <a:rPr lang="en-US" b="1" dirty="0"/>
              <a:t>negative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but result is </a:t>
            </a:r>
            <a:r>
              <a:rPr lang="en-US" b="1" dirty="0"/>
              <a:t>positive</a:t>
            </a:r>
            <a:r>
              <a:rPr lang="en-US" dirty="0"/>
              <a:t> → </a:t>
            </a:r>
            <a:r>
              <a:rPr lang="en-US" b="1" dirty="0"/>
              <a:t>OF = 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0110 0000   (+96)</a:t>
            </a:r>
          </a:p>
          <a:p>
            <a:pPr marL="0" indent="0">
              <a:buNone/>
            </a:pPr>
            <a:r>
              <a:rPr lang="en-US" dirty="0"/>
              <a:t>+ 1110 0000   (-32)</a:t>
            </a:r>
          </a:p>
          <a:p>
            <a:pPr marL="0" indent="0">
              <a:buNone/>
            </a:pPr>
            <a:r>
              <a:rPr lang="en-US" dirty="0"/>
              <a:t>    -------------</a:t>
            </a:r>
          </a:p>
          <a:p>
            <a:pPr marL="0" indent="0">
              <a:buNone/>
            </a:pPr>
            <a:r>
              <a:rPr lang="en-US" dirty="0"/>
              <a:t>    0100 0000   (+64) ✅ </a:t>
            </a:r>
          </a:p>
          <a:p>
            <a:pPr marL="0" indent="0">
              <a:buNone/>
            </a:pPr>
            <a:r>
              <a:rPr lang="en-US" dirty="0"/>
              <a:t>correct sign → no overflow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Operands have </a:t>
            </a:r>
            <a:r>
              <a:rPr lang="en-US" b="1" dirty="0"/>
              <a:t>different signs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so overflow </a:t>
            </a:r>
            <a:r>
              <a:rPr lang="en-US" b="1" dirty="0"/>
              <a:t>cannot</a:t>
            </a:r>
            <a:r>
              <a:rPr lang="en-US" dirty="0"/>
              <a:t> occur → </a:t>
            </a:r>
            <a:r>
              <a:rPr lang="en-US" b="1" dirty="0"/>
              <a:t>OF =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017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AC2D903-4179-5E29-71E1-D3530AF96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/>
          <a:lstStyle/>
          <a:p>
            <a:r>
              <a:rPr lang="en-US" altLang="en-US"/>
              <a:t>MUL (Flags)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C53B0386-1816-FF10-BAFE-558D30AB8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95401"/>
            <a:ext cx="822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en-US" sz="2000"/>
              <a:t>Carry and Overflow flags are set when the product extends into its high register: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C0AB42B8-1A9C-A57C-7D04-6606B4CA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057401"/>
            <a:ext cx="6858000" cy="14388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ax,5000h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bx,10h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mul bx		; DX:AX = 00050000h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				; CF=1, OF=1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7718B15B-D8A4-12D4-F262-946E47029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733801"/>
            <a:ext cx="6858000" cy="14388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ax,500h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mov bx,10h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mul bx		; DX:AX = 00005000h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000" b="1">
                <a:latin typeface="Courier New" panose="02070309020205020404" pitchFamily="49" charset="0"/>
              </a:rPr>
              <a:t>				; CF=0, OF=0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3708C1-91CF-8B73-9F82-6A9D7182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553FBEC-9A76-470F-BB00-15EC5899DF35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30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5312-7A29-464F-8775-FA09DFBF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In Emu8086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D0DEC-D75D-D80A-ABC8-7E0759679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2133600"/>
            <a:ext cx="10878970" cy="4724400"/>
          </a:xfrm>
        </p:spPr>
        <p:txBody>
          <a:bodyPr/>
          <a:lstStyle/>
          <a:p>
            <a:r>
              <a:rPr lang="en-US" dirty="0">
                <a:latin typeface="Verdana" panose="020B0604030504040204" pitchFamily="34" charset="0"/>
              </a:rPr>
              <a:t>Variable is a memory location. For a programmer it is much easier to have some value be kept in a variable named "</a:t>
            </a:r>
            <a:r>
              <a:rPr lang="en-US" b="1" dirty="0">
                <a:latin typeface="Verdana" panose="020B0604030504040204" pitchFamily="34" charset="0"/>
              </a:rPr>
              <a:t>var1</a:t>
            </a:r>
            <a:r>
              <a:rPr lang="en-US" dirty="0">
                <a:latin typeface="Verdana" panose="020B0604030504040204" pitchFamily="34" charset="0"/>
              </a:rPr>
              <a:t>" then at the address 5A73:235B, especially when you have 10 or more variables.</a:t>
            </a:r>
          </a:p>
          <a:p>
            <a:r>
              <a:rPr lang="en-US" i="1" u="sng" dirty="0">
                <a:latin typeface="Verdana" panose="020B0604030504040204" pitchFamily="34" charset="0"/>
              </a:rPr>
              <a:t>name</a:t>
            </a:r>
            <a:r>
              <a:rPr lang="en-US" dirty="0">
                <a:latin typeface="Verdana" panose="020B0604030504040204" pitchFamily="34" charset="0"/>
              </a:rPr>
              <a:t> </a:t>
            </a:r>
            <a:r>
              <a:rPr lang="en-US" b="1" dirty="0">
                <a:latin typeface="Verdana" panose="020B0604030504040204" pitchFamily="34" charset="0"/>
              </a:rPr>
              <a:t>DB</a:t>
            </a:r>
            <a:r>
              <a:rPr lang="en-US" dirty="0">
                <a:latin typeface="Verdana" panose="020B0604030504040204" pitchFamily="34" charset="0"/>
              </a:rPr>
              <a:t> </a:t>
            </a:r>
            <a:r>
              <a:rPr lang="en-US" i="1" u="sng" dirty="0">
                <a:latin typeface="Verdana" panose="020B0604030504040204" pitchFamily="34" charset="0"/>
              </a:rPr>
              <a:t>value</a:t>
            </a:r>
            <a:br>
              <a:rPr lang="en-US" dirty="0">
                <a:latin typeface="Verdana" panose="020B0604030504040204" pitchFamily="34" charset="0"/>
              </a:rPr>
            </a:br>
            <a:br>
              <a:rPr lang="en-US" dirty="0">
                <a:latin typeface="Verdana" panose="020B0604030504040204" pitchFamily="34" charset="0"/>
              </a:rPr>
            </a:br>
            <a:r>
              <a:rPr lang="en-US" i="1" u="sng" dirty="0">
                <a:latin typeface="Verdana" panose="020B0604030504040204" pitchFamily="34" charset="0"/>
              </a:rPr>
              <a:t>name</a:t>
            </a:r>
            <a:r>
              <a:rPr lang="en-US" dirty="0">
                <a:latin typeface="Verdana" panose="020B0604030504040204" pitchFamily="34" charset="0"/>
              </a:rPr>
              <a:t> </a:t>
            </a:r>
            <a:r>
              <a:rPr lang="en-US" b="1" dirty="0">
                <a:latin typeface="Verdana" panose="020B0604030504040204" pitchFamily="34" charset="0"/>
              </a:rPr>
              <a:t>DW</a:t>
            </a:r>
            <a:r>
              <a:rPr lang="en-US" dirty="0">
                <a:latin typeface="Verdana" panose="020B0604030504040204" pitchFamily="34" charset="0"/>
              </a:rPr>
              <a:t> </a:t>
            </a:r>
            <a:r>
              <a:rPr lang="en-US" i="1" u="sng" dirty="0">
                <a:latin typeface="Verdana" panose="020B0604030504040204" pitchFamily="34" charset="0"/>
              </a:rPr>
              <a:t>value</a:t>
            </a:r>
            <a:br>
              <a:rPr lang="en-US" dirty="0">
                <a:latin typeface="Verdana" panose="020B0604030504040204" pitchFamily="34" charset="0"/>
              </a:rPr>
            </a:br>
            <a:br>
              <a:rPr lang="en-US" dirty="0">
                <a:latin typeface="Verdana" panose="020B0604030504040204" pitchFamily="34" charset="0"/>
              </a:rPr>
            </a:br>
            <a:r>
              <a:rPr lang="en-US" b="1" dirty="0">
                <a:latin typeface="Verdana" panose="020B0604030504040204" pitchFamily="34" charset="0"/>
              </a:rPr>
              <a:t>DB</a:t>
            </a:r>
            <a:r>
              <a:rPr lang="en-US" dirty="0">
                <a:latin typeface="Verdana" panose="020B0604030504040204" pitchFamily="34" charset="0"/>
              </a:rPr>
              <a:t> - stays for </a:t>
            </a:r>
            <a:r>
              <a:rPr lang="en-US" u="sng" dirty="0">
                <a:latin typeface="Verdana" panose="020B0604030504040204" pitchFamily="34" charset="0"/>
              </a:rPr>
              <a:t>D</a:t>
            </a:r>
            <a:r>
              <a:rPr lang="en-US" dirty="0">
                <a:latin typeface="Verdana" panose="020B0604030504040204" pitchFamily="34" charset="0"/>
              </a:rPr>
              <a:t>efine </a:t>
            </a:r>
            <a:r>
              <a:rPr lang="en-US" u="sng" dirty="0">
                <a:latin typeface="Verdana" panose="020B0604030504040204" pitchFamily="34" charset="0"/>
              </a:rPr>
              <a:t>B</a:t>
            </a:r>
            <a:r>
              <a:rPr lang="en-US" dirty="0">
                <a:latin typeface="Verdana" panose="020B0604030504040204" pitchFamily="34" charset="0"/>
              </a:rPr>
              <a:t>yte.</a:t>
            </a:r>
            <a:br>
              <a:rPr lang="en-US" dirty="0">
                <a:latin typeface="Verdana" panose="020B0604030504040204" pitchFamily="34" charset="0"/>
              </a:rPr>
            </a:br>
            <a:r>
              <a:rPr lang="en-US" b="1" dirty="0">
                <a:latin typeface="Verdana" panose="020B0604030504040204" pitchFamily="34" charset="0"/>
              </a:rPr>
              <a:t>DW</a:t>
            </a:r>
            <a:r>
              <a:rPr lang="en-US" dirty="0">
                <a:latin typeface="Verdana" panose="020B0604030504040204" pitchFamily="34" charset="0"/>
              </a:rPr>
              <a:t> - stays for </a:t>
            </a:r>
            <a:r>
              <a:rPr lang="en-US" u="sng" dirty="0">
                <a:latin typeface="Verdana" panose="020B0604030504040204" pitchFamily="34" charset="0"/>
              </a:rPr>
              <a:t>D</a:t>
            </a:r>
            <a:r>
              <a:rPr lang="en-US" dirty="0">
                <a:latin typeface="Verdana" panose="020B0604030504040204" pitchFamily="34" charset="0"/>
              </a:rPr>
              <a:t>efine </a:t>
            </a:r>
            <a:r>
              <a:rPr lang="en-US" u="sng" dirty="0">
                <a:latin typeface="Verdana" panose="020B0604030504040204" pitchFamily="34" charset="0"/>
              </a:rPr>
              <a:t>W</a:t>
            </a:r>
            <a:r>
              <a:rPr lang="en-US" dirty="0">
                <a:latin typeface="Verdana" panose="020B0604030504040204" pitchFamily="34" charset="0"/>
              </a:rPr>
              <a:t>ord.</a:t>
            </a:r>
          </a:p>
          <a:p>
            <a:r>
              <a:rPr lang="en-US" b="1" i="1" u="sng" dirty="0">
                <a:latin typeface="Verdana" panose="020B0604030504040204" pitchFamily="34" charset="0"/>
              </a:rPr>
              <a:t>name</a:t>
            </a:r>
            <a:r>
              <a:rPr lang="en-US" dirty="0">
                <a:latin typeface="Verdana" panose="020B0604030504040204" pitchFamily="34" charset="0"/>
              </a:rPr>
              <a:t> - can be any letter or digit combination, though it should start with a letter. It's possible to declare unnamed variables by not specifying the name (this variable will have an address but no name).</a:t>
            </a:r>
          </a:p>
          <a:p>
            <a:r>
              <a:rPr lang="en-US" b="1" i="1" u="sng" dirty="0">
                <a:latin typeface="Verdana" panose="020B0604030504040204" pitchFamily="34" charset="0"/>
              </a:rPr>
              <a:t>value</a:t>
            </a:r>
            <a:r>
              <a:rPr lang="en-US" dirty="0">
                <a:latin typeface="Verdana" panose="020B0604030504040204" pitchFamily="34" charset="0"/>
              </a:rPr>
              <a:t> - can be any numeric value in any supported numbering system (hexadecimal, binary, or decimal), or "</a:t>
            </a:r>
            <a:r>
              <a:rPr lang="en-US" b="1" dirty="0">
                <a:latin typeface="Verdana" panose="020B0604030504040204" pitchFamily="34" charset="0"/>
              </a:rPr>
              <a:t>?</a:t>
            </a:r>
            <a:r>
              <a:rPr lang="en-US" dirty="0">
                <a:latin typeface="Verdana" panose="020B0604030504040204" pitchFamily="34" charset="0"/>
              </a:rPr>
              <a:t>" symbol for variables that are not initialized.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285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2BC7-2F53-3943-D51B-84040D72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6B3E-CB50-8FA0-58B6-D3B30F3EF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VAR1 DB 7</a:t>
            </a:r>
          </a:p>
          <a:p>
            <a:r>
              <a:rPr lang="en-US" dirty="0"/>
              <a:t>var2 DW 1234h</a:t>
            </a:r>
          </a:p>
          <a:p>
            <a:r>
              <a:rPr lang="en-US" dirty="0"/>
              <a:t>MOV AL, var1</a:t>
            </a:r>
          </a:p>
          <a:p>
            <a:r>
              <a:rPr lang="en-US" dirty="0"/>
              <a:t>MOV BX, var2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75432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998</TotalTime>
  <Words>1862</Words>
  <Application>Microsoft Office PowerPoint</Application>
  <PresentationFormat>Widescreen</PresentationFormat>
  <Paragraphs>296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Century Gothic</vt:lpstr>
      <vt:lpstr>Courier New</vt:lpstr>
      <vt:lpstr>Gill Sans MT</vt:lpstr>
      <vt:lpstr>Times New Roman</vt:lpstr>
      <vt:lpstr>Verdana</vt:lpstr>
      <vt:lpstr>Wingdings 3</vt:lpstr>
      <vt:lpstr>Wisp</vt:lpstr>
      <vt:lpstr>Computer Organization &amp; Assembly Language</vt:lpstr>
      <vt:lpstr>Airthmetic Instructions</vt:lpstr>
      <vt:lpstr>SUBTRACTION</vt:lpstr>
      <vt:lpstr>Logic Instructions</vt:lpstr>
      <vt:lpstr>Truth Tables</vt:lpstr>
      <vt:lpstr>Examples</vt:lpstr>
      <vt:lpstr>Syntax</vt:lpstr>
      <vt:lpstr>MASK</vt:lpstr>
      <vt:lpstr>Contd..</vt:lpstr>
      <vt:lpstr>Example 1</vt:lpstr>
      <vt:lpstr>Contd..</vt:lpstr>
      <vt:lpstr>Example 2</vt:lpstr>
      <vt:lpstr>Contd..</vt:lpstr>
      <vt:lpstr>Example 3</vt:lpstr>
      <vt:lpstr>NOT Instruction</vt:lpstr>
      <vt:lpstr>Multiplication</vt:lpstr>
      <vt:lpstr>MUL Instruction</vt:lpstr>
      <vt:lpstr>DIV Instruction</vt:lpstr>
      <vt:lpstr>DIV Examples</vt:lpstr>
      <vt:lpstr>Divide Overflow</vt:lpstr>
      <vt:lpstr>PowerPoint Presentation</vt:lpstr>
      <vt:lpstr>The Status Flags</vt:lpstr>
      <vt:lpstr>Contd..</vt:lpstr>
      <vt:lpstr>Contd..</vt:lpstr>
      <vt:lpstr>Contd..</vt:lpstr>
      <vt:lpstr>Contd..</vt:lpstr>
      <vt:lpstr>Contd..</vt:lpstr>
      <vt:lpstr>Example 1 – overflow occurs</vt:lpstr>
      <vt:lpstr>Example – 2 No Overflow</vt:lpstr>
      <vt:lpstr>MUL (Flags)</vt:lpstr>
      <vt:lpstr>Variables In Emu8086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Hina Tahir</cp:lastModifiedBy>
  <cp:revision>10</cp:revision>
  <dcterms:created xsi:type="dcterms:W3CDTF">2023-10-17T17:30:28Z</dcterms:created>
  <dcterms:modified xsi:type="dcterms:W3CDTF">2025-10-15T17:29:19Z</dcterms:modified>
</cp:coreProperties>
</file>