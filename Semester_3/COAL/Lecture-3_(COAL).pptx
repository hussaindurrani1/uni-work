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5"/>
  </p:notesMasterIdLst>
  <p:sldIdLst>
    <p:sldId id="256" r:id="rId2"/>
    <p:sldId id="409" r:id="rId3"/>
    <p:sldId id="410" r:id="rId4"/>
    <p:sldId id="411" r:id="rId5"/>
    <p:sldId id="403" r:id="rId6"/>
    <p:sldId id="412" r:id="rId7"/>
    <p:sldId id="413" r:id="rId8"/>
    <p:sldId id="414" r:id="rId9"/>
    <p:sldId id="407" r:id="rId10"/>
    <p:sldId id="408" r:id="rId11"/>
    <p:sldId id="406" r:id="rId12"/>
    <p:sldId id="415" r:id="rId13"/>
    <p:sldId id="416" r:id="rId14"/>
    <p:sldId id="417" r:id="rId15"/>
    <p:sldId id="418" r:id="rId16"/>
    <p:sldId id="419" r:id="rId17"/>
    <p:sldId id="420" r:id="rId18"/>
    <p:sldId id="257" r:id="rId19"/>
    <p:sldId id="258" r:id="rId20"/>
    <p:sldId id="259" r:id="rId21"/>
    <p:sldId id="260" r:id="rId22"/>
    <p:sldId id="421" r:id="rId23"/>
    <p:sldId id="391" r:id="rId24"/>
    <p:sldId id="394" r:id="rId25"/>
    <p:sldId id="393" r:id="rId26"/>
    <p:sldId id="395" r:id="rId27"/>
    <p:sldId id="396" r:id="rId28"/>
    <p:sldId id="397" r:id="rId29"/>
    <p:sldId id="398" r:id="rId30"/>
    <p:sldId id="399" r:id="rId31"/>
    <p:sldId id="400" r:id="rId32"/>
    <p:sldId id="401" r:id="rId33"/>
    <p:sldId id="402" r:id="rId3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24" autoAdjust="0"/>
    <p:restoredTop sz="94660"/>
  </p:normalViewPr>
  <p:slideViewPr>
    <p:cSldViewPr snapToGrid="0">
      <p:cViewPr varScale="1">
        <p:scale>
          <a:sx n="48" d="100"/>
          <a:sy n="48" d="100"/>
        </p:scale>
        <p:origin x="67" y="8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E59307-FD9A-4506-868F-38EAB1970A9E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4DD0BA-05A3-4E41-BF9C-58D718839F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91892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642CD-AAAD-4E54-BAD2-9AEC05630F5D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13406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642CD-AAAD-4E54-BAD2-9AEC05630F5D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33074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642CD-AAAD-4E54-BAD2-9AEC05630F5D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27759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642CD-AAAD-4E54-BAD2-9AEC05630F5D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49368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642CD-AAAD-4E54-BAD2-9AEC05630F5D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62418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642CD-AAAD-4E54-BAD2-9AEC05630F5D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13616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642CD-AAAD-4E54-BAD2-9AEC05630F5D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37119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642CD-AAAD-4E54-BAD2-9AEC05630F5D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14234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642CD-AAAD-4E54-BAD2-9AEC05630F5D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35152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642CD-AAAD-4E54-BAD2-9AEC05630F5D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19791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642CD-AAAD-4E54-BAD2-9AEC05630F5D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3911178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642CD-AAAD-4E54-BAD2-9AEC05630F5D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23016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642CD-AAAD-4E54-BAD2-9AEC05630F5D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52468861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642CD-AAAD-4E54-BAD2-9AEC05630F5D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803337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642CD-AAAD-4E54-BAD2-9AEC05630F5D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236242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642CD-AAAD-4E54-BAD2-9AEC05630F5D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12128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C642CD-AAAD-4E54-BAD2-9AEC05630F5D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99648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D54D1-B773-6DC6-6A36-C4903D07685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Computer Organization &amp; Assembly Language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E0092D9-7E8A-0F7D-03F8-2132B9F1B4B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4000" b="1" dirty="0"/>
              <a:t>Lecture 3</a:t>
            </a:r>
          </a:p>
        </p:txBody>
      </p:sp>
    </p:spTree>
    <p:extLst>
      <p:ext uri="{BB962C8B-B14F-4D97-AF65-F5344CB8AC3E}">
        <p14:creationId xmlns:p14="http://schemas.microsoft.com/office/powerpoint/2010/main" val="37202423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BB42EA-4D16-9259-9E92-2DC84D260D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to program segments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3D1145-4F10-C796-FBD1-8E31D81B79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45400" y="2058955"/>
            <a:ext cx="8915400" cy="3777622"/>
          </a:xfrm>
        </p:spPr>
        <p:txBody>
          <a:bodyPr>
            <a:normAutofit/>
          </a:bodyPr>
          <a:lstStyle/>
          <a:p>
            <a:r>
              <a:rPr lang="en-US" sz="2000" dirty="0" err="1"/>
              <a:t>Asslembly</a:t>
            </a:r>
            <a:r>
              <a:rPr lang="en-US" sz="2000" dirty="0"/>
              <a:t> language program consist of at least 3 segments</a:t>
            </a:r>
          </a:p>
          <a:p>
            <a:pPr marL="914400" lvl="2" indent="0">
              <a:buNone/>
            </a:pPr>
            <a:endParaRPr lang="en-US" sz="1600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CA93458-E0F5-BE52-6489-BB0B8FD63C4A}"/>
              </a:ext>
            </a:extLst>
          </p:cNvPr>
          <p:cNvSpPr txBox="1">
            <a:spLocks/>
          </p:cNvSpPr>
          <p:nvPr/>
        </p:nvSpPr>
        <p:spPr>
          <a:xfrm>
            <a:off x="2471024" y="2995127"/>
            <a:ext cx="8915400" cy="37776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CODE SEGMENT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dirty="0"/>
              <a:t>It contains assembly language instructions that perform the tasks that the program was designed to accomplish.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DATA SEGMENT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dirty="0"/>
              <a:t>Is used to store info (data) that needs to be processed by the instructions in CS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STACK SEGMENT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dirty="0"/>
              <a:t>Used to information temporarily 		</a:t>
            </a:r>
          </a:p>
          <a:p>
            <a:pPr marL="914400" lvl="2" indent="0">
              <a:buFont typeface="Wingdings 3" charset="2"/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3697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1D1DFC-4DE2-253F-72E6-554098D073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Origin and definition of the segment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C0AA0A-6E8F-A366-79D2-4231BB9C67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3368" y="1905000"/>
            <a:ext cx="10221244" cy="3777622"/>
          </a:xfrm>
        </p:spPr>
        <p:txBody>
          <a:bodyPr>
            <a:normAutofit fontScale="92500" lnSpcReduction="10000"/>
          </a:bodyPr>
          <a:lstStyle/>
          <a:p>
            <a:pPr marL="914400" lvl="2" indent="0">
              <a:buNone/>
            </a:pPr>
            <a:r>
              <a:rPr lang="en-US" sz="3200" dirty="0"/>
              <a:t>A segment is an area of memory that includes </a:t>
            </a:r>
            <a:r>
              <a:rPr lang="en-US" sz="3200" dirty="0" err="1"/>
              <a:t>upto</a:t>
            </a:r>
            <a:r>
              <a:rPr lang="en-US" sz="3200" dirty="0"/>
              <a:t> 64K bytes.</a:t>
            </a:r>
          </a:p>
          <a:p>
            <a:pPr marL="914400" lvl="2" indent="0">
              <a:buNone/>
            </a:pPr>
            <a:r>
              <a:rPr lang="en-US" sz="3200" b="1" dirty="0"/>
              <a:t>8085 micro processor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sz="3200" dirty="0"/>
              <a:t>Address max. of 64K bytes of physical memory since it had only 16 pins for the address lines(2</a:t>
            </a:r>
            <a:r>
              <a:rPr lang="en-US" sz="3200" baseline="30000" dirty="0"/>
              <a:t>16</a:t>
            </a:r>
            <a:r>
              <a:rPr lang="en-US" sz="3200" dirty="0"/>
              <a:t> = 64K)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sz="3200" dirty="0"/>
              <a:t>64K bytes of memory for all code, data and stock info</a:t>
            </a:r>
          </a:p>
          <a:p>
            <a:pPr lvl="2">
              <a:buFont typeface="Arial" panose="020B0604020202020204" pitchFamily="34" charset="0"/>
              <a:buChar char="•"/>
            </a:pP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4098548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F2FED3-BA98-BD04-A819-9B01FD21DA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3200" b="1" dirty="0"/>
              <a:t>8086 micro processor</a:t>
            </a:r>
          </a:p>
          <a:p>
            <a:pPr marL="0" indent="0">
              <a:buNone/>
            </a:pPr>
            <a:r>
              <a:rPr lang="en-US" sz="3200" dirty="0"/>
              <a:t>64K  bytes of memory assigned to each category</a:t>
            </a:r>
          </a:p>
          <a:p>
            <a:pPr marL="0" indent="0">
              <a:buNone/>
            </a:pPr>
            <a:r>
              <a:rPr lang="en-US" sz="3200" dirty="0"/>
              <a:t>Range of 1MB of memory because of its 20 address pins (2</a:t>
            </a:r>
            <a:r>
              <a:rPr lang="en-US" sz="3200" baseline="30000" dirty="0"/>
              <a:t>20</a:t>
            </a:r>
            <a:r>
              <a:rPr lang="en-US" sz="3200" dirty="0"/>
              <a:t> = 1megabyte)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41279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9D4AE6-73BE-6803-1BB9-F54FBD96E2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6295" y="624110"/>
            <a:ext cx="9868317" cy="1280890"/>
          </a:xfrm>
        </p:spPr>
        <p:txBody>
          <a:bodyPr/>
          <a:lstStyle/>
          <a:p>
            <a:r>
              <a:rPr lang="en-US" dirty="0"/>
              <a:t>PHYSICAL ADDRESS AND LOGICAL ADDRESS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6023F-692B-2F30-11DA-D6A4416CA7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07958" y="1652337"/>
            <a:ext cx="9996654" cy="4258885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Physical Address: </a:t>
            </a:r>
            <a:r>
              <a:rPr lang="en-US" sz="2400" dirty="0"/>
              <a:t>20 bit address that is actually put on the address pins and decoded by the memory.</a:t>
            </a:r>
          </a:p>
          <a:p>
            <a:pPr marL="0" indent="0">
              <a:buNone/>
            </a:pPr>
            <a:r>
              <a:rPr lang="en-US" sz="2400" dirty="0"/>
              <a:t>The actual location in physical memory (RAM or ROM) where data is stored. </a:t>
            </a:r>
          </a:p>
          <a:p>
            <a:pPr marL="0" indent="0">
              <a:buNone/>
            </a:pPr>
            <a:r>
              <a:rPr lang="en-US" sz="2400" dirty="0"/>
              <a:t>Range is 00000H to FFFFFH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OFFSET Address: </a:t>
            </a:r>
          </a:p>
          <a:p>
            <a:pPr marL="0" indent="0">
              <a:buNone/>
            </a:pPr>
            <a:r>
              <a:rPr lang="en-US" sz="2400" dirty="0"/>
              <a:t>Location within a 64 Kbyte segment range.</a:t>
            </a:r>
          </a:p>
          <a:p>
            <a:pPr marL="0" indent="0">
              <a:buNone/>
            </a:pPr>
            <a:r>
              <a:rPr lang="en-US" sz="2400" dirty="0"/>
              <a:t>Range is from 0000H to FFFFH</a:t>
            </a:r>
            <a:r>
              <a:rPr lang="en-US" sz="2400" b="1" dirty="0"/>
              <a:t> 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03503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F104406-95FA-26E5-6CAB-F0F6FBBC86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3" y="2133600"/>
            <a:ext cx="8915400" cy="3778250"/>
          </a:xfrm>
        </p:spPr>
        <p:txBody>
          <a:bodyPr>
            <a:normAutofit fontScale="925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Logical Address: </a:t>
            </a:r>
          </a:p>
          <a:p>
            <a:pPr marL="0" indent="0">
              <a:buNone/>
            </a:pPr>
            <a:r>
              <a:rPr lang="en-US" sz="2400" dirty="0"/>
              <a:t>An address generated by the CPU during program execution, consisting of a segment value and an offset address.</a:t>
            </a:r>
          </a:p>
          <a:p>
            <a:pPr marL="0" indent="0">
              <a:buNone/>
            </a:pPr>
            <a:endParaRPr lang="en-US" sz="24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Physical address will be calculated by Segment address and Offset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Both Segment address and Offset size is 16 bits.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So Physical address is calculated by Segment * 10h + offset address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55C196E2-8067-8B12-9B6C-8B07842F3F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1518" y="623888"/>
            <a:ext cx="9853095" cy="1281112"/>
          </a:xfrm>
        </p:spPr>
        <p:txBody>
          <a:bodyPr/>
          <a:lstStyle/>
          <a:p>
            <a:r>
              <a:rPr lang="en-US" dirty="0"/>
              <a:t>PHYSICAL ADDRESS AND LOGICAL ADDRESS</a:t>
            </a:r>
          </a:p>
        </p:txBody>
      </p:sp>
    </p:spTree>
    <p:extLst>
      <p:ext uri="{BB962C8B-B14F-4D97-AF65-F5344CB8AC3E}">
        <p14:creationId xmlns:p14="http://schemas.microsoft.com/office/powerpoint/2010/main" val="35329394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8B5E7F-6BEB-18A1-F4ED-4C9FD37E57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Code Segment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A0DC7D-1835-4801-BBB8-932AD00A7C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9621" y="2133600"/>
            <a:ext cx="10124991" cy="377762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/>
              <a:t>Logical address always consist</a:t>
            </a:r>
          </a:p>
          <a:p>
            <a:pPr marL="0" indent="0">
              <a:buNone/>
            </a:pPr>
            <a:r>
              <a:rPr lang="en-US" sz="2800" dirty="0"/>
              <a:t> of CS and an IP</a:t>
            </a:r>
          </a:p>
          <a:p>
            <a:pPr marL="0" indent="0">
              <a:buNone/>
            </a:pPr>
            <a:r>
              <a:rPr lang="en-US" sz="2800" dirty="0"/>
              <a:t>Physical address is generated by shifting CS left </a:t>
            </a:r>
          </a:p>
          <a:p>
            <a:pPr marL="0" indent="0">
              <a:buNone/>
            </a:pPr>
            <a:r>
              <a:rPr lang="en-US" sz="2800" dirty="0"/>
              <a:t>one hex digit and then added it to IP. </a:t>
            </a:r>
          </a:p>
          <a:p>
            <a:pPr marL="0" indent="0">
              <a:buNone/>
            </a:pPr>
            <a:r>
              <a:rPr lang="en-US" sz="2800" dirty="0"/>
              <a:t>IP contains the offset address.</a:t>
            </a:r>
          </a:p>
          <a:p>
            <a:pPr marL="0" indent="0">
              <a:buNone/>
            </a:pPr>
            <a:r>
              <a:rPr lang="en-US" sz="2800" dirty="0"/>
              <a:t>Resulting 20 bit address is called the physical address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4A51D4A-4FF5-80F7-439D-B5CA343199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1449" y="2133600"/>
            <a:ext cx="2972215" cy="695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06973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95379C-1D1B-A30F-98F7-BA61A1F414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 Calculate Physical Address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05C98B-715F-58A1-C3E7-8D4D2E1785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48590" y="1264555"/>
            <a:ext cx="10253327" cy="3777622"/>
          </a:xfrm>
        </p:spPr>
        <p:txBody>
          <a:bodyPr>
            <a:norm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sz="3200" dirty="0"/>
              <a:t>Offset address is contained in IP. Here it is 95F3H</a:t>
            </a:r>
          </a:p>
          <a:p>
            <a:r>
              <a:rPr lang="en-US" sz="3200" dirty="0"/>
              <a:t>Logical address is CS:IP or 2500:95F3H</a:t>
            </a:r>
          </a:p>
          <a:p>
            <a:r>
              <a:rPr lang="en-US" sz="3200" dirty="0"/>
              <a:t>Physical address will be 25000+95F3 = 2E5F3H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2631B26-F661-404B-6EB1-E2AE51B7B0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5328" y="1772163"/>
            <a:ext cx="2972215" cy="69542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D3E909E-0C49-B498-0DD7-A2ACA9D852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7933" y="4675387"/>
            <a:ext cx="4763165" cy="1819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97046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3F63D8-744E-9CE5-BCC2-2741CFB76E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4988" y="367436"/>
            <a:ext cx="8911687" cy="1280890"/>
          </a:xfrm>
        </p:spPr>
        <p:txBody>
          <a:bodyPr/>
          <a:lstStyle/>
          <a:p>
            <a:r>
              <a:rPr lang="en-US" b="1" dirty="0"/>
              <a:t>Example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340A03A-6E53-1D93-515E-0C680F5B68E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67789" y="1648326"/>
            <a:ext cx="8053137" cy="2839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04962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400E9E-2E9C-64E3-1E5A-39B0269C42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32504" y="1153499"/>
            <a:ext cx="8911687" cy="1280890"/>
          </a:xfrm>
        </p:spPr>
        <p:txBody>
          <a:bodyPr/>
          <a:lstStyle/>
          <a:p>
            <a:r>
              <a:rPr lang="en-US" b="1" dirty="0"/>
              <a:t>Solution: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6BA024E-7255-A08F-CFCB-C6700FA7387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92925" y="3303373"/>
            <a:ext cx="8911687" cy="1749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28474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1DC944-1843-02D9-F2AF-87E32318B5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SEGMENT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8FC1890-1398-523B-03F4-204631C5C54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05574" y="1985525"/>
            <a:ext cx="5305346" cy="2137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32022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32959F-0F8F-41E9-9978-66DBE8C0A3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37348" y="866274"/>
            <a:ext cx="9780512" cy="5044948"/>
          </a:xfrm>
        </p:spPr>
        <p:txBody>
          <a:bodyPr>
            <a:normAutofit/>
          </a:bodyPr>
          <a:lstStyle/>
          <a:p>
            <a:r>
              <a:rPr lang="en-US" sz="2800" dirty="0"/>
              <a:t>Assume that the offset for the data </a:t>
            </a:r>
          </a:p>
          <a:p>
            <a:pPr marL="0" indent="0">
              <a:buNone/>
            </a:pPr>
            <a:r>
              <a:rPr lang="en-US" sz="2800" dirty="0"/>
              <a:t>segment begins at 200H. The data is </a:t>
            </a:r>
          </a:p>
          <a:p>
            <a:pPr marL="0" indent="0">
              <a:buNone/>
            </a:pPr>
            <a:r>
              <a:rPr lang="en-US" sz="2800" dirty="0"/>
              <a:t>placed in memory locations:</a:t>
            </a:r>
          </a:p>
          <a:p>
            <a:r>
              <a:rPr lang="en-US" sz="2800" dirty="0"/>
              <a:t>Program can be rewritten as </a:t>
            </a:r>
          </a:p>
          <a:p>
            <a:pPr marL="0" indent="0">
              <a:buNone/>
            </a:pPr>
            <a:r>
              <a:rPr lang="en-US" sz="2800" dirty="0"/>
              <a:t>	follows:</a:t>
            </a:r>
          </a:p>
          <a:p>
            <a:pPr marL="0" indent="0">
              <a:buNone/>
            </a:pPr>
            <a:endParaRPr lang="en-US" sz="2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0C80011-774F-1AC0-9A3B-954C7642B6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78779" y="663513"/>
            <a:ext cx="3139081" cy="187271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706CAB3-E57A-4C6A-5DB4-418E98AA37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0797" y="3888408"/>
            <a:ext cx="8410405" cy="2306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85293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6C19DF-768B-F3BD-7029-F2133ED65A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SEGMENT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BCABDA-BF02-ECC6-5757-FECA27862D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Data segment uses BX, SI and  DI as an offset registers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283C88D-A908-197F-AF51-60B4F70C84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1727" y="3428999"/>
            <a:ext cx="6657093" cy="22791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65503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75DE2D-5DAF-679A-8605-149F55B4D8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Logical and physical address in data segment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C9EFE55-A319-1849-EE5F-A2F47E83487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33600" y="2129543"/>
            <a:ext cx="9390170" cy="41043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21044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DB1E9-34A8-D3C7-3E06-FBC471A7A3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Practice question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33F7EB-4D66-7167-7711-25B28F0B51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3579" y="1905000"/>
            <a:ext cx="10141033" cy="3777622"/>
          </a:xfrm>
        </p:spPr>
        <p:txBody>
          <a:bodyPr>
            <a:normAutofit/>
          </a:bodyPr>
          <a:lstStyle/>
          <a:p>
            <a:r>
              <a:rPr lang="en-US" sz="3200" dirty="0"/>
              <a:t>If DS = 7FA2H and offset is 438EH</a:t>
            </a:r>
          </a:p>
          <a:p>
            <a:pPr marL="0" indent="0">
              <a:buNone/>
            </a:pPr>
            <a:r>
              <a:rPr lang="en-US" sz="3200" dirty="0"/>
              <a:t>Calculate physical address, logical address, lower range and upper range of the data segment.</a:t>
            </a:r>
          </a:p>
        </p:txBody>
      </p:sp>
    </p:spTree>
    <p:extLst>
      <p:ext uri="{BB962C8B-B14F-4D97-AF65-F5344CB8AC3E}">
        <p14:creationId xmlns:p14="http://schemas.microsoft.com/office/powerpoint/2010/main" val="17321927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58A36D-4E17-0B37-6265-275DA26148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EC396B-4CD7-F94E-67EB-50D5801F0E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A) 83DAE</a:t>
            </a:r>
          </a:p>
          <a:p>
            <a:r>
              <a:rPr lang="en-US" dirty="0"/>
              <a:t>B) 7FA2:438E</a:t>
            </a:r>
          </a:p>
          <a:p>
            <a:r>
              <a:rPr lang="en-US" dirty="0"/>
              <a:t>C) 7FA20</a:t>
            </a:r>
          </a:p>
          <a:p>
            <a:r>
              <a:rPr lang="en-US" dirty="0"/>
              <a:t>D) 8FA1F</a:t>
            </a:r>
          </a:p>
        </p:txBody>
      </p:sp>
    </p:spTree>
    <p:extLst>
      <p:ext uri="{BB962C8B-B14F-4D97-AF65-F5344CB8AC3E}">
        <p14:creationId xmlns:p14="http://schemas.microsoft.com/office/powerpoint/2010/main" val="33780777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BD9B1-93EC-E6BA-7E2E-F93DC3B4A7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LITTLE ENDIAN CONVENTION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E7E538-C9C1-93C3-D5DD-712E1410EC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MOV AX, 35F3H		; LOAD 35F3H INTO AX</a:t>
            </a:r>
          </a:p>
          <a:p>
            <a:pPr marL="0" indent="0">
              <a:buNone/>
            </a:pPr>
            <a:r>
              <a:rPr lang="en-US" dirty="0"/>
              <a:t>MOV [1500]. AX		; COPY THE CONTENTS OF AX TO OFFSET 1500H</a:t>
            </a:r>
          </a:p>
          <a:p>
            <a:pPr marL="0" indent="0">
              <a:buNone/>
            </a:pPr>
            <a:r>
              <a:rPr lang="en-US" dirty="0"/>
              <a:t>Low byte goes to low memory location and high byte goes to high memory address.</a:t>
            </a:r>
          </a:p>
          <a:p>
            <a:pPr marL="0" indent="0">
              <a:buNone/>
            </a:pPr>
            <a:r>
              <a:rPr lang="en-US" dirty="0"/>
              <a:t>DS:1500 contains F3H</a:t>
            </a:r>
          </a:p>
          <a:p>
            <a:pPr marL="0" indent="0">
              <a:buNone/>
            </a:pPr>
            <a:r>
              <a:rPr lang="en-US" dirty="0"/>
              <a:t>DS:1501 contains 35H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B4A7669-A0B4-7D7F-54B2-3746A59171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3182" y="4872025"/>
            <a:ext cx="7567460" cy="405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95845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F0CE84-A917-CFC6-7EA0-12595BA280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Programming Model x8086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6E69E3-EB4C-7CBD-F6F0-1B1FF073FE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Structure of an Assembly Language Program</a:t>
            </a:r>
          </a:p>
          <a:p>
            <a:r>
              <a:rPr lang="en-US" dirty="0"/>
              <a:t>.model small ; Select a memory model.</a:t>
            </a:r>
          </a:p>
          <a:p>
            <a:r>
              <a:rPr lang="en-US" dirty="0"/>
              <a:t>.stack </a:t>
            </a:r>
            <a:r>
              <a:rPr lang="en-US" dirty="0" err="1"/>
              <a:t>stack_size</a:t>
            </a:r>
            <a:r>
              <a:rPr lang="en-US" dirty="0"/>
              <a:t> ; Define the stack size</a:t>
            </a:r>
          </a:p>
          <a:p>
            <a:r>
              <a:rPr lang="en-US" dirty="0"/>
              <a:t>.data ; Variable and array declarations;</a:t>
            </a:r>
          </a:p>
          <a:p>
            <a:r>
              <a:rPr lang="en-US" dirty="0"/>
              <a:t>; Declare variables at this level</a:t>
            </a:r>
          </a:p>
          <a:p>
            <a:r>
              <a:rPr lang="en-US" dirty="0"/>
              <a:t>.code</a:t>
            </a:r>
          </a:p>
          <a:p>
            <a:r>
              <a:rPr lang="en-US" dirty="0"/>
              <a:t>main proc ; Write the program main code at this level</a:t>
            </a:r>
          </a:p>
          <a:p>
            <a:r>
              <a:rPr lang="en-US" dirty="0"/>
              <a:t>main </a:t>
            </a:r>
            <a:r>
              <a:rPr lang="en-US" dirty="0" err="1"/>
              <a:t>endp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337043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A864BB-A29F-BA8C-BF90-74453FE50D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EFBC1D-E0F2-3F89-49BE-11CE9B8AE7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Defines the number of code and data segments a program can have.</a:t>
            </a:r>
          </a:p>
          <a:p>
            <a:r>
              <a:rPr lang="en-US" dirty="0"/>
              <a:t>Small: For 1 code and 1 data segment. Code and data are located in a single 64 KB segment. Well-suited for small programs that fit within the 64 KB limit.</a:t>
            </a:r>
          </a:p>
          <a:p>
            <a:r>
              <a:rPr lang="en-US" dirty="0"/>
              <a:t>Medium: for 1 data and more than 1 code segments. Code and data have their own separate 64 KB segments. Suitable for larger programs, providing more flexibility.</a:t>
            </a:r>
          </a:p>
          <a:p>
            <a:r>
              <a:rPr lang="en-US" dirty="0"/>
              <a:t>Large: for more than 1 code and data segments. Supports multiple code and data segments, each up to 64 KB in size. Useful for even larger programs, but with increased complexity.</a:t>
            </a:r>
          </a:p>
        </p:txBody>
      </p:sp>
    </p:spTree>
    <p:extLst>
      <p:ext uri="{BB962C8B-B14F-4D97-AF65-F5344CB8AC3E}">
        <p14:creationId xmlns:p14="http://schemas.microsoft.com/office/powerpoint/2010/main" val="228726644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63B004-B766-5839-7B14-D9F39B84C9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8C45D6-B9C9-6EC1-A29C-1016DD4C01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8086 assembly language programming, the .stack directive is used to define the size of the stack segment. The stack segment is a region of memory reserved for the stack, which is a data structure used for storing temporary data such as local variables and return addresses.</a:t>
            </a:r>
          </a:p>
          <a:p>
            <a:r>
              <a:rPr lang="en-US" dirty="0"/>
              <a:t>The syntax for specifying the stack size is:</a:t>
            </a:r>
          </a:p>
          <a:p>
            <a:r>
              <a:rPr lang="en-US" dirty="0"/>
              <a:t>.stack </a:t>
            </a:r>
            <a:r>
              <a:rPr lang="en-US" dirty="0" err="1"/>
              <a:t>size_in_bytes</a:t>
            </a:r>
            <a:endParaRPr lang="en-US" dirty="0"/>
          </a:p>
          <a:p>
            <a:r>
              <a:rPr lang="en-US" dirty="0"/>
              <a:t>The stack size should be chosen based on the needs of your program.</a:t>
            </a:r>
          </a:p>
        </p:txBody>
      </p:sp>
    </p:spTree>
    <p:extLst>
      <p:ext uri="{BB962C8B-B14F-4D97-AF65-F5344CB8AC3E}">
        <p14:creationId xmlns:p14="http://schemas.microsoft.com/office/powerpoint/2010/main" val="334084748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1B643F-3BFC-0ACB-1902-71D92D901F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Code &amp;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B90212-5632-E240-75D1-7C1A071013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8086 assembly language programming, the .code directive is used to specify the beginning of the code segment. The code segment is where the actual executable instructions of your program reside.</a:t>
            </a:r>
          </a:p>
          <a:p>
            <a:r>
              <a:rPr lang="en-US" dirty="0"/>
              <a:t>In 8086 assembly language programming, the .data directive is used to define the data segment. The data segment is a section of memory where you allocate and initialize variables that your program will use.</a:t>
            </a:r>
          </a:p>
          <a:p>
            <a:r>
              <a:rPr lang="en-US" dirty="0"/>
              <a:t>Examples: </a:t>
            </a:r>
          </a:p>
          <a:p>
            <a:r>
              <a:rPr lang="en-US" dirty="0"/>
              <a:t>message </a:t>
            </a:r>
            <a:r>
              <a:rPr lang="en-US" dirty="0" err="1"/>
              <a:t>db</a:t>
            </a:r>
            <a:r>
              <a:rPr lang="en-US" dirty="0"/>
              <a:t> 'Hello, Assembly!', '$'</a:t>
            </a:r>
          </a:p>
          <a:p>
            <a:r>
              <a:rPr lang="en-US" dirty="0"/>
              <a:t>count </a:t>
            </a:r>
            <a:r>
              <a:rPr lang="en-US" dirty="0" err="1"/>
              <a:t>dw</a:t>
            </a:r>
            <a:r>
              <a:rPr lang="en-US" dirty="0"/>
              <a:t> 0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372507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DBEDBFE-9DBC-E552-0E2D-7BF805C59FE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2430"/>
          <a:stretch>
            <a:fillRect/>
          </a:stretch>
        </p:blipFill>
        <p:spPr>
          <a:xfrm>
            <a:off x="2261936" y="689811"/>
            <a:ext cx="9448800" cy="5618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830874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Machine Instruction Elements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"/>
          </p:nvPr>
        </p:nvSpPr>
        <p:spPr>
          <a:xfrm>
            <a:off x="876300" y="1638300"/>
            <a:ext cx="10628312" cy="4272922"/>
          </a:xfrm>
        </p:spPr>
        <p:txBody>
          <a:bodyPr>
            <a:noAutofit/>
          </a:bodyPr>
          <a:lstStyle/>
          <a:p>
            <a:pPr algn="just"/>
            <a:r>
              <a:rPr lang="en-US" sz="2400" dirty="0"/>
              <a:t>Each instruction must have elements that contain the information required by the CPU for execution.</a:t>
            </a:r>
          </a:p>
          <a:p>
            <a:pPr algn="just"/>
            <a:r>
              <a:rPr lang="en-US" sz="2400" dirty="0"/>
              <a:t>These elements can be:  </a:t>
            </a:r>
          </a:p>
          <a:p>
            <a:pPr lvl="1" algn="just"/>
            <a:r>
              <a:rPr lang="en-US" sz="2100" b="1" dirty="0"/>
              <a:t>Operation code</a:t>
            </a:r>
            <a:r>
              <a:rPr lang="en-US" sz="2100" dirty="0"/>
              <a:t>: Specifies the operation to be performed (e.g.. ADD, I/O). The operation is specified by a binary code, known as the operation code, or </a:t>
            </a:r>
            <a:r>
              <a:rPr lang="en-US" sz="2100" dirty="0" err="1"/>
              <a:t>opcode</a:t>
            </a:r>
            <a:r>
              <a:rPr lang="en-US" sz="2100" dirty="0"/>
              <a:t>. </a:t>
            </a:r>
          </a:p>
          <a:p>
            <a:pPr lvl="1" algn="just"/>
            <a:r>
              <a:rPr lang="en-US" sz="2100" b="1" dirty="0"/>
              <a:t>Source operand reference</a:t>
            </a:r>
            <a:r>
              <a:rPr lang="en-US" sz="2100" dirty="0"/>
              <a:t>: The operation may involve one or more source operands, that is, operands that are inputs for the operation. </a:t>
            </a:r>
          </a:p>
          <a:p>
            <a:pPr lvl="1" algn="just"/>
            <a:r>
              <a:rPr lang="en-US" sz="2100" b="1" dirty="0"/>
              <a:t>Result operand reference</a:t>
            </a:r>
            <a:r>
              <a:rPr lang="en-US" sz="2100" dirty="0"/>
              <a:t>: The operation may produce a result.  Also called destination operand.</a:t>
            </a:r>
          </a:p>
          <a:p>
            <a:pPr lvl="1" algn="just"/>
            <a:r>
              <a:rPr lang="en-US" sz="2100" b="1" dirty="0"/>
              <a:t>Next instruction reference</a:t>
            </a:r>
            <a:r>
              <a:rPr lang="en-US" sz="2100" dirty="0"/>
              <a:t>: This tells the CPU where to fetch the next instruction.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Instruction Representation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24</a:t>
            </a:fld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1981200" y="1219200"/>
            <a:ext cx="8229600" cy="2971800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sz="2400" dirty="0"/>
              <a:t>Within the computer, each instruction is represented by a sequence of bits. </a:t>
            </a:r>
          </a:p>
          <a:p>
            <a:pPr algn="just"/>
            <a:r>
              <a:rPr lang="en-US" sz="2400" dirty="0"/>
              <a:t>16 bits instruction</a:t>
            </a:r>
          </a:p>
          <a:p>
            <a:pPr lvl="1" algn="just"/>
            <a:r>
              <a:rPr lang="en-US" sz="2000" dirty="0"/>
              <a:t>4 bit </a:t>
            </a:r>
            <a:r>
              <a:rPr lang="en-US" sz="2000" dirty="0" err="1"/>
              <a:t>opcode</a:t>
            </a:r>
            <a:r>
              <a:rPr lang="en-US" sz="2000" dirty="0"/>
              <a:t>, 6 bit operand 1, 6 bit operand 2</a:t>
            </a:r>
          </a:p>
          <a:p>
            <a:pPr lvl="1" algn="just"/>
            <a:r>
              <a:rPr lang="en-US" sz="2000" dirty="0"/>
              <a:t>4 bit </a:t>
            </a:r>
            <a:r>
              <a:rPr lang="en-US" sz="2000" dirty="0" err="1"/>
              <a:t>opcode</a:t>
            </a:r>
            <a:r>
              <a:rPr lang="en-US" sz="2000" dirty="0"/>
              <a:t>, 12 bit operand</a:t>
            </a:r>
          </a:p>
          <a:p>
            <a:pPr algn="just"/>
            <a:r>
              <a:rPr lang="en-US" sz="2400" dirty="0"/>
              <a:t>32 bits instruction</a:t>
            </a:r>
          </a:p>
          <a:p>
            <a:pPr algn="just"/>
            <a:r>
              <a:rPr lang="en-US" sz="2400" dirty="0"/>
              <a:t>64 bits instruction</a:t>
            </a:r>
          </a:p>
        </p:txBody>
      </p:sp>
      <p:pic>
        <p:nvPicPr>
          <p:cNvPr id="16691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24000" y="4114800"/>
            <a:ext cx="5943600" cy="1447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TextBox 5"/>
          <p:cNvSpPr txBox="1"/>
          <p:nvPr/>
        </p:nvSpPr>
        <p:spPr>
          <a:xfrm>
            <a:off x="1752600" y="5486400"/>
            <a:ext cx="4953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Figure: A Simple Instruction Format</a:t>
            </a:r>
          </a:p>
        </p:txBody>
      </p:sp>
      <p:pic>
        <p:nvPicPr>
          <p:cNvPr id="166916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400800" y="5410200"/>
            <a:ext cx="4076700" cy="99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Contd..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25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1981200" y="1219200"/>
            <a:ext cx="8229600" cy="2362200"/>
          </a:xfrm>
        </p:spPr>
        <p:txBody>
          <a:bodyPr>
            <a:noAutofit/>
          </a:bodyPr>
          <a:lstStyle/>
          <a:p>
            <a:pPr algn="just"/>
            <a:r>
              <a:rPr lang="en-US" sz="2400" dirty="0"/>
              <a:t>Binary representations of machine instructions is difficult to remember. </a:t>
            </a:r>
          </a:p>
          <a:p>
            <a:pPr algn="just"/>
            <a:r>
              <a:rPr lang="en-US" sz="2400" dirty="0"/>
              <a:t>Use a symbolic representation of machine instructions. </a:t>
            </a:r>
          </a:p>
          <a:p>
            <a:pPr algn="just"/>
            <a:r>
              <a:rPr lang="en-US" sz="2400" dirty="0" err="1"/>
              <a:t>Opcodes</a:t>
            </a:r>
            <a:r>
              <a:rPr lang="en-US" sz="2400" dirty="0"/>
              <a:t> are represented by abbreviations, called mnemonics, that indicate the operation. Common examples include:</a:t>
            </a:r>
          </a:p>
        </p:txBody>
      </p:sp>
      <p:pic>
        <p:nvPicPr>
          <p:cNvPr id="16793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238875" y="4095750"/>
            <a:ext cx="3048000" cy="2514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B48D7F-D142-9E57-A790-67BFB4EFA6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Rules To Follow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DE35FA-90E6-F714-5BAA-C709C1B162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Both source and destination operands should be the same size.</a:t>
            </a:r>
          </a:p>
          <a:p>
            <a:r>
              <a:rPr lang="en-US" dirty="0"/>
              <a:t>Both operands cannot be segment registers</a:t>
            </a:r>
          </a:p>
          <a:p>
            <a:r>
              <a:rPr lang="en-US" dirty="0"/>
              <a:t>The destination operand cannot be a CS or an IP register</a:t>
            </a:r>
          </a:p>
          <a:p>
            <a:r>
              <a:rPr lang="en-US" dirty="0"/>
              <a:t>If the destination operand is a segment register, the source operand cannot be an immediate value.</a:t>
            </a:r>
          </a:p>
        </p:txBody>
      </p:sp>
    </p:spTree>
    <p:extLst>
      <p:ext uri="{BB962C8B-B14F-4D97-AF65-F5344CB8AC3E}">
        <p14:creationId xmlns:p14="http://schemas.microsoft.com/office/powerpoint/2010/main" val="66333732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EEDDEC-A865-AAB1-3C84-D675D0B88D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8A0919-208F-A0A8-BB59-642D55234B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7407B33-1ABE-1A18-51CA-0C6E3372A4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038" y="0"/>
            <a:ext cx="1151792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026390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AAB798-A5A5-6E95-E77A-A55112DCAB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32AEA0-3A4D-D27B-DCE4-6E802FFA36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202C4B3-4788-3916-9458-527962F315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323" y="0"/>
            <a:ext cx="1171135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491471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FB970A-778B-9785-FEB6-717F14A901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1339E2-69CC-99F3-AE63-5189A26314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21999C0-7AD3-D6C7-7232-13B0007498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697" y="0"/>
            <a:ext cx="1145260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817091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7E5CC7-05BA-25FF-12DA-686CBEFA94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44AC34-B197-A2A1-7847-6038020D52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160CBEC-71D8-FDDA-49BA-6B1E39ECF2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488" y="0"/>
            <a:ext cx="1151102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56098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E48976-704F-D924-9767-7F4CCF027D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6E5F4B-FCC2-CA32-F38B-B70EAF9178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88E3852-2A52-E2C5-8111-DCB52ACE1B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14"/>
            <a:ext cx="12192000" cy="6856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599628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DFC76A-FA44-7E59-FDCC-DA9553E727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6BED60-EFEB-4F1E-100D-61B74ABC66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FD8DC26-2A21-EFD2-AD2F-FD1CF08116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032" y="-19050"/>
            <a:ext cx="1177193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347030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FEA5ED-2732-6374-49B5-AE54213C86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Physical Address to Logical Address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FF95E8-4169-1C04-B081-3747430D4F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Size of Physical Address is 20bits. While 8086 has max size16 bits.</a:t>
            </a:r>
          </a:p>
          <a:p>
            <a:r>
              <a:rPr lang="en-US" dirty="0"/>
              <a:t>Physical address will be calculated by Segment address and Offset</a:t>
            </a:r>
          </a:p>
          <a:p>
            <a:r>
              <a:rPr lang="en-US" dirty="0"/>
              <a:t>Both Segment address and Offset size is 16 bits.</a:t>
            </a:r>
          </a:p>
          <a:p>
            <a:r>
              <a:rPr lang="en-US" dirty="0"/>
              <a:t>So Physical address is calculated by Segment * 10h + </a:t>
            </a:r>
            <a:r>
              <a:rPr lang="en-US"/>
              <a:t>offset address</a:t>
            </a:r>
          </a:p>
        </p:txBody>
      </p:sp>
    </p:spTree>
    <p:extLst>
      <p:ext uri="{BB962C8B-B14F-4D97-AF65-F5344CB8AC3E}">
        <p14:creationId xmlns:p14="http://schemas.microsoft.com/office/powerpoint/2010/main" val="413478452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625</TotalTime>
  <Words>1156</Words>
  <Application>Microsoft Office PowerPoint</Application>
  <PresentationFormat>Widescreen</PresentationFormat>
  <Paragraphs>128</Paragraphs>
  <Slides>33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40" baseType="lpstr">
      <vt:lpstr>Arial</vt:lpstr>
      <vt:lpstr>Calibri</vt:lpstr>
      <vt:lpstr>Century Gothic</vt:lpstr>
      <vt:lpstr>Courier New</vt:lpstr>
      <vt:lpstr>Wingdings</vt:lpstr>
      <vt:lpstr>Wingdings 3</vt:lpstr>
      <vt:lpstr>Wisp</vt:lpstr>
      <vt:lpstr>Computer Organization &amp; Assembly Language</vt:lpstr>
      <vt:lpstr>Introduction to program segments</vt:lpstr>
      <vt:lpstr>Origin and definition of the segment</vt:lpstr>
      <vt:lpstr>PowerPoint Presentation</vt:lpstr>
      <vt:lpstr>PHYSICAL ADDRESS AND LOGICAL ADDRESS</vt:lpstr>
      <vt:lpstr>PHYSICAL ADDRESS AND LOGICAL ADDRESS</vt:lpstr>
      <vt:lpstr>Code Segment</vt:lpstr>
      <vt:lpstr>To Calculate Physical Address</vt:lpstr>
      <vt:lpstr>Example </vt:lpstr>
      <vt:lpstr>Solution:</vt:lpstr>
      <vt:lpstr>DATA SEGMENT</vt:lpstr>
      <vt:lpstr>PowerPoint Presentation</vt:lpstr>
      <vt:lpstr>DATA SEGMENT</vt:lpstr>
      <vt:lpstr>Logical and physical address in data segment</vt:lpstr>
      <vt:lpstr>Practice question </vt:lpstr>
      <vt:lpstr>SOLUTION</vt:lpstr>
      <vt:lpstr>LITTLE ENDIAN CONVENTION</vt:lpstr>
      <vt:lpstr>Programming Model x8086</vt:lpstr>
      <vt:lpstr>Model</vt:lpstr>
      <vt:lpstr>Stack</vt:lpstr>
      <vt:lpstr>Code &amp; Data</vt:lpstr>
      <vt:lpstr>PowerPoint Presentation</vt:lpstr>
      <vt:lpstr>Machine Instruction Elements</vt:lpstr>
      <vt:lpstr>Instruction Representation</vt:lpstr>
      <vt:lpstr>Contd..</vt:lpstr>
      <vt:lpstr>Some Rules To Follow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Physical Address to Logical Address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Computer Organization &amp; Assembly Language</dc:title>
  <dc:creator>Ihtisham ul haq</dc:creator>
  <cp:lastModifiedBy>Hina Tahir</cp:lastModifiedBy>
  <cp:revision>7</cp:revision>
  <dcterms:created xsi:type="dcterms:W3CDTF">2023-10-17T17:30:28Z</dcterms:created>
  <dcterms:modified xsi:type="dcterms:W3CDTF">2025-10-07T18:28:42Z</dcterms:modified>
</cp:coreProperties>
</file>