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sldIdLst>
    <p:sldId id="256" r:id="rId2"/>
    <p:sldId id="282" r:id="rId3"/>
    <p:sldId id="304" r:id="rId4"/>
    <p:sldId id="305" r:id="rId5"/>
    <p:sldId id="306" r:id="rId6"/>
    <p:sldId id="307" r:id="rId7"/>
    <p:sldId id="301" r:id="rId8"/>
    <p:sldId id="292" r:id="rId9"/>
    <p:sldId id="283" r:id="rId10"/>
    <p:sldId id="308" r:id="rId11"/>
    <p:sldId id="309" r:id="rId12"/>
    <p:sldId id="310" r:id="rId13"/>
    <p:sldId id="311" r:id="rId14"/>
    <p:sldId id="302" r:id="rId15"/>
    <p:sldId id="303" r:id="rId16"/>
    <p:sldId id="284" r:id="rId17"/>
    <p:sldId id="290" r:id="rId18"/>
    <p:sldId id="298" r:id="rId19"/>
    <p:sldId id="293" r:id="rId20"/>
    <p:sldId id="289" r:id="rId21"/>
    <p:sldId id="300" r:id="rId22"/>
    <p:sldId id="294" r:id="rId23"/>
    <p:sldId id="299" r:id="rId24"/>
    <p:sldId id="295" r:id="rId25"/>
    <p:sldId id="272" r:id="rId26"/>
    <p:sldId id="273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5F6CD-3E6F-4C83-9BDA-11D88CB6A6EF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E3D82F40-CF4A-4732-920A-44533733A6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630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5F6CD-3E6F-4C83-9BDA-11D88CB6A6EF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82F40-CF4A-4732-920A-44533733A6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501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5F6CD-3E6F-4C83-9BDA-11D88CB6A6EF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3D82F40-CF4A-4732-920A-44533733A6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7382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5F6CD-3E6F-4C83-9BDA-11D88CB6A6EF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E3D82F40-CF4A-4732-920A-44533733A6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1996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5F6CD-3E6F-4C83-9BDA-11D88CB6A6EF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E3D82F40-CF4A-4732-920A-44533733A6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78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5F6CD-3E6F-4C83-9BDA-11D88CB6A6EF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82F40-CF4A-4732-920A-44533733A6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7776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5F6CD-3E6F-4C83-9BDA-11D88CB6A6EF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82F40-CF4A-4732-920A-44533733A6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924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5F6CD-3E6F-4C83-9BDA-11D88CB6A6EF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82F40-CF4A-4732-920A-44533733A6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3346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5F6CD-3E6F-4C83-9BDA-11D88CB6A6EF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3D82F40-CF4A-4732-920A-44533733A6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8124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5F6CD-3E6F-4C83-9BDA-11D88CB6A6EF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3D82F40-CF4A-4732-920A-44533733A6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3465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5F6CD-3E6F-4C83-9BDA-11D88CB6A6EF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3D82F40-CF4A-4732-920A-44533733A6D1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160176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5F6CD-3E6F-4C83-9BDA-11D88CB6A6EF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3D82F40-CF4A-4732-920A-44533733A6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7587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5F6CD-3E6F-4C83-9BDA-11D88CB6A6EF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3D82F40-CF4A-4732-920A-44533733A6D1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411672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5F6CD-3E6F-4C83-9BDA-11D88CB6A6EF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3D82F40-CF4A-4732-920A-44533733A6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3708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5F6CD-3E6F-4C83-9BDA-11D88CB6A6EF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82F40-CF4A-4732-920A-44533733A6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6011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5F6CD-3E6F-4C83-9BDA-11D88CB6A6EF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82F40-CF4A-4732-920A-44533733A6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685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75F6CD-3E6F-4C83-9BDA-11D88CB6A6EF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E3D82F40-CF4A-4732-920A-44533733A6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859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6B556C-DBC3-D295-A9AA-1D7BB791C0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8361" y="1946786"/>
            <a:ext cx="9488129" cy="2821858"/>
          </a:xfrm>
        </p:spPr>
        <p:txBody>
          <a:bodyPr>
            <a:normAutofit fontScale="925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4000" dirty="0">
                <a:latin typeface="+mj-lt"/>
                <a:cs typeface="Cascadia Code Light" panose="020B0609020000020004" pitchFamily="49" charset="0"/>
              </a:rPr>
              <a:t>ALU operations (MUL &amp; DIV)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4000" dirty="0">
                <a:latin typeface="+mj-lt"/>
                <a:cs typeface="Cascadia Code Light" panose="020B0609020000020004" pitchFamily="49" charset="0"/>
              </a:rPr>
              <a:t>Data Types</a:t>
            </a:r>
          </a:p>
          <a:p>
            <a:r>
              <a:rPr lang="en-US" sz="4000" dirty="0">
                <a:latin typeface="+mj-lt"/>
                <a:cs typeface="Cascadia Code Light" panose="020B0609020000020004" pitchFamily="49" charset="0"/>
              </a:rPr>
              <a:t>	Variable declaration and initialization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4000" dirty="0">
                <a:latin typeface="+mj-lt"/>
                <a:cs typeface="Cascadia Code Light" panose="020B0609020000020004" pitchFamily="49" charset="0"/>
              </a:rPr>
              <a:t>Arrays</a:t>
            </a:r>
          </a:p>
        </p:txBody>
      </p:sp>
    </p:spTree>
    <p:extLst>
      <p:ext uri="{BB962C8B-B14F-4D97-AF65-F5344CB8AC3E}">
        <p14:creationId xmlns:p14="http://schemas.microsoft.com/office/powerpoint/2010/main" val="11871233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18664514-ED6F-71BB-1A0B-4A24FEC65D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19865" y="403225"/>
            <a:ext cx="7772400" cy="685800"/>
          </a:xfrm>
        </p:spPr>
        <p:txBody>
          <a:bodyPr>
            <a:normAutofit/>
          </a:bodyPr>
          <a:lstStyle/>
          <a:p>
            <a:r>
              <a:rPr lang="en-US" altLang="en-US" b="1" dirty="0"/>
              <a:t>Multiplication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992824-FD24-9CCF-4745-2BA83C3CF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10000"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6FBDE5E-739B-4AD0-916A-AC8E4FF00AE4}" type="slidenum">
              <a:rPr lang="en-US" altLang="en-US">
                <a:solidFill>
                  <a:schemeClr val="tx2"/>
                </a:solidFill>
                <a:latin typeface="Gill Sans MT" panose="020B0502020104020203" pitchFamily="34" charset="0"/>
              </a:rPr>
              <a:pPr eaLnBrk="1" hangingPunct="1"/>
              <a:t>2</a:t>
            </a:fld>
            <a:endParaRPr lang="en-US" altLang="en-US">
              <a:solidFill>
                <a:schemeClr val="tx2"/>
              </a:solidFill>
              <a:latin typeface="Gill Sans MT" panose="020B0502020104020203" pitchFamily="34" charset="0"/>
            </a:endParaRPr>
          </a:p>
        </p:txBody>
      </p:sp>
      <p:sp>
        <p:nvSpPr>
          <p:cNvPr id="10244" name="Text Box 3">
            <a:extLst>
              <a:ext uri="{FF2B5EF4-FFF2-40B4-BE49-F238E27FC236}">
                <a16:creationId xmlns:a16="http://schemas.microsoft.com/office/drawing/2014/main" id="{A99AC1C7-55A4-1C14-E0DC-508E5768B5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1376518"/>
            <a:ext cx="8382000" cy="4894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84163" indent="-284163">
              <a:spcBef>
                <a:spcPct val="50000"/>
              </a:spcBef>
              <a:buFontTx/>
              <a:buChar char="•"/>
              <a:defRPr/>
            </a:pPr>
            <a:r>
              <a:rPr lang="en-US" sz="2400" b="1" dirty="0">
                <a:solidFill>
                  <a:srgbClr val="00B0F0"/>
                </a:solidFill>
                <a:latin typeface="Arial" charset="0"/>
                <a:cs typeface="Arial" charset="0"/>
              </a:rPr>
              <a:t>MUL</a:t>
            </a:r>
            <a:r>
              <a:rPr lang="en-US" sz="2400" dirty="0">
                <a:latin typeface="Arial" charset="0"/>
                <a:cs typeface="Arial" charset="0"/>
              </a:rPr>
              <a:t> instruction is used with unsigned operands</a:t>
            </a:r>
          </a:p>
          <a:p>
            <a:pPr marL="284163" indent="-284163">
              <a:spcBef>
                <a:spcPct val="50000"/>
              </a:spcBef>
              <a:buFontTx/>
              <a:buChar char="•"/>
              <a:defRPr/>
            </a:pPr>
            <a:r>
              <a:rPr lang="en-US" sz="2400" dirty="0">
                <a:latin typeface="Arial" charset="0"/>
                <a:cs typeface="Arial" charset="0"/>
              </a:rPr>
              <a:t>Unsigned multiplication of 128 and 255 = 32, 640.</a:t>
            </a:r>
          </a:p>
          <a:p>
            <a:pPr marL="284163" indent="-284163">
              <a:spcBef>
                <a:spcPct val="50000"/>
              </a:spcBef>
              <a:buFontTx/>
              <a:buChar char="•"/>
              <a:defRPr/>
            </a:pPr>
            <a:r>
              <a:rPr lang="en-US" sz="2400" dirty="0">
                <a:latin typeface="Arial" charset="0"/>
                <a:cs typeface="Arial" charset="0"/>
              </a:rPr>
              <a:t>2 bytes multiplied, product = 1 word (16 bits)</a:t>
            </a:r>
          </a:p>
          <a:p>
            <a:pPr marL="741363" lvl="1" indent="-284163">
              <a:spcBef>
                <a:spcPct val="50000"/>
              </a:spcBef>
              <a:buFontTx/>
              <a:buChar char="•"/>
              <a:defRPr/>
            </a:pPr>
            <a:r>
              <a:rPr lang="en-US" sz="2000" dirty="0">
                <a:latin typeface="Arial" charset="0"/>
                <a:cs typeface="Arial" charset="0"/>
              </a:rPr>
              <a:t>AL is implied destination operand</a:t>
            </a:r>
          </a:p>
          <a:p>
            <a:pPr marL="741363" lvl="1" indent="-284163">
              <a:spcBef>
                <a:spcPct val="50000"/>
              </a:spcBef>
              <a:buFontTx/>
              <a:buChar char="•"/>
              <a:defRPr/>
            </a:pPr>
            <a:r>
              <a:rPr lang="en-US" sz="2000" dirty="0">
                <a:latin typeface="Arial" charset="0"/>
                <a:cs typeface="Arial" charset="0"/>
              </a:rPr>
              <a:t>Source operand can be a register or variable (8 bits)</a:t>
            </a:r>
          </a:p>
          <a:p>
            <a:pPr marL="741363" lvl="1" indent="-284163">
              <a:spcBef>
                <a:spcPct val="50000"/>
              </a:spcBef>
              <a:buFontTx/>
              <a:buChar char="•"/>
              <a:defRPr/>
            </a:pPr>
            <a:r>
              <a:rPr lang="en-US" sz="2000" dirty="0">
                <a:latin typeface="Arial" charset="0"/>
                <a:cs typeface="Arial" charset="0"/>
              </a:rPr>
              <a:t>16-bit output is AX</a:t>
            </a:r>
          </a:p>
          <a:p>
            <a:pPr marL="284163" indent="-284163">
              <a:spcBef>
                <a:spcPct val="50000"/>
              </a:spcBef>
              <a:buFontTx/>
              <a:buChar char="•"/>
              <a:defRPr/>
            </a:pPr>
            <a:r>
              <a:rPr lang="en-US" sz="2400" dirty="0">
                <a:latin typeface="Arial" charset="0"/>
                <a:cs typeface="Arial" charset="0"/>
              </a:rPr>
              <a:t>2 words multiplied, product = 1 double word (32 bits)</a:t>
            </a:r>
          </a:p>
          <a:p>
            <a:pPr marL="741363" lvl="1" indent="-284163">
              <a:spcBef>
                <a:spcPct val="50000"/>
              </a:spcBef>
              <a:buFontTx/>
              <a:buChar char="•"/>
              <a:defRPr/>
            </a:pPr>
            <a:r>
              <a:rPr lang="en-US" sz="2000" dirty="0">
                <a:latin typeface="Arial" charset="0"/>
                <a:cs typeface="Arial" charset="0"/>
              </a:rPr>
              <a:t>AX is implied destination operands</a:t>
            </a:r>
          </a:p>
          <a:p>
            <a:pPr marL="741363" lvl="1" indent="-284163">
              <a:spcBef>
                <a:spcPct val="50000"/>
              </a:spcBef>
              <a:buFontTx/>
              <a:buChar char="•"/>
              <a:defRPr/>
            </a:pPr>
            <a:r>
              <a:rPr lang="en-US" sz="2000" dirty="0">
                <a:latin typeface="Arial" charset="0"/>
                <a:cs typeface="Arial" charset="0"/>
              </a:rPr>
              <a:t>Source operand can be a register or variable (16 bits)</a:t>
            </a:r>
          </a:p>
          <a:p>
            <a:pPr marL="741363" lvl="1" indent="-284163">
              <a:spcBef>
                <a:spcPct val="50000"/>
              </a:spcBef>
              <a:buFontTx/>
              <a:buChar char="•"/>
              <a:defRPr/>
            </a:pPr>
            <a:r>
              <a:rPr lang="en-US" sz="2000" dirty="0">
                <a:latin typeface="Arial" charset="0"/>
                <a:cs typeface="Arial" charset="0"/>
              </a:rPr>
              <a:t>32-bit output is DX:AX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BC205-AE27-0EB5-717B-C1048AD01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Byte x Byte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2CFD309-3A25-F76B-0AD3-62A4FE6706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5494" y="2291265"/>
            <a:ext cx="7748337" cy="2168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582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F2D59-07A7-9501-D2B9-9DF77F736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Byte x byte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5BB345-8AF8-C16B-B415-8B02FBA054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6889" y="1573446"/>
            <a:ext cx="7678222" cy="4915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649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BC378-E80C-FF5B-947A-B0F3D5FC5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Word x word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594E021-4140-52DB-8AD8-D581663DDC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4047" y="2257261"/>
            <a:ext cx="7563906" cy="2343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3980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C6A15-F543-117F-8998-14901878C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Word x byte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AA1D0D-D70E-575B-2108-17A27C45E3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924" y="2177460"/>
            <a:ext cx="8421275" cy="3658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1318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7B32227-A5D7-E5A3-61C5-2D0DBA9A66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0387" y="1546646"/>
            <a:ext cx="10374173" cy="2353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0526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3AC2D903-4179-5E29-71E1-D3530AF96E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228600"/>
            <a:ext cx="7772400" cy="685800"/>
          </a:xfrm>
        </p:spPr>
        <p:txBody>
          <a:bodyPr>
            <a:normAutofit/>
          </a:bodyPr>
          <a:lstStyle/>
          <a:p>
            <a:r>
              <a:rPr lang="en-US" altLang="en-US"/>
              <a:t>MUL (Flags)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D3708C1-91CF-8B73-9F82-6A9D7182D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10000"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553FBEC-9A76-470F-BB00-15EC5899DF35}" type="slidenum">
              <a:rPr lang="en-US" altLang="en-US">
                <a:solidFill>
                  <a:schemeClr val="tx2"/>
                </a:solidFill>
                <a:latin typeface="Gill Sans MT" panose="020B0502020104020203" pitchFamily="34" charset="0"/>
              </a:rPr>
              <a:pPr eaLnBrk="1" hangingPunct="1"/>
              <a:t>8</a:t>
            </a:fld>
            <a:endParaRPr lang="en-US" altLang="en-US">
              <a:solidFill>
                <a:schemeClr val="tx2"/>
              </a:solidFill>
              <a:latin typeface="Gill Sans MT" panose="020B0502020104020203" pitchFamily="34" charset="0"/>
            </a:endParaRPr>
          </a:p>
        </p:txBody>
      </p:sp>
      <p:sp>
        <p:nvSpPr>
          <p:cNvPr id="12291" name="Text Box 3">
            <a:extLst>
              <a:ext uri="{FF2B5EF4-FFF2-40B4-BE49-F238E27FC236}">
                <a16:creationId xmlns:a16="http://schemas.microsoft.com/office/drawing/2014/main" id="{C53B0386-1816-FF10-BAFE-558D30AB85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1295401"/>
            <a:ext cx="82296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en-US" altLang="en-US" sz="2000"/>
              <a:t>Carry and Overflow flags are set when the product extends into its high register:</a:t>
            </a:r>
          </a:p>
        </p:txBody>
      </p:sp>
      <p:sp>
        <p:nvSpPr>
          <p:cNvPr id="12292" name="Text Box 4">
            <a:extLst>
              <a:ext uri="{FF2B5EF4-FFF2-40B4-BE49-F238E27FC236}">
                <a16:creationId xmlns:a16="http://schemas.microsoft.com/office/drawing/2014/main" id="{C0AB42B8-1A9C-A57C-7D04-6606B4CA6C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0" y="2057401"/>
            <a:ext cx="6858000" cy="143885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284163" indent="-28416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en-US" sz="2000" b="1" dirty="0">
                <a:latin typeface="Courier New" panose="02070309020205020404" pitchFamily="49" charset="0"/>
              </a:rPr>
              <a:t>mov ax,5000h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en-US" sz="2000" b="1" dirty="0">
                <a:latin typeface="Courier New" panose="02070309020205020404" pitchFamily="49" charset="0"/>
              </a:rPr>
              <a:t>mov bx,10h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en-US" sz="2000" b="1" dirty="0" err="1">
                <a:latin typeface="Courier New" panose="02070309020205020404" pitchFamily="49" charset="0"/>
              </a:rPr>
              <a:t>mul</a:t>
            </a:r>
            <a:r>
              <a:rPr lang="en-US" altLang="en-US" sz="2000" b="1" dirty="0">
                <a:latin typeface="Courier New" panose="02070309020205020404" pitchFamily="49" charset="0"/>
              </a:rPr>
              <a:t> bx		; DX:AX = 00050000h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en-US" sz="2000" b="1" dirty="0">
                <a:latin typeface="Courier New" panose="02070309020205020404" pitchFamily="49" charset="0"/>
              </a:rPr>
              <a:t>				; CF=1, OF=1</a:t>
            </a:r>
          </a:p>
        </p:txBody>
      </p:sp>
      <p:sp>
        <p:nvSpPr>
          <p:cNvPr id="12293" name="Text Box 5">
            <a:extLst>
              <a:ext uri="{FF2B5EF4-FFF2-40B4-BE49-F238E27FC236}">
                <a16:creationId xmlns:a16="http://schemas.microsoft.com/office/drawing/2014/main" id="{7718B15B-D8A4-12D4-F262-946E47029B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0" y="3733801"/>
            <a:ext cx="6858000" cy="143885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284163" indent="-28416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en-US" sz="2000" b="1">
                <a:latin typeface="Courier New" panose="02070309020205020404" pitchFamily="49" charset="0"/>
              </a:rPr>
              <a:t>mov ax,500h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en-US" sz="2000" b="1">
                <a:latin typeface="Courier New" panose="02070309020205020404" pitchFamily="49" charset="0"/>
              </a:rPr>
              <a:t>mov bx,10h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en-US" sz="2000" b="1">
                <a:latin typeface="Courier New" panose="02070309020205020404" pitchFamily="49" charset="0"/>
              </a:rPr>
              <a:t>mul bx		; DX:AX = 00005000h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en-US" sz="2000" b="1">
                <a:latin typeface="Courier New" panose="02070309020205020404" pitchFamily="49" charset="0"/>
              </a:rPr>
              <a:t>				; CF=0, OF=0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81DC74AD-C076-7964-FF03-C80D6AC110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381000"/>
            <a:ext cx="7772400" cy="685800"/>
          </a:xfrm>
        </p:spPr>
        <p:txBody>
          <a:bodyPr>
            <a:normAutofit/>
          </a:bodyPr>
          <a:lstStyle/>
          <a:p>
            <a:r>
              <a:rPr lang="en-US" altLang="en-US"/>
              <a:t>DIV Instruction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FB32F2-9BE8-B88E-05DE-F06015AF1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10000"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A0492587-7DE6-4307-A6A0-A0748558AF47}" type="slidenum">
              <a:rPr lang="en-US" altLang="en-US">
                <a:solidFill>
                  <a:schemeClr val="tx2"/>
                </a:solidFill>
                <a:latin typeface="Gill Sans MT" panose="020B0502020104020203" pitchFamily="34" charset="0"/>
              </a:rPr>
              <a:pPr eaLnBrk="1" hangingPunct="1"/>
              <a:t>9</a:t>
            </a:fld>
            <a:endParaRPr lang="en-US" altLang="en-US">
              <a:solidFill>
                <a:schemeClr val="tx2"/>
              </a:solidFill>
              <a:latin typeface="Gill Sans MT" panose="020B0502020104020203" pitchFamily="34" charset="0"/>
            </a:endParaRPr>
          </a:p>
        </p:txBody>
      </p:sp>
      <p:sp>
        <p:nvSpPr>
          <p:cNvPr id="19459" name="Text Box 3">
            <a:extLst>
              <a:ext uri="{FF2B5EF4-FFF2-40B4-BE49-F238E27FC236}">
                <a16:creationId xmlns:a16="http://schemas.microsoft.com/office/drawing/2014/main" id="{54E7F5C2-C975-576D-7E46-5B84BCAD7E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1295401"/>
            <a:ext cx="8077200" cy="529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4163" indent="-28416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1363" indent="-28416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50000"/>
              </a:spcBef>
              <a:buFontTx/>
              <a:buChar char="•"/>
            </a:pPr>
            <a:r>
              <a:rPr lang="en-US" altLang="en-US" sz="2000"/>
              <a:t>Dividend is </a:t>
            </a:r>
            <a:r>
              <a:rPr lang="en-US" altLang="en-US" sz="2000" i="1"/>
              <a:t>divided</a:t>
            </a:r>
            <a:r>
              <a:rPr lang="en-US" altLang="en-US" sz="2000"/>
              <a:t> by divisor</a:t>
            </a:r>
          </a:p>
          <a:p>
            <a:pPr algn="just" eaLnBrk="1" hangingPunct="1">
              <a:spcBef>
                <a:spcPct val="50000"/>
              </a:spcBef>
              <a:buFontTx/>
              <a:buChar char="•"/>
            </a:pPr>
            <a:r>
              <a:rPr lang="en-US" altLang="en-US" sz="2000" i="1"/>
              <a:t>Result</a:t>
            </a:r>
            <a:r>
              <a:rPr lang="en-US" altLang="en-US" sz="2000"/>
              <a:t>: Quotient and Remainder</a:t>
            </a:r>
          </a:p>
          <a:p>
            <a:pPr algn="just" eaLnBrk="1" hangingPunct="1">
              <a:spcBef>
                <a:spcPct val="50000"/>
              </a:spcBef>
              <a:buFontTx/>
              <a:buChar char="•"/>
            </a:pPr>
            <a:r>
              <a:rPr lang="en-US" altLang="en-US" sz="2400"/>
              <a:t>Byte Form:</a:t>
            </a:r>
          </a:p>
          <a:p>
            <a:pPr lvl="1" algn="just" eaLnBrk="1" hangingPunct="1">
              <a:spcBef>
                <a:spcPct val="50000"/>
              </a:spcBef>
              <a:buFontTx/>
              <a:buChar char="•"/>
            </a:pPr>
            <a:r>
              <a:rPr lang="en-US" altLang="en-US" sz="2000"/>
              <a:t>Dividend is AX</a:t>
            </a:r>
          </a:p>
          <a:p>
            <a:pPr lvl="1" algn="just" eaLnBrk="1" hangingPunct="1">
              <a:spcBef>
                <a:spcPct val="50000"/>
              </a:spcBef>
              <a:buFontTx/>
              <a:buChar char="•"/>
            </a:pPr>
            <a:r>
              <a:rPr lang="en-US" altLang="en-US" sz="2000"/>
              <a:t>Divisor can be 8-bit register or variable</a:t>
            </a:r>
          </a:p>
          <a:p>
            <a:pPr lvl="1" algn="just" eaLnBrk="1" hangingPunct="1">
              <a:spcBef>
                <a:spcPct val="50000"/>
              </a:spcBef>
              <a:buFontTx/>
              <a:buChar char="•"/>
            </a:pPr>
            <a:r>
              <a:rPr lang="en-US" altLang="en-US" sz="2000"/>
              <a:t>Quotient is AL, Remainder is AH</a:t>
            </a:r>
          </a:p>
          <a:p>
            <a:pPr algn="just" eaLnBrk="1" hangingPunct="1">
              <a:spcBef>
                <a:spcPct val="50000"/>
              </a:spcBef>
              <a:buFontTx/>
              <a:buChar char="•"/>
            </a:pPr>
            <a:r>
              <a:rPr lang="en-US" altLang="en-US" sz="2400"/>
              <a:t>Word Form:</a:t>
            </a:r>
          </a:p>
          <a:p>
            <a:pPr lvl="1" algn="just" eaLnBrk="1" hangingPunct="1">
              <a:spcBef>
                <a:spcPct val="50000"/>
              </a:spcBef>
              <a:buFontTx/>
              <a:buChar char="•"/>
            </a:pPr>
            <a:r>
              <a:rPr lang="en-US" altLang="en-US" sz="2000"/>
              <a:t>Dividend is DX:AX</a:t>
            </a:r>
          </a:p>
          <a:p>
            <a:pPr lvl="1" algn="just" eaLnBrk="1" hangingPunct="1">
              <a:spcBef>
                <a:spcPct val="50000"/>
              </a:spcBef>
              <a:buFontTx/>
              <a:buChar char="•"/>
            </a:pPr>
            <a:r>
              <a:rPr lang="en-US" altLang="en-US" sz="2000"/>
              <a:t>Divisor can be 16-bit register or variable</a:t>
            </a:r>
          </a:p>
          <a:p>
            <a:pPr lvl="1" algn="just" eaLnBrk="1" hangingPunct="1">
              <a:spcBef>
                <a:spcPct val="50000"/>
              </a:spcBef>
              <a:buFontTx/>
              <a:buChar char="•"/>
            </a:pPr>
            <a:r>
              <a:rPr lang="en-US" altLang="en-US" sz="2000"/>
              <a:t>Quotient is AX, Remainder is DX</a:t>
            </a:r>
          </a:p>
          <a:p>
            <a:pPr algn="just" eaLnBrk="1" hangingPunct="1">
              <a:spcBef>
                <a:spcPct val="50000"/>
              </a:spcBef>
              <a:buFontTx/>
              <a:buChar char="•"/>
            </a:pPr>
            <a:r>
              <a:rPr lang="en-US" altLang="en-US" sz="2400"/>
              <a:t>Status flag values are undefined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C8DBA-F94B-0B69-A316-4268089D8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0460" y="482502"/>
            <a:ext cx="8911687" cy="1280890"/>
          </a:xfrm>
        </p:spPr>
        <p:txBody>
          <a:bodyPr/>
          <a:lstStyle/>
          <a:p>
            <a:r>
              <a:rPr lang="en-US" dirty="0"/>
              <a:t>Byte/byte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152948-5E58-057D-7D20-5331687B62A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4276"/>
          <a:stretch>
            <a:fillRect/>
          </a:stretch>
        </p:blipFill>
        <p:spPr>
          <a:xfrm>
            <a:off x="2970460" y="2005263"/>
            <a:ext cx="7055856" cy="3705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4991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07994-DA91-34F1-5E0E-8FD4A10FB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Byte/byte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A31438-EDD1-0576-0407-EA2918A912A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3588"/>
          <a:stretch>
            <a:fillRect/>
          </a:stretch>
        </p:blipFill>
        <p:spPr>
          <a:xfrm>
            <a:off x="3676312" y="1588168"/>
            <a:ext cx="6606677" cy="4579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2880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7DFBB-D7B6-906A-DA92-807758C8F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Word/word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3D289A-DE2A-FD01-FC11-B0CBC376B5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1501" y="1306737"/>
            <a:ext cx="7333480" cy="2321947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9BB4BCC6-8FB6-5479-6566-2CC063638C1E}"/>
              </a:ext>
            </a:extLst>
          </p:cNvPr>
          <p:cNvSpPr txBox="1">
            <a:spLocks/>
          </p:cNvSpPr>
          <p:nvPr/>
        </p:nvSpPr>
        <p:spPr>
          <a:xfrm>
            <a:off x="2215935" y="3911503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/>
              <a:t>Word/byte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EE555AD-8F1C-EE49-A756-32AC569A98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6420" y="4736297"/>
            <a:ext cx="7464694" cy="1797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1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4526F-DE48-40B6-0EA8-E3E1C85BD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Doubleword/word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2B25E3-5352-C651-8042-D9306EC246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2985" y="2063375"/>
            <a:ext cx="10006693" cy="3435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27375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EFCDE01-8894-3446-31F1-AA061B2CA5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939" y="1732549"/>
            <a:ext cx="10840963" cy="4183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0899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D93B4-EC2F-B159-87A4-87B6C3B47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Doubleword/word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885E6C-AFA1-6F15-DBB2-05523AEF63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9599" y="2769308"/>
            <a:ext cx="8792802" cy="3019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8068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E9B2C76F-A9B8-64B6-D1E8-AE2A399F60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228600"/>
            <a:ext cx="7772400" cy="685800"/>
          </a:xfrm>
        </p:spPr>
        <p:txBody>
          <a:bodyPr>
            <a:normAutofit/>
          </a:bodyPr>
          <a:lstStyle/>
          <a:p>
            <a:r>
              <a:rPr lang="en-US" altLang="en-US"/>
              <a:t>Divide Overflow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2B3888-4EB2-79BD-568C-48835D8F0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10000"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9037EC50-5442-49AC-9C16-1A77DDAD5AA6}" type="slidenum">
              <a:rPr lang="en-US" altLang="en-US">
                <a:solidFill>
                  <a:schemeClr val="tx2"/>
                </a:solidFill>
                <a:latin typeface="Gill Sans MT" panose="020B0502020104020203" pitchFamily="34" charset="0"/>
              </a:rPr>
              <a:pPr eaLnBrk="1" hangingPunct="1"/>
              <a:t>16</a:t>
            </a:fld>
            <a:endParaRPr lang="en-US" altLang="en-US">
              <a:solidFill>
                <a:schemeClr val="tx2"/>
              </a:solidFill>
              <a:latin typeface="Gill Sans MT" panose="020B0502020104020203" pitchFamily="34" charset="0"/>
            </a:endParaRPr>
          </a:p>
        </p:txBody>
      </p:sp>
      <p:sp>
        <p:nvSpPr>
          <p:cNvPr id="21507" name="Text Box 3">
            <a:extLst>
              <a:ext uri="{FF2B5EF4-FFF2-40B4-BE49-F238E27FC236}">
                <a16:creationId xmlns:a16="http://schemas.microsoft.com/office/drawing/2014/main" id="{D24DE38B-E88E-2906-0EC9-8C936C2AB0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1447801"/>
            <a:ext cx="7772400" cy="7080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5556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en-US" altLang="en-US" sz="2000"/>
              <a:t>Happens when the quotient is too large to fit in the destination register. Causes a processor interrupt.</a:t>
            </a:r>
          </a:p>
        </p:txBody>
      </p:sp>
      <p:sp>
        <p:nvSpPr>
          <p:cNvPr id="21508" name="Text Box 4">
            <a:extLst>
              <a:ext uri="{FF2B5EF4-FFF2-40B4-BE49-F238E27FC236}">
                <a16:creationId xmlns:a16="http://schemas.microsoft.com/office/drawing/2014/main" id="{D5365923-6535-F2DF-9171-DC9A970EA4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2514600"/>
            <a:ext cx="6934200" cy="17462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284163" indent="-28416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en-US" sz="2000" b="1" dirty="0">
                <a:latin typeface="Courier New" panose="02070309020205020404" pitchFamily="49" charset="0"/>
              </a:rPr>
              <a:t>mov dx,0050h	; dividend, high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en-US" sz="2000" b="1" dirty="0">
                <a:latin typeface="Courier New" panose="02070309020205020404" pitchFamily="49" charset="0"/>
              </a:rPr>
              <a:t>mov ax,0000h	; dividend, low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en-US" sz="2000" b="1" dirty="0">
                <a:latin typeface="Courier New" panose="02070309020205020404" pitchFamily="49" charset="0"/>
              </a:rPr>
              <a:t>mov cx,10h		; divisor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altLang="en-US" sz="2000" b="1" dirty="0">
                <a:latin typeface="Courier New" panose="02070309020205020404" pitchFamily="49" charset="0"/>
              </a:rPr>
              <a:t>div cx		; quotient= 50000h, cannot</a:t>
            </a:r>
            <a:br>
              <a:rPr lang="en-US" altLang="en-US" sz="2000" b="1" dirty="0">
                <a:latin typeface="Courier New" panose="02070309020205020404" pitchFamily="49" charset="0"/>
              </a:rPr>
            </a:br>
            <a:r>
              <a:rPr lang="en-US" altLang="en-US" sz="2000" b="1" dirty="0">
                <a:latin typeface="Courier New" panose="02070309020205020404" pitchFamily="49" charset="0"/>
              </a:rPr>
              <a:t>			; fit in AX register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B5312-7A29-464F-8775-FA09DFBF7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/>
              <a:t>Variables In Emu8086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5D0DEC-D75D-D80A-ABC8-7E0759679F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5642" y="2133600"/>
            <a:ext cx="10878970" cy="4724400"/>
          </a:xfrm>
        </p:spPr>
        <p:txBody>
          <a:bodyPr>
            <a:normAutofit/>
          </a:bodyPr>
          <a:lstStyle/>
          <a:p>
            <a:r>
              <a:rPr lang="en-US" dirty="0">
                <a:latin typeface="Verdana" panose="020B0604030504040204" pitchFamily="34" charset="0"/>
              </a:rPr>
              <a:t>Variable is a memory location. For a programmer it is much easier to have some value be kept in a variable named "</a:t>
            </a:r>
            <a:r>
              <a:rPr lang="en-US" b="1" dirty="0">
                <a:latin typeface="Verdana" panose="020B0604030504040204" pitchFamily="34" charset="0"/>
              </a:rPr>
              <a:t>var1</a:t>
            </a:r>
            <a:r>
              <a:rPr lang="en-US" dirty="0">
                <a:latin typeface="Verdana" panose="020B0604030504040204" pitchFamily="34" charset="0"/>
              </a:rPr>
              <a:t>" then at the address 5A73:235B, especially when you have 10 or more variables.</a:t>
            </a:r>
          </a:p>
          <a:p>
            <a:r>
              <a:rPr lang="en-US" i="1" u="sng" dirty="0">
                <a:latin typeface="Verdana" panose="020B0604030504040204" pitchFamily="34" charset="0"/>
              </a:rPr>
              <a:t>name</a:t>
            </a:r>
            <a:r>
              <a:rPr lang="en-US" dirty="0">
                <a:latin typeface="Verdana" panose="020B0604030504040204" pitchFamily="34" charset="0"/>
              </a:rPr>
              <a:t> </a:t>
            </a:r>
            <a:r>
              <a:rPr lang="en-US" b="1" dirty="0">
                <a:latin typeface="Verdana" panose="020B0604030504040204" pitchFamily="34" charset="0"/>
              </a:rPr>
              <a:t>DB</a:t>
            </a:r>
            <a:r>
              <a:rPr lang="en-US" dirty="0">
                <a:latin typeface="Verdana" panose="020B0604030504040204" pitchFamily="34" charset="0"/>
              </a:rPr>
              <a:t> </a:t>
            </a:r>
            <a:r>
              <a:rPr lang="en-US" i="1" u="sng" dirty="0">
                <a:latin typeface="Verdana" panose="020B0604030504040204" pitchFamily="34" charset="0"/>
              </a:rPr>
              <a:t>value</a:t>
            </a:r>
            <a:br>
              <a:rPr lang="en-US" dirty="0">
                <a:latin typeface="Verdana" panose="020B0604030504040204" pitchFamily="34" charset="0"/>
              </a:rPr>
            </a:br>
            <a:br>
              <a:rPr lang="en-US" dirty="0">
                <a:latin typeface="Verdana" panose="020B0604030504040204" pitchFamily="34" charset="0"/>
              </a:rPr>
            </a:br>
            <a:r>
              <a:rPr lang="en-US" i="1" u="sng" dirty="0">
                <a:latin typeface="Verdana" panose="020B0604030504040204" pitchFamily="34" charset="0"/>
              </a:rPr>
              <a:t>name</a:t>
            </a:r>
            <a:r>
              <a:rPr lang="en-US" dirty="0">
                <a:latin typeface="Verdana" panose="020B0604030504040204" pitchFamily="34" charset="0"/>
              </a:rPr>
              <a:t> </a:t>
            </a:r>
            <a:r>
              <a:rPr lang="en-US" b="1" dirty="0">
                <a:latin typeface="Verdana" panose="020B0604030504040204" pitchFamily="34" charset="0"/>
              </a:rPr>
              <a:t>DW</a:t>
            </a:r>
            <a:r>
              <a:rPr lang="en-US" dirty="0">
                <a:latin typeface="Verdana" panose="020B0604030504040204" pitchFamily="34" charset="0"/>
              </a:rPr>
              <a:t> </a:t>
            </a:r>
            <a:r>
              <a:rPr lang="en-US" i="1" u="sng" dirty="0">
                <a:latin typeface="Verdana" panose="020B0604030504040204" pitchFamily="34" charset="0"/>
              </a:rPr>
              <a:t>value</a:t>
            </a:r>
            <a:br>
              <a:rPr lang="en-US" dirty="0">
                <a:latin typeface="Verdana" panose="020B0604030504040204" pitchFamily="34" charset="0"/>
              </a:rPr>
            </a:br>
            <a:br>
              <a:rPr lang="en-US" dirty="0">
                <a:latin typeface="Verdana" panose="020B0604030504040204" pitchFamily="34" charset="0"/>
              </a:rPr>
            </a:br>
            <a:r>
              <a:rPr lang="en-US" b="1" dirty="0">
                <a:latin typeface="Verdana" panose="020B0604030504040204" pitchFamily="34" charset="0"/>
              </a:rPr>
              <a:t>DB</a:t>
            </a:r>
            <a:r>
              <a:rPr lang="en-US" dirty="0">
                <a:latin typeface="Verdana" panose="020B0604030504040204" pitchFamily="34" charset="0"/>
              </a:rPr>
              <a:t> - stays for </a:t>
            </a:r>
            <a:r>
              <a:rPr lang="en-US" u="sng" dirty="0">
                <a:latin typeface="Verdana" panose="020B0604030504040204" pitchFamily="34" charset="0"/>
              </a:rPr>
              <a:t>D</a:t>
            </a:r>
            <a:r>
              <a:rPr lang="en-US" dirty="0">
                <a:latin typeface="Verdana" panose="020B0604030504040204" pitchFamily="34" charset="0"/>
              </a:rPr>
              <a:t>efine </a:t>
            </a:r>
            <a:r>
              <a:rPr lang="en-US" u="sng" dirty="0">
                <a:latin typeface="Verdana" panose="020B0604030504040204" pitchFamily="34" charset="0"/>
              </a:rPr>
              <a:t>B</a:t>
            </a:r>
            <a:r>
              <a:rPr lang="en-US" dirty="0">
                <a:latin typeface="Verdana" panose="020B0604030504040204" pitchFamily="34" charset="0"/>
              </a:rPr>
              <a:t>yte.</a:t>
            </a:r>
            <a:br>
              <a:rPr lang="en-US" dirty="0">
                <a:latin typeface="Verdana" panose="020B0604030504040204" pitchFamily="34" charset="0"/>
              </a:rPr>
            </a:br>
            <a:r>
              <a:rPr lang="en-US" b="1" dirty="0">
                <a:latin typeface="Verdana" panose="020B0604030504040204" pitchFamily="34" charset="0"/>
              </a:rPr>
              <a:t>DW</a:t>
            </a:r>
            <a:r>
              <a:rPr lang="en-US" dirty="0">
                <a:latin typeface="Verdana" panose="020B0604030504040204" pitchFamily="34" charset="0"/>
              </a:rPr>
              <a:t> - stays for </a:t>
            </a:r>
            <a:r>
              <a:rPr lang="en-US" u="sng" dirty="0">
                <a:latin typeface="Verdana" panose="020B0604030504040204" pitchFamily="34" charset="0"/>
              </a:rPr>
              <a:t>D</a:t>
            </a:r>
            <a:r>
              <a:rPr lang="en-US" dirty="0">
                <a:latin typeface="Verdana" panose="020B0604030504040204" pitchFamily="34" charset="0"/>
              </a:rPr>
              <a:t>efine </a:t>
            </a:r>
            <a:r>
              <a:rPr lang="en-US" u="sng" dirty="0">
                <a:latin typeface="Verdana" panose="020B0604030504040204" pitchFamily="34" charset="0"/>
              </a:rPr>
              <a:t>W</a:t>
            </a:r>
            <a:r>
              <a:rPr lang="en-US" dirty="0">
                <a:latin typeface="Verdana" panose="020B0604030504040204" pitchFamily="34" charset="0"/>
              </a:rPr>
              <a:t>ord.</a:t>
            </a:r>
          </a:p>
          <a:p>
            <a:r>
              <a:rPr lang="en-US" b="1" i="1" u="sng" dirty="0">
                <a:latin typeface="Verdana" panose="020B0604030504040204" pitchFamily="34" charset="0"/>
              </a:rPr>
              <a:t>name</a:t>
            </a:r>
            <a:r>
              <a:rPr lang="en-US" dirty="0">
                <a:latin typeface="Verdana" panose="020B0604030504040204" pitchFamily="34" charset="0"/>
              </a:rPr>
              <a:t> - can be any letter or digit combination, though it should start with a letter. It's possible to declare unnamed variables by not specifying the name (this variable will have an address but no name).</a:t>
            </a:r>
          </a:p>
          <a:p>
            <a:r>
              <a:rPr lang="en-US" b="1" i="1" u="sng" dirty="0">
                <a:latin typeface="Verdana" panose="020B0604030504040204" pitchFamily="34" charset="0"/>
              </a:rPr>
              <a:t>value</a:t>
            </a:r>
            <a:r>
              <a:rPr lang="en-US" dirty="0">
                <a:latin typeface="Verdana" panose="020B0604030504040204" pitchFamily="34" charset="0"/>
              </a:rPr>
              <a:t> - can be any numeric value in any supported numbering system (hexadecimal, binary, or decimal), or "</a:t>
            </a:r>
            <a:r>
              <a:rPr lang="en-US" b="1" dirty="0">
                <a:latin typeface="Verdana" panose="020B0604030504040204" pitchFamily="34" charset="0"/>
              </a:rPr>
              <a:t>?</a:t>
            </a:r>
            <a:r>
              <a:rPr lang="en-US" dirty="0">
                <a:latin typeface="Verdana" panose="020B0604030504040204" pitchFamily="34" charset="0"/>
              </a:rPr>
              <a:t>" symbol for variables that are not initialized.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92853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4084E-1C70-8FCC-DEF0-5E9ECB00C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2527" y="400882"/>
            <a:ext cx="8610600" cy="1293028"/>
          </a:xfrm>
        </p:spPr>
        <p:txBody>
          <a:bodyPr/>
          <a:lstStyle/>
          <a:p>
            <a:pPr algn="l"/>
            <a:r>
              <a:rPr lang="en-US" dirty="0"/>
              <a:t>Example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E72E9E0-C748-4F0E-98CD-7DB18AA74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6846" y="1831259"/>
            <a:ext cx="3433916" cy="43997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.model small 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.data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var1 </a:t>
            </a:r>
            <a:r>
              <a:rPr lang="en-US" dirty="0" err="1"/>
              <a:t>db</a:t>
            </a:r>
            <a:r>
              <a:rPr lang="en-US" dirty="0"/>
              <a:t> 10h</a:t>
            </a:r>
          </a:p>
          <a:p>
            <a:pPr marL="0" indent="0">
              <a:buNone/>
            </a:pPr>
            <a:r>
              <a:rPr lang="en-US" dirty="0"/>
              <a:t>var2 </a:t>
            </a:r>
            <a:r>
              <a:rPr lang="en-US" dirty="0" err="1"/>
              <a:t>db</a:t>
            </a:r>
            <a:r>
              <a:rPr lang="en-US" dirty="0"/>
              <a:t> ?</a:t>
            </a:r>
          </a:p>
          <a:p>
            <a:pPr marL="0" indent="0">
              <a:buNone/>
            </a:pPr>
            <a:r>
              <a:rPr lang="en-US" dirty="0"/>
              <a:t>var3 </a:t>
            </a:r>
            <a:r>
              <a:rPr lang="en-US" dirty="0" err="1"/>
              <a:t>db</a:t>
            </a:r>
            <a:r>
              <a:rPr lang="en-US" dirty="0"/>
              <a:t> 'ABCD$'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47F4055-5F85-0DF6-19E0-546F93C0F4E3}"/>
              </a:ext>
            </a:extLst>
          </p:cNvPr>
          <p:cNvSpPr txBox="1"/>
          <p:nvPr/>
        </p:nvSpPr>
        <p:spPr>
          <a:xfrm>
            <a:off x="6489291" y="1693910"/>
            <a:ext cx="3539613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/>
              <a:t>.code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main proc </a:t>
            </a:r>
          </a:p>
          <a:p>
            <a:pPr marL="0" indent="0">
              <a:buNone/>
            </a:pPr>
            <a:r>
              <a:rPr lang="en-US" sz="2400" dirty="0"/>
              <a:t>    </a:t>
            </a:r>
          </a:p>
          <a:p>
            <a:pPr marL="0" indent="0">
              <a:buNone/>
            </a:pPr>
            <a:r>
              <a:rPr lang="en-US" sz="2400" dirty="0"/>
              <a:t>mov ax, @data</a:t>
            </a:r>
          </a:p>
          <a:p>
            <a:pPr marL="0" indent="0">
              <a:buNone/>
            </a:pPr>
            <a:r>
              <a:rPr lang="en-US" sz="2400" dirty="0"/>
              <a:t>mov ds, ax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mov dl, var1</a:t>
            </a:r>
          </a:p>
          <a:p>
            <a:r>
              <a:rPr lang="en-US" sz="2400" dirty="0"/>
              <a:t>mov var2, 20h</a:t>
            </a:r>
          </a:p>
          <a:p>
            <a:r>
              <a:rPr lang="en-US" sz="2400" dirty="0"/>
              <a:t>mov ax, offset var3</a:t>
            </a:r>
          </a:p>
          <a:p>
            <a:endParaRPr lang="en-US" sz="2400" dirty="0"/>
          </a:p>
          <a:p>
            <a:r>
              <a:rPr lang="en-US" sz="2400" dirty="0"/>
              <a:t>main </a:t>
            </a:r>
            <a:r>
              <a:rPr lang="en-US" sz="2400" dirty="0" err="1"/>
              <a:t>endp</a:t>
            </a:r>
            <a:endParaRPr lang="en-US" sz="2400" dirty="0"/>
          </a:p>
          <a:p>
            <a:r>
              <a:rPr lang="en-US" sz="2400" dirty="0"/>
              <a:t>.exit</a:t>
            </a:r>
          </a:p>
        </p:txBody>
      </p:sp>
    </p:spTree>
    <p:extLst>
      <p:ext uri="{BB962C8B-B14F-4D97-AF65-F5344CB8AC3E}">
        <p14:creationId xmlns:p14="http://schemas.microsoft.com/office/powerpoint/2010/main" val="41698729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>
            <a:extLst>
              <a:ext uri="{FF2B5EF4-FFF2-40B4-BE49-F238E27FC236}">
                <a16:creationId xmlns:a16="http://schemas.microsoft.com/office/drawing/2014/main" id="{756DA771-4600-5FB8-E946-9359445AF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9856" y="184269"/>
            <a:ext cx="8610600" cy="1293028"/>
          </a:xfrm>
        </p:spPr>
        <p:txBody>
          <a:bodyPr/>
          <a:lstStyle/>
          <a:p>
            <a:r>
              <a:rPr lang="en-US" altLang="en-US" dirty="0"/>
              <a:t>One Dimensional Array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711BD2-C9D5-EB76-67CC-1BCD266D75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219200"/>
            <a:ext cx="8001000" cy="2590800"/>
          </a:xfrm>
        </p:spPr>
        <p:txBody>
          <a:bodyPr>
            <a:normAutofit lnSpcReduction="10000"/>
          </a:bodyPr>
          <a:lstStyle/>
          <a:p>
            <a:pPr>
              <a:defRPr/>
            </a:pPr>
            <a:r>
              <a:rPr lang="en-US" sz="2400" dirty="0"/>
              <a:t>An ordered list of elements</a:t>
            </a:r>
          </a:p>
          <a:p>
            <a:pPr>
              <a:defRPr/>
            </a:pPr>
            <a:r>
              <a:rPr lang="en-US" sz="2400" dirty="0"/>
              <a:t>Examples:</a:t>
            </a:r>
          </a:p>
          <a:p>
            <a:pPr>
              <a:buFont typeface="Wingdings 3" panose="05040102010807070707" pitchFamily="18" charset="2"/>
              <a:buNone/>
              <a:defRPr/>
            </a:pPr>
            <a:r>
              <a:rPr lang="en-US" sz="2400" dirty="0"/>
              <a:t>	MSG DB ‘</a:t>
            </a:r>
            <a:r>
              <a:rPr lang="en-US" sz="2400" dirty="0" err="1"/>
              <a:t>abcde</a:t>
            </a:r>
            <a:r>
              <a:rPr lang="en-US" sz="2400" dirty="0"/>
              <a:t>$’</a:t>
            </a:r>
          </a:p>
          <a:p>
            <a:pPr>
              <a:buFont typeface="Wingdings 3" panose="05040102010807070707" pitchFamily="18" charset="2"/>
              <a:buNone/>
              <a:defRPr/>
            </a:pPr>
            <a:r>
              <a:rPr lang="en-US" sz="2400" dirty="0"/>
              <a:t>	W      DW 10, 20, 30, 40, 50, 60</a:t>
            </a:r>
          </a:p>
          <a:p>
            <a:pPr marL="280988" indent="-280988">
              <a:defRPr/>
            </a:pPr>
            <a:r>
              <a:rPr lang="en-US" sz="2400" dirty="0"/>
              <a:t>Base Address of an array or offset address assigned to an array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6039BD-A19A-1D8F-37B6-A37D93976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10000"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45BC2F89-7B8C-4CD3-826A-52F2652CD5B4}" type="slidenum">
              <a:rPr lang="en-US" altLang="en-US">
                <a:solidFill>
                  <a:schemeClr val="tx2"/>
                </a:solidFill>
                <a:latin typeface="Gill Sans MT" panose="020B0502020104020203" pitchFamily="34" charset="0"/>
              </a:rPr>
              <a:pPr eaLnBrk="1" hangingPunct="1"/>
              <a:t>19</a:t>
            </a:fld>
            <a:endParaRPr lang="en-US" altLang="en-US">
              <a:solidFill>
                <a:schemeClr val="tx2"/>
              </a:solidFill>
              <a:latin typeface="Gill Sans MT" panose="020B0502020104020203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B8B518F-C5F4-0CA3-1928-B8073F002E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4661126"/>
              </p:ext>
            </p:extLst>
          </p:nvPr>
        </p:nvGraphicFramePr>
        <p:xfrm>
          <a:off x="2723534" y="3886201"/>
          <a:ext cx="6748464" cy="25955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94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494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795">
                <a:tc>
                  <a:txBody>
                    <a:bodyPr/>
                    <a:lstStyle/>
                    <a:p>
                      <a:r>
                        <a:rPr lang="en-US" sz="1800" dirty="0"/>
                        <a:t>Offset</a:t>
                      </a:r>
                      <a:r>
                        <a:rPr lang="en-US" sz="1800" baseline="0" dirty="0"/>
                        <a:t> Address</a:t>
                      </a:r>
                      <a:endParaRPr lang="en-US" sz="1800" dirty="0"/>
                    </a:p>
                  </a:txBody>
                  <a:tcPr marL="91433" marR="91433" marT="45714" marB="45714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Symbolic Address</a:t>
                      </a:r>
                    </a:p>
                  </a:txBody>
                  <a:tcPr marL="91433" marR="91433" marT="45714" marB="45714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Decimal Content </a:t>
                      </a:r>
                    </a:p>
                  </a:txBody>
                  <a:tcPr marL="91433" marR="91433" marT="45714" marB="4571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r>
                        <a:rPr lang="en-US" sz="1800" dirty="0"/>
                        <a:t>0200h</a:t>
                      </a:r>
                    </a:p>
                  </a:txBody>
                  <a:tcPr marL="91433" marR="91433" marT="45714" marB="45714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W</a:t>
                      </a:r>
                    </a:p>
                  </a:txBody>
                  <a:tcPr marL="91433" marR="91433" marT="45714" marB="45714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10</a:t>
                      </a:r>
                    </a:p>
                  </a:txBody>
                  <a:tcPr marL="91433" marR="91433" marT="45714" marB="4571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r>
                        <a:rPr lang="en-US" sz="1800" dirty="0"/>
                        <a:t>0202h</a:t>
                      </a:r>
                    </a:p>
                  </a:txBody>
                  <a:tcPr marL="91433" marR="91433" marT="45714" marB="45714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W + 2h</a:t>
                      </a:r>
                    </a:p>
                  </a:txBody>
                  <a:tcPr marL="91433" marR="91433" marT="45714" marB="45714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20</a:t>
                      </a:r>
                    </a:p>
                  </a:txBody>
                  <a:tcPr marL="91433" marR="91433" marT="45714" marB="4571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r>
                        <a:rPr lang="en-US" sz="1800" dirty="0"/>
                        <a:t>0204h</a:t>
                      </a:r>
                    </a:p>
                  </a:txBody>
                  <a:tcPr marL="91433" marR="91433" marT="45714" marB="45714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W + 4h</a:t>
                      </a:r>
                    </a:p>
                  </a:txBody>
                  <a:tcPr marL="91433" marR="91433" marT="45714" marB="45714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30</a:t>
                      </a:r>
                    </a:p>
                  </a:txBody>
                  <a:tcPr marL="91433" marR="91433" marT="45714" marB="4571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r>
                        <a:rPr lang="en-US" sz="1800" dirty="0"/>
                        <a:t>0206h</a:t>
                      </a:r>
                    </a:p>
                  </a:txBody>
                  <a:tcPr marL="91433" marR="91433" marT="45714" marB="45714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W + 6h</a:t>
                      </a:r>
                    </a:p>
                  </a:txBody>
                  <a:tcPr marL="91433" marR="91433" marT="45714" marB="45714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40</a:t>
                      </a:r>
                    </a:p>
                  </a:txBody>
                  <a:tcPr marL="91433" marR="91433" marT="45714" marB="45714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r>
                        <a:rPr lang="en-US" sz="1800" dirty="0"/>
                        <a:t>0208h</a:t>
                      </a:r>
                    </a:p>
                  </a:txBody>
                  <a:tcPr marL="91433" marR="91433" marT="45714" marB="45714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W + 8h</a:t>
                      </a:r>
                    </a:p>
                  </a:txBody>
                  <a:tcPr marL="91433" marR="91433" marT="45714" marB="45714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50</a:t>
                      </a:r>
                    </a:p>
                  </a:txBody>
                  <a:tcPr marL="91433" marR="91433" marT="45714" marB="45714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r>
                        <a:rPr lang="en-US" sz="1800" dirty="0"/>
                        <a:t>020Ah</a:t>
                      </a:r>
                    </a:p>
                  </a:txBody>
                  <a:tcPr marL="91433" marR="91433" marT="45714" marB="45714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W + Ah</a:t>
                      </a:r>
                    </a:p>
                  </a:txBody>
                  <a:tcPr marL="91433" marR="91433" marT="45714" marB="45714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60</a:t>
                      </a:r>
                    </a:p>
                  </a:txBody>
                  <a:tcPr marL="91433" marR="91433" marT="45714" marB="45714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E9398-AD36-1A38-6EA0-3F2791AFB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2090" y="764373"/>
            <a:ext cx="9284110" cy="1293028"/>
          </a:xfrm>
        </p:spPr>
        <p:txBody>
          <a:bodyPr/>
          <a:lstStyle/>
          <a:p>
            <a:r>
              <a:rPr lang="en-US" dirty="0"/>
              <a:t>Base-plus-Index addressing mode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ABBFD4-824F-EB4F-39D1-2F46D69272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Arrays can be accessed using direct or register-indirect addressing modes. However, the base-plus- index addressing mode facilitates the programmer in accessing arrays better.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There is a base register that points to the base address of an array,</a:t>
            </a:r>
          </a:p>
          <a:p>
            <a:pPr marL="0" indent="0">
              <a:buNone/>
            </a:pPr>
            <a:r>
              <a:rPr lang="en-US" dirty="0"/>
              <a:t>while the index register points to the index of the array that is to be accessed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Offset is the keyword to access array address.</a:t>
            </a:r>
          </a:p>
          <a:p>
            <a:pPr marL="0" indent="0">
              <a:buNone/>
            </a:pPr>
            <a:r>
              <a:rPr lang="en-US" dirty="0"/>
              <a:t>	mov bx, offset Array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7911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7AB38-5081-120D-FA99-6DB0DC665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290" y="774206"/>
            <a:ext cx="11405420" cy="1293028"/>
          </a:xfrm>
        </p:spPr>
        <p:txBody>
          <a:bodyPr/>
          <a:lstStyle/>
          <a:p>
            <a:pPr algn="l"/>
            <a:r>
              <a:rPr lang="en-US" dirty="0"/>
              <a:t>PROGRAM TO MOVE ELEMNETS TO REGISTERS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03EDFA-44F5-45D2-4470-9F12D3D10E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94560"/>
            <a:ext cx="3886200" cy="40241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.model small</a:t>
            </a:r>
          </a:p>
          <a:p>
            <a:pPr marL="0" indent="0">
              <a:buNone/>
            </a:pPr>
            <a:r>
              <a:rPr lang="en-US" dirty="0"/>
              <a:t>.data</a:t>
            </a:r>
          </a:p>
          <a:p>
            <a:pPr marL="0" indent="0">
              <a:buNone/>
            </a:pPr>
            <a:r>
              <a:rPr lang="en-US" dirty="0"/>
              <a:t>Array </a:t>
            </a:r>
            <a:r>
              <a:rPr lang="en-US" dirty="0" err="1"/>
              <a:t>db</a:t>
            </a:r>
            <a:r>
              <a:rPr lang="en-US" dirty="0"/>
              <a:t> 1,2,3,4,5</a:t>
            </a:r>
          </a:p>
          <a:p>
            <a:pPr marL="0" indent="0">
              <a:buNone/>
            </a:pPr>
            <a:r>
              <a:rPr lang="en-US" dirty="0"/>
              <a:t>.code</a:t>
            </a:r>
          </a:p>
          <a:p>
            <a:pPr marL="0" indent="0">
              <a:buNone/>
            </a:pPr>
            <a:r>
              <a:rPr lang="en-US" dirty="0"/>
              <a:t>Mov </a:t>
            </a:r>
            <a:r>
              <a:rPr lang="en-US" dirty="0" err="1"/>
              <a:t>ax,@data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Mov </a:t>
            </a:r>
            <a:r>
              <a:rPr lang="en-US" dirty="0" err="1"/>
              <a:t>ds,ax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Mov bx, offset Array</a:t>
            </a:r>
          </a:p>
          <a:p>
            <a:pPr marL="0" indent="0">
              <a:buNone/>
            </a:pPr>
            <a:r>
              <a:rPr lang="en-US" dirty="0"/>
              <a:t>Mov </a:t>
            </a:r>
            <a:r>
              <a:rPr lang="en-US" dirty="0" err="1"/>
              <a:t>si</a:t>
            </a:r>
            <a:r>
              <a:rPr lang="en-US" dirty="0"/>
              <a:t>, 0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3DF858-52DB-F4D1-A7D6-0730C1191CC3}"/>
              </a:ext>
            </a:extLst>
          </p:cNvPr>
          <p:cNvSpPr txBox="1"/>
          <p:nvPr/>
        </p:nvSpPr>
        <p:spPr>
          <a:xfrm>
            <a:off x="5329084" y="2275600"/>
            <a:ext cx="609600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200" dirty="0"/>
              <a:t>Mov al, [bx + </a:t>
            </a:r>
            <a:r>
              <a:rPr lang="en-US" sz="2200" dirty="0" err="1"/>
              <a:t>si</a:t>
            </a:r>
            <a:r>
              <a:rPr lang="en-US" sz="2200" dirty="0"/>
              <a:t>]</a:t>
            </a:r>
          </a:p>
          <a:p>
            <a:pPr marL="0" indent="0">
              <a:buNone/>
            </a:pPr>
            <a:r>
              <a:rPr lang="en-US" sz="2200" dirty="0"/>
              <a:t>Inc </a:t>
            </a:r>
            <a:r>
              <a:rPr lang="en-US" sz="2200" dirty="0" err="1"/>
              <a:t>si</a:t>
            </a:r>
            <a:endParaRPr lang="en-US" sz="2200" dirty="0"/>
          </a:p>
          <a:p>
            <a:pPr marL="0" indent="0">
              <a:buNone/>
            </a:pPr>
            <a:r>
              <a:rPr lang="en-US" sz="2200" dirty="0"/>
              <a:t>Mov ah, [bx + </a:t>
            </a:r>
            <a:r>
              <a:rPr lang="en-US" sz="2200" dirty="0" err="1"/>
              <a:t>si</a:t>
            </a:r>
            <a:r>
              <a:rPr lang="en-US" sz="2200" dirty="0"/>
              <a:t>]</a:t>
            </a:r>
          </a:p>
          <a:p>
            <a:pPr marL="0" indent="0">
              <a:buNone/>
            </a:pPr>
            <a:r>
              <a:rPr lang="en-US" sz="2200" dirty="0"/>
              <a:t>Inc </a:t>
            </a:r>
            <a:r>
              <a:rPr lang="en-US" sz="2200" dirty="0" err="1"/>
              <a:t>si</a:t>
            </a:r>
            <a:endParaRPr lang="en-US" sz="2200" dirty="0"/>
          </a:p>
          <a:p>
            <a:pPr marL="0" indent="0">
              <a:buNone/>
            </a:pPr>
            <a:r>
              <a:rPr lang="en-US" sz="2200" dirty="0"/>
              <a:t>Mov cl, [bx + </a:t>
            </a:r>
            <a:r>
              <a:rPr lang="en-US" sz="2200" dirty="0" err="1"/>
              <a:t>si</a:t>
            </a:r>
            <a:r>
              <a:rPr lang="en-US" sz="2200" dirty="0"/>
              <a:t>]</a:t>
            </a:r>
          </a:p>
          <a:p>
            <a:pPr marL="0" indent="0">
              <a:buNone/>
            </a:pPr>
            <a:r>
              <a:rPr lang="en-US" sz="2200" dirty="0"/>
              <a:t>Inc </a:t>
            </a:r>
            <a:r>
              <a:rPr lang="en-US" sz="2200" dirty="0" err="1"/>
              <a:t>si</a:t>
            </a:r>
            <a:endParaRPr lang="en-US" sz="2200" dirty="0"/>
          </a:p>
          <a:p>
            <a:pPr marL="0" indent="0">
              <a:buNone/>
            </a:pPr>
            <a:r>
              <a:rPr lang="en-US" sz="2200" dirty="0"/>
              <a:t>Mov </a:t>
            </a:r>
            <a:r>
              <a:rPr lang="en-US" sz="2200" dirty="0" err="1"/>
              <a:t>ch</a:t>
            </a:r>
            <a:r>
              <a:rPr lang="en-US" sz="2200" dirty="0"/>
              <a:t>, [bx + </a:t>
            </a:r>
            <a:r>
              <a:rPr lang="en-US" sz="2200" dirty="0" err="1"/>
              <a:t>si</a:t>
            </a:r>
            <a:r>
              <a:rPr lang="en-US" sz="2200" dirty="0"/>
              <a:t>]</a:t>
            </a:r>
          </a:p>
          <a:p>
            <a:pPr marL="0" indent="0">
              <a:buNone/>
            </a:pPr>
            <a:r>
              <a:rPr lang="en-US" sz="2200" dirty="0"/>
              <a:t>Inc </a:t>
            </a:r>
            <a:r>
              <a:rPr lang="en-US" sz="2200" dirty="0" err="1"/>
              <a:t>si</a:t>
            </a:r>
            <a:endParaRPr lang="en-US" sz="2200" dirty="0"/>
          </a:p>
          <a:p>
            <a:pPr marL="0" indent="0">
              <a:buNone/>
            </a:pPr>
            <a:r>
              <a:rPr lang="en-US" sz="2200" dirty="0"/>
              <a:t>Mov dl, [bx + </a:t>
            </a:r>
            <a:r>
              <a:rPr lang="en-US" sz="2200" dirty="0" err="1"/>
              <a:t>si</a:t>
            </a:r>
            <a:r>
              <a:rPr lang="en-US" sz="2200" dirty="0"/>
              <a:t>]</a:t>
            </a:r>
          </a:p>
          <a:p>
            <a:pPr marL="0" indent="0">
              <a:buNone/>
            </a:pPr>
            <a:r>
              <a:rPr lang="en-US" sz="2200" dirty="0"/>
              <a:t>.exit</a:t>
            </a:r>
          </a:p>
        </p:txBody>
      </p:sp>
    </p:spTree>
    <p:extLst>
      <p:ext uri="{BB962C8B-B14F-4D97-AF65-F5344CB8AC3E}">
        <p14:creationId xmlns:p14="http://schemas.microsoft.com/office/powerpoint/2010/main" val="32986096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>
            <a:extLst>
              <a:ext uri="{FF2B5EF4-FFF2-40B4-BE49-F238E27FC236}">
                <a16:creationId xmlns:a16="http://schemas.microsoft.com/office/drawing/2014/main" id="{C98B768F-3F73-2893-E440-856A54AD4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6361" y="99611"/>
            <a:ext cx="8610600" cy="1293028"/>
          </a:xfrm>
        </p:spPr>
        <p:txBody>
          <a:bodyPr/>
          <a:lstStyle/>
          <a:p>
            <a:r>
              <a:rPr lang="en-US" altLang="en-US" dirty="0"/>
              <a:t>The DUP Operator</a:t>
            </a:r>
          </a:p>
        </p:txBody>
      </p:sp>
      <p:sp>
        <p:nvSpPr>
          <p:cNvPr id="11267" name="Content Placeholder 2">
            <a:extLst>
              <a:ext uri="{FF2B5EF4-FFF2-40B4-BE49-F238E27FC236}">
                <a16:creationId xmlns:a16="http://schemas.microsoft.com/office/drawing/2014/main" id="{61F0E1DA-DEAD-A0F9-C3A1-F1AD6D3BF2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3497" y="1674028"/>
            <a:ext cx="9370142" cy="4937125"/>
          </a:xfrm>
        </p:spPr>
        <p:txBody>
          <a:bodyPr>
            <a:normAutofit/>
          </a:bodyPr>
          <a:lstStyle/>
          <a:p>
            <a:pPr algn="just"/>
            <a:r>
              <a:rPr lang="en-US" altLang="en-US" sz="2400" dirty="0"/>
              <a:t>Used to define an array if initial value of elements are same.</a:t>
            </a:r>
          </a:p>
          <a:p>
            <a:pPr marL="0" indent="0" algn="just">
              <a:buNone/>
            </a:pPr>
            <a:endParaRPr lang="en-US" altLang="en-US" sz="2400" dirty="0"/>
          </a:p>
          <a:p>
            <a:pPr marL="0" indent="0" algn="just">
              <a:buNone/>
            </a:pPr>
            <a:endParaRPr lang="en-US" altLang="en-US" sz="2400" dirty="0"/>
          </a:p>
          <a:p>
            <a:pPr algn="just"/>
            <a:r>
              <a:rPr lang="en-US" altLang="en-US" sz="2400" b="1" u="sng" dirty="0"/>
              <a:t>Examples:</a:t>
            </a:r>
          </a:p>
          <a:p>
            <a:pPr algn="just">
              <a:lnSpc>
                <a:spcPct val="150000"/>
              </a:lnSpc>
              <a:buFont typeface="Wingdings 3" panose="05040102010807070707" pitchFamily="18" charset="2"/>
              <a:buNone/>
            </a:pPr>
            <a:r>
              <a:rPr lang="en-US" altLang="en-US" sz="2000" dirty="0"/>
              <a:t>GAMMA DW 100 DUP (0) ;sets an array of 100 elements initialized to 0</a:t>
            </a:r>
          </a:p>
          <a:p>
            <a:pPr algn="just">
              <a:lnSpc>
                <a:spcPct val="150000"/>
              </a:lnSpc>
              <a:buFont typeface="Wingdings 3" panose="05040102010807070707" pitchFamily="18" charset="2"/>
              <a:buNone/>
            </a:pPr>
            <a:r>
              <a:rPr lang="en-US" altLang="en-US" sz="2000" dirty="0"/>
              <a:t>DELTA DB 20 DUP (?) ; creates an array with 20 uninitialized bytes</a:t>
            </a:r>
          </a:p>
          <a:p>
            <a:pPr marL="0" indent="0" algn="just">
              <a:buClr>
                <a:srgbClr val="727CA3"/>
              </a:buClr>
              <a:buNone/>
            </a:pPr>
            <a:endParaRPr lang="en-US" alt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95E9F9-077E-8862-7C04-28CE305D1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10000"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5AC3D540-3E3E-4D2A-86CA-9EC322A90A17}" type="slidenum">
              <a:rPr lang="en-US" altLang="en-US">
                <a:solidFill>
                  <a:schemeClr val="tx2"/>
                </a:solidFill>
                <a:latin typeface="Gill Sans MT" panose="020B0502020104020203" pitchFamily="34" charset="0"/>
              </a:rPr>
              <a:pPr eaLnBrk="1" hangingPunct="1"/>
              <a:t>22</a:t>
            </a:fld>
            <a:endParaRPr lang="en-US" altLang="en-US">
              <a:solidFill>
                <a:schemeClr val="tx2"/>
              </a:solidFill>
              <a:latin typeface="Gill Sans MT" panose="020B0502020104020203" pitchFamily="34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69599-44BB-6737-81F1-499FA9193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CONSTANTS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7B0C9C-B459-79BB-45ED-B07FF8C9AC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Constants are just like variables, but they exist only until your program is assembled.</a:t>
            </a:r>
          </a:p>
          <a:p>
            <a:r>
              <a:rPr lang="en-US" dirty="0"/>
              <a:t> After assembling, the definition of a constant is replaced with its value. Constant is defined as follows: </a:t>
            </a:r>
          </a:p>
          <a:p>
            <a:endParaRPr lang="en-US" dirty="0"/>
          </a:p>
          <a:p>
            <a:r>
              <a:rPr lang="en-US" dirty="0"/>
              <a:t>name EQU &lt; any expression &gt;</a:t>
            </a:r>
          </a:p>
          <a:p>
            <a:pPr marL="914400" lvl="2" indent="0">
              <a:buNone/>
            </a:pPr>
            <a:r>
              <a:rPr lang="en-US" sz="2000" dirty="0"/>
              <a:t>COUNT EQU 25</a:t>
            </a:r>
          </a:p>
          <a:p>
            <a:pPr marL="914400" lvl="2" indent="0">
              <a:buNone/>
            </a:pPr>
            <a:r>
              <a:rPr lang="en-US" sz="2000" dirty="0"/>
              <a:t>MOV BX, COUNT</a:t>
            </a:r>
          </a:p>
        </p:txBody>
      </p:sp>
    </p:spTree>
    <p:extLst>
      <p:ext uri="{BB962C8B-B14F-4D97-AF65-F5344CB8AC3E}">
        <p14:creationId xmlns:p14="http://schemas.microsoft.com/office/powerpoint/2010/main" val="20375924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>
            <a:extLst>
              <a:ext uri="{FF2B5EF4-FFF2-40B4-BE49-F238E27FC236}">
                <a16:creationId xmlns:a16="http://schemas.microsoft.com/office/drawing/2014/main" id="{A5763664-0917-E19C-1FDE-1B3FCA3A9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684" y="381000"/>
            <a:ext cx="8610600" cy="1293028"/>
          </a:xfrm>
        </p:spPr>
        <p:txBody>
          <a:bodyPr/>
          <a:lstStyle/>
          <a:p>
            <a:r>
              <a:rPr lang="en-US" altLang="en-US" dirty="0"/>
              <a:t>Example</a:t>
            </a: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2E948845-DB89-C011-58E3-8528A1B58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10000"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44D086D0-D517-4F11-B654-36B1C69166C9}" type="slidenum">
              <a:rPr lang="en-US" altLang="en-US">
                <a:solidFill>
                  <a:schemeClr val="tx2"/>
                </a:solidFill>
                <a:latin typeface="Gill Sans MT" panose="020B0502020104020203" pitchFamily="34" charset="0"/>
              </a:rPr>
              <a:pPr eaLnBrk="1" hangingPunct="1"/>
              <a:t>24</a:t>
            </a:fld>
            <a:endParaRPr lang="en-US" altLang="en-US">
              <a:solidFill>
                <a:schemeClr val="tx2"/>
              </a:solidFill>
              <a:latin typeface="Gill Sans MT" panose="020B0502020104020203" pitchFamily="34" charset="0"/>
            </a:endParaRPr>
          </a:p>
        </p:txBody>
      </p:sp>
      <p:pic>
        <p:nvPicPr>
          <p:cNvPr id="25604" name="Picture 3">
            <a:extLst>
              <a:ext uri="{FF2B5EF4-FFF2-40B4-BE49-F238E27FC236}">
                <a16:creationId xmlns:a16="http://schemas.microsoft.com/office/drawing/2014/main" id="{6B0F6E50-23A2-7D6F-7930-BB92DD7E69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1447800"/>
            <a:ext cx="7924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5" name="Picture 4">
            <a:extLst>
              <a:ext uri="{FF2B5EF4-FFF2-40B4-BE49-F238E27FC236}">
                <a16:creationId xmlns:a16="http://schemas.microsoft.com/office/drawing/2014/main" id="{76CB4E55-A218-397C-FC46-4AA6FFBFE2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2743200"/>
            <a:ext cx="7848600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49EB0CDE-2177-7BFE-C828-54D528C699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0" y="1066800"/>
            <a:ext cx="7239000" cy="33147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 eaLnBrk="0" hangingPunct="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 eaLnBrk="0" hangingPunct="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 eaLnBrk="0" hangingPunct="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 eaLnBrk="0" hangingPunct="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ts val="200"/>
              </a:spcBef>
              <a:buClrTx/>
              <a:buSzTx/>
              <a:buNone/>
            </a:pPr>
            <a:r>
              <a:rPr lang="en-US" altLang="en-US" sz="2000" b="1">
                <a:latin typeface="Courier New" panose="02070309020205020404" pitchFamily="49" charset="0"/>
              </a:rPr>
              <a:t>.data</a:t>
            </a:r>
          </a:p>
          <a:p>
            <a:pPr eaLnBrk="1" hangingPunct="1">
              <a:lnSpc>
                <a:spcPct val="80000"/>
              </a:lnSpc>
              <a:spcBef>
                <a:spcPts val="200"/>
              </a:spcBef>
              <a:buClrTx/>
              <a:buSzTx/>
              <a:buNone/>
            </a:pPr>
            <a:r>
              <a:rPr lang="en-US" altLang="en-US" sz="2000" b="1">
                <a:latin typeface="Courier New" panose="02070309020205020404" pitchFamily="49" charset="0"/>
              </a:rPr>
              <a:t>aList db 10h,20h,30h</a:t>
            </a:r>
          </a:p>
          <a:p>
            <a:pPr eaLnBrk="1" hangingPunct="1">
              <a:lnSpc>
                <a:spcPct val="80000"/>
              </a:lnSpc>
              <a:spcBef>
                <a:spcPts val="200"/>
              </a:spcBef>
              <a:buClrTx/>
              <a:buSzTx/>
              <a:buNone/>
            </a:pPr>
            <a:r>
              <a:rPr lang="en-US" altLang="en-US" sz="2000" b="1">
                <a:latin typeface="Courier New" panose="02070309020205020404" pitchFamily="49" charset="0"/>
              </a:rPr>
              <a:t>sum   db 0</a:t>
            </a:r>
          </a:p>
          <a:p>
            <a:pPr eaLnBrk="1" hangingPunct="1">
              <a:lnSpc>
                <a:spcPct val="80000"/>
              </a:lnSpc>
              <a:spcBef>
                <a:spcPts val="200"/>
              </a:spcBef>
              <a:buClrTx/>
              <a:buSzTx/>
              <a:buNone/>
            </a:pPr>
            <a:r>
              <a:rPr lang="en-US" altLang="en-US" sz="2000" b="1">
                <a:latin typeface="Courier New" panose="02070309020205020404" pitchFamily="49" charset="0"/>
              </a:rPr>
              <a:t>.code</a:t>
            </a:r>
          </a:p>
          <a:p>
            <a:pPr eaLnBrk="1" hangingPunct="1">
              <a:lnSpc>
                <a:spcPct val="80000"/>
              </a:lnSpc>
              <a:spcBef>
                <a:spcPts val="200"/>
              </a:spcBef>
              <a:buClrTx/>
              <a:buSzTx/>
              <a:buNone/>
            </a:pPr>
            <a:r>
              <a:rPr lang="en-US" altLang="en-US" sz="2000" b="1">
                <a:latin typeface="Courier New" panose="02070309020205020404" pitchFamily="49" charset="0"/>
              </a:rPr>
              <a:t>mov bx,offset aList   </a:t>
            </a:r>
          </a:p>
          <a:p>
            <a:pPr eaLnBrk="1" hangingPunct="1">
              <a:lnSpc>
                <a:spcPct val="80000"/>
              </a:lnSpc>
              <a:spcBef>
                <a:spcPts val="200"/>
              </a:spcBef>
              <a:buClrTx/>
              <a:buSzTx/>
              <a:buNone/>
            </a:pPr>
            <a:r>
              <a:rPr lang="en-US" altLang="en-US" sz="2000" b="1">
                <a:latin typeface="Courier New" panose="02070309020205020404" pitchFamily="49" charset="0"/>
              </a:rPr>
              <a:t>mov al,[bx]		   ; AL = 10h</a:t>
            </a:r>
          </a:p>
          <a:p>
            <a:pPr eaLnBrk="1" hangingPunct="1">
              <a:lnSpc>
                <a:spcPct val="80000"/>
              </a:lnSpc>
              <a:spcBef>
                <a:spcPts val="200"/>
              </a:spcBef>
              <a:buClrTx/>
              <a:buSzTx/>
              <a:buNone/>
            </a:pPr>
            <a:r>
              <a:rPr lang="en-US" altLang="en-US" sz="2000" b="1">
                <a:latin typeface="Courier New" panose="02070309020205020404" pitchFamily="49" charset="0"/>
              </a:rPr>
              <a:t>inc bx</a:t>
            </a:r>
          </a:p>
          <a:p>
            <a:pPr eaLnBrk="1" hangingPunct="1">
              <a:lnSpc>
                <a:spcPct val="80000"/>
              </a:lnSpc>
              <a:spcBef>
                <a:spcPts val="200"/>
              </a:spcBef>
              <a:buClrTx/>
              <a:buSzTx/>
              <a:buNone/>
            </a:pPr>
            <a:r>
              <a:rPr lang="en-US" altLang="en-US" sz="2000" b="1">
                <a:latin typeface="Courier New" panose="02070309020205020404" pitchFamily="49" charset="0"/>
              </a:rPr>
              <a:t>add al,[bx]		   ; AL = 30h</a:t>
            </a:r>
          </a:p>
          <a:p>
            <a:pPr eaLnBrk="1" hangingPunct="1">
              <a:lnSpc>
                <a:spcPct val="80000"/>
              </a:lnSpc>
              <a:spcBef>
                <a:spcPts val="200"/>
              </a:spcBef>
              <a:buClrTx/>
              <a:buSzTx/>
              <a:buNone/>
            </a:pPr>
            <a:r>
              <a:rPr lang="en-US" altLang="en-US" sz="2000" b="1">
                <a:latin typeface="Courier New" panose="02070309020205020404" pitchFamily="49" charset="0"/>
              </a:rPr>
              <a:t>inc bx</a:t>
            </a:r>
          </a:p>
          <a:p>
            <a:pPr eaLnBrk="1" hangingPunct="1">
              <a:lnSpc>
                <a:spcPct val="80000"/>
              </a:lnSpc>
              <a:spcBef>
                <a:spcPts val="200"/>
              </a:spcBef>
              <a:buClrTx/>
              <a:buSzTx/>
              <a:buNone/>
            </a:pPr>
            <a:r>
              <a:rPr lang="en-US" altLang="en-US" sz="2000" b="1">
                <a:latin typeface="Courier New" panose="02070309020205020404" pitchFamily="49" charset="0"/>
              </a:rPr>
              <a:t>add al,[bx]		   ; AL = 60h</a:t>
            </a:r>
          </a:p>
          <a:p>
            <a:pPr eaLnBrk="1" hangingPunct="1">
              <a:lnSpc>
                <a:spcPct val="80000"/>
              </a:lnSpc>
              <a:spcBef>
                <a:spcPts val="200"/>
              </a:spcBef>
              <a:buClrTx/>
              <a:buSzTx/>
              <a:buNone/>
            </a:pPr>
            <a:r>
              <a:rPr lang="en-US" altLang="en-US" sz="2000" b="1">
                <a:latin typeface="Courier New" panose="02070309020205020404" pitchFamily="49" charset="0"/>
              </a:rPr>
              <a:t>mov si,offset sum	   ; get offset of sum</a:t>
            </a:r>
          </a:p>
          <a:p>
            <a:pPr eaLnBrk="1" hangingPunct="1">
              <a:lnSpc>
                <a:spcPct val="80000"/>
              </a:lnSpc>
              <a:spcBef>
                <a:spcPts val="200"/>
              </a:spcBef>
              <a:buClrTx/>
              <a:buSzTx/>
              <a:buNone/>
            </a:pPr>
            <a:r>
              <a:rPr lang="en-US" altLang="en-US" sz="2000" b="1">
                <a:latin typeface="Courier New" panose="02070309020205020404" pitchFamily="49" charset="0"/>
              </a:rPr>
              <a:t>mov [si],al		   ; store the sum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E1F10A-FC01-8FE4-AB83-DE45BF447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10000"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48BAEC66-DDD4-4439-B781-5BE3A816F255}" type="slidenum">
              <a:rPr lang="en-US" altLang="en-US">
                <a:solidFill>
                  <a:schemeClr val="tx2"/>
                </a:solidFill>
                <a:latin typeface="Gill Sans MT" panose="020B0502020104020203" pitchFamily="34" charset="0"/>
              </a:rPr>
              <a:pPr eaLnBrk="1" hangingPunct="1"/>
              <a:t>25</a:t>
            </a:fld>
            <a:endParaRPr lang="en-US" altLang="en-US">
              <a:solidFill>
                <a:schemeClr val="tx2"/>
              </a:solidFill>
              <a:latin typeface="Gill Sans MT" panose="020B0502020104020203" pitchFamily="34" charset="0"/>
            </a:endParaRPr>
          </a:p>
        </p:txBody>
      </p:sp>
      <p:sp>
        <p:nvSpPr>
          <p:cNvPr id="28675" name="Rectangle 4">
            <a:extLst>
              <a:ext uri="{FF2B5EF4-FFF2-40B4-BE49-F238E27FC236}">
                <a16:creationId xmlns:a16="http://schemas.microsoft.com/office/drawing/2014/main" id="{327E9985-AF09-A55A-F90A-E68C66CD8B1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381000"/>
            <a:ext cx="8229600" cy="533400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Adding 8-bit Integers</a:t>
            </a:r>
          </a:p>
        </p:txBody>
      </p:sp>
      <p:sp>
        <p:nvSpPr>
          <p:cNvPr id="38917" name="Text Box 5">
            <a:extLst>
              <a:ext uri="{FF2B5EF4-FFF2-40B4-BE49-F238E27FC236}">
                <a16:creationId xmlns:a16="http://schemas.microsoft.com/office/drawing/2014/main" id="{A698C31E-9E08-01BE-8F54-A6F7102021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4572000"/>
            <a:ext cx="7467600" cy="146347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 eaLnBrk="0" hangingPunct="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 eaLnBrk="0" hangingPunct="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 eaLnBrk="0" hangingPunct="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 eaLnBrk="0" hangingPunct="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accent2"/>
                </a:solidFill>
                <a:latin typeface="Arial" panose="020B0604020202020204" pitchFamily="34" charset="0"/>
              </a:rPr>
              <a:t>If you want to paste a code example such as this into a program, remember that the code segment must always begin with the following statements:</a:t>
            </a:r>
          </a:p>
          <a:p>
            <a:pPr eaLnBrk="1" hangingPunct="1">
              <a:lnSpc>
                <a:spcPct val="4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latin typeface="Courier New" panose="02070309020205020404" pitchFamily="49" charset="0"/>
              </a:rPr>
              <a:t>mov ax,@data</a:t>
            </a:r>
          </a:p>
          <a:p>
            <a:pPr eaLnBrk="1" hangingPunct="1">
              <a:lnSpc>
                <a:spcPct val="4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latin typeface="Courier New" panose="02070309020205020404" pitchFamily="49" charset="0"/>
              </a:rPr>
              <a:t>mov ds,ax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7" grpId="0" animBg="1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4">
            <a:extLst>
              <a:ext uri="{FF2B5EF4-FFF2-40B4-BE49-F238E27FC236}">
                <a16:creationId xmlns:a16="http://schemas.microsoft.com/office/drawing/2014/main" id="{56117DD5-0A22-0ED3-8002-A0114A47D5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8116" y="2100262"/>
            <a:ext cx="6400800" cy="26574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137160" bIns="137160">
            <a:spAutoFit/>
          </a:bodyPr>
          <a:lstStyle>
            <a:lvl1pPr eaLnBrk="0" hangingPunct="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 eaLnBrk="0" hangingPunct="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 eaLnBrk="0" hangingPunct="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 eaLnBrk="0" hangingPunct="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 eaLnBrk="0" hangingPunct="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ts val="200"/>
              </a:spcBef>
              <a:buClrTx/>
              <a:buSzTx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.data</a:t>
            </a:r>
          </a:p>
          <a:p>
            <a:pPr eaLnBrk="1" hangingPunct="1">
              <a:spcBef>
                <a:spcPts val="200"/>
              </a:spcBef>
              <a:buClrTx/>
              <a:buSzTx/>
              <a:buNone/>
            </a:pPr>
            <a:r>
              <a:rPr lang="en-US" altLang="en-US" sz="1800" b="1" dirty="0" err="1">
                <a:latin typeface="Courier New" panose="02070309020205020404" pitchFamily="49" charset="0"/>
              </a:rPr>
              <a:t>wordList</a:t>
            </a:r>
            <a:r>
              <a:rPr lang="en-US" altLang="en-US" sz="1800" b="1" dirty="0">
                <a:latin typeface="Courier New" panose="02070309020205020404" pitchFamily="49" charset="0"/>
              </a:rPr>
              <a:t> </a:t>
            </a:r>
            <a:r>
              <a:rPr lang="en-US" altLang="en-US" sz="1800" b="1" dirty="0" err="1">
                <a:latin typeface="Courier New" panose="02070309020205020404" pitchFamily="49" charset="0"/>
              </a:rPr>
              <a:t>dw</a:t>
            </a:r>
            <a:r>
              <a:rPr lang="en-US" altLang="en-US" sz="1800" b="1" dirty="0">
                <a:latin typeface="Courier New" panose="02070309020205020404" pitchFamily="49" charset="0"/>
              </a:rPr>
              <a:t> 1000h,2000h,3000h, 0</a:t>
            </a:r>
          </a:p>
          <a:p>
            <a:pPr eaLnBrk="1" hangingPunct="1">
              <a:spcBef>
                <a:spcPts val="200"/>
              </a:spcBef>
              <a:buClrTx/>
              <a:buSzTx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.code</a:t>
            </a:r>
          </a:p>
          <a:p>
            <a:pPr eaLnBrk="1" hangingPunct="1">
              <a:spcBef>
                <a:spcPts val="200"/>
              </a:spcBef>
              <a:buClrTx/>
              <a:buSzTx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mov </a:t>
            </a:r>
            <a:r>
              <a:rPr lang="en-US" altLang="en-US" sz="1800" b="1" dirty="0" err="1">
                <a:latin typeface="Courier New" panose="02070309020205020404" pitchFamily="49" charset="0"/>
              </a:rPr>
              <a:t>bx,offset</a:t>
            </a:r>
            <a:r>
              <a:rPr lang="en-US" altLang="en-US" sz="1800" b="1" dirty="0">
                <a:latin typeface="Courier New" panose="02070309020205020404" pitchFamily="49" charset="0"/>
              </a:rPr>
              <a:t> </a:t>
            </a:r>
            <a:r>
              <a:rPr lang="en-US" altLang="en-US" sz="1800" b="1" dirty="0" err="1">
                <a:latin typeface="Courier New" panose="02070309020205020404" pitchFamily="49" charset="0"/>
              </a:rPr>
              <a:t>wordList</a:t>
            </a:r>
            <a:endParaRPr lang="en-US" altLang="en-US" sz="1800" b="1" dirty="0">
              <a:latin typeface="Courier New" panose="02070309020205020404" pitchFamily="49" charset="0"/>
            </a:endParaRPr>
          </a:p>
          <a:p>
            <a:pPr eaLnBrk="1" hangingPunct="1">
              <a:spcBef>
                <a:spcPts val="200"/>
              </a:spcBef>
              <a:buClrTx/>
              <a:buSzTx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mov ax,[bx]		; first number</a:t>
            </a:r>
          </a:p>
          <a:p>
            <a:pPr eaLnBrk="1" hangingPunct="1">
              <a:spcBef>
                <a:spcPts val="200"/>
              </a:spcBef>
              <a:buClrTx/>
              <a:buSzTx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add ax,[bx+2]		; second number</a:t>
            </a:r>
          </a:p>
          <a:p>
            <a:pPr eaLnBrk="1" hangingPunct="1">
              <a:spcBef>
                <a:spcPts val="200"/>
              </a:spcBef>
              <a:buClrTx/>
              <a:buSzTx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add ax,[bx+4]		; third number</a:t>
            </a:r>
          </a:p>
          <a:p>
            <a:pPr eaLnBrk="1" hangingPunct="1">
              <a:spcBef>
                <a:spcPts val="200"/>
              </a:spcBef>
              <a:buClrTx/>
              <a:buSzTx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mov [bx+6],ax		; store the sum</a:t>
            </a:r>
          </a:p>
        </p:txBody>
      </p:sp>
      <p:pic>
        <p:nvPicPr>
          <p:cNvPr id="29699" name="Picture 6">
            <a:extLst>
              <a:ext uri="{FF2B5EF4-FFF2-40B4-BE49-F238E27FC236}">
                <a16:creationId xmlns:a16="http://schemas.microsoft.com/office/drawing/2014/main" id="{CD05A17D-4342-4DD9-8F71-B032F5A28F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200" y="5167311"/>
            <a:ext cx="3505200" cy="1181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7B624A-9FFA-4FE8-1DA1-818D3C5F4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10000"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02F0383-94D7-41F8-98EF-8A628049A08E}" type="slidenum">
              <a:rPr lang="en-US" altLang="en-US">
                <a:solidFill>
                  <a:schemeClr val="tx2"/>
                </a:solidFill>
                <a:latin typeface="Gill Sans MT" panose="020B0502020104020203" pitchFamily="34" charset="0"/>
              </a:rPr>
              <a:pPr eaLnBrk="1" hangingPunct="1"/>
              <a:t>26</a:t>
            </a:fld>
            <a:endParaRPr lang="en-US" altLang="en-US">
              <a:solidFill>
                <a:schemeClr val="tx2"/>
              </a:solidFill>
              <a:latin typeface="Gill Sans MT" panose="020B0502020104020203" pitchFamily="34" charset="0"/>
            </a:endParaRPr>
          </a:p>
        </p:txBody>
      </p:sp>
      <p:sp>
        <p:nvSpPr>
          <p:cNvPr id="29700" name="Rectangle 7">
            <a:extLst>
              <a:ext uri="{FF2B5EF4-FFF2-40B4-BE49-F238E27FC236}">
                <a16:creationId xmlns:a16="http://schemas.microsoft.com/office/drawing/2014/main" id="{E234021E-963E-E0A2-BCE7-B6719E96D75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pPr algn="ctr"/>
            <a:r>
              <a:rPr lang="en-US" altLang="en-US" dirty="0"/>
              <a:t>Adding 16-bit Integers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1602</TotalTime>
  <Words>1057</Words>
  <Application>Microsoft Office PowerPoint</Application>
  <PresentationFormat>Widescreen</PresentationFormat>
  <Paragraphs>185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Arial</vt:lpstr>
      <vt:lpstr>Century Gothic</vt:lpstr>
      <vt:lpstr>Courier New</vt:lpstr>
      <vt:lpstr>Gill Sans MT</vt:lpstr>
      <vt:lpstr>Verdana</vt:lpstr>
      <vt:lpstr>Wingdings 3</vt:lpstr>
      <vt:lpstr>Wisp</vt:lpstr>
      <vt:lpstr>PowerPoint Presentation</vt:lpstr>
      <vt:lpstr>Multiplication</vt:lpstr>
      <vt:lpstr>Byte x Byte</vt:lpstr>
      <vt:lpstr>Byte x byte</vt:lpstr>
      <vt:lpstr>Word x word</vt:lpstr>
      <vt:lpstr>Word x byte</vt:lpstr>
      <vt:lpstr>PowerPoint Presentation</vt:lpstr>
      <vt:lpstr>MUL (Flags)</vt:lpstr>
      <vt:lpstr>DIV Instruction</vt:lpstr>
      <vt:lpstr>Byte/byte</vt:lpstr>
      <vt:lpstr>Byte/byte</vt:lpstr>
      <vt:lpstr>Word/word</vt:lpstr>
      <vt:lpstr>Doubleword/word</vt:lpstr>
      <vt:lpstr>PowerPoint Presentation</vt:lpstr>
      <vt:lpstr>Doubleword/word</vt:lpstr>
      <vt:lpstr>Divide Overflow</vt:lpstr>
      <vt:lpstr>Variables In Emu8086</vt:lpstr>
      <vt:lpstr>Example</vt:lpstr>
      <vt:lpstr>One Dimensional Array</vt:lpstr>
      <vt:lpstr>Base-plus-Index addressing mode</vt:lpstr>
      <vt:lpstr>PROGRAM TO MOVE ELEMNETS TO REGISTERS</vt:lpstr>
      <vt:lpstr>The DUP Operator</vt:lpstr>
      <vt:lpstr>CONSTANTS</vt:lpstr>
      <vt:lpstr>Example</vt:lpstr>
      <vt:lpstr>Adding 8-bit Integers</vt:lpstr>
      <vt:lpstr>Adding 16-bit Integers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Hina Tahir</dc:creator>
  <cp:lastModifiedBy>Hina Tahir</cp:lastModifiedBy>
  <cp:revision>4</cp:revision>
  <dcterms:created xsi:type="dcterms:W3CDTF">2024-11-04T15:59:30Z</dcterms:created>
  <dcterms:modified xsi:type="dcterms:W3CDTF">2025-10-21T16:45:45Z</dcterms:modified>
</cp:coreProperties>
</file>