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6" r:id="rId8"/>
    <p:sldId id="302" r:id="rId9"/>
    <p:sldId id="300" r:id="rId10"/>
    <p:sldId id="303" r:id="rId11"/>
    <p:sldId id="301" r:id="rId12"/>
    <p:sldId id="288" r:id="rId13"/>
    <p:sldId id="262" r:id="rId14"/>
    <p:sldId id="263" r:id="rId15"/>
    <p:sldId id="295" r:id="rId16"/>
    <p:sldId id="289" r:id="rId17"/>
    <p:sldId id="294" r:id="rId18"/>
    <p:sldId id="264" r:id="rId19"/>
    <p:sldId id="290" r:id="rId20"/>
    <p:sldId id="265" r:id="rId21"/>
    <p:sldId id="291" r:id="rId22"/>
    <p:sldId id="267" r:id="rId23"/>
    <p:sldId id="296" r:id="rId24"/>
    <p:sldId id="297" r:id="rId25"/>
    <p:sldId id="298" r:id="rId26"/>
    <p:sldId id="29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78" d="100"/>
          <a:sy n="78" d="100"/>
        </p:scale>
        <p:origin x="8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661010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09656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681964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1565857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E019A3-2313-4628-A223-6A8AFF175DD1}"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1583290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E019A3-2313-4628-A223-6A8AFF175DD1}"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319610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019A3-2313-4628-A223-6A8AFF175DD1}"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1497642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2113154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533857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83507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374678-CF4D-4F61-9568-35C6333849D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93020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611809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374678-CF4D-4F61-9568-35C6333849D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49099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8E019A3-2313-4628-A223-6A8AFF175DD1}"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455427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3541444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E019A3-2313-4628-A223-6A8AFF175DD1}"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374678-CF4D-4F61-9568-35C6333849DB}" type="slidenum">
              <a:rPr lang="en-US" smtClean="0"/>
              <a:t>‹#›</a:t>
            </a:fld>
            <a:endParaRPr lang="en-US"/>
          </a:p>
        </p:txBody>
      </p:sp>
    </p:spTree>
    <p:extLst>
      <p:ext uri="{BB962C8B-B14F-4D97-AF65-F5344CB8AC3E}">
        <p14:creationId xmlns:p14="http://schemas.microsoft.com/office/powerpoint/2010/main" val="2831874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E019A3-2313-4628-A223-6A8AFF175DD1}" type="datetimeFigureOut">
              <a:rPr lang="en-US" smtClean="0"/>
              <a:t>11/4/2025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8374678-CF4D-4F61-9568-35C6333849DB}" type="slidenum">
              <a:rPr lang="en-US" smtClean="0"/>
              <a:t>‹#›</a:t>
            </a:fld>
            <a:endParaRPr lang="en-US"/>
          </a:p>
        </p:txBody>
      </p:sp>
    </p:spTree>
    <p:extLst>
      <p:ext uri="{BB962C8B-B14F-4D97-AF65-F5344CB8AC3E}">
        <p14:creationId xmlns:p14="http://schemas.microsoft.com/office/powerpoint/2010/main" val="14062143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C6FC-3F27-13C1-5D5B-ACC51AF1D64F}"/>
              </a:ext>
            </a:extLst>
          </p:cNvPr>
          <p:cNvSpPr>
            <a:spLocks noGrp="1"/>
          </p:cNvSpPr>
          <p:nvPr>
            <p:ph type="ctrTitle"/>
          </p:nvPr>
        </p:nvSpPr>
        <p:spPr/>
        <p:txBody>
          <a:bodyPr>
            <a:normAutofit/>
          </a:bodyPr>
          <a:lstStyle/>
          <a:p>
            <a:r>
              <a:rPr lang="en-US" b="1" dirty="0"/>
              <a:t>Computer Organization and Assembly Language</a:t>
            </a:r>
          </a:p>
        </p:txBody>
      </p:sp>
    </p:spTree>
    <p:extLst>
      <p:ext uri="{BB962C8B-B14F-4D97-AF65-F5344CB8AC3E}">
        <p14:creationId xmlns:p14="http://schemas.microsoft.com/office/powerpoint/2010/main" val="1669881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5B3A-4D1D-32E9-13BD-C62D5A194032}"/>
              </a:ext>
            </a:extLst>
          </p:cNvPr>
          <p:cNvSpPr>
            <a:spLocks noGrp="1"/>
          </p:cNvSpPr>
          <p:nvPr>
            <p:ph type="title"/>
          </p:nvPr>
        </p:nvSpPr>
        <p:spPr/>
        <p:txBody>
          <a:bodyPr>
            <a:normAutofit/>
          </a:bodyPr>
          <a:lstStyle/>
          <a:p>
            <a:pPr algn="ctr"/>
            <a:r>
              <a:rPr lang="en-US" sz="4400" b="1" dirty="0"/>
              <a:t>shift</a:t>
            </a:r>
          </a:p>
        </p:txBody>
      </p:sp>
      <p:sp>
        <p:nvSpPr>
          <p:cNvPr id="3" name="Content Placeholder 2">
            <a:extLst>
              <a:ext uri="{FF2B5EF4-FFF2-40B4-BE49-F238E27FC236}">
                <a16:creationId xmlns:a16="http://schemas.microsoft.com/office/drawing/2014/main" id="{D71137AD-634C-EBD1-A436-1A06BFDA8F02}"/>
              </a:ext>
            </a:extLst>
          </p:cNvPr>
          <p:cNvSpPr>
            <a:spLocks noGrp="1"/>
          </p:cNvSpPr>
          <p:nvPr>
            <p:ph idx="1"/>
          </p:nvPr>
        </p:nvSpPr>
        <p:spPr/>
        <p:txBody>
          <a:bodyPr>
            <a:normAutofit/>
          </a:bodyPr>
          <a:lstStyle/>
          <a:p>
            <a:pPr algn="just"/>
            <a:r>
              <a:rPr lang="en-US" dirty="0"/>
              <a:t>There are two kinds of shift: logical and arithmetic. </a:t>
            </a:r>
          </a:p>
          <a:p>
            <a:pPr marL="0" indent="0" algn="just">
              <a:buNone/>
            </a:pPr>
            <a:endParaRPr lang="en-US" dirty="0"/>
          </a:p>
          <a:p>
            <a:pPr algn="just"/>
            <a:r>
              <a:rPr lang="en-US" dirty="0"/>
              <a:t>The logical shift is for unsigned operands, and the arithmetic shift is for signed operands.</a:t>
            </a:r>
          </a:p>
          <a:p>
            <a:pPr algn="just"/>
            <a:endParaRPr lang="en-US" dirty="0"/>
          </a:p>
          <a:p>
            <a:pPr algn="just"/>
            <a:r>
              <a:rPr lang="en-US" dirty="0"/>
              <a:t>The number of times (or bits) that the operand is shifted can be specified directly if it is once only, or through the CL register if it is more than once.</a:t>
            </a:r>
          </a:p>
        </p:txBody>
      </p:sp>
    </p:spTree>
    <p:extLst>
      <p:ext uri="{BB962C8B-B14F-4D97-AF65-F5344CB8AC3E}">
        <p14:creationId xmlns:p14="http://schemas.microsoft.com/office/powerpoint/2010/main" val="841667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AA6C-B316-D031-1206-8F23AF75AE1B}"/>
              </a:ext>
            </a:extLst>
          </p:cNvPr>
          <p:cNvSpPr>
            <a:spLocks noGrp="1"/>
          </p:cNvSpPr>
          <p:nvPr>
            <p:ph type="title"/>
          </p:nvPr>
        </p:nvSpPr>
        <p:spPr/>
        <p:txBody>
          <a:bodyPr/>
          <a:lstStyle/>
          <a:p>
            <a:pPr algn="ctr"/>
            <a:r>
              <a:rPr lang="en-US" sz="5400" b="1" dirty="0"/>
              <a:t>SHR</a:t>
            </a:r>
            <a:endParaRPr lang="en-US" b="1" dirty="0"/>
          </a:p>
        </p:txBody>
      </p:sp>
      <p:sp>
        <p:nvSpPr>
          <p:cNvPr id="4" name="Content Placeholder 3">
            <a:extLst>
              <a:ext uri="{FF2B5EF4-FFF2-40B4-BE49-F238E27FC236}">
                <a16:creationId xmlns:a16="http://schemas.microsoft.com/office/drawing/2014/main" id="{02E71981-6451-BE5F-6947-14EB8C72487D}"/>
              </a:ext>
            </a:extLst>
          </p:cNvPr>
          <p:cNvSpPr>
            <a:spLocks noGrp="1"/>
          </p:cNvSpPr>
          <p:nvPr>
            <p:ph idx="1"/>
          </p:nvPr>
        </p:nvSpPr>
        <p:spPr>
          <a:xfrm>
            <a:off x="1024128" y="2285999"/>
            <a:ext cx="9720073" cy="4309353"/>
          </a:xfrm>
        </p:spPr>
        <p:txBody>
          <a:bodyPr>
            <a:normAutofit/>
          </a:bodyPr>
          <a:lstStyle/>
          <a:p>
            <a:pPr algn="just"/>
            <a:r>
              <a:rPr lang="en-US" dirty="0"/>
              <a:t>This is the logical shift right.</a:t>
            </a:r>
          </a:p>
          <a:p>
            <a:pPr algn="just"/>
            <a:r>
              <a:rPr lang="en-US" dirty="0"/>
              <a:t>The operand is shifted right bit by bit, and for every shift, the LSB (least significant bit) will go to the carry flag (CF), and the MSB (most significant bit) is filled with 0. </a:t>
            </a:r>
          </a:p>
          <a:p>
            <a:pPr algn="just"/>
            <a:r>
              <a:rPr lang="en-US" dirty="0"/>
              <a:t>Examples should help to clarify SHR.</a:t>
            </a:r>
          </a:p>
          <a:p>
            <a:endParaRPr lang="en-US" dirty="0"/>
          </a:p>
        </p:txBody>
      </p:sp>
      <p:pic>
        <p:nvPicPr>
          <p:cNvPr id="7" name="Picture 6">
            <a:extLst>
              <a:ext uri="{FF2B5EF4-FFF2-40B4-BE49-F238E27FC236}">
                <a16:creationId xmlns:a16="http://schemas.microsoft.com/office/drawing/2014/main" id="{EA039959-E651-DC44-FA45-B127B3DE5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8" y="4102267"/>
            <a:ext cx="4943273" cy="2408261"/>
          </a:xfrm>
          <a:prstGeom prst="rect">
            <a:avLst/>
          </a:prstGeom>
        </p:spPr>
      </p:pic>
      <p:pic>
        <p:nvPicPr>
          <p:cNvPr id="5" name="Picture 4">
            <a:extLst>
              <a:ext uri="{FF2B5EF4-FFF2-40B4-BE49-F238E27FC236}">
                <a16:creationId xmlns:a16="http://schemas.microsoft.com/office/drawing/2014/main" id="{47563B5F-ECC9-7F8E-1FB1-E8F692BF6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1378" y="3988340"/>
            <a:ext cx="3762821" cy="1352145"/>
          </a:xfrm>
          <a:prstGeom prst="rect">
            <a:avLst/>
          </a:prstGeom>
        </p:spPr>
      </p:pic>
    </p:spTree>
    <p:extLst>
      <p:ext uri="{BB962C8B-B14F-4D97-AF65-F5344CB8AC3E}">
        <p14:creationId xmlns:p14="http://schemas.microsoft.com/office/powerpoint/2010/main" val="325657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25338-9705-2F9A-89FA-BC41BF582A6A}"/>
              </a:ext>
            </a:extLst>
          </p:cNvPr>
          <p:cNvSpPr>
            <a:spLocks noGrp="1"/>
          </p:cNvSpPr>
          <p:nvPr>
            <p:ph type="title"/>
          </p:nvPr>
        </p:nvSpPr>
        <p:spPr/>
        <p:txBody>
          <a:bodyPr/>
          <a:lstStyle/>
          <a:p>
            <a:pPr algn="ctr"/>
            <a:r>
              <a:rPr lang="en-US" sz="4800" b="1" dirty="0"/>
              <a:t>SHR</a:t>
            </a:r>
            <a:endParaRPr lang="en-US" b="1" dirty="0"/>
          </a:p>
        </p:txBody>
      </p:sp>
      <p:sp>
        <p:nvSpPr>
          <p:cNvPr id="3" name="Content Placeholder 2">
            <a:extLst>
              <a:ext uri="{FF2B5EF4-FFF2-40B4-BE49-F238E27FC236}">
                <a16:creationId xmlns:a16="http://schemas.microsoft.com/office/drawing/2014/main" id="{D6B92404-268D-C5EE-4024-2D82813C9E98}"/>
              </a:ext>
            </a:extLst>
          </p:cNvPr>
          <p:cNvSpPr>
            <a:spLocks noGrp="1"/>
          </p:cNvSpPr>
          <p:nvPr>
            <p:ph idx="1"/>
          </p:nvPr>
        </p:nvSpPr>
        <p:spPr/>
        <p:txBody>
          <a:bodyPr>
            <a:normAutofit/>
          </a:bodyPr>
          <a:lstStyle/>
          <a:p>
            <a:pPr algn="just"/>
            <a:r>
              <a:rPr lang="en-US" dirty="0"/>
              <a:t>If the operand is to be shifted once only, this is specified in the SHR instruction itself rather than placing I in the CL. This saves coding of one instruction:</a:t>
            </a:r>
          </a:p>
          <a:p>
            <a:pPr algn="just"/>
            <a:endParaRPr lang="en-US" dirty="0"/>
          </a:p>
        </p:txBody>
      </p:sp>
      <p:pic>
        <p:nvPicPr>
          <p:cNvPr id="6" name="Picture 5">
            <a:extLst>
              <a:ext uri="{FF2B5EF4-FFF2-40B4-BE49-F238E27FC236}">
                <a16:creationId xmlns:a16="http://schemas.microsoft.com/office/drawing/2014/main" id="{AC5F25A1-9A11-DDAF-EB01-F31BFDBE8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1051" y="3557324"/>
            <a:ext cx="8989898" cy="2244340"/>
          </a:xfrm>
          <a:prstGeom prst="rect">
            <a:avLst/>
          </a:prstGeom>
        </p:spPr>
      </p:pic>
    </p:spTree>
    <p:extLst>
      <p:ext uri="{BB962C8B-B14F-4D97-AF65-F5344CB8AC3E}">
        <p14:creationId xmlns:p14="http://schemas.microsoft.com/office/powerpoint/2010/main" val="321937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5398-A9F3-130D-B4D4-C3EB8475A14E}"/>
              </a:ext>
            </a:extLst>
          </p:cNvPr>
          <p:cNvSpPr>
            <a:spLocks noGrp="1"/>
          </p:cNvSpPr>
          <p:nvPr>
            <p:ph type="title"/>
          </p:nvPr>
        </p:nvSpPr>
        <p:spPr/>
        <p:txBody>
          <a:bodyPr/>
          <a:lstStyle/>
          <a:p>
            <a:pPr algn="ctr"/>
            <a:r>
              <a:rPr lang="en-US" sz="5400" b="1" dirty="0"/>
              <a:t>SHR</a:t>
            </a:r>
            <a:endParaRPr lang="en-US" b="1" dirty="0"/>
          </a:p>
        </p:txBody>
      </p:sp>
      <p:pic>
        <p:nvPicPr>
          <p:cNvPr id="7" name="Content Placeholder 6">
            <a:extLst>
              <a:ext uri="{FF2B5EF4-FFF2-40B4-BE49-F238E27FC236}">
                <a16:creationId xmlns:a16="http://schemas.microsoft.com/office/drawing/2014/main" id="{1785EBFD-686B-9041-BD51-E7E8F3579D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8953" y="2084832"/>
            <a:ext cx="9967608" cy="1588402"/>
          </a:xfrm>
        </p:spPr>
      </p:pic>
      <p:pic>
        <p:nvPicPr>
          <p:cNvPr id="9" name="Picture 8">
            <a:extLst>
              <a:ext uri="{FF2B5EF4-FFF2-40B4-BE49-F238E27FC236}">
                <a16:creationId xmlns:a16="http://schemas.microsoft.com/office/drawing/2014/main" id="{5A36664F-ECAC-705D-ECF8-7A54F9EC16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127" y="4332133"/>
            <a:ext cx="10526005" cy="940258"/>
          </a:xfrm>
          <a:prstGeom prst="rect">
            <a:avLst/>
          </a:prstGeom>
        </p:spPr>
      </p:pic>
    </p:spTree>
    <p:extLst>
      <p:ext uri="{BB962C8B-B14F-4D97-AF65-F5344CB8AC3E}">
        <p14:creationId xmlns:p14="http://schemas.microsoft.com/office/powerpoint/2010/main" val="166957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50E4E-6A63-08B4-97CF-B333D125E656}"/>
              </a:ext>
            </a:extLst>
          </p:cNvPr>
          <p:cNvSpPr>
            <a:spLocks noGrp="1"/>
          </p:cNvSpPr>
          <p:nvPr>
            <p:ph type="title"/>
          </p:nvPr>
        </p:nvSpPr>
        <p:spPr/>
        <p:txBody>
          <a:bodyPr/>
          <a:lstStyle/>
          <a:p>
            <a:pPr algn="ctr"/>
            <a:r>
              <a:rPr lang="en-US" b="1" dirty="0"/>
              <a:t>SHL</a:t>
            </a:r>
          </a:p>
        </p:txBody>
      </p:sp>
      <p:sp>
        <p:nvSpPr>
          <p:cNvPr id="3" name="Content Placeholder 2">
            <a:extLst>
              <a:ext uri="{FF2B5EF4-FFF2-40B4-BE49-F238E27FC236}">
                <a16:creationId xmlns:a16="http://schemas.microsoft.com/office/drawing/2014/main" id="{801A662B-DE28-D4B0-3A2D-288E41FA05F5}"/>
              </a:ext>
            </a:extLst>
          </p:cNvPr>
          <p:cNvSpPr>
            <a:spLocks noGrp="1"/>
          </p:cNvSpPr>
          <p:nvPr>
            <p:ph idx="1"/>
          </p:nvPr>
        </p:nvSpPr>
        <p:spPr/>
        <p:txBody>
          <a:bodyPr/>
          <a:lstStyle/>
          <a:p>
            <a:pPr>
              <a:buFont typeface="Courier New" panose="02070309020205020404" pitchFamily="49" charset="0"/>
              <a:buChar char="o"/>
            </a:pPr>
            <a:r>
              <a:rPr lang="en-US" dirty="0"/>
              <a:t>Shift left is also a logical shift. </a:t>
            </a:r>
          </a:p>
          <a:p>
            <a:pPr>
              <a:buFont typeface="Courier New" panose="02070309020205020404" pitchFamily="49" charset="0"/>
              <a:buChar char="o"/>
            </a:pPr>
            <a:endParaRPr lang="en-US" dirty="0"/>
          </a:p>
          <a:p>
            <a:pPr>
              <a:buFont typeface="Courier New" panose="02070309020205020404" pitchFamily="49" charset="0"/>
              <a:buChar char="o"/>
            </a:pPr>
            <a:r>
              <a:rPr lang="en-US" dirty="0"/>
              <a:t>It is the reverse of SHR. After every shift, the LSB is filled with 0, and the MSB goes to CF.</a:t>
            </a:r>
          </a:p>
          <a:p>
            <a:pPr>
              <a:buFont typeface="Courier New" panose="02070309020205020404" pitchFamily="49" charset="0"/>
              <a:buChar char="o"/>
            </a:pPr>
            <a:endParaRPr lang="en-US" dirty="0"/>
          </a:p>
          <a:p>
            <a:pPr>
              <a:buFont typeface="Courier New" panose="02070309020205020404" pitchFamily="49" charset="0"/>
              <a:buChar char="o"/>
            </a:pPr>
            <a:r>
              <a:rPr lang="en-US" dirty="0"/>
              <a:t>All the rules are the same as SHR.</a:t>
            </a:r>
          </a:p>
        </p:txBody>
      </p:sp>
      <p:pic>
        <p:nvPicPr>
          <p:cNvPr id="5" name="Picture 4">
            <a:extLst>
              <a:ext uri="{FF2B5EF4-FFF2-40B4-BE49-F238E27FC236}">
                <a16:creationId xmlns:a16="http://schemas.microsoft.com/office/drawing/2014/main" id="{F6993171-FB79-26E0-A08E-B2C1008C56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0129" y="5137014"/>
            <a:ext cx="5394920" cy="914393"/>
          </a:xfrm>
          <a:prstGeom prst="rect">
            <a:avLst/>
          </a:prstGeom>
        </p:spPr>
      </p:pic>
    </p:spTree>
    <p:extLst>
      <p:ext uri="{BB962C8B-B14F-4D97-AF65-F5344CB8AC3E}">
        <p14:creationId xmlns:p14="http://schemas.microsoft.com/office/powerpoint/2010/main" val="1863500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DA51D-0388-FA02-0473-2BC70FFCCC5B}"/>
              </a:ext>
            </a:extLst>
          </p:cNvPr>
          <p:cNvSpPr>
            <a:spLocks noGrp="1"/>
          </p:cNvSpPr>
          <p:nvPr>
            <p:ph type="title"/>
          </p:nvPr>
        </p:nvSpPr>
        <p:spPr>
          <a:xfrm>
            <a:off x="994945" y="556033"/>
            <a:ext cx="9720072" cy="1499616"/>
          </a:xfrm>
        </p:spPr>
        <p:txBody>
          <a:bodyPr/>
          <a:lstStyle/>
          <a:p>
            <a:pPr algn="ctr"/>
            <a:r>
              <a:rPr lang="en-US" b="1" dirty="0"/>
              <a:t>SHL</a:t>
            </a:r>
          </a:p>
        </p:txBody>
      </p:sp>
      <p:pic>
        <p:nvPicPr>
          <p:cNvPr id="5" name="Content Placeholder 4">
            <a:extLst>
              <a:ext uri="{FF2B5EF4-FFF2-40B4-BE49-F238E27FC236}">
                <a16:creationId xmlns:a16="http://schemas.microsoft.com/office/drawing/2014/main" id="{BD53803E-33D6-7959-AFE0-948234F36A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0347" y="2314682"/>
            <a:ext cx="8207662" cy="1208880"/>
          </a:xfrm>
        </p:spPr>
      </p:pic>
      <p:pic>
        <p:nvPicPr>
          <p:cNvPr id="7" name="Picture 6">
            <a:extLst>
              <a:ext uri="{FF2B5EF4-FFF2-40B4-BE49-F238E27FC236}">
                <a16:creationId xmlns:a16="http://schemas.microsoft.com/office/drawing/2014/main" id="{C809F30C-6164-E985-3179-D85EC9C7E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347" y="4344210"/>
            <a:ext cx="8081202" cy="1616240"/>
          </a:xfrm>
          <a:prstGeom prst="rect">
            <a:avLst/>
          </a:prstGeom>
        </p:spPr>
      </p:pic>
    </p:spTree>
    <p:extLst>
      <p:ext uri="{BB962C8B-B14F-4D97-AF65-F5344CB8AC3E}">
        <p14:creationId xmlns:p14="http://schemas.microsoft.com/office/powerpoint/2010/main" val="282443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E7F98-02BB-667D-F46C-58659EFCD1B6}"/>
              </a:ext>
            </a:extLst>
          </p:cNvPr>
          <p:cNvSpPr>
            <a:spLocks noGrp="1"/>
          </p:cNvSpPr>
          <p:nvPr>
            <p:ph type="title"/>
          </p:nvPr>
        </p:nvSpPr>
        <p:spPr/>
        <p:txBody>
          <a:bodyPr/>
          <a:lstStyle/>
          <a:p>
            <a:pPr algn="ctr"/>
            <a:r>
              <a:rPr lang="en-US" b="1" dirty="0"/>
              <a:t>ARITHMETIC SHIFT</a:t>
            </a:r>
          </a:p>
        </p:txBody>
      </p:sp>
      <p:sp>
        <p:nvSpPr>
          <p:cNvPr id="3" name="Content Placeholder 2">
            <a:extLst>
              <a:ext uri="{FF2B5EF4-FFF2-40B4-BE49-F238E27FC236}">
                <a16:creationId xmlns:a16="http://schemas.microsoft.com/office/drawing/2014/main" id="{194FFD21-44FB-C815-F76B-EEEC5C754965}"/>
              </a:ext>
            </a:extLst>
          </p:cNvPr>
          <p:cNvSpPr>
            <a:spLocks noGrp="1"/>
          </p:cNvSpPr>
          <p:nvPr>
            <p:ph idx="1"/>
          </p:nvPr>
        </p:nvSpPr>
        <p:spPr/>
        <p:txBody>
          <a:bodyPr/>
          <a:lstStyle/>
          <a:p>
            <a:pPr algn="just">
              <a:buFont typeface="Courier New" panose="02070309020205020404" pitchFamily="49" charset="0"/>
              <a:buChar char="o"/>
            </a:pPr>
            <a:r>
              <a:rPr lang="en-US" dirty="0"/>
              <a:t>The arithmetic shift is used for signed numbers. </a:t>
            </a:r>
          </a:p>
          <a:p>
            <a:pPr algn="just">
              <a:buFont typeface="Courier New" panose="02070309020205020404" pitchFamily="49" charset="0"/>
              <a:buChar char="o"/>
            </a:pPr>
            <a:endParaRPr lang="en-US" dirty="0"/>
          </a:p>
          <a:p>
            <a:pPr algn="just">
              <a:buFont typeface="Courier New" panose="02070309020205020404" pitchFamily="49" charset="0"/>
              <a:buChar char="o"/>
            </a:pPr>
            <a:r>
              <a:rPr lang="en-US" dirty="0"/>
              <a:t>It is basically the same as the logical shift, except that the sign bit is copied to the shifted bits. </a:t>
            </a:r>
          </a:p>
          <a:p>
            <a:pPr algn="just">
              <a:buFont typeface="Courier New" panose="02070309020205020404" pitchFamily="49" charset="0"/>
              <a:buChar char="o"/>
            </a:pPr>
            <a:endParaRPr lang="en-US" dirty="0"/>
          </a:p>
          <a:p>
            <a:pPr algn="just">
              <a:buFont typeface="Courier New" panose="02070309020205020404" pitchFamily="49" charset="0"/>
              <a:buChar char="o"/>
            </a:pPr>
            <a:r>
              <a:rPr lang="en-US" dirty="0"/>
              <a:t>SAR (shift arithmetic right) and SAL (shift arithmetic left) are two instructions for the arithmetic shift.</a:t>
            </a:r>
          </a:p>
        </p:txBody>
      </p:sp>
    </p:spTree>
    <p:extLst>
      <p:ext uri="{BB962C8B-B14F-4D97-AF65-F5344CB8AC3E}">
        <p14:creationId xmlns:p14="http://schemas.microsoft.com/office/powerpoint/2010/main" val="2458925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6AF6-48AE-BED8-B4A2-4D25D71614CB}"/>
              </a:ext>
            </a:extLst>
          </p:cNvPr>
          <p:cNvSpPr>
            <a:spLocks noGrp="1"/>
          </p:cNvSpPr>
          <p:nvPr>
            <p:ph type="title"/>
          </p:nvPr>
        </p:nvSpPr>
        <p:spPr/>
        <p:txBody>
          <a:bodyPr/>
          <a:lstStyle/>
          <a:p>
            <a:pPr algn="ctr"/>
            <a:r>
              <a:rPr lang="en-US" b="1" dirty="0"/>
              <a:t>SAR</a:t>
            </a:r>
          </a:p>
        </p:txBody>
      </p:sp>
      <p:sp>
        <p:nvSpPr>
          <p:cNvPr id="3" name="Content Placeholder 2">
            <a:extLst>
              <a:ext uri="{FF2B5EF4-FFF2-40B4-BE49-F238E27FC236}">
                <a16:creationId xmlns:a16="http://schemas.microsoft.com/office/drawing/2014/main" id="{DC0F6560-5B87-211C-9C17-2D39DC0E5D44}"/>
              </a:ext>
            </a:extLst>
          </p:cNvPr>
          <p:cNvSpPr>
            <a:spLocks noGrp="1"/>
          </p:cNvSpPr>
          <p:nvPr>
            <p:ph idx="1"/>
          </p:nvPr>
        </p:nvSpPr>
        <p:spPr>
          <a:xfrm>
            <a:off x="1235963" y="2249424"/>
            <a:ext cx="9720073" cy="4023360"/>
          </a:xfrm>
        </p:spPr>
        <p:txBody>
          <a:bodyPr/>
          <a:lstStyle/>
          <a:p>
            <a:pPr algn="just"/>
            <a:r>
              <a:rPr lang="en-US" dirty="0"/>
              <a:t>SAR 	destination, count</a:t>
            </a:r>
          </a:p>
          <a:p>
            <a:pPr algn="just"/>
            <a:endParaRPr lang="en-US" dirty="0"/>
          </a:p>
          <a:p>
            <a:pPr algn="just"/>
            <a:r>
              <a:rPr lang="en-US" dirty="0"/>
              <a:t>As the bits of the destination are shifted to the right into CF, the empty bits are filled with the sign bit. </a:t>
            </a:r>
          </a:p>
          <a:p>
            <a:pPr algn="just"/>
            <a:endParaRPr lang="en-US" dirty="0"/>
          </a:p>
          <a:p>
            <a:pPr algn="just"/>
            <a:r>
              <a:rPr lang="en-US" dirty="0"/>
              <a:t>One can use the SAR instruction to divide a signed number by 2.</a:t>
            </a:r>
          </a:p>
        </p:txBody>
      </p:sp>
      <p:pic>
        <p:nvPicPr>
          <p:cNvPr id="5" name="Picture 4">
            <a:extLst>
              <a:ext uri="{FF2B5EF4-FFF2-40B4-BE49-F238E27FC236}">
                <a16:creationId xmlns:a16="http://schemas.microsoft.com/office/drawing/2014/main" id="{2C3C55C5-4F92-3CB5-F6D0-ED488FE86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7649" y="2084832"/>
            <a:ext cx="3435537" cy="923155"/>
          </a:xfrm>
          <a:prstGeom prst="rect">
            <a:avLst/>
          </a:prstGeom>
        </p:spPr>
      </p:pic>
    </p:spTree>
    <p:extLst>
      <p:ext uri="{BB962C8B-B14F-4D97-AF65-F5344CB8AC3E}">
        <p14:creationId xmlns:p14="http://schemas.microsoft.com/office/powerpoint/2010/main" val="136036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FDDF1-1D8A-B4BF-7F93-EE8515CC6FF7}"/>
              </a:ext>
            </a:extLst>
          </p:cNvPr>
          <p:cNvSpPr>
            <a:spLocks noGrp="1"/>
          </p:cNvSpPr>
          <p:nvPr>
            <p:ph type="title"/>
          </p:nvPr>
        </p:nvSpPr>
        <p:spPr/>
        <p:txBody>
          <a:bodyPr/>
          <a:lstStyle/>
          <a:p>
            <a:pPr algn="ctr"/>
            <a:r>
              <a:rPr lang="en-US" b="1" dirty="0"/>
              <a:t>Example</a:t>
            </a:r>
          </a:p>
        </p:txBody>
      </p:sp>
      <p:pic>
        <p:nvPicPr>
          <p:cNvPr id="5" name="Content Placeholder 4">
            <a:extLst>
              <a:ext uri="{FF2B5EF4-FFF2-40B4-BE49-F238E27FC236}">
                <a16:creationId xmlns:a16="http://schemas.microsoft.com/office/drawing/2014/main" id="{F209FB12-0C88-EFCD-C6C9-B647B9FDBD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8164" y="2811294"/>
            <a:ext cx="10155672" cy="1582442"/>
          </a:xfrm>
        </p:spPr>
      </p:pic>
    </p:spTree>
    <p:extLst>
      <p:ext uri="{BB962C8B-B14F-4D97-AF65-F5344CB8AC3E}">
        <p14:creationId xmlns:p14="http://schemas.microsoft.com/office/powerpoint/2010/main" val="1481618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0C61-D368-9989-EACB-ECD27E6A9686}"/>
              </a:ext>
            </a:extLst>
          </p:cNvPr>
          <p:cNvSpPr>
            <a:spLocks noGrp="1"/>
          </p:cNvSpPr>
          <p:nvPr>
            <p:ph type="title"/>
          </p:nvPr>
        </p:nvSpPr>
        <p:spPr/>
        <p:txBody>
          <a:bodyPr/>
          <a:lstStyle/>
          <a:p>
            <a:pPr algn="ctr"/>
            <a:r>
              <a:rPr lang="en-US" b="1" dirty="0"/>
              <a:t>SAL</a:t>
            </a:r>
          </a:p>
        </p:txBody>
      </p:sp>
      <p:sp>
        <p:nvSpPr>
          <p:cNvPr id="3" name="Content Placeholder 2">
            <a:extLst>
              <a:ext uri="{FF2B5EF4-FFF2-40B4-BE49-F238E27FC236}">
                <a16:creationId xmlns:a16="http://schemas.microsoft.com/office/drawing/2014/main" id="{DF9E9CE6-6240-861D-AD25-1C34816DD4FC}"/>
              </a:ext>
            </a:extLst>
          </p:cNvPr>
          <p:cNvSpPr>
            <a:spLocks noGrp="1"/>
          </p:cNvSpPr>
          <p:nvPr>
            <p:ph idx="1"/>
          </p:nvPr>
        </p:nvSpPr>
        <p:spPr/>
        <p:txBody>
          <a:bodyPr/>
          <a:lstStyle/>
          <a:p>
            <a:r>
              <a:rPr lang="en-US" dirty="0"/>
              <a:t>These two instructions, SAL and SHL, do the same thing. </a:t>
            </a:r>
          </a:p>
          <a:p>
            <a:endParaRPr lang="en-US" dirty="0"/>
          </a:p>
          <a:p>
            <a:r>
              <a:rPr lang="en-US" dirty="0"/>
              <a:t>It is basically the same instruction with two mnemonics. </a:t>
            </a:r>
          </a:p>
          <a:p>
            <a:endParaRPr lang="en-US" dirty="0"/>
          </a:p>
          <a:p>
            <a:r>
              <a:rPr lang="en-US" dirty="0"/>
              <a:t>As far as signed numbers are concerned, there is no need for SAL.</a:t>
            </a:r>
          </a:p>
        </p:txBody>
      </p:sp>
    </p:spTree>
    <p:extLst>
      <p:ext uri="{BB962C8B-B14F-4D97-AF65-F5344CB8AC3E}">
        <p14:creationId xmlns:p14="http://schemas.microsoft.com/office/powerpoint/2010/main" val="2992554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0FEF1-BC50-C169-B173-438480EBC419}"/>
              </a:ext>
            </a:extLst>
          </p:cNvPr>
          <p:cNvSpPr>
            <a:spLocks noGrp="1"/>
          </p:cNvSpPr>
          <p:nvPr>
            <p:ph type="title"/>
          </p:nvPr>
        </p:nvSpPr>
        <p:spPr/>
        <p:txBody>
          <a:bodyPr/>
          <a:lstStyle/>
          <a:p>
            <a:pPr algn="ctr"/>
            <a:r>
              <a:rPr lang="en-US" b="1" dirty="0"/>
              <a:t>Rotate instruction</a:t>
            </a:r>
          </a:p>
        </p:txBody>
      </p:sp>
      <p:sp>
        <p:nvSpPr>
          <p:cNvPr id="4" name="Content Placeholder 3">
            <a:extLst>
              <a:ext uri="{FF2B5EF4-FFF2-40B4-BE49-F238E27FC236}">
                <a16:creationId xmlns:a16="http://schemas.microsoft.com/office/drawing/2014/main" id="{3F028EE5-3BA1-C1A9-3EED-86F0F053BAB2}"/>
              </a:ext>
            </a:extLst>
          </p:cNvPr>
          <p:cNvSpPr>
            <a:spLocks noGrp="1"/>
          </p:cNvSpPr>
          <p:nvPr>
            <p:ph idx="1"/>
          </p:nvPr>
        </p:nvSpPr>
        <p:spPr/>
        <p:txBody>
          <a:bodyPr>
            <a:normAutofit fontScale="92500"/>
          </a:bodyPr>
          <a:lstStyle/>
          <a:p>
            <a:pPr algn="just">
              <a:buFont typeface="Courier New" panose="02070309020205020404" pitchFamily="49" charset="0"/>
              <a:buChar char="o"/>
            </a:pPr>
            <a:r>
              <a:rPr lang="en-US" dirty="0"/>
              <a:t>In many applications, there is a need to perform a bitwise rotation of an operand. </a:t>
            </a:r>
          </a:p>
          <a:p>
            <a:pPr algn="just">
              <a:buFont typeface="Courier New" panose="02070309020205020404" pitchFamily="49" charset="0"/>
              <a:buChar char="o"/>
            </a:pPr>
            <a:r>
              <a:rPr lang="en-US" dirty="0"/>
              <a:t>The rotation instructions ROR, ROL, and RCR, RCL are designed specifically for that purpose. </a:t>
            </a:r>
          </a:p>
          <a:p>
            <a:pPr algn="just">
              <a:buFont typeface="Courier New" panose="02070309020205020404" pitchFamily="49" charset="0"/>
              <a:buChar char="o"/>
            </a:pPr>
            <a:r>
              <a:rPr lang="en-US" dirty="0"/>
              <a:t>They allow a program to rotate an operand right or left.</a:t>
            </a:r>
          </a:p>
          <a:p>
            <a:pPr algn="just">
              <a:buFont typeface="Courier New" panose="02070309020205020404" pitchFamily="49" charset="0"/>
              <a:buChar char="o"/>
            </a:pPr>
            <a:r>
              <a:rPr lang="en-US" dirty="0"/>
              <a:t>In rotate instructions, the operand can be in a register or memory. If the number of times an operand is to be rotated is more than 1, this is indicated by CL. </a:t>
            </a:r>
          </a:p>
          <a:p>
            <a:pPr algn="just">
              <a:buFont typeface="Courier New" panose="02070309020205020404" pitchFamily="49" charset="0"/>
              <a:buChar char="o"/>
            </a:pPr>
            <a:r>
              <a:rPr lang="en-US" dirty="0"/>
              <a:t>This is similar to the shift instructions. </a:t>
            </a:r>
          </a:p>
          <a:p>
            <a:pPr algn="just">
              <a:buFont typeface="Courier New" panose="02070309020205020404" pitchFamily="49" charset="0"/>
              <a:buChar char="o"/>
            </a:pPr>
            <a:r>
              <a:rPr lang="en-US" dirty="0"/>
              <a:t>There are two types of rotations. </a:t>
            </a:r>
          </a:p>
          <a:p>
            <a:pPr algn="just">
              <a:buFont typeface="Courier New" panose="02070309020205020404" pitchFamily="49" charset="0"/>
              <a:buChar char="o"/>
            </a:pPr>
            <a:r>
              <a:rPr lang="en-US" dirty="0"/>
              <a:t>One is a simple rotation of the bits of the operand, and the other is a rotation through the carry.</a:t>
            </a:r>
          </a:p>
        </p:txBody>
      </p:sp>
    </p:spTree>
    <p:extLst>
      <p:ext uri="{BB962C8B-B14F-4D97-AF65-F5344CB8AC3E}">
        <p14:creationId xmlns:p14="http://schemas.microsoft.com/office/powerpoint/2010/main" val="2852993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146A-71AB-2A67-BCA7-1B6537D431C9}"/>
              </a:ext>
            </a:extLst>
          </p:cNvPr>
          <p:cNvSpPr>
            <a:spLocks noGrp="1"/>
          </p:cNvSpPr>
          <p:nvPr>
            <p:ph type="title"/>
          </p:nvPr>
        </p:nvSpPr>
        <p:spPr/>
        <p:txBody>
          <a:bodyPr/>
          <a:lstStyle/>
          <a:p>
            <a:pPr algn="ctr"/>
            <a:r>
              <a:rPr lang="en-US" b="1" dirty="0"/>
              <a:t>ROR - rotate right</a:t>
            </a:r>
          </a:p>
        </p:txBody>
      </p:sp>
      <p:sp>
        <p:nvSpPr>
          <p:cNvPr id="4" name="Content Placeholder 3">
            <a:extLst>
              <a:ext uri="{FF2B5EF4-FFF2-40B4-BE49-F238E27FC236}">
                <a16:creationId xmlns:a16="http://schemas.microsoft.com/office/drawing/2014/main" id="{82A03745-94E8-6213-224F-9BE5D9B6CAE1}"/>
              </a:ext>
            </a:extLst>
          </p:cNvPr>
          <p:cNvSpPr>
            <a:spLocks noGrp="1"/>
          </p:cNvSpPr>
          <p:nvPr>
            <p:ph idx="1"/>
          </p:nvPr>
        </p:nvSpPr>
        <p:spPr/>
        <p:txBody>
          <a:bodyPr/>
          <a:lstStyle/>
          <a:p>
            <a:pPr algn="just"/>
            <a:r>
              <a:rPr lang="en-US" dirty="0"/>
              <a:t>In rotate right, as bits are shifted from left to right, they exit from the right end (LSB) and enter the left end (MSB). </a:t>
            </a:r>
          </a:p>
          <a:p>
            <a:pPr algn="just"/>
            <a:r>
              <a:rPr lang="en-US" dirty="0"/>
              <a:t>In addition, as each bit exits the LSB, a copy of it is given to the carry flag. </a:t>
            </a:r>
          </a:p>
          <a:p>
            <a:pPr algn="just"/>
            <a:r>
              <a:rPr lang="en-US" dirty="0"/>
              <a:t>In other words, in ROR, the LSB is moved to the MSB and is also copied to CF, as shown in the diagram. </a:t>
            </a:r>
          </a:p>
          <a:p>
            <a:pPr algn="just"/>
            <a:r>
              <a:rPr lang="en-US" dirty="0"/>
              <a:t>If the operand is to be rotated once, the I is coded, but if it is to be rotated more than once, register CL is used to hold the number of times it is to be rotated.</a:t>
            </a:r>
          </a:p>
          <a:p>
            <a:pPr algn="just"/>
            <a:endParaRPr lang="en-US" dirty="0"/>
          </a:p>
          <a:p>
            <a:pPr algn="just"/>
            <a:endParaRPr lang="en-US" dirty="0"/>
          </a:p>
        </p:txBody>
      </p:sp>
      <p:pic>
        <p:nvPicPr>
          <p:cNvPr id="5" name="Picture 4">
            <a:extLst>
              <a:ext uri="{FF2B5EF4-FFF2-40B4-BE49-F238E27FC236}">
                <a16:creationId xmlns:a16="http://schemas.microsoft.com/office/drawing/2014/main" id="{2233B19D-F91B-42DD-CCE6-2A87FE497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2869" y="5230805"/>
            <a:ext cx="4826261" cy="1078555"/>
          </a:xfrm>
          <a:prstGeom prst="rect">
            <a:avLst/>
          </a:prstGeom>
        </p:spPr>
      </p:pic>
    </p:spTree>
    <p:extLst>
      <p:ext uri="{BB962C8B-B14F-4D97-AF65-F5344CB8AC3E}">
        <p14:creationId xmlns:p14="http://schemas.microsoft.com/office/powerpoint/2010/main" val="4052834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9054-E810-AFDE-71D3-1B92328F7DDF}"/>
              </a:ext>
            </a:extLst>
          </p:cNvPr>
          <p:cNvSpPr>
            <a:spLocks noGrp="1"/>
          </p:cNvSpPr>
          <p:nvPr>
            <p:ph type="title"/>
          </p:nvPr>
        </p:nvSpPr>
        <p:spPr/>
        <p:txBody>
          <a:bodyPr/>
          <a:lstStyle/>
          <a:p>
            <a:pPr algn="ctr"/>
            <a:r>
              <a:rPr lang="en-US" b="1" dirty="0"/>
              <a:t>ROR - rotate right</a:t>
            </a:r>
          </a:p>
        </p:txBody>
      </p:sp>
      <p:pic>
        <p:nvPicPr>
          <p:cNvPr id="5" name="Content Placeholder 4">
            <a:extLst>
              <a:ext uri="{FF2B5EF4-FFF2-40B4-BE49-F238E27FC236}">
                <a16:creationId xmlns:a16="http://schemas.microsoft.com/office/drawing/2014/main" id="{0CBDAE18-330D-6D27-F05A-4F4948FA51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1771" y="2529191"/>
            <a:ext cx="7148457" cy="2348960"/>
          </a:xfrm>
        </p:spPr>
      </p:pic>
    </p:spTree>
    <p:extLst>
      <p:ext uri="{BB962C8B-B14F-4D97-AF65-F5344CB8AC3E}">
        <p14:creationId xmlns:p14="http://schemas.microsoft.com/office/powerpoint/2010/main" val="2710323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056D-33D8-A874-106E-3E1FF10A1FCB}"/>
              </a:ext>
            </a:extLst>
          </p:cNvPr>
          <p:cNvSpPr>
            <a:spLocks noGrp="1"/>
          </p:cNvSpPr>
          <p:nvPr>
            <p:ph type="title"/>
          </p:nvPr>
        </p:nvSpPr>
        <p:spPr/>
        <p:txBody>
          <a:bodyPr/>
          <a:lstStyle/>
          <a:p>
            <a:pPr algn="ctr"/>
            <a:r>
              <a:rPr lang="en-US" b="1" dirty="0"/>
              <a:t>Task to do!</a:t>
            </a:r>
          </a:p>
        </p:txBody>
      </p:sp>
      <p:pic>
        <p:nvPicPr>
          <p:cNvPr id="5" name="Content Placeholder 4">
            <a:extLst>
              <a:ext uri="{FF2B5EF4-FFF2-40B4-BE49-F238E27FC236}">
                <a16:creationId xmlns:a16="http://schemas.microsoft.com/office/drawing/2014/main" id="{05141F54-2541-7120-17E5-5E6FEA7FCF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54876" y="2782111"/>
            <a:ext cx="5273882" cy="1757961"/>
          </a:xfrm>
        </p:spPr>
      </p:pic>
    </p:spTree>
    <p:extLst>
      <p:ext uri="{BB962C8B-B14F-4D97-AF65-F5344CB8AC3E}">
        <p14:creationId xmlns:p14="http://schemas.microsoft.com/office/powerpoint/2010/main" val="288434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BFAD-10F8-1923-32D1-87FD8F20E8A3}"/>
              </a:ext>
            </a:extLst>
          </p:cNvPr>
          <p:cNvSpPr>
            <a:spLocks noGrp="1"/>
          </p:cNvSpPr>
          <p:nvPr>
            <p:ph type="title"/>
          </p:nvPr>
        </p:nvSpPr>
        <p:spPr/>
        <p:txBody>
          <a:bodyPr/>
          <a:lstStyle/>
          <a:p>
            <a:pPr algn="ctr"/>
            <a:r>
              <a:rPr lang="en-US" b="1" dirty="0"/>
              <a:t>ROL - rotate left</a:t>
            </a:r>
            <a:endParaRPr lang="en-US" dirty="0"/>
          </a:p>
        </p:txBody>
      </p:sp>
      <p:sp>
        <p:nvSpPr>
          <p:cNvPr id="3" name="Content Placeholder 2">
            <a:extLst>
              <a:ext uri="{FF2B5EF4-FFF2-40B4-BE49-F238E27FC236}">
                <a16:creationId xmlns:a16="http://schemas.microsoft.com/office/drawing/2014/main" id="{A57CE550-9169-9761-5525-0DAA5B5E3623}"/>
              </a:ext>
            </a:extLst>
          </p:cNvPr>
          <p:cNvSpPr>
            <a:spLocks noGrp="1"/>
          </p:cNvSpPr>
          <p:nvPr>
            <p:ph idx="1"/>
          </p:nvPr>
        </p:nvSpPr>
        <p:spPr/>
        <p:txBody>
          <a:bodyPr/>
          <a:lstStyle/>
          <a:p>
            <a:r>
              <a:rPr lang="en-US" dirty="0"/>
              <a:t>In rotate left, as bits are shifted from right to left, they exit the left end (MSB) and enter the right end (LSB). </a:t>
            </a:r>
          </a:p>
          <a:p>
            <a:r>
              <a:rPr lang="en-US" dirty="0"/>
              <a:t>In addition, every bit that leaves the MSB is copied to the carry flag. </a:t>
            </a:r>
          </a:p>
          <a:p>
            <a:r>
              <a:rPr lang="en-US" dirty="0"/>
              <a:t>In other words, in ROL, the MSB is moved to the LSB and is also copied to CF, as shown in the diagram. If the operand is to be rotated once, the I is coded. </a:t>
            </a:r>
          </a:p>
          <a:p>
            <a:r>
              <a:rPr lang="en-US" dirty="0"/>
              <a:t>Otherwise, the number of times it is to be rotated is in CL.</a:t>
            </a:r>
          </a:p>
          <a:p>
            <a:endParaRPr lang="en-US" dirty="0"/>
          </a:p>
          <a:p>
            <a:endParaRPr lang="en-US" dirty="0"/>
          </a:p>
        </p:txBody>
      </p:sp>
      <p:pic>
        <p:nvPicPr>
          <p:cNvPr id="5" name="Picture 4">
            <a:extLst>
              <a:ext uri="{FF2B5EF4-FFF2-40B4-BE49-F238E27FC236}">
                <a16:creationId xmlns:a16="http://schemas.microsoft.com/office/drawing/2014/main" id="{52DEC2E9-81D9-B888-E5A9-1A184ECFD1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5774" y="5144148"/>
            <a:ext cx="4040451" cy="789725"/>
          </a:xfrm>
          <a:prstGeom prst="rect">
            <a:avLst/>
          </a:prstGeom>
        </p:spPr>
      </p:pic>
    </p:spTree>
    <p:extLst>
      <p:ext uri="{BB962C8B-B14F-4D97-AF65-F5344CB8AC3E}">
        <p14:creationId xmlns:p14="http://schemas.microsoft.com/office/powerpoint/2010/main" val="310957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36CB4-7150-B396-8743-48129EA4DBB5}"/>
              </a:ext>
            </a:extLst>
          </p:cNvPr>
          <p:cNvSpPr>
            <a:spLocks noGrp="1"/>
          </p:cNvSpPr>
          <p:nvPr>
            <p:ph type="title"/>
          </p:nvPr>
        </p:nvSpPr>
        <p:spPr/>
        <p:txBody>
          <a:bodyPr/>
          <a:lstStyle/>
          <a:p>
            <a:pPr algn="ctr"/>
            <a:r>
              <a:rPr lang="en-US" b="1" dirty="0"/>
              <a:t>ROL - rotate left</a:t>
            </a:r>
          </a:p>
        </p:txBody>
      </p:sp>
      <p:pic>
        <p:nvPicPr>
          <p:cNvPr id="7" name="Content Placeholder 6">
            <a:extLst>
              <a:ext uri="{FF2B5EF4-FFF2-40B4-BE49-F238E27FC236}">
                <a16:creationId xmlns:a16="http://schemas.microsoft.com/office/drawing/2014/main" id="{1198533D-4667-A52E-B70A-EAC7BBE8B1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0318" y="2723744"/>
            <a:ext cx="6666568" cy="2470826"/>
          </a:xfrm>
        </p:spPr>
      </p:pic>
    </p:spTree>
    <p:extLst>
      <p:ext uri="{BB962C8B-B14F-4D97-AF65-F5344CB8AC3E}">
        <p14:creationId xmlns:p14="http://schemas.microsoft.com/office/powerpoint/2010/main" val="2212731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A393-833C-536C-9144-7347E7C101C9}"/>
              </a:ext>
            </a:extLst>
          </p:cNvPr>
          <p:cNvSpPr>
            <a:spLocks noGrp="1"/>
          </p:cNvSpPr>
          <p:nvPr>
            <p:ph type="title"/>
          </p:nvPr>
        </p:nvSpPr>
        <p:spPr/>
        <p:txBody>
          <a:bodyPr/>
          <a:lstStyle/>
          <a:p>
            <a:pPr algn="ctr"/>
            <a:r>
              <a:rPr lang="en-US" b="1" dirty="0"/>
              <a:t>Task to do!</a:t>
            </a:r>
          </a:p>
        </p:txBody>
      </p:sp>
      <p:pic>
        <p:nvPicPr>
          <p:cNvPr id="5" name="Content Placeholder 4">
            <a:extLst>
              <a:ext uri="{FF2B5EF4-FFF2-40B4-BE49-F238E27FC236}">
                <a16:creationId xmlns:a16="http://schemas.microsoft.com/office/drawing/2014/main" id="{C2694024-DC23-4E67-E3EF-B37E1970D7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3369" y="2749073"/>
            <a:ext cx="6005261" cy="1900748"/>
          </a:xfrm>
        </p:spPr>
      </p:pic>
    </p:spTree>
    <p:extLst>
      <p:ext uri="{BB962C8B-B14F-4D97-AF65-F5344CB8AC3E}">
        <p14:creationId xmlns:p14="http://schemas.microsoft.com/office/powerpoint/2010/main" val="3669812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086C1-FD0B-B646-891D-AAC7824936E0}"/>
              </a:ext>
            </a:extLst>
          </p:cNvPr>
          <p:cNvSpPr>
            <a:spLocks noGrp="1"/>
          </p:cNvSpPr>
          <p:nvPr>
            <p:ph type="title"/>
          </p:nvPr>
        </p:nvSpPr>
        <p:spPr>
          <a:xfrm>
            <a:off x="1024128" y="585216"/>
            <a:ext cx="9720072" cy="864205"/>
          </a:xfrm>
        </p:spPr>
        <p:txBody>
          <a:bodyPr/>
          <a:lstStyle/>
          <a:p>
            <a:pPr algn="ctr"/>
            <a:r>
              <a:rPr lang="en-US" b="1" dirty="0"/>
              <a:t>Example</a:t>
            </a:r>
          </a:p>
        </p:txBody>
      </p:sp>
      <p:pic>
        <p:nvPicPr>
          <p:cNvPr id="7" name="Content Placeholder 6">
            <a:extLst>
              <a:ext uri="{FF2B5EF4-FFF2-40B4-BE49-F238E27FC236}">
                <a16:creationId xmlns:a16="http://schemas.microsoft.com/office/drawing/2014/main" id="{6A716E94-92F6-D224-DA45-04CEFD2E0E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6917" y="2135222"/>
            <a:ext cx="8537283" cy="3514600"/>
          </a:xfrm>
        </p:spPr>
      </p:pic>
    </p:spTree>
    <p:extLst>
      <p:ext uri="{BB962C8B-B14F-4D97-AF65-F5344CB8AC3E}">
        <p14:creationId xmlns:p14="http://schemas.microsoft.com/office/powerpoint/2010/main" val="645584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2120C-7417-0424-A941-00C9BCCE5C4B}"/>
              </a:ext>
            </a:extLst>
          </p:cNvPr>
          <p:cNvSpPr>
            <a:spLocks noGrp="1"/>
          </p:cNvSpPr>
          <p:nvPr>
            <p:ph type="title"/>
          </p:nvPr>
        </p:nvSpPr>
        <p:spPr>
          <a:xfrm>
            <a:off x="1024128" y="633854"/>
            <a:ext cx="9720072" cy="1499616"/>
          </a:xfrm>
        </p:spPr>
        <p:txBody>
          <a:bodyPr/>
          <a:lstStyle/>
          <a:p>
            <a:pPr algn="ctr"/>
            <a:r>
              <a:rPr lang="en-US" b="1" dirty="0"/>
              <a:t>RCR - rotate right through carry</a:t>
            </a:r>
          </a:p>
        </p:txBody>
      </p:sp>
      <p:sp>
        <p:nvSpPr>
          <p:cNvPr id="3" name="Content Placeholder 2">
            <a:extLst>
              <a:ext uri="{FF2B5EF4-FFF2-40B4-BE49-F238E27FC236}">
                <a16:creationId xmlns:a16="http://schemas.microsoft.com/office/drawing/2014/main" id="{EF655520-2A60-FE6B-48E2-BCFDBEAE2395}"/>
              </a:ext>
            </a:extLst>
          </p:cNvPr>
          <p:cNvSpPr>
            <a:spLocks noGrp="1"/>
          </p:cNvSpPr>
          <p:nvPr>
            <p:ph idx="1"/>
          </p:nvPr>
        </p:nvSpPr>
        <p:spPr>
          <a:xfrm>
            <a:off x="865762" y="2133470"/>
            <a:ext cx="10442643" cy="4380171"/>
          </a:xfrm>
        </p:spPr>
        <p:txBody>
          <a:bodyPr>
            <a:normAutofit/>
          </a:bodyPr>
          <a:lstStyle/>
          <a:p>
            <a:pPr algn="just"/>
            <a:r>
              <a:rPr lang="en-US" dirty="0"/>
              <a:t>In RCR, as bits are shifted from left to right, they exit the right end (LSB) to the carry flag, and the carry flag enters the left end (MSB).</a:t>
            </a:r>
          </a:p>
          <a:p>
            <a:pPr algn="just"/>
            <a:r>
              <a:rPr lang="en-US" dirty="0"/>
              <a:t>In other words, in RCR, the LSB is moved to CF, and CF is moved to the MSB. </a:t>
            </a:r>
          </a:p>
          <a:p>
            <a:pPr algn="just"/>
            <a:r>
              <a:rPr lang="en-US" dirty="0"/>
              <a:t>In reality, CF acts as if it is part of the operand.</a:t>
            </a:r>
          </a:p>
          <a:p>
            <a:pPr algn="just"/>
            <a:r>
              <a:rPr lang="en-US" dirty="0"/>
              <a:t>If the operand is to be rotated once, the I is coded, but if it is to be rotated more than once, the register CL holds the number of times.</a:t>
            </a:r>
          </a:p>
          <a:p>
            <a:pPr algn="just"/>
            <a:endParaRPr lang="en-US" dirty="0"/>
          </a:p>
          <a:p>
            <a:pPr algn="just"/>
            <a:endParaRPr lang="en-US" dirty="0"/>
          </a:p>
        </p:txBody>
      </p:sp>
      <p:pic>
        <p:nvPicPr>
          <p:cNvPr id="8" name="Picture 7">
            <a:extLst>
              <a:ext uri="{FF2B5EF4-FFF2-40B4-BE49-F238E27FC236}">
                <a16:creationId xmlns:a16="http://schemas.microsoft.com/office/drawing/2014/main" id="{4D9A6367-CCA6-DAF3-3BB2-ACA1828E4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2971" y="4959160"/>
            <a:ext cx="4604574" cy="1033078"/>
          </a:xfrm>
          <a:prstGeom prst="rect">
            <a:avLst/>
          </a:prstGeom>
        </p:spPr>
      </p:pic>
    </p:spTree>
    <p:extLst>
      <p:ext uri="{BB962C8B-B14F-4D97-AF65-F5344CB8AC3E}">
        <p14:creationId xmlns:p14="http://schemas.microsoft.com/office/powerpoint/2010/main" val="50904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6E00-7B27-4120-E688-4EF1C074922C}"/>
              </a:ext>
            </a:extLst>
          </p:cNvPr>
          <p:cNvSpPr>
            <a:spLocks noGrp="1"/>
          </p:cNvSpPr>
          <p:nvPr>
            <p:ph type="title"/>
          </p:nvPr>
        </p:nvSpPr>
        <p:spPr/>
        <p:txBody>
          <a:bodyPr/>
          <a:lstStyle/>
          <a:p>
            <a:pPr algn="ctr"/>
            <a:r>
              <a:rPr lang="en-US" b="1" dirty="0"/>
              <a:t>Example</a:t>
            </a:r>
            <a:endParaRPr lang="en-US" dirty="0"/>
          </a:p>
        </p:txBody>
      </p:sp>
      <p:pic>
        <p:nvPicPr>
          <p:cNvPr id="5" name="Content Placeholder 4">
            <a:extLst>
              <a:ext uri="{FF2B5EF4-FFF2-40B4-BE49-F238E27FC236}">
                <a16:creationId xmlns:a16="http://schemas.microsoft.com/office/drawing/2014/main" id="{C39E89B3-5B6C-D7F4-113D-B153C68D36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9298" y="2471679"/>
            <a:ext cx="7737983" cy="3316278"/>
          </a:xfrm>
        </p:spPr>
      </p:pic>
    </p:spTree>
    <p:extLst>
      <p:ext uri="{BB962C8B-B14F-4D97-AF65-F5344CB8AC3E}">
        <p14:creationId xmlns:p14="http://schemas.microsoft.com/office/powerpoint/2010/main" val="2927197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3001A-ACC8-984B-06BD-7B04214A9F28}"/>
              </a:ext>
            </a:extLst>
          </p:cNvPr>
          <p:cNvSpPr>
            <a:spLocks noGrp="1"/>
          </p:cNvSpPr>
          <p:nvPr>
            <p:ph type="title"/>
          </p:nvPr>
        </p:nvSpPr>
        <p:spPr/>
        <p:txBody>
          <a:bodyPr/>
          <a:lstStyle/>
          <a:p>
            <a:pPr algn="ctr"/>
            <a:r>
              <a:rPr lang="en-US" b="1" dirty="0"/>
              <a:t>TASK to do!</a:t>
            </a:r>
          </a:p>
        </p:txBody>
      </p:sp>
      <p:pic>
        <p:nvPicPr>
          <p:cNvPr id="6" name="Content Placeholder 5">
            <a:extLst>
              <a:ext uri="{FF2B5EF4-FFF2-40B4-BE49-F238E27FC236}">
                <a16:creationId xmlns:a16="http://schemas.microsoft.com/office/drawing/2014/main" id="{54F47F12-7A55-78F2-47FC-7F31141EBB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7891" y="2616740"/>
            <a:ext cx="5036217" cy="2251036"/>
          </a:xfrm>
        </p:spPr>
      </p:pic>
    </p:spTree>
    <p:extLst>
      <p:ext uri="{BB962C8B-B14F-4D97-AF65-F5344CB8AC3E}">
        <p14:creationId xmlns:p14="http://schemas.microsoft.com/office/powerpoint/2010/main" val="3259508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48A3-6E6C-9FB3-3E34-5883944A3098}"/>
              </a:ext>
            </a:extLst>
          </p:cNvPr>
          <p:cNvSpPr>
            <a:spLocks noGrp="1"/>
          </p:cNvSpPr>
          <p:nvPr>
            <p:ph type="title"/>
          </p:nvPr>
        </p:nvSpPr>
        <p:spPr/>
        <p:txBody>
          <a:bodyPr/>
          <a:lstStyle/>
          <a:p>
            <a:pPr algn="ctr"/>
            <a:r>
              <a:rPr lang="en-US" b="1" dirty="0"/>
              <a:t>RCL - rotate left through carry</a:t>
            </a:r>
            <a:endParaRPr lang="en-US" dirty="0"/>
          </a:p>
        </p:txBody>
      </p:sp>
      <p:sp>
        <p:nvSpPr>
          <p:cNvPr id="3" name="Content Placeholder 2">
            <a:extLst>
              <a:ext uri="{FF2B5EF4-FFF2-40B4-BE49-F238E27FC236}">
                <a16:creationId xmlns:a16="http://schemas.microsoft.com/office/drawing/2014/main" id="{4C3F63AA-0AE1-9EEC-6401-96D098EF4C5F}"/>
              </a:ext>
            </a:extLst>
          </p:cNvPr>
          <p:cNvSpPr>
            <a:spLocks noGrp="1"/>
          </p:cNvSpPr>
          <p:nvPr>
            <p:ph idx="1"/>
          </p:nvPr>
        </p:nvSpPr>
        <p:spPr/>
        <p:txBody>
          <a:bodyPr/>
          <a:lstStyle/>
          <a:p>
            <a:pPr algn="just"/>
            <a:r>
              <a:rPr lang="en-US" dirty="0"/>
              <a:t>In RCL, as bits are shifted from right to left, they exit the left end (MSB) and enter the carry flag, and the carry flag enters the right end (LSB). </a:t>
            </a:r>
          </a:p>
          <a:p>
            <a:pPr algn="just"/>
            <a:endParaRPr lang="en-US" dirty="0"/>
          </a:p>
          <a:p>
            <a:pPr algn="just"/>
            <a:r>
              <a:rPr lang="en-US" dirty="0"/>
              <a:t>In other words, in RCL, the MSB is moved to CF, and CF is moved to the LSB. </a:t>
            </a:r>
          </a:p>
          <a:p>
            <a:pPr algn="just"/>
            <a:endParaRPr lang="en-US" dirty="0"/>
          </a:p>
          <a:p>
            <a:pPr algn="just"/>
            <a:r>
              <a:rPr lang="en-US" dirty="0"/>
              <a:t>In reality, CF acts as if it is part of the operand.</a:t>
            </a:r>
          </a:p>
          <a:p>
            <a:pPr algn="just"/>
            <a:endParaRPr lang="en-US" dirty="0"/>
          </a:p>
          <a:p>
            <a:pPr algn="just"/>
            <a:r>
              <a:rPr lang="en-US" dirty="0"/>
              <a:t>If the operand is to be rotated once, the I is coded, but if it is to be rotated more than once, register CL holds the number of times.</a:t>
            </a:r>
          </a:p>
        </p:txBody>
      </p:sp>
    </p:spTree>
    <p:extLst>
      <p:ext uri="{BB962C8B-B14F-4D97-AF65-F5344CB8AC3E}">
        <p14:creationId xmlns:p14="http://schemas.microsoft.com/office/powerpoint/2010/main" val="176868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4F6D-D79F-D8B5-C187-B603BB5365E8}"/>
              </a:ext>
            </a:extLst>
          </p:cNvPr>
          <p:cNvSpPr>
            <a:spLocks noGrp="1"/>
          </p:cNvSpPr>
          <p:nvPr>
            <p:ph type="title"/>
          </p:nvPr>
        </p:nvSpPr>
        <p:spPr/>
        <p:txBody>
          <a:bodyPr/>
          <a:lstStyle/>
          <a:p>
            <a:pPr algn="ctr"/>
            <a:r>
              <a:rPr lang="en-US" b="1" dirty="0"/>
              <a:t>RCL - rotate left through carry</a:t>
            </a:r>
            <a:endParaRPr lang="en-US" dirty="0"/>
          </a:p>
        </p:txBody>
      </p:sp>
      <p:sp>
        <p:nvSpPr>
          <p:cNvPr id="3" name="Content Placeholder 2">
            <a:extLst>
              <a:ext uri="{FF2B5EF4-FFF2-40B4-BE49-F238E27FC236}">
                <a16:creationId xmlns:a16="http://schemas.microsoft.com/office/drawing/2014/main" id="{B8E8AEC8-3914-4D05-76D9-3F2726669D38}"/>
              </a:ext>
            </a:extLst>
          </p:cNvPr>
          <p:cNvSpPr>
            <a:spLocks noGrp="1"/>
          </p:cNvSpPr>
          <p:nvPr>
            <p:ph idx="1"/>
          </p:nvPr>
        </p:nvSpPr>
        <p:spPr>
          <a:xfrm>
            <a:off x="1092222" y="2084832"/>
            <a:ext cx="9720073" cy="4023360"/>
          </a:xfrm>
        </p:spPr>
        <p:txBody>
          <a:bodyPr/>
          <a:lstStyle/>
          <a:p>
            <a:r>
              <a:rPr lang="en-US" dirty="0"/>
              <a:t>If the operand is to be rotated once, the I is coded, but if it is to be rotated more than once, register CL holds the number of times.</a:t>
            </a:r>
          </a:p>
          <a:p>
            <a:endParaRPr lang="en-US" dirty="0"/>
          </a:p>
          <a:p>
            <a:endParaRPr lang="en-US" dirty="0"/>
          </a:p>
          <a:p>
            <a:endParaRPr lang="en-US" dirty="0"/>
          </a:p>
        </p:txBody>
      </p:sp>
      <p:pic>
        <p:nvPicPr>
          <p:cNvPr id="7" name="Picture 6">
            <a:extLst>
              <a:ext uri="{FF2B5EF4-FFF2-40B4-BE49-F238E27FC236}">
                <a16:creationId xmlns:a16="http://schemas.microsoft.com/office/drawing/2014/main" id="{901AAE7D-5203-C757-A376-F2E2BBDB0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8844" y="3907032"/>
            <a:ext cx="5590094" cy="1098275"/>
          </a:xfrm>
          <a:prstGeom prst="rect">
            <a:avLst/>
          </a:prstGeom>
        </p:spPr>
      </p:pic>
    </p:spTree>
    <p:extLst>
      <p:ext uri="{BB962C8B-B14F-4D97-AF65-F5344CB8AC3E}">
        <p14:creationId xmlns:p14="http://schemas.microsoft.com/office/powerpoint/2010/main" val="4293162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C7161-D613-F01A-3C5B-A6C67B343D0C}"/>
              </a:ext>
            </a:extLst>
          </p:cNvPr>
          <p:cNvSpPr>
            <a:spLocks noGrp="1"/>
          </p:cNvSpPr>
          <p:nvPr>
            <p:ph type="title"/>
          </p:nvPr>
        </p:nvSpPr>
        <p:spPr/>
        <p:txBody>
          <a:bodyPr/>
          <a:lstStyle/>
          <a:p>
            <a:pPr algn="ctr"/>
            <a:r>
              <a:rPr lang="en-US" b="1" dirty="0"/>
              <a:t>Example</a:t>
            </a:r>
          </a:p>
        </p:txBody>
      </p:sp>
      <p:pic>
        <p:nvPicPr>
          <p:cNvPr id="5" name="Content Placeholder 4">
            <a:extLst>
              <a:ext uri="{FF2B5EF4-FFF2-40B4-BE49-F238E27FC236}">
                <a16:creationId xmlns:a16="http://schemas.microsoft.com/office/drawing/2014/main" id="{619E8850-0E0F-301B-C36B-ED4003A88C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4481" y="2471164"/>
            <a:ext cx="7771326" cy="2906139"/>
          </a:xfrm>
        </p:spPr>
      </p:pic>
    </p:spTree>
    <p:extLst>
      <p:ext uri="{BB962C8B-B14F-4D97-AF65-F5344CB8AC3E}">
        <p14:creationId xmlns:p14="http://schemas.microsoft.com/office/powerpoint/2010/main" val="1952997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008D1-806A-FAC5-1846-5DE9FBD1F533}"/>
              </a:ext>
            </a:extLst>
          </p:cNvPr>
          <p:cNvSpPr>
            <a:spLocks noGrp="1"/>
          </p:cNvSpPr>
          <p:nvPr>
            <p:ph type="title"/>
          </p:nvPr>
        </p:nvSpPr>
        <p:spPr/>
        <p:txBody>
          <a:bodyPr/>
          <a:lstStyle/>
          <a:p>
            <a:pPr algn="ctr"/>
            <a:r>
              <a:rPr lang="en-US" b="1" dirty="0"/>
              <a:t>TASK to do!</a:t>
            </a:r>
          </a:p>
        </p:txBody>
      </p:sp>
      <p:pic>
        <p:nvPicPr>
          <p:cNvPr id="5" name="Content Placeholder 4">
            <a:extLst>
              <a:ext uri="{FF2B5EF4-FFF2-40B4-BE49-F238E27FC236}">
                <a16:creationId xmlns:a16="http://schemas.microsoft.com/office/drawing/2014/main" id="{21B1E75C-4A93-86DE-D702-6419842A2B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5401" y="2795999"/>
            <a:ext cx="4197526" cy="2308639"/>
          </a:xfrm>
        </p:spPr>
      </p:pic>
    </p:spTree>
    <p:extLst>
      <p:ext uri="{BB962C8B-B14F-4D97-AF65-F5344CB8AC3E}">
        <p14:creationId xmlns:p14="http://schemas.microsoft.com/office/powerpoint/2010/main" val="23533026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1071</TotalTime>
  <Words>984</Words>
  <Application>Microsoft Office PowerPoint</Application>
  <PresentationFormat>Widescreen</PresentationFormat>
  <Paragraphs>83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Century Gothic</vt:lpstr>
      <vt:lpstr>Courier New</vt:lpstr>
      <vt:lpstr>Wingdings 3</vt:lpstr>
      <vt:lpstr>Wisp</vt:lpstr>
      <vt:lpstr>Computer Organization and Assembly Language</vt:lpstr>
      <vt:lpstr>shift</vt:lpstr>
      <vt:lpstr>SHR</vt:lpstr>
      <vt:lpstr>SHR</vt:lpstr>
      <vt:lpstr>SHR</vt:lpstr>
      <vt:lpstr>SHL</vt:lpstr>
      <vt:lpstr>SHL</vt:lpstr>
      <vt:lpstr>ARITHMETIC SHIFT</vt:lpstr>
      <vt:lpstr>SAR</vt:lpstr>
      <vt:lpstr>Example</vt:lpstr>
      <vt:lpstr>SAL</vt:lpstr>
      <vt:lpstr>Rotate instruction</vt:lpstr>
      <vt:lpstr>ROR - rotate right</vt:lpstr>
      <vt:lpstr>ROR - rotate right</vt:lpstr>
      <vt:lpstr>Task to do!</vt:lpstr>
      <vt:lpstr>ROL - rotate left</vt:lpstr>
      <vt:lpstr>ROL - rotate left</vt:lpstr>
      <vt:lpstr>Task to do!</vt:lpstr>
      <vt:lpstr>Example</vt:lpstr>
      <vt:lpstr>RCR - rotate right through carry</vt:lpstr>
      <vt:lpstr>Example</vt:lpstr>
      <vt:lpstr>TASK to do!</vt:lpstr>
      <vt:lpstr>RCL - rotate left through carry</vt:lpstr>
      <vt:lpstr>RCL - rotate left through carry</vt:lpstr>
      <vt:lpstr>Example</vt:lpstr>
      <vt:lpstr>TASK to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Afifa Hameed</dc:creator>
  <cp:lastModifiedBy>Hina Tahir</cp:lastModifiedBy>
  <cp:revision>202</cp:revision>
  <dcterms:created xsi:type="dcterms:W3CDTF">2025-10-08T15:10:45Z</dcterms:created>
  <dcterms:modified xsi:type="dcterms:W3CDTF">2025-11-04T17:44:20Z</dcterms:modified>
</cp:coreProperties>
</file>