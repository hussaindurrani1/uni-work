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68" r:id="rId4"/>
    <p:sldId id="269" r:id="rId5"/>
    <p:sldId id="258" r:id="rId6"/>
    <p:sldId id="259" r:id="rId7"/>
    <p:sldId id="260" r:id="rId8"/>
    <p:sldId id="261" r:id="rId9"/>
    <p:sldId id="270" r:id="rId10"/>
    <p:sldId id="271" r:id="rId11"/>
    <p:sldId id="272" r:id="rId12"/>
    <p:sldId id="273" r:id="rId13"/>
    <p:sldId id="278" r:id="rId14"/>
    <p:sldId id="279" r:id="rId15"/>
    <p:sldId id="262" r:id="rId16"/>
    <p:sldId id="285" r:id="rId17"/>
    <p:sldId id="275" r:id="rId18"/>
    <p:sldId id="263" r:id="rId19"/>
    <p:sldId id="264" r:id="rId20"/>
    <p:sldId id="276" r:id="rId21"/>
    <p:sldId id="265" r:id="rId22"/>
    <p:sldId id="277" r:id="rId23"/>
    <p:sldId id="281" r:id="rId24"/>
    <p:sldId id="282" r:id="rId25"/>
    <p:sldId id="266" r:id="rId26"/>
    <p:sldId id="280" r:id="rId27"/>
    <p:sldId id="283" r:id="rId28"/>
    <p:sldId id="284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2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4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77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8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74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10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2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08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11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12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513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01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4290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39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68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37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38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/>
              <a:t>Arrays, Loops and Jumps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8701" y="457396"/>
            <a:ext cx="7656057" cy="1499616"/>
          </a:xfrm>
        </p:spPr>
        <p:txBody>
          <a:bodyPr>
            <a:normAutofit/>
          </a:bodyPr>
          <a:lstStyle/>
          <a:p>
            <a:pPr algn="just"/>
            <a:r>
              <a:rPr sz="3600" dirty="0">
                <a:cs typeface="Times New Roman" panose="02020603050405020304" pitchFamily="18" charset="0"/>
              </a:rPr>
              <a:t>Arrays &amp; Loops (Labels and Loop Instruction)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720" y="1981593"/>
            <a:ext cx="7656057" cy="4023360"/>
          </a:xfrm>
        </p:spPr>
        <p:txBody>
          <a:bodyPr>
            <a:normAutofit/>
          </a:bodyPr>
          <a:lstStyle/>
          <a:p>
            <a:endParaRPr sz="2400" dirty="0"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sz="2400" dirty="0">
                <a:cs typeface="Times New Roman" panose="02020603050405020304" pitchFamily="18" charset="0"/>
              </a:rPr>
              <a:t>A</a:t>
            </a:r>
            <a:r>
              <a:rPr lang="en-US" sz="2400" dirty="0">
                <a:cs typeface="Times New Roman" panose="02020603050405020304" pitchFamily="18" charset="0"/>
              </a:rPr>
              <a:t>n ordered list of elements</a:t>
            </a:r>
          </a:p>
          <a:p>
            <a:pPr>
              <a:defRPr/>
            </a:pPr>
            <a:r>
              <a:rPr lang="en-US" sz="2400" dirty="0"/>
              <a:t>Examples: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sz="2400" dirty="0"/>
              <a:t>	MSG DB ‘</a:t>
            </a:r>
            <a:r>
              <a:rPr lang="en-US" sz="2400" dirty="0" err="1"/>
              <a:t>abcde</a:t>
            </a:r>
            <a:r>
              <a:rPr lang="en-US" sz="2400" dirty="0"/>
              <a:t>’</a:t>
            </a:r>
          </a:p>
          <a:p>
            <a:pPr>
              <a:buFont typeface="Wingdings 3" panose="05040102010807070707" pitchFamily="18" charset="2"/>
              <a:buNone/>
              <a:defRPr/>
            </a:pPr>
            <a:r>
              <a:rPr lang="en-US" sz="2400" dirty="0"/>
              <a:t>	W      DW 10, 20, 30, 40, 50, 60</a:t>
            </a:r>
          </a:p>
          <a:p>
            <a:pPr marL="280988" indent="-280988">
              <a:defRPr/>
            </a:pPr>
            <a:r>
              <a:rPr lang="en-US" sz="2400" dirty="0"/>
              <a:t>Base Address of an array or offset address assigned to an array </a:t>
            </a:r>
          </a:p>
          <a:p>
            <a:pPr marL="0" indent="0">
              <a:spcAft>
                <a:spcPts val="600"/>
              </a:spcAft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sz="2400" dirty="0"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44564-2D45-65DC-2BEF-E1FE4802B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B32D5-F6E3-38B4-7976-C13C22ED1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3945" y="2102450"/>
            <a:ext cx="7290055" cy="450974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cs typeface="Times New Roman" panose="02020603050405020304" pitchFamily="18" charset="0"/>
              </a:rPr>
              <a:t>.data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cs typeface="Times New Roman" panose="02020603050405020304" pitchFamily="18" charset="0"/>
              </a:rPr>
              <a:t>array db 10, 20, 30, 40, 50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cs typeface="Times New Roman" panose="02020603050405020304" pitchFamily="18" charset="0"/>
              </a:rPr>
              <a:t>count equ 5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it-IT" sz="18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cs typeface="Times New Roman" panose="02020603050405020304" pitchFamily="18" charset="0"/>
              </a:rPr>
              <a:t>.code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cs typeface="Times New Roman" panose="02020603050405020304" pitchFamily="18" charset="0"/>
              </a:rPr>
              <a:t>mov cx, count        			; loop counter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cs typeface="Times New Roman" panose="02020603050405020304" pitchFamily="18" charset="0"/>
              </a:rPr>
              <a:t>mov si, 0            				; index register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it-IT" sz="18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cs typeface="Times New Roman" panose="02020603050405020304" pitchFamily="18" charset="0"/>
              </a:rPr>
              <a:t>L1:                  				; label for loop start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cs typeface="Times New Roman" panose="02020603050405020304" pitchFamily="18" charset="0"/>
              </a:rPr>
              <a:t>    mov al, [array + si] 		; access array element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cs typeface="Times New Roman" panose="02020603050405020304" pitchFamily="18" charset="0"/>
              </a:rPr>
              <a:t>    add al, 1             			; perform operation (increment)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cs typeface="Times New Roman" panose="02020603050405020304" pitchFamily="18" charset="0"/>
              </a:rPr>
              <a:t>    mov [array + si], al  		; store back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cs typeface="Times New Roman" panose="02020603050405020304" pitchFamily="18" charset="0"/>
              </a:rPr>
              <a:t>    inc si                				; move to next element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cs typeface="Times New Roman" panose="02020603050405020304" pitchFamily="18" charset="0"/>
              </a:rPr>
              <a:t>loop L1                   			; loop until CX=0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75983-BEC4-6E6F-B584-84EBB332B638}"/>
              </a:ext>
            </a:extLst>
          </p:cNvPr>
          <p:cNvSpPr txBox="1"/>
          <p:nvPr/>
        </p:nvSpPr>
        <p:spPr>
          <a:xfrm>
            <a:off x="1078094" y="1535668"/>
            <a:ext cx="6987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800" dirty="0">
                <a:cs typeface="Times New Roman" panose="02020603050405020304" pitchFamily="18" charset="0"/>
              </a:rPr>
              <a:t>• Loops are used to repeat instructions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3217853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6E3E3-09AF-EA0D-FAA8-7FE41C89D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96BB5-564A-1A54-1CDC-DD683B243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array is the label marking where the array starts in memory.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si</a:t>
            </a:r>
            <a:r>
              <a:rPr lang="en-US" dirty="0"/>
              <a:t> acts as the index.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loop L1 automatically decrements cx and jumps to L1 until cx = 0.</a:t>
            </a:r>
          </a:p>
        </p:txBody>
      </p:sp>
    </p:spTree>
    <p:extLst>
      <p:ext uri="{BB962C8B-B14F-4D97-AF65-F5344CB8AC3E}">
        <p14:creationId xmlns:p14="http://schemas.microsoft.com/office/powerpoint/2010/main" val="402569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244" y="1364207"/>
            <a:ext cx="7801972" cy="1499616"/>
          </a:xfrm>
        </p:spPr>
        <p:txBody>
          <a:bodyPr/>
          <a:lstStyle/>
          <a:p>
            <a:pPr algn="ctr"/>
            <a:r>
              <a:rPr dirty="0"/>
              <a:t>Base Plus Index Addressing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6354" y="2340157"/>
            <a:ext cx="7801972" cy="40233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sz="2400" dirty="0"/>
              <a:t>• Combines a base register (BX/BP) and index register (SI/DI).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dirty="0"/>
              <a:t>• Used to access array elements.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dirty="0"/>
              <a:t>• Syntax: [</a:t>
            </a:r>
            <a:r>
              <a:rPr sz="2400" dirty="0" err="1"/>
              <a:t>BaseReg+IndexReg</a:t>
            </a:r>
            <a:r>
              <a:rPr sz="2400" dirty="0"/>
              <a:t>]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dirty="0"/>
              <a:t>Example: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dirty="0"/>
              <a:t>mov bx, offset array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dirty="0"/>
              <a:t>mov </a:t>
            </a:r>
            <a:r>
              <a:rPr sz="2400" dirty="0" err="1"/>
              <a:t>si</a:t>
            </a:r>
            <a:r>
              <a:rPr sz="2400" dirty="0"/>
              <a:t>, 2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dirty="0"/>
              <a:t>mov al, [bx + </a:t>
            </a:r>
            <a:r>
              <a:rPr sz="2400" dirty="0" err="1"/>
              <a:t>si</a:t>
            </a:r>
            <a:r>
              <a:rPr sz="2400" dirty="0"/>
              <a:t>]  </a:t>
            </a:r>
            <a:r>
              <a:rPr lang="en-US" sz="2400" dirty="0"/>
              <a:t>		</a:t>
            </a:r>
            <a:r>
              <a:rPr sz="2400" dirty="0"/>
              <a:t>; Access 3rd element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Base Relative Plus Index Addressing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464211"/>
            <a:ext cx="7290055" cy="4023360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Aft>
                <a:spcPts val="600"/>
              </a:spcAft>
            </a:pPr>
            <a:r>
              <a:rPr sz="2400" dirty="0"/>
              <a:t>• Adds a displacement to Base + Index formula.</a:t>
            </a:r>
          </a:p>
          <a:p>
            <a:pPr>
              <a:spcAft>
                <a:spcPts val="600"/>
              </a:spcAft>
            </a:pPr>
            <a:r>
              <a:rPr sz="2400" dirty="0"/>
              <a:t>• Syntax: [</a:t>
            </a:r>
            <a:r>
              <a:rPr sz="2400" dirty="0" err="1"/>
              <a:t>BaseReg</a:t>
            </a:r>
            <a:r>
              <a:rPr sz="2400" dirty="0"/>
              <a:t> + </a:t>
            </a:r>
            <a:r>
              <a:rPr sz="2400" dirty="0" err="1"/>
              <a:t>IndexReg</a:t>
            </a:r>
            <a:r>
              <a:rPr sz="2400" dirty="0"/>
              <a:t> + Displacement]</a:t>
            </a:r>
          </a:p>
          <a:p>
            <a:pPr>
              <a:spcAft>
                <a:spcPts val="600"/>
              </a:spcAft>
            </a:pPr>
            <a:r>
              <a:rPr sz="2400" dirty="0"/>
              <a:t>• Used for structured data with headers.</a:t>
            </a:r>
          </a:p>
          <a:p>
            <a:pPr>
              <a:spcAft>
                <a:spcPts val="600"/>
              </a:spcAft>
            </a:pPr>
            <a:r>
              <a:rPr sz="2400" dirty="0"/>
              <a:t>Example:</a:t>
            </a:r>
          </a:p>
          <a:p>
            <a:pPr>
              <a:spcAft>
                <a:spcPts val="600"/>
              </a:spcAft>
            </a:pPr>
            <a:r>
              <a:rPr sz="2400" dirty="0"/>
              <a:t>mov bx, offset table</a:t>
            </a:r>
          </a:p>
          <a:p>
            <a:pPr>
              <a:spcAft>
                <a:spcPts val="600"/>
              </a:spcAft>
            </a:pPr>
            <a:r>
              <a:rPr sz="2400" dirty="0"/>
              <a:t>mov </a:t>
            </a:r>
            <a:r>
              <a:rPr sz="2400" dirty="0" err="1"/>
              <a:t>si</a:t>
            </a:r>
            <a:r>
              <a:rPr sz="2400" dirty="0"/>
              <a:t>, 1</a:t>
            </a:r>
          </a:p>
          <a:p>
            <a:pPr>
              <a:spcAft>
                <a:spcPts val="600"/>
              </a:spcAft>
            </a:pPr>
            <a:r>
              <a:rPr sz="2400" dirty="0"/>
              <a:t>mov al, [bx + </a:t>
            </a:r>
            <a:r>
              <a:rPr sz="2400" dirty="0" err="1"/>
              <a:t>si</a:t>
            </a:r>
            <a:r>
              <a:rPr sz="2400" dirty="0"/>
              <a:t> + 3]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Understanding OFFSET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2400" dirty="0"/>
              <a:t> </a:t>
            </a:r>
            <a:r>
              <a:rPr sz="2400" dirty="0"/>
              <a:t>• OFFSET = distance (in bytes) from start of segment to variable.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sz="2400" dirty="0"/>
              <a:t>• Used to get the memory address of labels.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sz="2400" dirty="0"/>
              <a:t>• 'mov bx, offset var' stores the address of var, not its value.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dirty="0"/>
              <a:t>Example: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dirty="0"/>
              <a:t>mov bx, offset array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dirty="0"/>
              <a:t>mov al, [bx + 2]  </a:t>
            </a:r>
            <a:r>
              <a:rPr lang="en-US" sz="2400" dirty="0"/>
              <a:t>		</a:t>
            </a:r>
            <a:r>
              <a:rPr sz="2400" dirty="0"/>
              <a:t>; Access array[2]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OFFSET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</a:pPr>
            <a:r>
              <a:rPr dirty="0"/>
              <a:t>Label   </a:t>
            </a:r>
            <a:r>
              <a:rPr lang="en-US" dirty="0"/>
              <a:t>		</a:t>
            </a:r>
            <a:r>
              <a:rPr dirty="0"/>
              <a:t>Value   </a:t>
            </a:r>
            <a:r>
              <a:rPr lang="en-US" dirty="0"/>
              <a:t>		</a:t>
            </a:r>
            <a:r>
              <a:rPr dirty="0"/>
              <a:t>Address</a:t>
            </a:r>
          </a:p>
          <a:p>
            <a:pPr>
              <a:spcAft>
                <a:spcPts val="600"/>
              </a:spcAft>
            </a:pPr>
            <a:r>
              <a:rPr dirty="0"/>
              <a:t>num1    </a:t>
            </a:r>
            <a:r>
              <a:rPr lang="en-US" dirty="0"/>
              <a:t>		</a:t>
            </a:r>
            <a:r>
              <a:rPr dirty="0"/>
              <a:t>10      </a:t>
            </a:r>
            <a:r>
              <a:rPr lang="en-US" dirty="0"/>
              <a:t>		</a:t>
            </a:r>
            <a:r>
              <a:rPr dirty="0"/>
              <a:t>2000H</a:t>
            </a:r>
          </a:p>
          <a:p>
            <a:pPr>
              <a:spcAft>
                <a:spcPts val="600"/>
              </a:spcAft>
            </a:pPr>
            <a:r>
              <a:rPr dirty="0"/>
              <a:t>num2    </a:t>
            </a:r>
            <a:r>
              <a:rPr lang="en-US" dirty="0"/>
              <a:t>		</a:t>
            </a:r>
            <a:r>
              <a:rPr dirty="0"/>
              <a:t>20      </a:t>
            </a:r>
            <a:r>
              <a:rPr lang="en-US" dirty="0"/>
              <a:t>		</a:t>
            </a:r>
            <a:r>
              <a:rPr dirty="0"/>
              <a:t>2001H</a:t>
            </a:r>
          </a:p>
          <a:p>
            <a:pPr>
              <a:spcAft>
                <a:spcPts val="600"/>
              </a:spcAft>
            </a:pPr>
            <a:r>
              <a:rPr dirty="0"/>
              <a:t>• offset num1 </a:t>
            </a:r>
            <a:r>
              <a:rPr lang="en-US" dirty="0"/>
              <a:t>	</a:t>
            </a:r>
            <a:r>
              <a:rPr dirty="0"/>
              <a:t>→ </a:t>
            </a:r>
            <a:r>
              <a:rPr lang="en-US" dirty="0"/>
              <a:t>	</a:t>
            </a:r>
            <a:r>
              <a:rPr dirty="0"/>
              <a:t>2000H</a:t>
            </a:r>
          </a:p>
          <a:p>
            <a:pPr>
              <a:spcAft>
                <a:spcPts val="600"/>
              </a:spcAft>
            </a:pPr>
            <a:r>
              <a:rPr dirty="0"/>
              <a:t>• offset num2 </a:t>
            </a:r>
            <a:r>
              <a:rPr lang="en-US" dirty="0"/>
              <a:t>	</a:t>
            </a:r>
            <a:r>
              <a:rPr dirty="0"/>
              <a:t>→ </a:t>
            </a:r>
            <a:r>
              <a:rPr lang="en-US" dirty="0"/>
              <a:t>	</a:t>
            </a:r>
            <a:r>
              <a:rPr dirty="0"/>
              <a:t>2001H</a:t>
            </a:r>
          </a:p>
          <a:p>
            <a:pPr>
              <a:spcAft>
                <a:spcPts val="600"/>
              </a:spcAft>
            </a:pPr>
            <a:r>
              <a:rPr dirty="0"/>
              <a:t>• Access with: </a:t>
            </a:r>
            <a:r>
              <a:rPr lang="en-US" dirty="0"/>
              <a:t>	</a:t>
            </a:r>
            <a:r>
              <a:rPr dirty="0"/>
              <a:t>mov al, [bx]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E41D2-C0B4-E191-C74E-28B96BFC3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Loops Instruction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E4564-61B0-144A-27A4-7BE93A844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dirty="0"/>
              <a:t>loop</a:t>
            </a:r>
            <a:r>
              <a:rPr lang="en-US" dirty="0"/>
              <a:t> is a set of instructions that repeat again and again until a condition is met.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Assembly uses </a:t>
            </a:r>
            <a:r>
              <a:rPr lang="en-US" b="1" dirty="0"/>
              <a:t>CX register</a:t>
            </a:r>
            <a:r>
              <a:rPr lang="en-US" dirty="0"/>
              <a:t> as the </a:t>
            </a:r>
            <a:r>
              <a:rPr lang="en-US" b="1" dirty="0"/>
              <a:t>loop counter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Before starting a loop, we store in CX how many times we want to repeat the block.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601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1676A-0BA4-F220-8997-871C4FC6D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14BB4-D3C4-CC70-65AE-6F23FBDDF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 CX, 5       		; repeat 5 times</a:t>
            </a:r>
          </a:p>
          <a:p>
            <a:r>
              <a:rPr lang="en-US" dirty="0"/>
              <a:t>L1: </a:t>
            </a:r>
          </a:p>
          <a:p>
            <a:r>
              <a:rPr lang="en-US" dirty="0"/>
              <a:t>LOOP L1          		; decrement CX and repeat if 								CX ≠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557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FD42C-E484-1835-1DD9-520E62614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EXECUTION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A66397-9A86-8505-27B5-5D4D19A863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6851410"/>
              </p:ext>
            </p:extLst>
          </p:nvPr>
        </p:nvGraphicFramePr>
        <p:xfrm>
          <a:off x="768349" y="2538919"/>
          <a:ext cx="7675260" cy="3044760"/>
        </p:xfrm>
        <a:graphic>
          <a:graphicData uri="http://schemas.openxmlformats.org/drawingml/2006/table">
            <a:tbl>
              <a:tblPr/>
              <a:tblGrid>
                <a:gridCol w="1918815">
                  <a:extLst>
                    <a:ext uri="{9D8B030D-6E8A-4147-A177-3AD203B41FA5}">
                      <a16:colId xmlns:a16="http://schemas.microsoft.com/office/drawing/2014/main" val="4257009336"/>
                    </a:ext>
                  </a:extLst>
                </a:gridCol>
                <a:gridCol w="1918815">
                  <a:extLst>
                    <a:ext uri="{9D8B030D-6E8A-4147-A177-3AD203B41FA5}">
                      <a16:colId xmlns:a16="http://schemas.microsoft.com/office/drawing/2014/main" val="2863035244"/>
                    </a:ext>
                  </a:extLst>
                </a:gridCol>
                <a:gridCol w="1918815">
                  <a:extLst>
                    <a:ext uri="{9D8B030D-6E8A-4147-A177-3AD203B41FA5}">
                      <a16:colId xmlns:a16="http://schemas.microsoft.com/office/drawing/2014/main" val="4116942478"/>
                    </a:ext>
                  </a:extLst>
                </a:gridCol>
                <a:gridCol w="1918815">
                  <a:extLst>
                    <a:ext uri="{9D8B030D-6E8A-4147-A177-3AD203B41FA5}">
                      <a16:colId xmlns:a16="http://schemas.microsoft.com/office/drawing/2014/main" val="4285457827"/>
                    </a:ext>
                  </a:extLst>
                </a:gridCol>
              </a:tblGrid>
              <a:tr h="507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CX Before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CX After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993612"/>
                  </a:ext>
                </a:extLst>
              </a:tr>
              <a:tr h="507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Jump to L1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434920"/>
                  </a:ext>
                </a:extLst>
              </a:tr>
              <a:tr h="507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Jump to L1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750972"/>
                  </a:ext>
                </a:extLst>
              </a:tr>
              <a:tr h="507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Jump to L1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363552"/>
                  </a:ext>
                </a:extLst>
              </a:tr>
              <a:tr h="507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Jump to L1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089984"/>
                  </a:ext>
                </a:extLst>
              </a:tr>
              <a:tr h="507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Stop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132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0318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55AD0-D14F-85F3-7D37-F83AC4109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TO DO!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961AA-6D46-27CB-FEA7-012F9082A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an assembly code to perform the sum of 5 numbers using loop and array. </a:t>
            </a:r>
          </a:p>
        </p:txBody>
      </p:sp>
    </p:spTree>
    <p:extLst>
      <p:ext uri="{BB962C8B-B14F-4D97-AF65-F5344CB8AC3E}">
        <p14:creationId xmlns:p14="http://schemas.microsoft.com/office/powerpoint/2010/main" val="530313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16071-23E5-B5A6-0140-0410530FD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CMP DOES?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89B50-50F2-97EE-E2D5-1BD5EBFD1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CMP instruction compares two operands and changes the flags according to the result of the comparison.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operands themselves remain unchanged.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destination operand can be in a register or in memory, and the source operand can be in a register. in memory, or immediate.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Although all the CF, AF, SF, PF, ZF, and OF flags reflect the result of the comparison, only the CF and ZF are used.</a:t>
            </a:r>
          </a:p>
        </p:txBody>
      </p:sp>
    </p:spTree>
    <p:extLst>
      <p:ext uri="{BB962C8B-B14F-4D97-AF65-F5344CB8AC3E}">
        <p14:creationId xmlns:p14="http://schemas.microsoft.com/office/powerpoint/2010/main" val="652884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A1B3B-44B1-3168-50A2-98585B842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Flag Settings for Compare Instruction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E0F71-C5CA-1AEC-23BE-0D771DE01F8B}"/>
              </a:ext>
            </a:extLst>
          </p:cNvPr>
          <p:cNvSpPr txBox="1"/>
          <p:nvPr/>
        </p:nvSpPr>
        <p:spPr>
          <a:xfrm>
            <a:off x="1432560" y="2059245"/>
            <a:ext cx="73578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CMP (compare) instruction performs an implied subtraction of a source operand from destination operand. Neither operand is modified.</a:t>
            </a:r>
          </a:p>
          <a:p>
            <a:pPr algn="just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altLang="en-US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destination, source</a:t>
            </a:r>
          </a:p>
          <a:p>
            <a:pPr algn="just">
              <a:buFontTx/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53D1884-CE9C-34AE-6362-A24048AF7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023911"/>
              </p:ext>
            </p:extLst>
          </p:nvPr>
        </p:nvGraphicFramePr>
        <p:xfrm>
          <a:off x="1749552" y="3703010"/>
          <a:ext cx="6553200" cy="22326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4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4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CF</a:t>
                      </a:r>
                      <a:endParaRPr lang="ur-PK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ZF</a:t>
                      </a:r>
                      <a:endParaRPr lang="ur-PK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CMP Result </a:t>
                      </a:r>
                      <a:endParaRPr lang="ur-PK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ur-PK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ur-PK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Dest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ination &lt;  Source</a:t>
                      </a:r>
                      <a:endParaRPr lang="ur-PK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ur-PK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ur-PK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Dest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ination  &gt;  Source</a:t>
                      </a:r>
                      <a:endParaRPr lang="ur-PK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ur-PK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ur-PK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Dest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ination  =  Source</a:t>
                      </a:r>
                      <a:endParaRPr lang="ur-PK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29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JUMP Instructions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Used to change the normal execution flow.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Two main types: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   1. Unconditional (JMP</a:t>
            </a:r>
            <a:r>
              <a:rPr lang="en-US" dirty="0"/>
              <a:t> Label</a:t>
            </a:r>
            <a:r>
              <a:rPr dirty="0"/>
              <a:t>)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   2. Conditional (JE, JNE, JG, JL, etc.)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Labels are used as jump targets.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A113D560-A190-CD38-5BC5-91C428330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Unconditional Jump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02E0845D-42AB-CBF6-E47D-E396A56F312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85900" y="1771650"/>
            <a:ext cx="6172200" cy="1771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en-US"/>
              <a:t>Syntax:</a:t>
            </a:r>
          </a:p>
          <a:p>
            <a:pPr lvl="1" algn="just">
              <a:buFont typeface="Wingdings 3" panose="05040102010807070707" pitchFamily="18" charset="2"/>
              <a:buNone/>
            </a:pPr>
            <a:r>
              <a:rPr lang="en-US" altLang="en-US" sz="1800"/>
              <a:t>JMP </a:t>
            </a:r>
            <a:r>
              <a:rPr lang="en-US" altLang="en-US" sz="1800" i="1"/>
              <a:t>destination_label</a:t>
            </a:r>
          </a:p>
          <a:p>
            <a:pPr algn="just"/>
            <a:r>
              <a:rPr lang="en-US" altLang="en-US"/>
              <a:t>Purpose: To Transfer control to another part of the program.</a:t>
            </a:r>
          </a:p>
          <a:p>
            <a:pPr algn="just"/>
            <a:r>
              <a:rPr lang="en-US" altLang="en-US"/>
              <a:t>Example:</a:t>
            </a:r>
          </a:p>
          <a:p>
            <a:pPr algn="just">
              <a:buFont typeface="Wingdings 3" panose="05040102010807070707" pitchFamily="18" charset="2"/>
              <a:buNone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52336-18EE-E771-C17D-34FC86816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599E784-E48D-45FE-A4F3-FE778C1DC9AB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16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84F690-F32D-CA8A-4798-00772881A032}"/>
              </a:ext>
            </a:extLst>
          </p:cNvPr>
          <p:cNvGraphicFramePr>
            <a:graphicFrameLocks noGrp="1"/>
          </p:cNvGraphicFramePr>
          <p:nvPr/>
        </p:nvGraphicFramePr>
        <p:xfrm>
          <a:off x="1714500" y="3429000"/>
          <a:ext cx="554355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0025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ORG 100h</a:t>
                      </a: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.CODE</a:t>
                      </a:r>
                    </a:p>
                    <a:p>
                      <a:r>
                        <a:rPr lang="en-US" sz="1400" b="0" dirty="0">
                          <a:solidFill>
                            <a:srgbClr val="0070C0"/>
                          </a:solidFill>
                        </a:rPr>
                        <a:t>MOV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</a:rPr>
                        <a:t> AX, 2</a:t>
                      </a:r>
                    </a:p>
                    <a:p>
                      <a:r>
                        <a:rPr lang="en-US" sz="1400" b="0" baseline="0" dirty="0">
                          <a:solidFill>
                            <a:srgbClr val="0070C0"/>
                          </a:solidFill>
                        </a:rPr>
                        <a:t>MOV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</a:rPr>
                        <a:t> BX, 2</a:t>
                      </a:r>
                    </a:p>
                    <a:p>
                      <a:r>
                        <a:rPr lang="en-US" sz="1400" b="0" baseline="0" dirty="0">
                          <a:solidFill>
                            <a:srgbClr val="0070C0"/>
                          </a:solidFill>
                        </a:rPr>
                        <a:t>JMP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</a:rPr>
                        <a:t> LABEL_SUB</a:t>
                      </a:r>
                    </a:p>
                    <a:p>
                      <a:r>
                        <a:rPr lang="en-US" sz="1400" b="0" baseline="0" dirty="0">
                          <a:solidFill>
                            <a:srgbClr val="0070C0"/>
                          </a:solidFill>
                        </a:rPr>
                        <a:t>ADD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</a:rPr>
                        <a:t> AX, BX   </a:t>
                      </a:r>
                      <a:r>
                        <a:rPr lang="en-US" sz="1400" b="0" baseline="0" dirty="0">
                          <a:solidFill>
                            <a:srgbClr val="00B050"/>
                          </a:solidFill>
                        </a:rPr>
                        <a:t>;this instruction will never execute</a:t>
                      </a:r>
                    </a:p>
                    <a:p>
                      <a:r>
                        <a:rPr lang="en-US" sz="1400" b="0" baseline="0" dirty="0">
                          <a:solidFill>
                            <a:schemeClr val="tx1"/>
                          </a:solidFill>
                        </a:rPr>
                        <a:t>LABEL_SUB:</a:t>
                      </a: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                     </a:t>
                      </a:r>
                      <a:r>
                        <a:rPr lang="en-US" sz="1400" b="0" dirty="0">
                          <a:solidFill>
                            <a:srgbClr val="0070C0"/>
                          </a:solidFill>
                        </a:rPr>
                        <a:t> SUB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AX,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</a:rPr>
                        <a:t> BX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RET</a:t>
                      </a: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434D4-9922-54E6-7A9E-DA0678F5B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46334-F89F-1BC9-6263-3511124AC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mov ax, 5</a:t>
            </a:r>
          </a:p>
          <a:p>
            <a:pPr marL="0" indent="0">
              <a:buNone/>
            </a:pPr>
            <a:r>
              <a:rPr lang="en-US" sz="2800" dirty="0" err="1"/>
              <a:t>jmp</a:t>
            </a:r>
            <a:r>
              <a:rPr lang="en-US" sz="2800" dirty="0"/>
              <a:t> skip</a:t>
            </a:r>
          </a:p>
          <a:p>
            <a:pPr marL="0" indent="0">
              <a:buNone/>
            </a:pPr>
            <a:r>
              <a:rPr lang="en-US" sz="2800" dirty="0"/>
              <a:t>mov ax, 10</a:t>
            </a:r>
          </a:p>
          <a:p>
            <a:pPr marL="0" indent="0">
              <a:buNone/>
            </a:pPr>
            <a:r>
              <a:rPr lang="en-US" sz="2800" dirty="0"/>
              <a:t>skip:</a:t>
            </a:r>
          </a:p>
          <a:p>
            <a:pPr marL="0" indent="0">
              <a:buNone/>
            </a:pPr>
            <a:r>
              <a:rPr lang="en-US" sz="2800" dirty="0"/>
              <a:t>add ax,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233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Unconditional Jump (JMP)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sz="2400" dirty="0"/>
              <a:t>• Always jumps to the target label.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dirty="0"/>
              <a:t>Example: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dirty="0"/>
              <a:t>mov al, 10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dirty="0" err="1"/>
              <a:t>jmp</a:t>
            </a:r>
            <a:r>
              <a:rPr sz="2400" dirty="0"/>
              <a:t> done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dirty="0"/>
              <a:t>mov al, 20</a:t>
            </a:r>
          </a:p>
          <a:p>
            <a:pPr marL="0" indent="0">
              <a:spcAft>
                <a:spcPts val="600"/>
              </a:spcAft>
              <a:buNone/>
            </a:pPr>
            <a:r>
              <a:rPr sz="2400" dirty="0"/>
              <a:t>done: add al, 5  </a:t>
            </a:r>
            <a:r>
              <a:rPr lang="en-US" sz="2400" dirty="0"/>
              <a:t>			</a:t>
            </a:r>
            <a:r>
              <a:rPr sz="2400" dirty="0"/>
              <a:t>; AL = 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Conditional Jumps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 Conditional jumps happen </a:t>
            </a:r>
            <a:r>
              <a:rPr lang="en-US" b="1" dirty="0"/>
              <a:t>only if a certain flag or condition</a:t>
            </a:r>
            <a:r>
              <a:rPr lang="en-US" dirty="0"/>
              <a:t> is set.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 These instructions depend on </a:t>
            </a:r>
            <a:r>
              <a:rPr lang="en-US" b="1" dirty="0"/>
              <a:t>previous instruction results </a:t>
            </a:r>
            <a:r>
              <a:rPr lang="en-US" dirty="0"/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dirty="0"/>
          </a:p>
          <a:p>
            <a:pPr>
              <a:spcAft>
                <a:spcPts val="600"/>
              </a:spcAft>
            </a:pPr>
            <a:r>
              <a:rPr lang="en-US" b="1" dirty="0"/>
              <a:t>Command Format:</a:t>
            </a:r>
          </a:p>
          <a:p>
            <a:pPr>
              <a:spcAft>
                <a:spcPts val="600"/>
              </a:spcAft>
            </a:pPr>
            <a:r>
              <a:rPr lang="en-US" dirty="0"/>
              <a:t>CMP operand1, operand2</a:t>
            </a:r>
          </a:p>
          <a:p>
            <a:pPr>
              <a:spcAft>
                <a:spcPts val="600"/>
              </a:spcAft>
            </a:pPr>
            <a:r>
              <a:rPr lang="en-US" dirty="0"/>
              <a:t>J&lt;condition&gt; label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6C59-E7FA-8B1B-E311-33BB46F2E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Conditional Jumps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BACC67D-B0FA-B15C-D6A5-DED04E7C8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9876739"/>
              </p:ext>
            </p:extLst>
          </p:nvPr>
        </p:nvGraphicFramePr>
        <p:xfrm>
          <a:off x="861727" y="2198452"/>
          <a:ext cx="7290054" cy="32352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4126">
                  <a:extLst>
                    <a:ext uri="{9D8B030D-6E8A-4147-A177-3AD203B41FA5}">
                      <a16:colId xmlns:a16="http://schemas.microsoft.com/office/drawing/2014/main" val="625119937"/>
                    </a:ext>
                  </a:extLst>
                </a:gridCol>
                <a:gridCol w="2472964">
                  <a:extLst>
                    <a:ext uri="{9D8B030D-6E8A-4147-A177-3AD203B41FA5}">
                      <a16:colId xmlns:a16="http://schemas.microsoft.com/office/drawing/2014/main" val="3700321754"/>
                    </a:ext>
                  </a:extLst>
                </a:gridCol>
                <a:gridCol w="2472964">
                  <a:extLst>
                    <a:ext uri="{9D8B030D-6E8A-4147-A177-3AD203B41FA5}">
                      <a16:colId xmlns:a16="http://schemas.microsoft.com/office/drawing/2014/main" val="1378668859"/>
                    </a:ext>
                  </a:extLst>
                </a:gridCol>
              </a:tblGrid>
              <a:tr h="381833">
                <a:tc>
                  <a:txBody>
                    <a:bodyPr/>
                    <a:lstStyle/>
                    <a:p>
                      <a:r>
                        <a:rPr lang="en-US" dirty="0"/>
                        <a:t>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350433"/>
                  </a:ext>
                </a:extLst>
              </a:tr>
              <a:tr h="381833">
                <a:tc>
                  <a:txBody>
                    <a:bodyPr/>
                    <a:lstStyle/>
                    <a:p>
                      <a:r>
                        <a:rPr lang="en-US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Jump If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Unsigned/Signed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654056"/>
                  </a:ext>
                </a:extLst>
              </a:tr>
              <a:tr h="381833">
                <a:tc>
                  <a:txBody>
                    <a:bodyPr/>
                    <a:lstStyle/>
                    <a:p>
                      <a:r>
                        <a:rPr lang="en-US" dirty="0"/>
                        <a:t>JNE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Jump if Not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Unsigned/Signed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107300"/>
                  </a:ext>
                </a:extLst>
              </a:tr>
              <a:tr h="381833">
                <a:tc>
                  <a:txBody>
                    <a:bodyPr/>
                    <a:lstStyle/>
                    <a:p>
                      <a:r>
                        <a:rPr lang="en-US" dirty="0"/>
                        <a:t>JG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Jump if Greater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Signed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964453"/>
                  </a:ext>
                </a:extLst>
              </a:tr>
              <a:tr h="381833">
                <a:tc>
                  <a:txBody>
                    <a:bodyPr/>
                    <a:lstStyle/>
                    <a:p>
                      <a:r>
                        <a:rPr lang="en-US" dirty="0"/>
                        <a:t>JL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Jump if Less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Signed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254957"/>
                  </a:ext>
                </a:extLst>
              </a:tr>
              <a:tr h="668208">
                <a:tc>
                  <a:txBody>
                    <a:bodyPr/>
                    <a:lstStyle/>
                    <a:p>
                      <a:r>
                        <a:rPr lang="en-US" dirty="0"/>
                        <a:t>JGE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Jump if Greater or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Signed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168047"/>
                  </a:ext>
                </a:extLst>
              </a:tr>
              <a:tr h="657839">
                <a:tc>
                  <a:txBody>
                    <a:bodyPr/>
                    <a:lstStyle/>
                    <a:p>
                      <a:r>
                        <a:rPr lang="en-US" dirty="0"/>
                        <a:t>JLE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Jump if Less or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Signed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525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5168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Example – JE (Jump if Equal)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mov al, 5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 err="1"/>
              <a:t>cmp</a:t>
            </a:r>
            <a:r>
              <a:rPr dirty="0"/>
              <a:t> al, 5</a:t>
            </a:r>
            <a:r>
              <a:rPr lang="en-US" dirty="0"/>
              <a:t>		;ZF = 1</a:t>
            </a:r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je </a:t>
            </a:r>
            <a:r>
              <a:rPr dirty="0" err="1"/>
              <a:t>equal_label</a:t>
            </a:r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mov bl, 0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 err="1"/>
              <a:t>equal_label</a:t>
            </a:r>
            <a:r>
              <a:rPr dirty="0"/>
              <a:t>: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mov bl, 1  </a:t>
            </a:r>
            <a:r>
              <a:rPr lang="en-US" dirty="0"/>
              <a:t>		</a:t>
            </a:r>
            <a:r>
              <a:rPr dirty="0"/>
              <a:t>; BL = 1 since AL ==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8CBC3-13F4-503E-7686-6E35687DE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– JNE </a:t>
            </a:r>
            <a:br>
              <a:rPr lang="en-US" dirty="0"/>
            </a:br>
            <a:r>
              <a:rPr lang="en-US" dirty="0"/>
              <a:t>(Jump if NOT Equal)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5F41D-179B-B361-FC67-F9B626FF7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mov al, 5</a:t>
            </a:r>
          </a:p>
          <a:p>
            <a:pPr marL="0" indent="0">
              <a:buNone/>
            </a:pPr>
            <a:r>
              <a:rPr lang="en-US" dirty="0" err="1"/>
              <a:t>cmp</a:t>
            </a:r>
            <a:r>
              <a:rPr lang="en-US" dirty="0"/>
              <a:t> al, 8			;ZF = 0</a:t>
            </a:r>
          </a:p>
          <a:p>
            <a:pPr marL="0" indent="0">
              <a:buNone/>
            </a:pPr>
            <a:r>
              <a:rPr lang="en-US" dirty="0" err="1"/>
              <a:t>jne</a:t>
            </a:r>
            <a:r>
              <a:rPr lang="en-US" dirty="0"/>
              <a:t> </a:t>
            </a:r>
            <a:r>
              <a:rPr lang="en-US" dirty="0" err="1"/>
              <a:t>not_equal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mov bl, 0</a:t>
            </a:r>
          </a:p>
          <a:p>
            <a:pPr marL="0" indent="0">
              <a:buNone/>
            </a:pPr>
            <a:r>
              <a:rPr lang="en-US" dirty="0" err="1"/>
              <a:t>not_equal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mov bl, 1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12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E2716-EE5B-7D6F-71CC-4703BC5B8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JUMP if ABOVE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589AE-781F-49EC-4F76-6FB741ACF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MOV AL, 9</a:t>
            </a:r>
          </a:p>
          <a:p>
            <a:pPr marL="0" indent="0">
              <a:buNone/>
            </a:pPr>
            <a:r>
              <a:rPr lang="en-US" dirty="0"/>
              <a:t>CMP AL, 5</a:t>
            </a:r>
          </a:p>
          <a:p>
            <a:pPr marL="0" indent="0">
              <a:buNone/>
            </a:pPr>
            <a:r>
              <a:rPr lang="en-US" dirty="0"/>
              <a:t>JA ABOVE_LABEL</a:t>
            </a:r>
          </a:p>
          <a:p>
            <a:pPr marL="0" indent="0">
              <a:buNone/>
            </a:pPr>
            <a:r>
              <a:rPr lang="en-US" dirty="0"/>
              <a:t>MOV BL, 0</a:t>
            </a:r>
          </a:p>
          <a:p>
            <a:pPr marL="0" indent="0">
              <a:buNone/>
            </a:pPr>
            <a:r>
              <a:rPr lang="en-US" dirty="0"/>
              <a:t>ABOVE_LABEL:</a:t>
            </a:r>
          </a:p>
          <a:p>
            <a:pPr marL="0" indent="0">
              <a:buNone/>
            </a:pPr>
            <a:r>
              <a:rPr lang="en-US" dirty="0"/>
              <a:t>MOV BL,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CF = 0 and ZF = 0 → True → Jump occurs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814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E4E0F-4B97-0DEC-15AA-60F4C3EC4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33942"/>
            <a:ext cx="6589199" cy="1280890"/>
          </a:xfrm>
        </p:spPr>
        <p:txBody>
          <a:bodyPr/>
          <a:lstStyle/>
          <a:p>
            <a:pPr algn="ctr"/>
            <a:r>
              <a:rPr lang="en-US" dirty="0"/>
              <a:t>JUMP if BELOW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EF01C-C661-754D-93D0-A7381F0B3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MOV AL, 3</a:t>
            </a:r>
          </a:p>
          <a:p>
            <a:pPr marL="0" indent="0">
              <a:buNone/>
            </a:pPr>
            <a:r>
              <a:rPr lang="en-US" dirty="0"/>
              <a:t>CMP AL, 5</a:t>
            </a:r>
          </a:p>
          <a:p>
            <a:pPr marL="0" indent="0">
              <a:buNone/>
            </a:pPr>
            <a:r>
              <a:rPr lang="en-US" dirty="0"/>
              <a:t>JB BELOW_LABEL</a:t>
            </a:r>
          </a:p>
          <a:p>
            <a:pPr marL="0" indent="0">
              <a:buNone/>
            </a:pPr>
            <a:r>
              <a:rPr lang="en-US" dirty="0"/>
              <a:t>MOV BL, 0</a:t>
            </a:r>
          </a:p>
          <a:p>
            <a:pPr marL="0" indent="0">
              <a:buNone/>
            </a:pPr>
            <a:r>
              <a:rPr lang="en-US" dirty="0"/>
              <a:t>BELOW_LABEL:</a:t>
            </a:r>
          </a:p>
          <a:p>
            <a:pPr marL="0" indent="0">
              <a:buNone/>
            </a:pPr>
            <a:r>
              <a:rPr lang="en-US" dirty="0"/>
              <a:t>MOV BL,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CF = 1 → True → </a:t>
            </a:r>
            <a:r>
              <a:rPr lang="en-US" b="1" dirty="0"/>
              <a:t>Jump occurs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186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Using Jumps to Create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mov cx, 5  </a:t>
            </a:r>
            <a:r>
              <a:rPr lang="en-US" dirty="0"/>
              <a:t>		</a:t>
            </a:r>
            <a:r>
              <a:rPr dirty="0"/>
              <a:t>; counter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mov ax, 0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start: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add ax, 2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dec cx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 err="1"/>
              <a:t>jnz</a:t>
            </a:r>
            <a:r>
              <a:rPr dirty="0"/>
              <a:t> start  </a:t>
            </a:r>
            <a:r>
              <a:rPr lang="en-US" dirty="0"/>
              <a:t>		</a:t>
            </a:r>
            <a:r>
              <a:rPr dirty="0"/>
              <a:t>;Jump if Not Zero</a:t>
            </a:r>
          </a:p>
          <a:p>
            <a:pPr marL="0" indent="0">
              <a:spcAft>
                <a:spcPts val="600"/>
              </a:spcAft>
              <a:buNone/>
            </a:pPr>
            <a:r>
              <a:rPr dirty="0"/>
              <a:t>• AX = 10 after loop completes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777BA6-6B9F-AB3C-16C8-609EA581E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868" y="573932"/>
            <a:ext cx="6431048" cy="5812615"/>
          </a:xfrm>
        </p:spPr>
      </p:pic>
    </p:spTree>
    <p:extLst>
      <p:ext uri="{BB962C8B-B14F-4D97-AF65-F5344CB8AC3E}">
        <p14:creationId xmlns:p14="http://schemas.microsoft.com/office/powerpoint/2010/main" val="35519107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72396-78F6-1DA6-B166-A13B70420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Finding the highest grade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C2FC3F-C860-1B3C-280D-71BF383CE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5201" y="1562387"/>
            <a:ext cx="5676509" cy="4274583"/>
          </a:xfrm>
        </p:spPr>
      </p:pic>
    </p:spTree>
    <p:extLst>
      <p:ext uri="{BB962C8B-B14F-4D97-AF65-F5344CB8AC3E}">
        <p14:creationId xmlns:p14="http://schemas.microsoft.com/office/powerpoint/2010/main" val="4190962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5FD49-EEB8-213F-AA9F-D652BB77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 to do!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2F066-9BFD-9008-6676-E738DE672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887166"/>
            <a:ext cx="7870066" cy="4422194"/>
          </a:xfrm>
        </p:spPr>
        <p:txBody>
          <a:bodyPr/>
          <a:lstStyle/>
          <a:p>
            <a:pPr algn="just"/>
            <a:r>
              <a:rPr lang="en-US" dirty="0"/>
              <a:t>Write an assembly program that counts how many numbers in an array are </a:t>
            </a:r>
            <a:r>
              <a:rPr lang="en-US" b="1" dirty="0"/>
              <a:t>greater than 50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928943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686</TotalTime>
  <Words>1198</Words>
  <Application>Microsoft Office PowerPoint</Application>
  <PresentationFormat>On-screen Show (4:3)</PresentationFormat>
  <Paragraphs>237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Century Gothic</vt:lpstr>
      <vt:lpstr>Gill Sans MT</vt:lpstr>
      <vt:lpstr>Times New Roman</vt:lpstr>
      <vt:lpstr>Wingdings</vt:lpstr>
      <vt:lpstr>Wingdings 3</vt:lpstr>
      <vt:lpstr>Wisp</vt:lpstr>
      <vt:lpstr>Arrays, Loops and Jumps</vt:lpstr>
      <vt:lpstr>Arrays &amp; Loops (Labels and Loop Instruction)</vt:lpstr>
      <vt:lpstr>Example</vt:lpstr>
      <vt:lpstr>Explanation</vt:lpstr>
      <vt:lpstr>Base Plus Index Addressing Mode</vt:lpstr>
      <vt:lpstr>Base Relative Plus Index Addressing Mode</vt:lpstr>
      <vt:lpstr>Understanding OFFSET</vt:lpstr>
      <vt:lpstr>OFFSET Visualization</vt:lpstr>
      <vt:lpstr>Loops Instruction</vt:lpstr>
      <vt:lpstr>Example</vt:lpstr>
      <vt:lpstr>EXECUTION</vt:lpstr>
      <vt:lpstr>TASK TO DO!</vt:lpstr>
      <vt:lpstr>WHAT CMP DOES?</vt:lpstr>
      <vt:lpstr>Flag Settings for Compare Instruction</vt:lpstr>
      <vt:lpstr>JUMP Instructions Overview</vt:lpstr>
      <vt:lpstr>Unconditional Jump</vt:lpstr>
      <vt:lpstr>Example</vt:lpstr>
      <vt:lpstr>Unconditional Jump (JMP)</vt:lpstr>
      <vt:lpstr>Conditional Jumps </vt:lpstr>
      <vt:lpstr>Conditional Jumps </vt:lpstr>
      <vt:lpstr>Example – JE (Jump if Equal)</vt:lpstr>
      <vt:lpstr>Example – JNE  (Jump if NOT Equal)</vt:lpstr>
      <vt:lpstr>JUMP if ABOVE</vt:lpstr>
      <vt:lpstr>JUMP if BELOW</vt:lpstr>
      <vt:lpstr>Using Jumps to Create Loops</vt:lpstr>
      <vt:lpstr>PowerPoint Presentation</vt:lpstr>
      <vt:lpstr>Finding the highest grade</vt:lpstr>
      <vt:lpstr>Task to do!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Hina Tahir</dc:creator>
  <cp:keywords/>
  <dc:description>generated using python-pptx</dc:description>
  <cp:lastModifiedBy>Hina Tahir</cp:lastModifiedBy>
  <cp:revision>64</cp:revision>
  <dcterms:created xsi:type="dcterms:W3CDTF">2013-01-27T09:14:16Z</dcterms:created>
  <dcterms:modified xsi:type="dcterms:W3CDTF">2025-10-28T18:00:18Z</dcterms:modified>
  <cp:category/>
</cp:coreProperties>
</file>