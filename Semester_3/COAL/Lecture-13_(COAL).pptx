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2" d="100"/>
          <a:sy n="82" d="100"/>
        </p:scale>
        <p:origin x="715" y="7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5516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33299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1E59307-FD9A-4506-868F-38EAB1970A9E}" type="datetimeFigureOut">
              <a:rPr lang="en-US"/>
              <a:t>12/23/2025</a:t>
            </a:fld>
            <a:endParaRPr lang="en-US"/>
          </a:p>
        </p:txBody>
      </p:sp>
      <p:sp>
        <p:nvSpPr>
          <p:cNvPr id="139611074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9367736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208561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975204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C4DD0BA-05A3-4E41-BF9C-58D718839F8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945604-4803-689E-071E-5AA49C8ECB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840EBE-763D-E14A-111B-3D6D21BD6A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CD4A8-BB86-6DD4-5A9A-6B05A089B4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A98BB-D4DE-5740-2D05-4B79990F56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99B8E-2A61-8CEA-7BB5-EF4FDBA3CB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CCBC7-41A6-0F01-CBCD-5F455883D1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50647F-F097-D92B-2F2B-69EDB8C851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C50BBB-2247-5C67-F8B6-151E89DA6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478864-4795-F71C-1EA5-A5B62E0F95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074A6F-58B9-B246-D698-693DD8D420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90F9CE-1AC0-C30D-3436-F7D9EC38E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415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719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#include&lt;iostream&gt;</a:t>
            </a:r>
            <a:endParaRPr/>
          </a:p>
          <a:p>
            <a:pPr>
              <a:defRPr/>
            </a:pPr>
            <a:r>
              <a:rPr lang="en-US"/>
              <a:t>using namespace std;</a:t>
            </a:r>
            <a:endParaRPr/>
          </a:p>
          <a:p>
            <a:pPr>
              <a:defRPr/>
            </a:pPr>
            <a:r>
              <a:rPr lang="en-US"/>
              <a:t>int main(void)</a:t>
            </a:r>
            <a:endParaRPr/>
          </a:p>
          <a:p>
            <a:pPr>
              <a:defRPr/>
            </a:pPr>
            <a:r>
              <a:rPr lang="en-US"/>
              <a:t>{</a:t>
            </a:r>
            <a:endParaRPr/>
          </a:p>
          <a:p>
            <a:pPr>
              <a:defRPr/>
            </a:pPr>
            <a:r>
              <a:rPr lang="en-US"/>
              <a:t>int a = 10, b = 20, c = 0;</a:t>
            </a:r>
            <a:endParaRPr/>
          </a:p>
          <a:p>
            <a:pPr>
              <a:defRPr/>
            </a:pPr>
            <a:r>
              <a:rPr lang="en-US"/>
              <a:t>__</a:t>
            </a:r>
            <a:r>
              <a:rPr lang="en-US"/>
              <a:t>asm</a:t>
            </a:r>
            <a:endParaRPr lang="en-US"/>
          </a:p>
          <a:p>
            <a:pPr>
              <a:defRPr/>
            </a:pPr>
            <a:r>
              <a:rPr lang="en-US"/>
              <a:t>{</a:t>
            </a:r>
            <a:endParaRPr/>
          </a:p>
          <a:p>
            <a:pPr>
              <a:defRPr/>
            </a:pPr>
            <a:r>
              <a:rPr lang="en-US"/>
              <a:t>mov </a:t>
            </a:r>
            <a:r>
              <a:rPr lang="en-US"/>
              <a:t>ebx,a</a:t>
            </a:r>
            <a:endParaRPr lang="en-US"/>
          </a:p>
          <a:p>
            <a:pPr>
              <a:defRPr/>
            </a:pPr>
            <a:r>
              <a:rPr lang="en-US"/>
              <a:t>add </a:t>
            </a:r>
            <a:r>
              <a:rPr lang="en-US"/>
              <a:t>ebx,b</a:t>
            </a:r>
            <a:endParaRPr lang="en-US"/>
          </a:p>
          <a:p>
            <a:pPr>
              <a:defRPr/>
            </a:pPr>
            <a:r>
              <a:rPr lang="en-US"/>
              <a:t>mov </a:t>
            </a:r>
            <a:r>
              <a:rPr lang="en-US"/>
              <a:t>c,ebx</a:t>
            </a:r>
            <a:endParaRPr lang="en-US"/>
          </a:p>
          <a:p>
            <a:pPr>
              <a:defRPr/>
            </a:pPr>
            <a:r>
              <a:rPr lang="en-US"/>
              <a:t>}</a:t>
            </a:r>
            <a:endParaRPr/>
          </a:p>
          <a:p>
            <a:pPr>
              <a:defRPr/>
            </a:pPr>
            <a:r>
              <a:rPr lang="en-US"/>
              <a:t>cout</a:t>
            </a:r>
            <a:r>
              <a:rPr lang="en-US"/>
              <a:t> &lt;&lt; "Sum of " &lt;&lt; a &lt;&lt; " and " &lt;&lt; b &lt;&lt; " is " &lt;&lt; c &lt;&lt; </a:t>
            </a:r>
            <a:r>
              <a:rPr lang="en-US"/>
              <a:t>endl</a:t>
            </a:r>
            <a:r>
              <a:rPr lang="en-US"/>
              <a:t>;</a:t>
            </a:r>
            <a:endParaRPr/>
          </a:p>
          <a:p>
            <a:pPr>
              <a:defRPr/>
            </a:pPr>
            <a:r>
              <a:rPr lang="en-US"/>
              <a:t>}</a:t>
            </a:r>
            <a:endParaRPr/>
          </a:p>
        </p:txBody>
      </p:sp>
      <p:sp>
        <p:nvSpPr>
          <p:cNvPr id="177803905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C4DD0BA-05A3-4E41-BF9C-58D718839F83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51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31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&lt;iostream&gt;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std;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array1[] = { 1,2,3,4,5 };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push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ebp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ebp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offset array1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0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ecx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5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l1: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dword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ptr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ebp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+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add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4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loop l1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pop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ebp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 = 0; i &lt; 5; i++)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array1[i-1];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</p:txBody>
      </p:sp>
      <p:sp>
        <p:nvSpPr>
          <p:cNvPr id="198442278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C4DD0BA-05A3-4E41-BF9C-58D718839F83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002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123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&lt;iostream&gt;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std;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array1[] = { 1,2,3,4,5 };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 = 0; i &lt; 20; i = i + 4)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dword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ptr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[array1 +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 = 0; i &lt; 5; i++)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array1[i-1];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</p:txBody>
      </p:sp>
      <p:sp>
        <p:nvSpPr>
          <p:cNvPr id="51425960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C4DD0BA-05A3-4E41-BF9C-58D718839F83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818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3863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&lt;iostream&gt;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std;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array1[] = { 1,2,3,4,5 };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 = 0; i &lt; 20; i = i + 4)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eax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nl-NL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rol dword ptr[array1 + eax], 1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 = 0; i &lt; 5; i++)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endl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</p:txBody>
      </p:sp>
      <p:sp>
        <p:nvSpPr>
          <p:cNvPr id="118844409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C4DD0BA-05A3-4E41-BF9C-58D718839F83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558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3859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&lt;iostream&gt;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std;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array1[3][4] = { {1,2,3,1},{4,5,6,1},{7,8,9,1} };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index = 0;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 = 0; i &lt; 3; i++)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for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j = 0; j &lt; 4;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j++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index = 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* 4 + j) *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sizeof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eax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index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add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dword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ptr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[array1 +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eax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], 1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"("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","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j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")"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"-&gt;"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array1[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][j] </a:t>
            </a:r>
            <a:r>
              <a:rPr lang="en-US" sz="1800">
                <a:solidFill>
                  <a:srgbClr val="008080"/>
                </a:solidFill>
                <a:highlight>
                  <a:srgbClr val="FFFFFF"/>
                </a:highlight>
                <a:latin typeface="Cascadia Mono"/>
              </a:rPr>
              <a:t>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endl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r>
              <a:rPr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</p:txBody>
      </p:sp>
      <p:sp>
        <p:nvSpPr>
          <p:cNvPr id="32815509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C4DD0BA-05A3-4E41-BF9C-58D718839F83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A526A-9322-1DDA-5BF2-7FD8917D16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4C4E42-413D-5C06-801A-E03F05B72B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66343E-EBD4-3697-58AF-4B9E948625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631BC2-453C-8C98-B1B1-F0AF311DB1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1380504" name="Group 6"/>
          <p:cNvGrpSpPr/>
          <p:nvPr/>
        </p:nvGrpSpPr>
        <p:grpSpPr bwMode="auto"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auto"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43943251" name="Title 1"/>
          <p:cNvSpPr>
            <a:spLocks noGrp="1"/>
          </p:cNvSpPr>
          <p:nvPr>
            <p:ph type="ctrTitle"/>
          </p:nvPr>
        </p:nvSpPr>
        <p:spPr bwMode="auto"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708223" name="Subtitle 2"/>
          <p:cNvSpPr>
            <a:spLocks noGrp="1"/>
          </p:cNvSpPr>
          <p:nvPr>
            <p:ph type="subTitle" idx="1"/>
          </p:nvPr>
        </p:nvSpPr>
        <p:spPr bwMode="auto"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37110457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983232" y="5037663"/>
            <a:ext cx="897467" cy="279400"/>
          </a:xfrm>
        </p:spPr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83629746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692397" y="5037663"/>
            <a:ext cx="5214635" cy="2794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040224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956900" y="5037663"/>
            <a:ext cx="551167" cy="279400"/>
          </a:xfrm>
        </p:spPr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25090839" name="Straight Connector 14"/>
          <p:cNvCxnSpPr/>
          <p:nvPr/>
        </p:nvCxnSpPr>
        <p:spPr bwMode="auto">
          <a:xfrm>
            <a:off x="2692399" y="3522130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67694793" name="Straight Connector 6"/>
          <p:cNvCxnSpPr/>
          <p:nvPr/>
        </p:nvCxnSpPr>
        <p:spPr bwMode="auto"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14501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72203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27010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8116969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20456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173396" name="Title 1"/>
          <p:cNvSpPr>
            <a:spLocks noGrp="1"/>
          </p:cNvSpPr>
          <p:nvPr>
            <p:ph type="title"/>
          </p:nvPr>
        </p:nvSpPr>
        <p:spPr bwMode="auto"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58205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69766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9795905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3000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20174251" name="Straight Connector 15"/>
          <p:cNvCxnSpPr/>
          <p:nvPr/>
        </p:nvCxnSpPr>
        <p:spPr bwMode="auto"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91995494" name="Straight Connector 7"/>
          <p:cNvCxnSpPr/>
          <p:nvPr/>
        </p:nvCxnSpPr>
        <p:spPr bwMode="auto"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2656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669428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298448" y="2560320"/>
            <a:ext cx="4718304" cy="331012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770595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81344" y="2560320"/>
            <a:ext cx="4718304" cy="331012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74682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735336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58910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9135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92463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00781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538500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221475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900466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84466032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05293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1506647883" name="Straight Connector 17"/>
          <p:cNvCxnSpPr/>
          <p:nvPr/>
        </p:nvCxnSpPr>
        <p:spPr bwMode="auto"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084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18274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88351563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8613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1340634344" name="Straight Connector 13"/>
          <p:cNvCxnSpPr/>
          <p:nvPr/>
        </p:nvCxnSpPr>
        <p:spPr bwMode="auto"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2488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7656007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556720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79584" name="Title 1"/>
          <p:cNvSpPr>
            <a:spLocks noGrp="1"/>
          </p:cNvSpPr>
          <p:nvPr>
            <p:ph type="title"/>
          </p:nvPr>
        </p:nvSpPr>
        <p:spPr bwMode="auto">
          <a:xfrm>
            <a:off x="1293811" y="1388533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7958753" name="Content Placeholder 2"/>
          <p:cNvSpPr>
            <a:spLocks noGrp="1"/>
          </p:cNvSpPr>
          <p:nvPr>
            <p:ph idx="1"/>
          </p:nvPr>
        </p:nvSpPr>
        <p:spPr bwMode="auto"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55076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9026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20148289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40422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967588035" name="Straight Connector 15"/>
          <p:cNvCxnSpPr/>
          <p:nvPr/>
        </p:nvCxnSpPr>
        <p:spPr bwMode="auto">
          <a:xfrm>
            <a:off x="1396169" y="2912533"/>
            <a:ext cx="351449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691959" name="Title 1"/>
          <p:cNvSpPr>
            <a:spLocks noGrp="1"/>
          </p:cNvSpPr>
          <p:nvPr>
            <p:ph type="title"/>
          </p:nvPr>
        </p:nvSpPr>
        <p:spPr bwMode="auto">
          <a:xfrm>
            <a:off x="1295399" y="1883831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037478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8094831" y="1041400"/>
            <a:ext cx="3063346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366472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78046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2472014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16632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95999" name="Title 1"/>
          <p:cNvSpPr>
            <a:spLocks noGrp="1"/>
          </p:cNvSpPr>
          <p:nvPr>
            <p:ph type="title"/>
          </p:nvPr>
        </p:nvSpPr>
        <p:spPr bwMode="auto"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768538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33827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41721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090512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59915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168154" name="Title 1"/>
          <p:cNvSpPr>
            <a:spLocks noGrp="1"/>
          </p:cNvSpPr>
          <p:nvPr>
            <p:ph type="title"/>
          </p:nvPr>
        </p:nvSpPr>
        <p:spPr bwMode="auto"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3548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5981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20941735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61963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959298448" name="Straight Connector 14"/>
          <p:cNvCxnSpPr/>
          <p:nvPr/>
        </p:nvCxnSpPr>
        <p:spPr bwMode="auto"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021146" name="Title 1"/>
          <p:cNvSpPr>
            <a:spLocks noGrp="1"/>
          </p:cNvSpPr>
          <p:nvPr>
            <p:ph type="title"/>
          </p:nvPr>
        </p:nvSpPr>
        <p:spPr bwMode="auto"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5558388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41039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9490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6206555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98478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sp>
        <p:nvSpPr>
          <p:cNvPr id="681413052" name="TextBox 13"/>
          <p:cNvSpPr txBox="1"/>
          <p:nvPr/>
        </p:nvSpPr>
        <p:spPr bwMode="auto">
          <a:xfrm>
            <a:off x="862013" y="87996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171914613" name="TextBox 14"/>
          <p:cNvSpPr txBox="1"/>
          <p:nvPr/>
        </p:nvSpPr>
        <p:spPr bwMode="auto">
          <a:xfrm>
            <a:off x="10600267" y="282787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cxnSp>
        <p:nvCxnSpPr>
          <p:cNvPr id="1281433958" name="Straight Connector 18"/>
          <p:cNvCxnSpPr/>
          <p:nvPr/>
        </p:nvCxnSpPr>
        <p:spPr bwMode="auto"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74534" name="Title 1"/>
          <p:cNvSpPr>
            <a:spLocks noGrp="1"/>
          </p:cNvSpPr>
          <p:nvPr>
            <p:ph type="title"/>
          </p:nvPr>
        </p:nvSpPr>
        <p:spPr bwMode="auto">
          <a:xfrm>
            <a:off x="1295402" y="3308581"/>
            <a:ext cx="9609667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1748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5401" y="4777381"/>
            <a:ext cx="960966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12114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6325058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98233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316812" name="Title 1"/>
          <p:cNvSpPr>
            <a:spLocks noGrp="1"/>
          </p:cNvSpPr>
          <p:nvPr>
            <p:ph type="title"/>
          </p:nvPr>
        </p:nvSpPr>
        <p:spPr bwMode="auto"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6120865" name="Text Placeholder 2"/>
          <p:cNvSpPr>
            <a:spLocks noGrp="1"/>
          </p:cNvSpPr>
          <p:nvPr>
            <p:ph type="body" idx="13"/>
          </p:nvPr>
        </p:nvSpPr>
        <p:spPr bwMode="auto">
          <a:xfrm>
            <a:off x="1295401" y="3639312"/>
            <a:ext cx="9609667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68303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5401" y="4529667"/>
            <a:ext cx="9609667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81380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4694076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21113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sp>
        <p:nvSpPr>
          <p:cNvPr id="465028097" name="TextBox 11"/>
          <p:cNvSpPr txBox="1"/>
          <p:nvPr/>
        </p:nvSpPr>
        <p:spPr bwMode="auto">
          <a:xfrm>
            <a:off x="862013" y="87996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218025431" name="TextBox 12"/>
          <p:cNvSpPr txBox="1"/>
          <p:nvPr/>
        </p:nvSpPr>
        <p:spPr bwMode="auto">
          <a:xfrm>
            <a:off x="10600267" y="259926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cxnSp>
        <p:nvCxnSpPr>
          <p:cNvPr id="1151883115" name="Straight Connector 25"/>
          <p:cNvCxnSpPr/>
          <p:nvPr/>
        </p:nvCxnSpPr>
        <p:spPr bwMode="auto"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536791" name="Title 1"/>
          <p:cNvSpPr>
            <a:spLocks noGrp="1"/>
          </p:cNvSpPr>
          <p:nvPr>
            <p:ph type="title"/>
          </p:nvPr>
        </p:nvSpPr>
        <p:spPr bwMode="auto"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7984546" name="Text Placeholder 2"/>
          <p:cNvSpPr>
            <a:spLocks noGrp="1"/>
          </p:cNvSpPr>
          <p:nvPr>
            <p:ph type="body" idx="13"/>
          </p:nvPr>
        </p:nvSpPr>
        <p:spPr bwMode="auto">
          <a:xfrm>
            <a:off x="1295401" y="3630168"/>
            <a:ext cx="9609667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917268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863060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271810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0337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1687814356" name="Straight Connector 14"/>
          <p:cNvCxnSpPr/>
          <p:nvPr/>
        </p:nvCxnSpPr>
        <p:spPr bwMode="auto"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9986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03968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27819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6728048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3718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445504537" name="Straight Connector 13"/>
          <p:cNvCxnSpPr/>
          <p:nvPr/>
        </p:nvCxnSpPr>
        <p:spPr bwMode="auto"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89459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999356" y="982131"/>
            <a:ext cx="1890895" cy="489373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35976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38188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6023420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5169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  <p:cxnSp>
        <p:nvCxnSpPr>
          <p:cNvPr id="1861430994" name="Straight Connector 13"/>
          <p:cNvCxnSpPr/>
          <p:nvPr/>
        </p:nvCxnSpPr>
        <p:spPr bwMode="auto"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0343351" name="Group 6"/>
          <p:cNvGrpSpPr/>
          <p:nvPr/>
        </p:nvGrpSpPr>
        <p:grpSpPr bwMode="auto"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/>
            <a:stretch/>
          </p:blipFill>
          <p:spPr bwMode="auto"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 bwMode="auto"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>
            <a:blip r:embed="rId20"/>
            <a:stretch/>
          </p:blipFill>
          <p:spPr bwMode="auto"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>
            <a:blip r:embed="rId20"/>
            <a:stretch/>
          </p:blipFill>
          <p:spPr bwMode="auto"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678374823" name="Title Placeholder 1"/>
          <p:cNvSpPr>
            <a:spLocks noGrp="1"/>
          </p:cNvSpPr>
          <p:nvPr>
            <p:ph type="title"/>
          </p:nvPr>
        </p:nvSpPr>
        <p:spPr bwMode="auto"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36971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33330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7C642CD-AAAD-4E54-BAD2-9AEC05630F5D}" type="datetimeFigureOut">
              <a:rPr lang="en-US"/>
              <a:t>12/23/2025</a:t>
            </a:fld>
            <a:endParaRPr lang="en-US"/>
          </a:p>
        </p:txBody>
      </p:sp>
      <p:sp>
        <p:nvSpPr>
          <p:cNvPr id="154851777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23845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93D7721-5747-4536-87D9-064E5816BE7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>
        <a:spcBef>
          <a:spcPts val="0"/>
        </a:spcBef>
        <a:buNone/>
        <a:defRPr sz="44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19046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COAL</a:t>
            </a:r>
            <a:endParaRPr/>
          </a:p>
        </p:txBody>
      </p:sp>
      <p:sp>
        <p:nvSpPr>
          <p:cNvPr id="188633095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Lecture 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573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32-bit Registers</a:t>
            </a:r>
            <a:endParaRPr/>
          </a:p>
        </p:txBody>
      </p:sp>
      <p:sp>
        <p:nvSpPr>
          <p:cNvPr id="174600181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/>
          </a:bodyPr>
          <a:lstStyle/>
          <a:p>
            <a:pPr algn="just">
              <a:defRPr/>
            </a:pPr>
            <a:r>
              <a:rPr lang="en-US"/>
              <a:t>Intel 80386 was the first 32-bit processor of the Intel family of microprocessors.</a:t>
            </a:r>
            <a:endParaRPr/>
          </a:p>
          <a:p>
            <a:pPr algn="just">
              <a:defRPr/>
            </a:pPr>
            <a:r>
              <a:rPr lang="en-US"/>
              <a:t>It has 32-bit addresses and data buses.</a:t>
            </a:r>
            <a:endParaRPr/>
          </a:p>
          <a:p>
            <a:pPr algn="just">
              <a:defRPr/>
            </a:pPr>
            <a:r>
              <a:rPr lang="en-US"/>
              <a:t>The protected mode was also introduced in this processor that limits the operation of user programs.</a:t>
            </a:r>
            <a:endParaRPr/>
          </a:p>
          <a:p>
            <a:pPr algn="just">
              <a:defRPr/>
            </a:pPr>
            <a:r>
              <a:rPr lang="en-US"/>
              <a:t>It doesn’t allow user programs to go beyond their memory limits assign to them and directly access IO devices.</a:t>
            </a:r>
            <a:endParaRPr/>
          </a:p>
          <a:p>
            <a:pPr algn="just">
              <a:defRPr/>
            </a:pPr>
            <a:r>
              <a:rPr lang="en-US"/>
              <a:t>The size of existing registers, except the segment registers, were extended to 32-bit.</a:t>
            </a:r>
            <a:endParaRPr/>
          </a:p>
          <a:p>
            <a:pPr algn="just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5633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32-bit Registers</a:t>
            </a:r>
            <a:endParaRPr/>
          </a:p>
        </p:txBody>
      </p:sp>
      <p:pic>
        <p:nvPicPr>
          <p:cNvPr id="1843492965" name="Content Placeholder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076734" y="2570970"/>
            <a:ext cx="6038531" cy="354166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134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Register Aliasing</a:t>
            </a:r>
            <a:endParaRPr/>
          </a:p>
        </p:txBody>
      </p:sp>
      <p:pic>
        <p:nvPicPr>
          <p:cNvPr id="1110971282" name="Content Placeholder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480313" y="3353408"/>
            <a:ext cx="5231374" cy="2105054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338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32-bit Addressing Modes</a:t>
            </a:r>
            <a:endParaRPr/>
          </a:p>
        </p:txBody>
      </p:sp>
      <p:sp>
        <p:nvSpPr>
          <p:cNvPr id="160570283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10000"/>
          </a:bodyPr>
          <a:lstStyle/>
          <a:p>
            <a:pPr algn="just">
              <a:defRPr/>
            </a:pPr>
            <a:r>
              <a:rPr lang="en-US"/>
              <a:t>The addressing modes are the same.</a:t>
            </a:r>
            <a:endParaRPr/>
          </a:p>
          <a:p>
            <a:pPr algn="just">
              <a:defRPr/>
            </a:pPr>
            <a:r>
              <a:rPr lang="en-US"/>
              <a:t>In 80386 and above, any 32-bit register may be used in register indirect addressing mode.</a:t>
            </a:r>
            <a:endParaRPr/>
          </a:p>
          <a:p>
            <a:pPr lvl="1" algn="just">
              <a:defRPr/>
            </a:pPr>
            <a:r>
              <a:rPr lang="en-US"/>
              <a:t>The MOV [EDX], CL instruction copies the byte sized contents of register CL into the data segment memory location addressed by EDX</a:t>
            </a:r>
            <a:endParaRPr/>
          </a:p>
          <a:p>
            <a:pPr algn="just">
              <a:defRPr/>
            </a:pPr>
            <a:r>
              <a:rPr lang="en-US"/>
              <a:t>Any two registers from the above may be combined to generate the memory address.</a:t>
            </a:r>
            <a:endParaRPr/>
          </a:p>
          <a:p>
            <a:pPr lvl="1" algn="just">
              <a:defRPr/>
            </a:pPr>
            <a:r>
              <a:rPr lang="en-US"/>
              <a:t>The MOV [EAX+EBX], CL instruction copies the byte sized contents of register CL into the data segment memory location addressed by EAX plus EBX.</a:t>
            </a:r>
            <a:endParaRPr/>
          </a:p>
          <a:p>
            <a:pPr algn="just">
              <a:defRPr/>
            </a:pPr>
            <a:r>
              <a:rPr lang="en-US"/>
              <a:t>Use any 32-bit register except ESP to address memory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6901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32-bit Addressing Modes</a:t>
            </a:r>
            <a:endParaRPr/>
          </a:p>
        </p:txBody>
      </p:sp>
      <p:sp>
        <p:nvSpPr>
          <p:cNvPr id="210141121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algn="just">
              <a:defRPr/>
            </a:pPr>
            <a:r>
              <a:rPr lang="en-US"/>
              <a:t>Register Direct Addressing (EAX, EBX)</a:t>
            </a:r>
            <a:endParaRPr/>
          </a:p>
          <a:p>
            <a:pPr algn="just">
              <a:defRPr/>
            </a:pPr>
            <a:r>
              <a:rPr lang="en-US"/>
              <a:t>Register Indirect Addressing ([EBX], [EAX +4])</a:t>
            </a:r>
            <a:endParaRPr/>
          </a:p>
          <a:p>
            <a:pPr algn="just">
              <a:defRPr/>
            </a:pPr>
            <a:r>
              <a:rPr lang="en-US"/>
              <a:t>Register Offset Addressing ([EBX + EAX], [EDX + ECX * 4])</a:t>
            </a:r>
            <a:endParaRPr/>
          </a:p>
          <a:p>
            <a:pPr algn="just">
              <a:defRPr/>
            </a:pPr>
            <a:r>
              <a:rPr lang="en-US"/>
              <a:t>Base + Offset Addressing ([EBX + 10], [EAX + 0x20])</a:t>
            </a:r>
            <a:endParaRPr/>
          </a:p>
          <a:p>
            <a:pPr algn="just">
              <a:defRPr/>
            </a:pPr>
            <a:r>
              <a:rPr lang="en-US"/>
              <a:t>Immediate Addressing (32-bit immediate value)</a:t>
            </a:r>
            <a:endParaRPr/>
          </a:p>
          <a:p>
            <a:pPr algn="just">
              <a:defRPr/>
            </a:pPr>
            <a:r>
              <a:rPr lang="en-US"/>
              <a:t>Segment : Offset Addressing ([CS:1234], [DS:2000])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4972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Inline Assembly Language</a:t>
            </a:r>
            <a:endParaRPr/>
          </a:p>
        </p:txBody>
      </p:sp>
      <p:sp>
        <p:nvSpPr>
          <p:cNvPr id="8021146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Assembly language serves many purposes:</a:t>
            </a:r>
            <a:endParaRPr/>
          </a:p>
          <a:p>
            <a:pPr lvl="1">
              <a:defRPr/>
            </a:pPr>
            <a:r>
              <a:rPr lang="en-US"/>
              <a:t>Improving program speed</a:t>
            </a:r>
            <a:endParaRPr/>
          </a:p>
          <a:p>
            <a:pPr lvl="1">
              <a:defRPr/>
            </a:pPr>
            <a:r>
              <a:rPr lang="en-US"/>
              <a:t>Reducing memory needs</a:t>
            </a:r>
            <a:endParaRPr/>
          </a:p>
          <a:p>
            <a:pPr lvl="1">
              <a:defRPr/>
            </a:pPr>
            <a:r>
              <a:rPr lang="en-US"/>
              <a:t>Controlling hardware when writing kernel modules</a:t>
            </a:r>
            <a:endParaRPr/>
          </a:p>
          <a:p>
            <a:pPr>
              <a:defRPr/>
            </a:pPr>
            <a:r>
              <a:rPr lang="en-US"/>
              <a:t>You can use the inline assembler to embed assembly-language instructions directly in your C and C++ source programs without extra assembly and link steps.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1577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Inline Assembly Language</a:t>
            </a:r>
            <a:endParaRPr/>
          </a:p>
        </p:txBody>
      </p:sp>
      <p:sp>
        <p:nvSpPr>
          <p:cNvPr id="183716943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just">
              <a:defRPr/>
            </a:pPr>
            <a:r>
              <a:rPr lang="en-US"/>
              <a:t>The inline assembler is built into the compiler, so you don't need a separate assembler</a:t>
            </a:r>
            <a:endParaRPr/>
          </a:p>
          <a:p>
            <a:pPr algn="just">
              <a:defRPr/>
            </a:pPr>
            <a:r>
              <a:rPr lang="en-US"/>
              <a:t>Because the inline assembler doesn't require separate assembly and link steps, it is more convenient than a separate assembler</a:t>
            </a:r>
            <a:endParaRPr/>
          </a:p>
          <a:p>
            <a:pPr algn="just">
              <a:defRPr/>
            </a:pPr>
            <a:r>
              <a:rPr lang="en-US"/>
              <a:t>Inline assembly code can use any C or C++ variable or function name that is in scope, so it is easy to integrate it with your program's C and C++ code.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705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__</a:t>
            </a:r>
            <a:r>
              <a:rPr lang="en-US"/>
              <a:t>asm</a:t>
            </a:r>
            <a:r>
              <a:rPr lang="en-US"/>
              <a:t> Keyword</a:t>
            </a:r>
            <a:endParaRPr/>
          </a:p>
        </p:txBody>
      </p:sp>
      <p:sp>
        <p:nvSpPr>
          <p:cNvPr id="13742265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The__</a:t>
            </a:r>
            <a:r>
              <a:rPr lang="en-US"/>
              <a:t>asm</a:t>
            </a:r>
            <a:r>
              <a:rPr lang="en-US"/>
              <a:t> keyword invokes the inline assembler and can appear wherever a C or C++ statement is legal. </a:t>
            </a:r>
            <a:endParaRPr/>
          </a:p>
          <a:p>
            <a:pPr>
              <a:defRPr/>
            </a:pPr>
            <a:r>
              <a:rPr lang="en-US"/>
              <a:t>It cannot appear by itself. </a:t>
            </a:r>
            <a:endParaRPr/>
          </a:p>
          <a:p>
            <a:pPr>
              <a:defRPr/>
            </a:pPr>
            <a:r>
              <a:rPr lang="en-US"/>
              <a:t>It must be followed by an assembly instruction, a group of instructions enclosed in braces, or, at the very least, an empty pair of braces.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8093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</a:t>
            </a:r>
            <a:endParaRPr/>
          </a:p>
        </p:txBody>
      </p:sp>
      <p:pic>
        <p:nvPicPr>
          <p:cNvPr id="1534660382" name="Content Placeholder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4653222" y="2659279"/>
            <a:ext cx="2885555" cy="3417107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65238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Using and Preserving Registers in Inline Assembly</a:t>
            </a:r>
            <a:endParaRPr/>
          </a:p>
        </p:txBody>
      </p:sp>
      <p:sp>
        <p:nvSpPr>
          <p:cNvPr id="11783328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just">
              <a:defRPr/>
            </a:pPr>
            <a:r>
              <a:rPr lang="en-US"/>
              <a:t>A register will not have a given value when an __</a:t>
            </a:r>
            <a:r>
              <a:rPr lang="en-US"/>
              <a:t>asm</a:t>
            </a:r>
            <a:r>
              <a:rPr lang="en-US"/>
              <a:t> block begins.</a:t>
            </a:r>
            <a:endParaRPr/>
          </a:p>
          <a:p>
            <a:pPr algn="just">
              <a:defRPr/>
            </a:pPr>
            <a:r>
              <a:rPr lang="en-US"/>
              <a:t>Register values are not guaranteed to be preserved across separate __</a:t>
            </a:r>
            <a:r>
              <a:rPr lang="en-US"/>
              <a:t>asm</a:t>
            </a:r>
            <a:r>
              <a:rPr lang="en-US"/>
              <a:t> blocks.</a:t>
            </a:r>
            <a:endParaRPr/>
          </a:p>
          <a:p>
            <a:pPr algn="just">
              <a:defRPr/>
            </a:pPr>
            <a:r>
              <a:rPr lang="en-US"/>
              <a:t>If you end a block of inline code and begin another, you cannot rely on the registers in the second block to retain their values from the first block.</a:t>
            </a:r>
            <a:endParaRPr/>
          </a:p>
          <a:p>
            <a:pPr algn="just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35169" name="Title 1"/>
          <p:cNvSpPr>
            <a:spLocks noGrp="1"/>
          </p:cNvSpPr>
          <p:nvPr>
            <p:ph type="title"/>
          </p:nvPr>
        </p:nvSpPr>
        <p:spPr bwMode="auto">
          <a:xfrm>
            <a:off x="1295402" y="1001796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/>
              <a:t>Example</a:t>
            </a:r>
            <a:endParaRPr/>
          </a:p>
        </p:txBody>
      </p:sp>
      <p:pic>
        <p:nvPicPr>
          <p:cNvPr id="61103288" name="Content Placeholder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2861497" y="2609222"/>
            <a:ext cx="6469005" cy="3572694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2274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 – Array</a:t>
            </a:r>
            <a:endParaRPr/>
          </a:p>
        </p:txBody>
      </p:sp>
      <p:sp>
        <p:nvSpPr>
          <p:cNvPr id="698142673" name="TextBox 3"/>
          <p:cNvSpPr txBox="1"/>
          <p:nvPr/>
        </p:nvSpPr>
        <p:spPr bwMode="auto">
          <a:xfrm>
            <a:off x="1981458" y="2542456"/>
            <a:ext cx="9308429" cy="784830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&lt;iostream&gt;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std;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array1[] = { 1, 2, 3, 4, 5 };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push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ebp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ebp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offset array1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0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ecx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5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l1:</a:t>
            </a:r>
            <a:endParaRPr/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dword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ptr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ebp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add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4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loop l1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pop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ebp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0; i &lt; 5; i++)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array1[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/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"pause"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8670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 – Array</a:t>
            </a:r>
            <a:endParaRPr/>
          </a:p>
        </p:txBody>
      </p:sp>
      <p:sp>
        <p:nvSpPr>
          <p:cNvPr id="290223070" name="TextBox 6"/>
          <p:cNvSpPr txBox="1"/>
          <p:nvPr/>
        </p:nvSpPr>
        <p:spPr bwMode="auto">
          <a:xfrm>
            <a:off x="1838633" y="961374"/>
            <a:ext cx="10137058" cy="535531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defRPr/>
            </a:pPr>
            <a:endParaRPr lang="en-US" sz="180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FF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&lt;iostream&gt;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std;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array1[] = { 1, 2, 3, 4, 5 };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0; i &lt; 20; i = i + 4)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dword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ptr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[array1 +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esi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  <a:endParaRPr/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}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0; i &lt; 5; i++)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array1[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]&lt;&lt;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/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"pause"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44653" name="Title 1"/>
          <p:cNvSpPr>
            <a:spLocks noGrp="1"/>
          </p:cNvSpPr>
          <p:nvPr>
            <p:ph type="title"/>
          </p:nvPr>
        </p:nvSpPr>
        <p:spPr bwMode="auto">
          <a:xfrm>
            <a:off x="1295402" y="775655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/>
              <a:t>Example – Rotate Left</a:t>
            </a:r>
            <a:endParaRPr/>
          </a:p>
        </p:txBody>
      </p:sp>
      <p:sp>
        <p:nvSpPr>
          <p:cNvPr id="1184224184" name="Content Placeholder 3"/>
          <p:cNvSpPr>
            <a:spLocks noGrp="1"/>
          </p:cNvSpPr>
          <p:nvPr>
            <p:ph idx="1"/>
          </p:nvPr>
        </p:nvSpPr>
        <p:spPr bwMode="auto">
          <a:xfrm>
            <a:off x="1295402" y="2379951"/>
            <a:ext cx="9601196" cy="3318936"/>
          </a:xfrm>
        </p:spPr>
        <p:txBody>
          <a:bodyPr numCol="2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&lt;iostream&gt;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std;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array1[] = { 1, 2, 3, 4, 5 };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0; i &lt; 20; i = i + 4)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eax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nl-NL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rol dword ptr[array1 + eax], 1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0; i &lt; 5; i++)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array1[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&lt;&lt;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"pause"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  <a:endParaRPr/>
          </a:p>
          <a:p>
            <a:pPr marL="0" indent="0">
              <a:buNone/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 marL="0" indent="0">
              <a:buNone/>
              <a:defRPr/>
            </a:pP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2021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 – 2D Array</a:t>
            </a:r>
            <a:endParaRPr/>
          </a:p>
        </p:txBody>
      </p:sp>
      <p:sp>
        <p:nvSpPr>
          <p:cNvPr id="1017090911" name="TextBox 6"/>
          <p:cNvSpPr txBox="1"/>
          <p:nvPr/>
        </p:nvSpPr>
        <p:spPr bwMode="auto">
          <a:xfrm>
            <a:off x="1091380" y="2442407"/>
            <a:ext cx="10225549" cy="618630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#include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&lt;iostream&gt;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using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namespace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std;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array1[3][4] = { { 1, 2, 3, 1 }, { 4, 5, 6, 1 }, { 7, 8, 9, 1 } };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index = 0;</a:t>
            </a:r>
            <a:endParaRPr/>
          </a:p>
          <a:p>
            <a:pPr>
              <a:defRPr/>
            </a:pP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 = 0; i &lt; 3; i++)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	for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j = 0; j &lt; 4;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j++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{</a:t>
            </a:r>
            <a:endParaRPr/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index = 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* 4 + j) *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sizeof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/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endParaRPr lang="en-US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__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asm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mov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eax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index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add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dword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ptr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[array1 +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eax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], 1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"("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","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j &lt;&lt;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")"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"-&gt;"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array1[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][j] &lt;&lt;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  <a:p>
            <a:pPr>
              <a:defRPr/>
            </a:pP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"pause"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0185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To Call Function Written in Assembly </a:t>
            </a:r>
            <a:endParaRPr/>
          </a:p>
        </p:txBody>
      </p:sp>
      <p:sp>
        <p:nvSpPr>
          <p:cNvPr id="135784581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2" spcCol="0" rtlCol="0" fromWordArt="0" anchor="t" anchorCtr="0" forceAA="0" upright="0" compatLnSpc="0">
            <a:normAutofit fontScale="55000" lnSpcReduction="9000"/>
          </a:bodyPr>
          <a:lstStyle/>
          <a:p>
            <a:pPr marL="0" indent="0">
              <a:buNone/>
              <a:defRPr/>
            </a:pPr>
            <a:r>
              <a:rPr lang="en-US" sz="2000"/>
              <a:t>#include&lt;iostream&gt;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using namespace std;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extern "C" int sum1(int a, int b);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int main()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{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int x, y;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cin</a:t>
            </a:r>
            <a:r>
              <a:rPr lang="en-US" sz="2000"/>
              <a:t> &gt;&gt; x &gt;&gt; y;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cout</a:t>
            </a:r>
            <a:r>
              <a:rPr lang="en-US" sz="2000"/>
              <a:t> &lt;&lt; "sum is " &lt;&lt; sum1(x, y);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system("pause");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return 0;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}</a:t>
            </a:r>
            <a:endParaRPr sz="2000"/>
          </a:p>
          <a:p>
            <a:pPr marL="0" indent="0">
              <a:buNone/>
              <a:defRPr/>
            </a:pPr>
            <a:endParaRPr sz="2000"/>
          </a:p>
          <a:p>
            <a:pPr marL="0" indent="0">
              <a:buNone/>
              <a:defRPr/>
            </a:pPr>
            <a:endParaRPr sz="2000"/>
          </a:p>
          <a:p>
            <a:pPr marL="0" indent="0">
              <a:buNone/>
              <a:defRPr/>
            </a:pPr>
            <a:endParaRPr sz="2000"/>
          </a:p>
          <a:p>
            <a:pPr marL="0" indent="0">
              <a:buNone/>
              <a:defRPr/>
            </a:pPr>
            <a:r>
              <a:rPr lang="en-US" sz="20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.model flat</a:t>
            </a:r>
            <a:endParaRPr sz="2000"/>
          </a:p>
          <a:p>
            <a:pPr marL="0" indent="0">
              <a:buNone/>
              <a:defRPr/>
            </a:pPr>
            <a:r>
              <a:rPr lang="en-US" sz="20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.code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_sum1 PROC</a:t>
            </a:r>
            <a:endParaRPr sz="2000"/>
          </a:p>
          <a:p>
            <a:pPr marL="0" indent="0">
              <a:buNone/>
              <a:defRPr/>
            </a:pPr>
            <a:endParaRPr sz="2000"/>
          </a:p>
          <a:p>
            <a:pPr marL="0" indent="0">
              <a:buNone/>
              <a:defRPr/>
            </a:pPr>
            <a:r>
              <a:rPr lang="en-US" sz="2000"/>
              <a:t>push </a:t>
            </a:r>
            <a:r>
              <a:rPr lang="en-US" sz="2000"/>
              <a:t>ebp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mov </a:t>
            </a:r>
            <a:r>
              <a:rPr lang="en-US" sz="2000"/>
              <a:t>ebp,esp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mov </a:t>
            </a:r>
            <a:r>
              <a:rPr lang="en-US" sz="2000"/>
              <a:t>eax</a:t>
            </a:r>
            <a:r>
              <a:rPr lang="en-US" sz="2000"/>
              <a:t>, [ebp+8]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add </a:t>
            </a:r>
            <a:r>
              <a:rPr lang="en-US" sz="2000"/>
              <a:t>eax</a:t>
            </a:r>
            <a:r>
              <a:rPr lang="en-US" sz="2000"/>
              <a:t>,[ebp+12]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pop </a:t>
            </a:r>
            <a:r>
              <a:rPr lang="en-US" sz="2000"/>
              <a:t>ebp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ret</a:t>
            </a:r>
            <a:endParaRPr sz="2000"/>
          </a:p>
          <a:p>
            <a:pPr marL="0" indent="0">
              <a:buNone/>
              <a:defRPr/>
            </a:pPr>
            <a:endParaRPr sz="2000"/>
          </a:p>
          <a:p>
            <a:pPr marL="0" indent="0">
              <a:buNone/>
              <a:defRPr/>
            </a:pPr>
            <a:r>
              <a:rPr lang="en-US" sz="2000"/>
              <a:t>_sum1 </a:t>
            </a:r>
            <a:r>
              <a:rPr lang="en-US" sz="2000"/>
              <a:t>endp</a:t>
            </a:r>
            <a:endParaRPr sz="2000"/>
          </a:p>
          <a:p>
            <a:pPr marL="0" indent="0">
              <a:buNone/>
              <a:defRPr/>
            </a:pPr>
            <a:r>
              <a:rPr lang="en-US" sz="2000"/>
              <a:t>END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1471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Convention </a:t>
            </a:r>
            <a:endParaRPr/>
          </a:p>
        </p:txBody>
      </p:sp>
      <p:sp>
        <p:nvSpPr>
          <p:cNvPr id="1433774784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/>
              <a:t>Flat model means a single linear address space (used in modern 32-bit systems, </a:t>
            </a:r>
            <a:endParaRPr/>
          </a:p>
          <a:p>
            <a:pPr marL="0" indent="0">
              <a:buNone/>
              <a:defRPr/>
            </a:pPr>
            <a:r>
              <a:rPr lang="en-US"/>
              <a:t>unlike segmented memory in older architectures like 16-bit mode).</a:t>
            </a:r>
            <a:endParaRPr/>
          </a:p>
          <a:p>
            <a:pPr>
              <a:defRPr/>
            </a:pPr>
            <a:r>
              <a:rPr lang="en-US"/>
              <a:t> .CODE tells MASM that the following code belongs to the code segment.</a:t>
            </a:r>
            <a:endParaRPr/>
          </a:p>
          <a:p>
            <a:pPr>
              <a:defRPr/>
            </a:pPr>
            <a:r>
              <a:rPr lang="en-US"/>
              <a:t>_sum declares the function as a procedure (PROC). The leading underscore (_) </a:t>
            </a:r>
            <a:endParaRPr/>
          </a:p>
          <a:p>
            <a:pPr marL="0" indent="0">
              <a:buNone/>
              <a:defRPr/>
            </a:pPr>
            <a:r>
              <a:rPr lang="en-US"/>
              <a:t>suggests it follows </a:t>
            </a:r>
            <a:r>
              <a:rPr lang="en-US"/>
              <a:t>stdcall</a:t>
            </a:r>
            <a:r>
              <a:rPr lang="en-US"/>
              <a:t> conventions, typically for calling from C/C++. The </a:t>
            </a:r>
            <a:endParaRPr/>
          </a:p>
          <a:p>
            <a:pPr marL="0" indent="0">
              <a:buNone/>
              <a:defRPr/>
            </a:pPr>
            <a:r>
              <a:rPr lang="en-US"/>
              <a:t>caller will call this function as sum( ) without ( _ ) underscore.</a:t>
            </a:r>
            <a:endParaRPr/>
          </a:p>
          <a:p>
            <a:pPr>
              <a:defRPr/>
            </a:pPr>
            <a:r>
              <a:rPr lang="en-US"/>
              <a:t>Assembly functions (written in TASM, MASM, NASM) follow C-style calling </a:t>
            </a:r>
            <a:endParaRPr/>
          </a:p>
          <a:p>
            <a:pPr marL="0" indent="0">
              <a:buNone/>
              <a:defRPr/>
            </a:pPr>
            <a:r>
              <a:rPr lang="en-US"/>
              <a:t>conventions. extern "C" ensures the function name remains unaltered, so it can </a:t>
            </a:r>
            <a:endParaRPr/>
          </a:p>
          <a:p>
            <a:pPr marL="0" indent="0">
              <a:buNone/>
              <a:defRPr/>
            </a:pPr>
            <a:r>
              <a:rPr lang="en-US"/>
              <a:t>be called from C++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685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To Call Function Written in C/C++ </a:t>
            </a:r>
            <a:endParaRPr/>
          </a:p>
        </p:txBody>
      </p:sp>
      <p:pic>
        <p:nvPicPr>
          <p:cNvPr id="793745588" name="Content Placeholder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1748590" y="2458454"/>
            <a:ext cx="9304422" cy="3589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9966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Conventions</a:t>
            </a:r>
            <a:endParaRPr/>
          </a:p>
        </p:txBody>
      </p:sp>
      <p:sp>
        <p:nvSpPr>
          <p:cNvPr id="304900066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en-US"/>
              <a:t>.386 directive tells the assembler that the code is for Intel 80386 and later processors.</a:t>
            </a:r>
            <a:endParaRPr/>
          </a:p>
          <a:p>
            <a:pPr marL="0" indent="0">
              <a:buNone/>
              <a:defRPr/>
            </a:pPr>
            <a:r>
              <a:rPr lang="en-US"/>
              <a:t>It enables 32-bit instructions and registers.</a:t>
            </a:r>
            <a:endParaRPr/>
          </a:p>
          <a:p>
            <a:pPr marL="0" indent="0">
              <a:buNone/>
              <a:defRPr/>
            </a:pPr>
            <a:r>
              <a:rPr lang="en-US"/>
              <a:t>▪ .model flat specifies a flat memory model, meaning there's a single continuous </a:t>
            </a:r>
            <a:endParaRPr/>
          </a:p>
          <a:p>
            <a:pPr marL="0" indent="0">
              <a:buNone/>
              <a:defRPr/>
            </a:pPr>
            <a:r>
              <a:rPr lang="en-US"/>
              <a:t>memory space (used in 32-bit applications).</a:t>
            </a:r>
            <a:endParaRPr/>
          </a:p>
          <a:p>
            <a:pPr marL="0" indent="0">
              <a:buNone/>
              <a:defRPr/>
            </a:pPr>
            <a:r>
              <a:rPr lang="en-US"/>
              <a:t>▪ C specifies that the C calling convention is used.</a:t>
            </a:r>
            <a:endParaRPr/>
          </a:p>
          <a:p>
            <a:pPr marL="0" indent="0">
              <a:buNone/>
              <a:defRPr/>
            </a:pPr>
            <a:r>
              <a:rPr lang="en-US"/>
              <a:t>▪ extern declares that _add is an external function, meaning it is defined in another file </a:t>
            </a:r>
            <a:endParaRPr/>
          </a:p>
          <a:p>
            <a:pPr marL="0" indent="0">
              <a:buNone/>
              <a:defRPr/>
            </a:pPr>
            <a:r>
              <a:rPr lang="en-US"/>
              <a:t>(likely a C file).</a:t>
            </a:r>
            <a:endParaRPr/>
          </a:p>
          <a:p>
            <a:pPr marL="0" indent="0">
              <a:buNone/>
              <a:defRPr/>
            </a:pPr>
            <a:r>
              <a:rPr lang="en-US"/>
              <a:t>▪ _add In MSVC, C function names are prefixed with _ in </a:t>
            </a:r>
            <a:r>
              <a:rPr lang="en-US"/>
              <a:t>stdcall</a:t>
            </a:r>
            <a:r>
              <a:rPr lang="en-US"/>
              <a:t> calling convention.</a:t>
            </a:r>
            <a:endParaRPr/>
          </a:p>
          <a:p>
            <a:pPr marL="0" indent="0">
              <a:buNone/>
              <a:defRPr/>
            </a:pPr>
            <a:r>
              <a:rPr lang="en-US"/>
              <a:t>▪ :PROC indicates that _add is a procedure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Arial"/>
        <a:cs typeface="Arial"/>
      </a:majorFont>
      <a:minorFont>
        <a:latin typeface="Garamond"/>
        <a:ea typeface="Arial"/>
        <a:cs typeface="Arial"/>
      </a:minorFont>
    </a:fontScheme>
    <a:fmtScheme name="Organic"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algn="tl" flip="none" sx="100000" sy="100000" tx="0" ty="0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r:embed="rId2"/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ONLYOFFICE/9.0.4.50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/>
  <cp:revision>40</cp:revision>
  <dcterms:created xsi:type="dcterms:W3CDTF">2023-10-17T17:30:28Z</dcterms:created>
  <dcterms:modified xsi:type="dcterms:W3CDTF">2026-01-26T05:51:27Z</dcterms:modified>
</cp:coreProperties>
</file>