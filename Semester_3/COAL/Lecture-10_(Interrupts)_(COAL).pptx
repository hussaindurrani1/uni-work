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21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notesSlides/notesSlide22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notesSlides/notesSlide3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13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Layouts/slideLayout16.xml" ContentType="application/vnd.openxmlformats-officedocument.presentationml.slideLayout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</p:sldIdLst>
  <p:sldSz cx="12192000" cy="6858000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78" d="100"/>
          <a:sy n="78" d="100"/>
        </p:scale>
        <p:origin x="878" y="6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 /><Relationship Id="rId31" Type="http://schemas.openxmlformats.org/officeDocument/2006/relationships/tableStyles" Target="tableStyles.xml" /><Relationship Id="rId3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800157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92190781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09931319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15159323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4773334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58254758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2556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14669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43206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AC2F9F4-56DB-A6DD-38B1-F1771064781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84107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860652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69468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743665D-668C-402D-B1EE-490F7ADECD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19272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95939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06111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156BB4-04C0-FE1B-71DD-036A86B066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52942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831293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46332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ED78D4-8B6E-6EB0-CB5B-A3FC6B9F1F7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31330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48919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97328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110250-5B09-DFA3-B867-512154BE2AE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41181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75308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2315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BCBC03-904E-7223-653E-CC871073D42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3804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828709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5051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A2C9E1-62D9-696B-F971-70D3FD789E3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14095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824735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96519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EDB3EE-463E-75B7-EAD6-1A32DF03897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80883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69970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41922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508EDF-81E2-279F-CABD-C88313FA1A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69146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74450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69516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BDE2748-CEED-2D3F-7F5C-1C8A417C94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4483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21264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35113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7A3A10E-B896-64B1-D0C3-222F77F7C4B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95611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94291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73807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E3B1166-A2FA-7549-AA0A-F95D9DFE120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24201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697339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07666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9D8E092-0CFF-9399-4C7D-6CAB6BCE03C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11773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63545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55841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F09B32-0D31-CB8E-51E8-76F606B902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38893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3846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03274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88C6C0-F1AE-6C4B-78E1-5914022D205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04161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159756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82658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0DC9307-BE66-81C3-767B-F6BEC3486F1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35934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21086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41827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1EABD0-750F-4680-EADA-381CFF3346F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9850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130647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17342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679A195-F1E0-1FC1-B06F-55B361014DB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7492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30412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43420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83AC7-1703-7322-3023-DE2E9BE2736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15620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57406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24070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021ED7-5E71-527D-6983-E67F21B45D3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06033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26579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61008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769456-952D-E3A5-2192-4577399C48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16365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78008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76329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2E035BE-C31B-84B3-6F7B-2E652C5ECCD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49132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82288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12976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3121A6-23A9-8C31-92B4-8F4218CF147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01827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99644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02274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B52A57E-A60D-1499-4D20-C1C0A8CE4BF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56825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92037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25116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0D38CC-33A8-E955-4C24-36BBDB0A9F2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8216299" name="Title 1"/>
          <p:cNvSpPr>
            <a:spLocks noGrp="1"/>
          </p:cNvSpPr>
          <p:nvPr>
            <p:ph type="ctrTitle"/>
          </p:nvPr>
        </p:nvSpPr>
        <p:spPr bwMode="auto"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16917481" name="Subtitle 2"/>
          <p:cNvSpPr>
            <a:spLocks noGrp="1"/>
          </p:cNvSpPr>
          <p:nvPr>
            <p:ph type="subTitle" idx="1"/>
          </p:nvPr>
        </p:nvSpPr>
        <p:spPr bwMode="auto"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78763524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FE7B930-DF20-4CDD-81DD-3BDCD136AC74}" type="datetimeFigureOut">
              <a:rPr lang="en-US"/>
              <a:t>12/3/2025</a:t>
            </a:fld>
            <a:endParaRPr lang="en-US"/>
          </a:p>
        </p:txBody>
      </p:sp>
      <p:sp>
        <p:nvSpPr>
          <p:cNvPr id="44117110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173515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 fill="norm" stroke="1" extrusionOk="0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7939136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531812" y="4529540"/>
            <a:ext cx="779766" cy="365125"/>
          </a:xfrm>
        </p:spPr>
        <p:txBody>
          <a:bodyPr/>
          <a:lstStyle/>
          <a:p>
            <a:pPr>
              <a:defRPr/>
            </a:pPr>
            <a:fld id="{43F739FE-3459-4B2C-A2CE-E0F4E9D935F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9112208" name="Title 1"/>
          <p:cNvSpPr>
            <a:spLocks noGrp="1"/>
          </p:cNvSpPr>
          <p:nvPr>
            <p:ph type="title"/>
          </p:nvPr>
        </p:nvSpPr>
        <p:spPr bwMode="auto">
          <a:xfrm>
            <a:off x="2592925" y="624110"/>
            <a:ext cx="8911687" cy="1280890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76528985" name="Content Placeholder 2"/>
          <p:cNvSpPr>
            <a:spLocks noGrp="1"/>
          </p:cNvSpPr>
          <p:nvPr>
            <p:ph idx="1"/>
          </p:nvPr>
        </p:nvSpPr>
        <p:spPr bwMode="auto">
          <a:xfrm>
            <a:off x="2589212" y="2133600"/>
            <a:ext cx="8915400" cy="3777622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0184086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FE7B930-DF20-4CDD-81DD-3BDCD136AC74}" type="datetimeFigureOut">
              <a:rPr lang="en-US"/>
              <a:t>12/3/2025</a:t>
            </a:fld>
            <a:endParaRPr lang="en-US"/>
          </a:p>
        </p:txBody>
      </p:sp>
      <p:sp>
        <p:nvSpPr>
          <p:cNvPr id="107743920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05364284" name="Freeform 11"/>
          <p:cNvSpPr/>
          <p:nvPr/>
        </p:nvSpPr>
        <p:spPr bwMode="auto">
          <a:xfrm flipV="1">
            <a:off x="-4189" y="714375"/>
            <a:ext cx="1588526" cy="507296"/>
          </a:xfrm>
          <a:custGeom>
            <a:avLst/>
            <a:gdLst/>
            <a:ahLst/>
            <a:cxnLst/>
            <a:rect l="l" t="t" r="r" b="b"/>
            <a:pathLst>
              <a:path w="9248" h="10000" fill="norm" stroke="1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46102896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3F739FE-3459-4B2C-A2CE-E0F4E9D935F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2194" name="Title 1"/>
          <p:cNvSpPr>
            <a:spLocks noGrp="1"/>
          </p:cNvSpPr>
          <p:nvPr>
            <p:ph type="title"/>
          </p:nvPr>
        </p:nvSpPr>
        <p:spPr bwMode="auto"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5296003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9115983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FE7B930-DF20-4CDD-81DD-3BDCD136AC74}" type="datetimeFigureOut">
              <a:rPr lang="en-US"/>
              <a:t>12/3/2025</a:t>
            </a:fld>
            <a:endParaRPr lang="en-US"/>
          </a:p>
        </p:txBody>
      </p:sp>
      <p:sp>
        <p:nvSpPr>
          <p:cNvPr id="103563490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77856051" name="Freeform 11"/>
          <p:cNvSpPr/>
          <p:nvPr/>
        </p:nvSpPr>
        <p:spPr bwMode="auto">
          <a:xfrm flipV="1">
            <a:off x="-4189" y="3178175"/>
            <a:ext cx="1588526" cy="507296"/>
          </a:xfrm>
          <a:custGeom>
            <a:avLst/>
            <a:gdLst/>
            <a:ahLst/>
            <a:cxnLst/>
            <a:rect l="l" t="t" r="r" b="b"/>
            <a:pathLst>
              <a:path w="9248" h="10000" fill="norm" stroke="1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068454561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531812" y="3244139"/>
            <a:ext cx="779766" cy="365125"/>
          </a:xfrm>
        </p:spPr>
        <p:txBody>
          <a:bodyPr/>
          <a:lstStyle/>
          <a:p>
            <a:pPr>
              <a:defRPr/>
            </a:pPr>
            <a:fld id="{43F739FE-3459-4B2C-A2CE-E0F4E9D935F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5765599" name="Title 7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6152165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960226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8254548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FE7B930-DF20-4CDD-81DD-3BDCD136AC74}" type="datetimeFigureOut">
              <a:rPr lang="en-US"/>
              <a:t>12/3/2025</a:t>
            </a:fld>
            <a:endParaRPr lang="en-US"/>
          </a:p>
        </p:txBody>
      </p:sp>
      <p:sp>
        <p:nvSpPr>
          <p:cNvPr id="167951019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25684678" name="Freeform 11"/>
          <p:cNvSpPr/>
          <p:nvPr/>
        </p:nvSpPr>
        <p:spPr bwMode="auto">
          <a:xfrm flipV="1">
            <a:off x="-4189" y="714375"/>
            <a:ext cx="1588526" cy="507296"/>
          </a:xfrm>
          <a:custGeom>
            <a:avLst/>
            <a:gdLst/>
            <a:ahLst/>
            <a:cxnLst/>
            <a:rect l="l" t="t" r="r" b="b"/>
            <a:pathLst>
              <a:path w="9248" h="10000" fill="norm" stroke="1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98362217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531812" y="787782"/>
            <a:ext cx="779766" cy="365125"/>
          </a:xfrm>
        </p:spPr>
        <p:txBody>
          <a:bodyPr/>
          <a:lstStyle/>
          <a:p>
            <a:pPr>
              <a:defRPr/>
            </a:pPr>
            <a:fld id="{43F739FE-3459-4B2C-A2CE-E0F4E9D935F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525756" name="Title 9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3047441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3436315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80134917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8354733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6865555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FE7B930-DF20-4CDD-81DD-3BDCD136AC74}" type="datetimeFigureOut">
              <a:rPr lang="en-US"/>
              <a:t>12/3/2025</a:t>
            </a:fld>
            <a:endParaRPr lang="en-US"/>
          </a:p>
        </p:txBody>
      </p:sp>
      <p:sp>
        <p:nvSpPr>
          <p:cNvPr id="149168057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79522610" name="Freeform 11"/>
          <p:cNvSpPr/>
          <p:nvPr/>
        </p:nvSpPr>
        <p:spPr bwMode="auto">
          <a:xfrm flipV="1">
            <a:off x="-4189" y="714375"/>
            <a:ext cx="1588526" cy="507296"/>
          </a:xfrm>
          <a:custGeom>
            <a:avLst/>
            <a:gdLst/>
            <a:ahLst/>
            <a:cxnLst/>
            <a:rect l="l" t="t" r="r" b="b"/>
            <a:pathLst>
              <a:path w="9248" h="10000" fill="norm" stroke="1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46101704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531812" y="787782"/>
            <a:ext cx="779766" cy="365125"/>
          </a:xfrm>
        </p:spPr>
        <p:txBody>
          <a:bodyPr/>
          <a:lstStyle/>
          <a:p>
            <a:pPr>
              <a:defRPr/>
            </a:pPr>
            <a:fld id="{43F739FE-3459-4B2C-A2CE-E0F4E9D935F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013920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1381121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FE7B930-DF20-4CDD-81DD-3BDCD136AC74}" type="datetimeFigureOut">
              <a:rPr lang="en-US"/>
              <a:t>12/3/2025</a:t>
            </a:fld>
            <a:endParaRPr lang="en-US"/>
          </a:p>
        </p:txBody>
      </p:sp>
      <p:sp>
        <p:nvSpPr>
          <p:cNvPr id="1263668046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01690177" name="Freeform 11"/>
          <p:cNvSpPr/>
          <p:nvPr/>
        </p:nvSpPr>
        <p:spPr bwMode="auto">
          <a:xfrm flipV="1">
            <a:off x="-4189" y="714375"/>
            <a:ext cx="1588526" cy="507296"/>
          </a:xfrm>
          <a:custGeom>
            <a:avLst/>
            <a:gdLst/>
            <a:ahLst/>
            <a:cxnLst/>
            <a:rect l="l" t="t" r="r" b="b"/>
            <a:pathLst>
              <a:path w="9248" h="10000" fill="norm" stroke="1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7799423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3F739FE-3459-4B2C-A2CE-E0F4E9D935F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3587913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FE7B930-DF20-4CDD-81DD-3BDCD136AC74}" type="datetimeFigureOut">
              <a:rPr lang="en-US"/>
              <a:t>12/3/2025</a:t>
            </a:fld>
            <a:endParaRPr lang="en-US"/>
          </a:p>
        </p:txBody>
      </p:sp>
      <p:sp>
        <p:nvSpPr>
          <p:cNvPr id="1599095117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66796553" name="Freeform 11"/>
          <p:cNvSpPr/>
          <p:nvPr/>
        </p:nvSpPr>
        <p:spPr bwMode="auto">
          <a:xfrm flipV="1">
            <a:off x="-4189" y="714375"/>
            <a:ext cx="1588526" cy="507296"/>
          </a:xfrm>
          <a:custGeom>
            <a:avLst/>
            <a:gdLst/>
            <a:ahLst/>
            <a:cxnLst/>
            <a:rect l="l" t="t" r="r" b="b"/>
            <a:pathLst>
              <a:path w="9248" h="10000" fill="norm" stroke="1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7325203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3F739FE-3459-4B2C-A2CE-E0F4E9D935F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0701434" name="Title 1"/>
          <p:cNvSpPr>
            <a:spLocks noGrp="1"/>
          </p:cNvSpPr>
          <p:nvPr>
            <p:ph type="title"/>
          </p:nvPr>
        </p:nvSpPr>
        <p:spPr bwMode="auto"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27293037" name="Content Placeholder 2"/>
          <p:cNvSpPr>
            <a:spLocks noGrp="1"/>
          </p:cNvSpPr>
          <p:nvPr>
            <p:ph idx="1"/>
          </p:nvPr>
        </p:nvSpPr>
        <p:spPr bwMode="auto"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2852971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1086239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FE7B930-DF20-4CDD-81DD-3BDCD136AC74}" type="datetimeFigureOut">
              <a:rPr lang="en-US"/>
              <a:t>12/3/2025</a:t>
            </a:fld>
            <a:endParaRPr lang="en-US"/>
          </a:p>
        </p:txBody>
      </p:sp>
      <p:sp>
        <p:nvSpPr>
          <p:cNvPr id="131239571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36293982" name="Freeform 11"/>
          <p:cNvSpPr/>
          <p:nvPr/>
        </p:nvSpPr>
        <p:spPr bwMode="auto">
          <a:xfrm flipV="1">
            <a:off x="-4189" y="714375"/>
            <a:ext cx="1588526" cy="507296"/>
          </a:xfrm>
          <a:custGeom>
            <a:avLst/>
            <a:gdLst/>
            <a:ahLst/>
            <a:cxnLst/>
            <a:rect l="l" t="t" r="r" b="b"/>
            <a:pathLst>
              <a:path w="9248" h="10000" fill="norm" stroke="1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9208178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3F739FE-3459-4B2C-A2CE-E0F4E9D935F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6371427" name="Title 1"/>
          <p:cNvSpPr>
            <a:spLocks noGrp="1"/>
          </p:cNvSpPr>
          <p:nvPr>
            <p:ph type="title"/>
          </p:nvPr>
        </p:nvSpPr>
        <p:spPr bwMode="auto"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20313865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32177448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0819226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FE7B930-DF20-4CDD-81DD-3BDCD136AC74}" type="datetimeFigureOut">
              <a:rPr lang="en-US"/>
              <a:t>12/3/2025</a:t>
            </a:fld>
            <a:endParaRPr lang="en-US"/>
          </a:p>
        </p:txBody>
      </p:sp>
      <p:sp>
        <p:nvSpPr>
          <p:cNvPr id="143793885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11914070" name="Freeform 11"/>
          <p:cNvSpPr/>
          <p:nvPr/>
        </p:nvSpPr>
        <p:spPr bwMode="auto">
          <a:xfrm flipV="1">
            <a:off x="-4189" y="4911725"/>
            <a:ext cx="1588526" cy="507296"/>
          </a:xfrm>
          <a:custGeom>
            <a:avLst/>
            <a:gdLst/>
            <a:ahLst/>
            <a:cxnLst/>
            <a:rect l="l" t="t" r="r" b="b"/>
            <a:pathLst>
              <a:path w="9248" h="10000" fill="norm" stroke="1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849583117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531812" y="4983087"/>
            <a:ext cx="779766" cy="365125"/>
          </a:xfrm>
        </p:spPr>
        <p:txBody>
          <a:bodyPr/>
          <a:lstStyle/>
          <a:p>
            <a:pPr>
              <a:defRPr/>
            </a:pPr>
            <a:fld id="{43F739FE-3459-4B2C-A2CE-E0F4E9D935F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le and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888938" name="Title 1"/>
          <p:cNvSpPr>
            <a:spLocks noGrp="1"/>
          </p:cNvSpPr>
          <p:nvPr>
            <p:ph type="title"/>
          </p:nvPr>
        </p:nvSpPr>
        <p:spPr bwMode="auto"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2255743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4550193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FE7B930-DF20-4CDD-81DD-3BDCD136AC74}" type="datetimeFigureOut">
              <a:rPr lang="en-US"/>
              <a:t>12/3/2025</a:t>
            </a:fld>
            <a:endParaRPr lang="en-US"/>
          </a:p>
        </p:txBody>
      </p:sp>
      <p:sp>
        <p:nvSpPr>
          <p:cNvPr id="33735322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31763551" name="Freeform 11"/>
          <p:cNvSpPr/>
          <p:nvPr/>
        </p:nvSpPr>
        <p:spPr bwMode="auto">
          <a:xfrm flipV="1">
            <a:off x="-4189" y="3178175"/>
            <a:ext cx="1588526" cy="507296"/>
          </a:xfrm>
          <a:custGeom>
            <a:avLst/>
            <a:gdLst/>
            <a:ahLst/>
            <a:cxnLst/>
            <a:rect l="l" t="t" r="r" b="b"/>
            <a:pathLst>
              <a:path w="9248" h="10000" fill="norm" stroke="1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451939608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531812" y="3244139"/>
            <a:ext cx="779766" cy="365125"/>
          </a:xfrm>
        </p:spPr>
        <p:txBody>
          <a:bodyPr/>
          <a:lstStyle/>
          <a:p>
            <a:pPr>
              <a:defRPr/>
            </a:pPr>
            <a:fld id="{43F739FE-3459-4B2C-A2CE-E0F4E9D935F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Quot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1904557" name="Title 1"/>
          <p:cNvSpPr>
            <a:spLocks noGrp="1"/>
          </p:cNvSpPr>
          <p:nvPr>
            <p:ph type="title"/>
          </p:nvPr>
        </p:nvSpPr>
        <p:spPr bwMode="auto"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07970075" name="Text Placeholder 9"/>
          <p:cNvSpPr>
            <a:spLocks noGrp="1"/>
          </p:cNvSpPr>
          <p:nvPr>
            <p:ph type="body" sz="quarter" idx="13"/>
          </p:nvPr>
        </p:nvSpPr>
        <p:spPr bwMode="auto">
          <a:xfrm>
            <a:off x="3275012" y="3505199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6789305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7971620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FE7B930-DF20-4CDD-81DD-3BDCD136AC74}" type="datetimeFigureOut">
              <a:rPr lang="en-US"/>
              <a:t>12/3/2025</a:t>
            </a:fld>
            <a:endParaRPr lang="en-US"/>
          </a:p>
        </p:txBody>
      </p:sp>
      <p:sp>
        <p:nvSpPr>
          <p:cNvPr id="179580691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72549080" name="Freeform 11"/>
          <p:cNvSpPr/>
          <p:nvPr/>
        </p:nvSpPr>
        <p:spPr bwMode="auto">
          <a:xfrm flipV="1">
            <a:off x="-4189" y="3178175"/>
            <a:ext cx="1588526" cy="507296"/>
          </a:xfrm>
          <a:custGeom>
            <a:avLst/>
            <a:gdLst/>
            <a:ahLst/>
            <a:cxnLst/>
            <a:rect l="l" t="t" r="r" b="b"/>
            <a:pathLst>
              <a:path w="9248" h="10000" fill="norm" stroke="1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95317349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531812" y="3244139"/>
            <a:ext cx="779766" cy="365125"/>
          </a:xfrm>
        </p:spPr>
        <p:txBody>
          <a:bodyPr/>
          <a:lstStyle/>
          <a:p>
            <a:pPr>
              <a:defRPr/>
            </a:pPr>
            <a:fld id="{43F739FE-3459-4B2C-A2CE-E0F4E9D935F0}" type="slidenum">
              <a:rPr lang="en-US"/>
              <a:t>‹#›</a:t>
            </a:fld>
            <a:endParaRPr lang="en-US"/>
          </a:p>
        </p:txBody>
      </p:sp>
      <p:sp>
        <p:nvSpPr>
          <p:cNvPr id="1983770120" name="TextBox 13"/>
          <p:cNvSpPr txBox="1"/>
          <p:nvPr/>
        </p:nvSpPr>
        <p:spPr bwMode="auto">
          <a:xfrm>
            <a:off x="2467651" y="648005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defRPr/>
            </a:pPr>
            <a:r>
              <a:rPr lang="en-US" sz="8000">
                <a:ln w="3175" cmpd="sng">
                  <a:noFill/>
                </a:ln>
                <a:solidFill>
                  <a:schemeClr val="accent1"/>
                </a:solidFill>
                <a:latin typeface="Arial"/>
              </a:rPr>
              <a:t>“</a:t>
            </a:r>
            <a:endParaRPr/>
          </a:p>
        </p:txBody>
      </p:sp>
      <p:sp>
        <p:nvSpPr>
          <p:cNvPr id="1077380761" name="TextBox 14"/>
          <p:cNvSpPr txBox="1"/>
          <p:nvPr/>
        </p:nvSpPr>
        <p:spPr bwMode="auto">
          <a:xfrm>
            <a:off x="11114852" y="2905306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defRPr/>
            </a:pPr>
            <a:r>
              <a:rPr lang="en-US" sz="8000">
                <a:ln w="3175" cmpd="sng">
                  <a:noFill/>
                </a:ln>
                <a:solidFill>
                  <a:schemeClr val="accent1"/>
                </a:solidFill>
                <a:latin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Name Car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7419016" name="Title 1"/>
          <p:cNvSpPr>
            <a:spLocks noGrp="1"/>
          </p:cNvSpPr>
          <p:nvPr>
            <p:ph type="title"/>
          </p:nvPr>
        </p:nvSpPr>
        <p:spPr bwMode="auto"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8369099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3416630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FE7B930-DF20-4CDD-81DD-3BDCD136AC74}" type="datetimeFigureOut">
              <a:rPr lang="en-US"/>
              <a:t>12/3/2025</a:t>
            </a:fld>
            <a:endParaRPr lang="en-US"/>
          </a:p>
        </p:txBody>
      </p:sp>
      <p:sp>
        <p:nvSpPr>
          <p:cNvPr id="172914371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96364650" name="Freeform 11"/>
          <p:cNvSpPr/>
          <p:nvPr/>
        </p:nvSpPr>
        <p:spPr bwMode="auto">
          <a:xfrm flipV="1">
            <a:off x="-4189" y="4911725"/>
            <a:ext cx="1588526" cy="507296"/>
          </a:xfrm>
          <a:custGeom>
            <a:avLst/>
            <a:gdLst/>
            <a:ahLst/>
            <a:cxnLst/>
            <a:rect l="l" t="t" r="r" b="b"/>
            <a:pathLst>
              <a:path w="9248" h="10000" fill="norm" stroke="1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02499246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531812" y="4983087"/>
            <a:ext cx="779766" cy="365125"/>
          </a:xfrm>
        </p:spPr>
        <p:txBody>
          <a:bodyPr/>
          <a:lstStyle/>
          <a:p>
            <a:pPr>
              <a:defRPr/>
            </a:pPr>
            <a:fld id="{43F739FE-3459-4B2C-A2CE-E0F4E9D935F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Quote Name Car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8255286" name="Title 1"/>
          <p:cNvSpPr>
            <a:spLocks noGrp="1"/>
          </p:cNvSpPr>
          <p:nvPr>
            <p:ph type="title"/>
          </p:nvPr>
        </p:nvSpPr>
        <p:spPr bwMode="auto"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26073198" name="Text Placeholder 9"/>
          <p:cNvSpPr>
            <a:spLocks noGrp="1"/>
          </p:cNvSpPr>
          <p:nvPr>
            <p:ph type="body" sz="quarter" idx="13"/>
          </p:nvPr>
        </p:nvSpPr>
        <p:spPr bwMode="auto"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9793759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1680456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FE7B930-DF20-4CDD-81DD-3BDCD136AC74}" type="datetimeFigureOut">
              <a:rPr lang="en-US"/>
              <a:t>12/3/2025</a:t>
            </a:fld>
            <a:endParaRPr lang="en-US"/>
          </a:p>
        </p:txBody>
      </p:sp>
      <p:sp>
        <p:nvSpPr>
          <p:cNvPr id="234725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24096196" name="Freeform 11"/>
          <p:cNvSpPr/>
          <p:nvPr/>
        </p:nvSpPr>
        <p:spPr bwMode="auto">
          <a:xfrm flipV="1">
            <a:off x="-4189" y="4911725"/>
            <a:ext cx="1588526" cy="507296"/>
          </a:xfrm>
          <a:custGeom>
            <a:avLst/>
            <a:gdLst/>
            <a:ahLst/>
            <a:cxnLst/>
            <a:rect l="l" t="t" r="r" b="b"/>
            <a:pathLst>
              <a:path w="9248" h="10000" fill="norm" stroke="1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33882472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531812" y="4983087"/>
            <a:ext cx="779766" cy="365125"/>
          </a:xfrm>
        </p:spPr>
        <p:txBody>
          <a:bodyPr/>
          <a:lstStyle/>
          <a:p>
            <a:pPr>
              <a:defRPr/>
            </a:pPr>
            <a:fld id="{43F739FE-3459-4B2C-A2CE-E0F4E9D935F0}" type="slidenum">
              <a:rPr lang="en-US"/>
              <a:t>‹#›</a:t>
            </a:fld>
            <a:endParaRPr lang="en-US"/>
          </a:p>
        </p:txBody>
      </p:sp>
      <p:sp>
        <p:nvSpPr>
          <p:cNvPr id="41389189" name="TextBox 16"/>
          <p:cNvSpPr txBox="1"/>
          <p:nvPr/>
        </p:nvSpPr>
        <p:spPr bwMode="auto">
          <a:xfrm>
            <a:off x="2467651" y="648005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defRPr/>
            </a:pPr>
            <a:r>
              <a:rPr lang="en-US" sz="8000">
                <a:ln w="3175" cmpd="sng">
                  <a:noFill/>
                </a:ln>
                <a:solidFill>
                  <a:schemeClr val="accent1"/>
                </a:solidFill>
                <a:latin typeface="Arial"/>
              </a:rPr>
              <a:t>“</a:t>
            </a:r>
            <a:endParaRPr/>
          </a:p>
        </p:txBody>
      </p:sp>
      <p:sp>
        <p:nvSpPr>
          <p:cNvPr id="1715836273" name="TextBox 17"/>
          <p:cNvSpPr txBox="1"/>
          <p:nvPr/>
        </p:nvSpPr>
        <p:spPr bwMode="auto">
          <a:xfrm>
            <a:off x="11114852" y="2905306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defRPr/>
            </a:pPr>
            <a:r>
              <a:rPr lang="en-US" sz="8000">
                <a:ln w="3175" cmpd="sng">
                  <a:noFill/>
                </a:ln>
                <a:solidFill>
                  <a:schemeClr val="accent1"/>
                </a:solidFill>
                <a:latin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rue or Fals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2184431" name="Title 1"/>
          <p:cNvSpPr>
            <a:spLocks noGrp="1"/>
          </p:cNvSpPr>
          <p:nvPr>
            <p:ph type="title"/>
          </p:nvPr>
        </p:nvSpPr>
        <p:spPr bwMode="auto"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69410902" name="Text Placeholder 9"/>
          <p:cNvSpPr>
            <a:spLocks noGrp="1"/>
          </p:cNvSpPr>
          <p:nvPr>
            <p:ph type="body" sz="quarter" idx="13"/>
          </p:nvPr>
        </p:nvSpPr>
        <p:spPr bwMode="auto"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9586098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3378420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FE7B930-DF20-4CDD-81DD-3BDCD136AC74}" type="datetimeFigureOut">
              <a:rPr lang="en-US"/>
              <a:t>12/3/2025</a:t>
            </a:fld>
            <a:endParaRPr lang="en-US"/>
          </a:p>
        </p:txBody>
      </p:sp>
      <p:sp>
        <p:nvSpPr>
          <p:cNvPr id="44198907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0201911" name="Freeform 11"/>
          <p:cNvSpPr/>
          <p:nvPr/>
        </p:nvSpPr>
        <p:spPr bwMode="auto">
          <a:xfrm flipV="1">
            <a:off x="-4189" y="4911725"/>
            <a:ext cx="1588526" cy="507296"/>
          </a:xfrm>
          <a:custGeom>
            <a:avLst/>
            <a:gdLst/>
            <a:ahLst/>
            <a:cxnLst/>
            <a:rect l="l" t="t" r="r" b="b"/>
            <a:pathLst>
              <a:path w="9248" h="10000" fill="norm" stroke="1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89179983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531812" y="4983087"/>
            <a:ext cx="779766" cy="365125"/>
          </a:xfrm>
        </p:spPr>
        <p:txBody>
          <a:bodyPr/>
          <a:lstStyle/>
          <a:p>
            <a:pPr>
              <a:defRPr/>
            </a:pPr>
            <a:fld id="{43F739FE-3459-4B2C-A2CE-E0F4E9D935F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182206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22375901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 anchor="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3510990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FE7B930-DF20-4CDD-81DD-3BDCD136AC74}" type="datetimeFigureOut">
              <a:rPr lang="en-US"/>
              <a:t>12/3/2025</a:t>
            </a:fld>
            <a:endParaRPr lang="en-US"/>
          </a:p>
        </p:txBody>
      </p:sp>
      <p:sp>
        <p:nvSpPr>
          <p:cNvPr id="101609583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86821113" name="Freeform 11"/>
          <p:cNvSpPr/>
          <p:nvPr/>
        </p:nvSpPr>
        <p:spPr bwMode="auto">
          <a:xfrm flipV="1">
            <a:off x="-4189" y="714375"/>
            <a:ext cx="1588526" cy="507296"/>
          </a:xfrm>
          <a:custGeom>
            <a:avLst/>
            <a:gdLst/>
            <a:ahLst/>
            <a:cxnLst/>
            <a:rect l="l" t="t" r="r" b="b"/>
            <a:pathLst>
              <a:path w="9248" h="10000" fill="norm" stroke="1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9892593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3F739FE-3459-4B2C-A2CE-E0F4E9D935F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3029641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9294812" y="627405"/>
            <a:ext cx="2207601" cy="5283817"/>
          </a:xfrm>
        </p:spPr>
        <p:txBody>
          <a:bodyPr vert="eaVert" anchor="ctr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2717445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2589212" y="627405"/>
            <a:ext cx="6477000" cy="5283817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6294653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FE7B930-DF20-4CDD-81DD-3BDCD136AC74}" type="datetimeFigureOut">
              <a:rPr lang="en-US"/>
              <a:t>12/3/2025</a:t>
            </a:fld>
            <a:endParaRPr lang="en-US"/>
          </a:p>
        </p:txBody>
      </p:sp>
      <p:sp>
        <p:nvSpPr>
          <p:cNvPr id="35645115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94494297" name="Freeform 11"/>
          <p:cNvSpPr/>
          <p:nvPr/>
        </p:nvSpPr>
        <p:spPr bwMode="auto">
          <a:xfrm flipV="1">
            <a:off x="-4189" y="714375"/>
            <a:ext cx="1588526" cy="507296"/>
          </a:xfrm>
          <a:custGeom>
            <a:avLst/>
            <a:gdLst/>
            <a:ahLst/>
            <a:cxnLst/>
            <a:rect l="l" t="t" r="r" b="b"/>
            <a:pathLst>
              <a:path w="9248" h="10000" fill="norm" stroke="1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1714116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3F739FE-3459-4B2C-A2CE-E0F4E9D935F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3">
        <a:schemeClr val="bg2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55133571" name="Group 22"/>
          <p:cNvGrpSpPr/>
          <p:nvPr/>
        </p:nvGrpSpPr>
        <p:grpSpPr bwMode="auto"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 fill="norm" stroke="1" extrusionOk="0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 fill="norm" stroke="1" extrusionOk="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 fill="norm" stroke="1" extrusionOk="0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 fill="norm" stroke="1" extrusionOk="0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 fill="norm" stroke="1" extrusionOk="0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 fill="norm" stroke="1" extrusionOk="0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 fill="norm" stroke="1" extrusionOk="0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 fill="norm" stroke="1" extrusionOk="0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 fill="norm" stroke="1" extrusionOk="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 fill="norm" stroke="1" extrusionOk="0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 fill="norm" stroke="1" extrusionOk="0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 fill="norm" stroke="1" extrusionOk="0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186799314" name="Group 9"/>
          <p:cNvGrpSpPr/>
          <p:nvPr/>
        </p:nvGrpSpPr>
        <p:grpSpPr bwMode="auto"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 fill="norm" stroke="1" extrusionOk="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 fill="norm" stroke="1" extrusionOk="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 fill="norm" stroke="1" extrusionOk="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 fill="norm" stroke="1" extrusionOk="0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 fill="norm" stroke="1" extrusionOk="0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 fill="norm" stroke="1" extrusionOk="0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 fill="norm" stroke="1" extrusionOk="0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 fill="norm" stroke="1" extrusionOk="0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 fill="norm" stroke="1" extrusionOk="0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 fill="norm" stroke="1" extrusionOk="0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 fill="norm" stroke="1" extrusionOk="0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 fill="norm" stroke="1" extrusionOk="0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930861568" name="Rectangle 6"/>
          <p:cNvSpPr/>
          <p:nvPr/>
        </p:nvSpPr>
        <p:spPr bwMode="auto"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27431847" name="Title Placeholder 1"/>
          <p:cNvSpPr>
            <a:spLocks noGrp="1"/>
          </p:cNvSpPr>
          <p:nvPr>
            <p:ph type="title"/>
          </p:nvPr>
        </p:nvSpPr>
        <p:spPr bwMode="auto"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2803618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5838606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FE7B930-DF20-4CDD-81DD-3BDCD136AC74}" type="datetimeFigureOut">
              <a:rPr lang="en-US"/>
              <a:t>12/3/2025</a:t>
            </a:fld>
            <a:endParaRPr lang="en-US"/>
          </a:p>
        </p:txBody>
      </p:sp>
      <p:sp>
        <p:nvSpPr>
          <p:cNvPr id="94033284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866766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pPr>
              <a:defRPr/>
            </a:pPr>
            <a:fld id="{43F739FE-3459-4B2C-A2CE-E0F4E9D935F0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 rtl="0">
        <a:spcBef>
          <a:spcPts val="0"/>
        </a:spcBef>
        <a:buNone/>
        <a:defRPr sz="36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>
        <a:defRPr>
          <a:solidFill>
            <a:schemeClr val="tx2"/>
          </a:solidFill>
        </a:defRPr>
      </a:lvl2pPr>
      <a:lvl3pPr>
        <a:defRPr>
          <a:solidFill>
            <a:schemeClr val="tx2"/>
          </a:solidFill>
        </a:defRPr>
      </a:lvl3pPr>
      <a:lvl4pPr>
        <a:defRPr>
          <a:solidFill>
            <a:schemeClr val="tx2"/>
          </a:solidFill>
        </a:defRPr>
      </a:lvl4pPr>
      <a:lvl5pPr>
        <a:defRPr>
          <a:solidFill>
            <a:schemeClr val="tx2"/>
          </a:solidFill>
        </a:defRPr>
      </a:lvl5pPr>
      <a:lvl6pPr>
        <a:defRPr>
          <a:solidFill>
            <a:schemeClr val="tx2"/>
          </a:solidFill>
        </a:defRPr>
      </a:lvl6pPr>
      <a:lvl7pPr>
        <a:defRPr>
          <a:solidFill>
            <a:schemeClr val="tx2"/>
          </a:solidFill>
        </a:defRPr>
      </a:lvl7pPr>
      <a:lvl8pPr>
        <a:defRPr>
          <a:solidFill>
            <a:schemeClr val="tx2"/>
          </a:solidFill>
        </a:defRPr>
      </a:lvl8pPr>
      <a:lvl9pPr>
        <a:defRPr>
          <a:solidFill>
            <a:schemeClr val="tx2"/>
          </a:solidFill>
        </a:defRPr>
      </a:lvl9pPr>
    </p:titleStyle>
    <p:bodyStyle>
      <a:lvl1pPr marL="342900" indent="-342900" algn="l" defTabSz="457200" rtl="0">
        <a:spcBef>
          <a:spcPts val="1000"/>
        </a:spcBef>
        <a:spcAft>
          <a:spcPts val="0"/>
        </a:spcAft>
        <a:buClr>
          <a:schemeClr val="accent1"/>
        </a:buClr>
        <a:buFont typeface="Wingdings 3"/>
        <a:buChar char=""/>
        <a:defRPr sz="18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1000"/>
        </a:spcBef>
        <a:spcAft>
          <a:spcPts val="0"/>
        </a:spcAft>
        <a:buClr>
          <a:schemeClr val="accent1"/>
        </a:buClr>
        <a:buFont typeface="Wingdings 3"/>
        <a:buChar char=""/>
        <a:defRPr sz="16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1000"/>
        </a:spcBef>
        <a:spcAft>
          <a:spcPts val="0"/>
        </a:spcAft>
        <a:buClr>
          <a:schemeClr val="accent1"/>
        </a:buClr>
        <a:buFont typeface="Wingdings 3"/>
        <a:buChar char=""/>
        <a:defRPr sz="1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1000"/>
        </a:spcBef>
        <a:spcAft>
          <a:spcPts val="0"/>
        </a:spcAft>
        <a:buClr>
          <a:schemeClr val="accent1"/>
        </a:buClr>
        <a:buFont typeface="Wingdings 3"/>
        <a:buChar char=""/>
        <a:defRPr sz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1000"/>
        </a:spcBef>
        <a:spcAft>
          <a:spcPts val="0"/>
        </a:spcAft>
        <a:buClr>
          <a:schemeClr val="accent1"/>
        </a:buClr>
        <a:buFont typeface="Wingdings 3"/>
        <a:buChar char=""/>
        <a:defRPr sz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1000"/>
        </a:spcBef>
        <a:spcAft>
          <a:spcPts val="0"/>
        </a:spcAft>
        <a:buClr>
          <a:schemeClr val="accent1"/>
        </a:buClr>
        <a:buFont typeface="Wingdings 3"/>
        <a:buChar char=""/>
        <a:defRPr sz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1000"/>
        </a:spcBef>
        <a:spcAft>
          <a:spcPts val="0"/>
        </a:spcAft>
        <a:buClr>
          <a:schemeClr val="accent1"/>
        </a:buClr>
        <a:buFont typeface="Wingdings 3"/>
        <a:buChar char=""/>
        <a:defRPr sz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1000"/>
        </a:spcBef>
        <a:spcAft>
          <a:spcPts val="0"/>
        </a:spcAft>
        <a:buClr>
          <a:schemeClr val="accent1"/>
        </a:buClr>
        <a:buFont typeface="Wingdings 3"/>
        <a:buChar char=""/>
        <a:defRPr sz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1000"/>
        </a:spcBef>
        <a:spcAft>
          <a:spcPts val="0"/>
        </a:spcAft>
        <a:buClr>
          <a:schemeClr val="accent1"/>
        </a:buClr>
        <a:buFont typeface="Wingdings 3"/>
        <a:buChar char=""/>
        <a:defRPr sz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3081574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INTERRUPTS</a:t>
            </a:r>
            <a:endParaRPr/>
          </a:p>
        </p:txBody>
      </p:sp>
      <p:sp>
        <p:nvSpPr>
          <p:cNvPr id="1094467167" name="Subtitle 2"/>
          <p:cNvSpPr>
            <a:spLocks noGrp="1"/>
          </p:cNvSpPr>
          <p:nvPr>
            <p:ph type="subTitle"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 sz="2400" b="1"/>
              <a:t>Lecture 10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04111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INTERRUPTS</a:t>
            </a:r>
            <a:endParaRPr/>
          </a:p>
        </p:txBody>
      </p:sp>
      <p:sp>
        <p:nvSpPr>
          <p:cNvPr id="155894953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INT instruction is like a FAR call</a:t>
            </a:r>
            <a:endParaRPr/>
          </a:p>
          <a:p>
            <a:pPr>
              <a:defRPr/>
            </a:pPr>
            <a:r>
              <a:rPr lang="en-US"/>
              <a:t>When it is invoked, it saves CS:IP and the flags on the stack and goes to the subroutine associated with that interrupt.</a:t>
            </a:r>
            <a:endParaRPr/>
          </a:p>
          <a:p>
            <a:pPr>
              <a:defRPr/>
            </a:pPr>
            <a:r>
              <a:rPr lang="en-US"/>
              <a:t>It has following format:</a:t>
            </a:r>
            <a:endParaRPr/>
          </a:p>
          <a:p>
            <a:pPr>
              <a:defRPr/>
            </a:pPr>
            <a:endParaRPr lang="en-US"/>
          </a:p>
          <a:p>
            <a:pPr lvl="2">
              <a:defRPr/>
            </a:pPr>
            <a:r>
              <a:rPr lang="en-US"/>
              <a:t>INT xx 		; xx can be 00 - </a:t>
            </a:r>
            <a:r>
              <a:rPr lang="en-US"/>
              <a:t>FFh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31053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INTERRUPTS</a:t>
            </a:r>
            <a:endParaRPr/>
          </a:p>
        </p:txBody>
      </p:sp>
      <p:sp>
        <p:nvSpPr>
          <p:cNvPr id="124013888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Most widely used interrupts are</a:t>
            </a:r>
            <a:endParaRPr/>
          </a:p>
          <a:p>
            <a:pPr lvl="1">
              <a:defRPr/>
            </a:pPr>
            <a:r>
              <a:rPr lang="en-US"/>
              <a:t>10H</a:t>
            </a:r>
            <a:endParaRPr/>
          </a:p>
          <a:p>
            <a:pPr lvl="1">
              <a:defRPr/>
            </a:pPr>
            <a:r>
              <a:rPr lang="en-US"/>
              <a:t>16H</a:t>
            </a:r>
            <a:endParaRPr/>
          </a:p>
          <a:p>
            <a:pPr lvl="1">
              <a:defRPr/>
            </a:pPr>
            <a:r>
              <a:rPr lang="en-US"/>
              <a:t>21H</a:t>
            </a:r>
            <a:endParaRPr/>
          </a:p>
          <a:p>
            <a:pPr lvl="1">
              <a:defRPr/>
            </a:pPr>
            <a:endParaRPr lang="en-US"/>
          </a:p>
          <a:p>
            <a:pPr marL="457200" lvl="1" indent="0">
              <a:buNone/>
              <a:defRPr/>
            </a:pPr>
            <a:r>
              <a:rPr lang="en-US"/>
              <a:t>Each can perform many functions. </a:t>
            </a:r>
            <a:endParaRPr/>
          </a:p>
          <a:p>
            <a:pPr marL="457200" lvl="1" indent="0">
              <a:buNone/>
              <a:defRPr/>
            </a:pPr>
            <a:r>
              <a:rPr lang="en-US"/>
              <a:t>Before the service is requested, certain registers must have specific values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556053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BIOS INT 10H</a:t>
            </a:r>
            <a:endParaRPr/>
          </a:p>
        </p:txBody>
      </p:sp>
      <p:sp>
        <p:nvSpPr>
          <p:cNvPr id="83403685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Many functions are associated with INT 10H</a:t>
            </a:r>
            <a:endParaRPr/>
          </a:p>
          <a:p>
            <a:pPr lvl="1">
              <a:defRPr/>
            </a:pPr>
            <a:r>
              <a:rPr lang="en-US"/>
              <a:t>Changing the color of character or background color</a:t>
            </a:r>
            <a:endParaRPr/>
          </a:p>
          <a:p>
            <a:pPr lvl="1">
              <a:defRPr/>
            </a:pPr>
            <a:r>
              <a:rPr lang="en-US"/>
              <a:t>Clearing the screen</a:t>
            </a:r>
            <a:endParaRPr/>
          </a:p>
          <a:p>
            <a:pPr lvl="1">
              <a:defRPr/>
            </a:pPr>
            <a:r>
              <a:rPr lang="en-US"/>
              <a:t>Changing the location of the cursor</a:t>
            </a:r>
            <a:endParaRPr/>
          </a:p>
          <a:p>
            <a:pPr marL="457200" lvl="1" indent="0">
              <a:buNone/>
              <a:defRPr/>
            </a:pPr>
            <a:endParaRPr lang="en-US"/>
          </a:p>
          <a:p>
            <a:pPr marL="457200" lvl="1" indent="0">
              <a:buNone/>
              <a:defRPr/>
            </a:pPr>
            <a:r>
              <a:rPr lang="en-US"/>
              <a:t>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967476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Monitor Screen in Text mode</a:t>
            </a:r>
            <a:endParaRPr/>
          </a:p>
        </p:txBody>
      </p:sp>
      <p:pic>
        <p:nvPicPr>
          <p:cNvPr id="1907446221" name="Content Placeholder 4"/>
          <p:cNvPicPr>
            <a:picLocks noChangeAspect="1" noGrp="1"/>
          </p:cNvPicPr>
          <p:nvPr>
            <p:ph idx="1"/>
          </p:nvPr>
        </p:nvPicPr>
        <p:blipFill>
          <a:blip r:embed="rId3"/>
          <a:stretch/>
        </p:blipFill>
        <p:spPr bwMode="auto">
          <a:xfrm>
            <a:off x="3364986" y="2708091"/>
            <a:ext cx="7363853" cy="26292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859141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Clearing the screen using INT 10H function 06H</a:t>
            </a:r>
            <a:endParaRPr/>
          </a:p>
        </p:txBody>
      </p:sp>
      <p:sp>
        <p:nvSpPr>
          <p:cNvPr id="202280442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en-US"/>
              <a:t>;clearing the screen</a:t>
            </a:r>
            <a:endParaRPr/>
          </a:p>
          <a:p>
            <a:pPr marL="0" indent="0">
              <a:buNone/>
              <a:defRPr/>
            </a:pPr>
            <a:r>
              <a:rPr lang="en-US"/>
              <a:t>mov ax, 0600h       ;scroll the entire screen</a:t>
            </a:r>
            <a:endParaRPr/>
          </a:p>
          <a:p>
            <a:pPr marL="0" indent="0">
              <a:buNone/>
              <a:defRPr/>
            </a:pPr>
            <a:r>
              <a:rPr lang="en-US"/>
              <a:t>mov bh,07           ;normal attribute</a:t>
            </a:r>
            <a:endParaRPr/>
          </a:p>
          <a:p>
            <a:pPr marL="0" indent="0">
              <a:buNone/>
              <a:defRPr/>
            </a:pPr>
            <a:r>
              <a:rPr lang="en-US"/>
              <a:t>mov cx,0            ; row and column of top left</a:t>
            </a:r>
            <a:endParaRPr/>
          </a:p>
          <a:p>
            <a:pPr marL="0" indent="0">
              <a:buNone/>
              <a:defRPr/>
            </a:pPr>
            <a:r>
              <a:rPr lang="en-US"/>
              <a:t>mov dx,184fh        ; row and column of bottom right</a:t>
            </a:r>
            <a:endParaRPr/>
          </a:p>
          <a:p>
            <a:pPr marL="0" indent="0">
              <a:buNone/>
              <a:defRPr/>
            </a:pPr>
            <a:r>
              <a:rPr lang="en-US"/>
              <a:t>int 10h             ;invoke the video of BIOS service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754174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Setting the cursor to a specific location</a:t>
            </a:r>
            <a:br>
              <a:rPr lang="en-US"/>
            </a:br>
            <a:r>
              <a:rPr lang="en-US"/>
              <a:t>INT 10H function 02H</a:t>
            </a:r>
            <a:endParaRPr/>
          </a:p>
        </p:txBody>
      </p:sp>
      <p:sp>
        <p:nvSpPr>
          <p:cNvPr id="70836916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en-US"/>
              <a:t>mov ah,02           ;set cursor option</a:t>
            </a:r>
            <a:endParaRPr/>
          </a:p>
          <a:p>
            <a:pPr marL="0" indent="0">
              <a:buNone/>
              <a:defRPr/>
            </a:pPr>
            <a:r>
              <a:rPr lang="en-US"/>
              <a:t>mov bh,00           ;page 0</a:t>
            </a:r>
            <a:endParaRPr/>
          </a:p>
          <a:p>
            <a:pPr marL="0" indent="0">
              <a:buNone/>
              <a:defRPr/>
            </a:pPr>
            <a:r>
              <a:rPr lang="en-US"/>
              <a:t>mov dl, 10          ;column position</a:t>
            </a:r>
            <a:endParaRPr/>
          </a:p>
          <a:p>
            <a:pPr marL="0" indent="0">
              <a:buNone/>
              <a:defRPr/>
            </a:pPr>
            <a:r>
              <a:rPr lang="en-US"/>
              <a:t>mov dh, 10          ; row position</a:t>
            </a:r>
            <a:endParaRPr/>
          </a:p>
          <a:p>
            <a:pPr marL="0" indent="0">
              <a:buNone/>
              <a:defRPr/>
            </a:pPr>
            <a:r>
              <a:rPr lang="en-US"/>
              <a:t>int 10h             ; invoke interrupt 10h</a:t>
            </a:r>
            <a:endParaRPr/>
          </a:p>
          <a:p>
            <a:pPr marL="0" indent="0">
              <a:buNone/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822490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INT 10H function 03: </a:t>
            </a:r>
            <a:br>
              <a:rPr lang="en-US"/>
            </a:br>
            <a:r>
              <a:rPr lang="en-US"/>
              <a:t>Get Current Cursor Position</a:t>
            </a:r>
            <a:endParaRPr/>
          </a:p>
        </p:txBody>
      </p:sp>
      <p:sp>
        <p:nvSpPr>
          <p:cNvPr id="73010822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en-US"/>
              <a:t>mov ah,03           </a:t>
            </a:r>
            <a:endParaRPr/>
          </a:p>
          <a:p>
            <a:pPr marL="0" indent="0">
              <a:buNone/>
              <a:defRPr/>
            </a:pPr>
            <a:r>
              <a:rPr lang="en-US"/>
              <a:t>mov bh,00</a:t>
            </a:r>
            <a:endParaRPr/>
          </a:p>
          <a:p>
            <a:pPr marL="0" indent="0">
              <a:buNone/>
              <a:defRPr/>
            </a:pPr>
            <a:r>
              <a:rPr lang="en-US"/>
              <a:t>int 10h </a:t>
            </a:r>
            <a:endParaRPr/>
          </a:p>
          <a:p>
            <a:pPr marL="0" indent="0">
              <a:buNone/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3753259" name="Title 1"/>
          <p:cNvSpPr>
            <a:spLocks noGrp="1"/>
          </p:cNvSpPr>
          <p:nvPr>
            <p:ph type="title"/>
          </p:nvPr>
        </p:nvSpPr>
        <p:spPr bwMode="auto">
          <a:xfrm>
            <a:off x="1661653" y="624110"/>
            <a:ext cx="9842960" cy="128089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/>
              <a:t>INT 10H function 09: </a:t>
            </a:r>
            <a:br>
              <a:rPr lang="en-US"/>
            </a:br>
            <a:r>
              <a:rPr lang="en-US" sz="3100"/>
              <a:t>Write a character and its attribute at the cursor position</a:t>
            </a:r>
            <a:endParaRPr lang="en-US"/>
          </a:p>
        </p:txBody>
      </p:sp>
      <p:sp>
        <p:nvSpPr>
          <p:cNvPr id="48355187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en-US"/>
              <a:t>Register used</a:t>
            </a:r>
            <a:endParaRPr/>
          </a:p>
          <a:p>
            <a:pPr marL="0" indent="0">
              <a:buNone/>
              <a:defRPr/>
            </a:pPr>
            <a:r>
              <a:rPr lang="en-US"/>
              <a:t>AH = 9H</a:t>
            </a:r>
            <a:endParaRPr/>
          </a:p>
          <a:p>
            <a:pPr marL="0" indent="0">
              <a:buNone/>
              <a:defRPr/>
            </a:pPr>
            <a:r>
              <a:rPr lang="en-US"/>
              <a:t>AL = ASCII value</a:t>
            </a:r>
            <a:endParaRPr/>
          </a:p>
          <a:p>
            <a:pPr marL="0" indent="0">
              <a:buNone/>
              <a:defRPr/>
            </a:pPr>
            <a:r>
              <a:rPr lang="en-US"/>
              <a:t>BH = Display page</a:t>
            </a:r>
            <a:endParaRPr/>
          </a:p>
          <a:p>
            <a:pPr marL="0" indent="0">
              <a:buNone/>
              <a:defRPr/>
            </a:pPr>
            <a:r>
              <a:rPr lang="en-US"/>
              <a:t>BL = Attribute</a:t>
            </a:r>
            <a:endParaRPr/>
          </a:p>
          <a:p>
            <a:pPr marL="0" indent="0">
              <a:buNone/>
              <a:defRPr/>
            </a:pPr>
            <a:r>
              <a:rPr lang="en-US"/>
              <a:t>CX = Number of characters to write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9061545" name="Title 1"/>
          <p:cNvSpPr>
            <a:spLocks noGrp="1"/>
          </p:cNvSpPr>
          <p:nvPr>
            <p:ph type="title"/>
          </p:nvPr>
        </p:nvSpPr>
        <p:spPr bwMode="auto">
          <a:xfrm>
            <a:off x="1641987" y="624110"/>
            <a:ext cx="9862625" cy="128089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/>
              <a:t>INT 10H function 09: </a:t>
            </a:r>
            <a:br>
              <a:rPr lang="en-US"/>
            </a:br>
            <a:r>
              <a:rPr lang="en-US" sz="3100"/>
              <a:t>Write a character and its attribute at the cursor position</a:t>
            </a:r>
            <a:endParaRPr lang="en-US"/>
          </a:p>
        </p:txBody>
      </p:sp>
      <p:sp>
        <p:nvSpPr>
          <p:cNvPr id="83921514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en-US"/>
              <a:t>mov ah,09     ;display option</a:t>
            </a:r>
            <a:endParaRPr/>
          </a:p>
          <a:p>
            <a:pPr marL="0" indent="0">
              <a:buNone/>
              <a:defRPr/>
            </a:pPr>
            <a:r>
              <a:rPr lang="en-US"/>
              <a:t>mov bh,00     ;page 0</a:t>
            </a:r>
            <a:endParaRPr/>
          </a:p>
          <a:p>
            <a:pPr marL="0" indent="0">
              <a:buNone/>
              <a:defRPr/>
            </a:pPr>
            <a:r>
              <a:rPr lang="en-US"/>
              <a:t>mov al,44h    ;ascii character to display</a:t>
            </a:r>
            <a:endParaRPr/>
          </a:p>
          <a:p>
            <a:pPr marL="0" indent="0">
              <a:buNone/>
              <a:defRPr/>
            </a:pPr>
            <a:r>
              <a:rPr lang="en-US"/>
              <a:t>mov cx, 200h  ;repeat 200h times</a:t>
            </a:r>
            <a:endParaRPr/>
          </a:p>
          <a:p>
            <a:pPr marL="0" indent="0">
              <a:buNone/>
              <a:defRPr/>
            </a:pPr>
            <a:r>
              <a:rPr lang="en-US"/>
              <a:t>mov bl,1fh   ;black on white blinking </a:t>
            </a:r>
            <a:endParaRPr/>
          </a:p>
          <a:p>
            <a:pPr marL="0" indent="0">
              <a:buNone/>
              <a:defRPr/>
            </a:pPr>
            <a:r>
              <a:rPr lang="en-US"/>
              <a:t>int 10h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173554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INTERRUPT 21H</a:t>
            </a:r>
            <a:endParaRPr/>
          </a:p>
        </p:txBody>
      </p:sp>
      <p:sp>
        <p:nvSpPr>
          <p:cNvPr id="163399728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en-US"/>
              <a:t>Provided by DOS</a:t>
            </a:r>
            <a:endParaRPr/>
          </a:p>
          <a:p>
            <a:pPr marL="0" indent="0">
              <a:buNone/>
              <a:defRPr/>
            </a:pPr>
            <a:r>
              <a:rPr lang="en-US"/>
              <a:t>Perform extremely useful functions</a:t>
            </a:r>
            <a:endParaRPr/>
          </a:p>
          <a:p>
            <a:pPr marL="0" indent="0">
              <a:buNone/>
              <a:defRPr/>
            </a:pPr>
            <a:r>
              <a:rPr lang="en-US"/>
              <a:t>Input from keyboard</a:t>
            </a:r>
            <a:endParaRPr/>
          </a:p>
          <a:p>
            <a:pPr marL="0" indent="0">
              <a:buNone/>
              <a:defRPr/>
            </a:pPr>
            <a:r>
              <a:rPr lang="en-US"/>
              <a:t>Displaying it on screen</a:t>
            </a:r>
            <a:endParaRPr/>
          </a:p>
          <a:p>
            <a:pPr marL="0" indent="0">
              <a:buNone/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197610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INT 21H option 09: outputting a string of data to the monitor </a:t>
            </a:r>
            <a:endParaRPr/>
          </a:p>
        </p:txBody>
      </p:sp>
      <p:sp>
        <p:nvSpPr>
          <p:cNvPr id="208628107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en-US"/>
              <a:t>Data1 </a:t>
            </a:r>
            <a:r>
              <a:rPr lang="en-US"/>
              <a:t>db</a:t>
            </a:r>
            <a:r>
              <a:rPr lang="en-US"/>
              <a:t> ‘The earth is but one country’ , ‘$’</a:t>
            </a:r>
            <a:endParaRPr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r>
              <a:rPr lang="nn-NO"/>
              <a:t>MOV AH,09					;display string of data</a:t>
            </a:r>
            <a:endParaRPr/>
          </a:p>
          <a:p>
            <a:pPr marL="0" indent="0">
              <a:buNone/>
              <a:defRPr/>
            </a:pPr>
            <a:r>
              <a:rPr lang="nn-NO"/>
              <a:t>MOV DX, OFFSET DATA1		;DX= offset address of data</a:t>
            </a:r>
            <a:endParaRPr/>
          </a:p>
          <a:p>
            <a:pPr marL="0" indent="0">
              <a:buNone/>
              <a:defRPr/>
            </a:pPr>
            <a:r>
              <a:rPr lang="nn-NO"/>
              <a:t>INT 21H						;inoke the interrupt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980231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INT 21H option 02: outputting a single character to the monitor </a:t>
            </a:r>
            <a:endParaRPr/>
          </a:p>
        </p:txBody>
      </p:sp>
      <p:sp>
        <p:nvSpPr>
          <p:cNvPr id="136647642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nn-NO"/>
              <a:t>MOV AH,02				;displays one character</a:t>
            </a:r>
            <a:endParaRPr/>
          </a:p>
          <a:p>
            <a:pPr marL="0" indent="0">
              <a:buNone/>
              <a:defRPr/>
            </a:pPr>
            <a:r>
              <a:rPr lang="nn-NO"/>
              <a:t>MOV DL, ‘J’				;DL holds the character to be displayed</a:t>
            </a:r>
            <a:endParaRPr/>
          </a:p>
          <a:p>
            <a:pPr marL="0" indent="0">
              <a:buNone/>
              <a:defRPr/>
            </a:pPr>
            <a:r>
              <a:rPr lang="nn-NO"/>
              <a:t>INT 21H					;invoke the interrupt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328338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INT 21H option 01: inputting a single character, with echo </a:t>
            </a:r>
            <a:endParaRPr/>
          </a:p>
        </p:txBody>
      </p:sp>
      <p:sp>
        <p:nvSpPr>
          <p:cNvPr id="44993328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en-US"/>
              <a:t>MOV AH, 01			;inputs one character</a:t>
            </a:r>
            <a:endParaRPr/>
          </a:p>
          <a:p>
            <a:pPr marL="0" indent="0">
              <a:buNone/>
              <a:defRPr/>
            </a:pPr>
            <a:r>
              <a:rPr lang="en-US"/>
              <a:t>INT 21H				; AL = input character (ASCII)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393939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Class Activity:</a:t>
            </a:r>
            <a:br>
              <a:rPr lang="en-US"/>
            </a:br>
            <a:endParaRPr lang="en-US"/>
          </a:p>
        </p:txBody>
      </p:sp>
      <p:sp>
        <p:nvSpPr>
          <p:cNvPr id="189541688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en-US"/>
              <a:t>Write a program to 1) clears the screen, 2) sets the cursor to the center of the screen and 3) starting at that point of the screen, displays the message “ this is a test of the display routine”.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845844" name="Content Placeholder 2"/>
          <p:cNvSpPr>
            <a:spLocks noGrp="1"/>
          </p:cNvSpPr>
          <p:nvPr>
            <p:ph idx="1"/>
          </p:nvPr>
        </p:nvSpPr>
        <p:spPr bwMode="auto">
          <a:xfrm>
            <a:off x="1828800" y="1130709"/>
            <a:ext cx="9243193" cy="5319251"/>
          </a:xfrm>
        </p:spPr>
        <p:txBody>
          <a:bodyPr numCol="3">
            <a:normAutofit/>
          </a:bodyPr>
          <a:lstStyle/>
          <a:p>
            <a:pPr marL="0" indent="0">
              <a:buNone/>
              <a:defRPr/>
            </a:pPr>
            <a:r>
              <a:rPr lang="en-US" sz="1100"/>
              <a:t>MESSAGE DB ‘THIS IS A TEST OF THE DISPLAY ROUTINE','$' </a:t>
            </a:r>
            <a:endParaRPr/>
          </a:p>
          <a:p>
            <a:pPr marL="0" indent="0">
              <a:buNone/>
              <a:defRPr/>
            </a:pPr>
            <a:r>
              <a:rPr lang="en-US" sz="1100"/>
              <a:t>.code  </a:t>
            </a:r>
            <a:endParaRPr/>
          </a:p>
          <a:p>
            <a:pPr marL="0" indent="0">
              <a:buNone/>
              <a:defRPr/>
            </a:pPr>
            <a:r>
              <a:rPr lang="en-US" sz="1100"/>
              <a:t> </a:t>
            </a:r>
            <a:r>
              <a:rPr lang="en-US" sz="1100" b="1"/>
              <a:t>MAIN PROC FAR</a:t>
            </a:r>
            <a:endParaRPr/>
          </a:p>
          <a:p>
            <a:pPr marL="0" indent="0">
              <a:buNone/>
              <a:defRPr/>
            </a:pPr>
            <a:r>
              <a:rPr lang="en-US" sz="1100"/>
              <a:t>mov </a:t>
            </a:r>
            <a:r>
              <a:rPr lang="en-US" sz="1100"/>
              <a:t>ax,@data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/>
              <a:t>mov </a:t>
            </a:r>
            <a:r>
              <a:rPr lang="en-US" sz="1100"/>
              <a:t>ds,ax</a:t>
            </a:r>
            <a:r>
              <a:rPr lang="en-US" sz="1100"/>
              <a:t>    </a:t>
            </a:r>
            <a:endParaRPr/>
          </a:p>
          <a:p>
            <a:pPr marL="0" indent="0">
              <a:buNone/>
              <a:defRPr/>
            </a:pPr>
            <a:r>
              <a:rPr lang="en-US" sz="1100"/>
              <a:t>CALL CLEAR</a:t>
            </a:r>
            <a:endParaRPr/>
          </a:p>
          <a:p>
            <a:pPr marL="0" indent="0">
              <a:buNone/>
              <a:defRPr/>
            </a:pPr>
            <a:r>
              <a:rPr lang="en-US" sz="1100"/>
              <a:t>CALL CURSOR</a:t>
            </a:r>
            <a:endParaRPr/>
          </a:p>
          <a:p>
            <a:pPr marL="0" indent="0">
              <a:buNone/>
              <a:defRPr/>
            </a:pPr>
            <a:r>
              <a:rPr lang="en-US" sz="1100"/>
              <a:t>CALL DISPLAY</a:t>
            </a:r>
            <a:endParaRPr/>
          </a:p>
          <a:p>
            <a:pPr marL="0" indent="0">
              <a:buNone/>
              <a:defRPr/>
            </a:pPr>
            <a:r>
              <a:rPr lang="en-US" sz="1100"/>
              <a:t>MOV AH,4CH</a:t>
            </a:r>
            <a:endParaRPr/>
          </a:p>
          <a:p>
            <a:pPr marL="0" indent="0">
              <a:buNone/>
              <a:defRPr/>
            </a:pPr>
            <a:r>
              <a:rPr lang="en-US" sz="1100"/>
              <a:t>INT 21H </a:t>
            </a:r>
            <a:endParaRPr/>
          </a:p>
          <a:p>
            <a:pPr marL="0" indent="0">
              <a:buNone/>
              <a:defRPr/>
            </a:pPr>
            <a:r>
              <a:rPr lang="en-US" sz="1100"/>
              <a:t>.exit</a:t>
            </a:r>
            <a:endParaRPr/>
          </a:p>
          <a:p>
            <a:pPr marL="0" indent="0">
              <a:buNone/>
              <a:defRPr/>
            </a:pPr>
            <a:r>
              <a:rPr lang="en-US" sz="1100"/>
              <a:t>MAIN ENDP</a:t>
            </a:r>
            <a:endParaRPr/>
          </a:p>
          <a:p>
            <a:pPr marL="0" indent="0">
              <a:buNone/>
              <a:defRPr/>
            </a:pPr>
            <a:endParaRPr lang="en-US" sz="1100"/>
          </a:p>
          <a:p>
            <a:pPr marL="0" indent="0">
              <a:buNone/>
              <a:defRPr/>
            </a:pPr>
            <a:endParaRPr lang="en-US" sz="1100"/>
          </a:p>
          <a:p>
            <a:pPr marL="0" indent="0">
              <a:buNone/>
              <a:defRPr/>
            </a:pPr>
            <a:endParaRPr lang="en-US" sz="1100"/>
          </a:p>
          <a:p>
            <a:pPr marL="0" indent="0">
              <a:buNone/>
              <a:defRPr/>
            </a:pPr>
            <a:endParaRPr lang="en-US" sz="1100"/>
          </a:p>
          <a:p>
            <a:pPr marL="0" indent="0">
              <a:buNone/>
              <a:defRPr/>
            </a:pPr>
            <a:endParaRPr lang="en-US" sz="1100"/>
          </a:p>
          <a:p>
            <a:pPr marL="0" indent="0">
              <a:buNone/>
              <a:defRPr/>
            </a:pPr>
            <a:r>
              <a:rPr lang="en-US" sz="1100" b="1"/>
              <a:t>CLEAR PROC</a:t>
            </a:r>
            <a:endParaRPr/>
          </a:p>
          <a:p>
            <a:pPr marL="0" indent="0">
              <a:buNone/>
              <a:defRPr/>
            </a:pPr>
            <a:r>
              <a:rPr lang="en-US" sz="1100"/>
              <a:t>    MOV AX,0600H</a:t>
            </a:r>
            <a:endParaRPr/>
          </a:p>
          <a:p>
            <a:pPr marL="0" indent="0">
              <a:buNone/>
              <a:defRPr/>
            </a:pPr>
            <a:r>
              <a:rPr lang="en-US" sz="1100"/>
              <a:t>    MOV BH,07</a:t>
            </a:r>
            <a:endParaRPr/>
          </a:p>
          <a:p>
            <a:pPr marL="0" indent="0">
              <a:buNone/>
              <a:defRPr/>
            </a:pPr>
            <a:r>
              <a:rPr lang="en-US" sz="1100"/>
              <a:t>    MOV CX,0000</a:t>
            </a:r>
            <a:endParaRPr/>
          </a:p>
          <a:p>
            <a:pPr marL="0" indent="0">
              <a:buNone/>
              <a:defRPr/>
            </a:pPr>
            <a:r>
              <a:rPr lang="en-US" sz="1100"/>
              <a:t>    MOV DX, 184FH</a:t>
            </a:r>
            <a:endParaRPr/>
          </a:p>
          <a:p>
            <a:pPr marL="0" indent="0">
              <a:buNone/>
              <a:defRPr/>
            </a:pPr>
            <a:r>
              <a:rPr lang="en-US" sz="1100"/>
              <a:t>    INT 10H</a:t>
            </a:r>
            <a:endParaRPr/>
          </a:p>
          <a:p>
            <a:pPr marL="0" indent="0">
              <a:buNone/>
              <a:defRPr/>
            </a:pPr>
            <a:r>
              <a:rPr lang="en-US" sz="1100"/>
              <a:t>    RET</a:t>
            </a:r>
            <a:endParaRPr/>
          </a:p>
          <a:p>
            <a:pPr marL="0" indent="0">
              <a:buNone/>
              <a:defRPr/>
            </a:pPr>
            <a:r>
              <a:rPr lang="en-US" sz="1100"/>
              <a:t>CLEAR ENDP</a:t>
            </a:r>
            <a:endParaRPr/>
          </a:p>
          <a:p>
            <a:pPr marL="0" indent="0">
              <a:buNone/>
              <a:defRPr/>
            </a:pPr>
            <a:endParaRPr lang="en-US" sz="1100"/>
          </a:p>
          <a:p>
            <a:pPr marL="0" indent="0">
              <a:buNone/>
              <a:defRPr/>
            </a:pPr>
            <a:r>
              <a:rPr lang="en-US" sz="1100" b="1"/>
              <a:t>CURSOR PROC</a:t>
            </a:r>
            <a:endParaRPr/>
          </a:p>
          <a:p>
            <a:pPr marL="0" indent="0">
              <a:buNone/>
              <a:defRPr/>
            </a:pPr>
            <a:r>
              <a:rPr lang="en-US" sz="1100"/>
              <a:t>    MOV AH,02</a:t>
            </a:r>
            <a:endParaRPr/>
          </a:p>
          <a:p>
            <a:pPr marL="0" indent="0">
              <a:buNone/>
              <a:defRPr/>
            </a:pPr>
            <a:r>
              <a:rPr lang="en-US" sz="1100"/>
              <a:t>    MOV BH,00</a:t>
            </a:r>
            <a:endParaRPr/>
          </a:p>
          <a:p>
            <a:pPr marL="0" indent="0">
              <a:buNone/>
              <a:defRPr/>
            </a:pPr>
            <a:r>
              <a:rPr lang="en-US" sz="1100"/>
              <a:t>    MOV DH,10</a:t>
            </a:r>
            <a:endParaRPr/>
          </a:p>
          <a:p>
            <a:pPr marL="0" indent="0">
              <a:buNone/>
              <a:defRPr/>
            </a:pPr>
            <a:r>
              <a:rPr lang="en-US" sz="1100"/>
              <a:t>    MOV DL,22</a:t>
            </a:r>
            <a:endParaRPr/>
          </a:p>
          <a:p>
            <a:pPr marL="0" indent="0">
              <a:buNone/>
              <a:defRPr/>
            </a:pPr>
            <a:r>
              <a:rPr lang="en-US" sz="1100"/>
              <a:t>    INT 10H</a:t>
            </a:r>
            <a:endParaRPr/>
          </a:p>
          <a:p>
            <a:pPr marL="0" indent="0">
              <a:buNone/>
              <a:defRPr/>
            </a:pPr>
            <a:r>
              <a:rPr lang="en-US" sz="1100"/>
              <a:t>    RET</a:t>
            </a:r>
            <a:endParaRPr/>
          </a:p>
          <a:p>
            <a:pPr marL="0" indent="0">
              <a:buNone/>
              <a:defRPr/>
            </a:pPr>
            <a:r>
              <a:rPr lang="en-US" sz="1100"/>
              <a:t>CURSOR ENDP</a:t>
            </a:r>
            <a:endParaRPr/>
          </a:p>
          <a:p>
            <a:pPr marL="0" indent="0">
              <a:buNone/>
              <a:defRPr/>
            </a:pPr>
            <a:endParaRPr lang="en-US" sz="1100"/>
          </a:p>
          <a:p>
            <a:pPr marL="0" indent="0">
              <a:buNone/>
              <a:defRPr/>
            </a:pPr>
            <a:r>
              <a:rPr lang="en-US" sz="1100" b="1"/>
              <a:t>DISPLAY PROC</a:t>
            </a:r>
            <a:endParaRPr/>
          </a:p>
          <a:p>
            <a:pPr marL="0" indent="0">
              <a:buNone/>
              <a:defRPr/>
            </a:pPr>
            <a:r>
              <a:rPr lang="en-US" sz="1100"/>
              <a:t>    MOV AH,09</a:t>
            </a:r>
            <a:endParaRPr/>
          </a:p>
          <a:p>
            <a:pPr marL="0" indent="0">
              <a:buNone/>
              <a:defRPr/>
            </a:pPr>
            <a:r>
              <a:rPr lang="en-US" sz="1100"/>
              <a:t>    MOV DX, OFFSET MESSAGE</a:t>
            </a:r>
            <a:endParaRPr/>
          </a:p>
          <a:p>
            <a:pPr marL="0" indent="0">
              <a:buNone/>
              <a:defRPr/>
            </a:pPr>
            <a:r>
              <a:rPr lang="en-US" sz="1100"/>
              <a:t>    INT 21H</a:t>
            </a:r>
            <a:endParaRPr/>
          </a:p>
          <a:p>
            <a:pPr marL="0" indent="0">
              <a:buNone/>
              <a:defRPr/>
            </a:pPr>
            <a:r>
              <a:rPr lang="en-US" sz="1100"/>
              <a:t>    RET</a:t>
            </a:r>
            <a:endParaRPr/>
          </a:p>
          <a:p>
            <a:pPr marL="0" indent="0">
              <a:buNone/>
              <a:defRPr/>
            </a:pPr>
            <a:r>
              <a:rPr lang="en-US" sz="1100"/>
              <a:t>    DISPLAY ENDP</a:t>
            </a:r>
            <a:endParaRPr/>
          </a:p>
          <a:p>
            <a:pPr marL="0" indent="0">
              <a:buNone/>
              <a:defRPr/>
            </a:pPr>
            <a:r>
              <a:rPr lang="en-US" sz="1100"/>
              <a:t>END MAIN</a:t>
            </a:r>
            <a:endParaRPr/>
          </a:p>
          <a:p>
            <a:pPr marL="0" indent="0">
              <a:buNone/>
              <a:defRPr/>
            </a:pPr>
            <a:endParaRPr lang="en-US" sz="1100"/>
          </a:p>
          <a:p>
            <a:pPr marL="0" indent="0">
              <a:buNone/>
              <a:defRPr/>
            </a:pPr>
            <a:endParaRPr lang="en-US" sz="1100"/>
          </a:p>
          <a:p>
            <a:pPr marL="0" indent="0">
              <a:buNone/>
              <a:defRPr/>
            </a:pPr>
            <a:endParaRPr lang="en-US" sz="1100"/>
          </a:p>
          <a:p>
            <a:pPr marL="0" indent="0">
              <a:buNone/>
              <a:defRPr/>
            </a:pPr>
            <a:endParaRPr lang="en-US" sz="1100"/>
          </a:p>
          <a:p>
            <a:pPr marL="0" indent="0">
              <a:buNone/>
              <a:defRPr/>
            </a:pPr>
            <a:r>
              <a:rPr lang="en-US" sz="1100"/>
              <a:t>   </a:t>
            </a:r>
            <a:endParaRPr/>
          </a:p>
          <a:p>
            <a:pPr marL="0" indent="0">
              <a:buNone/>
              <a:defRPr/>
            </a:pPr>
            <a:endParaRPr lang="en-US" sz="1100"/>
          </a:p>
          <a:p>
            <a:pPr marL="0" indent="0">
              <a:buNone/>
              <a:defRPr/>
            </a:pP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380877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INT 21H option 0AH: inputting a String of data from keyboard </a:t>
            </a:r>
            <a:endParaRPr/>
          </a:p>
        </p:txBody>
      </p:sp>
      <p:sp>
        <p:nvSpPr>
          <p:cNvPr id="153703608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en-US"/>
              <a:t>DATA1 DB 6,?,6 DUP(0FFH)</a:t>
            </a:r>
            <a:endParaRPr/>
          </a:p>
          <a:p>
            <a:pPr marL="0" indent="0">
              <a:buNone/>
              <a:defRPr/>
            </a:pPr>
            <a:r>
              <a:rPr lang="en-US"/>
              <a:t> .CODE    </a:t>
            </a:r>
            <a:endParaRPr/>
          </a:p>
          <a:p>
            <a:pPr marL="0" indent="0">
              <a:buNone/>
              <a:defRPr/>
            </a:pPr>
            <a:r>
              <a:rPr lang="en-US"/>
              <a:t> MOV AX, @DATA</a:t>
            </a:r>
            <a:endParaRPr/>
          </a:p>
          <a:p>
            <a:pPr marL="0" indent="0">
              <a:buNone/>
              <a:defRPr/>
            </a:pPr>
            <a:r>
              <a:rPr lang="en-US"/>
              <a:t> MOV DS, AX</a:t>
            </a:r>
            <a:endParaRPr/>
          </a:p>
          <a:p>
            <a:pPr marL="0" indent="0">
              <a:buNone/>
              <a:defRPr/>
            </a:pPr>
            <a:r>
              <a:rPr lang="en-US"/>
              <a:t>MOV AH,0AH</a:t>
            </a:r>
            <a:endParaRPr/>
          </a:p>
          <a:p>
            <a:pPr marL="0" indent="0">
              <a:buNone/>
              <a:defRPr/>
            </a:pPr>
            <a:r>
              <a:rPr lang="en-US"/>
              <a:t>MOV DX, OFFSET DATA1</a:t>
            </a:r>
            <a:endParaRPr/>
          </a:p>
          <a:p>
            <a:pPr marL="0" indent="0">
              <a:buNone/>
              <a:defRPr/>
            </a:pPr>
            <a:r>
              <a:rPr lang="en-US"/>
              <a:t>INT 21H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092154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READS IN LAST NAME AND DISPLAYS LENGTH</a:t>
            </a:r>
            <a:endParaRPr/>
          </a:p>
        </p:txBody>
      </p:sp>
      <p:sp>
        <p:nvSpPr>
          <p:cNvPr id="162084438" name="Content Placeholder 2"/>
          <p:cNvSpPr>
            <a:spLocks noGrp="1"/>
          </p:cNvSpPr>
          <p:nvPr>
            <p:ph idx="1"/>
          </p:nvPr>
        </p:nvSpPr>
        <p:spPr bwMode="auto"/>
        <p:txBody>
          <a:bodyPr numCol="3">
            <a:normAutofit fontScale="92500" lnSpcReduction="20000"/>
          </a:bodyPr>
          <a:lstStyle/>
          <a:p>
            <a:pPr marL="0" indent="0">
              <a:buNone/>
              <a:defRPr/>
            </a:pPr>
            <a:r>
              <a:rPr lang="en-US"/>
              <a:t>MESSAGE1 DB 'what is your last name? $'  </a:t>
            </a:r>
            <a:endParaRPr/>
          </a:p>
          <a:p>
            <a:pPr marL="0" indent="0">
              <a:buNone/>
              <a:defRPr/>
            </a:pPr>
            <a:r>
              <a:rPr lang="en-US"/>
              <a:t>buffer1 </a:t>
            </a:r>
            <a:r>
              <a:rPr lang="en-US"/>
              <a:t>db</a:t>
            </a:r>
            <a:r>
              <a:rPr lang="en-US"/>
              <a:t> 9,?,9 dup(0)</a:t>
            </a:r>
            <a:endParaRPr/>
          </a:p>
          <a:p>
            <a:pPr marL="0" indent="0">
              <a:buNone/>
              <a:defRPr/>
            </a:pPr>
            <a:r>
              <a:rPr lang="en-US"/>
              <a:t>message2 </a:t>
            </a:r>
            <a:r>
              <a:rPr lang="en-US"/>
              <a:t>db</a:t>
            </a:r>
            <a:r>
              <a:rPr lang="en-US"/>
              <a:t> cr,</a:t>
            </a:r>
            <a:r>
              <a:rPr lang="en-US"/>
              <a:t>lf</a:t>
            </a:r>
            <a:r>
              <a:rPr lang="en-US"/>
              <a:t>,'the number of letters in your name is: ','$'</a:t>
            </a:r>
            <a:endParaRPr/>
          </a:p>
          <a:p>
            <a:pPr marL="0" indent="0">
              <a:buNone/>
              <a:defRPr/>
            </a:pPr>
            <a:r>
              <a:rPr lang="en-US"/>
              <a:t>cr</a:t>
            </a:r>
            <a:r>
              <a:rPr lang="en-US"/>
              <a:t> </a:t>
            </a:r>
            <a:r>
              <a:rPr lang="en-US"/>
              <a:t>equ</a:t>
            </a:r>
            <a:r>
              <a:rPr lang="en-US"/>
              <a:t> 0dh</a:t>
            </a:r>
            <a:endParaRPr/>
          </a:p>
          <a:p>
            <a:pPr marL="0" indent="0">
              <a:buNone/>
              <a:defRPr/>
            </a:pPr>
            <a:r>
              <a:rPr lang="en-US"/>
              <a:t>lf</a:t>
            </a:r>
            <a:r>
              <a:rPr lang="en-US"/>
              <a:t> </a:t>
            </a:r>
            <a:r>
              <a:rPr lang="en-US"/>
              <a:t>equ</a:t>
            </a:r>
            <a:r>
              <a:rPr lang="en-US"/>
              <a:t> 0ah</a:t>
            </a:r>
            <a:endParaRPr/>
          </a:p>
          <a:p>
            <a:pPr marL="0" indent="0">
              <a:buNone/>
              <a:defRPr/>
            </a:pPr>
            <a:r>
              <a:rPr lang="en-US"/>
              <a:t>.code </a:t>
            </a:r>
            <a:endParaRPr/>
          </a:p>
          <a:p>
            <a:pPr marL="0" indent="0">
              <a:buNone/>
              <a:defRPr/>
            </a:pPr>
            <a:r>
              <a:rPr lang="en-US"/>
              <a:t>main proc far   </a:t>
            </a:r>
            <a:endParaRPr/>
          </a:p>
          <a:p>
            <a:pPr marL="0" indent="0">
              <a:buNone/>
              <a:defRPr/>
            </a:pPr>
            <a:r>
              <a:rPr lang="en-US"/>
              <a:t>MOV AX, @DATA</a:t>
            </a:r>
            <a:endParaRPr/>
          </a:p>
          <a:p>
            <a:pPr marL="0" indent="0">
              <a:buNone/>
              <a:defRPr/>
            </a:pPr>
            <a:r>
              <a:rPr lang="en-US"/>
              <a:t>MOV DS, AX </a:t>
            </a:r>
            <a:endParaRPr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r>
              <a:rPr lang="en-US"/>
              <a:t>MOV AH,09H</a:t>
            </a:r>
            <a:endParaRPr/>
          </a:p>
          <a:p>
            <a:pPr marL="0" indent="0">
              <a:buNone/>
              <a:defRPr/>
            </a:pPr>
            <a:r>
              <a:rPr lang="en-US"/>
              <a:t>MOV DX, OFFSET message1</a:t>
            </a:r>
            <a:endParaRPr/>
          </a:p>
          <a:p>
            <a:pPr marL="0" indent="0">
              <a:buNone/>
              <a:defRPr/>
            </a:pPr>
            <a:r>
              <a:rPr lang="en-US"/>
              <a:t>INT 21H                </a:t>
            </a:r>
            <a:endParaRPr/>
          </a:p>
          <a:p>
            <a:pPr marL="0" indent="0">
              <a:buNone/>
              <a:defRPr/>
            </a:pPr>
            <a:r>
              <a:rPr lang="en-US"/>
              <a:t>mov ah, 0ah</a:t>
            </a:r>
            <a:endParaRPr/>
          </a:p>
          <a:p>
            <a:pPr marL="0" indent="0">
              <a:buNone/>
              <a:defRPr/>
            </a:pPr>
            <a:r>
              <a:rPr lang="en-US"/>
              <a:t>mov dx, offset buffer1</a:t>
            </a:r>
            <a:endParaRPr/>
          </a:p>
          <a:p>
            <a:pPr marL="0" indent="0">
              <a:buNone/>
              <a:defRPr/>
            </a:pPr>
            <a:r>
              <a:rPr lang="en-US"/>
              <a:t>int 21h</a:t>
            </a:r>
            <a:endParaRPr/>
          </a:p>
          <a:p>
            <a:pPr marL="0" indent="0">
              <a:buNone/>
              <a:defRPr/>
            </a:pPr>
            <a:r>
              <a:rPr lang="en-US"/>
              <a:t>mov bx, offset buffer1</a:t>
            </a:r>
            <a:endParaRPr/>
          </a:p>
          <a:p>
            <a:pPr marL="0" indent="0">
              <a:buNone/>
              <a:defRPr/>
            </a:pPr>
            <a:r>
              <a:rPr lang="en-US"/>
              <a:t>mov cl,[bx+1]</a:t>
            </a:r>
            <a:endParaRPr/>
          </a:p>
          <a:p>
            <a:pPr marL="0" indent="0">
              <a:buNone/>
              <a:defRPr/>
            </a:pPr>
            <a:r>
              <a:rPr lang="en-US"/>
              <a:t>or cl, 30h</a:t>
            </a:r>
            <a:endParaRPr/>
          </a:p>
          <a:p>
            <a:pPr marL="0" indent="0">
              <a:buNone/>
              <a:defRPr/>
            </a:pPr>
            <a:r>
              <a:rPr lang="en-US"/>
              <a:t>mov message2+40,cl   </a:t>
            </a:r>
            <a:endParaRPr/>
          </a:p>
          <a:p>
            <a:pPr marL="0" indent="0">
              <a:buNone/>
              <a:defRPr/>
            </a:pPr>
            <a:r>
              <a:rPr lang="en-US"/>
              <a:t>mov ah,09</a:t>
            </a:r>
            <a:endParaRPr/>
          </a:p>
          <a:p>
            <a:pPr marL="0" indent="0">
              <a:buNone/>
              <a:defRPr/>
            </a:pPr>
            <a:r>
              <a:rPr lang="en-US"/>
              <a:t>mov dx, offset message2</a:t>
            </a:r>
            <a:endParaRPr/>
          </a:p>
          <a:p>
            <a:pPr marL="0" indent="0">
              <a:buNone/>
              <a:defRPr/>
            </a:pPr>
            <a:r>
              <a:rPr lang="en-US"/>
              <a:t>int 21h</a:t>
            </a:r>
            <a:endParaRPr/>
          </a:p>
          <a:p>
            <a:pPr marL="0" indent="0">
              <a:buNone/>
              <a:defRPr/>
            </a:pPr>
            <a:r>
              <a:rPr lang="en-US"/>
              <a:t>mov ah,4ch</a:t>
            </a:r>
            <a:endParaRPr/>
          </a:p>
          <a:p>
            <a:pPr marL="0" indent="0">
              <a:buNone/>
              <a:defRPr/>
            </a:pPr>
            <a:r>
              <a:rPr lang="en-US"/>
              <a:t>int 21h</a:t>
            </a:r>
            <a:endParaRPr/>
          </a:p>
          <a:p>
            <a:pPr marL="0" indent="0">
              <a:buNone/>
              <a:defRPr/>
            </a:pPr>
            <a:r>
              <a:rPr lang="en-US"/>
              <a:t>main </a:t>
            </a:r>
            <a:r>
              <a:rPr lang="en-US"/>
              <a:t>endp</a:t>
            </a: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r>
              <a:rPr lang="en-US"/>
              <a:t>end main</a:t>
            </a:r>
            <a:endParaRPr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968978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INT 21H option 07: keyboard input without echo </a:t>
            </a:r>
            <a:endParaRPr/>
          </a:p>
        </p:txBody>
      </p:sp>
      <p:sp>
        <p:nvSpPr>
          <p:cNvPr id="175914145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en-US"/>
              <a:t>MOV AH, 07			;provides the character in AL</a:t>
            </a:r>
            <a:endParaRPr/>
          </a:p>
          <a:p>
            <a:pPr marL="0" indent="0">
              <a:buNone/>
              <a:defRPr/>
            </a:pPr>
            <a:r>
              <a:rPr lang="en-US"/>
              <a:t>INT 21H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152119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INT 16H KEYBOARD PROGRAMMING</a:t>
            </a:r>
            <a:endParaRPr/>
          </a:p>
        </p:txBody>
      </p:sp>
      <p:sp>
        <p:nvSpPr>
          <p:cNvPr id="186210283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en-US"/>
              <a:t>MOV AH,01		; check for key press</a:t>
            </a:r>
            <a:endParaRPr/>
          </a:p>
          <a:p>
            <a:pPr marL="0" indent="0">
              <a:buNone/>
              <a:defRPr/>
            </a:pPr>
            <a:r>
              <a:rPr lang="en-US"/>
              <a:t>INT 16H			; using INT 16h</a:t>
            </a:r>
            <a:endParaRPr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r>
              <a:rPr lang="en-US"/>
              <a:t>ZF=0 	if there is a key press</a:t>
            </a:r>
            <a:endParaRPr/>
          </a:p>
          <a:p>
            <a:pPr marL="0" indent="0">
              <a:buNone/>
              <a:defRPr/>
            </a:pPr>
            <a:r>
              <a:rPr lang="en-US"/>
              <a:t>ZF=1	if there is no key press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096033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EXAMPLE</a:t>
            </a:r>
            <a:endParaRPr/>
          </a:p>
        </p:txBody>
      </p:sp>
      <p:sp>
        <p:nvSpPr>
          <p:cNvPr id="1756710438" name="Content Placeholder 2"/>
          <p:cNvSpPr>
            <a:spLocks noGrp="1"/>
          </p:cNvSpPr>
          <p:nvPr>
            <p:ph idx="1"/>
          </p:nvPr>
        </p:nvSpPr>
        <p:spPr bwMode="auto"/>
        <p:txBody>
          <a:bodyPr numCol="2">
            <a:normAutofit fontScale="92500" lnSpcReduction="20000"/>
          </a:bodyPr>
          <a:lstStyle/>
          <a:p>
            <a:pPr marL="0" indent="0">
              <a:buNone/>
              <a:defRPr/>
            </a:pPr>
            <a:r>
              <a:rPr lang="en-US"/>
              <a:t>message </a:t>
            </a:r>
            <a:r>
              <a:rPr lang="en-US"/>
              <a:t>db</a:t>
            </a:r>
            <a:r>
              <a:rPr lang="en-US"/>
              <a:t> 'to stop the bell sound press any key $'</a:t>
            </a:r>
            <a:endParaRPr/>
          </a:p>
          <a:p>
            <a:pPr marL="0" indent="0">
              <a:buNone/>
              <a:defRPr/>
            </a:pPr>
            <a:r>
              <a:rPr lang="en-US"/>
              <a:t>.CODE</a:t>
            </a:r>
            <a:endParaRPr/>
          </a:p>
          <a:p>
            <a:pPr marL="0" indent="0">
              <a:buNone/>
              <a:defRPr/>
            </a:pPr>
            <a:r>
              <a:rPr lang="en-US"/>
              <a:t>MAIN PROC</a:t>
            </a:r>
            <a:endParaRPr/>
          </a:p>
          <a:p>
            <a:pPr marL="0" indent="0">
              <a:buNone/>
              <a:defRPr/>
            </a:pPr>
            <a:r>
              <a:rPr lang="en-US"/>
              <a:t>    MOV AX,@DATA</a:t>
            </a:r>
            <a:endParaRPr/>
          </a:p>
          <a:p>
            <a:pPr marL="0" indent="0">
              <a:buNone/>
              <a:defRPr/>
            </a:pPr>
            <a:r>
              <a:rPr lang="en-US"/>
              <a:t>    MOV DS, AX</a:t>
            </a:r>
            <a:endParaRPr/>
          </a:p>
          <a:p>
            <a:pPr marL="0" indent="0">
              <a:buNone/>
              <a:defRPr/>
            </a:pPr>
            <a:r>
              <a:rPr lang="en-US"/>
              <a:t>    MOV AH,09</a:t>
            </a:r>
            <a:endParaRPr/>
          </a:p>
          <a:p>
            <a:pPr marL="0" indent="0">
              <a:buNone/>
              <a:defRPr/>
            </a:pPr>
            <a:r>
              <a:rPr lang="en-US"/>
              <a:t>    MOV DX, OFFSET MESSAGE</a:t>
            </a:r>
            <a:endParaRPr/>
          </a:p>
          <a:p>
            <a:pPr marL="0" indent="0">
              <a:buNone/>
              <a:defRPr/>
            </a:pPr>
            <a:r>
              <a:rPr lang="en-US"/>
              <a:t>    INT 21H</a:t>
            </a:r>
            <a:endParaRPr/>
          </a:p>
          <a:p>
            <a:pPr marL="0" indent="0">
              <a:buNone/>
              <a:defRPr/>
            </a:pPr>
            <a:r>
              <a:rPr lang="en-US"/>
              <a:t>    </a:t>
            </a:r>
            <a:endParaRPr/>
          </a:p>
          <a:p>
            <a:pPr marL="0" indent="0">
              <a:buNone/>
              <a:defRPr/>
            </a:pPr>
            <a:r>
              <a:rPr lang="en-US"/>
              <a:t>AGAIN:  MOV AH,02        ;</a:t>
            </a:r>
            <a:r>
              <a:rPr lang="en-US">
                <a:solidFill>
                  <a:srgbClr val="00B050"/>
                </a:solidFill>
              </a:rPr>
              <a:t>sending to monitor a single char</a:t>
            </a:r>
            <a:endParaRPr/>
          </a:p>
          <a:p>
            <a:pPr marL="0" indent="0">
              <a:buNone/>
              <a:defRPr/>
            </a:pPr>
            <a:r>
              <a:rPr lang="en-US"/>
              <a:t>        MOV DL,07        ; </a:t>
            </a:r>
            <a:r>
              <a:rPr lang="en-US">
                <a:solidFill>
                  <a:srgbClr val="00B050"/>
                </a:solidFill>
              </a:rPr>
              <a:t>send out the bell char</a:t>
            </a:r>
            <a:endParaRPr/>
          </a:p>
          <a:p>
            <a:pPr marL="0" indent="0">
              <a:buNone/>
              <a:defRPr/>
            </a:pPr>
            <a:r>
              <a:rPr lang="en-US"/>
              <a:t>        INT 21H</a:t>
            </a:r>
            <a:endParaRPr/>
          </a:p>
          <a:p>
            <a:pPr marL="0" indent="0">
              <a:buNone/>
              <a:defRPr/>
            </a:pPr>
            <a:r>
              <a:rPr lang="en-US"/>
              <a:t>        MOV AH,01</a:t>
            </a:r>
            <a:endParaRPr/>
          </a:p>
          <a:p>
            <a:pPr marL="0" indent="0">
              <a:buNone/>
              <a:defRPr/>
            </a:pPr>
            <a:r>
              <a:rPr lang="en-US"/>
              <a:t>        INT 16H</a:t>
            </a:r>
            <a:endParaRPr/>
          </a:p>
          <a:p>
            <a:pPr marL="0" indent="0">
              <a:buNone/>
              <a:defRPr/>
            </a:pPr>
            <a:r>
              <a:rPr lang="en-US"/>
              <a:t>        JZ AGAIN</a:t>
            </a:r>
            <a:endParaRPr/>
          </a:p>
          <a:p>
            <a:pPr marL="0" indent="0">
              <a:buNone/>
              <a:defRPr/>
            </a:pPr>
            <a:r>
              <a:rPr lang="en-US"/>
              <a:t>        MOV AH,4CH</a:t>
            </a:r>
            <a:endParaRPr/>
          </a:p>
          <a:p>
            <a:pPr marL="0" indent="0">
              <a:buNone/>
              <a:defRPr/>
            </a:pPr>
            <a:r>
              <a:rPr lang="en-US"/>
              <a:t>        INT 21H</a:t>
            </a:r>
            <a:endParaRPr/>
          </a:p>
          <a:p>
            <a:pPr marL="0" indent="0">
              <a:buNone/>
              <a:defRPr/>
            </a:pPr>
            <a:r>
              <a:rPr lang="en-US"/>
              <a:t>        MAIN ENDP</a:t>
            </a:r>
            <a:endParaRPr/>
          </a:p>
          <a:p>
            <a:pPr marL="0" indent="0">
              <a:buNone/>
              <a:defRPr/>
            </a:pPr>
            <a:r>
              <a:rPr lang="en-US"/>
              <a:t>END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344756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Which key is pressed	?</a:t>
            </a:r>
            <a:endParaRPr/>
          </a:p>
        </p:txBody>
      </p:sp>
      <p:sp>
        <p:nvSpPr>
          <p:cNvPr id="74158562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en-US"/>
              <a:t>MOV AH,0			;AL contains the ASCII character</a:t>
            </a:r>
            <a:endParaRPr/>
          </a:p>
          <a:p>
            <a:pPr marL="0" indent="0">
              <a:buNone/>
              <a:defRPr/>
            </a:pPr>
            <a:r>
              <a:rPr lang="en-US"/>
              <a:t>INT 16H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883454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Example</a:t>
            </a:r>
            <a:endParaRPr/>
          </a:p>
        </p:txBody>
      </p:sp>
      <p:sp>
        <p:nvSpPr>
          <p:cNvPr id="1808037277" name="Content Placeholder 2"/>
          <p:cNvSpPr>
            <a:spLocks noGrp="1"/>
          </p:cNvSpPr>
          <p:nvPr>
            <p:ph idx="1"/>
          </p:nvPr>
        </p:nvSpPr>
        <p:spPr bwMode="auto"/>
        <p:txBody>
          <a:bodyPr numCol="2">
            <a:normAutofit fontScale="62500" lnSpcReduction="20000"/>
          </a:bodyPr>
          <a:lstStyle/>
          <a:p>
            <a:pPr marL="0" indent="0">
              <a:buNone/>
              <a:defRPr/>
            </a:pPr>
            <a:r>
              <a:rPr lang="en-US"/>
              <a:t>.data</a:t>
            </a:r>
            <a:endParaRPr/>
          </a:p>
          <a:p>
            <a:pPr marL="0" indent="0">
              <a:buNone/>
              <a:defRPr/>
            </a:pPr>
            <a:r>
              <a:rPr lang="en-US"/>
              <a:t>message </a:t>
            </a:r>
            <a:r>
              <a:rPr lang="en-US"/>
              <a:t>db</a:t>
            </a:r>
            <a:r>
              <a:rPr lang="en-US"/>
              <a:t> 'TO STOP THE BELL SOUND PRESS Q (or q) KEY $'</a:t>
            </a:r>
            <a:endParaRPr/>
          </a:p>
          <a:p>
            <a:pPr marL="0" indent="0">
              <a:buNone/>
              <a:defRPr/>
            </a:pPr>
            <a:r>
              <a:rPr lang="en-US"/>
              <a:t>.code</a:t>
            </a:r>
            <a:endParaRPr/>
          </a:p>
          <a:p>
            <a:pPr marL="0" indent="0">
              <a:buNone/>
              <a:defRPr/>
            </a:pPr>
            <a:r>
              <a:rPr lang="en-US"/>
              <a:t>main proc</a:t>
            </a:r>
            <a:endParaRPr/>
          </a:p>
          <a:p>
            <a:pPr marL="0" indent="0">
              <a:buNone/>
              <a:defRPr/>
            </a:pPr>
            <a:r>
              <a:rPr lang="en-US"/>
              <a:t>    mov </a:t>
            </a:r>
            <a:r>
              <a:rPr lang="en-US"/>
              <a:t>ax,@data</a:t>
            </a:r>
            <a:endParaRPr lang="en-US"/>
          </a:p>
          <a:p>
            <a:pPr marL="0" indent="0">
              <a:buNone/>
              <a:defRPr/>
            </a:pPr>
            <a:r>
              <a:rPr lang="en-US"/>
              <a:t>    mov ds, ax</a:t>
            </a:r>
            <a:endParaRPr/>
          </a:p>
          <a:p>
            <a:pPr marL="0" indent="0">
              <a:buNone/>
              <a:defRPr/>
            </a:pPr>
            <a:r>
              <a:rPr lang="en-US"/>
              <a:t>    mov ah,09</a:t>
            </a:r>
            <a:endParaRPr/>
          </a:p>
          <a:p>
            <a:pPr marL="0" indent="0">
              <a:buNone/>
              <a:defRPr/>
            </a:pPr>
            <a:r>
              <a:rPr lang="en-US"/>
              <a:t>    mov dx, offset message</a:t>
            </a:r>
            <a:endParaRPr/>
          </a:p>
          <a:p>
            <a:pPr marL="0" indent="0">
              <a:buNone/>
              <a:defRPr/>
            </a:pPr>
            <a:r>
              <a:rPr lang="en-US"/>
              <a:t>    int 21h</a:t>
            </a:r>
            <a:endParaRPr/>
          </a:p>
          <a:p>
            <a:pPr marL="0" indent="0">
              <a:buNone/>
              <a:defRPr/>
            </a:pPr>
            <a:r>
              <a:rPr lang="en-US"/>
              <a:t>    </a:t>
            </a:r>
            <a:endParaRPr/>
          </a:p>
          <a:p>
            <a:pPr marL="0" indent="0">
              <a:buNone/>
              <a:defRPr/>
            </a:pPr>
            <a:r>
              <a:rPr lang="en-US"/>
              <a:t>AGAIN:  MOV AH,02        ;sending to monitor a single char</a:t>
            </a:r>
            <a:endParaRPr/>
          </a:p>
          <a:p>
            <a:pPr marL="0" indent="0">
              <a:buNone/>
              <a:defRPr/>
            </a:pPr>
            <a:r>
              <a:rPr lang="en-US"/>
              <a:t>        MOV DL,07        ; send out the bell char</a:t>
            </a:r>
            <a:endParaRPr/>
          </a:p>
          <a:p>
            <a:pPr marL="0" indent="0">
              <a:buNone/>
              <a:defRPr/>
            </a:pPr>
            <a:r>
              <a:rPr lang="en-US"/>
              <a:t>        INT 21H</a:t>
            </a:r>
            <a:endParaRPr/>
          </a:p>
          <a:p>
            <a:pPr marL="0" indent="0">
              <a:buNone/>
              <a:defRPr/>
            </a:pPr>
            <a:r>
              <a:rPr lang="en-US"/>
              <a:t>        MOV AH,01</a:t>
            </a:r>
            <a:endParaRPr/>
          </a:p>
          <a:p>
            <a:pPr marL="0" indent="0">
              <a:buNone/>
              <a:defRPr/>
            </a:pPr>
            <a:r>
              <a:rPr lang="en-US"/>
              <a:t>        INT 16H</a:t>
            </a:r>
            <a:endParaRPr/>
          </a:p>
          <a:p>
            <a:pPr marL="0" indent="0">
              <a:buNone/>
              <a:defRPr/>
            </a:pPr>
            <a:r>
              <a:rPr lang="en-US"/>
              <a:t>        JZ AGAIN </a:t>
            </a:r>
            <a:endParaRPr/>
          </a:p>
          <a:p>
            <a:pPr marL="0" indent="0">
              <a:buNone/>
              <a:defRPr/>
            </a:pPr>
            <a:r>
              <a:rPr lang="en-US"/>
              <a:t>        MOV AH,0</a:t>
            </a:r>
            <a:endParaRPr/>
          </a:p>
          <a:p>
            <a:pPr marL="0" indent="0">
              <a:buNone/>
              <a:defRPr/>
            </a:pPr>
            <a:r>
              <a:rPr lang="en-US"/>
              <a:t>        INT 16H</a:t>
            </a:r>
            <a:endParaRPr/>
          </a:p>
          <a:p>
            <a:pPr marL="0" indent="0">
              <a:buNone/>
              <a:defRPr/>
            </a:pPr>
            <a:r>
              <a:rPr lang="en-US"/>
              <a:t>        CMP AL,'Q'</a:t>
            </a:r>
            <a:endParaRPr/>
          </a:p>
          <a:p>
            <a:pPr marL="0" indent="0">
              <a:buNone/>
              <a:defRPr/>
            </a:pPr>
            <a:r>
              <a:rPr lang="en-US"/>
              <a:t>        JE EXIT</a:t>
            </a:r>
            <a:endParaRPr/>
          </a:p>
          <a:p>
            <a:pPr marL="0" indent="0">
              <a:buNone/>
              <a:defRPr/>
            </a:pPr>
            <a:r>
              <a:rPr lang="en-US"/>
              <a:t>        CMP AL, 'q'</a:t>
            </a:r>
            <a:endParaRPr/>
          </a:p>
          <a:p>
            <a:pPr marL="0" indent="0">
              <a:buNone/>
              <a:defRPr/>
            </a:pPr>
            <a:r>
              <a:rPr lang="en-US"/>
              <a:t>        JE EXIT</a:t>
            </a:r>
            <a:endParaRPr/>
          </a:p>
          <a:p>
            <a:pPr marL="0" indent="0">
              <a:buNone/>
              <a:defRPr/>
            </a:pPr>
            <a:r>
              <a:rPr lang="en-US"/>
              <a:t>        JMP AGAIN</a:t>
            </a:r>
            <a:endParaRPr/>
          </a:p>
          <a:p>
            <a:pPr marL="0" indent="0">
              <a:buNone/>
              <a:defRPr/>
            </a:pPr>
            <a:r>
              <a:rPr lang="en-US"/>
              <a:t>EXIT:   MOV AH,4CH</a:t>
            </a:r>
            <a:endParaRPr/>
          </a:p>
          <a:p>
            <a:pPr marL="0" indent="0">
              <a:buNone/>
              <a:defRPr/>
            </a:pPr>
            <a:r>
              <a:rPr lang="en-US"/>
              <a:t>        INT 21H</a:t>
            </a:r>
            <a:endParaRPr/>
          </a:p>
          <a:p>
            <a:pPr marL="0" indent="0">
              <a:buNone/>
              <a:defRPr/>
            </a:pPr>
            <a:r>
              <a:rPr lang="en-US"/>
              <a:t>        MAIN ENDP</a:t>
            </a:r>
            <a:endParaRPr/>
          </a:p>
          <a:p>
            <a:pPr marL="0" indent="0">
              <a:buNone/>
              <a:defRPr/>
            </a:pPr>
            <a:r>
              <a:rPr lang="en-US"/>
              <a:t>END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273960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INTERRUPTS</a:t>
            </a:r>
            <a:endParaRPr/>
          </a:p>
        </p:txBody>
      </p:sp>
      <p:sp>
        <p:nvSpPr>
          <p:cNvPr id="92192292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en-US"/>
              <a:t>The processor uses the interrupt number to index </a:t>
            </a:r>
            <a:r>
              <a:rPr lang="en-US" b="1"/>
              <a:t>the Interrupt Vector Table </a:t>
            </a:r>
            <a:r>
              <a:rPr lang="en-US"/>
              <a:t>(IVT) to get the address of a special type of procedure called </a:t>
            </a:r>
            <a:r>
              <a:rPr lang="en-US" b="1"/>
              <a:t>an Interrupt Service Routine </a:t>
            </a:r>
            <a:r>
              <a:rPr lang="en-US"/>
              <a:t>(ISR). </a:t>
            </a:r>
            <a:endParaRPr/>
          </a:p>
          <a:p>
            <a:pPr marL="0" indent="0">
              <a:buNone/>
              <a:defRPr/>
            </a:pPr>
            <a:r>
              <a:rPr lang="en-US"/>
              <a:t>The ISR is executed whenever the interrupt is generated. </a:t>
            </a:r>
            <a:endParaRPr/>
          </a:p>
          <a:p>
            <a:pPr marL="0" indent="0">
              <a:buNone/>
              <a:defRPr/>
            </a:pPr>
            <a:r>
              <a:rPr lang="en-US"/>
              <a:t>There are 256 entries in IVT, and each entry stores the logical address of a respective ISR. </a:t>
            </a:r>
            <a:endParaRPr/>
          </a:p>
          <a:p>
            <a:pPr marL="0" indent="0">
              <a:buNone/>
              <a:defRPr/>
            </a:pPr>
            <a:r>
              <a:rPr lang="en-US"/>
              <a:t>IVT resides in memory at physical address 0x00000.</a:t>
            </a:r>
            <a:endParaRPr/>
          </a:p>
          <a:p>
            <a:pPr marL="0" indent="0">
              <a:buNone/>
              <a:defRPr/>
            </a:pPr>
            <a:r>
              <a:rPr lang="en-US"/>
              <a:t>Each entry stores the logical address, which is 4 bytes; the total size of the IVT is 256 x 4B = 1 KB. </a:t>
            </a:r>
            <a:endParaRPr/>
          </a:p>
          <a:p>
            <a:pPr marL="0" indent="0">
              <a:buNone/>
              <a:defRPr/>
            </a:pPr>
            <a:r>
              <a:rPr lang="en-US"/>
              <a:t>To index the IVT, the processor multiplies the interrupt number by 4 to get the physical address of the entry against that interrupt number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321590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ISR</a:t>
            </a:r>
            <a:endParaRPr/>
          </a:p>
        </p:txBody>
      </p:sp>
      <p:sp>
        <p:nvSpPr>
          <p:cNvPr id="125867252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en-US"/>
              <a:t>ISR is a special procedure that is called whenever an interrupt is generated.</a:t>
            </a:r>
            <a:endParaRPr/>
          </a:p>
          <a:p>
            <a:pPr marL="0" indent="0">
              <a:buNone/>
              <a:defRPr/>
            </a:pPr>
            <a:r>
              <a:rPr lang="en-US"/>
              <a:t> Whenever an ISR is called as a result of an interrupt, the flag register is pushed onto the stack along with IP and CS. </a:t>
            </a:r>
            <a:endParaRPr/>
          </a:p>
          <a:p>
            <a:pPr marL="0" indent="0">
              <a:buNone/>
              <a:defRPr/>
            </a:pPr>
            <a:r>
              <a:rPr lang="en-US"/>
              <a:t>Therefore, unlike procedures, the ISRs return control by issuing "IRET" instructions instead of "RET" instructions. </a:t>
            </a:r>
            <a:endParaRPr/>
          </a:p>
          <a:p>
            <a:pPr marL="0" indent="0">
              <a:buNone/>
              <a:defRPr/>
            </a:pPr>
            <a:r>
              <a:rPr lang="en-US"/>
              <a:t>The IRET instruction also pops the flag register from the stack, whereas the RET instruction does not.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/>
        <a:ea typeface="Arial"/>
        <a:cs typeface="Arial"/>
      </a:majorFont>
      <a:minorFont>
        <a:latin typeface="Century Gothic"/>
        <a:ea typeface="Arial"/>
        <a:cs typeface="Arial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">
      <a:majorFont>
        <a:latin typeface="Century Gothic"/>
        <a:ea typeface="Arial"/>
        <a:cs typeface="Arial"/>
      </a:majorFont>
      <a:minorFont>
        <a:latin typeface="Century Gothic"/>
        <a:ea typeface="Arial"/>
        <a:cs typeface="Arial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0</Words>
  <Application>ONLYOFFICE/9.0.4.50</Application>
  <PresentationFormat>On-screen Show (4:3)</PresentationFormat>
  <Paragraphs>0</Paragraphs>
  <Slides>25</Slides>
  <Notes>25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Hina Tahir</dc:creator>
  <cp:lastModifiedBy/>
  <cp:revision>8</cp:revision>
  <dcterms:created xsi:type="dcterms:W3CDTF">2025-12-03T15:59:19Z</dcterms:created>
  <dcterms:modified xsi:type="dcterms:W3CDTF">2026-01-25T18:57:31Z</dcterms:modified>
</cp:coreProperties>
</file>