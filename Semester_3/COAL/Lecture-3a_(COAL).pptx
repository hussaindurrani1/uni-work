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6" r:id="rId2"/>
    <p:sldId id="409" r:id="rId3"/>
    <p:sldId id="410" r:id="rId4"/>
    <p:sldId id="411" r:id="rId5"/>
    <p:sldId id="403" r:id="rId6"/>
    <p:sldId id="412" r:id="rId7"/>
    <p:sldId id="413" r:id="rId8"/>
    <p:sldId id="414" r:id="rId9"/>
    <p:sldId id="407" r:id="rId10"/>
    <p:sldId id="408" r:id="rId11"/>
    <p:sldId id="406" r:id="rId12"/>
    <p:sldId id="415" r:id="rId13"/>
    <p:sldId id="416" r:id="rId14"/>
    <p:sldId id="417" r:id="rId15"/>
    <p:sldId id="418" r:id="rId16"/>
    <p:sldId id="419" r:id="rId17"/>
    <p:sldId id="420" r:id="rId18"/>
    <p:sldId id="257" r:id="rId19"/>
    <p:sldId id="258" r:id="rId20"/>
    <p:sldId id="259" r:id="rId21"/>
    <p:sldId id="260" r:id="rId22"/>
    <p:sldId id="421" r:id="rId23"/>
    <p:sldId id="391" r:id="rId24"/>
    <p:sldId id="394" r:id="rId25"/>
    <p:sldId id="393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402" r:id="rId34"/>
    <p:sldId id="422" r:id="rId35"/>
    <p:sldId id="423" r:id="rId36"/>
    <p:sldId id="424" r:id="rId37"/>
    <p:sldId id="425" r:id="rId38"/>
    <p:sldId id="427" r:id="rId39"/>
    <p:sldId id="285" r:id="rId40"/>
    <p:sldId id="286" r:id="rId41"/>
    <p:sldId id="287" r:id="rId42"/>
    <p:sldId id="288" r:id="rId43"/>
    <p:sldId id="289" r:id="rId44"/>
    <p:sldId id="261" r:id="rId45"/>
    <p:sldId id="428" r:id="rId46"/>
    <p:sldId id="429" r:id="rId47"/>
    <p:sldId id="430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3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42EA-4D16-9259-9E92-2DC84D26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program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D1145-4F10-C796-FBD1-8E31D81B7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5400" y="2058955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 err="1"/>
              <a:t>Asslembly</a:t>
            </a:r>
            <a:r>
              <a:rPr lang="en-US" sz="2000" dirty="0"/>
              <a:t> language program consist of at least 3 segments</a:t>
            </a:r>
          </a:p>
          <a:p>
            <a:pPr marL="914400" lvl="2" indent="0"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A93458-E0F5-BE52-6489-BB0B8FD63C4A}"/>
              </a:ext>
            </a:extLst>
          </p:cNvPr>
          <p:cNvSpPr txBox="1">
            <a:spLocks/>
          </p:cNvSpPr>
          <p:nvPr/>
        </p:nvSpPr>
        <p:spPr>
          <a:xfrm>
            <a:off x="2471024" y="2995127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CODE SEGMENT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It contains assembly language instructions that perform the tasks that the program was designed to accomplish.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SEGMENT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Is used to store info (data) that needs to be processed by the instructions in 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STACK SEGMENT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Used to information temporarily 		</a:t>
            </a:r>
          </a:p>
          <a:p>
            <a:pPr marL="914400" lvl="2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9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D1DFC-4DE2-253F-72E6-554098D0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Origin and definition of the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0AA0A-6E8F-A366-79D2-4231BB9C6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68" y="1905000"/>
            <a:ext cx="10221244" cy="3777622"/>
          </a:xfrm>
        </p:spPr>
        <p:txBody>
          <a:bodyPr>
            <a:normAutofit fontScale="92500" lnSpcReduction="10000"/>
          </a:bodyPr>
          <a:lstStyle/>
          <a:p>
            <a:pPr marL="914400" lvl="2" indent="0">
              <a:buNone/>
            </a:pPr>
            <a:r>
              <a:rPr lang="en-US" sz="3200" dirty="0"/>
              <a:t>A segment is an area of memory that includes </a:t>
            </a:r>
            <a:r>
              <a:rPr lang="en-US" sz="3200" dirty="0" err="1"/>
              <a:t>upto</a:t>
            </a:r>
            <a:r>
              <a:rPr lang="en-US" sz="3200" dirty="0"/>
              <a:t> 64K bytes.</a:t>
            </a:r>
          </a:p>
          <a:p>
            <a:pPr marL="914400" lvl="2" indent="0">
              <a:buNone/>
            </a:pPr>
            <a:r>
              <a:rPr lang="en-US" sz="3200" b="1" dirty="0"/>
              <a:t>8085 micro processor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Address max. of 64K bytes of physical memory since it had only 16 pins for the address lines(2</a:t>
            </a:r>
            <a:r>
              <a:rPr lang="en-US" sz="3200" baseline="30000" dirty="0"/>
              <a:t>16</a:t>
            </a:r>
            <a:r>
              <a:rPr lang="en-US" sz="3200" dirty="0"/>
              <a:t> = 64K)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64K bytes of memory for all code, data and stock info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09854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2FED3-BA98-BD04-A819-9B01FD21D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8086 micro processor</a:t>
            </a:r>
          </a:p>
          <a:p>
            <a:pPr marL="0" indent="0">
              <a:buNone/>
            </a:pPr>
            <a:r>
              <a:rPr lang="en-US" sz="3200" dirty="0"/>
              <a:t>64K  bytes of memory assigned to each category</a:t>
            </a:r>
          </a:p>
          <a:p>
            <a:pPr marL="0" indent="0">
              <a:buNone/>
            </a:pPr>
            <a:r>
              <a:rPr lang="en-US" sz="3200" dirty="0"/>
              <a:t>Range of 1MB of memory because of its 20 address pins (2</a:t>
            </a:r>
            <a:r>
              <a:rPr lang="en-US" sz="3200" baseline="30000" dirty="0"/>
              <a:t>20</a:t>
            </a:r>
            <a:r>
              <a:rPr lang="en-US" sz="3200" dirty="0"/>
              <a:t> = 1megabyte)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12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4AE6-73BE-6803-1BB9-F54FBD96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295" y="624110"/>
            <a:ext cx="9868317" cy="1280890"/>
          </a:xfrm>
        </p:spPr>
        <p:txBody>
          <a:bodyPr/>
          <a:lstStyle/>
          <a:p>
            <a:r>
              <a:rPr lang="en-US" dirty="0"/>
              <a:t>PHYSICAL ADDRESS AND LOGICAL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6023F-692B-2F30-11DA-D6A4416CA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958" y="1652337"/>
            <a:ext cx="9996654" cy="42588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Physical Address: </a:t>
            </a:r>
            <a:r>
              <a:rPr lang="en-US" sz="2400" dirty="0"/>
              <a:t>20 bit address that is actually put on the address pins and decoded by the memory.</a:t>
            </a:r>
          </a:p>
          <a:p>
            <a:pPr marL="0" indent="0">
              <a:buNone/>
            </a:pPr>
            <a:r>
              <a:rPr lang="en-US" sz="2400" dirty="0"/>
              <a:t>The actual location in physical memory (RAM or ROM) where data is stored. </a:t>
            </a:r>
          </a:p>
          <a:p>
            <a:pPr marL="0" indent="0">
              <a:buNone/>
            </a:pPr>
            <a:r>
              <a:rPr lang="en-US" sz="2400" dirty="0"/>
              <a:t>Range is 00000H to FFFFFH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OFFSET Address: </a:t>
            </a:r>
          </a:p>
          <a:p>
            <a:pPr marL="0" indent="0">
              <a:buNone/>
            </a:pPr>
            <a:r>
              <a:rPr lang="en-US" sz="2400" dirty="0"/>
              <a:t>Location within a 64 Kbyte segment range.</a:t>
            </a:r>
          </a:p>
          <a:p>
            <a:pPr marL="0" indent="0">
              <a:buNone/>
            </a:pPr>
            <a:r>
              <a:rPr lang="en-US" sz="2400" dirty="0"/>
              <a:t>Range is from 0000H to FFFFH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350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104406-95FA-26E5-6CAB-F0F6FBBC8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133600"/>
            <a:ext cx="8915400" cy="3778250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Logical Address: </a:t>
            </a:r>
          </a:p>
          <a:p>
            <a:pPr marL="0" indent="0">
              <a:buNone/>
            </a:pPr>
            <a:r>
              <a:rPr lang="en-US" sz="2400" dirty="0"/>
              <a:t>An address generated by the CPU during program execution, consisting of a segment value and an offset address.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Physical address will be calculated by Segment address and Offset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Both Segment address and Offset size is 16 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 Physical address is calculated by Segment * 10h + offset address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C196E2-8067-8B12-9B6C-8B07842F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518" y="623888"/>
            <a:ext cx="9853095" cy="1281112"/>
          </a:xfrm>
        </p:spPr>
        <p:txBody>
          <a:bodyPr/>
          <a:lstStyle/>
          <a:p>
            <a:r>
              <a:rPr lang="en-US" dirty="0"/>
              <a:t>PHYSICAL ADDRESS AND LOGICAL ADDRESS</a:t>
            </a:r>
          </a:p>
        </p:txBody>
      </p:sp>
    </p:spTree>
    <p:extLst>
      <p:ext uri="{BB962C8B-B14F-4D97-AF65-F5344CB8AC3E}">
        <p14:creationId xmlns:p14="http://schemas.microsoft.com/office/powerpoint/2010/main" val="353293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5E7F-6BEB-18A1-F4ED-4C9FD37E5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0DC7D-1835-4801-BBB8-932AD00A7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621" y="2133600"/>
            <a:ext cx="10124991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Logical address always consist</a:t>
            </a:r>
          </a:p>
          <a:p>
            <a:pPr marL="0" indent="0">
              <a:buNone/>
            </a:pPr>
            <a:r>
              <a:rPr lang="en-US" sz="2800" dirty="0"/>
              <a:t> of CS and an IP</a:t>
            </a:r>
          </a:p>
          <a:p>
            <a:pPr marL="0" indent="0">
              <a:buNone/>
            </a:pPr>
            <a:r>
              <a:rPr lang="en-US" sz="2800" dirty="0"/>
              <a:t>Physical address is generated by shifting CS left </a:t>
            </a:r>
          </a:p>
          <a:p>
            <a:pPr marL="0" indent="0">
              <a:buNone/>
            </a:pPr>
            <a:r>
              <a:rPr lang="en-US" sz="2800" dirty="0"/>
              <a:t>one hex digit and then added it to IP. </a:t>
            </a:r>
          </a:p>
          <a:p>
            <a:pPr marL="0" indent="0">
              <a:buNone/>
            </a:pPr>
            <a:r>
              <a:rPr lang="en-US" sz="2800" dirty="0"/>
              <a:t>IP contains the offset address.</a:t>
            </a:r>
          </a:p>
          <a:p>
            <a:pPr marL="0" indent="0">
              <a:buNone/>
            </a:pPr>
            <a:r>
              <a:rPr lang="en-US" sz="2800" dirty="0"/>
              <a:t>Resulting 20 bit address is called the physical address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51D4A-4FF5-80F7-439D-B5CA34319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449" y="2133600"/>
            <a:ext cx="2972215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9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5379C-1D1B-A30F-98F7-BA61A1F4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Calculate Physical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C98B-715F-58A1-C3E7-8D4D2E178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590" y="1264555"/>
            <a:ext cx="10253327" cy="377762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Offset address is contained in IP. Here it is 95F3H</a:t>
            </a:r>
          </a:p>
          <a:p>
            <a:r>
              <a:rPr lang="en-US" sz="3200" dirty="0"/>
              <a:t>Logical address is CS:IP or 2500:95F3H</a:t>
            </a:r>
          </a:p>
          <a:p>
            <a:r>
              <a:rPr lang="en-US" sz="3200" dirty="0"/>
              <a:t>Physical address will be 25000+95F3 = 2E5F3H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31B26-F661-404B-6EB1-E2AE51B7B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328" y="1772163"/>
            <a:ext cx="2972215" cy="695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3E909E-0C49-B498-0DD7-A2ACA9D85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933" y="4675387"/>
            <a:ext cx="4763165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0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F63D8-744E-9CE5-BCC2-2741CFB7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988" y="367436"/>
            <a:ext cx="8911687" cy="1280890"/>
          </a:xfrm>
        </p:spPr>
        <p:txBody>
          <a:bodyPr/>
          <a:lstStyle/>
          <a:p>
            <a:r>
              <a:rPr lang="en-US" b="1" dirty="0"/>
              <a:t>Example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40A03A-6E53-1D93-515E-0C680F5B6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789" y="1648326"/>
            <a:ext cx="8053137" cy="283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96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0E9E-2E9C-64E3-1E5A-39B0269C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504" y="1153499"/>
            <a:ext cx="8911687" cy="1280890"/>
          </a:xfrm>
        </p:spPr>
        <p:txBody>
          <a:bodyPr/>
          <a:lstStyle/>
          <a:p>
            <a:r>
              <a:rPr lang="en-US" b="1" dirty="0"/>
              <a:t>Solution: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A024E-7255-A08F-CFCB-C6700FA73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3303373"/>
            <a:ext cx="8911687" cy="174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4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C944-1843-02D9-F2AF-87E32318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SEGMENT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FC1890-1398-523B-03F4-204631C5C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574" y="1985525"/>
            <a:ext cx="5305346" cy="213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0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2959F-0F8F-41E9-9978-66DBE8C0A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348" y="866274"/>
            <a:ext cx="9780512" cy="5044948"/>
          </a:xfrm>
        </p:spPr>
        <p:txBody>
          <a:bodyPr>
            <a:normAutofit/>
          </a:bodyPr>
          <a:lstStyle/>
          <a:p>
            <a:r>
              <a:rPr lang="en-US" sz="2800" dirty="0"/>
              <a:t>Assume that the offset for the data </a:t>
            </a:r>
          </a:p>
          <a:p>
            <a:pPr marL="0" indent="0">
              <a:buNone/>
            </a:pPr>
            <a:r>
              <a:rPr lang="en-US" sz="2800" dirty="0"/>
              <a:t>segment begins at 200H. The data is </a:t>
            </a:r>
          </a:p>
          <a:p>
            <a:pPr marL="0" indent="0">
              <a:buNone/>
            </a:pPr>
            <a:r>
              <a:rPr lang="en-US" sz="2800" dirty="0"/>
              <a:t>placed in memory locations:</a:t>
            </a:r>
          </a:p>
          <a:p>
            <a:r>
              <a:rPr lang="en-US" sz="2800" dirty="0"/>
              <a:t>Program can be rewritten as </a:t>
            </a:r>
          </a:p>
          <a:p>
            <a:pPr marL="0" indent="0">
              <a:buNone/>
            </a:pPr>
            <a:r>
              <a:rPr lang="en-US" sz="2800" dirty="0"/>
              <a:t>	follows: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80011-774F-1AC0-9A3B-954C7642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779" y="663513"/>
            <a:ext cx="3139081" cy="1872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06CAB3-E57A-4C6A-5DB4-418E98AA3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797" y="3888408"/>
            <a:ext cx="8410405" cy="230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29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19DF-768B-F3BD-7029-F2133ED65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CABDA-BF02-ECC6-5757-FECA27862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segment uses BX, SI and  DI as an offset registers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3C88D-A908-197F-AF51-60B4F70C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727" y="3428999"/>
            <a:ext cx="6657093" cy="227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50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DE2D-5DAF-679A-8605-149F55B4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and physical address in data segment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9EFE55-A319-1849-EE5F-A2F47E834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0" y="2129543"/>
            <a:ext cx="9390170" cy="410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04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B1E9-34A8-D3C7-3E06-FBC471A7A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3F7EB-4D66-7167-7711-25B28F0B5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579" y="1905000"/>
            <a:ext cx="10141033" cy="3777622"/>
          </a:xfrm>
        </p:spPr>
        <p:txBody>
          <a:bodyPr>
            <a:normAutofit/>
          </a:bodyPr>
          <a:lstStyle/>
          <a:p>
            <a:r>
              <a:rPr lang="en-US" sz="3200" dirty="0"/>
              <a:t>If DS = 7FA2H and offset is 438EH</a:t>
            </a:r>
          </a:p>
          <a:p>
            <a:pPr marL="0" indent="0">
              <a:buNone/>
            </a:pPr>
            <a:r>
              <a:rPr lang="en-US" sz="3200" dirty="0"/>
              <a:t>Calculate physical address, logical address, lower range and upper range of the data segment.</a:t>
            </a:r>
          </a:p>
        </p:txBody>
      </p:sp>
    </p:spTree>
    <p:extLst>
      <p:ext uri="{BB962C8B-B14F-4D97-AF65-F5344CB8AC3E}">
        <p14:creationId xmlns:p14="http://schemas.microsoft.com/office/powerpoint/2010/main" val="1732192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A36D-4E17-0B37-6265-275DA261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396B-4CD7-F94E-67EB-50D5801F0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A) 83DAE</a:t>
            </a:r>
          </a:p>
          <a:p>
            <a:r>
              <a:rPr lang="en-US" dirty="0"/>
              <a:t>B) 7FA2:438E</a:t>
            </a:r>
          </a:p>
          <a:p>
            <a:r>
              <a:rPr lang="en-US" dirty="0"/>
              <a:t>C) 7FA20</a:t>
            </a:r>
          </a:p>
          <a:p>
            <a:r>
              <a:rPr lang="en-US" dirty="0"/>
              <a:t>D) 8FA1F</a:t>
            </a:r>
          </a:p>
        </p:txBody>
      </p:sp>
    </p:spTree>
    <p:extLst>
      <p:ext uri="{BB962C8B-B14F-4D97-AF65-F5344CB8AC3E}">
        <p14:creationId xmlns:p14="http://schemas.microsoft.com/office/powerpoint/2010/main" val="3378077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D9B1-93EC-E6BA-7E2E-F93DC3B4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 ENDIAN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7E538-C9C1-93C3-D5DD-712E1410E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MOV AX, 35F3H		; LOAD 35F3H INTO AX</a:t>
            </a:r>
          </a:p>
          <a:p>
            <a:pPr marL="0" indent="0">
              <a:buNone/>
            </a:pPr>
            <a:r>
              <a:rPr lang="en-US" dirty="0"/>
              <a:t>MOV [1500]. AX		; COPY THE CONTENTS OF AX TO OFFSET 1500H</a:t>
            </a:r>
          </a:p>
          <a:p>
            <a:pPr marL="0" indent="0">
              <a:buNone/>
            </a:pPr>
            <a:r>
              <a:rPr lang="en-US" dirty="0"/>
              <a:t>Low byte goes to low memory location and high byte goes to high memory address.</a:t>
            </a:r>
          </a:p>
          <a:p>
            <a:pPr marL="0" indent="0">
              <a:buNone/>
            </a:pPr>
            <a:r>
              <a:rPr lang="en-US" dirty="0"/>
              <a:t>DS:1500 contains F3H</a:t>
            </a:r>
          </a:p>
          <a:p>
            <a:pPr marL="0" indent="0">
              <a:buNone/>
            </a:pPr>
            <a:r>
              <a:rPr lang="en-US" dirty="0"/>
              <a:t>DS:1501 contains 35H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A7669-A0B4-7D7F-54B2-3746A5917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182" y="4872025"/>
            <a:ext cx="7567460" cy="40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84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CE84-A917-CFC6-7EA0-12595BA2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Model x8086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E69E3-EB4C-7CBD-F6F0-1B1FF073F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 of an Assembly Language Program</a:t>
            </a:r>
          </a:p>
          <a:p>
            <a:r>
              <a:rPr lang="en-US" dirty="0"/>
              <a:t>.model small ; Select a memory model.</a:t>
            </a:r>
          </a:p>
          <a:p>
            <a:r>
              <a:rPr lang="en-US" dirty="0"/>
              <a:t>.stack </a:t>
            </a:r>
            <a:r>
              <a:rPr lang="en-US" dirty="0" err="1"/>
              <a:t>stack_size</a:t>
            </a:r>
            <a:r>
              <a:rPr lang="en-US" dirty="0"/>
              <a:t> ; Define the stack size</a:t>
            </a:r>
          </a:p>
          <a:p>
            <a:r>
              <a:rPr lang="en-US" dirty="0"/>
              <a:t>.data ; Variable and array declarations;</a:t>
            </a:r>
          </a:p>
          <a:p>
            <a:r>
              <a:rPr lang="en-US" dirty="0"/>
              <a:t>; Declare variables at this level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main proc ; Write the program main code at this level</a:t>
            </a:r>
          </a:p>
          <a:p>
            <a:r>
              <a:rPr lang="en-US" dirty="0"/>
              <a:t>main </a:t>
            </a:r>
            <a:r>
              <a:rPr lang="en-US" dirty="0" err="1"/>
              <a:t>endp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70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64BB-A29F-BA8C-BF90-74453FE5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C1D-E0F2-3F89-49BE-11CE9B8AE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the number of code and data segments a program can have.</a:t>
            </a:r>
          </a:p>
          <a:p>
            <a:r>
              <a:rPr lang="en-US" dirty="0"/>
              <a:t>Small: For 1 code and 1 data segment. Code and data are located in a single 64 KB segment. Well-suited for small programs that fit within the 64 KB limit.</a:t>
            </a:r>
          </a:p>
          <a:p>
            <a:r>
              <a:rPr lang="en-US" dirty="0"/>
              <a:t>Medium: for 1 data and more than 1 code segments. Code and data have their own separate 64 KB segments. Suitable for larger programs, providing more flexibility.</a:t>
            </a:r>
          </a:p>
          <a:p>
            <a:r>
              <a:rPr lang="en-US" dirty="0"/>
              <a:t>Large: for more than 1 code and data segments. Supports multiple code and data segments, each up to 64 KB in size. Useful for even larger programs, but with increased complexity.</a:t>
            </a:r>
          </a:p>
        </p:txBody>
      </p:sp>
    </p:spTree>
    <p:extLst>
      <p:ext uri="{BB962C8B-B14F-4D97-AF65-F5344CB8AC3E}">
        <p14:creationId xmlns:p14="http://schemas.microsoft.com/office/powerpoint/2010/main" val="2287266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004-B766-5839-7B14-D9F39B84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45D6-B9C9-6EC1-A29C-1016DD4C0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8086 assembly language programming, the .stack directive is used to define the size of the stack segment. The stack segment is a region of memory reserved for the stack, which is a data structure used for storing temporary data such as local variables and return addresses.</a:t>
            </a:r>
          </a:p>
          <a:p>
            <a:r>
              <a:rPr lang="en-US" dirty="0"/>
              <a:t>The syntax for specifying the stack size is:</a:t>
            </a:r>
          </a:p>
          <a:p>
            <a:r>
              <a:rPr lang="en-US" dirty="0"/>
              <a:t>.stack </a:t>
            </a:r>
            <a:r>
              <a:rPr lang="en-US" dirty="0" err="1"/>
              <a:t>size_in_bytes</a:t>
            </a:r>
            <a:endParaRPr lang="en-US" dirty="0"/>
          </a:p>
          <a:p>
            <a:r>
              <a:rPr lang="en-US" dirty="0"/>
              <a:t>The stack size should be chosen based on the needs of your program.</a:t>
            </a:r>
          </a:p>
        </p:txBody>
      </p:sp>
    </p:spTree>
    <p:extLst>
      <p:ext uri="{BB962C8B-B14F-4D97-AF65-F5344CB8AC3E}">
        <p14:creationId xmlns:p14="http://schemas.microsoft.com/office/powerpoint/2010/main" val="3340847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643F-3BFC-0ACB-1902-71D92D90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&amp;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90212-5632-E240-75D1-7C1A07101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8086 assembly language programming, the .code directive is used to specify the beginning of the code segment. The code segment is where the actual executable instructions of your program reside.</a:t>
            </a:r>
          </a:p>
          <a:p>
            <a:r>
              <a:rPr lang="en-US" dirty="0"/>
              <a:t>In 8086 assembly language programming, the .data directive is used to define the data segment. The data segment is a section of memory where you allocate and initialize variables that your program will use.</a:t>
            </a:r>
          </a:p>
          <a:p>
            <a:r>
              <a:rPr lang="en-US" dirty="0"/>
              <a:t>Examples: </a:t>
            </a:r>
          </a:p>
          <a:p>
            <a:r>
              <a:rPr lang="en-US" dirty="0"/>
              <a:t>message </a:t>
            </a:r>
            <a:r>
              <a:rPr lang="en-US" dirty="0" err="1"/>
              <a:t>db</a:t>
            </a:r>
            <a:r>
              <a:rPr lang="en-US" dirty="0"/>
              <a:t> 'Hello, Assembly!', '$'</a:t>
            </a:r>
          </a:p>
          <a:p>
            <a:r>
              <a:rPr lang="en-US" dirty="0"/>
              <a:t>count </a:t>
            </a:r>
            <a:r>
              <a:rPr lang="en-US" dirty="0" err="1"/>
              <a:t>dw</a:t>
            </a:r>
            <a:r>
              <a:rPr lang="en-US" dirty="0"/>
              <a:t>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725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EDBFE-9DBC-E552-0E2D-7BF805C59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430"/>
          <a:stretch>
            <a:fillRect/>
          </a:stretch>
        </p:blipFill>
        <p:spPr>
          <a:xfrm>
            <a:off x="2261936" y="689811"/>
            <a:ext cx="9448800" cy="561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08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Instruction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876300" y="1638300"/>
            <a:ext cx="10628312" cy="4272922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Each instruction must have elements that contain the information required by the CPU for execution.</a:t>
            </a:r>
          </a:p>
          <a:p>
            <a:pPr algn="just"/>
            <a:r>
              <a:rPr lang="en-US" sz="2400" dirty="0"/>
              <a:t>These elements can be:  </a:t>
            </a:r>
          </a:p>
          <a:p>
            <a:pPr lvl="1" algn="just"/>
            <a:r>
              <a:rPr lang="en-US" sz="2100" b="1" dirty="0"/>
              <a:t>Operation code</a:t>
            </a:r>
            <a:r>
              <a:rPr lang="en-US" sz="2100" dirty="0"/>
              <a:t>: Specifies the operation to be performed (e.g.. ADD, I/O). The operation is specified by a binary code, known as the operation code, or </a:t>
            </a:r>
            <a:r>
              <a:rPr lang="en-US" sz="2100" dirty="0" err="1"/>
              <a:t>opcode</a:t>
            </a:r>
            <a:r>
              <a:rPr lang="en-US" sz="2100" dirty="0"/>
              <a:t>. </a:t>
            </a:r>
          </a:p>
          <a:p>
            <a:pPr lvl="1" algn="just"/>
            <a:r>
              <a:rPr lang="en-US" sz="2100" b="1" dirty="0"/>
              <a:t>Source operand reference</a:t>
            </a:r>
            <a:r>
              <a:rPr lang="en-US" sz="2100" dirty="0"/>
              <a:t>: The operation may involve one or more source operands, that is, operands that are inputs for the operation. </a:t>
            </a:r>
          </a:p>
          <a:p>
            <a:pPr lvl="1" algn="just"/>
            <a:r>
              <a:rPr lang="en-US" sz="2100" b="1" dirty="0"/>
              <a:t>Result operand reference</a:t>
            </a:r>
            <a:r>
              <a:rPr lang="en-US" sz="2100" dirty="0"/>
              <a:t>: The operation may produce a result.  Also called destination operand.</a:t>
            </a:r>
          </a:p>
          <a:p>
            <a:pPr lvl="1" algn="just"/>
            <a:r>
              <a:rPr lang="en-US" sz="2100" b="1" dirty="0"/>
              <a:t>Next instruction reference</a:t>
            </a:r>
            <a:r>
              <a:rPr lang="en-US" sz="2100" dirty="0"/>
              <a:t>: This tells the CPU where to fetch the next instruction.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Representation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2971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Within the computer, each instruction is represented by a sequence of bits. </a:t>
            </a:r>
          </a:p>
          <a:p>
            <a:pPr algn="just"/>
            <a:r>
              <a:rPr lang="en-US" sz="2400" dirty="0"/>
              <a:t>16 bits instruction</a:t>
            </a:r>
          </a:p>
          <a:p>
            <a:pPr lvl="1" algn="just"/>
            <a:r>
              <a:rPr lang="en-US" sz="2000" dirty="0"/>
              <a:t>4 bit </a:t>
            </a:r>
            <a:r>
              <a:rPr lang="en-US" sz="2000" dirty="0" err="1"/>
              <a:t>opcode</a:t>
            </a:r>
            <a:r>
              <a:rPr lang="en-US" sz="2000" dirty="0"/>
              <a:t>, 6 bit operand 1, 6 bit operand 2</a:t>
            </a:r>
          </a:p>
          <a:p>
            <a:pPr lvl="1" algn="just"/>
            <a:r>
              <a:rPr lang="en-US" sz="2000" dirty="0"/>
              <a:t>4 bit </a:t>
            </a:r>
            <a:r>
              <a:rPr lang="en-US" sz="2000" dirty="0" err="1"/>
              <a:t>opcode</a:t>
            </a:r>
            <a:r>
              <a:rPr lang="en-US" sz="2000" dirty="0"/>
              <a:t>, 12 bit operand</a:t>
            </a:r>
          </a:p>
          <a:p>
            <a:pPr algn="just"/>
            <a:r>
              <a:rPr lang="en-US" sz="2400" dirty="0"/>
              <a:t>32 bits instruction</a:t>
            </a:r>
          </a:p>
          <a:p>
            <a:pPr algn="just"/>
            <a:r>
              <a:rPr lang="en-US" sz="2400" dirty="0"/>
              <a:t>64 bits instruction</a:t>
            </a:r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114800"/>
            <a:ext cx="5943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752600" y="54864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Figure: A Simple Instruction Format</a:t>
            </a:r>
          </a:p>
        </p:txBody>
      </p:sp>
      <p:pic>
        <p:nvPicPr>
          <p:cNvPr id="1669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5410200"/>
            <a:ext cx="40767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23622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Binary representations of machine instructions is difficult to remember. </a:t>
            </a:r>
          </a:p>
          <a:p>
            <a:pPr algn="just"/>
            <a:r>
              <a:rPr lang="en-US" sz="2400" dirty="0"/>
              <a:t>Use a symbolic representation of machine instructions. </a:t>
            </a:r>
          </a:p>
          <a:p>
            <a:pPr algn="just"/>
            <a:r>
              <a:rPr lang="en-US" sz="2400" dirty="0" err="1"/>
              <a:t>Opcodes</a:t>
            </a:r>
            <a:r>
              <a:rPr lang="en-US" sz="2400" dirty="0"/>
              <a:t> are represented by abbreviations, called mnemonics, that indicate the operation. Common examples include:</a:t>
            </a:r>
          </a:p>
        </p:txBody>
      </p:sp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38875" y="4095750"/>
            <a:ext cx="3048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8D7F-D142-9E57-A790-67BFB4EF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Rules To Follow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E35FA-90E6-F714-5BAA-C709C1B16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source and destination operands should be the same size.</a:t>
            </a:r>
          </a:p>
          <a:p>
            <a:r>
              <a:rPr lang="en-US" dirty="0"/>
              <a:t>Both operands cannot be segment registers</a:t>
            </a:r>
          </a:p>
          <a:p>
            <a:r>
              <a:rPr lang="en-US" dirty="0"/>
              <a:t>The destination operand cannot be a CS or an IP register</a:t>
            </a:r>
          </a:p>
          <a:p>
            <a:r>
              <a:rPr lang="en-US" dirty="0"/>
              <a:t>If the destination operand is a segment register, the source operand cannot be an immediate value.</a:t>
            </a:r>
          </a:p>
        </p:txBody>
      </p:sp>
    </p:spTree>
    <p:extLst>
      <p:ext uri="{BB962C8B-B14F-4D97-AF65-F5344CB8AC3E}">
        <p14:creationId xmlns:p14="http://schemas.microsoft.com/office/powerpoint/2010/main" val="663337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EDDEC-A865-AAB1-3C84-D675D0B8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0919-208F-A0A8-BB59-642D55234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07B33-1ABE-1A18-51CA-0C6E3372A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38" y="0"/>
            <a:ext cx="115179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63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B798-A5A5-6E95-E77A-A55112DC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2AEA0-3A4D-D27B-DCE4-6E802FFA3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2C4B3-4788-3916-9458-527962F31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23" y="0"/>
            <a:ext cx="117113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14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970A-778B-9785-FEB6-717F14A9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339E2-69CC-99F3-AE63-5189A2631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999C0-7AD3-D6C7-7232-13B000749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7" y="0"/>
            <a:ext cx="11452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70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5CC7-05BA-25FF-12DA-686CBEFA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AC34-B197-A2A1-7847-6038020D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0CBEC-71D8-FDDA-49BA-6B1E39ECF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8" y="0"/>
            <a:ext cx="11511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0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8976-704F-D924-9767-7F4CCF02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5F4B-FCC2-CA32-F38B-B70EAF917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E3852-2A52-E2C5-8111-DCB52ACE1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4"/>
            <a:ext cx="12192000" cy="685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96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C76A-FA44-7E59-FDCC-DA9553E72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BED60-EFEB-4F1E-100D-61B74ABC6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8DC26-2A21-EFD2-AD2F-FD1CF081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32" y="-19050"/>
            <a:ext cx="11771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0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A5ED-2732-6374-49B5-AE54213C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Address to Logical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F95E8-4169-1C04-B081-3747430D4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Size of Physical Address is 20bits. While 8086 has max size16 bits.</a:t>
            </a:r>
          </a:p>
          <a:p>
            <a:r>
              <a:rPr lang="en-US" dirty="0"/>
              <a:t>Physical address will be calculated by Segment address and Offset</a:t>
            </a:r>
          </a:p>
          <a:p>
            <a:r>
              <a:rPr lang="en-US" dirty="0"/>
              <a:t>Both Segment address and Offset size is 16 bits.</a:t>
            </a:r>
          </a:p>
          <a:p>
            <a:r>
              <a:rPr lang="en-US" dirty="0"/>
              <a:t>So Physical address is calculated by Segment * 10h + </a:t>
            </a:r>
            <a:r>
              <a:rPr lang="en-US"/>
              <a:t>offset address</a:t>
            </a:r>
          </a:p>
        </p:txBody>
      </p:sp>
    </p:spTree>
    <p:extLst>
      <p:ext uri="{BB962C8B-B14F-4D97-AF65-F5344CB8AC3E}">
        <p14:creationId xmlns:p14="http://schemas.microsoft.com/office/powerpoint/2010/main" val="413478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A617-AF31-E41A-B44C-506CAB8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EB8FDA-F8B8-B1E8-A36C-64BC245F2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5116" y="2358289"/>
            <a:ext cx="8528476" cy="213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87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4D62-2BD9-EFE5-922C-E4010F952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A88F2A-11C9-9BF8-0B0A-49C2CB482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7934" y="3222513"/>
            <a:ext cx="6677957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6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BFD7-C495-0133-9DDF-59191EB7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segment overrides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1824BC-6680-A4CD-1F7B-B8A1CA150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1038" y="2984355"/>
            <a:ext cx="8411749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25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51B6-6DCD-C8CE-3882-88EDC5F3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5B306F-3941-5C67-1EDC-68B9600FD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337" y="1299709"/>
            <a:ext cx="6847443" cy="536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480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">
            <a:extLst>
              <a:ext uri="{FF2B5EF4-FFF2-40B4-BE49-F238E27FC236}">
                <a16:creationId xmlns:a16="http://schemas.microsoft.com/office/drawing/2014/main" id="{2FB7CA32-CE30-5005-0076-A109E930F3F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905000"/>
            <a:ext cx="6578600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5">
            <a:extLst>
              <a:ext uri="{FF2B5EF4-FFF2-40B4-BE49-F238E27FC236}">
                <a16:creationId xmlns:a16="http://schemas.microsoft.com/office/drawing/2014/main" id="{4C6BA0D0-0649-8183-1D4D-8DA9A8037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2895601"/>
            <a:ext cx="14411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Carry flag</a:t>
            </a:r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8B844790-40DC-19FC-881B-F87B2CB43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1" y="3505201"/>
            <a:ext cx="147476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Parity flag</a:t>
            </a:r>
          </a:p>
        </p:txBody>
      </p:sp>
      <p:sp>
        <p:nvSpPr>
          <p:cNvPr id="11269" name="Rectangle 7">
            <a:extLst>
              <a:ext uri="{FF2B5EF4-FFF2-40B4-BE49-F238E27FC236}">
                <a16:creationId xmlns:a16="http://schemas.microsoft.com/office/drawing/2014/main" id="{DA39541B-F5AD-1FEC-1FD6-4450C42BE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1" y="4114801"/>
            <a:ext cx="191879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Auxiliary flag</a:t>
            </a:r>
          </a:p>
        </p:txBody>
      </p:sp>
      <p:sp>
        <p:nvSpPr>
          <p:cNvPr id="11270" name="Line 8">
            <a:extLst>
              <a:ext uri="{FF2B5EF4-FFF2-40B4-BE49-F238E27FC236}">
                <a16:creationId xmlns:a16="http://schemas.microsoft.com/office/drawing/2014/main" id="{E63C582D-2FF2-4C6D-3B1E-6AB90346F0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15400" y="2744788"/>
            <a:ext cx="0" cy="3794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1" name="Line 9">
            <a:extLst>
              <a:ext uri="{FF2B5EF4-FFF2-40B4-BE49-F238E27FC236}">
                <a16:creationId xmlns:a16="http://schemas.microsoft.com/office/drawing/2014/main" id="{78816547-2B90-2E4E-97CD-4BC251290E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5800" y="2744788"/>
            <a:ext cx="0" cy="9890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10">
            <a:extLst>
              <a:ext uri="{FF2B5EF4-FFF2-40B4-BE49-F238E27FC236}">
                <a16:creationId xmlns:a16="http://schemas.microsoft.com/office/drawing/2014/main" id="{D856A1EB-3657-A7B5-0D99-10B2CB879E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2744788"/>
            <a:ext cx="0" cy="15986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Rectangle 11">
            <a:extLst>
              <a:ext uri="{FF2B5EF4-FFF2-40B4-BE49-F238E27FC236}">
                <a16:creationId xmlns:a16="http://schemas.microsoft.com/office/drawing/2014/main" id="{D4A62E3B-612E-6C03-2D1E-AF711DBDC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6" y="4765676"/>
            <a:ext cx="76623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Zero</a:t>
            </a:r>
          </a:p>
        </p:txBody>
      </p:sp>
      <p:sp>
        <p:nvSpPr>
          <p:cNvPr id="11274" name="Line 12">
            <a:extLst>
              <a:ext uri="{FF2B5EF4-FFF2-40B4-BE49-F238E27FC236}">
                <a16:creationId xmlns:a16="http://schemas.microsoft.com/office/drawing/2014/main" id="{D0284A9B-5317-02DE-04C7-377B4EBF9D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2744788"/>
            <a:ext cx="0" cy="22082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Rectangle 13">
            <a:extLst>
              <a:ext uri="{FF2B5EF4-FFF2-40B4-BE49-F238E27FC236}">
                <a16:creationId xmlns:a16="http://schemas.microsoft.com/office/drawing/2014/main" id="{D94387A1-1BEB-8840-E0EA-68068261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048001"/>
            <a:ext cx="1365758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Overflow</a:t>
            </a:r>
          </a:p>
        </p:txBody>
      </p:sp>
      <p:sp>
        <p:nvSpPr>
          <p:cNvPr id="11276" name="Rectangle 14">
            <a:extLst>
              <a:ext uri="{FF2B5EF4-FFF2-40B4-BE49-F238E27FC236}">
                <a16:creationId xmlns:a16="http://schemas.microsoft.com/office/drawing/2014/main" id="{BD818EA6-FA8D-A7B8-2D46-B9A29EA6D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581401"/>
            <a:ext cx="134652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Direction</a:t>
            </a:r>
          </a:p>
        </p:txBody>
      </p:sp>
      <p:sp>
        <p:nvSpPr>
          <p:cNvPr id="11277" name="Line 15">
            <a:extLst>
              <a:ext uri="{FF2B5EF4-FFF2-40B4-BE49-F238E27FC236}">
                <a16:creationId xmlns:a16="http://schemas.microsoft.com/office/drawing/2014/main" id="{8F407200-26B5-BA09-FD5C-CFFA1A691B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2744788"/>
            <a:ext cx="0" cy="7604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Line 16">
            <a:extLst>
              <a:ext uri="{FF2B5EF4-FFF2-40B4-BE49-F238E27FC236}">
                <a16:creationId xmlns:a16="http://schemas.microsoft.com/office/drawing/2014/main" id="{41E241B6-58FA-4249-977B-97D5BE18C3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2744788"/>
            <a:ext cx="0" cy="12176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Rectangle 17">
            <a:extLst>
              <a:ext uri="{FF2B5EF4-FFF2-40B4-BE49-F238E27FC236}">
                <a16:creationId xmlns:a16="http://schemas.microsoft.com/office/drawing/2014/main" id="{F4DAE743-2144-A209-F581-15126E8AC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1" y="4114801"/>
            <a:ext cx="2140009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Interrupt enable</a:t>
            </a:r>
          </a:p>
        </p:txBody>
      </p:sp>
      <p:sp>
        <p:nvSpPr>
          <p:cNvPr id="11280" name="Line 18">
            <a:extLst>
              <a:ext uri="{FF2B5EF4-FFF2-40B4-BE49-F238E27FC236}">
                <a16:creationId xmlns:a16="http://schemas.microsoft.com/office/drawing/2014/main" id="{98A5B6E6-6305-3101-EB6D-8DD975DBE3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2744788"/>
            <a:ext cx="0" cy="15986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Rectangle 19">
            <a:extLst>
              <a:ext uri="{FF2B5EF4-FFF2-40B4-BE49-F238E27FC236}">
                <a16:creationId xmlns:a16="http://schemas.microsoft.com/office/drawing/2014/main" id="{82D8FEBB-D5B4-5BE1-C4DB-9E7C43E00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724401"/>
            <a:ext cx="7554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Times New Roman" panose="02020603050405020304" pitchFamily="18" charset="0"/>
              </a:rPr>
              <a:t>Trap</a:t>
            </a:r>
          </a:p>
        </p:txBody>
      </p:sp>
      <p:sp>
        <p:nvSpPr>
          <p:cNvPr id="11282" name="Line 20">
            <a:extLst>
              <a:ext uri="{FF2B5EF4-FFF2-40B4-BE49-F238E27FC236}">
                <a16:creationId xmlns:a16="http://schemas.microsoft.com/office/drawing/2014/main" id="{8C8C61DE-E3C4-FB80-5844-E6673E47C1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744788"/>
            <a:ext cx="0" cy="22844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Rectangle 21">
            <a:extLst>
              <a:ext uri="{FF2B5EF4-FFF2-40B4-BE49-F238E27FC236}">
                <a16:creationId xmlns:a16="http://schemas.microsoft.com/office/drawing/2014/main" id="{3B1257B7-15C3-899F-FF59-188957C78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6" y="5451476"/>
            <a:ext cx="750205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Sign</a:t>
            </a:r>
          </a:p>
        </p:txBody>
      </p:sp>
      <p:sp>
        <p:nvSpPr>
          <p:cNvPr id="11284" name="Line 22">
            <a:extLst>
              <a:ext uri="{FF2B5EF4-FFF2-40B4-BE49-F238E27FC236}">
                <a16:creationId xmlns:a16="http://schemas.microsoft.com/office/drawing/2014/main" id="{32D85E2C-A781-A537-F79E-973F1EF1C2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2744788"/>
            <a:ext cx="0" cy="2589212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5" name="Rectangle 23">
            <a:extLst>
              <a:ext uri="{FF2B5EF4-FFF2-40B4-BE49-F238E27FC236}">
                <a16:creationId xmlns:a16="http://schemas.microsoft.com/office/drawing/2014/main" id="{990E493C-EF6B-2367-8183-D2E1269A2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257801"/>
            <a:ext cx="2293898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6 are status flags</a:t>
            </a:r>
            <a:endParaRPr lang="en-US" altLang="en-US" sz="2400">
              <a:latin typeface="Times New Roman" panose="02020603050405020304" pitchFamily="18" charset="0"/>
            </a:endParaRPr>
          </a:p>
          <a:p>
            <a:r>
              <a:rPr lang="en-US" altLang="en-US" sz="2400">
                <a:latin typeface="Times New Roman" panose="02020603050405020304" pitchFamily="18" charset="0"/>
              </a:rPr>
              <a:t>3 are control flag</a:t>
            </a:r>
          </a:p>
        </p:txBody>
      </p:sp>
      <p:sp>
        <p:nvSpPr>
          <p:cNvPr id="30745" name="Rectangle 25">
            <a:extLst>
              <a:ext uri="{FF2B5EF4-FFF2-40B4-BE49-F238E27FC236}">
                <a16:creationId xmlns:a16="http://schemas.microsoft.com/office/drawing/2014/main" id="{57A351E7-E375-C984-6276-5216DD8DC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295400"/>
            <a:ext cx="2743200" cy="685800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lang="en-US" sz="3200" dirty="0">
                <a:latin typeface="Times New Roman" pitchFamily="18" charset="0"/>
              </a:rPr>
              <a:t>Flags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FE16A54-1BD8-75B5-86B2-B016EADF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7AFD29-5CAB-4C41-900D-E7106EF61D5F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38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685E497-8889-3311-8CD3-FFB67CF2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Status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A81B-0243-6437-57A7-5A1C4789131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marL="228600" indent="-228600" algn="just">
              <a:spcAft>
                <a:spcPts val="400"/>
              </a:spcAft>
              <a:buClr>
                <a:srgbClr val="727CA3"/>
              </a:buClr>
              <a:buNone/>
              <a:defRPr/>
            </a:pPr>
            <a:r>
              <a:rPr lang="en-US" sz="2000" dirty="0">
                <a:solidFill>
                  <a:prstClr val="black"/>
                </a:solidFill>
              </a:rPr>
              <a:t>1. </a:t>
            </a:r>
            <a:r>
              <a:rPr lang="en-US" sz="2000" b="1" dirty="0">
                <a:solidFill>
                  <a:prstClr val="black"/>
                </a:solidFill>
              </a:rPr>
              <a:t>Carry Flag: 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Carry Flag is set to 1 when there is an unsigned overflow. For example, when you add bytes 255 +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1 (result is not in range 0…255). When there is no overflow, this flag is set to 0.</a:t>
            </a:r>
            <a:r>
              <a:rPr lang="en-US" sz="2000" b="1" dirty="0">
                <a:solidFill>
                  <a:prstClr val="black"/>
                </a:solidFill>
              </a:rPr>
              <a:t>Examples: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The Carry Flag is set to 1 when there is a carry out from MSB on addition or there is a borrow into the MSB on subtraction. Also affected by shift and rotate instructions.</a:t>
            </a:r>
            <a:endParaRPr lang="en-US" sz="2000" b="1" dirty="0">
              <a:solidFill>
                <a:prstClr val="black"/>
              </a:solidFill>
            </a:endParaRP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0FFh + 11h = 110h (If a register can store only 1 byte, then where to store the carry generated by MSB?)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1800" dirty="0">
                <a:solidFill>
                  <a:prstClr val="black"/>
                </a:solidFill>
              </a:rPr>
              <a:t>1000 0001b – 1000 0010b = 11111111b (How processor would know a borrow is required to perform subtraction?)</a:t>
            </a:r>
          </a:p>
          <a:p>
            <a:pPr marL="274638" lvl="1" indent="0" algn="just">
              <a:spcAft>
                <a:spcPts val="400"/>
              </a:spcAft>
              <a:buClr>
                <a:srgbClr val="727CA3"/>
              </a:buClr>
              <a:buNone/>
              <a:defRPr/>
            </a:pPr>
            <a:endParaRPr lang="en-US" sz="1700" dirty="0">
              <a:solidFill>
                <a:prstClr val="black"/>
              </a:solidFill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89C26-5D37-98E3-D26B-C3E03E6D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4C28CAE-5A38-4D13-8312-A6C897E7DF55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39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EC5B09F-525F-5B9B-5BEB-E61CDE8E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2E2FB-6F85-2174-D3B5-D4E16B5EEF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marL="228600" indent="-228600" algn="just">
              <a:spcAft>
                <a:spcPts val="400"/>
              </a:spcAft>
              <a:buClr>
                <a:srgbClr val="727CA3"/>
              </a:buClr>
              <a:buNone/>
              <a:defRPr/>
            </a:pPr>
            <a:r>
              <a:rPr lang="en-US" sz="2000" dirty="0"/>
              <a:t>2. </a:t>
            </a:r>
            <a:r>
              <a:rPr lang="en-US" sz="2000" b="1" dirty="0">
                <a:solidFill>
                  <a:prstClr val="black"/>
                </a:solidFill>
              </a:rPr>
              <a:t>Parity Flag</a:t>
            </a:r>
            <a:r>
              <a:rPr lang="en-US" sz="2000" dirty="0">
                <a:solidFill>
                  <a:prstClr val="black"/>
                </a:solidFill>
              </a:rPr>
              <a:t>: 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Parity Flag is set to 1 when there is even number of ones in result, and to 0 when there is odd number of ones.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PE (Even Parity): If the byte of a result has even number of one bits. For Even parity, PF = 1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PO (Odd Parity): If the byte of a result has odd number of one bits. For Even parity, PF = 0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b="1" dirty="0">
                <a:solidFill>
                  <a:prstClr val="black"/>
                </a:solidFill>
              </a:rPr>
              <a:t>Examples: </a:t>
            </a:r>
          </a:p>
          <a:p>
            <a:pPr marL="503238" lvl="1" indent="-228600" algn="just">
              <a:spcAft>
                <a:spcPts val="400"/>
              </a:spcAft>
              <a:buClr>
                <a:srgbClr val="727CA3"/>
              </a:buClr>
              <a:defRPr/>
            </a:pPr>
            <a:r>
              <a:rPr lang="en-US" sz="2000" dirty="0">
                <a:solidFill>
                  <a:prstClr val="black"/>
                </a:solidFill>
              </a:rPr>
              <a:t>1000 0001b – 1000 0010b = 11111111b (Number of one’s in result = 8, so PF = 1)</a:t>
            </a:r>
          </a:p>
          <a:p>
            <a:pPr>
              <a:buFont typeface="Wingdings 3" panose="05040102010807070707" pitchFamily="18" charset="2"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E3A38-35E9-1E70-A85A-6BAA5D27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0E053CC-AC78-460A-BFD3-F16ADA66D907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40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44D9B0F1-253B-CC59-17C5-D7DC5A47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E32A7863-8A79-6A01-0C47-DE743DDC6B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en-US" sz="2000" dirty="0"/>
              <a:t>3</a:t>
            </a:r>
            <a:r>
              <a:rPr lang="en-US" altLang="en-US" sz="2000" b="1" dirty="0"/>
              <a:t>. Auxiliary Carry Flag</a:t>
            </a:r>
            <a:r>
              <a:rPr lang="en-US" altLang="en-US" sz="2000" dirty="0"/>
              <a:t>: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Auxiliary Flag is set to 1 when there is an unsigned overflow for low nibble (4 bits).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The Auxiliary Carry Flag is set to 1 if there is a carry out from bit 3 on addition, or a borrow into bit 3 on subtraction.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Used in Binary Coded Decimal (BCD) Operations.</a:t>
            </a:r>
          </a:p>
          <a:p>
            <a:pPr lvl="1" algn="just"/>
            <a:r>
              <a:rPr lang="en-US" altLang="en-US" sz="2000" b="1" dirty="0">
                <a:solidFill>
                  <a:schemeClr val="tx1"/>
                </a:solidFill>
              </a:rPr>
              <a:t>Examples: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1000 0001b – 0000 0010b = 01111111b (Borrow from bit 4 to bit 3)</a:t>
            </a:r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  <a:p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35442-2D5C-6BB5-2D72-6A13658A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FF6EF82-FA74-4796-B23B-A3BA1FE23A0F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41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0DF08B38-FC6A-40E1-4E00-BD66EE89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A4660580-9FB3-018F-D51C-10FEB3C7948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en-US" sz="2000" dirty="0"/>
              <a:t>4</a:t>
            </a:r>
            <a:r>
              <a:rPr lang="en-US" altLang="en-US" sz="2000" b="1" dirty="0"/>
              <a:t>. Zero Flag: 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</a:rPr>
              <a:t>Zero Flag is set when the result is zero.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</a:rPr>
              <a:t>Zero Flag is unset when result is non zero.</a:t>
            </a:r>
          </a:p>
          <a:p>
            <a:pPr lvl="1"/>
            <a:r>
              <a:rPr lang="en-US" altLang="en-US" sz="2000" b="1" dirty="0">
                <a:solidFill>
                  <a:schemeClr val="tx1"/>
                </a:solidFill>
              </a:rPr>
              <a:t>Examples:</a:t>
            </a:r>
          </a:p>
          <a:p>
            <a:pPr lvl="1">
              <a:buFont typeface="Wingdings 3" panose="05040102010807070707" pitchFamily="18" charset="2"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	0FFh – 0FFh = 00h </a:t>
            </a:r>
          </a:p>
          <a:p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C3E55-8999-1535-1D1E-E373D90A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E7BFEE-E068-469D-A59C-7F6DFEF94EB3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42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218394A-312E-FC63-F7D8-9A06890E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Contd..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E8DBFF35-5A77-EFC8-7805-2035CF94F35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1219201"/>
            <a:ext cx="8229600" cy="4937125"/>
          </a:xfrm>
        </p:spPr>
        <p:txBody>
          <a:bodyPr/>
          <a:lstStyle/>
          <a:p>
            <a:pPr marL="228600" indent="-228600" algn="just">
              <a:spcAft>
                <a:spcPts val="400"/>
              </a:spcAft>
              <a:buClr>
                <a:srgbClr val="727CA3"/>
              </a:buClr>
              <a:buNone/>
            </a:pPr>
            <a:r>
              <a:rPr lang="en-US" altLang="en-US" sz="2000" dirty="0">
                <a:solidFill>
                  <a:srgbClr val="000000"/>
                </a:solidFill>
              </a:rPr>
              <a:t>5</a:t>
            </a:r>
            <a:r>
              <a:rPr lang="en-US" altLang="en-US" sz="2000" b="1" dirty="0">
                <a:solidFill>
                  <a:srgbClr val="000000"/>
                </a:solidFill>
              </a:rPr>
              <a:t>. Sign Flag: </a:t>
            </a:r>
          </a:p>
          <a:p>
            <a:pPr lvl="1" algn="just"/>
            <a:r>
              <a:rPr lang="en-US" altLang="en-US" sz="2000" dirty="0">
                <a:solidFill>
                  <a:schemeClr val="tx1"/>
                </a:solidFill>
              </a:rPr>
              <a:t>Sign Flag is set to 1 when result is negative. When result is positive it is set to 0. This flag takes the value of the most significant bit.</a:t>
            </a:r>
          </a:p>
          <a:p>
            <a:pPr lvl="1" algn="just"/>
            <a:r>
              <a:rPr lang="en-US" altLang="en-US" sz="2000" b="1" dirty="0">
                <a:solidFill>
                  <a:schemeClr val="tx1"/>
                </a:solidFill>
              </a:rPr>
              <a:t>Examples:</a:t>
            </a:r>
          </a:p>
          <a:p>
            <a:pPr lvl="1" algn="just">
              <a:buFont typeface="Wingdings 3" panose="05040102010807070707" pitchFamily="18" charset="2"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	0FFh – 0FFh = 00h (MSB = 0, PF = 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1075D-BB87-8444-6EB8-978D8BE2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694520E-DD98-4C77-926B-D582628A65E1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43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>
            <a:extLst>
              <a:ext uri="{FF2B5EF4-FFF2-40B4-BE49-F238E27FC236}">
                <a16:creationId xmlns:a16="http://schemas.microsoft.com/office/drawing/2014/main" id="{5EA91B47-D159-DEDC-3736-399CC297E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1"/>
            <a:ext cx="7543800" cy="6397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Contd..</a:t>
            </a:r>
          </a:p>
        </p:txBody>
      </p:sp>
      <p:sp>
        <p:nvSpPr>
          <p:cNvPr id="39939" name="Rectangle 8">
            <a:extLst>
              <a:ext uri="{FF2B5EF4-FFF2-40B4-BE49-F238E27FC236}">
                <a16:creationId xmlns:a16="http://schemas.microsoft.com/office/drawing/2014/main" id="{D49EFB64-20B6-5105-122E-04BF196C3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0" y="1219200"/>
            <a:ext cx="8229600" cy="5029200"/>
          </a:xfrm>
        </p:spPr>
        <p:txBody>
          <a:bodyPr>
            <a:normAutofit/>
          </a:bodyPr>
          <a:lstStyle/>
          <a:p>
            <a:pPr marL="228600" indent="-228600" algn="just">
              <a:spcAft>
                <a:spcPts val="400"/>
              </a:spcAft>
              <a:buNone/>
              <a:defRPr/>
            </a:pPr>
            <a:r>
              <a:rPr lang="en-US" sz="2000" dirty="0"/>
              <a:t>6</a:t>
            </a:r>
            <a:r>
              <a:rPr lang="en-US" sz="2000" b="1" dirty="0"/>
              <a:t>. Overflow Flag: </a:t>
            </a:r>
          </a:p>
          <a:p>
            <a:pPr marL="228600" indent="-228600" algn="just">
              <a:spcAft>
                <a:spcPts val="400"/>
              </a:spcAft>
              <a:defRPr/>
            </a:pPr>
            <a:r>
              <a:rPr lang="en-US" sz="2000" b="1" dirty="0"/>
              <a:t>Overflow:</a:t>
            </a:r>
          </a:p>
          <a:p>
            <a:pPr marL="503238" lvl="1" indent="-228600" algn="just">
              <a:spcAft>
                <a:spcPts val="40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Range of numbers that can be represented in a computer is limited.</a:t>
            </a:r>
          </a:p>
          <a:p>
            <a:pPr marL="503238" lvl="1" indent="-228600" algn="just">
              <a:spcAft>
                <a:spcPts val="40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Overflow Flag is set to 1 when there is a signed overflow. For example, when you add bytes 100 + 50 (result is not in range -128…127).</a:t>
            </a:r>
          </a:p>
          <a:p>
            <a:pPr marL="228600" indent="-228600">
              <a:lnSpc>
                <a:spcPct val="80000"/>
              </a:lnSpc>
              <a:defRPr/>
            </a:pPr>
            <a:endParaRPr lang="en-US" sz="2000" dirty="0"/>
          </a:p>
          <a:p>
            <a:pPr marL="571500" indent="-571500">
              <a:lnSpc>
                <a:spcPct val="80000"/>
              </a:lnSpc>
              <a:defRPr/>
            </a:pPr>
            <a:endParaRPr lang="en-US" sz="2400" dirty="0"/>
          </a:p>
          <a:p>
            <a:pPr marL="571500" indent="-571500">
              <a:lnSpc>
                <a:spcPct val="80000"/>
              </a:lnSpc>
              <a:defRPr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66EE7-C19B-D547-54A1-F2CC85BC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2D0EF27-6412-4B44-87A0-2A0B241D4C46}" type="slidenum">
              <a:rPr lang="en-US" altLang="en-US">
                <a:solidFill>
                  <a:schemeClr val="tx2"/>
                </a:solidFill>
                <a:latin typeface="Gill Sans MT" panose="020B0502020104020203" pitchFamily="34" charset="0"/>
              </a:rPr>
              <a:pPr eaLnBrk="1" hangingPunct="1"/>
              <a:t>44</a:t>
            </a:fld>
            <a:endParaRPr lang="en-US" altLang="en-US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9D4D-FBBB-C442-4868-1237323CC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of flags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F36BA4-B15B-998F-021E-F24DB7AE9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9125" y="1905000"/>
            <a:ext cx="8242707" cy="326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40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9435-D3BE-263A-E0DD-D435B7E2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flags?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9B2BF4-94AA-C449-FE4F-7DB7863BF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839" b="37757"/>
          <a:stretch>
            <a:fillRect/>
          </a:stretch>
        </p:blipFill>
        <p:spPr>
          <a:xfrm>
            <a:off x="2733870" y="2712612"/>
            <a:ext cx="3734869" cy="128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356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BF7D-B1BA-720F-E235-DD18286B8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76FFE8-371E-8098-3891-F924AE0B4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3110" y="2342237"/>
            <a:ext cx="7203404" cy="219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400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652</TotalTime>
  <Words>1670</Words>
  <Application>Microsoft Office PowerPoint</Application>
  <PresentationFormat>Widescreen</PresentationFormat>
  <Paragraphs>193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Calibri</vt:lpstr>
      <vt:lpstr>Century Gothic</vt:lpstr>
      <vt:lpstr>Courier New</vt:lpstr>
      <vt:lpstr>Gill Sans MT</vt:lpstr>
      <vt:lpstr>Times New Roman</vt:lpstr>
      <vt:lpstr>Wingdings</vt:lpstr>
      <vt:lpstr>Wingdings 3</vt:lpstr>
      <vt:lpstr>Wisp</vt:lpstr>
      <vt:lpstr>Computer Organization &amp; Assembly Language</vt:lpstr>
      <vt:lpstr>Introduction to program segments</vt:lpstr>
      <vt:lpstr>Origin and definition of the segment</vt:lpstr>
      <vt:lpstr>PowerPoint Presentation</vt:lpstr>
      <vt:lpstr>PHYSICAL ADDRESS AND LOGICAL ADDRESS</vt:lpstr>
      <vt:lpstr>PHYSICAL ADDRESS AND LOGICAL ADDRESS</vt:lpstr>
      <vt:lpstr>Code Segment</vt:lpstr>
      <vt:lpstr>To Calculate Physical Address</vt:lpstr>
      <vt:lpstr>Example </vt:lpstr>
      <vt:lpstr>Solution:</vt:lpstr>
      <vt:lpstr>DATA SEGMENT</vt:lpstr>
      <vt:lpstr>PowerPoint Presentation</vt:lpstr>
      <vt:lpstr>DATA SEGMENT</vt:lpstr>
      <vt:lpstr>Logical and physical address in data segment</vt:lpstr>
      <vt:lpstr>Practice question </vt:lpstr>
      <vt:lpstr>SOLUTION</vt:lpstr>
      <vt:lpstr>LITTLE ENDIAN CONVENTION</vt:lpstr>
      <vt:lpstr>Programming Model x8086</vt:lpstr>
      <vt:lpstr>Model</vt:lpstr>
      <vt:lpstr>Stack</vt:lpstr>
      <vt:lpstr>Code &amp; Data</vt:lpstr>
      <vt:lpstr>PowerPoint Presentation</vt:lpstr>
      <vt:lpstr>Machine Instruction Elements</vt:lpstr>
      <vt:lpstr>Instruction Representation</vt:lpstr>
      <vt:lpstr>Contd..</vt:lpstr>
      <vt:lpstr>Some Rules To Follow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Address to Logical Address</vt:lpstr>
      <vt:lpstr>Example </vt:lpstr>
      <vt:lpstr>Solution </vt:lpstr>
      <vt:lpstr>Sample segment overrides </vt:lpstr>
      <vt:lpstr>Summary </vt:lpstr>
      <vt:lpstr>PowerPoint Presentation</vt:lpstr>
      <vt:lpstr>The Status Flags</vt:lpstr>
      <vt:lpstr>Contd..</vt:lpstr>
      <vt:lpstr>Contd..</vt:lpstr>
      <vt:lpstr>Contd..</vt:lpstr>
      <vt:lpstr>Contd..</vt:lpstr>
      <vt:lpstr>Contd..</vt:lpstr>
      <vt:lpstr>Status of flags</vt:lpstr>
      <vt:lpstr>Results of flags?</vt:lpstr>
      <vt:lpstr>Solution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Hina Tahir</cp:lastModifiedBy>
  <cp:revision>10</cp:revision>
  <dcterms:created xsi:type="dcterms:W3CDTF">2023-10-17T17:30:28Z</dcterms:created>
  <dcterms:modified xsi:type="dcterms:W3CDTF">2025-10-15T05:28:59Z</dcterms:modified>
</cp:coreProperties>
</file>