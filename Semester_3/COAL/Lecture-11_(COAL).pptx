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6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4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0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3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4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6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1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2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1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468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3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2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642CD-AAAD-4E54-BAD2-9AEC05630F5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54D1-B773-6DC6-6A36-C4903D076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Organization &amp; Assembly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092D9-7E8A-0F7D-03F8-2132B9F1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Lecture 11 </a:t>
            </a:r>
          </a:p>
          <a:p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72024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64ADE-C7CD-E6AB-0725-20340E3E9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Vector Table (IVT)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A7151-C78A-C44E-BB4B-A624A3D8C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processor uses the interrupt number to index the Interrupt Vector Table (IVT) to get the address of a special type of procedure called an Interrupt Service Routine (ISR).</a:t>
            </a:r>
          </a:p>
          <a:p>
            <a:r>
              <a:rPr lang="en-US" dirty="0"/>
              <a:t>There are 256 entries in IVT.</a:t>
            </a:r>
          </a:p>
          <a:p>
            <a:r>
              <a:rPr lang="en-US" dirty="0"/>
              <a:t>VT resides in memory at physical address 0x00000.</a:t>
            </a:r>
          </a:p>
          <a:p>
            <a:r>
              <a:rPr lang="en-US" dirty="0"/>
              <a:t>Each entry stores the logical address, which is 4 bytes; the total size of the IVT is 256 x 4B = 1 KB</a:t>
            </a:r>
          </a:p>
          <a:p>
            <a:r>
              <a:rPr lang="en-US" dirty="0"/>
              <a:t>Total Size is 1024B</a:t>
            </a:r>
          </a:p>
        </p:txBody>
      </p:sp>
    </p:spTree>
    <p:extLst>
      <p:ext uri="{BB962C8B-B14F-4D97-AF65-F5344CB8AC3E}">
        <p14:creationId xmlns:p14="http://schemas.microsoft.com/office/powerpoint/2010/main" val="28054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180D1-D395-5D51-8DC7-8953B5855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EC5885-C5EE-291F-F8C9-35F48B6A3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379" y="1033461"/>
            <a:ext cx="7515921" cy="5222929"/>
          </a:xfrm>
        </p:spPr>
      </p:pic>
    </p:spTree>
    <p:extLst>
      <p:ext uri="{BB962C8B-B14F-4D97-AF65-F5344CB8AC3E}">
        <p14:creationId xmlns:p14="http://schemas.microsoft.com/office/powerpoint/2010/main" val="1118018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6D5D-0541-AAD8-B6F0-9A8BF4E3B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 00 (divide error)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9EC10-E450-563D-3436-C8B029CEB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Invoked by the microprocessor whenever there are conditions(exception) that CPU is unable to handle</a:t>
            </a:r>
          </a:p>
          <a:p>
            <a:pPr marL="0" indent="0">
              <a:buNone/>
            </a:pPr>
            <a:r>
              <a:rPr lang="en-US" dirty="0" err="1"/>
              <a:t>i.e</a:t>
            </a:r>
            <a:r>
              <a:rPr lang="en-US" dirty="0"/>
              <a:t> divide a no. by zero</a:t>
            </a:r>
          </a:p>
          <a:p>
            <a:pPr marL="0" indent="0">
              <a:buNone/>
            </a:pPr>
            <a:r>
              <a:rPr lang="en-US" dirty="0"/>
              <a:t>If the quotient is too large to fit into the assigned register when executing a DIV instruction</a:t>
            </a:r>
          </a:p>
          <a:p>
            <a:pPr marL="0" indent="0">
              <a:buNone/>
            </a:pPr>
            <a:r>
              <a:rPr lang="en-US" dirty="0"/>
              <a:t>MOV AL,92</a:t>
            </a:r>
          </a:p>
          <a:p>
            <a:pPr marL="0" indent="0">
              <a:buNone/>
            </a:pPr>
            <a:r>
              <a:rPr lang="en-US" dirty="0"/>
              <a:t>SUB CL,CL</a:t>
            </a:r>
          </a:p>
          <a:p>
            <a:pPr marL="0" indent="0">
              <a:buNone/>
            </a:pPr>
            <a:r>
              <a:rPr lang="en-US" dirty="0"/>
              <a:t>DIV CL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MOV AX, 0FFFFH</a:t>
            </a:r>
          </a:p>
          <a:p>
            <a:pPr marL="0" indent="0">
              <a:buNone/>
            </a:pPr>
            <a:r>
              <a:rPr lang="en-US" dirty="0"/>
              <a:t>MOV BL,2</a:t>
            </a:r>
          </a:p>
          <a:p>
            <a:pPr marL="0" indent="0">
              <a:buNone/>
            </a:pPr>
            <a:r>
              <a:rPr lang="en-US" dirty="0"/>
              <a:t>DIV BL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159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D084-FC1A-0420-5795-AC79E12C0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HOOKING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416ED-B024-7E4C-D897-A070BA719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273" y="2002971"/>
            <a:ext cx="8915400" cy="3777622"/>
          </a:xfrm>
        </p:spPr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.model small</a:t>
            </a:r>
          </a:p>
          <a:p>
            <a:pPr marL="0" indent="0">
              <a:buNone/>
            </a:pPr>
            <a:r>
              <a:rPr lang="en-US" dirty="0"/>
              <a:t>.data</a:t>
            </a:r>
          </a:p>
          <a:p>
            <a:pPr marL="0" indent="0">
              <a:buNone/>
            </a:pPr>
            <a:r>
              <a:rPr lang="en-US" dirty="0"/>
              <a:t>.code</a:t>
            </a:r>
          </a:p>
          <a:p>
            <a:pPr marL="0" indent="0">
              <a:buNone/>
            </a:pPr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ax,0</a:t>
            </a:r>
          </a:p>
          <a:p>
            <a:pPr marL="0" indent="0">
              <a:buNone/>
            </a:pPr>
            <a:r>
              <a:rPr lang="en-US" dirty="0"/>
              <a:t>mov </a:t>
            </a:r>
            <a:r>
              <a:rPr lang="en-US" dirty="0" err="1"/>
              <a:t>es,ax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word </a:t>
            </a:r>
            <a:r>
              <a:rPr lang="en-US" dirty="0" err="1"/>
              <a:t>ptr</a:t>
            </a:r>
            <a:r>
              <a:rPr lang="en-US" dirty="0"/>
              <a:t> es:[0 * 4 + 0],isr0 ; offset address of ISR0</a:t>
            </a:r>
          </a:p>
          <a:p>
            <a:pPr marL="0" indent="0">
              <a:buNone/>
            </a:pPr>
            <a:r>
              <a:rPr lang="en-US" dirty="0"/>
              <a:t>mov word </a:t>
            </a:r>
            <a:r>
              <a:rPr lang="en-US" dirty="0" err="1"/>
              <a:t>ptr</a:t>
            </a:r>
            <a:r>
              <a:rPr lang="en-US" dirty="0"/>
              <a:t> es:[ 0 * 4 + 2],cs ; Segment address of ISR0</a:t>
            </a:r>
          </a:p>
          <a:p>
            <a:pPr marL="0" indent="0">
              <a:buNone/>
            </a:pPr>
            <a:r>
              <a:rPr lang="en-US" dirty="0"/>
              <a:t>mov ax,100</a:t>
            </a:r>
          </a:p>
          <a:p>
            <a:pPr marL="0" indent="0">
              <a:buNone/>
            </a:pPr>
            <a:r>
              <a:rPr lang="en-US" dirty="0"/>
              <a:t>mov bl,0</a:t>
            </a:r>
          </a:p>
          <a:p>
            <a:pPr marL="0" indent="0">
              <a:buNone/>
            </a:pPr>
            <a:r>
              <a:rPr lang="en-US" dirty="0"/>
              <a:t>div bl ;Dividing a number by zero to check if the hooking</a:t>
            </a:r>
          </a:p>
          <a:p>
            <a:pPr marL="0" indent="0">
              <a:buNone/>
            </a:pPr>
            <a:r>
              <a:rPr lang="en-US" dirty="0"/>
              <a:t>.exit</a:t>
            </a:r>
          </a:p>
          <a:p>
            <a:pPr marL="0" indent="0">
              <a:buNone/>
            </a:pPr>
            <a:r>
              <a:rPr lang="en-US" dirty="0"/>
              <a:t>ISR0 proc</a:t>
            </a:r>
          </a:p>
          <a:p>
            <a:pPr marL="0" indent="0">
              <a:buNone/>
            </a:pPr>
            <a:r>
              <a:rPr lang="en-US" dirty="0" err="1"/>
              <a:t>jmp</a:t>
            </a:r>
            <a:r>
              <a:rPr lang="en-US" dirty="0"/>
              <a:t> l@1</a:t>
            </a:r>
          </a:p>
          <a:p>
            <a:pPr marL="0" indent="0">
              <a:buNone/>
            </a:pPr>
            <a:r>
              <a:rPr lang="en-US" dirty="0"/>
              <a:t>msg: </a:t>
            </a:r>
            <a:r>
              <a:rPr lang="en-US" dirty="0" err="1"/>
              <a:t>db</a:t>
            </a:r>
            <a:r>
              <a:rPr lang="en-US" dirty="0"/>
              <a:t> "Divide by Zero Exception!$"</a:t>
            </a:r>
          </a:p>
          <a:p>
            <a:pPr marL="0" indent="0">
              <a:buNone/>
            </a:pPr>
            <a:r>
              <a:rPr lang="en-US" dirty="0"/>
              <a:t>l@1:</a:t>
            </a:r>
          </a:p>
          <a:p>
            <a:pPr marL="0" indent="0">
              <a:buNone/>
            </a:pPr>
            <a:r>
              <a:rPr lang="en-US" dirty="0"/>
              <a:t>mov </a:t>
            </a:r>
            <a:r>
              <a:rPr lang="en-US" dirty="0" err="1"/>
              <a:t>dx,offset</a:t>
            </a:r>
            <a:r>
              <a:rPr lang="en-US" dirty="0"/>
              <a:t> msg</a:t>
            </a:r>
          </a:p>
          <a:p>
            <a:pPr marL="0" indent="0">
              <a:buNone/>
            </a:pPr>
            <a:r>
              <a:rPr lang="en-US" dirty="0"/>
              <a:t>mov ah,9</a:t>
            </a:r>
          </a:p>
          <a:p>
            <a:pPr marL="0" indent="0">
              <a:buNone/>
            </a:pPr>
            <a:r>
              <a:rPr lang="en-US" dirty="0"/>
              <a:t>int 0x21 </a:t>
            </a:r>
          </a:p>
          <a:p>
            <a:pPr marL="0" indent="0">
              <a:buNone/>
            </a:pPr>
            <a:r>
              <a:rPr lang="en-US" dirty="0"/>
              <a:t>IRET</a:t>
            </a:r>
          </a:p>
          <a:p>
            <a:pPr marL="0" indent="0">
              <a:buNone/>
            </a:pPr>
            <a:r>
              <a:rPr lang="en-US" dirty="0"/>
              <a:t>ISR0 </a:t>
            </a:r>
            <a:r>
              <a:rPr lang="en-US" dirty="0" err="1"/>
              <a:t>endp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50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8795-F57F-829A-660B-1C803F89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 04(signed number overflow)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D5921-715D-822D-947F-C1BE03522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Invoked by signed number overflow</a:t>
            </a:r>
          </a:p>
          <a:p>
            <a:pPr marL="0" indent="0">
              <a:buNone/>
            </a:pPr>
            <a:r>
              <a:rPr lang="en-US" dirty="0"/>
              <a:t>INTO instruction ; CPU will activate INT 04 if OF=1</a:t>
            </a:r>
          </a:p>
          <a:p>
            <a:pPr marL="0" indent="0">
              <a:buNone/>
            </a:pPr>
            <a:r>
              <a:rPr lang="en-US" dirty="0"/>
              <a:t>If OF=0   ; INTO  acts as NOP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Mov  AL, DATA1		; DATA1=64</a:t>
            </a:r>
          </a:p>
          <a:p>
            <a:pPr marL="0" indent="0">
              <a:buNone/>
            </a:pPr>
            <a:r>
              <a:rPr lang="en-US" dirty="0"/>
              <a:t>MOV BL DATA2		;DATA2=64</a:t>
            </a:r>
          </a:p>
          <a:p>
            <a:pPr marL="0" indent="0">
              <a:buNone/>
            </a:pPr>
            <a:r>
              <a:rPr lang="en-US" dirty="0"/>
              <a:t>ADD AL, BL</a:t>
            </a:r>
          </a:p>
          <a:p>
            <a:pPr marL="0" indent="0">
              <a:buNone/>
            </a:pPr>
            <a:r>
              <a:rPr lang="en-US" dirty="0"/>
              <a:t>INTO				;processor jump to physical location 00010h</a:t>
            </a:r>
          </a:p>
        </p:txBody>
      </p:sp>
    </p:spTree>
    <p:extLst>
      <p:ext uri="{BB962C8B-B14F-4D97-AF65-F5344CB8AC3E}">
        <p14:creationId xmlns:p14="http://schemas.microsoft.com/office/powerpoint/2010/main" val="141103995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5302</TotalTime>
  <Words>339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Wingdings 3</vt:lpstr>
      <vt:lpstr>Wisp</vt:lpstr>
      <vt:lpstr>Computer Organization &amp; Assembly Language</vt:lpstr>
      <vt:lpstr>Interrupt Vector Table (IVT)</vt:lpstr>
      <vt:lpstr>PowerPoint Presentation</vt:lpstr>
      <vt:lpstr>INT 00 (divide error)</vt:lpstr>
      <vt:lpstr>INTERRUPT HOOKING</vt:lpstr>
      <vt:lpstr>INT 04(signed number overflow)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Hina Tahir</cp:lastModifiedBy>
  <cp:revision>15</cp:revision>
  <dcterms:created xsi:type="dcterms:W3CDTF">2023-10-17T17:30:28Z</dcterms:created>
  <dcterms:modified xsi:type="dcterms:W3CDTF">2025-12-10T18:03:07Z</dcterms:modified>
</cp:coreProperties>
</file>