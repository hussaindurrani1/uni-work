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6"/>
  </p:notesMasterIdLst>
  <p:sldIdLst>
    <p:sldId id="256" r:id="rId2"/>
    <p:sldId id="365" r:id="rId3"/>
    <p:sldId id="342" r:id="rId4"/>
    <p:sldId id="346" r:id="rId5"/>
    <p:sldId id="347" r:id="rId6"/>
    <p:sldId id="345" r:id="rId7"/>
    <p:sldId id="350" r:id="rId8"/>
    <p:sldId id="366" r:id="rId9"/>
    <p:sldId id="351" r:id="rId10"/>
    <p:sldId id="352" r:id="rId11"/>
    <p:sldId id="353" r:id="rId12"/>
    <p:sldId id="354" r:id="rId13"/>
    <p:sldId id="357" r:id="rId14"/>
    <p:sldId id="364" r:id="rId1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24" autoAdjust="0"/>
    <p:restoredTop sz="94660"/>
  </p:normalViewPr>
  <p:slideViewPr>
    <p:cSldViewPr snapToGrid="0">
      <p:cViewPr varScale="1">
        <p:scale>
          <a:sx n="82" d="100"/>
          <a:sy n="82" d="100"/>
        </p:scale>
        <p:origin x="715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1E59307-FD9A-4506-868F-38EAB1970A9E}" type="datetimeFigureOut">
              <a:rPr lang="en-US" smtClean="0"/>
              <a:t>10/1/2025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C4DD0BA-05A3-4E41-BF9C-58D718839F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91892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Register details covered in later slides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0AB212B-14B6-45DE-B243-80E89BC63FF1}" type="slidenum">
              <a:rPr lang="en-US" smtClean="0"/>
              <a:pPr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337252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89213" y="2514600"/>
            <a:ext cx="8915399" cy="226278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89213" y="4777379"/>
            <a:ext cx="8915399" cy="1126283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C642CD-AAAD-4E54-BAD2-9AEC05630F5D}" type="datetimeFigureOut">
              <a:rPr lang="en-US" smtClean="0"/>
              <a:t>10/1/2025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Freeform 6"/>
          <p:cNvSpPr/>
          <p:nvPr/>
        </p:nvSpPr>
        <p:spPr bwMode="auto">
          <a:xfrm>
            <a:off x="0" y="4323810"/>
            <a:ext cx="1744652" cy="778589"/>
          </a:xfrm>
          <a:custGeom>
            <a:avLst/>
            <a:gdLst/>
            <a:ahLst/>
            <a:cxnLst/>
            <a:rect l="0" t="0" r="r" b="b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4529540"/>
            <a:ext cx="779767" cy="365125"/>
          </a:xfrm>
        </p:spPr>
        <p:txBody>
          <a:bodyPr/>
          <a:lstStyle/>
          <a:p>
            <a:fld id="{093D7721-5747-4536-87D9-064E5816BE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134064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128089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9212" y="2133600"/>
            <a:ext cx="8915400" cy="377762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C642CD-AAAD-4E54-BAD2-9AEC05630F5D}" type="datetimeFigureOut">
              <a:rPr lang="en-US" smtClean="0"/>
              <a:t>10/1/2025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3D7721-5747-4536-87D9-064E5816BE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33074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2058750"/>
            <a:ext cx="8915399" cy="14688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3530129"/>
            <a:ext cx="8915399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C642CD-AAAD-4E54-BAD2-9AEC05630F5D}" type="datetimeFigureOut">
              <a:rPr lang="en-US" smtClean="0"/>
              <a:t>10/1/2025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093D7721-5747-4536-87D9-064E5816BE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27759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589212" y="2133600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190747" y="2126222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C642CD-AAAD-4E54-BAD2-9AEC05630F5D}" type="datetimeFigureOut">
              <a:rPr lang="en-US" smtClean="0"/>
              <a:t>10/1/2025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093D7721-5747-4536-87D9-064E5816BE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493689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39373" y="1972703"/>
            <a:ext cx="399273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89212" y="2548966"/>
            <a:ext cx="4342893" cy="335406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506629" y="1969475"/>
            <a:ext cx="399900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166957" y="2545738"/>
            <a:ext cx="4338674" cy="335406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C642CD-AAAD-4E54-BAD2-9AEC05630F5D}" type="datetimeFigureOut">
              <a:rPr lang="en-US" smtClean="0"/>
              <a:t>10/1/2025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2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093D7721-5747-4536-87D9-064E5816BE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62418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C642CD-AAAD-4E54-BAD2-9AEC05630F5D}" type="datetimeFigureOut">
              <a:rPr lang="en-US" smtClean="0"/>
              <a:t>10/1/2025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3D7721-5747-4536-87D9-064E5816BE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136167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C642CD-AAAD-4E54-BAD2-9AEC05630F5D}" type="datetimeFigureOut">
              <a:rPr lang="en-US" smtClean="0"/>
              <a:t>10/1/2025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3D7721-5747-4536-87D9-064E5816BE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371199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446088"/>
            <a:ext cx="3505199" cy="976312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23012" y="446088"/>
            <a:ext cx="5181600" cy="5414963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2" y="1598613"/>
            <a:ext cx="3505199" cy="426243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C642CD-AAAD-4E54-BAD2-9AEC05630F5D}" type="datetimeFigureOut">
              <a:rPr lang="en-US" smtClean="0"/>
              <a:t>10/1/2025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3D7721-5747-4536-87D9-064E5816BE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142346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4800600"/>
            <a:ext cx="89154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589212" y="634965"/>
            <a:ext cx="8915400" cy="385497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367338"/>
            <a:ext cx="8915400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C642CD-AAAD-4E54-BAD2-9AEC05630F5D}" type="datetimeFigureOut">
              <a:rPr lang="en-US" smtClean="0"/>
              <a:t>10/1/2025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093D7721-5747-4536-87D9-064E5816BE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351522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09600"/>
            <a:ext cx="8915399" cy="311704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C642CD-AAAD-4E54-BAD2-9AEC05630F5D}" type="datetimeFigureOut">
              <a:rPr lang="en-US" smtClean="0"/>
              <a:t>10/1/2025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093D7721-5747-4536-87D9-064E5816BE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197911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3275012" y="3505200"/>
            <a:ext cx="753655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C642CD-AAAD-4E54-BAD2-9AEC05630F5D}" type="datetimeFigureOut">
              <a:rPr lang="en-US" smtClean="0"/>
              <a:t>10/1/2025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093D7721-5747-4536-87D9-064E5816BE77}" type="slidenum">
              <a:rPr lang="en-US" smtClean="0"/>
              <a:t>‹#›</a:t>
            </a:fld>
            <a:endParaRPr lang="en-US"/>
          </a:p>
        </p:txBody>
      </p:sp>
      <p:sp>
        <p:nvSpPr>
          <p:cNvPr id="14" name="TextBox 13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3911178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2438400"/>
            <a:ext cx="8915400" cy="2724845"/>
          </a:xfrm>
        </p:spPr>
        <p:txBody>
          <a:bodyPr anchor="b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C642CD-AAAD-4E54-BAD2-9AEC05630F5D}" type="datetimeFigureOut">
              <a:rPr lang="en-US" smtClean="0"/>
              <a:t>10/1/2025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093D7721-5747-4536-87D9-064E5816BE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230168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C642CD-AAAD-4E54-BAD2-9AEC05630F5D}" type="datetimeFigureOut">
              <a:rPr lang="en-US" smtClean="0"/>
              <a:t>10/1/2025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093D7721-5747-4536-87D9-064E5816BE77}" type="slidenum">
              <a:rPr lang="en-US" smtClean="0"/>
              <a:t>‹#›</a:t>
            </a:fld>
            <a:endParaRPr lang="en-US"/>
          </a:p>
        </p:txBody>
      </p:sp>
      <p:sp>
        <p:nvSpPr>
          <p:cNvPr id="17" name="TextBox 16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52468861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27407"/>
            <a:ext cx="8915399" cy="2880020"/>
          </a:xfrm>
        </p:spPr>
        <p:txBody>
          <a:bodyPr anchor="ctr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C642CD-AAAD-4E54-BAD2-9AEC05630F5D}" type="datetimeFigureOut">
              <a:rPr lang="en-US" smtClean="0"/>
              <a:t>10/1/2025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093D7721-5747-4536-87D9-064E5816BE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803337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C642CD-AAAD-4E54-BAD2-9AEC05630F5D}" type="datetimeFigureOut">
              <a:rPr lang="en-US" smtClean="0"/>
              <a:t>10/1/2025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3D7721-5747-4536-87D9-064E5816BE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236242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94812" y="627405"/>
            <a:ext cx="2207601" cy="5283817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89212" y="627405"/>
            <a:ext cx="6477000" cy="528381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C642CD-AAAD-4E54-BAD2-9AEC05630F5D}" type="datetimeFigureOut">
              <a:rPr lang="en-US" smtClean="0"/>
              <a:t>10/1/2025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3D7721-5747-4536-87D9-064E5816BE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12128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/>
          <p:cNvGrpSpPr/>
          <p:nvPr/>
        </p:nvGrpSpPr>
        <p:grpSpPr>
          <a:xfrm>
            <a:off x="1" y="228600"/>
            <a:ext cx="2851516" cy="6638628"/>
            <a:chOff x="2487613" y="285750"/>
            <a:chExt cx="2428875" cy="5654676"/>
          </a:xfrm>
        </p:grpSpPr>
        <p:sp>
          <p:nvSpPr>
            <p:cNvPr id="24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5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6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7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8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9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0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1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2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3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4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5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</p:grpSp>
      <p:grpSp>
        <p:nvGrpSpPr>
          <p:cNvPr id="10" name="Group 9"/>
          <p:cNvGrpSpPr/>
          <p:nvPr/>
        </p:nvGrpSpPr>
        <p:grpSpPr>
          <a:xfrm>
            <a:off x="27221" y="-786"/>
            <a:ext cx="2356674" cy="6854039"/>
            <a:chOff x="6627813" y="194833"/>
            <a:chExt cx="1952625" cy="5678918"/>
          </a:xfrm>
        </p:grpSpPr>
        <p:sp>
          <p:nvSpPr>
            <p:cNvPr id="11" name="Freeform 27"/>
            <p:cNvSpPr/>
            <p:nvPr/>
          </p:nvSpPr>
          <p:spPr bwMode="auto">
            <a:xfrm>
              <a:off x="6627813" y="194833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2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3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4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5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6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7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8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9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0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1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2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</p:grpSp>
      <p:sp>
        <p:nvSpPr>
          <p:cNvPr id="7" name="Rectangle 6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92924" y="624110"/>
            <a:ext cx="8911687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2133600"/>
            <a:ext cx="8915400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7C642CD-AAAD-4E54-BAD2-9AEC05630F5D}" type="datetimeFigureOut">
              <a:rPr lang="en-US" smtClean="0"/>
              <a:t>10/1/2025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531812" y="787782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rgbClr val="FEFFFF"/>
                </a:solidFill>
              </a:defRPr>
            </a:lvl1pPr>
          </a:lstStyle>
          <a:p>
            <a:fld id="{093D7721-5747-4536-87D9-064E5816BE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99648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gif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wmf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wmf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6D54D1-B773-6DC6-6A36-C4903D07685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Computer Organization &amp; Assembly Language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E0092D9-7E8A-0F7D-03F8-2132B9F1B4B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US" sz="4000" b="1" dirty="0"/>
              <a:t>Lecture 2</a:t>
            </a:r>
          </a:p>
        </p:txBody>
      </p:sp>
    </p:spTree>
    <p:extLst>
      <p:ext uri="{BB962C8B-B14F-4D97-AF65-F5344CB8AC3E}">
        <p14:creationId xmlns:p14="http://schemas.microsoft.com/office/powerpoint/2010/main" val="372024238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AB3B42-053C-5B18-20F9-788E2B752F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91068" y="316200"/>
            <a:ext cx="8911687" cy="1280890"/>
          </a:xfrm>
        </p:spPr>
        <p:txBody>
          <a:bodyPr/>
          <a:lstStyle/>
          <a:p>
            <a:r>
              <a:rPr lang="en-US" dirty="0"/>
              <a:t>What is pipelining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B8E9D4C2-6E5E-3668-0363-EC389317722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44383" y="2986275"/>
            <a:ext cx="6538527" cy="2987299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49BBC797-C209-17B0-D378-1B0DD096BD90}"/>
              </a:ext>
            </a:extLst>
          </p:cNvPr>
          <p:cNvSpPr txBox="1"/>
          <p:nvPr/>
        </p:nvSpPr>
        <p:spPr>
          <a:xfrm>
            <a:off x="2712876" y="1341626"/>
            <a:ext cx="7868038" cy="18774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/>
              <a:t> In a system with pipelining, the data and address buses are busy transferring data while the CPU is processing information, thereby increasing the effective processing power of the microproces­sor. </a:t>
            </a:r>
            <a:endParaRPr lang="en-PK" sz="2000" dirty="0"/>
          </a:p>
          <a:p>
            <a:endParaRPr lang="en-PK" sz="2000" dirty="0"/>
          </a:p>
        </p:txBody>
      </p:sp>
    </p:spTree>
    <p:extLst>
      <p:ext uri="{BB962C8B-B14F-4D97-AF65-F5344CB8AC3E}">
        <p14:creationId xmlns:p14="http://schemas.microsoft.com/office/powerpoint/2010/main" val="75165184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CPU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3</a:t>
            </a:fld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1"/>
          </p:nvPr>
        </p:nvSpPr>
        <p:spPr/>
        <p:txBody>
          <a:bodyPr>
            <a:normAutofit fontScale="92500" lnSpcReduction="20000"/>
          </a:bodyPr>
          <a:lstStyle/>
          <a:p>
            <a:pPr algn="just"/>
            <a:r>
              <a:rPr lang="en-US" sz="2400" dirty="0"/>
              <a:t>Brain of Computer; controls all operations</a:t>
            </a:r>
          </a:p>
          <a:p>
            <a:pPr lvl="1" algn="just"/>
            <a:r>
              <a:rPr lang="en-US" sz="2100" dirty="0"/>
              <a:t>Uses Memory Circuits to store information</a:t>
            </a:r>
          </a:p>
          <a:p>
            <a:pPr lvl="1" algn="just"/>
            <a:r>
              <a:rPr lang="en-US" sz="2100" dirty="0"/>
              <a:t>Uses I/O Circuits to communicate with I/O Devices</a:t>
            </a:r>
          </a:p>
          <a:p>
            <a:pPr algn="just"/>
            <a:r>
              <a:rPr lang="en-US" sz="2400" dirty="0"/>
              <a:t>Executes programs stored in memory</a:t>
            </a:r>
          </a:p>
          <a:p>
            <a:pPr lvl="1" algn="just"/>
            <a:r>
              <a:rPr lang="en-US" sz="2100" dirty="0"/>
              <a:t>System programs</a:t>
            </a:r>
          </a:p>
          <a:p>
            <a:pPr lvl="1" algn="just"/>
            <a:r>
              <a:rPr lang="en-US" sz="2100" dirty="0"/>
              <a:t>Application programs</a:t>
            </a:r>
          </a:p>
          <a:p>
            <a:pPr algn="just"/>
            <a:r>
              <a:rPr lang="en-US" sz="2400" b="1" dirty="0"/>
              <a:t>Instruction Set: </a:t>
            </a:r>
            <a:r>
              <a:rPr lang="en-US" sz="2400" dirty="0"/>
              <a:t>Instructions performed by CPU</a:t>
            </a:r>
            <a:endParaRPr lang="en-US" sz="2400" b="1" dirty="0"/>
          </a:p>
          <a:p>
            <a:pPr algn="just"/>
            <a:r>
              <a:rPr lang="en-US" sz="2400" dirty="0"/>
              <a:t>Two main components:</a:t>
            </a:r>
          </a:p>
          <a:p>
            <a:pPr lvl="1" algn="just"/>
            <a:r>
              <a:rPr lang="en-US" sz="2400" dirty="0"/>
              <a:t>Execution Unit (EU)</a:t>
            </a:r>
          </a:p>
          <a:p>
            <a:pPr lvl="1" algn="just"/>
            <a:r>
              <a:rPr lang="en-US" sz="2400" dirty="0"/>
              <a:t>Bus Interface Unit (BIU)</a:t>
            </a:r>
          </a:p>
          <a:p>
            <a:pPr algn="just"/>
            <a:endParaRPr lang="en-US" sz="2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Execution Unit (EU)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4</a:t>
            </a:fld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/>
        <p:txBody>
          <a:bodyPr>
            <a:normAutofit fontScale="85000" lnSpcReduction="10000"/>
          </a:bodyPr>
          <a:lstStyle/>
          <a:p>
            <a:pPr algn="just"/>
            <a:r>
              <a:rPr lang="en-US" sz="2400" dirty="0"/>
              <a:t>Purpose: Execute instructions</a:t>
            </a:r>
          </a:p>
          <a:p>
            <a:pPr algn="just"/>
            <a:r>
              <a:rPr lang="en-US" sz="2400" dirty="0"/>
              <a:t>Contains ALU (Arithmetic &amp; Logic Unit)</a:t>
            </a:r>
          </a:p>
          <a:p>
            <a:pPr lvl="1" algn="just"/>
            <a:r>
              <a:rPr lang="en-US" dirty="0"/>
              <a:t>To perform arithmetic (+, -, x,/) and logic (AND, OR, NOT) operations.</a:t>
            </a:r>
          </a:p>
          <a:p>
            <a:pPr algn="just"/>
            <a:r>
              <a:rPr lang="en-US" sz="2400" dirty="0"/>
              <a:t>The data for the operations are stored in circuits called </a:t>
            </a:r>
            <a:r>
              <a:rPr lang="en-US" sz="2400" b="1" dirty="0"/>
              <a:t>Registers</a:t>
            </a:r>
            <a:r>
              <a:rPr lang="en-US" sz="2400" dirty="0"/>
              <a:t>.</a:t>
            </a:r>
          </a:p>
          <a:p>
            <a:pPr algn="just"/>
            <a:r>
              <a:rPr lang="en-US" sz="2400" dirty="0"/>
              <a:t>A register is like a memory location except that it is referred by a name not a number (address).</a:t>
            </a:r>
          </a:p>
          <a:p>
            <a:pPr algn="just"/>
            <a:r>
              <a:rPr lang="en-US" sz="2400" dirty="0"/>
              <a:t>EU uses registers for:</a:t>
            </a:r>
          </a:p>
          <a:p>
            <a:pPr lvl="1" algn="just"/>
            <a:r>
              <a:rPr lang="en-US" sz="2100" dirty="0"/>
              <a:t>Storing data.</a:t>
            </a:r>
          </a:p>
          <a:p>
            <a:pPr lvl="1" algn="just"/>
            <a:r>
              <a:rPr lang="en-US" sz="2100" dirty="0"/>
              <a:t>Holding operands for ALU</a:t>
            </a:r>
          </a:p>
          <a:p>
            <a:pPr lvl="1" algn="just"/>
            <a:r>
              <a:rPr lang="en-US" sz="2100" dirty="0"/>
              <a:t>To reflect result of a computation – FLAG register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Bus Interface Unit (BIU)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5</a:t>
            </a:fld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US" sz="2400" dirty="0"/>
              <a:t>Facilitates communication between the EU and the memory or I/O circuits.</a:t>
            </a:r>
          </a:p>
          <a:p>
            <a:pPr algn="just"/>
            <a:r>
              <a:rPr lang="en-US" sz="2400" dirty="0"/>
              <a:t>Responsible for transmitting address, data and control signals on the buses.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6</a:t>
            </a:fld>
            <a:endParaRPr lang="en-US"/>
          </a:p>
        </p:txBody>
      </p:sp>
      <p:pic>
        <p:nvPicPr>
          <p:cNvPr id="77826" name="Picture 2" descr="http://2.bp.blogspot.com/-gt-jg8d2EzE/Tgd4weJWxsI/AAAAAAAAAKM/308fOZ6-gLA/s640/01.GIF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552700" y="220435"/>
            <a:ext cx="7086600" cy="6096000"/>
          </a:xfrm>
          <a:prstGeom prst="rect">
            <a:avLst/>
          </a:prstGeom>
          <a:noFill/>
        </p:spPr>
      </p:pic>
      <p:sp>
        <p:nvSpPr>
          <p:cNvPr id="6" name="TextBox 5"/>
          <p:cNvSpPr txBox="1"/>
          <p:nvPr/>
        </p:nvSpPr>
        <p:spPr>
          <a:xfrm>
            <a:off x="3810000" y="6400800"/>
            <a:ext cx="4648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Intel 8086 Microprocessor Organization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/>
              <a:t>Registers</a:t>
            </a:r>
          </a:p>
        </p:txBody>
      </p:sp>
      <p:sp>
        <p:nvSpPr>
          <p:cNvPr id="20483" name="Content Placeholder 2"/>
          <p:cNvSpPr>
            <a:spLocks noGrp="1"/>
          </p:cNvSpPr>
          <p:nvPr>
            <p:ph idx="1"/>
          </p:nvPr>
        </p:nvSpPr>
        <p:spPr>
          <a:xfrm>
            <a:off x="1981200" y="1219201"/>
            <a:ext cx="8382000" cy="4937125"/>
          </a:xfrm>
        </p:spPr>
        <p:txBody>
          <a:bodyPr>
            <a:normAutofit lnSpcReduction="10000"/>
          </a:bodyPr>
          <a:lstStyle/>
          <a:p>
            <a:pPr algn="just" eaLnBrk="1" hangingPunct="1"/>
            <a:r>
              <a:rPr lang="en-US" sz="2400" dirty="0">
                <a:cs typeface="Times New Roman" pitchFamily="18" charset="0"/>
              </a:rPr>
              <a:t>Registers are high-speed storage locations inside the microprocessor.</a:t>
            </a:r>
          </a:p>
          <a:p>
            <a:pPr algn="just" eaLnBrk="1" hangingPunct="1"/>
            <a:r>
              <a:rPr lang="en-US" sz="2400" dirty="0">
                <a:cs typeface="Times New Roman" pitchFamily="18" charset="0"/>
              </a:rPr>
              <a:t>Designed to be accessed at much higher speed than conventional memory.</a:t>
            </a:r>
          </a:p>
          <a:p>
            <a:pPr algn="just" eaLnBrk="1" hangingPunct="1"/>
            <a:r>
              <a:rPr lang="en-US" sz="2400" dirty="0">
                <a:cs typeface="Times New Roman" pitchFamily="18" charset="0"/>
              </a:rPr>
              <a:t>Registers are classified according to the functions they perform.</a:t>
            </a:r>
          </a:p>
          <a:p>
            <a:pPr algn="just" eaLnBrk="1" hangingPunct="1"/>
            <a:r>
              <a:rPr lang="en-US" sz="2400" dirty="0">
                <a:cs typeface="Times New Roman" pitchFamily="18" charset="0"/>
              </a:rPr>
              <a:t>General Types of Registers:</a:t>
            </a:r>
          </a:p>
          <a:p>
            <a:pPr lvl="1" algn="just" eaLnBrk="1" hangingPunct="1"/>
            <a:r>
              <a:rPr lang="en-US" sz="2000" b="1" dirty="0">
                <a:cs typeface="Times New Roman" pitchFamily="18" charset="0"/>
              </a:rPr>
              <a:t>Data Registers</a:t>
            </a:r>
            <a:r>
              <a:rPr lang="en-US" sz="2000" dirty="0">
                <a:cs typeface="Times New Roman" pitchFamily="18" charset="0"/>
              </a:rPr>
              <a:t>:  To hold data for an operation. </a:t>
            </a:r>
          </a:p>
          <a:p>
            <a:pPr lvl="1" algn="just" eaLnBrk="1" hangingPunct="1"/>
            <a:r>
              <a:rPr lang="en-US" sz="2000" b="1" dirty="0">
                <a:cs typeface="Times New Roman" pitchFamily="18" charset="0"/>
              </a:rPr>
              <a:t>Address Registers</a:t>
            </a:r>
            <a:r>
              <a:rPr lang="en-US" sz="2000" dirty="0">
                <a:cs typeface="Times New Roman" pitchFamily="18" charset="0"/>
              </a:rPr>
              <a:t>: To hold the address of an instruction or data.</a:t>
            </a:r>
          </a:p>
          <a:p>
            <a:pPr lvl="1" algn="just" eaLnBrk="1" hangingPunct="1"/>
            <a:r>
              <a:rPr lang="en-US" sz="2000" b="1" dirty="0">
                <a:cs typeface="Times New Roman" pitchFamily="18" charset="0"/>
              </a:rPr>
              <a:t>Status/Flag Register</a:t>
            </a:r>
            <a:r>
              <a:rPr lang="en-US" sz="2000" dirty="0">
                <a:cs typeface="Times New Roman" pitchFamily="18" charset="0"/>
              </a:rPr>
              <a:t>: keeps the current status of the processor or result of an arithmetic operation.</a:t>
            </a:r>
          </a:p>
          <a:p>
            <a:pPr algn="just" eaLnBrk="1" hangingPunct="1"/>
            <a:endParaRPr lang="en-US" sz="2000" dirty="0">
              <a:cs typeface="Times New Roman" pitchFamily="18" charset="0"/>
            </a:endParaRPr>
          </a:p>
          <a:p>
            <a:pPr lvl="2" eaLnBrk="1" hangingPunct="1">
              <a:buFontTx/>
              <a:buNone/>
            </a:pPr>
            <a:endParaRPr lang="en-US" sz="1600" dirty="0">
              <a:cs typeface="Times New Roman" pitchFamily="18" charset="0"/>
            </a:endParaRPr>
          </a:p>
          <a:p>
            <a:pPr eaLnBrk="1" hangingPunct="1"/>
            <a:endParaRPr lang="en-US" dirty="0"/>
          </a:p>
        </p:txBody>
      </p:sp>
      <p:sp>
        <p:nvSpPr>
          <p:cNvPr id="307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4D4E6AA-047B-44C6-99EA-8532B279CCE9}" type="slidenum">
              <a:rPr lang="en-US" smtClean="0">
                <a:latin typeface="Arial" pitchFamily="34" charset="0"/>
              </a:rPr>
              <a:pPr>
                <a:defRPr/>
              </a:pPr>
              <a:t>7</a:t>
            </a:fld>
            <a:endParaRPr lang="en-US">
              <a:latin typeface="Arial" pitchFamily="34" charset="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014654-E56A-5F8F-A6E4-D305ED0C8D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Registers of 8086 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ACAE4256-C2B9-7716-1142-86C18F53015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677887" y="1505523"/>
            <a:ext cx="7635810" cy="44156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4554628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E8312E6-8E68-4A9D-9CB1-42445363EAD2}" type="slidenum">
              <a:rPr lang="en-US" altLang="en-US" smtClean="0">
                <a:latin typeface="Arial" pitchFamily="34" charset="0"/>
              </a:rPr>
              <a:pPr>
                <a:defRPr/>
              </a:pPr>
              <a:t>9</a:t>
            </a:fld>
            <a:endParaRPr lang="en-US" altLang="en-US">
              <a:latin typeface="Arial" pitchFamily="34" charset="0"/>
            </a:endParaRPr>
          </a:p>
        </p:txBody>
      </p:sp>
      <p:sp>
        <p:nvSpPr>
          <p:cNvPr id="21507" name="Rectangle 4"/>
          <p:cNvSpPr>
            <a:spLocks noGrp="1" noChangeArrowheads="1"/>
          </p:cNvSpPr>
          <p:nvPr>
            <p:ph type="title"/>
          </p:nvPr>
        </p:nvSpPr>
        <p:spPr>
          <a:xfrm>
            <a:off x="2286000" y="228600"/>
            <a:ext cx="7620000" cy="457200"/>
          </a:xfrm>
          <a:noFill/>
        </p:spPr>
        <p:txBody>
          <a:bodyPr/>
          <a:lstStyle/>
          <a:p>
            <a:pPr eaLnBrk="1" hangingPunct="1"/>
            <a:r>
              <a:rPr lang="en-US" sz="2400" b="1" dirty="0"/>
              <a:t>8086 Internal registers 16 bits (2 bytes each)</a:t>
            </a:r>
          </a:p>
        </p:txBody>
      </p:sp>
      <p:pic>
        <p:nvPicPr>
          <p:cNvPr id="21508" name="Picture 5"/>
          <p:cNvPicPr>
            <a:picLocks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981200" y="609600"/>
            <a:ext cx="4413250" cy="5638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3495" name="Rectangle 7"/>
          <p:cNvSpPr>
            <a:spLocks noChangeArrowheads="1"/>
          </p:cNvSpPr>
          <p:nvPr/>
        </p:nvSpPr>
        <p:spPr bwMode="auto">
          <a:xfrm>
            <a:off x="6477000" y="838200"/>
            <a:ext cx="3962400" cy="1371600"/>
          </a:xfrm>
          <a:prstGeom prst="rect">
            <a:avLst/>
          </a:prstGeom>
          <a:solidFill>
            <a:srgbClr val="B9D1D0"/>
          </a:solidFill>
          <a:ln w="12699">
            <a:solidFill>
              <a:schemeClr val="tx1"/>
            </a:solidFill>
            <a:miter lim="800000"/>
            <a:headEnd/>
            <a:tailEnd/>
          </a:ln>
          <a:effectLst>
            <a:outerShdw dist="107763" dir="2700000" algn="ctr" rotWithShape="0">
              <a:schemeClr val="bg2"/>
            </a:outerShdw>
          </a:effectLst>
        </p:spPr>
        <p:txBody>
          <a:bodyPr wrap="none" anchor="ctr"/>
          <a:lstStyle/>
          <a:p>
            <a:pPr>
              <a:defRPr/>
            </a:pPr>
            <a:endParaRPr lang="en-US" dirty="0">
              <a:cs typeface="Arial" pitchFamily="34" charset="0"/>
            </a:endParaRPr>
          </a:p>
        </p:txBody>
      </p:sp>
      <p:sp>
        <p:nvSpPr>
          <p:cNvPr id="63496" name="Rectangle 8"/>
          <p:cNvSpPr>
            <a:spLocks noChangeArrowheads="1"/>
          </p:cNvSpPr>
          <p:nvPr/>
        </p:nvSpPr>
        <p:spPr bwMode="auto">
          <a:xfrm>
            <a:off x="6575425" y="966789"/>
            <a:ext cx="3765550" cy="1266825"/>
          </a:xfrm>
          <a:prstGeom prst="rect">
            <a:avLst/>
          </a:prstGeom>
          <a:solidFill>
            <a:srgbClr val="B9D1D0"/>
          </a:solidFill>
          <a:ln w="9525">
            <a:noFill/>
            <a:miter lim="800000"/>
            <a:headEnd/>
            <a:tailEnd/>
          </a:ln>
        </p:spPr>
        <p:txBody>
          <a:bodyPr wrap="none" lIns="92075" tIns="46038" rIns="92075" bIns="46038" anchor="ctr"/>
          <a:lstStyle/>
          <a:p>
            <a:pPr algn="ctr" eaLnBrk="0" hangingPunct="0"/>
            <a:r>
              <a:rPr lang="en-US" sz="2400" dirty="0">
                <a:latin typeface="Times New Roman" pitchFamily="18" charset="0"/>
              </a:rPr>
              <a:t>AX, BX, CX and DX are two</a:t>
            </a:r>
          </a:p>
          <a:p>
            <a:pPr algn="ctr" eaLnBrk="0" hangingPunct="0"/>
            <a:r>
              <a:rPr lang="en-US" sz="2400" dirty="0">
                <a:latin typeface="Times New Roman" pitchFamily="18" charset="0"/>
              </a:rPr>
              <a:t>bytes wide and each byte can </a:t>
            </a:r>
          </a:p>
          <a:p>
            <a:pPr algn="ctr" eaLnBrk="0" hangingPunct="0"/>
            <a:r>
              <a:rPr lang="en-US" sz="2400" dirty="0">
                <a:latin typeface="Times New Roman" pitchFamily="18" charset="0"/>
              </a:rPr>
              <a:t>be accessed separately</a:t>
            </a:r>
          </a:p>
        </p:txBody>
      </p:sp>
      <p:sp>
        <p:nvSpPr>
          <p:cNvPr id="63497" name="Rectangle 9"/>
          <p:cNvSpPr>
            <a:spLocks noChangeArrowheads="1"/>
          </p:cNvSpPr>
          <p:nvPr/>
        </p:nvSpPr>
        <p:spPr bwMode="auto">
          <a:xfrm>
            <a:off x="6477000" y="2362200"/>
            <a:ext cx="3962400" cy="1371600"/>
          </a:xfrm>
          <a:prstGeom prst="rect">
            <a:avLst/>
          </a:prstGeom>
          <a:solidFill>
            <a:srgbClr val="B9D1D0"/>
          </a:solidFill>
          <a:ln w="12699">
            <a:solidFill>
              <a:schemeClr val="tx1"/>
            </a:solidFill>
            <a:miter lim="800000"/>
            <a:headEnd/>
            <a:tailEnd/>
          </a:ln>
          <a:effectLst>
            <a:outerShdw dist="107763" dir="2700000" algn="ctr" rotWithShape="0">
              <a:schemeClr val="bg2"/>
            </a:outerShdw>
          </a:effectLst>
        </p:spPr>
        <p:txBody>
          <a:bodyPr wrap="none" anchor="ctr"/>
          <a:lstStyle/>
          <a:p>
            <a:pPr>
              <a:defRPr/>
            </a:pPr>
            <a:endParaRPr lang="en-US" dirty="0">
              <a:cs typeface="Arial" pitchFamily="34" charset="0"/>
            </a:endParaRPr>
          </a:p>
        </p:txBody>
      </p:sp>
      <p:sp>
        <p:nvSpPr>
          <p:cNvPr id="63498" name="Rectangle 10"/>
          <p:cNvSpPr>
            <a:spLocks noChangeArrowheads="1"/>
          </p:cNvSpPr>
          <p:nvPr/>
        </p:nvSpPr>
        <p:spPr bwMode="auto">
          <a:xfrm>
            <a:off x="6575425" y="2490789"/>
            <a:ext cx="3765550" cy="1266825"/>
          </a:xfrm>
          <a:prstGeom prst="rect">
            <a:avLst/>
          </a:prstGeom>
          <a:solidFill>
            <a:srgbClr val="B9D1D0"/>
          </a:solidFill>
          <a:ln w="9525">
            <a:noFill/>
            <a:miter lim="800000"/>
            <a:headEnd/>
            <a:tailEnd/>
          </a:ln>
        </p:spPr>
        <p:txBody>
          <a:bodyPr wrap="none" lIns="92075" tIns="46038" rIns="92075" bIns="46038" anchor="ctr"/>
          <a:lstStyle/>
          <a:p>
            <a:pPr algn="ctr" eaLnBrk="0" hangingPunct="0"/>
            <a:r>
              <a:rPr lang="en-US" sz="2400" dirty="0">
                <a:latin typeface="Times New Roman" pitchFamily="18" charset="0"/>
              </a:rPr>
              <a:t>These registers are used as </a:t>
            </a:r>
          </a:p>
          <a:p>
            <a:pPr algn="ctr" eaLnBrk="0" hangingPunct="0"/>
            <a:r>
              <a:rPr lang="en-US" sz="2400" dirty="0">
                <a:latin typeface="Times New Roman" pitchFamily="18" charset="0"/>
              </a:rPr>
              <a:t>memory </a:t>
            </a:r>
            <a:r>
              <a:rPr lang="en-US" sz="2400" i="1" u="sng" dirty="0">
                <a:solidFill>
                  <a:srgbClr val="FF0000"/>
                </a:solidFill>
                <a:latin typeface="Times New Roman" pitchFamily="18" charset="0"/>
              </a:rPr>
              <a:t>pointers</a:t>
            </a:r>
            <a:r>
              <a:rPr lang="en-US" sz="2400" dirty="0">
                <a:latin typeface="Times New Roman" pitchFamily="18" charset="0"/>
              </a:rPr>
              <a:t>.</a:t>
            </a:r>
          </a:p>
        </p:txBody>
      </p:sp>
      <p:sp>
        <p:nvSpPr>
          <p:cNvPr id="63501" name="Rectangle 13"/>
          <p:cNvSpPr>
            <a:spLocks noChangeArrowheads="1"/>
          </p:cNvSpPr>
          <p:nvPr/>
        </p:nvSpPr>
        <p:spPr bwMode="auto">
          <a:xfrm>
            <a:off x="6477000" y="4876800"/>
            <a:ext cx="3962400" cy="1371600"/>
          </a:xfrm>
          <a:prstGeom prst="rect">
            <a:avLst/>
          </a:prstGeom>
          <a:solidFill>
            <a:srgbClr val="B9D1D0"/>
          </a:solidFill>
          <a:ln w="12699">
            <a:solidFill>
              <a:schemeClr val="tx1"/>
            </a:solidFill>
            <a:miter lim="800000"/>
            <a:headEnd/>
            <a:tailEnd/>
          </a:ln>
          <a:effectLst>
            <a:outerShdw dist="107763" dir="2700000" algn="ctr" rotWithShape="0">
              <a:schemeClr val="bg2"/>
            </a:outerShdw>
          </a:effectLst>
        </p:spPr>
        <p:txBody>
          <a:bodyPr wrap="none" anchor="ctr"/>
          <a:lstStyle/>
          <a:p>
            <a:pPr>
              <a:defRPr/>
            </a:pPr>
            <a:endParaRPr lang="en-US" dirty="0">
              <a:cs typeface="Arial" pitchFamily="34" charset="0"/>
            </a:endParaRPr>
          </a:p>
        </p:txBody>
      </p:sp>
      <p:sp>
        <p:nvSpPr>
          <p:cNvPr id="63502" name="Rectangle 14"/>
          <p:cNvSpPr>
            <a:spLocks noChangeArrowheads="1"/>
          </p:cNvSpPr>
          <p:nvPr/>
        </p:nvSpPr>
        <p:spPr bwMode="auto">
          <a:xfrm>
            <a:off x="6575425" y="5105400"/>
            <a:ext cx="3765550" cy="1143000"/>
          </a:xfrm>
          <a:prstGeom prst="rect">
            <a:avLst/>
          </a:prstGeom>
          <a:solidFill>
            <a:srgbClr val="B9D1D0"/>
          </a:solidFill>
          <a:ln w="9525">
            <a:noFill/>
            <a:miter lim="800000"/>
            <a:headEnd/>
            <a:tailEnd/>
          </a:ln>
        </p:spPr>
        <p:txBody>
          <a:bodyPr wrap="none" lIns="92075" tIns="46038" rIns="92075" bIns="46038" anchor="ctr"/>
          <a:lstStyle/>
          <a:p>
            <a:pPr algn="ctr" eaLnBrk="0" hangingPunct="0"/>
            <a:r>
              <a:rPr lang="en-US" sz="2400">
                <a:latin typeface="Times New Roman" pitchFamily="18" charset="0"/>
              </a:rPr>
              <a:t>Segment registers are used</a:t>
            </a:r>
          </a:p>
          <a:p>
            <a:pPr algn="ctr" eaLnBrk="0" hangingPunct="0"/>
            <a:r>
              <a:rPr lang="en-US" sz="2400">
                <a:latin typeface="Times New Roman" pitchFamily="18" charset="0"/>
              </a:rPr>
              <a:t>as base address for a segment</a:t>
            </a:r>
          </a:p>
        </p:txBody>
      </p:sp>
      <p:grpSp>
        <p:nvGrpSpPr>
          <p:cNvPr id="2" name="Group 17"/>
          <p:cNvGrpSpPr>
            <a:grpSpLocks/>
          </p:cNvGrpSpPr>
          <p:nvPr/>
        </p:nvGrpSpPr>
        <p:grpSpPr bwMode="auto">
          <a:xfrm>
            <a:off x="6400800" y="4038600"/>
            <a:ext cx="4038600" cy="609600"/>
            <a:chOff x="3072" y="2496"/>
            <a:chExt cx="2544" cy="384"/>
          </a:xfrm>
        </p:grpSpPr>
        <p:sp>
          <p:nvSpPr>
            <p:cNvPr id="63499" name="Rectangle 11"/>
            <p:cNvSpPr>
              <a:spLocks noChangeArrowheads="1"/>
            </p:cNvSpPr>
            <p:nvPr/>
          </p:nvSpPr>
          <p:spPr bwMode="auto">
            <a:xfrm>
              <a:off x="3120" y="2496"/>
              <a:ext cx="2496" cy="384"/>
            </a:xfrm>
            <a:prstGeom prst="rect">
              <a:avLst/>
            </a:prstGeom>
            <a:solidFill>
              <a:srgbClr val="FFFF99"/>
            </a:solidFill>
            <a:ln w="12699">
              <a:noFill/>
              <a:miter lim="800000"/>
              <a:headEnd/>
              <a:tailEnd/>
            </a:ln>
            <a:effectLst>
              <a:outerShdw dist="107763" dir="2700000" algn="ctr" rotWithShape="0">
                <a:schemeClr val="bg2"/>
              </a:outerShdw>
            </a:effectLst>
          </p:spPr>
          <p:txBody>
            <a:bodyPr wrap="none" anchor="ctr"/>
            <a:lstStyle/>
            <a:p>
              <a:pPr>
                <a:defRPr/>
              </a:pPr>
              <a:endParaRPr lang="en-US" dirty="0">
                <a:cs typeface="Arial" pitchFamily="34" charset="0"/>
              </a:endParaRPr>
            </a:p>
          </p:txBody>
        </p:sp>
        <p:grpSp>
          <p:nvGrpSpPr>
            <p:cNvPr id="3" name="Group 16"/>
            <p:cNvGrpSpPr>
              <a:grpSpLocks/>
            </p:cNvGrpSpPr>
            <p:nvPr/>
          </p:nvGrpSpPr>
          <p:grpSpPr bwMode="auto">
            <a:xfrm>
              <a:off x="3072" y="2544"/>
              <a:ext cx="2496" cy="318"/>
              <a:chOff x="3072" y="2544"/>
              <a:chExt cx="2496" cy="318"/>
            </a:xfrm>
          </p:grpSpPr>
          <p:sp>
            <p:nvSpPr>
              <p:cNvPr id="21518" name="Rectangle 12"/>
              <p:cNvSpPr>
                <a:spLocks noChangeArrowheads="1"/>
              </p:cNvSpPr>
              <p:nvPr/>
            </p:nvSpPr>
            <p:spPr bwMode="auto">
              <a:xfrm>
                <a:off x="3182" y="2544"/>
                <a:ext cx="2372" cy="31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92075" tIns="46038" rIns="92075" bIns="46038" anchor="ctr"/>
              <a:lstStyle/>
              <a:p>
                <a:pPr algn="ctr" eaLnBrk="0" hangingPunct="0"/>
                <a:endParaRPr lang="en-US"/>
              </a:p>
            </p:txBody>
          </p:sp>
          <p:sp>
            <p:nvSpPr>
              <p:cNvPr id="21519" name="Text Box 15"/>
              <p:cNvSpPr txBox="1">
                <a:spLocks noChangeArrowheads="1"/>
              </p:cNvSpPr>
              <p:nvPr/>
            </p:nvSpPr>
            <p:spPr bwMode="auto">
              <a:xfrm>
                <a:off x="3072" y="2544"/>
                <a:ext cx="2496" cy="28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sz="2400" b="1">
                    <a:latin typeface="Times New Roman" pitchFamily="18" charset="0"/>
                  </a:rPr>
                  <a:t>6 status; 3 control ; 7 unused</a:t>
                </a:r>
              </a:p>
            </p:txBody>
          </p:sp>
        </p:grp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4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349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349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4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6349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6349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4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6349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6349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500"/>
                            </p:stCondLst>
                            <p:childTnLst>
                              <p:par>
                                <p:cTn id="21" presetID="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4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6349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6349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5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6350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6350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500"/>
                            </p:stCondLst>
                            <p:childTnLst>
                              <p:par>
                                <p:cTn id="32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5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6350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6350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0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3495" grpId="0" animBg="1"/>
      <p:bldP spid="63496" grpId="0" animBg="1" autoUpdateAnimBg="0"/>
      <p:bldP spid="63497" grpId="0" animBg="1"/>
      <p:bldP spid="63498" grpId="0" animBg="1" autoUpdateAnimBg="0"/>
      <p:bldP spid="63501" grpId="0" animBg="1"/>
      <p:bldP spid="63502" grpId="0" animBg="1" autoUpdateAnimBg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2"/>
          <p:cNvSpPr>
            <a:spLocks noGrp="1" noChangeArrowheads="1"/>
          </p:cNvSpPr>
          <p:nvPr>
            <p:ph type="title"/>
          </p:nvPr>
        </p:nvSpPr>
        <p:spPr>
          <a:xfrm>
            <a:off x="2057400" y="152400"/>
            <a:ext cx="8001000" cy="838200"/>
          </a:xfrm>
          <a:noFill/>
        </p:spPr>
        <p:txBody>
          <a:bodyPr/>
          <a:lstStyle/>
          <a:p>
            <a:pPr eaLnBrk="1" hangingPunct="1"/>
            <a:r>
              <a:rPr lang="en-US" dirty="0"/>
              <a:t>General Purpose/Data Registers</a:t>
            </a:r>
          </a:p>
        </p:txBody>
      </p:sp>
      <p:sp>
        <p:nvSpPr>
          <p:cNvPr id="2253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981200" y="1371600"/>
            <a:ext cx="8001000" cy="5029200"/>
          </a:xfrm>
          <a:noFill/>
        </p:spPr>
        <p:txBody>
          <a:bodyPr/>
          <a:lstStyle/>
          <a:p>
            <a:pPr algn="just">
              <a:spcAft>
                <a:spcPts val="400"/>
              </a:spcAft>
            </a:pPr>
            <a:r>
              <a:rPr lang="en-US" sz="2000" dirty="0"/>
              <a:t>Following four registers are available to the programmer for general data manipulation:</a:t>
            </a:r>
          </a:p>
          <a:p>
            <a:pPr algn="just">
              <a:spcAft>
                <a:spcPts val="400"/>
              </a:spcAft>
            </a:pPr>
            <a:r>
              <a:rPr lang="en-US" sz="2000" b="1" dirty="0"/>
              <a:t>AX (Accumulator):</a:t>
            </a:r>
            <a:r>
              <a:rPr lang="en-US" sz="2000" dirty="0"/>
              <a:t> Used in arithmetic, logic and data transfer instructions. Also required in multiplication, division and input/output operations. </a:t>
            </a:r>
          </a:p>
          <a:p>
            <a:pPr algn="just">
              <a:spcAft>
                <a:spcPts val="400"/>
              </a:spcAft>
            </a:pPr>
            <a:r>
              <a:rPr lang="en-US" sz="2000" b="1" dirty="0"/>
              <a:t>BX (Base): </a:t>
            </a:r>
            <a:r>
              <a:rPr lang="en-US" sz="2000" dirty="0"/>
              <a:t>It can hold a memory address that points to a variable. </a:t>
            </a:r>
          </a:p>
          <a:p>
            <a:pPr algn="just">
              <a:spcAft>
                <a:spcPts val="400"/>
              </a:spcAft>
            </a:pPr>
            <a:r>
              <a:rPr lang="en-US" sz="2000" b="1" dirty="0"/>
              <a:t>CX (Counter): </a:t>
            </a:r>
            <a:r>
              <a:rPr lang="en-US" sz="2000" dirty="0"/>
              <a:t>Act as a counter for repeating or looping instructions. These instructions automatically repeat and decrement CX and quit when equals to 0.</a:t>
            </a:r>
          </a:p>
          <a:p>
            <a:pPr algn="just">
              <a:spcAft>
                <a:spcPts val="400"/>
              </a:spcAft>
            </a:pPr>
            <a:r>
              <a:rPr lang="en-US" sz="2000" b="1" dirty="0"/>
              <a:t>DX (Data): </a:t>
            </a:r>
            <a:r>
              <a:rPr lang="en-US" sz="2000" dirty="0"/>
              <a:t>It has a special role in multiply and divide operations. Also used in input/output operations. </a:t>
            </a:r>
          </a:p>
          <a:p>
            <a:pPr eaLnBrk="1" hangingPunct="1"/>
            <a:endParaRPr lang="en-US" dirty="0"/>
          </a:p>
          <a:p>
            <a:pPr eaLnBrk="1" hangingPunct="1"/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84E77E9-38EE-44C6-A195-AD254EE5C6A5}" type="slidenum">
              <a:rPr lang="en-US" smtClean="0"/>
              <a:pPr>
                <a:defRPr/>
              </a:pPr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2"/>
          <p:cNvSpPr>
            <a:spLocks noGrp="1" noChangeArrowheads="1"/>
          </p:cNvSpPr>
          <p:nvPr>
            <p:ph type="title"/>
          </p:nvPr>
        </p:nvSpPr>
        <p:spPr>
          <a:xfrm>
            <a:off x="1905000" y="304800"/>
            <a:ext cx="8001000" cy="685800"/>
          </a:xfrm>
          <a:noFill/>
        </p:spPr>
        <p:txBody>
          <a:bodyPr/>
          <a:lstStyle/>
          <a:p>
            <a:pPr eaLnBrk="1" hangingPunct="1"/>
            <a:r>
              <a:rPr lang="en-US" dirty="0"/>
              <a:t>Segment Registers</a:t>
            </a:r>
          </a:p>
        </p:txBody>
      </p:sp>
      <p:sp>
        <p:nvSpPr>
          <p:cNvPr id="2355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057400" y="1295400"/>
            <a:ext cx="8001000" cy="5029200"/>
          </a:xfrm>
          <a:noFill/>
        </p:spPr>
        <p:txBody>
          <a:bodyPr/>
          <a:lstStyle/>
          <a:p>
            <a:pPr algn="just" eaLnBrk="1" hangingPunct="1"/>
            <a:r>
              <a:rPr lang="en-US" sz="2000" dirty="0"/>
              <a:t>Store addresses of instruction and data in memory.</a:t>
            </a:r>
          </a:p>
          <a:p>
            <a:pPr algn="just" eaLnBrk="1" hangingPunct="1"/>
            <a:r>
              <a:rPr lang="en-US" sz="2000" dirty="0"/>
              <a:t>These values are used by the processor to access memory locations.</a:t>
            </a:r>
          </a:p>
          <a:p>
            <a:pPr algn="just" eaLnBrk="1" hangingPunct="1"/>
            <a:r>
              <a:rPr lang="en-US" sz="2000" b="1" dirty="0"/>
              <a:t>CS (Code)</a:t>
            </a:r>
            <a:r>
              <a:rPr lang="en-US" sz="2000" dirty="0"/>
              <a:t>: Defines the starting address of the section of memory holding code.</a:t>
            </a:r>
          </a:p>
          <a:p>
            <a:pPr algn="just" eaLnBrk="1" hangingPunct="1"/>
            <a:r>
              <a:rPr lang="en-US" sz="2000" b="1" dirty="0"/>
              <a:t>DS (Data)</a:t>
            </a:r>
            <a:r>
              <a:rPr lang="en-US" sz="2000" dirty="0"/>
              <a:t>: Defines the section of memory that holds most of the data used by programs.</a:t>
            </a:r>
          </a:p>
          <a:p>
            <a:pPr algn="just" eaLnBrk="1" hangingPunct="1"/>
            <a:r>
              <a:rPr lang="en-US" sz="2000" b="1" dirty="0"/>
              <a:t>ES (Extra)</a:t>
            </a:r>
            <a:r>
              <a:rPr lang="en-US" sz="2000" dirty="0"/>
              <a:t>: This is an additional data segment that is used by some of the string instructions.</a:t>
            </a:r>
          </a:p>
          <a:p>
            <a:pPr algn="just" eaLnBrk="1" hangingPunct="1"/>
            <a:r>
              <a:rPr lang="en-US" sz="2000" b="1" dirty="0"/>
              <a:t>SS (Stack</a:t>
            </a:r>
            <a:r>
              <a:rPr lang="en-US" sz="2000" dirty="0"/>
              <a:t>): It defines the area of the memory used for stack</a:t>
            </a:r>
          </a:p>
          <a:p>
            <a:pPr algn="just" eaLnBrk="1" hangingPunct="1">
              <a:buFontTx/>
              <a:buNone/>
            </a:pPr>
            <a:endParaRPr lang="en-US" sz="2000" dirty="0"/>
          </a:p>
          <a:p>
            <a:pPr eaLnBrk="1" hangingPunct="1"/>
            <a:endParaRPr lang="en-US" dirty="0"/>
          </a:p>
          <a:p>
            <a:pPr eaLnBrk="1" hangingPunct="1"/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9B56F99-E1BB-4119-95C2-190D2B48B3A7}" type="slidenum">
              <a:rPr lang="en-US" smtClean="0"/>
              <a:pPr>
                <a:defRPr/>
              </a:pPr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/>
          <p:cNvSpPr>
            <a:spLocks noGrp="1" noChangeArrowheads="1"/>
          </p:cNvSpPr>
          <p:nvPr>
            <p:ph type="title"/>
          </p:nvPr>
        </p:nvSpPr>
        <p:spPr>
          <a:xfrm>
            <a:off x="1981200" y="304800"/>
            <a:ext cx="8001000" cy="762000"/>
          </a:xfrm>
          <a:noFill/>
        </p:spPr>
        <p:txBody>
          <a:bodyPr/>
          <a:lstStyle/>
          <a:p>
            <a:pPr eaLnBrk="1" hangingPunct="1"/>
            <a:r>
              <a:rPr lang="en-US" dirty="0"/>
              <a:t>Pointers and Index Registers</a:t>
            </a:r>
          </a:p>
        </p:txBody>
      </p:sp>
      <p:sp>
        <p:nvSpPr>
          <p:cNvPr id="2457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057400" y="1295400"/>
            <a:ext cx="8001000" cy="5029200"/>
          </a:xfrm>
          <a:noFill/>
        </p:spPr>
        <p:txBody>
          <a:bodyPr>
            <a:normAutofit lnSpcReduction="10000"/>
          </a:bodyPr>
          <a:lstStyle/>
          <a:p>
            <a:pPr algn="just" eaLnBrk="1" hangingPunct="1"/>
            <a:r>
              <a:rPr lang="en-US" sz="2000" dirty="0"/>
              <a:t>These can be accessed only as 16 bit registers.</a:t>
            </a:r>
          </a:p>
          <a:p>
            <a:pPr algn="just" eaLnBrk="1" hangingPunct="1"/>
            <a:r>
              <a:rPr lang="en-US" sz="2000" b="1" dirty="0"/>
              <a:t>IP - instruction pointer</a:t>
            </a:r>
            <a:r>
              <a:rPr lang="en-US" sz="2000" dirty="0"/>
              <a:t>: Always points to next instruction to be executed. IP register always works together with CS segment register and it points to currently executing instruction.</a:t>
            </a:r>
          </a:p>
          <a:p>
            <a:pPr algn="just" eaLnBrk="1" hangingPunct="1"/>
            <a:r>
              <a:rPr lang="en-US" sz="2000" b="1" dirty="0"/>
              <a:t>SI - source index register</a:t>
            </a:r>
            <a:r>
              <a:rPr lang="en-US" sz="2000" dirty="0"/>
              <a:t>: Can be used for pointer addressing of data. Offset address relative to DS </a:t>
            </a:r>
          </a:p>
          <a:p>
            <a:pPr algn="just" eaLnBrk="1" hangingPunct="1"/>
            <a:r>
              <a:rPr lang="en-US" sz="2000" b="1" dirty="0"/>
              <a:t>DI - destination index register</a:t>
            </a:r>
            <a:r>
              <a:rPr lang="en-US" sz="2000" dirty="0"/>
              <a:t>: Can be used for pointer addressing of data . Offset address relative to ES </a:t>
            </a:r>
          </a:p>
          <a:p>
            <a:pPr algn="just" eaLnBrk="1" hangingPunct="1"/>
            <a:r>
              <a:rPr lang="en-US" sz="2000" b="1" dirty="0"/>
              <a:t>SI</a:t>
            </a:r>
            <a:r>
              <a:rPr lang="en-US" sz="2000" dirty="0"/>
              <a:t> and </a:t>
            </a:r>
            <a:r>
              <a:rPr lang="en-US" sz="2000" b="1" dirty="0"/>
              <a:t>DI </a:t>
            </a:r>
            <a:r>
              <a:rPr lang="en-US" sz="2000" dirty="0"/>
              <a:t>used in string movement instructions.</a:t>
            </a:r>
          </a:p>
          <a:p>
            <a:pPr algn="just" eaLnBrk="1" hangingPunct="1"/>
            <a:r>
              <a:rPr lang="en-US" sz="2000" b="1" dirty="0"/>
              <a:t>SP</a:t>
            </a:r>
            <a:r>
              <a:rPr lang="en-US" sz="2000" dirty="0"/>
              <a:t> and </a:t>
            </a:r>
            <a:r>
              <a:rPr lang="en-US" sz="2000" b="1" dirty="0"/>
              <a:t>BP</a:t>
            </a:r>
            <a:r>
              <a:rPr lang="en-US" sz="2000" dirty="0"/>
              <a:t> are used to access data inside the stack segment</a:t>
            </a:r>
          </a:p>
          <a:p>
            <a:pPr algn="just" eaLnBrk="1" hangingPunct="1"/>
            <a:r>
              <a:rPr lang="en-US" sz="2000" b="1" dirty="0"/>
              <a:t>BP - base pointer</a:t>
            </a:r>
            <a:r>
              <a:rPr lang="en-US" sz="2000" dirty="0"/>
              <a:t>: Primarily used to access parameters passed via the stack. Offset address relative to SS </a:t>
            </a:r>
          </a:p>
          <a:p>
            <a:pPr algn="just" eaLnBrk="1" hangingPunct="1"/>
            <a:r>
              <a:rPr lang="en-US" sz="2000" b="1" dirty="0"/>
              <a:t>SP – stack pointer</a:t>
            </a:r>
            <a:r>
              <a:rPr lang="en-US" sz="2000" dirty="0"/>
              <a:t>: Always points to top item on the stack. Offset address relative to SS </a:t>
            </a:r>
          </a:p>
          <a:p>
            <a:pPr marL="342900" lvl="1" indent="-342900" algn="just">
              <a:buFontTx/>
              <a:buChar char="•"/>
            </a:pPr>
            <a:endParaRPr lang="en-US" sz="2000" dirty="0"/>
          </a:p>
          <a:p>
            <a:pPr algn="just" eaLnBrk="1" hangingPunct="1"/>
            <a:endParaRPr lang="en-US" sz="2000" dirty="0"/>
          </a:p>
          <a:p>
            <a:pPr algn="just" eaLnBrk="1" hangingPunct="1"/>
            <a:endParaRPr lang="en-US" sz="2000" dirty="0"/>
          </a:p>
          <a:p>
            <a:pPr algn="just" eaLnBrk="1" hangingPunct="1"/>
            <a:endParaRPr lang="en-US" sz="2000" dirty="0"/>
          </a:p>
          <a:p>
            <a:pPr algn="just" eaLnBrk="1" hangingPunct="1"/>
            <a:endParaRPr lang="en-US" sz="2000" dirty="0"/>
          </a:p>
          <a:p>
            <a:pPr eaLnBrk="1" hangingPunct="1"/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DB22DA3-40DE-4E27-A308-E127EE82DD5B}" type="slidenum">
              <a:rPr lang="en-US" smtClean="0"/>
              <a:pPr>
                <a:defRPr/>
              </a:pPr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315" name="Picture 1027"/>
          <p:cNvPicPr>
            <a:picLocks noChangeAspect="1" noChangeArrowheads="1"/>
          </p:cNvPicPr>
          <p:nvPr/>
        </p:nvPicPr>
        <p:blipFill>
          <a:blip r:embed="rId2" cstate="print"/>
          <a:srcRect r="25533"/>
          <a:stretch>
            <a:fillRect/>
          </a:stretch>
        </p:blipFill>
        <p:spPr bwMode="auto">
          <a:xfrm>
            <a:off x="5334000" y="1219200"/>
            <a:ext cx="5334000" cy="13017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3316" name="Text Box 1028"/>
          <p:cNvSpPr txBox="1">
            <a:spLocks noChangeArrowheads="1"/>
          </p:cNvSpPr>
          <p:nvPr/>
        </p:nvSpPr>
        <p:spPr bwMode="auto">
          <a:xfrm>
            <a:off x="1981200" y="2667000"/>
            <a:ext cx="5486400" cy="32316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just">
              <a:spcBef>
                <a:spcPct val="50000"/>
              </a:spcBef>
              <a:buFont typeface="Wingdings" pitchFamily="2" charset="2"/>
              <a:buChar char="q"/>
            </a:pPr>
            <a:r>
              <a:rPr lang="en-US" sz="2400" dirty="0"/>
              <a:t> Each 1 or 0 is called a </a:t>
            </a:r>
            <a:r>
              <a:rPr lang="en-US" sz="2400" i="1" dirty="0"/>
              <a:t>bit</a:t>
            </a:r>
            <a:r>
              <a:rPr lang="en-US" sz="2400" dirty="0"/>
              <a:t>.</a:t>
            </a:r>
          </a:p>
          <a:p>
            <a:pPr algn="just">
              <a:spcBef>
                <a:spcPct val="50000"/>
              </a:spcBef>
              <a:buFont typeface="Wingdings" pitchFamily="2" charset="2"/>
              <a:buChar char="q"/>
            </a:pPr>
            <a:r>
              <a:rPr lang="en-US" sz="2400" dirty="0"/>
              <a:t> Group of 4 bits = </a:t>
            </a:r>
            <a:r>
              <a:rPr lang="en-US" sz="2400" b="1" dirty="0"/>
              <a:t>N</a:t>
            </a:r>
            <a:r>
              <a:rPr lang="en-US" sz="2400" dirty="0"/>
              <a:t>ibble</a:t>
            </a:r>
          </a:p>
          <a:p>
            <a:pPr algn="just">
              <a:spcBef>
                <a:spcPct val="50000"/>
              </a:spcBef>
              <a:buFont typeface="Wingdings" pitchFamily="2" charset="2"/>
              <a:buChar char="q"/>
            </a:pPr>
            <a:r>
              <a:rPr lang="en-US" sz="2400" dirty="0"/>
              <a:t> Group of 8 bits = </a:t>
            </a:r>
            <a:r>
              <a:rPr lang="en-US" sz="2400" b="1" dirty="0"/>
              <a:t>B</a:t>
            </a:r>
            <a:r>
              <a:rPr lang="en-US" sz="2400" dirty="0"/>
              <a:t>yte</a:t>
            </a:r>
          </a:p>
          <a:p>
            <a:pPr algn="just">
              <a:spcBef>
                <a:spcPct val="50000"/>
              </a:spcBef>
              <a:buFont typeface="Wingdings" pitchFamily="2" charset="2"/>
              <a:buChar char="q"/>
            </a:pPr>
            <a:r>
              <a:rPr lang="en-US" sz="2400" dirty="0"/>
              <a:t> Group of 16 bits = </a:t>
            </a:r>
            <a:r>
              <a:rPr lang="en-US" sz="2400" b="1" dirty="0"/>
              <a:t>W</a:t>
            </a:r>
            <a:r>
              <a:rPr lang="en-US" sz="2400" dirty="0"/>
              <a:t>ord</a:t>
            </a:r>
          </a:p>
          <a:p>
            <a:pPr algn="just">
              <a:spcBef>
                <a:spcPct val="50000"/>
              </a:spcBef>
              <a:buFont typeface="Wingdings" pitchFamily="2" charset="2"/>
              <a:buChar char="q"/>
            </a:pPr>
            <a:r>
              <a:rPr lang="en-US" sz="2400" dirty="0"/>
              <a:t> Group of 32 bits = </a:t>
            </a:r>
            <a:r>
              <a:rPr lang="en-US" sz="2400" b="1" dirty="0"/>
              <a:t>D</a:t>
            </a:r>
            <a:r>
              <a:rPr lang="en-US" sz="2400" dirty="0"/>
              <a:t>ouble words</a:t>
            </a:r>
          </a:p>
          <a:p>
            <a:pPr algn="just">
              <a:spcBef>
                <a:spcPct val="50000"/>
              </a:spcBef>
              <a:buFont typeface="Wingdings" pitchFamily="2" charset="2"/>
              <a:buChar char="q"/>
            </a:pPr>
            <a:endParaRPr lang="en-US" sz="2400" dirty="0"/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Bits, Bytes and Double words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Common Prefixes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14</a:t>
            </a:fld>
            <a:endParaRPr lang="en-US"/>
          </a:p>
        </p:txBody>
      </p:sp>
      <p:pic>
        <p:nvPicPr>
          <p:cNvPr id="87042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057400" y="1219200"/>
            <a:ext cx="8001000" cy="4876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Wisp">
  <a:themeElements>
    <a:clrScheme name="Wisp">
      <a:dk1>
        <a:sysClr val="windowText" lastClr="000000"/>
      </a:dk1>
      <a:lt1>
        <a:sysClr val="window" lastClr="FFFFFF"/>
      </a:lt1>
      <a:dk2>
        <a:srgbClr val="766F54"/>
      </a:dk2>
      <a:lt2>
        <a:srgbClr val="E3EACF"/>
      </a:lt2>
      <a:accent1>
        <a:srgbClr val="A53010"/>
      </a:accent1>
      <a:accent2>
        <a:srgbClr val="DE7E18"/>
      </a:accent2>
      <a:accent3>
        <a:srgbClr val="9F8351"/>
      </a:accent3>
      <a:accent4>
        <a:srgbClr val="728653"/>
      </a:accent4>
      <a:accent5>
        <a:srgbClr val="92AA4C"/>
      </a:accent5>
      <a:accent6>
        <a:srgbClr val="6AAC91"/>
      </a:accent6>
      <a:hlink>
        <a:srgbClr val="FB4A18"/>
      </a:hlink>
      <a:folHlink>
        <a:srgbClr val="FB9318"/>
      </a:folHlink>
    </a:clrScheme>
    <a:fontScheme name="Wisp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Wisp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sp" id="{7CB32D59-10C0-40DD-B7BD-2E94284A981C}" vid="{24B1A44C-C006-48B2-A4D7-E5549B3D8CD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Wisp</Template>
  <TotalTime>121</TotalTime>
  <Words>777</Words>
  <Application>Microsoft Office PowerPoint</Application>
  <PresentationFormat>Widescreen</PresentationFormat>
  <Paragraphs>95</Paragraphs>
  <Slides>14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1" baseType="lpstr">
      <vt:lpstr>Arial</vt:lpstr>
      <vt:lpstr>Calibri</vt:lpstr>
      <vt:lpstr>Century Gothic</vt:lpstr>
      <vt:lpstr>Times New Roman</vt:lpstr>
      <vt:lpstr>Wingdings</vt:lpstr>
      <vt:lpstr>Wingdings 3</vt:lpstr>
      <vt:lpstr>Wisp</vt:lpstr>
      <vt:lpstr>Computer Organization &amp; Assembly Language</vt:lpstr>
      <vt:lpstr>What is pipelining</vt:lpstr>
      <vt:lpstr>CPU</vt:lpstr>
      <vt:lpstr>Execution Unit (EU)</vt:lpstr>
      <vt:lpstr>Bus Interface Unit (BIU)</vt:lpstr>
      <vt:lpstr>PowerPoint Presentation</vt:lpstr>
      <vt:lpstr>Registers</vt:lpstr>
      <vt:lpstr>Registers of 8086 </vt:lpstr>
      <vt:lpstr>8086 Internal registers 16 bits (2 bytes each)</vt:lpstr>
      <vt:lpstr>General Purpose/Data Registers</vt:lpstr>
      <vt:lpstr>Segment Registers</vt:lpstr>
      <vt:lpstr>Pointers and Index Registers</vt:lpstr>
      <vt:lpstr>Bits, Bytes and Double words</vt:lpstr>
      <vt:lpstr>Common Prefixes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Computer Organization &amp; Assembly Language</dc:title>
  <dc:creator>Ihtisham ul haq</dc:creator>
  <cp:lastModifiedBy>Hina Tahir</cp:lastModifiedBy>
  <cp:revision>5</cp:revision>
  <dcterms:created xsi:type="dcterms:W3CDTF">2023-10-17T17:30:28Z</dcterms:created>
  <dcterms:modified xsi:type="dcterms:W3CDTF">2025-10-01T09:06:27Z</dcterms:modified>
</cp:coreProperties>
</file>