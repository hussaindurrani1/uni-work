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0679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4685524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036769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305735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6204023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472623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487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0315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6752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0796A3-2577-B6FF-F1AF-4050D73D73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215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2383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195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10232E-22A0-BE66-7C78-525193A98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04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9504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91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948197-903E-F23E-5D77-F14AB458D2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868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841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434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103889-77E7-A6FF-8B4C-D011127B43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643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977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464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1B29E3-BF82-CF5E-73B0-A2BDA06074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6308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2840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672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5B8B7B-DBDC-4DD5-2FDF-7A2B37911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735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4658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333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C125AF-F598-EC1C-2891-6998769EDE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7851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21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135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9AC9A0-3C8A-4EDB-22BB-3DE9A82E08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91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5014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32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67D61-A7E8-F14E-2E8C-6C489355E0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105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5037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086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0F0D41-0875-DA89-618A-20B465B571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423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6669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4864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A57E17-FDA9-BE57-F83C-A6D1EB283C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240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7089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0556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152983-4D1A-043E-59BF-E078653D60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0910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715926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757329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942961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64587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3807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164626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5450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332387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01555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29933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3393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00427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64813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77673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2371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482869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35417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35947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128567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64742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1955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46324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947751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921328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3359447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115128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64496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656685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7480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460689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9284230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564766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66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957055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21473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26697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526949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33117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18167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675715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96677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5330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092875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824203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255916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824244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45067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2495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748749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12892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87117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18599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674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043735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73755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124125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22556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02657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2655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703860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3581217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424839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jp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2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197300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grpSp>
        <p:nvGrpSpPr>
          <p:cNvPr id="148928419" name="Group 3"/>
          <p:cNvGrpSpPr>
            <a:grpSpLocks noChangeAspect="1"/>
          </p:cNvGrpSpPr>
          <p:nvPr/>
        </p:nvGrpSpPr>
        <p:grpSpPr bwMode="auto">
          <a:xfrm rot="0">
            <a:off x="9183225" y="493394"/>
            <a:ext cx="9343153" cy="10177730"/>
            <a:chOff x="0" y="0"/>
            <a:chExt cx="4197095" cy="4572000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-24295" y="-86437"/>
              <a:ext cx="4273710" cy="4662895"/>
            </a:xfrm>
            <a:custGeom>
              <a:avLst/>
              <a:gdLst/>
              <a:ahLst/>
              <a:cxnLst/>
              <a:rect l="l" t="t" r="r" b="b"/>
              <a:pathLst>
                <a:path w="4273710" h="4662895" fill="norm" stroke="1" extrusionOk="0">
                  <a:moveTo>
                    <a:pt x="67221" y="2844944"/>
                  </a:moveTo>
                  <a:cubicBezTo>
                    <a:pt x="22448" y="2400963"/>
                    <a:pt x="0" y="1929090"/>
                    <a:pt x="71114" y="1551846"/>
                  </a:cubicBezTo>
                  <a:cubicBezTo>
                    <a:pt x="150461" y="1130919"/>
                    <a:pt x="329910" y="716290"/>
                    <a:pt x="646904" y="428214"/>
                  </a:cubicBezTo>
                  <a:cubicBezTo>
                    <a:pt x="963898" y="140139"/>
                    <a:pt x="1432970" y="0"/>
                    <a:pt x="1836723" y="143018"/>
                  </a:cubicBezTo>
                  <a:cubicBezTo>
                    <a:pt x="2054627" y="220205"/>
                    <a:pt x="2260078" y="469731"/>
                    <a:pt x="2475923" y="552498"/>
                  </a:cubicBezTo>
                  <a:cubicBezTo>
                    <a:pt x="2799369" y="676525"/>
                    <a:pt x="3138090" y="460911"/>
                    <a:pt x="3464321" y="577415"/>
                  </a:cubicBezTo>
                  <a:cubicBezTo>
                    <a:pt x="3828455" y="707454"/>
                    <a:pt x="4121772" y="1116796"/>
                    <a:pt x="4197742" y="1495920"/>
                  </a:cubicBezTo>
                  <a:cubicBezTo>
                    <a:pt x="4273710" y="1875046"/>
                    <a:pt x="4148921" y="2219182"/>
                    <a:pt x="3863003" y="2479483"/>
                  </a:cubicBezTo>
                  <a:cubicBezTo>
                    <a:pt x="3502939" y="2807285"/>
                    <a:pt x="3004478" y="3058937"/>
                    <a:pt x="2650346" y="3393139"/>
                  </a:cubicBezTo>
                  <a:cubicBezTo>
                    <a:pt x="2348033" y="3678439"/>
                    <a:pt x="2162226" y="4015086"/>
                    <a:pt x="1817752" y="4247739"/>
                  </a:cubicBezTo>
                  <a:cubicBezTo>
                    <a:pt x="1452137" y="4494671"/>
                    <a:pt x="970647" y="4405437"/>
                    <a:pt x="634767" y="4150309"/>
                  </a:cubicBezTo>
                  <a:cubicBezTo>
                    <a:pt x="226878" y="3840483"/>
                    <a:pt x="116018" y="3328845"/>
                    <a:pt x="67221" y="2844944"/>
                  </a:cubicBezTo>
                  <a:close/>
                  <a:moveTo>
                    <a:pt x="3463856" y="4459325"/>
                  </a:moveTo>
                  <a:cubicBezTo>
                    <a:pt x="3632307" y="4347385"/>
                    <a:pt x="3856375" y="4353815"/>
                    <a:pt x="4012548" y="4229041"/>
                  </a:cubicBezTo>
                  <a:cubicBezTo>
                    <a:pt x="4155118" y="4115132"/>
                    <a:pt x="4234164" y="3923682"/>
                    <a:pt x="4195875" y="3744836"/>
                  </a:cubicBezTo>
                  <a:cubicBezTo>
                    <a:pt x="4133197" y="3452074"/>
                    <a:pt x="3808939" y="3299542"/>
                    <a:pt x="3537030" y="3398102"/>
                  </a:cubicBezTo>
                  <a:cubicBezTo>
                    <a:pt x="3157304" y="3535742"/>
                    <a:pt x="2773814" y="3927012"/>
                    <a:pt x="2668989" y="4319438"/>
                  </a:cubicBezTo>
                  <a:cubicBezTo>
                    <a:pt x="2617580" y="4511898"/>
                    <a:pt x="2769885" y="4621190"/>
                    <a:pt x="2939077" y="4651454"/>
                  </a:cubicBezTo>
                  <a:cubicBezTo>
                    <a:pt x="3003034" y="4662895"/>
                    <a:pt x="3061599" y="4659572"/>
                    <a:pt x="3116782" y="4646329"/>
                  </a:cubicBezTo>
                  <a:cubicBezTo>
                    <a:pt x="3242079" y="4616257"/>
                    <a:pt x="3349933" y="4535031"/>
                    <a:pt x="3463856" y="4459325"/>
                  </a:cubicBezTo>
                  <a:close/>
                </a:path>
              </a:pathLst>
            </a:custGeom>
            <a:blipFill>
              <a:blip r:embed="rId4"/>
              <a:srcRect l="29548" t="0" r="24583" b="0"/>
              <a:stretch/>
            </a:blipFill>
          </p:spPr>
        </p:sp>
        <p:sp>
          <p:nvSpPr>
            <p:cNvPr id="5" name="Freeform 5"/>
            <p:cNvSpPr/>
            <p:nvPr/>
          </p:nvSpPr>
          <p:spPr bwMode="auto">
            <a:xfrm rot="0" flipH="0" flipV="0">
              <a:off x="0" y="10"/>
              <a:ext cx="4197095" cy="4571979"/>
            </a:xfrm>
            <a:custGeom>
              <a:avLst/>
              <a:gdLst/>
              <a:ahLst/>
              <a:cxnLst/>
              <a:rect l="l" t="t" r="r" b="b"/>
              <a:pathLst>
                <a:path w="4197095" h="4571979" fill="norm" stroke="1" extrusionOk="0">
                  <a:moveTo>
                    <a:pt x="4197095" y="4571980"/>
                  </a:moveTo>
                  <a:lnTo>
                    <a:pt x="0" y="4571980"/>
                  </a:lnTo>
                  <a:lnTo>
                    <a:pt x="0" y="0"/>
                  </a:lnTo>
                  <a:lnTo>
                    <a:pt x="4197095" y="0"/>
                  </a:lnTo>
                  <a:lnTo>
                    <a:pt x="4197095" y="4571980"/>
                  </a:lnTo>
                  <a:close/>
                </a:path>
              </a:pathLst>
            </a:custGeom>
            <a:blipFill>
              <a:blip r:embed="rId5"/>
              <a:srcRect l="39" t="0" r="39" b="0"/>
              <a:stretch/>
            </a:blipFill>
          </p:spPr>
        </p:sp>
      </p:grpSp>
      <p:sp>
        <p:nvSpPr>
          <p:cNvPr id="1378696041" name="Freeform 6"/>
          <p:cNvSpPr/>
          <p:nvPr/>
        </p:nvSpPr>
        <p:spPr bwMode="auto">
          <a:xfrm rot="953565" flipH="0" flipV="0">
            <a:off x="14126953" y="-1028700"/>
            <a:ext cx="5017109" cy="3557586"/>
          </a:xfrm>
          <a:custGeom>
            <a:avLst/>
            <a:gdLst/>
            <a:ahLst/>
            <a:cxnLst/>
            <a:rect l="l" t="t" r="r" b="b"/>
            <a:pathLst>
              <a:path w="5017109" h="3557587" fill="norm" stroke="1" extrusionOk="0">
                <a:moveTo>
                  <a:pt x="0" y="0"/>
                </a:moveTo>
                <a:lnTo>
                  <a:pt x="5017109" y="0"/>
                </a:lnTo>
                <a:lnTo>
                  <a:pt x="5017109" y="3557587"/>
                </a:lnTo>
                <a:lnTo>
                  <a:pt x="0" y="35575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</p:sp>
      <p:sp>
        <p:nvSpPr>
          <p:cNvPr id="688873887" name="Freeform 7"/>
          <p:cNvSpPr/>
          <p:nvPr/>
        </p:nvSpPr>
        <p:spPr bwMode="auto">
          <a:xfrm rot="0" flipH="0" flipV="0">
            <a:off x="-1556989" y="6725965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 fill="norm" stroke="1" extrusionOk="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</p:sp>
      <p:sp>
        <p:nvSpPr>
          <p:cNvPr id="205895737" name="Freeform 8"/>
          <p:cNvSpPr/>
          <p:nvPr/>
        </p:nvSpPr>
        <p:spPr bwMode="auto">
          <a:xfrm rot="9355013" flipH="0" flipV="0">
            <a:off x="-2475457" y="-2394967"/>
            <a:ext cx="4647105" cy="4114800"/>
          </a:xfrm>
          <a:custGeom>
            <a:avLst/>
            <a:gdLst/>
            <a:ahLst/>
            <a:cxnLst/>
            <a:rect l="l" t="t" r="r" b="b"/>
            <a:pathLst>
              <a:path w="4647105" h="4114800" fill="norm" stroke="1" extrusionOk="0">
                <a:moveTo>
                  <a:pt x="0" y="0"/>
                </a:moveTo>
                <a:lnTo>
                  <a:pt x="4647105" y="0"/>
                </a:lnTo>
                <a:lnTo>
                  <a:pt x="46471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</p:sp>
      <p:sp>
        <p:nvSpPr>
          <p:cNvPr id="1875943670" name="Freeform 9"/>
          <p:cNvSpPr/>
          <p:nvPr/>
        </p:nvSpPr>
        <p:spPr bwMode="auto">
          <a:xfrm rot="9355013" flipH="0" flipV="0">
            <a:off x="16995309" y="7448392"/>
            <a:ext cx="4647105" cy="4114800"/>
          </a:xfrm>
          <a:custGeom>
            <a:avLst/>
            <a:gdLst/>
            <a:ahLst/>
            <a:cxnLst/>
            <a:rect l="l" t="t" r="r" b="b"/>
            <a:pathLst>
              <a:path w="4647105" h="4114800" fill="norm" stroke="1" extrusionOk="0">
                <a:moveTo>
                  <a:pt x="0" y="0"/>
                </a:moveTo>
                <a:lnTo>
                  <a:pt x="4647105" y="0"/>
                </a:lnTo>
                <a:lnTo>
                  <a:pt x="46471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</p:sp>
      <p:sp>
        <p:nvSpPr>
          <p:cNvPr id="1214568510" name="Freeform 10"/>
          <p:cNvSpPr/>
          <p:nvPr/>
        </p:nvSpPr>
        <p:spPr bwMode="auto">
          <a:xfrm rot="0" flipH="0" flipV="0">
            <a:off x="939347" y="106692"/>
            <a:ext cx="3857473" cy="3857473"/>
          </a:xfrm>
          <a:custGeom>
            <a:avLst/>
            <a:gdLst/>
            <a:ahLst/>
            <a:cxnLst/>
            <a:rect l="l" t="t" r="r" b="b"/>
            <a:pathLst>
              <a:path w="3478532" h="3478532" fill="norm" stroke="1" extrusionOk="0">
                <a:moveTo>
                  <a:pt x="0" y="0"/>
                </a:moveTo>
                <a:lnTo>
                  <a:pt x="3478532" y="0"/>
                </a:lnTo>
                <a:lnTo>
                  <a:pt x="3478532" y="3478532"/>
                </a:lnTo>
                <a:lnTo>
                  <a:pt x="0" y="34785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</p:sp>
      <p:sp>
        <p:nvSpPr>
          <p:cNvPr id="1049562428" name="TextBox 11"/>
          <p:cNvSpPr txBox="1"/>
          <p:nvPr/>
        </p:nvSpPr>
        <p:spPr bwMode="auto">
          <a:xfrm rot="0" flipH="0" flipV="0">
            <a:off x="1344471" y="5344133"/>
            <a:ext cx="7660381" cy="336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9"/>
              </a:lnSpc>
              <a:defRPr/>
            </a:pPr>
            <a:r>
              <a:rPr lang="en-US" sz="8350" spc="156">
                <a:solidFill>
                  <a:srgbClr val="FFFFFF"/>
                </a:solidFill>
                <a:latin typeface="C059"/>
                <a:ea typeface="C059"/>
                <a:cs typeface="C059"/>
              </a:rPr>
              <a:t>Opportunity and Concept Testing</a:t>
            </a:r>
            <a:endParaRPr>
              <a:latin typeface="C059"/>
              <a:cs typeface="C059"/>
            </a:endParaRPr>
          </a:p>
        </p:txBody>
      </p:sp>
      <p:sp>
        <p:nvSpPr>
          <p:cNvPr id="371995698" name="TextBox 12"/>
          <p:cNvSpPr txBox="1"/>
          <p:nvPr/>
        </p:nvSpPr>
        <p:spPr bwMode="auto">
          <a:xfrm rot="0">
            <a:off x="1000191" y="3845820"/>
            <a:ext cx="7762388" cy="1297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20"/>
              </a:lnSpc>
              <a:defRPr/>
            </a:pPr>
            <a:r>
              <a:rPr lang="en-US" sz="8700" u="sng" spc="165">
                <a:solidFill>
                  <a:srgbClr val="FFFFFF"/>
                </a:solidFill>
                <a:latin typeface="Villagers Grunge"/>
                <a:ea typeface="Villagers Grunge"/>
                <a:cs typeface="Villagers Grunge"/>
              </a:rPr>
              <a:t>G</a:t>
            </a:r>
            <a:r>
              <a:rPr lang="en-US" sz="8700" u="sng" spc="165">
                <a:solidFill>
                  <a:srgbClr val="FFFFFF"/>
                </a:solidFill>
                <a:latin typeface="Villagers Grunge"/>
                <a:ea typeface="Villagers Grunge"/>
                <a:cs typeface="Villagers Grunge"/>
              </a:rPr>
              <a:t>roup Project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485199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sp>
        <p:nvSpPr>
          <p:cNvPr id="1312219781" name="Freeform 3"/>
          <p:cNvSpPr/>
          <p:nvPr/>
        </p:nvSpPr>
        <p:spPr bwMode="auto">
          <a:xfrm rot="5400000" flipH="0" flipV="0">
            <a:off x="-1889854" y="212394"/>
            <a:ext cx="6338423" cy="4494518"/>
          </a:xfrm>
          <a:custGeom>
            <a:avLst/>
            <a:gdLst/>
            <a:ahLst/>
            <a:cxnLst/>
            <a:rect l="l" t="t" r="r" b="b"/>
            <a:pathLst>
              <a:path w="6338423" h="4494518" fill="norm" stroke="1" extrusionOk="0">
                <a:moveTo>
                  <a:pt x="0" y="0"/>
                </a:moveTo>
                <a:lnTo>
                  <a:pt x="6338423" y="0"/>
                </a:lnTo>
                <a:lnTo>
                  <a:pt x="6338423" y="4494518"/>
                </a:lnTo>
                <a:lnTo>
                  <a:pt x="0" y="4494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  <p:sp>
        <p:nvSpPr>
          <p:cNvPr id="1616686306" name="Freeform 4"/>
          <p:cNvSpPr/>
          <p:nvPr/>
        </p:nvSpPr>
        <p:spPr bwMode="auto">
          <a:xfrm rot="0" flipH="0" flipV="0">
            <a:off x="16141622" y="313910"/>
            <a:ext cx="2897495" cy="3522790"/>
          </a:xfrm>
          <a:custGeom>
            <a:avLst/>
            <a:gdLst/>
            <a:ahLst/>
            <a:cxnLst/>
            <a:rect l="l" t="t" r="r" b="b"/>
            <a:pathLst>
              <a:path w="2897495" h="3522790" fill="norm" stroke="1" extrusionOk="0">
                <a:moveTo>
                  <a:pt x="0" y="0"/>
                </a:moveTo>
                <a:lnTo>
                  <a:pt x="2897495" y="0"/>
                </a:lnTo>
                <a:lnTo>
                  <a:pt x="2897495" y="3522790"/>
                </a:lnTo>
                <a:lnTo>
                  <a:pt x="0" y="3522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</p:sp>
      <p:sp>
        <p:nvSpPr>
          <p:cNvPr id="895793290" name="Freeform 5"/>
          <p:cNvSpPr/>
          <p:nvPr/>
        </p:nvSpPr>
        <p:spPr bwMode="auto">
          <a:xfrm rot="-3388110" flipH="0" flipV="0">
            <a:off x="16571053" y="8701382"/>
            <a:ext cx="3087960" cy="2688455"/>
          </a:xfrm>
          <a:custGeom>
            <a:avLst/>
            <a:gdLst/>
            <a:ahLst/>
            <a:cxnLst/>
            <a:rect l="l" t="t" r="r" b="b"/>
            <a:pathLst>
              <a:path w="3087960" h="2688455" fill="norm" stroke="1" extrusionOk="0">
                <a:moveTo>
                  <a:pt x="0" y="0"/>
                </a:moveTo>
                <a:lnTo>
                  <a:pt x="3087960" y="0"/>
                </a:lnTo>
                <a:lnTo>
                  <a:pt x="3087960" y="2688455"/>
                </a:lnTo>
                <a:lnTo>
                  <a:pt x="0" y="26884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</p:sp>
      <p:sp>
        <p:nvSpPr>
          <p:cNvPr id="860612132" name="TextBox 6"/>
          <p:cNvSpPr txBox="1"/>
          <p:nvPr/>
        </p:nvSpPr>
        <p:spPr bwMode="auto">
          <a:xfrm rot="0" flipH="0" flipV="0">
            <a:off x="5345466" y="204787"/>
            <a:ext cx="7598144" cy="185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  <a:defRPr/>
            </a:pPr>
            <a:r>
              <a:rPr lang="en-US" sz="6900" spc="800">
                <a:solidFill>
                  <a:srgbClr val="FFFFFF"/>
                </a:solidFill>
                <a:latin typeface="Fira Sans Ultra"/>
                <a:ea typeface="Fira Sans Ultra"/>
                <a:cs typeface="Fira Sans Ultra"/>
              </a:rPr>
              <a:t>Group Members</a:t>
            </a:r>
            <a:r>
              <a:rPr lang="en-US" sz="6900" spc="800">
                <a:solidFill>
                  <a:srgbClr val="FFFFFF"/>
                </a:solidFill>
                <a:latin typeface="Fira Sans Ultra"/>
                <a:ea typeface="Fira Sans Ultra"/>
                <a:cs typeface="Fira Sans Ultra"/>
              </a:rPr>
              <a:t> </a:t>
            </a:r>
            <a:endParaRPr>
              <a:latin typeface="Fira Sans Ultra"/>
              <a:cs typeface="Fira Sans Ultra"/>
            </a:endParaRPr>
          </a:p>
        </p:txBody>
      </p:sp>
      <p:grpSp>
        <p:nvGrpSpPr>
          <p:cNvPr id="615005853" name="Group 7"/>
          <p:cNvGrpSpPr/>
          <p:nvPr/>
        </p:nvGrpSpPr>
        <p:grpSpPr bwMode="auto">
          <a:xfrm rot="0">
            <a:off x="1279357" y="1449306"/>
            <a:ext cx="6151772" cy="4774789"/>
            <a:chOff x="0" y="0"/>
            <a:chExt cx="8202363" cy="6366385"/>
          </a:xfrm>
        </p:grpSpPr>
        <p:grpSp>
          <p:nvGrpSpPr>
            <p:cNvPr id="8" name="Group 8"/>
            <p:cNvGrpSpPr>
              <a:grpSpLocks noChangeAspect="1"/>
            </p:cNvGrpSpPr>
            <p:nvPr/>
          </p:nvGrpSpPr>
          <p:grpSpPr bwMode="auto">
            <a:xfrm rot="0">
              <a:off x="2118237" y="0"/>
              <a:ext cx="4078479" cy="4029536"/>
              <a:chOff x="0" y="0"/>
              <a:chExt cx="4572000" cy="451713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-16554" y="-2690"/>
                <a:ext cx="4639471" cy="4549489"/>
              </a:xfrm>
              <a:custGeom>
                <a:avLst/>
                <a:gdLst/>
                <a:ahLst/>
                <a:cxnLst/>
                <a:rect l="l" t="t" r="r" b="b"/>
                <a:pathLst>
                  <a:path w="4639471" h="4549489" fill="norm" stroke="1" extrusionOk="0">
                    <a:moveTo>
                      <a:pt x="2642461" y="4307731"/>
                    </a:moveTo>
                    <a:cubicBezTo>
                      <a:pt x="2937643" y="4136404"/>
                      <a:pt x="3174467" y="3866873"/>
                      <a:pt x="3302943" y="3520703"/>
                    </a:cubicBezTo>
                    <a:cubicBezTo>
                      <a:pt x="3367367" y="3347118"/>
                      <a:pt x="3462613" y="3172924"/>
                      <a:pt x="3623369" y="3081058"/>
                    </a:cubicBezTo>
                    <a:cubicBezTo>
                      <a:pt x="3747343" y="3010214"/>
                      <a:pt x="3895227" y="2996898"/>
                      <a:pt x="4029388" y="2948020"/>
                    </a:cubicBezTo>
                    <a:cubicBezTo>
                      <a:pt x="4411618" y="2808768"/>
                      <a:pt x="4639471" y="2366335"/>
                      <a:pt x="4578884" y="1964073"/>
                    </a:cubicBezTo>
                    <a:cubicBezTo>
                      <a:pt x="4518297" y="1561809"/>
                      <a:pt x="4204130" y="1222063"/>
                      <a:pt x="3823417" y="1078711"/>
                    </a:cubicBezTo>
                    <a:cubicBezTo>
                      <a:pt x="3609703" y="998242"/>
                      <a:pt x="3395764" y="1015829"/>
                      <a:pt x="3183757" y="930958"/>
                    </a:cubicBezTo>
                    <a:cubicBezTo>
                      <a:pt x="2896850" y="816103"/>
                      <a:pt x="2646820" y="557580"/>
                      <a:pt x="2402676" y="368105"/>
                    </a:cubicBezTo>
                    <a:cubicBezTo>
                      <a:pt x="2158532" y="178629"/>
                      <a:pt x="1877749" y="5911"/>
                      <a:pt x="1568716" y="3231"/>
                    </a:cubicBezTo>
                    <a:cubicBezTo>
                      <a:pt x="1196035" y="0"/>
                      <a:pt x="839628" y="279246"/>
                      <a:pt x="753607" y="641873"/>
                    </a:cubicBezTo>
                    <a:cubicBezTo>
                      <a:pt x="714329" y="807457"/>
                      <a:pt x="726735" y="980722"/>
                      <a:pt x="704584" y="1149453"/>
                    </a:cubicBezTo>
                    <a:cubicBezTo>
                      <a:pt x="619399" y="1798292"/>
                      <a:pt x="38111" y="2317174"/>
                      <a:pt x="17162" y="2971245"/>
                    </a:cubicBezTo>
                    <a:cubicBezTo>
                      <a:pt x="0" y="3507080"/>
                      <a:pt x="385323" y="3994953"/>
                      <a:pt x="863032" y="4238292"/>
                    </a:cubicBezTo>
                    <a:cubicBezTo>
                      <a:pt x="1111989" y="4365108"/>
                      <a:pt x="1371700" y="4475224"/>
                      <a:pt x="1651555" y="4507960"/>
                    </a:cubicBezTo>
                    <a:cubicBezTo>
                      <a:pt x="2006569" y="4549489"/>
                      <a:pt x="2352643" y="4475944"/>
                      <a:pt x="2642461" y="4307731"/>
                    </a:cubicBezTo>
                    <a:close/>
                  </a:path>
                </a:pathLst>
              </a:custGeom>
              <a:blipFill>
                <a:blip r:embed="rId7"/>
                <a:srcRect l="0" t="610" r="0" b="609"/>
                <a:stretch/>
              </a:blipFill>
            </p:spPr>
          </p:sp>
          <p:sp>
            <p:nvSpPr>
              <p:cNvPr id="10" name="Freeform 10"/>
              <p:cNvSpPr/>
              <p:nvPr/>
            </p:nvSpPr>
            <p:spPr bwMode="auto">
              <a:xfrm rot="0" flipH="0" flipV="0">
                <a:off x="0" y="0"/>
                <a:ext cx="4572000" cy="451713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4517135" fill="norm" stroke="1" extrusionOk="0">
                    <a:moveTo>
                      <a:pt x="4572000" y="4517135"/>
                    </a:moveTo>
                    <a:lnTo>
                      <a:pt x="0" y="4517135"/>
                    </a:lnTo>
                    <a:lnTo>
                      <a:pt x="0" y="0"/>
                    </a:lnTo>
                    <a:lnTo>
                      <a:pt x="4572000" y="0"/>
                    </a:lnTo>
                    <a:lnTo>
                      <a:pt x="4572000" y="4517135"/>
                    </a:lnTo>
                    <a:close/>
                  </a:path>
                </a:pathLst>
              </a:custGeom>
              <a:blipFill>
                <a:blip r:embed="rId8"/>
                <a:srcRect l="24" t="0" r="24" b="0"/>
                <a:stretch/>
              </a:blipFill>
            </p:spPr>
          </p:sp>
        </p:grpSp>
        <p:sp>
          <p:nvSpPr>
            <p:cNvPr id="11" name="TextBox 11"/>
            <p:cNvSpPr txBox="1"/>
            <p:nvPr/>
          </p:nvSpPr>
          <p:spPr bwMode="auto">
            <a:xfrm rot="0">
              <a:off x="855417" y="4007257"/>
              <a:ext cx="6604118" cy="8793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5"/>
                </a:lnSpc>
                <a:spcBef>
                  <a:spcPts val="0"/>
                </a:spcBef>
                <a:defRPr/>
              </a:pPr>
              <a:r>
                <a:rPr lang="en-US" sz="4000">
                  <a:solidFill>
                    <a:srgbClr val="FFFFFF"/>
                  </a:solidFill>
                  <a:latin typeface="Dekko"/>
                  <a:ea typeface="Dekko"/>
                  <a:cs typeface="Dekko"/>
                </a:rPr>
                <a:t>Leader</a:t>
              </a:r>
              <a:endParaRPr/>
            </a:p>
          </p:txBody>
        </p:sp>
        <p:sp>
          <p:nvSpPr>
            <p:cNvPr id="12" name="TextBox 12"/>
            <p:cNvSpPr txBox="1"/>
            <p:nvPr/>
          </p:nvSpPr>
          <p:spPr bwMode="auto">
            <a:xfrm rot="0">
              <a:off x="0" y="4766464"/>
              <a:ext cx="8202363" cy="8793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5"/>
                </a:lnSpc>
                <a:spcBef>
                  <a:spcPts val="0"/>
                </a:spcBef>
                <a:defRPr/>
              </a:pPr>
              <a:r>
                <a:rPr lang="en-US" sz="4000">
                  <a:solidFill>
                    <a:srgbClr val="FFFFFF"/>
                  </a:solidFill>
                  <a:latin typeface="Dekko"/>
                  <a:ea typeface="Dekko"/>
                  <a:cs typeface="Dekko"/>
                </a:rPr>
                <a:t>Salman Farooq</a:t>
              </a:r>
              <a:endParaRPr/>
            </a:p>
          </p:txBody>
        </p:sp>
        <p:sp>
          <p:nvSpPr>
            <p:cNvPr id="13" name="TextBox 13"/>
            <p:cNvSpPr txBox="1"/>
            <p:nvPr/>
          </p:nvSpPr>
          <p:spPr bwMode="auto">
            <a:xfrm rot="0">
              <a:off x="892947" y="5487042"/>
              <a:ext cx="6604118" cy="8793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5"/>
                </a:lnSpc>
                <a:spcBef>
                  <a:spcPts val="0"/>
                </a:spcBef>
                <a:defRPr/>
              </a:pPr>
              <a:r>
                <a:rPr lang="en-US" sz="4000">
                  <a:solidFill>
                    <a:srgbClr val="FFFFFF"/>
                  </a:solidFill>
                  <a:latin typeface="Dekko"/>
                  <a:ea typeface="Dekko"/>
                  <a:cs typeface="Dekko"/>
                </a:rPr>
                <a:t>L1F24BSCS0829</a:t>
              </a:r>
              <a:endParaRPr/>
            </a:p>
          </p:txBody>
        </p:sp>
      </p:grpSp>
      <p:grpSp>
        <p:nvGrpSpPr>
          <p:cNvPr id="650420369" name="Group 14"/>
          <p:cNvGrpSpPr/>
          <p:nvPr/>
        </p:nvGrpSpPr>
        <p:grpSpPr bwMode="auto">
          <a:xfrm rot="0">
            <a:off x="8880827" y="2459653"/>
            <a:ext cx="4280376" cy="3882329"/>
            <a:chOff x="0" y="0"/>
            <a:chExt cx="5707168" cy="5176438"/>
          </a:xfrm>
        </p:grpSpPr>
        <p:grpSp>
          <p:nvGrpSpPr>
            <p:cNvPr id="15" name="Group 15"/>
            <p:cNvGrpSpPr/>
            <p:nvPr/>
          </p:nvGrpSpPr>
          <p:grpSpPr bwMode="auto">
            <a:xfrm rot="0">
              <a:off x="1594749" y="0"/>
              <a:ext cx="3516341" cy="3525122"/>
              <a:chOff x="0" y="0"/>
              <a:chExt cx="5594350" cy="5608320"/>
            </a:xfrm>
          </p:grpSpPr>
          <p:sp>
            <p:nvSpPr>
              <p:cNvPr id="16" name="Freeform 16"/>
              <p:cNvSpPr/>
              <p:nvPr/>
            </p:nvSpPr>
            <p:spPr bwMode="auto">
              <a:xfrm rot="0" flipH="0" flipV="0">
                <a:off x="-80010" y="-191769"/>
                <a:ext cx="6264910" cy="5977890"/>
              </a:xfrm>
              <a:custGeom>
                <a:avLst/>
                <a:gdLst/>
                <a:ahLst/>
                <a:cxnLst/>
                <a:rect l="l" t="t" r="r" b="b"/>
                <a:pathLst>
                  <a:path w="6264910" h="5977890" fill="norm" stroke="1" extrusionOk="0">
                    <a:moveTo>
                      <a:pt x="3576320" y="342900"/>
                    </a:moveTo>
                    <a:cubicBezTo>
                      <a:pt x="4768850" y="509270"/>
                      <a:pt x="6264910" y="971550"/>
                      <a:pt x="5435600" y="3060700"/>
                    </a:cubicBezTo>
                    <a:cubicBezTo>
                      <a:pt x="4606290" y="5149850"/>
                      <a:pt x="2889250" y="5520690"/>
                      <a:pt x="2059940" y="5749290"/>
                    </a:cubicBezTo>
                    <a:cubicBezTo>
                      <a:pt x="1230630" y="5977890"/>
                      <a:pt x="256540" y="5434330"/>
                      <a:pt x="600710" y="4203700"/>
                    </a:cubicBezTo>
                    <a:cubicBezTo>
                      <a:pt x="901700" y="3126740"/>
                      <a:pt x="0" y="1772920"/>
                      <a:pt x="86360" y="886460"/>
                    </a:cubicBezTo>
                    <a:cubicBezTo>
                      <a:pt x="172720" y="0"/>
                      <a:pt x="2145030" y="142240"/>
                      <a:pt x="3576320" y="342900"/>
                    </a:cubicBezTo>
                    <a:close/>
                  </a:path>
                </a:pathLst>
              </a:custGeom>
              <a:blipFill>
                <a:blip r:embed="rId9"/>
                <a:srcRect l="4125" t="10035" r="2343" b="27500"/>
                <a:stretch/>
              </a:blipFill>
            </p:spPr>
          </p:sp>
        </p:grpSp>
        <p:sp>
          <p:nvSpPr>
            <p:cNvPr id="17" name="TextBox 17"/>
            <p:cNvSpPr txBox="1"/>
            <p:nvPr/>
          </p:nvSpPr>
          <p:spPr bwMode="auto">
            <a:xfrm rot="0">
              <a:off x="748345" y="3864118"/>
              <a:ext cx="4362746" cy="6949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69"/>
                </a:lnSpc>
                <a:spcBef>
                  <a:spcPts val="0"/>
                </a:spcBef>
                <a:defRPr/>
              </a:pPr>
              <a:r>
                <a:rPr lang="en-US" sz="3200">
                  <a:solidFill>
                    <a:srgbClr val="FFFFFF"/>
                  </a:solidFill>
                  <a:latin typeface="Dekko"/>
                  <a:ea typeface="Dekko"/>
                  <a:cs typeface="Dekko"/>
                </a:rPr>
                <a:t>Hussain Durrani</a:t>
              </a: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 rot="0">
              <a:off x="0" y="4415701"/>
              <a:ext cx="5707168" cy="7607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26"/>
                </a:lnSpc>
                <a:spcBef>
                  <a:spcPts val="0"/>
                </a:spcBef>
                <a:defRPr/>
              </a:pPr>
              <a:r>
                <a:rPr lang="en-US" sz="3450">
                  <a:solidFill>
                    <a:srgbClr val="FFFFFF"/>
                  </a:solidFill>
                  <a:latin typeface="Dekko"/>
                  <a:ea typeface="Dekko"/>
                  <a:cs typeface="Dekko"/>
                </a:rPr>
                <a:t>L1F24BSCS0937</a:t>
              </a:r>
              <a:endParaRPr/>
            </a:p>
          </p:txBody>
        </p:sp>
      </p:grpSp>
      <p:grpSp>
        <p:nvGrpSpPr>
          <p:cNvPr id="1119456688" name="Group 19"/>
          <p:cNvGrpSpPr>
            <a:grpSpLocks noChangeAspect="1"/>
          </p:cNvGrpSpPr>
          <p:nvPr/>
        </p:nvGrpSpPr>
        <p:grpSpPr bwMode="auto">
          <a:xfrm rot="0">
            <a:off x="6539094" y="5861893"/>
            <a:ext cx="1487934" cy="2357464"/>
            <a:chOff x="0" y="0"/>
            <a:chExt cx="2889504" cy="4578095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2889504" cy="4578095"/>
            </a:xfrm>
            <a:custGeom>
              <a:avLst/>
              <a:gdLst/>
              <a:ahLst/>
              <a:cxnLst/>
              <a:rect l="l" t="t" r="r" b="b"/>
              <a:pathLst>
                <a:path w="2889504" h="4578095" fill="norm" stroke="1" extrusionOk="0">
                  <a:moveTo>
                    <a:pt x="2889504" y="4578095"/>
                  </a:moveTo>
                  <a:lnTo>
                    <a:pt x="0" y="4578095"/>
                  </a:lnTo>
                  <a:lnTo>
                    <a:pt x="0" y="0"/>
                  </a:lnTo>
                  <a:lnTo>
                    <a:pt x="2889504" y="0"/>
                  </a:lnTo>
                  <a:lnTo>
                    <a:pt x="2889504" y="4578095"/>
                  </a:lnTo>
                  <a:close/>
                </a:path>
              </a:pathLst>
            </a:custGeom>
            <a:blipFill>
              <a:blip r:embed="rId10"/>
              <a:srcRect l="6" t="0" r="6" b="0"/>
              <a:stretch/>
            </a:blipFill>
          </p:spPr>
        </p:sp>
        <p:sp>
          <p:nvSpPr>
            <p:cNvPr id="21" name="Freeform 21"/>
            <p:cNvSpPr/>
            <p:nvPr/>
          </p:nvSpPr>
          <p:spPr bwMode="auto">
            <a:xfrm rot="0" flipH="0" flipV="0">
              <a:off x="79962" y="-8339"/>
              <a:ext cx="2735990" cy="4570249"/>
            </a:xfrm>
            <a:custGeom>
              <a:avLst/>
              <a:gdLst/>
              <a:ahLst/>
              <a:cxnLst/>
              <a:rect l="l" t="t" r="r" b="b"/>
              <a:pathLst>
                <a:path w="2735990" h="4570249" fill="norm" stroke="1" extrusionOk="0">
                  <a:moveTo>
                    <a:pt x="2638855" y="1402583"/>
                  </a:moveTo>
                  <a:cubicBezTo>
                    <a:pt x="2626026" y="1320605"/>
                    <a:pt x="2611418" y="1239165"/>
                    <a:pt x="2594771" y="1158481"/>
                  </a:cubicBezTo>
                  <a:cubicBezTo>
                    <a:pt x="2523406" y="812615"/>
                    <a:pt x="2350042" y="472459"/>
                    <a:pt x="2045308" y="278730"/>
                  </a:cubicBezTo>
                  <a:cubicBezTo>
                    <a:pt x="1638399" y="20045"/>
                    <a:pt x="1073359" y="0"/>
                    <a:pt x="620636" y="187617"/>
                  </a:cubicBezTo>
                  <a:cubicBezTo>
                    <a:pt x="420323" y="270631"/>
                    <a:pt x="232510" y="398418"/>
                    <a:pt x="141160" y="578658"/>
                  </a:cubicBezTo>
                  <a:cubicBezTo>
                    <a:pt x="14593" y="828384"/>
                    <a:pt x="96353" y="1121629"/>
                    <a:pt x="209790" y="1376384"/>
                  </a:cubicBezTo>
                  <a:cubicBezTo>
                    <a:pt x="323227" y="1631141"/>
                    <a:pt x="469274" y="1885687"/>
                    <a:pt x="467917" y="2160029"/>
                  </a:cubicBezTo>
                  <a:cubicBezTo>
                    <a:pt x="465540" y="2641184"/>
                    <a:pt x="12410" y="3049223"/>
                    <a:pt x="5515" y="3530343"/>
                  </a:cubicBezTo>
                  <a:cubicBezTo>
                    <a:pt x="0" y="3915344"/>
                    <a:pt x="309010" y="4275699"/>
                    <a:pt x="711055" y="4410123"/>
                  </a:cubicBezTo>
                  <a:cubicBezTo>
                    <a:pt x="1189975" y="4570249"/>
                    <a:pt x="1730869" y="4427611"/>
                    <a:pt x="2103878" y="4131080"/>
                  </a:cubicBezTo>
                  <a:cubicBezTo>
                    <a:pt x="2326815" y="3953852"/>
                    <a:pt x="2526737" y="3739892"/>
                    <a:pt x="2617515" y="3466631"/>
                  </a:cubicBezTo>
                  <a:cubicBezTo>
                    <a:pt x="2712162" y="3181727"/>
                    <a:pt x="2735990" y="2877759"/>
                    <a:pt x="2729240" y="2579187"/>
                  </a:cubicBezTo>
                  <a:cubicBezTo>
                    <a:pt x="2720357" y="2186275"/>
                    <a:pt x="2699684" y="1791267"/>
                    <a:pt x="2638855" y="1402583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747290762" name="Group 22"/>
          <p:cNvGrpSpPr/>
          <p:nvPr/>
        </p:nvGrpSpPr>
        <p:grpSpPr bwMode="auto">
          <a:xfrm rot="0">
            <a:off x="4197473" y="8219357"/>
            <a:ext cx="5905792" cy="1197669"/>
            <a:chOff x="0" y="0"/>
            <a:chExt cx="7874390" cy="1596892"/>
          </a:xfrm>
        </p:grpSpPr>
        <p:sp>
          <p:nvSpPr>
            <p:cNvPr id="23" name="TextBox 23"/>
            <p:cNvSpPr txBox="1"/>
            <p:nvPr/>
          </p:nvSpPr>
          <p:spPr bwMode="auto">
            <a:xfrm rot="0">
              <a:off x="927474" y="-95250"/>
              <a:ext cx="6019441" cy="9753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6"/>
                </a:lnSpc>
                <a:spcBef>
                  <a:spcPts val="0"/>
                </a:spcBef>
                <a:defRPr/>
              </a:pPr>
              <a:r>
                <a:rPr lang="en-US" sz="4400">
                  <a:solidFill>
                    <a:srgbClr val="FFFFFF"/>
                  </a:solidFill>
                  <a:latin typeface="Dekko"/>
                  <a:ea typeface="Dekko"/>
                  <a:cs typeface="Dekko"/>
                </a:rPr>
                <a:t>Ali Hamza</a:t>
              </a:r>
              <a:endParaRPr/>
            </a:p>
          </p:txBody>
        </p:sp>
        <p:sp>
          <p:nvSpPr>
            <p:cNvPr id="24" name="TextBox 24"/>
            <p:cNvSpPr txBox="1"/>
            <p:nvPr/>
          </p:nvSpPr>
          <p:spPr bwMode="auto">
            <a:xfrm rot="0">
              <a:off x="0" y="544018"/>
              <a:ext cx="7874390" cy="10528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59"/>
                </a:lnSpc>
                <a:spcBef>
                  <a:spcPts val="0"/>
                </a:spcBef>
                <a:defRPr/>
              </a:pPr>
              <a:r>
                <a:rPr lang="en-US" sz="4750">
                  <a:solidFill>
                    <a:srgbClr val="FFFFFF"/>
                  </a:solidFill>
                  <a:latin typeface="Dekko"/>
                  <a:ea typeface="Dekko"/>
                  <a:cs typeface="Dekko"/>
                </a:rPr>
                <a:t>L1F24BSCS1037</a:t>
              </a:r>
              <a:endParaRPr/>
            </a:p>
          </p:txBody>
        </p:sp>
      </p:grpSp>
      <p:grpSp>
        <p:nvGrpSpPr>
          <p:cNvPr id="1215991097" name="Group 25"/>
          <p:cNvGrpSpPr/>
          <p:nvPr/>
        </p:nvGrpSpPr>
        <p:grpSpPr bwMode="auto">
          <a:xfrm rot="0">
            <a:off x="11951812" y="4913574"/>
            <a:ext cx="5638557" cy="4344726"/>
            <a:chOff x="0" y="0"/>
            <a:chExt cx="7518077" cy="5792967"/>
          </a:xfrm>
        </p:grpSpPr>
        <p:grpSp>
          <p:nvGrpSpPr>
            <p:cNvPr id="26" name="Group 26"/>
            <p:cNvGrpSpPr>
              <a:grpSpLocks noChangeAspect="1"/>
            </p:cNvGrpSpPr>
            <p:nvPr/>
          </p:nvGrpSpPr>
          <p:grpSpPr bwMode="auto">
            <a:xfrm rot="0">
              <a:off x="1939069" y="0"/>
              <a:ext cx="3639939" cy="3503686"/>
              <a:chOff x="0" y="0"/>
              <a:chExt cx="4559807" cy="4389120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559807" cy="4389120"/>
              </a:xfrm>
              <a:custGeom>
                <a:avLst/>
                <a:gdLst/>
                <a:ahLst/>
                <a:cxnLst/>
                <a:rect l="l" t="t" r="r" b="b"/>
                <a:pathLst>
                  <a:path w="4559807" h="4389120" fill="norm" stroke="1" extrusionOk="0">
                    <a:moveTo>
                      <a:pt x="4559807" y="4389120"/>
                    </a:moveTo>
                    <a:lnTo>
                      <a:pt x="0" y="4389120"/>
                    </a:lnTo>
                    <a:lnTo>
                      <a:pt x="0" y="0"/>
                    </a:lnTo>
                    <a:lnTo>
                      <a:pt x="4559807" y="0"/>
                    </a:lnTo>
                    <a:lnTo>
                      <a:pt x="4559807" y="4389120"/>
                    </a:lnTo>
                    <a:close/>
                  </a:path>
                </a:pathLst>
              </a:custGeom>
              <a:blipFill>
                <a:blip r:embed="rId11"/>
                <a:srcRect l="2" t="0" r="1" b="0"/>
                <a:stretch/>
              </a:blipFill>
            </p:spPr>
          </p:sp>
          <p:sp>
            <p:nvSpPr>
              <p:cNvPr id="28" name="Freeform 28"/>
              <p:cNvSpPr/>
              <p:nvPr/>
            </p:nvSpPr>
            <p:spPr bwMode="auto">
              <a:xfrm rot="0" flipH="0" flipV="0">
                <a:off x="-15250" y="53748"/>
                <a:ext cx="4552688" cy="4253345"/>
              </a:xfrm>
              <a:custGeom>
                <a:avLst/>
                <a:gdLst/>
                <a:ahLst/>
                <a:cxnLst/>
                <a:rect l="l" t="t" r="r" b="b"/>
                <a:pathLst>
                  <a:path w="4552688" h="4253345" fill="norm" stroke="1" extrusionOk="0">
                    <a:moveTo>
                      <a:pt x="3025570" y="3990221"/>
                    </a:moveTo>
                    <a:cubicBezTo>
                      <a:pt x="3247621" y="4116912"/>
                      <a:pt x="3465479" y="4253345"/>
                      <a:pt x="3736361" y="4219645"/>
                    </a:cubicBezTo>
                    <a:cubicBezTo>
                      <a:pt x="3990849" y="4187981"/>
                      <a:pt x="4227381" y="4034299"/>
                      <a:pt x="4359724" y="3814628"/>
                    </a:cubicBezTo>
                    <a:cubicBezTo>
                      <a:pt x="4552688" y="3494332"/>
                      <a:pt x="4514156" y="3082801"/>
                      <a:pt x="4392310" y="2729277"/>
                    </a:cubicBezTo>
                    <a:cubicBezTo>
                      <a:pt x="4270464" y="2375752"/>
                      <a:pt x="4073847" y="2051212"/>
                      <a:pt x="3957655" y="1695789"/>
                    </a:cubicBezTo>
                    <a:cubicBezTo>
                      <a:pt x="3822438" y="1282168"/>
                      <a:pt x="3792512" y="820530"/>
                      <a:pt x="3537163" y="468169"/>
                    </a:cubicBezTo>
                    <a:cubicBezTo>
                      <a:pt x="3330909" y="183552"/>
                      <a:pt x="2985097" y="5404"/>
                      <a:pt x="2633623" y="2702"/>
                    </a:cubicBezTo>
                    <a:cubicBezTo>
                      <a:pt x="2282150" y="0"/>
                      <a:pt x="1933639" y="172811"/>
                      <a:pt x="1723034" y="454223"/>
                    </a:cubicBezTo>
                    <a:cubicBezTo>
                      <a:pt x="1425083" y="852346"/>
                      <a:pt x="1414307" y="1408951"/>
                      <a:pt x="1124340" y="1812926"/>
                    </a:cubicBezTo>
                    <a:cubicBezTo>
                      <a:pt x="840482" y="2208390"/>
                      <a:pt x="314208" y="2421916"/>
                      <a:pt x="146632" y="2878961"/>
                    </a:cubicBezTo>
                    <a:cubicBezTo>
                      <a:pt x="0" y="3278878"/>
                      <a:pt x="231630" y="3776224"/>
                      <a:pt x="632093" y="3921320"/>
                    </a:cubicBezTo>
                    <a:cubicBezTo>
                      <a:pt x="985851" y="4049495"/>
                      <a:pt x="1373945" y="3920953"/>
                      <a:pt x="1736838" y="3821534"/>
                    </a:cubicBezTo>
                    <a:cubicBezTo>
                      <a:pt x="1966543" y="3758603"/>
                      <a:pt x="2216705" y="3753055"/>
                      <a:pt x="2452181" y="3780144"/>
                    </a:cubicBezTo>
                    <a:cubicBezTo>
                      <a:pt x="2614961" y="3798871"/>
                      <a:pt x="2772166" y="3853671"/>
                      <a:pt x="2916592" y="3929924"/>
                    </a:cubicBezTo>
                    <a:cubicBezTo>
                      <a:pt x="2953193" y="3949249"/>
                      <a:pt x="2989437" y="3969606"/>
                      <a:pt x="3025570" y="3990221"/>
                    </a:cubicBezTo>
                    <a:close/>
                  </a:path>
                </a:pathLst>
              </a:custGeom>
              <a:blipFill>
                <a:blip r:embed="rId12"/>
                <a:srcRect l="0" t="1930" r="0" b="1930"/>
                <a:stretch/>
              </a:blipFill>
            </p:spPr>
          </p:sp>
        </p:grpSp>
        <p:sp>
          <p:nvSpPr>
            <p:cNvPr id="29" name="TextBox 29"/>
            <p:cNvSpPr txBox="1"/>
            <p:nvPr/>
          </p:nvSpPr>
          <p:spPr bwMode="auto">
            <a:xfrm rot="0">
              <a:off x="0" y="4329625"/>
              <a:ext cx="7518077" cy="7650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56"/>
                </a:lnSpc>
                <a:spcBef>
                  <a:spcPts val="0"/>
                </a:spcBef>
                <a:defRPr/>
              </a:pPr>
              <a:r>
                <a:rPr lang="en-US" sz="3450">
                  <a:solidFill>
                    <a:srgbClr val="FFFFFF"/>
                  </a:solidFill>
                  <a:latin typeface="Dekko"/>
                  <a:ea typeface="Dekko"/>
                  <a:cs typeface="Dekko"/>
                </a:rPr>
                <a:t>Esha Shareef</a:t>
              </a:r>
              <a:endParaRPr/>
            </a:p>
          </p:txBody>
        </p:sp>
        <p:sp>
          <p:nvSpPr>
            <p:cNvPr id="30" name="TextBox 30"/>
            <p:cNvSpPr txBox="1"/>
            <p:nvPr/>
          </p:nvSpPr>
          <p:spPr bwMode="auto">
            <a:xfrm rot="0">
              <a:off x="887895" y="5027959"/>
              <a:ext cx="5742287" cy="7650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56"/>
                </a:lnSpc>
                <a:spcBef>
                  <a:spcPts val="0"/>
                </a:spcBef>
                <a:defRPr/>
              </a:pPr>
              <a:r>
                <a:rPr lang="en-US" sz="3450">
                  <a:solidFill>
                    <a:srgbClr val="FFFFFF"/>
                  </a:solidFill>
                  <a:latin typeface="Dekko"/>
                  <a:ea typeface="Dekko"/>
                  <a:cs typeface="Dekko"/>
                </a:rPr>
                <a:t>L1F24BSCS1019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0026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sp>
        <p:nvSpPr>
          <p:cNvPr id="611701788" name="Freeform 3"/>
          <p:cNvSpPr/>
          <p:nvPr/>
        </p:nvSpPr>
        <p:spPr bwMode="auto">
          <a:xfrm rot="-10624200" flipH="0" flipV="0">
            <a:off x="15704239" y="-2240594"/>
            <a:ext cx="4647105" cy="4114800"/>
          </a:xfrm>
          <a:custGeom>
            <a:avLst/>
            <a:gdLst/>
            <a:ahLst/>
            <a:cxnLst/>
            <a:rect l="l" t="t" r="r" b="b"/>
            <a:pathLst>
              <a:path w="4647105" h="4114800" fill="norm" stroke="1" extrusionOk="0">
                <a:moveTo>
                  <a:pt x="0" y="0"/>
                </a:moveTo>
                <a:lnTo>
                  <a:pt x="4647105" y="0"/>
                </a:lnTo>
                <a:lnTo>
                  <a:pt x="46471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  <p:sp>
        <p:nvSpPr>
          <p:cNvPr id="1095146217" name="Freeform 4"/>
          <p:cNvSpPr/>
          <p:nvPr/>
        </p:nvSpPr>
        <p:spPr bwMode="auto">
          <a:xfrm rot="8099999" flipH="0" flipV="0">
            <a:off x="-2683149" y="8229600"/>
            <a:ext cx="4647105" cy="4114800"/>
          </a:xfrm>
          <a:custGeom>
            <a:avLst/>
            <a:gdLst/>
            <a:ahLst/>
            <a:cxnLst/>
            <a:rect l="l" t="t" r="r" b="b"/>
            <a:pathLst>
              <a:path w="4647105" h="4114800" fill="norm" stroke="1" extrusionOk="0">
                <a:moveTo>
                  <a:pt x="0" y="0"/>
                </a:moveTo>
                <a:lnTo>
                  <a:pt x="4647104" y="0"/>
                </a:lnTo>
                <a:lnTo>
                  <a:pt x="46471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  <p:sp>
        <p:nvSpPr>
          <p:cNvPr id="905600971" name="Freeform 5"/>
          <p:cNvSpPr/>
          <p:nvPr/>
        </p:nvSpPr>
        <p:spPr bwMode="auto">
          <a:xfrm rot="0" flipH="0" flipV="0">
            <a:off x="0" y="-183194"/>
            <a:ext cx="1341141" cy="1998991"/>
          </a:xfrm>
          <a:custGeom>
            <a:avLst/>
            <a:gdLst/>
            <a:ahLst/>
            <a:cxnLst/>
            <a:rect l="l" t="t" r="r" b="b"/>
            <a:pathLst>
              <a:path w="1341141" h="1998991" fill="norm" stroke="1" extrusionOk="0">
                <a:moveTo>
                  <a:pt x="0" y="0"/>
                </a:moveTo>
                <a:lnTo>
                  <a:pt x="1341141" y="0"/>
                </a:lnTo>
                <a:lnTo>
                  <a:pt x="1341141" y="1998991"/>
                </a:lnTo>
                <a:lnTo>
                  <a:pt x="0" y="19989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</p:sp>
      <p:grpSp>
        <p:nvGrpSpPr>
          <p:cNvPr id="836525756" name="Group 6"/>
          <p:cNvGrpSpPr/>
          <p:nvPr/>
        </p:nvGrpSpPr>
        <p:grpSpPr bwMode="auto">
          <a:xfrm rot="0">
            <a:off x="2021323" y="1538184"/>
            <a:ext cx="14171427" cy="6378784"/>
            <a:chOff x="0" y="0"/>
            <a:chExt cx="14171427" cy="6378784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931847"/>
              <a:ext cx="3973478" cy="3973478"/>
            </a:xfrm>
            <a:custGeom>
              <a:avLst/>
              <a:gdLst/>
              <a:ahLst/>
              <a:cxnLst/>
              <a:rect l="l" t="t" r="r" b="b"/>
              <a:pathLst>
                <a:path w="5297971" h="5297971" fill="norm" stroke="1" extrusionOk="0">
                  <a:moveTo>
                    <a:pt x="0" y="0"/>
                  </a:moveTo>
                  <a:lnTo>
                    <a:pt x="5297971" y="0"/>
                  </a:lnTo>
                  <a:lnTo>
                    <a:pt x="5297971" y="5297971"/>
                  </a:lnTo>
                  <a:lnTo>
                    <a:pt x="0" y="529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6835" t="2562" r="0" b="4272"/>
              <a:stretch/>
            </a:blipFill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8" name="Freeform 8"/>
            <p:cNvSpPr/>
            <p:nvPr/>
          </p:nvSpPr>
          <p:spPr bwMode="auto">
            <a:xfrm rot="0" flipH="0" flipV="0">
              <a:off x="3898764" y="0"/>
              <a:ext cx="6378785" cy="6378784"/>
            </a:xfrm>
            <a:custGeom>
              <a:avLst/>
              <a:gdLst/>
              <a:ahLst/>
              <a:cxnLst/>
              <a:rect l="l" t="t" r="r" b="b"/>
              <a:pathLst>
                <a:path w="8505047" h="8505047" fill="norm" stroke="1" extrusionOk="0">
                  <a:moveTo>
                    <a:pt x="0" y="0"/>
                  </a:moveTo>
                  <a:lnTo>
                    <a:pt x="8505047" y="0"/>
                  </a:lnTo>
                  <a:lnTo>
                    <a:pt x="8505047" y="8505047"/>
                  </a:lnTo>
                  <a:lnTo>
                    <a:pt x="0" y="8505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</p:sp>
        <p:sp>
          <p:nvSpPr>
            <p:cNvPr id="9" name="Freeform 9"/>
            <p:cNvSpPr/>
            <p:nvPr/>
          </p:nvSpPr>
          <p:spPr bwMode="auto">
            <a:xfrm rot="0" flipH="0" flipV="0">
              <a:off x="10197949" y="833780"/>
              <a:ext cx="3973478" cy="3833420"/>
            </a:xfrm>
            <a:custGeom>
              <a:avLst/>
              <a:gdLst/>
              <a:ahLst/>
              <a:cxnLst/>
              <a:rect l="l" t="t" r="r" b="b"/>
              <a:pathLst>
                <a:path w="5297971" h="5111228" fill="norm" stroke="1" extrusionOk="0">
                  <a:moveTo>
                    <a:pt x="0" y="0"/>
                  </a:moveTo>
                  <a:lnTo>
                    <a:pt x="5297971" y="0"/>
                  </a:lnTo>
                  <a:lnTo>
                    <a:pt x="5297971" y="5111228"/>
                  </a:lnTo>
                  <a:lnTo>
                    <a:pt x="0" y="5111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rcRect l="0" t="10969" r="0" b="18170"/>
              <a:stretch/>
            </a:blipFill>
          </p:spPr>
          <p:txBody>
            <a:bodyPr/>
            <a:p>
              <a:pPr>
                <a:defRPr/>
              </a:pPr>
              <a:endParaRPr/>
            </a:p>
          </p:txBody>
        </p:sp>
      </p:grpSp>
      <p:sp>
        <p:nvSpPr>
          <p:cNvPr id="875978760" name="TextBox 10"/>
          <p:cNvSpPr txBox="1"/>
          <p:nvPr/>
        </p:nvSpPr>
        <p:spPr bwMode="auto">
          <a:xfrm rot="0">
            <a:off x="5310948" y="302523"/>
            <a:ext cx="7598144" cy="92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  <a:defRPr/>
            </a:pPr>
            <a:r>
              <a:rPr lang="en-US" sz="6900" b="1" spc="862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Drape Store</a:t>
            </a:r>
            <a:endParaRPr b="1">
              <a:latin typeface="Asana Math"/>
              <a:cs typeface="Asana Math"/>
            </a:endParaRPr>
          </a:p>
        </p:txBody>
      </p:sp>
      <p:sp>
        <p:nvSpPr>
          <p:cNvPr id="1515715031" name="TextBox 11"/>
          <p:cNvSpPr txBox="1"/>
          <p:nvPr/>
        </p:nvSpPr>
        <p:spPr bwMode="auto">
          <a:xfrm rot="0">
            <a:off x="5469755" y="8317305"/>
            <a:ext cx="7279451" cy="123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5"/>
              </a:lnSpc>
              <a:defRPr/>
            </a:pPr>
            <a:r>
              <a:rPr lang="en-US" sz="3550">
                <a:solidFill>
                  <a:srgbClr val="FFFFFF"/>
                </a:solidFill>
                <a:latin typeface="Dekko"/>
                <a:ea typeface="Dekko"/>
                <a:cs typeface="Dekko"/>
              </a:rPr>
              <a:t>Oversized T-shirts with trendy, expressive designs</a:t>
            </a:r>
            <a:endParaRPr/>
          </a:p>
        </p:txBody>
      </p:sp>
      <p:sp>
        <p:nvSpPr>
          <p:cNvPr id="1314424731" name="TextBox 12"/>
          <p:cNvSpPr txBox="1"/>
          <p:nvPr/>
        </p:nvSpPr>
        <p:spPr bwMode="auto">
          <a:xfrm rot="0">
            <a:off x="11645539" y="6652487"/>
            <a:ext cx="5155140" cy="118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4"/>
              </a:lnSpc>
              <a:spcBef>
                <a:spcPts val="0"/>
              </a:spcBef>
              <a:defRPr/>
            </a:pPr>
            <a:r>
              <a:rPr lang="en-US" sz="3450">
                <a:solidFill>
                  <a:srgbClr val="FFFFFF"/>
                </a:solidFill>
                <a:latin typeface="Dekko"/>
                <a:ea typeface="Dekko"/>
                <a:cs typeface="Dekko"/>
              </a:rPr>
              <a:t>Goal: Capture streetwear trend &amp; self-expression</a:t>
            </a:r>
            <a:endParaRPr/>
          </a:p>
        </p:txBody>
      </p:sp>
      <p:sp>
        <p:nvSpPr>
          <p:cNvPr id="58383496" name="TextBox 13"/>
          <p:cNvSpPr txBox="1"/>
          <p:nvPr/>
        </p:nvSpPr>
        <p:spPr bwMode="auto">
          <a:xfrm rot="0">
            <a:off x="784177" y="6652487"/>
            <a:ext cx="4804639" cy="182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3"/>
              </a:lnSpc>
              <a:spcBef>
                <a:spcPts val="0"/>
              </a:spcBef>
              <a:defRPr/>
            </a:pPr>
            <a:r>
              <a:rPr lang="en-US" sz="3500">
                <a:solidFill>
                  <a:srgbClr val="FFFFFF"/>
                </a:solidFill>
                <a:latin typeface="Dekko"/>
                <a:ea typeface="Dekko"/>
                <a:cs typeface="Dekko"/>
              </a:rPr>
              <a:t>Target Audience: Young males, 18–35, city youth in Lahore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270884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sp>
        <p:nvSpPr>
          <p:cNvPr id="1670997990" name="Freeform 3"/>
          <p:cNvSpPr/>
          <p:nvPr/>
        </p:nvSpPr>
        <p:spPr bwMode="auto">
          <a:xfrm rot="-3460996" flipH="0" flipV="0">
            <a:off x="-1229287" y="-536547"/>
            <a:ext cx="5017109" cy="3557586"/>
          </a:xfrm>
          <a:custGeom>
            <a:avLst/>
            <a:gdLst/>
            <a:ahLst/>
            <a:cxnLst/>
            <a:rect l="l" t="t" r="r" b="b"/>
            <a:pathLst>
              <a:path w="5017109" h="3557587" fill="norm" stroke="1" extrusionOk="0">
                <a:moveTo>
                  <a:pt x="0" y="0"/>
                </a:moveTo>
                <a:lnTo>
                  <a:pt x="5017109" y="0"/>
                </a:lnTo>
                <a:lnTo>
                  <a:pt x="5017109" y="3557587"/>
                </a:lnTo>
                <a:lnTo>
                  <a:pt x="0" y="3557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  <p:sp>
        <p:nvSpPr>
          <p:cNvPr id="1346359336" name="Freeform 4"/>
          <p:cNvSpPr/>
          <p:nvPr/>
        </p:nvSpPr>
        <p:spPr bwMode="auto">
          <a:xfrm rot="-3460996" flipH="0" flipV="0">
            <a:off x="14074129" y="7032459"/>
            <a:ext cx="5017109" cy="3557586"/>
          </a:xfrm>
          <a:custGeom>
            <a:avLst/>
            <a:gdLst/>
            <a:ahLst/>
            <a:cxnLst/>
            <a:rect l="l" t="t" r="r" b="b"/>
            <a:pathLst>
              <a:path w="5017109" h="3557587" fill="norm" stroke="1" extrusionOk="0">
                <a:moveTo>
                  <a:pt x="0" y="0"/>
                </a:moveTo>
                <a:lnTo>
                  <a:pt x="5017109" y="0"/>
                </a:lnTo>
                <a:lnTo>
                  <a:pt x="5017109" y="3557586"/>
                </a:lnTo>
                <a:lnTo>
                  <a:pt x="0" y="3557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</p:sp>
      <p:sp>
        <p:nvSpPr>
          <p:cNvPr id="115522723" name="Freeform 5"/>
          <p:cNvSpPr/>
          <p:nvPr/>
        </p:nvSpPr>
        <p:spPr bwMode="auto">
          <a:xfrm rot="0" flipH="0" flipV="0">
            <a:off x="2351527" y="1351582"/>
            <a:ext cx="13584946" cy="4797489"/>
          </a:xfrm>
          <a:custGeom>
            <a:avLst/>
            <a:gdLst/>
            <a:ahLst/>
            <a:cxnLst/>
            <a:rect l="l" t="t" r="r" b="b"/>
            <a:pathLst>
              <a:path w="13584946" h="4797489" fill="norm" stroke="1" extrusionOk="0">
                <a:moveTo>
                  <a:pt x="0" y="0"/>
                </a:moveTo>
                <a:lnTo>
                  <a:pt x="13584946" y="0"/>
                </a:lnTo>
                <a:lnTo>
                  <a:pt x="13584946" y="4797489"/>
                </a:lnTo>
                <a:lnTo>
                  <a:pt x="0" y="47974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41898" r="0" b="22786"/>
            <a:stretch/>
          </a:blipFill>
        </p:spPr>
      </p:sp>
      <p:sp>
        <p:nvSpPr>
          <p:cNvPr id="2075982219" name="TextBox 6"/>
          <p:cNvSpPr txBox="1"/>
          <p:nvPr/>
        </p:nvSpPr>
        <p:spPr bwMode="auto">
          <a:xfrm rot="0" flipH="0" flipV="0">
            <a:off x="3996446" y="205164"/>
            <a:ext cx="11535632" cy="92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  <a:defRPr/>
            </a:pPr>
            <a:r>
              <a:rPr lang="en-US" sz="6900" spc="614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Concept &amp; Operations</a:t>
            </a:r>
            <a:endParaRPr>
              <a:latin typeface="Asana Math"/>
              <a:cs typeface="Asana Math"/>
            </a:endParaRPr>
          </a:p>
        </p:txBody>
      </p:sp>
      <p:sp>
        <p:nvSpPr>
          <p:cNvPr id="1255809038" name="TextBox 7"/>
          <p:cNvSpPr txBox="1"/>
          <p:nvPr/>
        </p:nvSpPr>
        <p:spPr bwMode="auto">
          <a:xfrm rot="0" flipH="0" flipV="0">
            <a:off x="1685357" y="6572249"/>
            <a:ext cx="15059882" cy="301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3877" lvl="1" indent="-456939" algn="ctr">
              <a:lnSpc>
                <a:spcPts val="5926"/>
              </a:lnSpc>
              <a:buFont typeface="Arial"/>
              <a:buChar char="•"/>
              <a:defRPr/>
            </a:pPr>
            <a:r>
              <a:rPr lang="en-US" sz="425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White-labeled shirts sourced from Karachi, printed locally</a:t>
            </a:r>
            <a:endParaRPr>
              <a:latin typeface="Asana Math"/>
              <a:cs typeface="Asana Math"/>
            </a:endParaRPr>
          </a:p>
          <a:p>
            <a:pPr marL="913877" lvl="1" indent="-456939" algn="ctr">
              <a:lnSpc>
                <a:spcPts val="5926"/>
              </a:lnSpc>
              <a:buFont typeface="Arial"/>
              <a:buChar char="•"/>
              <a:defRPr/>
            </a:pPr>
            <a:r>
              <a:rPr lang="en-US" sz="425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Manual production, packaging, branding</a:t>
            </a:r>
            <a:endParaRPr>
              <a:latin typeface="Asana Math"/>
              <a:cs typeface="Asana Math"/>
            </a:endParaRPr>
          </a:p>
          <a:p>
            <a:pPr marL="913877" lvl="1" indent="-456939" algn="ctr">
              <a:lnSpc>
                <a:spcPts val="5926"/>
              </a:lnSpc>
              <a:buFont typeface="Arial"/>
              <a:buChar char="•"/>
              <a:defRPr/>
            </a:pPr>
            <a:r>
              <a:rPr lang="en-US" sz="425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Sold via Shopify, Instagram, Facebook</a:t>
            </a:r>
            <a:endParaRPr>
              <a:latin typeface="Asana Math"/>
              <a:cs typeface="Asana Math"/>
            </a:endParaRPr>
          </a:p>
          <a:p>
            <a:pPr marL="913877" lvl="1" indent="-456939" algn="ctr">
              <a:lnSpc>
                <a:spcPts val="5926"/>
              </a:lnSpc>
              <a:buFont typeface="Arial"/>
              <a:buChar char="•"/>
              <a:defRPr/>
            </a:pPr>
            <a:r>
              <a:rPr lang="en-US" sz="425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Designs: Anime, Cars, Quotes, Luxury Logos</a:t>
            </a:r>
            <a:endParaRPr>
              <a:latin typeface="Asana Math"/>
              <a:cs typeface="Asan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778674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grpSp>
        <p:nvGrpSpPr>
          <p:cNvPr id="1679778682" name="Group 3"/>
          <p:cNvGrpSpPr/>
          <p:nvPr/>
        </p:nvGrpSpPr>
        <p:grpSpPr bwMode="auto">
          <a:xfrm rot="0">
            <a:off x="0" y="3456772"/>
            <a:ext cx="5415400" cy="5428923"/>
            <a:chOff x="0" y="0"/>
            <a:chExt cx="5594350" cy="5608320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-80010" y="-191769"/>
              <a:ext cx="6264910" cy="5977890"/>
            </a:xfrm>
            <a:custGeom>
              <a:avLst/>
              <a:gdLst/>
              <a:ahLst/>
              <a:cxnLst/>
              <a:rect l="l" t="t" r="r" b="b"/>
              <a:pathLst>
                <a:path w="6264910" h="5977890" fill="norm" stroke="1" extrusionOk="0">
                  <a:moveTo>
                    <a:pt x="3576320" y="342900"/>
                  </a:moveTo>
                  <a:cubicBezTo>
                    <a:pt x="4768850" y="509270"/>
                    <a:pt x="6264910" y="971550"/>
                    <a:pt x="5435600" y="3060700"/>
                  </a:cubicBezTo>
                  <a:cubicBezTo>
                    <a:pt x="4606290" y="5149850"/>
                    <a:pt x="2889250" y="5520690"/>
                    <a:pt x="2059940" y="5749290"/>
                  </a:cubicBezTo>
                  <a:cubicBezTo>
                    <a:pt x="1230630" y="5977890"/>
                    <a:pt x="256540" y="5434330"/>
                    <a:pt x="600710" y="4203700"/>
                  </a:cubicBezTo>
                  <a:cubicBezTo>
                    <a:pt x="901700" y="3126740"/>
                    <a:pt x="0" y="1772920"/>
                    <a:pt x="86360" y="886460"/>
                  </a:cubicBezTo>
                  <a:cubicBezTo>
                    <a:pt x="172720" y="0"/>
                    <a:pt x="2145030" y="142240"/>
                    <a:pt x="3576320" y="342900"/>
                  </a:cubicBezTo>
                  <a:close/>
                </a:path>
              </a:pathLst>
            </a:custGeom>
            <a:blipFill>
              <a:blip r:embed="rId4"/>
              <a:srcRect l="45536" t="36498" r="3352" b="12269"/>
              <a:stretch/>
            </a:blipFill>
          </p:spPr>
        </p:sp>
      </p:grpSp>
      <p:sp>
        <p:nvSpPr>
          <p:cNvPr id="136285208" name="Freeform 5"/>
          <p:cNvSpPr/>
          <p:nvPr/>
        </p:nvSpPr>
        <p:spPr bwMode="auto">
          <a:xfrm rot="0" flipH="0" flipV="0">
            <a:off x="13389726" y="8999954"/>
            <a:ext cx="1567755" cy="2133000"/>
          </a:xfrm>
          <a:custGeom>
            <a:avLst/>
            <a:gdLst/>
            <a:ahLst/>
            <a:cxnLst/>
            <a:rect l="l" t="t" r="r" b="b"/>
            <a:pathLst>
              <a:path w="1567755" h="2133000" fill="norm" stroke="1" extrusionOk="0">
                <a:moveTo>
                  <a:pt x="0" y="0"/>
                </a:moveTo>
                <a:lnTo>
                  <a:pt x="1567755" y="0"/>
                </a:lnTo>
                <a:lnTo>
                  <a:pt x="1567755" y="2133000"/>
                </a:lnTo>
                <a:lnTo>
                  <a:pt x="0" y="213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</p:sp>
      <p:sp>
        <p:nvSpPr>
          <p:cNvPr id="1960509001" name="Freeform 6"/>
          <p:cNvSpPr/>
          <p:nvPr/>
        </p:nvSpPr>
        <p:spPr bwMode="auto">
          <a:xfrm rot="0" flipH="1" flipV="0">
            <a:off x="13517284" y="6638436"/>
            <a:ext cx="6338423" cy="4494518"/>
          </a:xfrm>
          <a:custGeom>
            <a:avLst/>
            <a:gdLst/>
            <a:ahLst/>
            <a:cxnLst/>
            <a:rect l="l" t="t" r="r" b="b"/>
            <a:pathLst>
              <a:path w="6338423" h="4494518" fill="norm" stroke="1" extrusionOk="0">
                <a:moveTo>
                  <a:pt x="6338423" y="0"/>
                </a:moveTo>
                <a:lnTo>
                  <a:pt x="0" y="0"/>
                </a:lnTo>
                <a:lnTo>
                  <a:pt x="0" y="4494518"/>
                </a:lnTo>
                <a:lnTo>
                  <a:pt x="6338423" y="4494518"/>
                </a:lnTo>
                <a:lnTo>
                  <a:pt x="6338423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</p:sp>
      <p:sp>
        <p:nvSpPr>
          <p:cNvPr id="1911653336" name="Freeform 7"/>
          <p:cNvSpPr/>
          <p:nvPr/>
        </p:nvSpPr>
        <p:spPr bwMode="auto">
          <a:xfrm rot="0" flipH="0" flipV="0">
            <a:off x="17727424" y="5143500"/>
            <a:ext cx="1121153" cy="1788085"/>
          </a:xfrm>
          <a:custGeom>
            <a:avLst/>
            <a:gdLst/>
            <a:ahLst/>
            <a:cxnLst/>
            <a:rect l="l" t="t" r="r" b="b"/>
            <a:pathLst>
              <a:path w="1121153" h="1788085" fill="norm" stroke="1" extrusionOk="0">
                <a:moveTo>
                  <a:pt x="0" y="0"/>
                </a:moveTo>
                <a:lnTo>
                  <a:pt x="1121152" y="0"/>
                </a:lnTo>
                <a:lnTo>
                  <a:pt x="1121152" y="1788085"/>
                </a:lnTo>
                <a:lnTo>
                  <a:pt x="0" y="17880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60341" b="0"/>
            <a:stretch/>
          </a:blipFill>
        </p:spPr>
      </p:sp>
      <p:sp>
        <p:nvSpPr>
          <p:cNvPr id="1218551111" name="Freeform 8"/>
          <p:cNvSpPr/>
          <p:nvPr/>
        </p:nvSpPr>
        <p:spPr bwMode="auto">
          <a:xfrm rot="2268914" flipH="0" flipV="0">
            <a:off x="-525921" y="-388645"/>
            <a:ext cx="1777388" cy="2834691"/>
          </a:xfrm>
          <a:custGeom>
            <a:avLst/>
            <a:gdLst/>
            <a:ahLst/>
            <a:cxnLst/>
            <a:rect l="l" t="t" r="r" b="b"/>
            <a:pathLst>
              <a:path w="1777388" h="2834691" fill="norm" stroke="1" extrusionOk="0">
                <a:moveTo>
                  <a:pt x="0" y="0"/>
                </a:moveTo>
                <a:lnTo>
                  <a:pt x="1777388" y="0"/>
                </a:lnTo>
                <a:lnTo>
                  <a:pt x="1777388" y="2834690"/>
                </a:lnTo>
                <a:lnTo>
                  <a:pt x="0" y="2834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60341" b="0"/>
            <a:stretch/>
          </a:blipFill>
        </p:spPr>
      </p:sp>
      <p:sp>
        <p:nvSpPr>
          <p:cNvPr id="994894970" name="Freeform 9"/>
          <p:cNvSpPr/>
          <p:nvPr/>
        </p:nvSpPr>
        <p:spPr bwMode="auto">
          <a:xfrm rot="0" flipH="0" flipV="0">
            <a:off x="15376327" y="7550782"/>
            <a:ext cx="2620336" cy="2406337"/>
          </a:xfrm>
          <a:custGeom>
            <a:avLst/>
            <a:gdLst/>
            <a:ahLst/>
            <a:cxnLst/>
            <a:rect l="l" t="t" r="r" b="b"/>
            <a:pathLst>
              <a:path w="2620336" h="2406337" fill="norm" stroke="1" extrusionOk="0">
                <a:moveTo>
                  <a:pt x="0" y="0"/>
                </a:moveTo>
                <a:lnTo>
                  <a:pt x="2620336" y="0"/>
                </a:lnTo>
                <a:lnTo>
                  <a:pt x="2620336" y="2406337"/>
                </a:lnTo>
                <a:lnTo>
                  <a:pt x="0" y="2406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2259" t="32012" r="50000" b="24144"/>
            <a:stretch/>
          </a:blipFill>
        </p:spPr>
      </p:sp>
      <p:sp>
        <p:nvSpPr>
          <p:cNvPr id="466048205" name="TextBox 10"/>
          <p:cNvSpPr txBox="1"/>
          <p:nvPr/>
        </p:nvSpPr>
        <p:spPr bwMode="auto">
          <a:xfrm rot="0" flipH="0" flipV="0">
            <a:off x="4131612" y="800100"/>
            <a:ext cx="10978355" cy="185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312"/>
              </a:lnSpc>
              <a:defRPr/>
            </a:pPr>
            <a:r>
              <a:rPr lang="en-US" sz="6900" spc="372">
                <a:solidFill>
                  <a:srgbClr val="FFFFFF"/>
                </a:solidFill>
                <a:latin typeface="Asana"/>
                <a:ea typeface="Asana"/>
                <a:cs typeface="Asana"/>
              </a:rPr>
              <a:t>Commercialization Potential</a:t>
            </a:r>
            <a:endParaRPr>
              <a:latin typeface="Asana"/>
              <a:cs typeface="Asana"/>
            </a:endParaRPr>
          </a:p>
        </p:txBody>
      </p:sp>
      <p:sp>
        <p:nvSpPr>
          <p:cNvPr id="759082585" name="TextBox 11"/>
          <p:cNvSpPr txBox="1"/>
          <p:nvPr/>
        </p:nvSpPr>
        <p:spPr bwMode="auto">
          <a:xfrm rot="0">
            <a:off x="5403822" y="3047908"/>
            <a:ext cx="11283031" cy="537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310" lvl="1" indent="-421155" algn="just">
              <a:lnSpc>
                <a:spcPts val="6047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M</a:t>
            </a:r>
            <a:r>
              <a:rPr lang="en-US" sz="39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arket Opportunity:  Youth population drives fashion trends and e-commerce growth in Pakistan's clothing sector.</a:t>
            </a:r>
            <a:endParaRPr>
              <a:latin typeface="Asana Math"/>
              <a:cs typeface="Asana Math"/>
            </a:endParaRPr>
          </a:p>
          <a:p>
            <a:pPr marL="842310" lvl="1" indent="-421155" algn="just">
              <a:lnSpc>
                <a:spcPts val="6047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Product Fit: Demand for casual, expressive apparel; highly scalable.</a:t>
            </a:r>
            <a:endParaRPr>
              <a:latin typeface="Asana Math"/>
              <a:cs typeface="Asana Math"/>
            </a:endParaRPr>
          </a:p>
          <a:p>
            <a:pPr marL="842310" lvl="1" indent="-421155" algn="just">
              <a:lnSpc>
                <a:spcPts val="6047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Key Challenge: Intense competition and limited initial brand awareness.</a:t>
            </a:r>
            <a:endParaRPr>
              <a:latin typeface="Asana Math"/>
              <a:cs typeface="Asan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195406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grpSp>
        <p:nvGrpSpPr>
          <p:cNvPr id="1970006198" name="Group 3"/>
          <p:cNvGrpSpPr>
            <a:grpSpLocks noChangeAspect="1"/>
          </p:cNvGrpSpPr>
          <p:nvPr/>
        </p:nvGrpSpPr>
        <p:grpSpPr bwMode="auto">
          <a:xfrm rot="0">
            <a:off x="660592" y="1869312"/>
            <a:ext cx="5230926" cy="8287814"/>
            <a:chOff x="0" y="0"/>
            <a:chExt cx="2889504" cy="457809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889504" cy="4578095"/>
            </a:xfrm>
            <a:custGeom>
              <a:avLst/>
              <a:gdLst/>
              <a:ahLst/>
              <a:cxnLst/>
              <a:rect l="l" t="t" r="r" b="b"/>
              <a:pathLst>
                <a:path w="2889504" h="4578095" fill="norm" stroke="1" extrusionOk="0">
                  <a:moveTo>
                    <a:pt x="2889504" y="4578095"/>
                  </a:moveTo>
                  <a:lnTo>
                    <a:pt x="0" y="4578095"/>
                  </a:lnTo>
                  <a:lnTo>
                    <a:pt x="0" y="0"/>
                  </a:lnTo>
                  <a:lnTo>
                    <a:pt x="2889504" y="0"/>
                  </a:lnTo>
                  <a:lnTo>
                    <a:pt x="2889504" y="4578095"/>
                  </a:lnTo>
                  <a:close/>
                </a:path>
              </a:pathLst>
            </a:custGeom>
            <a:blipFill>
              <a:blip r:embed="rId4"/>
              <a:srcRect l="6" t="0" r="6" b="0"/>
              <a:stretch/>
            </a:blipFill>
          </p:spPr>
        </p:sp>
        <p:sp>
          <p:nvSpPr>
            <p:cNvPr id="5" name="Freeform 5"/>
            <p:cNvSpPr/>
            <p:nvPr/>
          </p:nvSpPr>
          <p:spPr bwMode="auto">
            <a:xfrm rot="0" flipH="0" flipV="0">
              <a:off x="79962" y="-8339"/>
              <a:ext cx="2735990" cy="4570249"/>
            </a:xfrm>
            <a:custGeom>
              <a:avLst/>
              <a:gdLst/>
              <a:ahLst/>
              <a:cxnLst/>
              <a:rect l="l" t="t" r="r" b="b"/>
              <a:pathLst>
                <a:path w="2735990" h="4570249" fill="norm" stroke="1" extrusionOk="0">
                  <a:moveTo>
                    <a:pt x="2638855" y="1402583"/>
                  </a:moveTo>
                  <a:cubicBezTo>
                    <a:pt x="2626026" y="1320605"/>
                    <a:pt x="2611418" y="1239165"/>
                    <a:pt x="2594771" y="1158481"/>
                  </a:cubicBezTo>
                  <a:cubicBezTo>
                    <a:pt x="2523406" y="812615"/>
                    <a:pt x="2350042" y="472459"/>
                    <a:pt x="2045308" y="278730"/>
                  </a:cubicBezTo>
                  <a:cubicBezTo>
                    <a:pt x="1638399" y="20045"/>
                    <a:pt x="1073359" y="0"/>
                    <a:pt x="620636" y="187617"/>
                  </a:cubicBezTo>
                  <a:cubicBezTo>
                    <a:pt x="420323" y="270631"/>
                    <a:pt x="232510" y="398418"/>
                    <a:pt x="141160" y="578658"/>
                  </a:cubicBezTo>
                  <a:cubicBezTo>
                    <a:pt x="14593" y="828384"/>
                    <a:pt x="96353" y="1121629"/>
                    <a:pt x="209790" y="1376384"/>
                  </a:cubicBezTo>
                  <a:cubicBezTo>
                    <a:pt x="323227" y="1631141"/>
                    <a:pt x="469274" y="1885687"/>
                    <a:pt x="467917" y="2160029"/>
                  </a:cubicBezTo>
                  <a:cubicBezTo>
                    <a:pt x="465540" y="2641184"/>
                    <a:pt x="12410" y="3049223"/>
                    <a:pt x="5515" y="3530343"/>
                  </a:cubicBezTo>
                  <a:cubicBezTo>
                    <a:pt x="0" y="3915344"/>
                    <a:pt x="309010" y="4275699"/>
                    <a:pt x="711055" y="4410123"/>
                  </a:cubicBezTo>
                  <a:cubicBezTo>
                    <a:pt x="1189975" y="4570249"/>
                    <a:pt x="1730869" y="4427611"/>
                    <a:pt x="2103878" y="4131080"/>
                  </a:cubicBezTo>
                  <a:cubicBezTo>
                    <a:pt x="2326815" y="3953852"/>
                    <a:pt x="2526737" y="3739892"/>
                    <a:pt x="2617515" y="3466631"/>
                  </a:cubicBezTo>
                  <a:cubicBezTo>
                    <a:pt x="2712162" y="3181727"/>
                    <a:pt x="2735990" y="2877759"/>
                    <a:pt x="2729240" y="2579187"/>
                  </a:cubicBezTo>
                  <a:cubicBezTo>
                    <a:pt x="2720357" y="2186275"/>
                    <a:pt x="2699684" y="1791267"/>
                    <a:pt x="2638855" y="1402583"/>
                  </a:cubicBezTo>
                  <a:close/>
                </a:path>
              </a:pathLst>
            </a:custGeom>
            <a:blipFill>
              <a:blip r:embed="rId5"/>
              <a:srcRect l="19130" t="0" r="19129" b="0"/>
              <a:stretch/>
            </a:blipFill>
          </p:spPr>
        </p:sp>
      </p:grpSp>
      <p:sp>
        <p:nvSpPr>
          <p:cNvPr id="1257714798" name="Freeform 6"/>
          <p:cNvSpPr/>
          <p:nvPr/>
        </p:nvSpPr>
        <p:spPr bwMode="auto">
          <a:xfrm rot="0" flipH="1" flipV="0">
            <a:off x="14255365" y="6857197"/>
            <a:ext cx="5673868" cy="4023288"/>
          </a:xfrm>
          <a:custGeom>
            <a:avLst/>
            <a:gdLst/>
            <a:ahLst/>
            <a:cxnLst/>
            <a:rect l="l" t="t" r="r" b="b"/>
            <a:pathLst>
              <a:path w="5673868" h="4023288" fill="norm" stroke="1" extrusionOk="0">
                <a:moveTo>
                  <a:pt x="5673868" y="0"/>
                </a:moveTo>
                <a:lnTo>
                  <a:pt x="0" y="0"/>
                </a:lnTo>
                <a:lnTo>
                  <a:pt x="0" y="4023288"/>
                </a:lnTo>
                <a:lnTo>
                  <a:pt x="5673868" y="4023288"/>
                </a:lnTo>
                <a:lnTo>
                  <a:pt x="567386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</p:sp>
      <p:sp>
        <p:nvSpPr>
          <p:cNvPr id="1933224147" name="Freeform 7"/>
          <p:cNvSpPr/>
          <p:nvPr/>
        </p:nvSpPr>
        <p:spPr bwMode="auto">
          <a:xfrm rot="6683604" flipH="1" flipV="1">
            <a:off x="-1024902" y="-163883"/>
            <a:ext cx="5231648" cy="3709714"/>
          </a:xfrm>
          <a:custGeom>
            <a:avLst/>
            <a:gdLst/>
            <a:ahLst/>
            <a:cxnLst/>
            <a:rect l="l" t="t" r="r" b="b"/>
            <a:pathLst>
              <a:path w="5231648" h="3709714" fill="norm" stroke="1" extrusionOk="0">
                <a:moveTo>
                  <a:pt x="5231648" y="3709714"/>
                </a:moveTo>
                <a:lnTo>
                  <a:pt x="0" y="3709714"/>
                </a:lnTo>
                <a:lnTo>
                  <a:pt x="0" y="0"/>
                </a:lnTo>
                <a:lnTo>
                  <a:pt x="5231648" y="0"/>
                </a:lnTo>
                <a:lnTo>
                  <a:pt x="5231648" y="3709714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</p:sp>
      <p:sp>
        <p:nvSpPr>
          <p:cNvPr id="359627389" name="Freeform 8"/>
          <p:cNvSpPr/>
          <p:nvPr/>
        </p:nvSpPr>
        <p:spPr bwMode="auto">
          <a:xfrm rot="0" flipH="0" flipV="0">
            <a:off x="-354022" y="149317"/>
            <a:ext cx="2320789" cy="2805371"/>
          </a:xfrm>
          <a:custGeom>
            <a:avLst/>
            <a:gdLst/>
            <a:ahLst/>
            <a:cxnLst/>
            <a:rect l="l" t="t" r="r" b="b"/>
            <a:pathLst>
              <a:path w="2320789" h="2805371" fill="norm" stroke="1" extrusionOk="0">
                <a:moveTo>
                  <a:pt x="0" y="0"/>
                </a:moveTo>
                <a:lnTo>
                  <a:pt x="2320789" y="0"/>
                </a:lnTo>
                <a:lnTo>
                  <a:pt x="2320789" y="2805371"/>
                </a:lnTo>
                <a:lnTo>
                  <a:pt x="0" y="2805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</p:sp>
      <p:sp>
        <p:nvSpPr>
          <p:cNvPr id="1209158417" name="Freeform 9"/>
          <p:cNvSpPr/>
          <p:nvPr/>
        </p:nvSpPr>
        <p:spPr bwMode="auto">
          <a:xfrm rot="4585936" flipH="0" flipV="0">
            <a:off x="16473165" y="8138617"/>
            <a:ext cx="2320789" cy="2805371"/>
          </a:xfrm>
          <a:custGeom>
            <a:avLst/>
            <a:gdLst/>
            <a:ahLst/>
            <a:cxnLst/>
            <a:rect l="l" t="t" r="r" b="b"/>
            <a:pathLst>
              <a:path w="2320789" h="2805371" fill="norm" stroke="1" extrusionOk="0">
                <a:moveTo>
                  <a:pt x="0" y="0"/>
                </a:moveTo>
                <a:lnTo>
                  <a:pt x="2320789" y="0"/>
                </a:lnTo>
                <a:lnTo>
                  <a:pt x="2320789" y="2805371"/>
                </a:lnTo>
                <a:lnTo>
                  <a:pt x="0" y="2805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</p:sp>
      <p:sp>
        <p:nvSpPr>
          <p:cNvPr id="1491400787" name="TextBox 10"/>
          <p:cNvSpPr txBox="1"/>
          <p:nvPr/>
        </p:nvSpPr>
        <p:spPr bwMode="auto">
          <a:xfrm rot="0" flipH="0" flipV="0">
            <a:off x="4671542" y="832230"/>
            <a:ext cx="12588836" cy="185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312"/>
              </a:lnSpc>
              <a:defRPr/>
            </a:pPr>
            <a:r>
              <a:rPr lang="en-US" sz="6900" spc="676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Target Audience &amp; Marketing</a:t>
            </a:r>
            <a:r>
              <a:rPr lang="en-US" sz="6900" spc="676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 </a:t>
            </a:r>
            <a:endParaRPr>
              <a:latin typeface="Asana Math"/>
              <a:cs typeface="Asana Math"/>
            </a:endParaRPr>
          </a:p>
        </p:txBody>
      </p:sp>
      <p:sp>
        <p:nvSpPr>
          <p:cNvPr id="1462357852" name="TextBox 11"/>
          <p:cNvSpPr txBox="1"/>
          <p:nvPr/>
        </p:nvSpPr>
        <p:spPr bwMode="auto">
          <a:xfrm rot="0" flipH="0" flipV="0">
            <a:off x="5671201" y="3650919"/>
            <a:ext cx="11909112" cy="4389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9316" lvl="1" indent="-454658" algn="ctr">
              <a:lnSpc>
                <a:spcPct val="20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Audience: University students &amp; young adults, 18–35</a:t>
            </a:r>
            <a:endParaRPr sz="3600">
              <a:latin typeface="Asana Math"/>
              <a:cs typeface="Asana Math"/>
            </a:endParaRPr>
          </a:p>
          <a:p>
            <a:pPr marL="909316" lvl="1" indent="-454658" algn="ctr">
              <a:lnSpc>
                <a:spcPct val="20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Channels: Instagram, Facebook, Shopify</a:t>
            </a:r>
            <a:endParaRPr sz="3600">
              <a:latin typeface="Asana Math"/>
              <a:cs typeface="Asana Math"/>
            </a:endParaRPr>
          </a:p>
          <a:p>
            <a:pPr marL="909316" lvl="1" indent="-454658" algn="ctr">
              <a:lnSpc>
                <a:spcPct val="20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Problem: SEO failure → ranked in Maldives/Sri Lanka</a:t>
            </a:r>
            <a:endParaRPr sz="3600">
              <a:latin typeface="Asana Math"/>
              <a:cs typeface="Asana Math"/>
            </a:endParaRPr>
          </a:p>
          <a:p>
            <a:pPr marL="909316" lvl="1" indent="-454658" algn="ctr">
              <a:lnSpc>
                <a:spcPct val="20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Result: Real local audience couldn’t find the website</a:t>
            </a:r>
            <a:endParaRPr sz="3600">
              <a:latin typeface="Asana Math"/>
              <a:cs typeface="Asan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225559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sp>
        <p:nvSpPr>
          <p:cNvPr id="1471051267" name="Freeform 3"/>
          <p:cNvSpPr/>
          <p:nvPr/>
        </p:nvSpPr>
        <p:spPr bwMode="auto">
          <a:xfrm rot="0" flipH="0" flipV="0">
            <a:off x="8085901" y="7878973"/>
            <a:ext cx="2116199" cy="1752016"/>
          </a:xfrm>
          <a:custGeom>
            <a:avLst/>
            <a:gdLst/>
            <a:ahLst/>
            <a:cxnLst/>
            <a:rect l="l" t="t" r="r" b="b"/>
            <a:pathLst>
              <a:path w="2116199" h="1752017" fill="norm" stroke="1" extrusionOk="0">
                <a:moveTo>
                  <a:pt x="0" y="0"/>
                </a:moveTo>
                <a:lnTo>
                  <a:pt x="2116198" y="0"/>
                </a:lnTo>
                <a:lnTo>
                  <a:pt x="2116198" y="1752017"/>
                </a:lnTo>
                <a:lnTo>
                  <a:pt x="0" y="1752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38700" t="39101" r="37097" b="30823"/>
            <a:stretch/>
          </a:blipFill>
        </p:spPr>
      </p:sp>
      <p:sp>
        <p:nvSpPr>
          <p:cNvPr id="2087398827" name="TextBox 4"/>
          <p:cNvSpPr txBox="1"/>
          <p:nvPr/>
        </p:nvSpPr>
        <p:spPr bwMode="auto">
          <a:xfrm rot="0">
            <a:off x="3655362" y="688992"/>
            <a:ext cx="10977276" cy="103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  <a:defRPr/>
            </a:pPr>
            <a:r>
              <a:rPr lang="en-US" sz="6900" spc="676">
                <a:solidFill>
                  <a:srgbClr val="FFFFFF"/>
                </a:solidFill>
                <a:latin typeface="Villagers Grunge"/>
                <a:ea typeface="Villagers Grunge"/>
                <a:cs typeface="Villagers Grunge"/>
              </a:rPr>
              <a:t>Why It Failed</a:t>
            </a:r>
            <a:endParaRPr/>
          </a:p>
        </p:txBody>
      </p:sp>
      <p:grpSp>
        <p:nvGrpSpPr>
          <p:cNvPr id="152483971" name="Group 5"/>
          <p:cNvGrpSpPr/>
          <p:nvPr/>
        </p:nvGrpSpPr>
        <p:grpSpPr bwMode="auto">
          <a:xfrm rot="0">
            <a:off x="1192703" y="2244873"/>
            <a:ext cx="4017103" cy="5020049"/>
            <a:chOff x="0" y="0"/>
            <a:chExt cx="5356138" cy="6693399"/>
          </a:xfrm>
        </p:grpSpPr>
        <p:grpSp>
          <p:nvGrpSpPr>
            <p:cNvPr id="6" name="Group 6"/>
            <p:cNvGrpSpPr/>
            <p:nvPr/>
          </p:nvGrpSpPr>
          <p:grpSpPr bwMode="auto">
            <a:xfrm rot="0">
              <a:off x="0" y="0"/>
              <a:ext cx="5356138" cy="6693399"/>
              <a:chOff x="0" y="0"/>
              <a:chExt cx="1058002" cy="1322153"/>
            </a:xfrm>
          </p:grpSpPr>
          <p:sp>
            <p:nvSpPr>
              <p:cNvPr id="7" name="Freeform 7"/>
              <p:cNvSpPr/>
              <p:nvPr/>
            </p:nvSpPr>
            <p:spPr bwMode="auto">
              <a:xfrm rot="0" flipH="0" flipV="0">
                <a:off x="0" y="0"/>
                <a:ext cx="1058002" cy="1322153"/>
              </a:xfrm>
              <a:custGeom>
                <a:avLst/>
                <a:gdLst/>
                <a:ahLst/>
                <a:cxnLst/>
                <a:rect l="l" t="t" r="r" b="b"/>
                <a:pathLst>
                  <a:path w="1058002" h="1322153" fill="norm" stroke="1" extrusionOk="0">
                    <a:moveTo>
                      <a:pt x="44327" y="0"/>
                    </a:moveTo>
                    <a:lnTo>
                      <a:pt x="1013676" y="0"/>
                    </a:lnTo>
                    <a:cubicBezTo>
                      <a:pt x="1038157" y="0"/>
                      <a:pt x="1058002" y="19846"/>
                      <a:pt x="1058002" y="44327"/>
                    </a:cubicBezTo>
                    <a:lnTo>
                      <a:pt x="1058002" y="1277826"/>
                    </a:lnTo>
                    <a:cubicBezTo>
                      <a:pt x="1058002" y="1289582"/>
                      <a:pt x="1053332" y="1300857"/>
                      <a:pt x="1045020" y="1309170"/>
                    </a:cubicBezTo>
                    <a:cubicBezTo>
                      <a:pt x="1036707" y="1317483"/>
                      <a:pt x="1025432" y="1322153"/>
                      <a:pt x="1013676" y="1322153"/>
                    </a:cubicBezTo>
                    <a:lnTo>
                      <a:pt x="44327" y="1322153"/>
                    </a:lnTo>
                    <a:cubicBezTo>
                      <a:pt x="32570" y="1322153"/>
                      <a:pt x="21296" y="1317483"/>
                      <a:pt x="12983" y="1309170"/>
                    </a:cubicBezTo>
                    <a:cubicBezTo>
                      <a:pt x="4670" y="1300857"/>
                      <a:pt x="0" y="1289582"/>
                      <a:pt x="0" y="1277826"/>
                    </a:cubicBezTo>
                    <a:lnTo>
                      <a:pt x="0" y="44327"/>
                    </a:lnTo>
                    <a:cubicBezTo>
                      <a:pt x="0" y="32570"/>
                      <a:pt x="4670" y="21296"/>
                      <a:pt x="12983" y="12983"/>
                    </a:cubicBezTo>
                    <a:cubicBezTo>
                      <a:pt x="21296" y="4670"/>
                      <a:pt x="32570" y="0"/>
                      <a:pt x="443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43C34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 bwMode="auto">
              <a:xfrm>
                <a:off x="0" y="-38100"/>
                <a:ext cx="1058002" cy="1360253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  <a:defRPr/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 bwMode="auto">
            <a:xfrm rot="0">
              <a:off x="732618" y="352248"/>
              <a:ext cx="3890903" cy="6447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  <a:spcBef>
                  <a:spcPts val="0"/>
                </a:spcBef>
                <a:defRPr/>
              </a:pPr>
              <a:r>
                <a:rPr lang="en-US" sz="2900" u="sng">
                  <a:solidFill>
                    <a:srgbClr val="2A282B"/>
                  </a:solidFill>
                  <a:latin typeface="Dekko"/>
                  <a:ea typeface="Dekko"/>
                  <a:cs typeface="Dekko"/>
                </a:rPr>
                <a:t>T</a:t>
              </a:r>
              <a:r>
                <a:rPr lang="en-US" sz="2900" u="sng">
                  <a:solidFill>
                    <a:srgbClr val="2A282B"/>
                  </a:solidFill>
                  <a:latin typeface="Dekko"/>
                  <a:ea typeface="Dekko"/>
                  <a:cs typeface="Dekko"/>
                </a:rPr>
                <a:t>echnical</a:t>
              </a:r>
              <a:endParaRPr/>
            </a:p>
          </p:txBody>
        </p:sp>
        <p:sp>
          <p:nvSpPr>
            <p:cNvPr id="10" name="TextBox 10"/>
            <p:cNvSpPr txBox="1"/>
            <p:nvPr/>
          </p:nvSpPr>
          <p:spPr bwMode="auto">
            <a:xfrm rot="0">
              <a:off x="307493" y="1194457"/>
              <a:ext cx="4741151" cy="51938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0"/>
                </a:lnSpc>
                <a:spcBef>
                  <a:spcPts val="0"/>
                </a:spcBef>
                <a:defRPr/>
              </a:pPr>
              <a:r>
                <a:rPr lang="en-US" sz="3200">
                  <a:solidFill>
                    <a:srgbClr val="2A282B"/>
                  </a:solidFill>
                  <a:latin typeface="Dekko"/>
                  <a:ea typeface="Dekko"/>
                  <a:cs typeface="Dekko"/>
                </a:rPr>
                <a:t>SEO misdirected, irrelevant traffic pulls uninterested visitors to your site, wasting resources and hindering conversions.</a:t>
              </a:r>
              <a:endParaRPr/>
            </a:p>
          </p:txBody>
        </p:sp>
      </p:grpSp>
      <p:grpSp>
        <p:nvGrpSpPr>
          <p:cNvPr id="784793016" name="Group 11"/>
          <p:cNvGrpSpPr/>
          <p:nvPr/>
        </p:nvGrpSpPr>
        <p:grpSpPr bwMode="auto">
          <a:xfrm rot="0">
            <a:off x="7135448" y="2244873"/>
            <a:ext cx="4017103" cy="5020049"/>
            <a:chOff x="0" y="0"/>
            <a:chExt cx="5356138" cy="6693399"/>
          </a:xfrm>
        </p:grpSpPr>
        <p:grpSp>
          <p:nvGrpSpPr>
            <p:cNvPr id="12" name="Group 12"/>
            <p:cNvGrpSpPr/>
            <p:nvPr/>
          </p:nvGrpSpPr>
          <p:grpSpPr bwMode="auto">
            <a:xfrm rot="0">
              <a:off x="0" y="0"/>
              <a:ext cx="5356138" cy="6693399"/>
              <a:chOff x="0" y="0"/>
              <a:chExt cx="1058002" cy="1322153"/>
            </a:xfrm>
          </p:grpSpPr>
          <p:sp>
            <p:nvSpPr>
              <p:cNvPr id="13" name="Freeform 13"/>
              <p:cNvSpPr/>
              <p:nvPr/>
            </p:nvSpPr>
            <p:spPr bwMode="auto">
              <a:xfrm rot="0" flipH="0" flipV="0">
                <a:off x="0" y="0"/>
                <a:ext cx="1058002" cy="1322153"/>
              </a:xfrm>
              <a:custGeom>
                <a:avLst/>
                <a:gdLst/>
                <a:ahLst/>
                <a:cxnLst/>
                <a:rect l="l" t="t" r="r" b="b"/>
                <a:pathLst>
                  <a:path w="1058002" h="1322153" fill="norm" stroke="1" extrusionOk="0">
                    <a:moveTo>
                      <a:pt x="44327" y="0"/>
                    </a:moveTo>
                    <a:lnTo>
                      <a:pt x="1013676" y="0"/>
                    </a:lnTo>
                    <a:cubicBezTo>
                      <a:pt x="1038157" y="0"/>
                      <a:pt x="1058002" y="19846"/>
                      <a:pt x="1058002" y="44327"/>
                    </a:cubicBezTo>
                    <a:lnTo>
                      <a:pt x="1058002" y="1277826"/>
                    </a:lnTo>
                    <a:cubicBezTo>
                      <a:pt x="1058002" y="1289582"/>
                      <a:pt x="1053332" y="1300857"/>
                      <a:pt x="1045020" y="1309170"/>
                    </a:cubicBezTo>
                    <a:cubicBezTo>
                      <a:pt x="1036707" y="1317483"/>
                      <a:pt x="1025432" y="1322153"/>
                      <a:pt x="1013676" y="1322153"/>
                    </a:cubicBezTo>
                    <a:lnTo>
                      <a:pt x="44327" y="1322153"/>
                    </a:lnTo>
                    <a:cubicBezTo>
                      <a:pt x="32570" y="1322153"/>
                      <a:pt x="21296" y="1317483"/>
                      <a:pt x="12983" y="1309170"/>
                    </a:cubicBezTo>
                    <a:cubicBezTo>
                      <a:pt x="4670" y="1300857"/>
                      <a:pt x="0" y="1289582"/>
                      <a:pt x="0" y="1277826"/>
                    </a:cubicBezTo>
                    <a:lnTo>
                      <a:pt x="0" y="44327"/>
                    </a:lnTo>
                    <a:cubicBezTo>
                      <a:pt x="0" y="32570"/>
                      <a:pt x="4670" y="21296"/>
                      <a:pt x="12983" y="12983"/>
                    </a:cubicBezTo>
                    <a:cubicBezTo>
                      <a:pt x="21296" y="4670"/>
                      <a:pt x="32570" y="0"/>
                      <a:pt x="443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43C34"/>
                </a:solidFill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 bwMode="auto">
              <a:xfrm>
                <a:off x="0" y="-38100"/>
                <a:ext cx="1058002" cy="1360253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  <a:defRPr/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 bwMode="auto">
            <a:xfrm rot="0">
              <a:off x="378642" y="346947"/>
              <a:ext cx="4598854" cy="6447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  <a:spcBef>
                  <a:spcPts val="0"/>
                </a:spcBef>
                <a:defRPr/>
              </a:pPr>
              <a:r>
                <a:rPr lang="en-US" sz="2900" u="sng">
                  <a:solidFill>
                    <a:srgbClr val="000000"/>
                  </a:solidFill>
                  <a:latin typeface="Dekko"/>
                  <a:ea typeface="Dekko"/>
                  <a:cs typeface="Dekko"/>
                </a:rPr>
                <a:t>Operational/Financial</a:t>
              </a:r>
              <a:endParaRPr/>
            </a:p>
          </p:txBody>
        </p:sp>
        <p:sp>
          <p:nvSpPr>
            <p:cNvPr id="16" name="TextBox 16"/>
            <p:cNvSpPr txBox="1"/>
            <p:nvPr/>
          </p:nvSpPr>
          <p:spPr bwMode="auto">
            <a:xfrm rot="0">
              <a:off x="603648" y="1239598"/>
              <a:ext cx="4148842" cy="51938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0"/>
                </a:lnSpc>
                <a:spcBef>
                  <a:spcPts val="0"/>
                </a:spcBef>
                <a:defRPr/>
              </a:pPr>
              <a:r>
                <a:rPr lang="en-US" sz="3200">
                  <a:solidFill>
                    <a:srgbClr val="000000"/>
                  </a:solidFill>
                  <a:latin typeface="Dekko"/>
                  <a:ea typeface="Dekko"/>
                  <a:cs typeface="Dekko"/>
                </a:rPr>
                <a:t>C</a:t>
              </a:r>
              <a:r>
                <a:rPr lang="en-US" sz="3200">
                  <a:solidFill>
                    <a:srgbClr val="000000"/>
                  </a:solidFill>
                  <a:latin typeface="Dekko"/>
                  <a:ea typeface="Dekko"/>
                  <a:cs typeface="Dekko"/>
                </a:rPr>
                <a:t>ash-on-delivery (COD) cancellations directly lead to repeated financial losses for the business.</a:t>
              </a:r>
              <a:endParaRPr/>
            </a:p>
          </p:txBody>
        </p:sp>
      </p:grpSp>
      <p:grpSp>
        <p:nvGrpSpPr>
          <p:cNvPr id="646383057" name="Group 17"/>
          <p:cNvGrpSpPr/>
          <p:nvPr/>
        </p:nvGrpSpPr>
        <p:grpSpPr bwMode="auto">
          <a:xfrm rot="0">
            <a:off x="12751644" y="2244873"/>
            <a:ext cx="4017103" cy="5020049"/>
            <a:chOff x="0" y="0"/>
            <a:chExt cx="5356138" cy="6693399"/>
          </a:xfrm>
        </p:grpSpPr>
        <p:grpSp>
          <p:nvGrpSpPr>
            <p:cNvPr id="18" name="Group 18"/>
            <p:cNvGrpSpPr/>
            <p:nvPr/>
          </p:nvGrpSpPr>
          <p:grpSpPr bwMode="auto">
            <a:xfrm rot="0">
              <a:off x="0" y="0"/>
              <a:ext cx="5356138" cy="6693399"/>
              <a:chOff x="0" y="0"/>
              <a:chExt cx="1058002" cy="1322153"/>
            </a:xfrm>
          </p:grpSpPr>
          <p:sp>
            <p:nvSpPr>
              <p:cNvPr id="19" name="Freeform 19"/>
              <p:cNvSpPr/>
              <p:nvPr/>
            </p:nvSpPr>
            <p:spPr bwMode="auto">
              <a:xfrm rot="0" flipH="0" flipV="0">
                <a:off x="0" y="0"/>
                <a:ext cx="1058002" cy="1322153"/>
              </a:xfrm>
              <a:custGeom>
                <a:avLst/>
                <a:gdLst/>
                <a:ahLst/>
                <a:cxnLst/>
                <a:rect l="l" t="t" r="r" b="b"/>
                <a:pathLst>
                  <a:path w="1058002" h="1322153" fill="norm" stroke="1" extrusionOk="0">
                    <a:moveTo>
                      <a:pt x="44327" y="0"/>
                    </a:moveTo>
                    <a:lnTo>
                      <a:pt x="1013676" y="0"/>
                    </a:lnTo>
                    <a:cubicBezTo>
                      <a:pt x="1038157" y="0"/>
                      <a:pt x="1058002" y="19846"/>
                      <a:pt x="1058002" y="44327"/>
                    </a:cubicBezTo>
                    <a:lnTo>
                      <a:pt x="1058002" y="1277826"/>
                    </a:lnTo>
                    <a:cubicBezTo>
                      <a:pt x="1058002" y="1289582"/>
                      <a:pt x="1053332" y="1300857"/>
                      <a:pt x="1045020" y="1309170"/>
                    </a:cubicBezTo>
                    <a:cubicBezTo>
                      <a:pt x="1036707" y="1317483"/>
                      <a:pt x="1025432" y="1322153"/>
                      <a:pt x="1013676" y="1322153"/>
                    </a:cubicBezTo>
                    <a:lnTo>
                      <a:pt x="44327" y="1322153"/>
                    </a:lnTo>
                    <a:cubicBezTo>
                      <a:pt x="32570" y="1322153"/>
                      <a:pt x="21296" y="1317483"/>
                      <a:pt x="12983" y="1309170"/>
                    </a:cubicBezTo>
                    <a:cubicBezTo>
                      <a:pt x="4670" y="1300857"/>
                      <a:pt x="0" y="1289582"/>
                      <a:pt x="0" y="1277826"/>
                    </a:cubicBezTo>
                    <a:lnTo>
                      <a:pt x="0" y="44327"/>
                    </a:lnTo>
                    <a:cubicBezTo>
                      <a:pt x="0" y="32570"/>
                      <a:pt x="4670" y="21296"/>
                      <a:pt x="12983" y="12983"/>
                    </a:cubicBezTo>
                    <a:cubicBezTo>
                      <a:pt x="21296" y="4670"/>
                      <a:pt x="32570" y="0"/>
                      <a:pt x="443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43C34"/>
                </a:solidFill>
                <a:prstDash val="solid"/>
                <a:round/>
              </a:ln>
            </p:spPr>
          </p:sp>
          <p:sp>
            <p:nvSpPr>
              <p:cNvPr id="20" name="TextBox 20"/>
              <p:cNvSpPr txBox="1"/>
              <p:nvPr/>
            </p:nvSpPr>
            <p:spPr bwMode="auto">
              <a:xfrm>
                <a:off x="0" y="-38100"/>
                <a:ext cx="1058002" cy="1360253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  <a:defRPr/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 bwMode="auto">
            <a:xfrm rot="0">
              <a:off x="732618" y="386118"/>
              <a:ext cx="3890903" cy="6447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  <a:spcBef>
                  <a:spcPts val="0"/>
                </a:spcBef>
                <a:defRPr/>
              </a:pPr>
              <a:r>
                <a:rPr lang="en-US" sz="2900" u="sng">
                  <a:solidFill>
                    <a:srgbClr val="2A282B"/>
                  </a:solidFill>
                  <a:latin typeface="Dekko"/>
                  <a:ea typeface="Dekko"/>
                  <a:cs typeface="Dekko"/>
                </a:rPr>
                <a:t>Low Budget</a:t>
              </a:r>
              <a:endParaRPr/>
            </a:p>
          </p:txBody>
        </p:sp>
        <p:sp>
          <p:nvSpPr>
            <p:cNvPr id="22" name="TextBox 22"/>
            <p:cNvSpPr txBox="1"/>
            <p:nvPr/>
          </p:nvSpPr>
          <p:spPr bwMode="auto">
            <a:xfrm rot="0">
              <a:off x="610544" y="1239598"/>
              <a:ext cx="4135049" cy="51938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0"/>
                </a:lnSpc>
                <a:spcBef>
                  <a:spcPts val="0"/>
                </a:spcBef>
                <a:defRPr/>
              </a:pPr>
              <a:r>
                <a:rPr lang="en-US" sz="3200">
                  <a:solidFill>
                    <a:srgbClr val="000000"/>
                  </a:solidFill>
                  <a:latin typeface="Dekko"/>
                  <a:ea typeface="Dekko"/>
                  <a:cs typeface="Dekko"/>
                </a:rPr>
                <a:t>A l</a:t>
              </a:r>
              <a:r>
                <a:rPr lang="en-US" sz="3200">
                  <a:solidFill>
                    <a:srgbClr val="000000"/>
                  </a:solidFill>
                  <a:latin typeface="Dekko"/>
                  <a:ea typeface="Dekko"/>
                  <a:cs typeface="Dekko"/>
                </a:rPr>
                <a:t>imited marketing budget and low brand awareness contribute to unsustainable cash flow.</a:t>
              </a:r>
              <a:endParaRPr/>
            </a:p>
          </p:txBody>
        </p:sp>
      </p:grpSp>
      <p:sp>
        <p:nvSpPr>
          <p:cNvPr id="92503977" name="Freeform 23"/>
          <p:cNvSpPr/>
          <p:nvPr/>
        </p:nvSpPr>
        <p:spPr bwMode="auto">
          <a:xfrm rot="0" flipH="0" flipV="0">
            <a:off x="2216045" y="7878973"/>
            <a:ext cx="1970419" cy="1752016"/>
          </a:xfrm>
          <a:custGeom>
            <a:avLst/>
            <a:gdLst/>
            <a:ahLst/>
            <a:cxnLst/>
            <a:rect l="l" t="t" r="r" b="b"/>
            <a:pathLst>
              <a:path w="1970419" h="1752017" fill="norm" stroke="1" extrusionOk="0">
                <a:moveTo>
                  <a:pt x="0" y="0"/>
                </a:moveTo>
                <a:lnTo>
                  <a:pt x="1970419" y="0"/>
                </a:lnTo>
                <a:lnTo>
                  <a:pt x="1970419" y="1752017"/>
                </a:lnTo>
                <a:lnTo>
                  <a:pt x="0" y="1752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9730" t="39101" r="67733" b="30823"/>
            <a:stretch/>
          </a:blipFill>
        </p:spPr>
      </p:sp>
      <p:sp>
        <p:nvSpPr>
          <p:cNvPr id="624650984" name="Freeform 24"/>
          <p:cNvSpPr/>
          <p:nvPr/>
        </p:nvSpPr>
        <p:spPr bwMode="auto">
          <a:xfrm rot="0" flipH="0" flipV="0">
            <a:off x="13711208" y="7878973"/>
            <a:ext cx="2097976" cy="1752016"/>
          </a:xfrm>
          <a:custGeom>
            <a:avLst/>
            <a:gdLst/>
            <a:ahLst/>
            <a:cxnLst/>
            <a:rect l="l" t="t" r="r" b="b"/>
            <a:pathLst>
              <a:path w="2097976" h="1752017" fill="norm" stroke="1" extrusionOk="0">
                <a:moveTo>
                  <a:pt x="0" y="0"/>
                </a:moveTo>
                <a:lnTo>
                  <a:pt x="2097976" y="0"/>
                </a:lnTo>
                <a:lnTo>
                  <a:pt x="2097976" y="1752017"/>
                </a:lnTo>
                <a:lnTo>
                  <a:pt x="0" y="1752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69336" t="39101" r="6668" b="30823"/>
            <a:stretch/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246591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grpSp>
        <p:nvGrpSpPr>
          <p:cNvPr id="1156970559" name="Group 3"/>
          <p:cNvGrpSpPr>
            <a:grpSpLocks noChangeAspect="1"/>
          </p:cNvGrpSpPr>
          <p:nvPr/>
        </p:nvGrpSpPr>
        <p:grpSpPr bwMode="auto">
          <a:xfrm rot="0">
            <a:off x="12237470" y="5645751"/>
            <a:ext cx="7575015" cy="5419359"/>
            <a:chOff x="0" y="0"/>
            <a:chExt cx="4584192" cy="3279648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4584192" cy="3279648"/>
            </a:xfrm>
            <a:custGeom>
              <a:avLst/>
              <a:gdLst/>
              <a:ahLst/>
              <a:cxnLst/>
              <a:rect l="l" t="t" r="r" b="b"/>
              <a:pathLst>
                <a:path w="4584192" h="3279648" fill="norm" stroke="1" extrusionOk="0">
                  <a:moveTo>
                    <a:pt x="4584192" y="3279648"/>
                  </a:moveTo>
                  <a:lnTo>
                    <a:pt x="0" y="3279648"/>
                  </a:lnTo>
                  <a:lnTo>
                    <a:pt x="0" y="0"/>
                  </a:lnTo>
                  <a:lnTo>
                    <a:pt x="4584192" y="0"/>
                  </a:lnTo>
                  <a:lnTo>
                    <a:pt x="4584192" y="3279648"/>
                  </a:lnTo>
                  <a:close/>
                </a:path>
              </a:pathLst>
            </a:custGeom>
            <a:blipFill>
              <a:blip r:embed="rId4"/>
              <a:srcRect l="28" t="0" r="28" b="0"/>
              <a:stretch/>
            </a:blipFill>
          </p:spPr>
        </p:sp>
        <p:sp>
          <p:nvSpPr>
            <p:cNvPr id="5" name="Freeform 5"/>
            <p:cNvSpPr/>
            <p:nvPr/>
          </p:nvSpPr>
          <p:spPr bwMode="auto">
            <a:xfrm rot="0" flipH="0" flipV="0">
              <a:off x="63980" y="23119"/>
              <a:ext cx="4450362" cy="3189732"/>
            </a:xfrm>
            <a:custGeom>
              <a:avLst/>
              <a:gdLst/>
              <a:ahLst/>
              <a:cxnLst/>
              <a:rect l="l" t="t" r="r" b="b"/>
              <a:pathLst>
                <a:path w="4450362" h="3189732" fill="norm" stroke="1" extrusionOk="0">
                  <a:moveTo>
                    <a:pt x="1683722" y="191573"/>
                  </a:moveTo>
                  <a:cubicBezTo>
                    <a:pt x="1630586" y="213467"/>
                    <a:pt x="1578238" y="237063"/>
                    <a:pt x="1526818" y="262011"/>
                  </a:cubicBezTo>
                  <a:cubicBezTo>
                    <a:pt x="1354653" y="345546"/>
                    <a:pt x="1184946" y="404118"/>
                    <a:pt x="990617" y="383530"/>
                  </a:cubicBezTo>
                  <a:cubicBezTo>
                    <a:pt x="739285" y="356903"/>
                    <a:pt x="448733" y="330008"/>
                    <a:pt x="269970" y="508681"/>
                  </a:cubicBezTo>
                  <a:cubicBezTo>
                    <a:pt x="138854" y="639732"/>
                    <a:pt x="113725" y="844052"/>
                    <a:pt x="132070" y="1028527"/>
                  </a:cubicBezTo>
                  <a:cubicBezTo>
                    <a:pt x="150414" y="1213003"/>
                    <a:pt x="204488" y="1394155"/>
                    <a:pt x="202568" y="1579531"/>
                  </a:cubicBezTo>
                  <a:cubicBezTo>
                    <a:pt x="200122" y="1815750"/>
                    <a:pt x="107385" y="2040354"/>
                    <a:pt x="55443" y="2270805"/>
                  </a:cubicBezTo>
                  <a:cubicBezTo>
                    <a:pt x="3500" y="2501255"/>
                    <a:pt x="0" y="2765828"/>
                    <a:pt x="150410" y="2947981"/>
                  </a:cubicBezTo>
                  <a:cubicBezTo>
                    <a:pt x="350030" y="3189732"/>
                    <a:pt x="727375" y="3179629"/>
                    <a:pt x="1023317" y="3076166"/>
                  </a:cubicBezTo>
                  <a:cubicBezTo>
                    <a:pt x="1319260" y="2972702"/>
                    <a:pt x="1596862" y="2797070"/>
                    <a:pt x="1909477" y="2773458"/>
                  </a:cubicBezTo>
                  <a:cubicBezTo>
                    <a:pt x="2389121" y="2737229"/>
                    <a:pt x="2833277" y="3066330"/>
                    <a:pt x="3314271" y="3062191"/>
                  </a:cubicBezTo>
                  <a:cubicBezTo>
                    <a:pt x="3922471" y="3056959"/>
                    <a:pt x="4427849" y="2465033"/>
                    <a:pt x="4439106" y="1856885"/>
                  </a:cubicBezTo>
                  <a:cubicBezTo>
                    <a:pt x="4450362" y="1248737"/>
                    <a:pt x="4043930" y="682399"/>
                    <a:pt x="3510131" y="390850"/>
                  </a:cubicBezTo>
                  <a:cubicBezTo>
                    <a:pt x="3230877" y="238328"/>
                    <a:pt x="2942566" y="89503"/>
                    <a:pt x="2623518" y="44904"/>
                  </a:cubicBezTo>
                  <a:cubicBezTo>
                    <a:pt x="2302293" y="0"/>
                    <a:pt x="1980719" y="69200"/>
                    <a:pt x="1683722" y="191573"/>
                  </a:cubicBezTo>
                  <a:close/>
                </a:path>
              </a:pathLst>
            </a:custGeom>
            <a:blipFill>
              <a:blip r:embed="rId5"/>
              <a:srcRect l="0" t="14741" r="0" b="14741"/>
              <a:stretch/>
            </a:blipFill>
          </p:spPr>
        </p:sp>
      </p:grpSp>
      <p:sp>
        <p:nvSpPr>
          <p:cNvPr id="1576479679" name="Freeform 6"/>
          <p:cNvSpPr/>
          <p:nvPr/>
        </p:nvSpPr>
        <p:spPr bwMode="auto">
          <a:xfrm rot="0" flipH="0" flipV="0">
            <a:off x="16024977" y="-613150"/>
            <a:ext cx="3085745" cy="2688455"/>
          </a:xfrm>
          <a:custGeom>
            <a:avLst/>
            <a:gdLst/>
            <a:ahLst/>
            <a:cxnLst/>
            <a:rect l="l" t="t" r="r" b="b"/>
            <a:pathLst>
              <a:path w="3085745" h="2688455" fill="norm" stroke="1" extrusionOk="0">
                <a:moveTo>
                  <a:pt x="0" y="0"/>
                </a:moveTo>
                <a:lnTo>
                  <a:pt x="3085745" y="0"/>
                </a:lnTo>
                <a:lnTo>
                  <a:pt x="3085745" y="2688455"/>
                </a:lnTo>
                <a:lnTo>
                  <a:pt x="0" y="26884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</p:sp>
      <p:sp>
        <p:nvSpPr>
          <p:cNvPr id="1497525445" name="Freeform 7"/>
          <p:cNvSpPr/>
          <p:nvPr/>
        </p:nvSpPr>
        <p:spPr bwMode="auto">
          <a:xfrm rot="0" flipH="0" flipV="0">
            <a:off x="-1148885" y="8025481"/>
            <a:ext cx="2297771" cy="2793642"/>
          </a:xfrm>
          <a:custGeom>
            <a:avLst/>
            <a:gdLst/>
            <a:ahLst/>
            <a:cxnLst/>
            <a:rect l="l" t="t" r="r" b="b"/>
            <a:pathLst>
              <a:path w="2297771" h="2793642" fill="norm" stroke="1" extrusionOk="0">
                <a:moveTo>
                  <a:pt x="0" y="0"/>
                </a:moveTo>
                <a:lnTo>
                  <a:pt x="2297770" y="0"/>
                </a:lnTo>
                <a:lnTo>
                  <a:pt x="2297770" y="2793643"/>
                </a:lnTo>
                <a:lnTo>
                  <a:pt x="0" y="27936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</p:sp>
      <p:sp>
        <p:nvSpPr>
          <p:cNvPr id="1335523160" name="Freeform 8"/>
          <p:cNvSpPr/>
          <p:nvPr/>
        </p:nvSpPr>
        <p:spPr bwMode="auto">
          <a:xfrm rot="0" flipH="0" flipV="0">
            <a:off x="-2545782" y="-1326322"/>
            <a:ext cx="6035039" cy="4114800"/>
          </a:xfrm>
          <a:custGeom>
            <a:avLst/>
            <a:gdLst/>
            <a:ahLst/>
            <a:cxnLst/>
            <a:rect l="l" t="t" r="r" b="b"/>
            <a:pathLst>
              <a:path w="6035040" h="4114800" fill="norm" stroke="1" extrusionOk="0">
                <a:moveTo>
                  <a:pt x="0" y="0"/>
                </a:moveTo>
                <a:lnTo>
                  <a:pt x="6035040" y="0"/>
                </a:lnTo>
                <a:lnTo>
                  <a:pt x="60350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</p:sp>
      <p:sp>
        <p:nvSpPr>
          <p:cNvPr id="190905130" name="Freeform 9"/>
          <p:cNvSpPr/>
          <p:nvPr/>
        </p:nvSpPr>
        <p:spPr bwMode="auto">
          <a:xfrm rot="0" flipH="0" flipV="0">
            <a:off x="12436787" y="339374"/>
            <a:ext cx="2302084" cy="2315921"/>
          </a:xfrm>
          <a:custGeom>
            <a:avLst/>
            <a:gdLst/>
            <a:ahLst/>
            <a:cxnLst/>
            <a:rect l="l" t="t" r="r" b="b"/>
            <a:pathLst>
              <a:path w="2302084" h="2315921" fill="norm" stroke="1" extrusionOk="0">
                <a:moveTo>
                  <a:pt x="0" y="0"/>
                </a:moveTo>
                <a:lnTo>
                  <a:pt x="2302084" y="0"/>
                </a:lnTo>
                <a:lnTo>
                  <a:pt x="2302084" y="2315922"/>
                </a:lnTo>
                <a:lnTo>
                  <a:pt x="0" y="23159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24663" t="19099" r="24257" b="29515"/>
            <a:stretch/>
          </a:blipFill>
        </p:spPr>
      </p:sp>
      <p:sp>
        <p:nvSpPr>
          <p:cNvPr id="589264481" name="TextBox 10"/>
          <p:cNvSpPr txBox="1"/>
          <p:nvPr/>
        </p:nvSpPr>
        <p:spPr bwMode="auto">
          <a:xfrm rot="0">
            <a:off x="1586185" y="3918721"/>
            <a:ext cx="10850960" cy="497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799" algn="ctr">
              <a:lnSpc>
                <a:spcPts val="5599"/>
              </a:lnSpc>
              <a:buFont typeface="Arial"/>
              <a:buChar char="•"/>
              <a:defRPr/>
            </a:pPr>
            <a:r>
              <a:rPr lang="en-US" sz="40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Technical: Geo-targeting + proper local SEO</a:t>
            </a:r>
            <a:endParaRPr>
              <a:latin typeface="Asana Math"/>
              <a:cs typeface="Asana Math"/>
            </a:endParaRPr>
          </a:p>
          <a:p>
            <a:pPr marL="863599" lvl="1" indent="-431799" algn="ctr">
              <a:lnSpc>
                <a:spcPts val="5599"/>
              </a:lnSpc>
              <a:buFont typeface="Arial"/>
              <a:buChar char="•"/>
              <a:defRPr/>
            </a:pPr>
            <a:r>
              <a:rPr lang="en-US" sz="40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Marketing: Focused Instagram/Facebook Ads, better visuals</a:t>
            </a:r>
            <a:endParaRPr>
              <a:latin typeface="Asana Math"/>
              <a:cs typeface="Asana Math"/>
            </a:endParaRPr>
          </a:p>
          <a:p>
            <a:pPr marL="863599" lvl="1" indent="-431799" algn="ctr">
              <a:lnSpc>
                <a:spcPts val="5599"/>
              </a:lnSpc>
              <a:buFont typeface="Arial"/>
              <a:buChar char="•"/>
              <a:defRPr/>
            </a:pPr>
            <a:r>
              <a:rPr lang="en-US" sz="40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Operations: Partial advance payment, new suppliers, small-batch inventory</a:t>
            </a:r>
            <a:endParaRPr>
              <a:latin typeface="Asana Math"/>
              <a:cs typeface="Asana Math"/>
            </a:endParaRPr>
          </a:p>
          <a:p>
            <a:pPr marL="863599" lvl="1" indent="-431799" algn="ctr">
              <a:lnSpc>
                <a:spcPts val="5599"/>
              </a:lnSpc>
              <a:buFont typeface="Arial"/>
              <a:buChar char="•"/>
              <a:defRPr/>
            </a:pPr>
            <a:r>
              <a:rPr lang="en-US" sz="400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Key lessons: Market validation, technical execution, risk management, resilience</a:t>
            </a:r>
            <a:endParaRPr>
              <a:latin typeface="Asana Math"/>
              <a:cs typeface="Asana Math"/>
            </a:endParaRPr>
          </a:p>
        </p:txBody>
      </p:sp>
      <p:sp>
        <p:nvSpPr>
          <p:cNvPr id="1985179783" name="TextBox 11"/>
          <p:cNvSpPr txBox="1"/>
          <p:nvPr/>
        </p:nvSpPr>
        <p:spPr bwMode="auto">
          <a:xfrm rot="0">
            <a:off x="3764696" y="983556"/>
            <a:ext cx="7752251" cy="185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  <a:defRPr/>
            </a:pPr>
            <a:r>
              <a:rPr lang="en-US" sz="6900" spc="614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How It Could Succeed</a:t>
            </a:r>
            <a:endParaRPr>
              <a:latin typeface="Asana Math"/>
              <a:cs typeface="Asan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13403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sp>
        <p:nvSpPr>
          <p:cNvPr id="685169262" name="Freeform 3"/>
          <p:cNvSpPr/>
          <p:nvPr/>
        </p:nvSpPr>
        <p:spPr bwMode="auto">
          <a:xfrm rot="0" flipH="0" flipV="0">
            <a:off x="16672538" y="8472887"/>
            <a:ext cx="2297771" cy="2793642"/>
          </a:xfrm>
          <a:custGeom>
            <a:avLst/>
            <a:gdLst/>
            <a:ahLst/>
            <a:cxnLst/>
            <a:rect l="l" t="t" r="r" b="b"/>
            <a:pathLst>
              <a:path w="2297771" h="2793642" fill="norm" stroke="1" extrusionOk="0">
                <a:moveTo>
                  <a:pt x="0" y="0"/>
                </a:moveTo>
                <a:lnTo>
                  <a:pt x="2297771" y="0"/>
                </a:lnTo>
                <a:lnTo>
                  <a:pt x="2297771" y="2793643"/>
                </a:lnTo>
                <a:lnTo>
                  <a:pt x="0" y="2793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  <p:sp>
        <p:nvSpPr>
          <p:cNvPr id="1120579432" name="Freeform 4"/>
          <p:cNvSpPr/>
          <p:nvPr/>
        </p:nvSpPr>
        <p:spPr bwMode="auto">
          <a:xfrm rot="0" flipH="0" flipV="0">
            <a:off x="16455227" y="-613150"/>
            <a:ext cx="3085745" cy="2688455"/>
          </a:xfrm>
          <a:custGeom>
            <a:avLst/>
            <a:gdLst/>
            <a:ahLst/>
            <a:cxnLst/>
            <a:rect l="l" t="t" r="r" b="b"/>
            <a:pathLst>
              <a:path w="3085745" h="2688455" fill="norm" stroke="1" extrusionOk="0">
                <a:moveTo>
                  <a:pt x="0" y="0"/>
                </a:moveTo>
                <a:lnTo>
                  <a:pt x="3085745" y="0"/>
                </a:lnTo>
                <a:lnTo>
                  <a:pt x="3085745" y="2688455"/>
                </a:lnTo>
                <a:lnTo>
                  <a:pt x="0" y="268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</p:sp>
      <p:sp>
        <p:nvSpPr>
          <p:cNvPr id="1096614655" name="Freeform 5"/>
          <p:cNvSpPr/>
          <p:nvPr/>
        </p:nvSpPr>
        <p:spPr bwMode="auto">
          <a:xfrm rot="-721369" flipH="0" flipV="0">
            <a:off x="-1986370" y="-571771"/>
            <a:ext cx="7315200" cy="1302849"/>
          </a:xfrm>
          <a:custGeom>
            <a:avLst/>
            <a:gdLst/>
            <a:ahLst/>
            <a:cxnLst/>
            <a:rect l="l" t="t" r="r" b="b"/>
            <a:pathLst>
              <a:path w="7315200" h="1302849" fill="norm" stroke="1" extrusionOk="0">
                <a:moveTo>
                  <a:pt x="0" y="0"/>
                </a:moveTo>
                <a:lnTo>
                  <a:pt x="7315200" y="0"/>
                </a:lnTo>
                <a:lnTo>
                  <a:pt x="7315200" y="1302849"/>
                </a:lnTo>
                <a:lnTo>
                  <a:pt x="0" y="13028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</p:sp>
      <p:sp>
        <p:nvSpPr>
          <p:cNvPr id="904266717" name="TextBox 6"/>
          <p:cNvSpPr txBox="1"/>
          <p:nvPr/>
        </p:nvSpPr>
        <p:spPr bwMode="auto">
          <a:xfrm rot="0">
            <a:off x="3655361" y="1038224"/>
            <a:ext cx="10977635" cy="278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  <a:defRPr/>
            </a:pPr>
            <a:r>
              <a:rPr lang="en-US" sz="6900" spc="558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Entrepreneurial </a:t>
            </a:r>
            <a:r>
              <a:rPr lang="en-US" sz="6900" spc="558">
                <a:solidFill>
                  <a:srgbClr val="FFFFFF"/>
                </a:solidFill>
                <a:latin typeface="Villagers Grunge"/>
                <a:ea typeface="Villagers Grunge"/>
                <a:cs typeface="Villagers Grunge"/>
              </a:rPr>
              <a:t>Lessons Learned</a:t>
            </a:r>
            <a:endParaRPr/>
          </a:p>
          <a:p>
            <a:pPr algn="ctr">
              <a:lnSpc>
                <a:spcPts val="7312"/>
              </a:lnSpc>
              <a:defRPr/>
            </a:pPr>
            <a:r>
              <a:rPr lang="en-US" sz="6900" spc="558">
                <a:solidFill>
                  <a:srgbClr val="FFFFFF"/>
                </a:solidFill>
                <a:latin typeface="Villagers Grunge"/>
                <a:ea typeface="Villagers Grunge"/>
                <a:cs typeface="Villagers Grunge"/>
              </a:rPr>
              <a:t> </a:t>
            </a:r>
            <a:endParaRPr/>
          </a:p>
        </p:txBody>
      </p:sp>
      <p:grpSp>
        <p:nvGrpSpPr>
          <p:cNvPr id="1413951336" name="Group 7"/>
          <p:cNvGrpSpPr/>
          <p:nvPr/>
        </p:nvGrpSpPr>
        <p:grpSpPr bwMode="auto">
          <a:xfrm rot="0">
            <a:off x="6583484" y="3424042"/>
            <a:ext cx="4988734" cy="5164709"/>
            <a:chOff x="0" y="0"/>
            <a:chExt cx="4988734" cy="5164709"/>
          </a:xfrm>
        </p:grpSpPr>
        <p:grpSp>
          <p:nvGrpSpPr>
            <p:cNvPr id="8" name="Group 8"/>
            <p:cNvGrpSpPr/>
            <p:nvPr/>
          </p:nvGrpSpPr>
          <p:grpSpPr bwMode="auto">
            <a:xfrm rot="0">
              <a:off x="0" y="0"/>
              <a:ext cx="4988734" cy="5164709"/>
              <a:chOff x="0" y="0"/>
              <a:chExt cx="4988734" cy="5164709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144660"/>
                <a:ext cx="4988734" cy="5020048"/>
              </a:xfrm>
              <a:custGeom>
                <a:avLst/>
                <a:gdLst/>
                <a:ahLst/>
                <a:cxnLst/>
                <a:rect l="l" t="t" r="r" b="b"/>
                <a:pathLst>
                  <a:path w="1313906" h="1322153" fill="norm" stroke="1" extrusionOk="0">
                    <a:moveTo>
                      <a:pt x="35693" y="0"/>
                    </a:moveTo>
                    <a:lnTo>
                      <a:pt x="1278212" y="0"/>
                    </a:lnTo>
                    <a:cubicBezTo>
                      <a:pt x="1297925" y="0"/>
                      <a:pt x="1313906" y="15980"/>
                      <a:pt x="1313906" y="35693"/>
                    </a:cubicBezTo>
                    <a:lnTo>
                      <a:pt x="1313906" y="1286460"/>
                    </a:lnTo>
                    <a:cubicBezTo>
                      <a:pt x="1313906" y="1306172"/>
                      <a:pt x="1297925" y="1322153"/>
                      <a:pt x="1278212" y="1322153"/>
                    </a:cubicBezTo>
                    <a:lnTo>
                      <a:pt x="35693" y="1322153"/>
                    </a:lnTo>
                    <a:cubicBezTo>
                      <a:pt x="15980" y="1322153"/>
                      <a:pt x="0" y="1306172"/>
                      <a:pt x="0" y="1286460"/>
                    </a:cubicBezTo>
                    <a:lnTo>
                      <a:pt x="0" y="35693"/>
                    </a:lnTo>
                    <a:cubicBezTo>
                      <a:pt x="0" y="15980"/>
                      <a:pt x="15980" y="0"/>
                      <a:pt x="356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43C34"/>
                </a:solidFill>
                <a:prstDash val="solid"/>
                <a:round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0"/>
                <a:ext cx="4988734" cy="516470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  <a:defRPr/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 bwMode="auto">
            <a:xfrm rot="0">
              <a:off x="361153" y="517909"/>
              <a:ext cx="4266788" cy="44453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  <a:defRPr/>
              </a:pPr>
              <a:r>
                <a:rPr lang="en-US" sz="5000">
                  <a:solidFill>
                    <a:srgbClr val="000000"/>
                  </a:solidFill>
                  <a:latin typeface="Asana Math"/>
                  <a:ea typeface="Asana Math"/>
                  <a:cs typeface="Asana Math"/>
                </a:rPr>
                <a:t>Technical setup &amp; payment strategy are critical</a:t>
              </a:r>
              <a:endParaRPr>
                <a:latin typeface="Asana Math"/>
                <a:cs typeface="Asana Math"/>
              </a:endParaRPr>
            </a:p>
          </p:txBody>
        </p:sp>
      </p:grpSp>
      <p:grpSp>
        <p:nvGrpSpPr>
          <p:cNvPr id="2043604967" name="Group 12"/>
          <p:cNvGrpSpPr/>
          <p:nvPr/>
        </p:nvGrpSpPr>
        <p:grpSpPr bwMode="auto">
          <a:xfrm rot="0">
            <a:off x="1094846" y="3424042"/>
            <a:ext cx="4988734" cy="5164709"/>
            <a:chOff x="0" y="0"/>
            <a:chExt cx="4988734" cy="5164709"/>
          </a:xfrm>
        </p:grpSpPr>
        <p:grpSp>
          <p:nvGrpSpPr>
            <p:cNvPr id="13" name="Group 13"/>
            <p:cNvGrpSpPr/>
            <p:nvPr/>
          </p:nvGrpSpPr>
          <p:grpSpPr bwMode="auto">
            <a:xfrm rot="0">
              <a:off x="0" y="0"/>
              <a:ext cx="4988734" cy="5164709"/>
              <a:chOff x="0" y="0"/>
              <a:chExt cx="4988734" cy="5164709"/>
            </a:xfrm>
          </p:grpSpPr>
          <p:sp>
            <p:nvSpPr>
              <p:cNvPr id="14" name="Freeform 14"/>
              <p:cNvSpPr/>
              <p:nvPr/>
            </p:nvSpPr>
            <p:spPr bwMode="auto">
              <a:xfrm rot="0" flipH="0" flipV="0">
                <a:off x="0" y="144660"/>
                <a:ext cx="4988734" cy="5020048"/>
              </a:xfrm>
              <a:custGeom>
                <a:avLst/>
                <a:gdLst/>
                <a:ahLst/>
                <a:cxnLst/>
                <a:rect l="l" t="t" r="r" b="b"/>
                <a:pathLst>
                  <a:path w="1313906" h="1322153" fill="norm" stroke="1" extrusionOk="0">
                    <a:moveTo>
                      <a:pt x="35693" y="0"/>
                    </a:moveTo>
                    <a:lnTo>
                      <a:pt x="1278212" y="0"/>
                    </a:lnTo>
                    <a:cubicBezTo>
                      <a:pt x="1297925" y="0"/>
                      <a:pt x="1313906" y="15980"/>
                      <a:pt x="1313906" y="35693"/>
                    </a:cubicBezTo>
                    <a:lnTo>
                      <a:pt x="1313906" y="1286460"/>
                    </a:lnTo>
                    <a:cubicBezTo>
                      <a:pt x="1313906" y="1306172"/>
                      <a:pt x="1297925" y="1322153"/>
                      <a:pt x="1278212" y="1322153"/>
                    </a:cubicBezTo>
                    <a:lnTo>
                      <a:pt x="35693" y="1322153"/>
                    </a:lnTo>
                    <a:cubicBezTo>
                      <a:pt x="15980" y="1322153"/>
                      <a:pt x="0" y="1306172"/>
                      <a:pt x="0" y="1286460"/>
                    </a:cubicBezTo>
                    <a:lnTo>
                      <a:pt x="0" y="35693"/>
                    </a:lnTo>
                    <a:cubicBezTo>
                      <a:pt x="0" y="15980"/>
                      <a:pt x="15980" y="0"/>
                      <a:pt x="356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43C34"/>
                </a:solidFill>
                <a:prstDash val="solid"/>
                <a:round/>
              </a:ln>
            </p:spPr>
          </p:sp>
          <p:sp>
            <p:nvSpPr>
              <p:cNvPr id="15" name="TextBox 15"/>
              <p:cNvSpPr txBox="1"/>
              <p:nvPr/>
            </p:nvSpPr>
            <p:spPr bwMode="auto">
              <a:xfrm>
                <a:off x="0" y="0"/>
                <a:ext cx="4988734" cy="516470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  <a:defRPr/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 bwMode="auto">
            <a:xfrm rot="0" flipH="0" flipV="0">
              <a:off x="346227" y="878272"/>
              <a:ext cx="4298079" cy="35563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  <a:defRPr/>
              </a:pPr>
              <a:r>
                <a:rPr lang="en-US" sz="4800">
                  <a:solidFill>
                    <a:srgbClr val="000000"/>
                  </a:solidFill>
                  <a:latin typeface="Asana Math"/>
                  <a:ea typeface="Asana Math"/>
                  <a:cs typeface="Asana Math"/>
                </a:rPr>
                <a:t>Idea works if execution aligns with target audience</a:t>
              </a:r>
              <a:endParaRPr sz="4800">
                <a:latin typeface="Asana Math"/>
                <a:cs typeface="Asana Math"/>
              </a:endParaRPr>
            </a:p>
          </p:txBody>
        </p:sp>
      </p:grpSp>
      <p:grpSp>
        <p:nvGrpSpPr>
          <p:cNvPr id="1735487540" name="Group 17"/>
          <p:cNvGrpSpPr/>
          <p:nvPr/>
        </p:nvGrpSpPr>
        <p:grpSpPr bwMode="auto">
          <a:xfrm rot="0">
            <a:off x="12204416" y="3424042"/>
            <a:ext cx="4988734" cy="5164709"/>
            <a:chOff x="0" y="0"/>
            <a:chExt cx="4988734" cy="5164709"/>
          </a:xfrm>
        </p:grpSpPr>
        <p:grpSp>
          <p:nvGrpSpPr>
            <p:cNvPr id="18" name="Group 18"/>
            <p:cNvGrpSpPr/>
            <p:nvPr/>
          </p:nvGrpSpPr>
          <p:grpSpPr bwMode="auto">
            <a:xfrm rot="0">
              <a:off x="0" y="0"/>
              <a:ext cx="4988734" cy="5164709"/>
              <a:chOff x="0" y="0"/>
              <a:chExt cx="4988734" cy="5164709"/>
            </a:xfrm>
          </p:grpSpPr>
          <p:sp>
            <p:nvSpPr>
              <p:cNvPr id="19" name="Freeform 19"/>
              <p:cNvSpPr/>
              <p:nvPr/>
            </p:nvSpPr>
            <p:spPr bwMode="auto">
              <a:xfrm rot="0" flipH="0" flipV="0">
                <a:off x="0" y="144660"/>
                <a:ext cx="4988734" cy="5020048"/>
              </a:xfrm>
              <a:custGeom>
                <a:avLst/>
                <a:gdLst/>
                <a:ahLst/>
                <a:cxnLst/>
                <a:rect l="l" t="t" r="r" b="b"/>
                <a:pathLst>
                  <a:path w="1313906" h="1322153" fill="norm" stroke="1" extrusionOk="0">
                    <a:moveTo>
                      <a:pt x="35693" y="0"/>
                    </a:moveTo>
                    <a:lnTo>
                      <a:pt x="1278212" y="0"/>
                    </a:lnTo>
                    <a:cubicBezTo>
                      <a:pt x="1297925" y="0"/>
                      <a:pt x="1313906" y="15980"/>
                      <a:pt x="1313906" y="35693"/>
                    </a:cubicBezTo>
                    <a:lnTo>
                      <a:pt x="1313906" y="1286460"/>
                    </a:lnTo>
                    <a:cubicBezTo>
                      <a:pt x="1313906" y="1306172"/>
                      <a:pt x="1297925" y="1322153"/>
                      <a:pt x="1278212" y="1322153"/>
                    </a:cubicBezTo>
                    <a:lnTo>
                      <a:pt x="35693" y="1322153"/>
                    </a:lnTo>
                    <a:cubicBezTo>
                      <a:pt x="15980" y="1322153"/>
                      <a:pt x="0" y="1306172"/>
                      <a:pt x="0" y="1286460"/>
                    </a:cubicBezTo>
                    <a:lnTo>
                      <a:pt x="0" y="35693"/>
                    </a:lnTo>
                    <a:cubicBezTo>
                      <a:pt x="0" y="15980"/>
                      <a:pt x="15980" y="0"/>
                      <a:pt x="356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43C34"/>
                </a:solidFill>
                <a:prstDash val="solid"/>
                <a:round/>
              </a:ln>
            </p:spPr>
          </p:sp>
          <p:sp>
            <p:nvSpPr>
              <p:cNvPr id="20" name="TextBox 20"/>
              <p:cNvSpPr txBox="1"/>
              <p:nvPr/>
            </p:nvSpPr>
            <p:spPr bwMode="auto">
              <a:xfrm>
                <a:off x="0" y="0"/>
                <a:ext cx="4988734" cy="516470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  <a:defRPr/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 bwMode="auto">
            <a:xfrm rot="0">
              <a:off x="162775" y="402022"/>
              <a:ext cx="4663544" cy="44453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  <a:defRPr/>
              </a:pPr>
              <a:r>
                <a:rPr lang="en-US" sz="5000">
                  <a:solidFill>
                    <a:srgbClr val="000000"/>
                  </a:solidFill>
                  <a:latin typeface="Dekko"/>
                  <a:ea typeface="Dekko"/>
                  <a:cs typeface="Dekko"/>
                </a:rPr>
                <a:t>Failure = learning </a:t>
              </a:r>
              <a:r>
                <a:rPr lang="en-US" sz="5000">
                  <a:solidFill>
                    <a:srgbClr val="000000"/>
                  </a:solidFill>
                  <a:latin typeface="Asana Math"/>
                  <a:ea typeface="Asana Math"/>
                  <a:cs typeface="Asana Math"/>
                </a:rPr>
                <a:t>opportunity </a:t>
              </a:r>
              <a:r>
                <a:rPr lang="en-US" sz="5000">
                  <a:solidFill>
                    <a:srgbClr val="000000"/>
                  </a:solidFill>
                  <a:latin typeface="Dekko"/>
                  <a:ea typeface="Dekko"/>
                  <a:cs typeface="Dekko"/>
                </a:rPr>
                <a:t>→ refine, test, repeat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585138" name="Freeform 2"/>
          <p:cNvSpPr/>
          <p:nvPr/>
        </p:nvSpPr>
        <p:spPr bwMode="auto">
          <a:xfrm rot="0" flipH="0" flipV="0">
            <a:off x="0" y="-1073364"/>
            <a:ext cx="18662256" cy="12433728"/>
          </a:xfrm>
          <a:custGeom>
            <a:avLst/>
            <a:gdLst/>
            <a:ahLst/>
            <a:cxnLst/>
            <a:rect l="l" t="t" r="r" b="b"/>
            <a:pathLst>
              <a:path w="18662256" h="12433728" fill="norm" stroke="1" extrusionOk="0">
                <a:moveTo>
                  <a:pt x="0" y="0"/>
                </a:moveTo>
                <a:lnTo>
                  <a:pt x="18662256" y="0"/>
                </a:lnTo>
                <a:lnTo>
                  <a:pt x="18662256" y="12433728"/>
                </a:lnTo>
                <a:lnTo>
                  <a:pt x="0" y="12433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190227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sp>
        <p:nvSpPr>
          <p:cNvPr id="477663960" name="TextBox 3"/>
          <p:cNvSpPr txBox="1"/>
          <p:nvPr/>
        </p:nvSpPr>
        <p:spPr bwMode="auto">
          <a:xfrm rot="0">
            <a:off x="2911147" y="3214942"/>
            <a:ext cx="12466064" cy="447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34"/>
              </a:lnSpc>
              <a:defRPr/>
            </a:pPr>
            <a:r>
              <a:rPr lang="en-US" sz="16650" spc="2079">
                <a:solidFill>
                  <a:srgbClr val="FFFFFF"/>
                </a:solidFill>
                <a:latin typeface="C059"/>
                <a:ea typeface="C059"/>
                <a:cs typeface="C059"/>
              </a:rPr>
              <a:t>Time to Ask</a:t>
            </a:r>
            <a:endParaRPr>
              <a:latin typeface="C059"/>
              <a:cs typeface="C059"/>
            </a:endParaRPr>
          </a:p>
        </p:txBody>
      </p:sp>
      <p:sp>
        <p:nvSpPr>
          <p:cNvPr id="608160931" name="Freeform 4"/>
          <p:cNvSpPr/>
          <p:nvPr/>
        </p:nvSpPr>
        <p:spPr bwMode="auto">
          <a:xfrm rot="953565" flipH="0" flipV="0">
            <a:off x="13473569" y="-953924"/>
            <a:ext cx="5623230" cy="3987382"/>
          </a:xfrm>
          <a:custGeom>
            <a:avLst/>
            <a:gdLst/>
            <a:ahLst/>
            <a:cxnLst/>
            <a:rect l="l" t="t" r="r" b="b"/>
            <a:pathLst>
              <a:path w="5623230" h="3987382" fill="norm" stroke="1" extrusionOk="0">
                <a:moveTo>
                  <a:pt x="0" y="0"/>
                </a:moveTo>
                <a:lnTo>
                  <a:pt x="5623230" y="0"/>
                </a:lnTo>
                <a:lnTo>
                  <a:pt x="5623230" y="3987382"/>
                </a:lnTo>
                <a:lnTo>
                  <a:pt x="0" y="3987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  <p:sp>
        <p:nvSpPr>
          <p:cNvPr id="2131049463" name="Freeform 5"/>
          <p:cNvSpPr/>
          <p:nvPr/>
        </p:nvSpPr>
        <p:spPr bwMode="auto">
          <a:xfrm rot="0" flipH="0" flipV="0">
            <a:off x="-1137970" y="6316884"/>
            <a:ext cx="6743876" cy="4782020"/>
          </a:xfrm>
          <a:custGeom>
            <a:avLst/>
            <a:gdLst/>
            <a:ahLst/>
            <a:cxnLst/>
            <a:rect l="l" t="t" r="r" b="b"/>
            <a:pathLst>
              <a:path w="6743876" h="4782021" fill="norm" stroke="1" extrusionOk="0">
                <a:moveTo>
                  <a:pt x="0" y="0"/>
                </a:moveTo>
                <a:lnTo>
                  <a:pt x="6743875" y="0"/>
                </a:lnTo>
                <a:lnTo>
                  <a:pt x="6743875" y="4782021"/>
                </a:lnTo>
                <a:lnTo>
                  <a:pt x="0" y="4782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  <p:sp>
        <p:nvSpPr>
          <p:cNvPr id="663050141" name="Freeform 6"/>
          <p:cNvSpPr/>
          <p:nvPr/>
        </p:nvSpPr>
        <p:spPr bwMode="auto">
          <a:xfrm rot="0" flipH="0" flipV="0">
            <a:off x="15089064" y="7259309"/>
            <a:ext cx="1341141" cy="1998991"/>
          </a:xfrm>
          <a:custGeom>
            <a:avLst/>
            <a:gdLst/>
            <a:ahLst/>
            <a:cxnLst/>
            <a:rect l="l" t="t" r="r" b="b"/>
            <a:pathLst>
              <a:path w="1341141" h="1998991" fill="norm" stroke="1" extrusionOk="0">
                <a:moveTo>
                  <a:pt x="0" y="0"/>
                </a:moveTo>
                <a:lnTo>
                  <a:pt x="1341142" y="0"/>
                </a:lnTo>
                <a:lnTo>
                  <a:pt x="1341142" y="1998991"/>
                </a:lnTo>
                <a:lnTo>
                  <a:pt x="0" y="19989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</p:sp>
      <p:sp>
        <p:nvSpPr>
          <p:cNvPr id="1378117968" name="Freeform 7"/>
          <p:cNvSpPr/>
          <p:nvPr/>
        </p:nvSpPr>
        <p:spPr bwMode="auto">
          <a:xfrm rot="-278052" flipH="0" flipV="0">
            <a:off x="1323558" y="1471923"/>
            <a:ext cx="1341141" cy="1998991"/>
          </a:xfrm>
          <a:custGeom>
            <a:avLst/>
            <a:gdLst/>
            <a:ahLst/>
            <a:cxnLst/>
            <a:rect l="l" t="t" r="r" b="b"/>
            <a:pathLst>
              <a:path w="1341141" h="1998991" fill="norm" stroke="1" extrusionOk="0">
                <a:moveTo>
                  <a:pt x="0" y="0"/>
                </a:moveTo>
                <a:lnTo>
                  <a:pt x="1341142" y="0"/>
                </a:lnTo>
                <a:lnTo>
                  <a:pt x="1341142" y="1998991"/>
                </a:lnTo>
                <a:lnTo>
                  <a:pt x="0" y="1998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454630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293" t="8878" r="1293" b="8878"/>
            <a:stretch/>
          </a:blipFill>
        </p:spPr>
      </p:sp>
      <p:sp>
        <p:nvSpPr>
          <p:cNvPr id="2138956973" name="TextBox 3"/>
          <p:cNvSpPr txBox="1"/>
          <p:nvPr/>
        </p:nvSpPr>
        <p:spPr bwMode="auto">
          <a:xfrm rot="0">
            <a:off x="2212467" y="2409746"/>
            <a:ext cx="13863424" cy="588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63"/>
              </a:lnSpc>
              <a:defRPr/>
            </a:pPr>
            <a:r>
              <a:rPr lang="en-US" sz="21850" spc="1944">
                <a:solidFill>
                  <a:srgbClr val="FFFFFF"/>
                </a:solidFill>
                <a:latin typeface="Bitstream Vera Serif"/>
                <a:ea typeface="Bitstream Vera Serif"/>
                <a:cs typeface="Bitstream Vera Serif"/>
              </a:rPr>
              <a:t>Thank You</a:t>
            </a:r>
            <a:endParaRPr>
              <a:latin typeface="Bitstream Vera Serif"/>
              <a:cs typeface="Bitstream Vera Serif"/>
            </a:endParaRPr>
          </a:p>
        </p:txBody>
      </p:sp>
      <p:sp>
        <p:nvSpPr>
          <p:cNvPr id="1665605338" name="Freeform 4"/>
          <p:cNvSpPr/>
          <p:nvPr/>
        </p:nvSpPr>
        <p:spPr bwMode="auto">
          <a:xfrm rot="953565" flipH="0" flipV="0">
            <a:off x="14126953" y="-1028700"/>
            <a:ext cx="5017109" cy="3557586"/>
          </a:xfrm>
          <a:custGeom>
            <a:avLst/>
            <a:gdLst/>
            <a:ahLst/>
            <a:cxnLst/>
            <a:rect l="l" t="t" r="r" b="b"/>
            <a:pathLst>
              <a:path w="5017109" h="3557587" fill="norm" stroke="1" extrusionOk="0">
                <a:moveTo>
                  <a:pt x="0" y="0"/>
                </a:moveTo>
                <a:lnTo>
                  <a:pt x="5017109" y="0"/>
                </a:lnTo>
                <a:lnTo>
                  <a:pt x="5017109" y="3557587"/>
                </a:lnTo>
                <a:lnTo>
                  <a:pt x="0" y="3557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  <p:sp>
        <p:nvSpPr>
          <p:cNvPr id="1625029275" name="Freeform 5"/>
          <p:cNvSpPr/>
          <p:nvPr/>
        </p:nvSpPr>
        <p:spPr bwMode="auto">
          <a:xfrm rot="0" flipH="0" flipV="0">
            <a:off x="-1137970" y="6984105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 fill="norm" stroke="1" extrusionOk="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  <p:sp>
        <p:nvSpPr>
          <p:cNvPr id="2009498541" name="Freeform 6"/>
          <p:cNvSpPr/>
          <p:nvPr/>
        </p:nvSpPr>
        <p:spPr bwMode="auto">
          <a:xfrm rot="9355013" flipH="0" flipV="0">
            <a:off x="-2323552" y="-2354978"/>
            <a:ext cx="4647105" cy="4114800"/>
          </a:xfrm>
          <a:custGeom>
            <a:avLst/>
            <a:gdLst/>
            <a:ahLst/>
            <a:cxnLst/>
            <a:rect l="l" t="t" r="r" b="b"/>
            <a:pathLst>
              <a:path w="4647105" h="4114800" fill="norm" stroke="1" extrusionOk="0">
                <a:moveTo>
                  <a:pt x="0" y="0"/>
                </a:moveTo>
                <a:lnTo>
                  <a:pt x="4647104" y="0"/>
                </a:lnTo>
                <a:lnTo>
                  <a:pt x="46471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</p:sp>
      <p:sp>
        <p:nvSpPr>
          <p:cNvPr id="492385854" name="Freeform 7"/>
          <p:cNvSpPr/>
          <p:nvPr/>
        </p:nvSpPr>
        <p:spPr bwMode="auto">
          <a:xfrm rot="9355013" flipH="0" flipV="0">
            <a:off x="17242801" y="7200900"/>
            <a:ext cx="4647105" cy="4114800"/>
          </a:xfrm>
          <a:custGeom>
            <a:avLst/>
            <a:gdLst/>
            <a:ahLst/>
            <a:cxnLst/>
            <a:rect l="l" t="t" r="r" b="b"/>
            <a:pathLst>
              <a:path w="4647105" h="4114800" fill="norm" stroke="1" extrusionOk="0">
                <a:moveTo>
                  <a:pt x="0" y="0"/>
                </a:moveTo>
                <a:lnTo>
                  <a:pt x="4647105" y="0"/>
                </a:lnTo>
                <a:lnTo>
                  <a:pt x="46471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Minimalist Entrepreneurship Project Local  Presentation</dc:title>
  <dc:identifier>DAG3qG7Bgy0</dc:identifier>
  <cp:lastModifiedBy/>
  <cp:revision>3</cp:revision>
  <dcterms:created xsi:type="dcterms:W3CDTF">2006-08-16T00:00:00Z</dcterms:created>
  <dcterms:modified xsi:type="dcterms:W3CDTF">2025-11-03T18:45:20Z</dcterms:modified>
</cp:coreProperties>
</file>