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1" d="100"/>
          <a:sy n="71" d="100"/>
        </p:scale>
        <p:origin x="696" y="6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165723-2301-F434-E4A4-01B642362C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5E7D87-6283-DBF4-C2B4-443C277202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68403F-86D4-21BA-F260-CC0951D107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510E45-8E22-6AAA-505C-0E3F13D37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A1E0C2-FFC6-F2A9-7D61-2E118C1E3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DFDA1C-DB6F-934B-E7EC-AD71F3634F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26C614-62DC-18F8-F1EF-E3B5995147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898115" name="Title 1"/>
          <p:cNvSpPr>
            <a:spLocks noGrp="1"/>
          </p:cNvSpPr>
          <p:nvPr>
            <p:ph type="ctrTitle"/>
          </p:nvPr>
        </p:nvSpPr>
        <p:spPr bwMode="auto"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992245" name="Subtitle 2"/>
          <p:cNvSpPr>
            <a:spLocks noGrp="1"/>
          </p:cNvSpPr>
          <p:nvPr>
            <p:ph type="subTitle" idx="1"/>
          </p:nvPr>
        </p:nvSpPr>
        <p:spPr bwMode="auto"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577007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1A5FB77-0A45-48AC-947C-3447F8DBA66B}" type="datetimeFigureOut">
              <a:rPr/>
              <a:t>15/12/2025</a:t>
            </a:fld>
            <a:endParaRPr/>
          </a:p>
        </p:txBody>
      </p:sp>
      <p:sp>
        <p:nvSpPr>
          <p:cNvPr id="176528555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416500" y="329307"/>
            <a:ext cx="4973915" cy="309201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6522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437664" y="798973"/>
            <a:ext cx="811019" cy="503578"/>
          </a:xfrm>
        </p:spPr>
        <p:txBody>
          <a:bodyPr/>
          <a:lstStyle/>
          <a:p>
            <a:pPr>
              <a:defRPr/>
            </a:pPr>
            <a:fld id="{CF76A95C-40D4-42D6-A7D7-955A742B9229}" type="slidenum">
              <a:rPr/>
              <a:t>‹#›</a:t>
            </a:fld>
            <a:endParaRPr/>
          </a:p>
        </p:txBody>
      </p:sp>
      <p:cxnSp>
        <p:nvCxnSpPr>
          <p:cNvPr id="1771036339" name="Straight Connector 14"/>
          <p:cNvCxnSpPr/>
          <p:nvPr/>
        </p:nvCxnSpPr>
        <p:spPr bwMode="auto">
          <a:xfrm>
            <a:off x="2417780" y="3528541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1432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1037825" name="Content Placeholder 2"/>
          <p:cNvSpPr>
            <a:spLocks noGrp="1"/>
          </p:cNvSpPr>
          <p:nvPr>
            <p:ph idx="1"/>
          </p:nvPr>
        </p:nvSpPr>
        <p:spPr bwMode="auto"/>
        <p:txBody>
          <a:bodyPr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22666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1A5FB77-0A45-48AC-947C-3447F8DBA66B}" type="datetimeFigureOut">
              <a:rPr/>
              <a:t>15/12/2025</a:t>
            </a:fld>
            <a:endParaRPr/>
          </a:p>
        </p:txBody>
      </p:sp>
      <p:sp>
        <p:nvSpPr>
          <p:cNvPr id="18411305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7084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F76A95C-40D4-42D6-A7D7-955A742B9229}" type="slidenum">
              <a:rPr/>
              <a:t>‹#›</a:t>
            </a:fld>
            <a:endParaRPr/>
          </a:p>
        </p:txBody>
      </p:sp>
      <p:cxnSp>
        <p:nvCxnSpPr>
          <p:cNvPr id="1938856816" name="Straight Connector 32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789627" name="Title 1"/>
          <p:cNvSpPr>
            <a:spLocks noGrp="1"/>
          </p:cNvSpPr>
          <p:nvPr>
            <p:ph type="title"/>
          </p:nvPr>
        </p:nvSpPr>
        <p:spPr bwMode="auto"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83582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055198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1A5FB77-0A45-48AC-947C-3447F8DBA66B}" type="datetimeFigureOut">
              <a:rPr/>
              <a:t>15/12/2025</a:t>
            </a:fld>
            <a:endParaRPr/>
          </a:p>
        </p:txBody>
      </p:sp>
      <p:sp>
        <p:nvSpPr>
          <p:cNvPr id="6637295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9205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F76A95C-40D4-42D6-A7D7-955A742B9229}" type="slidenum">
              <a:rPr/>
              <a:t>‹#›</a:t>
            </a:fld>
            <a:endParaRPr/>
          </a:p>
        </p:txBody>
      </p:sp>
      <p:cxnSp>
        <p:nvCxnSpPr>
          <p:cNvPr id="1828656742" name="Straight Connector 14"/>
          <p:cNvCxnSpPr/>
          <p:nvPr/>
        </p:nvCxnSpPr>
        <p:spPr bwMode="auto"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544058" name="Title 1"/>
          <p:cNvSpPr>
            <a:spLocks noGrp="1"/>
          </p:cNvSpPr>
          <p:nvPr>
            <p:ph type="title"/>
          </p:nvPr>
        </p:nvSpPr>
        <p:spPr bwMode="auto">
          <a:xfrm>
            <a:off x="1449217" y="804889"/>
            <a:ext cx="9605635" cy="105930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72803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447331" y="2010878"/>
            <a:ext cx="4645152" cy="3448595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0154077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413771" y="2017343"/>
            <a:ext cx="4645152" cy="344152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745508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1A5FB77-0A45-48AC-947C-3447F8DBA66B}" type="datetimeFigureOut">
              <a:rPr/>
              <a:t>15/12/2025</a:t>
            </a:fld>
            <a:endParaRPr/>
          </a:p>
        </p:txBody>
      </p:sp>
      <p:sp>
        <p:nvSpPr>
          <p:cNvPr id="14912487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93852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F76A95C-40D4-42D6-A7D7-955A742B9229}" type="slidenum">
              <a:rPr/>
              <a:t>‹#›</a:t>
            </a:fld>
            <a:endParaRPr/>
          </a:p>
        </p:txBody>
      </p:sp>
      <p:cxnSp>
        <p:nvCxnSpPr>
          <p:cNvPr id="1927208703" name="Straight Connector 34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594358" name="Title 1"/>
          <p:cNvSpPr>
            <a:spLocks noGrp="1"/>
          </p:cNvSpPr>
          <p:nvPr>
            <p:ph type="title"/>
          </p:nvPr>
        </p:nvSpPr>
        <p:spPr bwMode="auto">
          <a:xfrm>
            <a:off x="1447191" y="804163"/>
            <a:ext cx="9607661" cy="1056319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02747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0963388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447191" y="2824269"/>
            <a:ext cx="4645152" cy="264445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345099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12361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857224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412361" y="2821491"/>
            <a:ext cx="4645152" cy="2637371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631576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1A5FB77-0A45-48AC-947C-3447F8DBA66B}" type="datetimeFigureOut">
              <a:rPr/>
              <a:t>15/12/2025</a:t>
            </a:fld>
            <a:endParaRPr/>
          </a:p>
        </p:txBody>
      </p:sp>
      <p:sp>
        <p:nvSpPr>
          <p:cNvPr id="96152800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80560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F76A95C-40D4-42D6-A7D7-955A742B9229}" type="slidenum">
              <a:rPr/>
              <a:t>‹#›</a:t>
            </a:fld>
            <a:endParaRPr/>
          </a:p>
        </p:txBody>
      </p:sp>
      <p:cxnSp>
        <p:nvCxnSpPr>
          <p:cNvPr id="1932210829" name="Straight Connector 28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962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8951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1A5FB77-0A45-48AC-947C-3447F8DBA66B}" type="datetimeFigureOut">
              <a:rPr/>
              <a:t>15/12/2025</a:t>
            </a:fld>
            <a:endParaRPr/>
          </a:p>
        </p:txBody>
      </p:sp>
      <p:sp>
        <p:nvSpPr>
          <p:cNvPr id="120826551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52061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F76A95C-40D4-42D6-A7D7-955A742B9229}" type="slidenum">
              <a:rPr/>
              <a:t>‹#›</a:t>
            </a:fld>
            <a:endParaRPr/>
          </a:p>
        </p:txBody>
      </p:sp>
      <p:cxnSp>
        <p:nvCxnSpPr>
          <p:cNvPr id="1588465529" name="Straight Connector 24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3338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1A5FB77-0A45-48AC-947C-3447F8DBA66B}" type="datetimeFigureOut">
              <a:rPr/>
              <a:t>15/12/2025</a:t>
            </a:fld>
            <a:endParaRPr/>
          </a:p>
        </p:txBody>
      </p:sp>
      <p:sp>
        <p:nvSpPr>
          <p:cNvPr id="73363735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76792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F76A95C-40D4-42D6-A7D7-955A742B922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23759" name="Title 1"/>
          <p:cNvSpPr>
            <a:spLocks noGrp="1"/>
          </p:cNvSpPr>
          <p:nvPr>
            <p:ph type="title"/>
          </p:nvPr>
        </p:nvSpPr>
        <p:spPr bwMode="auto"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0437894" name="Content Placeholder 2"/>
          <p:cNvSpPr>
            <a:spLocks noGrp="1"/>
          </p:cNvSpPr>
          <p:nvPr>
            <p:ph idx="1"/>
          </p:nvPr>
        </p:nvSpPr>
        <p:spPr bwMode="auto">
          <a:xfrm>
            <a:off x="5043714" y="798974"/>
            <a:ext cx="6012470" cy="4658826"/>
          </a:xfrm>
        </p:spPr>
        <p:txBody>
          <a:bodyPr anchor="ctr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052919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23393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1A5FB77-0A45-48AC-947C-3447F8DBA66B}" type="datetimeFigureOut">
              <a:rPr/>
              <a:t>15/12/2025</a:t>
            </a:fld>
            <a:endParaRPr/>
          </a:p>
        </p:txBody>
      </p:sp>
      <p:sp>
        <p:nvSpPr>
          <p:cNvPr id="15978418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50099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F76A95C-40D4-42D6-A7D7-955A742B9229}" type="slidenum">
              <a:rPr/>
              <a:t>‹#›</a:t>
            </a:fld>
            <a:endParaRPr/>
          </a:p>
        </p:txBody>
      </p:sp>
      <p:cxnSp>
        <p:nvCxnSpPr>
          <p:cNvPr id="2022798468" name="Straight Connector 16"/>
          <p:cNvCxnSpPr/>
          <p:nvPr/>
        </p:nvCxnSpPr>
        <p:spPr bwMode="auto"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2586145" name="Group 7"/>
          <p:cNvGrpSpPr/>
          <p:nvPr/>
        </p:nvGrpSpPr>
        <p:grpSpPr bwMode="auto">
          <a:xfrm>
            <a:off x="7477386" y="482170"/>
            <a:ext cx="4074533" cy="5149101"/>
            <a:chOff x="7477386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6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57017508" name="Title 1"/>
          <p:cNvSpPr>
            <a:spLocks noGrp="1"/>
          </p:cNvSpPr>
          <p:nvPr>
            <p:ph type="title"/>
          </p:nvPr>
        </p:nvSpPr>
        <p:spPr bwMode="auto"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5809161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8124389" y="1122542"/>
            <a:ext cx="2791171" cy="386632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7834592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65081893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1A5FB77-0A45-48AC-947C-3447F8DBA66B}" type="datetimeFigureOut">
              <a:rPr/>
              <a:t>15/12/2025</a:t>
            </a:fld>
            <a:endParaRPr/>
          </a:p>
        </p:txBody>
      </p:sp>
      <p:sp>
        <p:nvSpPr>
          <p:cNvPr id="823861967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1447382" y="318640"/>
            <a:ext cx="5541004" cy="320931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69670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F76A95C-40D4-42D6-A7D7-955A742B9229}" type="slidenum">
              <a:rPr/>
              <a:t>‹#›</a:t>
            </a:fld>
            <a:endParaRPr/>
          </a:p>
        </p:txBody>
      </p:sp>
      <p:cxnSp>
        <p:nvCxnSpPr>
          <p:cNvPr id="155702770" name="Straight Connector 30"/>
          <p:cNvCxnSpPr/>
          <p:nvPr/>
        </p:nvCxnSpPr>
        <p:spPr bwMode="auto"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2310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310830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78802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1A5FB77-0A45-48AC-947C-3447F8DBA66B}" type="datetimeFigureOut">
              <a:rPr/>
              <a:t>15/12/2025</a:t>
            </a:fld>
            <a:endParaRPr/>
          </a:p>
        </p:txBody>
      </p:sp>
      <p:sp>
        <p:nvSpPr>
          <p:cNvPr id="20049628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77550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F76A95C-40D4-42D6-A7D7-955A742B9229}" type="slidenum">
              <a:rPr/>
              <a:t>‹#›</a:t>
            </a:fld>
            <a:endParaRPr/>
          </a:p>
        </p:txBody>
      </p:sp>
      <p:cxnSp>
        <p:nvCxnSpPr>
          <p:cNvPr id="485957645" name="Straight Connector 25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01166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987052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444672" y="798973"/>
            <a:ext cx="7828830" cy="4659889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044427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1A5FB77-0A45-48AC-947C-3447F8DBA66B}" type="datetimeFigureOut">
              <a:rPr/>
              <a:t>15/12/2025</a:t>
            </a:fld>
            <a:endParaRPr/>
          </a:p>
        </p:txBody>
      </p:sp>
      <p:sp>
        <p:nvSpPr>
          <p:cNvPr id="1606401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57598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F76A95C-40D4-42D6-A7D7-955A742B9229}" type="slidenum">
              <a:rPr/>
              <a:t>‹#›</a:t>
            </a:fld>
            <a:endParaRPr/>
          </a:p>
        </p:txBody>
      </p:sp>
      <p:cxnSp>
        <p:nvCxnSpPr>
          <p:cNvPr id="761602575" name="Straight Connector 14"/>
          <p:cNvCxnSpPr/>
          <p:nvPr/>
        </p:nvCxnSpPr>
        <p:spPr bwMode="auto"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572613" name="Rectangle 7"/>
          <p:cNvSpPr/>
          <p:nvPr/>
        </p:nvSpPr>
        <p:spPr bwMode="auto"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50448832" name="Picture 6"/>
          <p:cNvPicPr>
            <a:picLocks noChangeAspect="1"/>
          </p:cNvPicPr>
          <p:nvPr/>
        </p:nvPicPr>
        <p:blipFill>
          <a:blip r:embed="rId13"/>
          <a:srcRect l="0" t="1538" r="0" b="-1537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1069564626" name="Title Placeholder 1"/>
          <p:cNvSpPr>
            <a:spLocks noGrp="1"/>
          </p:cNvSpPr>
          <p:nvPr>
            <p:ph type="title"/>
          </p:nvPr>
        </p:nvSpPr>
        <p:spPr bwMode="auto"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65765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969917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554138" y="330370"/>
            <a:ext cx="350071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1A5FB77-0A45-48AC-947C-3447F8DBA66B}" type="datetimeFigureOut">
              <a:rPr/>
              <a:t>15/12/2025</a:t>
            </a:fld>
            <a:endParaRPr/>
          </a:p>
        </p:txBody>
      </p:sp>
      <p:sp>
        <p:nvSpPr>
          <p:cNvPr id="152651445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59685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F76A95C-40D4-42D6-A7D7-955A742B9229}" type="slidenum">
              <a:rPr/>
              <a:t>‹#›</a:t>
            </a:fld>
            <a:endParaRPr/>
          </a:p>
        </p:txBody>
      </p:sp>
      <p:cxnSp>
        <p:nvCxnSpPr>
          <p:cNvPr id="658148135" name="Straight Connector 9"/>
          <p:cNvCxnSpPr/>
          <p:nvPr/>
        </p:nvCxnSpPr>
        <p:spPr bwMode="auto"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3200" b="0" i="0" cap="all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800" cap="none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290161" name="Title 1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800" b="1"/>
              <a:t>Entrepreneurial Team</a:t>
            </a:r>
            <a:endParaRPr sz="4800" b="1"/>
          </a:p>
        </p:txBody>
      </p:sp>
      <p:sp>
        <p:nvSpPr>
          <p:cNvPr id="514413327" name="Subtitle 2"/>
          <p:cNvSpPr>
            <a:spLocks noGrp="1"/>
          </p:cNvSpPr>
          <p:nvPr>
            <p:ph type="subTitle" idx="1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n-US" sz="4000"/>
              <a:t>Challenges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880991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4000" b="1"/>
              <a:t>What is an Entrepreneurial Team</a:t>
            </a:r>
            <a:br>
              <a:rPr lang="en-US"/>
            </a:br>
            <a:endParaRPr/>
          </a:p>
        </p:txBody>
      </p:sp>
      <p:sp>
        <p:nvSpPr>
          <p:cNvPr id="44392529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451578" y="2015731"/>
            <a:ext cx="9603274" cy="416819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2400"/>
              <a:t>A group of people working together to start and grow a business</a:t>
            </a:r>
            <a:endParaRPr/>
          </a:p>
          <a:p>
            <a:pPr>
              <a:defRPr/>
            </a:pPr>
            <a:r>
              <a:rPr lang="en-US" sz="2400"/>
              <a:t>Members usually have different skills (marketing, finance, tech, operations)</a:t>
            </a:r>
            <a:endParaRPr/>
          </a:p>
          <a:p>
            <a:pPr>
              <a:defRPr/>
            </a:pPr>
            <a:r>
              <a:rPr lang="en-US" sz="2400"/>
              <a:t>Example:</a:t>
            </a:r>
            <a:endParaRPr/>
          </a:p>
          <a:p>
            <a:pPr>
              <a:defRPr/>
            </a:pPr>
            <a:r>
              <a:rPr lang="en-US" sz="2400"/>
              <a:t>A food delivery startup team:</a:t>
            </a:r>
            <a:endParaRPr/>
          </a:p>
          <a:p>
            <a:pPr>
              <a:defRPr/>
            </a:pPr>
            <a:r>
              <a:rPr lang="en-US" sz="2400"/>
              <a:t>Founder (idea &amp; leadership)</a:t>
            </a:r>
            <a:endParaRPr/>
          </a:p>
          <a:p>
            <a:pPr>
              <a:defRPr/>
            </a:pPr>
            <a:r>
              <a:rPr lang="en-US" sz="2400"/>
              <a:t>Tech partner (app development)</a:t>
            </a:r>
            <a:endParaRPr/>
          </a:p>
          <a:p>
            <a:pPr>
              <a:defRPr/>
            </a:pPr>
            <a:r>
              <a:rPr lang="en-US" sz="2400"/>
              <a:t>Marketing head (promotion &amp; branding)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091567" name="Title 3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4800" b="1"/>
              <a:t>Key Challenges</a:t>
            </a:r>
            <a:br>
              <a:rPr lang="en-US"/>
            </a:br>
            <a:endParaRPr/>
          </a:p>
        </p:txBody>
      </p:sp>
      <p:sp>
        <p:nvSpPr>
          <p:cNvPr id="2081130993" name="Content Placeholder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3600"/>
              <a:t>Lack of Trust</a:t>
            </a:r>
            <a:endParaRPr/>
          </a:p>
          <a:p>
            <a:pPr>
              <a:defRPr/>
            </a:pPr>
            <a:r>
              <a:rPr lang="en-US" sz="3600"/>
              <a:t>Poor Communication</a:t>
            </a:r>
            <a:endParaRPr/>
          </a:p>
          <a:p>
            <a:pPr>
              <a:defRPr/>
            </a:pPr>
            <a:r>
              <a:rPr lang="en-US" sz="3600"/>
              <a:t>Skill Gaps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/>
          </a:p>
        </p:txBody>
      </p:sp>
      <p:sp>
        <p:nvSpPr>
          <p:cNvPr id="673092648" name="Content Placeholder 4"/>
          <p:cNvSpPr>
            <a:spLocks noGrp="1"/>
          </p:cNvSpPr>
          <p:nvPr>
            <p:ph sz="half" idx="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3200"/>
              <a:t>Conflict among Team Members</a:t>
            </a:r>
            <a:endParaRPr/>
          </a:p>
          <a:p>
            <a:pPr>
              <a:defRPr/>
            </a:pPr>
            <a:r>
              <a:rPr lang="en-US" sz="3200"/>
              <a:t> Unequal Workload</a:t>
            </a:r>
            <a:endParaRPr/>
          </a:p>
          <a:p>
            <a:pPr>
              <a:defRPr/>
            </a:pPr>
            <a:r>
              <a:rPr lang="en-US" sz="3200"/>
              <a:t> Different Vision &amp; Goals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466334" name="Title 4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n-US" b="1"/>
              <a:t>How to Overcome These Challenges</a:t>
            </a:r>
            <a:br>
              <a:rPr lang="en-US"/>
            </a:br>
            <a:endParaRPr/>
          </a:p>
        </p:txBody>
      </p:sp>
      <p:sp>
        <p:nvSpPr>
          <p:cNvPr id="947627611" name="Text Placeholder 6"/>
          <p:cNvSpPr>
            <a:spLocks noGrp="1"/>
          </p:cNvSpPr>
          <p:nvPr>
            <p:ph type="body" sz="half" idx="2"/>
          </p:nvPr>
        </p:nvSpPr>
        <p:spPr bwMode="auto">
          <a:xfrm>
            <a:off x="1442403" y="3186953"/>
            <a:ext cx="5532328" cy="3092822"/>
          </a:xfrm>
        </p:spPr>
        <p:txBody>
          <a:bodyPr>
            <a:normAutofit fontScale="47500" lnSpcReduction="20000"/>
          </a:bodyPr>
          <a:lstStyle/>
          <a:p>
            <a:pPr>
              <a:defRPr/>
            </a:pPr>
            <a:endParaRPr lang="en-US"/>
          </a:p>
          <a:p>
            <a:pPr marL="857250" indent="-857250">
              <a:buFont typeface="Arial"/>
              <a:buChar char="•"/>
              <a:defRPr/>
            </a:pPr>
            <a:r>
              <a:rPr lang="en-US" sz="6000"/>
              <a:t>Clear roles &amp; responsibilities</a:t>
            </a:r>
            <a:endParaRPr/>
          </a:p>
          <a:p>
            <a:pPr marL="857250" indent="-857250">
              <a:buFont typeface="Arial"/>
              <a:buChar char="•"/>
              <a:defRPr/>
            </a:pPr>
            <a:r>
              <a:rPr lang="en-US" sz="6000"/>
              <a:t>Regular meetings</a:t>
            </a:r>
            <a:endParaRPr/>
          </a:p>
          <a:p>
            <a:pPr marL="857250" indent="-857250">
              <a:buFont typeface="Arial"/>
              <a:buChar char="•"/>
              <a:defRPr/>
            </a:pPr>
            <a:r>
              <a:rPr lang="en-US" sz="6000"/>
              <a:t>Written agreements</a:t>
            </a:r>
            <a:endParaRPr/>
          </a:p>
          <a:p>
            <a:pPr marL="857250" indent="-857250">
              <a:buFont typeface="Arial"/>
              <a:buChar char="•"/>
              <a:defRPr/>
            </a:pPr>
            <a:r>
              <a:rPr lang="en-US" sz="6000"/>
              <a:t>Mutual respect &amp; transparency</a:t>
            </a:r>
            <a:endParaRPr sz="6000"/>
          </a:p>
        </p:txBody>
      </p:sp>
      <p:pic>
        <p:nvPicPr>
          <p:cNvPr id="1650174846" name="Picture Placeholder 20"/>
          <p:cNvPicPr>
            <a:picLocks noChangeAspect="1" noGrp="1"/>
          </p:cNvPicPr>
          <p:nvPr>
            <p:ph type="pic" idx="1"/>
          </p:nvPr>
        </p:nvPicPr>
        <p:blipFill>
          <a:blip r:embed="rId3"/>
          <a:srcRect l="28622" t="0" r="28622" b="0"/>
          <a:stretch/>
        </p:blipFill>
        <p:spPr bwMode="auto">
          <a:xfrm>
            <a:off x="7785847" y="847165"/>
            <a:ext cx="3442447" cy="4450975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70047" name="Title 4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/>
              <a:t> </a:t>
            </a:r>
            <a:r>
              <a:rPr lang="en-US" sz="4400" b="1"/>
              <a:t>How to Fund Your Startup </a:t>
            </a: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151247389" name="Content Placeholder 5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400"/>
              <a:t>Money required to start, run, and grow a business</a:t>
            </a:r>
            <a:endParaRPr/>
          </a:p>
          <a:p>
            <a:pPr marL="0" indent="0">
              <a:buNone/>
              <a:defRPr/>
            </a:pPr>
            <a:r>
              <a:rPr lang="en-US"/>
              <a:t> </a:t>
            </a:r>
            <a:r>
              <a:rPr lang="en-US" sz="2800" b="1" u="sng"/>
              <a:t>Major Sources of Funding</a:t>
            </a:r>
            <a:endParaRPr/>
          </a:p>
          <a:p>
            <a:pPr>
              <a:defRPr/>
            </a:pPr>
            <a:r>
              <a:rPr lang="en-US" sz="2400"/>
              <a:t>Bootstrapping</a:t>
            </a:r>
            <a:endParaRPr/>
          </a:p>
          <a:p>
            <a:pPr>
              <a:defRPr/>
            </a:pPr>
            <a:r>
              <a:rPr lang="en-US" sz="2400"/>
              <a:t>Family &amp; Friends</a:t>
            </a:r>
            <a:endParaRPr/>
          </a:p>
          <a:p>
            <a:pPr>
              <a:defRPr/>
            </a:pPr>
            <a:r>
              <a:rPr lang="en-US" sz="2400"/>
              <a:t>Bank Loans</a:t>
            </a:r>
            <a:endParaRPr/>
          </a:p>
        </p:txBody>
      </p:sp>
      <p:sp>
        <p:nvSpPr>
          <p:cNvPr id="1974935092" name="Content Placeholder 6"/>
          <p:cNvSpPr>
            <a:spLocks noGrp="1"/>
          </p:cNvSpPr>
          <p:nvPr>
            <p:ph sz="half" idx="2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400"/>
              <a:t>Angel Investors</a:t>
            </a:r>
            <a:endParaRPr/>
          </a:p>
          <a:p>
            <a:pPr>
              <a:defRPr/>
            </a:pPr>
            <a:r>
              <a:rPr lang="en-US" sz="2400"/>
              <a:t>Venture Capital</a:t>
            </a:r>
            <a:endParaRPr/>
          </a:p>
          <a:p>
            <a:pPr>
              <a:defRPr/>
            </a:pPr>
            <a:r>
              <a:rPr lang="en-US" sz="2400"/>
              <a:t>Crowdfunding</a:t>
            </a:r>
            <a:endParaRPr/>
          </a:p>
          <a:p>
            <a:pPr>
              <a:defRPr/>
            </a:pPr>
            <a:r>
              <a:rPr lang="en-US" sz="2400"/>
              <a:t>Government Grants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215200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sz="3600" b="1"/>
              <a:t>Marketing Mantra for Startups</a:t>
            </a:r>
            <a:br>
              <a:rPr lang="en-US"/>
            </a:br>
            <a:endParaRPr/>
          </a:p>
        </p:txBody>
      </p:sp>
      <p:sp>
        <p:nvSpPr>
          <p:cNvPr id="1465116701" name="Content Placeholder 5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/>
              <a:t>A simple marketing philosophy that guides all marketing decisions</a:t>
            </a:r>
            <a:endParaRPr/>
          </a:p>
          <a:p>
            <a:pPr marL="0" indent="0">
              <a:buNone/>
              <a:defRPr/>
            </a:pPr>
            <a:r>
              <a:rPr lang="en-US" b="1"/>
              <a:t>Core Idea:</a:t>
            </a:r>
            <a:endParaRPr/>
          </a:p>
          <a:p>
            <a:pPr>
              <a:defRPr/>
            </a:pPr>
            <a:r>
              <a:rPr lang="en-US"/>
              <a:t>Know your customer &amp; solve their problem</a:t>
            </a:r>
            <a:endParaRPr/>
          </a:p>
          <a:p>
            <a:pPr>
              <a:defRPr/>
            </a:pPr>
            <a:r>
              <a:rPr lang="en-US"/>
              <a:t>Right Product + Right Customer + Right Message + Right Channel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154674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b="1"/>
              <a:t>Key Marketing Principles for Startups</a:t>
            </a:r>
            <a:br>
              <a:rPr lang="en-US"/>
            </a:br>
            <a:endParaRPr/>
          </a:p>
        </p:txBody>
      </p:sp>
      <p:sp>
        <p:nvSpPr>
          <p:cNvPr id="1806283152" name="Content Placeholder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2400"/>
              <a:t>Customer-Centric Approach</a:t>
            </a:r>
            <a:endParaRPr/>
          </a:p>
          <a:p>
            <a:pPr>
              <a:defRPr/>
            </a:pPr>
            <a:r>
              <a:rPr lang="en-US" sz="2400"/>
              <a:t>Value Proposition</a:t>
            </a:r>
            <a:endParaRPr/>
          </a:p>
          <a:p>
            <a:pPr>
              <a:defRPr/>
            </a:pPr>
            <a:r>
              <a:rPr lang="en-US" sz="2400"/>
              <a:t>Digital Marketing Focus</a:t>
            </a:r>
            <a:endParaRPr/>
          </a:p>
          <a:p>
            <a:pPr>
              <a:defRPr/>
            </a:pPr>
            <a:r>
              <a:rPr lang="en-US" sz="2400"/>
              <a:t>Low-Cost Promotion</a:t>
            </a:r>
            <a:endParaRPr/>
          </a:p>
          <a:p>
            <a:pPr>
              <a:defRPr/>
            </a:pPr>
            <a:r>
              <a:rPr lang="en-US" sz="2400"/>
              <a:t>Strong Branding</a:t>
            </a:r>
            <a:endParaRPr sz="2400"/>
          </a:p>
        </p:txBody>
      </p:sp>
      <p:sp>
        <p:nvSpPr>
          <p:cNvPr id="249779815" name="Content Placeholder 3"/>
          <p:cNvSpPr>
            <a:spLocks noGrp="1"/>
          </p:cNvSpPr>
          <p:nvPr>
            <p:ph sz="half" idx="2"/>
          </p:nvPr>
        </p:nvSpPr>
        <p:spPr bwMode="auto"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400" b="1"/>
              <a:t>Final Takeaway</a:t>
            </a:r>
            <a:endParaRPr/>
          </a:p>
          <a:p>
            <a:pPr>
              <a:defRPr/>
            </a:pPr>
            <a:r>
              <a:rPr lang="en-US" sz="2400"/>
              <a:t>Startups don’t need big budgets</a:t>
            </a:r>
            <a:endParaRPr/>
          </a:p>
          <a:p>
            <a:pPr>
              <a:defRPr/>
            </a:pPr>
            <a:r>
              <a:rPr lang="en-US" sz="2400"/>
              <a:t>They need smart marketing</a:t>
            </a:r>
            <a:endParaRPr/>
          </a:p>
          <a:p>
            <a:pPr>
              <a:defRPr/>
            </a:pPr>
            <a:r>
              <a:rPr lang="en-US" sz="2400"/>
              <a:t>Focus on problem-solving &amp; customer value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Arial"/>
        <a:cs typeface="Arial"/>
      </a:majorFont>
      <a:minorFont>
        <a:latin typeface="Gill Sans MT"/>
        <a:ea typeface="Arial"/>
        <a:cs typeface="Arial"/>
      </a:minorFont>
    </a:fontScheme>
    <a:fmtScheme name="Gallery">
      <a:fillStyleLst>
        <a:solidFill>
          <a:schemeClr val="phClr"/>
        </a:solidFill>
        <a:gradFill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">
      <a:majorFont>
        <a:latin typeface="Gill Sans MT"/>
        <a:ea typeface="Arial"/>
        <a:cs typeface="Arial"/>
      </a:majorFont>
      <a:minorFont>
        <a:latin typeface="Gill Sans MT"/>
        <a:ea typeface="Arial"/>
        <a:cs typeface="Arial"/>
      </a:minorFont>
    </a:fontScheme>
    <a:fmtScheme name="Gallery">
      <a:fillStyleLst>
        <a:solidFill>
          <a:schemeClr val="phClr"/>
        </a:solidFill>
        <a:gradFill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0</Words>
  <Application>ONLYOFFICE/9.0.4.50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Team</dc:title>
  <dc:creator>Faiza Khan Burki</dc:creator>
  <cp:lastModifiedBy/>
  <cp:revision>8</cp:revision>
  <dcterms:created xsi:type="dcterms:W3CDTF">2025-12-15T05:55:34Z</dcterms:created>
  <dcterms:modified xsi:type="dcterms:W3CDTF">2026-01-28T15:59:14Z</dcterms:modified>
</cp:coreProperties>
</file>