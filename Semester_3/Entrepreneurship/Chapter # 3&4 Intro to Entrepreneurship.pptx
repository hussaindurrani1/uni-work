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1" d="100"/>
          <a:sy n="71" d="100"/>
        </p:scale>
        <p:origin x="696" y="6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9C0181-E905-07FD-0070-0F2100EF6A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C7840B-BFC6-CF4C-33A9-45F07872FF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DFFDB-DBD5-7808-0677-AEE9D795E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F6C8FF-C22E-BF6D-3CD5-73206081C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0B475B-7C32-24DC-B93B-870611FC30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94D23F-F508-28AB-DF46-64B7CC511E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25D487-6CD3-A645-C0F5-80C15F1FB0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4ECE43-E790-D8DB-38F4-20851C450D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EBD38D-3C38-BDBD-AF1D-A839B6A6D1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9D0DE3-CE50-ED6B-D69E-8B5FDB795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43C5B8-FE32-DA6B-16F2-E442EAC89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836835" name="Title 1"/>
          <p:cNvSpPr>
            <a:spLocks noGrp="1"/>
          </p:cNvSpPr>
          <p:nvPr>
            <p:ph type="ctrTitle"/>
          </p:nvPr>
        </p:nvSpPr>
        <p:spPr bwMode="auto"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2606851" name="Subtitle 2"/>
          <p:cNvSpPr>
            <a:spLocks noGrp="1"/>
          </p:cNvSpPr>
          <p:nvPr>
            <p:ph type="subTitle" idx="1"/>
          </p:nvPr>
        </p:nvSpPr>
        <p:spPr bwMode="auto"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396398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159795618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416500" y="329307"/>
            <a:ext cx="4973915" cy="30920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32000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437664" y="798973"/>
            <a:ext cx="811019" cy="503578"/>
          </a:xfrm>
        </p:spPr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974611378" name="Straight Connector 14"/>
          <p:cNvCxnSpPr/>
          <p:nvPr/>
        </p:nvCxnSpPr>
        <p:spPr bwMode="auto">
          <a:xfrm>
            <a:off x="2417780" y="3528541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8588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323513" name="Content Placeholder 2"/>
          <p:cNvSpPr>
            <a:spLocks noGrp="1"/>
          </p:cNvSpPr>
          <p:nvPr>
            <p:ph idx="1"/>
          </p:nvPr>
        </p:nvSpPr>
        <p:spPr bwMode="auto"/>
        <p:txBody>
          <a:bodyPr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18293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4504586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3586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643451464" name="Straight Connector 32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83651" name="Title 1"/>
          <p:cNvSpPr>
            <a:spLocks noGrp="1"/>
          </p:cNvSpPr>
          <p:nvPr>
            <p:ph type="title"/>
          </p:nvPr>
        </p:nvSpPr>
        <p:spPr bwMode="auto"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72587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48673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4914620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1746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579689863" name="Straight Connector 14"/>
          <p:cNvCxnSpPr/>
          <p:nvPr/>
        </p:nvCxnSpPr>
        <p:spPr bwMode="auto"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885760" name="Title 1"/>
          <p:cNvSpPr>
            <a:spLocks noGrp="1"/>
          </p:cNvSpPr>
          <p:nvPr>
            <p:ph type="title"/>
          </p:nvPr>
        </p:nvSpPr>
        <p:spPr bwMode="auto">
          <a:xfrm>
            <a:off x="1449217" y="804889"/>
            <a:ext cx="9605635" cy="105930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20806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47331" y="2010878"/>
            <a:ext cx="4645152" cy="344859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58788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13771" y="2017343"/>
            <a:ext cx="4645152" cy="344152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33234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17291213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1715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606495846" name="Straight Connector 3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031643" name="Title 1"/>
          <p:cNvSpPr>
            <a:spLocks noGrp="1"/>
          </p:cNvSpPr>
          <p:nvPr>
            <p:ph type="title"/>
          </p:nvPr>
        </p:nvSpPr>
        <p:spPr bwMode="auto">
          <a:xfrm>
            <a:off x="1447191" y="804163"/>
            <a:ext cx="9607661" cy="10563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55627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86053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47191" y="2824269"/>
            <a:ext cx="4645152" cy="26444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68073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12361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77451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12361" y="2821491"/>
            <a:ext cx="4645152" cy="26373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025934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5196118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83545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641859170" name="Straight Connector 28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3560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46528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35603636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40008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812290180" name="Straight Connector 2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9443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104112463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0741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440369" name="Title 1"/>
          <p:cNvSpPr>
            <a:spLocks noGrp="1"/>
          </p:cNvSpPr>
          <p:nvPr>
            <p:ph type="title"/>
          </p:nvPr>
        </p:nvSpPr>
        <p:spPr bwMode="auto"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5247724" name="Content Placeholder 2"/>
          <p:cNvSpPr>
            <a:spLocks noGrp="1"/>
          </p:cNvSpPr>
          <p:nvPr>
            <p:ph idx="1"/>
          </p:nvPr>
        </p:nvSpPr>
        <p:spPr bwMode="auto">
          <a:xfrm>
            <a:off x="5043714" y="798974"/>
            <a:ext cx="6012470" cy="4658826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26589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6272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17735549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9097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568443482" name="Straight Connector 16"/>
          <p:cNvCxnSpPr/>
          <p:nvPr/>
        </p:nvCxnSpPr>
        <p:spPr bwMode="auto"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388227" name="Group 7"/>
          <p:cNvGrpSpPr/>
          <p:nvPr/>
        </p:nvGrpSpPr>
        <p:grpSpPr bwMode="auto">
          <a:xfrm>
            <a:off x="7477386" y="482170"/>
            <a:ext cx="4074533" cy="5149101"/>
            <a:chOff x="7477386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6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773356470" name="Title 1"/>
          <p:cNvSpPr>
            <a:spLocks noGrp="1"/>
          </p:cNvSpPr>
          <p:nvPr>
            <p:ph type="title"/>
          </p:nvPr>
        </p:nvSpPr>
        <p:spPr bwMode="auto"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452161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8124389" y="1122542"/>
            <a:ext cx="2791171" cy="38663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323190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29434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32299574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1447382" y="318640"/>
            <a:ext cx="5541004" cy="32093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40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461884042" name="Straight Connector 30"/>
          <p:cNvCxnSpPr/>
          <p:nvPr/>
        </p:nvCxnSpPr>
        <p:spPr bwMode="auto"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2091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64674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8134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10724611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2855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73775718" name="Straight Connector 25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30857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15122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44672" y="798973"/>
            <a:ext cx="7828830" cy="4659889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36354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2596526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365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208026999" name="Straight Connector 14"/>
          <p:cNvCxnSpPr/>
          <p:nvPr/>
        </p:nvCxnSpPr>
        <p:spPr bwMode="auto"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23567" name="Rectangle 7"/>
          <p:cNvSpPr/>
          <p:nvPr/>
        </p:nvSpPr>
        <p:spPr bwMode="auto"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95076415" name="Picture 6"/>
          <p:cNvPicPr>
            <a:picLocks noChangeAspect="1"/>
          </p:cNvPicPr>
          <p:nvPr/>
        </p:nvPicPr>
        <p:blipFill>
          <a:blip r:embed="rId13"/>
          <a:srcRect l="0" t="1538" r="0" b="-1537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1403538159" name="Title Placeholder 1"/>
          <p:cNvSpPr>
            <a:spLocks noGrp="1"/>
          </p:cNvSpPr>
          <p:nvPr>
            <p:ph type="title"/>
          </p:nvPr>
        </p:nvSpPr>
        <p:spPr bwMode="auto"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8058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288687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554138" y="330370"/>
            <a:ext cx="350071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79142A-63C2-401C-BA5B-8BC85AED8DE1}" type="datetimeFigureOut">
              <a:rPr/>
              <a:t>24/10/2025</a:t>
            </a:fld>
            <a:endParaRPr/>
          </a:p>
        </p:txBody>
      </p:sp>
      <p:sp>
        <p:nvSpPr>
          <p:cNvPr id="10555354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7247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9E30FDB-CC90-41A9-96FD-885C1566602D}" type="slidenum">
              <a:rPr/>
              <a:t>‹#›</a:t>
            </a:fld>
            <a:endParaRPr/>
          </a:p>
        </p:txBody>
      </p:sp>
      <p:cxnSp>
        <p:nvCxnSpPr>
          <p:cNvPr id="1821485666" name="Straight Connector 9"/>
          <p:cNvCxnSpPr/>
          <p:nvPr/>
        </p:nvCxnSpPr>
        <p:spPr bwMode="auto"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200" b="0" i="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822914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Fundamentals of Entrepreneurship </a:t>
            </a:r>
            <a:endParaRPr b="1"/>
          </a:p>
        </p:txBody>
      </p:sp>
      <p:sp>
        <p:nvSpPr>
          <p:cNvPr id="90809164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Lecture 3 &amp; 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6044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>
                <a:latin typeface="Times New Roman"/>
              </a:rPr>
              <a:t>What is Entrepreneurship?</a:t>
            </a:r>
            <a:endParaRPr b="1"/>
          </a:p>
        </p:txBody>
      </p:sp>
      <p:sp>
        <p:nvSpPr>
          <p:cNvPr id="1313939978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>
                <a:latin typeface="Times New Roman"/>
              </a:rPr>
              <a:t>Academic Definition (Stevenson &amp; </a:t>
            </a:r>
            <a:r>
              <a:rPr lang="en-US" sz="2800">
                <a:latin typeface="Times New Roman"/>
              </a:rPr>
              <a:t>Jarillo</a:t>
            </a:r>
            <a:r>
              <a:rPr lang="en-US" sz="2800">
                <a:latin typeface="Times New Roman"/>
              </a:rPr>
              <a:t>)</a:t>
            </a:r>
            <a:endParaRPr/>
          </a:p>
          <a:p>
            <a:pPr lvl="1">
              <a:lnSpc>
                <a:spcPct val="90000"/>
              </a:lnSpc>
              <a:defRPr/>
            </a:pPr>
            <a:r>
              <a:rPr lang="en-US" sz="2400">
                <a:latin typeface="Times New Roman"/>
              </a:rPr>
              <a:t>Entrepreneurship is the process by which individuals pursue opportunities without regard to resources they currently control.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-US" sz="2800">
                <a:latin typeface="Times New Roman"/>
              </a:rPr>
              <a:t>Venture Capitalist (Fred Wilson)</a:t>
            </a:r>
            <a:endParaRPr/>
          </a:p>
          <a:p>
            <a:pPr lvl="1">
              <a:lnSpc>
                <a:spcPct val="90000"/>
              </a:lnSpc>
              <a:defRPr/>
            </a:pPr>
            <a:r>
              <a:rPr lang="en-US" sz="2400">
                <a:latin typeface="Times New Roman"/>
              </a:rPr>
              <a:t>Entrepreneurship is the art of turning an idea into a business.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-US" sz="2800">
                <a:latin typeface="Times New Roman"/>
              </a:rPr>
              <a:t>Explanation of What Entrepreneurs Do</a:t>
            </a:r>
            <a:endParaRPr/>
          </a:p>
          <a:p>
            <a:pPr lvl="1">
              <a:lnSpc>
                <a:spcPct val="90000"/>
              </a:lnSpc>
              <a:defRPr/>
            </a:pPr>
            <a:r>
              <a:rPr lang="en-US" sz="2400">
                <a:latin typeface="Times New Roman"/>
              </a:rPr>
              <a:t>Entrepreneurs assemble and then integrate all the resources needed – the money, the people, the business model, the strategy – to transform an invention or an idea into a viable business.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05277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b="1">
                <a:latin typeface="Times New Roman"/>
              </a:rPr>
              <a:t>Why Become an Entrepreneur?</a:t>
            </a:r>
            <a:endParaRPr b="1"/>
          </a:p>
        </p:txBody>
      </p:sp>
      <p:sp>
        <p:nvSpPr>
          <p:cNvPr id="21142263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 sz="2800"/>
              <a:t>The three primary reasons that people become entrepreneurs and start their own firms</a:t>
            </a:r>
            <a:endParaRPr/>
          </a:p>
          <a:p>
            <a:pPr>
              <a:defRPr/>
            </a:pPr>
            <a:r>
              <a:rPr lang="en-US" sz="2800"/>
              <a:t>Desire to be their own boss</a:t>
            </a:r>
            <a:endParaRPr/>
          </a:p>
          <a:p>
            <a:pPr>
              <a:defRPr/>
            </a:pPr>
            <a:r>
              <a:rPr lang="en-US" sz="2800"/>
              <a:t>Desire to pursue their own ideas</a:t>
            </a:r>
            <a:endParaRPr/>
          </a:p>
          <a:p>
            <a:pPr>
              <a:defRPr/>
            </a:pPr>
            <a:r>
              <a:rPr lang="en-US" sz="2800"/>
              <a:t>Financial rewards</a:t>
            </a:r>
            <a:endParaRPr/>
          </a:p>
          <a:p>
            <a:pPr>
              <a:defRPr/>
            </a:pPr>
            <a:endParaRPr lang="en-US" sz="2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579559" name="Title 1"/>
          <p:cNvSpPr>
            <a:spLocks noGrp="1"/>
          </p:cNvSpPr>
          <p:nvPr>
            <p:ph type="title"/>
          </p:nvPr>
        </p:nvSpPr>
        <p:spPr bwMode="auto">
          <a:xfrm>
            <a:off x="838200" y="332821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400" b="1">
                <a:latin typeface="Times New Roman"/>
              </a:rPr>
              <a:t>Characteristics of Successful Entrepreneurs</a:t>
            </a:r>
            <a:br>
              <a:rPr lang="en-US" sz="4400">
                <a:latin typeface="Times New Roman"/>
              </a:rPr>
            </a:br>
            <a:endParaRPr/>
          </a:p>
        </p:txBody>
      </p:sp>
      <p:sp>
        <p:nvSpPr>
          <p:cNvPr id="83552388" name="Text Box 5"/>
          <p:cNvSpPr txBox="1">
            <a:spLocks noChangeArrowheads="1" noGrp="1"/>
          </p:cNvSpPr>
          <p:nvPr>
            <p:ph idx="1"/>
          </p:nvPr>
        </p:nvSpPr>
        <p:spPr bwMode="auto">
          <a:xfrm>
            <a:off x="838200" y="1799120"/>
            <a:ext cx="10515600" cy="8338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4000">
                <a:solidFill>
                  <a:schemeClr val="tx1"/>
                </a:solidFill>
                <a:latin typeface="Times New Roman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Times New Roman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Times New Roman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Times New Roman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Times New Roman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4000">
                <a:solidFill>
                  <a:schemeClr val="tx1"/>
                </a:solidFill>
                <a:latin typeface="Times New Roman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4000">
                <a:solidFill>
                  <a:schemeClr val="tx1"/>
                </a:solidFill>
                <a:latin typeface="Times New Roman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4000">
                <a:solidFill>
                  <a:schemeClr val="tx1"/>
                </a:solidFill>
                <a:latin typeface="Times New Roman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4000">
                <a:solidFill>
                  <a:schemeClr val="tx1"/>
                </a:solidFill>
                <a:latin typeface="Times New Roman"/>
              </a:defRPr>
            </a:lvl9pPr>
          </a:lstStyle>
          <a:p>
            <a:pPr marL="0" indent="0" algn="ctr">
              <a:lnSpc>
                <a:spcPct val="75000"/>
              </a:lnSpc>
              <a:spcBef>
                <a:spcPts val="0"/>
              </a:spcBef>
              <a:buNone/>
              <a:defRPr/>
            </a:pPr>
            <a:r>
              <a:rPr lang="en-US" sz="2400"/>
              <a:t>Four Primary Characteristics</a:t>
            </a:r>
            <a:endParaRPr/>
          </a:p>
          <a:p>
            <a:pPr marL="0" indent="0" algn="ctr">
              <a:lnSpc>
                <a:spcPct val="75000"/>
              </a:lnSpc>
              <a:spcBef>
                <a:spcPts val="0"/>
              </a:spcBef>
              <a:buNone/>
              <a:defRPr/>
            </a:pPr>
            <a:endParaRPr lang="en-US" sz="2400"/>
          </a:p>
        </p:txBody>
      </p:sp>
      <p:pic>
        <p:nvPicPr>
          <p:cNvPr id="530142316" name="Picture 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537252" y="2080591"/>
            <a:ext cx="9912626" cy="477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05723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400" b="1">
                <a:latin typeface="Times New Roman"/>
              </a:rPr>
              <a:t>Characteristics of Successful Entrepreneurs</a:t>
            </a:r>
            <a:br>
              <a:rPr lang="en-US" sz="4400">
                <a:latin typeface="Times New Roman"/>
              </a:rPr>
            </a:br>
            <a:endParaRPr/>
          </a:p>
        </p:txBody>
      </p:sp>
      <p:sp>
        <p:nvSpPr>
          <p:cNvPr id="33497566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z="2800">
                <a:latin typeface="Times New Roman"/>
              </a:rPr>
              <a:t>Passion for the Business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The number one characteristic shared by successful entrepreneurs is a passion for the business.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This passion typically stems from the entrepreneur’s belief that the business will positively influence people’s lives.</a:t>
            </a:r>
            <a:endParaRPr/>
          </a:p>
          <a:p>
            <a:pPr>
              <a:defRPr/>
            </a:pPr>
            <a:r>
              <a:rPr lang="en-US" sz="2800">
                <a:latin typeface="Times New Roman"/>
              </a:rPr>
              <a:t>Product/Customer Focus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A second defining characteristic of successful entrepreneurs is a product/customer focus.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An entrepreneur’s keen focus on products and customers typically stems from the fact that most entrepreneurs are, at heart, craftspeople.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816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400" b="1">
                <a:latin typeface="Times New Roman"/>
              </a:rPr>
              <a:t>Characteristics of Successful Entrepreneurs</a:t>
            </a:r>
            <a:endParaRPr b="1"/>
          </a:p>
        </p:txBody>
      </p:sp>
      <p:sp>
        <p:nvSpPr>
          <p:cNvPr id="116367403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2800">
                <a:latin typeface="Times New Roman"/>
              </a:rPr>
              <a:t>Tenacity Despite Failure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Because entrepreneurs are typically trying something new, the failure rate is naturally high.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A defining characteristic for successful entrepreneurs is their ability to persevere through setbacks and failures. </a:t>
            </a:r>
            <a:endParaRPr/>
          </a:p>
          <a:p>
            <a:pPr>
              <a:defRPr/>
            </a:pPr>
            <a:r>
              <a:rPr lang="en-US" sz="2800">
                <a:latin typeface="Times New Roman"/>
              </a:rPr>
              <a:t>Execution Intelligence</a:t>
            </a:r>
            <a:endParaRPr/>
          </a:p>
          <a:p>
            <a:pPr lvl="1">
              <a:defRPr/>
            </a:pPr>
            <a:r>
              <a:rPr lang="en-US" sz="2400">
                <a:latin typeface="Times New Roman"/>
              </a:rPr>
              <a:t>The ability to fashion a solid business idea into a viable business is a key characteristic of successful entrepreneurs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7580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400" b="1">
                <a:latin typeface="Times New Roman"/>
              </a:rPr>
              <a:t>Types of Start-Up Firms</a:t>
            </a:r>
            <a:endParaRPr b="1"/>
          </a:p>
        </p:txBody>
      </p:sp>
      <p:pic>
        <p:nvPicPr>
          <p:cNvPr id="1025855315" name="Picture 7"/>
          <p:cNvPicPr>
            <a:picLocks noChangeAspect="1" noChangeArrowheads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11426" y="1690688"/>
            <a:ext cx="11569148" cy="457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10572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b="1">
                <a:latin typeface="Times New Roman"/>
              </a:rPr>
              <a:t>The Entrepreneurial Process</a:t>
            </a:r>
            <a:endParaRPr b="1"/>
          </a:p>
        </p:txBody>
      </p:sp>
      <p:sp>
        <p:nvSpPr>
          <p:cNvPr id="1116442367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sz="2800"/>
              <a:t>The Entrepreneurial Process Consists of Four Steps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800"/>
              <a:t>Step 1: Deciding to become an entrepreneur.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800"/>
              <a:t>Step 2: Developing successful business ideas.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800"/>
              <a:t>Step 3: Moving from an idea to an entrepreneurial firm.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800"/>
              <a:t>Step 4: Managing and growing the entrepreneurial firm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41105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b="1">
                <a:latin typeface="Times New Roman"/>
              </a:rPr>
              <a:t>The Entrepreneurial Process</a:t>
            </a:r>
            <a:endParaRPr b="1"/>
          </a:p>
        </p:txBody>
      </p:sp>
      <p:sp>
        <p:nvSpPr>
          <p:cNvPr id="6518594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 b="1"/>
              <a:t>Step 1: Deciding to Become an Entrepreneur</a:t>
            </a:r>
            <a:endParaRPr/>
          </a:p>
          <a:p>
            <a:pPr>
              <a:defRPr/>
            </a:pPr>
            <a:r>
              <a:rPr lang="en-US"/>
              <a:t>This is the first and most personal step — making the decision to pursue entrepreneurship as a career path. It involves recognizing the desire to create something new and accepting the risks and rewards of running one’s own business.</a:t>
            </a:r>
            <a:endParaRPr/>
          </a:p>
          <a:p>
            <a:pPr marL="0" indent="0">
              <a:buNone/>
              <a:defRPr/>
            </a:pPr>
            <a:r>
              <a:rPr lang="en-US" b="1"/>
              <a:t>Step 2: Developing Successful Business Ideas</a:t>
            </a:r>
            <a:endParaRPr/>
          </a:p>
          <a:p>
            <a:pPr marL="0" indent="0">
              <a:buNone/>
              <a:defRPr/>
            </a:pPr>
            <a:r>
              <a:rPr lang="en-US"/>
              <a:t>At this stage, the entrepreneur identifies an opportunity and transforms it into a viable business concept. This is where creativity meets market understanding.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94400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b="1">
                <a:latin typeface="Times New Roman"/>
              </a:rPr>
              <a:t>The Entrepreneurial Process</a:t>
            </a:r>
            <a:endParaRPr b="1"/>
          </a:p>
        </p:txBody>
      </p:sp>
      <p:sp>
        <p:nvSpPr>
          <p:cNvPr id="19847233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425388"/>
            <a:ext cx="10515600" cy="50674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None/>
              <a:defRPr/>
            </a:pPr>
            <a:endParaRPr lang="en-US" b="1"/>
          </a:p>
          <a:p>
            <a:pPr marL="0" indent="0">
              <a:buNone/>
              <a:defRPr/>
            </a:pPr>
            <a:r>
              <a:rPr lang="en-US" b="1"/>
              <a:t>Step 3: Moving from an Idea to an Entrepreneurial Firm</a:t>
            </a:r>
            <a:endParaRPr/>
          </a:p>
          <a:p>
            <a:pPr marL="0" indent="0">
              <a:buNone/>
              <a:defRPr/>
            </a:pPr>
            <a:r>
              <a:rPr lang="en-US"/>
              <a:t>In this stage, the entrepreneur turns the idea into a real business</a:t>
            </a:r>
            <a:r>
              <a:rPr lang="en-US" b="1"/>
              <a:t>.</a:t>
            </a:r>
            <a:r>
              <a:rPr lang="en-US"/>
              <a:t> It requires action, planning, and resource mobilization.</a:t>
            </a:r>
            <a:endParaRPr/>
          </a:p>
          <a:p>
            <a:pPr marL="0" indent="0">
              <a:buNone/>
              <a:defRPr/>
            </a:pPr>
            <a:r>
              <a:rPr lang="en-US" b="1"/>
              <a:t>Key Activities:</a:t>
            </a:r>
            <a:endParaRPr/>
          </a:p>
          <a:p>
            <a:pPr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/>
              <a:t>Preparing a business plan – A roadmap that outlines the product, market, strategy, and finances.</a:t>
            </a:r>
            <a:endParaRPr/>
          </a:p>
          <a:p>
            <a:pPr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/>
              <a:t>Gathering resources – Securing funds, hiring employees, arranging suppliers.</a:t>
            </a:r>
            <a:endParaRPr/>
          </a:p>
          <a:p>
            <a:pPr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/>
              <a:t>Choosing a legal structure – Sole proprietorship, partnership, or company.</a:t>
            </a:r>
            <a:endParaRPr/>
          </a:p>
          <a:p>
            <a:pPr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/>
              <a:t>Launching the venture – Starting operations and introducing the product/service to the market.</a:t>
            </a:r>
            <a:endParaRPr/>
          </a:p>
          <a:p>
            <a:pPr marL="0" indent="0"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84646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b="1">
                <a:latin typeface="Times New Roman"/>
              </a:rPr>
              <a:t>The Entrepreneurial Process</a:t>
            </a:r>
            <a:endParaRPr b="1"/>
          </a:p>
        </p:txBody>
      </p:sp>
      <p:sp>
        <p:nvSpPr>
          <p:cNvPr id="195432958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b="1"/>
              <a:t>Step 4: Managing and Growing the Entrepreneurial Firm</a:t>
            </a:r>
            <a:endParaRPr/>
          </a:p>
          <a:p>
            <a:pPr marL="0" indent="0">
              <a:buNone/>
              <a:defRPr/>
            </a:pPr>
            <a:r>
              <a:rPr lang="en-US"/>
              <a:t>Once the firm is up and running, the entrepreneur must focus on management, innovation, and growth. This stage ensures sustainability and long-term success.</a:t>
            </a:r>
            <a:endParaRPr lang="en-US" b="1"/>
          </a:p>
          <a:p>
            <a:pPr marL="0" indent="0">
              <a:buNone/>
              <a:defRPr/>
            </a:pPr>
            <a:r>
              <a:rPr lang="en-US" b="1"/>
              <a:t>Key Activities: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en-US"/>
              <a:t>Managing operations – Overseeing daily business activities efficiently.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en-US"/>
              <a:t>Marketing and customer relations – Maintaining strong relationships with customers.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en-US"/>
              <a:t>Financial management – Controlling costs, reinvesting profits, and expanding strategically.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en-US"/>
              <a:t>Innovation and adaptation – Continuously improving products and services.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en-US"/>
              <a:t>Growth strategies – Entering new markets, forming partnerships, or diversifying.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ONLYOFFICE/9.0.4.50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Entrepreneurship</dc:title>
  <dc:creator>Baseerat Sattar</dc:creator>
  <cp:lastModifiedBy/>
  <cp:revision>6</cp:revision>
  <dcterms:created xsi:type="dcterms:W3CDTF">2025-09-27T10:02:16Z</dcterms:created>
  <dcterms:modified xsi:type="dcterms:W3CDTF">2025-11-27T06:02:09Z</dcterms:modified>
</cp:coreProperties>
</file>