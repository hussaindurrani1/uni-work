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1" d="100"/>
          <a:sy n="71" d="100"/>
        </p:scale>
        <p:origin x="696" y="6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1737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897779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271939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436118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885464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523990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997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612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198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D46128-8015-03D5-C2BA-A2F81FFFDC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617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212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1482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96AF62-0954-E2DE-9264-1154F0F62E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277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05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097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432E35-A887-3C62-68D0-42DC8A650E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805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948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023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057D5-8743-F9BE-A4F9-9593DBCFB6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6745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124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674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AB94DD-66F6-86C5-14E1-0571D70F2C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10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431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22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772439-C62E-96E3-86F9-379CEC579C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748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3951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074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9F3467-6AC0-850F-C8C9-558C1123FC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899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019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02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17C7E1-C2C7-566F-9E02-4DEB319853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806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5419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589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27A84D-6083-A2ED-A35F-F5D205082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17" name="Title 1"/>
          <p:cNvSpPr>
            <a:spLocks noGrp="1"/>
          </p:cNvSpPr>
          <p:nvPr>
            <p:ph type="ctrTitle"/>
          </p:nvPr>
        </p:nvSpPr>
        <p:spPr bwMode="auto"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2921439" name="Subtitle 2"/>
          <p:cNvSpPr>
            <a:spLocks noGrp="1"/>
          </p:cNvSpPr>
          <p:nvPr>
            <p:ph type="subTitle" idx="1"/>
          </p:nvPr>
        </p:nvSpPr>
        <p:spPr bwMode="auto"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668413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89157925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416500" y="329307"/>
            <a:ext cx="4973915" cy="30920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088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437664" y="798973"/>
            <a:ext cx="811019" cy="503578"/>
          </a:xfrm>
        </p:spPr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853867235" name="Straight Connector 14"/>
          <p:cNvCxnSpPr/>
          <p:nvPr/>
        </p:nvCxnSpPr>
        <p:spPr bwMode="auto">
          <a:xfrm>
            <a:off x="2417780" y="3528541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11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5453563" name="Content Placeholder 2"/>
          <p:cNvSpPr>
            <a:spLocks noGrp="1"/>
          </p:cNvSpPr>
          <p:nvPr>
            <p:ph idx="1"/>
          </p:nvPr>
        </p:nvSpPr>
        <p:spPr bwMode="auto"/>
        <p:txBody>
          <a:bodyPr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39413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7399098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2600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142525962" name="Straight Connector 32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015442" name="Title 1"/>
          <p:cNvSpPr>
            <a:spLocks noGrp="1"/>
          </p:cNvSpPr>
          <p:nvPr>
            <p:ph type="title"/>
          </p:nvPr>
        </p:nvSpPr>
        <p:spPr bwMode="auto"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95161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0285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20138087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1308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875048205" name="Straight Connector 14"/>
          <p:cNvCxnSpPr/>
          <p:nvPr/>
        </p:nvCxnSpPr>
        <p:spPr bwMode="auto"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275690" name="Title 1"/>
          <p:cNvSpPr>
            <a:spLocks noGrp="1"/>
          </p:cNvSpPr>
          <p:nvPr>
            <p:ph type="title"/>
          </p:nvPr>
        </p:nvSpPr>
        <p:spPr bwMode="auto">
          <a:xfrm>
            <a:off x="1449217" y="804889"/>
            <a:ext cx="9605635" cy="105930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801332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47331" y="2010878"/>
            <a:ext cx="4645152" cy="344859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70468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13771" y="2017343"/>
            <a:ext cx="4645152" cy="344152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79760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6935840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5572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340979995" name="Straight Connector 3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243098" name="Title 1"/>
          <p:cNvSpPr>
            <a:spLocks noGrp="1"/>
          </p:cNvSpPr>
          <p:nvPr>
            <p:ph type="title"/>
          </p:nvPr>
        </p:nvSpPr>
        <p:spPr bwMode="auto">
          <a:xfrm>
            <a:off x="1447191" y="804163"/>
            <a:ext cx="9607661" cy="105631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23022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698622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47191" y="2824269"/>
            <a:ext cx="4645152" cy="264445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642143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12361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68706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12361" y="2821491"/>
            <a:ext cx="4645152" cy="263737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587822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5964596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21577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616387632" name="Straight Connector 28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215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731528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5785637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8322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282786842" name="Straight Connector 2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1296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5588752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78713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399410" name="Title 1"/>
          <p:cNvSpPr>
            <a:spLocks noGrp="1"/>
          </p:cNvSpPr>
          <p:nvPr>
            <p:ph type="title"/>
          </p:nvPr>
        </p:nvSpPr>
        <p:spPr bwMode="auto"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4165474" name="Content Placeholder 2"/>
          <p:cNvSpPr>
            <a:spLocks noGrp="1"/>
          </p:cNvSpPr>
          <p:nvPr>
            <p:ph idx="1"/>
          </p:nvPr>
        </p:nvSpPr>
        <p:spPr bwMode="auto">
          <a:xfrm>
            <a:off x="5043714" y="798974"/>
            <a:ext cx="6012470" cy="4658826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15490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45451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7095330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565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962297625" name="Straight Connector 16"/>
          <p:cNvCxnSpPr/>
          <p:nvPr/>
        </p:nvCxnSpPr>
        <p:spPr bwMode="auto"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2477548" name="Group 7"/>
          <p:cNvGrpSpPr/>
          <p:nvPr/>
        </p:nvGrpSpPr>
        <p:grpSpPr bwMode="auto">
          <a:xfrm>
            <a:off x="7477386" y="482170"/>
            <a:ext cx="4074533" cy="5149101"/>
            <a:chOff x="7477386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6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477460" name="Title 1"/>
          <p:cNvSpPr>
            <a:spLocks noGrp="1"/>
          </p:cNvSpPr>
          <p:nvPr>
            <p:ph type="title"/>
          </p:nvPr>
        </p:nvSpPr>
        <p:spPr bwMode="auto"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31784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8124389" y="1122542"/>
            <a:ext cx="2791171" cy="38663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1864590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742749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1368959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1447382" y="318640"/>
            <a:ext cx="5541004" cy="32093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5433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639841680" name="Straight Connector 30"/>
          <p:cNvCxnSpPr/>
          <p:nvPr/>
        </p:nvCxnSpPr>
        <p:spPr bwMode="auto"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9688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11787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4348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2037863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5956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736886519" name="Straight Connector 25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51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203171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44672" y="798973"/>
            <a:ext cx="7828830" cy="4659889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49513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236064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5046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2080099857" name="Straight Connector 14"/>
          <p:cNvCxnSpPr/>
          <p:nvPr/>
        </p:nvCxnSpPr>
        <p:spPr bwMode="auto"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19531" name="Rectangle 7"/>
          <p:cNvSpPr/>
          <p:nvPr/>
        </p:nvSpPr>
        <p:spPr bwMode="auto"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133646694" name="Picture 6"/>
          <p:cNvPicPr>
            <a:picLocks noChangeAspect="1"/>
          </p:cNvPicPr>
          <p:nvPr/>
        </p:nvPicPr>
        <p:blipFill>
          <a:blip r:embed="rId13"/>
          <a:srcRect l="0" t="1538" r="0" b="-1537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668952166" name="Title Placeholder 1"/>
          <p:cNvSpPr>
            <a:spLocks noGrp="1"/>
          </p:cNvSpPr>
          <p:nvPr>
            <p:ph type="title"/>
          </p:nvPr>
        </p:nvSpPr>
        <p:spPr bwMode="auto"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86211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721865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554138" y="330370"/>
            <a:ext cx="350071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71633090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70346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926961145" name="Straight Connector 9"/>
          <p:cNvCxnSpPr/>
          <p:nvPr/>
        </p:nvCxnSpPr>
        <p:spPr bwMode="auto"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200" b="0" i="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15648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/>
              <a:t>Feasibility Analysis &amp; Entrepreneurial Fears</a:t>
            </a:r>
            <a:endParaRPr/>
          </a:p>
        </p:txBody>
      </p:sp>
      <p:sp>
        <p:nvSpPr>
          <p:cNvPr id="367826496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Autofit/>
          </a:bodyPr>
          <a:lstStyle/>
          <a:p>
            <a:pPr algn="ctr">
              <a:defRPr/>
            </a:pPr>
            <a:r>
              <a:rPr lang="en-US" sz="3200"/>
              <a:t>(Failure &amp; Success)</a:t>
            </a:r>
            <a:br>
              <a:rPr lang="en-US" sz="3200"/>
            </a:br>
            <a:r>
              <a:rPr lang="en-US" sz="2400"/>
              <a:t>Lecture # 7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6657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59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Feasibility Analysis</a:t>
            </a:r>
            <a:endParaRPr/>
          </a:p>
        </p:txBody>
      </p:sp>
      <p:sp>
        <p:nvSpPr>
          <p:cNvPr id="16128615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What is Feasibility Analysis?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A process used to determine whether a business idea is </a:t>
            </a:r>
            <a:r>
              <a:rPr lang="en-US" b="1"/>
              <a:t>practical, profitable, and achievable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/>
              <a:t>Helps entrepreneurs decide </a:t>
            </a:r>
            <a:r>
              <a:rPr lang="en-US" b="1"/>
              <a:t>“Should I proceed or not?”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/>
              <a:t>Conducted </a:t>
            </a:r>
            <a:r>
              <a:rPr lang="en-US" b="1"/>
              <a:t>before</a:t>
            </a:r>
            <a:r>
              <a:rPr lang="en-US"/>
              <a:t> writing a business plan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017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Components Of Feasibility Analysis</a:t>
            </a:r>
            <a:endParaRPr sz="4000"/>
          </a:p>
        </p:txBody>
      </p:sp>
      <p:sp>
        <p:nvSpPr>
          <p:cNvPr id="15282062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+mj-lt"/>
              <a:buAutoNum type="arabicPeriod"/>
              <a:defRPr/>
            </a:pPr>
            <a:r>
              <a:rPr lang="en-US" b="1"/>
              <a:t>Product/Service Feasibility</a:t>
            </a:r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 b="1"/>
              <a:t>Market Feasibility</a:t>
            </a:r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 b="1"/>
              <a:t>Organizational Feasibility</a:t>
            </a:r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 b="1"/>
              <a:t>Financial Feasibility</a:t>
            </a:r>
            <a:endParaRPr lang="en-US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982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Components Of Feasibility Analysis</a:t>
            </a:r>
            <a:endParaRPr/>
          </a:p>
        </p:txBody>
      </p:sp>
      <p:sp>
        <p:nvSpPr>
          <p:cNvPr id="314569210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Product/Service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Does the product solve a real problem?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Is there a need or demand for it?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Prototype or minimum viable product (MVP)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Customer feedback or testing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731190101" name="Content Placeholder 3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Market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Target market size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Customer segments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Competitor analysis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Industry trends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Market growth potential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9286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Components Of Feasibility Analysis</a:t>
            </a:r>
            <a:endParaRPr/>
          </a:p>
        </p:txBody>
      </p:sp>
      <p:sp>
        <p:nvSpPr>
          <p:cNvPr id="1621253588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Organizational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Founders’ skills &amp; experience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Human resources needed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Availability of team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Organizational structure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2076912745" name="Content Placeholder 3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Financial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Startup costs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Pricing strategy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Estimated revenue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Break-even point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Funding requirements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933627" name="Title 1"/>
          <p:cNvSpPr>
            <a:spLocks noGrp="1"/>
          </p:cNvSpPr>
          <p:nvPr>
            <p:ph type="title"/>
          </p:nvPr>
        </p:nvSpPr>
        <p:spPr bwMode="auto">
          <a:xfrm>
            <a:off x="1450328" y="609657"/>
            <a:ext cx="5532328" cy="183058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FEAR OF FAILURE IN ENTREPRENUERSHIP</a:t>
            </a:r>
            <a:endParaRPr sz="4000"/>
          </a:p>
        </p:txBody>
      </p:sp>
      <p:sp>
        <p:nvSpPr>
          <p:cNvPr id="73292193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8" y="2633107"/>
            <a:ext cx="5524404" cy="3053102"/>
          </a:xfrm>
        </p:spPr>
        <p:txBody>
          <a:bodyPr>
            <a:normAutofit fontScale="92500" lnSpcReduction="20000"/>
          </a:bodyPr>
          <a:lstStyle/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9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Fear that the business may not succeed</a:t>
            </a:r>
            <a:endParaRPr/>
          </a:p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9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Common sources: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Financial loss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Social embarrassment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Self-doubt</a:t>
            </a:r>
            <a:endParaRPr/>
          </a:p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9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Effects: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Procrastination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Avoiding opportunities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Overthinking risks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2011191092" name="Picture Placeholder 9"/>
          <p:cNvPicPr>
            <a:picLocks noChangeAspect="1" noGrp="1"/>
          </p:cNvPicPr>
          <p:nvPr>
            <p:ph type="pic" idx="1"/>
          </p:nvPr>
        </p:nvPicPr>
        <p:blipFill>
          <a:blip r:embed="rId3"/>
          <a:srcRect l="22232" t="0" r="22232" b="0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29038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800" b="1"/>
              <a:t>MANAGING FEAR OF FAILURE</a:t>
            </a:r>
            <a:endParaRPr sz="4800" b="1"/>
          </a:p>
        </p:txBody>
      </p:sp>
      <p:sp>
        <p:nvSpPr>
          <p:cNvPr id="14188693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9" y="3145991"/>
            <a:ext cx="5524404" cy="281105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sz="2400"/>
              <a:t>Start small (MVP)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Conduct feasibility analysis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Prepare backup plans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Seek mentorship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Build confidence through testing</a:t>
            </a:r>
            <a:endParaRPr/>
          </a:p>
          <a:p>
            <a:pPr>
              <a:defRPr/>
            </a:pPr>
            <a:endParaRPr sz="2400"/>
          </a:p>
        </p:txBody>
      </p:sp>
      <p:pic>
        <p:nvPicPr>
          <p:cNvPr id="1016829162" name="Picture Placeholder 13"/>
          <p:cNvPicPr>
            <a:picLocks noChangeAspect="1" noGrp="1"/>
          </p:cNvPicPr>
          <p:nvPr>
            <p:ph type="pic" idx="1"/>
          </p:nvPr>
        </p:nvPicPr>
        <p:blipFill>
          <a:blip r:embed="rId3"/>
          <a:srcRect l="12104" t="0" r="12104" b="0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580766" name="Title 1"/>
          <p:cNvSpPr>
            <a:spLocks noGrp="1"/>
          </p:cNvSpPr>
          <p:nvPr>
            <p:ph type="title"/>
          </p:nvPr>
        </p:nvSpPr>
        <p:spPr bwMode="auto">
          <a:xfrm>
            <a:off x="282388" y="798973"/>
            <a:ext cx="5813611" cy="2247117"/>
          </a:xfrm>
        </p:spPr>
        <p:txBody>
          <a:bodyPr/>
          <a:lstStyle/>
          <a:p>
            <a:pPr algn="ctr">
              <a:defRPr/>
            </a:pPr>
            <a:r>
              <a:rPr lang="en-US" sz="2900" b="1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FEAR OF SUCCESS IN ENTRAPRENUERSHIP</a:t>
            </a:r>
            <a:endParaRPr/>
          </a:p>
        </p:txBody>
      </p:sp>
      <p:sp>
        <p:nvSpPr>
          <p:cNvPr id="4783787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03413" y="3205491"/>
            <a:ext cx="5549154" cy="2853536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Less known but real</a:t>
            </a:r>
            <a:endParaRPr/>
          </a:p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Fear of: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Increased responsibility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Pressure to perform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Expectations from others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Lifestyle changes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Losing personal time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360017597" name="Content Placeholder 9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6239436" y="798974"/>
            <a:ext cx="4881282" cy="4526062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097076" name="Title 1"/>
          <p:cNvSpPr>
            <a:spLocks noGrp="1"/>
          </p:cNvSpPr>
          <p:nvPr>
            <p:ph type="title"/>
          </p:nvPr>
        </p:nvSpPr>
        <p:spPr bwMode="auto">
          <a:xfrm>
            <a:off x="1021976" y="798973"/>
            <a:ext cx="5074023" cy="2247117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b="1"/>
              <a:t>MANAGING FEAR OF SUCCESS</a:t>
            </a:r>
            <a:endParaRPr sz="4000" b="1"/>
          </a:p>
        </p:txBody>
      </p:sp>
      <p:pic>
        <p:nvPicPr>
          <p:cNvPr id="1359338143" name="Content Placeholder 5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6306671" y="798973"/>
            <a:ext cx="5074023" cy="4606745"/>
          </a:xfrm>
        </p:spPr>
      </p:pic>
      <p:sp>
        <p:nvSpPr>
          <p:cNvPr id="13320558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20271" y="3205491"/>
            <a:ext cx="5486400" cy="2853536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/>
              <a:t>Set healthy boundaries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Build supportive teams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Delegate tasks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Focus on sustainable growth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Celebrate milestones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ONLYOFFICE/9.0.4.50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Analysis</dc:title>
  <dc:creator>Faiza Khan Burki</dc:creator>
  <cp:lastModifiedBy/>
  <cp:revision>14</cp:revision>
  <dcterms:created xsi:type="dcterms:W3CDTF">2025-12-08T06:49:51Z</dcterms:created>
  <dcterms:modified xsi:type="dcterms:W3CDTF">2026-01-29T05:07:39Z</dcterms:modified>
</cp:coreProperties>
</file>