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74" r:id="rId5"/>
    <p:sldId id="266" r:id="rId6"/>
    <p:sldId id="259" r:id="rId7"/>
    <p:sldId id="260" r:id="rId8"/>
    <p:sldId id="261" r:id="rId9"/>
    <p:sldId id="262" r:id="rId10"/>
    <p:sldId id="263" r:id="rId11"/>
    <p:sldId id="264" r:id="rId12"/>
    <p:sldId id="265" r:id="rId13"/>
    <p:sldId id="267" r:id="rId14"/>
    <p:sldId id="268" r:id="rId15"/>
    <p:sldId id="269" r:id="rId16"/>
    <p:sldId id="270" r:id="rId17"/>
    <p:sldId id="275" r:id="rId18"/>
    <p:sldId id="276" r:id="rId19"/>
    <p:sldId id="277" r:id="rId20"/>
    <p:sldId id="278" r:id="rId21"/>
    <p:sldId id="279" r:id="rId22"/>
    <p:sldId id="271" r:id="rId23"/>
    <p:sldId id="272"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9" d="100"/>
          <a:sy n="69" d="100"/>
        </p:scale>
        <p:origin x="84"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DC4F429-6CED-4393-93A8-6E9D460307EA}" type="datetimeFigureOut">
              <a:rPr lang="en-PK" smtClean="0"/>
              <a:t>06/10/2025</a:t>
            </a:fld>
            <a:endParaRPr lang="en-PK"/>
          </a:p>
        </p:txBody>
      </p:sp>
      <p:sp>
        <p:nvSpPr>
          <p:cNvPr id="5" name="Footer Placeholder 4"/>
          <p:cNvSpPr>
            <a:spLocks noGrp="1"/>
          </p:cNvSpPr>
          <p:nvPr>
            <p:ph type="ftr" sz="quarter" idx="11"/>
          </p:nvPr>
        </p:nvSpPr>
        <p:spPr>
          <a:xfrm>
            <a:off x="2416500" y="329307"/>
            <a:ext cx="4973915" cy="309201"/>
          </a:xfrm>
        </p:spPr>
        <p:txBody>
          <a:bodyPr/>
          <a:lstStyle/>
          <a:p>
            <a:endParaRPr lang="en-PK"/>
          </a:p>
        </p:txBody>
      </p:sp>
      <p:sp>
        <p:nvSpPr>
          <p:cNvPr id="6" name="Slide Number Placeholder 5"/>
          <p:cNvSpPr>
            <a:spLocks noGrp="1"/>
          </p:cNvSpPr>
          <p:nvPr>
            <p:ph type="sldNum" sz="quarter" idx="12"/>
          </p:nvPr>
        </p:nvSpPr>
        <p:spPr>
          <a:xfrm>
            <a:off x="1437664" y="798973"/>
            <a:ext cx="811019" cy="503578"/>
          </a:xfrm>
        </p:spPr>
        <p:txBody>
          <a:bodyPr/>
          <a:lstStyle/>
          <a:p>
            <a:fld id="{60E17566-26A4-4D19-AD07-1AF7EEAD310D}" type="slidenum">
              <a:rPr lang="en-PK" smtClean="0"/>
              <a:t>‹#›</a:t>
            </a:fld>
            <a:endParaRPr lang="en-PK"/>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868728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DC4F429-6CED-4393-93A8-6E9D460307EA}" type="datetimeFigureOut">
              <a:rPr lang="en-PK" smtClean="0"/>
              <a:t>06/10/2025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60E17566-26A4-4D19-AD07-1AF7EEAD310D}" type="slidenum">
              <a:rPr lang="en-PK" smtClean="0"/>
              <a:t>‹#›</a:t>
            </a:fld>
            <a:endParaRPr lang="en-PK"/>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129703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C4F429-6CED-4393-93A8-6E9D460307EA}" type="datetimeFigureOut">
              <a:rPr lang="en-PK" smtClean="0"/>
              <a:t>06/10/2025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60E17566-26A4-4D19-AD07-1AF7EEAD310D}" type="slidenum">
              <a:rPr lang="en-PK" smtClean="0"/>
              <a:t>‹#›</a:t>
            </a:fld>
            <a:endParaRPr lang="en-PK"/>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403861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DC4F429-6CED-4393-93A8-6E9D460307EA}" type="datetimeFigureOut">
              <a:rPr lang="en-PK" smtClean="0"/>
              <a:t>06/10/2025</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60E17566-26A4-4D19-AD07-1AF7EEAD310D}" type="slidenum">
              <a:rPr lang="en-PK" smtClean="0"/>
              <a:t>‹#›</a:t>
            </a:fld>
            <a:endParaRPr lang="en-PK"/>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309167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DC4F429-6CED-4393-93A8-6E9D460307EA}" type="datetimeFigureOut">
              <a:rPr lang="en-PK" smtClean="0"/>
              <a:t>06/10/2025</a:t>
            </a:fld>
            <a:endParaRPr lang="en-PK"/>
          </a:p>
        </p:txBody>
      </p:sp>
      <p:sp>
        <p:nvSpPr>
          <p:cNvPr id="8" name="Footer Placeholder 7"/>
          <p:cNvSpPr>
            <a:spLocks noGrp="1"/>
          </p:cNvSpPr>
          <p:nvPr>
            <p:ph type="ftr" sz="quarter" idx="11"/>
          </p:nvPr>
        </p:nvSpPr>
        <p:spPr/>
        <p:txBody>
          <a:bodyPr/>
          <a:lstStyle/>
          <a:p>
            <a:endParaRPr lang="en-PK"/>
          </a:p>
        </p:txBody>
      </p:sp>
      <p:sp>
        <p:nvSpPr>
          <p:cNvPr id="9" name="Slide Number Placeholder 8"/>
          <p:cNvSpPr>
            <a:spLocks noGrp="1"/>
          </p:cNvSpPr>
          <p:nvPr>
            <p:ph type="sldNum" sz="quarter" idx="12"/>
          </p:nvPr>
        </p:nvSpPr>
        <p:spPr/>
        <p:txBody>
          <a:bodyPr/>
          <a:lstStyle/>
          <a:p>
            <a:fld id="{60E17566-26A4-4D19-AD07-1AF7EEAD310D}" type="slidenum">
              <a:rPr lang="en-PK" smtClean="0"/>
              <a:t>‹#›</a:t>
            </a:fld>
            <a:endParaRPr lang="en-PK"/>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9408569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DC4F429-6CED-4393-93A8-6E9D460307EA}" type="datetimeFigureOut">
              <a:rPr lang="en-PK" smtClean="0"/>
              <a:t>06/10/2025</a:t>
            </a:fld>
            <a:endParaRPr lang="en-PK"/>
          </a:p>
        </p:txBody>
      </p:sp>
      <p:sp>
        <p:nvSpPr>
          <p:cNvPr id="4" name="Footer Placeholder 3"/>
          <p:cNvSpPr>
            <a:spLocks noGrp="1"/>
          </p:cNvSpPr>
          <p:nvPr>
            <p:ph type="ftr" sz="quarter" idx="11"/>
          </p:nvPr>
        </p:nvSpPr>
        <p:spPr/>
        <p:txBody>
          <a:bodyPr/>
          <a:lstStyle/>
          <a:p>
            <a:endParaRPr lang="en-PK"/>
          </a:p>
        </p:txBody>
      </p:sp>
      <p:sp>
        <p:nvSpPr>
          <p:cNvPr id="5" name="Slide Number Placeholder 4"/>
          <p:cNvSpPr>
            <a:spLocks noGrp="1"/>
          </p:cNvSpPr>
          <p:nvPr>
            <p:ph type="sldNum" sz="quarter" idx="12"/>
          </p:nvPr>
        </p:nvSpPr>
        <p:spPr/>
        <p:txBody>
          <a:bodyPr/>
          <a:lstStyle/>
          <a:p>
            <a:fld id="{60E17566-26A4-4D19-AD07-1AF7EEAD310D}" type="slidenum">
              <a:rPr lang="en-PK" smtClean="0"/>
              <a:t>‹#›</a:t>
            </a:fld>
            <a:endParaRPr lang="en-PK"/>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3012569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DC4F429-6CED-4393-93A8-6E9D460307EA}" type="datetimeFigureOut">
              <a:rPr lang="en-PK" smtClean="0"/>
              <a:t>06/10/2025</a:t>
            </a:fld>
            <a:endParaRPr lang="en-PK"/>
          </a:p>
        </p:txBody>
      </p:sp>
      <p:sp>
        <p:nvSpPr>
          <p:cNvPr id="3" name="Footer Placeholder 2"/>
          <p:cNvSpPr>
            <a:spLocks noGrp="1"/>
          </p:cNvSpPr>
          <p:nvPr>
            <p:ph type="ftr" sz="quarter" idx="11"/>
          </p:nvPr>
        </p:nvSpPr>
        <p:spPr/>
        <p:txBody>
          <a:bodyPr/>
          <a:lstStyle/>
          <a:p>
            <a:endParaRPr lang="en-PK"/>
          </a:p>
        </p:txBody>
      </p:sp>
      <p:sp>
        <p:nvSpPr>
          <p:cNvPr id="4" name="Slide Number Placeholder 3"/>
          <p:cNvSpPr>
            <a:spLocks noGrp="1"/>
          </p:cNvSpPr>
          <p:nvPr>
            <p:ph type="sldNum" sz="quarter" idx="12"/>
          </p:nvPr>
        </p:nvSpPr>
        <p:spPr/>
        <p:txBody>
          <a:bodyPr/>
          <a:lstStyle/>
          <a:p>
            <a:fld id="{60E17566-26A4-4D19-AD07-1AF7EEAD310D}" type="slidenum">
              <a:rPr lang="en-PK" smtClean="0"/>
              <a:t>‹#›</a:t>
            </a:fld>
            <a:endParaRPr lang="en-PK"/>
          </a:p>
        </p:txBody>
      </p:sp>
    </p:spTree>
    <p:extLst>
      <p:ext uri="{BB962C8B-B14F-4D97-AF65-F5344CB8AC3E}">
        <p14:creationId xmlns:p14="http://schemas.microsoft.com/office/powerpoint/2010/main" val="39614485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DC4F429-6CED-4393-93A8-6E9D460307EA}" type="datetimeFigureOut">
              <a:rPr lang="en-PK" smtClean="0"/>
              <a:t>06/10/2025</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60E17566-26A4-4D19-AD07-1AF7EEAD310D}" type="slidenum">
              <a:rPr lang="en-PK" smtClean="0"/>
              <a:t>‹#›</a:t>
            </a:fld>
            <a:endParaRPr lang="en-PK"/>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449011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7DC4F429-6CED-4393-93A8-6E9D460307EA}" type="datetimeFigureOut">
              <a:rPr lang="en-PK" smtClean="0"/>
              <a:t>06/10/2025</a:t>
            </a:fld>
            <a:endParaRPr lang="en-PK"/>
          </a:p>
        </p:txBody>
      </p:sp>
      <p:sp>
        <p:nvSpPr>
          <p:cNvPr id="6" name="Footer Placeholder 5"/>
          <p:cNvSpPr>
            <a:spLocks noGrp="1"/>
          </p:cNvSpPr>
          <p:nvPr>
            <p:ph type="ftr" sz="quarter" idx="11"/>
          </p:nvPr>
        </p:nvSpPr>
        <p:spPr>
          <a:xfrm>
            <a:off x="1447382" y="318640"/>
            <a:ext cx="5541004" cy="320931"/>
          </a:xfrm>
        </p:spPr>
        <p:txBody>
          <a:bodyPr/>
          <a:lstStyle/>
          <a:p>
            <a:endParaRPr lang="en-PK"/>
          </a:p>
        </p:txBody>
      </p:sp>
      <p:sp>
        <p:nvSpPr>
          <p:cNvPr id="7" name="Slide Number Placeholder 6"/>
          <p:cNvSpPr>
            <a:spLocks noGrp="1"/>
          </p:cNvSpPr>
          <p:nvPr>
            <p:ph type="sldNum" sz="quarter" idx="12"/>
          </p:nvPr>
        </p:nvSpPr>
        <p:spPr/>
        <p:txBody>
          <a:bodyPr/>
          <a:lstStyle/>
          <a:p>
            <a:fld id="{60E17566-26A4-4D19-AD07-1AF7EEAD310D}" type="slidenum">
              <a:rPr lang="en-PK" smtClean="0"/>
              <a:t>‹#›</a:t>
            </a:fld>
            <a:endParaRPr lang="en-PK"/>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361169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DC4F429-6CED-4393-93A8-6E9D460307EA}" type="datetimeFigureOut">
              <a:rPr lang="en-PK" smtClean="0"/>
              <a:t>06/10/2025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60E17566-26A4-4D19-AD07-1AF7EEAD310D}" type="slidenum">
              <a:rPr lang="en-PK" smtClean="0"/>
              <a:t>‹#›</a:t>
            </a:fld>
            <a:endParaRPr lang="en-PK"/>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128768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DC4F429-6CED-4393-93A8-6E9D460307EA}" type="datetimeFigureOut">
              <a:rPr lang="en-PK" smtClean="0"/>
              <a:t>06/10/2025</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60E17566-26A4-4D19-AD07-1AF7EEAD310D}" type="slidenum">
              <a:rPr lang="en-PK" smtClean="0"/>
              <a:t>‹#›</a:t>
            </a:fld>
            <a:endParaRPr lang="en-PK"/>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93926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7DC4F429-6CED-4393-93A8-6E9D460307EA}" type="datetimeFigureOut">
              <a:rPr lang="en-PK" smtClean="0"/>
              <a:t>06/10/2025</a:t>
            </a:fld>
            <a:endParaRPr lang="en-PK"/>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PK"/>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0E17566-26A4-4D19-AD07-1AF7EEAD310D}" type="slidenum">
              <a:rPr lang="en-PK" smtClean="0"/>
              <a:t>‹#›</a:t>
            </a:fld>
            <a:endParaRPr lang="en-PK"/>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940015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A9ECB-054D-497E-9D05-D713A8926B76}"/>
              </a:ext>
            </a:extLst>
          </p:cNvPr>
          <p:cNvSpPr>
            <a:spLocks noGrp="1"/>
          </p:cNvSpPr>
          <p:nvPr>
            <p:ph type="ctrTitle"/>
          </p:nvPr>
        </p:nvSpPr>
        <p:spPr/>
        <p:txBody>
          <a:bodyPr/>
          <a:lstStyle/>
          <a:p>
            <a:r>
              <a:rPr lang="en-US" dirty="0"/>
              <a:t>What Is Business</a:t>
            </a:r>
            <a:endParaRPr lang="en-PK" dirty="0"/>
          </a:p>
        </p:txBody>
      </p:sp>
      <p:sp>
        <p:nvSpPr>
          <p:cNvPr id="5" name="Subtitle 4">
            <a:extLst>
              <a:ext uri="{FF2B5EF4-FFF2-40B4-BE49-F238E27FC236}">
                <a16:creationId xmlns:a16="http://schemas.microsoft.com/office/drawing/2014/main" id="{82FDCD33-DEAE-47B9-9045-9D9E19E0246C}"/>
              </a:ext>
            </a:extLst>
          </p:cNvPr>
          <p:cNvSpPr>
            <a:spLocks noGrp="1"/>
          </p:cNvSpPr>
          <p:nvPr>
            <p:ph type="subTitle" idx="1"/>
          </p:nvPr>
        </p:nvSpPr>
        <p:spPr/>
        <p:txBody>
          <a:bodyPr/>
          <a:lstStyle/>
          <a:p>
            <a:endParaRPr lang="en-PK" dirty="0"/>
          </a:p>
        </p:txBody>
      </p:sp>
    </p:spTree>
    <p:extLst>
      <p:ext uri="{BB962C8B-B14F-4D97-AF65-F5344CB8AC3E}">
        <p14:creationId xmlns:p14="http://schemas.microsoft.com/office/powerpoint/2010/main" val="6890352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6ADB8-07A8-4384-B84F-2873F28A7F13}"/>
              </a:ext>
            </a:extLst>
          </p:cNvPr>
          <p:cNvSpPr>
            <a:spLocks noGrp="1"/>
          </p:cNvSpPr>
          <p:nvPr>
            <p:ph type="title"/>
          </p:nvPr>
        </p:nvSpPr>
        <p:spPr/>
        <p:txBody>
          <a:bodyPr>
            <a:normAutofit/>
          </a:bodyPr>
          <a:lstStyle/>
          <a:p>
            <a:pPr algn="ctr"/>
            <a:r>
              <a:rPr lang="en-US" sz="3600" b="1" dirty="0"/>
              <a:t>What is Business</a:t>
            </a:r>
            <a:endParaRPr lang="en-PK" sz="3600" b="1" dirty="0"/>
          </a:p>
        </p:txBody>
      </p:sp>
      <p:sp>
        <p:nvSpPr>
          <p:cNvPr id="3" name="Content Placeholder 2">
            <a:extLst>
              <a:ext uri="{FF2B5EF4-FFF2-40B4-BE49-F238E27FC236}">
                <a16:creationId xmlns:a16="http://schemas.microsoft.com/office/drawing/2014/main" id="{F322A76B-BC6B-4064-8388-14193D0F0D33}"/>
              </a:ext>
            </a:extLst>
          </p:cNvPr>
          <p:cNvSpPr>
            <a:spLocks noGrp="1"/>
          </p:cNvSpPr>
          <p:nvPr>
            <p:ph idx="1"/>
          </p:nvPr>
        </p:nvSpPr>
        <p:spPr/>
        <p:txBody>
          <a:bodyPr>
            <a:normAutofit/>
          </a:bodyPr>
          <a:lstStyle/>
          <a:p>
            <a:r>
              <a:rPr lang="en-US" sz="3200" dirty="0"/>
              <a:t>A business refers to any activity or organization that engages in the exchange of goods or services for profit.</a:t>
            </a:r>
          </a:p>
        </p:txBody>
      </p:sp>
    </p:spTree>
    <p:extLst>
      <p:ext uri="{BB962C8B-B14F-4D97-AF65-F5344CB8AC3E}">
        <p14:creationId xmlns:p14="http://schemas.microsoft.com/office/powerpoint/2010/main" val="14624381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FA2AE-14B2-4A17-9A46-AA44BDBB00EF}"/>
              </a:ext>
            </a:extLst>
          </p:cNvPr>
          <p:cNvSpPr>
            <a:spLocks noGrp="1"/>
          </p:cNvSpPr>
          <p:nvPr>
            <p:ph type="title"/>
          </p:nvPr>
        </p:nvSpPr>
        <p:spPr/>
        <p:txBody>
          <a:bodyPr>
            <a:normAutofit/>
          </a:bodyPr>
          <a:lstStyle/>
          <a:p>
            <a:pPr algn="ctr"/>
            <a:r>
              <a:rPr lang="en-US" sz="3600" b="1" dirty="0"/>
              <a:t>What Is Business?</a:t>
            </a:r>
            <a:endParaRPr lang="en-PK" sz="3600" b="1" dirty="0"/>
          </a:p>
        </p:txBody>
      </p:sp>
      <p:sp>
        <p:nvSpPr>
          <p:cNvPr id="3" name="Content Placeholder 2">
            <a:extLst>
              <a:ext uri="{FF2B5EF4-FFF2-40B4-BE49-F238E27FC236}">
                <a16:creationId xmlns:a16="http://schemas.microsoft.com/office/drawing/2014/main" id="{A72C0AAA-B5AA-48E8-B634-979201FDCDCE}"/>
              </a:ext>
            </a:extLst>
          </p:cNvPr>
          <p:cNvSpPr>
            <a:spLocks noGrp="1"/>
          </p:cNvSpPr>
          <p:nvPr>
            <p:ph idx="1"/>
          </p:nvPr>
        </p:nvSpPr>
        <p:spPr/>
        <p:txBody>
          <a:bodyPr/>
          <a:lstStyle/>
          <a:p>
            <a:r>
              <a:rPr lang="en-US" sz="3200" dirty="0"/>
              <a:t>It involves the production, buying, selling, or provision of products or services to fulfill the needs and wants of consumers. </a:t>
            </a:r>
          </a:p>
          <a:p>
            <a:r>
              <a:rPr lang="en-US" sz="3200" dirty="0"/>
              <a:t>Businesses can operate at various scales, from small enterprises to multinational corporations.</a:t>
            </a:r>
          </a:p>
          <a:p>
            <a:endParaRPr lang="en-PK" dirty="0"/>
          </a:p>
        </p:txBody>
      </p:sp>
    </p:spTree>
    <p:extLst>
      <p:ext uri="{BB962C8B-B14F-4D97-AF65-F5344CB8AC3E}">
        <p14:creationId xmlns:p14="http://schemas.microsoft.com/office/powerpoint/2010/main" val="28837688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16EFD-6CA7-4AA5-8757-8A6AB6619394}"/>
              </a:ext>
            </a:extLst>
          </p:cNvPr>
          <p:cNvSpPr>
            <a:spLocks noGrp="1"/>
          </p:cNvSpPr>
          <p:nvPr>
            <p:ph type="title"/>
          </p:nvPr>
        </p:nvSpPr>
        <p:spPr/>
        <p:txBody>
          <a:bodyPr>
            <a:normAutofit/>
          </a:bodyPr>
          <a:lstStyle/>
          <a:p>
            <a:pPr algn="ctr"/>
            <a:r>
              <a:rPr lang="en-US" sz="3600" b="1" dirty="0"/>
              <a:t>What Is Business?</a:t>
            </a:r>
            <a:endParaRPr lang="en-PK" sz="3600" dirty="0"/>
          </a:p>
        </p:txBody>
      </p:sp>
      <p:sp>
        <p:nvSpPr>
          <p:cNvPr id="3" name="Content Placeholder 2">
            <a:extLst>
              <a:ext uri="{FF2B5EF4-FFF2-40B4-BE49-F238E27FC236}">
                <a16:creationId xmlns:a16="http://schemas.microsoft.com/office/drawing/2014/main" id="{B7255239-AAF0-42C0-92E6-4C186F26F656}"/>
              </a:ext>
            </a:extLst>
          </p:cNvPr>
          <p:cNvSpPr>
            <a:spLocks noGrp="1"/>
          </p:cNvSpPr>
          <p:nvPr>
            <p:ph idx="1"/>
          </p:nvPr>
        </p:nvSpPr>
        <p:spPr/>
        <p:txBody>
          <a:bodyPr>
            <a:normAutofit lnSpcReduction="10000"/>
          </a:bodyPr>
          <a:lstStyle/>
          <a:p>
            <a:r>
              <a:rPr lang="en-US" sz="3200" dirty="0"/>
              <a:t>The definition of business encompasses not only profit-driven activities but also encompasses nonprofit organizations and social enterprises. </a:t>
            </a:r>
          </a:p>
          <a:p>
            <a:r>
              <a:rPr lang="en-US" sz="3200" dirty="0"/>
              <a:t>It involves careful planning, organizing, and managing resources effectively to achieve the desired goals and objectives.</a:t>
            </a:r>
            <a:endParaRPr lang="en-PK" sz="3200" dirty="0"/>
          </a:p>
          <a:p>
            <a:endParaRPr lang="en-PK" dirty="0"/>
          </a:p>
        </p:txBody>
      </p:sp>
    </p:spTree>
    <p:extLst>
      <p:ext uri="{BB962C8B-B14F-4D97-AF65-F5344CB8AC3E}">
        <p14:creationId xmlns:p14="http://schemas.microsoft.com/office/powerpoint/2010/main" val="9777245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2EA0D-AF1F-4AA1-BD21-37FB07F1B442}"/>
              </a:ext>
            </a:extLst>
          </p:cNvPr>
          <p:cNvSpPr>
            <a:spLocks noGrp="1"/>
          </p:cNvSpPr>
          <p:nvPr>
            <p:ph type="title"/>
          </p:nvPr>
        </p:nvSpPr>
        <p:spPr/>
        <p:txBody>
          <a:bodyPr>
            <a:normAutofit/>
          </a:bodyPr>
          <a:lstStyle/>
          <a:p>
            <a:pPr algn="ctr"/>
            <a:r>
              <a:rPr lang="en-US" sz="3600" b="1" dirty="0"/>
              <a:t>TYPES OF BUSINESS ACTIVITIES</a:t>
            </a:r>
            <a:endParaRPr lang="en-PK" sz="3600" b="1" dirty="0"/>
          </a:p>
        </p:txBody>
      </p:sp>
      <p:sp>
        <p:nvSpPr>
          <p:cNvPr id="3" name="Content Placeholder 2">
            <a:extLst>
              <a:ext uri="{FF2B5EF4-FFF2-40B4-BE49-F238E27FC236}">
                <a16:creationId xmlns:a16="http://schemas.microsoft.com/office/drawing/2014/main" id="{C1BDD598-F81A-45B9-A0BF-35E784CC12AF}"/>
              </a:ext>
            </a:extLst>
          </p:cNvPr>
          <p:cNvSpPr>
            <a:spLocks noGrp="1"/>
          </p:cNvSpPr>
          <p:nvPr>
            <p:ph idx="1"/>
          </p:nvPr>
        </p:nvSpPr>
        <p:spPr>
          <a:xfrm>
            <a:off x="1451579" y="2015732"/>
            <a:ext cx="9603275" cy="4398923"/>
          </a:xfrm>
        </p:spPr>
        <p:txBody>
          <a:bodyPr>
            <a:normAutofit fontScale="85000" lnSpcReduction="20000"/>
          </a:bodyPr>
          <a:lstStyle/>
          <a:p>
            <a:pPr marL="0" indent="0">
              <a:buNone/>
            </a:pPr>
            <a:r>
              <a:rPr lang="en-US" sz="3200" b="1" dirty="0"/>
              <a:t>1. Industry </a:t>
            </a:r>
            <a:r>
              <a:rPr lang="en-US" sz="3200" dirty="0"/>
              <a:t>– Production of goods</a:t>
            </a:r>
          </a:p>
          <a:p>
            <a:pPr marL="0" indent="0">
              <a:buNone/>
            </a:pPr>
            <a:r>
              <a:rPr lang="en-US" sz="3200" dirty="0"/>
              <a:t>Example: Lucky Cement</a:t>
            </a:r>
          </a:p>
          <a:p>
            <a:endParaRPr lang="en-US" sz="3200" dirty="0"/>
          </a:p>
          <a:p>
            <a:pPr marL="0" indent="0">
              <a:buNone/>
            </a:pPr>
            <a:r>
              <a:rPr lang="en-US" sz="3200" b="1" dirty="0"/>
              <a:t>2. Commerce </a:t>
            </a:r>
            <a:r>
              <a:rPr lang="en-US" sz="3200" dirty="0"/>
              <a:t>– Buying/selling, distribution</a:t>
            </a:r>
          </a:p>
          <a:p>
            <a:pPr marL="0" indent="0">
              <a:buNone/>
            </a:pPr>
            <a:r>
              <a:rPr lang="en-US" sz="3200" dirty="0"/>
              <a:t> Example: Metro Cash &amp; Carry Pakistan</a:t>
            </a:r>
          </a:p>
          <a:p>
            <a:endParaRPr lang="en-US" sz="3200" dirty="0"/>
          </a:p>
          <a:p>
            <a:pPr marL="0" indent="0">
              <a:buNone/>
            </a:pPr>
            <a:r>
              <a:rPr lang="en-US" sz="3200" b="1" dirty="0"/>
              <a:t>3. Services </a:t>
            </a:r>
            <a:r>
              <a:rPr lang="en-US" sz="3200" dirty="0"/>
              <a:t>– Intangible offerings</a:t>
            </a:r>
          </a:p>
          <a:p>
            <a:pPr marL="0" indent="0">
              <a:buNone/>
            </a:pPr>
            <a:r>
              <a:rPr lang="en-US" sz="3200" dirty="0"/>
              <a:t>  Example: PTCL &amp; Jazz Telecom Services</a:t>
            </a:r>
          </a:p>
          <a:p>
            <a:endParaRPr lang="en-PK" dirty="0"/>
          </a:p>
        </p:txBody>
      </p:sp>
    </p:spTree>
    <p:extLst>
      <p:ext uri="{BB962C8B-B14F-4D97-AF65-F5344CB8AC3E}">
        <p14:creationId xmlns:p14="http://schemas.microsoft.com/office/powerpoint/2010/main" val="7126415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49603-B92F-4763-BEF2-7CDBF37DBDD7}"/>
              </a:ext>
            </a:extLst>
          </p:cNvPr>
          <p:cNvSpPr>
            <a:spLocks noGrp="1"/>
          </p:cNvSpPr>
          <p:nvPr>
            <p:ph type="title"/>
          </p:nvPr>
        </p:nvSpPr>
        <p:spPr/>
        <p:txBody>
          <a:bodyPr>
            <a:noAutofit/>
          </a:bodyPr>
          <a:lstStyle/>
          <a:p>
            <a:pPr algn="ctr"/>
            <a:r>
              <a:rPr lang="en-US" sz="3600" b="1" dirty="0"/>
              <a:t>Significant Importance OF BUSINESS</a:t>
            </a:r>
            <a:endParaRPr lang="en-PK" sz="3600" b="1" dirty="0"/>
          </a:p>
        </p:txBody>
      </p:sp>
      <p:sp>
        <p:nvSpPr>
          <p:cNvPr id="3" name="Content Placeholder 2">
            <a:extLst>
              <a:ext uri="{FF2B5EF4-FFF2-40B4-BE49-F238E27FC236}">
                <a16:creationId xmlns:a16="http://schemas.microsoft.com/office/drawing/2014/main" id="{395A6342-8B22-4B61-89FA-6238D5102A17}"/>
              </a:ext>
            </a:extLst>
          </p:cNvPr>
          <p:cNvSpPr>
            <a:spLocks noGrp="1"/>
          </p:cNvSpPr>
          <p:nvPr>
            <p:ph idx="1"/>
          </p:nvPr>
        </p:nvSpPr>
        <p:spPr>
          <a:xfrm>
            <a:off x="1451579" y="2015732"/>
            <a:ext cx="9603275" cy="4315795"/>
          </a:xfrm>
        </p:spPr>
        <p:txBody>
          <a:bodyPr>
            <a:normAutofit fontScale="92500" lnSpcReduction="20000"/>
          </a:bodyPr>
          <a:lstStyle/>
          <a:p>
            <a:pPr marL="0" indent="0" algn="l">
              <a:buNone/>
            </a:pPr>
            <a:r>
              <a:rPr lang="en-US" sz="3200" b="1" i="0" dirty="0">
                <a:effectLst/>
                <a:latin typeface="Roboto" panose="02000000000000000000" pitchFamily="2" charset="0"/>
              </a:rPr>
              <a:t>1.Economic Growth</a:t>
            </a:r>
          </a:p>
          <a:p>
            <a:pPr marL="0" indent="0" algn="l">
              <a:buNone/>
            </a:pPr>
            <a:r>
              <a:rPr lang="en-US" sz="3200" b="0" i="0" dirty="0">
                <a:effectLst/>
                <a:latin typeface="Roboto" panose="02000000000000000000" pitchFamily="2" charset="0"/>
              </a:rPr>
              <a:t>Businesses drive economic growth by producing goods and services, creating employment opportunities, and contributing to the overall GDP of a country.</a:t>
            </a:r>
          </a:p>
          <a:p>
            <a:pPr marL="0" indent="0" algn="l">
              <a:buNone/>
            </a:pPr>
            <a:r>
              <a:rPr lang="en-US" sz="3200" b="1" i="0" dirty="0">
                <a:effectLst/>
                <a:latin typeface="Roboto" panose="02000000000000000000" pitchFamily="2" charset="0"/>
              </a:rPr>
              <a:t>2. Innovation and Progress</a:t>
            </a:r>
          </a:p>
          <a:p>
            <a:pPr marL="0" indent="0" algn="l">
              <a:buNone/>
            </a:pPr>
            <a:r>
              <a:rPr lang="en-US" sz="3200" b="0" i="0" dirty="0">
                <a:effectLst/>
                <a:latin typeface="Roboto" panose="02000000000000000000" pitchFamily="2" charset="0"/>
              </a:rPr>
              <a:t>Businesses are at the forefront of innovation, constantly striving to develop new products, technologies, and solutions that improve people’s lives.</a:t>
            </a:r>
          </a:p>
          <a:p>
            <a:endParaRPr lang="en-PK" dirty="0"/>
          </a:p>
        </p:txBody>
      </p:sp>
    </p:spTree>
    <p:extLst>
      <p:ext uri="{BB962C8B-B14F-4D97-AF65-F5344CB8AC3E}">
        <p14:creationId xmlns:p14="http://schemas.microsoft.com/office/powerpoint/2010/main" val="7957878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5404C-F4B6-4764-91FE-3A52E8A3F2E3}"/>
              </a:ext>
            </a:extLst>
          </p:cNvPr>
          <p:cNvSpPr>
            <a:spLocks noGrp="1"/>
          </p:cNvSpPr>
          <p:nvPr>
            <p:ph type="title"/>
          </p:nvPr>
        </p:nvSpPr>
        <p:spPr/>
        <p:txBody>
          <a:bodyPr>
            <a:noAutofit/>
          </a:bodyPr>
          <a:lstStyle/>
          <a:p>
            <a:pPr algn="ctr"/>
            <a:r>
              <a:rPr lang="en-US" sz="3600" b="1" dirty="0"/>
              <a:t>Significant Importance OF BUSINESS</a:t>
            </a:r>
            <a:endParaRPr lang="en-PK" sz="3600" dirty="0"/>
          </a:p>
        </p:txBody>
      </p:sp>
      <p:sp>
        <p:nvSpPr>
          <p:cNvPr id="3" name="Content Placeholder 2">
            <a:extLst>
              <a:ext uri="{FF2B5EF4-FFF2-40B4-BE49-F238E27FC236}">
                <a16:creationId xmlns:a16="http://schemas.microsoft.com/office/drawing/2014/main" id="{AD096DA6-0341-4C58-929A-677A8EC0D5D1}"/>
              </a:ext>
            </a:extLst>
          </p:cNvPr>
          <p:cNvSpPr>
            <a:spLocks noGrp="1"/>
          </p:cNvSpPr>
          <p:nvPr>
            <p:ph idx="1"/>
          </p:nvPr>
        </p:nvSpPr>
        <p:spPr>
          <a:xfrm>
            <a:off x="1451579" y="2015732"/>
            <a:ext cx="9603275" cy="4482050"/>
          </a:xfrm>
        </p:spPr>
        <p:txBody>
          <a:bodyPr>
            <a:normAutofit fontScale="70000" lnSpcReduction="20000"/>
          </a:bodyPr>
          <a:lstStyle/>
          <a:p>
            <a:pPr marL="0" indent="0" algn="l">
              <a:buNone/>
            </a:pPr>
            <a:r>
              <a:rPr lang="en-US" sz="3200" b="1" i="0" dirty="0">
                <a:effectLst/>
                <a:latin typeface="Roboto" panose="02000000000000000000" pitchFamily="2" charset="0"/>
              </a:rPr>
              <a:t>3.Wealth Generation</a:t>
            </a:r>
          </a:p>
          <a:p>
            <a:pPr marL="0" indent="0" algn="l">
              <a:buNone/>
            </a:pPr>
            <a:r>
              <a:rPr lang="en-US" sz="3200" b="0" i="0" dirty="0">
                <a:effectLst/>
                <a:latin typeface="Roboto" panose="02000000000000000000" pitchFamily="2" charset="0"/>
              </a:rPr>
              <a:t>Successful businesses generate profits, which not only benefit the owners but also contribute to investments and philanthropic activities that support communities.</a:t>
            </a:r>
          </a:p>
          <a:p>
            <a:pPr marL="0" indent="0" algn="l">
              <a:buNone/>
            </a:pPr>
            <a:r>
              <a:rPr lang="en-US" sz="3200" b="1" i="0" dirty="0">
                <a:effectLst/>
                <a:latin typeface="Roboto" panose="02000000000000000000" pitchFamily="2" charset="0"/>
              </a:rPr>
              <a:t>4.Job Creation</a:t>
            </a:r>
          </a:p>
          <a:p>
            <a:pPr marL="0" indent="0" algn="l">
              <a:buNone/>
            </a:pPr>
            <a:r>
              <a:rPr lang="en-US" sz="3200" b="0" i="0" dirty="0">
                <a:effectLst/>
                <a:latin typeface="Roboto" panose="02000000000000000000" pitchFamily="2" charset="0"/>
              </a:rPr>
              <a:t>Businesses are major employers, providing job opportunities to people with various skill sets and backgrounds, thereby reducing unemployment rates.</a:t>
            </a:r>
          </a:p>
          <a:p>
            <a:pPr marL="0" indent="0" algn="l">
              <a:buNone/>
            </a:pPr>
            <a:r>
              <a:rPr lang="en-US" sz="3200" b="1" i="0" dirty="0">
                <a:effectLst/>
                <a:latin typeface="Roboto" panose="02000000000000000000" pitchFamily="2" charset="0"/>
              </a:rPr>
              <a:t>5.Global Trade</a:t>
            </a:r>
          </a:p>
          <a:p>
            <a:pPr marL="0" indent="0" algn="l">
              <a:buNone/>
            </a:pPr>
            <a:r>
              <a:rPr lang="en-US" sz="3200" b="0" i="0" dirty="0">
                <a:effectLst/>
                <a:latin typeface="Roboto" panose="02000000000000000000" pitchFamily="2" charset="0"/>
              </a:rPr>
              <a:t>Businesses facilitate international trade, enabling the exchange of goods and services across borders, fostering economic cooperation among nations.</a:t>
            </a:r>
          </a:p>
          <a:p>
            <a:endParaRPr lang="en-PK" dirty="0"/>
          </a:p>
        </p:txBody>
      </p:sp>
    </p:spTree>
    <p:extLst>
      <p:ext uri="{BB962C8B-B14F-4D97-AF65-F5344CB8AC3E}">
        <p14:creationId xmlns:p14="http://schemas.microsoft.com/office/powerpoint/2010/main" val="34550466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809265-A449-4161-9248-23693772ABB2}"/>
              </a:ext>
            </a:extLst>
          </p:cNvPr>
          <p:cNvSpPr>
            <a:spLocks noGrp="1"/>
          </p:cNvSpPr>
          <p:nvPr>
            <p:ph type="title"/>
          </p:nvPr>
        </p:nvSpPr>
        <p:spPr/>
        <p:txBody>
          <a:bodyPr/>
          <a:lstStyle/>
          <a:p>
            <a:pPr algn="ctr"/>
            <a:r>
              <a:rPr lang="en-US" sz="3600" b="1" i="0" dirty="0">
                <a:effectLst/>
                <a:latin typeface="Roboto" panose="02000000000000000000" pitchFamily="2" charset="0"/>
              </a:rPr>
              <a:t>BUSINESS GOALS AND OBJECTIVES</a:t>
            </a:r>
            <a:br>
              <a:rPr lang="en-US" b="1" i="0" dirty="0">
                <a:solidFill>
                  <a:srgbClr val="434343"/>
                </a:solidFill>
                <a:effectLst/>
                <a:latin typeface="Roboto" panose="02000000000000000000" pitchFamily="2" charset="0"/>
              </a:rPr>
            </a:br>
            <a:endParaRPr lang="en-PK" b="1" dirty="0"/>
          </a:p>
        </p:txBody>
      </p:sp>
      <p:sp>
        <p:nvSpPr>
          <p:cNvPr id="3" name="Content Placeholder 2">
            <a:extLst>
              <a:ext uri="{FF2B5EF4-FFF2-40B4-BE49-F238E27FC236}">
                <a16:creationId xmlns:a16="http://schemas.microsoft.com/office/drawing/2014/main" id="{D56DD2FB-4399-4711-9FE2-DDBF7A836A15}"/>
              </a:ext>
            </a:extLst>
          </p:cNvPr>
          <p:cNvSpPr>
            <a:spLocks noGrp="1"/>
          </p:cNvSpPr>
          <p:nvPr>
            <p:ph idx="1"/>
          </p:nvPr>
        </p:nvSpPr>
        <p:spPr>
          <a:xfrm>
            <a:off x="1451579" y="2015732"/>
            <a:ext cx="9603275" cy="4343504"/>
          </a:xfrm>
        </p:spPr>
        <p:txBody>
          <a:bodyPr>
            <a:normAutofit/>
          </a:bodyPr>
          <a:lstStyle/>
          <a:p>
            <a:pPr marL="0" indent="0" algn="l">
              <a:buNone/>
            </a:pPr>
            <a:r>
              <a:rPr lang="en-US" b="1" i="0" dirty="0">
                <a:effectLst/>
                <a:latin typeface="Roboto" panose="02000000000000000000" pitchFamily="2" charset="0"/>
              </a:rPr>
              <a:t>1.Profit Maximization</a:t>
            </a:r>
          </a:p>
          <a:p>
            <a:pPr marL="0" indent="0" algn="l">
              <a:buNone/>
            </a:pPr>
            <a:r>
              <a:rPr lang="en-US" b="0" i="0" dirty="0">
                <a:effectLst/>
                <a:latin typeface="Roboto" panose="02000000000000000000" pitchFamily="2" charset="0"/>
              </a:rPr>
              <a:t>One of the primary goals of many businesses is to maximize profits, ensuring financial sustainability and growth.</a:t>
            </a:r>
          </a:p>
          <a:p>
            <a:pPr marL="0" indent="0" algn="l">
              <a:buNone/>
            </a:pPr>
            <a:r>
              <a:rPr lang="en-US" b="1" i="0" dirty="0">
                <a:effectLst/>
                <a:latin typeface="Roboto" panose="02000000000000000000" pitchFamily="2" charset="0"/>
              </a:rPr>
              <a:t>2.Market Expansion</a:t>
            </a:r>
          </a:p>
          <a:p>
            <a:pPr marL="0" indent="0" algn="l">
              <a:buNone/>
            </a:pPr>
            <a:r>
              <a:rPr lang="en-US" b="0" i="0" dirty="0">
                <a:effectLst/>
                <a:latin typeface="Roboto" panose="02000000000000000000" pitchFamily="2" charset="0"/>
              </a:rPr>
              <a:t>Businesses often aim to expand their reach to new markets and customer segments, increasing their customer base and revenue.</a:t>
            </a:r>
          </a:p>
          <a:p>
            <a:pPr marL="0" indent="0" algn="l">
              <a:buNone/>
            </a:pPr>
            <a:r>
              <a:rPr lang="en-US" b="1" i="0" dirty="0">
                <a:effectLst/>
                <a:latin typeface="Roboto" panose="02000000000000000000" pitchFamily="2" charset="0"/>
              </a:rPr>
              <a:t>3.Product Diversification</a:t>
            </a:r>
          </a:p>
          <a:p>
            <a:pPr marL="0" indent="0" algn="l">
              <a:buNone/>
            </a:pPr>
            <a:r>
              <a:rPr lang="en-US" b="0" i="0" dirty="0">
                <a:effectLst/>
                <a:latin typeface="Roboto" panose="02000000000000000000" pitchFamily="2" charset="0"/>
              </a:rPr>
              <a:t>To mitigate risks and tap into new opportunities, businesses may focus on diversifying their product or service offerings.</a:t>
            </a:r>
          </a:p>
          <a:p>
            <a:endParaRPr lang="en-PK" dirty="0"/>
          </a:p>
        </p:txBody>
      </p:sp>
    </p:spTree>
    <p:extLst>
      <p:ext uri="{BB962C8B-B14F-4D97-AF65-F5344CB8AC3E}">
        <p14:creationId xmlns:p14="http://schemas.microsoft.com/office/powerpoint/2010/main" val="23235461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93AB8-7BAE-4E2D-8AE8-B1A5EBBECF3E}"/>
              </a:ext>
            </a:extLst>
          </p:cNvPr>
          <p:cNvSpPr>
            <a:spLocks noGrp="1"/>
          </p:cNvSpPr>
          <p:nvPr>
            <p:ph type="title"/>
          </p:nvPr>
        </p:nvSpPr>
        <p:spPr/>
        <p:txBody>
          <a:bodyPr>
            <a:normAutofit/>
          </a:bodyPr>
          <a:lstStyle/>
          <a:p>
            <a:pPr algn="ctr"/>
            <a:r>
              <a:rPr lang="en-US" sz="3600" b="1" i="0" dirty="0">
                <a:effectLst/>
                <a:latin typeface="Roboto" panose="02000000000000000000" pitchFamily="2" charset="0"/>
              </a:rPr>
              <a:t>BUSINESS GOALS AND OBJECTIVES</a:t>
            </a:r>
            <a:endParaRPr lang="en-PK" sz="3600" dirty="0"/>
          </a:p>
        </p:txBody>
      </p:sp>
      <p:sp>
        <p:nvSpPr>
          <p:cNvPr id="3" name="Content Placeholder 2">
            <a:extLst>
              <a:ext uri="{FF2B5EF4-FFF2-40B4-BE49-F238E27FC236}">
                <a16:creationId xmlns:a16="http://schemas.microsoft.com/office/drawing/2014/main" id="{969EE3D8-A6B9-4EDA-8BAA-3FD38F598763}"/>
              </a:ext>
            </a:extLst>
          </p:cNvPr>
          <p:cNvSpPr>
            <a:spLocks noGrp="1"/>
          </p:cNvSpPr>
          <p:nvPr>
            <p:ph idx="1"/>
          </p:nvPr>
        </p:nvSpPr>
        <p:spPr>
          <a:xfrm>
            <a:off x="1451579" y="2015732"/>
            <a:ext cx="9603275" cy="4135686"/>
          </a:xfrm>
        </p:spPr>
        <p:txBody>
          <a:bodyPr/>
          <a:lstStyle/>
          <a:p>
            <a:pPr marL="0" indent="0" algn="l">
              <a:buNone/>
            </a:pPr>
            <a:r>
              <a:rPr lang="en-US" b="1" dirty="0">
                <a:latin typeface="Roboto" panose="02000000000000000000" pitchFamily="2" charset="0"/>
              </a:rPr>
              <a:t>4</a:t>
            </a:r>
            <a:r>
              <a:rPr lang="en-US" b="1" i="0" dirty="0">
                <a:effectLst/>
                <a:latin typeface="Roboto" panose="02000000000000000000" pitchFamily="2" charset="0"/>
              </a:rPr>
              <a:t>.Customer Satisfaction</a:t>
            </a:r>
          </a:p>
          <a:p>
            <a:pPr marL="0" indent="0" algn="l">
              <a:buNone/>
            </a:pPr>
            <a:r>
              <a:rPr lang="en-US" b="0" i="0" dirty="0">
                <a:effectLst/>
                <a:latin typeface="Roboto" panose="02000000000000000000" pitchFamily="2" charset="0"/>
              </a:rPr>
              <a:t>Satisfying customers’ needs and expectations is a crucial goal for businesses to build loyalty and maintain a positive reputation.</a:t>
            </a:r>
          </a:p>
          <a:p>
            <a:pPr marL="0" indent="0" algn="l">
              <a:buNone/>
            </a:pPr>
            <a:r>
              <a:rPr lang="en-US" b="1" dirty="0">
                <a:latin typeface="Roboto" panose="02000000000000000000" pitchFamily="2" charset="0"/>
              </a:rPr>
              <a:t>5</a:t>
            </a:r>
            <a:r>
              <a:rPr lang="en-US" b="1" i="0" dirty="0">
                <a:effectLst/>
                <a:latin typeface="Roboto" panose="02000000000000000000" pitchFamily="2" charset="0"/>
              </a:rPr>
              <a:t>.Sustainable Practices</a:t>
            </a:r>
          </a:p>
          <a:p>
            <a:pPr marL="0" indent="0" algn="l">
              <a:buNone/>
            </a:pPr>
            <a:r>
              <a:rPr lang="en-US" b="0" i="0" dirty="0">
                <a:effectLst/>
                <a:latin typeface="Roboto" panose="02000000000000000000" pitchFamily="2" charset="0"/>
              </a:rPr>
              <a:t>Many modern businesses have adopted goals related to sustainability, aiming to minimize their environmental impact and contribute to social well-being.</a:t>
            </a:r>
          </a:p>
          <a:p>
            <a:endParaRPr lang="en-PK" dirty="0"/>
          </a:p>
        </p:txBody>
      </p:sp>
    </p:spTree>
    <p:extLst>
      <p:ext uri="{BB962C8B-B14F-4D97-AF65-F5344CB8AC3E}">
        <p14:creationId xmlns:p14="http://schemas.microsoft.com/office/powerpoint/2010/main" val="25870167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AE494-43AE-4663-9F56-BE1B26E3DF12}"/>
              </a:ext>
            </a:extLst>
          </p:cNvPr>
          <p:cNvSpPr>
            <a:spLocks noGrp="1"/>
          </p:cNvSpPr>
          <p:nvPr>
            <p:ph type="title"/>
          </p:nvPr>
        </p:nvSpPr>
        <p:spPr/>
        <p:txBody>
          <a:bodyPr/>
          <a:lstStyle/>
          <a:p>
            <a:pPr algn="ctr"/>
            <a:r>
              <a:rPr lang="en-US" sz="3600" b="1" i="0" dirty="0">
                <a:effectLst/>
                <a:latin typeface="Roboto" panose="02000000000000000000" pitchFamily="2" charset="0"/>
              </a:rPr>
              <a:t>Business Risks</a:t>
            </a:r>
            <a:br>
              <a:rPr lang="en-US" b="1" i="0" dirty="0">
                <a:effectLst/>
                <a:latin typeface="Roboto" panose="02000000000000000000" pitchFamily="2" charset="0"/>
              </a:rPr>
            </a:br>
            <a:endParaRPr lang="en-PK" dirty="0"/>
          </a:p>
        </p:txBody>
      </p:sp>
      <p:sp>
        <p:nvSpPr>
          <p:cNvPr id="3" name="Content Placeholder 2">
            <a:extLst>
              <a:ext uri="{FF2B5EF4-FFF2-40B4-BE49-F238E27FC236}">
                <a16:creationId xmlns:a16="http://schemas.microsoft.com/office/drawing/2014/main" id="{848D1F82-CA8A-47C7-AA81-F3AC65690E7B}"/>
              </a:ext>
            </a:extLst>
          </p:cNvPr>
          <p:cNvSpPr>
            <a:spLocks noGrp="1"/>
          </p:cNvSpPr>
          <p:nvPr>
            <p:ph idx="1"/>
          </p:nvPr>
        </p:nvSpPr>
        <p:spPr>
          <a:xfrm>
            <a:off x="1451579" y="2015732"/>
            <a:ext cx="9603275" cy="4288086"/>
          </a:xfrm>
        </p:spPr>
        <p:txBody>
          <a:bodyPr>
            <a:normAutofit fontScale="92500" lnSpcReduction="10000"/>
          </a:bodyPr>
          <a:lstStyle/>
          <a:p>
            <a:pPr marL="0" indent="0" algn="l">
              <a:buNone/>
            </a:pPr>
            <a:r>
              <a:rPr lang="en-US" sz="2400" b="1" i="0" dirty="0">
                <a:effectLst/>
                <a:latin typeface="Roboto" panose="02000000000000000000" pitchFamily="2" charset="0"/>
              </a:rPr>
              <a:t>1.Financial Risks</a:t>
            </a:r>
          </a:p>
          <a:p>
            <a:pPr marL="0" indent="0" algn="l">
              <a:buNone/>
            </a:pPr>
            <a:r>
              <a:rPr lang="en-US" sz="2400" b="0" i="0" dirty="0">
                <a:effectLst/>
                <a:latin typeface="Roboto" panose="02000000000000000000" pitchFamily="2" charset="0"/>
              </a:rPr>
              <a:t>Businesses may encounter financial risks such as cash flow issues, debt burdens, or fluctuations in exchange rates.</a:t>
            </a:r>
          </a:p>
          <a:p>
            <a:pPr marL="0" indent="0" algn="l">
              <a:buNone/>
            </a:pPr>
            <a:r>
              <a:rPr lang="en-US" sz="2400" b="1" i="0" dirty="0">
                <a:effectLst/>
                <a:latin typeface="Roboto" panose="02000000000000000000" pitchFamily="2" charset="0"/>
              </a:rPr>
              <a:t>2.Market Risks</a:t>
            </a:r>
          </a:p>
          <a:p>
            <a:pPr marL="0" indent="0" algn="l">
              <a:buNone/>
            </a:pPr>
            <a:r>
              <a:rPr lang="en-US" sz="2400" b="0" i="0" dirty="0">
                <a:effectLst/>
                <a:latin typeface="Roboto" panose="02000000000000000000" pitchFamily="2" charset="0"/>
              </a:rPr>
              <a:t>Changes in market demand, competition, or consumer preferences can pose risks to businesses, affecting their sales and market share.</a:t>
            </a:r>
          </a:p>
          <a:p>
            <a:pPr marL="0" indent="0" algn="l">
              <a:buNone/>
            </a:pPr>
            <a:r>
              <a:rPr lang="en-US" sz="2400" b="1" i="0" dirty="0">
                <a:effectLst/>
                <a:latin typeface="Roboto" panose="02000000000000000000" pitchFamily="2" charset="0"/>
              </a:rPr>
              <a:t>3.Technological Risks</a:t>
            </a:r>
          </a:p>
          <a:p>
            <a:pPr marL="0" indent="0" algn="l">
              <a:buNone/>
            </a:pPr>
            <a:r>
              <a:rPr lang="en-US" sz="2400" b="0" i="0" dirty="0">
                <a:effectLst/>
                <a:latin typeface="Roboto" panose="02000000000000000000" pitchFamily="2" charset="0"/>
              </a:rPr>
              <a:t>Businesses that fail to adapt to technological advancements risk becoming outdated and losing their competitive edge.</a:t>
            </a:r>
            <a:endParaRPr lang="en-US" sz="2400" b="1" i="0" dirty="0">
              <a:effectLst/>
              <a:latin typeface="Roboto" panose="02000000000000000000" pitchFamily="2" charset="0"/>
            </a:endParaRPr>
          </a:p>
          <a:p>
            <a:endParaRPr lang="en-PK" dirty="0"/>
          </a:p>
        </p:txBody>
      </p:sp>
    </p:spTree>
    <p:extLst>
      <p:ext uri="{BB962C8B-B14F-4D97-AF65-F5344CB8AC3E}">
        <p14:creationId xmlns:p14="http://schemas.microsoft.com/office/powerpoint/2010/main" val="6938529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55FC0-073D-4D9B-B12B-45CD89559381}"/>
              </a:ext>
            </a:extLst>
          </p:cNvPr>
          <p:cNvSpPr>
            <a:spLocks noGrp="1"/>
          </p:cNvSpPr>
          <p:nvPr>
            <p:ph type="title"/>
          </p:nvPr>
        </p:nvSpPr>
        <p:spPr/>
        <p:txBody>
          <a:bodyPr>
            <a:normAutofit/>
          </a:bodyPr>
          <a:lstStyle/>
          <a:p>
            <a:pPr algn="ctr"/>
            <a:r>
              <a:rPr lang="en-US" sz="3600" b="1" dirty="0"/>
              <a:t>BUSINESS RISKS</a:t>
            </a:r>
            <a:endParaRPr lang="en-PK" sz="3600" b="1" dirty="0"/>
          </a:p>
        </p:txBody>
      </p:sp>
      <p:sp>
        <p:nvSpPr>
          <p:cNvPr id="3" name="Content Placeholder 2">
            <a:extLst>
              <a:ext uri="{FF2B5EF4-FFF2-40B4-BE49-F238E27FC236}">
                <a16:creationId xmlns:a16="http://schemas.microsoft.com/office/drawing/2014/main" id="{E3020A9E-16C3-4B64-BF07-7CA8D12D0356}"/>
              </a:ext>
            </a:extLst>
          </p:cNvPr>
          <p:cNvSpPr>
            <a:spLocks noGrp="1"/>
          </p:cNvSpPr>
          <p:nvPr>
            <p:ph idx="1"/>
          </p:nvPr>
        </p:nvSpPr>
        <p:spPr/>
        <p:txBody>
          <a:bodyPr>
            <a:normAutofit/>
          </a:bodyPr>
          <a:lstStyle/>
          <a:p>
            <a:pPr marL="0" indent="0" algn="l">
              <a:buNone/>
            </a:pPr>
            <a:r>
              <a:rPr lang="en-US" sz="2400" b="1" i="0" dirty="0">
                <a:effectLst/>
                <a:latin typeface="Roboto" panose="02000000000000000000" pitchFamily="2" charset="0"/>
              </a:rPr>
              <a:t>4.Legal and Regulatory Risks</a:t>
            </a:r>
          </a:p>
          <a:p>
            <a:pPr marL="0" indent="0" algn="l">
              <a:buNone/>
            </a:pPr>
            <a:r>
              <a:rPr lang="en-US" sz="2400" b="0" i="0" dirty="0">
                <a:effectLst/>
                <a:latin typeface="Roboto" panose="02000000000000000000" pitchFamily="2" charset="0"/>
              </a:rPr>
              <a:t>Non-compliance with laws and regulations can lead to fines, lawsuits, and damage to a company’s reputation.</a:t>
            </a:r>
          </a:p>
          <a:p>
            <a:pPr marL="0" indent="0" algn="l">
              <a:buNone/>
            </a:pPr>
            <a:r>
              <a:rPr lang="en-US" sz="2400" b="1" i="0" dirty="0">
                <a:effectLst/>
                <a:latin typeface="Roboto" panose="02000000000000000000" pitchFamily="2" charset="0"/>
              </a:rPr>
              <a:t>5.Operational Risks</a:t>
            </a:r>
          </a:p>
          <a:p>
            <a:pPr marL="0" indent="0" algn="l">
              <a:buNone/>
            </a:pPr>
            <a:r>
              <a:rPr lang="en-US" sz="2400" b="0" i="0" dirty="0">
                <a:effectLst/>
                <a:latin typeface="Roboto" panose="02000000000000000000" pitchFamily="2" charset="0"/>
              </a:rPr>
              <a:t>Issues with supply chain management, production processes, or employee performance can disrupt business operations.</a:t>
            </a:r>
          </a:p>
          <a:p>
            <a:endParaRPr lang="en-PK" dirty="0"/>
          </a:p>
        </p:txBody>
      </p:sp>
    </p:spTree>
    <p:extLst>
      <p:ext uri="{BB962C8B-B14F-4D97-AF65-F5344CB8AC3E}">
        <p14:creationId xmlns:p14="http://schemas.microsoft.com/office/powerpoint/2010/main" val="7711976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DED6B-940C-4C66-BCBF-13040F317959}"/>
              </a:ext>
            </a:extLst>
          </p:cNvPr>
          <p:cNvSpPr>
            <a:spLocks noGrp="1"/>
          </p:cNvSpPr>
          <p:nvPr>
            <p:ph type="title"/>
          </p:nvPr>
        </p:nvSpPr>
        <p:spPr/>
        <p:txBody>
          <a:bodyPr/>
          <a:lstStyle/>
          <a:p>
            <a:pPr algn="ctr"/>
            <a:r>
              <a:rPr lang="en-US" b="1" dirty="0"/>
              <a:t>Private Enterprise</a:t>
            </a:r>
            <a:endParaRPr lang="en-PK" b="1" dirty="0"/>
          </a:p>
        </p:txBody>
      </p:sp>
      <p:sp>
        <p:nvSpPr>
          <p:cNvPr id="3" name="Content Placeholder 2">
            <a:extLst>
              <a:ext uri="{FF2B5EF4-FFF2-40B4-BE49-F238E27FC236}">
                <a16:creationId xmlns:a16="http://schemas.microsoft.com/office/drawing/2014/main" id="{33D13737-2B93-4C9D-B2D7-18A2672DC65C}"/>
              </a:ext>
            </a:extLst>
          </p:cNvPr>
          <p:cNvSpPr>
            <a:spLocks noGrp="1"/>
          </p:cNvSpPr>
          <p:nvPr>
            <p:ph idx="1"/>
          </p:nvPr>
        </p:nvSpPr>
        <p:spPr>
          <a:xfrm>
            <a:off x="1451579" y="2015732"/>
            <a:ext cx="9603275" cy="4288086"/>
          </a:xfrm>
        </p:spPr>
        <p:txBody>
          <a:bodyPr>
            <a:normAutofit lnSpcReduction="10000"/>
          </a:bodyPr>
          <a:lstStyle/>
          <a:p>
            <a:r>
              <a:rPr lang="en-US" sz="2400" b="0" i="0" dirty="0">
                <a:effectLst/>
                <a:latin typeface="Roboto" panose="02000000000000000000" pitchFamily="2" charset="0"/>
                <a:ea typeface="Roboto" panose="02000000000000000000" pitchFamily="2" charset="0"/>
              </a:rPr>
              <a:t>A private enterprise is a business that is not controlled or owned by the government. </a:t>
            </a:r>
          </a:p>
          <a:p>
            <a:r>
              <a:rPr lang="en-US" sz="2400" dirty="0">
                <a:latin typeface="Roboto" panose="02000000000000000000" pitchFamily="2" charset="0"/>
                <a:ea typeface="Roboto" panose="02000000000000000000" pitchFamily="2" charset="0"/>
              </a:rPr>
              <a:t>Also called Capitalism / Free Market System.</a:t>
            </a:r>
          </a:p>
          <a:p>
            <a:pPr marL="0" indent="0">
              <a:buNone/>
            </a:pPr>
            <a:r>
              <a:rPr lang="en-US" sz="2400" b="1" dirty="0">
                <a:latin typeface="Roboto" panose="02000000000000000000" pitchFamily="2" charset="0"/>
                <a:ea typeface="Roboto" panose="02000000000000000000" pitchFamily="2" charset="0"/>
              </a:rPr>
              <a:t>Core Principles:</a:t>
            </a:r>
          </a:p>
          <a:p>
            <a:r>
              <a:rPr lang="en-US" sz="2400" dirty="0">
                <a:latin typeface="Roboto" panose="02000000000000000000" pitchFamily="2" charset="0"/>
                <a:ea typeface="Roboto" panose="02000000000000000000" pitchFamily="2" charset="0"/>
              </a:rPr>
              <a:t>1. Private Property Rights</a:t>
            </a:r>
          </a:p>
          <a:p>
            <a:r>
              <a:rPr lang="en-US" sz="2400" dirty="0">
                <a:latin typeface="Roboto" panose="02000000000000000000" pitchFamily="2" charset="0"/>
                <a:ea typeface="Roboto" panose="02000000000000000000" pitchFamily="2" charset="0"/>
              </a:rPr>
              <a:t>2. Freedom of Choice</a:t>
            </a:r>
          </a:p>
          <a:p>
            <a:r>
              <a:rPr lang="en-US" sz="2400" dirty="0">
                <a:latin typeface="Roboto" panose="02000000000000000000" pitchFamily="2" charset="0"/>
                <a:ea typeface="Roboto" panose="02000000000000000000" pitchFamily="2" charset="0"/>
              </a:rPr>
              <a:t>3. Profit Motive</a:t>
            </a:r>
          </a:p>
          <a:p>
            <a:r>
              <a:rPr lang="en-US" sz="2400" dirty="0">
                <a:latin typeface="Roboto" panose="02000000000000000000" pitchFamily="2" charset="0"/>
                <a:ea typeface="Roboto" panose="02000000000000000000" pitchFamily="2" charset="0"/>
              </a:rPr>
              <a:t>4. Competition</a:t>
            </a:r>
          </a:p>
          <a:p>
            <a:endParaRPr lang="en-PK" dirty="0"/>
          </a:p>
        </p:txBody>
      </p:sp>
    </p:spTree>
    <p:extLst>
      <p:ext uri="{BB962C8B-B14F-4D97-AF65-F5344CB8AC3E}">
        <p14:creationId xmlns:p14="http://schemas.microsoft.com/office/powerpoint/2010/main" val="28949046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69A58-DB8D-4A77-9960-5B7F24383398}"/>
              </a:ext>
            </a:extLst>
          </p:cNvPr>
          <p:cNvSpPr>
            <a:spLocks noGrp="1"/>
          </p:cNvSpPr>
          <p:nvPr>
            <p:ph type="title"/>
          </p:nvPr>
        </p:nvSpPr>
        <p:spPr/>
        <p:txBody>
          <a:bodyPr>
            <a:noAutofit/>
          </a:bodyPr>
          <a:lstStyle/>
          <a:p>
            <a:pPr algn="ctr"/>
            <a:r>
              <a:rPr lang="en-US" sz="3600" b="1" dirty="0"/>
              <a:t>Functions of Private Enterprise System</a:t>
            </a:r>
            <a:endParaRPr lang="en-PK" sz="3600" b="1" dirty="0"/>
          </a:p>
        </p:txBody>
      </p:sp>
      <p:sp>
        <p:nvSpPr>
          <p:cNvPr id="8" name="Content Placeholder 7">
            <a:extLst>
              <a:ext uri="{FF2B5EF4-FFF2-40B4-BE49-F238E27FC236}">
                <a16:creationId xmlns:a16="http://schemas.microsoft.com/office/drawing/2014/main" id="{66227237-42FA-46BA-86CB-464E70ABBC0A}"/>
              </a:ext>
            </a:extLst>
          </p:cNvPr>
          <p:cNvSpPr>
            <a:spLocks noGrp="1"/>
          </p:cNvSpPr>
          <p:nvPr>
            <p:ph sz="half" idx="1"/>
          </p:nvPr>
        </p:nvSpPr>
        <p:spPr>
          <a:xfrm>
            <a:off x="1447331" y="2010878"/>
            <a:ext cx="4645152" cy="4279086"/>
          </a:xfrm>
        </p:spPr>
        <p:txBody>
          <a:bodyPr>
            <a:normAutofit fontScale="92500"/>
          </a:bodyPr>
          <a:lstStyle/>
          <a:p>
            <a:pPr marL="0" indent="0">
              <a:buNone/>
            </a:pPr>
            <a:r>
              <a:rPr lang="en-US" sz="2400" b="1" dirty="0"/>
              <a:t>1. Production of Goods &amp; Services</a:t>
            </a:r>
          </a:p>
          <a:p>
            <a:pPr marL="0" indent="0">
              <a:buNone/>
            </a:pPr>
            <a:r>
              <a:rPr lang="en-US" sz="2400" dirty="0"/>
              <a:t>Example: Nestlé Pakistan</a:t>
            </a:r>
          </a:p>
          <a:p>
            <a:endParaRPr lang="en-US" sz="2400" dirty="0"/>
          </a:p>
          <a:p>
            <a:pPr marL="0" indent="0">
              <a:buNone/>
            </a:pPr>
            <a:r>
              <a:rPr lang="en-US" sz="2400" b="1" dirty="0"/>
              <a:t>2. Employment Generation</a:t>
            </a:r>
          </a:p>
          <a:p>
            <a:pPr marL="0" indent="0">
              <a:buNone/>
            </a:pPr>
            <a:r>
              <a:rPr lang="en-US" sz="2400" dirty="0"/>
              <a:t>Example: Systems Ltd. (IT Export)</a:t>
            </a:r>
          </a:p>
          <a:p>
            <a:endParaRPr lang="en-US" sz="2400" dirty="0"/>
          </a:p>
          <a:p>
            <a:pPr marL="0" indent="0">
              <a:buNone/>
            </a:pPr>
            <a:r>
              <a:rPr lang="en-US" sz="2400" b="1" dirty="0"/>
              <a:t>3. Innovation &amp; Technology Advancement </a:t>
            </a:r>
            <a:r>
              <a:rPr lang="en-US" sz="2400" dirty="0"/>
              <a:t>Example: </a:t>
            </a:r>
            <a:r>
              <a:rPr lang="en-US" sz="2400" dirty="0" err="1"/>
              <a:t>Bykea</a:t>
            </a:r>
            <a:r>
              <a:rPr lang="en-US" sz="2400" dirty="0"/>
              <a:t> app</a:t>
            </a:r>
          </a:p>
          <a:p>
            <a:endParaRPr lang="en-US" dirty="0"/>
          </a:p>
          <a:p>
            <a:endParaRPr lang="en-PK" dirty="0"/>
          </a:p>
        </p:txBody>
      </p:sp>
      <p:sp>
        <p:nvSpPr>
          <p:cNvPr id="9" name="Content Placeholder 8">
            <a:extLst>
              <a:ext uri="{FF2B5EF4-FFF2-40B4-BE49-F238E27FC236}">
                <a16:creationId xmlns:a16="http://schemas.microsoft.com/office/drawing/2014/main" id="{ED972DBE-26E4-4D9E-9290-74CF715E3C02}"/>
              </a:ext>
            </a:extLst>
          </p:cNvPr>
          <p:cNvSpPr>
            <a:spLocks noGrp="1"/>
          </p:cNvSpPr>
          <p:nvPr>
            <p:ph sz="half" idx="2"/>
          </p:nvPr>
        </p:nvSpPr>
        <p:spPr>
          <a:xfrm>
            <a:off x="6409700" y="2017952"/>
            <a:ext cx="4645152" cy="4272011"/>
          </a:xfrm>
        </p:spPr>
        <p:txBody>
          <a:bodyPr>
            <a:normAutofit fontScale="92500"/>
          </a:bodyPr>
          <a:lstStyle/>
          <a:p>
            <a:pPr marL="0" indent="0">
              <a:buNone/>
            </a:pPr>
            <a:r>
              <a:rPr lang="en-US" b="1" dirty="0">
                <a:latin typeface="Roboto" panose="02000000000000000000" pitchFamily="2" charset="0"/>
                <a:ea typeface="Roboto" panose="02000000000000000000" pitchFamily="2" charset="0"/>
              </a:rPr>
              <a:t>4</a:t>
            </a:r>
            <a:r>
              <a:rPr lang="en-US" sz="2200" b="1" dirty="0">
                <a:latin typeface="Roboto" panose="02000000000000000000" pitchFamily="2" charset="0"/>
                <a:ea typeface="Roboto" panose="02000000000000000000" pitchFamily="2" charset="0"/>
              </a:rPr>
              <a:t>. Efficient Resource Allocation</a:t>
            </a:r>
          </a:p>
          <a:p>
            <a:pPr marL="0" indent="0">
              <a:buNone/>
            </a:pPr>
            <a:r>
              <a:rPr lang="en-US" sz="2200" dirty="0">
                <a:latin typeface="Roboto" panose="02000000000000000000" pitchFamily="2" charset="0"/>
                <a:ea typeface="Roboto" panose="02000000000000000000" pitchFamily="2" charset="0"/>
              </a:rPr>
              <a:t>Example: Meezan Bank (Islamic Finance)</a:t>
            </a:r>
          </a:p>
          <a:p>
            <a:endParaRPr lang="en-US" sz="2200" dirty="0">
              <a:latin typeface="Roboto" panose="02000000000000000000" pitchFamily="2" charset="0"/>
              <a:ea typeface="Roboto" panose="02000000000000000000" pitchFamily="2" charset="0"/>
            </a:endParaRPr>
          </a:p>
          <a:p>
            <a:pPr marL="0" indent="0">
              <a:buNone/>
            </a:pPr>
            <a:r>
              <a:rPr lang="en-US" sz="2200" b="1" dirty="0">
                <a:latin typeface="Roboto" panose="02000000000000000000" pitchFamily="2" charset="0"/>
                <a:ea typeface="Roboto" panose="02000000000000000000" pitchFamily="2" charset="0"/>
              </a:rPr>
              <a:t>5. Wealth Creation &amp; Economic Growth</a:t>
            </a:r>
          </a:p>
          <a:p>
            <a:pPr marL="0" indent="0">
              <a:buNone/>
            </a:pPr>
            <a:r>
              <a:rPr lang="en-US" sz="2200" dirty="0">
                <a:latin typeface="Roboto" panose="02000000000000000000" pitchFamily="2" charset="0"/>
                <a:ea typeface="Roboto" panose="02000000000000000000" pitchFamily="2" charset="0"/>
              </a:rPr>
              <a:t> Example: Engro Corporation</a:t>
            </a:r>
          </a:p>
          <a:p>
            <a:endParaRPr lang="en-PK" dirty="0"/>
          </a:p>
        </p:txBody>
      </p:sp>
    </p:spTree>
    <p:extLst>
      <p:ext uri="{BB962C8B-B14F-4D97-AF65-F5344CB8AC3E}">
        <p14:creationId xmlns:p14="http://schemas.microsoft.com/office/powerpoint/2010/main" val="22648334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F757B-D8D0-483D-A9D0-1ABBAB4EF8F1}"/>
              </a:ext>
            </a:extLst>
          </p:cNvPr>
          <p:cNvSpPr>
            <a:spLocks noGrp="1"/>
          </p:cNvSpPr>
          <p:nvPr>
            <p:ph type="title"/>
          </p:nvPr>
        </p:nvSpPr>
        <p:spPr/>
        <p:txBody>
          <a:bodyPr>
            <a:normAutofit fontScale="90000"/>
          </a:bodyPr>
          <a:lstStyle/>
          <a:p>
            <a:r>
              <a:rPr lang="en-US" b="1" dirty="0"/>
              <a:t>Types of Businesses in the Private Sector</a:t>
            </a:r>
            <a:br>
              <a:rPr lang="en-US" b="1" dirty="0"/>
            </a:br>
            <a:endParaRPr lang="en-PK" dirty="0"/>
          </a:p>
        </p:txBody>
      </p:sp>
      <p:sp>
        <p:nvSpPr>
          <p:cNvPr id="3" name="Content Placeholder 2">
            <a:extLst>
              <a:ext uri="{FF2B5EF4-FFF2-40B4-BE49-F238E27FC236}">
                <a16:creationId xmlns:a16="http://schemas.microsoft.com/office/drawing/2014/main" id="{1AA84F5D-787E-4429-A14A-57521C63E3C2}"/>
              </a:ext>
            </a:extLst>
          </p:cNvPr>
          <p:cNvSpPr>
            <a:spLocks noGrp="1"/>
          </p:cNvSpPr>
          <p:nvPr>
            <p:ph sz="half" idx="1"/>
          </p:nvPr>
        </p:nvSpPr>
        <p:spPr>
          <a:xfrm>
            <a:off x="1447331" y="2010878"/>
            <a:ext cx="4645152" cy="4265231"/>
          </a:xfrm>
        </p:spPr>
        <p:txBody>
          <a:bodyPr>
            <a:normAutofit lnSpcReduction="10000"/>
          </a:bodyPr>
          <a:lstStyle/>
          <a:p>
            <a:pPr marL="0" indent="0">
              <a:buNone/>
            </a:pPr>
            <a:r>
              <a:rPr lang="en-US" b="1" dirty="0">
                <a:latin typeface="Roboto" panose="02000000000000000000" pitchFamily="2" charset="0"/>
                <a:ea typeface="Roboto" panose="02000000000000000000" pitchFamily="2" charset="0"/>
              </a:rPr>
              <a:t>1. Sole Proprietorships</a:t>
            </a:r>
          </a:p>
          <a:p>
            <a:pPr>
              <a:buFont typeface="Arial" panose="020B0604020202020204" pitchFamily="34" charset="0"/>
              <a:buChar char="•"/>
            </a:pPr>
            <a:r>
              <a:rPr lang="en-US" b="1" dirty="0">
                <a:latin typeface="Roboto" panose="02000000000000000000" pitchFamily="2" charset="0"/>
                <a:ea typeface="Roboto" panose="02000000000000000000" pitchFamily="2" charset="0"/>
              </a:rPr>
              <a:t>Definition:</a:t>
            </a:r>
            <a:r>
              <a:rPr lang="en-US" dirty="0">
                <a:latin typeface="Roboto" panose="02000000000000000000" pitchFamily="2" charset="0"/>
                <a:ea typeface="Roboto" panose="02000000000000000000" pitchFamily="2" charset="0"/>
              </a:rPr>
              <a:t> Single-owner business, full control, full risk.</a:t>
            </a:r>
          </a:p>
          <a:p>
            <a:pPr marL="0" indent="0">
              <a:buNone/>
            </a:pPr>
            <a:r>
              <a:rPr lang="en-US" b="1" dirty="0">
                <a:latin typeface="Roboto" panose="02000000000000000000" pitchFamily="2" charset="0"/>
                <a:ea typeface="Roboto" panose="02000000000000000000" pitchFamily="2" charset="0"/>
              </a:rPr>
              <a:t>Examples:</a:t>
            </a:r>
            <a:endParaRPr lang="en-US" dirty="0">
              <a:latin typeface="Roboto" panose="02000000000000000000" pitchFamily="2" charset="0"/>
              <a:ea typeface="Roboto" panose="02000000000000000000" pitchFamily="2" charset="0"/>
            </a:endParaRPr>
          </a:p>
          <a:p>
            <a:pPr marL="742950" lvl="1" indent="-285750">
              <a:buFont typeface="Arial" panose="020B0604020202020204" pitchFamily="34" charset="0"/>
              <a:buChar char="•"/>
            </a:pPr>
            <a:r>
              <a:rPr lang="en-US" sz="2000" dirty="0">
                <a:latin typeface="Roboto" panose="02000000000000000000" pitchFamily="2" charset="0"/>
                <a:ea typeface="Roboto" panose="02000000000000000000" pitchFamily="2" charset="0"/>
              </a:rPr>
              <a:t>Local </a:t>
            </a:r>
            <a:r>
              <a:rPr lang="en-US" sz="2000" b="1" dirty="0" err="1">
                <a:latin typeface="Roboto" panose="02000000000000000000" pitchFamily="2" charset="0"/>
                <a:ea typeface="Roboto" panose="02000000000000000000" pitchFamily="2" charset="0"/>
              </a:rPr>
              <a:t>Kiryana</a:t>
            </a:r>
            <a:r>
              <a:rPr lang="en-US" sz="2000" b="1" dirty="0">
                <a:latin typeface="Roboto" panose="02000000000000000000" pitchFamily="2" charset="0"/>
                <a:ea typeface="Roboto" panose="02000000000000000000" pitchFamily="2" charset="0"/>
              </a:rPr>
              <a:t> shops</a:t>
            </a:r>
            <a:r>
              <a:rPr lang="en-US" sz="2000" dirty="0">
                <a:latin typeface="Roboto" panose="02000000000000000000" pitchFamily="2" charset="0"/>
                <a:ea typeface="Roboto" panose="02000000000000000000" pitchFamily="2" charset="0"/>
              </a:rPr>
              <a:t> (corner grocery stores).</a:t>
            </a:r>
          </a:p>
          <a:p>
            <a:pPr marL="742950" lvl="1" indent="-285750">
              <a:buFont typeface="Arial" panose="020B0604020202020204" pitchFamily="34" charset="0"/>
              <a:buChar char="•"/>
            </a:pPr>
            <a:r>
              <a:rPr lang="en-US" sz="2000" dirty="0">
                <a:latin typeface="Roboto" panose="02000000000000000000" pitchFamily="2" charset="0"/>
                <a:ea typeface="Roboto" panose="02000000000000000000" pitchFamily="2" charset="0"/>
              </a:rPr>
              <a:t>Individual </a:t>
            </a:r>
            <a:r>
              <a:rPr lang="en-US" sz="2000" b="1" dirty="0">
                <a:latin typeface="Roboto" panose="02000000000000000000" pitchFamily="2" charset="0"/>
                <a:ea typeface="Roboto" panose="02000000000000000000" pitchFamily="2" charset="0"/>
              </a:rPr>
              <a:t>freelancers</a:t>
            </a:r>
            <a:r>
              <a:rPr lang="en-US" sz="2000" dirty="0">
                <a:latin typeface="Roboto" panose="02000000000000000000" pitchFamily="2" charset="0"/>
                <a:ea typeface="Roboto" panose="02000000000000000000" pitchFamily="2" charset="0"/>
              </a:rPr>
              <a:t> in IT (graphic designers, developers).</a:t>
            </a:r>
          </a:p>
          <a:p>
            <a:pPr marL="742950" lvl="1" indent="-285750">
              <a:buFont typeface="Arial" panose="020B0604020202020204" pitchFamily="34" charset="0"/>
              <a:buChar char="•"/>
            </a:pPr>
            <a:r>
              <a:rPr lang="en-US" sz="2000" dirty="0">
                <a:latin typeface="Roboto" panose="02000000000000000000" pitchFamily="2" charset="0"/>
                <a:ea typeface="Roboto" panose="02000000000000000000" pitchFamily="2" charset="0"/>
              </a:rPr>
              <a:t>Small tailoring shops or </a:t>
            </a:r>
            <a:r>
              <a:rPr lang="en-US" sz="2000" b="1" dirty="0" err="1">
                <a:latin typeface="Roboto" panose="02000000000000000000" pitchFamily="2" charset="0"/>
                <a:ea typeface="Roboto" panose="02000000000000000000" pitchFamily="2" charset="0"/>
              </a:rPr>
              <a:t>Dhaba</a:t>
            </a:r>
            <a:r>
              <a:rPr lang="en-US" sz="2000" b="1" dirty="0">
                <a:latin typeface="Roboto" panose="02000000000000000000" pitchFamily="2" charset="0"/>
                <a:ea typeface="Roboto" panose="02000000000000000000" pitchFamily="2" charset="0"/>
              </a:rPr>
              <a:t> restaurants</a:t>
            </a:r>
            <a:r>
              <a:rPr lang="en-US" sz="2000" dirty="0">
                <a:latin typeface="Roboto" panose="02000000000000000000" pitchFamily="2" charset="0"/>
                <a:ea typeface="Roboto" panose="02000000000000000000" pitchFamily="2" charset="0"/>
              </a:rPr>
              <a:t>.</a:t>
            </a:r>
          </a:p>
          <a:p>
            <a:endParaRPr lang="en-PK" dirty="0"/>
          </a:p>
        </p:txBody>
      </p:sp>
      <p:sp>
        <p:nvSpPr>
          <p:cNvPr id="4" name="Content Placeholder 3">
            <a:extLst>
              <a:ext uri="{FF2B5EF4-FFF2-40B4-BE49-F238E27FC236}">
                <a16:creationId xmlns:a16="http://schemas.microsoft.com/office/drawing/2014/main" id="{C6D386DB-34BF-4BA8-AB1E-037C862E51FE}"/>
              </a:ext>
            </a:extLst>
          </p:cNvPr>
          <p:cNvSpPr>
            <a:spLocks noGrp="1"/>
          </p:cNvSpPr>
          <p:nvPr>
            <p:ph sz="half" idx="2"/>
          </p:nvPr>
        </p:nvSpPr>
        <p:spPr>
          <a:xfrm>
            <a:off x="6413771" y="2017343"/>
            <a:ext cx="4645152" cy="4369602"/>
          </a:xfrm>
        </p:spPr>
        <p:txBody>
          <a:bodyPr>
            <a:normAutofit lnSpcReduction="10000"/>
          </a:bodyPr>
          <a:lstStyle/>
          <a:p>
            <a:pPr marL="0" indent="0">
              <a:buNone/>
            </a:pPr>
            <a:r>
              <a:rPr lang="en-US" b="1" dirty="0"/>
              <a:t>2.</a:t>
            </a:r>
            <a:r>
              <a:rPr lang="en-US" b="1" dirty="0">
                <a:latin typeface="Roboto" panose="02000000000000000000" pitchFamily="2" charset="0"/>
                <a:ea typeface="Roboto" panose="02000000000000000000" pitchFamily="2" charset="0"/>
              </a:rPr>
              <a:t>Partnerships</a:t>
            </a:r>
          </a:p>
          <a:p>
            <a:pPr>
              <a:buFont typeface="Arial" panose="020B0604020202020204" pitchFamily="34" charset="0"/>
              <a:buChar char="•"/>
            </a:pPr>
            <a:r>
              <a:rPr lang="en-US" b="1" dirty="0">
                <a:latin typeface="Roboto" panose="02000000000000000000" pitchFamily="2" charset="0"/>
                <a:ea typeface="Roboto" panose="02000000000000000000" pitchFamily="2" charset="0"/>
              </a:rPr>
              <a:t>Definition:</a:t>
            </a:r>
            <a:r>
              <a:rPr lang="en-US" dirty="0">
                <a:latin typeface="Roboto" panose="02000000000000000000" pitchFamily="2" charset="0"/>
                <a:ea typeface="Roboto" panose="02000000000000000000" pitchFamily="2" charset="0"/>
              </a:rPr>
              <a:t> Business owned by two or more partners who share profits &amp; liabilities.</a:t>
            </a:r>
          </a:p>
          <a:p>
            <a:pPr marL="0" indent="0">
              <a:buNone/>
            </a:pPr>
            <a:r>
              <a:rPr lang="en-US" b="1" dirty="0">
                <a:latin typeface="Roboto" panose="02000000000000000000" pitchFamily="2" charset="0"/>
                <a:ea typeface="Roboto" panose="02000000000000000000" pitchFamily="2" charset="0"/>
              </a:rPr>
              <a:t> Examples:</a:t>
            </a:r>
            <a:endParaRPr lang="en-US" dirty="0">
              <a:latin typeface="Roboto" panose="02000000000000000000" pitchFamily="2" charset="0"/>
              <a:ea typeface="Roboto" panose="02000000000000000000" pitchFamily="2" charset="0"/>
            </a:endParaRPr>
          </a:p>
          <a:p>
            <a:pPr marL="742950" lvl="1" indent="-285750">
              <a:buFont typeface="Arial" panose="020B0604020202020204" pitchFamily="34" charset="0"/>
              <a:buChar char="•"/>
            </a:pPr>
            <a:r>
              <a:rPr lang="en-US" sz="2000" b="1" dirty="0">
                <a:latin typeface="Roboto" panose="02000000000000000000" pitchFamily="2" charset="0"/>
                <a:ea typeface="Roboto" panose="02000000000000000000" pitchFamily="2" charset="0"/>
              </a:rPr>
              <a:t>AF Ferguson &amp; Co.</a:t>
            </a:r>
            <a:r>
              <a:rPr lang="en-US" sz="2000" dirty="0">
                <a:latin typeface="Roboto" panose="02000000000000000000" pitchFamily="2" charset="0"/>
                <a:ea typeface="Roboto" panose="02000000000000000000" pitchFamily="2" charset="0"/>
              </a:rPr>
              <a:t> (Chartered Accountants – partnership firm).</a:t>
            </a:r>
          </a:p>
          <a:p>
            <a:pPr marL="742950" lvl="1" indent="-285750">
              <a:buFont typeface="Arial" panose="020B0604020202020204" pitchFamily="34" charset="0"/>
              <a:buChar char="•"/>
            </a:pPr>
            <a:r>
              <a:rPr lang="en-US" sz="2000" dirty="0">
                <a:latin typeface="Roboto" panose="02000000000000000000" pitchFamily="2" charset="0"/>
                <a:ea typeface="Roboto" panose="02000000000000000000" pitchFamily="2" charset="0"/>
              </a:rPr>
              <a:t>Local </a:t>
            </a:r>
            <a:r>
              <a:rPr lang="en-US" sz="2000" b="1" dirty="0">
                <a:latin typeface="Roboto" panose="02000000000000000000" pitchFamily="2" charset="0"/>
                <a:ea typeface="Roboto" panose="02000000000000000000" pitchFamily="2" charset="0"/>
              </a:rPr>
              <a:t>medical clinics</a:t>
            </a:r>
            <a:r>
              <a:rPr lang="en-US" sz="2000" dirty="0">
                <a:latin typeface="Roboto" panose="02000000000000000000" pitchFamily="2" charset="0"/>
                <a:ea typeface="Roboto" panose="02000000000000000000" pitchFamily="2" charset="0"/>
              </a:rPr>
              <a:t> run by 2–3 doctors.</a:t>
            </a:r>
          </a:p>
          <a:p>
            <a:pPr marL="742950" lvl="1" indent="-285750">
              <a:buFont typeface="Arial" panose="020B0604020202020204" pitchFamily="34" charset="0"/>
              <a:buChar char="•"/>
            </a:pPr>
            <a:r>
              <a:rPr lang="en-US" sz="2000" dirty="0">
                <a:latin typeface="Roboto" panose="02000000000000000000" pitchFamily="2" charset="0"/>
                <a:ea typeface="Roboto" panose="02000000000000000000" pitchFamily="2" charset="0"/>
              </a:rPr>
              <a:t>Small law firms in Lahore/Karachi.</a:t>
            </a:r>
          </a:p>
          <a:p>
            <a:endParaRPr lang="en-PK" dirty="0"/>
          </a:p>
        </p:txBody>
      </p:sp>
    </p:spTree>
    <p:extLst>
      <p:ext uri="{BB962C8B-B14F-4D97-AF65-F5344CB8AC3E}">
        <p14:creationId xmlns:p14="http://schemas.microsoft.com/office/powerpoint/2010/main" val="38362294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09990-1B52-4928-8220-45308342E080}"/>
              </a:ext>
            </a:extLst>
          </p:cNvPr>
          <p:cNvSpPr>
            <a:spLocks noGrp="1"/>
          </p:cNvSpPr>
          <p:nvPr>
            <p:ph type="title"/>
          </p:nvPr>
        </p:nvSpPr>
        <p:spPr/>
        <p:txBody>
          <a:bodyPr/>
          <a:lstStyle/>
          <a:p>
            <a:pPr algn="ctr"/>
            <a:r>
              <a:rPr kumimoji="0" lang="en-US" sz="2900" b="1" i="0" u="none" strike="noStrike" kern="1200" cap="all" spc="0" normalizeH="0" baseline="0" noProof="0" dirty="0">
                <a:ln>
                  <a:noFill/>
                </a:ln>
                <a:solidFill>
                  <a:prstClr val="black"/>
                </a:solidFill>
                <a:effectLst/>
                <a:uLnTx/>
                <a:uFillTx/>
                <a:latin typeface="Gill Sans MT" panose="020B0502020104020203"/>
                <a:ea typeface="+mj-ea"/>
                <a:cs typeface="+mj-cs"/>
              </a:rPr>
              <a:t>Types of Businesses in the Private Sector</a:t>
            </a:r>
            <a:endParaRPr lang="en-PK" dirty="0"/>
          </a:p>
        </p:txBody>
      </p:sp>
      <p:sp>
        <p:nvSpPr>
          <p:cNvPr id="3" name="Content Placeholder 2">
            <a:extLst>
              <a:ext uri="{FF2B5EF4-FFF2-40B4-BE49-F238E27FC236}">
                <a16:creationId xmlns:a16="http://schemas.microsoft.com/office/drawing/2014/main" id="{4C914CFF-E609-42A4-A808-52E7EE881646}"/>
              </a:ext>
            </a:extLst>
          </p:cNvPr>
          <p:cNvSpPr>
            <a:spLocks noGrp="1"/>
          </p:cNvSpPr>
          <p:nvPr>
            <p:ph sz="half" idx="1"/>
          </p:nvPr>
        </p:nvSpPr>
        <p:spPr>
          <a:xfrm>
            <a:off x="1447331" y="2010878"/>
            <a:ext cx="4645152" cy="4292940"/>
          </a:xfrm>
        </p:spPr>
        <p:txBody>
          <a:bodyPr>
            <a:normAutofit lnSpcReduction="10000"/>
          </a:bodyPr>
          <a:lstStyle/>
          <a:p>
            <a:pPr marL="0" indent="0">
              <a:buNone/>
            </a:pPr>
            <a:r>
              <a:rPr lang="en-US" b="1" dirty="0"/>
              <a:t>3.</a:t>
            </a:r>
            <a:r>
              <a:rPr lang="en-US" b="1" dirty="0">
                <a:latin typeface="Roboto" panose="02000000000000000000" pitchFamily="2" charset="0"/>
                <a:ea typeface="Roboto" panose="02000000000000000000" pitchFamily="2" charset="0"/>
              </a:rPr>
              <a:t>Small and Medium-Sized Enterprises (SMEs)</a:t>
            </a:r>
          </a:p>
          <a:p>
            <a:pPr>
              <a:buFont typeface="Arial" panose="020B0604020202020204" pitchFamily="34" charset="0"/>
              <a:buChar char="•"/>
            </a:pPr>
            <a:r>
              <a:rPr lang="en-US" b="1" dirty="0">
                <a:latin typeface="Roboto" panose="02000000000000000000" pitchFamily="2" charset="0"/>
                <a:ea typeface="Roboto" panose="02000000000000000000" pitchFamily="2" charset="0"/>
              </a:rPr>
              <a:t>Definition:</a:t>
            </a:r>
            <a:r>
              <a:rPr lang="en-US" dirty="0">
                <a:latin typeface="Roboto" panose="02000000000000000000" pitchFamily="2" charset="0"/>
                <a:ea typeface="Roboto" panose="02000000000000000000" pitchFamily="2" charset="0"/>
              </a:rPr>
              <a:t> Medium-scale businesses, backbone of Pakistan’s economy.</a:t>
            </a:r>
          </a:p>
          <a:p>
            <a:pPr marL="0" indent="0">
              <a:buNone/>
            </a:pPr>
            <a:r>
              <a:rPr lang="en-US" b="1" dirty="0">
                <a:latin typeface="Roboto" panose="02000000000000000000" pitchFamily="2" charset="0"/>
                <a:ea typeface="Roboto" panose="02000000000000000000" pitchFamily="2" charset="0"/>
              </a:rPr>
              <a:t>Examples:</a:t>
            </a:r>
            <a:endParaRPr lang="en-US" dirty="0">
              <a:latin typeface="Roboto" panose="02000000000000000000" pitchFamily="2" charset="0"/>
              <a:ea typeface="Roboto" panose="02000000000000000000" pitchFamily="2" charset="0"/>
            </a:endParaRPr>
          </a:p>
          <a:p>
            <a:pPr marL="742950" lvl="1" indent="-285750">
              <a:buFont typeface="Arial" panose="020B0604020202020204" pitchFamily="34" charset="0"/>
              <a:buChar char="•"/>
            </a:pPr>
            <a:r>
              <a:rPr lang="en-US" b="1" dirty="0" err="1">
                <a:latin typeface="Roboto" panose="02000000000000000000" pitchFamily="2" charset="0"/>
                <a:ea typeface="Roboto" panose="02000000000000000000" pitchFamily="2" charset="0"/>
              </a:rPr>
              <a:t>ChenOne</a:t>
            </a:r>
            <a:r>
              <a:rPr lang="en-US" dirty="0">
                <a:latin typeface="Roboto" panose="02000000000000000000" pitchFamily="2" charset="0"/>
                <a:ea typeface="Roboto" panose="02000000000000000000" pitchFamily="2" charset="0"/>
              </a:rPr>
              <a:t> (retail &amp; home décor).</a:t>
            </a:r>
          </a:p>
          <a:p>
            <a:pPr marL="742950" lvl="1" indent="-285750">
              <a:buFont typeface="Arial" panose="020B0604020202020204" pitchFamily="34" charset="0"/>
              <a:buChar char="•"/>
            </a:pPr>
            <a:r>
              <a:rPr lang="en-US" b="1" dirty="0" err="1">
                <a:latin typeface="Roboto" panose="02000000000000000000" pitchFamily="2" charset="0"/>
                <a:ea typeface="Roboto" panose="02000000000000000000" pitchFamily="2" charset="0"/>
              </a:rPr>
              <a:t>Khaadi</a:t>
            </a:r>
            <a:r>
              <a:rPr lang="en-US" dirty="0">
                <a:latin typeface="Roboto" panose="02000000000000000000" pitchFamily="2" charset="0"/>
                <a:ea typeface="Roboto" panose="02000000000000000000" pitchFamily="2" charset="0"/>
              </a:rPr>
              <a:t> (fashion/retail startup that grew big but started as SME).</a:t>
            </a:r>
          </a:p>
          <a:p>
            <a:pPr marL="742950" lvl="1" indent="-285750">
              <a:buFont typeface="Arial" panose="020B0604020202020204" pitchFamily="34" charset="0"/>
              <a:buChar char="•"/>
            </a:pPr>
            <a:r>
              <a:rPr lang="en-US" dirty="0">
                <a:latin typeface="Roboto" panose="02000000000000000000" pitchFamily="2" charset="0"/>
                <a:ea typeface="Roboto" panose="02000000000000000000" pitchFamily="2" charset="0"/>
              </a:rPr>
              <a:t>Local </a:t>
            </a:r>
            <a:r>
              <a:rPr lang="en-US" b="1" dirty="0">
                <a:latin typeface="Roboto" panose="02000000000000000000" pitchFamily="2" charset="0"/>
                <a:ea typeface="Roboto" panose="02000000000000000000" pitchFamily="2" charset="0"/>
              </a:rPr>
              <a:t>software houses</a:t>
            </a:r>
            <a:r>
              <a:rPr lang="en-US" dirty="0">
                <a:latin typeface="Roboto" panose="02000000000000000000" pitchFamily="2" charset="0"/>
                <a:ea typeface="Roboto" panose="02000000000000000000" pitchFamily="2" charset="0"/>
              </a:rPr>
              <a:t> in Lahore’s IT clusters.</a:t>
            </a:r>
          </a:p>
          <a:p>
            <a:endParaRPr lang="en-PK" dirty="0"/>
          </a:p>
        </p:txBody>
      </p:sp>
      <p:sp>
        <p:nvSpPr>
          <p:cNvPr id="4" name="Content Placeholder 3">
            <a:extLst>
              <a:ext uri="{FF2B5EF4-FFF2-40B4-BE49-F238E27FC236}">
                <a16:creationId xmlns:a16="http://schemas.microsoft.com/office/drawing/2014/main" id="{480329AE-8199-4149-85F7-DED2E2D999F1}"/>
              </a:ext>
            </a:extLst>
          </p:cNvPr>
          <p:cNvSpPr>
            <a:spLocks noGrp="1"/>
          </p:cNvSpPr>
          <p:nvPr>
            <p:ph sz="half" idx="2"/>
          </p:nvPr>
        </p:nvSpPr>
        <p:spPr>
          <a:xfrm>
            <a:off x="6413771" y="2017342"/>
            <a:ext cx="4645152" cy="4425021"/>
          </a:xfrm>
        </p:spPr>
        <p:txBody>
          <a:bodyPr>
            <a:normAutofit lnSpcReduction="10000"/>
          </a:bodyPr>
          <a:lstStyle/>
          <a:p>
            <a:pPr marL="0" indent="0">
              <a:buNone/>
            </a:pPr>
            <a:r>
              <a:rPr lang="en-US" b="1" dirty="0"/>
              <a:t>4.</a:t>
            </a:r>
            <a:r>
              <a:rPr lang="en-US" b="1" dirty="0">
                <a:latin typeface="Roboto" panose="02000000000000000000" pitchFamily="2" charset="0"/>
                <a:ea typeface="Roboto" panose="02000000000000000000" pitchFamily="2" charset="0"/>
              </a:rPr>
              <a:t>Large Corporations &amp; Multinationals</a:t>
            </a:r>
          </a:p>
          <a:p>
            <a:pPr>
              <a:buFont typeface="Arial" panose="020B0604020202020204" pitchFamily="34" charset="0"/>
              <a:buChar char="•"/>
            </a:pPr>
            <a:r>
              <a:rPr lang="en-US" b="1" dirty="0">
                <a:latin typeface="Roboto" panose="02000000000000000000" pitchFamily="2" charset="0"/>
                <a:ea typeface="Roboto" panose="02000000000000000000" pitchFamily="2" charset="0"/>
              </a:rPr>
              <a:t>Definition:</a:t>
            </a:r>
            <a:r>
              <a:rPr lang="en-US" dirty="0">
                <a:latin typeface="Roboto" panose="02000000000000000000" pitchFamily="2" charset="0"/>
                <a:ea typeface="Roboto" panose="02000000000000000000" pitchFamily="2" charset="0"/>
              </a:rPr>
              <a:t> Big companies with large workforce, complex management, and national/global operations.</a:t>
            </a:r>
          </a:p>
          <a:p>
            <a:pPr marL="0" indent="0">
              <a:buNone/>
            </a:pPr>
            <a:r>
              <a:rPr lang="en-US" b="1" dirty="0">
                <a:latin typeface="Roboto" panose="02000000000000000000" pitchFamily="2" charset="0"/>
                <a:ea typeface="Roboto" panose="02000000000000000000" pitchFamily="2" charset="0"/>
              </a:rPr>
              <a:t>Examples:</a:t>
            </a:r>
            <a:endParaRPr lang="en-US" dirty="0">
              <a:latin typeface="Roboto" panose="02000000000000000000" pitchFamily="2" charset="0"/>
              <a:ea typeface="Roboto" panose="02000000000000000000" pitchFamily="2" charset="0"/>
            </a:endParaRPr>
          </a:p>
          <a:p>
            <a:pPr marL="742950" lvl="1" indent="-285750">
              <a:buFont typeface="Arial" panose="020B0604020202020204" pitchFamily="34" charset="0"/>
              <a:buChar char="•"/>
            </a:pPr>
            <a:r>
              <a:rPr lang="en-US" b="1" dirty="0">
                <a:latin typeface="Roboto" panose="02000000000000000000" pitchFamily="2" charset="0"/>
                <a:ea typeface="Roboto" panose="02000000000000000000" pitchFamily="2" charset="0"/>
              </a:rPr>
              <a:t>Engro Corporation</a:t>
            </a:r>
            <a:r>
              <a:rPr lang="en-US" dirty="0">
                <a:latin typeface="Roboto" panose="02000000000000000000" pitchFamily="2" charset="0"/>
                <a:ea typeface="Roboto" panose="02000000000000000000" pitchFamily="2" charset="0"/>
              </a:rPr>
              <a:t> (fertilizers, food, energy).</a:t>
            </a:r>
          </a:p>
          <a:p>
            <a:pPr marL="742950" lvl="1" indent="-285750">
              <a:buFont typeface="Arial" panose="020B0604020202020204" pitchFamily="34" charset="0"/>
              <a:buChar char="•"/>
            </a:pPr>
            <a:r>
              <a:rPr lang="en-US" b="1" dirty="0">
                <a:latin typeface="Roboto" panose="02000000000000000000" pitchFamily="2" charset="0"/>
                <a:ea typeface="Roboto" panose="02000000000000000000" pitchFamily="2" charset="0"/>
              </a:rPr>
              <a:t>Nestlé Pakistan</a:t>
            </a:r>
            <a:r>
              <a:rPr lang="en-US" dirty="0">
                <a:latin typeface="Roboto" panose="02000000000000000000" pitchFamily="2" charset="0"/>
                <a:ea typeface="Roboto" panose="02000000000000000000" pitchFamily="2" charset="0"/>
              </a:rPr>
              <a:t> (food &amp; beverages).</a:t>
            </a:r>
          </a:p>
          <a:p>
            <a:pPr marL="742950" lvl="1" indent="-285750">
              <a:buFont typeface="Arial" panose="020B0604020202020204" pitchFamily="34" charset="0"/>
              <a:buChar char="•"/>
            </a:pPr>
            <a:r>
              <a:rPr lang="en-US" b="1" dirty="0">
                <a:latin typeface="Roboto" panose="02000000000000000000" pitchFamily="2" charset="0"/>
                <a:ea typeface="Roboto" panose="02000000000000000000" pitchFamily="2" charset="0"/>
              </a:rPr>
              <a:t>Unilever Pakistan</a:t>
            </a:r>
            <a:r>
              <a:rPr lang="en-US" dirty="0">
                <a:latin typeface="Roboto" panose="02000000000000000000" pitchFamily="2" charset="0"/>
                <a:ea typeface="Roboto" panose="02000000000000000000" pitchFamily="2" charset="0"/>
              </a:rPr>
              <a:t> (consumer goods).</a:t>
            </a:r>
          </a:p>
          <a:p>
            <a:pPr marL="742950" lvl="1" indent="-285750">
              <a:buFont typeface="Arial" panose="020B0604020202020204" pitchFamily="34" charset="0"/>
              <a:buChar char="•"/>
            </a:pPr>
            <a:r>
              <a:rPr lang="en-US" b="1" dirty="0">
                <a:latin typeface="Roboto" panose="02000000000000000000" pitchFamily="2" charset="0"/>
                <a:ea typeface="Roboto" panose="02000000000000000000" pitchFamily="2" charset="0"/>
              </a:rPr>
              <a:t>Lucky Cement</a:t>
            </a:r>
            <a:r>
              <a:rPr lang="en-US" dirty="0">
                <a:latin typeface="Roboto" panose="02000000000000000000" pitchFamily="2" charset="0"/>
                <a:ea typeface="Roboto" panose="02000000000000000000" pitchFamily="2" charset="0"/>
              </a:rPr>
              <a:t> (manufacturing giant).</a:t>
            </a:r>
          </a:p>
          <a:p>
            <a:endParaRPr lang="en-PK" dirty="0"/>
          </a:p>
        </p:txBody>
      </p:sp>
    </p:spTree>
    <p:extLst>
      <p:ext uri="{BB962C8B-B14F-4D97-AF65-F5344CB8AC3E}">
        <p14:creationId xmlns:p14="http://schemas.microsoft.com/office/powerpoint/2010/main" val="11441401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990A5-1CD1-47FE-ADA2-0B55D6E8FC2A}"/>
              </a:ext>
            </a:extLst>
          </p:cNvPr>
          <p:cNvSpPr>
            <a:spLocks noGrp="1"/>
          </p:cNvSpPr>
          <p:nvPr>
            <p:ph type="title"/>
          </p:nvPr>
        </p:nvSpPr>
        <p:spPr/>
        <p:txBody>
          <a:bodyPr/>
          <a:lstStyle/>
          <a:p>
            <a:r>
              <a:rPr kumimoji="0" lang="en-US" sz="2900" b="1" i="0" u="none" strike="noStrike" kern="1200" cap="all" spc="0" normalizeH="0" baseline="0" noProof="0" dirty="0">
                <a:ln>
                  <a:noFill/>
                </a:ln>
                <a:solidFill>
                  <a:prstClr val="black"/>
                </a:solidFill>
                <a:effectLst/>
                <a:uLnTx/>
                <a:uFillTx/>
                <a:latin typeface="Gill Sans MT" panose="020B0502020104020203"/>
                <a:ea typeface="+mj-ea"/>
                <a:cs typeface="+mj-cs"/>
              </a:rPr>
              <a:t>Types of Businesses in the Private Sector</a:t>
            </a:r>
            <a:endParaRPr lang="en-PK" dirty="0"/>
          </a:p>
        </p:txBody>
      </p:sp>
      <p:sp>
        <p:nvSpPr>
          <p:cNvPr id="3" name="Content Placeholder 2">
            <a:extLst>
              <a:ext uri="{FF2B5EF4-FFF2-40B4-BE49-F238E27FC236}">
                <a16:creationId xmlns:a16="http://schemas.microsoft.com/office/drawing/2014/main" id="{D560734A-FC4C-4369-A63A-6785882519E1}"/>
              </a:ext>
            </a:extLst>
          </p:cNvPr>
          <p:cNvSpPr>
            <a:spLocks noGrp="1"/>
          </p:cNvSpPr>
          <p:nvPr>
            <p:ph sz="half" idx="1"/>
          </p:nvPr>
        </p:nvSpPr>
        <p:spPr>
          <a:xfrm>
            <a:off x="1447331" y="2010878"/>
            <a:ext cx="4645152" cy="4348358"/>
          </a:xfrm>
        </p:spPr>
        <p:txBody>
          <a:bodyPr>
            <a:normAutofit fontScale="85000" lnSpcReduction="20000"/>
          </a:bodyPr>
          <a:lstStyle/>
          <a:p>
            <a:pPr marL="0" indent="0">
              <a:buNone/>
            </a:pPr>
            <a:r>
              <a:rPr lang="en-US" b="1" dirty="0"/>
              <a:t>5. </a:t>
            </a:r>
            <a:r>
              <a:rPr lang="en-US" sz="2200" b="1" dirty="0">
                <a:latin typeface="Roboto" panose="02000000000000000000" pitchFamily="2" charset="0"/>
                <a:ea typeface="Roboto" panose="02000000000000000000" pitchFamily="2" charset="0"/>
              </a:rPr>
              <a:t>Professional &amp; Trade Associations</a:t>
            </a:r>
          </a:p>
          <a:p>
            <a:pPr>
              <a:buFont typeface="Arial" panose="020B0604020202020204" pitchFamily="34" charset="0"/>
              <a:buChar char="•"/>
            </a:pPr>
            <a:r>
              <a:rPr lang="en-US" sz="2200" b="1" dirty="0">
                <a:latin typeface="Roboto" panose="02000000000000000000" pitchFamily="2" charset="0"/>
                <a:ea typeface="Roboto" panose="02000000000000000000" pitchFamily="2" charset="0"/>
              </a:rPr>
              <a:t>Definition:</a:t>
            </a:r>
            <a:r>
              <a:rPr lang="en-US" sz="2200" dirty="0">
                <a:latin typeface="Roboto" panose="02000000000000000000" pitchFamily="2" charset="0"/>
                <a:ea typeface="Roboto" panose="02000000000000000000" pitchFamily="2" charset="0"/>
              </a:rPr>
              <a:t> Industry-specific groups supporting professional and business interests.</a:t>
            </a:r>
          </a:p>
          <a:p>
            <a:pPr marL="0" indent="0">
              <a:buNone/>
            </a:pPr>
            <a:r>
              <a:rPr lang="en-US" sz="2200" b="1" dirty="0">
                <a:latin typeface="Roboto" panose="02000000000000000000" pitchFamily="2" charset="0"/>
                <a:ea typeface="Roboto" panose="02000000000000000000" pitchFamily="2" charset="0"/>
              </a:rPr>
              <a:t>Examples:</a:t>
            </a:r>
            <a:endParaRPr lang="en-US" sz="2200" dirty="0">
              <a:latin typeface="Roboto" panose="02000000000000000000" pitchFamily="2" charset="0"/>
              <a:ea typeface="Roboto" panose="02000000000000000000" pitchFamily="2" charset="0"/>
            </a:endParaRPr>
          </a:p>
          <a:p>
            <a:pPr marL="742950" lvl="1" indent="-285750">
              <a:buFont typeface="Arial" panose="020B0604020202020204" pitchFamily="34" charset="0"/>
              <a:buChar char="•"/>
            </a:pPr>
            <a:r>
              <a:rPr lang="en-US" sz="2200" b="1" dirty="0">
                <a:latin typeface="Roboto" panose="02000000000000000000" pitchFamily="2" charset="0"/>
                <a:ea typeface="Roboto" panose="02000000000000000000" pitchFamily="2" charset="0"/>
              </a:rPr>
              <a:t>P@SHA</a:t>
            </a:r>
            <a:r>
              <a:rPr lang="en-US" sz="2200" dirty="0">
                <a:latin typeface="Roboto" panose="02000000000000000000" pitchFamily="2" charset="0"/>
                <a:ea typeface="Roboto" panose="02000000000000000000" pitchFamily="2" charset="0"/>
              </a:rPr>
              <a:t> (Pakistan Software Houses Association – represents IT industry).</a:t>
            </a:r>
          </a:p>
          <a:p>
            <a:pPr marL="742950" lvl="1" indent="-285750">
              <a:buFont typeface="Arial" panose="020B0604020202020204" pitchFamily="34" charset="0"/>
              <a:buChar char="•"/>
            </a:pPr>
            <a:r>
              <a:rPr lang="en-US" sz="2200" b="1" dirty="0">
                <a:latin typeface="Roboto" panose="02000000000000000000" pitchFamily="2" charset="0"/>
                <a:ea typeface="Roboto" panose="02000000000000000000" pitchFamily="2" charset="0"/>
              </a:rPr>
              <a:t>All Pakistan Textile Mills Association (APTMA)</a:t>
            </a:r>
            <a:r>
              <a:rPr lang="en-US" sz="2200" dirty="0">
                <a:latin typeface="Roboto" panose="02000000000000000000" pitchFamily="2" charset="0"/>
                <a:ea typeface="Roboto" panose="02000000000000000000" pitchFamily="2" charset="0"/>
              </a:rPr>
              <a:t> (for textile sector).</a:t>
            </a:r>
          </a:p>
          <a:p>
            <a:pPr marL="742950" lvl="1" indent="-285750">
              <a:buFont typeface="Arial" panose="020B0604020202020204" pitchFamily="34" charset="0"/>
              <a:buChar char="•"/>
            </a:pPr>
            <a:r>
              <a:rPr lang="en-US" sz="2200" b="1" dirty="0">
                <a:latin typeface="Roboto" panose="02000000000000000000" pitchFamily="2" charset="0"/>
                <a:ea typeface="Roboto" panose="02000000000000000000" pitchFamily="2" charset="0"/>
              </a:rPr>
              <a:t>Karachi Chamber of Commerce &amp; Industry (KCCI)</a:t>
            </a:r>
            <a:r>
              <a:rPr lang="en-US" sz="2200" dirty="0">
                <a:latin typeface="Roboto" panose="02000000000000000000" pitchFamily="2" charset="0"/>
                <a:ea typeface="Roboto" panose="02000000000000000000" pitchFamily="2" charset="0"/>
              </a:rPr>
              <a:t>.</a:t>
            </a:r>
          </a:p>
          <a:p>
            <a:endParaRPr lang="en-PK" dirty="0"/>
          </a:p>
        </p:txBody>
      </p:sp>
      <p:sp>
        <p:nvSpPr>
          <p:cNvPr id="4" name="Content Placeholder 3">
            <a:extLst>
              <a:ext uri="{FF2B5EF4-FFF2-40B4-BE49-F238E27FC236}">
                <a16:creationId xmlns:a16="http://schemas.microsoft.com/office/drawing/2014/main" id="{FD618CCF-8166-4C01-9746-A22E64167A51}"/>
              </a:ext>
            </a:extLst>
          </p:cNvPr>
          <p:cNvSpPr>
            <a:spLocks noGrp="1"/>
          </p:cNvSpPr>
          <p:nvPr>
            <p:ph sz="half" idx="2"/>
          </p:nvPr>
        </p:nvSpPr>
        <p:spPr>
          <a:xfrm>
            <a:off x="6413771" y="2017342"/>
            <a:ext cx="4645152" cy="4341893"/>
          </a:xfrm>
        </p:spPr>
        <p:txBody>
          <a:bodyPr>
            <a:normAutofit fontScale="85000" lnSpcReduction="20000"/>
          </a:bodyPr>
          <a:lstStyle/>
          <a:p>
            <a:pPr marL="0" indent="0">
              <a:buNone/>
            </a:pPr>
            <a:r>
              <a:rPr lang="en-US" b="1" dirty="0"/>
              <a:t>6. </a:t>
            </a:r>
            <a:r>
              <a:rPr lang="en-US" sz="2200" b="1" dirty="0">
                <a:latin typeface="Roboto" panose="02000000000000000000" pitchFamily="2" charset="0"/>
                <a:ea typeface="Roboto" panose="02000000000000000000" pitchFamily="2" charset="0"/>
              </a:rPr>
              <a:t>Trade Unions</a:t>
            </a:r>
          </a:p>
          <a:p>
            <a:pPr>
              <a:buFont typeface="Arial" panose="020B0604020202020204" pitchFamily="34" charset="0"/>
              <a:buChar char="•"/>
            </a:pPr>
            <a:r>
              <a:rPr lang="en-US" sz="2200" b="1" dirty="0">
                <a:latin typeface="Roboto" panose="02000000000000000000" pitchFamily="2" charset="0"/>
                <a:ea typeface="Roboto" panose="02000000000000000000" pitchFamily="2" charset="0"/>
              </a:rPr>
              <a:t>Definition:</a:t>
            </a:r>
            <a:r>
              <a:rPr lang="en-US" sz="2200" dirty="0">
                <a:latin typeface="Roboto" panose="02000000000000000000" pitchFamily="2" charset="0"/>
                <a:ea typeface="Roboto" panose="02000000000000000000" pitchFamily="2" charset="0"/>
              </a:rPr>
              <a:t> Worker organizations that defend labor rights, wages, and safety.</a:t>
            </a:r>
          </a:p>
          <a:p>
            <a:pPr marL="0" indent="0">
              <a:buNone/>
            </a:pPr>
            <a:r>
              <a:rPr lang="en-US" sz="2200" b="1" dirty="0">
                <a:latin typeface="Roboto" panose="02000000000000000000" pitchFamily="2" charset="0"/>
                <a:ea typeface="Roboto" panose="02000000000000000000" pitchFamily="2" charset="0"/>
              </a:rPr>
              <a:t>Examples:</a:t>
            </a:r>
            <a:endParaRPr lang="en-US" sz="2200" dirty="0">
              <a:latin typeface="Roboto" panose="02000000000000000000" pitchFamily="2" charset="0"/>
              <a:ea typeface="Roboto" panose="02000000000000000000" pitchFamily="2" charset="0"/>
            </a:endParaRPr>
          </a:p>
          <a:p>
            <a:pPr marL="742950" lvl="1" indent="-285750">
              <a:buFont typeface="Arial" panose="020B0604020202020204" pitchFamily="34" charset="0"/>
              <a:buChar char="•"/>
            </a:pPr>
            <a:r>
              <a:rPr lang="en-US" sz="2200" b="1" dirty="0">
                <a:latin typeface="Roboto" panose="02000000000000000000" pitchFamily="2" charset="0"/>
                <a:ea typeface="Roboto" panose="02000000000000000000" pitchFamily="2" charset="0"/>
              </a:rPr>
              <a:t>Pakistan Workers’ Federation (PWF)</a:t>
            </a:r>
            <a:r>
              <a:rPr lang="en-US" sz="2200" dirty="0">
                <a:latin typeface="Roboto" panose="02000000000000000000" pitchFamily="2" charset="0"/>
                <a:ea typeface="Roboto" panose="02000000000000000000" pitchFamily="2" charset="0"/>
              </a:rPr>
              <a:t> – umbrella labor union.</a:t>
            </a:r>
          </a:p>
          <a:p>
            <a:pPr marL="742950" lvl="1" indent="-285750">
              <a:buFont typeface="Arial" panose="020B0604020202020204" pitchFamily="34" charset="0"/>
              <a:buChar char="•"/>
            </a:pPr>
            <a:r>
              <a:rPr lang="en-US" sz="2200" b="1" dirty="0">
                <a:latin typeface="Roboto" panose="02000000000000000000" pitchFamily="2" charset="0"/>
                <a:ea typeface="Roboto" panose="02000000000000000000" pitchFamily="2" charset="0"/>
              </a:rPr>
              <a:t>Railway Workers’ Union</a:t>
            </a:r>
            <a:r>
              <a:rPr lang="en-US" sz="2200" dirty="0">
                <a:latin typeface="Roboto" panose="02000000000000000000" pitchFamily="2" charset="0"/>
                <a:ea typeface="Roboto" panose="02000000000000000000" pitchFamily="2" charset="0"/>
              </a:rPr>
              <a:t>.</a:t>
            </a:r>
          </a:p>
          <a:p>
            <a:pPr marL="742950" lvl="1" indent="-285750">
              <a:buFont typeface="Arial" panose="020B0604020202020204" pitchFamily="34" charset="0"/>
              <a:buChar char="•"/>
            </a:pPr>
            <a:r>
              <a:rPr lang="en-US" sz="2200" b="1" dirty="0">
                <a:latin typeface="Roboto" panose="02000000000000000000" pitchFamily="2" charset="0"/>
                <a:ea typeface="Roboto" panose="02000000000000000000" pitchFamily="2" charset="0"/>
              </a:rPr>
              <a:t>Textile Industry Labor Unions</a:t>
            </a:r>
            <a:r>
              <a:rPr lang="en-US" sz="2200" dirty="0">
                <a:latin typeface="Roboto" panose="02000000000000000000" pitchFamily="2" charset="0"/>
                <a:ea typeface="Roboto" panose="02000000000000000000" pitchFamily="2" charset="0"/>
              </a:rPr>
              <a:t> (common in Faisalabad).</a:t>
            </a:r>
          </a:p>
          <a:p>
            <a:endParaRPr lang="en-PK" dirty="0"/>
          </a:p>
        </p:txBody>
      </p:sp>
    </p:spTree>
    <p:extLst>
      <p:ext uri="{BB962C8B-B14F-4D97-AF65-F5344CB8AC3E}">
        <p14:creationId xmlns:p14="http://schemas.microsoft.com/office/powerpoint/2010/main" val="26027991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C4A63-5EDA-4321-B528-AD060227C178}"/>
              </a:ext>
            </a:extLst>
          </p:cNvPr>
          <p:cNvSpPr>
            <a:spLocks noGrp="1"/>
          </p:cNvSpPr>
          <p:nvPr>
            <p:ph type="title"/>
          </p:nvPr>
        </p:nvSpPr>
        <p:spPr/>
        <p:txBody>
          <a:bodyPr>
            <a:normAutofit fontScale="90000"/>
          </a:bodyPr>
          <a:lstStyle/>
          <a:p>
            <a:pPr algn="ctr"/>
            <a:r>
              <a:rPr kumimoji="0" lang="en-US" sz="3600" b="1" i="0" u="none" strike="noStrike" kern="1200" cap="all" spc="0" normalizeH="0" baseline="0" noProof="0" dirty="0">
                <a:ln>
                  <a:noFill/>
                </a:ln>
                <a:solidFill>
                  <a:prstClr val="black"/>
                </a:solidFill>
                <a:effectLst/>
                <a:uLnTx/>
                <a:uFillTx/>
                <a:latin typeface="Gill Sans MT" panose="020B0502020104020203"/>
                <a:ea typeface="+mj-ea"/>
                <a:cs typeface="+mj-cs"/>
              </a:rPr>
              <a:t>Functions OF PRIVATE ENTERPRISE SYSTEM</a:t>
            </a:r>
            <a:endParaRPr lang="en-PK" dirty="0"/>
          </a:p>
        </p:txBody>
      </p:sp>
      <p:sp>
        <p:nvSpPr>
          <p:cNvPr id="3" name="Content Placeholder 2">
            <a:extLst>
              <a:ext uri="{FF2B5EF4-FFF2-40B4-BE49-F238E27FC236}">
                <a16:creationId xmlns:a16="http://schemas.microsoft.com/office/drawing/2014/main" id="{AAE15E01-538B-4E5B-8851-E6CAF6CB371C}"/>
              </a:ext>
            </a:extLst>
          </p:cNvPr>
          <p:cNvSpPr>
            <a:spLocks noGrp="1"/>
          </p:cNvSpPr>
          <p:nvPr>
            <p:ph sz="half" idx="1"/>
          </p:nvPr>
        </p:nvSpPr>
        <p:spPr/>
        <p:txBody>
          <a:bodyPr>
            <a:normAutofit fontScale="92500" lnSpcReduction="20000"/>
          </a:bodyPr>
          <a:lstStyle/>
          <a:p>
            <a:pPr algn="l"/>
            <a:r>
              <a:rPr lang="en-US" b="1" dirty="0">
                <a:latin typeface="Roboto" panose="02000000000000000000" pitchFamily="2" charset="0"/>
                <a:ea typeface="Roboto" panose="02000000000000000000" pitchFamily="2" charset="0"/>
              </a:rPr>
              <a:t>Production of Goods &amp; Services: </a:t>
            </a:r>
            <a:r>
              <a:rPr lang="en-US" b="1" i="0" dirty="0">
                <a:solidFill>
                  <a:srgbClr val="222222"/>
                </a:solidFill>
                <a:effectLst/>
                <a:latin typeface="Roboto" panose="02000000000000000000" pitchFamily="2" charset="0"/>
                <a:ea typeface="Roboto" panose="02000000000000000000" pitchFamily="2" charset="0"/>
              </a:rPr>
              <a:t> </a:t>
            </a:r>
            <a:br>
              <a:rPr lang="en-US" b="0" i="0" dirty="0">
                <a:solidFill>
                  <a:srgbClr val="222222"/>
                </a:solidFill>
                <a:effectLst/>
                <a:latin typeface="Roboto" panose="02000000000000000000" pitchFamily="2" charset="0"/>
                <a:ea typeface="Roboto" panose="02000000000000000000" pitchFamily="2" charset="0"/>
              </a:rPr>
            </a:br>
            <a:r>
              <a:rPr lang="en-US" sz="2200" b="0" i="0" dirty="0">
                <a:effectLst/>
                <a:latin typeface="Roboto" panose="02000000000000000000" pitchFamily="2" charset="0"/>
                <a:ea typeface="Roboto" panose="02000000000000000000" pitchFamily="2" charset="0"/>
              </a:rPr>
              <a:t>Businesses produce what customers demand.</a:t>
            </a:r>
          </a:p>
          <a:p>
            <a:pPr marL="0" indent="0" algn="l">
              <a:buNone/>
            </a:pPr>
            <a:r>
              <a:rPr lang="en-US" sz="2200" b="0" i="0" dirty="0">
                <a:effectLst/>
                <a:latin typeface="Roboto" panose="02000000000000000000" pitchFamily="2" charset="0"/>
                <a:ea typeface="Roboto" panose="02000000000000000000" pitchFamily="2" charset="0"/>
              </a:rPr>
              <a:t>Example:</a:t>
            </a:r>
          </a:p>
          <a:p>
            <a:pPr algn="l"/>
            <a:r>
              <a:rPr lang="en-US" sz="2200" b="0" i="0" dirty="0">
                <a:effectLst/>
                <a:latin typeface="Roboto" panose="02000000000000000000" pitchFamily="2" charset="0"/>
                <a:ea typeface="Roboto" panose="02000000000000000000" pitchFamily="2" charset="0"/>
              </a:rPr>
              <a:t>Nestlé Pakistan produces packaged food &amp; beverages to meet local demand.</a:t>
            </a:r>
          </a:p>
          <a:p>
            <a:pPr algn="l"/>
            <a:r>
              <a:rPr lang="en-US" sz="2200" b="0" i="0" dirty="0">
                <a:effectLst/>
                <a:latin typeface="Roboto" panose="02000000000000000000" pitchFamily="2" charset="0"/>
                <a:ea typeface="Roboto" panose="02000000000000000000" pitchFamily="2" charset="0"/>
              </a:rPr>
              <a:t>Lucky Cement manufactures cement for construction sector.</a:t>
            </a:r>
          </a:p>
          <a:p>
            <a:endParaRPr lang="en-PK" dirty="0"/>
          </a:p>
        </p:txBody>
      </p:sp>
      <p:sp>
        <p:nvSpPr>
          <p:cNvPr id="4" name="Content Placeholder 3">
            <a:extLst>
              <a:ext uri="{FF2B5EF4-FFF2-40B4-BE49-F238E27FC236}">
                <a16:creationId xmlns:a16="http://schemas.microsoft.com/office/drawing/2014/main" id="{B6E3D8DD-CD0A-491F-9F7E-28A292CBF536}"/>
              </a:ext>
            </a:extLst>
          </p:cNvPr>
          <p:cNvSpPr>
            <a:spLocks noGrp="1"/>
          </p:cNvSpPr>
          <p:nvPr>
            <p:ph sz="half" idx="2"/>
          </p:nvPr>
        </p:nvSpPr>
        <p:spPr>
          <a:xfrm>
            <a:off x="6413771" y="2017343"/>
            <a:ext cx="4645152" cy="4161784"/>
          </a:xfrm>
        </p:spPr>
        <p:txBody>
          <a:bodyPr>
            <a:normAutofit fontScale="92500" lnSpcReduction="20000"/>
          </a:bodyPr>
          <a:lstStyle/>
          <a:p>
            <a:pPr algn="l"/>
            <a:r>
              <a:rPr lang="en-US" b="1" i="0" dirty="0">
                <a:solidFill>
                  <a:srgbClr val="222222"/>
                </a:solidFill>
                <a:effectLst/>
                <a:latin typeface="Arial" panose="020B0604020202020204" pitchFamily="34" charset="0"/>
              </a:rPr>
              <a:t>Employment Generation</a:t>
            </a:r>
          </a:p>
          <a:p>
            <a:pPr marL="0" indent="0" algn="l">
              <a:buNone/>
            </a:pPr>
            <a:r>
              <a:rPr lang="en-US" sz="2200" b="0" i="0" dirty="0">
                <a:effectLst/>
                <a:latin typeface="Roboto" panose="02000000000000000000" pitchFamily="2" charset="0"/>
                <a:ea typeface="Roboto" panose="02000000000000000000" pitchFamily="2" charset="0"/>
              </a:rPr>
              <a:t>Businesses create jobs in manufacturing, IT, banking, retail, etc.</a:t>
            </a:r>
          </a:p>
          <a:p>
            <a:pPr marL="0" indent="0" algn="l">
              <a:buNone/>
            </a:pPr>
            <a:r>
              <a:rPr lang="en-US" sz="2200" b="0" i="0" dirty="0">
                <a:effectLst/>
                <a:latin typeface="Roboto" panose="02000000000000000000" pitchFamily="2" charset="0"/>
                <a:ea typeface="Roboto" panose="02000000000000000000" pitchFamily="2" charset="0"/>
              </a:rPr>
              <a:t>Example:</a:t>
            </a:r>
          </a:p>
          <a:p>
            <a:pPr algn="l"/>
            <a:r>
              <a:rPr lang="en-US" sz="2200" b="0" i="0" dirty="0">
                <a:effectLst/>
                <a:latin typeface="Roboto" panose="02000000000000000000" pitchFamily="2" charset="0"/>
                <a:ea typeface="Roboto" panose="02000000000000000000" pitchFamily="2" charset="0"/>
              </a:rPr>
              <a:t>Systems Ltd. employs thousands in IT/software exports.</a:t>
            </a:r>
          </a:p>
          <a:p>
            <a:pPr algn="l"/>
            <a:r>
              <a:rPr lang="en-US" sz="2200" b="0" i="0" dirty="0">
                <a:effectLst/>
                <a:latin typeface="Roboto" panose="02000000000000000000" pitchFamily="2" charset="0"/>
                <a:ea typeface="Roboto" panose="02000000000000000000" pitchFamily="2" charset="0"/>
              </a:rPr>
              <a:t>Engro Fertilizers provides jobs in agriculture &amp; industry.</a:t>
            </a:r>
          </a:p>
          <a:p>
            <a:endParaRPr lang="en-PK" dirty="0"/>
          </a:p>
        </p:txBody>
      </p:sp>
    </p:spTree>
    <p:extLst>
      <p:ext uri="{BB962C8B-B14F-4D97-AF65-F5344CB8AC3E}">
        <p14:creationId xmlns:p14="http://schemas.microsoft.com/office/powerpoint/2010/main" val="29209959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25A60-3C75-467D-87D8-46C0988B7379}"/>
              </a:ext>
            </a:extLst>
          </p:cNvPr>
          <p:cNvSpPr>
            <a:spLocks noGrp="1"/>
          </p:cNvSpPr>
          <p:nvPr>
            <p:ph type="title"/>
          </p:nvPr>
        </p:nvSpPr>
        <p:spPr/>
        <p:txBody>
          <a:bodyPr/>
          <a:lstStyle/>
          <a:p>
            <a:pPr algn="ctr"/>
            <a:r>
              <a:rPr kumimoji="0" lang="en-US" sz="3200" b="1" i="0" u="none" strike="noStrike" kern="1200" cap="all" spc="0" normalizeH="0" baseline="0" noProof="0" dirty="0">
                <a:ln>
                  <a:noFill/>
                </a:ln>
                <a:solidFill>
                  <a:prstClr val="black"/>
                </a:solidFill>
                <a:effectLst/>
                <a:uLnTx/>
                <a:uFillTx/>
                <a:latin typeface="Gill Sans MT" panose="020B0502020104020203"/>
                <a:ea typeface="+mj-ea"/>
                <a:cs typeface="+mj-cs"/>
              </a:rPr>
              <a:t>Functions OF PRIVATE ENTERPRISE SYSTEM</a:t>
            </a:r>
            <a:endParaRPr lang="en-PK" dirty="0"/>
          </a:p>
        </p:txBody>
      </p:sp>
      <p:sp>
        <p:nvSpPr>
          <p:cNvPr id="3" name="Content Placeholder 2">
            <a:extLst>
              <a:ext uri="{FF2B5EF4-FFF2-40B4-BE49-F238E27FC236}">
                <a16:creationId xmlns:a16="http://schemas.microsoft.com/office/drawing/2014/main" id="{61883378-A72D-46BA-B753-1948BE79EB2C}"/>
              </a:ext>
            </a:extLst>
          </p:cNvPr>
          <p:cNvSpPr>
            <a:spLocks noGrp="1"/>
          </p:cNvSpPr>
          <p:nvPr>
            <p:ph sz="half" idx="1"/>
          </p:nvPr>
        </p:nvSpPr>
        <p:spPr>
          <a:xfrm>
            <a:off x="1447331" y="2010878"/>
            <a:ext cx="4645152" cy="4223667"/>
          </a:xfrm>
        </p:spPr>
        <p:txBody>
          <a:bodyPr>
            <a:normAutofit fontScale="40000" lnSpcReduction="20000"/>
          </a:bodyPr>
          <a:lstStyle/>
          <a:p>
            <a:pPr algn="l"/>
            <a:r>
              <a:rPr lang="en-US" sz="5000" b="1" i="0" dirty="0">
                <a:effectLst/>
                <a:latin typeface="Roboto" panose="02000000000000000000" pitchFamily="2" charset="0"/>
                <a:ea typeface="Roboto" panose="02000000000000000000" pitchFamily="2" charset="0"/>
              </a:rPr>
              <a:t> Innovation &amp; Technology Advancement</a:t>
            </a:r>
          </a:p>
          <a:p>
            <a:pPr marL="0" indent="0" algn="l">
              <a:buNone/>
            </a:pPr>
            <a:r>
              <a:rPr lang="en-US" sz="5000" b="0" i="0" dirty="0">
                <a:effectLst/>
                <a:latin typeface="Roboto" panose="02000000000000000000" pitchFamily="2" charset="0"/>
                <a:ea typeface="Roboto" panose="02000000000000000000" pitchFamily="2" charset="0"/>
              </a:rPr>
              <a:t>Competition pushes firms to adopt new technology and improve services.</a:t>
            </a:r>
          </a:p>
          <a:p>
            <a:pPr marL="0" indent="0" algn="l">
              <a:buNone/>
            </a:pPr>
            <a:r>
              <a:rPr lang="en-US" sz="5000" b="0" i="0" dirty="0">
                <a:effectLst/>
                <a:latin typeface="Roboto" panose="02000000000000000000" pitchFamily="2" charset="0"/>
                <a:ea typeface="Roboto" panose="02000000000000000000" pitchFamily="2" charset="0"/>
              </a:rPr>
              <a:t> Example:</a:t>
            </a:r>
          </a:p>
          <a:p>
            <a:pPr algn="l"/>
            <a:r>
              <a:rPr lang="en-US" sz="5000" b="0" i="0" dirty="0" err="1">
                <a:effectLst/>
                <a:latin typeface="Roboto" panose="02000000000000000000" pitchFamily="2" charset="0"/>
                <a:ea typeface="Roboto" panose="02000000000000000000" pitchFamily="2" charset="0"/>
              </a:rPr>
              <a:t>Bykea</a:t>
            </a:r>
            <a:r>
              <a:rPr lang="en-US" sz="5000" b="0" i="0" dirty="0">
                <a:effectLst/>
                <a:latin typeface="Roboto" panose="02000000000000000000" pitchFamily="2" charset="0"/>
                <a:ea typeface="Roboto" panose="02000000000000000000" pitchFamily="2" charset="0"/>
              </a:rPr>
              <a:t> app – introduced motorbike ride-hailing &amp; delivery services.</a:t>
            </a:r>
          </a:p>
          <a:p>
            <a:pPr algn="l"/>
            <a:r>
              <a:rPr lang="en-US" sz="5000" b="0" i="0" dirty="0">
                <a:effectLst/>
                <a:latin typeface="Roboto" panose="02000000000000000000" pitchFamily="2" charset="0"/>
                <a:ea typeface="Roboto" panose="02000000000000000000" pitchFamily="2" charset="0"/>
              </a:rPr>
              <a:t>Careem Pakistan – digital ride-hailing transforming transport.</a:t>
            </a:r>
          </a:p>
          <a:p>
            <a:endParaRPr lang="en-PK" dirty="0"/>
          </a:p>
        </p:txBody>
      </p:sp>
      <p:sp>
        <p:nvSpPr>
          <p:cNvPr id="4" name="Content Placeholder 3">
            <a:extLst>
              <a:ext uri="{FF2B5EF4-FFF2-40B4-BE49-F238E27FC236}">
                <a16:creationId xmlns:a16="http://schemas.microsoft.com/office/drawing/2014/main" id="{31201E22-B94E-4745-9397-BCC8832E15A5}"/>
              </a:ext>
            </a:extLst>
          </p:cNvPr>
          <p:cNvSpPr>
            <a:spLocks noGrp="1"/>
          </p:cNvSpPr>
          <p:nvPr>
            <p:ph sz="half" idx="2"/>
          </p:nvPr>
        </p:nvSpPr>
        <p:spPr>
          <a:xfrm>
            <a:off x="6413771" y="2017343"/>
            <a:ext cx="4645152" cy="4397312"/>
          </a:xfrm>
        </p:spPr>
        <p:txBody>
          <a:bodyPr>
            <a:normAutofit fontScale="40000" lnSpcReduction="20000"/>
          </a:bodyPr>
          <a:lstStyle/>
          <a:p>
            <a:r>
              <a:rPr lang="en-US" sz="5000" b="1" dirty="0">
                <a:latin typeface="Roboto" panose="02000000000000000000" pitchFamily="2" charset="0"/>
                <a:ea typeface="Roboto" panose="02000000000000000000" pitchFamily="2" charset="0"/>
              </a:rPr>
              <a:t> Efficient Allocation of Resources</a:t>
            </a:r>
          </a:p>
          <a:p>
            <a:pPr marL="0" indent="0">
              <a:buNone/>
            </a:pPr>
            <a:r>
              <a:rPr lang="en-US" sz="5000" dirty="0">
                <a:latin typeface="Roboto" panose="02000000000000000000" pitchFamily="2" charset="0"/>
                <a:ea typeface="Roboto" panose="02000000000000000000" pitchFamily="2" charset="0"/>
              </a:rPr>
              <a:t>Resources flow toward industries/products that people value most.</a:t>
            </a:r>
          </a:p>
          <a:p>
            <a:pPr marL="0" indent="0">
              <a:buNone/>
            </a:pPr>
            <a:r>
              <a:rPr lang="en-US" sz="5000" dirty="0">
                <a:latin typeface="Roboto" panose="02000000000000000000" pitchFamily="2" charset="0"/>
                <a:ea typeface="Roboto" panose="02000000000000000000" pitchFamily="2" charset="0"/>
              </a:rPr>
              <a:t> Example:</a:t>
            </a:r>
          </a:p>
          <a:p>
            <a:r>
              <a:rPr lang="en-US" sz="5000" dirty="0">
                <a:latin typeface="Roboto" panose="02000000000000000000" pitchFamily="2" charset="0"/>
                <a:ea typeface="Roboto" panose="02000000000000000000" pitchFamily="2" charset="0"/>
              </a:rPr>
              <a:t>Growth of Meezan Bank – shift of resources into Islamic banking due to consumer preference.</a:t>
            </a:r>
          </a:p>
          <a:p>
            <a:r>
              <a:rPr lang="en-US" sz="5000" dirty="0">
                <a:latin typeface="Roboto" panose="02000000000000000000" pitchFamily="2" charset="0"/>
                <a:ea typeface="Roboto" panose="02000000000000000000" pitchFamily="2" charset="0"/>
              </a:rPr>
              <a:t>IT outsourcing – many resources invested in software exports &amp; freelancing.</a:t>
            </a:r>
          </a:p>
          <a:p>
            <a:br>
              <a:rPr lang="en-US" dirty="0"/>
            </a:br>
            <a:endParaRPr lang="en-PK" dirty="0"/>
          </a:p>
        </p:txBody>
      </p:sp>
    </p:spTree>
    <p:extLst>
      <p:ext uri="{BB962C8B-B14F-4D97-AF65-F5344CB8AC3E}">
        <p14:creationId xmlns:p14="http://schemas.microsoft.com/office/powerpoint/2010/main" val="23315240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11C88-96DB-4B91-97A8-2E62D3D399AC}"/>
              </a:ext>
            </a:extLst>
          </p:cNvPr>
          <p:cNvSpPr>
            <a:spLocks noGrp="1"/>
          </p:cNvSpPr>
          <p:nvPr>
            <p:ph type="title"/>
          </p:nvPr>
        </p:nvSpPr>
        <p:spPr/>
        <p:txBody>
          <a:bodyPr/>
          <a:lstStyle/>
          <a:p>
            <a:pPr algn="ctr"/>
            <a:r>
              <a:rPr kumimoji="0" lang="en-US" sz="3200" b="1" i="0" u="none" strike="noStrike" kern="1200" cap="all" spc="0" normalizeH="0" baseline="0" noProof="0" dirty="0">
                <a:ln>
                  <a:noFill/>
                </a:ln>
                <a:solidFill>
                  <a:prstClr val="black"/>
                </a:solidFill>
                <a:effectLst/>
                <a:uLnTx/>
                <a:uFillTx/>
                <a:latin typeface="Gill Sans MT" panose="020B0502020104020203"/>
                <a:ea typeface="+mj-ea"/>
                <a:cs typeface="+mj-cs"/>
              </a:rPr>
              <a:t>Functions OF PRIVATE ENTERPRISE SYSTEM</a:t>
            </a:r>
            <a:endParaRPr lang="en-PK" dirty="0"/>
          </a:p>
        </p:txBody>
      </p:sp>
      <p:sp>
        <p:nvSpPr>
          <p:cNvPr id="3" name="Content Placeholder 2">
            <a:extLst>
              <a:ext uri="{FF2B5EF4-FFF2-40B4-BE49-F238E27FC236}">
                <a16:creationId xmlns:a16="http://schemas.microsoft.com/office/drawing/2014/main" id="{C00C1DB8-64BC-4CE9-B3C4-0C49918DF557}"/>
              </a:ext>
            </a:extLst>
          </p:cNvPr>
          <p:cNvSpPr>
            <a:spLocks noGrp="1"/>
          </p:cNvSpPr>
          <p:nvPr>
            <p:ph sz="half" idx="1"/>
          </p:nvPr>
        </p:nvSpPr>
        <p:spPr>
          <a:xfrm>
            <a:off x="1447331" y="2010878"/>
            <a:ext cx="4645152" cy="4403777"/>
          </a:xfrm>
        </p:spPr>
        <p:txBody>
          <a:bodyPr>
            <a:normAutofit fontScale="92500" lnSpcReduction="10000"/>
          </a:bodyPr>
          <a:lstStyle/>
          <a:p>
            <a:pPr algn="l"/>
            <a:r>
              <a:rPr lang="en-US" b="0" i="0" dirty="0">
                <a:solidFill>
                  <a:srgbClr val="222222"/>
                </a:solidFill>
                <a:effectLst/>
                <a:latin typeface="Arial" panose="020B0604020202020204" pitchFamily="34" charset="0"/>
              </a:rPr>
              <a:t> </a:t>
            </a:r>
            <a:r>
              <a:rPr lang="en-US" b="1" i="0" dirty="0">
                <a:effectLst/>
                <a:latin typeface="Roboto" panose="02000000000000000000" pitchFamily="2" charset="0"/>
                <a:ea typeface="Roboto" panose="02000000000000000000" pitchFamily="2" charset="0"/>
              </a:rPr>
              <a:t>Wealth Creation &amp; Capital Formation</a:t>
            </a:r>
          </a:p>
          <a:p>
            <a:pPr marL="0" indent="0" algn="l">
              <a:buNone/>
            </a:pPr>
            <a:r>
              <a:rPr lang="en-US" b="0" i="0" dirty="0">
                <a:effectLst/>
                <a:latin typeface="Roboto" panose="02000000000000000000" pitchFamily="2" charset="0"/>
                <a:ea typeface="Roboto" panose="02000000000000000000" pitchFamily="2" charset="0"/>
              </a:rPr>
              <a:t>Businesses create wealth for owners, workers, and government (through taxes).</a:t>
            </a:r>
          </a:p>
          <a:p>
            <a:pPr marL="0" indent="0" algn="l">
              <a:buNone/>
            </a:pPr>
            <a:r>
              <a:rPr lang="en-US" b="0" i="0" dirty="0">
                <a:effectLst/>
                <a:latin typeface="Roboto" panose="02000000000000000000" pitchFamily="2" charset="0"/>
                <a:ea typeface="Roboto" panose="02000000000000000000" pitchFamily="2" charset="0"/>
              </a:rPr>
              <a:t> Example:</a:t>
            </a:r>
          </a:p>
          <a:p>
            <a:pPr algn="l"/>
            <a:r>
              <a:rPr lang="en-US" b="0" i="0" dirty="0">
                <a:effectLst/>
                <a:latin typeface="Roboto" panose="02000000000000000000" pitchFamily="2" charset="0"/>
                <a:ea typeface="Roboto" panose="02000000000000000000" pitchFamily="2" charset="0"/>
              </a:rPr>
              <a:t>Engro Corporation contributes significantly to GDP.</a:t>
            </a:r>
          </a:p>
          <a:p>
            <a:pPr algn="l"/>
            <a:r>
              <a:rPr lang="en-US" b="0" i="0" dirty="0">
                <a:effectLst/>
                <a:latin typeface="Roboto" panose="02000000000000000000" pitchFamily="2" charset="0"/>
                <a:ea typeface="Roboto" panose="02000000000000000000" pitchFamily="2" charset="0"/>
              </a:rPr>
              <a:t>Unilever Pakistan reinvests profits and creates shareholder value.</a:t>
            </a:r>
          </a:p>
          <a:p>
            <a:endParaRPr lang="en-PK" dirty="0"/>
          </a:p>
        </p:txBody>
      </p:sp>
      <p:sp>
        <p:nvSpPr>
          <p:cNvPr id="4" name="Content Placeholder 3">
            <a:extLst>
              <a:ext uri="{FF2B5EF4-FFF2-40B4-BE49-F238E27FC236}">
                <a16:creationId xmlns:a16="http://schemas.microsoft.com/office/drawing/2014/main" id="{2C0C32D0-66E9-47A9-BD8E-3AA7A8A0BE5C}"/>
              </a:ext>
            </a:extLst>
          </p:cNvPr>
          <p:cNvSpPr>
            <a:spLocks noGrp="1"/>
          </p:cNvSpPr>
          <p:nvPr>
            <p:ph sz="half" idx="2"/>
          </p:nvPr>
        </p:nvSpPr>
        <p:spPr>
          <a:xfrm>
            <a:off x="6413771" y="2017343"/>
            <a:ext cx="4645152" cy="4403776"/>
          </a:xfrm>
        </p:spPr>
        <p:txBody>
          <a:bodyPr>
            <a:normAutofit fontScale="92500" lnSpcReduction="10000"/>
          </a:bodyPr>
          <a:lstStyle/>
          <a:p>
            <a:r>
              <a:rPr lang="en-US" b="1" dirty="0"/>
              <a:t> </a:t>
            </a:r>
            <a:r>
              <a:rPr lang="en-US" b="1" dirty="0">
                <a:latin typeface="Roboto" panose="02000000000000000000" pitchFamily="2" charset="0"/>
                <a:ea typeface="Roboto" panose="02000000000000000000" pitchFamily="2" charset="0"/>
              </a:rPr>
              <a:t>Improving Standard of Living</a:t>
            </a:r>
          </a:p>
          <a:p>
            <a:pPr marL="0" indent="0">
              <a:buNone/>
            </a:pPr>
            <a:r>
              <a:rPr lang="en-US" dirty="0">
                <a:latin typeface="Roboto" panose="02000000000000000000" pitchFamily="2" charset="0"/>
                <a:ea typeface="Roboto" panose="02000000000000000000" pitchFamily="2" charset="0"/>
              </a:rPr>
              <a:t>By offering better products, services, and jobs, the system raises living standards.</a:t>
            </a:r>
          </a:p>
          <a:p>
            <a:pPr marL="0" indent="0">
              <a:buNone/>
            </a:pPr>
            <a:r>
              <a:rPr lang="en-US" dirty="0">
                <a:latin typeface="Roboto" panose="02000000000000000000" pitchFamily="2" charset="0"/>
                <a:ea typeface="Roboto" panose="02000000000000000000" pitchFamily="2" charset="0"/>
              </a:rPr>
              <a:t> Example:</a:t>
            </a:r>
          </a:p>
          <a:p>
            <a:r>
              <a:rPr lang="en-US" dirty="0">
                <a:latin typeface="Roboto" panose="02000000000000000000" pitchFamily="2" charset="0"/>
                <a:ea typeface="Roboto" panose="02000000000000000000" pitchFamily="2" charset="0"/>
              </a:rPr>
              <a:t>Daraz.pk makes global products accessible to Pakistani consumers.</a:t>
            </a:r>
          </a:p>
          <a:p>
            <a:r>
              <a:rPr lang="en-US" dirty="0">
                <a:latin typeface="Roboto" panose="02000000000000000000" pitchFamily="2" charset="0"/>
                <a:ea typeface="Roboto" panose="02000000000000000000" pitchFamily="2" charset="0"/>
              </a:rPr>
              <a:t>Telecom industry (Jazz, </a:t>
            </a:r>
            <a:r>
              <a:rPr lang="en-US" dirty="0" err="1">
                <a:latin typeface="Roboto" panose="02000000000000000000" pitchFamily="2" charset="0"/>
                <a:ea typeface="Roboto" panose="02000000000000000000" pitchFamily="2" charset="0"/>
              </a:rPr>
              <a:t>Zong</a:t>
            </a:r>
            <a:r>
              <a:rPr lang="en-US" dirty="0">
                <a:latin typeface="Roboto" panose="02000000000000000000" pitchFamily="2" charset="0"/>
                <a:ea typeface="Roboto" panose="02000000000000000000" pitchFamily="2" charset="0"/>
              </a:rPr>
              <a:t>, Telenor) improves communication and connectivity.</a:t>
            </a:r>
          </a:p>
          <a:p>
            <a:br>
              <a:rPr lang="en-US" dirty="0"/>
            </a:br>
            <a:endParaRPr lang="en-PK" dirty="0"/>
          </a:p>
        </p:txBody>
      </p:sp>
    </p:spTree>
    <p:extLst>
      <p:ext uri="{BB962C8B-B14F-4D97-AF65-F5344CB8AC3E}">
        <p14:creationId xmlns:p14="http://schemas.microsoft.com/office/powerpoint/2010/main" val="35712544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ED9A0101-E324-4D5B-9F7B-526358D4212E}"/>
              </a:ext>
            </a:extLst>
          </p:cNvPr>
          <p:cNvSpPr>
            <a:spLocks noGrp="1"/>
          </p:cNvSpPr>
          <p:nvPr>
            <p:ph type="title"/>
          </p:nvPr>
        </p:nvSpPr>
        <p:spPr/>
        <p:txBody>
          <a:bodyPr>
            <a:normAutofit/>
          </a:bodyPr>
          <a:lstStyle/>
          <a:p>
            <a:pPr algn="ctr"/>
            <a:r>
              <a:rPr lang="en-US" sz="3600" b="1" dirty="0">
                <a:latin typeface="Roboto" panose="02000000000000000000" pitchFamily="2" charset="0"/>
                <a:ea typeface="Roboto" panose="02000000000000000000" pitchFamily="2" charset="0"/>
              </a:rPr>
              <a:t>CLASS ACTIVITY</a:t>
            </a:r>
            <a:endParaRPr lang="en-PK" sz="3600" b="1" dirty="0">
              <a:latin typeface="Roboto" panose="02000000000000000000" pitchFamily="2" charset="0"/>
              <a:ea typeface="Roboto" panose="02000000000000000000" pitchFamily="2" charset="0"/>
            </a:endParaRPr>
          </a:p>
        </p:txBody>
      </p:sp>
      <p:sp>
        <p:nvSpPr>
          <p:cNvPr id="10" name="Content Placeholder 9">
            <a:extLst>
              <a:ext uri="{FF2B5EF4-FFF2-40B4-BE49-F238E27FC236}">
                <a16:creationId xmlns:a16="http://schemas.microsoft.com/office/drawing/2014/main" id="{1B6B9AF4-E246-4757-90AE-709CC3D52350}"/>
              </a:ext>
            </a:extLst>
          </p:cNvPr>
          <p:cNvSpPr>
            <a:spLocks noGrp="1"/>
          </p:cNvSpPr>
          <p:nvPr>
            <p:ph idx="1"/>
          </p:nvPr>
        </p:nvSpPr>
        <p:spPr/>
        <p:txBody>
          <a:bodyPr>
            <a:normAutofit fontScale="25000" lnSpcReduction="20000"/>
          </a:bodyPr>
          <a:lstStyle/>
          <a:p>
            <a:pPr marL="0" indent="0">
              <a:buNone/>
            </a:pPr>
            <a:r>
              <a:rPr lang="en-US" sz="11200" b="1" dirty="0">
                <a:latin typeface="Roboto" panose="02000000000000000000" pitchFamily="2" charset="0"/>
                <a:ea typeface="Roboto" panose="02000000000000000000" pitchFamily="2" charset="0"/>
              </a:rPr>
              <a:t>Each group will write a short paragraph.</a:t>
            </a:r>
          </a:p>
          <a:p>
            <a:r>
              <a:rPr lang="en-US" sz="11200" dirty="0">
                <a:latin typeface="Roboto" panose="02000000000000000000" pitchFamily="2" charset="0"/>
                <a:ea typeface="Roboto" panose="02000000000000000000" pitchFamily="2" charset="0"/>
              </a:rPr>
              <a:t>Write down the functions of Private Enterprise?</a:t>
            </a:r>
          </a:p>
          <a:p>
            <a:r>
              <a:rPr lang="en-US" sz="11200" dirty="0">
                <a:latin typeface="Roboto" panose="02000000000000000000" pitchFamily="2" charset="0"/>
                <a:ea typeface="Roboto" panose="02000000000000000000" pitchFamily="2" charset="0"/>
              </a:rPr>
              <a:t>How does they appear in the Pakistani private sector?</a:t>
            </a:r>
          </a:p>
          <a:p>
            <a:r>
              <a:rPr lang="en-US" sz="11200" dirty="0">
                <a:latin typeface="Roboto" panose="02000000000000000000" pitchFamily="2" charset="0"/>
                <a:ea typeface="Roboto" panose="02000000000000000000" pitchFamily="2" charset="0"/>
              </a:rPr>
              <a:t>Give one real company example from Pakistan and explain how this company demonstrates the function.</a:t>
            </a:r>
          </a:p>
          <a:p>
            <a:pPr marL="0" indent="0">
              <a:buNone/>
            </a:pPr>
            <a:br>
              <a:rPr lang="en-US" sz="8000" dirty="0"/>
            </a:br>
            <a:endParaRPr lang="en-PK" sz="8000" dirty="0"/>
          </a:p>
        </p:txBody>
      </p:sp>
    </p:spTree>
    <p:extLst>
      <p:ext uri="{BB962C8B-B14F-4D97-AF65-F5344CB8AC3E}">
        <p14:creationId xmlns:p14="http://schemas.microsoft.com/office/powerpoint/2010/main" val="32740566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382273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82199-D9D9-46FB-A0D1-FE01F310D467}"/>
              </a:ext>
            </a:extLst>
          </p:cNvPr>
          <p:cNvSpPr>
            <a:spLocks noGrp="1"/>
          </p:cNvSpPr>
          <p:nvPr>
            <p:ph type="title"/>
          </p:nvPr>
        </p:nvSpPr>
        <p:spPr/>
        <p:txBody>
          <a:bodyPr>
            <a:noAutofit/>
          </a:bodyPr>
          <a:lstStyle/>
          <a:p>
            <a:pPr algn="ctr"/>
            <a:r>
              <a:rPr kumimoji="0" lang="en-US" sz="3600" b="1" i="0" u="none" strike="noStrike" kern="1200" cap="all" spc="0" normalizeH="0" baseline="0" noProof="0" dirty="0">
                <a:ln>
                  <a:noFill/>
                </a:ln>
                <a:solidFill>
                  <a:prstClr val="black"/>
                </a:solidFill>
                <a:effectLst/>
                <a:uLnTx/>
                <a:uFillTx/>
                <a:latin typeface="Gill Sans MT" panose="020B0502020104020203"/>
                <a:ea typeface="+mj-ea"/>
                <a:cs typeface="+mj-cs"/>
              </a:rPr>
              <a:t>Functions OF PRIVATE ENTERPRISE SYSTEM</a:t>
            </a:r>
            <a:endParaRPr lang="en-PK" sz="3600" b="1" dirty="0"/>
          </a:p>
        </p:txBody>
      </p:sp>
      <p:sp>
        <p:nvSpPr>
          <p:cNvPr id="3" name="Content Placeholder 2">
            <a:extLst>
              <a:ext uri="{FF2B5EF4-FFF2-40B4-BE49-F238E27FC236}">
                <a16:creationId xmlns:a16="http://schemas.microsoft.com/office/drawing/2014/main" id="{2E64109D-7080-4310-8B71-0BE43C80B30E}"/>
              </a:ext>
            </a:extLst>
          </p:cNvPr>
          <p:cNvSpPr>
            <a:spLocks noGrp="1"/>
          </p:cNvSpPr>
          <p:nvPr>
            <p:ph sz="half" idx="1"/>
          </p:nvPr>
        </p:nvSpPr>
        <p:spPr>
          <a:xfrm>
            <a:off x="1447331" y="2010878"/>
            <a:ext cx="4645152" cy="4209813"/>
          </a:xfrm>
        </p:spPr>
        <p:txBody>
          <a:bodyPr>
            <a:normAutofit fontScale="92500" lnSpcReduction="20000"/>
          </a:bodyPr>
          <a:lstStyle/>
          <a:p>
            <a:pPr>
              <a:lnSpc>
                <a:spcPct val="107000"/>
              </a:lnSpc>
              <a:spcAft>
                <a:spcPts val="800"/>
              </a:spcAft>
            </a:pPr>
            <a:r>
              <a:rPr lang="en-PK" sz="2200" b="1" dirty="0">
                <a:effectLst/>
                <a:latin typeface="Roboto" panose="02000000000000000000" pitchFamily="2" charset="0"/>
                <a:ea typeface="Roboto" panose="02000000000000000000" pitchFamily="2" charset="0"/>
                <a:cs typeface="Times New Roman" panose="02020603050405020304" pitchFamily="18" charset="0"/>
              </a:rPr>
              <a:t>Economic growth</a:t>
            </a:r>
            <a:r>
              <a:rPr lang="en-US" sz="2200" b="1" dirty="0">
                <a:effectLst/>
                <a:latin typeface="Roboto" panose="02000000000000000000" pitchFamily="2" charset="0"/>
                <a:ea typeface="Roboto" panose="02000000000000000000" pitchFamily="2" charset="0"/>
                <a:cs typeface="Times New Roman" panose="02020603050405020304" pitchFamily="18" charset="0"/>
              </a:rPr>
              <a:t>:</a:t>
            </a:r>
            <a:r>
              <a:rPr lang="en-PK" sz="2200" dirty="0">
                <a:effectLst/>
                <a:latin typeface="Roboto" panose="02000000000000000000" pitchFamily="2" charset="0"/>
                <a:ea typeface="Roboto" panose="02000000000000000000" pitchFamily="2" charset="0"/>
                <a:cs typeface="Times New Roman" panose="02020603050405020304" pitchFamily="18" charset="0"/>
              </a:rPr>
              <a:t>The private sector businesses contribute much towards the </a:t>
            </a:r>
            <a:r>
              <a:rPr lang="en-US" sz="2200" dirty="0">
                <a:effectLst/>
                <a:latin typeface="Roboto" panose="02000000000000000000" pitchFamily="2" charset="0"/>
                <a:ea typeface="Roboto" panose="02000000000000000000" pitchFamily="2" charset="0"/>
                <a:cs typeface="Times New Roman" panose="02020603050405020304" pitchFamily="18" charset="0"/>
              </a:rPr>
              <a:t>GDP </a:t>
            </a:r>
            <a:r>
              <a:rPr lang="en-PK" sz="2200" dirty="0">
                <a:effectLst/>
                <a:latin typeface="Roboto" panose="02000000000000000000" pitchFamily="2" charset="0"/>
                <a:ea typeface="Roboto" panose="02000000000000000000" pitchFamily="2" charset="0"/>
                <a:cs typeface="Times New Roman" panose="02020603050405020304" pitchFamily="18" charset="0"/>
              </a:rPr>
              <a:t>of the country. They help support the sector through revenues and wealth generation and, therefore, help build manufacturing, technology, and retail industries. </a:t>
            </a:r>
            <a:endParaRPr lang="en-US" sz="2200" dirty="0">
              <a:effectLst/>
              <a:latin typeface="Roboto" panose="02000000000000000000" pitchFamily="2" charset="0"/>
              <a:ea typeface="Roboto" panose="02000000000000000000" pitchFamily="2" charset="0"/>
              <a:cs typeface="Times New Roman" panose="02020603050405020304" pitchFamily="18" charset="0"/>
            </a:endParaRPr>
          </a:p>
          <a:p>
            <a:pPr>
              <a:lnSpc>
                <a:spcPct val="107000"/>
              </a:lnSpc>
              <a:spcAft>
                <a:spcPts val="800"/>
              </a:spcAft>
            </a:pPr>
            <a:r>
              <a:rPr lang="en-PK" sz="2200" b="1" dirty="0">
                <a:effectLst/>
                <a:latin typeface="Roboto" panose="02000000000000000000" pitchFamily="2" charset="0"/>
                <a:ea typeface="Roboto" panose="02000000000000000000" pitchFamily="2" charset="0"/>
                <a:cs typeface="Times New Roman" panose="02020603050405020304" pitchFamily="18" charset="0"/>
              </a:rPr>
              <a:t>Job creation</a:t>
            </a:r>
            <a:r>
              <a:rPr lang="en-US" sz="2200" b="1" dirty="0">
                <a:effectLst/>
                <a:latin typeface="Roboto" panose="02000000000000000000" pitchFamily="2" charset="0"/>
                <a:ea typeface="Roboto" panose="02000000000000000000" pitchFamily="2" charset="0"/>
                <a:cs typeface="Times New Roman" panose="02020603050405020304" pitchFamily="18" charset="0"/>
              </a:rPr>
              <a:t>:</a:t>
            </a:r>
            <a:r>
              <a:rPr lang="en-PK" sz="2200" dirty="0">
                <a:effectLst/>
                <a:latin typeface="Roboto" panose="02000000000000000000" pitchFamily="2" charset="0"/>
                <a:ea typeface="Roboto" panose="02000000000000000000" pitchFamily="2" charset="0"/>
              </a:rPr>
              <a:t>The private sector is the most significant source of employment in the world. It generates millions of jobs and skills across different sectors that help reduce unemployment and improve living standards. </a:t>
            </a:r>
            <a:endParaRPr lang="en-PK" sz="2200" dirty="0">
              <a:effectLst/>
              <a:latin typeface="Roboto" panose="02000000000000000000" pitchFamily="2" charset="0"/>
              <a:ea typeface="Roboto" panose="02000000000000000000" pitchFamily="2" charset="0"/>
              <a:cs typeface="Times New Roman" panose="02020603050405020304" pitchFamily="18" charset="0"/>
            </a:endParaRPr>
          </a:p>
          <a:p>
            <a:endParaRPr lang="en-PK" dirty="0"/>
          </a:p>
        </p:txBody>
      </p:sp>
      <p:sp>
        <p:nvSpPr>
          <p:cNvPr id="4" name="Content Placeholder 3">
            <a:extLst>
              <a:ext uri="{FF2B5EF4-FFF2-40B4-BE49-F238E27FC236}">
                <a16:creationId xmlns:a16="http://schemas.microsoft.com/office/drawing/2014/main" id="{48F79EAB-877B-4781-A508-A36831FBA177}"/>
              </a:ext>
            </a:extLst>
          </p:cNvPr>
          <p:cNvSpPr>
            <a:spLocks noGrp="1"/>
          </p:cNvSpPr>
          <p:nvPr>
            <p:ph sz="half" idx="2"/>
          </p:nvPr>
        </p:nvSpPr>
        <p:spPr>
          <a:xfrm>
            <a:off x="6413771" y="2017343"/>
            <a:ext cx="4645152" cy="4369602"/>
          </a:xfrm>
        </p:spPr>
        <p:txBody>
          <a:bodyPr>
            <a:normAutofit fontScale="92500" lnSpcReduction="20000"/>
          </a:bodyPr>
          <a:lstStyle/>
          <a:p>
            <a:pPr>
              <a:lnSpc>
                <a:spcPct val="107000"/>
              </a:lnSpc>
              <a:spcAft>
                <a:spcPts val="800"/>
              </a:spcAft>
            </a:pPr>
            <a:r>
              <a:rPr lang="en-PK" b="1" dirty="0">
                <a:effectLst/>
                <a:latin typeface="Roboto" panose="02000000000000000000" pitchFamily="2" charset="0"/>
                <a:ea typeface="Roboto" panose="02000000000000000000" pitchFamily="2" charset="0"/>
                <a:cs typeface="Times New Roman" panose="02020603050405020304" pitchFamily="18" charset="0"/>
              </a:rPr>
              <a:t>Promoting Innovation</a:t>
            </a:r>
            <a:r>
              <a:rPr lang="en-US" b="1" dirty="0">
                <a:effectLst/>
                <a:latin typeface="Roboto" panose="02000000000000000000" pitchFamily="2" charset="0"/>
                <a:ea typeface="Roboto" panose="02000000000000000000" pitchFamily="2" charset="0"/>
                <a:cs typeface="Times New Roman" panose="02020603050405020304" pitchFamily="18" charset="0"/>
              </a:rPr>
              <a:t>:</a:t>
            </a:r>
            <a:r>
              <a:rPr lang="en-PK" dirty="0">
                <a:effectLst/>
                <a:latin typeface="Roboto" panose="02000000000000000000" pitchFamily="2" charset="0"/>
                <a:ea typeface="Roboto" panose="02000000000000000000" pitchFamily="2" charset="0"/>
              </a:rPr>
              <a:t>Private enterprises are at the forefront of innovation and research. They invent new technologies, find ways to operate better and introduce revolutionary products. For example, Tesla and Google have revolutionized their fields through innovation for the good of society</a:t>
            </a:r>
            <a:endParaRPr lang="en-US" dirty="0">
              <a:effectLst/>
              <a:latin typeface="Roboto" panose="02000000000000000000" pitchFamily="2" charset="0"/>
              <a:ea typeface="Roboto" panose="02000000000000000000" pitchFamily="2" charset="0"/>
            </a:endParaRPr>
          </a:p>
          <a:p>
            <a:pPr>
              <a:lnSpc>
                <a:spcPct val="107000"/>
              </a:lnSpc>
              <a:spcAft>
                <a:spcPts val="800"/>
              </a:spcAft>
            </a:pPr>
            <a:r>
              <a:rPr lang="en-PK" b="1" dirty="0">
                <a:effectLst/>
                <a:latin typeface="Roboto" panose="02000000000000000000" pitchFamily="2" charset="0"/>
                <a:ea typeface="Roboto" panose="02000000000000000000" pitchFamily="2" charset="0"/>
                <a:cs typeface="Times New Roman" panose="02020603050405020304" pitchFamily="18" charset="0"/>
              </a:rPr>
              <a:t>Investment in Infrastructure</a:t>
            </a:r>
            <a:r>
              <a:rPr lang="en-US" b="1" dirty="0">
                <a:effectLst/>
                <a:latin typeface="Roboto" panose="02000000000000000000" pitchFamily="2" charset="0"/>
                <a:ea typeface="Roboto" panose="02000000000000000000" pitchFamily="2" charset="0"/>
                <a:cs typeface="Times New Roman" panose="02020603050405020304" pitchFamily="18" charset="0"/>
              </a:rPr>
              <a:t>:</a:t>
            </a:r>
            <a:r>
              <a:rPr lang="en-PK" dirty="0">
                <a:effectLst/>
                <a:latin typeface="Roboto" panose="02000000000000000000" pitchFamily="2" charset="0"/>
                <a:ea typeface="Roboto" panose="02000000000000000000" pitchFamily="2" charset="0"/>
              </a:rPr>
              <a:t>The private sectors invest in factories, transportation, and communication</a:t>
            </a:r>
            <a:endParaRPr lang="en-PK"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0204140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12985-16FB-4B99-90C6-91AE2EC9B020}"/>
              </a:ext>
            </a:extLst>
          </p:cNvPr>
          <p:cNvSpPr>
            <a:spLocks noGrp="1"/>
          </p:cNvSpPr>
          <p:nvPr>
            <p:ph type="title"/>
          </p:nvPr>
        </p:nvSpPr>
        <p:spPr/>
        <p:txBody>
          <a:bodyPr>
            <a:noAutofit/>
          </a:bodyPr>
          <a:lstStyle/>
          <a:p>
            <a:pPr algn="ctr"/>
            <a:r>
              <a:rPr kumimoji="0" lang="en-US" sz="3600" b="1" i="0" u="none" strike="noStrike" kern="1200" cap="all" spc="0" normalizeH="0" baseline="0" noProof="0" dirty="0">
                <a:ln>
                  <a:noFill/>
                </a:ln>
                <a:solidFill>
                  <a:prstClr val="black"/>
                </a:solidFill>
                <a:effectLst/>
                <a:uLnTx/>
                <a:uFillTx/>
                <a:latin typeface="Gill Sans MT" panose="020B0502020104020203"/>
                <a:ea typeface="+mj-ea"/>
                <a:cs typeface="+mj-cs"/>
              </a:rPr>
              <a:t>Functions OF PRIVATE ENTERPRISE SYSTEM</a:t>
            </a:r>
            <a:endParaRPr lang="en-PK" sz="3600" dirty="0"/>
          </a:p>
        </p:txBody>
      </p:sp>
      <p:sp>
        <p:nvSpPr>
          <p:cNvPr id="3" name="Content Placeholder 2">
            <a:extLst>
              <a:ext uri="{FF2B5EF4-FFF2-40B4-BE49-F238E27FC236}">
                <a16:creationId xmlns:a16="http://schemas.microsoft.com/office/drawing/2014/main" id="{64948B9C-ADB9-4357-87E9-11D53E4DB4BE}"/>
              </a:ext>
            </a:extLst>
          </p:cNvPr>
          <p:cNvSpPr>
            <a:spLocks noGrp="1"/>
          </p:cNvSpPr>
          <p:nvPr>
            <p:ph sz="half" idx="1"/>
          </p:nvPr>
        </p:nvSpPr>
        <p:spPr>
          <a:xfrm>
            <a:off x="1447331" y="2010878"/>
            <a:ext cx="4645152" cy="4306795"/>
          </a:xfrm>
        </p:spPr>
        <p:txBody>
          <a:bodyPr>
            <a:normAutofit fontScale="70000" lnSpcReduction="20000"/>
          </a:bodyPr>
          <a:lstStyle/>
          <a:p>
            <a:pPr>
              <a:lnSpc>
                <a:spcPct val="107000"/>
              </a:lnSpc>
              <a:spcAft>
                <a:spcPts val="800"/>
              </a:spcAft>
            </a:pPr>
            <a:r>
              <a:rPr lang="en-PK" sz="2400" b="1" dirty="0">
                <a:effectLst/>
                <a:latin typeface="Roboto" panose="02000000000000000000" pitchFamily="2" charset="0"/>
                <a:ea typeface="Roboto" panose="02000000000000000000" pitchFamily="2" charset="0"/>
                <a:cs typeface="Times New Roman" panose="02020603050405020304" pitchFamily="18" charset="0"/>
              </a:rPr>
              <a:t>Profit Maximization</a:t>
            </a:r>
            <a:r>
              <a:rPr lang="en-US" sz="2400" b="1" dirty="0">
                <a:latin typeface="Roboto" panose="02000000000000000000" pitchFamily="2" charset="0"/>
                <a:ea typeface="Roboto" panose="02000000000000000000" pitchFamily="2" charset="0"/>
                <a:cs typeface="Times New Roman" panose="02020603050405020304" pitchFamily="18" charset="0"/>
              </a:rPr>
              <a:t>: </a:t>
            </a:r>
            <a:r>
              <a:rPr lang="en-PK" sz="2400" dirty="0">
                <a:effectLst/>
                <a:latin typeface="Roboto" panose="02000000000000000000" pitchFamily="2" charset="0"/>
                <a:ea typeface="Roboto" panose="02000000000000000000" pitchFamily="2" charset="0"/>
                <a:cs typeface="Times New Roman" panose="02020603050405020304" pitchFamily="18" charset="0"/>
              </a:rPr>
              <a:t>Private enterprise companies are mainly established with the objective of profitability. Business profitability can be achieved through efficient use of resources, cost management, and value creation for customers. Profitability will ensure the survival and growth of private enterprises.</a:t>
            </a:r>
          </a:p>
          <a:p>
            <a:pPr>
              <a:lnSpc>
                <a:spcPct val="107000"/>
              </a:lnSpc>
              <a:spcAft>
                <a:spcPts val="800"/>
              </a:spcAft>
            </a:pPr>
            <a:r>
              <a:rPr lang="en-PK" sz="2400" b="1" dirty="0">
                <a:effectLst/>
                <a:latin typeface="Roboto" panose="02000000000000000000" pitchFamily="2" charset="0"/>
                <a:ea typeface="Roboto" panose="02000000000000000000" pitchFamily="2" charset="0"/>
                <a:cs typeface="Times New Roman" panose="02020603050405020304" pitchFamily="18" charset="0"/>
              </a:rPr>
              <a:t>Consumer Satisfaction</a:t>
            </a:r>
            <a:r>
              <a:rPr lang="en-US" sz="2400" b="1" dirty="0">
                <a:effectLst/>
                <a:latin typeface="Roboto" panose="02000000000000000000" pitchFamily="2" charset="0"/>
                <a:ea typeface="Roboto" panose="02000000000000000000" pitchFamily="2" charset="0"/>
                <a:cs typeface="Times New Roman" panose="02020603050405020304" pitchFamily="18" charset="0"/>
              </a:rPr>
              <a:t>:</a:t>
            </a:r>
            <a:r>
              <a:rPr lang="en-PK" sz="2400" dirty="0">
                <a:effectLst/>
                <a:latin typeface="Roboto" panose="02000000000000000000" pitchFamily="2" charset="0"/>
                <a:ea typeface="Roboto" panose="02000000000000000000" pitchFamily="2" charset="0"/>
                <a:cs typeface="Times New Roman" panose="02020603050405020304" pitchFamily="18" charset="0"/>
              </a:rPr>
              <a:t>Private sectors rely on customer satisfaction to survive in the market. Companies establish brand loyalty by satisfying customers’ needs, offering different products, and upholding the highest standards.</a:t>
            </a:r>
          </a:p>
          <a:p>
            <a:endParaRPr lang="en-PK" dirty="0"/>
          </a:p>
        </p:txBody>
      </p:sp>
      <p:sp>
        <p:nvSpPr>
          <p:cNvPr id="4" name="Content Placeholder 3">
            <a:extLst>
              <a:ext uri="{FF2B5EF4-FFF2-40B4-BE49-F238E27FC236}">
                <a16:creationId xmlns:a16="http://schemas.microsoft.com/office/drawing/2014/main" id="{DEA5990B-BCFF-4D52-9D8A-79ADCBFEFFC3}"/>
              </a:ext>
            </a:extLst>
          </p:cNvPr>
          <p:cNvSpPr>
            <a:spLocks noGrp="1"/>
          </p:cNvSpPr>
          <p:nvPr>
            <p:ph sz="half" idx="2"/>
          </p:nvPr>
        </p:nvSpPr>
        <p:spPr>
          <a:xfrm>
            <a:off x="6413771" y="2017343"/>
            <a:ext cx="4645152" cy="4306794"/>
          </a:xfrm>
        </p:spPr>
        <p:txBody>
          <a:bodyPr>
            <a:normAutofit fontScale="70000" lnSpcReduction="20000"/>
          </a:bodyPr>
          <a:lstStyle/>
          <a:p>
            <a:pPr>
              <a:lnSpc>
                <a:spcPct val="107000"/>
              </a:lnSpc>
              <a:spcAft>
                <a:spcPts val="800"/>
              </a:spcAft>
            </a:pPr>
            <a:r>
              <a:rPr lang="en-PK" sz="2600" b="1" dirty="0">
                <a:effectLst/>
                <a:latin typeface="Roboto" panose="02000000000000000000" pitchFamily="2" charset="0"/>
                <a:ea typeface="Roboto" panose="02000000000000000000" pitchFamily="2" charset="0"/>
                <a:cs typeface="Times New Roman" panose="02020603050405020304" pitchFamily="18" charset="0"/>
              </a:rPr>
              <a:t>Competition and Innovation</a:t>
            </a:r>
            <a:r>
              <a:rPr lang="en-US" sz="2600" b="1" dirty="0">
                <a:latin typeface="Roboto" panose="02000000000000000000" pitchFamily="2" charset="0"/>
                <a:ea typeface="Roboto" panose="02000000000000000000" pitchFamily="2" charset="0"/>
                <a:cs typeface="Times New Roman" panose="02020603050405020304" pitchFamily="18" charset="0"/>
              </a:rPr>
              <a:t>: </a:t>
            </a:r>
            <a:r>
              <a:rPr lang="en-PK" sz="2600" dirty="0">
                <a:effectLst/>
                <a:latin typeface="Roboto" panose="02000000000000000000" pitchFamily="2" charset="0"/>
                <a:ea typeface="Roboto" panose="02000000000000000000" pitchFamily="2" charset="0"/>
                <a:cs typeface="Times New Roman" panose="02020603050405020304" pitchFamily="18" charset="0"/>
              </a:rPr>
              <a:t>Competition is what the private sector lives by. Companies are forced to innovate because of competition. They invest in new technologies, expand their product lines, and increase efficiency to remain ahead in the market.</a:t>
            </a:r>
          </a:p>
          <a:p>
            <a:pPr>
              <a:lnSpc>
                <a:spcPct val="107000"/>
              </a:lnSpc>
              <a:spcAft>
                <a:spcPts val="800"/>
              </a:spcAft>
            </a:pPr>
            <a:r>
              <a:rPr lang="en-PK" sz="2600" b="1" dirty="0">
                <a:effectLst/>
                <a:latin typeface="Roboto" panose="02000000000000000000" pitchFamily="2" charset="0"/>
                <a:ea typeface="Roboto" panose="02000000000000000000" pitchFamily="2" charset="0"/>
                <a:cs typeface="Times New Roman" panose="02020603050405020304" pitchFamily="18" charset="0"/>
              </a:rPr>
              <a:t>Distribution of Wealth</a:t>
            </a:r>
            <a:r>
              <a:rPr lang="en-US" sz="2600" b="1" dirty="0">
                <a:latin typeface="Roboto" panose="02000000000000000000" pitchFamily="2" charset="0"/>
                <a:ea typeface="Roboto" panose="02000000000000000000" pitchFamily="2" charset="0"/>
                <a:cs typeface="Times New Roman" panose="02020603050405020304" pitchFamily="18" charset="0"/>
              </a:rPr>
              <a:t>: </a:t>
            </a:r>
            <a:r>
              <a:rPr lang="en-PK" sz="2600" dirty="0">
                <a:effectLst/>
                <a:latin typeface="Roboto" panose="02000000000000000000" pitchFamily="2" charset="0"/>
                <a:ea typeface="Roboto" panose="02000000000000000000" pitchFamily="2" charset="0"/>
                <a:cs typeface="Times New Roman" panose="02020603050405020304" pitchFamily="18" charset="0"/>
              </a:rPr>
              <a:t>This sector distributes wealth because it offers people employment and pays its employees, shareholders, and investors. Consequently, it will reduce economic disparities and facilitate monetary inclusion. </a:t>
            </a:r>
          </a:p>
          <a:p>
            <a:endParaRPr lang="en-PK" dirty="0"/>
          </a:p>
        </p:txBody>
      </p:sp>
    </p:spTree>
    <p:extLst>
      <p:ext uri="{BB962C8B-B14F-4D97-AF65-F5344CB8AC3E}">
        <p14:creationId xmlns:p14="http://schemas.microsoft.com/office/powerpoint/2010/main" val="430088807"/>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270</TotalTime>
  <Words>1591</Words>
  <Application>Microsoft Office PowerPoint</Application>
  <PresentationFormat>Widescreen</PresentationFormat>
  <Paragraphs>165</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Gill Sans MT</vt:lpstr>
      <vt:lpstr>Roboto</vt:lpstr>
      <vt:lpstr>Gallery</vt:lpstr>
      <vt:lpstr>What Is Business</vt:lpstr>
      <vt:lpstr>What is Business</vt:lpstr>
      <vt:lpstr>What Is Business?</vt:lpstr>
      <vt:lpstr>What Is Business?</vt:lpstr>
      <vt:lpstr>TYPES OF BUSINESS ACTIVITIES</vt:lpstr>
      <vt:lpstr>Significant Importance OF BUSINESS</vt:lpstr>
      <vt:lpstr>Significant Importance OF BUSINESS</vt:lpstr>
      <vt:lpstr>BUSINESS GOALS AND OBJECTIVES </vt:lpstr>
      <vt:lpstr>BUSINESS GOALS AND OBJECTIVES</vt:lpstr>
      <vt:lpstr>Business Risks </vt:lpstr>
      <vt:lpstr>BUSINESS RISKS</vt:lpstr>
      <vt:lpstr>Private Enterprise</vt:lpstr>
      <vt:lpstr>Functions of Private Enterprise System</vt:lpstr>
      <vt:lpstr>Types of Businesses in the Private Sector </vt:lpstr>
      <vt:lpstr>Types of Businesses in the Private Sector</vt:lpstr>
      <vt:lpstr>Types of Businesses in the Private Sector</vt:lpstr>
      <vt:lpstr>Functions OF PRIVATE ENTERPRISE SYSTEM</vt:lpstr>
      <vt:lpstr>Functions OF PRIVATE ENTERPRISE SYSTEM</vt:lpstr>
      <vt:lpstr>Functions OF PRIVATE ENTERPRISE SYSTEM</vt:lpstr>
      <vt:lpstr>CLASS ACTIVITY</vt:lpstr>
      <vt:lpstr>PowerPoint Presentation</vt:lpstr>
      <vt:lpstr>Functions OF PRIVATE ENTERPRISE SYSTEM</vt:lpstr>
      <vt:lpstr>Functions OF PRIVATE ENTERPRISE SYSTEM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Business</dc:title>
  <dc:creator>Faiza Khan Burki</dc:creator>
  <cp:lastModifiedBy>Faiza Khan Burki</cp:lastModifiedBy>
  <cp:revision>20</cp:revision>
  <dcterms:created xsi:type="dcterms:W3CDTF">2025-09-30T09:59:33Z</dcterms:created>
  <dcterms:modified xsi:type="dcterms:W3CDTF">2025-10-06T08:21:05Z</dcterms:modified>
</cp:coreProperties>
</file>