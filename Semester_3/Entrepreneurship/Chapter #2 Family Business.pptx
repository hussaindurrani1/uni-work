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81813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za Khan Burki" initials="FKB" lastIdx="2" clrIdx="0">
    <p:extLst>
      <p:ext uri="{19B8F6BF-5375-455C-9EA6-DF929625EA0E}">
        <p15:presenceInfo xmlns:p15="http://schemas.microsoft.com/office/powerpoint/2012/main" userId="S-1-5-21-3155247286-2565083178-1779782864-1436797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0T11:27:15.212" idx="1">
    <p:pos x="4224" y="3080"/>
    <p:text/>
    <p:extLst>
      <p:ext uri="{C676402C-5697-4E1C-873F-D02D1690AC5C}">
        <p15:threadingInfo xmlns:p15="http://schemas.microsoft.com/office/powerpoint/2012/main" timeZoneBias="-300"/>
      </p:ext>
    </p:extLst>
  </p:cm>
  <p:cm authorId="1" dt="2025-10-20T11:27:20.097" idx="2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3413DE-126E-40D0-BC45-0282FAEBD567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5C006DA-C08E-4188-87DA-D53BE4E0DF22}">
      <dgm:prSet phldrT="[Text]"/>
      <dgm:spPr/>
      <dgm:t>
        <a:bodyPr/>
        <a:lstStyle/>
        <a:p>
          <a:r>
            <a:rPr lang="en-US" b="1" i="0" dirty="0"/>
            <a:t>Mian Muhammad Yahya (1951–1969)</a:t>
          </a:r>
          <a:endParaRPr lang="en-PK" dirty="0"/>
        </a:p>
      </dgm:t>
    </dgm:pt>
    <dgm:pt modelId="{5CA1A18B-628A-447E-BD44-9B6C9F33BE70}" type="parTrans" cxnId="{7B63F242-295A-4314-8B75-5EEF21C19126}">
      <dgm:prSet/>
      <dgm:spPr/>
      <dgm:t>
        <a:bodyPr/>
        <a:lstStyle/>
        <a:p>
          <a:endParaRPr lang="en-PK"/>
        </a:p>
      </dgm:t>
    </dgm:pt>
    <dgm:pt modelId="{A349AA15-0AD9-4F52-88AC-17B8D6464D34}" type="sibTrans" cxnId="{7B63F242-295A-4314-8B75-5EEF21C19126}">
      <dgm:prSet/>
      <dgm:spPr/>
      <dgm:t>
        <a:bodyPr/>
        <a:lstStyle/>
        <a:p>
          <a:r>
            <a:rPr lang="en-US" dirty="0"/>
            <a:t>Founder</a:t>
          </a:r>
          <a:endParaRPr lang="en-PK" dirty="0"/>
        </a:p>
      </dgm:t>
    </dgm:pt>
    <dgm:pt modelId="{8DD348D2-C90F-4B18-B890-ECE664478689}" type="asst">
      <dgm:prSet phldrT="[Text]"/>
      <dgm:spPr/>
      <dgm:t>
        <a:bodyPr/>
        <a:lstStyle/>
        <a:p>
          <a:r>
            <a:rPr lang="sv-SE" b="1" i="0" dirty="0"/>
            <a:t>Mian Muhammad Mansha (1969–present)</a:t>
          </a:r>
          <a:endParaRPr lang="en-PK" dirty="0"/>
        </a:p>
      </dgm:t>
    </dgm:pt>
    <dgm:pt modelId="{15A4E6E6-F1D0-4284-8C41-A34F4DF14C88}" type="parTrans" cxnId="{EB4527CF-C80C-4531-A8F3-1E6D855133D3}">
      <dgm:prSet/>
      <dgm:spPr/>
      <dgm:t>
        <a:bodyPr/>
        <a:lstStyle/>
        <a:p>
          <a:endParaRPr lang="en-PK"/>
        </a:p>
      </dgm:t>
    </dgm:pt>
    <dgm:pt modelId="{219B59A8-B3E0-427A-AC1E-930265488F95}" type="sibTrans" cxnId="{EB4527CF-C80C-4531-A8F3-1E6D855133D3}">
      <dgm:prSet/>
      <dgm:spPr/>
      <dgm:t>
        <a:bodyPr/>
        <a:lstStyle/>
        <a:p>
          <a:r>
            <a:rPr lang="en-US" dirty="0"/>
            <a:t>Chairman</a:t>
          </a:r>
          <a:endParaRPr lang="en-PK" dirty="0"/>
        </a:p>
      </dgm:t>
    </dgm:pt>
    <dgm:pt modelId="{55F6C073-0FC4-4BE1-B305-621D8F869ACA}">
      <dgm:prSet phldrT="[Text]"/>
      <dgm:spPr/>
      <dgm:t>
        <a:bodyPr/>
        <a:lstStyle/>
        <a:p>
          <a:r>
            <a:rPr lang="en-US" b="0" i="0" dirty="0"/>
            <a:t>Mian </a:t>
          </a:r>
          <a:r>
            <a:rPr lang="en-US" b="0" i="0" dirty="0" err="1"/>
            <a:t>Umer</a:t>
          </a:r>
          <a:r>
            <a:rPr lang="en-US" b="0" i="0" dirty="0"/>
            <a:t> </a:t>
          </a:r>
          <a:r>
            <a:rPr lang="en-US" b="0" i="0" dirty="0" err="1"/>
            <a:t>Mansha</a:t>
          </a:r>
          <a:r>
            <a:rPr lang="en-US" b="0" i="0" dirty="0"/>
            <a:t>(Son)</a:t>
          </a:r>
          <a:endParaRPr lang="en-PK" dirty="0"/>
        </a:p>
      </dgm:t>
    </dgm:pt>
    <dgm:pt modelId="{4CB3CB2C-4845-4361-A0CB-BD5ECDA29406}" type="parTrans" cxnId="{D4877253-909D-49EF-A7E4-CCE3D7994F9C}">
      <dgm:prSet/>
      <dgm:spPr/>
      <dgm:t>
        <a:bodyPr/>
        <a:lstStyle/>
        <a:p>
          <a:endParaRPr lang="en-PK"/>
        </a:p>
      </dgm:t>
    </dgm:pt>
    <dgm:pt modelId="{3439F3EC-3EAF-4382-88F3-4BBEC5BD7C66}" type="sibTrans" cxnId="{D4877253-909D-49EF-A7E4-CCE3D7994F9C}">
      <dgm:prSet/>
      <dgm:spPr/>
      <dgm:t>
        <a:bodyPr/>
        <a:lstStyle/>
        <a:p>
          <a:r>
            <a:rPr lang="en-US" dirty="0"/>
            <a:t>CEO</a:t>
          </a:r>
          <a:endParaRPr lang="en-PK" dirty="0"/>
        </a:p>
      </dgm:t>
    </dgm:pt>
    <dgm:pt modelId="{96E6A59B-8EB9-4B8E-8A01-B98D9ADAB4B5}">
      <dgm:prSet phldrT="[Text]"/>
      <dgm:spPr/>
      <dgm:t>
        <a:bodyPr/>
        <a:lstStyle/>
        <a:p>
          <a:r>
            <a:rPr lang="en-US" b="0" i="0" dirty="0"/>
            <a:t>Mian Hassan </a:t>
          </a:r>
          <a:r>
            <a:rPr lang="en-US" b="0" i="0" dirty="0" err="1"/>
            <a:t>Mansha</a:t>
          </a:r>
          <a:r>
            <a:rPr lang="en-US" b="0" i="0" dirty="0"/>
            <a:t> (Son)</a:t>
          </a:r>
          <a:endParaRPr lang="en-PK" dirty="0"/>
        </a:p>
      </dgm:t>
    </dgm:pt>
    <dgm:pt modelId="{BF165F35-134C-4F6C-B225-CAC1BBEC6D37}" type="parTrans" cxnId="{BC7C7EBA-A8F7-47D7-8BEF-B1EFB3640C29}">
      <dgm:prSet/>
      <dgm:spPr/>
      <dgm:t>
        <a:bodyPr/>
        <a:lstStyle/>
        <a:p>
          <a:endParaRPr lang="en-PK"/>
        </a:p>
      </dgm:t>
    </dgm:pt>
    <dgm:pt modelId="{E5049F85-228E-413D-9609-4E69898BAB88}" type="sibTrans" cxnId="{BC7C7EBA-A8F7-47D7-8BEF-B1EFB3640C29}">
      <dgm:prSet/>
      <dgm:spPr/>
      <dgm:t>
        <a:bodyPr/>
        <a:lstStyle/>
        <a:p>
          <a:r>
            <a:rPr lang="en-US" dirty="0"/>
            <a:t>Chairman</a:t>
          </a:r>
          <a:endParaRPr lang="en-PK" dirty="0"/>
        </a:p>
      </dgm:t>
    </dgm:pt>
    <dgm:pt modelId="{D6C490DB-4851-4346-8D05-3A516A7FD110}">
      <dgm:prSet phldrT="[Text]"/>
      <dgm:spPr/>
      <dgm:t>
        <a:bodyPr/>
        <a:lstStyle/>
        <a:p>
          <a:r>
            <a:rPr lang="en-US" dirty="0" err="1"/>
            <a:t>Mrs</a:t>
          </a:r>
          <a:r>
            <a:rPr lang="en-US" dirty="0"/>
            <a:t> Naz </a:t>
          </a:r>
          <a:r>
            <a:rPr lang="en-US" dirty="0" err="1"/>
            <a:t>Mansha</a:t>
          </a:r>
          <a:r>
            <a:rPr lang="en-US" dirty="0"/>
            <a:t> (Spouse)</a:t>
          </a:r>
          <a:endParaRPr lang="en-PK" dirty="0"/>
        </a:p>
      </dgm:t>
    </dgm:pt>
    <dgm:pt modelId="{BB89611B-930E-4D28-8425-5E4CF31250C6}" type="parTrans" cxnId="{2DC526B6-CBC3-4170-A24B-2AA8F74001FE}">
      <dgm:prSet/>
      <dgm:spPr/>
      <dgm:t>
        <a:bodyPr/>
        <a:lstStyle/>
        <a:p>
          <a:endParaRPr lang="en-PK"/>
        </a:p>
      </dgm:t>
    </dgm:pt>
    <dgm:pt modelId="{2992618D-B800-4FA7-A8F7-54A413D449E6}" type="sibTrans" cxnId="{2DC526B6-CBC3-4170-A24B-2AA8F74001FE}">
      <dgm:prSet/>
      <dgm:spPr/>
      <dgm:t>
        <a:bodyPr/>
        <a:lstStyle/>
        <a:p>
          <a:r>
            <a:rPr lang="en-US" dirty="0"/>
            <a:t>CEO Of Nishat Linen</a:t>
          </a:r>
          <a:endParaRPr lang="en-PK" dirty="0"/>
        </a:p>
      </dgm:t>
    </dgm:pt>
    <dgm:pt modelId="{CD09F0B2-4DE4-45A8-8EBB-18E3FE10DA2E}" type="pres">
      <dgm:prSet presAssocID="{9D3413DE-126E-40D0-BC45-0282FAEBD56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3408467-FD27-409F-A4B1-635B19D17F5C}" type="pres">
      <dgm:prSet presAssocID="{05C006DA-C08E-4188-87DA-D53BE4E0DF22}" presName="hierRoot1" presStyleCnt="0">
        <dgm:presLayoutVars>
          <dgm:hierBranch val="init"/>
        </dgm:presLayoutVars>
      </dgm:prSet>
      <dgm:spPr/>
    </dgm:pt>
    <dgm:pt modelId="{0D92E019-D139-4213-8027-D7243B3124EB}" type="pres">
      <dgm:prSet presAssocID="{05C006DA-C08E-4188-87DA-D53BE4E0DF22}" presName="rootComposite1" presStyleCnt="0"/>
      <dgm:spPr/>
    </dgm:pt>
    <dgm:pt modelId="{25C8D412-B9F2-4FDC-8419-1467B80083CE}" type="pres">
      <dgm:prSet presAssocID="{05C006DA-C08E-4188-87DA-D53BE4E0DF22}" presName="rootText1" presStyleLbl="node0" presStyleIdx="0" presStyleCnt="1">
        <dgm:presLayoutVars>
          <dgm:chMax/>
          <dgm:chPref val="3"/>
        </dgm:presLayoutVars>
      </dgm:prSet>
      <dgm:spPr/>
    </dgm:pt>
    <dgm:pt modelId="{1993C3D5-66F8-416E-8D77-D1BF11633810}" type="pres">
      <dgm:prSet presAssocID="{05C006DA-C08E-4188-87DA-D53BE4E0DF22}" presName="titleText1" presStyleLbl="fgAcc0" presStyleIdx="0" presStyleCnt="1" custScaleY="84823" custLinFactNeighborY="20117">
        <dgm:presLayoutVars>
          <dgm:chMax val="0"/>
          <dgm:chPref val="0"/>
        </dgm:presLayoutVars>
      </dgm:prSet>
      <dgm:spPr/>
    </dgm:pt>
    <dgm:pt modelId="{F4027E83-BB71-417B-B0F0-995989CC1049}" type="pres">
      <dgm:prSet presAssocID="{05C006DA-C08E-4188-87DA-D53BE4E0DF22}" presName="rootConnector1" presStyleLbl="node1" presStyleIdx="0" presStyleCnt="3"/>
      <dgm:spPr/>
    </dgm:pt>
    <dgm:pt modelId="{620AC6C3-4927-4AD1-AD22-B2F76976CE9E}" type="pres">
      <dgm:prSet presAssocID="{05C006DA-C08E-4188-87DA-D53BE4E0DF22}" presName="hierChild2" presStyleCnt="0"/>
      <dgm:spPr/>
    </dgm:pt>
    <dgm:pt modelId="{A26B5534-52FC-4185-ADCA-AF5D615A9DC3}" type="pres">
      <dgm:prSet presAssocID="{4CB3CB2C-4845-4361-A0CB-BD5ECDA29406}" presName="Name37" presStyleLbl="parChTrans1D2" presStyleIdx="0" presStyleCnt="4"/>
      <dgm:spPr/>
    </dgm:pt>
    <dgm:pt modelId="{937A0DF7-470E-4050-9F50-DC5B26D2727C}" type="pres">
      <dgm:prSet presAssocID="{55F6C073-0FC4-4BE1-B305-621D8F869ACA}" presName="hierRoot2" presStyleCnt="0">
        <dgm:presLayoutVars>
          <dgm:hierBranch val="init"/>
        </dgm:presLayoutVars>
      </dgm:prSet>
      <dgm:spPr/>
    </dgm:pt>
    <dgm:pt modelId="{2FB26548-8A06-4881-8B5C-AC82B3C9EAD4}" type="pres">
      <dgm:prSet presAssocID="{55F6C073-0FC4-4BE1-B305-621D8F869ACA}" presName="rootComposite" presStyleCnt="0"/>
      <dgm:spPr/>
    </dgm:pt>
    <dgm:pt modelId="{89838B2F-5CC9-40C6-AABF-AD6CEF1A1CDD}" type="pres">
      <dgm:prSet presAssocID="{55F6C073-0FC4-4BE1-B305-621D8F869ACA}" presName="rootText" presStyleLbl="node1" presStyleIdx="0" presStyleCnt="3">
        <dgm:presLayoutVars>
          <dgm:chMax/>
          <dgm:chPref val="3"/>
        </dgm:presLayoutVars>
      </dgm:prSet>
      <dgm:spPr/>
    </dgm:pt>
    <dgm:pt modelId="{035A1211-EC2A-41E0-9977-F782973BE68B}" type="pres">
      <dgm:prSet presAssocID="{55F6C073-0FC4-4BE1-B305-621D8F869ACA}" presName="titleText2" presStyleLbl="fgAcc1" presStyleIdx="0" presStyleCnt="3">
        <dgm:presLayoutVars>
          <dgm:chMax val="0"/>
          <dgm:chPref val="0"/>
        </dgm:presLayoutVars>
      </dgm:prSet>
      <dgm:spPr/>
    </dgm:pt>
    <dgm:pt modelId="{92937A62-4D0D-40D4-9B25-5A61B77F1E57}" type="pres">
      <dgm:prSet presAssocID="{55F6C073-0FC4-4BE1-B305-621D8F869ACA}" presName="rootConnector" presStyleLbl="node2" presStyleIdx="0" presStyleCnt="0"/>
      <dgm:spPr/>
    </dgm:pt>
    <dgm:pt modelId="{485AD093-E4A5-4A9A-BAF0-573B6D01B828}" type="pres">
      <dgm:prSet presAssocID="{55F6C073-0FC4-4BE1-B305-621D8F869ACA}" presName="hierChild4" presStyleCnt="0"/>
      <dgm:spPr/>
    </dgm:pt>
    <dgm:pt modelId="{EFA86F35-CB7E-46DE-A10A-F0DAE9434D0F}" type="pres">
      <dgm:prSet presAssocID="{55F6C073-0FC4-4BE1-B305-621D8F869ACA}" presName="hierChild5" presStyleCnt="0"/>
      <dgm:spPr/>
    </dgm:pt>
    <dgm:pt modelId="{D19493E1-90FF-4651-AF2C-8A713DD44E76}" type="pres">
      <dgm:prSet presAssocID="{BF165F35-134C-4F6C-B225-CAC1BBEC6D37}" presName="Name37" presStyleLbl="parChTrans1D2" presStyleIdx="1" presStyleCnt="4"/>
      <dgm:spPr/>
    </dgm:pt>
    <dgm:pt modelId="{C9418A86-3B8C-463C-83BF-0074EBA2F2E6}" type="pres">
      <dgm:prSet presAssocID="{96E6A59B-8EB9-4B8E-8A01-B98D9ADAB4B5}" presName="hierRoot2" presStyleCnt="0">
        <dgm:presLayoutVars>
          <dgm:hierBranch val="init"/>
        </dgm:presLayoutVars>
      </dgm:prSet>
      <dgm:spPr/>
    </dgm:pt>
    <dgm:pt modelId="{CEE9FCAA-4E49-417C-9407-F1CF707DE08E}" type="pres">
      <dgm:prSet presAssocID="{96E6A59B-8EB9-4B8E-8A01-B98D9ADAB4B5}" presName="rootComposite" presStyleCnt="0"/>
      <dgm:spPr/>
    </dgm:pt>
    <dgm:pt modelId="{2B9526A2-8A14-42CB-8349-4A4ECAA48135}" type="pres">
      <dgm:prSet presAssocID="{96E6A59B-8EB9-4B8E-8A01-B98D9ADAB4B5}" presName="rootText" presStyleLbl="node1" presStyleIdx="1" presStyleCnt="3">
        <dgm:presLayoutVars>
          <dgm:chMax/>
          <dgm:chPref val="3"/>
        </dgm:presLayoutVars>
      </dgm:prSet>
      <dgm:spPr/>
    </dgm:pt>
    <dgm:pt modelId="{35786323-A125-47EC-ADD7-B106D549FBB2}" type="pres">
      <dgm:prSet presAssocID="{96E6A59B-8EB9-4B8E-8A01-B98D9ADAB4B5}" presName="titleText2" presStyleLbl="fgAcc1" presStyleIdx="1" presStyleCnt="3">
        <dgm:presLayoutVars>
          <dgm:chMax val="0"/>
          <dgm:chPref val="0"/>
        </dgm:presLayoutVars>
      </dgm:prSet>
      <dgm:spPr/>
    </dgm:pt>
    <dgm:pt modelId="{9EB8CDE8-B6C2-4B4A-9396-B2FD56D17B68}" type="pres">
      <dgm:prSet presAssocID="{96E6A59B-8EB9-4B8E-8A01-B98D9ADAB4B5}" presName="rootConnector" presStyleLbl="node2" presStyleIdx="0" presStyleCnt="0"/>
      <dgm:spPr/>
    </dgm:pt>
    <dgm:pt modelId="{98916C67-EA0D-4F07-9631-C6539DC339D1}" type="pres">
      <dgm:prSet presAssocID="{96E6A59B-8EB9-4B8E-8A01-B98D9ADAB4B5}" presName="hierChild4" presStyleCnt="0"/>
      <dgm:spPr/>
    </dgm:pt>
    <dgm:pt modelId="{E9CE2E1D-077B-451A-95E0-EE6092E8347B}" type="pres">
      <dgm:prSet presAssocID="{96E6A59B-8EB9-4B8E-8A01-B98D9ADAB4B5}" presName="hierChild5" presStyleCnt="0"/>
      <dgm:spPr/>
    </dgm:pt>
    <dgm:pt modelId="{F48F48C3-9DFC-4802-B261-E1980C4BE487}" type="pres">
      <dgm:prSet presAssocID="{BB89611B-930E-4D28-8425-5E4CF31250C6}" presName="Name37" presStyleLbl="parChTrans1D2" presStyleIdx="2" presStyleCnt="4"/>
      <dgm:spPr/>
    </dgm:pt>
    <dgm:pt modelId="{36884AEB-076B-4FA9-9E0C-88C74A23513F}" type="pres">
      <dgm:prSet presAssocID="{D6C490DB-4851-4346-8D05-3A516A7FD110}" presName="hierRoot2" presStyleCnt="0">
        <dgm:presLayoutVars>
          <dgm:hierBranch val="init"/>
        </dgm:presLayoutVars>
      </dgm:prSet>
      <dgm:spPr/>
    </dgm:pt>
    <dgm:pt modelId="{A2752DA9-AC1B-4F92-9910-D76152F929CD}" type="pres">
      <dgm:prSet presAssocID="{D6C490DB-4851-4346-8D05-3A516A7FD110}" presName="rootComposite" presStyleCnt="0"/>
      <dgm:spPr/>
    </dgm:pt>
    <dgm:pt modelId="{7D79E612-1AA9-43C7-A9D6-023AE2BEA123}" type="pres">
      <dgm:prSet presAssocID="{D6C490DB-4851-4346-8D05-3A516A7FD110}" presName="rootText" presStyleLbl="node1" presStyleIdx="2" presStyleCnt="3">
        <dgm:presLayoutVars>
          <dgm:chMax/>
          <dgm:chPref val="3"/>
        </dgm:presLayoutVars>
      </dgm:prSet>
      <dgm:spPr/>
    </dgm:pt>
    <dgm:pt modelId="{B9442676-54DD-4546-84DD-C1E1F23332C7}" type="pres">
      <dgm:prSet presAssocID="{D6C490DB-4851-4346-8D05-3A516A7FD110}" presName="titleText2" presStyleLbl="fgAcc1" presStyleIdx="2" presStyleCnt="3">
        <dgm:presLayoutVars>
          <dgm:chMax val="0"/>
          <dgm:chPref val="0"/>
        </dgm:presLayoutVars>
      </dgm:prSet>
      <dgm:spPr/>
    </dgm:pt>
    <dgm:pt modelId="{A29A6F39-B994-4CA8-906B-028F751B6FE3}" type="pres">
      <dgm:prSet presAssocID="{D6C490DB-4851-4346-8D05-3A516A7FD110}" presName="rootConnector" presStyleLbl="node2" presStyleIdx="0" presStyleCnt="0"/>
      <dgm:spPr/>
    </dgm:pt>
    <dgm:pt modelId="{7E50D8AC-0855-4F33-AF52-B53E122D3F56}" type="pres">
      <dgm:prSet presAssocID="{D6C490DB-4851-4346-8D05-3A516A7FD110}" presName="hierChild4" presStyleCnt="0"/>
      <dgm:spPr/>
    </dgm:pt>
    <dgm:pt modelId="{3F3E4B86-D36D-445B-95FE-B904A9F69836}" type="pres">
      <dgm:prSet presAssocID="{D6C490DB-4851-4346-8D05-3A516A7FD110}" presName="hierChild5" presStyleCnt="0"/>
      <dgm:spPr/>
    </dgm:pt>
    <dgm:pt modelId="{2A73E338-C180-4055-A90D-E5737ABCAF27}" type="pres">
      <dgm:prSet presAssocID="{05C006DA-C08E-4188-87DA-D53BE4E0DF22}" presName="hierChild3" presStyleCnt="0"/>
      <dgm:spPr/>
    </dgm:pt>
    <dgm:pt modelId="{D71D97EA-FB52-4F9C-838B-E8FAAE787612}" type="pres">
      <dgm:prSet presAssocID="{15A4E6E6-F1D0-4284-8C41-A34F4DF14C88}" presName="Name96" presStyleLbl="parChTrans1D2" presStyleIdx="3" presStyleCnt="4"/>
      <dgm:spPr/>
    </dgm:pt>
    <dgm:pt modelId="{53B343AC-D857-4954-91AD-B8F3E835FEF2}" type="pres">
      <dgm:prSet presAssocID="{8DD348D2-C90F-4B18-B890-ECE664478689}" presName="hierRoot3" presStyleCnt="0">
        <dgm:presLayoutVars>
          <dgm:hierBranch val="init"/>
        </dgm:presLayoutVars>
      </dgm:prSet>
      <dgm:spPr/>
    </dgm:pt>
    <dgm:pt modelId="{CFDAEA58-6AEA-4FA2-BD7B-C5B30D1BC108}" type="pres">
      <dgm:prSet presAssocID="{8DD348D2-C90F-4B18-B890-ECE664478689}" presName="rootComposite3" presStyleCnt="0"/>
      <dgm:spPr/>
    </dgm:pt>
    <dgm:pt modelId="{E8FD49B9-ED2F-48B3-B219-DA46F6C6D253}" type="pres">
      <dgm:prSet presAssocID="{8DD348D2-C90F-4B18-B890-ECE664478689}" presName="rootText3" presStyleLbl="asst1" presStyleIdx="0" presStyleCnt="1">
        <dgm:presLayoutVars>
          <dgm:chPref val="3"/>
        </dgm:presLayoutVars>
      </dgm:prSet>
      <dgm:spPr/>
    </dgm:pt>
    <dgm:pt modelId="{6D4578CF-316C-4DE7-A9BB-704967DAE05E}" type="pres">
      <dgm:prSet presAssocID="{8DD348D2-C90F-4B18-B890-ECE664478689}" presName="titleText3" presStyleLbl="fgAcc2" presStyleIdx="0" presStyleCnt="1" custLinFactNeighborY="-882">
        <dgm:presLayoutVars>
          <dgm:chMax val="0"/>
          <dgm:chPref val="0"/>
        </dgm:presLayoutVars>
      </dgm:prSet>
      <dgm:spPr/>
    </dgm:pt>
    <dgm:pt modelId="{68C216F6-F43F-4D1C-94F1-E60164F4D989}" type="pres">
      <dgm:prSet presAssocID="{8DD348D2-C90F-4B18-B890-ECE664478689}" presName="rootConnector3" presStyleLbl="asst1" presStyleIdx="0" presStyleCnt="1"/>
      <dgm:spPr/>
    </dgm:pt>
    <dgm:pt modelId="{4593C1B3-2769-4019-A38C-403A4CFC1A77}" type="pres">
      <dgm:prSet presAssocID="{8DD348D2-C90F-4B18-B890-ECE664478689}" presName="hierChild6" presStyleCnt="0"/>
      <dgm:spPr/>
    </dgm:pt>
    <dgm:pt modelId="{76AB900E-7C18-4E63-85D4-61F3089663CB}" type="pres">
      <dgm:prSet presAssocID="{8DD348D2-C90F-4B18-B890-ECE664478689}" presName="hierChild7" presStyleCnt="0"/>
      <dgm:spPr/>
    </dgm:pt>
  </dgm:ptLst>
  <dgm:cxnLst>
    <dgm:cxn modelId="{D68F4F08-3533-4CCD-9D16-17948C8225C4}" type="presOf" srcId="{BB89611B-930E-4D28-8425-5E4CF31250C6}" destId="{F48F48C3-9DFC-4802-B261-E1980C4BE487}" srcOrd="0" destOrd="0" presId="urn:microsoft.com/office/officeart/2008/layout/NameandTitleOrganizationalChart"/>
    <dgm:cxn modelId="{DAE8C30C-1F5D-468A-8C38-EB971CBD23C0}" type="presOf" srcId="{A349AA15-0AD9-4F52-88AC-17B8D6464D34}" destId="{1993C3D5-66F8-416E-8D77-D1BF11633810}" srcOrd="0" destOrd="0" presId="urn:microsoft.com/office/officeart/2008/layout/NameandTitleOrganizationalChart"/>
    <dgm:cxn modelId="{4354E92A-7542-4CA5-A568-3B4DC206BDC5}" type="presOf" srcId="{8DD348D2-C90F-4B18-B890-ECE664478689}" destId="{E8FD49B9-ED2F-48B3-B219-DA46F6C6D253}" srcOrd="0" destOrd="0" presId="urn:microsoft.com/office/officeart/2008/layout/NameandTitleOrganizationalChart"/>
    <dgm:cxn modelId="{B01BD65C-FCBF-447D-9D4F-8C39A1FE77E2}" type="presOf" srcId="{9D3413DE-126E-40D0-BC45-0282FAEBD567}" destId="{CD09F0B2-4DE4-45A8-8EBB-18E3FE10DA2E}" srcOrd="0" destOrd="0" presId="urn:microsoft.com/office/officeart/2008/layout/NameandTitleOrganizationalChart"/>
    <dgm:cxn modelId="{7B63F242-295A-4314-8B75-5EEF21C19126}" srcId="{9D3413DE-126E-40D0-BC45-0282FAEBD567}" destId="{05C006DA-C08E-4188-87DA-D53BE4E0DF22}" srcOrd="0" destOrd="0" parTransId="{5CA1A18B-628A-447E-BD44-9B6C9F33BE70}" sibTransId="{A349AA15-0AD9-4F52-88AC-17B8D6464D34}"/>
    <dgm:cxn modelId="{782DC648-0CEF-4435-8A7F-3B91E2EC1DD2}" type="presOf" srcId="{2992618D-B800-4FA7-A8F7-54A413D449E6}" destId="{B9442676-54DD-4546-84DD-C1E1F23332C7}" srcOrd="0" destOrd="0" presId="urn:microsoft.com/office/officeart/2008/layout/NameandTitleOrganizationalChart"/>
    <dgm:cxn modelId="{0B17C94E-1C01-4607-97E6-BA26BDD356B5}" type="presOf" srcId="{96E6A59B-8EB9-4B8E-8A01-B98D9ADAB4B5}" destId="{2B9526A2-8A14-42CB-8349-4A4ECAA48135}" srcOrd="0" destOrd="0" presId="urn:microsoft.com/office/officeart/2008/layout/NameandTitleOrganizationalChart"/>
    <dgm:cxn modelId="{E2289570-2F51-4387-9E7A-7D1409F4444B}" type="presOf" srcId="{4CB3CB2C-4845-4361-A0CB-BD5ECDA29406}" destId="{A26B5534-52FC-4185-ADCA-AF5D615A9DC3}" srcOrd="0" destOrd="0" presId="urn:microsoft.com/office/officeart/2008/layout/NameandTitleOrganizationalChart"/>
    <dgm:cxn modelId="{D4877253-909D-49EF-A7E4-CCE3D7994F9C}" srcId="{05C006DA-C08E-4188-87DA-D53BE4E0DF22}" destId="{55F6C073-0FC4-4BE1-B305-621D8F869ACA}" srcOrd="1" destOrd="0" parTransId="{4CB3CB2C-4845-4361-A0CB-BD5ECDA29406}" sibTransId="{3439F3EC-3EAF-4382-88F3-4BBEC5BD7C66}"/>
    <dgm:cxn modelId="{D8674558-D3B9-439B-BD34-D4FB8F3B7B88}" type="presOf" srcId="{219B59A8-B3E0-427A-AC1E-930265488F95}" destId="{6D4578CF-316C-4DE7-A9BB-704967DAE05E}" srcOrd="0" destOrd="0" presId="urn:microsoft.com/office/officeart/2008/layout/NameandTitleOrganizationalChart"/>
    <dgm:cxn modelId="{991AFF86-1CE2-49DF-99E8-553941ABAE5D}" type="presOf" srcId="{05C006DA-C08E-4188-87DA-D53BE4E0DF22}" destId="{F4027E83-BB71-417B-B0F0-995989CC1049}" srcOrd="1" destOrd="0" presId="urn:microsoft.com/office/officeart/2008/layout/NameandTitleOrganizationalChart"/>
    <dgm:cxn modelId="{971CA18F-C9EB-41E6-A9C9-E8DDAD37E4D7}" type="presOf" srcId="{8DD348D2-C90F-4B18-B890-ECE664478689}" destId="{68C216F6-F43F-4D1C-94F1-E60164F4D989}" srcOrd="1" destOrd="0" presId="urn:microsoft.com/office/officeart/2008/layout/NameandTitleOrganizationalChart"/>
    <dgm:cxn modelId="{0AE1EF90-CBC4-4224-B057-9AF3D3BF1B0A}" type="presOf" srcId="{BF165F35-134C-4F6C-B225-CAC1BBEC6D37}" destId="{D19493E1-90FF-4651-AF2C-8A713DD44E76}" srcOrd="0" destOrd="0" presId="urn:microsoft.com/office/officeart/2008/layout/NameandTitleOrganizationalChart"/>
    <dgm:cxn modelId="{34E02794-E882-4193-AE82-9056A1C2C6EE}" type="presOf" srcId="{96E6A59B-8EB9-4B8E-8A01-B98D9ADAB4B5}" destId="{9EB8CDE8-B6C2-4B4A-9396-B2FD56D17B68}" srcOrd="1" destOrd="0" presId="urn:microsoft.com/office/officeart/2008/layout/NameandTitleOrganizationalChart"/>
    <dgm:cxn modelId="{14C7E99A-704C-4CF5-963B-DEACE3E04C1D}" type="presOf" srcId="{55F6C073-0FC4-4BE1-B305-621D8F869ACA}" destId="{89838B2F-5CC9-40C6-AABF-AD6CEF1A1CDD}" srcOrd="0" destOrd="0" presId="urn:microsoft.com/office/officeart/2008/layout/NameandTitleOrganizationalChart"/>
    <dgm:cxn modelId="{A1069FB4-83D6-4753-B020-986E4AC50029}" type="presOf" srcId="{E5049F85-228E-413D-9609-4E69898BAB88}" destId="{35786323-A125-47EC-ADD7-B106D549FBB2}" srcOrd="0" destOrd="0" presId="urn:microsoft.com/office/officeart/2008/layout/NameandTitleOrganizationalChart"/>
    <dgm:cxn modelId="{2DC526B6-CBC3-4170-A24B-2AA8F74001FE}" srcId="{05C006DA-C08E-4188-87DA-D53BE4E0DF22}" destId="{D6C490DB-4851-4346-8D05-3A516A7FD110}" srcOrd="3" destOrd="0" parTransId="{BB89611B-930E-4D28-8425-5E4CF31250C6}" sibTransId="{2992618D-B800-4FA7-A8F7-54A413D449E6}"/>
    <dgm:cxn modelId="{BC7C7EBA-A8F7-47D7-8BEF-B1EFB3640C29}" srcId="{05C006DA-C08E-4188-87DA-D53BE4E0DF22}" destId="{96E6A59B-8EB9-4B8E-8A01-B98D9ADAB4B5}" srcOrd="2" destOrd="0" parTransId="{BF165F35-134C-4F6C-B225-CAC1BBEC6D37}" sibTransId="{E5049F85-228E-413D-9609-4E69898BAB88}"/>
    <dgm:cxn modelId="{EB4527CF-C80C-4531-A8F3-1E6D855133D3}" srcId="{05C006DA-C08E-4188-87DA-D53BE4E0DF22}" destId="{8DD348D2-C90F-4B18-B890-ECE664478689}" srcOrd="0" destOrd="0" parTransId="{15A4E6E6-F1D0-4284-8C41-A34F4DF14C88}" sibTransId="{219B59A8-B3E0-427A-AC1E-930265488F95}"/>
    <dgm:cxn modelId="{6B7668DB-2754-4B81-917D-96A33904DC6D}" type="presOf" srcId="{05C006DA-C08E-4188-87DA-D53BE4E0DF22}" destId="{25C8D412-B9F2-4FDC-8419-1467B80083CE}" srcOrd="0" destOrd="0" presId="urn:microsoft.com/office/officeart/2008/layout/NameandTitleOrganizationalChart"/>
    <dgm:cxn modelId="{D3DDFDDD-F4B7-4430-8131-52B50932056B}" type="presOf" srcId="{15A4E6E6-F1D0-4284-8C41-A34F4DF14C88}" destId="{D71D97EA-FB52-4F9C-838B-E8FAAE787612}" srcOrd="0" destOrd="0" presId="urn:microsoft.com/office/officeart/2008/layout/NameandTitleOrganizationalChart"/>
    <dgm:cxn modelId="{5E3CC9DE-0CF3-4978-A53C-F5FD2B8BC984}" type="presOf" srcId="{D6C490DB-4851-4346-8D05-3A516A7FD110}" destId="{7D79E612-1AA9-43C7-A9D6-023AE2BEA123}" srcOrd="0" destOrd="0" presId="urn:microsoft.com/office/officeart/2008/layout/NameandTitleOrganizationalChart"/>
    <dgm:cxn modelId="{E5E3C8EE-F498-4D6B-9787-E48F4366FD75}" type="presOf" srcId="{3439F3EC-3EAF-4382-88F3-4BBEC5BD7C66}" destId="{035A1211-EC2A-41E0-9977-F782973BE68B}" srcOrd="0" destOrd="0" presId="urn:microsoft.com/office/officeart/2008/layout/NameandTitleOrganizationalChart"/>
    <dgm:cxn modelId="{A27121FE-AFDC-4471-949A-B118D4443A88}" type="presOf" srcId="{55F6C073-0FC4-4BE1-B305-621D8F869ACA}" destId="{92937A62-4D0D-40D4-9B25-5A61B77F1E57}" srcOrd="1" destOrd="0" presId="urn:microsoft.com/office/officeart/2008/layout/NameandTitleOrganizationalChart"/>
    <dgm:cxn modelId="{75D7C8FF-CE9E-4773-A42E-ED547DE96158}" type="presOf" srcId="{D6C490DB-4851-4346-8D05-3A516A7FD110}" destId="{A29A6F39-B994-4CA8-906B-028F751B6FE3}" srcOrd="1" destOrd="0" presId="urn:microsoft.com/office/officeart/2008/layout/NameandTitleOrganizationalChart"/>
    <dgm:cxn modelId="{191AC596-BE40-45CA-8553-59C5B3717BA2}" type="presParOf" srcId="{CD09F0B2-4DE4-45A8-8EBB-18E3FE10DA2E}" destId="{03408467-FD27-409F-A4B1-635B19D17F5C}" srcOrd="0" destOrd="0" presId="urn:microsoft.com/office/officeart/2008/layout/NameandTitleOrganizationalChart"/>
    <dgm:cxn modelId="{981BC1A8-6B44-44F3-A0F0-82E74F15E205}" type="presParOf" srcId="{03408467-FD27-409F-A4B1-635B19D17F5C}" destId="{0D92E019-D139-4213-8027-D7243B3124EB}" srcOrd="0" destOrd="0" presId="urn:microsoft.com/office/officeart/2008/layout/NameandTitleOrganizationalChart"/>
    <dgm:cxn modelId="{3A171F41-8203-47D6-B1A9-7C63B598925C}" type="presParOf" srcId="{0D92E019-D139-4213-8027-D7243B3124EB}" destId="{25C8D412-B9F2-4FDC-8419-1467B80083CE}" srcOrd="0" destOrd="0" presId="urn:microsoft.com/office/officeart/2008/layout/NameandTitleOrganizationalChart"/>
    <dgm:cxn modelId="{5306CAF1-952E-4DD3-AA8D-94C2C85AEFBF}" type="presParOf" srcId="{0D92E019-D139-4213-8027-D7243B3124EB}" destId="{1993C3D5-66F8-416E-8D77-D1BF11633810}" srcOrd="1" destOrd="0" presId="urn:microsoft.com/office/officeart/2008/layout/NameandTitleOrganizationalChart"/>
    <dgm:cxn modelId="{E6EC70C5-90F3-4EF4-B0EE-654F8D1C8503}" type="presParOf" srcId="{0D92E019-D139-4213-8027-D7243B3124EB}" destId="{F4027E83-BB71-417B-B0F0-995989CC1049}" srcOrd="2" destOrd="0" presId="urn:microsoft.com/office/officeart/2008/layout/NameandTitleOrganizationalChart"/>
    <dgm:cxn modelId="{4E713DA2-9DB8-47CF-86F9-30885F5570DC}" type="presParOf" srcId="{03408467-FD27-409F-A4B1-635B19D17F5C}" destId="{620AC6C3-4927-4AD1-AD22-B2F76976CE9E}" srcOrd="1" destOrd="0" presId="urn:microsoft.com/office/officeart/2008/layout/NameandTitleOrganizationalChart"/>
    <dgm:cxn modelId="{082937FE-FB7B-4053-A06A-726AC1DD652F}" type="presParOf" srcId="{620AC6C3-4927-4AD1-AD22-B2F76976CE9E}" destId="{A26B5534-52FC-4185-ADCA-AF5D615A9DC3}" srcOrd="0" destOrd="0" presId="urn:microsoft.com/office/officeart/2008/layout/NameandTitleOrganizationalChart"/>
    <dgm:cxn modelId="{E7029F2C-3BB8-4B1C-BB41-F1DF755D07F2}" type="presParOf" srcId="{620AC6C3-4927-4AD1-AD22-B2F76976CE9E}" destId="{937A0DF7-470E-4050-9F50-DC5B26D2727C}" srcOrd="1" destOrd="0" presId="urn:microsoft.com/office/officeart/2008/layout/NameandTitleOrganizationalChart"/>
    <dgm:cxn modelId="{8E38C3B2-EB00-47FD-8AFA-AFDFB801B2F1}" type="presParOf" srcId="{937A0DF7-470E-4050-9F50-DC5B26D2727C}" destId="{2FB26548-8A06-4881-8B5C-AC82B3C9EAD4}" srcOrd="0" destOrd="0" presId="urn:microsoft.com/office/officeart/2008/layout/NameandTitleOrganizationalChart"/>
    <dgm:cxn modelId="{F8EBF628-3520-49B6-BEC4-8D42DB80C264}" type="presParOf" srcId="{2FB26548-8A06-4881-8B5C-AC82B3C9EAD4}" destId="{89838B2F-5CC9-40C6-AABF-AD6CEF1A1CDD}" srcOrd="0" destOrd="0" presId="urn:microsoft.com/office/officeart/2008/layout/NameandTitleOrganizationalChart"/>
    <dgm:cxn modelId="{1F93C75F-186D-400E-A340-D00E7D2F9824}" type="presParOf" srcId="{2FB26548-8A06-4881-8B5C-AC82B3C9EAD4}" destId="{035A1211-EC2A-41E0-9977-F782973BE68B}" srcOrd="1" destOrd="0" presId="urn:microsoft.com/office/officeart/2008/layout/NameandTitleOrganizationalChart"/>
    <dgm:cxn modelId="{E259CF74-AE36-4337-AFE2-BBA919A952AC}" type="presParOf" srcId="{2FB26548-8A06-4881-8B5C-AC82B3C9EAD4}" destId="{92937A62-4D0D-40D4-9B25-5A61B77F1E57}" srcOrd="2" destOrd="0" presId="urn:microsoft.com/office/officeart/2008/layout/NameandTitleOrganizationalChart"/>
    <dgm:cxn modelId="{41B06D3B-7BEB-460C-8B74-426C0D5C29A7}" type="presParOf" srcId="{937A0DF7-470E-4050-9F50-DC5B26D2727C}" destId="{485AD093-E4A5-4A9A-BAF0-573B6D01B828}" srcOrd="1" destOrd="0" presId="urn:microsoft.com/office/officeart/2008/layout/NameandTitleOrganizationalChart"/>
    <dgm:cxn modelId="{9E8B14B1-673F-4777-8129-8128B164F8D4}" type="presParOf" srcId="{937A0DF7-470E-4050-9F50-DC5B26D2727C}" destId="{EFA86F35-CB7E-46DE-A10A-F0DAE9434D0F}" srcOrd="2" destOrd="0" presId="urn:microsoft.com/office/officeart/2008/layout/NameandTitleOrganizationalChart"/>
    <dgm:cxn modelId="{B0E49AD0-F7A1-4C70-9D2A-A28CF12E7381}" type="presParOf" srcId="{620AC6C3-4927-4AD1-AD22-B2F76976CE9E}" destId="{D19493E1-90FF-4651-AF2C-8A713DD44E76}" srcOrd="2" destOrd="0" presId="urn:microsoft.com/office/officeart/2008/layout/NameandTitleOrganizationalChart"/>
    <dgm:cxn modelId="{0A25A1DB-4FB7-4AEE-99A5-4FE64A2EC0B1}" type="presParOf" srcId="{620AC6C3-4927-4AD1-AD22-B2F76976CE9E}" destId="{C9418A86-3B8C-463C-83BF-0074EBA2F2E6}" srcOrd="3" destOrd="0" presId="urn:microsoft.com/office/officeart/2008/layout/NameandTitleOrganizationalChart"/>
    <dgm:cxn modelId="{11FDF06C-3780-435E-BB9A-0BD2DF6F417F}" type="presParOf" srcId="{C9418A86-3B8C-463C-83BF-0074EBA2F2E6}" destId="{CEE9FCAA-4E49-417C-9407-F1CF707DE08E}" srcOrd="0" destOrd="0" presId="urn:microsoft.com/office/officeart/2008/layout/NameandTitleOrganizationalChart"/>
    <dgm:cxn modelId="{B84CD7A2-C5B0-49B8-B676-5F33E9A2C46E}" type="presParOf" srcId="{CEE9FCAA-4E49-417C-9407-F1CF707DE08E}" destId="{2B9526A2-8A14-42CB-8349-4A4ECAA48135}" srcOrd="0" destOrd="0" presId="urn:microsoft.com/office/officeart/2008/layout/NameandTitleOrganizationalChart"/>
    <dgm:cxn modelId="{FF689866-C9E7-466C-A043-3900AA831AE2}" type="presParOf" srcId="{CEE9FCAA-4E49-417C-9407-F1CF707DE08E}" destId="{35786323-A125-47EC-ADD7-B106D549FBB2}" srcOrd="1" destOrd="0" presId="urn:microsoft.com/office/officeart/2008/layout/NameandTitleOrganizationalChart"/>
    <dgm:cxn modelId="{570F9012-CEE1-41D3-B6B7-27378D15C88F}" type="presParOf" srcId="{CEE9FCAA-4E49-417C-9407-F1CF707DE08E}" destId="{9EB8CDE8-B6C2-4B4A-9396-B2FD56D17B68}" srcOrd="2" destOrd="0" presId="urn:microsoft.com/office/officeart/2008/layout/NameandTitleOrganizationalChart"/>
    <dgm:cxn modelId="{1F588656-BD56-4B50-ADAF-FB8187BAB058}" type="presParOf" srcId="{C9418A86-3B8C-463C-83BF-0074EBA2F2E6}" destId="{98916C67-EA0D-4F07-9631-C6539DC339D1}" srcOrd="1" destOrd="0" presId="urn:microsoft.com/office/officeart/2008/layout/NameandTitleOrganizationalChart"/>
    <dgm:cxn modelId="{CB4FB666-B870-4D6E-B29F-353A84DA3E27}" type="presParOf" srcId="{C9418A86-3B8C-463C-83BF-0074EBA2F2E6}" destId="{E9CE2E1D-077B-451A-95E0-EE6092E8347B}" srcOrd="2" destOrd="0" presId="urn:microsoft.com/office/officeart/2008/layout/NameandTitleOrganizationalChart"/>
    <dgm:cxn modelId="{FFA5CEE4-1246-4CA1-9F34-1B7563A4AAC3}" type="presParOf" srcId="{620AC6C3-4927-4AD1-AD22-B2F76976CE9E}" destId="{F48F48C3-9DFC-4802-B261-E1980C4BE487}" srcOrd="4" destOrd="0" presId="urn:microsoft.com/office/officeart/2008/layout/NameandTitleOrganizationalChart"/>
    <dgm:cxn modelId="{106CC513-24A9-4BF2-92E8-568468FA7957}" type="presParOf" srcId="{620AC6C3-4927-4AD1-AD22-B2F76976CE9E}" destId="{36884AEB-076B-4FA9-9E0C-88C74A23513F}" srcOrd="5" destOrd="0" presId="urn:microsoft.com/office/officeart/2008/layout/NameandTitleOrganizationalChart"/>
    <dgm:cxn modelId="{9D500109-BCBB-4008-BF7B-E11C3FAF796F}" type="presParOf" srcId="{36884AEB-076B-4FA9-9E0C-88C74A23513F}" destId="{A2752DA9-AC1B-4F92-9910-D76152F929CD}" srcOrd="0" destOrd="0" presId="urn:microsoft.com/office/officeart/2008/layout/NameandTitleOrganizationalChart"/>
    <dgm:cxn modelId="{A74909C7-C60A-41FC-B5B4-0E36336B355C}" type="presParOf" srcId="{A2752DA9-AC1B-4F92-9910-D76152F929CD}" destId="{7D79E612-1AA9-43C7-A9D6-023AE2BEA123}" srcOrd="0" destOrd="0" presId="urn:microsoft.com/office/officeart/2008/layout/NameandTitleOrganizationalChart"/>
    <dgm:cxn modelId="{93145EA2-C6D4-48C4-99AF-D3C1527E5C96}" type="presParOf" srcId="{A2752DA9-AC1B-4F92-9910-D76152F929CD}" destId="{B9442676-54DD-4546-84DD-C1E1F23332C7}" srcOrd="1" destOrd="0" presId="urn:microsoft.com/office/officeart/2008/layout/NameandTitleOrganizationalChart"/>
    <dgm:cxn modelId="{48CE6D21-0305-4334-A757-CA86660C5CA3}" type="presParOf" srcId="{A2752DA9-AC1B-4F92-9910-D76152F929CD}" destId="{A29A6F39-B994-4CA8-906B-028F751B6FE3}" srcOrd="2" destOrd="0" presId="urn:microsoft.com/office/officeart/2008/layout/NameandTitleOrganizationalChart"/>
    <dgm:cxn modelId="{FD8D62BD-A4ED-4DE8-B474-478DBCB29085}" type="presParOf" srcId="{36884AEB-076B-4FA9-9E0C-88C74A23513F}" destId="{7E50D8AC-0855-4F33-AF52-B53E122D3F56}" srcOrd="1" destOrd="0" presId="urn:microsoft.com/office/officeart/2008/layout/NameandTitleOrganizationalChart"/>
    <dgm:cxn modelId="{99D7DA16-C92B-4C45-A50C-C07155CD63CF}" type="presParOf" srcId="{36884AEB-076B-4FA9-9E0C-88C74A23513F}" destId="{3F3E4B86-D36D-445B-95FE-B904A9F69836}" srcOrd="2" destOrd="0" presId="urn:microsoft.com/office/officeart/2008/layout/NameandTitleOrganizationalChart"/>
    <dgm:cxn modelId="{0AAE64C3-4D31-4244-886F-4A8D8F048160}" type="presParOf" srcId="{03408467-FD27-409F-A4B1-635B19D17F5C}" destId="{2A73E338-C180-4055-A90D-E5737ABCAF27}" srcOrd="2" destOrd="0" presId="urn:microsoft.com/office/officeart/2008/layout/NameandTitleOrganizationalChart"/>
    <dgm:cxn modelId="{C598390F-689E-42B8-AD95-83AD94003B5D}" type="presParOf" srcId="{2A73E338-C180-4055-A90D-E5737ABCAF27}" destId="{D71D97EA-FB52-4F9C-838B-E8FAAE787612}" srcOrd="0" destOrd="0" presId="urn:microsoft.com/office/officeart/2008/layout/NameandTitleOrganizationalChart"/>
    <dgm:cxn modelId="{63E33DC3-FBF1-45FC-8E67-B42EC734318E}" type="presParOf" srcId="{2A73E338-C180-4055-A90D-E5737ABCAF27}" destId="{53B343AC-D857-4954-91AD-B8F3E835FEF2}" srcOrd="1" destOrd="0" presId="urn:microsoft.com/office/officeart/2008/layout/NameandTitleOrganizationalChart"/>
    <dgm:cxn modelId="{3F922C21-F0D2-4F0B-87FF-80F54E898FC8}" type="presParOf" srcId="{53B343AC-D857-4954-91AD-B8F3E835FEF2}" destId="{CFDAEA58-6AEA-4FA2-BD7B-C5B30D1BC108}" srcOrd="0" destOrd="0" presId="urn:microsoft.com/office/officeart/2008/layout/NameandTitleOrganizationalChart"/>
    <dgm:cxn modelId="{1DD3719E-4D42-4456-BB9E-418755C87AD0}" type="presParOf" srcId="{CFDAEA58-6AEA-4FA2-BD7B-C5B30D1BC108}" destId="{E8FD49B9-ED2F-48B3-B219-DA46F6C6D253}" srcOrd="0" destOrd="0" presId="urn:microsoft.com/office/officeart/2008/layout/NameandTitleOrganizationalChart"/>
    <dgm:cxn modelId="{1D09213D-71DD-4287-8BC4-F5AAA1712E12}" type="presParOf" srcId="{CFDAEA58-6AEA-4FA2-BD7B-C5B30D1BC108}" destId="{6D4578CF-316C-4DE7-A9BB-704967DAE05E}" srcOrd="1" destOrd="0" presId="urn:microsoft.com/office/officeart/2008/layout/NameandTitleOrganizationalChart"/>
    <dgm:cxn modelId="{BD17BEFA-620E-4682-BB44-144599DE6963}" type="presParOf" srcId="{CFDAEA58-6AEA-4FA2-BD7B-C5B30D1BC108}" destId="{68C216F6-F43F-4D1C-94F1-E60164F4D989}" srcOrd="2" destOrd="0" presId="urn:microsoft.com/office/officeart/2008/layout/NameandTitleOrganizationalChart"/>
    <dgm:cxn modelId="{45FCB320-53FB-4058-9BB4-583A36CBDF6D}" type="presParOf" srcId="{53B343AC-D857-4954-91AD-B8F3E835FEF2}" destId="{4593C1B3-2769-4019-A38C-403A4CFC1A77}" srcOrd="1" destOrd="0" presId="urn:microsoft.com/office/officeart/2008/layout/NameandTitleOrganizationalChart"/>
    <dgm:cxn modelId="{577A3357-9A5E-4998-8B44-51275AE2E7B1}" type="presParOf" srcId="{53B343AC-D857-4954-91AD-B8F3E835FEF2}" destId="{76AB900E-7C18-4E63-85D4-61F3089663CB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D97EA-FB52-4F9C-838B-E8FAAE787612}">
      <dsp:nvSpPr>
        <dsp:cNvPr id="0" name=""/>
        <dsp:cNvSpPr/>
      </dsp:nvSpPr>
      <dsp:spPr>
        <a:xfrm>
          <a:off x="2056722" y="1022410"/>
          <a:ext cx="205604" cy="655934"/>
        </a:xfrm>
        <a:custGeom>
          <a:avLst/>
          <a:gdLst/>
          <a:ahLst/>
          <a:cxnLst/>
          <a:rect l="0" t="0" r="0" b="0"/>
          <a:pathLst>
            <a:path>
              <a:moveTo>
                <a:pt x="205604" y="0"/>
              </a:moveTo>
              <a:lnTo>
                <a:pt x="205604" y="655934"/>
              </a:lnTo>
              <a:lnTo>
                <a:pt x="0" y="655934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8F48C3-9DFC-4802-B261-E1980C4BE487}">
      <dsp:nvSpPr>
        <dsp:cNvPr id="0" name=""/>
        <dsp:cNvSpPr/>
      </dsp:nvSpPr>
      <dsp:spPr>
        <a:xfrm>
          <a:off x="2262327" y="1022410"/>
          <a:ext cx="1614914" cy="13276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2213"/>
              </a:lnTo>
              <a:lnTo>
                <a:pt x="1614914" y="1182213"/>
              </a:lnTo>
              <a:lnTo>
                <a:pt x="1614914" y="13276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9493E1-90FF-4651-AF2C-8A713DD44E76}">
      <dsp:nvSpPr>
        <dsp:cNvPr id="0" name=""/>
        <dsp:cNvSpPr/>
      </dsp:nvSpPr>
      <dsp:spPr>
        <a:xfrm>
          <a:off x="2216607" y="1022410"/>
          <a:ext cx="91440" cy="13276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276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B5534-52FC-4185-ADCA-AF5D615A9DC3}">
      <dsp:nvSpPr>
        <dsp:cNvPr id="0" name=""/>
        <dsp:cNvSpPr/>
      </dsp:nvSpPr>
      <dsp:spPr>
        <a:xfrm>
          <a:off x="647412" y="1022410"/>
          <a:ext cx="1614914" cy="1327632"/>
        </a:xfrm>
        <a:custGeom>
          <a:avLst/>
          <a:gdLst/>
          <a:ahLst/>
          <a:cxnLst/>
          <a:rect l="0" t="0" r="0" b="0"/>
          <a:pathLst>
            <a:path>
              <a:moveTo>
                <a:pt x="1614914" y="0"/>
              </a:moveTo>
              <a:lnTo>
                <a:pt x="1614914" y="1182213"/>
              </a:lnTo>
              <a:lnTo>
                <a:pt x="0" y="1182213"/>
              </a:lnTo>
              <a:lnTo>
                <a:pt x="0" y="13276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C8D412-B9F2-4FDC-8419-1467B80083CE}">
      <dsp:nvSpPr>
        <dsp:cNvPr id="0" name=""/>
        <dsp:cNvSpPr/>
      </dsp:nvSpPr>
      <dsp:spPr>
        <a:xfrm>
          <a:off x="1660474" y="399184"/>
          <a:ext cx="1203705" cy="6232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8794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dirty="0"/>
            <a:t>Mian Muhammad Yahya (1951–1969)</a:t>
          </a:r>
          <a:endParaRPr lang="en-PK" sz="1100" kern="1200" dirty="0"/>
        </a:p>
      </dsp:txBody>
      <dsp:txXfrm>
        <a:off x="1660474" y="399184"/>
        <a:ext cx="1203705" cy="623225"/>
      </dsp:txXfrm>
    </dsp:sp>
    <dsp:sp modelId="{1993C3D5-66F8-416E-8D77-D1BF11633810}">
      <dsp:nvSpPr>
        <dsp:cNvPr id="0" name=""/>
        <dsp:cNvSpPr/>
      </dsp:nvSpPr>
      <dsp:spPr>
        <a:xfrm>
          <a:off x="1901215" y="941471"/>
          <a:ext cx="1083335" cy="1762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Founder</a:t>
          </a:r>
          <a:endParaRPr lang="en-PK" sz="1100" kern="1200" dirty="0"/>
        </a:p>
      </dsp:txBody>
      <dsp:txXfrm>
        <a:off x="1901215" y="941471"/>
        <a:ext cx="1083335" cy="176212"/>
      </dsp:txXfrm>
    </dsp:sp>
    <dsp:sp modelId="{89838B2F-5CC9-40C6-AABF-AD6CEF1A1CDD}">
      <dsp:nvSpPr>
        <dsp:cNvPr id="0" name=""/>
        <dsp:cNvSpPr/>
      </dsp:nvSpPr>
      <dsp:spPr>
        <a:xfrm>
          <a:off x="45559" y="2350042"/>
          <a:ext cx="1203705" cy="6232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8794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Mian </a:t>
          </a:r>
          <a:r>
            <a:rPr lang="en-US" sz="1100" b="0" i="0" kern="1200" dirty="0" err="1"/>
            <a:t>Umer</a:t>
          </a:r>
          <a:r>
            <a:rPr lang="en-US" sz="1100" b="0" i="0" kern="1200" dirty="0"/>
            <a:t> </a:t>
          </a:r>
          <a:r>
            <a:rPr lang="en-US" sz="1100" b="0" i="0" kern="1200" dirty="0" err="1"/>
            <a:t>Mansha</a:t>
          </a:r>
          <a:r>
            <a:rPr lang="en-US" sz="1100" b="0" i="0" kern="1200" dirty="0"/>
            <a:t>(Son)</a:t>
          </a:r>
          <a:endParaRPr lang="en-PK" sz="1100" kern="1200" dirty="0"/>
        </a:p>
      </dsp:txBody>
      <dsp:txXfrm>
        <a:off x="45559" y="2350042"/>
        <a:ext cx="1203705" cy="623225"/>
      </dsp:txXfrm>
    </dsp:sp>
    <dsp:sp modelId="{035A1211-EC2A-41E0-9977-F782973BE68B}">
      <dsp:nvSpPr>
        <dsp:cNvPr id="0" name=""/>
        <dsp:cNvSpPr/>
      </dsp:nvSpPr>
      <dsp:spPr>
        <a:xfrm>
          <a:off x="286300" y="2834773"/>
          <a:ext cx="1083335" cy="2077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CEO</a:t>
          </a:r>
          <a:endParaRPr lang="en-PK" sz="1400" kern="1200" dirty="0"/>
        </a:p>
      </dsp:txBody>
      <dsp:txXfrm>
        <a:off x="286300" y="2834773"/>
        <a:ext cx="1083335" cy="207741"/>
      </dsp:txXfrm>
    </dsp:sp>
    <dsp:sp modelId="{2B9526A2-8A14-42CB-8349-4A4ECAA48135}">
      <dsp:nvSpPr>
        <dsp:cNvPr id="0" name=""/>
        <dsp:cNvSpPr/>
      </dsp:nvSpPr>
      <dsp:spPr>
        <a:xfrm>
          <a:off x="1660474" y="2350042"/>
          <a:ext cx="1203705" cy="6232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8794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Mian Hassan </a:t>
          </a:r>
          <a:r>
            <a:rPr lang="en-US" sz="1100" b="0" i="0" kern="1200" dirty="0" err="1"/>
            <a:t>Mansha</a:t>
          </a:r>
          <a:r>
            <a:rPr lang="en-US" sz="1100" b="0" i="0" kern="1200" dirty="0"/>
            <a:t> (Son)</a:t>
          </a:r>
          <a:endParaRPr lang="en-PK" sz="1100" kern="1200" dirty="0"/>
        </a:p>
      </dsp:txBody>
      <dsp:txXfrm>
        <a:off x="1660474" y="2350042"/>
        <a:ext cx="1203705" cy="623225"/>
      </dsp:txXfrm>
    </dsp:sp>
    <dsp:sp modelId="{35786323-A125-47EC-ADD7-B106D549FBB2}">
      <dsp:nvSpPr>
        <dsp:cNvPr id="0" name=""/>
        <dsp:cNvSpPr/>
      </dsp:nvSpPr>
      <dsp:spPr>
        <a:xfrm>
          <a:off x="1901215" y="2834773"/>
          <a:ext cx="1083335" cy="2077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Chairman</a:t>
          </a:r>
          <a:endParaRPr lang="en-PK" sz="1400" kern="1200" dirty="0"/>
        </a:p>
      </dsp:txBody>
      <dsp:txXfrm>
        <a:off x="1901215" y="2834773"/>
        <a:ext cx="1083335" cy="207741"/>
      </dsp:txXfrm>
    </dsp:sp>
    <dsp:sp modelId="{7D79E612-1AA9-43C7-A9D6-023AE2BEA123}">
      <dsp:nvSpPr>
        <dsp:cNvPr id="0" name=""/>
        <dsp:cNvSpPr/>
      </dsp:nvSpPr>
      <dsp:spPr>
        <a:xfrm>
          <a:off x="3275389" y="2350042"/>
          <a:ext cx="1203705" cy="6232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8794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Mrs</a:t>
          </a:r>
          <a:r>
            <a:rPr lang="en-US" sz="1100" kern="1200" dirty="0"/>
            <a:t> Naz </a:t>
          </a:r>
          <a:r>
            <a:rPr lang="en-US" sz="1100" kern="1200" dirty="0" err="1"/>
            <a:t>Mansha</a:t>
          </a:r>
          <a:r>
            <a:rPr lang="en-US" sz="1100" kern="1200" dirty="0"/>
            <a:t> (Spouse)</a:t>
          </a:r>
          <a:endParaRPr lang="en-PK" sz="1100" kern="1200" dirty="0"/>
        </a:p>
      </dsp:txBody>
      <dsp:txXfrm>
        <a:off x="3275389" y="2350042"/>
        <a:ext cx="1203705" cy="623225"/>
      </dsp:txXfrm>
    </dsp:sp>
    <dsp:sp modelId="{B9442676-54DD-4546-84DD-C1E1F23332C7}">
      <dsp:nvSpPr>
        <dsp:cNvPr id="0" name=""/>
        <dsp:cNvSpPr/>
      </dsp:nvSpPr>
      <dsp:spPr>
        <a:xfrm>
          <a:off x="3516130" y="2834773"/>
          <a:ext cx="1083335" cy="2077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CEO Of Nishat Linen</a:t>
          </a:r>
          <a:endParaRPr lang="en-PK" sz="900" kern="1200" dirty="0"/>
        </a:p>
      </dsp:txBody>
      <dsp:txXfrm>
        <a:off x="3516130" y="2834773"/>
        <a:ext cx="1083335" cy="207741"/>
      </dsp:txXfrm>
    </dsp:sp>
    <dsp:sp modelId="{E8FD49B9-ED2F-48B3-B219-DA46F6C6D253}">
      <dsp:nvSpPr>
        <dsp:cNvPr id="0" name=""/>
        <dsp:cNvSpPr/>
      </dsp:nvSpPr>
      <dsp:spPr>
        <a:xfrm>
          <a:off x="853016" y="1366731"/>
          <a:ext cx="1203705" cy="6232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8794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1100" b="1" i="0" kern="1200" dirty="0"/>
            <a:t>Mian Muhammad Mansha (1969–present)</a:t>
          </a:r>
          <a:endParaRPr lang="en-PK" sz="1100" kern="1200" dirty="0"/>
        </a:p>
      </dsp:txBody>
      <dsp:txXfrm>
        <a:off x="853016" y="1366731"/>
        <a:ext cx="1203705" cy="623225"/>
      </dsp:txXfrm>
    </dsp:sp>
    <dsp:sp modelId="{6D4578CF-316C-4DE7-A9BB-704967DAE05E}">
      <dsp:nvSpPr>
        <dsp:cNvPr id="0" name=""/>
        <dsp:cNvSpPr/>
      </dsp:nvSpPr>
      <dsp:spPr>
        <a:xfrm>
          <a:off x="1093758" y="1849630"/>
          <a:ext cx="1083335" cy="20774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Chairman</a:t>
          </a:r>
          <a:endParaRPr lang="en-PK" sz="1100" kern="1200" dirty="0"/>
        </a:p>
      </dsp:txBody>
      <dsp:txXfrm>
        <a:off x="1093758" y="1849630"/>
        <a:ext cx="1083335" cy="207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46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067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68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62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8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99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4661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8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02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39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92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380F0-EA8F-4D64-A88E-1EB53C7D775E}" type="datetimeFigureOut">
              <a:rPr lang="en-PK" smtClean="0"/>
              <a:t>20/10/2025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5D754C4-01D3-4678-A390-31200B89129A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50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B01C-84F4-4DD6-BB05-DBD8B5687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FAMILY BUSINESS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80FDE-F17F-4507-8326-A465DBE02C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935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71BB-D4D0-4B57-A7CE-CF4503D7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WHAT IS A FAMILY BUSINESS</a:t>
            </a:r>
            <a:endParaRPr lang="en-PK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EF5B-F241-4498-8DF2-A42F3A55F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842268"/>
          </a:xfrm>
        </p:spPr>
        <p:txBody>
          <a:bodyPr>
            <a:normAutofit/>
          </a:bodyPr>
          <a:lstStyle/>
          <a:p>
            <a:r>
              <a:rPr lang="en-US" sz="2800" dirty="0"/>
              <a:t>A family business is one in which two or more members of the same family are involved in ownership, management, or decision-making.</a:t>
            </a:r>
          </a:p>
          <a:p>
            <a:r>
              <a:rPr lang="en-US" sz="2800" dirty="0"/>
              <a:t>A family business is a commercial organization in which a single family holds ownership and voting control, and multiple family members, often across generations, are involved in leadership and strategic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78332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98D1-E18A-4D0C-AD90-694FA848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WHAT IS A FAMILY BUSINESS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r>
              <a:rPr kumimoji="0" lang="en-US" sz="400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(Examples)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1997-70A3-4A88-9CF9-8FB2BDFA1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480785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🧵 Nishat Group-Mian </a:t>
            </a:r>
            <a:r>
              <a:rPr lang="en-US" sz="2000" dirty="0" err="1"/>
              <a:t>Mansha</a:t>
            </a:r>
            <a:r>
              <a:rPr lang="en-US" sz="2000" dirty="0"/>
              <a:t> Family(Textile, Nishat Linen, DG Cement, Nishat Power, </a:t>
            </a:r>
            <a:r>
              <a:rPr lang="en-US" sz="2000" dirty="0" err="1"/>
              <a:t>Lalpir</a:t>
            </a:r>
            <a:r>
              <a:rPr lang="en-US" sz="2000" dirty="0"/>
              <a:t> Power, </a:t>
            </a:r>
            <a:r>
              <a:rPr lang="en-US" sz="2000" dirty="0" err="1"/>
              <a:t>Pakgen</a:t>
            </a:r>
            <a:r>
              <a:rPr lang="en-US" sz="2000" dirty="0"/>
              <a:t> Power, MCB, </a:t>
            </a:r>
            <a:r>
              <a:rPr lang="en-US" sz="2000" dirty="0" err="1"/>
              <a:t>Adamjee</a:t>
            </a:r>
            <a:r>
              <a:rPr lang="en-US" sz="2000" dirty="0"/>
              <a:t> Insurance, Hyundai Motors, Nishat Paper)</a:t>
            </a:r>
          </a:p>
          <a:p>
            <a:r>
              <a:rPr lang="en-US" sz="2000" dirty="0"/>
              <a:t>🏭 Packages Limited-Syed Babar Ali Family(Packaging Material, Nestle, IGI Insurance, Packages Mall, Plastic/Film Manufacturing, LUMS, LSC)</a:t>
            </a:r>
          </a:p>
          <a:p>
            <a:r>
              <a:rPr lang="en-US" sz="2000" dirty="0"/>
              <a:t>🍪 English Biscuit Manufacturers EBM – Dawood Family(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Dawlance Home Appliances, Dawood Hercules, Engro, DYL Motorcycles, Descon</a:t>
            </a:r>
            <a:endParaRPr lang="en-US" sz="2000" dirty="0"/>
          </a:p>
          <a:p>
            <a:r>
              <a:rPr lang="en-US" sz="2000" dirty="0"/>
              <a:t>🏦 Habib Bank Limited-Habib Rafiq Family(HR Engineering, Capital Organics, Royal Developers, Anfal Salt, CML Mining, </a:t>
            </a:r>
            <a:r>
              <a:rPr lang="en-US" sz="2000" dirty="0" err="1"/>
              <a:t>Dandot</a:t>
            </a:r>
            <a:r>
              <a:rPr lang="en-US" sz="2000" dirty="0"/>
              <a:t> Cement)</a:t>
            </a:r>
          </a:p>
          <a:p>
            <a:r>
              <a:rPr lang="en-PK" dirty="0"/>
              <a:t>🍽️</a:t>
            </a:r>
            <a:r>
              <a:rPr lang="en-US" dirty="0"/>
              <a:t> </a:t>
            </a:r>
            <a:r>
              <a:rPr lang="en-US" dirty="0" err="1"/>
              <a:t>Hashoo</a:t>
            </a:r>
            <a:r>
              <a:rPr lang="en-US" dirty="0"/>
              <a:t> Group- </a:t>
            </a:r>
            <a:r>
              <a:rPr lang="en-US" dirty="0" err="1"/>
              <a:t>Sadruddin</a:t>
            </a:r>
            <a:r>
              <a:rPr lang="en-US" dirty="0"/>
              <a:t> Hashwani Family( PC, Holiday Inn, PC Residences, Travel &amp; Tourism Services, Property &amp; Construction, Oil &amp; Energy Investment)</a:t>
            </a:r>
          </a:p>
          <a:p>
            <a:r>
              <a:rPr lang="en-PK" sz="180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🏗️</a:t>
            </a:r>
            <a:r>
              <a:rPr lang="en-US" sz="2000" dirty="0"/>
              <a:t>Service Group – Ch. </a:t>
            </a:r>
            <a:r>
              <a:rPr lang="en-US" sz="2000" dirty="0" err="1"/>
              <a:t>Nazar</a:t>
            </a:r>
            <a:r>
              <a:rPr lang="en-US" sz="2000" dirty="0"/>
              <a:t>, Ch Hussain, Ch Saeed &amp; Family (Service Shoes, Retail,  Tyres, Motorcycle Chains, Technical Rubber Products, Retail Operations)</a:t>
            </a:r>
          </a:p>
          <a:p>
            <a:endParaRPr lang="en-PK" sz="20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32725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C555-91EE-49A8-A25A-3D204F0D5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NATURE OF FAMILY BUSINESS</a:t>
            </a:r>
            <a:endParaRPr lang="en-PK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EAF20-768A-4483-A8C0-31A96F205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4277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Owned and controlled by family members. </a:t>
            </a:r>
          </a:p>
          <a:p>
            <a:r>
              <a:rPr lang="en-US" dirty="0"/>
              <a:t>Management decisions are influenced by family relationships.</a:t>
            </a:r>
          </a:p>
          <a:p>
            <a:r>
              <a:rPr lang="en-US" dirty="0"/>
              <a:t>Usually long-term oriented.</a:t>
            </a:r>
          </a:p>
          <a:p>
            <a:r>
              <a:rPr lang="en-US" dirty="0"/>
              <a:t>Involves transfer of leadership from one generation to the next.</a:t>
            </a:r>
          </a:p>
          <a:p>
            <a:r>
              <a:rPr lang="en-US" dirty="0"/>
              <a:t>Combines emotional values with business goals</a:t>
            </a:r>
          </a:p>
          <a:p>
            <a:r>
              <a:rPr lang="en-US" b="1" dirty="0"/>
              <a:t>Conclusion: </a:t>
            </a:r>
            <a:r>
              <a:rPr lang="en-US" dirty="0"/>
              <a:t>The life cycle of a family business in Pakistan typically goes:</a:t>
            </a:r>
          </a:p>
          <a:p>
            <a:r>
              <a:rPr lang="en-US" b="1" dirty="0"/>
              <a:t>Founder → Children → Successors</a:t>
            </a:r>
          </a:p>
          <a:p>
            <a:r>
              <a:rPr lang="en-US" b="1" dirty="0"/>
              <a:t>Start → Growth → Continuity or Division</a:t>
            </a:r>
          </a:p>
          <a:p>
            <a:r>
              <a:rPr lang="en-US" dirty="0"/>
              <a:t>Strong communication, succession planning, and professionalism help family businesses survive across generations.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3283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29DE-5B3D-4FF8-842A-6D4E4C05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How FAMILY BUSINESS WORK</a:t>
            </a:r>
            <a:endParaRPr lang="en-PK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A8562-D733-46B3-B486-01F88527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4042233"/>
          </a:xfrm>
        </p:spPr>
        <p:txBody>
          <a:bodyPr>
            <a:noAutofit/>
          </a:bodyPr>
          <a:lstStyle/>
          <a:p>
            <a:r>
              <a:rPr lang="en-US" dirty="0"/>
              <a:t>Founders start small, often as sole proprietors</a:t>
            </a:r>
          </a:p>
          <a:p>
            <a:r>
              <a:rPr lang="en-US" dirty="0"/>
              <a:t>Family members join over time, sharing roles and profits</a:t>
            </a:r>
          </a:p>
          <a:p>
            <a:r>
              <a:rPr lang="en-US" dirty="0"/>
              <a:t>Informal management structure in the beginning</a:t>
            </a:r>
          </a:p>
          <a:p>
            <a:r>
              <a:rPr lang="en-US" dirty="0"/>
              <a:t>Later, professional managers may be hired for growth</a:t>
            </a:r>
          </a:p>
          <a:p>
            <a:r>
              <a:rPr lang="en-US" dirty="0"/>
              <a:t>Decision-making often stays within the family</a:t>
            </a:r>
            <a:endParaRPr lang="en-PK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FC90832-D8CD-40A1-9D5E-0343E52F79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2004145"/>
              </p:ext>
            </p:extLst>
          </p:nvPr>
        </p:nvGraphicFramePr>
        <p:xfrm>
          <a:off x="6413500" y="2017713"/>
          <a:ext cx="4645025" cy="344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386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93872C-049B-4A16-822B-C8F938DC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b="1" dirty="0"/>
              <a:t>ADVANTAGES OF FAMILY BUSINESS</a:t>
            </a:r>
            <a:endParaRPr lang="en-PK" sz="36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1F730-49FA-4DBD-B041-BF29A1E45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59781"/>
          </a:xfrm>
        </p:spPr>
        <p:txBody>
          <a:bodyPr>
            <a:normAutofit/>
          </a:bodyPr>
          <a:lstStyle/>
          <a:p>
            <a:r>
              <a:rPr lang="en-US" sz="2400" dirty="0"/>
              <a:t>Loyalty &amp; Trust:	Family members are committed and trustworthy.</a:t>
            </a:r>
          </a:p>
          <a:p>
            <a:r>
              <a:rPr lang="en-US" sz="2400" dirty="0"/>
              <a:t>Long-term Vision:	Focus on future generations, not just quick profits.</a:t>
            </a:r>
          </a:p>
          <a:p>
            <a:r>
              <a:rPr lang="en-US" sz="2400" dirty="0"/>
              <a:t>Strong Values:	Family culture guides the business.</a:t>
            </a:r>
          </a:p>
          <a:p>
            <a:r>
              <a:rPr lang="en-US" sz="2400" dirty="0"/>
              <a:t>Quick Decisions:	Easier communication among members</a:t>
            </a:r>
          </a:p>
          <a:p>
            <a:r>
              <a:rPr lang="en-US" sz="2400" dirty="0"/>
              <a:t>Financial Stability	Profits stay within the family, reducing external debt.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653079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17DD-FAAA-41E6-AEE4-BA2D8804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prstClr val="black"/>
                </a:solidFill>
                <a:latin typeface="Gill Sans MT" panose="020B0502020104020203"/>
              </a:rPr>
              <a:t>CHALLENGES</a:t>
            </a:r>
            <a:r>
              <a:rPr kumimoji="0" lang="en-US" sz="36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 OF FAMILY BUSINESS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F37CF-2018-47C4-A9AA-64F01CD31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Conflict between family and business interests</a:t>
            </a:r>
          </a:p>
          <a:p>
            <a:r>
              <a:rPr lang="en-US" sz="2800" dirty="0"/>
              <a:t>Succession planning issues</a:t>
            </a:r>
          </a:p>
          <a:p>
            <a:r>
              <a:rPr lang="en-US" sz="2800" dirty="0"/>
              <a:t>Limited professional management</a:t>
            </a:r>
          </a:p>
          <a:p>
            <a:r>
              <a:rPr lang="en-US" sz="2800" dirty="0"/>
              <a:t>Resistance to change or innovation</a:t>
            </a:r>
          </a:p>
          <a:p>
            <a:r>
              <a:rPr lang="en-US" sz="2800" dirty="0"/>
              <a:t>Balance between family values and business goals is crucial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1956672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213</TotalTime>
  <Words>500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Segoe UI Emoji</vt:lpstr>
      <vt:lpstr>Gallery</vt:lpstr>
      <vt:lpstr>FAMILY BUSINESS</vt:lpstr>
      <vt:lpstr>WHAT IS A FAMILY BUSINESS</vt:lpstr>
      <vt:lpstr>WHAT IS A FAMILY BUSINESS (Examples)</vt:lpstr>
      <vt:lpstr>NATURE OF FAMILY BUSINESS</vt:lpstr>
      <vt:lpstr>How FAMILY BUSINESS WORK</vt:lpstr>
      <vt:lpstr>ADVANTAGES OF FAMILY BUSINESS</vt:lpstr>
      <vt:lpstr>CHALLENGES OF FAMILY BUSINESS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BUSINESS</dc:title>
  <dc:creator>Faiza Khan Burki</dc:creator>
  <cp:lastModifiedBy>Faiza Khan Burki</cp:lastModifiedBy>
  <cp:revision>14</cp:revision>
  <cp:lastPrinted>2025-10-20T08:09:57Z</cp:lastPrinted>
  <dcterms:created xsi:type="dcterms:W3CDTF">2025-10-20T06:15:52Z</dcterms:created>
  <dcterms:modified xsi:type="dcterms:W3CDTF">2025-10-20T09:49:52Z</dcterms:modified>
</cp:coreProperties>
</file>