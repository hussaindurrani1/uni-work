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80" r:id="rId20"/>
    <p:sldId id="274" r:id="rId21"/>
    <p:sldId id="275" r:id="rId22"/>
    <p:sldId id="276" r:id="rId23"/>
    <p:sldId id="277" r:id="rId24"/>
    <p:sldId id="278" r:id="rId25"/>
    <p:sldId id="279" r:id="rId26"/>
  </p:sldIdLst>
  <p:sldSz cx="12192000" cy="6858000"/>
  <p:notesSz cx="6881813" cy="92964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D850A-1809-492D-A480-38884C0D6F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2DB030-6B30-4EA1-B2A1-84A5B07625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AFBE7E-1860-486C-96DA-B67CAC42B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BA7F1-E1F7-456E-8592-E8012BA867F4}" type="datetimeFigureOut">
              <a:rPr lang="en-PK" smtClean="0"/>
              <a:t>10/11/2025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22F9E4-760E-462C-8AE1-14986CBB9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78E7E5-FFD4-48C2-AE4E-B59F84957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A05C3-B45E-4BED-ABAE-F154CC49536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1227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9C86B-CE73-4008-821A-CD0166149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C07FE5-98C6-4C41-960A-3D920364B9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975510-1A76-4F68-886F-D3F9489B1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BA7F1-E1F7-456E-8592-E8012BA867F4}" type="datetimeFigureOut">
              <a:rPr lang="en-PK" smtClean="0"/>
              <a:t>10/11/2025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F357CB-21D9-4EB8-A454-05371CD79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3AE62C-B9F6-4E09-8A44-4DF2D0300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A05C3-B45E-4BED-ABAE-F154CC49536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553335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5DC50-AD16-4A91-A121-F90C21766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81CF4C-33CD-4656-B623-EE22B1550F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5455C2-3FEE-4259-9A5C-7E9619656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BA7F1-E1F7-456E-8592-E8012BA867F4}" type="datetimeFigureOut">
              <a:rPr lang="en-PK" smtClean="0"/>
              <a:t>10/11/2025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1FC1E3-76C6-46B8-9A47-B84CF08D6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923F27-2722-4D6D-B420-445F6D620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A05C3-B45E-4BED-ABAE-F154CC49536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7156470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CDCEB-70A5-4912-A4F7-88B8AFA3D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0F1B1E-397B-4210-A69D-BC440790A1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E4477A-D690-4528-A7D3-8AFFE8F169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1D8AEF-8496-4B39-BE2F-DC5BDF1A1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BA7F1-E1F7-456E-8592-E8012BA867F4}" type="datetimeFigureOut">
              <a:rPr lang="en-PK" smtClean="0"/>
              <a:t>10/11/2025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5D9C07-431E-49B2-AF15-5B6E76A29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65F3E0-0603-4F3B-B2AC-67A579731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A05C3-B45E-4BED-ABAE-F154CC49536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51546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FA3CB-578A-49F8-9C55-4B5C28CAD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37BBDB-30ED-42B1-9AE9-BDADF3F0BB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53BE58-D5E7-4E17-80D1-8DC551A747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3BBBE8-E190-4B90-9A94-5D1B3B6D42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3E5E78-EFB7-471E-ABCF-71EE6F2046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03DAAE-4C81-446E-98C1-E57C70C2A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BA7F1-E1F7-456E-8592-E8012BA867F4}" type="datetimeFigureOut">
              <a:rPr lang="en-PK" smtClean="0"/>
              <a:t>10/11/2025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DF21E0-3CC9-45C7-BE7E-9CFB3C989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61FE0E-3B79-40AF-8B73-25E61D5A8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A05C3-B45E-4BED-ABAE-F154CC49536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730925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730A3-5A40-466B-86DA-458A6E58C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7E0835-E029-491D-B7BB-0957A469A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BA7F1-E1F7-456E-8592-E8012BA867F4}" type="datetimeFigureOut">
              <a:rPr lang="en-PK" smtClean="0"/>
              <a:t>10/11/2025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673FC4-7DEB-4407-977D-F7A6F8E3A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B81F0D-6860-4E35-AAC9-49047429D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A05C3-B45E-4BED-ABAE-F154CC49536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53951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AE4076-48E1-4303-A38E-FEC0EF636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BA7F1-E1F7-456E-8592-E8012BA867F4}" type="datetimeFigureOut">
              <a:rPr lang="en-PK" smtClean="0"/>
              <a:t>10/11/2025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36DBD3-824A-4CA7-BE74-4DF05B58B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D343B7-9C2D-48ED-AE13-31EF19921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A05C3-B45E-4BED-ABAE-F154CC49536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086836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20350-3C2A-4D3A-8409-D0D741BF8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4B476-BE16-417F-AF6D-23B3519600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0E5A12-803D-4278-83A2-52F9BD11CE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442FF8-2B05-4749-801B-ECDC901F8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BA7F1-E1F7-456E-8592-E8012BA867F4}" type="datetimeFigureOut">
              <a:rPr lang="en-PK" smtClean="0"/>
              <a:t>10/11/2025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65FD85-8D9B-495B-BDF6-DBE6329B6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5C7A96-A73A-49A5-9E17-83FFDC045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A05C3-B45E-4BED-ABAE-F154CC49536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32828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CFA4A-F8E7-42AB-928C-88DAAA12E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31AD70-9CDB-47AB-9226-4CDAF973B6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D435B3-D086-4AE2-96E6-608F23C65C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B540A4-4691-4512-9792-2D34A8B51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BA7F1-E1F7-456E-8592-E8012BA867F4}" type="datetimeFigureOut">
              <a:rPr lang="en-PK" smtClean="0"/>
              <a:t>10/11/2025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5DFF50-148F-4912-9F4A-AD7402845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07148E-151C-4D4F-9FEC-CF50AA765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A05C3-B45E-4BED-ABAE-F154CC49536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687771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6EADF-EE22-45A8-B9C5-EB75F57DD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FFE0C3-2A85-4862-B489-16902A17A1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00EC8C-EABC-4492-8CC3-3097A437A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BA7F1-E1F7-456E-8592-E8012BA867F4}" type="datetimeFigureOut">
              <a:rPr lang="en-PK" smtClean="0"/>
              <a:t>10/11/2025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86D601-ECC1-451C-8FDB-A5B5E7E20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18E9AF-1CC2-48F3-8F82-67003B24A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A05C3-B45E-4BED-ABAE-F154CC49536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972846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360DB2-59C4-4A7E-B7F2-0AFD6DFE18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FC0073-A2ED-4731-AFFF-ADCB1AE516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E00D4B-3E90-4AB1-A289-125747316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BA7F1-E1F7-456E-8592-E8012BA867F4}" type="datetimeFigureOut">
              <a:rPr lang="en-PK" smtClean="0"/>
              <a:t>10/11/2025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F5077F-EBB1-4985-80D9-0ED885412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500F51-84CC-4C50-BC61-D306A7C65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A05C3-B45E-4BED-ABAE-F154CC49536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954327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1EF9B6-E115-4C50-BEBD-CADFCFC68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37516E-8BDA-4B3B-80E6-8EC02C124F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04C990-95C2-464F-A3A6-C3C405EF8C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CBA7F1-E1F7-456E-8592-E8012BA867F4}" type="datetimeFigureOut">
              <a:rPr lang="en-PK" smtClean="0"/>
              <a:t>10/11/2025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5E733-F8C6-4C89-AFF2-6DDAD8FAA5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F2FEB4-D207-4815-9CCB-AC44C4217B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DA05C3-B45E-4BED-ABAE-F154CC49536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99897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F6D87-BEE7-40E2-85B4-7FE7AC6E46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Fundamentals of Entrepreneurship 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D200F5-B78F-4547-8FEE-F0248748F9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Lecture 5 &amp; 6</a:t>
            </a:r>
            <a:endParaRPr lang="en-PK" dirty="0"/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292386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02B10-5B33-4559-B4D6-04B009CBD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altLang="en-PK" sz="4400" b="1">
                <a:latin typeface="Times New Roman" panose="02020603050405020304" pitchFamily="18" charset="0"/>
              </a:rPr>
            </a:br>
            <a:br>
              <a:rPr lang="en-US" altLang="en-PK" sz="4400" b="1">
                <a:latin typeface="Times New Roman" panose="02020603050405020304" pitchFamily="18" charset="0"/>
              </a:rPr>
            </a:br>
            <a:r>
              <a:rPr lang="en-US" altLang="en-PK" sz="4400" b="1">
                <a:latin typeface="Times New Roman" panose="02020603050405020304" pitchFamily="18" charset="0"/>
              </a:rPr>
              <a:t>Recognizing </a:t>
            </a:r>
            <a:r>
              <a:rPr lang="en-US" altLang="en-PK" sz="4400" b="1" dirty="0">
                <a:latin typeface="Times New Roman" panose="02020603050405020304" pitchFamily="18" charset="0"/>
              </a:rPr>
              <a:t>Opportunities and Generating Ideas</a:t>
            </a:r>
            <a:br>
              <a:rPr lang="en-US" altLang="en-PK" sz="4400" dirty="0">
                <a:latin typeface="Times New Roman" panose="02020603050405020304" pitchFamily="18" charset="0"/>
              </a:rPr>
            </a:br>
            <a:br>
              <a:rPr lang="en-US" altLang="en-PK" sz="4400" dirty="0">
                <a:latin typeface="Times New Roman" panose="02020603050405020304" pitchFamily="18" charset="0"/>
              </a:rPr>
            </a:br>
            <a:br>
              <a:rPr lang="en-US" altLang="en-PK" sz="4400" dirty="0">
                <a:latin typeface="Times New Roman" panose="02020603050405020304" pitchFamily="18" charset="0"/>
              </a:rPr>
            </a:b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E60216-FCBB-4053-BBE9-5EB141D1FF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PK" sz="3600" dirty="0">
                <a:latin typeface="Times New Roman" panose="02020603050405020304" pitchFamily="18" charset="0"/>
              </a:rPr>
              <a:t>What is An Opportunity?</a:t>
            </a:r>
            <a:endParaRPr lang="en-US" altLang="en-PK" sz="3600" dirty="0">
              <a:latin typeface="Times New Roman" panose="02020603050405020304" pitchFamily="18" charset="0"/>
              <a:ea typeface="Segoe UI Black" panose="020B0A02040204020203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en-PK" sz="2800" dirty="0">
              <a:latin typeface="Times New Roman" panose="02020603050405020304" pitchFamily="18" charset="0"/>
              <a:ea typeface="Segoe UI Black" panose="020B0A02040204020203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PK" sz="2800" dirty="0">
                <a:latin typeface="Times New Roman" panose="02020603050405020304" pitchFamily="18" charset="0"/>
                <a:ea typeface="Segoe UI Black" panose="020B0A02040204020203" pitchFamily="34" charset="0"/>
                <a:cs typeface="Times New Roman" panose="02020603050405020304" pitchFamily="18" charset="0"/>
              </a:rPr>
              <a:t>An opportunity is a favorable set of circumstances that</a:t>
            </a:r>
          </a:p>
          <a:p>
            <a:pPr marL="0" indent="0">
              <a:buNone/>
            </a:pPr>
            <a:r>
              <a:rPr lang="en-US" altLang="en-PK" sz="2800" dirty="0">
                <a:latin typeface="Times New Roman" panose="02020603050405020304" pitchFamily="18" charset="0"/>
                <a:ea typeface="Segoe UI Black" panose="020B0A02040204020203" pitchFamily="34" charset="0"/>
                <a:cs typeface="Times New Roman" panose="02020603050405020304" pitchFamily="18" charset="0"/>
              </a:rPr>
              <a:t>creates a need for a new product, service, or business.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013069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D8DA9-7E0F-4274-BCCF-5A8950AB1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 sz="4400" dirty="0">
                <a:latin typeface="Times New Roman" panose="02020603050405020304" pitchFamily="18" charset="0"/>
              </a:rPr>
              <a:t>What is an Opportunity?</a:t>
            </a:r>
            <a:br>
              <a:rPr lang="en-US" altLang="en-PK" sz="4400" dirty="0">
                <a:latin typeface="Times New Roman" panose="02020603050405020304" pitchFamily="18" charset="0"/>
              </a:rPr>
            </a:b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40DFB7-FADD-42DB-906A-1A68233E0D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PK" sz="2800" dirty="0"/>
              <a:t>Four Essential Qualities of an Opportunity</a:t>
            </a:r>
          </a:p>
          <a:p>
            <a:pPr marL="0" indent="0">
              <a:buNone/>
            </a:pPr>
            <a:endParaRPr lang="en-US" altLang="en-PK" sz="2800" dirty="0"/>
          </a:p>
          <a:p>
            <a:endParaRPr lang="en-PK" dirty="0"/>
          </a:p>
        </p:txBody>
      </p:sp>
      <p:pic>
        <p:nvPicPr>
          <p:cNvPr id="4" name="Picture 8">
            <a:extLst>
              <a:ext uri="{FF2B5EF4-FFF2-40B4-BE49-F238E27FC236}">
                <a16:creationId xmlns:a16="http://schemas.microsoft.com/office/drawing/2014/main" id="{37C87407-DFA5-49D4-B6C8-909187B364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3882" y="2627406"/>
            <a:ext cx="6445623" cy="36844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49431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32857-270C-4988-B375-775F77E85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 sz="4400" dirty="0">
                <a:latin typeface="Times New Roman" panose="02020603050405020304" pitchFamily="18" charset="0"/>
              </a:rPr>
              <a:t>Three Ways to Identify an Opportunity</a:t>
            </a:r>
            <a:endParaRPr lang="en-PK" dirty="0"/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C90E8C75-26A4-44B1-8D88-1DB4F301F0A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6862" y="1690688"/>
            <a:ext cx="9434232" cy="3325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05047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A00AB-66EC-470B-A445-A64C86524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 sz="4400" dirty="0">
                <a:latin typeface="Times New Roman" panose="02020603050405020304" pitchFamily="18" charset="0"/>
              </a:rPr>
              <a:t>First Approach: Observing Trends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B45B13-B3C0-4E9A-8F79-BF7EEEA59B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PK" sz="2800" dirty="0">
                <a:latin typeface="Times New Roman" panose="02020603050405020304" pitchFamily="18" charset="0"/>
              </a:rPr>
              <a:t>Observing Trends</a:t>
            </a:r>
          </a:p>
          <a:p>
            <a:pPr lvl="1" eaLnBrk="1" hangingPunct="1"/>
            <a:r>
              <a:rPr lang="en-US" altLang="en-PK" sz="2400" dirty="0">
                <a:latin typeface="Times New Roman" panose="02020603050405020304" pitchFamily="18" charset="0"/>
              </a:rPr>
              <a:t>Trends create opportunities for entrepreneurs to pursue.</a:t>
            </a:r>
          </a:p>
          <a:p>
            <a:pPr lvl="1" eaLnBrk="1" hangingPunct="1"/>
            <a:r>
              <a:rPr lang="en-US" altLang="en-PK" sz="2400" dirty="0">
                <a:latin typeface="Times New Roman" panose="02020603050405020304" pitchFamily="18" charset="0"/>
              </a:rPr>
              <a:t>The most important trends are:</a:t>
            </a:r>
          </a:p>
          <a:p>
            <a:pPr lvl="2" eaLnBrk="1" hangingPunct="1"/>
            <a:r>
              <a:rPr lang="en-US" altLang="en-PK" dirty="0">
                <a:latin typeface="Times New Roman" panose="02020603050405020304" pitchFamily="18" charset="0"/>
              </a:rPr>
              <a:t>Economic forces</a:t>
            </a:r>
          </a:p>
          <a:p>
            <a:pPr lvl="2" eaLnBrk="1" hangingPunct="1"/>
            <a:r>
              <a:rPr lang="en-US" altLang="en-PK" dirty="0">
                <a:latin typeface="Times New Roman" panose="02020603050405020304" pitchFamily="18" charset="0"/>
              </a:rPr>
              <a:t>Social forces</a:t>
            </a:r>
          </a:p>
          <a:p>
            <a:pPr lvl="2" eaLnBrk="1" hangingPunct="1"/>
            <a:r>
              <a:rPr lang="en-US" altLang="en-PK" dirty="0">
                <a:latin typeface="Times New Roman" panose="02020603050405020304" pitchFamily="18" charset="0"/>
              </a:rPr>
              <a:t>Technological advances</a:t>
            </a:r>
          </a:p>
          <a:p>
            <a:pPr lvl="2" eaLnBrk="1" hangingPunct="1"/>
            <a:r>
              <a:rPr lang="en-US" altLang="en-PK" dirty="0">
                <a:latin typeface="Times New Roman" panose="02020603050405020304" pitchFamily="18" charset="0"/>
              </a:rPr>
              <a:t>Political action and regulatory change</a:t>
            </a:r>
          </a:p>
          <a:p>
            <a:pPr lvl="1" eaLnBrk="1" hangingPunct="1"/>
            <a:r>
              <a:rPr lang="en-US" altLang="en-PK" sz="2400" dirty="0">
                <a:latin typeface="Times New Roman" panose="02020603050405020304" pitchFamily="18" charset="0"/>
              </a:rPr>
              <a:t>It’s important to be aware of changes in these areas.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9725473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0A238-3169-42C3-9FD3-4686E1300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 sz="4400" dirty="0">
                <a:latin typeface="Times New Roman" panose="02020603050405020304" pitchFamily="18" charset="0"/>
              </a:rPr>
              <a:t>First Approach: Observing Trends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61B5D-627F-4493-A3E2-BE81098BE1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9789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en-PK" sz="2800" dirty="0"/>
              <a:t>Environmental Trends Suggesting Business or Product Opportunity Gaps</a:t>
            </a:r>
          </a:p>
          <a:p>
            <a:endParaRPr lang="en-PK" dirty="0"/>
          </a:p>
        </p:txBody>
      </p:sp>
      <p:pic>
        <p:nvPicPr>
          <p:cNvPr id="4" name="Picture 7">
            <a:extLst>
              <a:ext uri="{FF2B5EF4-FFF2-40B4-BE49-F238E27FC236}">
                <a16:creationId xmlns:a16="http://schemas.microsoft.com/office/drawing/2014/main" id="{ADEC5B44-759B-4D0A-9FA6-D23D6CDB69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1423" y="2712571"/>
            <a:ext cx="5800725" cy="3780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197860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9D6B7-5724-4F14-A58D-9EA5ED4EA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 sz="4400" dirty="0">
                <a:latin typeface="Times New Roman" panose="02020603050405020304" pitchFamily="18" charset="0"/>
              </a:rPr>
              <a:t>Trend 1: Economic Forces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B438D-4B89-4922-B8E8-C76DA458AA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PK" sz="2800" dirty="0"/>
              <a:t>Economic trends help determine areas that are ripe for new start-ups and areas that start-ups should avoid.</a:t>
            </a:r>
          </a:p>
          <a:p>
            <a:r>
              <a:rPr lang="en-US" altLang="en-PK" sz="2800" dirty="0"/>
              <a:t>Example of Economic Trend Creating a Favorable Opportunity</a:t>
            </a:r>
          </a:p>
          <a:p>
            <a:pPr marL="0" indent="0" eaLnBrk="1" hangingPunct="1">
              <a:lnSpc>
                <a:spcPts val="3200"/>
              </a:lnSpc>
              <a:buNone/>
            </a:pPr>
            <a:r>
              <a:rPr lang="en-US" altLang="en-PK" sz="2800" dirty="0"/>
              <a:t>A weak economy favors  start-ups that help consumers save money.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1292828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B1731-2AE6-43B3-816E-B447B1019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 sz="4400" dirty="0">
                <a:latin typeface="Times New Roman" panose="02020603050405020304" pitchFamily="18" charset="0"/>
              </a:rPr>
              <a:t>Trend 2: Social Forces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8CC16-C4D3-441A-9C2A-F36BD8E2C7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PK" sz="2800" dirty="0"/>
              <a:t>Social trends alter how people and businesses behave and set their priorities.  These trends provide opportunities for new businesses to accommodate the changes.</a:t>
            </a:r>
          </a:p>
          <a:p>
            <a:pPr marL="0" indent="0">
              <a:buNone/>
            </a:pPr>
            <a:r>
              <a:rPr lang="en-US" altLang="en-PK" sz="2800" dirty="0"/>
              <a:t>Examples of Social Trends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PK" sz="2800" dirty="0"/>
              <a:t>An increasing focus on health and wellness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PK" sz="2800" dirty="0"/>
              <a:t> Increasing interest in “green” products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16736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55890-4544-4302-A963-04493E611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 sz="4400" dirty="0">
                <a:latin typeface="Times New Roman" panose="02020603050405020304" pitchFamily="18" charset="0"/>
              </a:rPr>
              <a:t>Trend 3: Technological Advances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77AED-E9F3-4E33-BF4C-4E6B638BCA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PK" sz="2800" dirty="0"/>
              <a:t>Advances in technology frequently create business opportunities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9743157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FBC01-E320-43DC-8AEB-1421337C2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 sz="4400" dirty="0">
                <a:latin typeface="Times New Roman" panose="02020603050405020304" pitchFamily="18" charset="0"/>
              </a:rPr>
              <a:t>Trend 4: Political Action and Regulatory Changes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C111E-6F81-43C4-942E-2C11CE64F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PK" sz="2800" dirty="0"/>
              <a:t>Political action and regulatory changes also provide the basis for opportunities.</a:t>
            </a:r>
          </a:p>
          <a:p>
            <a:r>
              <a:rPr lang="en-US" dirty="0"/>
              <a:t>Example</a:t>
            </a:r>
          </a:p>
          <a:p>
            <a:pPr marL="0" indent="0">
              <a:buNone/>
            </a:pPr>
            <a:r>
              <a:rPr lang="en-US" altLang="en-PK" sz="2800" dirty="0"/>
              <a:t>Laws to protect the environment have created opportunities for entrepreneurs to start firms that help other firms comply with environmental laws and regulations. 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0194873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18E46-A2EF-4F6E-8CFD-B839A4EEE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 sz="4400" dirty="0">
                <a:latin typeface="Times New Roman" panose="02020603050405020304" pitchFamily="18" charset="0"/>
              </a:rPr>
              <a:t>Second Approach: Solving a Problem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1FF990-89BB-4AE3-AA1A-F807B7B921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PK" sz="2800" dirty="0">
                <a:latin typeface="Times New Roman" panose="02020603050405020304" pitchFamily="18" charset="0"/>
              </a:rPr>
              <a:t>Solving a Problem</a:t>
            </a:r>
          </a:p>
          <a:p>
            <a:pPr lvl="1" eaLnBrk="1" hangingPunct="1"/>
            <a:r>
              <a:rPr lang="en-US" altLang="en-PK" sz="2400" dirty="0">
                <a:latin typeface="Times New Roman" panose="02020603050405020304" pitchFamily="18" charset="0"/>
              </a:rPr>
              <a:t>Sometimes identifying opportunities simply involves noticing a problem and finding a way to solve it.</a:t>
            </a:r>
          </a:p>
          <a:p>
            <a:pPr lvl="1" eaLnBrk="1" hangingPunct="1"/>
            <a:r>
              <a:rPr lang="en-US" altLang="en-PK" sz="2400" dirty="0">
                <a:latin typeface="Times New Roman" panose="02020603050405020304" pitchFamily="18" charset="0"/>
              </a:rPr>
              <a:t>These problems can be pinpointed through observing trends and through more simple means, such as intuition, serendipity, or change. 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3033712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58706-DCFF-4098-8EFB-17B21B1E0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 sz="4400" dirty="0">
                <a:latin typeface="Times New Roman" panose="02020603050405020304" pitchFamily="18" charset="0"/>
              </a:rPr>
              <a:t>Third Approach: Finding Gaps in the Marketplace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FCD66-1288-4AD1-898A-9E39E2A730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PK" sz="2800" dirty="0">
                <a:latin typeface="Times New Roman" panose="02020603050405020304" pitchFamily="18" charset="0"/>
              </a:rPr>
              <a:t>Gaps in the Marketplace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PK" sz="2400" dirty="0">
                <a:latin typeface="Times New Roman" panose="02020603050405020304" pitchFamily="18" charset="0"/>
              </a:rPr>
              <a:t>A third approach to identifying opportunities is to find a gap in the marketplace.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PK" sz="2400" dirty="0">
                <a:latin typeface="Times New Roman" panose="02020603050405020304" pitchFamily="18" charset="0"/>
              </a:rPr>
              <a:t>A gap in the marketplace is often created when a product or service is needed by a specific group of people but doesn’t represent a large enough market to be of interest to mainstream retailers or manufacturers.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1433636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F2BA3-AD8F-4167-9103-45BA30ABE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 sz="4400" dirty="0">
                <a:latin typeface="Times New Roman" panose="02020603050405020304" pitchFamily="18" charset="0"/>
              </a:rPr>
              <a:t>Personal Characteristics of the Entrepreneur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9D41AF-3485-4007-8248-867D51E6D0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PK" sz="2800" dirty="0"/>
              <a:t>Characteristics that tend to make some people better at recognizing opportunities than others</a:t>
            </a:r>
          </a:p>
          <a:p>
            <a:pPr marL="0" indent="0">
              <a:buNone/>
            </a:pPr>
            <a:endParaRPr lang="en-US" altLang="en-PK" sz="2800" dirty="0"/>
          </a:p>
          <a:p>
            <a:pPr marL="0" indent="0">
              <a:buNone/>
            </a:pPr>
            <a:endParaRPr lang="en-US" altLang="en-PK" sz="2800" dirty="0"/>
          </a:p>
          <a:p>
            <a:endParaRPr lang="en-PK" dirty="0"/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841253C5-579D-4AE7-9342-EE825F9C80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5271" y="2893219"/>
            <a:ext cx="2514600" cy="7620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4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4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4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4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4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PK" sz="2400" dirty="0"/>
              <a:t>Prior Experience</a:t>
            </a:r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438DADBC-06ED-47B7-B9E5-69D72831E4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4494" y="2884254"/>
            <a:ext cx="2514600" cy="7620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4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4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4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4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4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PK" sz="2400" dirty="0"/>
              <a:t>Cognitive Factors</a:t>
            </a:r>
          </a:p>
        </p:txBody>
      </p:sp>
      <p:sp>
        <p:nvSpPr>
          <p:cNvPr id="9" name="Rectangle 10">
            <a:extLst>
              <a:ext uri="{FF2B5EF4-FFF2-40B4-BE49-F238E27FC236}">
                <a16:creationId xmlns:a16="http://schemas.microsoft.com/office/drawing/2014/main" id="{7AB660FB-5C93-41D5-8C91-6CBF52CB2B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5271" y="4341813"/>
            <a:ext cx="2514600" cy="7620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4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4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4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4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4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PK" sz="2400" dirty="0"/>
              <a:t>Social Networks</a:t>
            </a: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6101CA7A-695C-4837-9081-028C0106D3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4494" y="4264026"/>
            <a:ext cx="2514600" cy="7620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4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4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4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4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4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PK" sz="2400" dirty="0"/>
              <a:t>Creativity</a:t>
            </a:r>
          </a:p>
        </p:txBody>
      </p:sp>
    </p:spTree>
    <p:extLst>
      <p:ext uri="{BB962C8B-B14F-4D97-AF65-F5344CB8AC3E}">
        <p14:creationId xmlns:p14="http://schemas.microsoft.com/office/powerpoint/2010/main" val="18363487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FA7C2-51F9-4AAA-8861-35DA823A0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 sz="4400" dirty="0">
                <a:latin typeface="Times New Roman" panose="02020603050405020304" pitchFamily="18" charset="0"/>
              </a:rPr>
              <a:t>Prior Experience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B767F1-34A1-4221-89E5-82E0B32CBD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PK" sz="2800" dirty="0">
                <a:latin typeface="Times New Roman" panose="02020603050405020304" pitchFamily="18" charset="0"/>
              </a:rPr>
              <a:t>Prior Industry Experience</a:t>
            </a:r>
          </a:p>
          <a:p>
            <a:pPr lvl="1" eaLnBrk="1" hangingPunct="1"/>
            <a:r>
              <a:rPr lang="en-US" altLang="en-PK" sz="2400" dirty="0">
                <a:latin typeface="Times New Roman" panose="02020603050405020304" pitchFamily="18" charset="0"/>
              </a:rPr>
              <a:t>Several studies have shown that prior experience in an industry helps an entrepreneur recognize business opportunities.  </a:t>
            </a:r>
          </a:p>
          <a:p>
            <a:pPr lvl="2" eaLnBrk="1" hangingPunct="1"/>
            <a:r>
              <a:rPr lang="en-US" altLang="en-PK" sz="2000" dirty="0">
                <a:latin typeface="Times New Roman" panose="02020603050405020304" pitchFamily="18" charset="0"/>
              </a:rPr>
              <a:t>By working in an industry, an individual may spot a market niche that is underserved.</a:t>
            </a:r>
          </a:p>
          <a:p>
            <a:pPr lvl="2" eaLnBrk="1" hangingPunct="1"/>
            <a:r>
              <a:rPr lang="en-US" altLang="en-PK" sz="2000" dirty="0">
                <a:latin typeface="Times New Roman" panose="02020603050405020304" pitchFamily="18" charset="0"/>
              </a:rPr>
              <a:t>It is also possible that by working in an industry, an individual builds a network of social contacts who provide insights that lead to recognizing new opportunities.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1194845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00D28-A473-4920-A473-ADF190B66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 sz="4400" dirty="0">
                <a:latin typeface="Times New Roman" panose="02020603050405020304" pitchFamily="18" charset="0"/>
              </a:rPr>
              <a:t>Cognitive Factors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0F22F-AF48-4D47-9E47-C6E1A20350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PK" sz="2800" dirty="0">
                <a:latin typeface="Times New Roman" panose="02020603050405020304" pitchFamily="18" charset="0"/>
              </a:rPr>
              <a:t>Cognitive Factors</a:t>
            </a:r>
          </a:p>
          <a:p>
            <a:pPr lvl="1" eaLnBrk="1" hangingPunct="1"/>
            <a:r>
              <a:rPr lang="en-US" altLang="en-PK" sz="2400" dirty="0">
                <a:latin typeface="Times New Roman" panose="02020603050405020304" pitchFamily="18" charset="0"/>
              </a:rPr>
              <a:t>Studies have shown that opportunity recognition may be an innate skill or cognitive process.</a:t>
            </a:r>
          </a:p>
          <a:p>
            <a:pPr lvl="1" eaLnBrk="1" hangingPunct="1"/>
            <a:r>
              <a:rPr lang="en-US" altLang="en-PK" sz="2400" dirty="0">
                <a:latin typeface="Times New Roman" panose="02020603050405020304" pitchFamily="18" charset="0"/>
              </a:rPr>
              <a:t>Some people believe that entrepreneurs have a “sixth sense” that allows them to see opportunities that others miss.</a:t>
            </a:r>
          </a:p>
          <a:p>
            <a:pPr lvl="1" eaLnBrk="1" hangingPunct="1"/>
            <a:r>
              <a:rPr lang="en-US" altLang="en-PK" sz="2400" dirty="0">
                <a:latin typeface="Times New Roman" panose="02020603050405020304" pitchFamily="18" charset="0"/>
              </a:rPr>
              <a:t>This “sixth sense” is called entrepreneurial alertness, which is formally defined as the ability to notice things without engaging in deliberate search.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8811788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4C198-33CB-4601-8D98-B82E3F35E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 sz="4400" dirty="0">
                <a:latin typeface="Times New Roman" panose="02020603050405020304" pitchFamily="18" charset="0"/>
              </a:rPr>
              <a:t>Social Networks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38F854-82EE-48F6-A72F-C527BD2B6A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PK" sz="2800" dirty="0">
                <a:latin typeface="Times New Roman" panose="02020603050405020304" pitchFamily="18" charset="0"/>
              </a:rPr>
              <a:t>Social Networks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PK" sz="2400" dirty="0">
                <a:latin typeface="Times New Roman" panose="02020603050405020304" pitchFamily="18" charset="0"/>
              </a:rPr>
              <a:t>The extent and depth of an individual’s social network affects opportunity recognition. 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PK" sz="2400" dirty="0">
                <a:latin typeface="Times New Roman" panose="02020603050405020304" pitchFamily="18" charset="0"/>
              </a:rPr>
              <a:t>People who build a substantial network of social and professional contacts will be exposed to more opportunities and ideas than people with sparse networks.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PK" sz="2400" dirty="0">
                <a:latin typeface="Times New Roman" panose="02020603050405020304" pitchFamily="18" charset="0"/>
              </a:rPr>
              <a:t>Research results suggest that between 40% and 50% of people who start a business got their idea via a social contact.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522335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80845-0732-477E-A072-AACE02AC8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 sz="4400" dirty="0">
                <a:latin typeface="Times New Roman" panose="02020603050405020304" pitchFamily="18" charset="0"/>
              </a:rPr>
              <a:t>Creativity</a:t>
            </a:r>
            <a:br>
              <a:rPr lang="en-US" altLang="en-PK" sz="4400" dirty="0">
                <a:latin typeface="Times New Roman" panose="02020603050405020304" pitchFamily="18" charset="0"/>
              </a:rPr>
            </a:b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6DA653-15AB-405B-BD7C-96C3ED2816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PK" sz="2800" dirty="0">
                <a:latin typeface="Times New Roman" panose="02020603050405020304" pitchFamily="18" charset="0"/>
              </a:rPr>
              <a:t>Creativity</a:t>
            </a:r>
          </a:p>
          <a:p>
            <a:pPr lvl="1" eaLnBrk="1" hangingPunct="1"/>
            <a:r>
              <a:rPr lang="en-US" altLang="en-PK" sz="2400" dirty="0">
                <a:latin typeface="Times New Roman" panose="02020603050405020304" pitchFamily="18" charset="0"/>
              </a:rPr>
              <a:t>Creativity is the process of generating a novel or useful idea.</a:t>
            </a:r>
          </a:p>
          <a:p>
            <a:pPr lvl="1" eaLnBrk="1" hangingPunct="1"/>
            <a:r>
              <a:rPr lang="en-US" altLang="en-PK" sz="2400" dirty="0">
                <a:latin typeface="Times New Roman" panose="02020603050405020304" pitchFamily="18" charset="0"/>
              </a:rPr>
              <a:t>Opportunity recognition may be, at least in part, a creative process.</a:t>
            </a:r>
          </a:p>
          <a:p>
            <a:pPr lvl="1" eaLnBrk="1" hangingPunct="1"/>
            <a:r>
              <a:rPr lang="en-US" altLang="en-PK" sz="2400" dirty="0">
                <a:latin typeface="Times New Roman" panose="02020603050405020304" pitchFamily="18" charset="0"/>
              </a:rPr>
              <a:t>For an individual, the creative process can be broken down into five stages, as shown on the next slide.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7804100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A1780-CBB3-4FB5-B74F-E767396C2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 sz="4400" dirty="0">
                <a:latin typeface="Times New Roman" panose="02020603050405020304" pitchFamily="18" charset="0"/>
              </a:rPr>
              <a:t>Creativity</a:t>
            </a:r>
            <a:br>
              <a:rPr lang="en-US" altLang="en-PK" sz="4400" dirty="0">
                <a:latin typeface="Times New Roman" panose="02020603050405020304" pitchFamily="18" charset="0"/>
              </a:rPr>
            </a:b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7E05D2-6F4E-4119-8455-E00BE31148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PK" sz="2800" dirty="0"/>
              <a:t>Five Steps to Generating Creative Ideas</a:t>
            </a:r>
          </a:p>
          <a:p>
            <a:pPr marL="0" indent="0">
              <a:buNone/>
            </a:pPr>
            <a:endParaRPr lang="en-US" altLang="en-PK" sz="2800" dirty="0"/>
          </a:p>
          <a:p>
            <a:endParaRPr lang="en-PK" dirty="0"/>
          </a:p>
        </p:txBody>
      </p:sp>
      <p:pic>
        <p:nvPicPr>
          <p:cNvPr id="4" name="Picture 7">
            <a:extLst>
              <a:ext uri="{FF2B5EF4-FFF2-40B4-BE49-F238E27FC236}">
                <a16:creationId xmlns:a16="http://schemas.microsoft.com/office/drawing/2014/main" id="{EBA9BB6C-FFED-48B3-BC8E-ACE10A7476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3575" y="2831260"/>
            <a:ext cx="8324850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956590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250E6-CF22-4A6F-840B-35275EB5E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 sz="4400" dirty="0">
                <a:latin typeface="Times New Roman" panose="02020603050405020304" pitchFamily="18" charset="0"/>
              </a:rPr>
              <a:t>Full View of the Opportunity Recognition Process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D8725-0BB1-435C-9E93-EA5FF82F3D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PK" sz="2800" dirty="0"/>
              <a:t>Depicts the connection between an awareness of emerging trends and the personal characteristics of the entrepreneur</a:t>
            </a:r>
          </a:p>
          <a:p>
            <a:pPr marL="0" indent="0">
              <a:buNone/>
            </a:pPr>
            <a:endParaRPr lang="en-US" altLang="en-PK" sz="2800" dirty="0"/>
          </a:p>
          <a:p>
            <a:endParaRPr lang="en-PK" dirty="0"/>
          </a:p>
        </p:txBody>
      </p:sp>
      <p:pic>
        <p:nvPicPr>
          <p:cNvPr id="4" name="Picture 9">
            <a:extLst>
              <a:ext uri="{FF2B5EF4-FFF2-40B4-BE49-F238E27FC236}">
                <a16:creationId xmlns:a16="http://schemas.microsoft.com/office/drawing/2014/main" id="{BFDC15B1-FEE9-447D-B94C-C12903DB48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812" y="2702860"/>
            <a:ext cx="10139082" cy="3790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058316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92E5A-258E-44B4-A6D3-AE4A63518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 sz="4400" dirty="0">
                <a:latin typeface="Times New Roman" panose="02020603050405020304" pitchFamily="18" charset="0"/>
              </a:rPr>
              <a:t>Techniques for Generating Ideas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CDAE4-ECEC-4D67-9875-E8061D691A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Brainstorming</a:t>
            </a:r>
          </a:p>
          <a:p>
            <a:r>
              <a:rPr lang="en-US" dirty="0"/>
              <a:t>Focus Groups</a:t>
            </a:r>
          </a:p>
          <a:p>
            <a:r>
              <a:rPr lang="en-US" dirty="0"/>
              <a:t>Library and Internet Research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7193584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8D309-0E51-449C-8C58-B6A176267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 sz="4400" dirty="0">
                <a:latin typeface="Times New Roman" panose="02020603050405020304" pitchFamily="18" charset="0"/>
              </a:rPr>
              <a:t>Brainstorming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C33A8-A472-4248-A77D-121638FD3C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PK" sz="2800" dirty="0">
                <a:latin typeface="Times New Roman" panose="02020603050405020304" pitchFamily="18" charset="0"/>
              </a:rPr>
              <a:t>Brainstorming</a:t>
            </a:r>
          </a:p>
          <a:p>
            <a:pPr lvl="1" eaLnBrk="1" hangingPunct="1"/>
            <a:r>
              <a:rPr lang="en-US" altLang="en-PK" sz="2400" dirty="0">
                <a:latin typeface="Times New Roman" panose="02020603050405020304" pitchFamily="18" charset="0"/>
              </a:rPr>
              <a:t>Is a technique used to generate a large number of ideas and solutions to problems quickly.</a:t>
            </a:r>
          </a:p>
          <a:p>
            <a:pPr lvl="1" eaLnBrk="1" hangingPunct="1"/>
            <a:r>
              <a:rPr lang="en-US" altLang="en-PK" sz="2400" dirty="0">
                <a:latin typeface="Times New Roman" panose="02020603050405020304" pitchFamily="18" charset="0"/>
              </a:rPr>
              <a:t>A brainstorming “session” typically involves a group of people, and should be targeted to a specific topic.</a:t>
            </a:r>
          </a:p>
          <a:p>
            <a:pPr lvl="1" eaLnBrk="1" hangingPunct="1"/>
            <a:r>
              <a:rPr lang="en-US" altLang="en-PK" sz="2400" dirty="0">
                <a:latin typeface="Times New Roman" panose="02020603050405020304" pitchFamily="18" charset="0"/>
              </a:rPr>
              <a:t>Rules for a brainstorming session:</a:t>
            </a:r>
          </a:p>
          <a:p>
            <a:pPr lvl="2" eaLnBrk="1" hangingPunct="1"/>
            <a:r>
              <a:rPr lang="en-US" altLang="en-PK" sz="2000" dirty="0">
                <a:latin typeface="Times New Roman" panose="02020603050405020304" pitchFamily="18" charset="0"/>
              </a:rPr>
              <a:t>No criticism.</a:t>
            </a:r>
          </a:p>
          <a:p>
            <a:pPr lvl="2" eaLnBrk="1" hangingPunct="1"/>
            <a:r>
              <a:rPr lang="en-US" altLang="en-PK" sz="2000" dirty="0">
                <a:latin typeface="Times New Roman" panose="02020603050405020304" pitchFamily="18" charset="0"/>
              </a:rPr>
              <a:t>Freewheeling is encouraged.</a:t>
            </a:r>
          </a:p>
          <a:p>
            <a:pPr lvl="2" eaLnBrk="1" hangingPunct="1"/>
            <a:r>
              <a:rPr lang="en-US" altLang="en-PK" sz="2000" dirty="0">
                <a:latin typeface="Times New Roman" panose="02020603050405020304" pitchFamily="18" charset="0"/>
              </a:rPr>
              <a:t>The session should move quickly.</a:t>
            </a:r>
          </a:p>
          <a:p>
            <a:pPr lvl="2" eaLnBrk="1" hangingPunct="1"/>
            <a:r>
              <a:rPr lang="en-US" altLang="en-PK" sz="2000" dirty="0">
                <a:latin typeface="Times New Roman" panose="02020603050405020304" pitchFamily="18" charset="0"/>
              </a:rPr>
              <a:t>Leap-frogging is encouraged.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8222530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C5A17-2878-4A45-BF5E-6800CB1B6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 sz="4400" dirty="0">
                <a:latin typeface="Times New Roman" panose="02020603050405020304" pitchFamily="18" charset="0"/>
              </a:rPr>
              <a:t>Focus Groups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4CAAB2-6E87-4AB2-AC30-B6681E689E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PK" sz="2800" dirty="0">
                <a:latin typeface="Times New Roman" panose="02020603050405020304" pitchFamily="18" charset="0"/>
              </a:rPr>
              <a:t>Focus Group</a:t>
            </a:r>
          </a:p>
          <a:p>
            <a:pPr lvl="1" eaLnBrk="1" hangingPunct="1"/>
            <a:r>
              <a:rPr lang="en-US" altLang="en-PK" sz="2400" dirty="0">
                <a:latin typeface="Times New Roman" panose="02020603050405020304" pitchFamily="18" charset="0"/>
              </a:rPr>
              <a:t>A focus group is a gathering of five to ten people, who have been selected based on their common characteristics relative to the issues being discussed.</a:t>
            </a:r>
          </a:p>
          <a:p>
            <a:pPr lvl="1" eaLnBrk="1" hangingPunct="1"/>
            <a:r>
              <a:rPr lang="en-US" altLang="en-PK" sz="2400" dirty="0">
                <a:latin typeface="Times New Roman" panose="02020603050405020304" pitchFamily="18" charset="0"/>
              </a:rPr>
              <a:t>These groups are led by a trained moderator, who uses the internal dynamics of the group environment to gain insight into why people feel the way they do about a particular issue.</a:t>
            </a:r>
          </a:p>
          <a:p>
            <a:pPr lvl="1" eaLnBrk="1" hangingPunct="1"/>
            <a:r>
              <a:rPr lang="en-US" altLang="en-PK" sz="2400" dirty="0">
                <a:latin typeface="Times New Roman" panose="02020603050405020304" pitchFamily="18" charset="0"/>
              </a:rPr>
              <a:t>Although focus groups are used for a variety of purposes, they can be used to help generate new business ideas.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3158260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3D24D-78BF-4DA1-B632-A7304DD5E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 sz="4400" dirty="0">
                <a:latin typeface="Times New Roman" panose="02020603050405020304" pitchFamily="18" charset="0"/>
              </a:rPr>
              <a:t>Library and Internet Research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5D0BC-5681-4061-A4B7-54F92A240B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PK" sz="2800" dirty="0">
                <a:latin typeface="Times New Roman" panose="02020603050405020304" pitchFamily="18" charset="0"/>
              </a:rPr>
              <a:t>Library Research</a:t>
            </a:r>
          </a:p>
          <a:p>
            <a:pPr lvl="1" eaLnBrk="1" hangingPunct="1"/>
            <a:r>
              <a:rPr lang="en-US" altLang="en-PK" sz="2400" dirty="0">
                <a:latin typeface="Times New Roman" panose="02020603050405020304" pitchFamily="18" charset="0"/>
              </a:rPr>
              <a:t>Libraries are an often underutilized source of information for generating new business ideas.</a:t>
            </a:r>
          </a:p>
          <a:p>
            <a:pPr lvl="1" eaLnBrk="1" hangingPunct="1"/>
            <a:r>
              <a:rPr lang="en-US" altLang="en-PK" sz="2400" dirty="0">
                <a:latin typeface="Times New Roman" panose="02020603050405020304" pitchFamily="18" charset="0"/>
              </a:rPr>
              <a:t>The best approach is to talk to a reference librarian, who can point out useful resources, such as industry-specific magazines, trade journals, and industry reports.</a:t>
            </a:r>
          </a:p>
          <a:p>
            <a:pPr lvl="1" eaLnBrk="1" hangingPunct="1"/>
            <a:r>
              <a:rPr lang="en-US" altLang="en-PK" sz="2400" dirty="0">
                <a:latin typeface="Times New Roman" panose="02020603050405020304" pitchFamily="18" charset="0"/>
              </a:rPr>
              <a:t>Simply browsing through several issues of a trade journal or an industry report on a topic can spark new ideas.</a:t>
            </a:r>
            <a:endParaRPr lang="en-US" altLang="en-PK" dirty="0">
              <a:latin typeface="Times New Roman" panose="02020603050405020304" pitchFamily="18" charset="0"/>
            </a:endParaRP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8448648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6E1F0-3A00-4F66-912D-827C9DB77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 sz="4400" dirty="0">
                <a:latin typeface="Times New Roman" panose="02020603050405020304" pitchFamily="18" charset="0"/>
              </a:rPr>
              <a:t>Library and Internet Research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9ADEF7-7C32-46BB-AD8C-3D7C8386F7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PK" sz="2800" dirty="0">
                <a:latin typeface="Times New Roman" panose="02020603050405020304" pitchFamily="18" charset="0"/>
              </a:rPr>
              <a:t>Internet Research</a:t>
            </a:r>
          </a:p>
          <a:p>
            <a:pPr lvl="1" eaLnBrk="1" hangingPunct="1"/>
            <a:r>
              <a:rPr lang="en-US" altLang="en-PK" sz="2400" dirty="0">
                <a:latin typeface="Times New Roman" panose="02020603050405020304" pitchFamily="18" charset="0"/>
              </a:rPr>
              <a:t>If you are starting from scratch, simply typing “new business ideas” into a search engine will produce links to newspapers and magazine articles about the “hottest” new business ideas.</a:t>
            </a:r>
          </a:p>
          <a:p>
            <a:pPr lvl="1" eaLnBrk="1" hangingPunct="1"/>
            <a:r>
              <a:rPr lang="en-US" altLang="en-PK" sz="2400" dirty="0">
                <a:latin typeface="Times New Roman" panose="02020603050405020304" pitchFamily="18" charset="0"/>
              </a:rPr>
              <a:t>If you have a specific topic in mind, setting up Google or Yahoo! e-mail alerts will provide you with links to a constant stream of newspaper articles, blog posts, and news releases about the topic.</a:t>
            </a:r>
          </a:p>
          <a:p>
            <a:pPr lvl="1" eaLnBrk="1" hangingPunct="1"/>
            <a:r>
              <a:rPr lang="en-US" altLang="en-PK" sz="2400" dirty="0">
                <a:latin typeface="Times New Roman" panose="02020603050405020304" pitchFamily="18" charset="0"/>
              </a:rPr>
              <a:t>Targeted searches are also useful.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8838521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AC1E8-B76E-4141-953E-9C5B68BE9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 sz="4400" dirty="0">
                <a:latin typeface="Times New Roman" panose="02020603050405020304" pitchFamily="18" charset="0"/>
              </a:rPr>
              <a:t>Other Techniques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90AF2-0076-4DD6-8D71-2270DA22CA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PK" sz="2800" dirty="0">
                <a:latin typeface="Times New Roman" panose="02020603050405020304" pitchFamily="18" charset="0"/>
              </a:rPr>
              <a:t>Customer Advisory Boards</a:t>
            </a:r>
          </a:p>
          <a:p>
            <a:pPr lvl="1" eaLnBrk="1" hangingPunct="1"/>
            <a:r>
              <a:rPr lang="en-US" altLang="en-PK" sz="2400" dirty="0">
                <a:latin typeface="Times New Roman" panose="02020603050405020304" pitchFamily="18" charset="0"/>
              </a:rPr>
              <a:t>Some companies set up customer advisory boards that meet regularly to discuss needs, wants, and problems that may lead to new ideas. </a:t>
            </a:r>
          </a:p>
          <a:p>
            <a:pPr eaLnBrk="1" hangingPunct="1"/>
            <a:r>
              <a:rPr lang="en-US" altLang="en-PK" sz="2800" dirty="0">
                <a:latin typeface="Times New Roman" panose="02020603050405020304" pitchFamily="18" charset="0"/>
              </a:rPr>
              <a:t>Day-In-The-Life Research</a:t>
            </a:r>
          </a:p>
          <a:p>
            <a:pPr lvl="1" eaLnBrk="1" hangingPunct="1"/>
            <a:r>
              <a:rPr lang="en-US" altLang="en-PK" sz="2400" dirty="0">
                <a:latin typeface="Times New Roman" panose="02020603050405020304" pitchFamily="18" charset="0"/>
              </a:rPr>
              <a:t>A type of anthropological research, where the employees of a company spend a day with a customer.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1692002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1057</Words>
  <Application>Microsoft Office PowerPoint</Application>
  <PresentationFormat>Widescreen</PresentationFormat>
  <Paragraphs>108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Calibri</vt:lpstr>
      <vt:lpstr>Calibri Light</vt:lpstr>
      <vt:lpstr>Times New Roman</vt:lpstr>
      <vt:lpstr>Wingdings</vt:lpstr>
      <vt:lpstr>Office Theme</vt:lpstr>
      <vt:lpstr>Fundamentals of Entrepreneurship </vt:lpstr>
      <vt:lpstr>  Recognizing Opportunities and Generating Ideas   </vt:lpstr>
      <vt:lpstr>What is an Opportunity? </vt:lpstr>
      <vt:lpstr>Three Ways to Identify an Opportunity</vt:lpstr>
      <vt:lpstr>First Approach: Observing Trends</vt:lpstr>
      <vt:lpstr>First Approach: Observing Trends</vt:lpstr>
      <vt:lpstr>Trend 1: Economic Forces</vt:lpstr>
      <vt:lpstr>Trend 2: Social Forces</vt:lpstr>
      <vt:lpstr>Trend 3: Technological Advances</vt:lpstr>
      <vt:lpstr>Trend 4: Political Action and Regulatory Changes</vt:lpstr>
      <vt:lpstr>Second Approach: Solving a Problem</vt:lpstr>
      <vt:lpstr>Third Approach: Finding Gaps in the Marketplace</vt:lpstr>
      <vt:lpstr>Personal Characteristics of the Entrepreneur</vt:lpstr>
      <vt:lpstr>Prior Experience</vt:lpstr>
      <vt:lpstr>Cognitive Factors</vt:lpstr>
      <vt:lpstr>Social Networks</vt:lpstr>
      <vt:lpstr>Creativity </vt:lpstr>
      <vt:lpstr>Creativity </vt:lpstr>
      <vt:lpstr>Full View of the Opportunity Recognition Process</vt:lpstr>
      <vt:lpstr>Techniques for Generating Ideas</vt:lpstr>
      <vt:lpstr>Brainstorming</vt:lpstr>
      <vt:lpstr>Focus Groups</vt:lpstr>
      <vt:lpstr>Library and Internet Research</vt:lpstr>
      <vt:lpstr>Library and Internet Research</vt:lpstr>
      <vt:lpstr>Other Techniques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Fundamentals of Entrepreneurship</dc:title>
  <dc:creator>Baseerat Sattar</dc:creator>
  <cp:lastModifiedBy>Faiza Khan Burki</cp:lastModifiedBy>
  <cp:revision>5</cp:revision>
  <cp:lastPrinted>2025-11-10T12:38:05Z</cp:lastPrinted>
  <dcterms:created xsi:type="dcterms:W3CDTF">2025-11-01T08:23:15Z</dcterms:created>
  <dcterms:modified xsi:type="dcterms:W3CDTF">2025-11-10T12:38:53Z</dcterms:modified>
</cp:coreProperties>
</file>